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2"/>
  </p:notesMasterIdLst>
  <p:sldIdLst>
    <p:sldId id="256" r:id="rId2"/>
    <p:sldId id="257" r:id="rId3"/>
    <p:sldId id="305" r:id="rId4"/>
    <p:sldId id="351" r:id="rId5"/>
    <p:sldId id="352" r:id="rId6"/>
    <p:sldId id="353" r:id="rId7"/>
    <p:sldId id="354" r:id="rId8"/>
    <p:sldId id="355" r:id="rId9"/>
    <p:sldId id="397" r:id="rId10"/>
    <p:sldId id="357" r:id="rId11"/>
    <p:sldId id="360" r:id="rId12"/>
    <p:sldId id="358" r:id="rId13"/>
    <p:sldId id="359" r:id="rId14"/>
    <p:sldId id="361" r:id="rId15"/>
    <p:sldId id="362" r:id="rId16"/>
    <p:sldId id="363" r:id="rId17"/>
    <p:sldId id="364" r:id="rId18"/>
    <p:sldId id="365" r:id="rId19"/>
    <p:sldId id="509" r:id="rId20"/>
    <p:sldId id="366" r:id="rId21"/>
    <p:sldId id="367" r:id="rId22"/>
    <p:sldId id="369" r:id="rId23"/>
    <p:sldId id="399" r:id="rId24"/>
    <p:sldId id="398" r:id="rId25"/>
    <p:sldId id="368" r:id="rId26"/>
    <p:sldId id="370" r:id="rId27"/>
    <p:sldId id="400" r:id="rId28"/>
    <p:sldId id="371" r:id="rId29"/>
    <p:sldId id="372" r:id="rId30"/>
    <p:sldId id="373" r:id="rId31"/>
    <p:sldId id="374" r:id="rId32"/>
    <p:sldId id="375" r:id="rId33"/>
    <p:sldId id="376" r:id="rId34"/>
    <p:sldId id="377" r:id="rId35"/>
    <p:sldId id="378" r:id="rId36"/>
    <p:sldId id="379" r:id="rId37"/>
    <p:sldId id="412" r:id="rId38"/>
    <p:sldId id="380" r:id="rId39"/>
    <p:sldId id="381" r:id="rId40"/>
    <p:sldId id="382" r:id="rId41"/>
    <p:sldId id="383" r:id="rId42"/>
    <p:sldId id="384" r:id="rId43"/>
    <p:sldId id="385" r:id="rId44"/>
    <p:sldId id="386" r:id="rId45"/>
    <p:sldId id="387" r:id="rId46"/>
    <p:sldId id="388" r:id="rId47"/>
    <p:sldId id="389" r:id="rId48"/>
    <p:sldId id="401" r:id="rId49"/>
    <p:sldId id="390" r:id="rId50"/>
    <p:sldId id="391" r:id="rId51"/>
    <p:sldId id="392" r:id="rId52"/>
    <p:sldId id="393" r:id="rId53"/>
    <p:sldId id="414" r:id="rId54"/>
    <p:sldId id="413" r:id="rId55"/>
    <p:sldId id="415" r:id="rId56"/>
    <p:sldId id="403" r:id="rId57"/>
    <p:sldId id="416" r:id="rId58"/>
    <p:sldId id="435" r:id="rId59"/>
    <p:sldId id="440" r:id="rId60"/>
    <p:sldId id="418" r:id="rId61"/>
    <p:sldId id="419" r:id="rId62"/>
    <p:sldId id="420" r:id="rId63"/>
    <p:sldId id="421" r:id="rId64"/>
    <p:sldId id="425" r:id="rId65"/>
    <p:sldId id="423" r:id="rId66"/>
    <p:sldId id="424" r:id="rId67"/>
    <p:sldId id="437" r:id="rId68"/>
    <p:sldId id="441" r:id="rId69"/>
    <p:sldId id="394" r:id="rId70"/>
    <p:sldId id="426" r:id="rId71"/>
    <p:sldId id="406" r:id="rId72"/>
    <p:sldId id="395" r:id="rId73"/>
    <p:sldId id="407" r:id="rId74"/>
    <p:sldId id="409" r:id="rId75"/>
    <p:sldId id="410" r:id="rId76"/>
    <p:sldId id="408" r:id="rId77"/>
    <p:sldId id="427" r:id="rId78"/>
    <p:sldId id="430" r:id="rId79"/>
    <p:sldId id="431" r:id="rId80"/>
    <p:sldId id="350" r:id="rId81"/>
    <p:sldId id="432" r:id="rId82"/>
    <p:sldId id="411" r:id="rId83"/>
    <p:sldId id="442" r:id="rId84"/>
    <p:sldId id="443" r:id="rId85"/>
    <p:sldId id="434" r:id="rId86"/>
    <p:sldId id="445" r:id="rId87"/>
    <p:sldId id="446" r:id="rId88"/>
    <p:sldId id="447" r:id="rId89"/>
    <p:sldId id="448" r:id="rId90"/>
    <p:sldId id="449" r:id="rId91"/>
    <p:sldId id="450" r:id="rId92"/>
    <p:sldId id="451" r:id="rId93"/>
    <p:sldId id="452" r:id="rId94"/>
    <p:sldId id="453" r:id="rId95"/>
    <p:sldId id="454" r:id="rId96"/>
    <p:sldId id="455" r:id="rId97"/>
    <p:sldId id="456" r:id="rId98"/>
    <p:sldId id="457" r:id="rId99"/>
    <p:sldId id="458" r:id="rId100"/>
    <p:sldId id="459" r:id="rId101"/>
    <p:sldId id="460" r:id="rId102"/>
    <p:sldId id="461" r:id="rId103"/>
    <p:sldId id="462" r:id="rId104"/>
    <p:sldId id="463" r:id="rId105"/>
    <p:sldId id="464" r:id="rId106"/>
    <p:sldId id="465" r:id="rId107"/>
    <p:sldId id="466" r:id="rId108"/>
    <p:sldId id="467" r:id="rId109"/>
    <p:sldId id="468" r:id="rId110"/>
    <p:sldId id="469" r:id="rId111"/>
    <p:sldId id="470" r:id="rId112"/>
    <p:sldId id="471" r:id="rId113"/>
    <p:sldId id="472" r:id="rId114"/>
    <p:sldId id="473" r:id="rId115"/>
    <p:sldId id="474" r:id="rId116"/>
    <p:sldId id="475" r:id="rId117"/>
    <p:sldId id="476" r:id="rId118"/>
    <p:sldId id="477" r:id="rId119"/>
    <p:sldId id="478" r:id="rId120"/>
    <p:sldId id="479" r:id="rId121"/>
    <p:sldId id="480" r:id="rId122"/>
    <p:sldId id="481" r:id="rId123"/>
    <p:sldId id="482" r:id="rId124"/>
    <p:sldId id="483" r:id="rId125"/>
    <p:sldId id="484" r:id="rId126"/>
    <p:sldId id="485" r:id="rId127"/>
    <p:sldId id="486" r:id="rId128"/>
    <p:sldId id="487" r:id="rId129"/>
    <p:sldId id="488" r:id="rId130"/>
    <p:sldId id="489" r:id="rId131"/>
    <p:sldId id="490" r:id="rId132"/>
    <p:sldId id="491" r:id="rId133"/>
    <p:sldId id="492" r:id="rId134"/>
    <p:sldId id="493" r:id="rId135"/>
    <p:sldId id="494" r:id="rId136"/>
    <p:sldId id="495" r:id="rId137"/>
    <p:sldId id="496" r:id="rId138"/>
    <p:sldId id="497" r:id="rId139"/>
    <p:sldId id="498" r:id="rId140"/>
    <p:sldId id="499" r:id="rId141"/>
    <p:sldId id="500" r:id="rId142"/>
    <p:sldId id="501" r:id="rId143"/>
    <p:sldId id="502" r:id="rId144"/>
    <p:sldId id="503" r:id="rId145"/>
    <p:sldId id="504" r:id="rId146"/>
    <p:sldId id="505" r:id="rId147"/>
    <p:sldId id="506" r:id="rId148"/>
    <p:sldId id="507" r:id="rId149"/>
    <p:sldId id="508" r:id="rId150"/>
    <p:sldId id="444" r:id="rId15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38" autoAdjust="0"/>
  </p:normalViewPr>
  <p:slideViewPr>
    <p:cSldViewPr>
      <p:cViewPr>
        <p:scale>
          <a:sx n="100" d="100"/>
          <a:sy n="100" d="100"/>
        </p:scale>
        <p:origin x="653" y="-10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252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98897-BDF1-4279-BA28-06DD7EC1DE0C}" type="datetimeFigureOut">
              <a:rPr lang="en-US" smtClean="0"/>
              <a:pPr/>
              <a:t>5/15/2023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8CF50-4ED8-4D7B-8802-3C44BEF0A8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CCE6-9ECA-471F-A7A0-B885AA01BEEB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2E2B-8D80-4239-AC9B-4E604A7BC58B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9201-344B-4325-AB56-535A1921CC49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0CA5-5F43-4F91-AFD2-5C6A37AE88D8}" type="datetime1">
              <a:rPr lang="en-US" smtClean="0"/>
              <a:t>5/15/2023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81C40-5105-4F9D-A0AD-3FC015136BF3}" type="datetime1">
              <a:rPr lang="en-US" smtClean="0"/>
              <a:t>5/15/2023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A277-852A-4B24-A2ED-340C89BE732F}" type="datetime1">
              <a:rPr lang="en-US" smtClean="0"/>
              <a:t>5/15/2023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ED38-AD82-45C1-8C71-E4381CFD7B9C}" type="datetime1">
              <a:rPr lang="en-US" smtClean="0"/>
              <a:t>5/15/2023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71F9-BFC5-4F2A-8C07-1066F0E13D82}" type="datetime1">
              <a:rPr lang="en-US" smtClean="0"/>
              <a:t>5/15/2023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F30FD-3C30-4AEB-BD75-64E2814C0BD6}" type="datetime1">
              <a:rPr lang="en-US" smtClean="0"/>
              <a:t>5/15/2023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37751-9CA7-41B9-AAC0-4468C9CCB1BA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A862-9576-4791-A2CC-F965CC1F3C13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95298-0268-43EB-A44B-B0CFB1EDF361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3. RTL and VHDL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5.wdp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5.wdp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microsoft.com/office/2007/relationships/hdphoto" Target="../media/hdphoto15.wdp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7.wdp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7" Type="http://schemas.microsoft.com/office/2007/relationships/hdphoto" Target="../media/hdphoto18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20.wdp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0.wdp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8.wdp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22.wdp"/><Relationship Id="rId7" Type="http://schemas.microsoft.com/office/2007/relationships/hdphoto" Target="../media/hdphoto2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microsoft.com/office/2007/relationships/hdphoto" Target="../media/hdphoto23.wdp"/><Relationship Id="rId4" Type="http://schemas.openxmlformats.org/officeDocument/2006/relationships/image" Target="../media/image28.png"/><Relationship Id="rId9" Type="http://schemas.microsoft.com/office/2007/relationships/hdphoto" Target="../media/hdphoto18.wdp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24.wdp"/><Relationship Id="rId7" Type="http://schemas.microsoft.com/office/2007/relationships/hdphoto" Target="../media/hdphoto22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microsoft.com/office/2007/relationships/hdphoto" Target="../media/hdphoto25.wdp"/><Relationship Id="rId4" Type="http://schemas.openxmlformats.org/officeDocument/2006/relationships/image" Target="../media/image30.png"/><Relationship Id="rId9" Type="http://schemas.microsoft.com/office/2007/relationships/hdphoto" Target="../media/hdphoto18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7.wdp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7.wdp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28.wdp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29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microsoft.com/office/2007/relationships/hdphoto" Target="../media/hdphoto30.wdp"/><Relationship Id="rId7" Type="http://schemas.microsoft.com/office/2007/relationships/hdphoto" Target="../media/hdphoto32.wdp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microsoft.com/office/2007/relationships/hdphoto" Target="../media/hdphoto31.wdp"/><Relationship Id="rId4" Type="http://schemas.openxmlformats.org/officeDocument/2006/relationships/image" Target="../media/image67.png"/><Relationship Id="rId9" Type="http://schemas.microsoft.com/office/2007/relationships/hdphoto" Target="../media/hdphoto33.wdp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7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microsoft.com/office/2007/relationships/hdphoto" Target="../media/hdphoto26.wdp"/><Relationship Id="rId4" Type="http://schemas.openxmlformats.org/officeDocument/2006/relationships/image" Target="../media/image35.png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35.wdp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36.wdp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7.wdp"/><Relationship Id="rId4" Type="http://schemas.openxmlformats.org/officeDocument/2006/relationships/image" Target="../media/image8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microsoft.com/office/2007/relationships/hdphoto" Target="../media/hdphoto29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microsoft.com/office/2007/relationships/hdphoto" Target="../media/hdphoto30.wdp"/><Relationship Id="rId7" Type="http://schemas.microsoft.com/office/2007/relationships/hdphoto" Target="../media/hdphoto32.wdp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microsoft.com/office/2007/relationships/hdphoto" Target="../media/hdphoto31.wdp"/><Relationship Id="rId4" Type="http://schemas.openxmlformats.org/officeDocument/2006/relationships/image" Target="../media/image67.png"/><Relationship Id="rId9" Type="http://schemas.microsoft.com/office/2007/relationships/hdphoto" Target="../media/hdphoto33.wdp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8.wdp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21.xml.rels><?xml version="1.0" encoding="UTF-8" standalone="yes"?>
<Relationships xmlns="http://schemas.openxmlformats.org/package/2006/relationships"><Relationship Id="rId3" Type="http://schemas.microsoft.com/office/2007/relationships/hdphoto" Target="../media/hdphoto39.wdp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microsoft.com/office/2007/relationships/hdphoto" Target="../media/hdphoto40.wdp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jpeg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microsoft.com/office/2007/relationships/hdphoto" Target="../media/hdphoto41.wdp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2.wdp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77.png"/></Relationships>
</file>

<file path=ppt/slides/_rels/slide147.xml.rels><?xml version="1.0" encoding="UTF-8" standalone="yes"?>
<Relationships xmlns="http://schemas.openxmlformats.org/package/2006/relationships"><Relationship Id="rId3" Type="http://schemas.microsoft.com/office/2007/relationships/hdphoto" Target="../media/hdphoto43.wdp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9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hyperlink" Target="https://nandland.com/introduction-to-vhdl-for-beginners-with-code-examples/" TargetMode="External"/><Relationship Id="rId2" Type="http://schemas.openxmlformats.org/officeDocument/2006/relationships/hyperlink" Target="https://www.javatpoint.com/vhd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sic-world.com/vhdl/tutorial.html" TargetMode="External"/><Relationship Id="rId4" Type="http://schemas.openxmlformats.org/officeDocument/2006/relationships/hyperlink" Target="https://www.tutorialspoint.com/vlsi_design/vlsi_design_vhdl_introduction.htm" TargetMode="Externa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/>
              <a:t>Chapter 3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RTL and HDL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sz="1800" b="1" dirty="0">
                <a:solidFill>
                  <a:srgbClr val="FF0000"/>
                </a:solidFill>
              </a:rPr>
              <a:t>Register Transfer Language, Hardware Description Language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Assistant Professor</a:t>
            </a:r>
          </a:p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Er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. Shiva Ram Dam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Micro-operations and RTL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Using RTL to specify a Digital System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Specification of Digital Components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Specification and Implementation of Simple System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r>
              <a:rPr lang="en-US" sz="2000" dirty="0"/>
              <a:t>Introduction to VHDL: Syntax. Levels of Abstraction in Design</a:t>
            </a:r>
          </a:p>
          <a:p>
            <a:pPr marL="0" indent="0">
              <a:buNone/>
              <a:tabLst>
                <a:tab pos="463550" algn="l"/>
              </a:tabLst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15F6-963F-478F-BA93-5EB1A5C5B8B3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3.1 Micro-operations and RTL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Micro-operations are the basis for most sequential digital systems.</a:t>
            </a:r>
          </a:p>
          <a:p>
            <a:r>
              <a:rPr lang="en-US" sz="2000" dirty="0"/>
              <a:t>Micro-operations are simpler actions like:</a:t>
            </a:r>
          </a:p>
          <a:p>
            <a:pPr lvl="1"/>
            <a:r>
              <a:rPr lang="en-US" sz="1600" dirty="0"/>
              <a:t>Movement (copying) of data form one register, memory location, or I/O device to another</a:t>
            </a:r>
          </a:p>
          <a:p>
            <a:pPr lvl="1"/>
            <a:r>
              <a:rPr lang="en-US" sz="1600" dirty="0"/>
              <a:t>Modifying stored values</a:t>
            </a:r>
          </a:p>
          <a:p>
            <a:pPr lvl="1"/>
            <a:r>
              <a:rPr lang="en-US" sz="1600" dirty="0"/>
              <a:t>Performing arithmetic or logical functions.</a:t>
            </a:r>
          </a:p>
          <a:p>
            <a:r>
              <a:rPr lang="en-US" sz="2000" dirty="0"/>
              <a:t>It is also necessary to specify the conditions under which each transfers occurs.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3D33-C13D-4035-BC37-DC026E090CF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83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Micro-operations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A Micro-operation , or </a:t>
            </a:r>
            <a:r>
              <a:rPr lang="el-GR" sz="2000" b="1" dirty="0"/>
              <a:t>μ</a:t>
            </a:r>
            <a:r>
              <a:rPr lang="en-US" sz="2000" b="1" dirty="0"/>
              <a:t>-</a:t>
            </a:r>
            <a:r>
              <a:rPr lang="en-US" sz="2000" dirty="0"/>
              <a:t>op, specifies an operation whose result is stored, typically in a register or memory location.</a:t>
            </a:r>
          </a:p>
          <a:p>
            <a:r>
              <a:rPr lang="en-US" sz="2000" dirty="0"/>
              <a:t>The operation can be as simple as copying data from one register to another, or more complex, such as adding the contents of two registers and storing the result in a third register,</a:t>
            </a:r>
          </a:p>
          <a:p>
            <a:r>
              <a:rPr lang="en-US" sz="2000" dirty="0"/>
              <a:t>When designing a sequential digital system, the designer can specify the behavior of the system first, using micro-operations and then design the hardware to match this specification.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30520-55C7-4C76-80A6-2DDE2FBB880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41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Implementations of micro-operation  X</a:t>
            </a:r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Y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1600" dirty="0"/>
              <a:t>Consider a digital system with two 1-bit registers, X and Y. The µop that copies the contents of register Y to register X can be expressed as X←Y.</a:t>
            </a:r>
          </a:p>
          <a:p>
            <a:r>
              <a:rPr lang="en-US" sz="1600" dirty="0"/>
              <a:t>Sometimes, this is expressed as Y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X.</a:t>
            </a:r>
          </a:p>
          <a:p>
            <a:r>
              <a:rPr lang="en-US" sz="1600" dirty="0"/>
              <a:t>The micro-operation may be implemented via a direct connection, or by way of a bus.</a:t>
            </a:r>
          </a:p>
          <a:p>
            <a:r>
              <a:rPr lang="en-US" sz="1600" dirty="0"/>
              <a:t>Both are valid implementation.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E271-E869-4751-BC37-9E7E21B9CD41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AC4FB1-1039-4E36-8AEA-08F6DC58C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29000" y="2571750"/>
            <a:ext cx="1666875" cy="1152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C8ECFA-89A8-4D08-919E-339ED6E85C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71129" y="2121921"/>
            <a:ext cx="2046939" cy="24727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2A17E2-38CC-40E2-AFE1-9B094A7B38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6472" y="3952875"/>
            <a:ext cx="5495925" cy="447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3CEA51-287C-4F17-BE8A-B26B1725555E}"/>
              </a:ext>
            </a:extLst>
          </p:cNvPr>
          <p:cNvSpPr txBox="1"/>
          <p:nvPr/>
        </p:nvSpPr>
        <p:spPr>
          <a:xfrm>
            <a:off x="7464348" y="22994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247923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Implementations of the data transfer   </a:t>
            </a:r>
            <a:r>
              <a:rPr lang="el-GR" sz="3200" b="1" dirty="0">
                <a:solidFill>
                  <a:srgbClr val="00B050"/>
                </a:solidFill>
              </a:rPr>
              <a:t>α </a:t>
            </a:r>
            <a:r>
              <a:rPr lang="en-US" sz="3200" b="1" dirty="0">
                <a:solidFill>
                  <a:srgbClr val="00B050"/>
                </a:solidFill>
              </a:rPr>
              <a:t>: X</a:t>
            </a:r>
            <a:r>
              <a:rPr lang="en-US" sz="3200" b="1" dirty="0">
                <a:solidFill>
                  <a:srgbClr val="00B050"/>
                </a:solidFill>
                <a:sym typeface="Wingdings" panose="05000000000000000000" pitchFamily="2" charset="2"/>
              </a:rPr>
              <a:t>Y 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733800" cy="3851673"/>
          </a:xfrm>
        </p:spPr>
        <p:txBody>
          <a:bodyPr>
            <a:normAutofit fontScale="47500" lnSpcReduction="20000"/>
          </a:bodyPr>
          <a:lstStyle/>
          <a:p>
            <a:pPr lvl="0"/>
            <a:r>
              <a:rPr lang="en-US" dirty="0"/>
              <a:t>Both designs provide a path for data to flow from register Y to register X, but neither specifies when X should load this data. </a:t>
            </a:r>
          </a:p>
          <a:p>
            <a:pPr lvl="0"/>
            <a:r>
              <a:rPr lang="en-US" dirty="0"/>
              <a:t>Assume that the transfer should occur when control input α is high.</a:t>
            </a:r>
          </a:p>
          <a:p>
            <a:pPr lvl="0"/>
            <a:r>
              <a:rPr lang="en-US" dirty="0"/>
              <a:t>The transfer could be written as:</a:t>
            </a:r>
          </a:p>
          <a:p>
            <a:pPr marL="0" indent="0">
              <a:buNone/>
            </a:pPr>
            <a:r>
              <a:rPr lang="en-US" dirty="0"/>
              <a:t>	IF α THEN X←Y </a:t>
            </a:r>
          </a:p>
          <a:p>
            <a:pPr lvl="0"/>
            <a:r>
              <a:rPr lang="en-US" dirty="0"/>
              <a:t>This can be written as:</a:t>
            </a:r>
          </a:p>
          <a:p>
            <a:pPr marL="0" indent="0">
              <a:buNone/>
            </a:pPr>
            <a:r>
              <a:rPr lang="en-US" dirty="0"/>
              <a:t>	α: X←Y </a:t>
            </a:r>
          </a:p>
          <a:p>
            <a:pPr lvl="0"/>
            <a:r>
              <a:rPr lang="en-US" dirty="0"/>
              <a:t>When all conditions to the left of the colon are asserted, the data transfers specified by the µops are performed. </a:t>
            </a:r>
          </a:p>
          <a:p>
            <a:pPr lvl="0"/>
            <a:r>
              <a:rPr lang="en-US" dirty="0"/>
              <a:t>α is used to load register X, and, in the bus-based implementation, to enable the tri-state buffer so that the contents of register Y are placed on the bus.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763F-EBA1-4072-B295-A9C67D3B82F7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1B5FAB-8BFC-4109-89A2-91435BB88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38625" y="1047750"/>
            <a:ext cx="4295648" cy="266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D37E27-FABD-41CC-A8D1-BC56E00FCDBE}"/>
              </a:ext>
            </a:extLst>
          </p:cNvPr>
          <p:cNvSpPr txBox="1"/>
          <p:nvPr/>
        </p:nvSpPr>
        <p:spPr>
          <a:xfrm>
            <a:off x="7543800" y="171926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28725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Implementations of the data transfer   </a:t>
            </a:r>
            <a:r>
              <a:rPr lang="el-GR" sz="2800" b="1" dirty="0">
                <a:solidFill>
                  <a:srgbClr val="00B050"/>
                </a:solidFill>
              </a:rPr>
              <a:t>α </a:t>
            </a:r>
            <a:r>
              <a:rPr lang="en-US" sz="2800" b="1" dirty="0">
                <a:solidFill>
                  <a:srgbClr val="00B050"/>
                </a:solidFill>
              </a:rPr>
              <a:t>: X</a:t>
            </a:r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Y, YZ 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648200" cy="385167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sz="1800" dirty="0"/>
              <a:t>One way to </a:t>
            </a:r>
            <a:r>
              <a:rPr lang="en-US" sz="1800" b="1" dirty="0">
                <a:solidFill>
                  <a:srgbClr val="FF0000"/>
                </a:solidFill>
              </a:rPr>
              <a:t>improve system </a:t>
            </a:r>
            <a:r>
              <a:rPr lang="en-US" sz="1800" dirty="0"/>
              <a:t>performance is to </a:t>
            </a:r>
            <a:r>
              <a:rPr lang="en-US" sz="1800" b="1" dirty="0"/>
              <a:t>perform two or more µops simultaneously</a:t>
            </a:r>
            <a:r>
              <a:rPr lang="en-US" sz="1800" dirty="0"/>
              <a:t>. </a:t>
            </a:r>
          </a:p>
          <a:p>
            <a:pPr lvl="0"/>
            <a:r>
              <a:rPr lang="en-US" sz="1800" dirty="0"/>
              <a:t>The µops are separated by commas; the order in which they are written is unimportant because they are </a:t>
            </a:r>
            <a:r>
              <a:rPr lang="en-US" sz="1800" b="1" dirty="0"/>
              <a:t>performed concurrently</a:t>
            </a:r>
            <a:r>
              <a:rPr lang="en-US" sz="1800" dirty="0"/>
              <a:t>. </a:t>
            </a:r>
          </a:p>
          <a:p>
            <a:pPr lvl="0"/>
            <a:r>
              <a:rPr lang="en-US" sz="1800" dirty="0"/>
              <a:t>Consider: </a:t>
            </a:r>
          </a:p>
          <a:p>
            <a:pPr marL="0" indent="0">
              <a:buNone/>
            </a:pPr>
            <a:r>
              <a:rPr lang="en-US" sz="1800" dirty="0"/>
              <a:t>	α: X←Y, Y←Z    or     α: Y←Z, X←Y </a:t>
            </a:r>
          </a:p>
          <a:p>
            <a:r>
              <a:rPr lang="en-US" sz="1800" dirty="0"/>
              <a:t>If X=0, Y=1 and Z=0 just before α becomes 1, these µops set X=1(the original value of Y) and Y=0. </a:t>
            </a:r>
          </a:p>
          <a:p>
            <a:pPr lvl="0"/>
            <a:r>
              <a:rPr lang="en-US" sz="1800" dirty="0"/>
              <a:t>Note that a single bus cannot be used here because a bus can hold only one value at a time.</a:t>
            </a:r>
          </a:p>
          <a:p>
            <a:pPr lvl="0"/>
            <a:r>
              <a:rPr lang="en-US" sz="1800" dirty="0"/>
              <a:t>When α=1, both Y and Z must travel on the data paths simultaneously.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3AFE8-20E9-4D5D-8FD0-C3F3E7021DF1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A8DFCE-4F01-45B4-8425-1293C8A38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4348" y="1386910"/>
            <a:ext cx="3573509" cy="14978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4B7D87-C184-498A-926C-884BBFDFE0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8034" y="3127510"/>
            <a:ext cx="3386138" cy="1706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FD1DDF-9865-41BD-ADD4-08B11DDE68F0}"/>
              </a:ext>
            </a:extLst>
          </p:cNvPr>
          <p:cNvSpPr txBox="1"/>
          <p:nvPr/>
        </p:nvSpPr>
        <p:spPr>
          <a:xfrm>
            <a:off x="8099780" y="1809750"/>
            <a:ext cx="59663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b="1" dirty="0"/>
              <a:t>Q   </a:t>
            </a:r>
            <a:r>
              <a:rPr lang="en-US" sz="1100" b="1" dirty="0"/>
              <a:t>Z </a:t>
            </a:r>
            <a:r>
              <a:rPr lang="en-US" sz="1000" b="1" dirty="0"/>
              <a:t>  D</a:t>
            </a:r>
          </a:p>
        </p:txBody>
      </p:sp>
    </p:spTree>
    <p:extLst>
      <p:ext uri="{BB962C8B-B14F-4D97-AF65-F5344CB8AC3E}">
        <p14:creationId xmlns:p14="http://schemas.microsoft.com/office/powerpoint/2010/main" val="288305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Implementations of the data transfer   </a:t>
            </a:r>
            <a:r>
              <a:rPr lang="el-GR" sz="2800" b="1" dirty="0">
                <a:solidFill>
                  <a:srgbClr val="00B050"/>
                </a:solidFill>
              </a:rPr>
              <a:t>α </a:t>
            </a:r>
            <a:r>
              <a:rPr lang="en-US" sz="2800" b="1" dirty="0">
                <a:solidFill>
                  <a:srgbClr val="00B050"/>
                </a:solidFill>
              </a:rPr>
              <a:t>: X</a:t>
            </a:r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Y , ZY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572000" cy="38516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Consider the transfers that occur when α = 1. </a:t>
            </a:r>
          </a:p>
          <a:p>
            <a:pPr marL="0" indent="0">
              <a:buNone/>
            </a:pPr>
            <a:r>
              <a:rPr lang="en-US" dirty="0"/>
              <a:t>	α: X←Y, Z←Y </a:t>
            </a:r>
          </a:p>
          <a:p>
            <a:r>
              <a:rPr lang="en-US" dirty="0"/>
              <a:t>Register Y can be read by many other registers simultaneously; both micro operations can be performed concurrently.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03D3F-6F8E-43CB-A5A4-D55A736919A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2506F1-92E1-4072-A8B0-0ADC3D67087E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1000"/>
                    </a14:imgEffect>
                  </a14:imgLayer>
                </a14:imgProps>
              </a:ext>
            </a:extLst>
          </a:blip>
          <a:srcRect l="37521" t="16284" b="5056"/>
          <a:stretch/>
        </p:blipFill>
        <p:spPr>
          <a:xfrm>
            <a:off x="5334000" y="666750"/>
            <a:ext cx="3581400" cy="24005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8B88D3-D2FB-4A08-8336-E41D8A04DF86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1000"/>
                    </a14:imgEffect>
                  </a14:imgLayer>
                </a14:imgProps>
              </a:ext>
            </a:extLst>
          </a:blip>
          <a:srcRect l="-1030" t="-1378" r="27917" b="86280"/>
          <a:stretch/>
        </p:blipFill>
        <p:spPr>
          <a:xfrm>
            <a:off x="4953002" y="3239927"/>
            <a:ext cx="4191000" cy="46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8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000" b="1" dirty="0">
                <a:solidFill>
                  <a:srgbClr val="00B050"/>
                </a:solidFill>
              </a:rPr>
              <a:t>Three implementations of the data transfers</a:t>
            </a:r>
            <a:br>
              <a:rPr lang="en-US" sz="2000" b="1" dirty="0">
                <a:solidFill>
                  <a:srgbClr val="00B050"/>
                </a:solidFill>
              </a:rPr>
            </a:br>
            <a:r>
              <a:rPr lang="el-GR" sz="2000" b="1" dirty="0">
                <a:solidFill>
                  <a:srgbClr val="00B050"/>
                </a:solidFill>
              </a:rPr>
              <a:t>α </a:t>
            </a:r>
            <a:r>
              <a:rPr lang="en-US" sz="2000" b="1" dirty="0">
                <a:solidFill>
                  <a:srgbClr val="00B050"/>
                </a:solidFill>
              </a:rPr>
              <a:t>: X</a:t>
            </a:r>
            <a:r>
              <a:rPr lang="en-US" sz="2000" b="1" dirty="0">
                <a:solidFill>
                  <a:srgbClr val="00B050"/>
                </a:solidFill>
                <a:sym typeface="Wingdings" panose="05000000000000000000" pitchFamily="2" charset="2"/>
              </a:rPr>
              <a:t> 0 and </a:t>
            </a:r>
            <a:r>
              <a:rPr lang="el-GR" sz="2000" b="1" dirty="0">
                <a:solidFill>
                  <a:srgbClr val="00B050"/>
                </a:solidFill>
              </a:rPr>
              <a:t>β</a:t>
            </a:r>
            <a:r>
              <a:rPr lang="en-US" sz="2000" b="1" dirty="0">
                <a:solidFill>
                  <a:srgbClr val="00B050"/>
                </a:solidFill>
              </a:rPr>
              <a:t>: X</a:t>
            </a:r>
            <a:r>
              <a:rPr lang="en-US" sz="2000" b="1" dirty="0">
                <a:solidFill>
                  <a:srgbClr val="00B050"/>
                </a:solidFill>
                <a:sym typeface="Wingdings" panose="05000000000000000000" pitchFamily="2" charset="2"/>
              </a:rPr>
              <a:t>1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063" y="756017"/>
            <a:ext cx="5246237" cy="3851673"/>
          </a:xfrm>
        </p:spPr>
        <p:txBody>
          <a:bodyPr>
            <a:noAutofit/>
          </a:bodyPr>
          <a:lstStyle/>
          <a:p>
            <a:pPr lvl="0"/>
            <a:r>
              <a:rPr lang="en-US" sz="1200" dirty="0"/>
              <a:t>Sometimes it is necessary to move a constant value into a register, rather than data from another register. </a:t>
            </a:r>
          </a:p>
          <a:p>
            <a:pPr marL="0" indent="0">
              <a:buNone/>
            </a:pPr>
            <a:r>
              <a:rPr lang="en-US" sz="1200" dirty="0"/>
              <a:t>	α: X←0 </a:t>
            </a:r>
          </a:p>
          <a:p>
            <a:pPr marL="0" indent="0">
              <a:buNone/>
            </a:pPr>
            <a:r>
              <a:rPr lang="en-US" sz="1200" dirty="0"/>
              <a:t>	β: X←1 </a:t>
            </a:r>
          </a:p>
          <a:p>
            <a:r>
              <a:rPr lang="en-US" sz="1200" dirty="0"/>
              <a:t>The first circuit sets X by loading data for both transfers.</a:t>
            </a:r>
          </a:p>
          <a:p>
            <a:pPr lvl="1"/>
            <a:r>
              <a:rPr lang="en-US" sz="1200" dirty="0"/>
              <a:t>Either α or β can assert the register’s load signal, and the MUX ensures that the proper data is made available. </a:t>
            </a:r>
          </a:p>
          <a:p>
            <a:pPr lvl="1"/>
            <a:r>
              <a:rPr lang="en-US" sz="1200" dirty="0"/>
              <a:t>If α=0 and β=0, the MUX still outputs data 0. Register X ignores this data and retains its value.</a:t>
            </a:r>
          </a:p>
          <a:p>
            <a:r>
              <a:rPr lang="en-US" sz="1200" dirty="0"/>
              <a:t>The second circuit loads data exactly same as in the first circuit;</a:t>
            </a:r>
          </a:p>
          <a:p>
            <a:r>
              <a:rPr lang="en-US" sz="1200" dirty="0"/>
              <a:t>However, its data is generated directly by signal β.</a:t>
            </a:r>
          </a:p>
          <a:p>
            <a:pPr lvl="1"/>
            <a:r>
              <a:rPr lang="en-US" sz="1200" dirty="0"/>
              <a:t>When , β=0 and α=1, register X loads 0</a:t>
            </a:r>
          </a:p>
          <a:p>
            <a:pPr lvl="1"/>
            <a:r>
              <a:rPr lang="en-US" sz="1200" dirty="0"/>
              <a:t>When , β=1 and α=0, register X loads 1</a:t>
            </a:r>
          </a:p>
          <a:p>
            <a:pPr lvl="1"/>
            <a:r>
              <a:rPr lang="en-US" sz="1200" dirty="0"/>
              <a:t>When , β=0 and α=0, register X ignores the input 0, and retains its value.</a:t>
            </a:r>
          </a:p>
          <a:p>
            <a:r>
              <a:rPr lang="en-US" sz="1200" dirty="0"/>
              <a:t>The final circuit makes use of the register’s clear input to simplify the hardware.</a:t>
            </a:r>
          </a:p>
          <a:p>
            <a:pPr lvl="1"/>
            <a:r>
              <a:rPr lang="en-US" sz="1200" dirty="0"/>
              <a:t>When α=1, register X is cleared, </a:t>
            </a:r>
            <a:r>
              <a:rPr lang="en-US" sz="1200" dirty="0" err="1"/>
              <a:t>i.e</a:t>
            </a:r>
            <a:r>
              <a:rPr lang="en-US" sz="1200" dirty="0"/>
              <a:t> set to 0.</a:t>
            </a:r>
          </a:p>
          <a:p>
            <a:pPr lvl="1"/>
            <a:r>
              <a:rPr lang="en-US" sz="1200" dirty="0"/>
              <a:t>When β=1, the register is loaded with the data value 1 as before.</a:t>
            </a:r>
          </a:p>
          <a:p>
            <a:pPr marL="0" indent="0">
              <a:buNone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3D1B6-B044-4706-A8DF-558E2E1FEC24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58B659-05AB-4423-8603-87FAA3D56A48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5000"/>
                    </a14:imgEffect>
                  </a14:imgLayer>
                </a14:imgProps>
              </a:ext>
            </a:extLst>
          </a:blip>
          <a:srcRect l="5318" t="30533" r="53473" b="15883"/>
          <a:stretch/>
        </p:blipFill>
        <p:spPr>
          <a:xfrm>
            <a:off x="6512814" y="32995"/>
            <a:ext cx="2362201" cy="152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CB2318-7049-4C6A-AAC0-A1A7804B8164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5000"/>
                    </a14:imgEffect>
                  </a14:imgLayer>
                </a14:imgProps>
              </a:ext>
            </a:extLst>
          </a:blip>
          <a:srcRect l="75773" t="36642" r="2958" b="20114"/>
          <a:stretch/>
        </p:blipFill>
        <p:spPr>
          <a:xfrm>
            <a:off x="6934199" y="3338273"/>
            <a:ext cx="1219200" cy="1229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37E479-5132-4FE5-BFA9-611F261C7003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5000"/>
                    </a14:imgEffect>
                  </a14:imgLayer>
                </a14:imgProps>
              </a:ext>
            </a:extLst>
          </a:blip>
          <a:srcRect l="46527" t="35647" r="24227" b="17407"/>
          <a:stretch/>
        </p:blipFill>
        <p:spPr>
          <a:xfrm>
            <a:off x="6705600" y="1823982"/>
            <a:ext cx="1676401" cy="13352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6414AB-8EC9-4AB7-83CC-F5D6CABCD2F9}"/>
              </a:ext>
            </a:extLst>
          </p:cNvPr>
          <p:cNvSpPr txBox="1"/>
          <p:nvPr/>
        </p:nvSpPr>
        <p:spPr>
          <a:xfrm>
            <a:off x="5988951" y="1571623"/>
            <a:ext cx="31096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solidFill>
                  <a:srgbClr val="0070C0"/>
                </a:solidFill>
              </a:rPr>
              <a:t>a) Using a multiplexer to select the data 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F604EF-BCDC-4384-9C3E-D73064D96E40}"/>
              </a:ext>
            </a:extLst>
          </p:cNvPr>
          <p:cNvSpPr txBox="1"/>
          <p:nvPr/>
        </p:nvSpPr>
        <p:spPr>
          <a:xfrm>
            <a:off x="6763693" y="2938610"/>
            <a:ext cx="197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solidFill>
                  <a:srgbClr val="0070C0"/>
                </a:solidFill>
              </a:rPr>
              <a:t>b) Using </a:t>
            </a:r>
            <a:r>
              <a:rPr lang="el-GR" sz="1200" b="1" dirty="0">
                <a:solidFill>
                  <a:srgbClr val="0070C0"/>
                </a:solidFill>
              </a:rPr>
              <a:t>β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sz="1200" b="1" i="1" dirty="0">
                <a:solidFill>
                  <a:srgbClr val="0070C0"/>
                </a:solidFill>
              </a:rPr>
              <a:t>as the data 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5FCCE-23CD-43CC-B196-DBDBDDB59FD2}"/>
              </a:ext>
            </a:extLst>
          </p:cNvPr>
          <p:cNvSpPr txBox="1"/>
          <p:nvPr/>
        </p:nvSpPr>
        <p:spPr>
          <a:xfrm>
            <a:off x="6933568" y="4397930"/>
            <a:ext cx="1627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solidFill>
                  <a:srgbClr val="0070C0"/>
                </a:solidFill>
              </a:rPr>
              <a:t>c) Using the CLR signal</a:t>
            </a:r>
          </a:p>
        </p:txBody>
      </p:sp>
    </p:spTree>
    <p:extLst>
      <p:ext uri="{BB962C8B-B14F-4D97-AF65-F5344CB8AC3E}">
        <p14:creationId xmlns:p14="http://schemas.microsoft.com/office/powerpoint/2010/main" val="4224615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00B050"/>
                </a:solidFill>
              </a:rPr>
              <a:t>Implementations of the 4-bit data transfer </a:t>
            </a:r>
            <a:r>
              <a:rPr lang="el-GR" sz="2800" b="1" dirty="0">
                <a:solidFill>
                  <a:srgbClr val="00B050"/>
                </a:solidFill>
              </a:rPr>
              <a:t>α</a:t>
            </a:r>
            <a:r>
              <a:rPr lang="en-US" sz="2800" b="1" dirty="0">
                <a:solidFill>
                  <a:srgbClr val="00B050"/>
                </a:solidFill>
              </a:rPr>
              <a:t>:X</a:t>
            </a:r>
            <a:r>
              <a:rPr lang="en-US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 Y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42950"/>
            <a:ext cx="5117181" cy="3851673"/>
          </a:xfrm>
        </p:spPr>
        <p:txBody>
          <a:bodyPr>
            <a:noAutofit/>
          </a:bodyPr>
          <a:lstStyle/>
          <a:p>
            <a:r>
              <a:rPr lang="en-US" sz="1500" dirty="0"/>
              <a:t>All of the operations so far dealt are with individual 1-bit registers.</a:t>
            </a:r>
          </a:p>
          <a:p>
            <a:r>
              <a:rPr lang="en-US" sz="1500" dirty="0"/>
              <a:t>Real systems use multibit registers to store larger data values.</a:t>
            </a:r>
          </a:p>
          <a:p>
            <a:r>
              <a:rPr lang="en-US" sz="1500" dirty="0"/>
              <a:t>For </a:t>
            </a:r>
            <a:r>
              <a:rPr lang="en-US" sz="1500" dirty="0" err="1"/>
              <a:t>eg</a:t>
            </a:r>
            <a:r>
              <a:rPr lang="en-US" sz="1500" dirty="0"/>
              <a:t>: consider the case, when </a:t>
            </a:r>
            <a:r>
              <a:rPr lang="el-GR" sz="1500" dirty="0"/>
              <a:t>α</a:t>
            </a:r>
            <a:r>
              <a:rPr lang="en-US" sz="1500" dirty="0"/>
              <a:t>=1 in which data is transferred from 4-bit register Y to 4-bit register X, this can be represented as: </a:t>
            </a:r>
            <a:r>
              <a:rPr lang="el-GR" sz="1500" dirty="0"/>
              <a:t>α</a:t>
            </a:r>
            <a:r>
              <a:rPr lang="en-US" sz="1500" dirty="0"/>
              <a:t>: X</a:t>
            </a:r>
            <a:r>
              <a:rPr lang="en-US" sz="1500" dirty="0">
                <a:sym typeface="Wingdings" panose="05000000000000000000" pitchFamily="2" charset="2"/>
              </a:rPr>
              <a:t> Y</a:t>
            </a:r>
          </a:p>
          <a:p>
            <a:r>
              <a:rPr lang="en-US" sz="1500" dirty="0">
                <a:sym typeface="Wingdings" panose="05000000000000000000" pitchFamily="2" charset="2"/>
              </a:rPr>
              <a:t>Sometimes it is necessary to access individual bits or groups of bits within a register. Individual bits can be referred to by subscripts, such as X</a:t>
            </a:r>
            <a:r>
              <a:rPr lang="en-US" sz="1500" baseline="-25000" dirty="0">
                <a:sym typeface="Wingdings" panose="05000000000000000000" pitchFamily="2" charset="2"/>
              </a:rPr>
              <a:t>3</a:t>
            </a:r>
            <a:r>
              <a:rPr lang="en-US" sz="1500" dirty="0">
                <a:sym typeface="Wingdings" panose="05000000000000000000" pitchFamily="2" charset="2"/>
              </a:rPr>
              <a:t> or Y</a:t>
            </a:r>
            <a:r>
              <a:rPr lang="en-US" sz="1500" baseline="-25000" dirty="0">
                <a:sym typeface="Wingdings" panose="05000000000000000000" pitchFamily="2" charset="2"/>
              </a:rPr>
              <a:t>2</a:t>
            </a:r>
            <a:r>
              <a:rPr lang="en-US" sz="1500" dirty="0">
                <a:sym typeface="Wingdings" panose="05000000000000000000" pitchFamily="2" charset="2"/>
              </a:rPr>
              <a:t>.</a:t>
            </a:r>
          </a:p>
          <a:p>
            <a:r>
              <a:rPr lang="en-US" sz="1500" dirty="0">
                <a:sym typeface="Wingdings" panose="05000000000000000000" pitchFamily="2" charset="2"/>
              </a:rPr>
              <a:t>Groups of bits can be referred to as ranges in RTL as X(3-1) or X(3:1)</a:t>
            </a:r>
          </a:p>
          <a:p>
            <a:r>
              <a:rPr lang="en-US" sz="1500" dirty="0">
                <a:sym typeface="Wingdings" panose="05000000000000000000" pitchFamily="2" charset="2"/>
              </a:rPr>
              <a:t>Below statements are valid:</a:t>
            </a:r>
          </a:p>
          <a:p>
            <a:pPr marL="400050" lvl="1" indent="0">
              <a:buNone/>
            </a:pPr>
            <a:r>
              <a:rPr lang="el-GR" sz="1500" dirty="0"/>
              <a:t>α </a:t>
            </a:r>
            <a:r>
              <a:rPr lang="en-US" sz="1500" dirty="0">
                <a:sym typeface="Wingdings" panose="05000000000000000000" pitchFamily="2" charset="2"/>
              </a:rPr>
              <a:t>: X(3-1)  Y(2-0)</a:t>
            </a:r>
          </a:p>
          <a:p>
            <a:pPr marL="400050" lvl="1" indent="0">
              <a:buNone/>
            </a:pPr>
            <a:r>
              <a:rPr lang="en-US" sz="1500" dirty="0"/>
              <a:t>β </a:t>
            </a:r>
            <a:r>
              <a:rPr lang="en-US" sz="1500" dirty="0">
                <a:sym typeface="Wingdings" panose="05000000000000000000" pitchFamily="2" charset="2"/>
              </a:rPr>
              <a:t>: X</a:t>
            </a:r>
            <a:r>
              <a:rPr lang="en-US" sz="1500" baseline="-25000" dirty="0">
                <a:sym typeface="Wingdings" panose="05000000000000000000" pitchFamily="2" charset="2"/>
              </a:rPr>
              <a:t>3</a:t>
            </a:r>
            <a:r>
              <a:rPr lang="en-US" sz="1500" dirty="0">
                <a:sym typeface="Wingdings" panose="05000000000000000000" pitchFamily="2" charset="2"/>
              </a:rPr>
              <a:t>X</a:t>
            </a:r>
            <a:r>
              <a:rPr lang="en-US" sz="1500" baseline="-25000" dirty="0">
                <a:sym typeface="Wingdings" panose="05000000000000000000" pitchFamily="2" charset="2"/>
              </a:rPr>
              <a:t>2</a:t>
            </a:r>
          </a:p>
          <a:p>
            <a:pPr marL="400050" lvl="1" indent="0">
              <a:buNone/>
            </a:pPr>
            <a:r>
              <a:rPr lang="en-US" sz="1500" dirty="0"/>
              <a:t>𝜏 :</a:t>
            </a:r>
            <a:r>
              <a:rPr lang="en-US" sz="1500" dirty="0">
                <a:sym typeface="Wingdings" panose="05000000000000000000" pitchFamily="2" charset="2"/>
              </a:rPr>
              <a:t> X(3-0)  X(2-0), X</a:t>
            </a:r>
            <a:r>
              <a:rPr lang="en-US" sz="1500" baseline="-25000" dirty="0">
                <a:sym typeface="Wingdings" panose="05000000000000000000" pitchFamily="2" charset="2"/>
              </a:rPr>
              <a:t>3</a:t>
            </a:r>
            <a:endParaRPr lang="en-US" sz="1500" baseline="-25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3848D-B6B3-4AA2-B361-3D5A23379326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30B33F-BBCA-463C-8FDC-926507DA6293}"/>
              </a:ext>
            </a:extLst>
          </p:cNvPr>
          <p:cNvSpPr txBox="1"/>
          <p:nvPr/>
        </p:nvSpPr>
        <p:spPr>
          <a:xfrm>
            <a:off x="6454588" y="2241701"/>
            <a:ext cx="1970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solidFill>
                  <a:srgbClr val="0070C0"/>
                </a:solidFill>
              </a:rPr>
              <a:t>a) Using a direct connection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95CCEE-CBE1-46E3-A86A-6FDBFBE7501D}"/>
              </a:ext>
            </a:extLst>
          </p:cNvPr>
          <p:cNvSpPr txBox="1"/>
          <p:nvPr/>
        </p:nvSpPr>
        <p:spPr>
          <a:xfrm>
            <a:off x="7074818" y="4572138"/>
            <a:ext cx="10903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solidFill>
                  <a:srgbClr val="0070C0"/>
                </a:solidFill>
              </a:rPr>
              <a:t>b) Using a bus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5921C9-3D9D-46B3-AB8A-B805CE8DD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4698" y="2624801"/>
            <a:ext cx="2162004" cy="1947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33AB28-4F36-4229-A041-2DCDF23D7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7083" y="883188"/>
            <a:ext cx="2155688" cy="11633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D1DC67-89CB-424D-83E3-5851095B30D8}"/>
              </a:ext>
            </a:extLst>
          </p:cNvPr>
          <p:cNvSpPr txBox="1"/>
          <p:nvPr/>
        </p:nvSpPr>
        <p:spPr>
          <a:xfrm>
            <a:off x="7100875" y="276142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9190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Types of Micro-operations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dirty="0"/>
              <a:t>In digital computer, there are four types of micro-operations: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Arithmetic Micro-operations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Register Transfer Micro-operations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Logical micro-operations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Shift Micro-operations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1605B-7C50-4E7B-8780-098FAAA2CBD5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273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1"/>
            <a:ext cx="3962400" cy="1978116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600" b="1" u="sng" dirty="0">
                <a:solidFill>
                  <a:srgbClr val="0070C0"/>
                </a:solidFill>
              </a:rPr>
              <a:t>1.  Arithmetic micro-operation</a:t>
            </a:r>
            <a:endParaRPr lang="en-US" sz="1600" dirty="0">
              <a:solidFill>
                <a:srgbClr val="0070C0"/>
              </a:solidFill>
            </a:endParaRPr>
          </a:p>
          <a:p>
            <a:pPr marL="457200" indent="-228600"/>
            <a:r>
              <a:rPr lang="en-US" sz="1600" dirty="0"/>
              <a:t>Used to perform some basic arithmetic operation.</a:t>
            </a:r>
          </a:p>
          <a:p>
            <a:pPr marL="457200" indent="-228600"/>
            <a:r>
              <a:rPr lang="en-US" sz="1600" dirty="0" err="1"/>
              <a:t>Eg.</a:t>
            </a:r>
            <a:r>
              <a:rPr lang="en-US" sz="1600" dirty="0"/>
              <a:t>	R1 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R1+R2</a:t>
            </a:r>
          </a:p>
          <a:p>
            <a:pPr marL="457200" indent="-228600"/>
            <a:r>
              <a:rPr lang="en-US" sz="1600" dirty="0"/>
              <a:t>	R   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R+1</a:t>
            </a:r>
          </a:p>
          <a:p>
            <a:pPr marL="457200" indent="-228600"/>
            <a:r>
              <a:rPr lang="en-US" sz="1600" dirty="0"/>
              <a:t>	R   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R-1</a:t>
            </a:r>
          </a:p>
          <a:p>
            <a:pPr marL="457200" indent="-228600"/>
            <a:r>
              <a:rPr lang="en-US" sz="1600" dirty="0"/>
              <a:t>	R3 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1’s complement of R3 + 1</a:t>
            </a:r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D62CD-810C-45F4-9336-997E34DCC9E2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D5BEA1-95AB-4279-882E-FB511D8115F8}"/>
              </a:ext>
            </a:extLst>
          </p:cNvPr>
          <p:cNvSpPr txBox="1">
            <a:spLocks/>
          </p:cNvSpPr>
          <p:nvPr/>
        </p:nvSpPr>
        <p:spPr>
          <a:xfrm>
            <a:off x="457199" y="2829765"/>
            <a:ext cx="3962399" cy="18288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1600" b="1" u="sng" dirty="0">
                <a:solidFill>
                  <a:srgbClr val="0070C0"/>
                </a:solidFill>
              </a:rPr>
              <a:t>2.  Register transfer micro-operation</a:t>
            </a:r>
            <a:endParaRPr lang="en-US" sz="1600" dirty="0">
              <a:solidFill>
                <a:srgbClr val="0070C0"/>
              </a:solidFill>
            </a:endParaRPr>
          </a:p>
          <a:p>
            <a:pPr marL="457200" indent="-228600"/>
            <a:r>
              <a:rPr lang="en-US" sz="1600" dirty="0"/>
              <a:t>Used to transfer content of register</a:t>
            </a:r>
          </a:p>
          <a:p>
            <a:pPr marL="457200" indent="-228600"/>
            <a:r>
              <a:rPr lang="en-US" sz="1600" dirty="0" err="1"/>
              <a:t>Eg.</a:t>
            </a:r>
            <a:r>
              <a:rPr lang="en-US" sz="1600" dirty="0"/>
              <a:t> 	R1 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R2	content of R2 transferred to R1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FC3225-0086-4BA3-AC0F-86FA59BB35E7}"/>
              </a:ext>
            </a:extLst>
          </p:cNvPr>
          <p:cNvSpPr txBox="1">
            <a:spLocks/>
          </p:cNvSpPr>
          <p:nvPr/>
        </p:nvSpPr>
        <p:spPr>
          <a:xfrm>
            <a:off x="4648200" y="742951"/>
            <a:ext cx="4038600" cy="18288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1600" b="1" u="sng" dirty="0">
                <a:solidFill>
                  <a:srgbClr val="0070C0"/>
                </a:solidFill>
              </a:rPr>
              <a:t>3. Logic micro-operation</a:t>
            </a:r>
            <a:endParaRPr lang="en-US" sz="1600" dirty="0">
              <a:solidFill>
                <a:srgbClr val="0070C0"/>
              </a:solidFill>
            </a:endParaRPr>
          </a:p>
          <a:p>
            <a:pPr marL="457200" indent="-228600"/>
            <a:r>
              <a:rPr lang="en-US" sz="1600" dirty="0"/>
              <a:t>Bitwise logical operation are performed; i.e. perform bit manipulation operation on data stored in registers.</a:t>
            </a:r>
          </a:p>
          <a:p>
            <a:pPr marL="457200" indent="-228600"/>
            <a:r>
              <a:rPr lang="en-US" sz="1600" dirty="0" err="1"/>
              <a:t>Eg.</a:t>
            </a:r>
            <a:r>
              <a:rPr lang="en-US" sz="1600" dirty="0"/>
              <a:t>	AND, OR, NOT, EX-OR, EX-NOR, etc.</a:t>
            </a:r>
          </a:p>
          <a:p>
            <a:pPr marL="457200" indent="-228600"/>
            <a:r>
              <a:rPr lang="en-US" sz="1600" dirty="0" err="1"/>
              <a:t>Eg</a:t>
            </a:r>
            <a:r>
              <a:rPr lang="en-US" sz="1600" dirty="0"/>
              <a:t>:	 X</a:t>
            </a:r>
            <a:r>
              <a:rPr lang="en-US" sz="1600" dirty="0">
                <a:sym typeface="Wingdings" panose="05000000000000000000" pitchFamily="2" charset="2"/>
              </a:rPr>
              <a:t>X^Y</a:t>
            </a:r>
            <a:endParaRPr lang="en-US" sz="16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026621F-F551-47A7-808E-FEB65B32F054}"/>
              </a:ext>
            </a:extLst>
          </p:cNvPr>
          <p:cNvSpPr txBox="1">
            <a:spLocks/>
          </p:cNvSpPr>
          <p:nvPr/>
        </p:nvSpPr>
        <p:spPr>
          <a:xfrm>
            <a:off x="4693024" y="2829765"/>
            <a:ext cx="3810000" cy="182880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1600" b="1" u="sng" dirty="0">
                <a:solidFill>
                  <a:srgbClr val="0070C0"/>
                </a:solidFill>
              </a:rPr>
              <a:t>4. Shift micro-operation</a:t>
            </a:r>
            <a:endParaRPr lang="en-US" sz="1600" dirty="0">
              <a:solidFill>
                <a:srgbClr val="0070C0"/>
              </a:solidFill>
            </a:endParaRPr>
          </a:p>
          <a:p>
            <a:pPr marL="457200" indent="-228600"/>
            <a:r>
              <a:rPr lang="en-US" sz="1600" dirty="0"/>
              <a:t>Serial transfer or bits in a register is called shift operation.</a:t>
            </a:r>
          </a:p>
          <a:p>
            <a:pPr marL="857250" lvl="1" indent="-228600"/>
            <a:r>
              <a:rPr lang="en-US" sz="1200" dirty="0"/>
              <a:t>Left shift/ right shift</a:t>
            </a:r>
          </a:p>
          <a:p>
            <a:pPr marL="857250" lvl="1" indent="-228600"/>
            <a:r>
              <a:rPr lang="en-US" sz="1200" dirty="0"/>
              <a:t>Arithmetic right shift</a:t>
            </a:r>
          </a:p>
          <a:p>
            <a:pPr marL="857250" lvl="1" indent="-228600"/>
            <a:r>
              <a:rPr lang="en-US" sz="1200" dirty="0"/>
              <a:t>Circular shift</a:t>
            </a:r>
          </a:p>
          <a:p>
            <a:pPr marL="457200" indent="-228600"/>
            <a:r>
              <a:rPr lang="en-US" sz="1700" dirty="0" err="1"/>
              <a:t>Eg</a:t>
            </a:r>
            <a:r>
              <a:rPr lang="en-US" sz="1700" dirty="0"/>
              <a:t>:  R1 </a:t>
            </a:r>
            <a:r>
              <a:rPr lang="en-US" sz="1700" dirty="0">
                <a:sym typeface="Wingdings" panose="05000000000000000000" pitchFamily="2" charset="2"/>
              </a:rPr>
              <a:t></a:t>
            </a:r>
            <a:r>
              <a:rPr lang="en-US" sz="1700" dirty="0"/>
              <a:t> </a:t>
            </a:r>
            <a:r>
              <a:rPr lang="en-US" sz="1700" dirty="0" err="1"/>
              <a:t>shr</a:t>
            </a:r>
            <a:r>
              <a:rPr lang="en-US" sz="1700" dirty="0"/>
              <a:t> (R1)</a:t>
            </a:r>
          </a:p>
          <a:p>
            <a:pPr marL="857250" lvl="1" indent="-228600"/>
            <a:r>
              <a:rPr lang="en-US" sz="900" dirty="0"/>
              <a:t> R1 register will be logically shifted right, and the result will be stored in register R1.</a:t>
            </a:r>
            <a:endParaRPr lang="en-US" sz="300" dirty="0"/>
          </a:p>
        </p:txBody>
      </p:sp>
    </p:spTree>
    <p:extLst>
      <p:ext uri="{BB962C8B-B14F-4D97-AF65-F5344CB8AC3E}">
        <p14:creationId xmlns:p14="http://schemas.microsoft.com/office/powerpoint/2010/main" val="4284500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Arithmetic and Logical Micro-operations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419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474D6-D3CC-4520-A9AE-3402E4BFA93B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8011C-2644-4491-9F7A-988799B2B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1600" y="826899"/>
            <a:ext cx="5436654" cy="296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6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Shift Micro-operations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5720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There are four basic types of shift Micro-operations: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800" dirty="0"/>
              <a:t>Linear shift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800" dirty="0"/>
              <a:t>Circular shift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800" dirty="0"/>
              <a:t>Arithmetic shift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800" dirty="0"/>
              <a:t>Decimal shift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3638-CDB3-40B3-8CE7-1A98E2729FB6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379BCC-4BD4-4839-AF5A-1752C659E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0600" y="840581"/>
            <a:ext cx="4069254" cy="295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098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7030A0"/>
                </a:solidFill>
              </a:rPr>
              <a:t>a) Linear / Logical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7244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It transfers 0 by the serial input. </a:t>
            </a:r>
          </a:p>
          <a:p>
            <a:r>
              <a:rPr lang="en-US" sz="2400" dirty="0"/>
              <a:t>The symbol </a:t>
            </a:r>
            <a:r>
              <a:rPr lang="en-US" sz="2400" b="1" dirty="0"/>
              <a:t>"</a:t>
            </a:r>
            <a:r>
              <a:rPr lang="en-US" sz="2400" b="1" dirty="0" err="1"/>
              <a:t>shl</a:t>
            </a:r>
            <a:r>
              <a:rPr lang="en-US" sz="2400" b="1" dirty="0"/>
              <a:t>"</a:t>
            </a:r>
            <a:r>
              <a:rPr lang="en-US" sz="2400" dirty="0"/>
              <a:t> can be used for logical shift left and </a:t>
            </a:r>
            <a:r>
              <a:rPr lang="en-US" sz="2400" b="1" dirty="0"/>
              <a:t>"</a:t>
            </a:r>
            <a:r>
              <a:rPr lang="en-US" sz="2400" b="1" dirty="0" err="1"/>
              <a:t>shr</a:t>
            </a:r>
            <a:r>
              <a:rPr lang="en-US" sz="2400" b="1" dirty="0"/>
              <a:t>"</a:t>
            </a:r>
            <a:r>
              <a:rPr lang="en-US" sz="2400" dirty="0"/>
              <a:t> can be used for logical shift right.</a:t>
            </a:r>
          </a:p>
          <a:p>
            <a:pPr marL="800100" lvl="2" indent="0">
              <a:buNone/>
            </a:pPr>
            <a:r>
              <a:rPr lang="en-US" sz="1800" dirty="0"/>
              <a:t>R1 ← </a:t>
            </a:r>
            <a:r>
              <a:rPr lang="en-US" sz="1800" dirty="0" err="1"/>
              <a:t>shl</a:t>
            </a:r>
            <a:r>
              <a:rPr lang="en-US" sz="1800" dirty="0"/>
              <a:t> (R1)</a:t>
            </a:r>
          </a:p>
          <a:p>
            <a:pPr marL="800100" lvl="2" indent="0">
              <a:buNone/>
            </a:pPr>
            <a:r>
              <a:rPr lang="en-US" sz="1800" dirty="0"/>
              <a:t>R2 ← </a:t>
            </a:r>
            <a:r>
              <a:rPr lang="en-US" sz="1800" dirty="0" err="1"/>
              <a:t>shr</a:t>
            </a:r>
            <a:r>
              <a:rPr lang="en-US" sz="1800" dirty="0"/>
              <a:t> (R2)</a:t>
            </a:r>
          </a:p>
          <a:p>
            <a:r>
              <a:rPr lang="en-US" sz="2400" dirty="0"/>
              <a:t>The register symbol should be the equivalent on both sides of the arrows.</a:t>
            </a:r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2DC10-C7AD-4EFA-8166-E202D6F2A97E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A23624AD-3826-4524-A895-765CF8C4F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49356" y="927020"/>
            <a:ext cx="3006964" cy="265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01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7030A0"/>
                </a:solidFill>
              </a:rPr>
              <a:t>b) Circular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114800" cy="3851673"/>
          </a:xfrm>
        </p:spPr>
        <p:txBody>
          <a:bodyPr>
            <a:normAutofit/>
          </a:bodyPr>
          <a:lstStyle/>
          <a:p>
            <a:r>
              <a:rPr lang="en-US" sz="1400" dirty="0"/>
              <a:t>This circulates or pivots the bits of register around the two ends without any trouble of data or contents. </a:t>
            </a:r>
          </a:p>
          <a:p>
            <a:r>
              <a:rPr lang="en-US" sz="1400" dirty="0"/>
              <a:t>In circular shift, the serial output of the shift register is linked to its serial input.</a:t>
            </a:r>
          </a:p>
          <a:p>
            <a:r>
              <a:rPr lang="en-US" sz="1400" b="1" dirty="0"/>
              <a:t>"</a:t>
            </a:r>
            <a:r>
              <a:rPr lang="en-US" sz="1400" b="1" dirty="0" err="1"/>
              <a:t>cil</a:t>
            </a:r>
            <a:r>
              <a:rPr lang="en-US" sz="1400" b="1" dirty="0"/>
              <a:t>"</a:t>
            </a:r>
            <a:r>
              <a:rPr lang="en-US" sz="1400" dirty="0"/>
              <a:t> and </a:t>
            </a:r>
            <a:r>
              <a:rPr lang="en-US" sz="1400" b="1" dirty="0"/>
              <a:t>"</a:t>
            </a:r>
            <a:r>
              <a:rPr lang="en-US" sz="1400" b="1" dirty="0" err="1"/>
              <a:t>cir</a:t>
            </a:r>
            <a:r>
              <a:rPr lang="en-US" sz="1400" b="1" dirty="0"/>
              <a:t>"</a:t>
            </a:r>
            <a:r>
              <a:rPr lang="en-US" sz="1400" dirty="0"/>
              <a:t> is used for circular shift left and right respectively. </a:t>
            </a:r>
          </a:p>
          <a:p>
            <a:r>
              <a:rPr lang="en-US" sz="1400" dirty="0"/>
              <a:t>The symbolic documentation for the shift micro-operations is demonstrated in the table.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EFC3-0C08-4D55-BB6B-3AA1ED012355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8" descr="Lightbox">
            <a:extLst>
              <a:ext uri="{FF2B5EF4-FFF2-40B4-BE49-F238E27FC236}">
                <a16:creationId xmlns:a16="http://schemas.microsoft.com/office/drawing/2014/main" id="{CAE139DF-EA78-4048-9581-D67991DF3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54"/>
          <a:stretch/>
        </p:blipFill>
        <p:spPr bwMode="auto">
          <a:xfrm>
            <a:off x="3200400" y="2951741"/>
            <a:ext cx="2819400" cy="171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B11709-E1B0-43F3-98C5-8C9CED114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422146"/>
              </p:ext>
            </p:extLst>
          </p:nvPr>
        </p:nvGraphicFramePr>
        <p:xfrm>
          <a:off x="5410200" y="280254"/>
          <a:ext cx="3581400" cy="2556927"/>
        </p:xfrm>
        <a:graphic>
          <a:graphicData uri="http://schemas.openxmlformats.org/drawingml/2006/table">
            <a:tbl>
              <a:tblPr/>
              <a:tblGrid>
                <a:gridCol w="1683729">
                  <a:extLst>
                    <a:ext uri="{9D8B030D-6E8A-4147-A177-3AD203B41FA5}">
                      <a16:colId xmlns:a16="http://schemas.microsoft.com/office/drawing/2014/main" val="1826015546"/>
                    </a:ext>
                  </a:extLst>
                </a:gridCol>
                <a:gridCol w="1897671">
                  <a:extLst>
                    <a:ext uri="{9D8B030D-6E8A-4147-A177-3AD203B41FA5}">
                      <a16:colId xmlns:a16="http://schemas.microsoft.com/office/drawing/2014/main" val="3132913219"/>
                    </a:ext>
                  </a:extLst>
                </a:gridCol>
              </a:tblGrid>
              <a:tr h="345104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>
                          <a:effectLst/>
                        </a:rPr>
                        <a:t>Symbolic Designation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dirty="0">
                          <a:effectLst/>
                        </a:rPr>
                        <a:t>Description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18755"/>
                  </a:ext>
                </a:extLst>
              </a:tr>
              <a:tr h="34510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R ← </a:t>
                      </a:r>
                      <a:r>
                        <a:rPr lang="en-US" sz="1200" dirty="0" err="1">
                          <a:effectLst/>
                        </a:rPr>
                        <a:t>shl</a:t>
                      </a:r>
                      <a:r>
                        <a:rPr lang="en-US" sz="1200" dirty="0">
                          <a:effectLst/>
                        </a:rPr>
                        <a:t> (R)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Shift-left register R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81675"/>
                  </a:ext>
                </a:extLst>
              </a:tr>
              <a:tr h="34510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R ← </a:t>
                      </a:r>
                      <a:r>
                        <a:rPr lang="en-US" sz="1200" dirty="0" err="1">
                          <a:effectLst/>
                        </a:rPr>
                        <a:t>shr</a:t>
                      </a:r>
                      <a:r>
                        <a:rPr lang="en-US" sz="1200" dirty="0">
                          <a:effectLst/>
                        </a:rPr>
                        <a:t> (R)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Shift-right register R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293775"/>
                  </a:ext>
                </a:extLst>
              </a:tr>
              <a:tr h="34510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R ← </a:t>
                      </a:r>
                      <a:r>
                        <a:rPr lang="en-US" sz="1200" dirty="0" err="1">
                          <a:effectLst/>
                        </a:rPr>
                        <a:t>cil</a:t>
                      </a:r>
                      <a:r>
                        <a:rPr lang="en-US" sz="1200" dirty="0">
                          <a:effectLst/>
                        </a:rPr>
                        <a:t> (R)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Circular shift-left register R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178095"/>
                  </a:ext>
                </a:extLst>
              </a:tr>
              <a:tr h="486303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R ← </a:t>
                      </a:r>
                      <a:r>
                        <a:rPr lang="en-US" sz="1200" dirty="0" err="1">
                          <a:effectLst/>
                        </a:rPr>
                        <a:t>cir</a:t>
                      </a:r>
                      <a:r>
                        <a:rPr lang="en-US" sz="1200" dirty="0">
                          <a:effectLst/>
                        </a:rPr>
                        <a:t> (R)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Circular shift-right register R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881304"/>
                  </a:ext>
                </a:extLst>
              </a:tr>
              <a:tr h="34510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R ← </a:t>
                      </a:r>
                      <a:r>
                        <a:rPr lang="en-US" sz="1200" dirty="0" err="1">
                          <a:effectLst/>
                        </a:rPr>
                        <a:t>ashl</a:t>
                      </a:r>
                      <a:r>
                        <a:rPr lang="en-US" sz="1200" dirty="0">
                          <a:effectLst/>
                        </a:rPr>
                        <a:t> (R)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Arithmetic shift-left R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307078"/>
                  </a:ext>
                </a:extLst>
              </a:tr>
              <a:tr h="345104"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R ← </a:t>
                      </a:r>
                      <a:r>
                        <a:rPr lang="en-US" sz="1200" dirty="0" err="1">
                          <a:effectLst/>
                        </a:rPr>
                        <a:t>ashr</a:t>
                      </a:r>
                      <a:r>
                        <a:rPr lang="en-US" sz="1200" dirty="0">
                          <a:effectLst/>
                        </a:rPr>
                        <a:t> (R)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Arithmetic shift-right R</a:t>
                      </a:r>
                    </a:p>
                  </a:txBody>
                  <a:tcPr marL="57527" marR="57527" marT="57527" marB="57527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619961"/>
                  </a:ext>
                </a:extLst>
              </a:tr>
            </a:tbl>
          </a:graphicData>
        </a:graphic>
      </p:graphicFrame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514D7BF1-4E16-43E9-9CAE-0F1B56BC0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1"/>
          <a:stretch/>
        </p:blipFill>
        <p:spPr bwMode="auto">
          <a:xfrm>
            <a:off x="457199" y="2968303"/>
            <a:ext cx="2390051" cy="162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097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7030A0"/>
                </a:solidFill>
              </a:rPr>
              <a:t>c) Arithmetic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648200" cy="385167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This shift was developed to work with numbers that have signed formats.</a:t>
            </a:r>
          </a:p>
          <a:p>
            <a:r>
              <a:rPr lang="en-US" dirty="0"/>
              <a:t>This shifts a signed binary number to left or right.</a:t>
            </a:r>
          </a:p>
          <a:p>
            <a:r>
              <a:rPr lang="en-US" dirty="0"/>
              <a:t>In such, the sign bit remains unchanged. Otherwise, it is similar to the logical shift.</a:t>
            </a:r>
          </a:p>
          <a:p>
            <a:r>
              <a:rPr lang="en-US" dirty="0"/>
              <a:t>For </a:t>
            </a:r>
            <a:r>
              <a:rPr lang="en-US" dirty="0" err="1"/>
              <a:t>eg</a:t>
            </a:r>
            <a:r>
              <a:rPr lang="en-US" dirty="0"/>
              <a:t>: X=1011</a:t>
            </a:r>
          </a:p>
          <a:p>
            <a:r>
              <a:rPr lang="en-US" dirty="0"/>
              <a:t>Arithmetic Left shift yields: 1110. Here, the value of the second MSB is lost.</a:t>
            </a:r>
          </a:p>
          <a:p>
            <a:r>
              <a:rPr lang="en-US" dirty="0"/>
              <a:t>Arithmetic Right shift yields: 1101. Here, the LSB is lost.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123C-516F-4785-BEF3-BDFFB61FA48A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2052" name="Picture 4" descr="Lightbox">
            <a:extLst>
              <a:ext uri="{FF2B5EF4-FFF2-40B4-BE49-F238E27FC236}">
                <a16:creationId xmlns:a16="http://schemas.microsoft.com/office/drawing/2014/main" id="{5EB94614-DA95-406D-BB26-5454D07160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2" r="9441" b="11745"/>
          <a:stretch/>
        </p:blipFill>
        <p:spPr bwMode="auto">
          <a:xfrm>
            <a:off x="5410200" y="2761251"/>
            <a:ext cx="2819400" cy="1873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B18D446-2298-46FA-9624-BCAEBD4704FF}"/>
              </a:ext>
            </a:extLst>
          </p:cNvPr>
          <p:cNvSpPr/>
          <p:nvPr/>
        </p:nvSpPr>
        <p:spPr>
          <a:xfrm>
            <a:off x="5029200" y="1543144"/>
            <a:ext cx="457200" cy="549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6B0C1D-5AB5-481F-9649-E5B82CA2E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761" y="190079"/>
            <a:ext cx="2922639" cy="183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98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7030A0"/>
                </a:solidFill>
              </a:rPr>
              <a:t>d) Decimal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Decimal shift was developed specifically for BCD representation. </a:t>
            </a:r>
          </a:p>
          <a:p>
            <a:r>
              <a:rPr lang="en-US" sz="2000" dirty="0"/>
              <a:t>It acts like a linear shift, except it shifts one digit, or four bits, instead of just one bit.</a:t>
            </a:r>
          </a:p>
          <a:p>
            <a:r>
              <a:rPr lang="en-US" sz="2000" dirty="0"/>
              <a:t>For </a:t>
            </a:r>
            <a:r>
              <a:rPr lang="en-US" sz="2000" dirty="0" err="1"/>
              <a:t>eg</a:t>
            </a:r>
            <a:r>
              <a:rPr lang="en-US" sz="2000" dirty="0"/>
              <a:t>: X= 1001 0111</a:t>
            </a:r>
          </a:p>
          <a:p>
            <a:r>
              <a:rPr lang="en-US" sz="2000" dirty="0"/>
              <a:t>The decimal shift left results in the value 0111 0000</a:t>
            </a:r>
          </a:p>
          <a:p>
            <a:r>
              <a:rPr lang="en-US" sz="2000" dirty="0"/>
              <a:t>The decimal shift right results in the value 0000 1001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D30E9-1C00-4BBF-BAA1-B305B87AB42E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831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37F2-7272-4E90-B50A-99D16D18D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FF0000"/>
                </a:solidFill>
              </a:rPr>
              <a:t>Assignment: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0134B-CA7A-47D3-97DF-BD599660C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3225" indent="-403225">
              <a:buFont typeface="+mj-lt"/>
              <a:buAutoNum type="arabicPeriod"/>
            </a:pPr>
            <a:r>
              <a:rPr lang="en-US" sz="2000" dirty="0"/>
              <a:t>For X= 1011 1011 1000 1010, show the result of the following operations.</a:t>
            </a:r>
          </a:p>
          <a:p>
            <a:pPr marL="806450" lvl="1" indent="-406400">
              <a:buFont typeface="+mj-lt"/>
              <a:buAutoNum type="alphaLcParenR"/>
            </a:pPr>
            <a:r>
              <a:rPr lang="en-US" sz="1800" dirty="0" err="1"/>
              <a:t>shl</a:t>
            </a:r>
            <a:r>
              <a:rPr lang="en-US" sz="1800" dirty="0"/>
              <a:t>(x)</a:t>
            </a:r>
          </a:p>
          <a:p>
            <a:pPr marL="806450" lvl="1" indent="-406400">
              <a:buFont typeface="+mj-lt"/>
              <a:buAutoNum type="alphaLcParenR"/>
            </a:pPr>
            <a:r>
              <a:rPr lang="en-US" sz="1800" dirty="0" err="1"/>
              <a:t>shrl</a:t>
            </a:r>
            <a:r>
              <a:rPr lang="en-US" sz="1800" dirty="0"/>
              <a:t>(x)</a:t>
            </a:r>
          </a:p>
          <a:p>
            <a:pPr marL="806450" lvl="1" indent="-406400">
              <a:buFont typeface="+mj-lt"/>
              <a:buAutoNum type="alphaLcParenR"/>
            </a:pPr>
            <a:r>
              <a:rPr lang="en-US" sz="1800" dirty="0" err="1"/>
              <a:t>cil</a:t>
            </a:r>
            <a:r>
              <a:rPr lang="en-US" sz="1800" dirty="0"/>
              <a:t>(x)</a:t>
            </a:r>
          </a:p>
          <a:p>
            <a:pPr marL="806450" lvl="1" indent="-406400">
              <a:buFont typeface="+mj-lt"/>
              <a:buAutoNum type="alphaLcParenR"/>
            </a:pPr>
            <a:r>
              <a:rPr lang="en-US" sz="1800" dirty="0" err="1"/>
              <a:t>cir</a:t>
            </a:r>
            <a:r>
              <a:rPr lang="en-US" sz="1800" dirty="0"/>
              <a:t>(x)</a:t>
            </a:r>
          </a:p>
          <a:p>
            <a:pPr marL="806450" lvl="1" indent="-406400">
              <a:buFont typeface="+mj-lt"/>
              <a:buAutoNum type="alphaLcParenR"/>
            </a:pPr>
            <a:r>
              <a:rPr lang="en-US" sz="1800" dirty="0" err="1"/>
              <a:t>ashl</a:t>
            </a:r>
            <a:r>
              <a:rPr lang="en-US" sz="1800" dirty="0"/>
              <a:t>(x)</a:t>
            </a:r>
          </a:p>
          <a:p>
            <a:pPr marL="806450" lvl="1" indent="-406400">
              <a:buFont typeface="+mj-lt"/>
              <a:buAutoNum type="alphaLcParenR"/>
            </a:pPr>
            <a:r>
              <a:rPr lang="en-US" sz="1800" dirty="0" err="1"/>
              <a:t>ashr</a:t>
            </a:r>
            <a:r>
              <a:rPr lang="en-US" sz="1800" dirty="0"/>
              <a:t>(x)</a:t>
            </a:r>
          </a:p>
          <a:p>
            <a:pPr marL="806450" lvl="1" indent="-406400">
              <a:buFont typeface="+mj-lt"/>
              <a:buAutoNum type="alphaLcParenR"/>
            </a:pPr>
            <a:r>
              <a:rPr lang="en-US" sz="1800" dirty="0" err="1"/>
              <a:t>dshl</a:t>
            </a:r>
            <a:r>
              <a:rPr lang="en-US" sz="1800" dirty="0"/>
              <a:t>(x)</a:t>
            </a:r>
          </a:p>
          <a:p>
            <a:pPr marL="806450" lvl="1" indent="-406400">
              <a:buFont typeface="+mj-lt"/>
              <a:buAutoNum type="alphaLcParenR"/>
            </a:pPr>
            <a:r>
              <a:rPr lang="en-US" sz="1800" dirty="0" err="1"/>
              <a:t>dshr</a:t>
            </a:r>
            <a:r>
              <a:rPr lang="en-US" sz="1800" dirty="0"/>
              <a:t>(x)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83C72-75E8-42BF-8495-41A6F3897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F2E2B-8D80-4239-AC9B-4E604A7BC58B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CB763-883B-4E2A-A83D-C526FDB2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6A984-82AE-46DF-A2E9-78380DDF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5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3.2 Using RTL to specify a Digital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RTL can be used to specify the behavior of any sequential digital system, simplest to complex.</a:t>
            </a:r>
          </a:p>
          <a:p>
            <a:r>
              <a:rPr lang="en-US" sz="2000" dirty="0"/>
              <a:t>RTL specify the function of digital components and simple systems.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A292-3702-4176-B274-C7A3E6404D64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21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3.3 Specification of Digital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Consider the D flip-flop as shown in figure (a).</a:t>
            </a:r>
          </a:p>
          <a:p>
            <a:r>
              <a:rPr lang="en-US" sz="2000" dirty="0"/>
              <a:t>Its function can be expressed by single RTL statement.</a:t>
            </a:r>
          </a:p>
          <a:p>
            <a:pPr marL="0" indent="0">
              <a:buNone/>
            </a:pPr>
            <a:r>
              <a:rPr lang="en-US" sz="2000" dirty="0"/>
              <a:t>	LD: Q</a:t>
            </a:r>
            <a:r>
              <a:rPr lang="en-US" sz="2000" dirty="0">
                <a:sym typeface="Wingdings" panose="05000000000000000000" pitchFamily="2" charset="2"/>
              </a:rPr>
              <a:t>D</a:t>
            </a:r>
          </a:p>
          <a:p>
            <a:r>
              <a:rPr lang="en-US" sz="2000" dirty="0">
                <a:sym typeface="Wingdings" panose="05000000000000000000" pitchFamily="2" charset="2"/>
              </a:rPr>
              <a:t>When </a:t>
            </a:r>
            <a:r>
              <a:rPr lang="en-US" sz="2000" b="1" dirty="0">
                <a:sym typeface="Wingdings" panose="05000000000000000000" pitchFamily="2" charset="2"/>
              </a:rPr>
              <a:t>LD input is high</a:t>
            </a:r>
            <a:r>
              <a:rPr lang="en-US" sz="2000" dirty="0">
                <a:sym typeface="Wingdings" panose="05000000000000000000" pitchFamily="2" charset="2"/>
              </a:rPr>
              <a:t>, the </a:t>
            </a:r>
            <a:r>
              <a:rPr lang="en-US" sz="2000" b="1" dirty="0">
                <a:sym typeface="Wingdings" panose="05000000000000000000" pitchFamily="2" charset="2"/>
              </a:rPr>
              <a:t>value on the D input is loaded </a:t>
            </a:r>
            <a:r>
              <a:rPr lang="en-US" sz="2000" dirty="0">
                <a:sym typeface="Wingdings" panose="05000000000000000000" pitchFamily="2" charset="2"/>
              </a:rPr>
              <a:t>and made available on the </a:t>
            </a:r>
            <a:r>
              <a:rPr lang="en-US" sz="2000" b="1" dirty="0">
                <a:sym typeface="Wingdings" panose="05000000000000000000" pitchFamily="2" charset="2"/>
              </a:rPr>
              <a:t>Q output</a:t>
            </a:r>
            <a:r>
              <a:rPr lang="en-US" sz="2000" dirty="0">
                <a:sym typeface="Wingdings" panose="05000000000000000000" pitchFamily="2" charset="2"/>
              </a:rPr>
              <a:t>. This happens on rising edge of clock pulse.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DE651-A92C-44A9-A6E3-C13B254A94F6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DCF44A-AC7A-4DDE-A97C-BAEEB43E1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6707" y="2744986"/>
            <a:ext cx="4911967" cy="19258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713DE3-CAF1-4853-A17F-89E06B2041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8181" y="2830126"/>
            <a:ext cx="2257425" cy="13570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5E34C3-8E40-4D75-9A26-306809DB8AC4}"/>
              </a:ext>
            </a:extLst>
          </p:cNvPr>
          <p:cNvSpPr txBox="1"/>
          <p:nvPr/>
        </p:nvSpPr>
        <p:spPr>
          <a:xfrm>
            <a:off x="6288181" y="422529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Flipflop truth table</a:t>
            </a:r>
          </a:p>
        </p:txBody>
      </p:sp>
    </p:spTree>
    <p:extLst>
      <p:ext uri="{BB962C8B-B14F-4D97-AF65-F5344CB8AC3E}">
        <p14:creationId xmlns:p14="http://schemas.microsoft.com/office/powerpoint/2010/main" val="1177641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1148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In figure b, when CLR =1, the flipflop set to 0.</a:t>
            </a:r>
          </a:p>
          <a:p>
            <a:pPr marL="457200" lvl="1" indent="0">
              <a:buNone/>
            </a:pPr>
            <a:r>
              <a:rPr lang="en-US" sz="1600" dirty="0"/>
              <a:t>i.e.</a:t>
            </a:r>
          </a:p>
          <a:p>
            <a:pPr marL="457200" lvl="1" indent="0">
              <a:buNone/>
            </a:pPr>
            <a:r>
              <a:rPr lang="en-US" sz="1600" dirty="0"/>
              <a:t>LD: Q</a:t>
            </a:r>
            <a:r>
              <a:rPr lang="en-US" sz="1600" dirty="0">
                <a:sym typeface="Wingdings" panose="05000000000000000000" pitchFamily="2" charset="2"/>
              </a:rPr>
              <a:t> D</a:t>
            </a:r>
          </a:p>
          <a:p>
            <a:pPr marL="457200" lvl="1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CLR: Q0</a:t>
            </a:r>
          </a:p>
          <a:p>
            <a:r>
              <a:rPr lang="en-US" sz="2000" dirty="0">
                <a:sym typeface="Wingdings" panose="05000000000000000000" pitchFamily="2" charset="2"/>
              </a:rPr>
              <a:t>However, When D, LD and CLR are equal to 1, the above system fails.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When LD=1, the Q is set to 1 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And when CLR=1, Q is clear to 0, 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Both set Q simultaneously.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Which  is not possible.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F3A2-7100-469F-A508-E963595263C8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3D7DA-413F-445E-9181-5725352C9A3C}"/>
              </a:ext>
            </a:extLst>
          </p:cNvPr>
          <p:cNvSpPr txBox="1"/>
          <p:nvPr/>
        </p:nvSpPr>
        <p:spPr>
          <a:xfrm>
            <a:off x="6143625" y="422529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Flipflop truth table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1BF7A6-52A3-43C3-B9FB-048F17597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4400" y="750611"/>
            <a:ext cx="4229100" cy="16581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5F8FDA-F38D-4E37-AB48-B462E44BC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19800" y="2837529"/>
            <a:ext cx="2257425" cy="135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46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114800" cy="3851673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/>
              <a:t>The solution is to modify the conditions so they are mutually exclusive.</a:t>
            </a:r>
          </a:p>
          <a:p>
            <a:r>
              <a:rPr lang="en-US" sz="2000" dirty="0"/>
              <a:t>Either of the following is valid.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In this RTL code, note the combined condition in the RTL statement.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It is possible to require more than one condition to be met in order for a micro-operation to occur.</a:t>
            </a:r>
          </a:p>
          <a:p>
            <a:r>
              <a:rPr lang="en-US" sz="2000" dirty="0"/>
              <a:t>Here, Q is set to 1 if both CLR=0 and LD=1.</a:t>
            </a:r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A4AB1-40F7-4B37-AC2E-9DAA23105E9B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25C4BD-E857-48D3-9758-1C17DBBDB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4400" y="750611"/>
            <a:ext cx="4229100" cy="16581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1CB19-9A95-479A-9003-C2F44C37D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19800" y="2837529"/>
            <a:ext cx="2257425" cy="13570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43D7DA-413F-445E-9181-5725352C9A3C}"/>
              </a:ext>
            </a:extLst>
          </p:cNvPr>
          <p:cNvSpPr txBox="1"/>
          <p:nvPr/>
        </p:nvSpPr>
        <p:spPr>
          <a:xfrm>
            <a:off x="6143625" y="422529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Flipflop truth table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6C4387-A946-49DD-A5AC-2509F90A6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968" y="1701324"/>
            <a:ext cx="2633663" cy="5725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758EC8-CCBD-49FC-B6A7-B63226FE6B8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9689" b="57291"/>
          <a:stretch/>
        </p:blipFill>
        <p:spPr>
          <a:xfrm>
            <a:off x="1676400" y="2830259"/>
            <a:ext cx="1325031" cy="24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15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Another Example: JK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Consider the JK flip flop without a CLR input.</a:t>
            </a:r>
          </a:p>
          <a:p>
            <a:r>
              <a:rPr lang="en-US" sz="2000" dirty="0"/>
              <a:t>Its truth table is: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Its behavior can be specified in RTL as follow: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When J=0 and K=0, no condition is met and the flip-flop retains its previous value. No RTL statement is included for this case because no transfer is needed.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2589-C88D-48D1-A1B6-6DAD09DBDAB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CE7CFA-3808-4A3C-9441-86FD296F6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3600" y="851716"/>
            <a:ext cx="2788792" cy="1720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CD476D-E2F7-4DF4-9E4E-C5E062076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62200" y="2800350"/>
            <a:ext cx="1066428" cy="8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11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400" b="1" dirty="0">
                <a:solidFill>
                  <a:srgbClr val="FF0000"/>
                </a:solidFill>
              </a:rPr>
              <a:t>3.4 Specification and Implementation of Simple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RTL can be used to specify behavior of an entire system , independent of the components used to implement the system.</a:t>
            </a:r>
          </a:p>
          <a:p>
            <a:r>
              <a:rPr lang="en-US" sz="2000" dirty="0"/>
              <a:t>Consider a system with four 1-bit flipflops. Given RTL code where j, o, h and n are conditions which are mutually exclusive.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9BB7-B9E6-4074-9A51-6D85DAFE0502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CE70FA-313C-4EDC-B117-96E74A1E8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0800" y="2343150"/>
            <a:ext cx="1970617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1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This RTL can be implemented using direct connections.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8922A-B1EB-431C-8D25-B47D6CB7962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95E999-C3E0-4E71-A676-3106A06ED5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3226" t="6917" r="3226" b="6378"/>
          <a:stretch/>
        </p:blipFill>
        <p:spPr>
          <a:xfrm>
            <a:off x="3429000" y="1504950"/>
            <a:ext cx="4419600" cy="2133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A57930-2A49-49DC-BD26-3CA884921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200" y="3968107"/>
            <a:ext cx="5400675" cy="361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68F0FD-70FC-41C6-A38A-522187B5A7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1214" y="1334690"/>
            <a:ext cx="1970617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86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657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But it does not complete the transfer.</a:t>
            </a:r>
          </a:p>
          <a:p>
            <a:r>
              <a:rPr lang="en-US" sz="2000" b="1" dirty="0"/>
              <a:t>No register has actually loaded any data yet</a:t>
            </a:r>
            <a:r>
              <a:rPr lang="en-US" sz="2000" dirty="0"/>
              <a:t>.</a:t>
            </a:r>
          </a:p>
          <a:p>
            <a:r>
              <a:rPr lang="en-US" sz="2000" dirty="0"/>
              <a:t>It is necessary to assert LD signal.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C444D-7E2F-4A29-9D4E-0DAFE8F4B735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95E999-C3E0-4E71-A676-3106A06ED5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3880" t="4970" r="2325" b="3147"/>
          <a:stretch/>
        </p:blipFill>
        <p:spPr>
          <a:xfrm>
            <a:off x="4419600" y="1428750"/>
            <a:ext cx="4181475" cy="213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A57930-2A49-49DC-BD26-3CA884921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43400" y="3974897"/>
            <a:ext cx="4181475" cy="28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47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1800" dirty="0"/>
              <a:t>The complete circuit, with LD signal is shown as below.</a:t>
            </a:r>
          </a:p>
          <a:p>
            <a:r>
              <a:rPr lang="en-US" sz="1800" dirty="0"/>
              <a:t>The flipflop M is loaded when j=1 (M</a:t>
            </a:r>
            <a:r>
              <a:rPr lang="en-US" sz="1800" dirty="0">
                <a:sym typeface="Wingdings" panose="05000000000000000000" pitchFamily="2" charset="2"/>
              </a:rPr>
              <a:t>A) or n=1 (MR).</a:t>
            </a:r>
          </a:p>
          <a:p>
            <a:r>
              <a:rPr lang="en-US" sz="1800" dirty="0">
                <a:sym typeface="Wingdings" panose="05000000000000000000" pitchFamily="2" charset="2"/>
              </a:rPr>
              <a:t>Logically, </a:t>
            </a:r>
            <a:r>
              <a:rPr lang="en-US" sz="1800" dirty="0" err="1">
                <a:sym typeface="Wingdings" panose="05000000000000000000" pitchFamily="2" charset="2"/>
              </a:rPr>
              <a:t>ORing</a:t>
            </a:r>
            <a:r>
              <a:rPr lang="en-US" sz="1800" dirty="0">
                <a:sym typeface="Wingdings" panose="05000000000000000000" pitchFamily="2" charset="2"/>
              </a:rPr>
              <a:t> these signals together produces LD input for M flipflop.</a:t>
            </a:r>
          </a:p>
          <a:p>
            <a:r>
              <a:rPr lang="en-US" sz="1800" dirty="0">
                <a:sym typeface="Wingdings" panose="05000000000000000000" pitchFamily="2" charset="2"/>
              </a:rPr>
              <a:t>Similarly for other conditions.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B530-148A-44B3-83F5-B0794D4C64B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BBA5F4-FE83-4E27-9CE6-ED2FAD335C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916" t="20706" r="1999" b="3963"/>
          <a:stretch/>
        </p:blipFill>
        <p:spPr>
          <a:xfrm>
            <a:off x="3729788" y="2343149"/>
            <a:ext cx="4576011" cy="2133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F96E33-CA97-40F1-A490-815F0E01B0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r="16353" b="86321"/>
          <a:stretch/>
        </p:blipFill>
        <p:spPr>
          <a:xfrm>
            <a:off x="2617694" y="4710465"/>
            <a:ext cx="3983691" cy="3874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E72FF5-D3AD-4E00-806D-184A75142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000" y="19050"/>
            <a:ext cx="1524000" cy="111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32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0480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Buses can be implemented using either tri-state buffers or multiplexers.</a:t>
            </a:r>
          </a:p>
          <a:p>
            <a:r>
              <a:rPr lang="en-US" sz="2000" dirty="0"/>
              <a:t>Figure aside shows the complete design of the system to implement RTL code using a bus and tri-state buffers.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CE4-E33E-4F81-A1FE-83BDCDCBD276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29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A0A9FD-A7FC-46EA-A708-557ECA9AB8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5882" t="3432" r="11765" b="5808"/>
          <a:stretch/>
        </p:blipFill>
        <p:spPr>
          <a:xfrm>
            <a:off x="4572000" y="1571547"/>
            <a:ext cx="2133600" cy="25617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C5CFD1-0766-4841-B7F3-988ACE409B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38600" y="4461868"/>
            <a:ext cx="4365812" cy="330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D2D7EE-658E-43B1-A2AF-03102F0544A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916" t="20706" r="1999" b="3963"/>
          <a:stretch/>
        </p:blipFill>
        <p:spPr>
          <a:xfrm>
            <a:off x="6625388" y="52406"/>
            <a:ext cx="2518612" cy="117432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AD1679-CCE4-4192-A627-22A410253330}"/>
              </a:ext>
            </a:extLst>
          </p:cNvPr>
          <p:cNvCxnSpPr/>
          <p:nvPr/>
        </p:nvCxnSpPr>
        <p:spPr>
          <a:xfrm flipH="1">
            <a:off x="6221506" y="514350"/>
            <a:ext cx="2182906" cy="1447800"/>
          </a:xfrm>
          <a:prstGeom prst="line">
            <a:avLst/>
          </a:prstGeom>
          <a:ln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43993E-5C17-4F79-A330-9A03B181B11C}"/>
              </a:ext>
            </a:extLst>
          </p:cNvPr>
          <p:cNvCxnSpPr>
            <a:cxnSpLocks/>
          </p:cNvCxnSpPr>
          <p:nvPr/>
        </p:nvCxnSpPr>
        <p:spPr>
          <a:xfrm flipH="1">
            <a:off x="6221506" y="550797"/>
            <a:ext cx="2693894" cy="2335154"/>
          </a:xfrm>
          <a:prstGeom prst="line">
            <a:avLst/>
          </a:prstGeom>
          <a:ln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0D0C105-7C81-49EC-B914-1953FC5162BA}"/>
              </a:ext>
            </a:extLst>
          </p:cNvPr>
          <p:cNvCxnSpPr>
            <a:cxnSpLocks/>
          </p:cNvCxnSpPr>
          <p:nvPr/>
        </p:nvCxnSpPr>
        <p:spPr>
          <a:xfrm flipH="1">
            <a:off x="6221506" y="540929"/>
            <a:ext cx="1515036" cy="3093972"/>
          </a:xfrm>
          <a:prstGeom prst="line">
            <a:avLst/>
          </a:prstGeom>
          <a:ln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FE28AAA-919A-4473-9240-9B22BA9E23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38800" y="23468"/>
            <a:ext cx="916564" cy="6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993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2075552" cy="3851673"/>
          </a:xfrm>
        </p:spPr>
        <p:txBody>
          <a:bodyPr>
            <a:normAutofit/>
          </a:bodyPr>
          <a:lstStyle/>
          <a:p>
            <a:r>
              <a:rPr lang="en-US" sz="2000" dirty="0"/>
              <a:t>It is also possible to implement a system bus using a multiplexer.</a:t>
            </a:r>
          </a:p>
          <a:p>
            <a:r>
              <a:rPr lang="en-US" sz="2000" dirty="0"/>
              <a:t>MUX can be used instead of tri-state buffers.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3D923-662D-47E4-8E06-B1F5A721EA48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3. RTL and VHDL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1D352C-98E2-417B-9F5B-B5926D3843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4093" t="4070" r="3835" b="2913"/>
          <a:stretch/>
        </p:blipFill>
        <p:spPr>
          <a:xfrm>
            <a:off x="3313234" y="1474877"/>
            <a:ext cx="2706566" cy="2887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9C7B17-A2D7-4D18-ABC4-5BDB9F4933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1764" y="4503897"/>
            <a:ext cx="3873872" cy="3281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3857CF-72FA-41EF-B026-2DEE0E7413E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5882" t="3432" r="11765" b="5808"/>
          <a:stretch/>
        </p:blipFill>
        <p:spPr>
          <a:xfrm>
            <a:off x="7848600" y="11023"/>
            <a:ext cx="1219200" cy="1463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CF505E-2BA9-4465-B568-F63D03AB97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29400" y="11023"/>
            <a:ext cx="916564" cy="6733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21059D-ECD9-4B35-AEEA-96E96370D58A}"/>
              </a:ext>
            </a:extLst>
          </p:cNvPr>
          <p:cNvSpPr txBox="1"/>
          <p:nvPr/>
        </p:nvSpPr>
        <p:spPr>
          <a:xfrm>
            <a:off x="4885876" y="3562350"/>
            <a:ext cx="609600" cy="215444"/>
          </a:xfrm>
          <a:prstGeom prst="rect">
            <a:avLst/>
          </a:prstGeom>
          <a:solidFill>
            <a:schemeClr val="bg1"/>
          </a:solidFill>
        </p:spPr>
        <p:txBody>
          <a:bodyPr wrap="square" tIns="0" rtlCol="0">
            <a:spAutoFit/>
          </a:bodyPr>
          <a:lstStyle/>
          <a:p>
            <a:r>
              <a:rPr lang="en-US" sz="1100" b="1" i="1" dirty="0"/>
              <a:t>n   o   j</a:t>
            </a:r>
          </a:p>
        </p:txBody>
      </p:sp>
    </p:spTree>
    <p:extLst>
      <p:ext uri="{BB962C8B-B14F-4D97-AF65-F5344CB8AC3E}">
        <p14:creationId xmlns:p14="http://schemas.microsoft.com/office/powerpoint/2010/main" val="1894451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Modulo 6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5943600" cy="3851673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/>
              <a:t>To design a modulo 6 counter, first, we need to specify the function of counter using RTL.</a:t>
            </a:r>
          </a:p>
          <a:p>
            <a:r>
              <a:rPr lang="en-US" sz="2000" dirty="0"/>
              <a:t>Then, we implement RTL code using digital logic.</a:t>
            </a:r>
          </a:p>
          <a:p>
            <a:r>
              <a:rPr lang="en-US" sz="2000" dirty="0"/>
              <a:t>The modulo 6 counter is a </a:t>
            </a:r>
            <a:r>
              <a:rPr lang="en-US" sz="2000" b="1" dirty="0"/>
              <a:t>3 bit counter </a:t>
            </a:r>
            <a:r>
              <a:rPr lang="en-US" sz="2000" dirty="0"/>
              <a:t>that counts through the sequence: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Its </a:t>
            </a:r>
            <a:r>
              <a:rPr lang="en-US" sz="2000" b="1" dirty="0"/>
              <a:t>input U </a:t>
            </a:r>
            <a:r>
              <a:rPr lang="en-US" sz="2000" dirty="0"/>
              <a:t>controls the counter. </a:t>
            </a:r>
          </a:p>
          <a:p>
            <a:pPr lvl="1"/>
            <a:r>
              <a:rPr lang="en-US" sz="1600" dirty="0"/>
              <a:t>When</a:t>
            </a:r>
            <a:r>
              <a:rPr lang="en-US" sz="1600" b="1" dirty="0"/>
              <a:t> U=1</a:t>
            </a:r>
            <a:r>
              <a:rPr lang="en-US" sz="1600" dirty="0"/>
              <a:t>, the counter increments its value on the rising edge of the clock.</a:t>
            </a:r>
          </a:p>
          <a:p>
            <a:pPr lvl="1"/>
            <a:r>
              <a:rPr lang="en-US" sz="1600" dirty="0"/>
              <a:t>When </a:t>
            </a:r>
            <a:r>
              <a:rPr lang="en-US" sz="1600" b="1" dirty="0"/>
              <a:t>U=0, </a:t>
            </a:r>
            <a:r>
              <a:rPr lang="en-US" sz="1600" dirty="0"/>
              <a:t>it retains its current value of the clock.</a:t>
            </a:r>
          </a:p>
          <a:p>
            <a:r>
              <a:rPr lang="en-US" sz="2000" dirty="0"/>
              <a:t>The value of count is represented as 3-bit output </a:t>
            </a:r>
            <a:r>
              <a:rPr lang="en-US" sz="2000" b="1" dirty="0"/>
              <a:t>V</a:t>
            </a:r>
            <a:r>
              <a:rPr lang="en-US" sz="2000" b="1" baseline="-25000" dirty="0"/>
              <a:t>2</a:t>
            </a:r>
            <a:r>
              <a:rPr lang="en-US" sz="2000" b="1" dirty="0"/>
              <a:t>V</a:t>
            </a:r>
            <a:r>
              <a:rPr lang="en-US" sz="2000" b="1" baseline="-25000" dirty="0"/>
              <a:t>1</a:t>
            </a:r>
            <a:r>
              <a:rPr lang="en-US" sz="2000" b="1" dirty="0"/>
              <a:t>V</a:t>
            </a:r>
            <a:r>
              <a:rPr lang="en-US" sz="2000" b="1" baseline="-25000" dirty="0"/>
              <a:t>0</a:t>
            </a:r>
            <a:r>
              <a:rPr lang="en-US" sz="2000" b="1" dirty="0"/>
              <a:t>.</a:t>
            </a:r>
          </a:p>
          <a:p>
            <a:r>
              <a:rPr lang="en-US" sz="2000" dirty="0"/>
              <a:t>An additional output,</a:t>
            </a:r>
            <a:r>
              <a:rPr lang="en-US" sz="2000" b="1" dirty="0"/>
              <a:t> C is 1 </a:t>
            </a:r>
            <a:r>
              <a:rPr lang="en-US" sz="2000" dirty="0"/>
              <a:t>when going from </a:t>
            </a:r>
            <a:r>
              <a:rPr lang="en-US" sz="2000" b="1" dirty="0"/>
              <a:t>5 to 0</a:t>
            </a:r>
            <a:r>
              <a:rPr lang="en-US" sz="2000" dirty="0"/>
              <a:t>, and </a:t>
            </a:r>
          </a:p>
          <a:p>
            <a:pPr marL="0" indent="0">
              <a:buNone/>
            </a:pPr>
            <a:r>
              <a:rPr lang="en-US" sz="2000" dirty="0"/>
              <a:t>	0 otherwise.</a:t>
            </a:r>
          </a:p>
          <a:p>
            <a:r>
              <a:rPr lang="en-US" sz="2000" dirty="0"/>
              <a:t>In this example, </a:t>
            </a:r>
            <a:r>
              <a:rPr lang="en-US" sz="2000" b="1" dirty="0"/>
              <a:t>C output remains at 1 </a:t>
            </a:r>
            <a:r>
              <a:rPr lang="en-US" sz="2000" dirty="0"/>
              <a:t>until the counter goes from 0 to 1.</a:t>
            </a:r>
          </a:p>
          <a:p>
            <a:endParaRPr lang="en-US" sz="2000" baseline="-25000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BDFEF-4B5B-4025-A29E-013FB7102C55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CCFE03-A4E1-4EFF-980A-031F0B158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19" y="2038350"/>
            <a:ext cx="5169128" cy="290513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1026" name="Picture 2" descr="State&#10;Isb&#10;Next State&#10;msib Ish&#10;a. 3 bit synchronous modulo 6 counter&#10;The block diagram in Fig. 1.(a) has to observe the counti">
            <a:extLst>
              <a:ext uri="{FF2B5EF4-FFF2-40B4-BE49-F238E27FC236}">
                <a16:creationId xmlns:a16="http://schemas.microsoft.com/office/drawing/2014/main" id="{23D24F23-3CB7-4A48-9F2A-78B48ACF34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54478" b="15015"/>
          <a:stretch/>
        </p:blipFill>
        <p:spPr bwMode="auto">
          <a:xfrm>
            <a:off x="6705600" y="1320403"/>
            <a:ext cx="2324100" cy="250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34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8100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State table for Modulo 6 counter:</a:t>
            </a:r>
          </a:p>
          <a:p>
            <a:r>
              <a:rPr lang="en-US" sz="2000" dirty="0"/>
              <a:t>The additional states </a:t>
            </a:r>
            <a:r>
              <a:rPr lang="en-US" sz="2000" b="1" dirty="0"/>
              <a:t>S6 and S7 </a:t>
            </a:r>
            <a:r>
              <a:rPr lang="en-US" sz="2000" dirty="0"/>
              <a:t>are to handle the case when mod-6 counter powers up in </a:t>
            </a:r>
            <a:r>
              <a:rPr lang="en-US" sz="2000" b="1" dirty="0"/>
              <a:t>invalid state.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8B261-1204-483D-BE69-CA1161B5662E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54680" y="4785359"/>
            <a:ext cx="2865120" cy="255747"/>
          </a:xfrm>
        </p:spPr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299522-465D-4273-A918-5C798B2546D5}"/>
              </a:ext>
            </a:extLst>
          </p:cNvPr>
          <p:cNvSpPr/>
          <p:nvPr/>
        </p:nvSpPr>
        <p:spPr>
          <a:xfrm>
            <a:off x="5486400" y="1187646"/>
            <a:ext cx="73819" cy="263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04368DB-A6C9-4A36-B762-3E2841D3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514" y="1128807"/>
            <a:ext cx="4751486" cy="3263971"/>
          </a:xfrm>
          <a:prstGeom prst="rect">
            <a:avLst/>
          </a:prstGeom>
        </p:spPr>
      </p:pic>
      <p:pic>
        <p:nvPicPr>
          <p:cNvPr id="9" name="Picture 2" descr="State&#10;Isb&#10;Next State&#10;msib Ish&#10;a. 3 bit synchronous modulo 6 counter&#10;The block diagram in Fig. 1.(a) has to observe the counti">
            <a:extLst>
              <a:ext uri="{FF2B5EF4-FFF2-40B4-BE49-F238E27FC236}">
                <a16:creationId xmlns:a16="http://schemas.microsoft.com/office/drawing/2014/main" id="{F76B937F-5DD6-4B47-A238-58F2DBE225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54478" b="15015"/>
          <a:stretch/>
        </p:blipFill>
        <p:spPr bwMode="auto">
          <a:xfrm>
            <a:off x="1371600" y="2952749"/>
            <a:ext cx="1604868" cy="1728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8129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State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A6DA-715A-4046-A224-2EA507A977F2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DA1105-9B11-4134-BAC6-ECD944B29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47750"/>
            <a:ext cx="3737863" cy="25676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96F8E0-8A50-4FDC-AFFF-F28B36631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663" y="1276350"/>
            <a:ext cx="4686300" cy="244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357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5181600" cy="3851673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When the counter’s value is 000 to 100 and its U(up) signal is asserted, the output of the counter is incremented.</a:t>
            </a:r>
          </a:p>
          <a:p>
            <a:r>
              <a:rPr lang="en-US" sz="2000" dirty="0"/>
              <a:t>This corresponds to condition (S</a:t>
            </a:r>
            <a:r>
              <a:rPr lang="en-US" sz="2000" baseline="-25000" dirty="0"/>
              <a:t>0</a:t>
            </a:r>
            <a:r>
              <a:rPr lang="en-US" sz="2000" dirty="0"/>
              <a:t>+S</a:t>
            </a:r>
            <a:r>
              <a:rPr lang="en-US" sz="2000" baseline="-25000" dirty="0"/>
              <a:t>1</a:t>
            </a:r>
            <a:r>
              <a:rPr lang="en-US" sz="2000" dirty="0"/>
              <a:t>+S</a:t>
            </a:r>
            <a:r>
              <a:rPr lang="en-US" sz="2000" baseline="-25000" dirty="0"/>
              <a:t>2</a:t>
            </a:r>
            <a:r>
              <a:rPr lang="en-US" sz="2000" dirty="0"/>
              <a:t>+S</a:t>
            </a:r>
            <a:r>
              <a:rPr lang="en-US" sz="2000" baseline="-25000" dirty="0"/>
              <a:t>3</a:t>
            </a:r>
            <a:r>
              <a:rPr lang="en-US" sz="2000" dirty="0"/>
              <a:t>+S</a:t>
            </a:r>
            <a:r>
              <a:rPr lang="en-US" sz="2000" baseline="-25000" dirty="0"/>
              <a:t>4</a:t>
            </a:r>
            <a:r>
              <a:rPr lang="en-US" sz="2000" dirty="0"/>
              <a:t>)U.</a:t>
            </a:r>
          </a:p>
          <a:p>
            <a:r>
              <a:rPr lang="en-US" sz="2000" dirty="0"/>
              <a:t>Under this condition, C is also set to 0.</a:t>
            </a:r>
          </a:p>
          <a:p>
            <a:pPr marL="0" indent="0">
              <a:buNone/>
            </a:pPr>
            <a:r>
              <a:rPr lang="en-US" sz="2000" dirty="0"/>
              <a:t>	So</a:t>
            </a:r>
            <a:r>
              <a:rPr lang="en-US" sz="2000" b="1" dirty="0"/>
              <a:t> V</a:t>
            </a:r>
            <a:r>
              <a:rPr lang="en-US" sz="2000" b="1" dirty="0">
                <a:sym typeface="Wingdings" panose="05000000000000000000" pitchFamily="2" charset="2"/>
              </a:rPr>
              <a:t>V+1, C0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	Thus </a:t>
            </a:r>
            <a:r>
              <a:rPr lang="en-US" sz="2000" b="1" dirty="0"/>
              <a:t>(S</a:t>
            </a:r>
            <a:r>
              <a:rPr lang="en-US" sz="2000" b="1" baseline="-25000" dirty="0"/>
              <a:t>0</a:t>
            </a:r>
            <a:r>
              <a:rPr lang="en-US" sz="2000" b="1" dirty="0"/>
              <a:t>+S</a:t>
            </a:r>
            <a:r>
              <a:rPr lang="en-US" sz="2000" b="1" baseline="-25000" dirty="0"/>
              <a:t>1</a:t>
            </a:r>
            <a:r>
              <a:rPr lang="en-US" sz="2000" b="1" dirty="0"/>
              <a:t>+S</a:t>
            </a:r>
            <a:r>
              <a:rPr lang="en-US" sz="2000" b="1" baseline="-25000" dirty="0"/>
              <a:t>2</a:t>
            </a:r>
            <a:r>
              <a:rPr lang="en-US" sz="2000" b="1" dirty="0"/>
              <a:t>+S</a:t>
            </a:r>
            <a:r>
              <a:rPr lang="en-US" sz="2000" b="1" baseline="-25000" dirty="0"/>
              <a:t>3</a:t>
            </a:r>
            <a:r>
              <a:rPr lang="en-US" sz="2000" b="1" dirty="0"/>
              <a:t>+S</a:t>
            </a:r>
            <a:r>
              <a:rPr lang="en-US" sz="2000" b="1" baseline="-25000" dirty="0"/>
              <a:t>4</a:t>
            </a:r>
            <a:r>
              <a:rPr lang="en-US" sz="2000" b="1" dirty="0"/>
              <a:t>)U :  V</a:t>
            </a:r>
            <a:r>
              <a:rPr lang="en-US" sz="2000" b="1" dirty="0">
                <a:sym typeface="Wingdings" panose="05000000000000000000" pitchFamily="2" charset="2"/>
              </a:rPr>
              <a:t>V+1, C0</a:t>
            </a:r>
          </a:p>
          <a:p>
            <a:r>
              <a:rPr lang="en-US" sz="2000" dirty="0">
                <a:sym typeface="Wingdings" panose="05000000000000000000" pitchFamily="2" charset="2"/>
              </a:rPr>
              <a:t>When counter is in state S</a:t>
            </a:r>
            <a:r>
              <a:rPr lang="en-US" sz="2000" baseline="-25000" dirty="0">
                <a:sym typeface="Wingdings" panose="05000000000000000000" pitchFamily="2" charset="2"/>
              </a:rPr>
              <a:t>5</a:t>
            </a:r>
            <a:r>
              <a:rPr lang="en-US" sz="2000" dirty="0">
                <a:sym typeface="Wingdings" panose="05000000000000000000" pitchFamily="2" charset="2"/>
              </a:rPr>
              <a:t> (V=101) and U=1, the counter must be reset to 000 and C must be 1,</a:t>
            </a:r>
          </a:p>
          <a:p>
            <a:pPr marL="0" indent="0">
              <a:buNone/>
            </a:pPr>
            <a:r>
              <a:rPr lang="en-US" sz="2000" b="1" dirty="0">
                <a:sym typeface="Wingdings" panose="05000000000000000000" pitchFamily="2" charset="2"/>
              </a:rPr>
              <a:t>	</a:t>
            </a:r>
            <a:r>
              <a:rPr lang="en-US" sz="2000" dirty="0">
                <a:sym typeface="Wingdings" panose="05000000000000000000" pitchFamily="2" charset="2"/>
              </a:rPr>
              <a:t>i.e.    </a:t>
            </a:r>
            <a:r>
              <a:rPr lang="en-US" sz="2000" b="1" dirty="0">
                <a:sym typeface="Wingdings" panose="05000000000000000000" pitchFamily="2" charset="2"/>
              </a:rPr>
              <a:t>S</a:t>
            </a:r>
            <a:r>
              <a:rPr lang="en-US" sz="2000" b="1" baseline="-25000" dirty="0">
                <a:sym typeface="Wingdings" panose="05000000000000000000" pitchFamily="2" charset="2"/>
              </a:rPr>
              <a:t>5</a:t>
            </a:r>
            <a:r>
              <a:rPr lang="en-US" sz="2000" b="1" dirty="0">
                <a:sym typeface="Wingdings" panose="05000000000000000000" pitchFamily="2" charset="2"/>
              </a:rPr>
              <a:t> U : V 0, C 1</a:t>
            </a:r>
          </a:p>
          <a:p>
            <a:r>
              <a:rPr lang="en-US" sz="2000" dirty="0">
                <a:sym typeface="Wingdings" panose="05000000000000000000" pitchFamily="2" charset="2"/>
              </a:rPr>
              <a:t>For invalid state, regardless of value of  U,</a:t>
            </a:r>
          </a:p>
          <a:p>
            <a:pPr marL="0" indent="0">
              <a:buNone/>
            </a:pPr>
            <a:r>
              <a:rPr lang="en-US" sz="2000" b="1" dirty="0">
                <a:sym typeface="Wingdings" panose="05000000000000000000" pitchFamily="2" charset="2"/>
              </a:rPr>
              <a:t>	(S</a:t>
            </a:r>
            <a:r>
              <a:rPr lang="en-US" sz="2000" b="1" baseline="-25000" dirty="0">
                <a:sym typeface="Wingdings" panose="05000000000000000000" pitchFamily="2" charset="2"/>
              </a:rPr>
              <a:t>6</a:t>
            </a:r>
            <a:r>
              <a:rPr lang="en-US" sz="2000" b="1" dirty="0">
                <a:sym typeface="Wingdings" panose="05000000000000000000" pitchFamily="2" charset="2"/>
              </a:rPr>
              <a:t>+S</a:t>
            </a:r>
            <a:r>
              <a:rPr lang="en-US" sz="2000" b="1" baseline="-25000" dirty="0">
                <a:sym typeface="Wingdings" panose="05000000000000000000" pitchFamily="2" charset="2"/>
              </a:rPr>
              <a:t>7</a:t>
            </a:r>
            <a:r>
              <a:rPr lang="en-US" sz="2000" b="1" dirty="0">
                <a:sym typeface="Wingdings" panose="05000000000000000000" pitchFamily="2" charset="2"/>
              </a:rPr>
              <a:t>) : V0, C1</a:t>
            </a:r>
          </a:p>
          <a:p>
            <a:r>
              <a:rPr lang="en-US" sz="2000" dirty="0">
                <a:sym typeface="Wingdings" panose="05000000000000000000" pitchFamily="2" charset="2"/>
              </a:rPr>
              <a:t>Thus the behavior of the modulo 6 counter can be expressed by RTL as:</a:t>
            </a:r>
          </a:p>
          <a:p>
            <a:pPr marL="0" indent="0">
              <a:buNone/>
            </a:pPr>
            <a:r>
              <a:rPr lang="en-US" sz="2000" b="1" dirty="0">
                <a:sym typeface="Wingdings" panose="05000000000000000000" pitchFamily="2" charset="2"/>
              </a:rPr>
              <a:t>    	</a:t>
            </a:r>
            <a:r>
              <a:rPr lang="en-US" sz="1600" b="1" dirty="0"/>
              <a:t>(S</a:t>
            </a:r>
            <a:r>
              <a:rPr lang="en-US" sz="1600" b="1" baseline="-25000" dirty="0"/>
              <a:t>0</a:t>
            </a:r>
            <a:r>
              <a:rPr lang="en-US" sz="1600" b="1" dirty="0"/>
              <a:t>+S</a:t>
            </a:r>
            <a:r>
              <a:rPr lang="en-US" sz="1600" b="1" baseline="-25000" dirty="0"/>
              <a:t>1</a:t>
            </a:r>
            <a:r>
              <a:rPr lang="en-US" sz="1600" b="1" dirty="0"/>
              <a:t>+S</a:t>
            </a:r>
            <a:r>
              <a:rPr lang="en-US" sz="1600" b="1" baseline="-25000" dirty="0"/>
              <a:t>2</a:t>
            </a:r>
            <a:r>
              <a:rPr lang="en-US" sz="1600" b="1" dirty="0"/>
              <a:t>+S</a:t>
            </a:r>
            <a:r>
              <a:rPr lang="en-US" sz="1600" b="1" baseline="-25000" dirty="0"/>
              <a:t>3</a:t>
            </a:r>
            <a:r>
              <a:rPr lang="en-US" sz="1600" b="1" dirty="0"/>
              <a:t>+S</a:t>
            </a:r>
            <a:r>
              <a:rPr lang="en-US" sz="1600" b="1" baseline="-25000" dirty="0"/>
              <a:t>4</a:t>
            </a:r>
            <a:r>
              <a:rPr lang="en-US" sz="1600" b="1" dirty="0"/>
              <a:t>)U :  V</a:t>
            </a:r>
            <a:r>
              <a:rPr lang="en-US" sz="1600" b="1" dirty="0">
                <a:sym typeface="Wingdings" panose="05000000000000000000" pitchFamily="2" charset="2"/>
              </a:rPr>
              <a:t>V+1, C0</a:t>
            </a:r>
          </a:p>
          <a:p>
            <a:pPr marL="0" indent="0">
              <a:buNone/>
            </a:pPr>
            <a:r>
              <a:rPr lang="en-US" sz="1600" b="1" dirty="0">
                <a:sym typeface="Wingdings" panose="05000000000000000000" pitchFamily="2" charset="2"/>
              </a:rPr>
              <a:t>	S</a:t>
            </a:r>
            <a:r>
              <a:rPr lang="en-US" sz="1600" b="1" baseline="-25000" dirty="0">
                <a:sym typeface="Wingdings" panose="05000000000000000000" pitchFamily="2" charset="2"/>
              </a:rPr>
              <a:t>5</a:t>
            </a:r>
            <a:r>
              <a:rPr lang="en-US" sz="1600" b="1" dirty="0">
                <a:sym typeface="Wingdings" panose="05000000000000000000" pitchFamily="2" charset="2"/>
              </a:rPr>
              <a:t> U+ S</a:t>
            </a:r>
            <a:r>
              <a:rPr lang="en-US" sz="1600" b="1" baseline="-25000" dirty="0">
                <a:sym typeface="Wingdings" panose="05000000000000000000" pitchFamily="2" charset="2"/>
              </a:rPr>
              <a:t>6</a:t>
            </a:r>
            <a:r>
              <a:rPr lang="en-US" sz="1600" b="1" dirty="0">
                <a:sym typeface="Wingdings" panose="05000000000000000000" pitchFamily="2" charset="2"/>
              </a:rPr>
              <a:t>+S</a:t>
            </a:r>
            <a:r>
              <a:rPr lang="en-US" sz="1600" b="1" baseline="-25000" dirty="0">
                <a:sym typeface="Wingdings" panose="05000000000000000000" pitchFamily="2" charset="2"/>
              </a:rPr>
              <a:t>7</a:t>
            </a:r>
            <a:r>
              <a:rPr lang="en-US" sz="1600" b="1" dirty="0">
                <a:sym typeface="Wingdings" panose="05000000000000000000" pitchFamily="2" charset="2"/>
              </a:rPr>
              <a:t>: V0, C1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0A15-CFFD-4E74-BB2F-5E839007416E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CA7C7D-56F6-421D-897B-3D39DA25E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376" y="0"/>
            <a:ext cx="3773524" cy="197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67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28B8-E54B-4962-BCA0-2139EFEADFF5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CA0A92-78FD-46FF-9023-E008E2199D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2841" t="5311" r="1976" b="48148"/>
          <a:stretch/>
        </p:blipFill>
        <p:spPr>
          <a:xfrm>
            <a:off x="2743200" y="981670"/>
            <a:ext cx="6283479" cy="2946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8CB3A5-50A0-478A-9704-525C801B20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2501" y="4041427"/>
            <a:ext cx="6194178" cy="50393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9A9FFFE-9455-4F7D-BD9F-5987325B7B9F}"/>
              </a:ext>
            </a:extLst>
          </p:cNvPr>
          <p:cNvSpPr/>
          <p:nvPr/>
        </p:nvSpPr>
        <p:spPr>
          <a:xfrm>
            <a:off x="4848246" y="113198"/>
            <a:ext cx="34099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(S</a:t>
            </a:r>
            <a:r>
              <a:rPr lang="en-US" b="1" baseline="-25000" dirty="0"/>
              <a:t>0</a:t>
            </a:r>
            <a:r>
              <a:rPr lang="en-US" b="1" dirty="0"/>
              <a:t>+S</a:t>
            </a:r>
            <a:r>
              <a:rPr lang="en-US" b="1" baseline="-25000" dirty="0"/>
              <a:t>1</a:t>
            </a:r>
            <a:r>
              <a:rPr lang="en-US" b="1" dirty="0"/>
              <a:t>+S</a:t>
            </a:r>
            <a:r>
              <a:rPr lang="en-US" b="1" baseline="-25000" dirty="0"/>
              <a:t>2</a:t>
            </a:r>
            <a:r>
              <a:rPr lang="en-US" b="1" dirty="0"/>
              <a:t>+S</a:t>
            </a:r>
            <a:r>
              <a:rPr lang="en-US" b="1" baseline="-25000" dirty="0"/>
              <a:t>3</a:t>
            </a:r>
            <a:r>
              <a:rPr lang="en-US" b="1" dirty="0"/>
              <a:t>+S</a:t>
            </a:r>
            <a:r>
              <a:rPr lang="en-US" b="1" baseline="-25000" dirty="0"/>
              <a:t>4</a:t>
            </a:r>
            <a:r>
              <a:rPr lang="en-US" b="1" dirty="0"/>
              <a:t>)U :  V</a:t>
            </a:r>
            <a:r>
              <a:rPr lang="en-US" b="1" dirty="0">
                <a:sym typeface="Wingdings" panose="05000000000000000000" pitchFamily="2" charset="2"/>
              </a:rPr>
              <a:t>V+1, C0</a:t>
            </a:r>
          </a:p>
          <a:p>
            <a:r>
              <a:rPr lang="en-US" b="1" dirty="0">
                <a:sym typeface="Wingdings" panose="05000000000000000000" pitchFamily="2" charset="2"/>
              </a:rPr>
              <a:t>S</a:t>
            </a:r>
            <a:r>
              <a:rPr lang="en-US" b="1" baseline="-25000" dirty="0">
                <a:sym typeface="Wingdings" panose="05000000000000000000" pitchFamily="2" charset="2"/>
              </a:rPr>
              <a:t>5</a:t>
            </a:r>
            <a:r>
              <a:rPr lang="en-US" b="1" dirty="0">
                <a:sym typeface="Wingdings" panose="05000000000000000000" pitchFamily="2" charset="2"/>
              </a:rPr>
              <a:t>U+S</a:t>
            </a:r>
            <a:r>
              <a:rPr lang="en-US" b="1" baseline="-25000" dirty="0">
                <a:sym typeface="Wingdings" panose="05000000000000000000" pitchFamily="2" charset="2"/>
              </a:rPr>
              <a:t>6</a:t>
            </a:r>
            <a:r>
              <a:rPr lang="en-US" b="1" dirty="0">
                <a:sym typeface="Wingdings" panose="05000000000000000000" pitchFamily="2" charset="2"/>
              </a:rPr>
              <a:t>+S</a:t>
            </a:r>
            <a:r>
              <a:rPr lang="en-US" b="1" baseline="-25000" dirty="0">
                <a:sym typeface="Wingdings" panose="05000000000000000000" pitchFamily="2" charset="2"/>
              </a:rPr>
              <a:t>7 </a:t>
            </a:r>
            <a:r>
              <a:rPr lang="en-US" b="1" dirty="0">
                <a:sym typeface="Wingdings" panose="05000000000000000000" pitchFamily="2" charset="2"/>
              </a:rPr>
              <a:t>: V0, C1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1814444-2C5E-4538-A743-DCC088530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66750"/>
            <a:ext cx="2133600" cy="3927873"/>
          </a:xfrm>
        </p:spPr>
        <p:txBody>
          <a:bodyPr>
            <a:normAutofit/>
          </a:bodyPr>
          <a:lstStyle/>
          <a:p>
            <a:pPr marL="174625" indent="-174625"/>
            <a:r>
              <a:rPr lang="en-US" sz="1400" dirty="0"/>
              <a:t>Figure shows the RTL code implementation using a register.</a:t>
            </a:r>
          </a:p>
          <a:p>
            <a:pPr marL="174625" indent="-174625"/>
            <a:r>
              <a:rPr lang="en-US" sz="1400" dirty="0"/>
              <a:t>This uses a 3-bit parallel adder to generate V+1 and sets C separately.</a:t>
            </a:r>
          </a:p>
          <a:p>
            <a:pPr marL="174625" indent="-174625"/>
            <a:r>
              <a:rPr lang="en-US" sz="1400" dirty="0"/>
              <a:t>Notice that the decoder converts V</a:t>
            </a:r>
            <a:r>
              <a:rPr lang="en-US" sz="1400" baseline="-25000" dirty="0"/>
              <a:t>2</a:t>
            </a:r>
            <a:r>
              <a:rPr lang="en-US" sz="1400" dirty="0"/>
              <a:t>V</a:t>
            </a:r>
            <a:r>
              <a:rPr lang="en-US" sz="1400" baseline="-25000" dirty="0"/>
              <a:t>1</a:t>
            </a:r>
            <a:r>
              <a:rPr lang="en-US" sz="1400" dirty="0"/>
              <a:t>V</a:t>
            </a:r>
            <a:r>
              <a:rPr lang="en-US" sz="1400" baseline="-25000" dirty="0"/>
              <a:t>0</a:t>
            </a:r>
            <a:r>
              <a:rPr lang="en-US" sz="1400" dirty="0"/>
              <a:t> to the state values S0 to S7.</a:t>
            </a:r>
          </a:p>
        </p:txBody>
      </p:sp>
    </p:spTree>
    <p:extLst>
      <p:ext uri="{BB962C8B-B14F-4D97-AF65-F5344CB8AC3E}">
        <p14:creationId xmlns:p14="http://schemas.microsoft.com/office/powerpoint/2010/main" val="4070227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2895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Another way of implementation is the use of a counter.</a:t>
            </a:r>
          </a:p>
          <a:p>
            <a:r>
              <a:rPr lang="en-US" sz="2000" dirty="0"/>
              <a:t>This implementation uses a 3-bit counter. </a:t>
            </a:r>
          </a:p>
          <a:p>
            <a:r>
              <a:rPr lang="en-US" sz="2000" dirty="0"/>
              <a:t>C is set to 1 either when counting from 101 to 000 or when it is reset from an invalid state.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4339-3E31-4E71-92E7-1B4234C237C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7BBA69-4C3E-4CE2-ADC4-C48E4C5826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5318" t="54359" r="17936" b="4563"/>
          <a:stretch/>
        </p:blipFill>
        <p:spPr>
          <a:xfrm>
            <a:off x="3498850" y="1085850"/>
            <a:ext cx="5187950" cy="297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7A7379-DD3D-4E06-92D7-8B6666D67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7200" y="4242815"/>
            <a:ext cx="4324308" cy="35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964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2895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04339-3E31-4E71-92E7-1B4234C237C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CC0A0B-2CF3-44D0-82C5-C2A9CB4D3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730" y="1238915"/>
            <a:ext cx="5020235" cy="27813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201A32-370A-4CD4-86EE-E53D98981F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72"/>
          <a:stretch/>
        </p:blipFill>
        <p:spPr>
          <a:xfrm>
            <a:off x="146996" y="1123950"/>
            <a:ext cx="3839498" cy="278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04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F5FD-96C4-4852-ADB6-DA4757FD0460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9E621D28-F446-40C4-9CF2-BDEA5B654F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30" t="9488" r="8640" b="2641"/>
          <a:stretch/>
        </p:blipFill>
        <p:spPr>
          <a:xfrm>
            <a:off x="990601" y="472677"/>
            <a:ext cx="2362200" cy="3646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DD968F-11A9-4463-A8D2-3E26FE3994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3" t="8791" r="5502" b="2578"/>
          <a:stretch/>
        </p:blipFill>
        <p:spPr>
          <a:xfrm>
            <a:off x="5029200" y="493664"/>
            <a:ext cx="2971800" cy="3533532"/>
          </a:xfrm>
          <a:prstGeom prst="rect">
            <a:avLst/>
          </a:prstGeom>
        </p:spPr>
      </p:pic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D2E34C59-DBCD-4ABE-9F9F-CA6D5F1D2C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4" t="-917" r="30728" b="91429"/>
          <a:stretch/>
        </p:blipFill>
        <p:spPr>
          <a:xfrm>
            <a:off x="609600" y="4210052"/>
            <a:ext cx="3225397" cy="4607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86B610-C1C2-44C5-A05E-91C9FB6339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" t="-1793" r="25375" b="91664"/>
          <a:stretch/>
        </p:blipFill>
        <p:spPr>
          <a:xfrm>
            <a:off x="4940501" y="4156500"/>
            <a:ext cx="3225397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48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Problems and Solutions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E94ADF-1ECE-4849-937C-B31B6E5B6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514" y="2683159"/>
            <a:ext cx="3767418" cy="208410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B703F-3894-4326-9866-667890D6E09A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39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CDE60E-6F20-45CA-8931-B9F156DDD2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621"/>
          <a:stretch/>
        </p:blipFill>
        <p:spPr>
          <a:xfrm>
            <a:off x="479612" y="708281"/>
            <a:ext cx="7584904" cy="168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608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DE57ECD-4113-491A-872B-2AB00BF59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777452"/>
            <a:ext cx="7557509" cy="204807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7A1B-759C-428A-9A08-99266551BFF0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717361-32A2-439B-AFBC-0573111AD9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064" b="59068"/>
          <a:stretch/>
        </p:blipFill>
        <p:spPr>
          <a:xfrm>
            <a:off x="457200" y="2190209"/>
            <a:ext cx="6371323" cy="743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9D51F1-3E78-40C4-A02E-4F6FB3FE05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621"/>
          <a:stretch/>
        </p:blipFill>
        <p:spPr>
          <a:xfrm>
            <a:off x="457200" y="207359"/>
            <a:ext cx="5911162" cy="1316270"/>
          </a:xfrm>
          <a:prstGeom prst="rect">
            <a:avLst/>
          </a:prstGeo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6885CA8C-9F40-4807-A27B-7E06E1B0C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242" y="692524"/>
            <a:ext cx="2548667" cy="140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229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9397A-4564-48FD-A847-74D0D9F81AB7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A379EA-B26A-49DE-9EA1-D61A23005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9572" b="30750"/>
          <a:stretch/>
        </p:blipFill>
        <p:spPr>
          <a:xfrm>
            <a:off x="381000" y="204858"/>
            <a:ext cx="5582739" cy="1300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17F6B8-125E-4251-8135-2E5DFE55C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812896"/>
            <a:ext cx="1625990" cy="1384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B74BDA-6B3A-404A-A47E-9089812AB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35" y="1920778"/>
            <a:ext cx="5886450" cy="552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BAE5AA-8A7F-405A-A2C2-9B38322E4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012" y="2671674"/>
            <a:ext cx="6778412" cy="188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420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5B5C932-9B2E-499E-A4C5-68F3D909A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2346"/>
          <a:stretch/>
        </p:blipFill>
        <p:spPr>
          <a:xfrm>
            <a:off x="609600" y="2181225"/>
            <a:ext cx="4854278" cy="183529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8791-F06E-47F5-B095-ABBB309738D1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66F386-31FD-42A6-8F37-55A4E066A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200024"/>
            <a:ext cx="7775275" cy="1609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847304-66F2-4997-AA8F-6BA8EDA429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037" r="39422"/>
          <a:stretch/>
        </p:blipFill>
        <p:spPr>
          <a:xfrm>
            <a:off x="5608360" y="2031204"/>
            <a:ext cx="3078440" cy="213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189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7C05-34EC-4157-AF72-443FB9E14E18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1D2226-4967-4199-B271-5BE184136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7" y="1246314"/>
            <a:ext cx="5572159" cy="803852"/>
          </a:xfrm>
          <a:prstGeom prst="rect">
            <a:avLst/>
          </a:prstGeom>
        </p:spPr>
      </p:pic>
      <p:pic>
        <p:nvPicPr>
          <p:cNvPr id="8" name="image130.png">
            <a:extLst>
              <a:ext uri="{FF2B5EF4-FFF2-40B4-BE49-F238E27FC236}">
                <a16:creationId xmlns:a16="http://schemas.microsoft.com/office/drawing/2014/main" id="{C94038FF-DB91-4EF4-930D-4166DDB04BF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324600" y="646112"/>
            <a:ext cx="2170253" cy="3851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39FD55-FDAF-4BBF-9203-DC5465E7A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24" y="205979"/>
            <a:ext cx="48482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019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484C-A656-4FA6-AD6A-1629ED6451C5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7C3567-5DFD-4451-BB8C-AA428BF16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979"/>
            <a:ext cx="5667375" cy="1228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CDC0D2-8C93-4927-949C-BF4700619C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593"/>
          <a:stretch/>
        </p:blipFill>
        <p:spPr>
          <a:xfrm>
            <a:off x="129331" y="1657350"/>
            <a:ext cx="4922938" cy="243840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F8640B-5CB3-4982-8B0F-009732ECA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45888"/>
          <a:stretch/>
        </p:blipFill>
        <p:spPr>
          <a:xfrm>
            <a:off x="4963185" y="1826395"/>
            <a:ext cx="4013994" cy="226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83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Assignment: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600" dirty="0"/>
              <a:t>Implement the given RTL codes into a single system using bus. . [PU 2017 Fall]</a:t>
            </a:r>
          </a:p>
          <a:p>
            <a:pPr marL="400050" lvl="1" indent="0">
              <a:buNone/>
            </a:pPr>
            <a:r>
              <a:rPr lang="en-US" sz="1600" dirty="0"/>
              <a:t>R1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R2, R3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R2</a:t>
            </a:r>
          </a:p>
          <a:p>
            <a:pPr marL="400050" lvl="1" indent="0">
              <a:buNone/>
            </a:pPr>
            <a:r>
              <a:rPr lang="en-US" sz="1600" dirty="0"/>
              <a:t>R2 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R3</a:t>
            </a:r>
          </a:p>
          <a:p>
            <a:pPr marL="400050" lvl="1" indent="0">
              <a:buNone/>
            </a:pPr>
            <a:r>
              <a:rPr lang="en-US" sz="1600" dirty="0"/>
              <a:t>R3 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 R1,   R2</a:t>
            </a:r>
            <a:r>
              <a:rPr lang="en-US" sz="1600" dirty="0">
                <a:sym typeface="Wingdings" panose="05000000000000000000" pitchFamily="2" charset="2"/>
              </a:rPr>
              <a:t></a:t>
            </a:r>
            <a:r>
              <a:rPr lang="en-US" sz="1600" dirty="0"/>
              <a:t>R1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Perform the circular left shift, circular right shift, linear left shift, arithmetic left shift and arithmetic right shift operations on a register holding the value 10100100. [PU 2017 Spring]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Define RTL. Perform eight different shift operations on X= 110001010001 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List out the RTL code for arithmetic and logical operations. Also show the implantation of addition and subtraction using parallel adder. [PU 2018 Fall]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Define RTL. Write RTL codes for arithmetic operations with circuitry. [PU 2018 Spring]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Design a system that could implement the given RTL codes sing direct connection:  [PU 2019 Spring]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A7C4B-C943-4329-A8A5-CD637CB87EFD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D2D5EE-BDE9-445A-848D-81462E8F93E1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2796" y="3956448"/>
            <a:ext cx="1456204" cy="98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040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VHDL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Very high speed integrated circuit (VHSIC) Hardware Description Language (VHDL)</a:t>
            </a:r>
          </a:p>
          <a:p>
            <a:pPr lvl="0"/>
            <a:r>
              <a:rPr lang="en-US" dirty="0"/>
              <a:t>VHDL was developed to provide a </a:t>
            </a:r>
            <a:r>
              <a:rPr lang="en-US" b="1" dirty="0"/>
              <a:t>standard for designing digital systems. </a:t>
            </a:r>
          </a:p>
          <a:p>
            <a:pPr lvl="0"/>
            <a:r>
              <a:rPr lang="en-US" dirty="0"/>
              <a:t>VHDL specifies a formal syntax. The designer creates a design file using that syntax just as a programmer writes a C-program. </a:t>
            </a:r>
          </a:p>
          <a:p>
            <a:pPr lvl="0"/>
            <a:r>
              <a:rPr lang="en-US" dirty="0"/>
              <a:t>The designer then </a:t>
            </a:r>
            <a:r>
              <a:rPr lang="en-US" b="1" dirty="0"/>
              <a:t>synthesizes the design </a:t>
            </a:r>
            <a:r>
              <a:rPr lang="en-US" dirty="0"/>
              <a:t>using only design package that can accept VHDL files. This is equivalent to the programmer compiling the C-program. It checks for errors in syntax and declaration, but not in logic. </a:t>
            </a:r>
          </a:p>
          <a:p>
            <a:pPr lvl="0"/>
            <a:r>
              <a:rPr lang="en-US" dirty="0"/>
              <a:t>Finally, the designer debugs the design using simulation tools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4158-5566-417C-8C4F-EBFECB5E074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4907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Advantages of VHDL: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lnSpcReduction="1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b="1" dirty="0"/>
              <a:t>PORTABILITY:</a:t>
            </a:r>
            <a:r>
              <a:rPr lang="en-US" sz="2000" dirty="0"/>
              <a:t> Just as a valid C-program can be compiled by any compliant C compiler, a VHDL design can be synthesized by any design system that supports VHDL.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b="1" dirty="0"/>
              <a:t>DEVICE INDEPENDENT:</a:t>
            </a:r>
            <a:r>
              <a:rPr lang="en-US" sz="2000" dirty="0"/>
              <a:t> The VHDL file is device independent. The same file can be used to implement the design on a custom ICs, on ASICs or any PLD that is capable of containing the design.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b="1" dirty="0"/>
              <a:t>SIMULATION:</a:t>
            </a:r>
            <a:r>
              <a:rPr lang="en-US" sz="2000" dirty="0"/>
              <a:t> VHDL designs can be simulated by the design system, allowing the designer to verify the design performance before committing it to hardware.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b="1" dirty="0"/>
              <a:t>SYSTEM SPECIFICATION:</a:t>
            </a:r>
            <a:r>
              <a:rPr lang="en-US" sz="2000" dirty="0"/>
              <a:t> The designer can design the system using a high level of abstraction, such as a finite state machine, down to a low level digital logic implementation.</a:t>
            </a:r>
          </a:p>
          <a:p>
            <a:pPr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1614-BB54-4A39-BAA6-8B0F7608B840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5924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Advantages of VHDL: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Summary: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VHDL is used to design ICs and application specific ICs  (ASICs), PLD.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VHDL offers portability. VHDL can be synthesized by any design system supported by VHDL.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VHDL files are device independent.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VHDL designs can be simulated.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VHDL files provide good documentation of system design.</a:t>
            </a:r>
          </a:p>
          <a:p>
            <a:pPr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1614-BB54-4A39-BAA6-8B0F7608B840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2594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Disadvantages of VHDL: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VHDL source code often becomes long and difficult to follow, especially at a low level of abstraction. </a:t>
            </a:r>
          </a:p>
          <a:p>
            <a:pPr lvl="0"/>
            <a:r>
              <a:rPr lang="en-US" sz="2000" dirty="0"/>
              <a:t>It is often less intuitive than a block diagram or RTL description of same system. </a:t>
            </a:r>
          </a:p>
          <a:p>
            <a:pPr lvl="0"/>
            <a:r>
              <a:rPr lang="en-US" sz="2000" dirty="0"/>
              <a:t>Different design tools may produce different valid design for the same system, especially for high level of abstraction, providing no details about the implementation</a:t>
            </a:r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r>
              <a:rPr lang="en-US" sz="1400" dirty="0"/>
              <a:t>Summary: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1400" dirty="0"/>
              <a:t>VHDL source code often are long and difficult to follow at low level of abstraction.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1400" dirty="0"/>
              <a:t>VHDL are difficult to understand.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1400" dirty="0"/>
              <a:t>VHDL does not provide detail about its design implementation.</a:t>
            </a:r>
            <a:endParaRPr lang="en-US" sz="105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E9B8-FAD3-4A9B-96E9-97044C831EB5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49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D5B9F5-D346-4F13-9348-4AE627D865AA}"/>
              </a:ext>
            </a:extLst>
          </p:cNvPr>
          <p:cNvSpPr/>
          <p:nvPr/>
        </p:nvSpPr>
        <p:spPr>
          <a:xfrm>
            <a:off x="381000" y="3257550"/>
            <a:ext cx="6858000" cy="1219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87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VHDL syntax: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733800" cy="3851673"/>
          </a:xfrm>
        </p:spPr>
        <p:txBody>
          <a:bodyPr>
            <a:normAutofit/>
          </a:bodyPr>
          <a:lstStyle/>
          <a:p>
            <a:r>
              <a:rPr lang="en-US" sz="2800" dirty="0"/>
              <a:t>VHDL design code has 3 primary sections: </a:t>
            </a:r>
          </a:p>
          <a:p>
            <a:pPr lvl="1"/>
            <a:r>
              <a:rPr lang="en-US" sz="2400" dirty="0"/>
              <a:t>Library declarations </a:t>
            </a:r>
          </a:p>
          <a:p>
            <a:pPr lvl="1"/>
            <a:r>
              <a:rPr lang="en-US" sz="2400" dirty="0"/>
              <a:t>Entity section and </a:t>
            </a:r>
          </a:p>
          <a:p>
            <a:pPr lvl="1"/>
            <a:r>
              <a:rPr lang="en-US" sz="2400" dirty="0"/>
              <a:t>Architecture section 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F9C8-33ED-4926-B5F6-0EF2A82A7F2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DAE0B3-17E8-4D3E-AB75-064114195D84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1000" y="670112"/>
            <a:ext cx="4213860" cy="342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349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 err="1">
                <a:solidFill>
                  <a:srgbClr val="00B050"/>
                </a:solidFill>
              </a:rPr>
              <a:t>i</a:t>
            </a:r>
            <a:r>
              <a:rPr lang="en-US" sz="3200" b="1" dirty="0">
                <a:solidFill>
                  <a:srgbClr val="00B050"/>
                </a:solidFill>
              </a:rPr>
              <a:t>) Library declaration: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It consists of statements that specify libraries to be accessed and modules of these libraries to be used.(such as “include” in C) </a:t>
            </a:r>
          </a:p>
          <a:p>
            <a:pPr lvl="0"/>
            <a:r>
              <a:rPr lang="en-US" sz="2000" dirty="0"/>
              <a:t>The most commonly used library is called IEEE. </a:t>
            </a:r>
          </a:p>
          <a:p>
            <a:pPr lvl="0"/>
            <a:r>
              <a:rPr lang="en-US" sz="2000" dirty="0"/>
              <a:t>In this library, std_logic_1164 is used most often, which specifies </a:t>
            </a:r>
            <a:r>
              <a:rPr lang="en-US" sz="2000" dirty="0" err="1"/>
              <a:t>i</a:t>
            </a:r>
            <a:r>
              <a:rPr lang="en-US" sz="2000" dirty="0"/>
              <a:t>/p and o/p declarations for the designer to use (such as “</a:t>
            </a:r>
            <a:r>
              <a:rPr lang="en-US" sz="2000" dirty="0" err="1"/>
              <a:t>stdio.h</a:t>
            </a:r>
            <a:r>
              <a:rPr lang="en-US" sz="2000" dirty="0"/>
              <a:t>” in C). </a:t>
            </a:r>
          </a:p>
          <a:p>
            <a:pPr marL="0" lvl="0" indent="0">
              <a:buNone/>
            </a:pPr>
            <a:endParaRPr lang="en-US" sz="2400" dirty="0"/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C526-0496-4ACC-B6C2-0DA939C7A6E0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BD96CE-C30F-4F76-B291-D6D0D106F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2668786"/>
            <a:ext cx="663892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79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ii) Entity section: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5052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In the entity section, the designer specifies the name of the design and its inputs and outputs.</a:t>
            </a:r>
          </a:p>
          <a:p>
            <a:r>
              <a:rPr lang="en-US" sz="2000" dirty="0"/>
              <a:t>The designer does not specify the logic that uses and drives these signals here; that is done in the architecture section.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3B9EE9-8E89-4F8C-BE18-AB0E41EDFB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210"/>
          <a:stretch/>
        </p:blipFill>
        <p:spPr>
          <a:xfrm>
            <a:off x="4191000" y="839390"/>
            <a:ext cx="41148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166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5571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/>
              <a:t>VHDL Entity</a:t>
            </a:r>
            <a:r>
              <a:rPr lang="en-US" sz="2400" dirty="0"/>
              <a:t> representing an “</a:t>
            </a:r>
            <a:r>
              <a:rPr lang="en-US" sz="2400" b="1" dirty="0"/>
              <a:t>And gate</a:t>
            </a:r>
            <a:r>
              <a:rPr lang="en-US" sz="2400" dirty="0"/>
              <a:t>” with two input ports </a:t>
            </a:r>
            <a:r>
              <a:rPr lang="en-US" sz="2400" b="1" dirty="0"/>
              <a:t>a</a:t>
            </a:r>
            <a:r>
              <a:rPr lang="en-US" sz="2400" dirty="0"/>
              <a:t> and </a:t>
            </a:r>
            <a:r>
              <a:rPr lang="en-US" sz="2400" b="1" dirty="0"/>
              <a:t>b</a:t>
            </a:r>
            <a:r>
              <a:rPr lang="en-US" sz="2400" dirty="0"/>
              <a:t> and output port </a:t>
            </a:r>
            <a:r>
              <a:rPr lang="en-US" sz="2400" b="1" dirty="0"/>
              <a:t>c</a:t>
            </a:r>
            <a:r>
              <a:rPr lang="en-US" sz="24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F9C8-33ED-4926-B5F6-0EF2A82A7F2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 descr="https://surf-vhdl.com/wp/wp-content/uploads/2015/06/entity_and.jpg">
            <a:extLst>
              <a:ext uri="{FF2B5EF4-FFF2-40B4-BE49-F238E27FC236}">
                <a16:creationId xmlns:a16="http://schemas.microsoft.com/office/drawing/2014/main" id="{934624C2-96C4-4EED-9DC1-2895DA1B7E6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143069"/>
            <a:ext cx="6781800" cy="3103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51833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5571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/>
              <a:t>VHDL Entity</a:t>
            </a:r>
            <a:r>
              <a:rPr lang="en-US" sz="2400" dirty="0"/>
              <a:t> representing a flip-flop type D with input port: </a:t>
            </a:r>
            <a:r>
              <a:rPr lang="en-US" sz="2400" b="1" dirty="0"/>
              <a:t>clock</a:t>
            </a:r>
            <a:r>
              <a:rPr lang="en-US" sz="2400" dirty="0"/>
              <a:t> and </a:t>
            </a:r>
            <a:r>
              <a:rPr lang="en-US" sz="2400" b="1" dirty="0"/>
              <a:t>reset</a:t>
            </a:r>
            <a:r>
              <a:rPr lang="en-US" sz="2400" dirty="0"/>
              <a:t> active low, data </a:t>
            </a:r>
            <a:r>
              <a:rPr lang="en-US" sz="2400" b="1" dirty="0"/>
              <a:t>D</a:t>
            </a:r>
            <a:r>
              <a:rPr lang="en-US" sz="2400" dirty="0"/>
              <a:t>, and output port </a:t>
            </a:r>
            <a:r>
              <a:rPr lang="en-US" sz="2400" b="1" dirty="0"/>
              <a:t>Q</a:t>
            </a:r>
            <a:r>
              <a:rPr lang="en-US" sz="24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F9C8-33ED-4926-B5F6-0EF2A82A7F2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Content Placeholder 8" descr="https://surf-vhdl.com/wp/wp-content/uploads/2015/06/entity_ff.jpg">
            <a:extLst>
              <a:ext uri="{FF2B5EF4-FFF2-40B4-BE49-F238E27FC236}">
                <a16:creationId xmlns:a16="http://schemas.microsoft.com/office/drawing/2014/main" id="{7153488A-A982-4396-B482-1494989C858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76350"/>
            <a:ext cx="8229600" cy="27973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46576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5571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/>
              <a:t>VHDL Entity</a:t>
            </a:r>
            <a:r>
              <a:rPr lang="en-US" sz="3200" dirty="0"/>
              <a:t> representing a multiplier with input operand</a:t>
            </a:r>
            <a:r>
              <a:rPr lang="en-US" sz="3200" b="1" dirty="0"/>
              <a:t> a</a:t>
            </a:r>
            <a:r>
              <a:rPr lang="en-US" sz="3200" dirty="0"/>
              <a:t> and </a:t>
            </a:r>
            <a:r>
              <a:rPr lang="en-US" sz="3200" b="1" dirty="0"/>
              <a:t>b</a:t>
            </a:r>
            <a:r>
              <a:rPr lang="en-US" sz="3200" dirty="0"/>
              <a:t> of 8 bit and output </a:t>
            </a:r>
            <a:r>
              <a:rPr lang="en-US" sz="3200" b="1" dirty="0"/>
              <a:t>m</a:t>
            </a:r>
            <a:r>
              <a:rPr lang="en-US" sz="3200" dirty="0"/>
              <a:t> of 16 bit.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F9C8-33ED-4926-B5F6-0EF2A82A7F2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" name="Content Placeholder 9" descr="https://surf-vhdl.com/wp/wp-content/uploads/2015/06/entity_mult.jpg">
            <a:extLst>
              <a:ext uri="{FF2B5EF4-FFF2-40B4-BE49-F238E27FC236}">
                <a16:creationId xmlns:a16="http://schemas.microsoft.com/office/drawing/2014/main" id="{07934D67-8005-4357-98B5-9591BA7D459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079"/>
          <a:stretch/>
        </p:blipFill>
        <p:spPr bwMode="auto">
          <a:xfrm>
            <a:off x="1181100" y="1391350"/>
            <a:ext cx="4648200" cy="243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Content Placeholder 9" descr="https://surf-vhdl.com/wp/wp-content/uploads/2015/06/entity_mult.jpg">
            <a:extLst>
              <a:ext uri="{FF2B5EF4-FFF2-40B4-BE49-F238E27FC236}">
                <a16:creationId xmlns:a16="http://schemas.microsoft.com/office/drawing/2014/main" id="{98E8BBFD-3BF8-49D4-95D0-4BCDBE2395E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5" t="31430" r="22075" b="1218"/>
          <a:stretch/>
        </p:blipFill>
        <p:spPr bwMode="auto">
          <a:xfrm>
            <a:off x="6705599" y="1391350"/>
            <a:ext cx="1828801" cy="228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04552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00B050"/>
                </a:solidFill>
              </a:rPr>
              <a:t>iii) Architecture Section: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76200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This is the final section .</a:t>
            </a:r>
          </a:p>
          <a:p>
            <a:r>
              <a:rPr lang="en-US" sz="2000" dirty="0"/>
              <a:t>This section specifies the behavior and internal logic of system under design.</a:t>
            </a:r>
          </a:p>
          <a:p>
            <a:r>
              <a:rPr lang="en-US" sz="2000" dirty="0"/>
              <a:t>The basic format is: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C448CC-86F9-493A-A662-E1F2099C8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2495550"/>
            <a:ext cx="663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60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00B050"/>
                </a:solidFill>
              </a:rPr>
              <a:t>iii) Architecture Section: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26" name="Picture 2" descr="entity-architecture_and2.jpg (1072×417)">
            <a:extLst>
              <a:ext uri="{FF2B5EF4-FFF2-40B4-BE49-F238E27FC236}">
                <a16:creationId xmlns:a16="http://schemas.microsoft.com/office/drawing/2014/main" id="{BD4F6AF9-2E61-4A2B-9C6E-5032D3C973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49"/>
          <a:stretch/>
        </p:blipFill>
        <p:spPr bwMode="auto">
          <a:xfrm>
            <a:off x="4724400" y="96033"/>
            <a:ext cx="4334435" cy="4716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ntity-architecture_and2.jpg (1072×417)">
            <a:extLst>
              <a:ext uri="{FF2B5EF4-FFF2-40B4-BE49-F238E27FC236}">
                <a16:creationId xmlns:a16="http://schemas.microsoft.com/office/drawing/2014/main" id="{184CB6C4-17CC-44C2-B65C-794CE3A6E1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" t="22065" r="70620" b="30151"/>
          <a:stretch/>
        </p:blipFill>
        <p:spPr bwMode="auto">
          <a:xfrm>
            <a:off x="685800" y="1581150"/>
            <a:ext cx="282836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entity-architecture_and2.jpg (1072×417)">
            <a:extLst>
              <a:ext uri="{FF2B5EF4-FFF2-40B4-BE49-F238E27FC236}">
                <a16:creationId xmlns:a16="http://schemas.microsoft.com/office/drawing/2014/main" id="{9C8A9496-3D8D-4B89-A8A9-164691CF95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53" t="23892" r="39259" b="35676"/>
          <a:stretch/>
        </p:blipFill>
        <p:spPr bwMode="auto">
          <a:xfrm>
            <a:off x="3352800" y="1581150"/>
            <a:ext cx="151503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395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Different types of Modeling to describe architecture: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 sz="2000" dirty="0"/>
              <a:t>Behavioral Modeling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/>
              <a:t>Structural Modeling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/>
              <a:t>Data flow Modeling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dirty="0"/>
              <a:t>Mixed Modeling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5570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 err="1">
                <a:solidFill>
                  <a:srgbClr val="00B050"/>
                </a:solidFill>
              </a:rPr>
              <a:t>i</a:t>
            </a:r>
            <a:r>
              <a:rPr lang="en-US" sz="2800" b="1" dirty="0">
                <a:solidFill>
                  <a:srgbClr val="00B050"/>
                </a:solidFill>
              </a:rPr>
              <a:t>) Behavioral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In Behavioral modeling, we describe a system in terms of what it does or how it behaves rather than in terms of its component and interconnection between them.</a:t>
            </a:r>
          </a:p>
          <a:p>
            <a:r>
              <a:rPr lang="en-US" sz="2400" dirty="0"/>
              <a:t>Such description specifies the relationship between input and output signal.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59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7382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7030A0"/>
                </a:solidFill>
              </a:rPr>
              <a:t>a) OR gate: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6A7174-61EA-4FCD-BFD8-01A175D7546C}"/>
              </a:ext>
            </a:extLst>
          </p:cNvPr>
          <p:cNvSpPr txBox="1">
            <a:spLocks/>
          </p:cNvSpPr>
          <p:nvPr/>
        </p:nvSpPr>
        <p:spPr>
          <a:xfrm>
            <a:off x="457200" y="686938"/>
            <a:ext cx="47244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E473-1DEF-499C-8773-8741539848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825" b="64444"/>
          <a:stretch/>
        </p:blipFill>
        <p:spPr>
          <a:xfrm>
            <a:off x="439128" y="1903888"/>
            <a:ext cx="3362115" cy="25526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F27B80-67D8-407C-BD7D-8CC2C2574A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666"/>
          <a:stretch/>
        </p:blipFill>
        <p:spPr>
          <a:xfrm>
            <a:off x="4197635" y="370737"/>
            <a:ext cx="4751437" cy="41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80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7030A0"/>
                </a:solidFill>
              </a:rPr>
              <a:t>b) AND gate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BC8233-ADC3-45F5-8EE3-257F76BA58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628" b="62963"/>
          <a:stretch/>
        </p:blipFill>
        <p:spPr>
          <a:xfrm>
            <a:off x="373187" y="1557457"/>
            <a:ext cx="3894013" cy="32098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EE549E-9AC7-4E54-B5F1-112115D828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106" b="4005"/>
          <a:stretch/>
        </p:blipFill>
        <p:spPr>
          <a:xfrm>
            <a:off x="4475491" y="123684"/>
            <a:ext cx="4386320" cy="450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279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7030A0"/>
                </a:solidFill>
              </a:rPr>
              <a:t>c) XOR gate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6A7174-61EA-4FCD-BFD8-01A175D7546C}"/>
              </a:ext>
            </a:extLst>
          </p:cNvPr>
          <p:cNvSpPr txBox="1">
            <a:spLocks/>
          </p:cNvSpPr>
          <p:nvPr/>
        </p:nvSpPr>
        <p:spPr>
          <a:xfrm>
            <a:off x="457200" y="686938"/>
            <a:ext cx="47244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3A5006-0064-4DAD-A519-9A7FFA573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56" y="2166938"/>
            <a:ext cx="2971800" cy="2600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612102-2D2A-43D7-BAAB-1B5B15B12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7" y="76933"/>
            <a:ext cx="4391025" cy="506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153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7030A0"/>
                </a:solidFill>
              </a:rPr>
              <a:t>d) VHDL concurrency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6A7174-61EA-4FCD-BFD8-01A175D7546C}"/>
              </a:ext>
            </a:extLst>
          </p:cNvPr>
          <p:cNvSpPr txBox="1">
            <a:spLocks/>
          </p:cNvSpPr>
          <p:nvPr/>
        </p:nvSpPr>
        <p:spPr>
          <a:xfrm>
            <a:off x="457200" y="686938"/>
            <a:ext cx="47244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01E8A-CAA4-4CD8-9601-31CADCBF6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127" y="2170798"/>
            <a:ext cx="3395271" cy="2548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EA35A8-B0E5-4C26-82C5-5FCCDB3BC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12202" y="651189"/>
            <a:ext cx="3874598" cy="790384"/>
          </a:xfrm>
          <a:prstGeom prst="rect">
            <a:avLst/>
          </a:prstGeom>
        </p:spPr>
      </p:pic>
      <p:pic>
        <p:nvPicPr>
          <p:cNvPr id="9" name="Picture 8" descr="concurrency-and-or.jpg (550×327)">
            <a:extLst>
              <a:ext uri="{FF2B5EF4-FFF2-40B4-BE49-F238E27FC236}">
                <a16:creationId xmlns:a16="http://schemas.microsoft.com/office/drawing/2014/main" id="{4FA04414-A8DD-45B6-9A93-404342254582}"/>
              </a:ext>
            </a:extLst>
          </p:cNvPr>
          <p:cNvPicPr/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24027"/>
            <a:ext cx="2585717" cy="128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1A521A-84C8-4DCD-B1DC-531304A727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33749" y="2928583"/>
            <a:ext cx="3434575" cy="14957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5C6795-0E59-41DC-AEC0-F0D0343EC2A7}"/>
              </a:ext>
            </a:extLst>
          </p:cNvPr>
          <p:cNvSpPr/>
          <p:nvPr/>
        </p:nvSpPr>
        <p:spPr>
          <a:xfrm>
            <a:off x="4838231" y="2167927"/>
            <a:ext cx="4138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is clear that the same result will be evaluated from this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8252207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6167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/>
              <a:t>e) VHDL Code for half-adder using dataflow via logic equation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6A7174-61EA-4FCD-BFD8-01A175D7546C}"/>
              </a:ext>
            </a:extLst>
          </p:cNvPr>
          <p:cNvSpPr txBox="1">
            <a:spLocks/>
          </p:cNvSpPr>
          <p:nvPr/>
        </p:nvSpPr>
        <p:spPr>
          <a:xfrm>
            <a:off x="457200" y="686938"/>
            <a:ext cx="47244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8" name="Picture 7" descr="C:\Users\User\AppData\Local\Microsoft\Windows\INetCache\Content.MSO\E4E43B95.tmp">
            <a:extLst>
              <a:ext uri="{FF2B5EF4-FFF2-40B4-BE49-F238E27FC236}">
                <a16:creationId xmlns:a16="http://schemas.microsoft.com/office/drawing/2014/main" id="{DBC42897-76E1-4017-AF71-10FA3FCFD66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13" y="1352550"/>
            <a:ext cx="2438400" cy="148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F9BA5F-A44D-42C7-A25A-6AF239014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325" y="1352550"/>
            <a:ext cx="38671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997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00B050"/>
                </a:solidFill>
              </a:rPr>
              <a:t>ii) Structural Modeling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6A7174-61EA-4FCD-BFD8-01A175D7546C}"/>
              </a:ext>
            </a:extLst>
          </p:cNvPr>
          <p:cNvSpPr txBox="1">
            <a:spLocks/>
          </p:cNvSpPr>
          <p:nvPr/>
        </p:nvSpPr>
        <p:spPr>
          <a:xfrm>
            <a:off x="457200" y="686938"/>
            <a:ext cx="30480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 structural modeling, different interconnection of different components are described.</a:t>
            </a:r>
          </a:p>
          <a:p>
            <a:r>
              <a:rPr lang="en-US" sz="2400" dirty="0"/>
              <a:t>If you are designing a complex project, you should split in </a:t>
            </a:r>
            <a:r>
              <a:rPr lang="en-US" sz="2400" b="1" dirty="0"/>
              <a:t>two or more simple design</a:t>
            </a:r>
            <a:r>
              <a:rPr lang="en-US" sz="2400" dirty="0"/>
              <a:t> in order to easy handle the complexity.</a:t>
            </a:r>
          </a:p>
        </p:txBody>
      </p:sp>
      <p:pic>
        <p:nvPicPr>
          <p:cNvPr id="8" name="Picture 7" descr="AND OR entity structural implementation">
            <a:extLst>
              <a:ext uri="{FF2B5EF4-FFF2-40B4-BE49-F238E27FC236}">
                <a16:creationId xmlns:a16="http://schemas.microsoft.com/office/drawing/2014/main" id="{419ED5C1-2866-4C81-A58B-FFE886BFF4D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760" y="205979"/>
            <a:ext cx="4231640" cy="47315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59739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9C0636-BF48-467C-AE47-858028A88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25301"/>
            <a:ext cx="2666999" cy="20609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library </a:t>
            </a:r>
            <a:r>
              <a:rPr lang="en-US" sz="1600" dirty="0"/>
              <a:t>IEEE</a:t>
            </a:r>
            <a:r>
              <a:rPr lang="en-US" sz="1600" b="1" dirty="0"/>
              <a:t>;</a:t>
            </a:r>
          </a:p>
          <a:p>
            <a:pPr marL="0" indent="0">
              <a:buNone/>
            </a:pPr>
            <a:r>
              <a:rPr lang="en-US" sz="1600" b="1" dirty="0"/>
              <a:t>use </a:t>
            </a:r>
            <a:r>
              <a:rPr lang="en-US" sz="1600" dirty="0"/>
              <a:t>IEEE.std_logic_1164.all;</a:t>
            </a:r>
          </a:p>
          <a:p>
            <a:pPr marL="0" indent="0">
              <a:buNone/>
            </a:pPr>
            <a:r>
              <a:rPr lang="en-US" sz="1600" b="1" dirty="0"/>
              <a:t>entity</a:t>
            </a:r>
            <a:r>
              <a:rPr lang="en-US" sz="1600" dirty="0"/>
              <a:t> </a:t>
            </a:r>
            <a:r>
              <a:rPr lang="en-US" sz="1600" dirty="0" err="1"/>
              <a:t>ckt</a:t>
            </a:r>
            <a:r>
              <a:rPr lang="en-US" sz="1600" dirty="0"/>
              <a:t> is</a:t>
            </a:r>
          </a:p>
          <a:p>
            <a:pPr marL="0" indent="0">
              <a:buNone/>
            </a:pPr>
            <a:r>
              <a:rPr lang="en-US" sz="1600" b="1" dirty="0"/>
              <a:t>port</a:t>
            </a:r>
          </a:p>
          <a:p>
            <a:pPr marL="400050" lvl="1" indent="0">
              <a:buNone/>
            </a:pPr>
            <a:r>
              <a:rPr lang="en-US" sz="1600" dirty="0"/>
              <a:t>(a, b, d, e : in </a:t>
            </a:r>
            <a:r>
              <a:rPr lang="en-US" sz="1600" dirty="0" err="1"/>
              <a:t>std_logic</a:t>
            </a:r>
            <a:r>
              <a:rPr lang="en-US" sz="1600" dirty="0"/>
              <a:t>;</a:t>
            </a:r>
          </a:p>
          <a:p>
            <a:pPr marL="400050" lvl="1" indent="0">
              <a:buNone/>
            </a:pPr>
            <a:r>
              <a:rPr lang="en-US" sz="1600" dirty="0"/>
              <a:t>g: out </a:t>
            </a:r>
            <a:r>
              <a:rPr lang="en-US" sz="1600" dirty="0" err="1"/>
              <a:t>std_logic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b="1" dirty="0"/>
              <a:t>end</a:t>
            </a:r>
            <a:r>
              <a:rPr lang="en-US" sz="1600" dirty="0"/>
              <a:t> </a:t>
            </a:r>
            <a:r>
              <a:rPr lang="en-US" sz="1600" dirty="0" err="1"/>
              <a:t>ckt</a:t>
            </a:r>
            <a:r>
              <a:rPr lang="en-US" sz="1600" dirty="0"/>
              <a:t>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66</a:t>
            </a:fld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 descr="AND OR entity structural implementation">
            <a:extLst>
              <a:ext uri="{FF2B5EF4-FFF2-40B4-BE49-F238E27FC236}">
                <a16:creationId xmlns:a16="http://schemas.microsoft.com/office/drawing/2014/main" id="{EBDC933E-2E81-4F14-9DC5-6B5DCA7C989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" b="50000"/>
          <a:stretch/>
        </p:blipFill>
        <p:spPr bwMode="auto">
          <a:xfrm>
            <a:off x="463920" y="21292"/>
            <a:ext cx="2895600" cy="190863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61710794-548A-4E8F-AA1B-1A327F1A72EF}"/>
              </a:ext>
            </a:extLst>
          </p:cNvPr>
          <p:cNvSpPr txBox="1">
            <a:spLocks/>
          </p:cNvSpPr>
          <p:nvPr/>
        </p:nvSpPr>
        <p:spPr>
          <a:xfrm>
            <a:off x="3137925" y="441032"/>
            <a:ext cx="2380141" cy="39335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b="1" dirty="0"/>
              <a:t>architecture </a:t>
            </a:r>
            <a:r>
              <a:rPr lang="en-US" sz="1600" dirty="0"/>
              <a:t>structure</a:t>
            </a:r>
            <a:r>
              <a:rPr lang="en-US" sz="1600" b="1" dirty="0"/>
              <a:t> of </a:t>
            </a:r>
            <a:r>
              <a:rPr lang="en-US" sz="1600" dirty="0" err="1"/>
              <a:t>ckt</a:t>
            </a:r>
            <a:r>
              <a:rPr lang="en-US" sz="1600" b="1" dirty="0"/>
              <a:t> is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b="1" dirty="0"/>
              <a:t>component </a:t>
            </a:r>
            <a:r>
              <a:rPr lang="en-US" sz="1600" dirty="0"/>
              <a:t>AND2</a:t>
            </a:r>
          </a:p>
          <a:p>
            <a:pPr marL="400050" lvl="1" indent="0">
              <a:buNone/>
            </a:pPr>
            <a:r>
              <a:rPr lang="en-US" sz="1600" b="1" dirty="0"/>
              <a:t>port </a:t>
            </a:r>
          </a:p>
          <a:p>
            <a:pPr marL="400050" lvl="1" indent="0">
              <a:buNone/>
            </a:pPr>
            <a:r>
              <a:rPr lang="en-US" sz="1600" dirty="0"/>
              <a:t>(x, y: in </a:t>
            </a:r>
            <a:r>
              <a:rPr lang="en-US" sz="1600" dirty="0" err="1"/>
              <a:t>std_logic</a:t>
            </a:r>
            <a:r>
              <a:rPr lang="en-US" sz="1600" dirty="0"/>
              <a:t>;</a:t>
            </a:r>
          </a:p>
          <a:p>
            <a:pPr marL="400050" lvl="1" indent="0">
              <a:buNone/>
            </a:pPr>
            <a:r>
              <a:rPr lang="en-US" sz="1600" dirty="0"/>
              <a:t>z: out </a:t>
            </a:r>
            <a:r>
              <a:rPr lang="en-US" sz="1600" dirty="0" err="1"/>
              <a:t>std_logic</a:t>
            </a:r>
            <a:r>
              <a:rPr lang="en-US" sz="1600" dirty="0"/>
              <a:t>);</a:t>
            </a:r>
          </a:p>
          <a:p>
            <a:pPr marL="400050" lvl="1" indent="0">
              <a:buNone/>
            </a:pPr>
            <a:r>
              <a:rPr lang="en-US" sz="1600" b="1" dirty="0"/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b="1" dirty="0"/>
              <a:t>end component;</a:t>
            </a:r>
          </a:p>
          <a:p>
            <a:pPr marL="0" indent="0">
              <a:buFont typeface="Arial" pitchFamily="34" charset="0"/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component </a:t>
            </a:r>
            <a:r>
              <a:rPr lang="en-US" sz="1600" dirty="0"/>
              <a:t>OR2</a:t>
            </a:r>
          </a:p>
          <a:p>
            <a:pPr marL="400050" lvl="1" indent="0">
              <a:buNone/>
            </a:pPr>
            <a:r>
              <a:rPr lang="en-US" sz="1600" b="1" dirty="0"/>
              <a:t>port</a:t>
            </a:r>
          </a:p>
          <a:p>
            <a:pPr marL="400050" lvl="1" indent="0">
              <a:buNone/>
            </a:pPr>
            <a:r>
              <a:rPr lang="en-US" sz="1600" dirty="0"/>
              <a:t>(p, q: in </a:t>
            </a:r>
            <a:r>
              <a:rPr lang="en-US" sz="1600" dirty="0" err="1"/>
              <a:t>std_logic</a:t>
            </a:r>
            <a:r>
              <a:rPr lang="en-US" sz="1600" dirty="0"/>
              <a:t>;</a:t>
            </a:r>
          </a:p>
          <a:p>
            <a:pPr marL="400050" lvl="1" indent="0">
              <a:buNone/>
            </a:pPr>
            <a:r>
              <a:rPr lang="en-US" sz="1600" dirty="0"/>
              <a:t>r: out </a:t>
            </a:r>
            <a:r>
              <a:rPr lang="en-US" sz="1600" dirty="0" err="1"/>
              <a:t>std_logic</a:t>
            </a:r>
            <a:r>
              <a:rPr lang="en-US" sz="1600" dirty="0"/>
              <a:t>);</a:t>
            </a:r>
          </a:p>
          <a:p>
            <a:pPr marL="400050" lvl="1" indent="0">
              <a:buNone/>
            </a:pP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b="1" dirty="0"/>
              <a:t>end component;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signal </a:t>
            </a:r>
            <a:r>
              <a:rPr lang="en-US" sz="1600" dirty="0"/>
              <a:t> c, f : </a:t>
            </a:r>
            <a:r>
              <a:rPr lang="en-US" sz="1600" b="1" dirty="0" err="1"/>
              <a:t>std_logic</a:t>
            </a:r>
            <a:r>
              <a:rPr lang="en-US" sz="1600" b="1" dirty="0"/>
              <a:t>;</a:t>
            </a:r>
          </a:p>
          <a:p>
            <a:pPr marL="0" indent="0">
              <a:buFont typeface="Arial" pitchFamily="34" charset="0"/>
              <a:buNone/>
            </a:pPr>
            <a:endParaRPr lang="en-US" sz="1600" b="1" dirty="0"/>
          </a:p>
          <a:p>
            <a:pPr marL="0" indent="0">
              <a:buFont typeface="Arial" pitchFamily="34" charset="0"/>
              <a:buNone/>
            </a:pPr>
            <a:endParaRPr lang="en-US" sz="1600" dirty="0"/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CD855B90-9DF7-40B8-9DB1-446E76856C78}"/>
              </a:ext>
            </a:extLst>
          </p:cNvPr>
          <p:cNvSpPr txBox="1">
            <a:spLocks/>
          </p:cNvSpPr>
          <p:nvPr/>
        </p:nvSpPr>
        <p:spPr>
          <a:xfrm>
            <a:off x="4159620" y="3421078"/>
            <a:ext cx="2774580" cy="1224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1600" dirty="0"/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B2E2CDBE-9279-4C33-88C5-12282F5603B8}"/>
              </a:ext>
            </a:extLst>
          </p:cNvPr>
          <p:cNvSpPr txBox="1">
            <a:spLocks/>
          </p:cNvSpPr>
          <p:nvPr/>
        </p:nvSpPr>
        <p:spPr>
          <a:xfrm>
            <a:off x="5638800" y="102393"/>
            <a:ext cx="3581400" cy="1827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b="1" dirty="0"/>
              <a:t>begin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/>
              <a:t> u1: AND2 </a:t>
            </a:r>
            <a:r>
              <a:rPr lang="en-US" sz="1600" b="1" dirty="0" err="1"/>
              <a:t>portmap</a:t>
            </a:r>
            <a:r>
              <a:rPr lang="en-US" sz="1600" dirty="0"/>
              <a:t> (x=&gt;a, y=&gt; b, z=&gt; c);</a:t>
            </a:r>
          </a:p>
          <a:p>
            <a:pPr marL="0" indent="0">
              <a:buNone/>
            </a:pPr>
            <a:r>
              <a:rPr lang="en-US" sz="1600" dirty="0"/>
              <a:t> u2: AND2 </a:t>
            </a:r>
            <a:r>
              <a:rPr lang="en-US" sz="1600" b="1" dirty="0" err="1"/>
              <a:t>portmap</a:t>
            </a:r>
            <a:r>
              <a:rPr lang="en-US" sz="1600" dirty="0"/>
              <a:t> (x=&gt;d ,y=&gt;e, z=&gt; f);</a:t>
            </a:r>
          </a:p>
          <a:p>
            <a:pPr marL="0" indent="0">
              <a:buNone/>
            </a:pPr>
            <a:r>
              <a:rPr lang="en-US" sz="1600" dirty="0"/>
              <a:t> u3: OR2 </a:t>
            </a:r>
            <a:r>
              <a:rPr lang="en-US" sz="1600" b="1" dirty="0" err="1"/>
              <a:t>portmap</a:t>
            </a:r>
            <a:r>
              <a:rPr lang="en-US" sz="1600"/>
              <a:t> (p=&gt;c, </a:t>
            </a:r>
            <a:r>
              <a:rPr lang="en-US" sz="1600" dirty="0"/>
              <a:t>q</a:t>
            </a:r>
            <a:r>
              <a:rPr lang="en-US" sz="1600"/>
              <a:t>=&gt;</a:t>
            </a:r>
            <a:r>
              <a:rPr lang="en-US" sz="1600" dirty="0"/>
              <a:t>f, z&lt;= g);</a:t>
            </a:r>
          </a:p>
          <a:p>
            <a:pPr marL="0" indent="0">
              <a:buNone/>
            </a:pPr>
            <a:r>
              <a:rPr lang="en-US" sz="1600" b="1" dirty="0"/>
              <a:t>end</a:t>
            </a:r>
            <a:r>
              <a:rPr lang="en-US" sz="1600" dirty="0"/>
              <a:t> structure</a:t>
            </a:r>
            <a:endParaRPr lang="en-US" sz="1600" b="1" dirty="0"/>
          </a:p>
          <a:p>
            <a:pPr marL="0" indent="0">
              <a:buFont typeface="Arial" pitchFamily="34" charset="0"/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340783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10B4D0-B499-4F31-A8BE-06024EA40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89" y="1965418"/>
            <a:ext cx="3523137" cy="2821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A83D32-984B-4BC4-960E-3DD048126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37" y="102393"/>
            <a:ext cx="3962400" cy="4996761"/>
          </a:xfrm>
          <a:prstGeom prst="rect">
            <a:avLst/>
          </a:prstGeom>
        </p:spPr>
      </p:pic>
      <p:pic>
        <p:nvPicPr>
          <p:cNvPr id="9" name="Picture 8" descr="AND OR entity structural implementation">
            <a:extLst>
              <a:ext uri="{FF2B5EF4-FFF2-40B4-BE49-F238E27FC236}">
                <a16:creationId xmlns:a16="http://schemas.microsoft.com/office/drawing/2014/main" id="{D75CB2A4-AED4-4C02-BABA-3A7AA8B67BC5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" b="50000"/>
          <a:stretch/>
        </p:blipFill>
        <p:spPr bwMode="auto">
          <a:xfrm>
            <a:off x="1205758" y="34738"/>
            <a:ext cx="2895600" cy="19086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7776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CB2F-B459-4E54-B490-9B8206CE4EE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CD855B90-9DF7-40B8-9DB1-446E76856C78}"/>
              </a:ext>
            </a:extLst>
          </p:cNvPr>
          <p:cNvSpPr txBox="1">
            <a:spLocks/>
          </p:cNvSpPr>
          <p:nvPr/>
        </p:nvSpPr>
        <p:spPr>
          <a:xfrm>
            <a:off x="4159620" y="3421078"/>
            <a:ext cx="2774580" cy="1224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D5D0F-D7A1-4007-831C-3F5BA2A3D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8200" y="590550"/>
            <a:ext cx="4038600" cy="411595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Exclusive OR Gate (XOR Gate)">
            <a:extLst>
              <a:ext uri="{FF2B5EF4-FFF2-40B4-BE49-F238E27FC236}">
                <a16:creationId xmlns:a16="http://schemas.microsoft.com/office/drawing/2014/main" id="{10993C6D-E91C-4025-A091-83C11248D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1232836"/>
            <a:ext cx="501015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9563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VHDL design with high level of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A high level of abstraction is a finite state machine description of a system (using MUX, decoder, ROM)</a:t>
            </a:r>
          </a:p>
          <a:p>
            <a:r>
              <a:rPr lang="en-US" sz="2000" dirty="0"/>
              <a:t>A low level of abstraction is a digital logical implementation (using gates)</a:t>
            </a:r>
          </a:p>
          <a:p>
            <a:r>
              <a:rPr lang="en-US" sz="2000" dirty="0"/>
              <a:t>The design of modulo 6 counter as a finite state machine is high level of abstraction.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D718-2CB7-467E-AF95-14716674F849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69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8171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VHDL design with high level of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For Modulo 6  counter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D718-2CB7-467E-AF95-14716674F849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6299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8800" y="742950"/>
            <a:ext cx="30480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1419-5D92-48BA-BF93-95A99CDE8B14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3. RTL and VHDL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914CF-7832-4379-8D04-413CED86CB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5318" t="54359" r="17936" b="4563"/>
          <a:stretch/>
        </p:blipFill>
        <p:spPr>
          <a:xfrm>
            <a:off x="328195" y="2827436"/>
            <a:ext cx="3085024" cy="17671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920638-2BAA-4CA4-8F96-71452B529399}"/>
              </a:ext>
            </a:extLst>
          </p:cNvPr>
          <p:cNvSpPr/>
          <p:nvPr/>
        </p:nvSpPr>
        <p:spPr>
          <a:xfrm>
            <a:off x="387986" y="348744"/>
            <a:ext cx="34099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(S</a:t>
            </a:r>
            <a:r>
              <a:rPr lang="en-US" b="1" baseline="-25000" dirty="0"/>
              <a:t>0</a:t>
            </a:r>
            <a:r>
              <a:rPr lang="en-US" b="1" dirty="0"/>
              <a:t>+S</a:t>
            </a:r>
            <a:r>
              <a:rPr lang="en-US" b="1" baseline="-25000" dirty="0"/>
              <a:t>1</a:t>
            </a:r>
            <a:r>
              <a:rPr lang="en-US" b="1" dirty="0"/>
              <a:t>+S</a:t>
            </a:r>
            <a:r>
              <a:rPr lang="en-US" b="1" baseline="-25000" dirty="0"/>
              <a:t>2</a:t>
            </a:r>
            <a:r>
              <a:rPr lang="en-US" b="1" dirty="0"/>
              <a:t>+S</a:t>
            </a:r>
            <a:r>
              <a:rPr lang="en-US" b="1" baseline="-25000" dirty="0"/>
              <a:t>3</a:t>
            </a:r>
            <a:r>
              <a:rPr lang="en-US" b="1" dirty="0"/>
              <a:t>+S</a:t>
            </a:r>
            <a:r>
              <a:rPr lang="en-US" b="1" baseline="-25000" dirty="0"/>
              <a:t>4</a:t>
            </a:r>
            <a:r>
              <a:rPr lang="en-US" b="1" dirty="0"/>
              <a:t>)U :  V</a:t>
            </a:r>
            <a:r>
              <a:rPr lang="en-US" b="1" dirty="0">
                <a:sym typeface="Wingdings" panose="05000000000000000000" pitchFamily="2" charset="2"/>
              </a:rPr>
              <a:t>V+1, C0</a:t>
            </a:r>
          </a:p>
          <a:p>
            <a:r>
              <a:rPr lang="en-US" b="1" dirty="0">
                <a:sym typeface="Wingdings" panose="05000000000000000000" pitchFamily="2" charset="2"/>
              </a:rPr>
              <a:t>S</a:t>
            </a:r>
            <a:r>
              <a:rPr lang="en-US" b="1" baseline="-25000" dirty="0">
                <a:sym typeface="Wingdings" panose="05000000000000000000" pitchFamily="2" charset="2"/>
              </a:rPr>
              <a:t>5</a:t>
            </a:r>
            <a:r>
              <a:rPr lang="en-US" b="1" dirty="0">
                <a:sym typeface="Wingdings" panose="05000000000000000000" pitchFamily="2" charset="2"/>
              </a:rPr>
              <a:t>U+S</a:t>
            </a:r>
            <a:r>
              <a:rPr lang="en-US" b="1" baseline="-25000" dirty="0">
                <a:sym typeface="Wingdings" panose="05000000000000000000" pitchFamily="2" charset="2"/>
              </a:rPr>
              <a:t>6</a:t>
            </a:r>
            <a:r>
              <a:rPr lang="en-US" b="1" dirty="0">
                <a:sym typeface="Wingdings" panose="05000000000000000000" pitchFamily="2" charset="2"/>
              </a:rPr>
              <a:t>+S</a:t>
            </a:r>
            <a:r>
              <a:rPr lang="en-US" b="1" baseline="-25000" dirty="0">
                <a:sym typeface="Wingdings" panose="05000000000000000000" pitchFamily="2" charset="2"/>
              </a:rPr>
              <a:t>7 </a:t>
            </a:r>
            <a:r>
              <a:rPr lang="en-US" b="1" dirty="0">
                <a:sym typeface="Wingdings" panose="05000000000000000000" pitchFamily="2" charset="2"/>
              </a:rPr>
              <a:t>: V0, C1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A63745-B07F-4F91-A0E6-77D61AF38C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2841" t="5311" r="1976" b="48148"/>
          <a:stretch/>
        </p:blipFill>
        <p:spPr>
          <a:xfrm>
            <a:off x="3860686" y="205112"/>
            <a:ext cx="4927283" cy="23103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9F6DBB-4603-4B11-9BA9-96656157A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787" y="2548007"/>
            <a:ext cx="3572887" cy="24543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F0A8BE-64E4-4692-AEBC-60F494623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95" y="1167715"/>
            <a:ext cx="2719805" cy="142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476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88" y="102393"/>
            <a:ext cx="4198624" cy="632525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1800" b="1" dirty="0">
                <a:solidFill>
                  <a:srgbClr val="FF0000"/>
                </a:solidFill>
              </a:rPr>
              <a:t>VHDL file to implement Modulo 6 counter using a high level of abstraction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1419-5D92-48BA-BF93-95A99CDE8B14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14600" y="4869656"/>
            <a:ext cx="2895600" cy="273844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3. RTL and VHDL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E93F9D-6602-45E5-8913-CEEEB73926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28830"/>
          <a:stretch/>
        </p:blipFill>
        <p:spPr>
          <a:xfrm>
            <a:off x="186688" y="905176"/>
            <a:ext cx="4198624" cy="3966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04C892-90E8-40CE-92F8-E241C5F154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29386" t="70617" b="748"/>
          <a:stretch/>
        </p:blipFill>
        <p:spPr>
          <a:xfrm>
            <a:off x="5715000" y="1352550"/>
            <a:ext cx="3082288" cy="165913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ECC8BFA-885B-439F-9D61-AD463B55E149}"/>
              </a:ext>
            </a:extLst>
          </p:cNvPr>
          <p:cNvSpPr/>
          <p:nvPr/>
        </p:nvSpPr>
        <p:spPr>
          <a:xfrm>
            <a:off x="4385312" y="1220197"/>
            <a:ext cx="4411976" cy="364946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F7125D-6A1B-4C52-A0BF-5E100B9A720B}"/>
              </a:ext>
            </a:extLst>
          </p:cNvPr>
          <p:cNvSpPr/>
          <p:nvPr/>
        </p:nvSpPr>
        <p:spPr>
          <a:xfrm>
            <a:off x="104884" y="790241"/>
            <a:ext cx="4283712" cy="414728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550216-A581-44C1-A4EE-611B3C8FBE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5318" t="54359" r="17936" b="4563"/>
          <a:stretch/>
        </p:blipFill>
        <p:spPr>
          <a:xfrm>
            <a:off x="3721254" y="792214"/>
            <a:ext cx="2209800" cy="12658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EA92D04-DE5B-4547-A271-7F68CF0320DE}"/>
              </a:ext>
            </a:extLst>
          </p:cNvPr>
          <p:cNvSpPr/>
          <p:nvPr/>
        </p:nvSpPr>
        <p:spPr>
          <a:xfrm>
            <a:off x="5496080" y="140100"/>
            <a:ext cx="34099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(S</a:t>
            </a:r>
            <a:r>
              <a:rPr lang="en-US" b="1" baseline="-25000" dirty="0"/>
              <a:t>0</a:t>
            </a:r>
            <a:r>
              <a:rPr lang="en-US" b="1" dirty="0"/>
              <a:t>+S</a:t>
            </a:r>
            <a:r>
              <a:rPr lang="en-US" b="1" baseline="-25000" dirty="0"/>
              <a:t>1</a:t>
            </a:r>
            <a:r>
              <a:rPr lang="en-US" b="1" dirty="0"/>
              <a:t>+S</a:t>
            </a:r>
            <a:r>
              <a:rPr lang="en-US" b="1" baseline="-25000" dirty="0"/>
              <a:t>2</a:t>
            </a:r>
            <a:r>
              <a:rPr lang="en-US" b="1" dirty="0"/>
              <a:t>+S</a:t>
            </a:r>
            <a:r>
              <a:rPr lang="en-US" b="1" baseline="-25000" dirty="0"/>
              <a:t>3</a:t>
            </a:r>
            <a:r>
              <a:rPr lang="en-US" b="1" dirty="0"/>
              <a:t>+S</a:t>
            </a:r>
            <a:r>
              <a:rPr lang="en-US" b="1" baseline="-25000" dirty="0"/>
              <a:t>4</a:t>
            </a:r>
            <a:r>
              <a:rPr lang="en-US" b="1" dirty="0"/>
              <a:t>)U :  V</a:t>
            </a:r>
            <a:r>
              <a:rPr lang="en-US" b="1" dirty="0">
                <a:sym typeface="Wingdings" panose="05000000000000000000" pitchFamily="2" charset="2"/>
              </a:rPr>
              <a:t>V+1, C0</a:t>
            </a:r>
          </a:p>
          <a:p>
            <a:r>
              <a:rPr lang="en-US" b="1" dirty="0">
                <a:sym typeface="Wingdings" panose="05000000000000000000" pitchFamily="2" charset="2"/>
              </a:rPr>
              <a:t>S</a:t>
            </a:r>
            <a:r>
              <a:rPr lang="en-US" b="1" baseline="-25000" dirty="0">
                <a:sym typeface="Wingdings" panose="05000000000000000000" pitchFamily="2" charset="2"/>
              </a:rPr>
              <a:t>5</a:t>
            </a:r>
            <a:r>
              <a:rPr lang="en-US" b="1" dirty="0">
                <a:sym typeface="Wingdings" panose="05000000000000000000" pitchFamily="2" charset="2"/>
              </a:rPr>
              <a:t>U+S</a:t>
            </a:r>
            <a:r>
              <a:rPr lang="en-US" b="1" baseline="-25000" dirty="0">
                <a:sym typeface="Wingdings" panose="05000000000000000000" pitchFamily="2" charset="2"/>
              </a:rPr>
              <a:t>6</a:t>
            </a:r>
            <a:r>
              <a:rPr lang="en-US" b="1" dirty="0">
                <a:sym typeface="Wingdings" panose="05000000000000000000" pitchFamily="2" charset="2"/>
              </a:rPr>
              <a:t>+S</a:t>
            </a:r>
            <a:r>
              <a:rPr lang="en-US" b="1" baseline="-25000" dirty="0">
                <a:sym typeface="Wingdings" panose="05000000000000000000" pitchFamily="2" charset="2"/>
              </a:rPr>
              <a:t>7 </a:t>
            </a:r>
            <a:r>
              <a:rPr lang="en-US" b="1" dirty="0">
                <a:sym typeface="Wingdings" panose="05000000000000000000" pitchFamily="2" charset="2"/>
              </a:rPr>
              <a:t>: V0, C1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26113F-BB4E-41B8-9FB2-997694E2B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350" y="1885911"/>
            <a:ext cx="2122288" cy="110809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03A87E-5612-44BB-AF1D-571595698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6172200" cy="165913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807AC2-518F-4775-A0E0-6881408221E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7325"/>
          <a:stretch/>
        </p:blipFill>
        <p:spPr>
          <a:xfrm>
            <a:off x="4392089" y="3062748"/>
            <a:ext cx="4490196" cy="183351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72</a:t>
            </a:fld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8563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Explanation: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1"/>
            <a:ext cx="3581400" cy="3733800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To declare the VHDL design for this counter, we begin with the library declarations and entity section.</a:t>
            </a:r>
          </a:p>
          <a:p>
            <a:r>
              <a:rPr lang="en-US" sz="2000" dirty="0"/>
              <a:t>In the library declarations, we will only need the standard IEEE library and its </a:t>
            </a:r>
            <a:r>
              <a:rPr lang="en-US" sz="2000" i="1" dirty="0" err="1"/>
              <a:t>std_logic</a:t>
            </a:r>
            <a:r>
              <a:rPr lang="en-US" sz="2000" i="1" dirty="0"/>
              <a:t> 1164 </a:t>
            </a:r>
            <a:r>
              <a:rPr lang="en-US" sz="2000" dirty="0"/>
              <a:t>module.</a:t>
            </a:r>
          </a:p>
          <a:p>
            <a:r>
              <a:rPr lang="en-US" sz="2000" dirty="0"/>
              <a:t>In the entity section, we declare the system’s inputs and outputs.</a:t>
            </a:r>
          </a:p>
          <a:p>
            <a:r>
              <a:rPr lang="en-US" sz="2000" dirty="0"/>
              <a:t>The modulo 6 counter has two inputs. U and the system clock which we label clk.</a:t>
            </a:r>
          </a:p>
          <a:p>
            <a:r>
              <a:rPr lang="en-US" sz="2000" dirty="0"/>
              <a:t>It has 1-bit  output C and 3-bit output V.</a:t>
            </a:r>
          </a:p>
          <a:p>
            <a:r>
              <a:rPr lang="en-US" sz="2000" dirty="0"/>
              <a:t>We define V as a 3-bit vector with indices 2, 1 and 0. </a:t>
            </a:r>
          </a:p>
          <a:p>
            <a:r>
              <a:rPr lang="en-US" sz="2000" dirty="0"/>
              <a:t>The library declarations and entity section of this design are: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1419-5D92-48BA-BF93-95A99CDE8B14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36A2B7-538E-43F9-9E47-6CD5B14B3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79446" y="1215390"/>
            <a:ext cx="4347508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273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1"/>
            <a:ext cx="3581400" cy="3733800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Now we must develop the architecture section of the modulo 6 counter.</a:t>
            </a:r>
          </a:p>
          <a:p>
            <a:r>
              <a:rPr lang="en-US" sz="2000" dirty="0"/>
              <a:t>But before specifying the system's behavior, the architecture declares a new enumerated type, states.</a:t>
            </a:r>
          </a:p>
          <a:p>
            <a:r>
              <a:rPr lang="en-US" sz="2000" dirty="0"/>
              <a:t>This type has eight possible values, S</a:t>
            </a:r>
            <a:r>
              <a:rPr lang="en-US" sz="2000" baseline="-25000" dirty="0"/>
              <a:t>0</a:t>
            </a:r>
            <a:r>
              <a:rPr lang="en-US" sz="2000" dirty="0"/>
              <a:t> to S</a:t>
            </a:r>
            <a:r>
              <a:rPr lang="en-US" sz="2000" baseline="-25000" dirty="0"/>
              <a:t>7</a:t>
            </a:r>
            <a:r>
              <a:rPr lang="en-US" sz="2000" dirty="0"/>
              <a:t>, which correspond to the six valid and two invalid sates of the counter.</a:t>
            </a:r>
          </a:p>
          <a:p>
            <a:r>
              <a:rPr lang="en-US" sz="2000" dirty="0"/>
              <a:t>It declares two signals: </a:t>
            </a:r>
            <a:r>
              <a:rPr lang="en-US" sz="2000" i="1" dirty="0" err="1"/>
              <a:t>present_state</a:t>
            </a:r>
            <a:r>
              <a:rPr lang="en-US" sz="2000" i="1" dirty="0"/>
              <a:t> </a:t>
            </a:r>
            <a:r>
              <a:rPr lang="en-US" sz="2000" dirty="0"/>
              <a:t>and </a:t>
            </a:r>
            <a:r>
              <a:rPr lang="en-US" sz="2000" i="1" dirty="0" err="1"/>
              <a:t>next_state</a:t>
            </a:r>
            <a:r>
              <a:rPr lang="en-US" sz="2000" dirty="0"/>
              <a:t>, to be of this type.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1419-5D92-48BA-BF93-95A99CDE8B14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8CD835-81DF-494E-B1A3-644D059FA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52900" y="1200150"/>
            <a:ext cx="4800600" cy="68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927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1"/>
            <a:ext cx="3581400" cy="373380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Beyond these declarations, we partition this design into two processes.</a:t>
            </a:r>
          </a:p>
          <a:p>
            <a:r>
              <a:rPr lang="en-US" sz="2000" dirty="0"/>
              <a:t>The first looks at the present state of the counter and its input values, and generates the desired outputs and next state value.</a:t>
            </a:r>
          </a:p>
          <a:p>
            <a:r>
              <a:rPr lang="en-US" sz="2000" dirty="0"/>
              <a:t>The second process makes the actual transition from the present state to the next state.</a:t>
            </a:r>
          </a:p>
          <a:p>
            <a:r>
              <a:rPr lang="en-US" sz="2000" dirty="0"/>
              <a:t>The first procedure is names state_mod6. it uses a case statement.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1419-5D92-48BA-BF93-95A99CDE8B14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02D732-DE37-4D10-94A8-762205EDFA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29386" t="70617" b="748"/>
          <a:stretch/>
        </p:blipFill>
        <p:spPr>
          <a:xfrm>
            <a:off x="6096000" y="1891866"/>
            <a:ext cx="2352317" cy="1266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4E2F11-504F-475D-9947-71C6D3C02E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t="32637" b="28830"/>
          <a:stretch/>
        </p:blipFill>
        <p:spPr>
          <a:xfrm>
            <a:off x="5143750" y="218725"/>
            <a:ext cx="3271039" cy="16731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1533E11-D732-42A4-A27F-356CD959FB6B}"/>
              </a:ext>
            </a:extLst>
          </p:cNvPr>
          <p:cNvSpPr/>
          <p:nvPr/>
        </p:nvSpPr>
        <p:spPr>
          <a:xfrm>
            <a:off x="5143750" y="1904771"/>
            <a:ext cx="1028450" cy="144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71FEDE-7968-4BCA-9EC0-689C7F8F60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r="8566"/>
          <a:stretch/>
        </p:blipFill>
        <p:spPr>
          <a:xfrm>
            <a:off x="5143750" y="3181811"/>
            <a:ext cx="3336306" cy="144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83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429000" cy="3851673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The second process is </a:t>
            </a:r>
            <a:r>
              <a:rPr lang="en-US" sz="2000" b="1" dirty="0" err="1"/>
              <a:t>state_transition</a:t>
            </a:r>
            <a:r>
              <a:rPr lang="en-US" sz="2000" b="1" dirty="0"/>
              <a:t>.</a:t>
            </a:r>
          </a:p>
          <a:p>
            <a:r>
              <a:rPr lang="en-US" sz="2000" dirty="0"/>
              <a:t>On the rising edge of the clock it copies the </a:t>
            </a:r>
            <a:r>
              <a:rPr lang="en-US" sz="2000" b="1" i="1" dirty="0" err="1"/>
              <a:t>next_state</a:t>
            </a:r>
            <a:r>
              <a:rPr lang="en-US" sz="2000" b="1" i="1" dirty="0"/>
              <a:t> </a:t>
            </a:r>
            <a:r>
              <a:rPr lang="en-US" sz="2000" dirty="0"/>
              <a:t>value generated bus process state_mod6 to </a:t>
            </a:r>
            <a:r>
              <a:rPr lang="en-US" sz="2000" dirty="0" err="1"/>
              <a:t>present_state</a:t>
            </a:r>
            <a:r>
              <a:rPr lang="en-US" sz="2000" dirty="0"/>
              <a:t>.</a:t>
            </a:r>
          </a:p>
          <a:p>
            <a:r>
              <a:rPr lang="en-US" sz="2000" dirty="0"/>
              <a:t>Although </a:t>
            </a:r>
            <a:r>
              <a:rPr lang="en-US" sz="2000" i="1" dirty="0"/>
              <a:t>state_mod6 </a:t>
            </a:r>
            <a:r>
              <a:rPr lang="en-US" sz="2000" dirty="0"/>
              <a:t>generates the next state value, the transition to this state occurs in process </a:t>
            </a:r>
            <a:r>
              <a:rPr lang="en-US" sz="2000" i="1" dirty="0" err="1"/>
              <a:t>state_transition</a:t>
            </a:r>
            <a:r>
              <a:rPr lang="en-US" sz="2000" i="1" dirty="0"/>
              <a:t>.</a:t>
            </a:r>
          </a:p>
          <a:p>
            <a:r>
              <a:rPr lang="en-US" sz="2000" dirty="0"/>
              <a:t>Once the new value of </a:t>
            </a:r>
            <a:r>
              <a:rPr lang="en-US" sz="2000" i="1" dirty="0" err="1"/>
              <a:t>present_state</a:t>
            </a:r>
            <a:r>
              <a:rPr lang="en-US" sz="2000" i="1" dirty="0"/>
              <a:t> </a:t>
            </a:r>
            <a:r>
              <a:rPr lang="en-US" sz="2000" dirty="0"/>
              <a:t>is set, it is used by state_mod6 to select the next value for the case statement.</a:t>
            </a:r>
          </a:p>
          <a:p>
            <a:r>
              <a:rPr lang="en-US" sz="2000" dirty="0"/>
              <a:t>The code for this module is: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1419-5D92-48BA-BF93-95A99CDE8B14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CE6DAA-4E55-4F80-9287-E09B8046B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137" y="1875374"/>
            <a:ext cx="4810125" cy="100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282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Low Level of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42951"/>
            <a:ext cx="3920181" cy="429815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800" b="1" dirty="0"/>
              <a:t>library</a:t>
            </a:r>
            <a:r>
              <a:rPr lang="en-US" sz="800" dirty="0"/>
              <a:t> IEEE;</a:t>
            </a:r>
          </a:p>
          <a:p>
            <a:pPr marL="0" lvl="0" indent="0">
              <a:buNone/>
            </a:pPr>
            <a:r>
              <a:rPr lang="en-US" sz="800" b="1" dirty="0"/>
              <a:t>use</a:t>
            </a:r>
            <a:r>
              <a:rPr lang="en-US" sz="800" dirty="0"/>
              <a:t> IEEE.std_logic_1964.all;</a:t>
            </a:r>
          </a:p>
          <a:p>
            <a:pPr marL="0" lvl="0" indent="0">
              <a:buNone/>
            </a:pPr>
            <a:r>
              <a:rPr lang="en-US" sz="800" b="1" dirty="0"/>
              <a:t>entity</a:t>
            </a:r>
            <a:r>
              <a:rPr lang="en-US" sz="800" dirty="0"/>
              <a:t> mod6 </a:t>
            </a:r>
            <a:r>
              <a:rPr lang="en-US" sz="800" b="1" dirty="0"/>
              <a:t>is</a:t>
            </a:r>
          </a:p>
          <a:p>
            <a:pPr marL="0" lvl="0" indent="0">
              <a:buNone/>
            </a:pPr>
            <a:r>
              <a:rPr lang="en-US" sz="800" b="1" dirty="0"/>
              <a:t>port</a:t>
            </a:r>
          </a:p>
          <a:p>
            <a:pPr marL="400050" lvl="1" indent="0">
              <a:buNone/>
            </a:pPr>
            <a:r>
              <a:rPr lang="en-US" sz="800" dirty="0"/>
              <a:t>(</a:t>
            </a:r>
          </a:p>
          <a:p>
            <a:pPr marL="400050" lvl="1" indent="0">
              <a:buNone/>
            </a:pPr>
            <a:r>
              <a:rPr lang="en-US" sz="800" dirty="0"/>
              <a:t>U, </a:t>
            </a:r>
            <a:r>
              <a:rPr lang="en-US" sz="800" dirty="0" err="1"/>
              <a:t>clk</a:t>
            </a:r>
            <a:r>
              <a:rPr lang="en-US" sz="800" dirty="0"/>
              <a:t> : in </a:t>
            </a:r>
            <a:r>
              <a:rPr lang="en-US" sz="800" dirty="0" err="1"/>
              <a:t>std_logic</a:t>
            </a:r>
            <a:r>
              <a:rPr lang="en-US" sz="800" dirty="0"/>
              <a:t>;</a:t>
            </a:r>
          </a:p>
          <a:p>
            <a:pPr marL="400050" lvl="1" indent="0">
              <a:buNone/>
            </a:pPr>
            <a:r>
              <a:rPr lang="en-US" sz="800" dirty="0"/>
              <a:t>q2 , q1, q0 : buffer </a:t>
            </a:r>
            <a:r>
              <a:rPr lang="en-US" sz="800" dirty="0" err="1"/>
              <a:t>std_logic</a:t>
            </a:r>
            <a:r>
              <a:rPr lang="en-US" sz="800" dirty="0"/>
              <a:t>;</a:t>
            </a:r>
          </a:p>
          <a:p>
            <a:pPr marL="400050" lvl="1" indent="0">
              <a:buNone/>
            </a:pPr>
            <a:r>
              <a:rPr lang="en-US" sz="800" dirty="0"/>
              <a:t>v2, v1, v0, C: out </a:t>
            </a:r>
            <a:r>
              <a:rPr lang="en-US" sz="800" dirty="0" err="1"/>
              <a:t>std_logic</a:t>
            </a:r>
            <a:r>
              <a:rPr lang="en-US" sz="800" dirty="0"/>
              <a:t>);</a:t>
            </a:r>
          </a:p>
          <a:p>
            <a:pPr marL="0" lvl="0" indent="0">
              <a:buNone/>
            </a:pPr>
            <a:r>
              <a:rPr lang="en-US" sz="800" b="1" dirty="0"/>
              <a:t>end</a:t>
            </a:r>
            <a:r>
              <a:rPr lang="en-US" sz="800" dirty="0"/>
              <a:t> mod6;</a:t>
            </a:r>
          </a:p>
          <a:p>
            <a:pPr marL="0" lvl="0" indent="0">
              <a:buNone/>
            </a:pPr>
            <a:endParaRPr lang="en-US" sz="800" dirty="0"/>
          </a:p>
          <a:p>
            <a:pPr marL="0" lvl="0" indent="0">
              <a:buNone/>
            </a:pPr>
            <a:r>
              <a:rPr lang="en-US" sz="800" b="1" dirty="0"/>
              <a:t>architecture</a:t>
            </a:r>
            <a:r>
              <a:rPr lang="en-US" sz="800" dirty="0"/>
              <a:t> amod6 </a:t>
            </a:r>
            <a:r>
              <a:rPr lang="en-US" sz="800" b="1" dirty="0"/>
              <a:t>of</a:t>
            </a:r>
            <a:r>
              <a:rPr lang="en-US" sz="800" dirty="0"/>
              <a:t> mod6 </a:t>
            </a:r>
            <a:r>
              <a:rPr lang="en-US" sz="800" b="1" dirty="0"/>
              <a:t>is</a:t>
            </a:r>
          </a:p>
          <a:p>
            <a:pPr marL="228600" lvl="1" indent="0">
              <a:buNone/>
            </a:pPr>
            <a:r>
              <a:rPr lang="en-US" sz="800" dirty="0"/>
              <a:t>begin</a:t>
            </a:r>
          </a:p>
          <a:p>
            <a:pPr marL="346075" lvl="2" indent="0">
              <a:buNone/>
            </a:pPr>
            <a:r>
              <a:rPr lang="en-US" sz="800" dirty="0"/>
              <a:t>cct_mod6 : process (q2, q1, q0, </a:t>
            </a:r>
            <a:r>
              <a:rPr lang="en-US" sz="800" dirty="0" err="1"/>
              <a:t>U,clk</a:t>
            </a:r>
            <a:r>
              <a:rPr lang="en-US" sz="800" dirty="0"/>
              <a:t>)</a:t>
            </a:r>
          </a:p>
          <a:p>
            <a:pPr marL="346075" lvl="2" indent="0">
              <a:buNone/>
            </a:pPr>
            <a:r>
              <a:rPr lang="en-US" sz="800" dirty="0"/>
              <a:t>begin</a:t>
            </a:r>
          </a:p>
          <a:p>
            <a:pPr marL="346075" lvl="2" indent="0">
              <a:buNone/>
            </a:pPr>
            <a:r>
              <a:rPr lang="en-US" sz="800" dirty="0"/>
              <a:t>if </a:t>
            </a:r>
            <a:r>
              <a:rPr lang="en-US" sz="800" dirty="0" err="1"/>
              <a:t>rising_edge</a:t>
            </a:r>
            <a:r>
              <a:rPr lang="en-US" sz="800" dirty="0"/>
              <a:t> (</a:t>
            </a:r>
            <a:r>
              <a:rPr lang="en-US" sz="800" dirty="0" err="1"/>
              <a:t>clk</a:t>
            </a:r>
            <a:r>
              <a:rPr lang="en-US" sz="800" dirty="0"/>
              <a:t>) then </a:t>
            </a:r>
          </a:p>
          <a:p>
            <a:pPr marL="457200" lvl="3" indent="0">
              <a:buNone/>
            </a:pPr>
            <a:r>
              <a:rPr lang="en-US" sz="800" dirty="0"/>
              <a:t>q2&lt;= </a:t>
            </a:r>
            <a:r>
              <a:rPr lang="en-US" sz="800" b="1" dirty="0"/>
              <a:t>q2</a:t>
            </a:r>
            <a:r>
              <a:rPr lang="en-US" sz="800" dirty="0"/>
              <a:t> and (</a:t>
            </a:r>
            <a:r>
              <a:rPr lang="en-US" sz="800" b="1" dirty="0"/>
              <a:t>not q1</a:t>
            </a:r>
            <a:r>
              <a:rPr lang="en-US" sz="800" dirty="0"/>
              <a:t>) and (</a:t>
            </a:r>
            <a:r>
              <a:rPr lang="en-US" sz="800" b="1" dirty="0"/>
              <a:t>not U</a:t>
            </a:r>
            <a:r>
              <a:rPr lang="en-US" sz="800" dirty="0"/>
              <a:t>)) or ((</a:t>
            </a:r>
            <a:r>
              <a:rPr lang="en-US" sz="800" b="1" dirty="0"/>
              <a:t>not q2</a:t>
            </a:r>
            <a:r>
              <a:rPr lang="en-US" sz="800" dirty="0"/>
              <a:t>) and </a:t>
            </a:r>
            <a:r>
              <a:rPr lang="en-US" sz="800" b="1" dirty="0"/>
              <a:t>q1</a:t>
            </a:r>
            <a:r>
              <a:rPr lang="en-US" sz="800" dirty="0"/>
              <a:t> and </a:t>
            </a:r>
            <a:r>
              <a:rPr lang="en-US" sz="800" b="1" dirty="0"/>
              <a:t>q0</a:t>
            </a:r>
            <a:r>
              <a:rPr lang="en-US" sz="800" dirty="0"/>
              <a:t> and </a:t>
            </a:r>
            <a:r>
              <a:rPr lang="en-US" sz="800" b="1" dirty="0"/>
              <a:t>U);</a:t>
            </a:r>
          </a:p>
          <a:p>
            <a:pPr marL="457200" lvl="3" indent="0">
              <a:buNone/>
            </a:pPr>
            <a:r>
              <a:rPr lang="en-US" sz="800" dirty="0"/>
              <a:t>q1&lt;=((not  q2) and q1 and (not q0)) or ((not q2) and q1 and (not q0)) or ((not q2) and (notq1) and q0 and U);</a:t>
            </a:r>
          </a:p>
          <a:p>
            <a:pPr marL="457200" lvl="3" indent="0">
              <a:buNone/>
            </a:pPr>
            <a:r>
              <a:rPr lang="en-US" sz="800" dirty="0"/>
              <a:t>q0&lt;=((not q2) and (not q0) and U) or ((notq2) and q0 and (not U)) or ((not q1) and q0 and (not U));</a:t>
            </a:r>
          </a:p>
          <a:p>
            <a:pPr marL="346075" lvl="2" indent="0">
              <a:buNone/>
            </a:pPr>
            <a:r>
              <a:rPr lang="en-US" sz="800" dirty="0"/>
              <a:t>end if;</a:t>
            </a:r>
          </a:p>
          <a:p>
            <a:pPr marL="346075" lvl="2" indent="0">
              <a:buNone/>
            </a:pPr>
            <a:r>
              <a:rPr lang="en-US" sz="800" dirty="0"/>
              <a:t>v2&lt;=q2;</a:t>
            </a:r>
          </a:p>
          <a:p>
            <a:pPr marL="346075" lvl="2" indent="0">
              <a:buNone/>
            </a:pPr>
            <a:r>
              <a:rPr lang="en-US" sz="800" dirty="0"/>
              <a:t>v1&lt;=q1;</a:t>
            </a:r>
          </a:p>
          <a:p>
            <a:pPr marL="346075" lvl="2" indent="0">
              <a:buNone/>
            </a:pPr>
            <a:r>
              <a:rPr lang="en-US" sz="800" dirty="0"/>
              <a:t>v0&lt;= (q2 and q1) or q0;</a:t>
            </a:r>
          </a:p>
          <a:p>
            <a:pPr marL="346075" lvl="2" indent="0">
              <a:buNone/>
            </a:pPr>
            <a:r>
              <a:rPr lang="en-US" sz="800" dirty="0"/>
              <a:t>c   &lt;= not (q2 or q1 or q0);</a:t>
            </a:r>
          </a:p>
          <a:p>
            <a:pPr marL="228600" lvl="1" indent="0">
              <a:buNone/>
            </a:pPr>
            <a:r>
              <a:rPr lang="en-US" sz="800" dirty="0"/>
              <a:t>End process cct_mod6;</a:t>
            </a:r>
          </a:p>
          <a:p>
            <a:pPr marL="0" lvl="0" indent="0">
              <a:buNone/>
            </a:pPr>
            <a:r>
              <a:rPr lang="en-US" sz="800" b="1" dirty="0"/>
              <a:t>end</a:t>
            </a:r>
            <a:r>
              <a:rPr lang="en-US" sz="800" dirty="0"/>
              <a:t> amod6;</a:t>
            </a:r>
          </a:p>
          <a:p>
            <a:pPr marL="0" lvl="0" indent="0">
              <a:buNone/>
            </a:pPr>
            <a:endParaRPr lang="en-US" sz="800" dirty="0"/>
          </a:p>
          <a:p>
            <a:pPr marL="0" lvl="0" indent="0">
              <a:buNone/>
            </a:pPr>
            <a:endParaRPr lang="en-US" sz="800" dirty="0"/>
          </a:p>
          <a:p>
            <a:pPr marL="0" lvl="0" indent="0">
              <a:buNone/>
            </a:pPr>
            <a:endParaRPr lang="en-US" sz="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A7C4B-C943-4329-A8A5-CD637CB87EFD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02DBD9-C53A-4823-BE94-8501340D4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916" y="-45720"/>
            <a:ext cx="4309419" cy="51435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BC98BE-C544-48AB-96EA-F333828EDE8E}"/>
              </a:ext>
            </a:extLst>
          </p:cNvPr>
          <p:cNvCxnSpPr>
            <a:cxnSpLocks/>
          </p:cNvCxnSpPr>
          <p:nvPr/>
        </p:nvCxnSpPr>
        <p:spPr>
          <a:xfrm flipV="1">
            <a:off x="4461819" y="3486150"/>
            <a:ext cx="4148781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89ACC5D-FEBE-4193-9585-7A5EE529C54A}"/>
              </a:ext>
            </a:extLst>
          </p:cNvPr>
          <p:cNvSpPr/>
          <p:nvPr/>
        </p:nvSpPr>
        <p:spPr>
          <a:xfrm>
            <a:off x="457198" y="1078704"/>
            <a:ext cx="19050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noFill/>
              </a:rPr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7547B0-5EE7-46CB-8B3B-BBF666C20EC5}"/>
              </a:ext>
            </a:extLst>
          </p:cNvPr>
          <p:cNvSpPr/>
          <p:nvPr/>
        </p:nvSpPr>
        <p:spPr>
          <a:xfrm>
            <a:off x="471948" y="2221706"/>
            <a:ext cx="3905432" cy="24693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D46CF0-65A2-4638-A024-01FD4924897B}"/>
              </a:ext>
            </a:extLst>
          </p:cNvPr>
          <p:cNvSpPr/>
          <p:nvPr/>
        </p:nvSpPr>
        <p:spPr>
          <a:xfrm>
            <a:off x="838200" y="2686051"/>
            <a:ext cx="3429000" cy="1714498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4746166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All code at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776020" cy="3851673"/>
          </a:xfrm>
        </p:spPr>
        <p:txBody>
          <a:bodyPr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A7C4B-C943-4329-A8A5-CD637CB87EFD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1DD695-22D0-46D1-A1C7-7D5C7F997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923" y="3272046"/>
            <a:ext cx="3642657" cy="1662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1F493F-BF67-4E56-8F07-45CD71285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923" y="209341"/>
            <a:ext cx="3642657" cy="30709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E9A2E5-3AD3-4A0A-981C-4A3E5BBC4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71" y="719418"/>
            <a:ext cx="4013278" cy="267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479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3657600" cy="1140128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VHDL code for Full adder (Low level abstraction)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776020" cy="3851673"/>
          </a:xfrm>
        </p:spPr>
        <p:txBody>
          <a:bodyPr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A7C4B-C943-4329-A8A5-CD637CB87EFD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79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A323B3-B9F6-4D11-8A5F-48A8500E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65" y="1680673"/>
            <a:ext cx="3414270" cy="2559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99B48E-E103-496C-A173-FEEC7B068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074" y="97211"/>
            <a:ext cx="3849382" cy="25004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E24DA7-C31F-423B-80A7-557DD39B0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447" y="2667665"/>
            <a:ext cx="4419600" cy="230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509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0871" y="285750"/>
            <a:ext cx="3048000" cy="11465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600" b="1" dirty="0">
                <a:solidFill>
                  <a:srgbClr val="FF0000"/>
                </a:solidFill>
              </a:rPr>
              <a:t>VHDL code for D-Flip flop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B9F516-F3B4-4901-B5A0-6EA61B48A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6800" y="1795421"/>
            <a:ext cx="4161817" cy="2224129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421D3-39DB-4C2E-B645-E8594B7DEB12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5ED74F-D94A-46C1-B62A-1CC9B39AF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19202"/>
            <a:ext cx="4481513" cy="450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11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BB08CE-014C-4AD4-85A7-AA2498E06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1841" y="102393"/>
            <a:ext cx="4686300" cy="127635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421D3-39DB-4C2E-B645-E8594B7DEB12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1D318D-C3AE-48A8-AA1D-4BDB604D1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9" y="128167"/>
            <a:ext cx="4159997" cy="45946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7E800D-4AE1-431B-9CA8-F204B6C85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80" y="1651992"/>
            <a:ext cx="4186220" cy="284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162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Assignment: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42950"/>
                <a:ext cx="8229600" cy="3851673"/>
              </a:xfrm>
            </p:spPr>
            <p:txBody>
              <a:bodyPr>
                <a:normAutofit fontScale="700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Write a VHDL code for generating the combinational circuit with three inputs A, B and C and output F=(A^B) v A’ v (A’ ^B’).  [PU 2017 Fall]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Write a VHD code to generate a function F= ABC + A’B’C’. [PU 2018 Spring]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Write a VHDL code for generating the combinational circuit for a function F(x, y, z)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(1,3,4,6)</m:t>
                        </m:r>
                      </m:e>
                    </m:nary>
                  </m:oMath>
                </a14:m>
                <a:r>
                  <a:rPr lang="en-US" dirty="0"/>
                  <a:t>. [PU 2017 Spring]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Write a VHDL code for generating the combinational circuit with three inputs A, B, C and  an output F, where F(A, B, C)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(1,3,4,6)</m:t>
                        </m:r>
                      </m:e>
                    </m:nary>
                  </m:oMath>
                </a14:m>
                <a:r>
                  <a:rPr lang="en-US" dirty="0"/>
                  <a:t>. [PU 2018 Fall]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Write VHDL code for designing a full adder using half adder in structural model. [PU 2020 Spring]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42950"/>
                <a:ext cx="8229600" cy="3851673"/>
              </a:xfrm>
              <a:blipFill>
                <a:blip r:embed="rId2"/>
                <a:stretch>
                  <a:fillRect l="-963" t="-2848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A7C4B-C943-4329-A8A5-CD637CB87EFD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82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7714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Assignment: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42950"/>
                <a:ext cx="8229600" cy="3851673"/>
              </a:xfrm>
            </p:spPr>
            <p:txBody>
              <a:bodyPr>
                <a:normAutofit fontScale="70000" lnSpcReduction="20000"/>
              </a:bodyPr>
              <a:lstStyle/>
              <a:p>
                <a:pPr marL="514350" lvl="0" indent="-514350">
                  <a:buFont typeface="+mj-lt"/>
                  <a:buAutoNum type="arabicPeriod"/>
                </a:pPr>
                <a:r>
                  <a:rPr lang="en-US" dirty="0"/>
                  <a:t>Write a VHDL code for generating the combinational circuit with three inputs A, B and C and output F=(A^B) v A’ v (A’ ^B’).  [PU 2017 Fall]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Write a VHDL code for generating the combinational circuit for a function F(x, y, z)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(1,3,4,6)</m:t>
                        </m:r>
                      </m:e>
                    </m:nary>
                  </m:oMath>
                </a14:m>
                <a:r>
                  <a:rPr lang="en-US" dirty="0"/>
                  <a:t>. [PU 2017 Spring]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Write a VHDL code for generating the combinational circuit with three inputs A, B, C and  an output F, where F(A, B, C)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(1,3,4,6)</m:t>
                        </m:r>
                      </m:e>
                    </m:nary>
                  </m:oMath>
                </a14:m>
                <a:r>
                  <a:rPr lang="en-US" dirty="0"/>
                  <a:t>. [PU 2018 Fall]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Write a VHD code to generate a function F= ABC + A’B’C’. [PU 2018 Spring]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Write VHDL code for designing a full adder using half adder in structural model. [PU 2020 Spring]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42950"/>
                <a:ext cx="8229600" cy="3851673"/>
              </a:xfrm>
              <a:blipFill>
                <a:blip r:embed="rId2"/>
                <a:stretch>
                  <a:fillRect l="-963" t="-2848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A7C4B-C943-4329-A8A5-CD637CB87EFD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83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3. RTL and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8844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Partial End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 of 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chapter 3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421D3-39DB-4C2E-B645-E8594B7DEB12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</p:spTree>
    <p:extLst>
      <p:ext uri="{BB962C8B-B14F-4D97-AF65-F5344CB8AC3E}">
        <p14:creationId xmlns:p14="http://schemas.microsoft.com/office/powerpoint/2010/main" val="24156188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Some References for VHDL code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421D3-39DB-4C2E-B645-E8594B7DEB12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</p:spTree>
    <p:extLst>
      <p:ext uri="{BB962C8B-B14F-4D97-AF65-F5344CB8AC3E}">
        <p14:creationId xmlns:p14="http://schemas.microsoft.com/office/powerpoint/2010/main" val="33714205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/>
              <a:t>Some more about 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VHDL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Assistant Professor</a:t>
            </a:r>
          </a:p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Er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. Shiva Ram Dam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77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Background and basic concepts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Structural specification of hardware and design organization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VHDL realization of basic digital circuits</a:t>
            </a:r>
          </a:p>
          <a:p>
            <a:pPr lvl="1"/>
            <a:r>
              <a:rPr lang="en-US" dirty="0"/>
              <a:t>Binary adder</a:t>
            </a:r>
          </a:p>
          <a:p>
            <a:pPr lvl="1"/>
            <a:r>
              <a:rPr lang="en-US" dirty="0"/>
              <a:t>Multiplier</a:t>
            </a:r>
          </a:p>
          <a:p>
            <a:pPr lvl="1"/>
            <a:r>
              <a:rPr lang="en-US" dirty="0"/>
              <a:t>Decoder</a:t>
            </a:r>
          </a:p>
          <a:p>
            <a:pPr lvl="1"/>
            <a:r>
              <a:rPr lang="en-US" dirty="0"/>
              <a:t>Multiplexer</a:t>
            </a:r>
          </a:p>
          <a:p>
            <a:pPr lvl="1"/>
            <a:r>
              <a:rPr lang="en-US" dirty="0"/>
              <a:t>Counters</a:t>
            </a:r>
          </a:p>
          <a:p>
            <a:pPr lvl="1"/>
            <a:r>
              <a:rPr lang="en-US" dirty="0"/>
              <a:t>Shift Registers</a:t>
            </a:r>
          </a:p>
          <a:p>
            <a:pPr lvl="1"/>
            <a:r>
              <a:rPr lang="en-US" dirty="0"/>
              <a:t>Sequence Detectors</a:t>
            </a:r>
          </a:p>
          <a:p>
            <a:pPr marL="457200" indent="-457200">
              <a:buFont typeface="+mj-lt"/>
              <a:buAutoNum type="arabicPeriod"/>
              <a:tabLst>
                <a:tab pos="463550" algn="l"/>
              </a:tabLst>
            </a:pP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F7CAC-67AD-4314-AEE1-6152B70BC300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ES, VHDL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8.1 VHDL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Very high speed integrated circuit (VHSIC) Hardware Description Language (VHDL)</a:t>
            </a:r>
          </a:p>
          <a:p>
            <a:pPr lvl="0"/>
            <a:r>
              <a:rPr lang="en-US" dirty="0"/>
              <a:t>VHDL was developed to provide a standard for designing digital systems. </a:t>
            </a:r>
          </a:p>
          <a:p>
            <a:pPr lvl="0"/>
            <a:r>
              <a:rPr lang="en-US" dirty="0"/>
              <a:t>VHDL specifies a formal syntax. The designer creates a design file using that syntax just as a programmer writes a C-program. </a:t>
            </a:r>
          </a:p>
          <a:p>
            <a:pPr lvl="0"/>
            <a:r>
              <a:rPr lang="en-US" dirty="0"/>
              <a:t>The designer then synthesizes the design using only design package that can accept VHDL files. This is equivalent to the programmer compiling the C-program. It checks for errors in syntax and declaration, but not in logic. </a:t>
            </a:r>
          </a:p>
          <a:p>
            <a:pPr lvl="0"/>
            <a:r>
              <a:rPr lang="en-US" dirty="0"/>
              <a:t>Finally, the designer debugs the design using simulation tools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4DAB-2B5B-427E-B3CF-26BEAE1454D9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88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4405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Advantages of VHDL: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 lnSpcReduction="1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b="1" dirty="0"/>
              <a:t>PORTABILITY:</a:t>
            </a:r>
            <a:r>
              <a:rPr lang="en-US" sz="2000" dirty="0"/>
              <a:t> Just as a valid C-program can be compiled by any compliant C compiler, a VHDL design can be synthesized by any design system that supports VHDL.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b="1" dirty="0"/>
              <a:t>DEVICE INDEPENDENT:</a:t>
            </a:r>
            <a:r>
              <a:rPr lang="en-US" sz="2000" dirty="0"/>
              <a:t> The VHDL file is device independent. The same file can be used to implement the design on a custom ICs, on ASICs or any PLD that is capable of containing the design.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b="1" dirty="0"/>
              <a:t>SIMULATION:</a:t>
            </a:r>
            <a:r>
              <a:rPr lang="en-US" sz="2000" dirty="0"/>
              <a:t> VHDL designs can be simulated by the design system, allowing the designer to verify the design performance before committing it to hardware.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b="1" dirty="0"/>
              <a:t>SYSTEM SPECIFICATION:</a:t>
            </a:r>
            <a:r>
              <a:rPr lang="en-US" sz="2000" dirty="0"/>
              <a:t> The designer can design the system using a high level of abstraction, such as a finite state machine, down to a low level digital logic implementation.</a:t>
            </a:r>
          </a:p>
          <a:p>
            <a:pPr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3F8F-3FD6-4451-BCBC-40CB1EF325DA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89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6878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Advantages of VHDL: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Summary: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VHDL is used to design ICs and application specific ICs  (ASICs), PLD.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VHDL offers portability. VHDL can be synthesized by any design system supported by VHDL.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VHDL files are device independent.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VHDL designs can be simulated.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VHDL files provide good documentation of system design.</a:t>
            </a:r>
          </a:p>
          <a:p>
            <a:pPr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F750B-DEBA-456D-AE33-E09E334F3F5D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4509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Disadvantages of VHDL: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VHDL source code often becomes long and difficult to follow, especially at a low level of abstraction. </a:t>
            </a:r>
          </a:p>
          <a:p>
            <a:pPr lvl="0"/>
            <a:r>
              <a:rPr lang="en-US" sz="2400" dirty="0"/>
              <a:t>It is often less intuitive than a block diagram or RTL description of same system. </a:t>
            </a:r>
          </a:p>
          <a:p>
            <a:pPr lvl="0"/>
            <a:r>
              <a:rPr lang="en-US" sz="2400" dirty="0"/>
              <a:t>Different design tools may produce different valid design for the same system, especially for high level of abstraction, providing no details about the implementation</a:t>
            </a:r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55C4D-DB1D-4D8A-8F07-CCB7F5EED44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8188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B050"/>
                </a:solidFill>
              </a:rPr>
              <a:t>Disadvantages of VHDL: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/>
              <a:t>Summary: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VHDL source code often are long and difficult to follow at low level of abstraction.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VHDL are difficult to understand.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VHDL does not provide detail about its design implementation.</a:t>
            </a: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845E-12F6-4420-91E8-358A625D7F4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59235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FF0000"/>
                </a:solidFill>
              </a:rPr>
              <a:t>8.2 VHDL Structure: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733800" cy="3851673"/>
          </a:xfrm>
        </p:spPr>
        <p:txBody>
          <a:bodyPr>
            <a:normAutofit/>
          </a:bodyPr>
          <a:lstStyle/>
          <a:p>
            <a:r>
              <a:rPr lang="en-US" sz="2800" dirty="0"/>
              <a:t>VHDL design code has 3 primary sections: </a:t>
            </a:r>
          </a:p>
          <a:p>
            <a:pPr lvl="1"/>
            <a:r>
              <a:rPr lang="en-US" sz="2400" dirty="0"/>
              <a:t>Library declarations </a:t>
            </a:r>
          </a:p>
          <a:p>
            <a:pPr lvl="1"/>
            <a:r>
              <a:rPr lang="en-US" sz="2400" dirty="0"/>
              <a:t>Entity section and </a:t>
            </a:r>
          </a:p>
          <a:p>
            <a:pPr lvl="1"/>
            <a:r>
              <a:rPr lang="en-US" sz="2400" dirty="0"/>
              <a:t>Architecture section 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D2F48-70DA-4785-A0B6-159D0401DDA5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DAE0B3-17E8-4D3E-AB75-064114195D84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1000" y="670112"/>
            <a:ext cx="4213860" cy="342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716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 err="1">
                <a:solidFill>
                  <a:srgbClr val="0070C0"/>
                </a:solidFill>
              </a:rPr>
              <a:t>i</a:t>
            </a:r>
            <a:r>
              <a:rPr lang="en-US" sz="3200" b="1" dirty="0">
                <a:solidFill>
                  <a:srgbClr val="0070C0"/>
                </a:solidFill>
              </a:rPr>
              <a:t>) Library declaration: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It consists of statements that specify libraries to be accessed and modules of these libraries to be used.(such as “include” in C) </a:t>
            </a:r>
          </a:p>
          <a:p>
            <a:pPr lvl="0"/>
            <a:r>
              <a:rPr lang="en-US" sz="2000" dirty="0"/>
              <a:t>The most commonly used library is called IEEE. </a:t>
            </a:r>
          </a:p>
          <a:p>
            <a:pPr lvl="0"/>
            <a:r>
              <a:rPr lang="en-US" sz="2000" dirty="0"/>
              <a:t>In this library, std_logic_1164 is used most often, which specifies </a:t>
            </a:r>
            <a:r>
              <a:rPr lang="en-US" sz="2000" dirty="0" err="1"/>
              <a:t>i</a:t>
            </a:r>
            <a:r>
              <a:rPr lang="en-US" sz="2000" dirty="0"/>
              <a:t>/p and o/p declarations for the designer to use (such as “</a:t>
            </a:r>
            <a:r>
              <a:rPr lang="en-US" sz="2000" dirty="0" err="1"/>
              <a:t>stdio.h</a:t>
            </a:r>
            <a:r>
              <a:rPr lang="en-US" sz="2000" dirty="0"/>
              <a:t>” in C). </a:t>
            </a:r>
          </a:p>
          <a:p>
            <a:pPr marL="0" lvl="0" indent="0">
              <a:buNone/>
            </a:pPr>
            <a:endParaRPr lang="en-US" sz="2400" dirty="0"/>
          </a:p>
          <a:p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83B0A-2AC3-4734-A1AE-11FAF7352551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BD96CE-C30F-4F76-B291-D6D0D106F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2668786"/>
            <a:ext cx="663892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033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200" b="1" dirty="0">
                <a:solidFill>
                  <a:srgbClr val="0070C0"/>
                </a:solidFill>
              </a:rPr>
              <a:t>ii) Entity section: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5052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In the entity section, the designer specifies the name of the design and its inputs and outputs.</a:t>
            </a:r>
          </a:p>
          <a:p>
            <a:r>
              <a:rPr lang="en-US" sz="2000" dirty="0"/>
              <a:t>The designer does not specify the logic that uses and drives these signals here; that is done in the architecture section.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B16-DE66-4FA1-86C5-442E0F088B46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3B9EE9-8E89-4F8C-BE18-AB0E41EDFB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210"/>
          <a:stretch/>
        </p:blipFill>
        <p:spPr>
          <a:xfrm>
            <a:off x="4191000" y="839390"/>
            <a:ext cx="41148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032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5571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/>
              <a:t>VHDL Entity</a:t>
            </a:r>
            <a:r>
              <a:rPr lang="en-US" sz="2400" dirty="0"/>
              <a:t> representing an “</a:t>
            </a:r>
            <a:r>
              <a:rPr lang="en-US" sz="2400" b="1" dirty="0"/>
              <a:t>And gate</a:t>
            </a:r>
            <a:r>
              <a:rPr lang="en-US" sz="2400" dirty="0"/>
              <a:t>” with two input ports </a:t>
            </a:r>
            <a:r>
              <a:rPr lang="en-US" sz="2400" b="1" dirty="0"/>
              <a:t>a</a:t>
            </a:r>
            <a:r>
              <a:rPr lang="en-US" sz="2400" dirty="0"/>
              <a:t> and </a:t>
            </a:r>
            <a:r>
              <a:rPr lang="en-US" sz="2400" b="1" dirty="0"/>
              <a:t>b</a:t>
            </a:r>
            <a:r>
              <a:rPr lang="en-US" sz="2400" dirty="0"/>
              <a:t> and output port </a:t>
            </a:r>
            <a:r>
              <a:rPr lang="en-US" sz="2400" b="1" dirty="0"/>
              <a:t>c</a:t>
            </a:r>
            <a:r>
              <a:rPr lang="en-US" sz="24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4466-3B68-4D09-A21F-C49E362E18A0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 descr="https://surf-vhdl.com/wp/wp-content/uploads/2015/06/entity_and.jpg">
            <a:extLst>
              <a:ext uri="{FF2B5EF4-FFF2-40B4-BE49-F238E27FC236}">
                <a16:creationId xmlns:a16="http://schemas.microsoft.com/office/drawing/2014/main" id="{934624C2-96C4-4EED-9DC1-2895DA1B7E6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143069"/>
            <a:ext cx="6781800" cy="3103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744383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5571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/>
              <a:t>VHDL Entity</a:t>
            </a:r>
            <a:r>
              <a:rPr lang="en-US" sz="2400" dirty="0"/>
              <a:t> representing a flip-flop type D with input port: </a:t>
            </a:r>
            <a:r>
              <a:rPr lang="en-US" sz="2400" b="1" dirty="0"/>
              <a:t>clock</a:t>
            </a:r>
            <a:r>
              <a:rPr lang="en-US" sz="2400" dirty="0"/>
              <a:t> and </a:t>
            </a:r>
            <a:r>
              <a:rPr lang="en-US" sz="2400" b="1" dirty="0"/>
              <a:t>reset</a:t>
            </a:r>
            <a:r>
              <a:rPr lang="en-US" sz="2400" dirty="0"/>
              <a:t> active low, data </a:t>
            </a:r>
            <a:r>
              <a:rPr lang="en-US" sz="2400" b="1" dirty="0"/>
              <a:t>D</a:t>
            </a:r>
            <a:r>
              <a:rPr lang="en-US" sz="2400" dirty="0"/>
              <a:t>, and output port </a:t>
            </a:r>
            <a:r>
              <a:rPr lang="en-US" sz="2400" b="1" dirty="0"/>
              <a:t>Q</a:t>
            </a:r>
            <a:r>
              <a:rPr lang="en-US" sz="24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B0207-38C5-4023-BC70-6B7CB5361F09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Content Placeholder 8" descr="https://surf-vhdl.com/wp/wp-content/uploads/2015/06/entity_ff.jpg">
            <a:extLst>
              <a:ext uri="{FF2B5EF4-FFF2-40B4-BE49-F238E27FC236}">
                <a16:creationId xmlns:a16="http://schemas.microsoft.com/office/drawing/2014/main" id="{7153488A-A982-4396-B482-1494989C858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76350"/>
            <a:ext cx="8229600" cy="27973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11412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5571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/>
              <a:t>VHDL Entity</a:t>
            </a:r>
            <a:r>
              <a:rPr lang="en-US" sz="3200" dirty="0"/>
              <a:t> representing a multiplier with input operand</a:t>
            </a:r>
            <a:r>
              <a:rPr lang="en-US" sz="3200" b="1" dirty="0"/>
              <a:t> a</a:t>
            </a:r>
            <a:r>
              <a:rPr lang="en-US" sz="3200" dirty="0"/>
              <a:t> and </a:t>
            </a:r>
            <a:r>
              <a:rPr lang="en-US" sz="3200" b="1" dirty="0"/>
              <a:t>b</a:t>
            </a:r>
            <a:r>
              <a:rPr lang="en-US" sz="3200" dirty="0"/>
              <a:t> of 8 bit and output </a:t>
            </a:r>
            <a:r>
              <a:rPr lang="en-US" sz="3200" b="1" dirty="0"/>
              <a:t>m</a:t>
            </a:r>
            <a:r>
              <a:rPr lang="en-US" sz="3200" dirty="0"/>
              <a:t> of 16 bit.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A6157-DEFF-4A36-B492-65E25AFE5865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" name="Content Placeholder 9" descr="https://surf-vhdl.com/wp/wp-content/uploads/2015/06/entity_mult.jpg">
            <a:extLst>
              <a:ext uri="{FF2B5EF4-FFF2-40B4-BE49-F238E27FC236}">
                <a16:creationId xmlns:a16="http://schemas.microsoft.com/office/drawing/2014/main" id="{07934D67-8005-4357-98B5-9591BA7D459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079"/>
          <a:stretch/>
        </p:blipFill>
        <p:spPr bwMode="auto">
          <a:xfrm>
            <a:off x="1181100" y="1391350"/>
            <a:ext cx="4648200" cy="243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Content Placeholder 9" descr="https://surf-vhdl.com/wp/wp-content/uploads/2015/06/entity_mult.jpg">
            <a:extLst>
              <a:ext uri="{FF2B5EF4-FFF2-40B4-BE49-F238E27FC236}">
                <a16:creationId xmlns:a16="http://schemas.microsoft.com/office/drawing/2014/main" id="{98E8BBFD-3BF8-49D4-95D0-4BCDBE2395E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5" t="31430" r="22075" b="1218"/>
          <a:stretch/>
        </p:blipFill>
        <p:spPr bwMode="auto">
          <a:xfrm>
            <a:off x="6705599" y="1391350"/>
            <a:ext cx="1828801" cy="228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578274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0070C0"/>
                </a:solidFill>
              </a:rPr>
              <a:t>iii) Architecture Section: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7620000" cy="3851673"/>
          </a:xfrm>
        </p:spPr>
        <p:txBody>
          <a:bodyPr>
            <a:normAutofit/>
          </a:bodyPr>
          <a:lstStyle/>
          <a:p>
            <a:r>
              <a:rPr lang="en-US" sz="2000" dirty="0"/>
              <a:t>This is the final section .</a:t>
            </a:r>
          </a:p>
          <a:p>
            <a:r>
              <a:rPr lang="en-US" sz="2000" dirty="0"/>
              <a:t>This section specifies the behavior and internal logic of system under design.</a:t>
            </a:r>
          </a:p>
          <a:p>
            <a:r>
              <a:rPr lang="en-US" sz="2000" dirty="0"/>
              <a:t>The basic format is: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5343-C3DF-445B-B6DC-5DA6C667C6EB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99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C448CC-86F9-493A-A662-E1F2099C8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2495550"/>
            <a:ext cx="663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8790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0070C0"/>
                </a:solidFill>
              </a:rPr>
              <a:t>iii) Architecture Section: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F906-D12E-4ED3-A8F8-00BDC69552CA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26" name="Picture 2" descr="entity-architecture_and2.jpg (1072×417)">
            <a:extLst>
              <a:ext uri="{FF2B5EF4-FFF2-40B4-BE49-F238E27FC236}">
                <a16:creationId xmlns:a16="http://schemas.microsoft.com/office/drawing/2014/main" id="{BD4F6AF9-2E61-4A2B-9C6E-5032D3C973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49"/>
          <a:stretch/>
        </p:blipFill>
        <p:spPr bwMode="auto">
          <a:xfrm>
            <a:off x="4733365" y="251372"/>
            <a:ext cx="4334435" cy="4716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ntity-architecture_and2.jpg (1072×417)">
            <a:extLst>
              <a:ext uri="{FF2B5EF4-FFF2-40B4-BE49-F238E27FC236}">
                <a16:creationId xmlns:a16="http://schemas.microsoft.com/office/drawing/2014/main" id="{184CB6C4-17CC-44C2-B65C-794CE3A6E1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" t="22065" r="70620" b="30151"/>
          <a:stretch/>
        </p:blipFill>
        <p:spPr bwMode="auto">
          <a:xfrm>
            <a:off x="719490" y="1709143"/>
            <a:ext cx="282836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entity-architecture_and2.jpg (1072×417)">
            <a:extLst>
              <a:ext uri="{FF2B5EF4-FFF2-40B4-BE49-F238E27FC236}">
                <a16:creationId xmlns:a16="http://schemas.microsoft.com/office/drawing/2014/main" id="{9C8A9496-3D8D-4B89-A8A9-164691CF95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53" t="23892" r="39259" b="35676"/>
          <a:stretch/>
        </p:blipFill>
        <p:spPr bwMode="auto">
          <a:xfrm>
            <a:off x="3357283" y="1694835"/>
            <a:ext cx="151503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57751F-4489-4FAC-8811-56CA7A4FD6FF}"/>
              </a:ext>
            </a:extLst>
          </p:cNvPr>
          <p:cNvSpPr/>
          <p:nvPr/>
        </p:nvSpPr>
        <p:spPr>
          <a:xfrm>
            <a:off x="4724400" y="1885950"/>
            <a:ext cx="4114800" cy="14478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3668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Different types of Modeling to describe architecture: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 sz="2000" b="1" dirty="0"/>
              <a:t>Data flow Modeling</a:t>
            </a:r>
          </a:p>
          <a:p>
            <a:pPr marL="800100" lvl="2" indent="0">
              <a:buNone/>
            </a:pPr>
            <a:r>
              <a:rPr lang="en-US" sz="1800" dirty="0"/>
              <a:t>Dataflow describes how the circuit signals flow from the inputs to the outputs.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b="1" dirty="0"/>
              <a:t>Behavioral Modeling</a:t>
            </a:r>
          </a:p>
          <a:p>
            <a:pPr marL="800100" lvl="2" indent="0">
              <a:buNone/>
            </a:pPr>
            <a:r>
              <a:rPr lang="en-US" sz="2000" dirty="0"/>
              <a:t>This model describes a system in terms of what it does or how it behaves rather than in terms of its component and interconnection between them.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b="1" dirty="0"/>
              <a:t>Structural Modeling</a:t>
            </a:r>
          </a:p>
          <a:p>
            <a:pPr marL="800100" lvl="2" indent="0">
              <a:buNone/>
            </a:pPr>
            <a:r>
              <a:rPr lang="en-US" sz="2000" dirty="0"/>
              <a:t>In structural modeling, different interconnection of different components are described.</a:t>
            </a:r>
          </a:p>
          <a:p>
            <a:pPr marL="514350" indent="-514350">
              <a:buFont typeface="+mj-lt"/>
              <a:buAutoNum type="romanLcPeriod"/>
            </a:pPr>
            <a:endParaRPr lang="en-US" sz="2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7A85-BE77-404B-869F-D0D8AE9480CD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4555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 err="1">
                <a:solidFill>
                  <a:srgbClr val="0070C0"/>
                </a:solidFill>
              </a:rPr>
              <a:t>i</a:t>
            </a:r>
            <a:r>
              <a:rPr lang="en-US" sz="2800" b="1" dirty="0">
                <a:solidFill>
                  <a:srgbClr val="0070C0"/>
                </a:solidFill>
              </a:rPr>
              <a:t>) Dataflow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Dataflow describes how the circuit signals flow from the inputs to the outputs.</a:t>
            </a:r>
          </a:p>
          <a:p>
            <a:r>
              <a:rPr lang="en-US" sz="2400" dirty="0"/>
              <a:t>A dataflow model specifies the functionality of the entity without  explicitly specifying its structure.</a:t>
            </a:r>
          </a:p>
          <a:p>
            <a:r>
              <a:rPr lang="en-US" sz="2400" dirty="0"/>
              <a:t>The functionality shows the flow of information through the entity, which is expressed primarily using concurrent signal assignment statements and block statements.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C441-B2AD-45D4-9B55-9BCADDBD95E2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81251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>
                <a:solidFill>
                  <a:srgbClr val="00B050"/>
                </a:solidFill>
              </a:rPr>
              <a:t>1. Write VHDL code for AND gate (using dataflow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40E86-B924-4A08-91AF-270F5353BDE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7D9A0-6F92-475A-BB54-B4EC30F1EE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6"/>
          <a:stretch/>
        </p:blipFill>
        <p:spPr>
          <a:xfrm>
            <a:off x="685800" y="742950"/>
            <a:ext cx="7086600" cy="413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52419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>
                <a:solidFill>
                  <a:srgbClr val="00B050"/>
                </a:solidFill>
              </a:rPr>
              <a:t>2. Write VHDL code for Half Adder (using Dataflow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C791-F8F6-44BD-A18B-45FBF82886E0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AACECE-F25C-4309-9FED-470816BDBC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51"/>
          <a:stretch/>
        </p:blipFill>
        <p:spPr>
          <a:xfrm>
            <a:off x="762000" y="843663"/>
            <a:ext cx="7104583" cy="392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5371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000" b="1" dirty="0">
                <a:solidFill>
                  <a:srgbClr val="00B050"/>
                </a:solidFill>
              </a:rPr>
              <a:t>3. Write VHDL concurrency coding for below circuit (using dataflow model)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80476-481B-4380-BDDF-A679B54BA0BE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6A7174-61EA-4FCD-BFD8-01A175D7546C}"/>
              </a:ext>
            </a:extLst>
          </p:cNvPr>
          <p:cNvSpPr txBox="1">
            <a:spLocks/>
          </p:cNvSpPr>
          <p:nvPr/>
        </p:nvSpPr>
        <p:spPr>
          <a:xfrm>
            <a:off x="457200" y="686938"/>
            <a:ext cx="47244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01E8A-CAA4-4CD8-9601-31CADCBF6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127" y="2170798"/>
            <a:ext cx="3395271" cy="2548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EA35A8-B0E5-4C26-82C5-5FCCDB3BC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26375" y="925189"/>
            <a:ext cx="3874598" cy="790384"/>
          </a:xfrm>
          <a:prstGeom prst="rect">
            <a:avLst/>
          </a:prstGeom>
        </p:spPr>
      </p:pic>
      <p:pic>
        <p:nvPicPr>
          <p:cNvPr id="9" name="Picture 8" descr="concurrency-and-or.jpg (550×327)">
            <a:extLst>
              <a:ext uri="{FF2B5EF4-FFF2-40B4-BE49-F238E27FC236}">
                <a16:creationId xmlns:a16="http://schemas.microsoft.com/office/drawing/2014/main" id="{4FA04414-A8DD-45B6-9A93-404342254582}"/>
              </a:ext>
            </a:extLst>
          </p:cNvPr>
          <p:cNvPicPr/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24027"/>
            <a:ext cx="2585717" cy="128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1A521A-84C8-4DCD-B1DC-531304A727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38231" y="3113642"/>
            <a:ext cx="3434575" cy="14957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5C6795-0E59-41DC-AEC0-F0D0343EC2A7}"/>
              </a:ext>
            </a:extLst>
          </p:cNvPr>
          <p:cNvSpPr/>
          <p:nvPr/>
        </p:nvSpPr>
        <p:spPr>
          <a:xfrm>
            <a:off x="4826375" y="2480760"/>
            <a:ext cx="4138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is clear that the same result will be evaluated from this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85317395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>
                <a:solidFill>
                  <a:srgbClr val="00B050"/>
                </a:solidFill>
              </a:rPr>
              <a:t>4. Write VHDL code for Full adder (using dataflow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6C27E-59F6-4532-B40C-BB9AAEB19EF7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44DAB-C2C7-47A7-8BB3-EBA260F7BE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2028" t="1283" r="-11024" b="-24336"/>
          <a:stretch/>
        </p:blipFill>
        <p:spPr>
          <a:xfrm>
            <a:off x="-76200" y="765898"/>
            <a:ext cx="691515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3238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70C0"/>
                </a:solidFill>
              </a:rPr>
              <a:t>ii) Behavioral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r>
              <a:rPr lang="en-US" sz="2400" dirty="0"/>
              <a:t>In Behavioral modeling, we describe a system in terms of what it does or how it behaves rather than in terms of its component and interconnection between them.</a:t>
            </a:r>
          </a:p>
          <a:p>
            <a:r>
              <a:rPr lang="en-US" sz="2400" dirty="0"/>
              <a:t>Such description specifies the relationship between input and output signal.</a:t>
            </a:r>
          </a:p>
          <a:p>
            <a:r>
              <a:rPr lang="en-US" sz="2400" dirty="0"/>
              <a:t>This style specifies the behavior of an entity as a set of statements that are executed sequentially in the specified order.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7DB0-A444-428C-9E44-49ABEA1E21D6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43266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5. Write VHDL for OR gate (using behavioral model) 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4AC-B975-47B9-B81F-682145765757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6A7174-61EA-4FCD-BFD8-01A175D7546C}"/>
              </a:ext>
            </a:extLst>
          </p:cNvPr>
          <p:cNvSpPr txBox="1">
            <a:spLocks/>
          </p:cNvSpPr>
          <p:nvPr/>
        </p:nvSpPr>
        <p:spPr>
          <a:xfrm>
            <a:off x="457200" y="686938"/>
            <a:ext cx="47244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E473-1DEF-499C-8773-8741539848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825" b="64444"/>
          <a:stretch/>
        </p:blipFill>
        <p:spPr>
          <a:xfrm>
            <a:off x="439128" y="1903888"/>
            <a:ext cx="3362115" cy="25526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F27B80-67D8-407C-BD7D-8CC2C2574A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666" b="23135"/>
          <a:stretch/>
        </p:blipFill>
        <p:spPr>
          <a:xfrm>
            <a:off x="4352161" y="1581150"/>
            <a:ext cx="4751437" cy="265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9787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6. Write VHDL for AND gate (using behavioral model) 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B72DF-78D0-4970-831D-594494F909F6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109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BC8233-ADC3-45F5-8EE3-257F76BA58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628" b="62963"/>
          <a:stretch/>
        </p:blipFill>
        <p:spPr>
          <a:xfrm>
            <a:off x="435077" y="966847"/>
            <a:ext cx="3894013" cy="32098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EE549E-9AC7-4E54-B5F1-112115D828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106" b="24920"/>
          <a:stretch/>
        </p:blipFill>
        <p:spPr>
          <a:xfrm>
            <a:off x="4648200" y="933049"/>
            <a:ext cx="4386320" cy="2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3578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7. Write VHDL for OR gate (using behavioral model) 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8B341-023C-45DF-8F08-09733F6E62E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6A7174-61EA-4FCD-BFD8-01A175D7546C}"/>
              </a:ext>
            </a:extLst>
          </p:cNvPr>
          <p:cNvSpPr txBox="1">
            <a:spLocks/>
          </p:cNvSpPr>
          <p:nvPr/>
        </p:nvSpPr>
        <p:spPr>
          <a:xfrm>
            <a:off x="457200" y="686938"/>
            <a:ext cx="47244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3A5006-0064-4DAD-A519-9A7FFA573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00150"/>
            <a:ext cx="2971800" cy="2600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612102-2D2A-43D7-BAAB-1B5B15B126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735"/>
          <a:stretch/>
        </p:blipFill>
        <p:spPr>
          <a:xfrm>
            <a:off x="4399360" y="1095741"/>
            <a:ext cx="4391025" cy="295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37976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0070C0"/>
                </a:solidFill>
              </a:rPr>
              <a:t>ii) Structural Modeling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1380F-358A-4C6D-8779-4C02A3D3C0E9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6A7174-61EA-4FCD-BFD8-01A175D7546C}"/>
              </a:ext>
            </a:extLst>
          </p:cNvPr>
          <p:cNvSpPr txBox="1">
            <a:spLocks/>
          </p:cNvSpPr>
          <p:nvPr/>
        </p:nvSpPr>
        <p:spPr>
          <a:xfrm>
            <a:off x="457200" y="686938"/>
            <a:ext cx="3048000" cy="38516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 structural modeling, different interconnection of different components are described.</a:t>
            </a:r>
          </a:p>
          <a:p>
            <a:r>
              <a:rPr lang="en-US" sz="2400" dirty="0"/>
              <a:t>If you are designing a complex project, you should split in </a:t>
            </a:r>
            <a:r>
              <a:rPr lang="en-US" sz="2400" b="1" dirty="0"/>
              <a:t>two or more simple design</a:t>
            </a:r>
            <a:r>
              <a:rPr lang="en-US" sz="2400" dirty="0"/>
              <a:t> in order to easy handle the complexity.</a:t>
            </a:r>
          </a:p>
        </p:txBody>
      </p:sp>
      <p:pic>
        <p:nvPicPr>
          <p:cNvPr id="8" name="Picture 7" descr="AND OR entity structural implementation">
            <a:extLst>
              <a:ext uri="{FF2B5EF4-FFF2-40B4-BE49-F238E27FC236}">
                <a16:creationId xmlns:a16="http://schemas.microsoft.com/office/drawing/2014/main" id="{419ED5C1-2866-4C81-A58B-FFE886BFF4D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760" y="205979"/>
            <a:ext cx="4231640" cy="47315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454897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9C0636-BF48-467C-AE47-858028A88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8630" y="242959"/>
            <a:ext cx="2381436" cy="2116126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library </a:t>
            </a:r>
            <a:r>
              <a:rPr lang="en-US" sz="1400" dirty="0"/>
              <a:t>IEEE</a:t>
            </a:r>
            <a:r>
              <a:rPr lang="en-US" sz="1400" b="1" dirty="0"/>
              <a:t>;</a:t>
            </a:r>
          </a:p>
          <a:p>
            <a:pPr marL="0" indent="0">
              <a:buNone/>
            </a:pPr>
            <a:r>
              <a:rPr lang="en-US" sz="1400" b="1" dirty="0"/>
              <a:t>use </a:t>
            </a:r>
            <a:r>
              <a:rPr lang="en-US" sz="1400" dirty="0"/>
              <a:t>IEEE.std_logic_1164.all;</a:t>
            </a:r>
          </a:p>
          <a:p>
            <a:pPr marL="0" indent="0">
              <a:buNone/>
            </a:pPr>
            <a:r>
              <a:rPr lang="en-US" sz="1400" b="1" dirty="0"/>
              <a:t>entity</a:t>
            </a:r>
            <a:r>
              <a:rPr lang="en-US" sz="1400" dirty="0"/>
              <a:t> </a:t>
            </a:r>
            <a:r>
              <a:rPr lang="en-US" sz="1400" dirty="0" err="1"/>
              <a:t>ANDgate</a:t>
            </a:r>
            <a:r>
              <a:rPr lang="en-US" sz="1400" dirty="0"/>
              <a:t> is</a:t>
            </a:r>
          </a:p>
          <a:p>
            <a:pPr marL="0" indent="0">
              <a:buNone/>
            </a:pPr>
            <a:r>
              <a:rPr lang="en-US" sz="1400" b="1" dirty="0"/>
              <a:t>port</a:t>
            </a:r>
          </a:p>
          <a:p>
            <a:pPr marL="400050" lvl="1" indent="0">
              <a:buNone/>
            </a:pPr>
            <a:r>
              <a:rPr lang="en-US" sz="1400" dirty="0"/>
              <a:t>(a, b, d, e : in </a:t>
            </a:r>
            <a:r>
              <a:rPr lang="en-US" sz="1400" dirty="0" err="1"/>
              <a:t>std_logic</a:t>
            </a:r>
            <a:r>
              <a:rPr lang="en-US" sz="1400" dirty="0"/>
              <a:t>;</a:t>
            </a:r>
          </a:p>
          <a:p>
            <a:pPr marL="400050" lvl="1" indent="0">
              <a:buNone/>
            </a:pPr>
            <a:r>
              <a:rPr lang="en-US" sz="1400" dirty="0"/>
              <a:t>g: out </a:t>
            </a:r>
            <a:r>
              <a:rPr lang="en-US" sz="1400" dirty="0" err="1"/>
              <a:t>std_logic</a:t>
            </a:r>
            <a:r>
              <a:rPr lang="en-US" sz="1400" dirty="0"/>
              <a:t>);</a:t>
            </a:r>
          </a:p>
          <a:p>
            <a:pPr marL="0" indent="0">
              <a:buNone/>
            </a:pPr>
            <a:r>
              <a:rPr lang="en-US" sz="1400" b="1" dirty="0"/>
              <a:t>end</a:t>
            </a:r>
            <a:r>
              <a:rPr lang="en-US" sz="1400" dirty="0"/>
              <a:t> </a:t>
            </a:r>
            <a:r>
              <a:rPr lang="en-US" sz="1400" dirty="0" err="1"/>
              <a:t>ckt</a:t>
            </a:r>
            <a:r>
              <a:rPr lang="en-US" sz="1400" dirty="0"/>
              <a:t>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5B832-2921-4795-B0D9-9080B9E701B9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112</a:t>
            </a:fld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9" name="Picture 8" descr="AND OR entity structural implementation">
            <a:extLst>
              <a:ext uri="{FF2B5EF4-FFF2-40B4-BE49-F238E27FC236}">
                <a16:creationId xmlns:a16="http://schemas.microsoft.com/office/drawing/2014/main" id="{EBDC933E-2E81-4F14-9DC5-6B5DCA7C989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" b="50000"/>
          <a:stretch/>
        </p:blipFill>
        <p:spPr bwMode="auto">
          <a:xfrm>
            <a:off x="392666" y="1892532"/>
            <a:ext cx="2797364" cy="178793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61710794-548A-4E8F-AA1B-1A327F1A72EF}"/>
              </a:ext>
            </a:extLst>
          </p:cNvPr>
          <p:cNvSpPr txBox="1">
            <a:spLocks/>
          </p:cNvSpPr>
          <p:nvPr/>
        </p:nvSpPr>
        <p:spPr>
          <a:xfrm>
            <a:off x="3403390" y="2389140"/>
            <a:ext cx="2381436" cy="19086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b="1" dirty="0"/>
              <a:t>architecture </a:t>
            </a:r>
            <a:r>
              <a:rPr lang="en-US" sz="1600" dirty="0"/>
              <a:t>structure</a:t>
            </a:r>
            <a:r>
              <a:rPr lang="en-US" sz="1600" b="1" dirty="0"/>
              <a:t> of </a:t>
            </a:r>
            <a:r>
              <a:rPr lang="en-US" sz="1600" dirty="0" err="1"/>
              <a:t>ckt</a:t>
            </a:r>
            <a:r>
              <a:rPr lang="en-US" sz="1600" b="1" dirty="0"/>
              <a:t> is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b="1" dirty="0"/>
              <a:t>component </a:t>
            </a:r>
            <a:r>
              <a:rPr lang="en-US" sz="1600" dirty="0"/>
              <a:t>AND2</a:t>
            </a:r>
          </a:p>
          <a:p>
            <a:pPr marL="400050" lvl="1" indent="0">
              <a:buNone/>
            </a:pPr>
            <a:r>
              <a:rPr lang="en-US" sz="1600" b="1" dirty="0"/>
              <a:t>port </a:t>
            </a:r>
          </a:p>
          <a:p>
            <a:pPr marL="400050" lvl="1" indent="0">
              <a:buNone/>
            </a:pPr>
            <a:r>
              <a:rPr lang="en-US" sz="1600" dirty="0"/>
              <a:t>(x, y: in </a:t>
            </a:r>
            <a:r>
              <a:rPr lang="en-US" sz="1600" dirty="0" err="1"/>
              <a:t>std_logic</a:t>
            </a:r>
            <a:r>
              <a:rPr lang="en-US" sz="1600" dirty="0"/>
              <a:t>;</a:t>
            </a:r>
          </a:p>
          <a:p>
            <a:pPr marL="400050" lvl="1" indent="0">
              <a:buNone/>
            </a:pPr>
            <a:r>
              <a:rPr lang="en-US" sz="1600" dirty="0"/>
              <a:t>z: out </a:t>
            </a:r>
            <a:r>
              <a:rPr lang="en-US" sz="1600" dirty="0" err="1"/>
              <a:t>std_logic</a:t>
            </a:r>
            <a:r>
              <a:rPr lang="en-US" sz="1600" dirty="0"/>
              <a:t>);</a:t>
            </a:r>
            <a:endParaRPr lang="en-US" sz="1600" b="1" dirty="0"/>
          </a:p>
          <a:p>
            <a:pPr marL="0" indent="0">
              <a:buFont typeface="Arial" pitchFamily="34" charset="0"/>
              <a:buNone/>
            </a:pPr>
            <a:r>
              <a:rPr lang="en-US" sz="1600" b="1" dirty="0"/>
              <a:t>end component;</a:t>
            </a:r>
          </a:p>
          <a:p>
            <a:pPr marL="0" indent="0">
              <a:buFont typeface="Arial" pitchFamily="34" charset="0"/>
              <a:buNone/>
            </a:pPr>
            <a:endParaRPr lang="en-US" sz="1600" b="1" dirty="0"/>
          </a:p>
          <a:p>
            <a:pPr marL="0" indent="0">
              <a:buFont typeface="Arial" pitchFamily="34" charset="0"/>
              <a:buNone/>
            </a:pPr>
            <a:endParaRPr lang="en-US" sz="1600" dirty="0"/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CD855B90-9DF7-40B8-9DB1-446E76856C78}"/>
              </a:ext>
            </a:extLst>
          </p:cNvPr>
          <p:cNvSpPr txBox="1">
            <a:spLocks/>
          </p:cNvSpPr>
          <p:nvPr/>
        </p:nvSpPr>
        <p:spPr>
          <a:xfrm>
            <a:off x="4140246" y="3752600"/>
            <a:ext cx="2774580" cy="1224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1600" dirty="0"/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B2E2CDBE-9279-4C33-88C5-12282F5603B8}"/>
              </a:ext>
            </a:extLst>
          </p:cNvPr>
          <p:cNvSpPr txBox="1">
            <a:spLocks/>
          </p:cNvSpPr>
          <p:nvPr/>
        </p:nvSpPr>
        <p:spPr>
          <a:xfrm>
            <a:off x="6264392" y="2465504"/>
            <a:ext cx="2774580" cy="16200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signal </a:t>
            </a:r>
            <a:r>
              <a:rPr lang="en-US" sz="1400" dirty="0"/>
              <a:t> c, f : </a:t>
            </a:r>
            <a:r>
              <a:rPr lang="en-US" sz="1400" b="1" dirty="0" err="1"/>
              <a:t>std_logic</a:t>
            </a:r>
            <a:r>
              <a:rPr lang="en-US" sz="1400" b="1" dirty="0"/>
              <a:t>;</a:t>
            </a:r>
          </a:p>
          <a:p>
            <a:pPr marL="0" indent="0">
              <a:buFont typeface="Arial" pitchFamily="34" charset="0"/>
              <a:buNone/>
            </a:pPr>
            <a:endParaRPr lang="en-US" sz="1400" b="1" dirty="0"/>
          </a:p>
          <a:p>
            <a:pPr marL="0" indent="0">
              <a:buFont typeface="Arial" pitchFamily="34" charset="0"/>
              <a:buNone/>
            </a:pPr>
            <a:r>
              <a:rPr lang="en-US" sz="1400" b="1" dirty="0"/>
              <a:t>begin</a:t>
            </a:r>
          </a:p>
          <a:p>
            <a:pPr marL="0" indent="0">
              <a:buFont typeface="Arial" pitchFamily="34" charset="0"/>
              <a:buNone/>
            </a:pPr>
            <a:r>
              <a:rPr lang="en-US" sz="1400" dirty="0"/>
              <a:t> u1: AND2 </a:t>
            </a:r>
            <a:r>
              <a:rPr lang="en-US" sz="1400" b="1" dirty="0"/>
              <a:t>port map</a:t>
            </a:r>
            <a:r>
              <a:rPr lang="en-US" sz="1400" dirty="0"/>
              <a:t> (a, b, c);</a:t>
            </a:r>
          </a:p>
          <a:p>
            <a:pPr marL="0" indent="0">
              <a:buNone/>
            </a:pPr>
            <a:r>
              <a:rPr lang="en-US" sz="1400" dirty="0"/>
              <a:t> u2: AND2 </a:t>
            </a:r>
            <a:r>
              <a:rPr lang="en-US" sz="1400" b="1" dirty="0"/>
              <a:t>port map</a:t>
            </a:r>
            <a:r>
              <a:rPr lang="en-US" sz="1400" dirty="0"/>
              <a:t> (d ,e, f);</a:t>
            </a:r>
          </a:p>
          <a:p>
            <a:pPr marL="0" indent="0">
              <a:buNone/>
            </a:pPr>
            <a:r>
              <a:rPr lang="en-US" sz="1400" dirty="0"/>
              <a:t> u3: OR2 </a:t>
            </a:r>
            <a:r>
              <a:rPr lang="en-US" sz="1400" b="1" dirty="0"/>
              <a:t>port map</a:t>
            </a:r>
            <a:r>
              <a:rPr lang="en-US" sz="1400" dirty="0"/>
              <a:t> (c, f, g);</a:t>
            </a:r>
          </a:p>
          <a:p>
            <a:pPr marL="0" indent="0">
              <a:buNone/>
            </a:pPr>
            <a:r>
              <a:rPr lang="en-US" sz="1400" b="1" dirty="0"/>
              <a:t>end</a:t>
            </a:r>
            <a:r>
              <a:rPr lang="en-US" sz="1400" dirty="0"/>
              <a:t> structure</a:t>
            </a:r>
            <a:endParaRPr lang="en-US" sz="1400" b="1" dirty="0"/>
          </a:p>
          <a:p>
            <a:pPr marL="0" indent="0">
              <a:buFont typeface="Arial" pitchFamily="34" charset="0"/>
              <a:buNone/>
            </a:pPr>
            <a:endParaRPr lang="en-US" sz="1400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2DBD0E4-6578-4417-9579-F35A8A7BA23B}"/>
              </a:ext>
            </a:extLst>
          </p:cNvPr>
          <p:cNvSpPr txBox="1">
            <a:spLocks/>
          </p:cNvSpPr>
          <p:nvPr/>
        </p:nvSpPr>
        <p:spPr>
          <a:xfrm>
            <a:off x="6263716" y="613725"/>
            <a:ext cx="2409637" cy="178793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component </a:t>
            </a:r>
            <a:r>
              <a:rPr lang="en-US" sz="1600" dirty="0"/>
              <a:t>OR2</a:t>
            </a:r>
          </a:p>
          <a:p>
            <a:pPr marL="400050" lvl="1" indent="0">
              <a:buNone/>
            </a:pPr>
            <a:r>
              <a:rPr lang="en-US" sz="1600" b="1" dirty="0"/>
              <a:t>port</a:t>
            </a:r>
          </a:p>
          <a:p>
            <a:pPr marL="400050" lvl="1" indent="0">
              <a:buNone/>
            </a:pPr>
            <a:r>
              <a:rPr lang="en-US" sz="1600" dirty="0"/>
              <a:t>(p, q: in </a:t>
            </a:r>
            <a:r>
              <a:rPr lang="en-US" sz="1600" dirty="0" err="1"/>
              <a:t>std_logic</a:t>
            </a:r>
            <a:r>
              <a:rPr lang="en-US" sz="1600" dirty="0"/>
              <a:t>;</a:t>
            </a:r>
          </a:p>
          <a:p>
            <a:pPr marL="400050" lvl="1" indent="0">
              <a:buNone/>
            </a:pPr>
            <a:r>
              <a:rPr lang="en-US" sz="1600" dirty="0"/>
              <a:t>r: out </a:t>
            </a:r>
            <a:r>
              <a:rPr lang="en-US" sz="1600" dirty="0" err="1"/>
              <a:t>std_logic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b="1" dirty="0"/>
              <a:t>end component;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Font typeface="Arial" pitchFamily="34" charset="0"/>
              <a:buNone/>
            </a:pPr>
            <a:endParaRPr lang="en-US" sz="1600" b="1" dirty="0"/>
          </a:p>
          <a:p>
            <a:pPr marL="0" indent="0">
              <a:buFont typeface="Arial" pitchFamily="34" charset="0"/>
              <a:buNone/>
            </a:pPr>
            <a:endParaRPr lang="en-US" sz="16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6B9C071-7341-406B-8DA8-D40BA9649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2409636" cy="1451370"/>
          </a:xfrm>
        </p:spPr>
        <p:txBody>
          <a:bodyPr>
            <a:noAutofit/>
          </a:bodyPr>
          <a:lstStyle/>
          <a:p>
            <a:pPr lvl="0" algn="l"/>
            <a:r>
              <a:rPr lang="en-US" sz="1600" b="1" dirty="0">
                <a:solidFill>
                  <a:srgbClr val="00B050"/>
                </a:solidFill>
              </a:rPr>
              <a:t>8. Write VHDL for below combinational circuit (using structural  model but no behavioral/dataflow specified) </a:t>
            </a:r>
            <a:endParaRPr 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24991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B8CF-2326-48AD-AA55-BEA2F4DD0219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CD855B90-9DF7-40B8-9DB1-446E76856C78}"/>
              </a:ext>
            </a:extLst>
          </p:cNvPr>
          <p:cNvSpPr txBox="1">
            <a:spLocks/>
          </p:cNvSpPr>
          <p:nvPr/>
        </p:nvSpPr>
        <p:spPr>
          <a:xfrm>
            <a:off x="4159620" y="3421078"/>
            <a:ext cx="2774580" cy="1224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D5D0F-D7A1-4007-831C-3F5BA2A3D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805" y="1112178"/>
            <a:ext cx="8355995" cy="359432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9.  Write VHDL code for below circuit using structural modeling.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26" name="Picture 2" descr="Exclusive OR Gate (XOR Gate)">
            <a:extLst>
              <a:ext uri="{FF2B5EF4-FFF2-40B4-BE49-F238E27FC236}">
                <a16:creationId xmlns:a16="http://schemas.microsoft.com/office/drawing/2014/main" id="{10993C6D-E91C-4025-A091-83C11248D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350219"/>
            <a:ext cx="501015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1DAF9A-F15C-462A-BF89-F9E9061C93D0}"/>
              </a:ext>
            </a:extLst>
          </p:cNvPr>
          <p:cNvSpPr/>
          <p:nvPr/>
        </p:nvSpPr>
        <p:spPr>
          <a:xfrm>
            <a:off x="330805" y="405884"/>
            <a:ext cx="79749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Assignment: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71895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4114800" cy="1167407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>
                <a:solidFill>
                  <a:srgbClr val="00B050"/>
                </a:solidFill>
              </a:rPr>
              <a:t>10. Write VHDL code for below (using just structural model)</a:t>
            </a:r>
            <a:br>
              <a:rPr lang="en-US" sz="2400" b="1" dirty="0">
                <a:solidFill>
                  <a:srgbClr val="00B050"/>
                </a:solidFill>
              </a:rPr>
            </a:b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3386"/>
            <a:ext cx="8153400" cy="3221237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69B20-CA7A-4182-9296-1B06041D4D4D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3D121B-8BAD-4BB5-AD5C-DDC0E1574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15" y="1768077"/>
            <a:ext cx="2225643" cy="1561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D09F3E-0670-4E3A-A322-BD7C32FAF0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2916" t="2308" r="43802" b="58681"/>
          <a:stretch/>
        </p:blipFill>
        <p:spPr>
          <a:xfrm>
            <a:off x="2501793" y="1768077"/>
            <a:ext cx="2413078" cy="26324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C9B7FB-0198-4484-921C-658F7C1F48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4383" t="39186" r="36621" b="4795"/>
          <a:stretch/>
        </p:blipFill>
        <p:spPr>
          <a:xfrm>
            <a:off x="5249548" y="154186"/>
            <a:ext cx="3417587" cy="483512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440268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8.3 VHDL realization of basic digital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971550" lvl="1" indent="-514350">
              <a:buFont typeface="+mj-lt"/>
              <a:buAutoNum type="alphaUcPeriod"/>
            </a:pPr>
            <a:r>
              <a:rPr lang="en-US" dirty="0"/>
              <a:t>Binary adder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Multiplier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Decoder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Multiplexer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Counters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Shift Registers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Sequence Detectors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057B-BADA-47D5-9580-3E5052543C6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90841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7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8.3.1 Binary adders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057B-BADA-47D5-9580-3E5052543C6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53127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1278731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00B050"/>
                </a:solidFill>
              </a:rPr>
              <a:t>11. Write a VHDL code to implement the half adder using structural modeling or component.</a:t>
            </a:r>
            <a:br>
              <a:rPr lang="en-US" sz="3200" b="1" dirty="0">
                <a:solidFill>
                  <a:srgbClr val="00B050"/>
                </a:solidFill>
              </a:rPr>
            </a:b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057B-BADA-47D5-9580-3E5052543C6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AE9BF-0A41-4BC2-8516-31CD57D17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57350"/>
            <a:ext cx="4760773" cy="234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061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Solution: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229CF-526D-4291-98F7-499396C1B13A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A6A247-0420-435F-974B-EC3C64648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68" y="647987"/>
            <a:ext cx="2286000" cy="31900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E82078-A8B8-4884-8D37-7025C57C5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766" y="0"/>
            <a:ext cx="2438400" cy="1199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F9AB91-AB0D-4233-80F0-C67824DA52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4564"/>
          <a:stretch/>
        </p:blipFill>
        <p:spPr>
          <a:xfrm>
            <a:off x="2787611" y="647987"/>
            <a:ext cx="2895600" cy="2133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D3CECEE-C015-44B6-BCA8-EBBAADEF7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t="44600" b="22009"/>
          <a:stretch/>
        </p:blipFill>
        <p:spPr>
          <a:xfrm>
            <a:off x="2787611" y="2876550"/>
            <a:ext cx="2895600" cy="16189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A109F6-2917-4650-8F36-868BD48690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6320"/>
          <a:stretch/>
        </p:blipFill>
        <p:spPr>
          <a:xfrm>
            <a:off x="5801032" y="1581507"/>
            <a:ext cx="2895600" cy="11119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737624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55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12. Write a VHDL code to implement the full-adder using two half adders.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8D28-B2DA-4D47-B267-750238945A8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119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40B476-40FF-477E-BD26-E732F57B5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749"/>
          <a:stretch/>
        </p:blipFill>
        <p:spPr>
          <a:xfrm>
            <a:off x="457200" y="1296730"/>
            <a:ext cx="7427259" cy="31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7873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205979"/>
            <a:ext cx="46482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Solution: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7524"/>
            <a:ext cx="8001000" cy="3467099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3613-0C28-4361-AF74-3BFA04F391A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B95A23-E45F-4F02-BC96-5493F8DC4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83" y="2280048"/>
            <a:ext cx="1676400" cy="23907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E3DB96-C4A3-44B8-9006-33B32223F7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833"/>
          <a:stretch/>
        </p:blipFill>
        <p:spPr>
          <a:xfrm>
            <a:off x="2498412" y="1887256"/>
            <a:ext cx="2402961" cy="12269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CA3C09-1FEB-4EA1-9E5D-096D8C6D1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202" y="1561725"/>
            <a:ext cx="2552700" cy="3467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BEE172-9110-41E0-AD53-E57CFB434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489" y="102393"/>
            <a:ext cx="3500438" cy="159310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993F61-89A1-4B33-87E1-FF97781383C9}"/>
              </a:ext>
            </a:extLst>
          </p:cNvPr>
          <p:cNvSpPr txBox="1"/>
          <p:nvPr/>
        </p:nvSpPr>
        <p:spPr>
          <a:xfrm>
            <a:off x="2275059" y="1471201"/>
            <a:ext cx="45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F122B2-F6C3-4F74-A7F5-297B741CCD95}"/>
              </a:ext>
            </a:extLst>
          </p:cNvPr>
          <p:cNvSpPr txBox="1"/>
          <p:nvPr/>
        </p:nvSpPr>
        <p:spPr>
          <a:xfrm>
            <a:off x="2503659" y="979204"/>
            <a:ext cx="45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109C9D-E019-485B-890C-759E5AF4F8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499"/>
          <a:stretch/>
        </p:blipFill>
        <p:spPr>
          <a:xfrm>
            <a:off x="2468446" y="3237869"/>
            <a:ext cx="2402961" cy="14804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763E5E4-319D-47D6-9F17-8C7CDC388DE6}"/>
              </a:ext>
            </a:extLst>
          </p:cNvPr>
          <p:cNvSpPr txBox="1"/>
          <p:nvPr/>
        </p:nvSpPr>
        <p:spPr>
          <a:xfrm>
            <a:off x="1528380" y="444313"/>
            <a:ext cx="45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02C4DE-2E4E-44E7-BD60-1F9E9E99C4BF}"/>
              </a:ext>
            </a:extLst>
          </p:cNvPr>
          <p:cNvSpPr txBox="1"/>
          <p:nvPr/>
        </p:nvSpPr>
        <p:spPr>
          <a:xfrm>
            <a:off x="6324600" y="4534373"/>
            <a:ext cx="4572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b3;</a:t>
            </a:r>
          </a:p>
        </p:txBody>
      </p:sp>
    </p:spTree>
    <p:extLst>
      <p:ext uri="{BB962C8B-B14F-4D97-AF65-F5344CB8AC3E}">
        <p14:creationId xmlns:p14="http://schemas.microsoft.com/office/powerpoint/2010/main" val="338610520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13. Write VHDL code for 4-bit binary parallel adder.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222C-9B40-404C-A3AB-2BBA9C6956FE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3A66A0-F6B4-45D3-8E3E-94071147A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8791" y="666750"/>
            <a:ext cx="8647067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2584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DD7194-66F1-4A66-B1DE-B32559A98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20" y="136558"/>
            <a:ext cx="3751680" cy="152079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5894" y="1576213"/>
            <a:ext cx="2514600" cy="3394473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r>
              <a:rPr lang="en-US" sz="1100" b="1" dirty="0"/>
              <a:t>library IEEE;</a:t>
            </a:r>
            <a:br>
              <a:rPr lang="en-US" sz="100" b="1" dirty="0"/>
            </a:br>
            <a:r>
              <a:rPr lang="en-US" sz="1100" b="1" dirty="0"/>
              <a:t>use IEEE.STD_LOGIC_1164.all;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endParaRPr lang="en-US" sz="1100" b="1" dirty="0"/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r>
              <a:rPr lang="en-US" sz="1100" b="1" dirty="0"/>
              <a:t>---------------------------------------------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r>
              <a:rPr lang="en-US" sz="1100" b="1" dirty="0"/>
              <a:t>--VHDL code for Full Adder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r>
              <a:rPr lang="en-US" sz="1100" b="1" dirty="0"/>
              <a:t>-------------------------------------------</a:t>
            </a:r>
            <a:br>
              <a:rPr lang="en-US" sz="100" b="1" dirty="0"/>
            </a:br>
            <a:br>
              <a:rPr lang="en-US" sz="100" b="1" dirty="0"/>
            </a:br>
            <a:r>
              <a:rPr lang="en-US" sz="1100" b="1" dirty="0"/>
              <a:t>entity FA is</a:t>
            </a:r>
            <a:br>
              <a:rPr lang="en-US" sz="100" b="1" dirty="0"/>
            </a:br>
            <a:r>
              <a:rPr lang="en-US" sz="1100" b="1" dirty="0"/>
              <a:t>    port (	a : in STD_LOGIC;</a:t>
            </a:r>
            <a:br>
              <a:rPr lang="en-US" sz="100" b="1" dirty="0"/>
            </a:br>
            <a:r>
              <a:rPr lang="en-US" sz="1100" b="1" dirty="0"/>
              <a:t>          		b : in STD_LOGIC;</a:t>
            </a:r>
            <a:br>
              <a:rPr lang="en-US" sz="100" b="1" dirty="0"/>
            </a:br>
            <a:r>
              <a:rPr lang="en-US" sz="1100" b="1" dirty="0"/>
              <a:t>          		c : in STD_LOGIC;</a:t>
            </a:r>
            <a:br>
              <a:rPr lang="en-US" sz="100" b="1" dirty="0"/>
            </a:br>
            <a:r>
              <a:rPr lang="en-US" sz="1100" b="1" dirty="0"/>
              <a:t>          		sum : out STD_LOGIC;</a:t>
            </a:r>
            <a:br>
              <a:rPr lang="en-US" sz="100" b="1" dirty="0"/>
            </a:br>
            <a:r>
              <a:rPr lang="en-US" sz="1100" b="1" dirty="0"/>
              <a:t>          		carry : out STD_LOGIC</a:t>
            </a:r>
            <a:br>
              <a:rPr lang="en-US" sz="100" b="1" dirty="0"/>
            </a:br>
            <a:r>
              <a:rPr lang="en-US" sz="1100" b="1" dirty="0"/>
              <a:t>          		);</a:t>
            </a:r>
            <a:br>
              <a:rPr lang="en-US" sz="100" b="1" dirty="0"/>
            </a:br>
            <a:r>
              <a:rPr lang="en-US" sz="1100" b="1" dirty="0"/>
              <a:t>end FA;</a:t>
            </a:r>
            <a:br>
              <a:rPr lang="en-US" sz="100" b="1" dirty="0"/>
            </a:br>
            <a:br>
              <a:rPr lang="en-US" sz="100" b="1" dirty="0"/>
            </a:br>
            <a:endParaRPr lang="en-US" sz="100" b="1" dirty="0"/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endParaRPr lang="en-US" sz="100" b="1" dirty="0"/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endParaRPr lang="en-US" sz="100" b="1" dirty="0"/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endParaRPr lang="en-US" sz="100" b="1" dirty="0"/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endParaRPr lang="en-US" sz="1100" b="1" dirty="0"/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r>
              <a:rPr lang="en-US" sz="1100" b="1" dirty="0"/>
              <a:t>architecture </a:t>
            </a:r>
            <a:r>
              <a:rPr lang="en-US" sz="1100" b="1" dirty="0" err="1"/>
              <a:t>FA_arc</a:t>
            </a:r>
            <a:r>
              <a:rPr lang="en-US" sz="1100" b="1" dirty="0"/>
              <a:t> of FA is</a:t>
            </a:r>
            <a:br>
              <a:rPr lang="en-US" sz="100" b="1" dirty="0"/>
            </a:br>
            <a:r>
              <a:rPr lang="en-US" sz="1100" b="1" dirty="0"/>
              <a:t>begin</a:t>
            </a:r>
            <a:br>
              <a:rPr lang="en-US" sz="100" b="1" dirty="0"/>
            </a:br>
            <a:br>
              <a:rPr lang="en-US" sz="100" b="1" dirty="0"/>
            </a:br>
            <a:r>
              <a:rPr lang="en-US" sz="1100" b="1" dirty="0"/>
              <a:t>    sum &lt;= a </a:t>
            </a:r>
            <a:r>
              <a:rPr lang="en-US" sz="1100" b="1" dirty="0" err="1"/>
              <a:t>xor</a:t>
            </a:r>
            <a:r>
              <a:rPr lang="en-US" sz="1100" b="1" dirty="0"/>
              <a:t> b </a:t>
            </a:r>
            <a:r>
              <a:rPr lang="en-US" sz="1100" b="1" dirty="0" err="1"/>
              <a:t>xor</a:t>
            </a:r>
            <a:r>
              <a:rPr lang="en-US" sz="1100" b="1" dirty="0"/>
              <a:t> c;</a:t>
            </a:r>
            <a:br>
              <a:rPr lang="en-US" sz="100" b="1" dirty="0"/>
            </a:br>
            <a:r>
              <a:rPr lang="en-US" sz="1100" b="1" dirty="0"/>
              <a:t>    carry &lt;= (a and b) or (b and c) or (c and a);</a:t>
            </a:r>
            <a:br>
              <a:rPr lang="en-US" sz="100" b="1" dirty="0"/>
            </a:br>
            <a:r>
              <a:rPr lang="en-US" sz="1100" b="1" dirty="0"/>
              <a:t>   </a:t>
            </a:r>
            <a:br>
              <a:rPr lang="en-US" sz="100" b="1" dirty="0"/>
            </a:br>
            <a:r>
              <a:rPr lang="en-US" sz="1100" b="1" dirty="0"/>
              <a:t>end </a:t>
            </a:r>
            <a:r>
              <a:rPr lang="en-US" sz="1100" b="1" dirty="0" err="1"/>
              <a:t>FA_arc</a:t>
            </a:r>
            <a:r>
              <a:rPr lang="en-US" sz="1100" b="1" dirty="0"/>
              <a:t>;</a:t>
            </a:r>
            <a:endParaRPr lang="en-US" sz="1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ED1D-5D94-4439-9660-78FA004E0E7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6EEB5C-0D80-4077-84FF-38316186027C}"/>
              </a:ext>
            </a:extLst>
          </p:cNvPr>
          <p:cNvSpPr txBox="1">
            <a:spLocks/>
          </p:cNvSpPr>
          <p:nvPr/>
        </p:nvSpPr>
        <p:spPr>
          <a:xfrm>
            <a:off x="5791200" y="514350"/>
            <a:ext cx="3106306" cy="42529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r>
              <a:rPr lang="en-US" sz="1000" b="1" dirty="0"/>
              <a:t>---------------------------------------------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r>
              <a:rPr lang="en-US" sz="1000" b="1" dirty="0"/>
              <a:t>--VHDL code for Parallel  Adder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  <a:tab pos="1487488" algn="l"/>
                <a:tab pos="1603375" algn="l"/>
                <a:tab pos="1712913" algn="l"/>
              </a:tabLst>
            </a:pPr>
            <a:r>
              <a:rPr lang="en-US" sz="1000" b="1" dirty="0"/>
              <a:t>-------------------------------------------</a:t>
            </a:r>
            <a:br>
              <a:rPr lang="en-US" sz="800" b="1" dirty="0"/>
            </a:br>
            <a:br>
              <a:rPr lang="en-US" sz="800" b="1" dirty="0"/>
            </a:br>
            <a:r>
              <a:rPr lang="en-US" sz="1000" b="1" dirty="0"/>
              <a:t>entity PA is</a:t>
            </a:r>
            <a:br>
              <a:rPr lang="en-US" sz="800" b="1" dirty="0"/>
            </a:br>
            <a:r>
              <a:rPr lang="en-US" sz="1000" b="1" dirty="0"/>
              <a:t>     port(</a:t>
            </a:r>
            <a:br>
              <a:rPr lang="en-US" sz="800" b="1" dirty="0"/>
            </a:br>
            <a:r>
              <a:rPr lang="en-US" sz="1000" b="1" dirty="0"/>
              <a:t>         		a : in STD_LOGIC_VECTOR(3 </a:t>
            </a:r>
            <a:r>
              <a:rPr lang="en-US" sz="1000" b="1" dirty="0" err="1"/>
              <a:t>downto</a:t>
            </a:r>
            <a:r>
              <a:rPr lang="en-US" sz="1000" b="1" dirty="0"/>
              <a:t> 0);</a:t>
            </a:r>
            <a:br>
              <a:rPr lang="en-US" sz="800" b="1" dirty="0"/>
            </a:br>
            <a:r>
              <a:rPr lang="en-US" sz="1000" b="1" dirty="0"/>
              <a:t>         		b : in STD_LOGIC_VECTOR(3 </a:t>
            </a:r>
            <a:r>
              <a:rPr lang="en-US" sz="1000" b="1" dirty="0" err="1"/>
              <a:t>downto</a:t>
            </a:r>
            <a:r>
              <a:rPr lang="en-US" sz="1000" b="1" dirty="0"/>
              <a:t> 0);</a:t>
            </a:r>
            <a:br>
              <a:rPr lang="en-US" sz="800" b="1" dirty="0"/>
            </a:br>
            <a:r>
              <a:rPr lang="en-US" sz="1000" b="1" dirty="0"/>
              <a:t>         		carry : out STD_LOGIC;</a:t>
            </a:r>
            <a:br>
              <a:rPr lang="en-US" sz="800" b="1" dirty="0"/>
            </a:br>
            <a:r>
              <a:rPr lang="en-US" sz="1000" b="1" dirty="0"/>
              <a:t>         		sum : out STD_LOGIC_VECTOR(3 </a:t>
            </a:r>
            <a:r>
              <a:rPr lang="en-US" sz="1000" b="1" dirty="0" err="1"/>
              <a:t>downto</a:t>
            </a:r>
            <a:r>
              <a:rPr lang="en-US" sz="1000" b="1" dirty="0"/>
              <a:t> 0)</a:t>
            </a:r>
            <a:br>
              <a:rPr lang="en-US" sz="800" b="1" dirty="0"/>
            </a:br>
            <a:r>
              <a:rPr lang="en-US" sz="1000" b="1" dirty="0"/>
              <a:t>         		);</a:t>
            </a:r>
            <a:br>
              <a:rPr lang="en-US" sz="800" b="1" dirty="0"/>
            </a:br>
            <a:r>
              <a:rPr lang="en-US" sz="1000" b="1" dirty="0"/>
              <a:t>end PA;</a:t>
            </a:r>
            <a:br>
              <a:rPr lang="en-US" sz="800" b="1" dirty="0"/>
            </a:br>
            <a:br>
              <a:rPr lang="en-US" sz="800" b="1" dirty="0"/>
            </a:br>
            <a:r>
              <a:rPr lang="en-US" sz="1000" b="1" dirty="0"/>
              <a:t>architecture </a:t>
            </a:r>
            <a:r>
              <a:rPr lang="en-US" sz="1000" b="1" dirty="0" err="1"/>
              <a:t>PA_arch</a:t>
            </a:r>
            <a:r>
              <a:rPr lang="en-US" sz="1000" b="1" dirty="0"/>
              <a:t> of PA is</a:t>
            </a:r>
            <a:br>
              <a:rPr lang="en-US" sz="800" b="1" dirty="0"/>
            </a:br>
            <a:br>
              <a:rPr lang="en-US" sz="800" b="1" dirty="0"/>
            </a:br>
            <a:r>
              <a:rPr lang="en-US" sz="1000" b="1" dirty="0"/>
              <a:t>Component FA is</a:t>
            </a:r>
            <a:br>
              <a:rPr lang="en-US" sz="800" b="1" dirty="0"/>
            </a:br>
            <a:r>
              <a:rPr lang="en-US" sz="1000" b="1" dirty="0"/>
              <a:t>    port (	a, b, c  : in STD_LOGIC;</a:t>
            </a:r>
            <a:br>
              <a:rPr lang="en-US" sz="800" b="1" dirty="0"/>
            </a:br>
            <a:r>
              <a:rPr lang="en-US" sz="1000" b="1" dirty="0"/>
              <a:t>          		sum , carry : out STD_LOGIC</a:t>
            </a:r>
            <a:br>
              <a:rPr lang="en-US" sz="800" b="1" dirty="0"/>
            </a:br>
            <a:r>
              <a:rPr lang="en-US" sz="1000" b="1" dirty="0"/>
              <a:t>          		);</a:t>
            </a:r>
            <a:br>
              <a:rPr lang="en-US" sz="800" b="1" dirty="0"/>
            </a:br>
            <a:r>
              <a:rPr lang="en-US" sz="1000" b="1" dirty="0"/>
              <a:t>end component;       </a:t>
            </a:r>
            <a:br>
              <a:rPr lang="en-US" sz="800" b="1" dirty="0"/>
            </a:br>
            <a:br>
              <a:rPr lang="en-US" sz="800" b="1" dirty="0"/>
            </a:br>
            <a:r>
              <a:rPr lang="en-US" sz="1000" b="1" dirty="0"/>
              <a:t>signal c : </a:t>
            </a:r>
            <a:r>
              <a:rPr lang="en-US" sz="1000" b="1" dirty="0" err="1"/>
              <a:t>std_logic_vector</a:t>
            </a:r>
            <a:r>
              <a:rPr lang="en-US" sz="1000" b="1" dirty="0"/>
              <a:t> (3 </a:t>
            </a:r>
            <a:r>
              <a:rPr lang="en-US" sz="1000" b="1" dirty="0" err="1"/>
              <a:t>downto</a:t>
            </a:r>
            <a:r>
              <a:rPr lang="en-US" sz="1000" b="1" dirty="0"/>
              <a:t> 1);</a:t>
            </a:r>
            <a:br>
              <a:rPr lang="en-US" sz="800" b="1" dirty="0"/>
            </a:br>
            <a:br>
              <a:rPr lang="en-US" sz="800" b="1" dirty="0"/>
            </a:br>
            <a:r>
              <a:rPr lang="en-US" sz="1000" b="1" dirty="0"/>
              <a:t>begin</a:t>
            </a:r>
            <a:br>
              <a:rPr lang="en-US" sz="800" b="1" dirty="0"/>
            </a:br>
            <a:r>
              <a:rPr lang="en-US" sz="1000" b="1" dirty="0"/>
              <a:t>   </a:t>
            </a:r>
            <a:br>
              <a:rPr lang="en-US" sz="800" b="1" dirty="0"/>
            </a:br>
            <a:r>
              <a:rPr lang="en-US" sz="1000" b="1" dirty="0"/>
              <a:t>    u0 : FA port map (a(0) , b(0) ,  ‘0’  , sum(0) , c1));</a:t>
            </a:r>
            <a:br>
              <a:rPr lang="en-US" sz="800" b="1" dirty="0"/>
            </a:br>
            <a:r>
              <a:rPr lang="en-US" sz="1000" b="1" dirty="0"/>
              <a:t>    u1 : FA port map (a(1) , b(1) , s(0) , sum(1) , c2);</a:t>
            </a:r>
            <a:br>
              <a:rPr lang="en-US" sz="800" b="1" dirty="0"/>
            </a:br>
            <a:r>
              <a:rPr lang="en-US" sz="1000" b="1" dirty="0"/>
              <a:t>    u2 : FA port map (a(2) , b(2) , s(1) , sum(2) , c3);</a:t>
            </a:r>
            <a:br>
              <a:rPr lang="en-US" sz="800" b="1" dirty="0"/>
            </a:br>
            <a:r>
              <a:rPr lang="en-US" sz="1000" b="1" dirty="0"/>
              <a:t>    u3 : FA port map (a(3) , b(3) , s(2) , sum(3) , carry);</a:t>
            </a:r>
            <a:br>
              <a:rPr lang="en-US" sz="800" b="1" dirty="0"/>
            </a:br>
            <a:br>
              <a:rPr lang="en-US" sz="800" b="1" dirty="0"/>
            </a:br>
            <a:r>
              <a:rPr lang="en-US" sz="1000" b="1" dirty="0"/>
              <a:t>end </a:t>
            </a:r>
            <a:r>
              <a:rPr lang="en-US" sz="1000" b="1" dirty="0" err="1"/>
              <a:t>PA_arch</a:t>
            </a:r>
            <a:r>
              <a:rPr lang="en-US" sz="1000" b="1" dirty="0"/>
              <a:t> ; 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368400476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7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8.3.2 Multiplier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057B-BADA-47D5-9580-3E5052543C6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27899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>
                <a:solidFill>
                  <a:srgbClr val="00B050"/>
                </a:solidFill>
              </a:rPr>
              <a:t>14. VHDL for 2 bit binary multiplier using dataflow modeling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B8FB-0587-4DA6-9EE2-784A7EC48CA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C3A838E-8416-4A9F-87BA-B857EBA83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0421" y="867882"/>
            <a:ext cx="4943579" cy="3765053"/>
          </a:xfrm>
          <a:prstGeom prst="rect">
            <a:avLst/>
          </a:prstGeom>
          <a:solidFill>
            <a:srgbClr val="EEEEE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library </a:t>
            </a:r>
            <a:r>
              <a:rPr lang="en-US" sz="1200" b="1" dirty="0" err="1"/>
              <a:t>ieee</a:t>
            </a:r>
            <a:r>
              <a:rPr lang="en-US" sz="1200" b="1" dirty="0"/>
              <a:t>;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use ieee.std_logic_1164.all;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 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entity multiply is 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	port (A, B : in </a:t>
            </a:r>
            <a:r>
              <a:rPr lang="en-US" sz="1200" b="1" dirty="0" err="1"/>
              <a:t>bit_vector</a:t>
            </a:r>
            <a:r>
              <a:rPr lang="en-US" sz="1200" b="1" dirty="0"/>
              <a:t>(1 </a:t>
            </a:r>
            <a:r>
              <a:rPr lang="en-US" sz="1200" b="1" dirty="0" err="1"/>
              <a:t>downto</a:t>
            </a:r>
            <a:r>
              <a:rPr lang="en-US" sz="1200" b="1" dirty="0"/>
              <a:t> 0);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	P : out </a:t>
            </a:r>
            <a:r>
              <a:rPr lang="en-US" sz="1200" b="1" dirty="0" err="1"/>
              <a:t>bit_vector</a:t>
            </a:r>
            <a:r>
              <a:rPr lang="en-US" sz="1200" b="1" dirty="0"/>
              <a:t>(3 </a:t>
            </a:r>
            <a:r>
              <a:rPr lang="en-US" sz="1200" b="1" dirty="0" err="1"/>
              <a:t>downto</a:t>
            </a:r>
            <a:r>
              <a:rPr lang="en-US" sz="1200" b="1" dirty="0"/>
              <a:t> 0)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);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end multiply;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 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architecture dataflow of multiply is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	begin</a:t>
            </a:r>
          </a:p>
          <a:p>
            <a:pPr marL="400050" lvl="1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P(0) &lt;= A(0) AND B(0);</a:t>
            </a:r>
          </a:p>
          <a:p>
            <a:pPr marL="400050" lvl="1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P(1) &lt;= (A(1) AND B(0)) XOR (A(0) AND B(1));</a:t>
            </a:r>
          </a:p>
          <a:p>
            <a:pPr marL="400050" lvl="1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P(2) &lt;= ((A(1) AND B(0)) AND (A(0) AND B(1))) XOR (A(1) AND B(1));</a:t>
            </a:r>
          </a:p>
          <a:p>
            <a:pPr marL="400050" lvl="1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P(3) &lt;= ((A(1) AND B(0)) AND (A(0) AND B(1))) AND (A(1) AND B(1));</a:t>
            </a:r>
          </a:p>
          <a:p>
            <a:pPr marL="0" indent="0">
              <a:buNone/>
              <a:tabLst>
                <a:tab pos="228600" algn="l"/>
                <a:tab pos="403225" algn="l"/>
                <a:tab pos="631825" algn="l"/>
                <a:tab pos="914400" algn="l"/>
                <a:tab pos="1196975" algn="l"/>
                <a:tab pos="1425575" algn="l"/>
              </a:tabLst>
            </a:pPr>
            <a:r>
              <a:rPr lang="en-US" sz="1200" b="1" dirty="0"/>
              <a:t>end architecture;</a:t>
            </a:r>
          </a:p>
        </p:txBody>
      </p:sp>
      <p:pic>
        <p:nvPicPr>
          <p:cNvPr id="8" name="Picture 3" descr="https://i0.wp.com/technobyte.org/wp-content/uploads/2020/03/Half-Adder-Circuit.png?ssl=1">
            <a:extLst>
              <a:ext uri="{FF2B5EF4-FFF2-40B4-BE49-F238E27FC236}">
                <a16:creationId xmlns:a16="http://schemas.microsoft.com/office/drawing/2014/main" id="{774BAF76-187D-435E-821C-3A9004AF0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781" y="867461"/>
            <a:ext cx="3285798" cy="181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AFE11F7-8652-4DD2-832F-61D132615403}"/>
              </a:ext>
            </a:extLst>
          </p:cNvPr>
          <p:cNvSpPr/>
          <p:nvPr/>
        </p:nvSpPr>
        <p:spPr>
          <a:xfrm>
            <a:off x="5408467" y="2747954"/>
            <a:ext cx="3574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404040"/>
                </a:solidFill>
                <a:latin typeface="Varela Round"/>
              </a:rPr>
              <a:t>Fig: The logic circuit of a 2-bit binary multiplier</a:t>
            </a:r>
            <a:endParaRPr lang="en-US" sz="1400" i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954E95-403A-46F7-B010-37B6D3345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388515"/>
            <a:ext cx="2126793" cy="104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6154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>
                <a:solidFill>
                  <a:srgbClr val="00B050"/>
                </a:solidFill>
              </a:rPr>
              <a:t>15. VHDL for 2 bit binary multiplier using behavioral 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2438400" cy="3851673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library </a:t>
            </a:r>
            <a:r>
              <a:rPr lang="en-US" sz="1100" b="1" dirty="0" err="1"/>
              <a:t>ieee</a:t>
            </a:r>
            <a:r>
              <a:rPr lang="en-US" sz="1100" b="1" dirty="0"/>
              <a:t>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use ieee.std_logic_1164.all;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 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entity </a:t>
            </a:r>
            <a:r>
              <a:rPr lang="en-US" sz="1100" b="1" dirty="0" err="1"/>
              <a:t>multiply_behav</a:t>
            </a:r>
            <a:r>
              <a:rPr lang="en-US" sz="1100" b="1" dirty="0"/>
              <a:t> is 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  port (A, B : in </a:t>
            </a:r>
            <a:r>
              <a:rPr lang="en-US" sz="1100" b="1" dirty="0" err="1"/>
              <a:t>bit_vector</a:t>
            </a:r>
            <a:r>
              <a:rPr lang="en-US" sz="1100" b="1" dirty="0"/>
              <a:t>(1 </a:t>
            </a:r>
            <a:r>
              <a:rPr lang="en-US" sz="1100" b="1" dirty="0" err="1"/>
              <a:t>downto</a:t>
            </a:r>
            <a:r>
              <a:rPr lang="en-US" sz="1100" b="1" dirty="0"/>
              <a:t> 0);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        P : out </a:t>
            </a:r>
            <a:r>
              <a:rPr lang="en-US" sz="1100" b="1" dirty="0" err="1"/>
              <a:t>bit_vector</a:t>
            </a:r>
            <a:r>
              <a:rPr lang="en-US" sz="1100" b="1" dirty="0"/>
              <a:t>(3 </a:t>
            </a:r>
            <a:r>
              <a:rPr lang="en-US" sz="1100" b="1" dirty="0" err="1"/>
              <a:t>downto</a:t>
            </a:r>
            <a:r>
              <a:rPr lang="en-US" sz="1100" b="1" dirty="0"/>
              <a:t> 0)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    );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end </a:t>
            </a:r>
            <a:r>
              <a:rPr lang="en-US" sz="1100" b="1" dirty="0" err="1"/>
              <a:t>multiply_behav</a:t>
            </a:r>
            <a:r>
              <a:rPr lang="en-US" sz="1100" b="1" dirty="0"/>
              <a:t>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 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architecture behavioral of </a:t>
            </a:r>
            <a:r>
              <a:rPr lang="en-US" sz="1100" b="1" dirty="0" err="1"/>
              <a:t>multiply_behav</a:t>
            </a:r>
            <a:r>
              <a:rPr lang="en-US" sz="1100" b="1" dirty="0"/>
              <a:t> is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begin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process(A,B) is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begin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case A is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when "00" =&gt;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if B="00" then P&lt;="0000";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</a:t>
            </a:r>
            <a:r>
              <a:rPr lang="en-US" sz="1100" b="1" dirty="0" err="1"/>
              <a:t>elsif</a:t>
            </a:r>
            <a:r>
              <a:rPr lang="en-US" sz="1100" b="1" dirty="0"/>
              <a:t> B="01" then P&lt;="0000";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</a:t>
            </a:r>
            <a:r>
              <a:rPr lang="en-US" sz="1100" b="1" dirty="0" err="1"/>
              <a:t>elsif</a:t>
            </a:r>
            <a:r>
              <a:rPr lang="en-US" sz="1100" b="1" dirty="0"/>
              <a:t> B="10" then P&lt;="0000";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else P&lt;="0000";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end if;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endParaRPr lang="en-US" sz="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B8FB-0587-4DA6-9EE2-784A7EC48CA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8762686-E651-45E9-834B-C011405FD73E}"/>
              </a:ext>
            </a:extLst>
          </p:cNvPr>
          <p:cNvSpPr txBox="1">
            <a:spLocks/>
          </p:cNvSpPr>
          <p:nvPr/>
        </p:nvSpPr>
        <p:spPr>
          <a:xfrm>
            <a:off x="3048000" y="742950"/>
            <a:ext cx="2438399" cy="38516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when "01" =&gt;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if B="00" then P&lt;="0000";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</a:t>
            </a:r>
            <a:r>
              <a:rPr lang="en-US" sz="1100" b="1" dirty="0" err="1"/>
              <a:t>elsif</a:t>
            </a:r>
            <a:r>
              <a:rPr lang="en-US" sz="1100" b="1" dirty="0"/>
              <a:t> B="01" then P&lt;="0001";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</a:t>
            </a:r>
            <a:r>
              <a:rPr lang="en-US" sz="1100" b="1" dirty="0" err="1"/>
              <a:t>elsif</a:t>
            </a:r>
            <a:r>
              <a:rPr lang="en-US" sz="1100" b="1" dirty="0"/>
              <a:t> B="10" then P&lt;="0010";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else P&lt;="0011";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end if;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when "10" =&gt;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if B="00" then P&lt;="0000";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</a:t>
            </a:r>
            <a:r>
              <a:rPr lang="en-US" sz="1100" b="1" dirty="0" err="1"/>
              <a:t>elsif</a:t>
            </a:r>
            <a:r>
              <a:rPr lang="en-US" sz="1100" b="1" dirty="0"/>
              <a:t> B="01" then P&lt;="0010";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</a:t>
            </a:r>
            <a:r>
              <a:rPr lang="en-US" sz="1100" b="1" dirty="0" err="1"/>
              <a:t>elsif</a:t>
            </a:r>
            <a:r>
              <a:rPr lang="en-US" sz="1100" b="1" dirty="0"/>
              <a:t> B="10" then P&lt;="0100";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else P&lt;="0110";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end if;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when "11" =&gt;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if B="00" then P&lt;="0000";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</a:t>
            </a:r>
            <a:r>
              <a:rPr lang="en-US" sz="1100" b="1" dirty="0" err="1"/>
              <a:t>elsif</a:t>
            </a:r>
            <a:r>
              <a:rPr lang="en-US" sz="1100" b="1" dirty="0"/>
              <a:t> B="01" then P&lt;="0011";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</a:t>
            </a:r>
            <a:r>
              <a:rPr lang="en-US" sz="1100" b="1" dirty="0" err="1"/>
              <a:t>elsif</a:t>
            </a:r>
            <a:r>
              <a:rPr lang="en-US" sz="1100" b="1" dirty="0"/>
              <a:t> B="10" then P&lt;="0110";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else P&lt;="1001";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end if;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end case;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end process;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end architecture;</a:t>
            </a:r>
          </a:p>
        </p:txBody>
      </p:sp>
    </p:spTree>
    <p:extLst>
      <p:ext uri="{BB962C8B-B14F-4D97-AF65-F5344CB8AC3E}">
        <p14:creationId xmlns:p14="http://schemas.microsoft.com/office/powerpoint/2010/main" val="122068102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>
                <a:solidFill>
                  <a:srgbClr val="00B050"/>
                </a:solidFill>
              </a:rPr>
              <a:t>16. VHDL for 2 bit binary multiplier using structural 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2"/>
            <a:ext cx="1905000" cy="1904998"/>
          </a:xfr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library </a:t>
            </a:r>
            <a:r>
              <a:rPr lang="en-US" sz="900" b="1" dirty="0" err="1"/>
              <a:t>ieee</a:t>
            </a:r>
            <a:r>
              <a:rPr lang="en-US" sz="900" b="1" dirty="0"/>
              <a:t>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use ieee.std_logic_1164.all;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entity AND2 is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port(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	A,B: in BIT;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	x : out BIT);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end AND2;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architecture behavioral of AND2 is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begin 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	x &lt;= A and B;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end behavioral;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endParaRPr lang="en-US" sz="900" b="1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endParaRPr lang="en-US" sz="900" b="1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endParaRPr lang="en-US" sz="900" b="1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endParaRPr lang="en-US" sz="9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B8FB-0587-4DA6-9EE2-784A7EC48CA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447ABE-503D-4E4A-81B6-585B7644FD44}"/>
              </a:ext>
            </a:extLst>
          </p:cNvPr>
          <p:cNvSpPr txBox="1">
            <a:spLocks/>
          </p:cNvSpPr>
          <p:nvPr/>
        </p:nvSpPr>
        <p:spPr>
          <a:xfrm>
            <a:off x="2438400" y="839390"/>
            <a:ext cx="2133600" cy="37754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entity </a:t>
            </a:r>
            <a:r>
              <a:rPr lang="en-US" b="1" dirty="0" err="1"/>
              <a:t>multiply_struct</a:t>
            </a:r>
            <a:r>
              <a:rPr lang="en-US" b="1" dirty="0"/>
              <a:t> is 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port (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A, B : in </a:t>
            </a:r>
            <a:r>
              <a:rPr lang="en-US" b="1" dirty="0" err="1"/>
              <a:t>bit_vector</a:t>
            </a:r>
            <a:r>
              <a:rPr lang="en-US" b="1" dirty="0"/>
              <a:t>(1 </a:t>
            </a:r>
            <a:r>
              <a:rPr lang="en-US" b="1" dirty="0" err="1"/>
              <a:t>downto</a:t>
            </a:r>
            <a:r>
              <a:rPr lang="en-US" b="1" dirty="0"/>
              <a:t> 0);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P : buffer </a:t>
            </a:r>
            <a:r>
              <a:rPr lang="en-US" b="1" dirty="0" err="1"/>
              <a:t>bit_vector</a:t>
            </a:r>
            <a:r>
              <a:rPr lang="en-US" b="1" dirty="0"/>
              <a:t>(3 </a:t>
            </a:r>
            <a:r>
              <a:rPr lang="en-US" b="1" dirty="0" err="1"/>
              <a:t>downto</a:t>
            </a:r>
            <a:r>
              <a:rPr lang="en-US" b="1" dirty="0"/>
              <a:t> 0)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end </a:t>
            </a:r>
            <a:r>
              <a:rPr lang="en-US" b="1" dirty="0" err="1"/>
              <a:t>multiply_struct</a:t>
            </a:r>
            <a:r>
              <a:rPr lang="en-US" b="1" dirty="0"/>
              <a:t>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architecture structural of </a:t>
            </a:r>
            <a:r>
              <a:rPr lang="en-US" b="1" dirty="0" err="1"/>
              <a:t>multiply_struct</a:t>
            </a:r>
            <a:r>
              <a:rPr lang="en-US" b="1" dirty="0"/>
              <a:t> is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component AND2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port(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	A,B: in BIT;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	X : out BIT);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end component;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component </a:t>
            </a:r>
            <a:r>
              <a:rPr lang="en-US" b="1" dirty="0" err="1"/>
              <a:t>half_adder</a:t>
            </a:r>
            <a:endParaRPr lang="en-US" b="1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port (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	A, B : in BIT;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	sum, carry : out BIT);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end component;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endParaRPr lang="en-US" b="1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signal S1,S2,S3,S4:BIT;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begin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A1: AND2 port map(A(0),B(0),P(0));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A2: AND2 port map(A(1),B(0),S1);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A3: AND2 port map(A(0),B(1),S2);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A4: AND2 port map(A(1),B(1),S3);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H1: </a:t>
            </a:r>
            <a:r>
              <a:rPr lang="en-US" b="1" dirty="0" err="1"/>
              <a:t>half_adder</a:t>
            </a:r>
            <a:r>
              <a:rPr lang="en-US" b="1" dirty="0"/>
              <a:t> port map(S1,S2,P(1),S4);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	H2: </a:t>
            </a:r>
            <a:r>
              <a:rPr lang="en-US" b="1" dirty="0" err="1"/>
              <a:t>half_adder</a:t>
            </a:r>
            <a:r>
              <a:rPr lang="en-US" b="1" dirty="0"/>
              <a:t> port map(S4,S3,P(2),P(3));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b="1" dirty="0"/>
              <a:t>end architecture;</a:t>
            </a:r>
          </a:p>
        </p:txBody>
      </p:sp>
      <p:pic>
        <p:nvPicPr>
          <p:cNvPr id="10" name="Picture 3" descr="https://i0.wp.com/technobyte.org/wp-content/uploads/2020/03/Half-Adder-Circuit.png?ssl=1">
            <a:extLst>
              <a:ext uri="{FF2B5EF4-FFF2-40B4-BE49-F238E27FC236}">
                <a16:creationId xmlns:a16="http://schemas.microsoft.com/office/drawing/2014/main" id="{454CB665-6B73-46C2-A1E3-3CF09BDFD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712" y="839390"/>
            <a:ext cx="3285798" cy="181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BCBB83-2C45-4EBF-B8D9-B8C6AE9F604F}"/>
              </a:ext>
            </a:extLst>
          </p:cNvPr>
          <p:cNvSpPr txBox="1">
            <a:spLocks/>
          </p:cNvSpPr>
          <p:nvPr/>
        </p:nvSpPr>
        <p:spPr>
          <a:xfrm>
            <a:off x="449826" y="2790150"/>
            <a:ext cx="1905000" cy="18247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entity </a:t>
            </a:r>
            <a:r>
              <a:rPr lang="en-US" sz="900" b="1" dirty="0" err="1"/>
              <a:t>half_adder</a:t>
            </a:r>
            <a:r>
              <a:rPr lang="en-US" sz="900" b="1" dirty="0"/>
              <a:t> is 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port (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	a, b : in BIT;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	sum, carry : out BIT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);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end </a:t>
            </a:r>
            <a:r>
              <a:rPr lang="en-US" sz="900" b="1" dirty="0" err="1"/>
              <a:t>half_adder</a:t>
            </a:r>
            <a:r>
              <a:rPr lang="en-US" sz="900" b="1" dirty="0"/>
              <a:t>;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 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architecture arch of </a:t>
            </a:r>
            <a:r>
              <a:rPr lang="en-US" sz="900" b="1" dirty="0" err="1"/>
              <a:t>half_adder</a:t>
            </a:r>
            <a:r>
              <a:rPr lang="en-US" sz="900" b="1" dirty="0"/>
              <a:t> is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begin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	sum &lt;= a </a:t>
            </a:r>
            <a:r>
              <a:rPr lang="en-US" sz="900" b="1" dirty="0" err="1"/>
              <a:t>xor</a:t>
            </a:r>
            <a:r>
              <a:rPr lang="en-US" sz="900" b="1" dirty="0"/>
              <a:t> b;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	carry &lt;= a and b;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r>
              <a:rPr lang="en-US" sz="900" b="1" dirty="0"/>
              <a:t>end arch;</a:t>
            </a:r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endParaRPr lang="en-US" sz="900" b="1" dirty="0"/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</a:tabLst>
            </a:pPr>
            <a:endParaRPr 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95020427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7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8.3.3 Decoders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057B-BADA-47D5-9580-3E5052543C6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15581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17. Write the VHDL code to implement 2:4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124200" cy="3851673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Library </a:t>
            </a:r>
            <a:r>
              <a:rPr lang="en-US" sz="1100" b="1" dirty="0" err="1"/>
              <a:t>ieee</a:t>
            </a:r>
            <a:r>
              <a:rPr lang="en-US" sz="1100" b="1" dirty="0"/>
              <a:t>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use ieee.std_logic_1164.all;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endParaRPr lang="en-US" sz="1100" b="1" dirty="0"/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entity Decoder is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port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(	SW : in </a:t>
            </a:r>
            <a:r>
              <a:rPr lang="en-US" sz="1100" b="1" dirty="0" err="1"/>
              <a:t>std_logic_vector</a:t>
            </a:r>
            <a:r>
              <a:rPr lang="en-US" sz="1100" b="1" dirty="0"/>
              <a:t> (1 down to 0);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Q : out </a:t>
            </a:r>
            <a:r>
              <a:rPr lang="en-US" sz="1100" b="1" dirty="0" err="1"/>
              <a:t>std_logic_vector</a:t>
            </a:r>
            <a:r>
              <a:rPr lang="en-US" sz="1100" b="1" dirty="0"/>
              <a:t>(3 down to 0);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);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end decoder;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 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architecture </a:t>
            </a:r>
            <a:r>
              <a:rPr lang="en-US" sz="1100" b="1" dirty="0" err="1"/>
              <a:t>Dec_Arch</a:t>
            </a:r>
            <a:r>
              <a:rPr lang="en-US" sz="1100" b="1" dirty="0"/>
              <a:t> of Decoder is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begin</a:t>
            </a:r>
          </a:p>
          <a:p>
            <a:pPr marL="400050" lvl="1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000" b="1" dirty="0"/>
              <a:t>if (SW = “00”) then</a:t>
            </a:r>
          </a:p>
          <a:p>
            <a:pPr marL="400050" lvl="1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000" b="1" dirty="0"/>
              <a:t>	Q&lt;= “0001” ;</a:t>
            </a:r>
          </a:p>
          <a:p>
            <a:pPr marL="400050" lvl="1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000" b="1" dirty="0"/>
              <a:t>elseif (SW = “01”) then</a:t>
            </a:r>
          </a:p>
          <a:p>
            <a:pPr marL="400050" lvl="1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000" b="1" dirty="0"/>
              <a:t>	Q&lt;= “0010” ;</a:t>
            </a:r>
          </a:p>
          <a:p>
            <a:pPr marL="400050" lvl="1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000" b="1" dirty="0"/>
              <a:t>elseif (SW = “10”) then</a:t>
            </a:r>
          </a:p>
          <a:p>
            <a:pPr marL="400050" lvl="1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000" b="1" dirty="0"/>
              <a:t>	Q&lt;= “0100”;</a:t>
            </a:r>
          </a:p>
          <a:p>
            <a:pPr marL="400050" lvl="1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000" b="1" dirty="0"/>
              <a:t>else</a:t>
            </a:r>
          </a:p>
          <a:p>
            <a:pPr marL="400050" lvl="1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000" b="1" dirty="0"/>
              <a:t>	Q&lt;= “1000”;</a:t>
            </a:r>
          </a:p>
          <a:p>
            <a:pPr marL="400050" lvl="1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000" b="1" dirty="0"/>
              <a:t>Endif;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end </a:t>
            </a:r>
            <a:r>
              <a:rPr lang="en-US" sz="1100" b="1" dirty="0" err="1"/>
              <a:t>Dec_Arch</a:t>
            </a:r>
            <a:r>
              <a:rPr lang="en-US" sz="1100" b="1" dirty="0"/>
              <a:t> ;</a:t>
            </a:r>
            <a:endParaRPr lang="en-US" sz="9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B8FB-0587-4DA6-9EE2-784A7EC48CAC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AAC522AD-61D6-4D66-A7E7-8D6BC9FDEB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6046694" y="741829"/>
            <a:ext cx="2683134" cy="182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28841726-B158-4F56-B653-52C264A82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45" t="-3556" r="2055" b="3556"/>
          <a:stretch/>
        </p:blipFill>
        <p:spPr bwMode="auto">
          <a:xfrm>
            <a:off x="5936431" y="2764702"/>
            <a:ext cx="2683134" cy="182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98643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18. Write VHDL for 4:2 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3048000" cy="3851673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Library </a:t>
            </a:r>
            <a:r>
              <a:rPr lang="en-US" sz="1100" b="1" dirty="0" err="1"/>
              <a:t>ieee</a:t>
            </a:r>
            <a:r>
              <a:rPr lang="en-US" sz="1100" b="1" dirty="0"/>
              <a:t>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use ieee.std_logic_1164.all;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endParaRPr lang="en-US" sz="1100" b="1" dirty="0"/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entity Encoder is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port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(	Q : out </a:t>
            </a:r>
            <a:r>
              <a:rPr lang="en-US" sz="1100" b="1" dirty="0" err="1"/>
              <a:t>std_logic_vector</a:t>
            </a:r>
            <a:r>
              <a:rPr lang="en-US" sz="1100" b="1" dirty="0"/>
              <a:t> (1 down to 0);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D: in </a:t>
            </a:r>
            <a:r>
              <a:rPr lang="en-US" sz="1100" b="1" dirty="0" err="1"/>
              <a:t>std_logic_vector</a:t>
            </a:r>
            <a:r>
              <a:rPr lang="en-US" sz="1100" b="1" dirty="0"/>
              <a:t>(3 down to 0);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);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end Encoder;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 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architecture </a:t>
            </a:r>
            <a:r>
              <a:rPr lang="en-US" sz="1100" b="1" dirty="0" err="1"/>
              <a:t>arc_encoder</a:t>
            </a:r>
            <a:r>
              <a:rPr lang="en-US" sz="1100" b="1" dirty="0"/>
              <a:t> of Encoder is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begin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if (D = “0001”) then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Q&lt;= “00” 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elseif (Q = “0001”) then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Q&lt;= “01” 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elseif (D= “10”) then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Q&lt;= “10”;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else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		Q&lt;= “11”;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r>
              <a:rPr lang="en-US" sz="1100" b="1" dirty="0"/>
              <a:t>		Endif;</a:t>
            </a:r>
            <a:br>
              <a:rPr lang="en-US" sz="1100" b="1" dirty="0"/>
            </a:br>
            <a:r>
              <a:rPr lang="en-US" sz="1100" b="1" dirty="0"/>
              <a:t>end </a:t>
            </a:r>
            <a:r>
              <a:rPr lang="en-US" sz="1100" b="1" dirty="0" err="1"/>
              <a:t>arc_encoder</a:t>
            </a:r>
            <a:r>
              <a:rPr lang="en-US" sz="1100" b="1" dirty="0"/>
              <a:t>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  <a:tab pos="1255713" algn="l"/>
                <a:tab pos="1371600" algn="l"/>
              </a:tabLst>
            </a:pPr>
            <a:endParaRPr lang="en-US" sz="9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69FF-1491-41AD-8966-C37E14013D82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129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1B6BD7-B784-4458-B1A3-C7BB39DBAC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22"/>
          <a:stretch/>
        </p:blipFill>
        <p:spPr bwMode="auto">
          <a:xfrm>
            <a:off x="6028765" y="514350"/>
            <a:ext cx="2571750" cy="16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0D784032-69B8-482E-A050-E3F73E3BCA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36"/>
          <a:stretch/>
        </p:blipFill>
        <p:spPr bwMode="auto">
          <a:xfrm>
            <a:off x="6517341" y="2627732"/>
            <a:ext cx="1943100" cy="16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7458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65571"/>
          </a:xfrm>
        </p:spPr>
        <p:txBody>
          <a:bodyPr>
            <a:noAutofit/>
          </a:bodyPr>
          <a:lstStyle/>
          <a:p>
            <a:pPr lvl="0" algn="l"/>
            <a:r>
              <a:rPr lang="en-US" sz="3600" b="1" dirty="0">
                <a:solidFill>
                  <a:srgbClr val="FF0000"/>
                </a:solidFill>
              </a:rPr>
              <a:t>Assignment: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4953000" cy="36230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19"/>
            </a:pPr>
            <a:r>
              <a:rPr lang="en-US" sz="2400" b="1" dirty="0"/>
              <a:t>Write the VHDL code to implement 3 to 8 decoder using two 2 to 4 decoder.</a:t>
            </a:r>
          </a:p>
          <a:p>
            <a:pPr marL="457200" indent="-457200">
              <a:buFont typeface="+mj-lt"/>
              <a:buAutoNum type="arabicPeriod" startAt="19"/>
            </a:pPr>
            <a:endParaRPr lang="en-US" sz="2400" b="1" dirty="0"/>
          </a:p>
          <a:p>
            <a:pPr marL="457200" indent="-457200">
              <a:buFont typeface="+mj-lt"/>
              <a:buAutoNum type="arabicPeriod" startAt="19"/>
            </a:pPr>
            <a:endParaRPr lang="en-US" sz="2400" b="1" dirty="0"/>
          </a:p>
          <a:p>
            <a:pPr marL="457200" indent="-457200">
              <a:buFont typeface="+mj-lt"/>
              <a:buAutoNum type="arabicPeriod" startAt="19"/>
            </a:pPr>
            <a:r>
              <a:rPr lang="en-US" sz="2400" b="1" dirty="0"/>
              <a:t>Write VHDL code to simulate  Octal to Binary Encoder.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B2C2-73CD-40A8-B4A1-051321164C5B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42EE7D3-6FFC-4DD3-9C48-14B6083594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044" r="13774"/>
          <a:stretch/>
        </p:blipFill>
        <p:spPr bwMode="auto">
          <a:xfrm>
            <a:off x="5518897" y="344720"/>
            <a:ext cx="2068606" cy="224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Octal To Binary Encoder(हिन्दी ) - YouTube">
            <a:extLst>
              <a:ext uri="{FF2B5EF4-FFF2-40B4-BE49-F238E27FC236}">
                <a16:creationId xmlns:a16="http://schemas.microsoft.com/office/drawing/2014/main" id="{6B3776A3-A36F-4C6B-88AA-69AB1A48E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931110"/>
            <a:ext cx="3320303" cy="1867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02297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7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8.3.4 Multiplexers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057B-BADA-47D5-9580-3E5052543C6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80021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3200" b="1" dirty="0">
                <a:solidFill>
                  <a:srgbClr val="00B050"/>
                </a:solidFill>
              </a:rPr>
              <a:t>21. Write VHDL code to simulate 4:1 MUX.</a:t>
            </a:r>
            <a:endParaRPr lang="en-US" sz="1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6750"/>
            <a:ext cx="2667000" cy="3927873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Library </a:t>
            </a:r>
            <a:r>
              <a:rPr lang="en-US" sz="1100" b="1" dirty="0" err="1"/>
              <a:t>ieee</a:t>
            </a:r>
            <a:r>
              <a:rPr lang="en-US" sz="1100" b="1" dirty="0"/>
              <a:t>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use ieee.std_logic_1164.all;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 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entity MUX is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port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(	Q : out </a:t>
            </a:r>
            <a:r>
              <a:rPr lang="en-US" sz="1100" b="1" dirty="0" err="1"/>
              <a:t>std_logic</a:t>
            </a:r>
            <a:r>
              <a:rPr lang="en-US" sz="1100" b="1" dirty="0"/>
              <a:t>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	I0,I1,I2,I3 : in </a:t>
            </a:r>
            <a:r>
              <a:rPr lang="en-US" sz="1100" b="1" dirty="0" err="1"/>
              <a:t>std_logic</a:t>
            </a:r>
            <a:r>
              <a:rPr lang="en-US" sz="1100" b="1" dirty="0"/>
              <a:t>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	SL: in </a:t>
            </a:r>
            <a:r>
              <a:rPr lang="en-US" sz="1100" b="1" dirty="0" err="1"/>
              <a:t>std_logic_vector</a:t>
            </a:r>
            <a:r>
              <a:rPr lang="en-US" sz="1100" b="1" dirty="0"/>
              <a:t> (1 down to 0);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);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end MUX;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 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architecture </a:t>
            </a:r>
            <a:r>
              <a:rPr lang="en-US" sz="1100" b="1" dirty="0" err="1"/>
              <a:t>arc_MUX</a:t>
            </a:r>
            <a:r>
              <a:rPr lang="en-US" sz="1100" b="1" dirty="0"/>
              <a:t> of MUX is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begin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	if (SL= “00”) then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			Q&lt;= I0;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	elseif (SL= “01”) then</a:t>
            </a:r>
            <a:br>
              <a:rPr lang="en-US" sz="1100" b="1" dirty="0"/>
            </a:br>
            <a:r>
              <a:rPr lang="en-US" sz="1100" b="1" dirty="0"/>
              <a:t>					Q&lt;= I1 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	elseif (SL= “10”) then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			Q&lt;= I2;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	else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			Q&lt;= I4;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			Endif;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r>
              <a:rPr lang="en-US" sz="1100" b="1" dirty="0"/>
              <a:t>end </a:t>
            </a:r>
            <a:r>
              <a:rPr lang="en-US" sz="1100" b="1" dirty="0" err="1"/>
              <a:t>arc_MUX</a:t>
            </a:r>
            <a:r>
              <a:rPr lang="en-US" sz="1100" b="1" dirty="0"/>
              <a:t>;</a:t>
            </a:r>
          </a:p>
          <a:p>
            <a:pPr marL="0" indent="0">
              <a:buNone/>
              <a:tabLst>
                <a:tab pos="114300" algn="l"/>
                <a:tab pos="228600" algn="l"/>
                <a:tab pos="342900" algn="l"/>
                <a:tab pos="457200" algn="l"/>
                <a:tab pos="571500" algn="l"/>
                <a:tab pos="685800" algn="l"/>
                <a:tab pos="800100" algn="l"/>
                <a:tab pos="914400" algn="l"/>
                <a:tab pos="1028700" algn="l"/>
                <a:tab pos="1143000" algn="l"/>
                <a:tab pos="1257300" algn="l"/>
                <a:tab pos="1371600" algn="l"/>
                <a:tab pos="1485900" algn="l"/>
                <a:tab pos="1600200" algn="l"/>
                <a:tab pos="1714500" algn="l"/>
                <a:tab pos="1828800" algn="l"/>
              </a:tabLst>
            </a:pPr>
            <a:endParaRPr lang="en-US" sz="9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17F5-285F-4C9C-B5CD-25B0B9F9C2CA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EC2BE2-F30F-44B6-924D-51D237F287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0" t="13336" r="2255"/>
          <a:stretch/>
        </p:blipFill>
        <p:spPr bwMode="auto">
          <a:xfrm>
            <a:off x="4800600" y="1315760"/>
            <a:ext cx="4343400" cy="286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9B2728-C5C7-473B-8475-F6469ACD0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51674"/>
            <a:ext cx="22860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8210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 descr="https://939506.smushcdn.com/2600043/wp-content/uploads/2020/11/Screen-Shot-2020-11-21-at-7.44.11-PM.png?lossy=0&amp;strip=1&amp;webp=1">
            <a:extLst>
              <a:ext uri="{FF2B5EF4-FFF2-40B4-BE49-F238E27FC236}">
                <a16:creationId xmlns:a16="http://schemas.microsoft.com/office/drawing/2014/main" id="{53BD3A27-6DFA-4408-83C0-920BA1378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26621"/>
            <a:ext cx="3733800" cy="478540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13823"/>
            <a:ext cx="3276600" cy="364331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>
                <a:solidFill>
                  <a:srgbClr val="00B050"/>
                </a:solidFill>
              </a:rPr>
              <a:t>22. Write VHDL code to simulate 8:1 MUX.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434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5392-C863-4667-ACEA-589E651F938B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6146" name="Picture 2" descr="https://939506.smushcdn.com/2600043/wp-content/uploads/2020/11/mux-ckt-1024x621.png?lossy=0&amp;strip=1&amp;webp=1">
            <a:extLst>
              <a:ext uri="{FF2B5EF4-FFF2-40B4-BE49-F238E27FC236}">
                <a16:creationId xmlns:a16="http://schemas.microsoft.com/office/drawing/2014/main" id="{44C5A3EB-3A5B-4C18-8BB9-6D05DC664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19997"/>
            <a:ext cx="4241006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www.engineersgarage.com/wp-content/uploads/2020/11/Screen-Shot-2020-11-21-at-7.47.11-PM.png">
            <a:extLst>
              <a:ext uri="{FF2B5EF4-FFF2-40B4-BE49-F238E27FC236}">
                <a16:creationId xmlns:a16="http://schemas.microsoft.com/office/drawing/2014/main" id="{5AFAC2CA-FEC2-4D18-9A9F-CB423A6B1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02" y="3458961"/>
            <a:ext cx="1776942" cy="1545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44107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00B050"/>
                </a:solidFill>
              </a:rPr>
              <a:t>23. Write VHDL code to simulate 1:4 DEMUX.</a:t>
            </a:r>
            <a:endParaRPr lang="en-US" sz="1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2667000" cy="3851673"/>
          </a:xfrm>
          <a:ln>
            <a:solidFill>
              <a:schemeClr val="accent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Library </a:t>
            </a:r>
            <a:r>
              <a:rPr lang="en-US" b="1" dirty="0" err="1"/>
              <a:t>ieee</a:t>
            </a:r>
            <a:r>
              <a:rPr lang="en-US" b="1" dirty="0"/>
              <a:t>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use ieee.std_logic_1164.all;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 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entity DMUX is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port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(	Din : in </a:t>
            </a:r>
            <a:r>
              <a:rPr lang="en-US" b="1" dirty="0" err="1"/>
              <a:t>std_logic</a:t>
            </a:r>
            <a:r>
              <a:rPr lang="en-US" b="1" dirty="0"/>
              <a:t>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	Y0,Y1,Y2,Y3 : out </a:t>
            </a:r>
            <a:r>
              <a:rPr lang="en-US" b="1" dirty="0" err="1"/>
              <a:t>std_logic</a:t>
            </a:r>
            <a:r>
              <a:rPr lang="en-US" b="1" dirty="0"/>
              <a:t>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	SL: in </a:t>
            </a:r>
            <a:r>
              <a:rPr lang="en-US" b="1" dirty="0" err="1"/>
              <a:t>std_logic_vector</a:t>
            </a:r>
            <a:r>
              <a:rPr lang="en-US" b="1" dirty="0"/>
              <a:t> (1 down to 0);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);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end DMUX;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 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architecture </a:t>
            </a:r>
            <a:r>
              <a:rPr lang="en-US" b="1" dirty="0" err="1"/>
              <a:t>arc_DMUX</a:t>
            </a:r>
            <a:r>
              <a:rPr lang="en-US" b="1" dirty="0"/>
              <a:t> of DMUX is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begin</a:t>
            </a:r>
            <a:br>
              <a:rPr lang="en-US" b="1" dirty="0"/>
            </a:br>
            <a:r>
              <a:rPr lang="en-US" b="1" dirty="0"/>
              <a:t>			if (SL= “00”) then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		Q0&lt;= Din;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	elseif (SL= “01”) then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		Q1&lt;= Din 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	elseif (SL= “10”) then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		Q2&lt;= Din;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	else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		Q3&lt;= Din;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			Endif;</a:t>
            </a:r>
          </a:p>
          <a:p>
            <a:pPr marL="0" indent="0">
              <a:buNone/>
              <a:tabLst>
                <a:tab pos="115888" algn="l"/>
                <a:tab pos="231775" algn="l"/>
                <a:tab pos="341313" algn="l"/>
                <a:tab pos="457200" algn="l"/>
                <a:tab pos="573088" algn="l"/>
                <a:tab pos="688975" algn="l"/>
                <a:tab pos="798513" algn="l"/>
                <a:tab pos="914400" algn="l"/>
                <a:tab pos="1030288" algn="l"/>
                <a:tab pos="1146175" algn="l"/>
              </a:tabLst>
            </a:pPr>
            <a:r>
              <a:rPr lang="en-US" b="1" dirty="0"/>
              <a:t>end </a:t>
            </a:r>
            <a:r>
              <a:rPr lang="en-US" b="1" dirty="0" err="1"/>
              <a:t>arc_MUX</a:t>
            </a:r>
            <a:r>
              <a:rPr lang="en-US" b="1" dirty="0"/>
              <a:t>;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8101-2520-49BA-BA0E-4B71C98DC716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A898EFF-AFFD-42F5-A473-56CC1CF87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839390"/>
            <a:ext cx="3449626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23257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4114800" cy="536971"/>
          </a:xfrm>
        </p:spPr>
        <p:txBody>
          <a:bodyPr>
            <a:noAutofit/>
          </a:bodyPr>
          <a:lstStyle/>
          <a:p>
            <a:pPr lvl="0" algn="l"/>
            <a:r>
              <a:rPr lang="en-US" sz="2400" b="1" dirty="0">
                <a:solidFill>
                  <a:srgbClr val="00B050"/>
                </a:solidFill>
              </a:rPr>
              <a:t>24. Write VHDL code to simulate 1:8 DEMUX.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742950"/>
            <a:ext cx="36576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4FBAB-581F-4CF3-A69B-19B734B886FA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172" name="Picture 4" descr="https://939506.smushcdn.com/2600043/wp-content/uploads/2020/11/Screen-Shot-2020-11-21-at-7.46.06-PM-1024x342.png?lossy=0&amp;strip=1&amp;webp=1">
            <a:extLst>
              <a:ext uri="{FF2B5EF4-FFF2-40B4-BE49-F238E27FC236}">
                <a16:creationId xmlns:a16="http://schemas.microsoft.com/office/drawing/2014/main" id="{CCDE04A2-0311-456B-8784-E008FDC06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53" y="2971188"/>
            <a:ext cx="4562493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D89409-7100-47C7-B89D-4D75B045F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25" y="4466035"/>
            <a:ext cx="1019175" cy="257175"/>
          </a:xfrm>
          <a:prstGeom prst="rect">
            <a:avLst/>
          </a:prstGeom>
        </p:spPr>
      </p:pic>
      <p:pic>
        <p:nvPicPr>
          <p:cNvPr id="7174" name="Picture 6" descr="https://www.engineersgarage.com/wp-content/uploads/2020/11/demux-ckt.png">
            <a:extLst>
              <a:ext uri="{FF2B5EF4-FFF2-40B4-BE49-F238E27FC236}">
                <a16:creationId xmlns:a16="http://schemas.microsoft.com/office/drawing/2014/main" id="{4935C4B4-9033-47E8-A3CB-73AD5728C6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61"/>
          <a:stretch/>
        </p:blipFill>
        <p:spPr bwMode="auto">
          <a:xfrm>
            <a:off x="76200" y="842752"/>
            <a:ext cx="4724400" cy="2062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https://939506.smushcdn.com/2600043/wp-content/uploads/2020/11/Screen-Shot-2020-11-21-at-7.42.43-PM.png?lossy=0&amp;strip=1&amp;webp=1">
            <a:extLst>
              <a:ext uri="{FF2B5EF4-FFF2-40B4-BE49-F238E27FC236}">
                <a16:creationId xmlns:a16="http://schemas.microsoft.com/office/drawing/2014/main" id="{6D6FA586-4C17-460D-8708-6F07374B3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902" y="0"/>
            <a:ext cx="4208172" cy="511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00650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7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8.3.5 Flipflops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057B-BADA-47D5-9580-3E5052543C6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06131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25. VHDL for simple D latch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7B3178-FC3A-4766-A8DB-D55BF549D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4148"/>
          <a:stretch/>
        </p:blipFill>
        <p:spPr>
          <a:xfrm>
            <a:off x="3810000" y="640948"/>
            <a:ext cx="2837516" cy="32262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3972A-9A39-4FEF-B2D3-3B3C1B46001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CBEA9B-8868-4D24-8215-BDA40B0C76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5037"/>
          <a:stretch/>
        </p:blipFill>
        <p:spPr>
          <a:xfrm>
            <a:off x="457199" y="742950"/>
            <a:ext cx="3246767" cy="29718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8809672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26. VHDL for D flipflop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BEF513-57B8-4E2C-BB80-D45AA86AC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1978" r="28005"/>
          <a:stretch/>
        </p:blipFill>
        <p:spPr>
          <a:xfrm>
            <a:off x="4114800" y="738368"/>
            <a:ext cx="2776049" cy="2667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3972A-9A39-4FEF-B2D3-3B3C1B46001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CBB4B5-01C7-4AD4-B4A3-3ABEC629F0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936"/>
          <a:stretch/>
        </p:blipFill>
        <p:spPr>
          <a:xfrm>
            <a:off x="524719" y="771163"/>
            <a:ext cx="3352800" cy="256258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703537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27. VHDL for JK Flipflop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3972A-9A39-4FEF-B2D3-3B3C1B46001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139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990A1B-D910-4C3D-A93A-09661973E7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13"/>
          <a:stretch/>
        </p:blipFill>
        <p:spPr>
          <a:xfrm>
            <a:off x="315621" y="742950"/>
            <a:ext cx="3629025" cy="22192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208922-99D3-4F3A-9463-3265F5EBA7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68" b="54074"/>
          <a:stretch/>
        </p:blipFill>
        <p:spPr>
          <a:xfrm>
            <a:off x="4054849" y="749469"/>
            <a:ext cx="2650751" cy="30134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ACCCA6-295F-4176-B05B-3EAE7D99D2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45735" r="34028"/>
          <a:stretch/>
        </p:blipFill>
        <p:spPr>
          <a:xfrm>
            <a:off x="6849073" y="760866"/>
            <a:ext cx="1979306" cy="378541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1224225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7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8.3.6 Counters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057B-BADA-47D5-9580-3E5052543C6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140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41507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28. VHDL for n-bit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3972A-9A39-4FEF-B2D3-3B3C1B46001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141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4B440A-FFD9-458F-BDEB-573CFCD33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9" y="607814"/>
            <a:ext cx="3078894" cy="42183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E16E09-3466-4BB0-B67B-3890C0E30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291" y="607814"/>
            <a:ext cx="3381375" cy="29527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8260466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7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7200" b="1" dirty="0">
                <a:solidFill>
                  <a:schemeClr val="accent6">
                    <a:lumMod val="75000"/>
                  </a:schemeClr>
                </a:solidFill>
              </a:rPr>
              <a:t>8.3.7 Shift Registers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057B-BADA-47D5-9580-3E5052543C6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142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69722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29. VHDL for n-bit register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3972A-9A39-4FEF-B2D3-3B3C1B460013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7BBC37-C5D8-4063-B82E-CC2A97452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02411"/>
            <a:ext cx="3324225" cy="12858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C71EDA-7910-458A-AFAE-EE1BD0CF6F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748"/>
          <a:stretch/>
        </p:blipFill>
        <p:spPr>
          <a:xfrm>
            <a:off x="533400" y="2152534"/>
            <a:ext cx="3306396" cy="16384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86DD1A0-F981-4088-8A06-B3CD454E7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27058"/>
          <a:stretch/>
        </p:blipFill>
        <p:spPr>
          <a:xfrm>
            <a:off x="3962400" y="802411"/>
            <a:ext cx="3124200" cy="39969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7598224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30. VHDL for n-bit shift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DCCB-1311-4885-83DB-A92C4E9F61C7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144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9F7FDB-B40A-4763-A7E0-779DED2CA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39390"/>
            <a:ext cx="2137130" cy="24299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86595C-1F04-449B-B260-25F4FCEA7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790" y="818028"/>
            <a:ext cx="3188419" cy="38516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5065163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/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5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8.3.8 Sequence Detectors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4057B-BADA-47D5-9580-3E5052543C6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145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16121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23" y="128550"/>
            <a:ext cx="2082725" cy="616912"/>
          </a:xfrm>
        </p:spPr>
        <p:txBody>
          <a:bodyPr>
            <a:noAutofit/>
          </a:bodyPr>
          <a:lstStyle/>
          <a:p>
            <a:pPr algn="l"/>
            <a:r>
              <a:rPr lang="en-US" sz="1600" b="1" dirty="0">
                <a:solidFill>
                  <a:srgbClr val="00B050"/>
                </a:solidFill>
              </a:rPr>
              <a:t>31. VHDL program for Modulo 6 Counter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7A5B3-F897-4569-AFBB-678917971467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146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89D877-A101-45FD-965F-1D2C49880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69E079-DBA1-455A-B0EA-CD4C3778DF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28830"/>
          <a:stretch/>
        </p:blipFill>
        <p:spPr>
          <a:xfrm>
            <a:off x="325333" y="745462"/>
            <a:ext cx="4198624" cy="39665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198ECC-D01A-4372-9D03-8561F083F2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29386" t="70617" b="748"/>
          <a:stretch/>
        </p:blipFill>
        <p:spPr>
          <a:xfrm>
            <a:off x="5699508" y="1319398"/>
            <a:ext cx="3082288" cy="16591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58B579-7351-45D1-803A-19C34F198D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325"/>
          <a:stretch/>
        </p:blipFill>
        <p:spPr>
          <a:xfrm>
            <a:off x="4392089" y="3062748"/>
            <a:ext cx="4490196" cy="18335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3E7FF1-4307-4739-BB4C-7018D89E6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-21508"/>
            <a:ext cx="2406792" cy="125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5985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2ECF978-5154-414F-A277-61F727F72C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34"/>
          <a:stretch/>
        </p:blipFill>
        <p:spPr bwMode="auto">
          <a:xfrm>
            <a:off x="1044470" y="634238"/>
            <a:ext cx="3879339" cy="163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4114800" cy="460771"/>
          </a:xfrm>
        </p:spPr>
        <p:txBody>
          <a:bodyPr>
            <a:noAutofit/>
          </a:bodyPr>
          <a:lstStyle/>
          <a:p>
            <a:pPr algn="l"/>
            <a:r>
              <a:rPr lang="en-US" sz="1200" b="1" dirty="0">
                <a:solidFill>
                  <a:srgbClr val="00B050"/>
                </a:solidFill>
              </a:rPr>
              <a:t>32. VHDL program for which output will be 1 when the sequence 1101 is detected considering overlapping condition.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906" y="1962149"/>
            <a:ext cx="4495494" cy="3078957"/>
          </a:xfrm>
          <a:ln>
            <a:solidFill>
              <a:schemeClr val="accent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library IEEE;</a:t>
            </a:r>
            <a:endParaRPr lang="en-US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use IEEE.STD_LOGIC_1164.ALL;</a:t>
            </a:r>
            <a:endParaRPr lang="en-US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--Sequence detector for detecting the sequence "1011".</a:t>
            </a:r>
            <a:br>
              <a:rPr lang="en-US" b="1" dirty="0"/>
            </a:br>
            <a:r>
              <a:rPr lang="en-US" b="1" dirty="0"/>
              <a:t>--Non overlapping type.	</a:t>
            </a:r>
            <a:endParaRPr lang="en-US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entity </a:t>
            </a:r>
            <a:r>
              <a:rPr lang="en-US" b="1" dirty="0" err="1">
                <a:solidFill>
                  <a:srgbClr val="0070C0"/>
                </a:solidFill>
              </a:rPr>
              <a:t>seq_det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/>
              <a:t>is</a:t>
            </a:r>
            <a:endParaRPr lang="en-US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port(		</a:t>
            </a:r>
            <a:r>
              <a:rPr lang="en-US" b="1" dirty="0" err="1"/>
              <a:t>clk</a:t>
            </a:r>
            <a:r>
              <a:rPr lang="en-US" b="1" dirty="0"/>
              <a:t> : in </a:t>
            </a:r>
            <a:r>
              <a:rPr lang="en-US" b="1" dirty="0" err="1"/>
              <a:t>std_logic</a:t>
            </a:r>
            <a:r>
              <a:rPr lang="en-US" b="1" dirty="0"/>
              <a:t>; 				</a:t>
            </a:r>
            <a:r>
              <a:rPr lang="en-US" b="1" dirty="0">
                <a:solidFill>
                  <a:srgbClr val="7030A0"/>
                </a:solidFill>
              </a:rPr>
              <a:t>--clock signal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		reset : in </a:t>
            </a:r>
            <a:r>
              <a:rPr lang="en-US" b="1" dirty="0" err="1"/>
              <a:t>std_logic</a:t>
            </a:r>
            <a:r>
              <a:rPr lang="en-US" b="1" dirty="0"/>
              <a:t>;				</a:t>
            </a:r>
            <a:r>
              <a:rPr lang="en-US" b="1" dirty="0">
                <a:solidFill>
                  <a:srgbClr val="7030A0"/>
                </a:solidFill>
              </a:rPr>
              <a:t>--reset signal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		seq : in </a:t>
            </a:r>
            <a:r>
              <a:rPr lang="en-US" b="1" dirty="0" err="1"/>
              <a:t>std_logic</a:t>
            </a:r>
            <a:r>
              <a:rPr lang="en-US" b="1" dirty="0"/>
              <a:t>;</a:t>
            </a:r>
            <a:r>
              <a:rPr lang="en-US" dirty="0"/>
              <a:t>				</a:t>
            </a:r>
            <a:r>
              <a:rPr lang="en-US" b="1" dirty="0">
                <a:solidFill>
                  <a:srgbClr val="7030A0"/>
                </a:solidFill>
              </a:rPr>
              <a:t>--serial bit sequence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		</a:t>
            </a:r>
            <a:r>
              <a:rPr lang="en-US" b="1" dirty="0" err="1"/>
              <a:t>det_vld</a:t>
            </a:r>
            <a:r>
              <a:rPr lang="en-US" b="1" dirty="0"/>
              <a:t> : out </a:t>
            </a:r>
            <a:r>
              <a:rPr lang="en-US" b="1" dirty="0" err="1"/>
              <a:t>std_logic</a:t>
            </a:r>
            <a:r>
              <a:rPr lang="en-US" b="1" dirty="0"/>
              <a:t> 		</a:t>
            </a:r>
            <a:r>
              <a:rPr lang="en-US" b="1" dirty="0">
                <a:solidFill>
                  <a:srgbClr val="7030A0"/>
                </a:solidFill>
              </a:rPr>
              <a:t>--A '1' indicates the pattern "1011" is detected in the sequence.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);</a:t>
            </a:r>
            <a:r>
              <a:rPr lang="en-US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end </a:t>
            </a:r>
            <a:r>
              <a:rPr lang="en-US" b="1" dirty="0" err="1">
                <a:solidFill>
                  <a:srgbClr val="0070C0"/>
                </a:solidFill>
              </a:rPr>
              <a:t>seq_det</a:t>
            </a:r>
            <a:r>
              <a:rPr lang="en-US" b="1" dirty="0">
                <a:solidFill>
                  <a:srgbClr val="0070C0"/>
                </a:solidFill>
              </a:rPr>
              <a:t>;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architecture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Behavioral </a:t>
            </a:r>
            <a:r>
              <a:rPr lang="en-US" b="1" dirty="0"/>
              <a:t>of </a:t>
            </a:r>
            <a:r>
              <a:rPr lang="en-US" b="1" dirty="0" err="1">
                <a:solidFill>
                  <a:srgbClr val="0070C0"/>
                </a:solidFill>
              </a:rPr>
              <a:t>seq_det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/>
              <a:t>is</a:t>
            </a:r>
            <a:endParaRPr lang="en-US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type </a:t>
            </a:r>
            <a:r>
              <a:rPr lang="en-US" b="1" dirty="0" err="1"/>
              <a:t>state_dec</a:t>
            </a:r>
            <a:r>
              <a:rPr lang="en-US" b="1" dirty="0"/>
              <a:t> is (A,B,C,D); 		</a:t>
            </a:r>
            <a:r>
              <a:rPr lang="en-US" b="1" dirty="0">
                <a:solidFill>
                  <a:srgbClr val="7030A0"/>
                </a:solidFill>
              </a:rPr>
              <a:t>--Defines the type for states in the state machine 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signal state : </a:t>
            </a:r>
            <a:r>
              <a:rPr lang="en-US" b="1" dirty="0" err="1"/>
              <a:t>state_dec</a:t>
            </a:r>
            <a:r>
              <a:rPr lang="en-US" b="1" dirty="0"/>
              <a:t> ; 			</a:t>
            </a:r>
            <a:r>
              <a:rPr lang="en-US" b="1" dirty="0">
                <a:solidFill>
                  <a:srgbClr val="7030A0"/>
                </a:solidFill>
              </a:rPr>
              <a:t>--Declare the signal with the corresponding state.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dirty="0"/>
              <a:t> </a:t>
            </a: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begin</a:t>
            </a:r>
            <a:endParaRPr lang="en-US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	process(</a:t>
            </a:r>
            <a:r>
              <a:rPr lang="en-US" b="1" dirty="0" err="1"/>
              <a:t>clk</a:t>
            </a:r>
            <a:r>
              <a:rPr lang="en-US" b="1" dirty="0"/>
              <a:t>)</a:t>
            </a:r>
            <a:endParaRPr lang="en-US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	begin</a:t>
            </a:r>
            <a:endParaRPr lang="en-US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		if( reset = '1' ) then				</a:t>
            </a:r>
            <a:r>
              <a:rPr lang="en-US" b="1" dirty="0">
                <a:solidFill>
                  <a:srgbClr val="7030A0"/>
                </a:solidFill>
              </a:rPr>
              <a:t>--resets state and output signal when reset is asserted.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			</a:t>
            </a:r>
            <a:r>
              <a:rPr lang="en-US" b="1" dirty="0" err="1"/>
              <a:t>det_vld</a:t>
            </a:r>
            <a:r>
              <a:rPr lang="en-US" b="1" dirty="0"/>
              <a:t> &lt;= '0’;</a:t>
            </a:r>
            <a:endParaRPr lang="en-US" dirty="0"/>
          </a:p>
          <a:p>
            <a:pPr marL="0" indent="0"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  <a:tab pos="1600200" algn="l"/>
                <a:tab pos="1717675" algn="l"/>
              </a:tabLst>
            </a:pPr>
            <a:r>
              <a:rPr lang="en-US" b="1" dirty="0"/>
              <a:t>				state &lt;= A;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7A5B3-F897-4569-AFBB-678917971467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147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E06CB2-DFDB-4A08-8E4D-D63E9C0F2128}"/>
              </a:ext>
            </a:extLst>
          </p:cNvPr>
          <p:cNvSpPr txBox="1">
            <a:spLocks/>
          </p:cNvSpPr>
          <p:nvPr/>
        </p:nvSpPr>
        <p:spPr>
          <a:xfrm>
            <a:off x="4724400" y="98203"/>
            <a:ext cx="4343400" cy="494290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endParaRPr lang="en-US" dirty="0"/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b="1" dirty="0" err="1"/>
              <a:t>elsif</a:t>
            </a:r>
            <a:r>
              <a:rPr lang="en-US" b="1" dirty="0"/>
              <a:t> ( </a:t>
            </a:r>
            <a:r>
              <a:rPr lang="en-US" b="1" dirty="0" err="1"/>
              <a:t>rising_edge</a:t>
            </a:r>
            <a:r>
              <a:rPr lang="en-US" b="1" dirty="0"/>
              <a:t>(</a:t>
            </a:r>
            <a:r>
              <a:rPr lang="en-US" b="1" dirty="0" err="1"/>
              <a:t>clk</a:t>
            </a:r>
            <a:r>
              <a:rPr lang="en-US" b="1" dirty="0"/>
              <a:t>) ) then 		</a:t>
            </a:r>
            <a:r>
              <a:rPr lang="en-US" b="1" i="1" dirty="0">
                <a:solidFill>
                  <a:srgbClr val="7030A0"/>
                </a:solidFill>
              </a:rPr>
              <a:t>--calculates the next state based on current state and input bit.</a:t>
            </a:r>
            <a:endParaRPr lang="en-US" i="1" dirty="0">
              <a:solidFill>
                <a:srgbClr val="7030A0"/>
              </a:solidFill>
            </a:endParaRP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case state is</a:t>
            </a:r>
            <a:endParaRPr lang="en-US" sz="3200" dirty="0"/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when A =&gt;	</a:t>
            </a:r>
            <a:r>
              <a:rPr lang="en-US" sz="3200" b="1" dirty="0" err="1"/>
              <a:t>det_vld</a:t>
            </a:r>
            <a:r>
              <a:rPr lang="en-US" sz="3200" b="1" dirty="0"/>
              <a:t> &lt;= '0’;</a:t>
            </a:r>
            <a:endParaRPr lang="en-US" sz="3200" dirty="0"/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if ( seq = '0' ) then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	state &lt;= A;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else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	state &lt;= B;</a:t>
            </a:r>
            <a:endParaRPr lang="en-US" sz="3200" dirty="0"/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end if;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endParaRPr lang="en-US" sz="3200" dirty="0"/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when B =&gt;						</a:t>
            </a:r>
            <a:r>
              <a:rPr lang="en-US" sz="3200" b="1" i="1" dirty="0">
                <a:solidFill>
                  <a:srgbClr val="7030A0"/>
                </a:solidFill>
              </a:rPr>
              <a:t>--when the current state is B.</a:t>
            </a:r>
            <a:endParaRPr lang="en-US" sz="3200" i="1" dirty="0">
              <a:solidFill>
                <a:srgbClr val="7030A0"/>
              </a:solidFill>
            </a:endParaRPr>
          </a:p>
          <a:p>
            <a:pPr marL="117475" lvl="2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if ( seq = '0' ) then</a:t>
            </a:r>
            <a:r>
              <a:rPr lang="en-US" sz="3200" dirty="0"/>
              <a:t> </a:t>
            </a:r>
          </a:p>
          <a:p>
            <a:pPr marL="117475" lvl="2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	state &lt;= C;</a:t>
            </a:r>
            <a:r>
              <a:rPr lang="en-US" sz="3200" dirty="0"/>
              <a:t> </a:t>
            </a:r>
          </a:p>
          <a:p>
            <a:pPr marL="117475" lvl="2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else</a:t>
            </a:r>
            <a:r>
              <a:rPr lang="en-US" sz="3200" dirty="0"/>
              <a:t> </a:t>
            </a:r>
          </a:p>
          <a:p>
            <a:pPr marL="117475" lvl="2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	state &lt;= B;</a:t>
            </a:r>
            <a:r>
              <a:rPr lang="en-US" sz="3200" dirty="0"/>
              <a:t> </a:t>
            </a:r>
          </a:p>
          <a:p>
            <a:pPr marL="117475" lvl="2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end if;</a:t>
            </a:r>
            <a:r>
              <a:rPr lang="en-US" sz="3200" dirty="0"/>
              <a:t> </a:t>
            </a:r>
          </a:p>
          <a:p>
            <a:pPr marL="117475" lvl="2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endParaRPr lang="en-US" sz="3200" dirty="0"/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when C =&gt;</a:t>
            </a:r>
            <a:r>
              <a:rPr lang="en-US" sz="3200" dirty="0"/>
              <a:t>						</a:t>
            </a:r>
            <a:r>
              <a:rPr lang="en-US" sz="3200" b="1" i="1" dirty="0">
                <a:solidFill>
                  <a:srgbClr val="7030A0"/>
                </a:solidFill>
              </a:rPr>
              <a:t>--when the current state is C.</a:t>
            </a:r>
            <a:r>
              <a:rPr lang="en-US" sz="3200" i="1" dirty="0">
                <a:solidFill>
                  <a:srgbClr val="7030A0"/>
                </a:solidFill>
              </a:rPr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if ( seq = '0' ) then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	state &lt;= A;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else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	state &lt;= D;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end if;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br>
              <a:rPr lang="en-US" sz="3200" b="1" dirty="0"/>
            </a:br>
            <a:r>
              <a:rPr lang="en-US" sz="3200" b="1" dirty="0"/>
              <a:t>		when D =&gt;</a:t>
            </a:r>
            <a:r>
              <a:rPr lang="en-US" sz="3200" dirty="0"/>
              <a:t>					</a:t>
            </a:r>
            <a:r>
              <a:rPr lang="en-US" sz="3200" i="1" dirty="0">
                <a:solidFill>
                  <a:srgbClr val="7030A0"/>
                </a:solidFill>
              </a:rPr>
              <a:t>	</a:t>
            </a:r>
            <a:r>
              <a:rPr lang="en-US" sz="3200" b="1" i="1" dirty="0">
                <a:solidFill>
                  <a:srgbClr val="7030A0"/>
                </a:solidFill>
              </a:rPr>
              <a:t>--when the current state is D.</a:t>
            </a:r>
            <a:r>
              <a:rPr lang="en-US" sz="3200" i="1" dirty="0">
                <a:solidFill>
                  <a:srgbClr val="7030A0"/>
                </a:solidFill>
              </a:rPr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if ( seq = '0' ) then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	state &lt;= C;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else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	state &lt;= A;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	</a:t>
            </a:r>
            <a:r>
              <a:rPr lang="en-US" sz="3200" b="1" dirty="0" err="1"/>
              <a:t>det_vld</a:t>
            </a:r>
            <a:r>
              <a:rPr lang="en-US" sz="3200" b="1" dirty="0"/>
              <a:t> &lt;= '1’;</a:t>
            </a:r>
            <a:r>
              <a:rPr lang="en-US" sz="3200" dirty="0"/>
              <a:t>		</a:t>
            </a:r>
            <a:r>
              <a:rPr lang="en-US" sz="3200" b="1" i="1" dirty="0">
                <a:solidFill>
                  <a:srgbClr val="7030A0"/>
                </a:solidFill>
              </a:rPr>
              <a:t>--</a:t>
            </a:r>
            <a:r>
              <a:rPr lang="en-US" b="1" i="1" dirty="0">
                <a:solidFill>
                  <a:srgbClr val="7030A0"/>
                </a:solidFill>
              </a:rPr>
              <a:t>Output is asserted when the pattern "1011" is found in the</a:t>
            </a:r>
            <a:r>
              <a:rPr lang="en-US" i="1" dirty="0">
                <a:solidFill>
                  <a:srgbClr val="7030A0"/>
                </a:solidFill>
              </a:rPr>
              <a:t> </a:t>
            </a:r>
            <a:r>
              <a:rPr lang="en-US" b="1" i="1" dirty="0">
                <a:solidFill>
                  <a:srgbClr val="7030A0"/>
                </a:solidFill>
              </a:rPr>
              <a:t>sequence.</a:t>
            </a:r>
            <a:endParaRPr lang="en-US" sz="3200" i="1" dirty="0">
              <a:solidFill>
                <a:srgbClr val="7030A0"/>
              </a:solidFill>
            </a:endParaRP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end if;</a:t>
            </a:r>
            <a:r>
              <a:rPr lang="en-US" sz="3200" dirty="0"/>
              <a:t> </a:t>
            </a:r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when others =&gt;</a:t>
            </a:r>
            <a:endParaRPr lang="en-US" sz="3200" dirty="0"/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			NULL;</a:t>
            </a:r>
            <a:endParaRPr lang="en-US" sz="3200" dirty="0"/>
          </a:p>
          <a:p>
            <a:pPr marL="117475" lvl="1" indent="0">
              <a:buNone/>
              <a:tabLst>
                <a:tab pos="117475" algn="l"/>
                <a:tab pos="169863" algn="l"/>
                <a:tab pos="228600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sz="3200" b="1" dirty="0"/>
              <a:t>end case;</a:t>
            </a:r>
            <a:endParaRPr lang="en-US" sz="3200" dirty="0"/>
          </a:p>
          <a:p>
            <a:pPr marL="0" indent="0">
              <a:buFont typeface="Arial" pitchFamily="34" charset="0"/>
              <a:buNone/>
              <a:tabLst>
                <a:tab pos="117475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b="1" dirty="0"/>
              <a:t>end if;</a:t>
            </a:r>
            <a:endParaRPr lang="en-US" dirty="0"/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b="1" dirty="0"/>
              <a:t>end process;</a:t>
            </a:r>
            <a:endParaRPr lang="en-US" dirty="0"/>
          </a:p>
          <a:p>
            <a:pPr marL="0" indent="0">
              <a:buFont typeface="Arial" pitchFamily="34" charset="0"/>
              <a:buNone/>
              <a:tabLst>
                <a:tab pos="117475" algn="l"/>
                <a:tab pos="228600" algn="l"/>
                <a:tab pos="346075" algn="l"/>
                <a:tab pos="457200" algn="l"/>
                <a:tab pos="574675" algn="l"/>
                <a:tab pos="685800" algn="l"/>
                <a:tab pos="803275" algn="l"/>
                <a:tab pos="914400" algn="l"/>
                <a:tab pos="1031875" algn="l"/>
                <a:tab pos="1143000" algn="l"/>
                <a:tab pos="1260475" algn="l"/>
                <a:tab pos="1371600" algn="l"/>
              </a:tabLst>
            </a:pPr>
            <a:r>
              <a:rPr lang="en-US" b="1" dirty="0"/>
              <a:t>end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Behavioral</a:t>
            </a:r>
            <a:r>
              <a:rPr lang="en-US" b="1" dirty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00032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lvl="0" algn="l"/>
            <a:r>
              <a:rPr lang="en-US" sz="2800" b="1" dirty="0">
                <a:solidFill>
                  <a:srgbClr val="00B050"/>
                </a:solidFill>
              </a:rPr>
              <a:t>33. VHDL for 101 Sequence detector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153400" cy="3851673"/>
          </a:xfrm>
        </p:spPr>
        <p:txBody>
          <a:bodyPr>
            <a:normAutofit/>
          </a:bodyPr>
          <a:lstStyle/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ECE2-994E-47C0-AD8A-17D04688118F}" type="datetime1">
              <a:rPr lang="en-US" smtClean="0">
                <a:solidFill>
                  <a:srgbClr val="00B050"/>
                </a:solidFill>
              </a:rPr>
              <a:t>5/15/2023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B050"/>
                </a:solidFill>
              </a:rPr>
              <a:pPr/>
              <a:t>148</a:t>
            </a:fld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ES, VHDL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871C8E-B6D4-45CB-AE2A-F9865B8CF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696" y="123684"/>
            <a:ext cx="3664362" cy="16098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8A7A3B-8880-47A8-BD3F-E284579920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-1431"/>
          <a:stretch/>
        </p:blipFill>
        <p:spPr>
          <a:xfrm>
            <a:off x="546161" y="711857"/>
            <a:ext cx="2930464" cy="4161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F1ADB4-AF8C-406B-9FD7-354E374FE6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305"/>
          <a:stretch/>
        </p:blipFill>
        <p:spPr>
          <a:xfrm>
            <a:off x="3565586" y="1645466"/>
            <a:ext cx="1920814" cy="30253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605727-0AD6-49EC-90A6-32093D0BF2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045"/>
          <a:stretch/>
        </p:blipFill>
        <p:spPr>
          <a:xfrm>
            <a:off x="5649833" y="2091246"/>
            <a:ext cx="1806734" cy="25414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9027944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r>
              <a:rPr lang="en-US" sz="3600" b="1" dirty="0">
                <a:solidFill>
                  <a:srgbClr val="FF0000"/>
                </a:solidFill>
              </a:rPr>
              <a:t>Some More Useful Links for VHDL coding: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r>
              <a:rPr lang="en-US" sz="2000" dirty="0">
                <a:hlinkClick r:id="" action="ppaction://noaction"/>
              </a:rPr>
              <a:t>https://www.engineersgarage.com/vhdl-tutorial-1-introduction-to-vhdl/</a:t>
            </a:r>
          </a:p>
          <a:p>
            <a:r>
              <a:rPr lang="en-US" sz="2000" dirty="0">
                <a:hlinkClick r:id="" action="ppaction://noaction"/>
              </a:rPr>
              <a:t>https://www.eng.auburn.edu/~nelsovp/courses/elec4200/Slides/VHDL%202%20Combinational.pdf</a:t>
            </a:r>
            <a:endParaRPr lang="en-US" sz="2000" dirty="0"/>
          </a:p>
          <a:p>
            <a:r>
              <a:rPr lang="en-US" sz="2000" dirty="0">
                <a:hlinkClick r:id="rId2"/>
              </a:rPr>
              <a:t>https://www.javatpoint.com/vhdl</a:t>
            </a:r>
            <a:endParaRPr lang="en-US" sz="2000" dirty="0"/>
          </a:p>
          <a:p>
            <a:r>
              <a:rPr lang="en-US" sz="2000" dirty="0">
                <a:hlinkClick r:id="rId3"/>
              </a:rPr>
              <a:t>https://nandland.com/introduction-to-vhdl-for-beginners-with-code-examples/</a:t>
            </a:r>
            <a:endParaRPr lang="en-US" sz="2000" dirty="0"/>
          </a:p>
          <a:p>
            <a:r>
              <a:rPr lang="en-US" sz="2000" dirty="0">
                <a:hlinkClick r:id="rId4"/>
              </a:rPr>
              <a:t>https://www.tutorialspoint.com/vlsi_design/vlsi_design_vhdl_introduction.htm</a:t>
            </a:r>
            <a:endParaRPr lang="en-US" sz="2000" dirty="0"/>
          </a:p>
          <a:p>
            <a:r>
              <a:rPr lang="en-US" sz="2000" dirty="0">
                <a:hlinkClick r:id="rId5"/>
              </a:rPr>
              <a:t>https://www.asic-world.com/vhdl/tutorial.html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2A49B-94DA-4199-A601-B87ECAAC5A5C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ES, VHDL</a:t>
            </a:r>
          </a:p>
        </p:txBody>
      </p:sp>
    </p:spTree>
    <p:extLst>
      <p:ext uri="{BB962C8B-B14F-4D97-AF65-F5344CB8AC3E}">
        <p14:creationId xmlns:p14="http://schemas.microsoft.com/office/powerpoint/2010/main" val="8044661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0771"/>
          </a:xfrm>
        </p:spPr>
        <p:txBody>
          <a:bodyPr>
            <a:noAutofit/>
          </a:bodyPr>
          <a:lstStyle/>
          <a:p>
            <a:pPr algn="l">
              <a:tabLst>
                <a:tab pos="463550" algn="l"/>
              </a:tabLst>
            </a:pP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8516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3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</a:rPr>
              <a:t>End of chapter 3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421D3-39DB-4C2E-B645-E8594B7DEB12}" type="datetime1">
              <a:rPr lang="en-US" smtClean="0"/>
              <a:t>5/15/2023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3. RTL and VHDL</a:t>
            </a:r>
          </a:p>
        </p:txBody>
      </p:sp>
    </p:spTree>
    <p:extLst>
      <p:ext uri="{BB962C8B-B14F-4D97-AF65-F5344CB8AC3E}">
        <p14:creationId xmlns:p14="http://schemas.microsoft.com/office/powerpoint/2010/main" val="1496509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3709</TotalTime>
  <Words>6522</Words>
  <Application>Microsoft Office PowerPoint</Application>
  <PresentationFormat>On-screen Show (16:9)</PresentationFormat>
  <Paragraphs>1347</Paragraphs>
  <Slides>150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5" baseType="lpstr">
      <vt:lpstr>Arial</vt:lpstr>
      <vt:lpstr>Calibri</vt:lpstr>
      <vt:lpstr>Cambria Math</vt:lpstr>
      <vt:lpstr>Varela Round</vt:lpstr>
      <vt:lpstr>Office Theme</vt:lpstr>
      <vt:lpstr>Chapter 3 RTL and HDL Register Transfer Language, Hardware Description Language</vt:lpstr>
      <vt:lpstr>Contents:</vt:lpstr>
      <vt:lpstr>3.1 Micro-operations and RTL</vt:lpstr>
      <vt:lpstr>Micro-operations</vt:lpstr>
      <vt:lpstr>Implementations of micro-operation  XY</vt:lpstr>
      <vt:lpstr>Implementations of the data transfer   α : XY </vt:lpstr>
      <vt:lpstr>Implementations of the data transfer   α : XY, YZ </vt:lpstr>
      <vt:lpstr>Implementations of the data transfer   α : XY , ZY</vt:lpstr>
      <vt:lpstr>Three implementations of the data transfers α : X 0 and β: X1</vt:lpstr>
      <vt:lpstr>Implementations of the 4-bit data transfer α:X Y</vt:lpstr>
      <vt:lpstr>Types of Micro-operations</vt:lpstr>
      <vt:lpstr>PowerPoint Presentation</vt:lpstr>
      <vt:lpstr>Arithmetic and Logical Micro-operations</vt:lpstr>
      <vt:lpstr>Shift Micro-operations</vt:lpstr>
      <vt:lpstr>a) Linear / Logical shift</vt:lpstr>
      <vt:lpstr>b) Circular shift</vt:lpstr>
      <vt:lpstr>c) Arithmetic shift</vt:lpstr>
      <vt:lpstr>d) Decimal Shift</vt:lpstr>
      <vt:lpstr>Assignment:</vt:lpstr>
      <vt:lpstr>3.2 Using RTL to specify a Digital System</vt:lpstr>
      <vt:lpstr>3.3 Specification of Digital Components</vt:lpstr>
      <vt:lpstr>PowerPoint Presentation</vt:lpstr>
      <vt:lpstr>PowerPoint Presentation</vt:lpstr>
      <vt:lpstr>Another Example: JK </vt:lpstr>
      <vt:lpstr>3.4 Specification and Implementation of Simple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Modulo 6 Counter</vt:lpstr>
      <vt:lpstr>PowerPoint Presentation</vt:lpstr>
      <vt:lpstr>State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Problems and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Assignment:</vt:lpstr>
      <vt:lpstr>VHDL</vt:lpstr>
      <vt:lpstr>Advantages of VHDL: </vt:lpstr>
      <vt:lpstr>Advantages of VHDL: </vt:lpstr>
      <vt:lpstr>Disadvantages of VHDL: </vt:lpstr>
      <vt:lpstr>VHDL syntax:</vt:lpstr>
      <vt:lpstr>i) Library declaration: </vt:lpstr>
      <vt:lpstr>ii) Entity section:</vt:lpstr>
      <vt:lpstr>VHDL Entity representing an “And gate” with two input ports a and b and output port c.</vt:lpstr>
      <vt:lpstr>VHDL Entity representing a flip-flop type D with input port: clock and reset active low, data D, and output port Q.</vt:lpstr>
      <vt:lpstr>VHDL Entity representing a multiplier with input operand a and b of 8 bit and output m of 16 bit.</vt:lpstr>
      <vt:lpstr>iii) Architecture Section:</vt:lpstr>
      <vt:lpstr>iii) Architecture Section:</vt:lpstr>
      <vt:lpstr>Different types of Modeling to describe architecture:</vt:lpstr>
      <vt:lpstr>i) Behavioral Modeling</vt:lpstr>
      <vt:lpstr>a) OR gate:</vt:lpstr>
      <vt:lpstr>b) AND gate</vt:lpstr>
      <vt:lpstr>c) XOR gate</vt:lpstr>
      <vt:lpstr>d) VHDL concurrency</vt:lpstr>
      <vt:lpstr>e) VHDL Code for half-adder using dataflow via logic equation</vt:lpstr>
      <vt:lpstr>ii) Structural Modeling</vt:lpstr>
      <vt:lpstr>PowerPoint Presentation</vt:lpstr>
      <vt:lpstr>PowerPoint Presentation</vt:lpstr>
      <vt:lpstr>PowerPoint Presentation</vt:lpstr>
      <vt:lpstr>VHDL design with high level of abstraction</vt:lpstr>
      <vt:lpstr>VHDL design with high level of abstraction</vt:lpstr>
      <vt:lpstr>PowerPoint Presentation</vt:lpstr>
      <vt:lpstr>VHDL file to implement Modulo 6 counter using a high level of abstraction</vt:lpstr>
      <vt:lpstr>Explanation:</vt:lpstr>
      <vt:lpstr>PowerPoint Presentation</vt:lpstr>
      <vt:lpstr>PowerPoint Presentation</vt:lpstr>
      <vt:lpstr>PowerPoint Presentation</vt:lpstr>
      <vt:lpstr>Low Level of Abstraction</vt:lpstr>
      <vt:lpstr>All code at once</vt:lpstr>
      <vt:lpstr>VHDL code for Full adder (Low level abstraction)</vt:lpstr>
      <vt:lpstr>VHDL code for D-Flip flop</vt:lpstr>
      <vt:lpstr>PowerPoint Presentation</vt:lpstr>
      <vt:lpstr>Assignment:</vt:lpstr>
      <vt:lpstr>Assignment:</vt:lpstr>
      <vt:lpstr>PowerPoint Presentation</vt:lpstr>
      <vt:lpstr>PowerPoint Presentation</vt:lpstr>
      <vt:lpstr>Some more about  VHDL</vt:lpstr>
      <vt:lpstr>Contents:</vt:lpstr>
      <vt:lpstr>8.1 VHDL</vt:lpstr>
      <vt:lpstr>Advantages of VHDL: </vt:lpstr>
      <vt:lpstr>Advantages of VHDL: </vt:lpstr>
      <vt:lpstr>Disadvantages of VHDL: </vt:lpstr>
      <vt:lpstr>Disadvantages of VHDL: </vt:lpstr>
      <vt:lpstr>8.2 VHDL Structure:</vt:lpstr>
      <vt:lpstr>i) Library declaration: </vt:lpstr>
      <vt:lpstr>ii) Entity section:</vt:lpstr>
      <vt:lpstr>VHDL Entity representing an “And gate” with two input ports a and b and output port c.</vt:lpstr>
      <vt:lpstr>VHDL Entity representing a flip-flop type D with input port: clock and reset active low, data D, and output port Q.</vt:lpstr>
      <vt:lpstr>VHDL Entity representing a multiplier with input operand a and b of 8 bit and output m of 16 bit.</vt:lpstr>
      <vt:lpstr>iii) Architecture Section:</vt:lpstr>
      <vt:lpstr>iii) Architecture Section:</vt:lpstr>
      <vt:lpstr>Different types of Modeling to describe architecture:</vt:lpstr>
      <vt:lpstr>i) Dataflow Modeling</vt:lpstr>
      <vt:lpstr>1. Write VHDL code for AND gate (using dataflow model)</vt:lpstr>
      <vt:lpstr>2. Write VHDL code for Half Adder (using Dataflow model)</vt:lpstr>
      <vt:lpstr>3. Write VHDL concurrency coding for below circuit (using dataflow model)</vt:lpstr>
      <vt:lpstr>4. Write VHDL code for Full adder (using dataflow model)</vt:lpstr>
      <vt:lpstr>ii) Behavioral Modeling</vt:lpstr>
      <vt:lpstr>5. Write VHDL for OR gate (using behavioral model) </vt:lpstr>
      <vt:lpstr>6. Write VHDL for AND gate (using behavioral model) </vt:lpstr>
      <vt:lpstr>7. Write VHDL for OR gate (using behavioral model) </vt:lpstr>
      <vt:lpstr>ii) Structural Modeling</vt:lpstr>
      <vt:lpstr>8. Write VHDL for below combinational circuit (using structural  model but no behavioral/dataflow specified) </vt:lpstr>
      <vt:lpstr>PowerPoint Presentation</vt:lpstr>
      <vt:lpstr>10. Write VHDL code for below (using just structural model) </vt:lpstr>
      <vt:lpstr>8.3 VHDL realization of basic digital circuits</vt:lpstr>
      <vt:lpstr>PowerPoint Presentation</vt:lpstr>
      <vt:lpstr>11. Write a VHDL code to implement the half adder using structural modeling or component. </vt:lpstr>
      <vt:lpstr>Solution:</vt:lpstr>
      <vt:lpstr>12. Write a VHDL code to implement the full-adder using two half adders.</vt:lpstr>
      <vt:lpstr>Solution:</vt:lpstr>
      <vt:lpstr>13. Write VHDL code for 4-bit binary parallel adder.</vt:lpstr>
      <vt:lpstr>PowerPoint Presentation</vt:lpstr>
      <vt:lpstr>PowerPoint Presentation</vt:lpstr>
      <vt:lpstr>14. VHDL for 2 bit binary multiplier using dataflow modeling</vt:lpstr>
      <vt:lpstr>15. VHDL for 2 bit binary multiplier using behavioral  modeling</vt:lpstr>
      <vt:lpstr>16. VHDL for 2 bit binary multiplier using structural  modeling</vt:lpstr>
      <vt:lpstr>PowerPoint Presentation</vt:lpstr>
      <vt:lpstr>17. Write the VHDL code to implement 2:4 decoder</vt:lpstr>
      <vt:lpstr>18. Write VHDL for 4:2 Encoder</vt:lpstr>
      <vt:lpstr>Assignment:</vt:lpstr>
      <vt:lpstr>PowerPoint Presentation</vt:lpstr>
      <vt:lpstr>21. Write VHDL code to simulate 4:1 MUX.</vt:lpstr>
      <vt:lpstr>22. Write VHDL code to simulate 8:1 MUX.</vt:lpstr>
      <vt:lpstr>23. Write VHDL code to simulate 1:4 DEMUX.</vt:lpstr>
      <vt:lpstr>24. Write VHDL code to simulate 1:8 DEMUX.</vt:lpstr>
      <vt:lpstr>PowerPoint Presentation</vt:lpstr>
      <vt:lpstr>25. VHDL for simple D latch</vt:lpstr>
      <vt:lpstr>26. VHDL for D flipflop</vt:lpstr>
      <vt:lpstr>27. VHDL for JK Flipflop</vt:lpstr>
      <vt:lpstr>PowerPoint Presentation</vt:lpstr>
      <vt:lpstr>28. VHDL for n-bit counter</vt:lpstr>
      <vt:lpstr>PowerPoint Presentation</vt:lpstr>
      <vt:lpstr>29. VHDL for n-bit register</vt:lpstr>
      <vt:lpstr>30. VHDL for n-bit shift register</vt:lpstr>
      <vt:lpstr>PowerPoint Presentation</vt:lpstr>
      <vt:lpstr>31. VHDL program for Modulo 6 Counter</vt:lpstr>
      <vt:lpstr>32. VHDL program for which output will be 1 when the sequence 1101 is detected considering overlapping condition. </vt:lpstr>
      <vt:lpstr>33. VHDL for 101 Sequence detector </vt:lpstr>
      <vt:lpstr>Some More Useful Links for VHDL coding: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</dc:title>
  <dc:creator>shiva</dc:creator>
  <cp:lastModifiedBy>Shiva Ram Dam</cp:lastModifiedBy>
  <cp:revision>299</cp:revision>
  <dcterms:created xsi:type="dcterms:W3CDTF">2006-08-16T00:00:00Z</dcterms:created>
  <dcterms:modified xsi:type="dcterms:W3CDTF">2023-05-15T02:03:38Z</dcterms:modified>
</cp:coreProperties>
</file>