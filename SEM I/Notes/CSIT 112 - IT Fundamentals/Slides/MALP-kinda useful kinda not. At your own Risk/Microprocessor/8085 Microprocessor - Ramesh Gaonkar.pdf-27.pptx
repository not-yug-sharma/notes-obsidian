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  <p:sldId id="456" r:id="rId202"/>
    <p:sldId id="457" r:id="rId203"/>
    <p:sldId id="458" r:id="rId204"/>
    <p:sldId id="459" r:id="rId205"/>
    <p:sldId id="460" r:id="rId206"/>
    <p:sldId id="461" r:id="rId207"/>
    <p:sldId id="462" r:id="rId208"/>
    <p:sldId id="463" r:id="rId209"/>
    <p:sldId id="464" r:id="rId210"/>
    <p:sldId id="465" r:id="rId211"/>
    <p:sldId id="466" r:id="rId212"/>
    <p:sldId id="467" r:id="rId213"/>
    <p:sldId id="468" r:id="rId214"/>
    <p:sldId id="469" r:id="rId215"/>
    <p:sldId id="470" r:id="rId216"/>
    <p:sldId id="471" r:id="rId217"/>
    <p:sldId id="472" r:id="rId218"/>
    <p:sldId id="473" r:id="rId219"/>
    <p:sldId id="474" r:id="rId220"/>
    <p:sldId id="475" r:id="rId221"/>
    <p:sldId id="476" r:id="rId222"/>
    <p:sldId id="477" r:id="rId223"/>
    <p:sldId id="478" r:id="rId224"/>
    <p:sldId id="479" r:id="rId225"/>
    <p:sldId id="480" r:id="rId226"/>
    <p:sldId id="481" r:id="rId227"/>
    <p:sldId id="482" r:id="rId228"/>
    <p:sldId id="483" r:id="rId229"/>
    <p:sldId id="484" r:id="rId230"/>
    <p:sldId id="485" r:id="rId231"/>
    <p:sldId id="486" r:id="rId232"/>
    <p:sldId id="487" r:id="rId233"/>
    <p:sldId id="488" r:id="rId234"/>
    <p:sldId id="489" r:id="rId235"/>
    <p:sldId id="490" r:id="rId236"/>
    <p:sldId id="491" r:id="rId237"/>
    <p:sldId id="492" r:id="rId238"/>
    <p:sldId id="493" r:id="rId239"/>
    <p:sldId id="494" r:id="rId240"/>
    <p:sldId id="495" r:id="rId241"/>
    <p:sldId id="496" r:id="rId242"/>
    <p:sldId id="497" r:id="rId243"/>
    <p:sldId id="498" r:id="rId244"/>
    <p:sldId id="499" r:id="rId245"/>
    <p:sldId id="500" r:id="rId246"/>
    <p:sldId id="501" r:id="rId247"/>
    <p:sldId id="502" r:id="rId248"/>
    <p:sldId id="503" r:id="rId249"/>
    <p:sldId id="504" r:id="rId250"/>
    <p:sldId id="505" r:id="rId251"/>
    <p:sldId id="506" r:id="rId252"/>
    <p:sldId id="507" r:id="rId253"/>
    <p:sldId id="508" r:id="rId254"/>
    <p:sldId id="509" r:id="rId255"/>
    <p:sldId id="510" r:id="rId256"/>
    <p:sldId id="511" r:id="rId257"/>
    <p:sldId id="512" r:id="rId258"/>
    <p:sldId id="513" r:id="rId259"/>
    <p:sldId id="514" r:id="rId260"/>
    <p:sldId id="515" r:id="rId261"/>
    <p:sldId id="516" r:id="rId262"/>
    <p:sldId id="517" r:id="rId263"/>
    <p:sldId id="518" r:id="rId264"/>
    <p:sldId id="519" r:id="rId265"/>
    <p:sldId id="520" r:id="rId266"/>
    <p:sldId id="521" r:id="rId267"/>
    <p:sldId id="522" r:id="rId268"/>
    <p:sldId id="523" r:id="rId269"/>
    <p:sldId id="524" r:id="rId270"/>
    <p:sldId id="525" r:id="rId271"/>
    <p:sldId id="526" r:id="rId272"/>
    <p:sldId id="527" r:id="rId273"/>
    <p:sldId id="528" r:id="rId274"/>
    <p:sldId id="529" r:id="rId275"/>
    <p:sldId id="530" r:id="rId276"/>
    <p:sldId id="531" r:id="rId277"/>
    <p:sldId id="532" r:id="rId278"/>
    <p:sldId id="533" r:id="rId279"/>
    <p:sldId id="534" r:id="rId280"/>
    <p:sldId id="535" r:id="rId281"/>
    <p:sldId id="536" r:id="rId282"/>
    <p:sldId id="537" r:id="rId283"/>
    <p:sldId id="538" r:id="rId284"/>
    <p:sldId id="539" r:id="rId285"/>
    <p:sldId id="540" r:id="rId286"/>
    <p:sldId id="541" r:id="rId287"/>
    <p:sldId id="542" r:id="rId288"/>
    <p:sldId id="543" r:id="rId289"/>
    <p:sldId id="544" r:id="rId290"/>
    <p:sldId id="545" r:id="rId291"/>
    <p:sldId id="546" r:id="rId292"/>
    <p:sldId id="547" r:id="rId293"/>
    <p:sldId id="548" r:id="rId294"/>
    <p:sldId id="549" r:id="rId295"/>
    <p:sldId id="550" r:id="rId296"/>
    <p:sldId id="551" r:id="rId297"/>
    <p:sldId id="552" r:id="rId298"/>
    <p:sldId id="553" r:id="rId299"/>
    <p:sldId id="554" r:id="rId300"/>
    <p:sldId id="555" r:id="rId301"/>
    <p:sldId id="556" r:id="rId302"/>
    <p:sldId id="557" r:id="rId303"/>
    <p:sldId id="558" r:id="rId304"/>
    <p:sldId id="559" r:id="rId305"/>
    <p:sldId id="560" r:id="rId306"/>
    <p:sldId id="561" r:id="rId307"/>
    <p:sldId id="562" r:id="rId308"/>
    <p:sldId id="563" r:id="rId309"/>
    <p:sldId id="564" r:id="rId310"/>
    <p:sldId id="565" r:id="rId311"/>
    <p:sldId id="566" r:id="rId312"/>
    <p:sldId id="567" r:id="rId313"/>
    <p:sldId id="568" r:id="rId314"/>
    <p:sldId id="569" r:id="rId315"/>
    <p:sldId id="570" r:id="rId316"/>
    <p:sldId id="571" r:id="rId317"/>
    <p:sldId id="572" r:id="rId318"/>
    <p:sldId id="573" r:id="rId319"/>
    <p:sldId id="574" r:id="rId320"/>
    <p:sldId id="575" r:id="rId321"/>
    <p:sldId id="576" r:id="rId322"/>
    <p:sldId id="577" r:id="rId323"/>
    <p:sldId id="578" r:id="rId324"/>
    <p:sldId id="579" r:id="rId325"/>
    <p:sldId id="580" r:id="rId326"/>
    <p:sldId id="581" r:id="rId327"/>
    <p:sldId id="582" r:id="rId328"/>
    <p:sldId id="583" r:id="rId329"/>
    <p:sldId id="584" r:id="rId330"/>
    <p:sldId id="585" r:id="rId331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58" y="2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99" Type="http://schemas.openxmlformats.org/officeDocument/2006/relationships/slide" Target="slides/slide298.xml"/><Relationship Id="rId303" Type="http://schemas.openxmlformats.org/officeDocument/2006/relationships/slide" Target="slides/slide302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324" Type="http://schemas.openxmlformats.org/officeDocument/2006/relationships/slide" Target="slides/slide323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26" Type="http://schemas.openxmlformats.org/officeDocument/2006/relationships/slide" Target="slides/slide225.xml"/><Relationship Id="rId247" Type="http://schemas.openxmlformats.org/officeDocument/2006/relationships/slide" Target="slides/slide246.xml"/><Relationship Id="rId107" Type="http://schemas.openxmlformats.org/officeDocument/2006/relationships/slide" Target="slides/slide106.xml"/><Relationship Id="rId268" Type="http://schemas.openxmlformats.org/officeDocument/2006/relationships/slide" Target="slides/slide267.xml"/><Relationship Id="rId289" Type="http://schemas.openxmlformats.org/officeDocument/2006/relationships/slide" Target="slides/slide288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314" Type="http://schemas.openxmlformats.org/officeDocument/2006/relationships/slide" Target="slides/slide313.xml"/><Relationship Id="rId335" Type="http://schemas.openxmlformats.org/officeDocument/2006/relationships/tableStyles" Target="tableStyles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37" Type="http://schemas.openxmlformats.org/officeDocument/2006/relationships/slide" Target="slides/slide236.xml"/><Relationship Id="rId258" Type="http://schemas.openxmlformats.org/officeDocument/2006/relationships/slide" Target="slides/slide257.xml"/><Relationship Id="rId279" Type="http://schemas.openxmlformats.org/officeDocument/2006/relationships/slide" Target="slides/slide278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290" Type="http://schemas.openxmlformats.org/officeDocument/2006/relationships/slide" Target="slides/slide289.xml"/><Relationship Id="rId304" Type="http://schemas.openxmlformats.org/officeDocument/2006/relationships/slide" Target="slides/slide303.xml"/><Relationship Id="rId325" Type="http://schemas.openxmlformats.org/officeDocument/2006/relationships/slide" Target="slides/slide324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27" Type="http://schemas.openxmlformats.org/officeDocument/2006/relationships/slide" Target="slides/slide226.xml"/><Relationship Id="rId248" Type="http://schemas.openxmlformats.org/officeDocument/2006/relationships/slide" Target="slides/slide247.xml"/><Relationship Id="rId269" Type="http://schemas.openxmlformats.org/officeDocument/2006/relationships/slide" Target="slides/slide268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280" Type="http://schemas.openxmlformats.org/officeDocument/2006/relationships/slide" Target="slides/slide279.xml"/><Relationship Id="rId315" Type="http://schemas.openxmlformats.org/officeDocument/2006/relationships/slide" Target="slides/slide314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slide" Target="slides/slide216.xml"/><Relationship Id="rId6" Type="http://schemas.openxmlformats.org/officeDocument/2006/relationships/slide" Target="slides/slide5.xml"/><Relationship Id="rId238" Type="http://schemas.openxmlformats.org/officeDocument/2006/relationships/slide" Target="slides/slide237.xml"/><Relationship Id="rId259" Type="http://schemas.openxmlformats.org/officeDocument/2006/relationships/slide" Target="slides/slide258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270" Type="http://schemas.openxmlformats.org/officeDocument/2006/relationships/slide" Target="slides/slide269.xml"/><Relationship Id="rId291" Type="http://schemas.openxmlformats.org/officeDocument/2006/relationships/slide" Target="slides/slide290.xml"/><Relationship Id="rId305" Type="http://schemas.openxmlformats.org/officeDocument/2006/relationships/slide" Target="slides/slide304.xml"/><Relationship Id="rId326" Type="http://schemas.openxmlformats.org/officeDocument/2006/relationships/slide" Target="slides/slide325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28" Type="http://schemas.openxmlformats.org/officeDocument/2006/relationships/slide" Target="slides/slide227.xml"/><Relationship Id="rId249" Type="http://schemas.openxmlformats.org/officeDocument/2006/relationships/slide" Target="slides/slide248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260" Type="http://schemas.openxmlformats.org/officeDocument/2006/relationships/slide" Target="slides/slide259.xml"/><Relationship Id="rId281" Type="http://schemas.openxmlformats.org/officeDocument/2006/relationships/slide" Target="slides/slide280.xml"/><Relationship Id="rId316" Type="http://schemas.openxmlformats.org/officeDocument/2006/relationships/slide" Target="slides/slide315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slide" Target="slides/slide217.xml"/><Relationship Id="rId239" Type="http://schemas.openxmlformats.org/officeDocument/2006/relationships/slide" Target="slides/slide238.xml"/><Relationship Id="rId250" Type="http://schemas.openxmlformats.org/officeDocument/2006/relationships/slide" Target="slides/slide249.xml"/><Relationship Id="rId271" Type="http://schemas.openxmlformats.org/officeDocument/2006/relationships/slide" Target="slides/slide270.xml"/><Relationship Id="rId292" Type="http://schemas.openxmlformats.org/officeDocument/2006/relationships/slide" Target="slides/slide291.xml"/><Relationship Id="rId306" Type="http://schemas.openxmlformats.org/officeDocument/2006/relationships/slide" Target="slides/slide305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327" Type="http://schemas.openxmlformats.org/officeDocument/2006/relationships/slide" Target="slides/slide326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229" Type="http://schemas.openxmlformats.org/officeDocument/2006/relationships/slide" Target="slides/slide228.xml"/><Relationship Id="rId240" Type="http://schemas.openxmlformats.org/officeDocument/2006/relationships/slide" Target="slides/slide239.xml"/><Relationship Id="rId261" Type="http://schemas.openxmlformats.org/officeDocument/2006/relationships/slide" Target="slides/slide260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282" Type="http://schemas.openxmlformats.org/officeDocument/2006/relationships/slide" Target="slides/slide281.xml"/><Relationship Id="rId317" Type="http://schemas.openxmlformats.org/officeDocument/2006/relationships/slide" Target="slides/slide31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219" Type="http://schemas.openxmlformats.org/officeDocument/2006/relationships/slide" Target="slides/slide21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0" Type="http://schemas.openxmlformats.org/officeDocument/2006/relationships/slide" Target="slides/slide229.xml"/><Relationship Id="rId235" Type="http://schemas.openxmlformats.org/officeDocument/2006/relationships/slide" Target="slides/slide234.xml"/><Relationship Id="rId251" Type="http://schemas.openxmlformats.org/officeDocument/2006/relationships/slide" Target="slides/slide250.xml"/><Relationship Id="rId256" Type="http://schemas.openxmlformats.org/officeDocument/2006/relationships/slide" Target="slides/slide255.xml"/><Relationship Id="rId277" Type="http://schemas.openxmlformats.org/officeDocument/2006/relationships/slide" Target="slides/slide276.xml"/><Relationship Id="rId298" Type="http://schemas.openxmlformats.org/officeDocument/2006/relationships/slide" Target="slides/slide297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72" Type="http://schemas.openxmlformats.org/officeDocument/2006/relationships/slide" Target="slides/slide271.xml"/><Relationship Id="rId293" Type="http://schemas.openxmlformats.org/officeDocument/2006/relationships/slide" Target="slides/slide292.xml"/><Relationship Id="rId302" Type="http://schemas.openxmlformats.org/officeDocument/2006/relationships/slide" Target="slides/slide301.xml"/><Relationship Id="rId307" Type="http://schemas.openxmlformats.org/officeDocument/2006/relationships/slide" Target="slides/slide306.xml"/><Relationship Id="rId323" Type="http://schemas.openxmlformats.org/officeDocument/2006/relationships/slide" Target="slides/slide322.xml"/><Relationship Id="rId328" Type="http://schemas.openxmlformats.org/officeDocument/2006/relationships/slide" Target="slides/slide32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0" Type="http://schemas.openxmlformats.org/officeDocument/2006/relationships/slide" Target="slides/slide219.xml"/><Relationship Id="rId225" Type="http://schemas.openxmlformats.org/officeDocument/2006/relationships/slide" Target="slides/slide224.xml"/><Relationship Id="rId241" Type="http://schemas.openxmlformats.org/officeDocument/2006/relationships/slide" Target="slides/slide240.xml"/><Relationship Id="rId246" Type="http://schemas.openxmlformats.org/officeDocument/2006/relationships/slide" Target="slides/slide245.xml"/><Relationship Id="rId267" Type="http://schemas.openxmlformats.org/officeDocument/2006/relationships/slide" Target="slides/slide266.xml"/><Relationship Id="rId288" Type="http://schemas.openxmlformats.org/officeDocument/2006/relationships/slide" Target="slides/slide287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262" Type="http://schemas.openxmlformats.org/officeDocument/2006/relationships/slide" Target="slides/slide261.xml"/><Relationship Id="rId283" Type="http://schemas.openxmlformats.org/officeDocument/2006/relationships/slide" Target="slides/slide282.xml"/><Relationship Id="rId313" Type="http://schemas.openxmlformats.org/officeDocument/2006/relationships/slide" Target="slides/slide312.xml"/><Relationship Id="rId318" Type="http://schemas.openxmlformats.org/officeDocument/2006/relationships/slide" Target="slides/slide317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33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slide" Target="slides/slide209.xml"/><Relationship Id="rId215" Type="http://schemas.openxmlformats.org/officeDocument/2006/relationships/slide" Target="slides/slide214.xml"/><Relationship Id="rId236" Type="http://schemas.openxmlformats.org/officeDocument/2006/relationships/slide" Target="slides/slide235.xml"/><Relationship Id="rId257" Type="http://schemas.openxmlformats.org/officeDocument/2006/relationships/slide" Target="slides/slide256.xml"/><Relationship Id="rId278" Type="http://schemas.openxmlformats.org/officeDocument/2006/relationships/slide" Target="slides/slide277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252" Type="http://schemas.openxmlformats.org/officeDocument/2006/relationships/slide" Target="slides/slide251.xml"/><Relationship Id="rId273" Type="http://schemas.openxmlformats.org/officeDocument/2006/relationships/slide" Target="slides/slide272.xml"/><Relationship Id="rId294" Type="http://schemas.openxmlformats.org/officeDocument/2006/relationships/slide" Target="slides/slide293.xml"/><Relationship Id="rId308" Type="http://schemas.openxmlformats.org/officeDocument/2006/relationships/slide" Target="slides/slide307.xml"/><Relationship Id="rId329" Type="http://schemas.openxmlformats.org/officeDocument/2006/relationships/slide" Target="slides/slide328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42" Type="http://schemas.openxmlformats.org/officeDocument/2006/relationships/slide" Target="slides/slide241.xml"/><Relationship Id="rId263" Type="http://schemas.openxmlformats.org/officeDocument/2006/relationships/slide" Target="slides/slide262.xml"/><Relationship Id="rId284" Type="http://schemas.openxmlformats.org/officeDocument/2006/relationships/slide" Target="slides/slide283.xml"/><Relationship Id="rId319" Type="http://schemas.openxmlformats.org/officeDocument/2006/relationships/slide" Target="slides/slide318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330" Type="http://schemas.openxmlformats.org/officeDocument/2006/relationships/slide" Target="slides/slide329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53" Type="http://schemas.openxmlformats.org/officeDocument/2006/relationships/slide" Target="slides/slide252.xml"/><Relationship Id="rId274" Type="http://schemas.openxmlformats.org/officeDocument/2006/relationships/slide" Target="slides/slide273.xml"/><Relationship Id="rId295" Type="http://schemas.openxmlformats.org/officeDocument/2006/relationships/slide" Target="slides/slide294.xml"/><Relationship Id="rId309" Type="http://schemas.openxmlformats.org/officeDocument/2006/relationships/slide" Target="slides/slide308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320" Type="http://schemas.openxmlformats.org/officeDocument/2006/relationships/slide" Target="slides/slide319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243" Type="http://schemas.openxmlformats.org/officeDocument/2006/relationships/slide" Target="slides/slide242.xml"/><Relationship Id="rId264" Type="http://schemas.openxmlformats.org/officeDocument/2006/relationships/slide" Target="slides/slide263.xml"/><Relationship Id="rId285" Type="http://schemas.openxmlformats.org/officeDocument/2006/relationships/slide" Target="slides/slide284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310" Type="http://schemas.openxmlformats.org/officeDocument/2006/relationships/slide" Target="slides/slide309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331" Type="http://schemas.openxmlformats.org/officeDocument/2006/relationships/slide" Target="slides/slide330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54" Type="http://schemas.openxmlformats.org/officeDocument/2006/relationships/slide" Target="slides/slide253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275" Type="http://schemas.openxmlformats.org/officeDocument/2006/relationships/slide" Target="slides/slide274.xml"/><Relationship Id="rId296" Type="http://schemas.openxmlformats.org/officeDocument/2006/relationships/slide" Target="slides/slide295.xml"/><Relationship Id="rId300" Type="http://schemas.openxmlformats.org/officeDocument/2006/relationships/slide" Target="slides/slide299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321" Type="http://schemas.openxmlformats.org/officeDocument/2006/relationships/slide" Target="slides/slide320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244" Type="http://schemas.openxmlformats.org/officeDocument/2006/relationships/slide" Target="slides/slide243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265" Type="http://schemas.openxmlformats.org/officeDocument/2006/relationships/slide" Target="slides/slide264.xml"/><Relationship Id="rId286" Type="http://schemas.openxmlformats.org/officeDocument/2006/relationships/slide" Target="slides/slide285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311" Type="http://schemas.openxmlformats.org/officeDocument/2006/relationships/slide" Target="slides/slide310.xml"/><Relationship Id="rId332" Type="http://schemas.openxmlformats.org/officeDocument/2006/relationships/presProps" Target="presProps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34" Type="http://schemas.openxmlformats.org/officeDocument/2006/relationships/slide" Target="slides/slide233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55" Type="http://schemas.openxmlformats.org/officeDocument/2006/relationships/slide" Target="slides/slide254.xml"/><Relationship Id="rId276" Type="http://schemas.openxmlformats.org/officeDocument/2006/relationships/slide" Target="slides/slide275.xml"/><Relationship Id="rId297" Type="http://schemas.openxmlformats.org/officeDocument/2006/relationships/slide" Target="slides/slide296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301" Type="http://schemas.openxmlformats.org/officeDocument/2006/relationships/slide" Target="slides/slide300.xml"/><Relationship Id="rId322" Type="http://schemas.openxmlformats.org/officeDocument/2006/relationships/slide" Target="slides/slide32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45" Type="http://schemas.openxmlformats.org/officeDocument/2006/relationships/slide" Target="slides/slide244.xml"/><Relationship Id="rId266" Type="http://schemas.openxmlformats.org/officeDocument/2006/relationships/slide" Target="slides/slide265.xml"/><Relationship Id="rId287" Type="http://schemas.openxmlformats.org/officeDocument/2006/relationships/slide" Target="slides/slide286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312" Type="http://schemas.openxmlformats.org/officeDocument/2006/relationships/slide" Target="slides/slide311.xml"/><Relationship Id="rId333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7/17/2023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EBEBEB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2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7/17/2023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EBEBEB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2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7/17/2023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EBEBEB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2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7/17/2023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EBEBEB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2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7/17/2023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EBEBEB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2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1938" y="478789"/>
            <a:ext cx="7580122" cy="1366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64540" y="1959355"/>
            <a:ext cx="7614919" cy="43421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7/17/2023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148828" y="6564531"/>
            <a:ext cx="254634" cy="2222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EBEBEB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2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7.pn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18.png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6.png"/><Relationship Id="rId7" Type="http://schemas.openxmlformats.org/officeDocument/2006/relationships/image" Target="../media/image2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17.png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6.png"/><Relationship Id="rId7" Type="http://schemas.openxmlformats.org/officeDocument/2006/relationships/image" Target="../media/image3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36.png"/></Relationships>
</file>

<file path=ppt/slides/_rels/slide1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6.png"/><Relationship Id="rId7" Type="http://schemas.openxmlformats.org/officeDocument/2006/relationships/image" Target="../media/image3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2.png"/><Relationship Id="rId7" Type="http://schemas.openxmlformats.org/officeDocument/2006/relationships/image" Target="../media/image59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8.png"/><Relationship Id="rId4" Type="http://schemas.openxmlformats.org/officeDocument/2006/relationships/image" Target="../media/image54.png"/></Relationships>
</file>

<file path=ppt/slides/_rels/slide2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2.png"/><Relationship Id="rId7" Type="http://schemas.openxmlformats.org/officeDocument/2006/relationships/image" Target="../media/image59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8.png"/><Relationship Id="rId10" Type="http://schemas.openxmlformats.org/officeDocument/2006/relationships/image" Target="../media/image57.png"/><Relationship Id="rId4" Type="http://schemas.openxmlformats.org/officeDocument/2006/relationships/image" Target="../media/image54.png"/><Relationship Id="rId9" Type="http://schemas.openxmlformats.org/officeDocument/2006/relationships/image" Target="../media/image60.png"/></Relationships>
</file>

<file path=ppt/slides/_rels/slide2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2.png"/><Relationship Id="rId7" Type="http://schemas.openxmlformats.org/officeDocument/2006/relationships/image" Target="../media/image59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8.png"/><Relationship Id="rId10" Type="http://schemas.openxmlformats.org/officeDocument/2006/relationships/image" Target="../media/image62.png"/><Relationship Id="rId4" Type="http://schemas.openxmlformats.org/officeDocument/2006/relationships/image" Target="../media/image54.png"/><Relationship Id="rId9" Type="http://schemas.openxmlformats.org/officeDocument/2006/relationships/image" Target="../media/image61.png"/></Relationships>
</file>

<file path=ppt/slides/_rels/slide2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2.png"/><Relationship Id="rId7" Type="http://schemas.openxmlformats.org/officeDocument/2006/relationships/image" Target="../media/image59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5.png"/><Relationship Id="rId5" Type="http://schemas.openxmlformats.org/officeDocument/2006/relationships/image" Target="../media/image58.png"/><Relationship Id="rId4" Type="http://schemas.openxmlformats.org/officeDocument/2006/relationships/image" Target="../media/image54.png"/><Relationship Id="rId9" Type="http://schemas.openxmlformats.org/officeDocument/2006/relationships/image" Target="../media/image63.png"/></Relationships>
</file>

<file path=ppt/slides/_rels/slide2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8.png"/><Relationship Id="rId18" Type="http://schemas.openxmlformats.org/officeDocument/2006/relationships/image" Target="../media/image73.png"/><Relationship Id="rId26" Type="http://schemas.openxmlformats.org/officeDocument/2006/relationships/image" Target="../media/image81.png"/><Relationship Id="rId3" Type="http://schemas.openxmlformats.org/officeDocument/2006/relationships/image" Target="../media/image52.png"/><Relationship Id="rId21" Type="http://schemas.openxmlformats.org/officeDocument/2006/relationships/image" Target="../media/image76.png"/><Relationship Id="rId34" Type="http://schemas.openxmlformats.org/officeDocument/2006/relationships/image" Target="../media/image89.png"/><Relationship Id="rId7" Type="http://schemas.openxmlformats.org/officeDocument/2006/relationships/image" Target="../media/image59.png"/><Relationship Id="rId12" Type="http://schemas.openxmlformats.org/officeDocument/2006/relationships/image" Target="../media/image67.png"/><Relationship Id="rId17" Type="http://schemas.openxmlformats.org/officeDocument/2006/relationships/image" Target="../media/image72.png"/><Relationship Id="rId25" Type="http://schemas.openxmlformats.org/officeDocument/2006/relationships/image" Target="../media/image80.png"/><Relationship Id="rId33" Type="http://schemas.openxmlformats.org/officeDocument/2006/relationships/image" Target="../media/image88.png"/><Relationship Id="rId38" Type="http://schemas.openxmlformats.org/officeDocument/2006/relationships/image" Target="../media/image93.png"/><Relationship Id="rId2" Type="http://schemas.openxmlformats.org/officeDocument/2006/relationships/image" Target="../media/image51.png"/><Relationship Id="rId16" Type="http://schemas.openxmlformats.org/officeDocument/2006/relationships/image" Target="../media/image71.png"/><Relationship Id="rId20" Type="http://schemas.openxmlformats.org/officeDocument/2006/relationships/image" Target="../media/image75.png"/><Relationship Id="rId29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11" Type="http://schemas.openxmlformats.org/officeDocument/2006/relationships/image" Target="../media/image66.png"/><Relationship Id="rId24" Type="http://schemas.openxmlformats.org/officeDocument/2006/relationships/image" Target="../media/image79.png"/><Relationship Id="rId32" Type="http://schemas.openxmlformats.org/officeDocument/2006/relationships/image" Target="../media/image87.png"/><Relationship Id="rId37" Type="http://schemas.openxmlformats.org/officeDocument/2006/relationships/image" Target="../media/image92.png"/><Relationship Id="rId5" Type="http://schemas.openxmlformats.org/officeDocument/2006/relationships/image" Target="../media/image58.png"/><Relationship Id="rId15" Type="http://schemas.openxmlformats.org/officeDocument/2006/relationships/image" Target="../media/image70.png"/><Relationship Id="rId23" Type="http://schemas.openxmlformats.org/officeDocument/2006/relationships/image" Target="../media/image78.png"/><Relationship Id="rId28" Type="http://schemas.openxmlformats.org/officeDocument/2006/relationships/image" Target="../media/image83.png"/><Relationship Id="rId36" Type="http://schemas.openxmlformats.org/officeDocument/2006/relationships/image" Target="../media/image91.png"/><Relationship Id="rId10" Type="http://schemas.openxmlformats.org/officeDocument/2006/relationships/image" Target="../media/image65.png"/><Relationship Id="rId19" Type="http://schemas.openxmlformats.org/officeDocument/2006/relationships/image" Target="../media/image74.png"/><Relationship Id="rId31" Type="http://schemas.openxmlformats.org/officeDocument/2006/relationships/image" Target="../media/image86.png"/><Relationship Id="rId4" Type="http://schemas.openxmlformats.org/officeDocument/2006/relationships/image" Target="../media/image54.png"/><Relationship Id="rId9" Type="http://schemas.openxmlformats.org/officeDocument/2006/relationships/image" Target="../media/image64.png"/><Relationship Id="rId14" Type="http://schemas.openxmlformats.org/officeDocument/2006/relationships/image" Target="../media/image69.png"/><Relationship Id="rId22" Type="http://schemas.openxmlformats.org/officeDocument/2006/relationships/image" Target="../media/image77.png"/><Relationship Id="rId27" Type="http://schemas.openxmlformats.org/officeDocument/2006/relationships/image" Target="../media/image82.png"/><Relationship Id="rId30" Type="http://schemas.openxmlformats.org/officeDocument/2006/relationships/image" Target="../media/image85.png"/><Relationship Id="rId35" Type="http://schemas.openxmlformats.org/officeDocument/2006/relationships/image" Target="../media/image90.png"/></Relationships>
</file>

<file path=ppt/slides/_rels/slide2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2.png"/><Relationship Id="rId7" Type="http://schemas.openxmlformats.org/officeDocument/2006/relationships/image" Target="../media/image59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8.png"/><Relationship Id="rId4" Type="http://schemas.openxmlformats.org/officeDocument/2006/relationships/image" Target="../media/image54.png"/><Relationship Id="rId9" Type="http://schemas.openxmlformats.org/officeDocument/2006/relationships/image" Target="../media/image94.png"/></Relationships>
</file>

<file path=ppt/slides/_rels/slide2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99.png"/><Relationship Id="rId18" Type="http://schemas.openxmlformats.org/officeDocument/2006/relationships/image" Target="../media/image104.png"/><Relationship Id="rId3" Type="http://schemas.openxmlformats.org/officeDocument/2006/relationships/image" Target="../media/image52.png"/><Relationship Id="rId7" Type="http://schemas.openxmlformats.org/officeDocument/2006/relationships/image" Target="../media/image59.png"/><Relationship Id="rId12" Type="http://schemas.openxmlformats.org/officeDocument/2006/relationships/image" Target="../media/image98.png"/><Relationship Id="rId17" Type="http://schemas.openxmlformats.org/officeDocument/2006/relationships/image" Target="../media/image103.png"/><Relationship Id="rId2" Type="http://schemas.openxmlformats.org/officeDocument/2006/relationships/image" Target="../media/image51.png"/><Relationship Id="rId16" Type="http://schemas.openxmlformats.org/officeDocument/2006/relationships/image" Target="../media/image102.png"/><Relationship Id="rId20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11" Type="http://schemas.openxmlformats.org/officeDocument/2006/relationships/image" Target="../media/image97.png"/><Relationship Id="rId5" Type="http://schemas.openxmlformats.org/officeDocument/2006/relationships/image" Target="../media/image58.png"/><Relationship Id="rId15" Type="http://schemas.openxmlformats.org/officeDocument/2006/relationships/image" Target="../media/image101.png"/><Relationship Id="rId10" Type="http://schemas.openxmlformats.org/officeDocument/2006/relationships/image" Target="../media/image96.png"/><Relationship Id="rId19" Type="http://schemas.openxmlformats.org/officeDocument/2006/relationships/image" Target="../media/image105.png"/><Relationship Id="rId4" Type="http://schemas.openxmlformats.org/officeDocument/2006/relationships/image" Target="../media/image54.png"/><Relationship Id="rId9" Type="http://schemas.openxmlformats.org/officeDocument/2006/relationships/image" Target="../media/image95.png"/><Relationship Id="rId14" Type="http://schemas.openxmlformats.org/officeDocument/2006/relationships/image" Target="../media/image100.png"/></Relationships>
</file>

<file path=ppt/slides/_rels/slide2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2.png"/><Relationship Id="rId7" Type="http://schemas.openxmlformats.org/officeDocument/2006/relationships/image" Target="../media/image59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11" Type="http://schemas.openxmlformats.org/officeDocument/2006/relationships/image" Target="../media/image63.png"/><Relationship Id="rId5" Type="http://schemas.openxmlformats.org/officeDocument/2006/relationships/image" Target="../media/image58.png"/><Relationship Id="rId10" Type="http://schemas.openxmlformats.org/officeDocument/2006/relationships/image" Target="../media/image108.png"/><Relationship Id="rId4" Type="http://schemas.openxmlformats.org/officeDocument/2006/relationships/image" Target="../media/image54.png"/><Relationship Id="rId9" Type="http://schemas.openxmlformats.org/officeDocument/2006/relationships/image" Target="../media/image107.png"/></Relationships>
</file>

<file path=ppt/slides/_rels/slide2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2.png"/><Relationship Id="rId7" Type="http://schemas.openxmlformats.org/officeDocument/2006/relationships/image" Target="../media/image59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8.png"/><Relationship Id="rId4" Type="http://schemas.openxmlformats.org/officeDocument/2006/relationships/image" Target="../media/image54.png"/></Relationships>
</file>

<file path=ppt/slides/_rels/slide2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2.png"/><Relationship Id="rId7" Type="http://schemas.openxmlformats.org/officeDocument/2006/relationships/image" Target="../media/image59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8.png"/><Relationship Id="rId4" Type="http://schemas.openxmlformats.org/officeDocument/2006/relationships/image" Target="../media/image54.png"/></Relationships>
</file>

<file path=ppt/slides/_rels/slide2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2.png"/><Relationship Id="rId7" Type="http://schemas.openxmlformats.org/officeDocument/2006/relationships/image" Target="../media/image59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5.png"/><Relationship Id="rId5" Type="http://schemas.openxmlformats.org/officeDocument/2006/relationships/image" Target="../media/image58.png"/><Relationship Id="rId4" Type="http://schemas.openxmlformats.org/officeDocument/2006/relationships/image" Target="../media/image54.png"/><Relationship Id="rId9" Type="http://schemas.openxmlformats.org/officeDocument/2006/relationships/image" Target="../media/image57.png"/></Relationships>
</file>

<file path=ppt/slides/_rels/slide2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2.png"/><Relationship Id="rId7" Type="http://schemas.openxmlformats.org/officeDocument/2006/relationships/image" Target="../media/image59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8.png"/><Relationship Id="rId4" Type="http://schemas.openxmlformats.org/officeDocument/2006/relationships/image" Target="../media/image54.png"/><Relationship Id="rId9" Type="http://schemas.openxmlformats.org/officeDocument/2006/relationships/image" Target="../media/image63.png"/></Relationships>
</file>

<file path=ppt/slides/_rels/slide2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2.png"/><Relationship Id="rId7" Type="http://schemas.openxmlformats.org/officeDocument/2006/relationships/image" Target="../media/image59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8.png"/><Relationship Id="rId4" Type="http://schemas.openxmlformats.org/officeDocument/2006/relationships/image" Target="../media/image54.png"/></Relationships>
</file>

<file path=ppt/slides/_rels/slide2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2.png"/><Relationship Id="rId7" Type="http://schemas.openxmlformats.org/officeDocument/2006/relationships/image" Target="../media/image59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8.png"/><Relationship Id="rId4" Type="http://schemas.openxmlformats.org/officeDocument/2006/relationships/image" Target="../media/image54.png"/></Relationships>
</file>

<file path=ppt/slides/_rels/slide2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2.png"/><Relationship Id="rId7" Type="http://schemas.openxmlformats.org/officeDocument/2006/relationships/image" Target="../media/image59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5.png"/><Relationship Id="rId5" Type="http://schemas.openxmlformats.org/officeDocument/2006/relationships/image" Target="../media/image58.png"/><Relationship Id="rId4" Type="http://schemas.openxmlformats.org/officeDocument/2006/relationships/image" Target="../media/image54.png"/><Relationship Id="rId9" Type="http://schemas.openxmlformats.org/officeDocument/2006/relationships/image" Target="../media/image57.png"/></Relationships>
</file>

<file path=ppt/slides/_rels/slide2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2.png"/><Relationship Id="rId7" Type="http://schemas.openxmlformats.org/officeDocument/2006/relationships/image" Target="../media/image59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8.png"/><Relationship Id="rId4" Type="http://schemas.openxmlformats.org/officeDocument/2006/relationships/image" Target="../media/image54.png"/></Relationships>
</file>

<file path=ppt/slides/_rels/slide2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13" Type="http://schemas.openxmlformats.org/officeDocument/2006/relationships/image" Target="../media/image116.png"/><Relationship Id="rId18" Type="http://schemas.openxmlformats.org/officeDocument/2006/relationships/image" Target="../media/image121.png"/><Relationship Id="rId3" Type="http://schemas.openxmlformats.org/officeDocument/2006/relationships/image" Target="../media/image54.png"/><Relationship Id="rId7" Type="http://schemas.openxmlformats.org/officeDocument/2006/relationships/image" Target="../media/image110.png"/><Relationship Id="rId12" Type="http://schemas.openxmlformats.org/officeDocument/2006/relationships/image" Target="../media/image115.png"/><Relationship Id="rId17" Type="http://schemas.openxmlformats.org/officeDocument/2006/relationships/image" Target="../media/image120.png"/><Relationship Id="rId2" Type="http://schemas.openxmlformats.org/officeDocument/2006/relationships/image" Target="../media/image109.png"/><Relationship Id="rId16" Type="http://schemas.openxmlformats.org/officeDocument/2006/relationships/image" Target="../media/image1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11" Type="http://schemas.openxmlformats.org/officeDocument/2006/relationships/image" Target="../media/image114.png"/><Relationship Id="rId5" Type="http://schemas.openxmlformats.org/officeDocument/2006/relationships/image" Target="../media/image59.png"/><Relationship Id="rId15" Type="http://schemas.openxmlformats.org/officeDocument/2006/relationships/image" Target="../media/image118.png"/><Relationship Id="rId10" Type="http://schemas.openxmlformats.org/officeDocument/2006/relationships/image" Target="../media/image113.png"/><Relationship Id="rId4" Type="http://schemas.openxmlformats.org/officeDocument/2006/relationships/image" Target="../media/image55.png"/><Relationship Id="rId9" Type="http://schemas.openxmlformats.org/officeDocument/2006/relationships/image" Target="../media/image112.png"/><Relationship Id="rId14" Type="http://schemas.openxmlformats.org/officeDocument/2006/relationships/image" Target="../media/image117.png"/></Relationships>
</file>

<file path=ppt/slides/_rels/slide2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jpg"/><Relationship Id="rId1" Type="http://schemas.openxmlformats.org/officeDocument/2006/relationships/slideLayout" Target="../slideLayouts/slideLayout4.xml"/></Relationships>
</file>

<file path=ppt/slides/_rels/slide2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4.xml"/></Relationships>
</file>

<file path=ppt/slides/_rels/slide2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4.xml"/></Relationships>
</file>

<file path=ppt/slides/_rels/slide2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4.xml"/></Relationships>
</file>

<file path=ppt/slides/_rels/slide2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3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4.xml"/></Relationships>
</file>

<file path=ppt/slides/_rels/slide3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3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/Relationships>
</file>

<file path=ppt/slides/_rels/slide3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3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3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5.xml"/></Relationships>
</file>

<file path=ppt/slides/_rels/slide3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3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5.xml"/></Relationships>
</file>

<file path=ppt/slides/_rels/slide3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3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/Relationships>
</file>

<file path=ppt/slides/_rels/slide3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5.xml"/></Relationships>
</file>

<file path=ppt/slides/_rels/slide3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3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5.xml"/></Relationships>
</file>

<file path=ppt/slides/_rels/slide3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3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3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5.xml"/></Relationships>
</file>

<file path=ppt/slides/_rels/slide3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3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3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609600"/>
            <a:ext cx="7772400" cy="7620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762000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MICROPROCESSOR</a:t>
            </a:r>
            <a:r>
              <a:rPr sz="3600" b="1" u="heavy" spc="-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8085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4040" y="1854200"/>
            <a:ext cx="7630159" cy="382968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93700" indent="-342900">
              <a:lnSpc>
                <a:spcPct val="100000"/>
              </a:lnSpc>
              <a:spcBef>
                <a:spcPts val="675"/>
              </a:spcBef>
              <a:buChar char="•"/>
              <a:tabLst>
                <a:tab pos="393065" algn="l"/>
                <a:tab pos="393700" algn="l"/>
              </a:tabLst>
            </a:pPr>
            <a:r>
              <a:rPr sz="2400" spc="-5" dirty="0">
                <a:latin typeface="Times New Roman"/>
                <a:cs typeface="Times New Roman"/>
              </a:rPr>
              <a:t>Reference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Book:</a:t>
            </a:r>
          </a:p>
          <a:p>
            <a:pPr marL="793115" marR="55880" indent="-285750">
              <a:lnSpc>
                <a:spcPct val="100000"/>
              </a:lnSpc>
              <a:spcBef>
                <a:spcPts val="575"/>
              </a:spcBef>
              <a:tabLst>
                <a:tab pos="793750" algn="l"/>
              </a:tabLst>
            </a:pPr>
            <a:r>
              <a:rPr sz="2400" dirty="0">
                <a:latin typeface="Times New Roman"/>
                <a:cs typeface="Times New Roman"/>
              </a:rPr>
              <a:t>–		</a:t>
            </a:r>
            <a:r>
              <a:rPr sz="2400" spc="-5" dirty="0">
                <a:latin typeface="Times New Roman"/>
                <a:cs typeface="Times New Roman"/>
              </a:rPr>
              <a:t>Ramesh S. </a:t>
            </a:r>
            <a:r>
              <a:rPr sz="2400" dirty="0">
                <a:latin typeface="Times New Roman"/>
                <a:cs typeface="Times New Roman"/>
              </a:rPr>
              <a:t>Goankar, </a:t>
            </a:r>
            <a:r>
              <a:rPr sz="2400" spc="-5" dirty="0">
                <a:latin typeface="Times New Roman"/>
                <a:cs typeface="Times New Roman"/>
              </a:rPr>
              <a:t>“Microprocessor Architecture,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Programming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Applications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with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8085”,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5</a:t>
            </a:r>
            <a:r>
              <a:rPr sz="2400" spc="7" baseline="24305" dirty="0">
                <a:latin typeface="Times New Roman"/>
                <a:cs typeface="Times New Roman"/>
              </a:rPr>
              <a:t>th</a:t>
            </a:r>
            <a:r>
              <a:rPr sz="2400" spc="307" baseline="2430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Edition,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Prentice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Hall</a:t>
            </a:r>
            <a:endParaRPr sz="2400" dirty="0">
              <a:latin typeface="Times New Roman"/>
              <a:cs typeface="Times New Roman"/>
            </a:endParaRPr>
          </a:p>
          <a:p>
            <a:pPr marL="393065" indent="-343535">
              <a:lnSpc>
                <a:spcPct val="100000"/>
              </a:lnSpc>
              <a:spcBef>
                <a:spcPts val="575"/>
              </a:spcBef>
              <a:buChar char="•"/>
              <a:tabLst>
                <a:tab pos="393065" algn="l"/>
                <a:tab pos="393700" algn="l"/>
              </a:tabLst>
            </a:pPr>
            <a:r>
              <a:rPr sz="2400" dirty="0">
                <a:latin typeface="Times New Roman"/>
                <a:cs typeface="Times New Roman"/>
              </a:rPr>
              <a:t>Week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 </a:t>
            </a:r>
            <a:r>
              <a:rPr sz="2400" spc="-5" dirty="0">
                <a:latin typeface="Times New Roman"/>
                <a:cs typeface="Times New Roman"/>
              </a:rPr>
              <a:t>Basic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Concept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Ideas </a:t>
            </a:r>
            <a:r>
              <a:rPr sz="2400" dirty="0">
                <a:latin typeface="Times New Roman"/>
                <a:cs typeface="Times New Roman"/>
              </a:rPr>
              <a:t>about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Microprocessor.</a:t>
            </a:r>
            <a:endParaRPr sz="2400" dirty="0">
              <a:latin typeface="Times New Roman"/>
              <a:cs typeface="Times New Roman"/>
            </a:endParaRPr>
          </a:p>
          <a:p>
            <a:pPr marL="393065" indent="-343535">
              <a:lnSpc>
                <a:spcPct val="100000"/>
              </a:lnSpc>
              <a:spcBef>
                <a:spcPts val="575"/>
              </a:spcBef>
              <a:buChar char="•"/>
              <a:tabLst>
                <a:tab pos="393065" algn="l"/>
                <a:tab pos="393700" algn="l"/>
              </a:tabLst>
            </a:pPr>
            <a:r>
              <a:rPr sz="2400" dirty="0">
                <a:latin typeface="Times New Roman"/>
                <a:cs typeface="Times New Roman"/>
              </a:rPr>
              <a:t>Week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Architecture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8085</a:t>
            </a:r>
          </a:p>
          <a:p>
            <a:pPr marL="393065" indent="-343535">
              <a:lnSpc>
                <a:spcPct val="100000"/>
              </a:lnSpc>
              <a:spcBef>
                <a:spcPts val="580"/>
              </a:spcBef>
              <a:buChar char="•"/>
              <a:tabLst>
                <a:tab pos="393065" algn="l"/>
                <a:tab pos="393700" algn="l"/>
              </a:tabLst>
            </a:pPr>
            <a:r>
              <a:rPr sz="2400" dirty="0">
                <a:latin typeface="Times New Roman"/>
                <a:cs typeface="Times New Roman"/>
              </a:rPr>
              <a:t>Week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3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 </a:t>
            </a:r>
            <a:r>
              <a:rPr sz="2400" spc="-5" dirty="0">
                <a:latin typeface="Times New Roman"/>
                <a:cs typeface="Times New Roman"/>
              </a:rPr>
              <a:t>Addressing </a:t>
            </a:r>
            <a:r>
              <a:rPr sz="2400" dirty="0">
                <a:latin typeface="Times New Roman"/>
                <a:cs typeface="Times New Roman"/>
              </a:rPr>
              <a:t>Modes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Instruction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set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8085</a:t>
            </a:r>
          </a:p>
          <a:p>
            <a:pPr marL="393065" indent="-343535">
              <a:lnSpc>
                <a:spcPct val="100000"/>
              </a:lnSpc>
              <a:spcBef>
                <a:spcPts val="575"/>
              </a:spcBef>
              <a:buChar char="•"/>
              <a:tabLst>
                <a:tab pos="393065" algn="l"/>
                <a:tab pos="393700" algn="l"/>
              </a:tabLst>
            </a:pPr>
            <a:r>
              <a:rPr sz="2400" dirty="0">
                <a:latin typeface="Times New Roman"/>
                <a:cs typeface="Times New Roman"/>
              </a:rPr>
              <a:t>Week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4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Interrupts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8085</a:t>
            </a:r>
          </a:p>
          <a:p>
            <a:pPr marL="393700" indent="-343535">
              <a:lnSpc>
                <a:spcPct val="100000"/>
              </a:lnSpc>
              <a:spcBef>
                <a:spcPts val="575"/>
              </a:spcBef>
              <a:buChar char="•"/>
              <a:tabLst>
                <a:tab pos="393065" algn="l"/>
                <a:tab pos="393700" algn="l"/>
              </a:tabLst>
            </a:pPr>
            <a:r>
              <a:rPr sz="2400" dirty="0">
                <a:latin typeface="Times New Roman"/>
                <a:cs typeface="Times New Roman"/>
              </a:rPr>
              <a:t>Week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5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onwards –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Peripherals.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2658" y="592074"/>
            <a:ext cx="7239634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5" dirty="0"/>
              <a:t>Basic</a:t>
            </a:r>
            <a:r>
              <a:rPr sz="4000" spc="-40" dirty="0"/>
              <a:t> </a:t>
            </a:r>
            <a:r>
              <a:rPr sz="4000" dirty="0"/>
              <a:t>Concepts</a:t>
            </a:r>
            <a:r>
              <a:rPr sz="4000" spc="-35" dirty="0"/>
              <a:t> </a:t>
            </a:r>
            <a:r>
              <a:rPr sz="4000" dirty="0"/>
              <a:t>of</a:t>
            </a:r>
            <a:r>
              <a:rPr sz="4000" spc="-25" dirty="0"/>
              <a:t> </a:t>
            </a:r>
            <a:r>
              <a:rPr sz="4000" dirty="0"/>
              <a:t>Microprocessors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535940" y="1367611"/>
            <a:ext cx="7851775" cy="4284345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88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Differences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between:</a:t>
            </a:r>
            <a:endParaRPr sz="3200" dirty="0">
              <a:latin typeface="Times New Roman"/>
              <a:cs typeface="Times New Roman"/>
            </a:endParaRPr>
          </a:p>
          <a:p>
            <a:pPr marL="755015" marR="5080" lvl="1" indent="-285750">
              <a:lnSpc>
                <a:spcPct val="100000"/>
              </a:lnSpc>
              <a:spcBef>
                <a:spcPts val="69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Microcomputer </a:t>
            </a:r>
            <a:r>
              <a:rPr sz="2800" dirty="0">
                <a:latin typeface="Times New Roman"/>
                <a:cs typeface="Times New Roman"/>
              </a:rPr>
              <a:t>– a </a:t>
            </a:r>
            <a:r>
              <a:rPr sz="2800" spc="-5" dirty="0">
                <a:latin typeface="Times New Roman"/>
                <a:cs typeface="Times New Roman"/>
              </a:rPr>
              <a:t>computer </a:t>
            </a:r>
            <a:r>
              <a:rPr sz="2800" dirty="0">
                <a:latin typeface="Times New Roman"/>
                <a:cs typeface="Times New Roman"/>
              </a:rPr>
              <a:t>with a 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microprocessor as </a:t>
            </a:r>
            <a:r>
              <a:rPr sz="2800" dirty="0">
                <a:latin typeface="Times New Roman"/>
                <a:cs typeface="Times New Roman"/>
              </a:rPr>
              <a:t>its </a:t>
            </a:r>
            <a:r>
              <a:rPr sz="2800" spc="-5" dirty="0">
                <a:latin typeface="Times New Roman"/>
                <a:cs typeface="Times New Roman"/>
              </a:rPr>
              <a:t>CPU. Includes memory, </a:t>
            </a:r>
            <a:r>
              <a:rPr sz="2800" dirty="0">
                <a:latin typeface="Times New Roman"/>
                <a:cs typeface="Times New Roman"/>
              </a:rPr>
              <a:t>I/O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etc.</a:t>
            </a:r>
            <a:endParaRPr sz="2800" dirty="0">
              <a:latin typeface="Times New Roman"/>
              <a:cs typeface="Times New Roman"/>
            </a:endParaRPr>
          </a:p>
          <a:p>
            <a:pPr marL="754380" marR="626110" lvl="1" indent="-285750">
              <a:lnSpc>
                <a:spcPct val="100000"/>
              </a:lnSpc>
              <a:spcBef>
                <a:spcPts val="67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Microprocessor </a:t>
            </a:r>
            <a:r>
              <a:rPr sz="2800" dirty="0">
                <a:latin typeface="Times New Roman"/>
                <a:cs typeface="Times New Roman"/>
              </a:rPr>
              <a:t>– </a:t>
            </a:r>
            <a:r>
              <a:rPr sz="2800" spc="-5" dirty="0">
                <a:latin typeface="Times New Roman"/>
                <a:cs typeface="Times New Roman"/>
              </a:rPr>
              <a:t>silicon chip which includes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ALU,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register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circuits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&amp;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control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circuits</a:t>
            </a:r>
            <a:endParaRPr sz="2800" dirty="0">
              <a:latin typeface="Times New Roman"/>
              <a:cs typeface="Times New Roman"/>
            </a:endParaRPr>
          </a:p>
          <a:p>
            <a:pPr marL="754380" marR="607695" lvl="1" indent="-285750">
              <a:lnSpc>
                <a:spcPct val="100000"/>
              </a:lnSpc>
              <a:spcBef>
                <a:spcPts val="670"/>
              </a:spcBef>
              <a:buChar char="–"/>
              <a:tabLst>
                <a:tab pos="755015" algn="l"/>
              </a:tabLst>
            </a:pPr>
            <a:r>
              <a:rPr sz="2800" spc="-5" dirty="0">
                <a:latin typeface="Times New Roman"/>
                <a:cs typeface="Times New Roman"/>
              </a:rPr>
              <a:t>Microcontroller </a:t>
            </a:r>
            <a:r>
              <a:rPr sz="2800" dirty="0">
                <a:latin typeface="Times New Roman"/>
                <a:cs typeface="Times New Roman"/>
              </a:rPr>
              <a:t>– </a:t>
            </a:r>
            <a:r>
              <a:rPr sz="2800" spc="-5" dirty="0">
                <a:latin typeface="Times New Roman"/>
                <a:cs typeface="Times New Roman"/>
              </a:rPr>
              <a:t>silicon chip which includes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microprocessor, memory </a:t>
            </a:r>
            <a:r>
              <a:rPr sz="2800" dirty="0">
                <a:latin typeface="Times New Roman"/>
                <a:cs typeface="Times New Roman"/>
              </a:rPr>
              <a:t>&amp; I/O in a single 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package.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57686" y="814069"/>
            <a:ext cx="602742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What</a:t>
            </a:r>
            <a:r>
              <a:rPr spc="-25" dirty="0"/>
              <a:t> </a:t>
            </a:r>
            <a:r>
              <a:rPr spc="-5" dirty="0"/>
              <a:t>is</a:t>
            </a:r>
            <a:r>
              <a:rPr spc="-10" dirty="0"/>
              <a:t> </a:t>
            </a:r>
            <a:r>
              <a:rPr spc="-5" dirty="0"/>
              <a:t>a</a:t>
            </a:r>
            <a:r>
              <a:rPr spc="-15" dirty="0"/>
              <a:t> </a:t>
            </a:r>
            <a:r>
              <a:rPr spc="-5" dirty="0"/>
              <a:t>Microprocessor?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2002027"/>
            <a:ext cx="7421245" cy="3333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word</a:t>
            </a:r>
            <a:r>
              <a:rPr sz="2800" spc="-5" dirty="0">
                <a:latin typeface="Times New Roman"/>
                <a:cs typeface="Times New Roman"/>
              </a:rPr>
              <a:t> comes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from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combination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micro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and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processor.</a:t>
            </a:r>
            <a:endParaRPr sz="2800">
              <a:latin typeface="Times New Roman"/>
              <a:cs typeface="Times New Roman"/>
            </a:endParaRPr>
          </a:p>
          <a:p>
            <a:pPr marL="755650" marR="164465" lvl="1" indent="-286385">
              <a:lnSpc>
                <a:spcPct val="100000"/>
              </a:lnSpc>
              <a:spcBef>
                <a:spcPts val="585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Processor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means</a:t>
            </a:r>
            <a:r>
              <a:rPr sz="2400" dirty="0">
                <a:latin typeface="Times New Roman"/>
                <a:cs typeface="Times New Roman"/>
              </a:rPr>
              <a:t> a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device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that processes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whatever. In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this context processor means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device that processes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numbers,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specifically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binary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numbers,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0’s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" dirty="0">
                <a:latin typeface="Times New Roman"/>
                <a:cs typeface="Times New Roman"/>
              </a:rPr>
              <a:t> 1’s.</a:t>
            </a:r>
            <a:endParaRPr sz="2400">
              <a:latin typeface="Times New Roman"/>
              <a:cs typeface="Times New Roman"/>
            </a:endParaRPr>
          </a:p>
          <a:p>
            <a:pPr marL="1155700" marR="17145" lvl="2" indent="-229235">
              <a:lnSpc>
                <a:spcPct val="100000"/>
              </a:lnSpc>
              <a:spcBef>
                <a:spcPts val="495"/>
              </a:spcBef>
              <a:buChar char="•"/>
              <a:tabLst>
                <a:tab pos="1155065" algn="l"/>
                <a:tab pos="1156335" algn="l"/>
              </a:tabLst>
            </a:pPr>
            <a:r>
              <a:rPr sz="2000" spc="-5" dirty="0">
                <a:latin typeface="Times New Roman"/>
                <a:cs typeface="Times New Roman"/>
              </a:rPr>
              <a:t>To process means to manipulate. It is a general term that 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describes all manipulation. Again in this content, it means to 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perform certain operations on the numbers that depend on the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microprocessor’s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design.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18746" y="814069"/>
            <a:ext cx="430593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What</a:t>
            </a:r>
            <a:r>
              <a:rPr spc="-40" dirty="0"/>
              <a:t> </a:t>
            </a:r>
            <a:r>
              <a:rPr spc="-5" dirty="0"/>
              <a:t>about</a:t>
            </a:r>
            <a:r>
              <a:rPr spc="-35" dirty="0"/>
              <a:t> </a:t>
            </a:r>
            <a:r>
              <a:rPr spc="-5" dirty="0"/>
              <a:t>micro?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1915229"/>
            <a:ext cx="7410450" cy="429006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450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Micro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new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addition.</a:t>
            </a:r>
            <a:endParaRPr sz="2800" dirty="0">
              <a:latin typeface="Times New Roman"/>
              <a:cs typeface="Times New Roman"/>
            </a:endParaRPr>
          </a:p>
          <a:p>
            <a:pPr marL="755650" marR="24130" lvl="1" indent="-286385">
              <a:lnSpc>
                <a:spcPts val="2590"/>
              </a:lnSpc>
              <a:spcBef>
                <a:spcPts val="625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In the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late 1960’s,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processors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were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built using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discrete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elements.</a:t>
            </a:r>
            <a:endParaRPr sz="2400" dirty="0">
              <a:latin typeface="Times New Roman"/>
              <a:cs typeface="Times New Roman"/>
            </a:endParaRPr>
          </a:p>
          <a:p>
            <a:pPr marL="1155065" marR="5080" lvl="2" indent="-228600">
              <a:lnSpc>
                <a:spcPts val="2160"/>
              </a:lnSpc>
              <a:spcBef>
                <a:spcPts val="490"/>
              </a:spcBef>
              <a:buChar char="•"/>
              <a:tabLst>
                <a:tab pos="1155065" algn="l"/>
                <a:tab pos="1155700" algn="l"/>
              </a:tabLst>
            </a:pPr>
            <a:r>
              <a:rPr sz="2000" spc="-5" dirty="0">
                <a:latin typeface="Times New Roman"/>
                <a:cs typeface="Times New Roman"/>
              </a:rPr>
              <a:t>These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devices performed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required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operation,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but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were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too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large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and too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slow.</a:t>
            </a:r>
            <a:endParaRPr sz="2000" dirty="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buFont typeface="Times New Roman"/>
              <a:buChar char="•"/>
            </a:pPr>
            <a:endParaRPr sz="3250" dirty="0">
              <a:latin typeface="Times New Roman"/>
              <a:cs typeface="Times New Roman"/>
            </a:endParaRPr>
          </a:p>
          <a:p>
            <a:pPr marL="755650" marR="53975" lvl="1" indent="-286385">
              <a:lnSpc>
                <a:spcPts val="2590"/>
              </a:lnSpc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In the early 1970’s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microchip was </a:t>
            </a:r>
            <a:r>
              <a:rPr sz="2400" dirty="0">
                <a:latin typeface="Times New Roman"/>
                <a:cs typeface="Times New Roman"/>
              </a:rPr>
              <a:t>invented. </a:t>
            </a:r>
            <a:r>
              <a:rPr sz="2400" spc="-5" dirty="0">
                <a:latin typeface="Times New Roman"/>
                <a:cs typeface="Times New Roman"/>
              </a:rPr>
              <a:t>All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 components that made </a:t>
            </a:r>
            <a:r>
              <a:rPr sz="2400" dirty="0">
                <a:latin typeface="Times New Roman"/>
                <a:cs typeface="Times New Roman"/>
              </a:rPr>
              <a:t>up the </a:t>
            </a:r>
            <a:r>
              <a:rPr sz="2400" spc="-5" dirty="0">
                <a:latin typeface="Times New Roman"/>
                <a:cs typeface="Times New Roman"/>
              </a:rPr>
              <a:t>processor were </a:t>
            </a:r>
            <a:r>
              <a:rPr sz="2400" dirty="0">
                <a:latin typeface="Times New Roman"/>
                <a:cs typeface="Times New Roman"/>
              </a:rPr>
              <a:t>now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placed </a:t>
            </a:r>
            <a:r>
              <a:rPr sz="2400" dirty="0">
                <a:latin typeface="Times New Roman"/>
                <a:cs typeface="Times New Roman"/>
              </a:rPr>
              <a:t>on a </a:t>
            </a:r>
            <a:r>
              <a:rPr sz="2400" spc="-5" dirty="0">
                <a:latin typeface="Times New Roman"/>
                <a:cs typeface="Times New Roman"/>
              </a:rPr>
              <a:t>single piece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silicon. The size became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several thousand times smaller </a:t>
            </a:r>
            <a:r>
              <a:rPr sz="2400" dirty="0">
                <a:latin typeface="Times New Roman"/>
                <a:cs typeface="Times New Roman"/>
              </a:rPr>
              <a:t>and </a:t>
            </a:r>
            <a:r>
              <a:rPr sz="2400" spc="-5" dirty="0">
                <a:latin typeface="Times New Roman"/>
                <a:cs typeface="Times New Roman"/>
              </a:rPr>
              <a:t>the speed became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several hundred times faster. The “Micro”Processor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was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born.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95880" marR="5080" indent="-159702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Was</a:t>
            </a:r>
            <a:r>
              <a:rPr spc="-20" dirty="0"/>
              <a:t> </a:t>
            </a:r>
            <a:r>
              <a:rPr spc="-5" dirty="0"/>
              <a:t>there</a:t>
            </a:r>
            <a:r>
              <a:rPr spc="-15" dirty="0"/>
              <a:t> </a:t>
            </a:r>
            <a:r>
              <a:rPr spc="-5" dirty="0"/>
              <a:t>ever</a:t>
            </a:r>
            <a:r>
              <a:rPr spc="-15" dirty="0"/>
              <a:t> </a:t>
            </a:r>
            <a:r>
              <a:rPr spc="-5" dirty="0"/>
              <a:t>a</a:t>
            </a:r>
            <a:r>
              <a:rPr spc="-15" dirty="0"/>
              <a:t> </a:t>
            </a:r>
            <a:r>
              <a:rPr spc="-5" dirty="0"/>
              <a:t>“mini”- </a:t>
            </a:r>
            <a:r>
              <a:rPr spc="-1085" dirty="0"/>
              <a:t> </a:t>
            </a:r>
            <a:r>
              <a:rPr spc="-5" dirty="0"/>
              <a:t>processor?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1901011"/>
            <a:ext cx="7148195" cy="400177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88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No.</a:t>
            </a:r>
            <a:endParaRPr sz="3200">
              <a:latin typeface="Times New Roman"/>
              <a:cs typeface="Times New Roman"/>
            </a:endParaRPr>
          </a:p>
          <a:p>
            <a:pPr marL="755650" marR="5080" indent="-285750">
              <a:lnSpc>
                <a:spcPct val="100000"/>
              </a:lnSpc>
              <a:spcBef>
                <a:spcPts val="690"/>
              </a:spcBef>
            </a:pPr>
            <a:r>
              <a:rPr sz="2800" dirty="0">
                <a:latin typeface="Times New Roman"/>
                <a:cs typeface="Times New Roman"/>
              </a:rPr>
              <a:t>–</a:t>
            </a:r>
            <a:r>
              <a:rPr sz="2800" spc="1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went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directly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from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discrete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elements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single chip. However, comparing </a:t>
            </a:r>
            <a:r>
              <a:rPr sz="2800" dirty="0">
                <a:latin typeface="Times New Roman"/>
                <a:cs typeface="Times New Roman"/>
              </a:rPr>
              <a:t>today’s 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microprocessors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ones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built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early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1970’s you find </a:t>
            </a:r>
            <a:r>
              <a:rPr sz="2800" spc="-5" dirty="0">
                <a:latin typeface="Times New Roman"/>
                <a:cs typeface="Times New Roman"/>
              </a:rPr>
              <a:t>an extreme increase </a:t>
            </a:r>
            <a:r>
              <a:rPr sz="2800" dirty="0">
                <a:latin typeface="Times New Roman"/>
                <a:cs typeface="Times New Roman"/>
              </a:rPr>
              <a:t>in the 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amount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5" dirty="0">
                <a:latin typeface="Times New Roman"/>
                <a:cs typeface="Times New Roman"/>
              </a:rPr>
              <a:t> integration.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100">
              <a:latin typeface="Times New Roman"/>
              <a:cs typeface="Times New Roman"/>
            </a:endParaRPr>
          </a:p>
          <a:p>
            <a:pPr marL="354965" indent="-342900">
              <a:lnSpc>
                <a:spcPct val="100000"/>
              </a:lnSpc>
              <a:spcBef>
                <a:spcPts val="179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So,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What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is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microprocessor?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74141" y="814069"/>
            <a:ext cx="7395209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Definition</a:t>
            </a:r>
            <a:r>
              <a:rPr spc="-10" dirty="0"/>
              <a:t> </a:t>
            </a:r>
            <a:r>
              <a:rPr spc="-5" dirty="0"/>
              <a:t>of the Microprocessor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38429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3200" spc="-5" dirty="0"/>
              <a:t>The microprocessor</a:t>
            </a:r>
            <a:r>
              <a:rPr sz="3200" spc="10" dirty="0"/>
              <a:t> </a:t>
            </a:r>
            <a:r>
              <a:rPr sz="3200" spc="-5" dirty="0"/>
              <a:t>is</a:t>
            </a:r>
            <a:r>
              <a:rPr sz="3200" spc="10" dirty="0"/>
              <a:t> </a:t>
            </a:r>
            <a:r>
              <a:rPr sz="3200" spc="-5" dirty="0"/>
              <a:t>a</a:t>
            </a:r>
            <a:r>
              <a:rPr sz="3200" spc="5" dirty="0"/>
              <a:t> </a:t>
            </a:r>
            <a:r>
              <a:rPr sz="3200" u="heavy" spc="-5" dirty="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rPr>
              <a:t>programmable</a:t>
            </a:r>
            <a:r>
              <a:rPr sz="3200" u="heavy" spc="5" dirty="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rPr>
              <a:t> </a:t>
            </a:r>
            <a:r>
              <a:rPr sz="3200" u="heavy" spc="-5" dirty="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rPr>
              <a:t>device </a:t>
            </a:r>
            <a:r>
              <a:rPr sz="3200" spc="-785" dirty="0">
                <a:solidFill>
                  <a:srgbClr val="800000"/>
                </a:solidFill>
              </a:rPr>
              <a:t> </a:t>
            </a:r>
            <a:r>
              <a:rPr sz="3200" spc="-5" dirty="0"/>
              <a:t>that</a:t>
            </a:r>
            <a:r>
              <a:rPr sz="3200" spc="-10" dirty="0"/>
              <a:t> </a:t>
            </a:r>
            <a:r>
              <a:rPr sz="3200" u="heavy" spc="-5" dirty="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rPr>
              <a:t>takes</a:t>
            </a:r>
            <a:r>
              <a:rPr sz="3200" u="heavy" spc="10" dirty="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rPr>
              <a:t> </a:t>
            </a:r>
            <a:r>
              <a:rPr sz="3200" u="heavy" spc="-5" dirty="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rPr>
              <a:t>in</a:t>
            </a:r>
            <a:r>
              <a:rPr sz="3200" spc="-5" dirty="0">
                <a:solidFill>
                  <a:srgbClr val="800000"/>
                </a:solidFill>
              </a:rPr>
              <a:t> </a:t>
            </a:r>
            <a:r>
              <a:rPr sz="3200" u="heavy" spc="-5" dirty="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rPr>
              <a:t>numbers</a:t>
            </a:r>
            <a:r>
              <a:rPr sz="3200" spc="-5" dirty="0"/>
              <a:t>,</a:t>
            </a:r>
            <a:r>
              <a:rPr sz="3200" dirty="0"/>
              <a:t> </a:t>
            </a:r>
            <a:r>
              <a:rPr sz="3200" u="heavy" spc="-5" dirty="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rPr>
              <a:t>performs on them </a:t>
            </a:r>
            <a:r>
              <a:rPr sz="3200" dirty="0">
                <a:solidFill>
                  <a:srgbClr val="800000"/>
                </a:solidFill>
              </a:rPr>
              <a:t> </a:t>
            </a:r>
            <a:r>
              <a:rPr sz="3200" u="heavy" spc="-5" dirty="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rPr>
              <a:t>arithmetic</a:t>
            </a:r>
            <a:r>
              <a:rPr sz="3200" u="heavy" spc="5" dirty="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rPr>
              <a:t> </a:t>
            </a:r>
            <a:r>
              <a:rPr sz="3200" u="heavy" spc="-5" dirty="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rPr>
              <a:t>or logical</a:t>
            </a:r>
            <a:r>
              <a:rPr sz="3200" u="heavy" dirty="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rPr>
              <a:t> </a:t>
            </a:r>
            <a:r>
              <a:rPr sz="3200" u="heavy" spc="-5" dirty="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rPr>
              <a:t>operations</a:t>
            </a:r>
            <a:r>
              <a:rPr sz="3200" spc="-10" dirty="0">
                <a:solidFill>
                  <a:srgbClr val="800000"/>
                </a:solidFill>
              </a:rPr>
              <a:t> </a:t>
            </a:r>
            <a:r>
              <a:rPr sz="3200" spc="-5" dirty="0"/>
              <a:t>according</a:t>
            </a:r>
            <a:r>
              <a:rPr sz="3200" spc="5" dirty="0"/>
              <a:t> </a:t>
            </a:r>
            <a:r>
              <a:rPr sz="3200" spc="-5" dirty="0"/>
              <a:t>to </a:t>
            </a:r>
            <a:r>
              <a:rPr sz="3200" dirty="0"/>
              <a:t> </a:t>
            </a:r>
            <a:r>
              <a:rPr sz="3200" spc="-5" dirty="0"/>
              <a:t>the</a:t>
            </a:r>
            <a:r>
              <a:rPr sz="3200" spc="-10" dirty="0"/>
              <a:t> </a:t>
            </a:r>
            <a:r>
              <a:rPr sz="3200" u="heavy" spc="-5" dirty="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rPr>
              <a:t>program</a:t>
            </a:r>
            <a:r>
              <a:rPr sz="3200" spc="-5" dirty="0">
                <a:solidFill>
                  <a:srgbClr val="800000"/>
                </a:solidFill>
              </a:rPr>
              <a:t> </a:t>
            </a:r>
            <a:r>
              <a:rPr sz="3200" u="heavy" spc="-5" dirty="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rPr>
              <a:t>stored</a:t>
            </a:r>
            <a:r>
              <a:rPr sz="3200" u="heavy" spc="10" dirty="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rPr>
              <a:t> </a:t>
            </a:r>
            <a:r>
              <a:rPr sz="3200" u="heavy" spc="-5" dirty="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rPr>
              <a:t>in memory</a:t>
            </a:r>
            <a:r>
              <a:rPr sz="3200" spc="-5" dirty="0">
                <a:solidFill>
                  <a:srgbClr val="800000"/>
                </a:solidFill>
              </a:rPr>
              <a:t> </a:t>
            </a:r>
            <a:r>
              <a:rPr sz="3200" spc="-5" dirty="0"/>
              <a:t>and</a:t>
            </a:r>
            <a:r>
              <a:rPr sz="3200" dirty="0"/>
              <a:t> </a:t>
            </a:r>
            <a:r>
              <a:rPr sz="3200" spc="-5" dirty="0"/>
              <a:t>then </a:t>
            </a:r>
            <a:r>
              <a:rPr sz="3200" dirty="0"/>
              <a:t> </a:t>
            </a:r>
            <a:r>
              <a:rPr sz="3200" u="heavy" spc="-5" dirty="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rPr>
              <a:t>produces</a:t>
            </a:r>
            <a:r>
              <a:rPr sz="3200" spc="-10" dirty="0">
                <a:solidFill>
                  <a:srgbClr val="800000"/>
                </a:solidFill>
              </a:rPr>
              <a:t> </a:t>
            </a:r>
            <a:r>
              <a:rPr sz="3200" spc="-5" dirty="0"/>
              <a:t>other numbers as</a:t>
            </a:r>
            <a:r>
              <a:rPr sz="3200" spc="10" dirty="0"/>
              <a:t> </a:t>
            </a:r>
            <a:r>
              <a:rPr sz="3200" spc="-5" dirty="0"/>
              <a:t>a</a:t>
            </a:r>
            <a:r>
              <a:rPr sz="3200" dirty="0"/>
              <a:t> </a:t>
            </a:r>
            <a:r>
              <a:rPr sz="3200" spc="-5" dirty="0"/>
              <a:t>result.</a:t>
            </a:r>
            <a:endParaRPr sz="3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01951" y="814069"/>
            <a:ext cx="434022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Definition</a:t>
            </a:r>
            <a:r>
              <a:rPr spc="-40" dirty="0"/>
              <a:t> </a:t>
            </a:r>
            <a:r>
              <a:rPr spc="-5" dirty="0"/>
              <a:t>(Contd.)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1929602"/>
            <a:ext cx="7592695" cy="395033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39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Lets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expand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each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underlined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words:</a:t>
            </a:r>
            <a:endParaRPr sz="2400">
              <a:latin typeface="Times New Roman"/>
              <a:cs typeface="Times New Roman"/>
            </a:endParaRPr>
          </a:p>
          <a:p>
            <a:pPr marL="755015" marR="103505" lvl="1" indent="-285750">
              <a:lnSpc>
                <a:spcPts val="2380"/>
              </a:lnSpc>
              <a:spcBef>
                <a:spcPts val="565"/>
              </a:spcBef>
              <a:buChar char="–"/>
              <a:tabLst>
                <a:tab pos="755015" algn="l"/>
                <a:tab pos="755650" algn="l"/>
              </a:tabLst>
            </a:pPr>
            <a:r>
              <a:rPr sz="2200" spc="-5" dirty="0">
                <a:solidFill>
                  <a:srgbClr val="800000"/>
                </a:solidFill>
                <a:latin typeface="Times New Roman"/>
                <a:cs typeface="Times New Roman"/>
              </a:rPr>
              <a:t>Programmable </a:t>
            </a:r>
            <a:r>
              <a:rPr sz="2200" dirty="0">
                <a:solidFill>
                  <a:srgbClr val="800000"/>
                </a:solidFill>
                <a:latin typeface="Times New Roman"/>
                <a:cs typeface="Times New Roman"/>
              </a:rPr>
              <a:t>device</a:t>
            </a:r>
            <a:r>
              <a:rPr sz="2200" dirty="0">
                <a:latin typeface="Times New Roman"/>
                <a:cs typeface="Times New Roman"/>
              </a:rPr>
              <a:t>: </a:t>
            </a:r>
            <a:r>
              <a:rPr sz="2200" spc="-5" dirty="0">
                <a:latin typeface="Times New Roman"/>
                <a:cs typeface="Times New Roman"/>
              </a:rPr>
              <a:t>The microprocessor </a:t>
            </a:r>
            <a:r>
              <a:rPr sz="2200" dirty="0">
                <a:latin typeface="Times New Roman"/>
                <a:cs typeface="Times New Roman"/>
              </a:rPr>
              <a:t>can </a:t>
            </a:r>
            <a:r>
              <a:rPr sz="2200" spc="-5" dirty="0">
                <a:latin typeface="Times New Roman"/>
                <a:cs typeface="Times New Roman"/>
              </a:rPr>
              <a:t>perform 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different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sets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operations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receives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depending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 the </a:t>
            </a:r>
            <a:r>
              <a:rPr sz="2200" spc="-5" dirty="0">
                <a:latin typeface="Times New Roman"/>
                <a:cs typeface="Times New Roman"/>
              </a:rPr>
              <a:t>sequence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dirty="0">
                <a:solidFill>
                  <a:srgbClr val="800000"/>
                </a:solidFill>
                <a:latin typeface="Times New Roman"/>
                <a:cs typeface="Times New Roman"/>
              </a:rPr>
              <a:t> </a:t>
            </a:r>
            <a:r>
              <a:rPr sz="2200" u="heavy" dirty="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  <a:latin typeface="Times New Roman"/>
                <a:cs typeface="Times New Roman"/>
              </a:rPr>
              <a:t>instructions</a:t>
            </a:r>
            <a:r>
              <a:rPr sz="2200" dirty="0">
                <a:solidFill>
                  <a:srgbClr val="80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supplied in the given 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program.</a:t>
            </a:r>
            <a:endParaRPr sz="2200">
              <a:latin typeface="Times New Roman"/>
              <a:cs typeface="Times New Roman"/>
            </a:endParaRPr>
          </a:p>
          <a:p>
            <a:pPr marL="755015">
              <a:lnSpc>
                <a:spcPts val="2195"/>
              </a:lnSpc>
            </a:pPr>
            <a:r>
              <a:rPr sz="2200" dirty="0">
                <a:latin typeface="Times New Roman"/>
                <a:cs typeface="Times New Roman"/>
              </a:rPr>
              <a:t>By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changing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 </a:t>
            </a:r>
            <a:r>
              <a:rPr sz="2200" spc="-5" dirty="0">
                <a:latin typeface="Times New Roman"/>
                <a:cs typeface="Times New Roman"/>
              </a:rPr>
              <a:t>program,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microprocessor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manipulates</a:t>
            </a:r>
            <a:endParaRPr sz="2200">
              <a:latin typeface="Times New Roman"/>
              <a:cs typeface="Times New Roman"/>
            </a:endParaRPr>
          </a:p>
          <a:p>
            <a:pPr marL="755015">
              <a:lnSpc>
                <a:spcPts val="2510"/>
              </a:lnSpc>
            </a:pP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different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ways.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000">
              <a:latin typeface="Times New Roman"/>
              <a:cs typeface="Times New Roman"/>
            </a:endParaRPr>
          </a:p>
          <a:p>
            <a:pPr marL="755650" marR="5080" lvl="1" indent="-286385">
              <a:lnSpc>
                <a:spcPts val="2380"/>
              </a:lnSpc>
              <a:buChar char="–"/>
              <a:tabLst>
                <a:tab pos="755015" algn="l"/>
                <a:tab pos="756285" algn="l"/>
              </a:tabLst>
            </a:pPr>
            <a:r>
              <a:rPr sz="2200" dirty="0">
                <a:solidFill>
                  <a:srgbClr val="800000"/>
                </a:solidFill>
                <a:latin typeface="Times New Roman"/>
                <a:cs typeface="Times New Roman"/>
              </a:rPr>
              <a:t>Instructions</a:t>
            </a:r>
            <a:r>
              <a:rPr sz="2200" dirty="0">
                <a:latin typeface="Times New Roman"/>
                <a:cs typeface="Times New Roman"/>
              </a:rPr>
              <a:t>: </a:t>
            </a:r>
            <a:r>
              <a:rPr sz="2200" spc="-5" dirty="0">
                <a:latin typeface="Times New Roman"/>
                <a:cs typeface="Times New Roman"/>
              </a:rPr>
              <a:t>Each microprocessor </a:t>
            </a:r>
            <a:r>
              <a:rPr sz="2200" dirty="0">
                <a:latin typeface="Times New Roman"/>
                <a:cs typeface="Times New Roman"/>
              </a:rPr>
              <a:t>is </a:t>
            </a:r>
            <a:r>
              <a:rPr sz="2200" spc="-5" dirty="0">
                <a:latin typeface="Times New Roman"/>
                <a:cs typeface="Times New Roman"/>
              </a:rPr>
              <a:t>designed </a:t>
            </a:r>
            <a:r>
              <a:rPr sz="2200" dirty="0">
                <a:latin typeface="Times New Roman"/>
                <a:cs typeface="Times New Roman"/>
              </a:rPr>
              <a:t>to execute a 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specific </a:t>
            </a:r>
            <a:r>
              <a:rPr sz="2200" spc="-5" dirty="0">
                <a:latin typeface="Times New Roman"/>
                <a:cs typeface="Times New Roman"/>
              </a:rPr>
              <a:t>group </a:t>
            </a:r>
            <a:r>
              <a:rPr sz="2200" dirty="0">
                <a:latin typeface="Times New Roman"/>
                <a:cs typeface="Times New Roman"/>
              </a:rPr>
              <a:t>of operations. </a:t>
            </a:r>
            <a:r>
              <a:rPr sz="2200" spc="-5" dirty="0">
                <a:latin typeface="Times New Roman"/>
                <a:cs typeface="Times New Roman"/>
              </a:rPr>
              <a:t>This group </a:t>
            </a:r>
            <a:r>
              <a:rPr sz="2200" dirty="0">
                <a:latin typeface="Times New Roman"/>
                <a:cs typeface="Times New Roman"/>
              </a:rPr>
              <a:t>of operations is 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called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instruction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set.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This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instruction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set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defines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what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microprocessor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cannot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do.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01951" y="814069"/>
            <a:ext cx="434022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Definition</a:t>
            </a:r>
            <a:r>
              <a:rPr spc="-40" dirty="0"/>
              <a:t> </a:t>
            </a:r>
            <a:r>
              <a:rPr spc="-5" dirty="0"/>
              <a:t>(Contd.)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21739" y="2002027"/>
            <a:ext cx="6625590" cy="2928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264160" indent="-285750">
              <a:lnSpc>
                <a:spcPct val="100000"/>
              </a:lnSpc>
              <a:spcBef>
                <a:spcPts val="100"/>
              </a:spcBef>
              <a:buChar char="–"/>
              <a:tabLst>
                <a:tab pos="298450" algn="l"/>
              </a:tabLst>
            </a:pPr>
            <a:r>
              <a:rPr sz="2800" spc="-5" dirty="0">
                <a:solidFill>
                  <a:srgbClr val="800000"/>
                </a:solidFill>
                <a:latin typeface="Times New Roman"/>
                <a:cs typeface="Times New Roman"/>
              </a:rPr>
              <a:t>Takes </a:t>
            </a:r>
            <a:r>
              <a:rPr sz="2800" dirty="0">
                <a:solidFill>
                  <a:srgbClr val="800000"/>
                </a:solidFill>
                <a:latin typeface="Times New Roman"/>
                <a:cs typeface="Times New Roman"/>
              </a:rPr>
              <a:t>in</a:t>
            </a:r>
            <a:r>
              <a:rPr sz="2800" dirty="0">
                <a:latin typeface="Times New Roman"/>
                <a:cs typeface="Times New Roman"/>
              </a:rPr>
              <a:t>: </a:t>
            </a:r>
            <a:r>
              <a:rPr sz="2800" spc="-5" dirty="0">
                <a:latin typeface="Times New Roman"/>
                <a:cs typeface="Times New Roman"/>
              </a:rPr>
              <a:t>The data that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microprocessor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manipulates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must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come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from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somewhere.</a:t>
            </a:r>
            <a:endParaRPr sz="2800">
              <a:latin typeface="Times New Roman"/>
              <a:cs typeface="Times New Roman"/>
            </a:endParaRPr>
          </a:p>
          <a:p>
            <a:pPr marL="698500" lvl="1" indent="-229235">
              <a:lnSpc>
                <a:spcPct val="100000"/>
              </a:lnSpc>
              <a:spcBef>
                <a:spcPts val="585"/>
              </a:spcBef>
              <a:buChar char="•"/>
              <a:tabLst>
                <a:tab pos="698500" algn="l"/>
              </a:tabLst>
            </a:pPr>
            <a:r>
              <a:rPr sz="2400" spc="-5" dirty="0">
                <a:latin typeface="Times New Roman"/>
                <a:cs typeface="Times New Roman"/>
              </a:rPr>
              <a:t>It comes from what is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called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“input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devices”.</a:t>
            </a:r>
            <a:endParaRPr sz="2400">
              <a:latin typeface="Times New Roman"/>
              <a:cs typeface="Times New Roman"/>
            </a:endParaRPr>
          </a:p>
          <a:p>
            <a:pPr marL="697865" marR="5080" lvl="1" indent="-228600">
              <a:lnSpc>
                <a:spcPct val="100000"/>
              </a:lnSpc>
              <a:spcBef>
                <a:spcPts val="575"/>
              </a:spcBef>
              <a:buChar char="•"/>
              <a:tabLst>
                <a:tab pos="698500" algn="l"/>
              </a:tabLst>
            </a:pPr>
            <a:r>
              <a:rPr sz="2400" spc="-5" dirty="0">
                <a:latin typeface="Times New Roman"/>
                <a:cs typeface="Times New Roman"/>
              </a:rPr>
              <a:t>These are devices that bring data into the system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from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 outside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world.</a:t>
            </a:r>
            <a:endParaRPr sz="2400">
              <a:latin typeface="Times New Roman"/>
              <a:cs typeface="Times New Roman"/>
            </a:endParaRPr>
          </a:p>
          <a:p>
            <a:pPr marL="697865" marR="339090" lvl="1" indent="-228600">
              <a:lnSpc>
                <a:spcPct val="100000"/>
              </a:lnSpc>
              <a:spcBef>
                <a:spcPts val="580"/>
              </a:spcBef>
              <a:buChar char="•"/>
              <a:tabLst>
                <a:tab pos="698500" algn="l"/>
              </a:tabLst>
            </a:pPr>
            <a:r>
              <a:rPr sz="2400" spc="-5" dirty="0">
                <a:latin typeface="Times New Roman"/>
                <a:cs typeface="Times New Roman"/>
              </a:rPr>
              <a:t>These represent devices such as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keyboard,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mouse,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switches,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like.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01951" y="814069"/>
            <a:ext cx="434022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Definition</a:t>
            </a:r>
            <a:r>
              <a:rPr spc="-40" dirty="0"/>
              <a:t> </a:t>
            </a:r>
            <a:r>
              <a:rPr spc="-5" dirty="0"/>
              <a:t>(Contd.)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21739" y="2005838"/>
            <a:ext cx="7058659" cy="3439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 marR="241300" indent="-285750">
              <a:lnSpc>
                <a:spcPct val="100000"/>
              </a:lnSpc>
              <a:spcBef>
                <a:spcPts val="95"/>
              </a:spcBef>
              <a:tabLst>
                <a:tab pos="297815" algn="l"/>
              </a:tabLst>
            </a:pPr>
            <a:r>
              <a:rPr sz="2000" spc="-5" dirty="0">
                <a:solidFill>
                  <a:srgbClr val="800000"/>
                </a:solidFill>
                <a:latin typeface="Times New Roman"/>
                <a:cs typeface="Times New Roman"/>
              </a:rPr>
              <a:t>–	Numbers</a:t>
            </a:r>
            <a:r>
              <a:rPr sz="2000" spc="-5" dirty="0">
                <a:latin typeface="Times New Roman"/>
                <a:cs typeface="Times New Roman"/>
              </a:rPr>
              <a:t>: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microprocessor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has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very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narrow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view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on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life.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It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only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understands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binary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numbers.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Times New Roman"/>
              <a:cs typeface="Times New Roman"/>
            </a:endParaRPr>
          </a:p>
          <a:p>
            <a:pPr marL="298450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A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binary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digit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 called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bit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(which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comes from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</a:t>
            </a:r>
            <a:r>
              <a:rPr sz="2000" spc="-5" dirty="0">
                <a:latin typeface="Times New Roman"/>
                <a:cs typeface="Times New Roman"/>
              </a:rPr>
              <a:t>inary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dig</a:t>
            </a:r>
            <a:r>
              <a:rPr sz="20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it</a:t>
            </a:r>
            <a:r>
              <a:rPr sz="2000" spc="-5" dirty="0">
                <a:latin typeface="Times New Roman"/>
                <a:cs typeface="Times New Roman"/>
              </a:rPr>
              <a:t>).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Times New Roman"/>
              <a:cs typeface="Times New Roman"/>
            </a:endParaRPr>
          </a:p>
          <a:p>
            <a:pPr marL="298450" marR="586740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microprocessor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recognizes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and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processes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group of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bits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together.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group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of bits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called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 “word”.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Times New Roman"/>
              <a:cs typeface="Times New Roman"/>
            </a:endParaRPr>
          </a:p>
          <a:p>
            <a:pPr marL="298450" marR="5080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number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of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bits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Microprocessor’s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word,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measure of its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“abilities”.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01951" y="814069"/>
            <a:ext cx="434022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Definition</a:t>
            </a:r>
            <a:r>
              <a:rPr spc="-40" dirty="0"/>
              <a:t> </a:t>
            </a:r>
            <a:r>
              <a:rPr spc="-5" dirty="0"/>
              <a:t>(Contd.)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21739" y="1927617"/>
            <a:ext cx="7127875" cy="487997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98450" indent="-286385">
              <a:lnSpc>
                <a:spcPct val="100000"/>
              </a:lnSpc>
              <a:spcBef>
                <a:spcPts val="409"/>
              </a:spcBef>
              <a:buChar char="–"/>
              <a:tabLst>
                <a:tab pos="298450" algn="l"/>
                <a:tab pos="299085" algn="l"/>
              </a:tabLst>
            </a:pPr>
            <a:r>
              <a:rPr sz="2400" spc="-5" dirty="0">
                <a:solidFill>
                  <a:srgbClr val="800000"/>
                </a:solidFill>
                <a:latin typeface="Times New Roman"/>
                <a:cs typeface="Times New Roman"/>
              </a:rPr>
              <a:t>Words,</a:t>
            </a:r>
            <a:r>
              <a:rPr sz="2400" spc="-25" dirty="0">
                <a:solidFill>
                  <a:srgbClr val="80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800000"/>
                </a:solidFill>
                <a:latin typeface="Times New Roman"/>
                <a:cs typeface="Times New Roman"/>
              </a:rPr>
              <a:t>Bytes,</a:t>
            </a:r>
            <a:r>
              <a:rPr sz="2400" spc="-25" dirty="0">
                <a:solidFill>
                  <a:srgbClr val="80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800000"/>
                </a:solidFill>
                <a:latin typeface="Times New Roman"/>
                <a:cs typeface="Times New Roman"/>
              </a:rPr>
              <a:t>etc.</a:t>
            </a:r>
            <a:endParaRPr sz="2400">
              <a:latin typeface="Times New Roman"/>
              <a:cs typeface="Times New Roman"/>
            </a:endParaRPr>
          </a:p>
          <a:p>
            <a:pPr marL="698500" marR="434975" lvl="1" indent="-229235" algn="just">
              <a:lnSpc>
                <a:spcPts val="2160"/>
              </a:lnSpc>
              <a:spcBef>
                <a:spcPts val="525"/>
              </a:spcBef>
              <a:buChar char="•"/>
              <a:tabLst>
                <a:tab pos="699135" algn="l"/>
              </a:tabLst>
            </a:pPr>
            <a:r>
              <a:rPr sz="2000" spc="-5" dirty="0">
                <a:latin typeface="Times New Roman"/>
                <a:cs typeface="Times New Roman"/>
              </a:rPr>
              <a:t>The earliest microprocessor (the Intel 8088 and Motorola’s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6800)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recognized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8-bit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words.</a:t>
            </a:r>
            <a:endParaRPr sz="2000">
              <a:latin typeface="Times New Roman"/>
              <a:cs typeface="Times New Roman"/>
            </a:endParaRPr>
          </a:p>
          <a:p>
            <a:pPr marL="1155065" marR="5080" lvl="2" indent="-228600" algn="just">
              <a:lnSpc>
                <a:spcPts val="1939"/>
              </a:lnSpc>
              <a:spcBef>
                <a:spcPts val="440"/>
              </a:spcBef>
              <a:buChar char="–"/>
              <a:tabLst>
                <a:tab pos="1155700" algn="l"/>
              </a:tabLst>
            </a:pPr>
            <a:r>
              <a:rPr sz="1800" spc="-5" dirty="0">
                <a:latin typeface="Times New Roman"/>
                <a:cs typeface="Times New Roman"/>
              </a:rPr>
              <a:t>They processed information 8-bits at </a:t>
            </a:r>
            <a:r>
              <a:rPr sz="1800" dirty="0">
                <a:latin typeface="Times New Roman"/>
                <a:cs typeface="Times New Roman"/>
              </a:rPr>
              <a:t>a </a:t>
            </a:r>
            <a:r>
              <a:rPr sz="1800" spc="-5" dirty="0">
                <a:latin typeface="Times New Roman"/>
                <a:cs typeface="Times New Roman"/>
              </a:rPr>
              <a:t>time. That’s why they are 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called “8-bit processors”. They can handle large numbers, </a:t>
            </a:r>
            <a:r>
              <a:rPr sz="1800" dirty="0">
                <a:latin typeface="Times New Roman"/>
                <a:cs typeface="Times New Roman"/>
              </a:rPr>
              <a:t>but </a:t>
            </a:r>
            <a:r>
              <a:rPr sz="1800" spc="-5" dirty="0">
                <a:latin typeface="Times New Roman"/>
                <a:cs typeface="Times New Roman"/>
              </a:rPr>
              <a:t>in 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order to process these numbers, they </a:t>
            </a:r>
            <a:r>
              <a:rPr sz="1800" dirty="0">
                <a:latin typeface="Times New Roman"/>
                <a:cs typeface="Times New Roman"/>
              </a:rPr>
              <a:t>broke </a:t>
            </a:r>
            <a:r>
              <a:rPr sz="1800" spc="-5" dirty="0">
                <a:latin typeface="Times New Roman"/>
                <a:cs typeface="Times New Roman"/>
              </a:rPr>
              <a:t>them into 8-bit pieces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and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processed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each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group of </a:t>
            </a:r>
            <a:r>
              <a:rPr sz="1800" spc="-5" dirty="0">
                <a:latin typeface="Times New Roman"/>
                <a:cs typeface="Times New Roman"/>
              </a:rPr>
              <a:t>8-bits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separately.</a:t>
            </a:r>
            <a:endParaRPr sz="180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25"/>
              </a:spcBef>
              <a:buFont typeface="Times New Roman"/>
              <a:buChar char="–"/>
            </a:pPr>
            <a:endParaRPr sz="2700">
              <a:latin typeface="Times New Roman"/>
              <a:cs typeface="Times New Roman"/>
            </a:endParaRPr>
          </a:p>
          <a:p>
            <a:pPr marL="698500" marR="262255" lvl="1" indent="-229235">
              <a:lnSpc>
                <a:spcPts val="2160"/>
              </a:lnSpc>
              <a:buChar char="•"/>
              <a:tabLst>
                <a:tab pos="697865" algn="l"/>
                <a:tab pos="699135" algn="l"/>
              </a:tabLst>
            </a:pPr>
            <a:r>
              <a:rPr sz="2000" spc="-5" dirty="0">
                <a:latin typeface="Times New Roman"/>
                <a:cs typeface="Times New Roman"/>
              </a:rPr>
              <a:t>Later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microprocessors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(8086 and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68000) were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designed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with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16-bit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333CC"/>
                </a:solidFill>
                <a:latin typeface="Times New Roman"/>
                <a:cs typeface="Times New Roman"/>
              </a:rPr>
              <a:t>words</a:t>
            </a:r>
            <a:r>
              <a:rPr sz="2000" spc="-5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1155700" lvl="2" indent="-229235">
              <a:lnSpc>
                <a:spcPct val="100000"/>
              </a:lnSpc>
              <a:spcBef>
                <a:spcPts val="190"/>
              </a:spcBef>
              <a:buChar char="–"/>
              <a:tabLst>
                <a:tab pos="1155700" algn="l"/>
              </a:tabLst>
            </a:pPr>
            <a:r>
              <a:rPr sz="1800" spc="-5" dirty="0">
                <a:latin typeface="Times New Roman"/>
                <a:cs typeface="Times New Roman"/>
              </a:rPr>
              <a:t>A </a:t>
            </a:r>
            <a:r>
              <a:rPr sz="1800" dirty="0">
                <a:latin typeface="Times New Roman"/>
                <a:cs typeface="Times New Roman"/>
              </a:rPr>
              <a:t>group of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8-bits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were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referred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to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as</a:t>
            </a:r>
            <a:r>
              <a:rPr sz="1800" dirty="0">
                <a:latin typeface="Times New Roman"/>
                <a:cs typeface="Times New Roman"/>
              </a:rPr>
              <a:t> a </a:t>
            </a:r>
            <a:r>
              <a:rPr sz="1800" spc="-5" dirty="0">
                <a:latin typeface="Times New Roman"/>
                <a:cs typeface="Times New Roman"/>
              </a:rPr>
              <a:t>“half-word”</a:t>
            </a:r>
            <a:r>
              <a:rPr sz="1800" dirty="0">
                <a:latin typeface="Times New Roman"/>
                <a:cs typeface="Times New Roman"/>
              </a:rPr>
              <a:t> or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“byte”.</a:t>
            </a:r>
            <a:endParaRPr sz="1800">
              <a:latin typeface="Times New Roman"/>
              <a:cs typeface="Times New Roman"/>
            </a:endParaRPr>
          </a:p>
          <a:p>
            <a:pPr marL="1155700" lvl="2" indent="-229235">
              <a:lnSpc>
                <a:spcPct val="100000"/>
              </a:lnSpc>
              <a:spcBef>
                <a:spcPts val="219"/>
              </a:spcBef>
              <a:buChar char="–"/>
              <a:tabLst>
                <a:tab pos="1155700" algn="l"/>
              </a:tabLst>
            </a:pPr>
            <a:r>
              <a:rPr sz="1800" spc="-5" dirty="0">
                <a:latin typeface="Times New Roman"/>
                <a:cs typeface="Times New Roman"/>
              </a:rPr>
              <a:t>A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group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4</a:t>
            </a:r>
            <a:r>
              <a:rPr sz="1800" spc="-5" dirty="0">
                <a:latin typeface="Times New Roman"/>
                <a:cs typeface="Times New Roman"/>
              </a:rPr>
              <a:t> bits is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called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“nibble”.</a:t>
            </a:r>
            <a:endParaRPr sz="1800">
              <a:latin typeface="Times New Roman"/>
              <a:cs typeface="Times New Roman"/>
            </a:endParaRPr>
          </a:p>
          <a:p>
            <a:pPr marL="1155700" lvl="2" indent="-229235">
              <a:lnSpc>
                <a:spcPct val="100000"/>
              </a:lnSpc>
              <a:spcBef>
                <a:spcPts val="215"/>
              </a:spcBef>
              <a:buChar char="–"/>
              <a:tabLst>
                <a:tab pos="1155700" algn="l"/>
              </a:tabLst>
            </a:pPr>
            <a:r>
              <a:rPr sz="1800" spc="-5" dirty="0">
                <a:latin typeface="Times New Roman"/>
                <a:cs typeface="Times New Roman"/>
              </a:rPr>
              <a:t>Also,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32 </a:t>
            </a:r>
            <a:r>
              <a:rPr sz="1800" spc="-5" dirty="0">
                <a:latin typeface="Times New Roman"/>
                <a:cs typeface="Times New Roman"/>
              </a:rPr>
              <a:t>bit</a:t>
            </a:r>
            <a:r>
              <a:rPr sz="1800" dirty="0">
                <a:latin typeface="Times New Roman"/>
                <a:cs typeface="Times New Roman"/>
              </a:rPr>
              <a:t> groups </a:t>
            </a:r>
            <a:r>
              <a:rPr sz="1800" spc="-5" dirty="0">
                <a:latin typeface="Times New Roman"/>
                <a:cs typeface="Times New Roman"/>
              </a:rPr>
              <a:t>were given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name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“long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word”.</a:t>
            </a:r>
            <a:endParaRPr sz="180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35"/>
              </a:spcBef>
              <a:buFont typeface="Times New Roman"/>
              <a:buChar char="–"/>
            </a:pPr>
            <a:endParaRPr sz="2700">
              <a:latin typeface="Times New Roman"/>
              <a:cs typeface="Times New Roman"/>
            </a:endParaRPr>
          </a:p>
          <a:p>
            <a:pPr marL="697865" marR="191770" lvl="1" indent="-228600">
              <a:lnSpc>
                <a:spcPts val="2160"/>
              </a:lnSpc>
              <a:spcBef>
                <a:spcPts val="5"/>
              </a:spcBef>
              <a:buChar char="•"/>
              <a:tabLst>
                <a:tab pos="697865" algn="l"/>
                <a:tab pos="698500" algn="l"/>
              </a:tabLst>
            </a:pPr>
            <a:r>
              <a:rPr sz="2000" spc="-5" dirty="0">
                <a:latin typeface="Times New Roman"/>
                <a:cs typeface="Times New Roman"/>
              </a:rPr>
              <a:t>Today, all processors manipulate at least 32 bits at a time and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exists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microprocessors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that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can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process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64,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80,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128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bits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01951" y="814069"/>
            <a:ext cx="434022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Definition</a:t>
            </a:r>
            <a:r>
              <a:rPr spc="-40" dirty="0"/>
              <a:t> </a:t>
            </a:r>
            <a:r>
              <a:rPr spc="-5" dirty="0"/>
              <a:t>(Contd.)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21739" y="1927617"/>
            <a:ext cx="7046595" cy="424243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98450" indent="-286385">
              <a:lnSpc>
                <a:spcPct val="100000"/>
              </a:lnSpc>
              <a:spcBef>
                <a:spcPts val="409"/>
              </a:spcBef>
              <a:buChar char="–"/>
              <a:tabLst>
                <a:tab pos="298450" algn="l"/>
                <a:tab pos="299085" algn="l"/>
              </a:tabLst>
            </a:pPr>
            <a:r>
              <a:rPr sz="2400" spc="-5" dirty="0">
                <a:solidFill>
                  <a:srgbClr val="800000"/>
                </a:solidFill>
                <a:latin typeface="Times New Roman"/>
                <a:cs typeface="Times New Roman"/>
              </a:rPr>
              <a:t>Arithmetic</a:t>
            </a:r>
            <a:r>
              <a:rPr sz="2400" spc="-45" dirty="0">
                <a:solidFill>
                  <a:srgbClr val="8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800000"/>
                </a:solidFill>
                <a:latin typeface="Times New Roman"/>
                <a:cs typeface="Times New Roman"/>
              </a:rPr>
              <a:t>and</a:t>
            </a:r>
            <a:r>
              <a:rPr sz="2400" spc="-25" dirty="0">
                <a:solidFill>
                  <a:srgbClr val="80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800000"/>
                </a:solidFill>
                <a:latin typeface="Times New Roman"/>
                <a:cs typeface="Times New Roman"/>
              </a:rPr>
              <a:t>Logic</a:t>
            </a:r>
            <a:r>
              <a:rPr sz="2400" spc="-20" dirty="0">
                <a:solidFill>
                  <a:srgbClr val="8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800000"/>
                </a:solidFill>
                <a:latin typeface="Times New Roman"/>
                <a:cs typeface="Times New Roman"/>
              </a:rPr>
              <a:t>Operations</a:t>
            </a:r>
            <a:r>
              <a:rPr sz="240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698500" marR="270510" lvl="1" indent="-229235">
              <a:lnSpc>
                <a:spcPts val="2160"/>
              </a:lnSpc>
              <a:spcBef>
                <a:spcPts val="525"/>
              </a:spcBef>
              <a:buChar char="•"/>
              <a:tabLst>
                <a:tab pos="697865" algn="l"/>
                <a:tab pos="699135" algn="l"/>
              </a:tabLst>
            </a:pPr>
            <a:r>
              <a:rPr sz="2000" spc="-5" dirty="0">
                <a:latin typeface="Times New Roman"/>
                <a:cs typeface="Times New Roman"/>
              </a:rPr>
              <a:t>Every microprocessor has arithmetic operations such as add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subtract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part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of its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instruction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set.</a:t>
            </a:r>
            <a:endParaRPr sz="2000">
              <a:latin typeface="Times New Roman"/>
              <a:cs typeface="Times New Roman"/>
            </a:endParaRPr>
          </a:p>
          <a:p>
            <a:pPr marL="1155065" marR="5080" lvl="2" indent="-228600">
              <a:lnSpc>
                <a:spcPts val="1939"/>
              </a:lnSpc>
              <a:spcBef>
                <a:spcPts val="440"/>
              </a:spcBef>
              <a:buChar char="–"/>
              <a:tabLst>
                <a:tab pos="1155700" algn="l"/>
              </a:tabLst>
            </a:pPr>
            <a:r>
              <a:rPr sz="1800" spc="-5" dirty="0">
                <a:latin typeface="Times New Roman"/>
                <a:cs typeface="Times New Roman"/>
              </a:rPr>
              <a:t>Most microprocessors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will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have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operations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such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as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multiply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and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divide.</a:t>
            </a:r>
            <a:endParaRPr sz="1800">
              <a:latin typeface="Times New Roman"/>
              <a:cs typeface="Times New Roman"/>
            </a:endParaRPr>
          </a:p>
          <a:p>
            <a:pPr marL="1155065" marR="208279" lvl="2" indent="-228600">
              <a:lnSpc>
                <a:spcPts val="1939"/>
              </a:lnSpc>
              <a:spcBef>
                <a:spcPts val="440"/>
              </a:spcBef>
              <a:buChar char="–"/>
              <a:tabLst>
                <a:tab pos="1155700" algn="l"/>
              </a:tabLst>
            </a:pPr>
            <a:r>
              <a:rPr sz="1800" spc="-5" dirty="0">
                <a:latin typeface="Times New Roman"/>
                <a:cs typeface="Times New Roman"/>
              </a:rPr>
              <a:t>Some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newer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ones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will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have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complex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operations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such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as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square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root.</a:t>
            </a:r>
            <a:endParaRPr sz="180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15"/>
              </a:spcBef>
              <a:buFont typeface="Times New Roman"/>
              <a:buChar char="–"/>
            </a:pPr>
            <a:endParaRPr sz="2700">
              <a:latin typeface="Times New Roman"/>
              <a:cs typeface="Times New Roman"/>
            </a:endParaRPr>
          </a:p>
          <a:p>
            <a:pPr marL="698500" marR="382905" lvl="1" indent="-229235">
              <a:lnSpc>
                <a:spcPts val="2160"/>
              </a:lnSpc>
              <a:buChar char="•"/>
              <a:tabLst>
                <a:tab pos="697865" algn="l"/>
                <a:tab pos="699135" algn="l"/>
              </a:tabLst>
            </a:pPr>
            <a:r>
              <a:rPr sz="2000" spc="-5" dirty="0">
                <a:latin typeface="Times New Roman"/>
                <a:cs typeface="Times New Roman"/>
              </a:rPr>
              <a:t>In addition, microprocessors have logic operations as well.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Such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AND,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OR,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XOR,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shift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left,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shift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right,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etc.</a:t>
            </a:r>
            <a:endParaRPr sz="20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Times New Roman"/>
              <a:buChar char="•"/>
            </a:pPr>
            <a:endParaRPr sz="2250">
              <a:latin typeface="Times New Roman"/>
              <a:cs typeface="Times New Roman"/>
            </a:endParaRPr>
          </a:p>
          <a:p>
            <a:pPr marL="698500" marR="241300" lvl="1" indent="-229235">
              <a:lnSpc>
                <a:spcPts val="2160"/>
              </a:lnSpc>
              <a:spcBef>
                <a:spcPts val="5"/>
              </a:spcBef>
              <a:buChar char="•"/>
              <a:tabLst>
                <a:tab pos="697865" algn="l"/>
                <a:tab pos="699135" algn="l"/>
              </a:tabLst>
            </a:pPr>
            <a:r>
              <a:rPr sz="2000" spc="-5" dirty="0">
                <a:latin typeface="Times New Roman"/>
                <a:cs typeface="Times New Roman"/>
              </a:rPr>
              <a:t>Again, the number and types of operations define the 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microprocessor’s instruction set and depends on the specific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microprocessor.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01951" y="814069"/>
            <a:ext cx="434022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Definition</a:t>
            </a:r>
            <a:r>
              <a:rPr spc="-40" dirty="0"/>
              <a:t> </a:t>
            </a:r>
            <a:r>
              <a:rPr spc="-5" dirty="0"/>
              <a:t>(Contd.)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96339" y="1927581"/>
            <a:ext cx="7154545" cy="4018279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23850" indent="-286385">
              <a:lnSpc>
                <a:spcPct val="100000"/>
              </a:lnSpc>
              <a:spcBef>
                <a:spcPts val="695"/>
              </a:spcBef>
              <a:buChar char="–"/>
              <a:tabLst>
                <a:tab pos="323850" algn="l"/>
                <a:tab pos="324485" algn="l"/>
              </a:tabLst>
            </a:pPr>
            <a:r>
              <a:rPr sz="2400" spc="-5" dirty="0">
                <a:solidFill>
                  <a:srgbClr val="800000"/>
                </a:solidFill>
                <a:latin typeface="Times New Roman"/>
                <a:cs typeface="Times New Roman"/>
              </a:rPr>
              <a:t>Stored</a:t>
            </a:r>
            <a:r>
              <a:rPr sz="2400" spc="-25" dirty="0">
                <a:solidFill>
                  <a:srgbClr val="80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800000"/>
                </a:solidFill>
                <a:latin typeface="Times New Roman"/>
                <a:cs typeface="Times New Roman"/>
              </a:rPr>
              <a:t>in</a:t>
            </a:r>
            <a:r>
              <a:rPr sz="2400" spc="-25" dirty="0">
                <a:solidFill>
                  <a:srgbClr val="80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800000"/>
                </a:solidFill>
                <a:latin typeface="Times New Roman"/>
                <a:cs typeface="Times New Roman"/>
              </a:rPr>
              <a:t>memory</a:t>
            </a:r>
            <a:r>
              <a:rPr sz="2400" spc="-25" dirty="0">
                <a:solidFill>
                  <a:srgbClr val="8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723900" lvl="1" indent="-229870">
              <a:lnSpc>
                <a:spcPct val="100000"/>
              </a:lnSpc>
              <a:spcBef>
                <a:spcPts val="500"/>
              </a:spcBef>
              <a:buChar char="•"/>
              <a:tabLst>
                <a:tab pos="723265" algn="l"/>
                <a:tab pos="724535" algn="l"/>
              </a:tabLst>
            </a:pPr>
            <a:r>
              <a:rPr sz="2000" spc="-5" dirty="0">
                <a:latin typeface="Times New Roman"/>
                <a:cs typeface="Times New Roman"/>
              </a:rPr>
              <a:t>First,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what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memory?</a:t>
            </a:r>
            <a:endParaRPr sz="2000">
              <a:latin typeface="Times New Roman"/>
              <a:cs typeface="Times New Roman"/>
            </a:endParaRPr>
          </a:p>
          <a:p>
            <a:pPr marL="1180465" marR="276860" lvl="2" indent="-228600">
              <a:lnSpc>
                <a:spcPct val="100000"/>
              </a:lnSpc>
              <a:spcBef>
                <a:spcPts val="439"/>
              </a:spcBef>
              <a:buChar char="–"/>
              <a:tabLst>
                <a:tab pos="1181100" algn="l"/>
              </a:tabLst>
            </a:pPr>
            <a:r>
              <a:rPr sz="1800" spc="-5" dirty="0">
                <a:latin typeface="Times New Roman"/>
                <a:cs typeface="Times New Roman"/>
              </a:rPr>
              <a:t>Memory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is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location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where information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is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kept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while</a:t>
            </a:r>
            <a:r>
              <a:rPr sz="1800" dirty="0">
                <a:latin typeface="Times New Roman"/>
                <a:cs typeface="Times New Roman"/>
              </a:rPr>
              <a:t> not </a:t>
            </a:r>
            <a:r>
              <a:rPr sz="1800" spc="-5" dirty="0">
                <a:latin typeface="Times New Roman"/>
                <a:cs typeface="Times New Roman"/>
              </a:rPr>
              <a:t>in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current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use.</a:t>
            </a:r>
            <a:endParaRPr sz="1800">
              <a:latin typeface="Times New Roman"/>
              <a:cs typeface="Times New Roman"/>
            </a:endParaRPr>
          </a:p>
          <a:p>
            <a:pPr marL="1180465" marR="30480" lvl="2" indent="-228600">
              <a:lnSpc>
                <a:spcPct val="100000"/>
              </a:lnSpc>
              <a:spcBef>
                <a:spcPts val="430"/>
              </a:spcBef>
              <a:buChar char="–"/>
              <a:tabLst>
                <a:tab pos="1181100" algn="l"/>
              </a:tabLst>
            </a:pPr>
            <a:r>
              <a:rPr sz="1800" spc="-5" dirty="0">
                <a:latin typeface="Times New Roman"/>
                <a:cs typeface="Times New Roman"/>
              </a:rPr>
              <a:t>Memory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is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5" dirty="0">
                <a:latin typeface="Times New Roman"/>
                <a:cs typeface="Times New Roman"/>
              </a:rPr>
              <a:t> collection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storage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devices.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Usually,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each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storage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device holds</a:t>
            </a:r>
            <a:r>
              <a:rPr sz="1800" dirty="0">
                <a:latin typeface="Times New Roman"/>
                <a:cs typeface="Times New Roman"/>
              </a:rPr>
              <a:t> one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bit.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Also,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in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most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kinds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 </a:t>
            </a:r>
            <a:r>
              <a:rPr sz="1800" spc="-5" dirty="0">
                <a:latin typeface="Times New Roman"/>
                <a:cs typeface="Times New Roman"/>
              </a:rPr>
              <a:t>memory,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these 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storage devices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are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grouped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into</a:t>
            </a:r>
            <a:r>
              <a:rPr sz="1800" dirty="0">
                <a:latin typeface="Times New Roman"/>
                <a:cs typeface="Times New Roman"/>
              </a:rPr>
              <a:t> groups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 8. </a:t>
            </a:r>
            <a:r>
              <a:rPr sz="1800" spc="-5" dirty="0">
                <a:latin typeface="Times New Roman"/>
                <a:cs typeface="Times New Roman"/>
              </a:rPr>
              <a:t>These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8 </a:t>
            </a:r>
            <a:r>
              <a:rPr sz="1800" spc="-5" dirty="0">
                <a:latin typeface="Times New Roman"/>
                <a:cs typeface="Times New Roman"/>
              </a:rPr>
              <a:t>storage 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locations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can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only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</a:t>
            </a:r>
            <a:r>
              <a:rPr sz="1800" spc="-5" dirty="0">
                <a:latin typeface="Times New Roman"/>
                <a:cs typeface="Times New Roman"/>
              </a:rPr>
              <a:t> accessed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together.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So,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one</a:t>
            </a:r>
            <a:r>
              <a:rPr sz="1800" spc="-5" dirty="0">
                <a:latin typeface="Times New Roman"/>
                <a:cs typeface="Times New Roman"/>
              </a:rPr>
              <a:t> can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only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read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or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write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in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terms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 </a:t>
            </a:r>
            <a:r>
              <a:rPr sz="1800" spc="-5" dirty="0">
                <a:latin typeface="Times New Roman"/>
                <a:cs typeface="Times New Roman"/>
              </a:rPr>
              <a:t>bytes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to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and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form</a:t>
            </a:r>
            <a:r>
              <a:rPr sz="1800" spc="-5" dirty="0">
                <a:latin typeface="Times New Roman"/>
                <a:cs typeface="Times New Roman"/>
              </a:rPr>
              <a:t> memory.</a:t>
            </a:r>
            <a:endParaRPr sz="1800">
              <a:latin typeface="Times New Roman"/>
              <a:cs typeface="Times New Roman"/>
            </a:endParaRPr>
          </a:p>
          <a:p>
            <a:pPr marL="1181100" lvl="2" indent="-229235">
              <a:lnSpc>
                <a:spcPct val="100000"/>
              </a:lnSpc>
              <a:spcBef>
                <a:spcPts val="430"/>
              </a:spcBef>
              <a:buChar char="–"/>
              <a:tabLst>
                <a:tab pos="1181100" algn="l"/>
              </a:tabLst>
            </a:pPr>
            <a:r>
              <a:rPr sz="1800" spc="-5" dirty="0">
                <a:latin typeface="Times New Roman"/>
                <a:cs typeface="Times New Roman"/>
              </a:rPr>
              <a:t>Memory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is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usually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measured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by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number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 </a:t>
            </a:r>
            <a:r>
              <a:rPr sz="1800" spc="-5" dirty="0">
                <a:latin typeface="Times New Roman"/>
                <a:cs typeface="Times New Roman"/>
              </a:rPr>
              <a:t>bytes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it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can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hold.</a:t>
            </a:r>
            <a:endParaRPr sz="1800">
              <a:latin typeface="Times New Roman"/>
              <a:cs typeface="Times New Roman"/>
            </a:endParaRPr>
          </a:p>
          <a:p>
            <a:pPr marL="1180465" marR="344805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It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is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measured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in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Kilos,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Megas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and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lately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Gigas.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Kilo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in 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computer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language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is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</a:t>
            </a:r>
            <a:r>
              <a:rPr sz="1800" baseline="25462" dirty="0">
                <a:latin typeface="Times New Roman"/>
                <a:cs typeface="Times New Roman"/>
              </a:rPr>
              <a:t>10 </a:t>
            </a:r>
            <a:r>
              <a:rPr sz="1800" spc="-5" dirty="0">
                <a:latin typeface="Times New Roman"/>
                <a:cs typeface="Times New Roman"/>
              </a:rPr>
              <a:t>=1024. So,</a:t>
            </a:r>
            <a:r>
              <a:rPr sz="1800" dirty="0">
                <a:latin typeface="Times New Roman"/>
                <a:cs typeface="Times New Roman"/>
              </a:rPr>
              <a:t> a </a:t>
            </a:r>
            <a:r>
              <a:rPr sz="1800" spc="-5" dirty="0">
                <a:latin typeface="Times New Roman"/>
                <a:cs typeface="Times New Roman"/>
              </a:rPr>
              <a:t>KB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(KiloByte)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is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1024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bytes.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Mega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is</a:t>
            </a:r>
            <a:r>
              <a:rPr sz="1800" dirty="0">
                <a:latin typeface="Times New Roman"/>
                <a:cs typeface="Times New Roman"/>
              </a:rPr>
              <a:t> 1024 </a:t>
            </a:r>
            <a:r>
              <a:rPr sz="1800" spc="-5" dirty="0">
                <a:latin typeface="Times New Roman"/>
                <a:cs typeface="Times New Roman"/>
              </a:rPr>
              <a:t>Kilos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and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Giga is</a:t>
            </a:r>
            <a:r>
              <a:rPr sz="1800" dirty="0">
                <a:latin typeface="Times New Roman"/>
                <a:cs typeface="Times New Roman"/>
              </a:rPr>
              <a:t> 1024 </a:t>
            </a:r>
            <a:r>
              <a:rPr sz="1800" spc="-5" dirty="0">
                <a:latin typeface="Times New Roman"/>
                <a:cs typeface="Times New Roman"/>
              </a:rPr>
              <a:t>Mega.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01951" y="814069"/>
            <a:ext cx="434022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Definition</a:t>
            </a:r>
            <a:r>
              <a:rPr spc="-40" dirty="0"/>
              <a:t> </a:t>
            </a:r>
            <a:r>
              <a:rPr spc="-5" dirty="0"/>
              <a:t>(Contd.)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21739" y="1915199"/>
            <a:ext cx="7085330" cy="385889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785"/>
              </a:spcBef>
              <a:buChar char="–"/>
              <a:tabLst>
                <a:tab pos="298450" algn="l"/>
              </a:tabLst>
            </a:pPr>
            <a:r>
              <a:rPr sz="2800" dirty="0">
                <a:solidFill>
                  <a:srgbClr val="800000"/>
                </a:solidFill>
                <a:latin typeface="Times New Roman"/>
                <a:cs typeface="Times New Roman"/>
              </a:rPr>
              <a:t>Stored</a:t>
            </a:r>
            <a:r>
              <a:rPr sz="2800" spc="-45" dirty="0">
                <a:solidFill>
                  <a:srgbClr val="8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800000"/>
                </a:solidFill>
                <a:latin typeface="Times New Roman"/>
                <a:cs typeface="Times New Roman"/>
              </a:rPr>
              <a:t>in</a:t>
            </a:r>
            <a:r>
              <a:rPr sz="2800" spc="-25" dirty="0">
                <a:solidFill>
                  <a:srgbClr val="80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800000"/>
                </a:solidFill>
                <a:latin typeface="Times New Roman"/>
                <a:cs typeface="Times New Roman"/>
              </a:rPr>
              <a:t>memory</a:t>
            </a:r>
            <a:r>
              <a:rPr sz="2800" spc="-5" dirty="0"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  <a:p>
            <a:pPr marL="697865" marR="5080" lvl="1" indent="-228600">
              <a:lnSpc>
                <a:spcPct val="100000"/>
              </a:lnSpc>
              <a:spcBef>
                <a:spcPts val="585"/>
              </a:spcBef>
              <a:buChar char="•"/>
              <a:tabLst>
                <a:tab pos="698500" algn="l"/>
              </a:tabLst>
            </a:pPr>
            <a:r>
              <a:rPr sz="2400" dirty="0">
                <a:latin typeface="Times New Roman"/>
                <a:cs typeface="Times New Roman"/>
              </a:rPr>
              <a:t>When a </a:t>
            </a:r>
            <a:r>
              <a:rPr sz="2400" spc="-5" dirty="0">
                <a:latin typeface="Times New Roman"/>
                <a:cs typeface="Times New Roman"/>
              </a:rPr>
              <a:t>program is entered into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computer, it is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stored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memory. Then as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 microprocessor starts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to execute the instructions, it brings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instructions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from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memory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 time.</a:t>
            </a:r>
            <a:endParaRPr sz="2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Font typeface="Times New Roman"/>
              <a:buChar char="•"/>
            </a:pPr>
            <a:endParaRPr sz="3000">
              <a:latin typeface="Times New Roman"/>
              <a:cs typeface="Times New Roman"/>
            </a:endParaRPr>
          </a:p>
          <a:p>
            <a:pPr marL="698500" lvl="1" indent="-229235">
              <a:lnSpc>
                <a:spcPct val="100000"/>
              </a:lnSpc>
              <a:buChar char="•"/>
              <a:tabLst>
                <a:tab pos="698500" algn="l"/>
              </a:tabLst>
            </a:pPr>
            <a:r>
              <a:rPr sz="2400" spc="-5" dirty="0">
                <a:latin typeface="Times New Roman"/>
                <a:cs typeface="Times New Roman"/>
              </a:rPr>
              <a:t>Memory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 also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used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hold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data.</a:t>
            </a:r>
            <a:endParaRPr sz="2400">
              <a:latin typeface="Times New Roman"/>
              <a:cs typeface="Times New Roman"/>
            </a:endParaRPr>
          </a:p>
          <a:p>
            <a:pPr marL="1155700" marR="384175" indent="-229235">
              <a:lnSpc>
                <a:spcPct val="100000"/>
              </a:lnSpc>
              <a:spcBef>
                <a:spcPts val="495"/>
              </a:spcBef>
            </a:pPr>
            <a:r>
              <a:rPr sz="2000" spc="-5" dirty="0">
                <a:latin typeface="Times New Roman"/>
                <a:cs typeface="Times New Roman"/>
              </a:rPr>
              <a:t>–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 microprocessor reads (brings in) the data from 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memory when it needs it and writes (stores) the results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into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memory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when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done.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01951" y="814069"/>
            <a:ext cx="434022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Definition</a:t>
            </a:r>
            <a:r>
              <a:rPr spc="-40" dirty="0"/>
              <a:t> </a:t>
            </a:r>
            <a:r>
              <a:rPr spc="-5" dirty="0"/>
              <a:t>(Contd.)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21739" y="2002027"/>
            <a:ext cx="6929120" cy="2989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212725" indent="-285750" algn="just">
              <a:lnSpc>
                <a:spcPct val="100000"/>
              </a:lnSpc>
              <a:spcBef>
                <a:spcPts val="100"/>
              </a:spcBef>
              <a:buChar char="–"/>
              <a:tabLst>
                <a:tab pos="298450" algn="l"/>
              </a:tabLst>
            </a:pPr>
            <a:r>
              <a:rPr sz="2800" spc="-5" dirty="0">
                <a:solidFill>
                  <a:srgbClr val="800000"/>
                </a:solidFill>
                <a:latin typeface="Times New Roman"/>
                <a:cs typeface="Times New Roman"/>
              </a:rPr>
              <a:t>Produces</a:t>
            </a:r>
            <a:r>
              <a:rPr sz="2800" spc="-5" dirty="0">
                <a:latin typeface="Times New Roman"/>
                <a:cs typeface="Times New Roman"/>
              </a:rPr>
              <a:t>: </a:t>
            </a:r>
            <a:r>
              <a:rPr sz="2800" dirty="0">
                <a:latin typeface="Times New Roman"/>
                <a:cs typeface="Times New Roman"/>
              </a:rPr>
              <a:t>For the </a:t>
            </a:r>
            <a:r>
              <a:rPr sz="2800" spc="-5" dirty="0">
                <a:latin typeface="Times New Roman"/>
                <a:cs typeface="Times New Roman"/>
              </a:rPr>
              <a:t>user </a:t>
            </a:r>
            <a:r>
              <a:rPr sz="2800" dirty="0">
                <a:latin typeface="Times New Roman"/>
                <a:cs typeface="Times New Roman"/>
              </a:rPr>
              <a:t>to </a:t>
            </a:r>
            <a:r>
              <a:rPr sz="2800" spc="-5" dirty="0">
                <a:latin typeface="Times New Roman"/>
                <a:cs typeface="Times New Roman"/>
              </a:rPr>
              <a:t>see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result </a:t>
            </a:r>
            <a:r>
              <a:rPr sz="2800" dirty="0">
                <a:latin typeface="Times New Roman"/>
                <a:cs typeface="Times New Roman"/>
              </a:rPr>
              <a:t>of the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execution </a:t>
            </a:r>
            <a:r>
              <a:rPr sz="2800" dirty="0">
                <a:latin typeface="Times New Roman"/>
                <a:cs typeface="Times New Roman"/>
              </a:rPr>
              <a:t>of the </a:t>
            </a:r>
            <a:r>
              <a:rPr sz="2800" spc="-5" dirty="0">
                <a:latin typeface="Times New Roman"/>
                <a:cs typeface="Times New Roman"/>
              </a:rPr>
              <a:t>program,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results must </a:t>
            </a:r>
            <a:r>
              <a:rPr sz="2800" dirty="0">
                <a:latin typeface="Times New Roman"/>
                <a:cs typeface="Times New Roman"/>
              </a:rPr>
              <a:t>be </a:t>
            </a:r>
            <a:r>
              <a:rPr sz="2800" spc="-69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presented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human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readable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form.</a:t>
            </a:r>
            <a:endParaRPr sz="2800">
              <a:latin typeface="Times New Roman"/>
              <a:cs typeface="Times New Roman"/>
            </a:endParaRPr>
          </a:p>
          <a:p>
            <a:pPr marL="698500" lvl="1" indent="-229235" algn="just">
              <a:lnSpc>
                <a:spcPct val="100000"/>
              </a:lnSpc>
              <a:spcBef>
                <a:spcPts val="585"/>
              </a:spcBef>
              <a:buChar char="•"/>
              <a:tabLst>
                <a:tab pos="698500" algn="l"/>
              </a:tabLst>
            </a:pP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results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must </a:t>
            </a:r>
            <a:r>
              <a:rPr sz="2400" dirty="0">
                <a:latin typeface="Times New Roman"/>
                <a:cs typeface="Times New Roman"/>
              </a:rPr>
              <a:t>be </a:t>
            </a:r>
            <a:r>
              <a:rPr sz="2400" spc="-5" dirty="0">
                <a:latin typeface="Times New Roman"/>
                <a:cs typeface="Times New Roman"/>
              </a:rPr>
              <a:t>presented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 an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output device.</a:t>
            </a:r>
            <a:endParaRPr sz="2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0"/>
              </a:spcBef>
              <a:buFont typeface="Times New Roman"/>
              <a:buChar char="•"/>
            </a:pPr>
            <a:endParaRPr sz="3500">
              <a:latin typeface="Times New Roman"/>
              <a:cs typeface="Times New Roman"/>
            </a:endParaRPr>
          </a:p>
          <a:p>
            <a:pPr marL="697865" marR="5080" lvl="1" indent="-228600">
              <a:lnSpc>
                <a:spcPct val="100000"/>
              </a:lnSpc>
              <a:buChar char="•"/>
              <a:tabLst>
                <a:tab pos="698500" algn="l"/>
              </a:tabLst>
            </a:pPr>
            <a:r>
              <a:rPr sz="2400" spc="-5" dirty="0">
                <a:latin typeface="Times New Roman"/>
                <a:cs typeface="Times New Roman"/>
              </a:rPr>
              <a:t>This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5" dirty="0">
                <a:latin typeface="Times New Roman"/>
                <a:cs typeface="Times New Roman"/>
              </a:rPr>
              <a:t> 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monitor,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paper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from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printer,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simple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LED</a:t>
            </a:r>
            <a:r>
              <a:rPr sz="2400" dirty="0">
                <a:latin typeface="Times New Roman"/>
                <a:cs typeface="Times New Roman"/>
              </a:rPr>
              <a:t> or</a:t>
            </a:r>
            <a:r>
              <a:rPr sz="2400" spc="-5" dirty="0">
                <a:latin typeface="Times New Roman"/>
                <a:cs typeface="Times New Roman"/>
              </a:rPr>
              <a:t> many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other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forms.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962400" y="4953000"/>
            <a:ext cx="1219200" cy="457200"/>
          </a:xfrm>
          <a:prstGeom prst="rect">
            <a:avLst/>
          </a:prstGeom>
          <a:solidFill>
            <a:srgbClr val="66FFFF"/>
          </a:solidFill>
          <a:ln w="12700">
            <a:solidFill>
              <a:srgbClr val="000000"/>
            </a:solidFill>
          </a:ln>
        </p:spPr>
        <p:txBody>
          <a:bodyPr vert="horz" wrap="square" lIns="0" tIns="100965" rIns="0" bIns="0" rtlCol="0">
            <a:spAutoFit/>
          </a:bodyPr>
          <a:lstStyle/>
          <a:p>
            <a:pPr marL="243204">
              <a:lnSpc>
                <a:spcPct val="100000"/>
              </a:lnSpc>
              <a:spcBef>
                <a:spcPts val="795"/>
              </a:spcBef>
            </a:pPr>
            <a:r>
              <a:rPr sz="1600" spc="-5" dirty="0">
                <a:latin typeface="Arial MT"/>
                <a:cs typeface="Arial MT"/>
              </a:rPr>
              <a:t>Memory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032250" y="2813050"/>
            <a:ext cx="1079500" cy="1612900"/>
            <a:chOff x="4032250" y="2813050"/>
            <a:chExt cx="1079500" cy="1612900"/>
          </a:xfrm>
        </p:grpSpPr>
        <p:sp>
          <p:nvSpPr>
            <p:cNvPr id="5" name="object 5"/>
            <p:cNvSpPr/>
            <p:nvPr/>
          </p:nvSpPr>
          <p:spPr>
            <a:xfrm>
              <a:off x="4038600" y="2819400"/>
              <a:ext cx="1066800" cy="1600200"/>
            </a:xfrm>
            <a:custGeom>
              <a:avLst/>
              <a:gdLst/>
              <a:ahLst/>
              <a:cxnLst/>
              <a:rect l="l" t="t" r="r" b="b"/>
              <a:pathLst>
                <a:path w="1066800" h="1600200">
                  <a:moveTo>
                    <a:pt x="1066800" y="0"/>
                  </a:moveTo>
                  <a:lnTo>
                    <a:pt x="0" y="0"/>
                  </a:lnTo>
                  <a:lnTo>
                    <a:pt x="0" y="1600200"/>
                  </a:lnTo>
                  <a:lnTo>
                    <a:pt x="1066800" y="1600200"/>
                  </a:lnTo>
                  <a:lnTo>
                    <a:pt x="1066800" y="0"/>
                  </a:lnTo>
                  <a:close/>
                </a:path>
              </a:pathLst>
            </a:custGeom>
            <a:solidFill>
              <a:srgbClr val="99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038600" y="2819400"/>
              <a:ext cx="1066800" cy="1600200"/>
            </a:xfrm>
            <a:custGeom>
              <a:avLst/>
              <a:gdLst/>
              <a:ahLst/>
              <a:cxnLst/>
              <a:rect l="l" t="t" r="r" b="b"/>
              <a:pathLst>
                <a:path w="1066800" h="1600200">
                  <a:moveTo>
                    <a:pt x="0" y="0"/>
                  </a:moveTo>
                  <a:lnTo>
                    <a:pt x="1066800" y="0"/>
                  </a:lnTo>
                  <a:lnTo>
                    <a:pt x="1066800" y="1600200"/>
                  </a:lnTo>
                  <a:lnTo>
                    <a:pt x="0" y="16002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791200" y="3352800"/>
            <a:ext cx="1143000" cy="4572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</a:ln>
        </p:spPr>
        <p:txBody>
          <a:bodyPr vert="horz" wrap="square" lIns="0" tIns="100965" rIns="0" bIns="0" rtlCol="0">
            <a:spAutoFit/>
          </a:bodyPr>
          <a:lstStyle/>
          <a:p>
            <a:pPr marL="267335">
              <a:lnSpc>
                <a:spcPct val="100000"/>
              </a:lnSpc>
              <a:spcBef>
                <a:spcPts val="795"/>
              </a:spcBef>
            </a:pPr>
            <a:r>
              <a:rPr sz="1600" spc="-5" dirty="0">
                <a:latin typeface="Arial MT"/>
                <a:cs typeface="Arial MT"/>
              </a:rPr>
              <a:t>Output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08212" y="3354387"/>
            <a:ext cx="1143000" cy="4572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</a:ln>
        </p:spPr>
        <p:txBody>
          <a:bodyPr vert="horz" wrap="square" lIns="0" tIns="100965" rIns="0" bIns="0" rtlCol="0">
            <a:spAutoFit/>
          </a:bodyPr>
          <a:lstStyle/>
          <a:p>
            <a:pPr marL="346075">
              <a:lnSpc>
                <a:spcPct val="100000"/>
              </a:lnSpc>
              <a:spcBef>
                <a:spcPts val="795"/>
              </a:spcBef>
            </a:pPr>
            <a:r>
              <a:rPr sz="1600" spc="-5" dirty="0">
                <a:latin typeface="Arial MT"/>
                <a:cs typeface="Arial MT"/>
              </a:rPr>
              <a:t>Input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961008" y="280669"/>
            <a:ext cx="722122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</a:t>
            </a:r>
            <a:r>
              <a:rPr spc="-20" dirty="0"/>
              <a:t> </a:t>
            </a:r>
            <a:r>
              <a:rPr spc="-5" dirty="0"/>
              <a:t>Microprocessor-based</a:t>
            </a:r>
            <a:r>
              <a:rPr spc="-20" dirty="0"/>
              <a:t> </a:t>
            </a:r>
            <a:r>
              <a:rPr spc="-5" dirty="0"/>
              <a:t>system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64540" y="1162303"/>
            <a:ext cx="7342505" cy="1488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latin typeface="Times New Roman"/>
                <a:cs typeface="Times New Roman"/>
              </a:rPr>
              <a:t>From the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above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description,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can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draw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following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block diagram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to represent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microprocessor-based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system: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352800" y="2978301"/>
            <a:ext cx="2438400" cy="1974850"/>
            <a:chOff x="3352800" y="2978301"/>
            <a:chExt cx="2438400" cy="1974850"/>
          </a:xfrm>
        </p:grpSpPr>
        <p:sp>
          <p:nvSpPr>
            <p:cNvPr id="12" name="object 12"/>
            <p:cNvSpPr/>
            <p:nvPr/>
          </p:nvSpPr>
          <p:spPr>
            <a:xfrm>
              <a:off x="4229365" y="2978301"/>
              <a:ext cx="690880" cy="1282700"/>
            </a:xfrm>
            <a:custGeom>
              <a:avLst/>
              <a:gdLst/>
              <a:ahLst/>
              <a:cxnLst/>
              <a:rect l="l" t="t" r="r" b="b"/>
              <a:pathLst>
                <a:path w="690879" h="1282700">
                  <a:moveTo>
                    <a:pt x="12103" y="1206500"/>
                  </a:moveTo>
                  <a:lnTo>
                    <a:pt x="0" y="1231900"/>
                  </a:lnTo>
                  <a:lnTo>
                    <a:pt x="132346" y="1282700"/>
                  </a:lnTo>
                  <a:lnTo>
                    <a:pt x="140093" y="1270000"/>
                  </a:lnTo>
                  <a:lnTo>
                    <a:pt x="27431" y="1219200"/>
                  </a:lnTo>
                  <a:lnTo>
                    <a:pt x="120192" y="1219200"/>
                  </a:lnTo>
                  <a:lnTo>
                    <a:pt x="12103" y="1206500"/>
                  </a:lnTo>
                  <a:close/>
                </a:path>
                <a:path w="690879" h="1282700">
                  <a:moveTo>
                    <a:pt x="58000" y="1104900"/>
                  </a:moveTo>
                  <a:lnTo>
                    <a:pt x="47180" y="1130300"/>
                  </a:lnTo>
                  <a:lnTo>
                    <a:pt x="124713" y="1193800"/>
                  </a:lnTo>
                  <a:lnTo>
                    <a:pt x="132575" y="1206500"/>
                  </a:lnTo>
                  <a:lnTo>
                    <a:pt x="138569" y="1206500"/>
                  </a:lnTo>
                  <a:lnTo>
                    <a:pt x="142697" y="1219200"/>
                  </a:lnTo>
                  <a:lnTo>
                    <a:pt x="27431" y="1219200"/>
                  </a:lnTo>
                  <a:lnTo>
                    <a:pt x="157683" y="1231900"/>
                  </a:lnTo>
                  <a:lnTo>
                    <a:pt x="164934" y="1219200"/>
                  </a:lnTo>
                  <a:lnTo>
                    <a:pt x="71818" y="1130300"/>
                  </a:lnTo>
                  <a:lnTo>
                    <a:pt x="110939" y="1130300"/>
                  </a:lnTo>
                  <a:lnTo>
                    <a:pt x="58000" y="1104900"/>
                  </a:lnTo>
                  <a:close/>
                </a:path>
                <a:path w="690879" h="1282700">
                  <a:moveTo>
                    <a:pt x="110939" y="1130300"/>
                  </a:moveTo>
                  <a:lnTo>
                    <a:pt x="71818" y="1130300"/>
                  </a:lnTo>
                  <a:lnTo>
                    <a:pt x="182587" y="1181100"/>
                  </a:lnTo>
                  <a:lnTo>
                    <a:pt x="190347" y="1168400"/>
                  </a:lnTo>
                  <a:lnTo>
                    <a:pt x="110939" y="1130300"/>
                  </a:lnTo>
                  <a:close/>
                </a:path>
                <a:path w="690879" h="1282700">
                  <a:moveTo>
                    <a:pt x="113868" y="1079500"/>
                  </a:moveTo>
                  <a:lnTo>
                    <a:pt x="106400" y="1092200"/>
                  </a:lnTo>
                  <a:lnTo>
                    <a:pt x="202272" y="1143000"/>
                  </a:lnTo>
                  <a:lnTo>
                    <a:pt x="209740" y="1117600"/>
                  </a:lnTo>
                  <a:lnTo>
                    <a:pt x="113868" y="1079500"/>
                  </a:lnTo>
                  <a:close/>
                </a:path>
                <a:path w="690879" h="1282700">
                  <a:moveTo>
                    <a:pt x="213512" y="1079500"/>
                  </a:moveTo>
                  <a:lnTo>
                    <a:pt x="182794" y="1079500"/>
                  </a:lnTo>
                  <a:lnTo>
                    <a:pt x="193738" y="1092200"/>
                  </a:lnTo>
                  <a:lnTo>
                    <a:pt x="203977" y="1092200"/>
                  </a:lnTo>
                  <a:lnTo>
                    <a:pt x="213512" y="1079500"/>
                  </a:lnTo>
                  <a:close/>
                </a:path>
                <a:path w="690879" h="1282700">
                  <a:moveTo>
                    <a:pt x="77393" y="1054100"/>
                  </a:moveTo>
                  <a:lnTo>
                    <a:pt x="69926" y="1079500"/>
                  </a:lnTo>
                  <a:lnTo>
                    <a:pt x="88620" y="1079500"/>
                  </a:lnTo>
                  <a:lnTo>
                    <a:pt x="96075" y="1066800"/>
                  </a:lnTo>
                  <a:lnTo>
                    <a:pt x="77393" y="1054100"/>
                  </a:lnTo>
                  <a:close/>
                </a:path>
                <a:path w="690879" h="1282700">
                  <a:moveTo>
                    <a:pt x="245222" y="1041400"/>
                  </a:moveTo>
                  <a:lnTo>
                    <a:pt x="230390" y="1041400"/>
                  </a:lnTo>
                  <a:lnTo>
                    <a:pt x="223812" y="1054100"/>
                  </a:lnTo>
                  <a:lnTo>
                    <a:pt x="217944" y="1066800"/>
                  </a:lnTo>
                  <a:lnTo>
                    <a:pt x="157175" y="1066800"/>
                  </a:lnTo>
                  <a:lnTo>
                    <a:pt x="163770" y="1079500"/>
                  </a:lnTo>
                  <a:lnTo>
                    <a:pt x="229542" y="1079500"/>
                  </a:lnTo>
                  <a:lnTo>
                    <a:pt x="235808" y="1066800"/>
                  </a:lnTo>
                  <a:lnTo>
                    <a:pt x="240906" y="1054100"/>
                  </a:lnTo>
                  <a:lnTo>
                    <a:pt x="243790" y="1054100"/>
                  </a:lnTo>
                  <a:lnTo>
                    <a:pt x="245222" y="1041400"/>
                  </a:lnTo>
                  <a:close/>
                </a:path>
                <a:path w="690879" h="1282700">
                  <a:moveTo>
                    <a:pt x="169695" y="1054100"/>
                  </a:moveTo>
                  <a:lnTo>
                    <a:pt x="142207" y="1054100"/>
                  </a:lnTo>
                  <a:lnTo>
                    <a:pt x="146329" y="1066800"/>
                  </a:lnTo>
                  <a:lnTo>
                    <a:pt x="178358" y="1066800"/>
                  </a:lnTo>
                  <a:lnTo>
                    <a:pt x="169695" y="1054100"/>
                  </a:lnTo>
                  <a:close/>
                </a:path>
                <a:path w="690879" h="1282700">
                  <a:moveTo>
                    <a:pt x="157536" y="1041400"/>
                  </a:moveTo>
                  <a:lnTo>
                    <a:pt x="137069" y="1041400"/>
                  </a:lnTo>
                  <a:lnTo>
                    <a:pt x="139120" y="1054100"/>
                  </a:lnTo>
                  <a:lnTo>
                    <a:pt x="162755" y="1054100"/>
                  </a:lnTo>
                  <a:lnTo>
                    <a:pt x="157536" y="1041400"/>
                  </a:lnTo>
                  <a:close/>
                </a:path>
                <a:path w="690879" h="1282700">
                  <a:moveTo>
                    <a:pt x="150507" y="1028700"/>
                  </a:moveTo>
                  <a:lnTo>
                    <a:pt x="135976" y="1028700"/>
                  </a:lnTo>
                  <a:lnTo>
                    <a:pt x="136055" y="1041400"/>
                  </a:lnTo>
                  <a:lnTo>
                    <a:pt x="154038" y="1041400"/>
                  </a:lnTo>
                  <a:lnTo>
                    <a:pt x="150507" y="1028700"/>
                  </a:lnTo>
                  <a:close/>
                </a:path>
                <a:path w="690879" h="1282700">
                  <a:moveTo>
                    <a:pt x="240856" y="1016000"/>
                  </a:moveTo>
                  <a:lnTo>
                    <a:pt x="222211" y="1016000"/>
                  </a:lnTo>
                  <a:lnTo>
                    <a:pt x="226987" y="1028700"/>
                  </a:lnTo>
                  <a:lnTo>
                    <a:pt x="230885" y="1041400"/>
                  </a:lnTo>
                  <a:lnTo>
                    <a:pt x="245205" y="1041400"/>
                  </a:lnTo>
                  <a:lnTo>
                    <a:pt x="243738" y="1028700"/>
                  </a:lnTo>
                  <a:lnTo>
                    <a:pt x="240856" y="1016000"/>
                  </a:lnTo>
                  <a:close/>
                </a:path>
                <a:path w="690879" h="1282700">
                  <a:moveTo>
                    <a:pt x="160629" y="1003300"/>
                  </a:moveTo>
                  <a:lnTo>
                    <a:pt x="144655" y="1003300"/>
                  </a:lnTo>
                  <a:lnTo>
                    <a:pt x="140741" y="1016000"/>
                  </a:lnTo>
                  <a:lnTo>
                    <a:pt x="138319" y="1016000"/>
                  </a:lnTo>
                  <a:lnTo>
                    <a:pt x="136731" y="1028700"/>
                  </a:lnTo>
                  <a:lnTo>
                    <a:pt x="150634" y="1028700"/>
                  </a:lnTo>
                  <a:lnTo>
                    <a:pt x="156883" y="1016000"/>
                  </a:lnTo>
                  <a:lnTo>
                    <a:pt x="160629" y="1003300"/>
                  </a:lnTo>
                  <a:close/>
                </a:path>
                <a:path w="690879" h="1282700">
                  <a:moveTo>
                    <a:pt x="231002" y="1003300"/>
                  </a:moveTo>
                  <a:lnTo>
                    <a:pt x="224027" y="1003300"/>
                  </a:lnTo>
                  <a:lnTo>
                    <a:pt x="214604" y="1016000"/>
                  </a:lnTo>
                  <a:lnTo>
                    <a:pt x="236612" y="1016000"/>
                  </a:lnTo>
                  <a:lnTo>
                    <a:pt x="231002" y="1003300"/>
                  </a:lnTo>
                  <a:close/>
                </a:path>
                <a:path w="690879" h="1282700">
                  <a:moveTo>
                    <a:pt x="188658" y="990600"/>
                  </a:moveTo>
                  <a:lnTo>
                    <a:pt x="154475" y="990600"/>
                  </a:lnTo>
                  <a:lnTo>
                    <a:pt x="149234" y="1003300"/>
                  </a:lnTo>
                  <a:lnTo>
                    <a:pt x="183832" y="1003300"/>
                  </a:lnTo>
                  <a:lnTo>
                    <a:pt x="188658" y="990600"/>
                  </a:lnTo>
                  <a:close/>
                </a:path>
                <a:path w="690879" h="1282700">
                  <a:moveTo>
                    <a:pt x="174370" y="939800"/>
                  </a:moveTo>
                  <a:lnTo>
                    <a:pt x="167652" y="965200"/>
                  </a:lnTo>
                  <a:lnTo>
                    <a:pt x="263524" y="1003300"/>
                  </a:lnTo>
                  <a:lnTo>
                    <a:pt x="270992" y="990600"/>
                  </a:lnTo>
                  <a:lnTo>
                    <a:pt x="213931" y="965200"/>
                  </a:lnTo>
                  <a:lnTo>
                    <a:pt x="208025" y="952500"/>
                  </a:lnTo>
                  <a:lnTo>
                    <a:pt x="188899" y="952500"/>
                  </a:lnTo>
                  <a:lnTo>
                    <a:pt x="174370" y="939800"/>
                  </a:lnTo>
                  <a:close/>
                </a:path>
                <a:path w="690879" h="1282700">
                  <a:moveTo>
                    <a:pt x="196126" y="939800"/>
                  </a:moveTo>
                  <a:lnTo>
                    <a:pt x="183819" y="939800"/>
                  </a:lnTo>
                  <a:lnTo>
                    <a:pt x="188899" y="952500"/>
                  </a:lnTo>
                  <a:lnTo>
                    <a:pt x="197802" y="952500"/>
                  </a:lnTo>
                  <a:lnTo>
                    <a:pt x="196126" y="939800"/>
                  </a:lnTo>
                  <a:close/>
                </a:path>
                <a:path w="690879" h="1282700">
                  <a:moveTo>
                    <a:pt x="199974" y="927100"/>
                  </a:moveTo>
                  <a:lnTo>
                    <a:pt x="179476" y="927100"/>
                  </a:lnTo>
                  <a:lnTo>
                    <a:pt x="180911" y="939800"/>
                  </a:lnTo>
                  <a:lnTo>
                    <a:pt x="196519" y="939800"/>
                  </a:lnTo>
                  <a:lnTo>
                    <a:pt x="199974" y="927100"/>
                  </a:lnTo>
                  <a:close/>
                </a:path>
                <a:path w="690879" h="1282700">
                  <a:moveTo>
                    <a:pt x="194640" y="914400"/>
                  </a:moveTo>
                  <a:lnTo>
                    <a:pt x="184251" y="914400"/>
                  </a:lnTo>
                  <a:lnTo>
                    <a:pt x="179997" y="927100"/>
                  </a:lnTo>
                  <a:lnTo>
                    <a:pt x="207149" y="927100"/>
                  </a:lnTo>
                  <a:lnTo>
                    <a:pt x="194640" y="914400"/>
                  </a:lnTo>
                  <a:close/>
                </a:path>
                <a:path w="690879" h="1282700">
                  <a:moveTo>
                    <a:pt x="300356" y="914400"/>
                  </a:moveTo>
                  <a:lnTo>
                    <a:pt x="229170" y="914400"/>
                  </a:lnTo>
                  <a:lnTo>
                    <a:pt x="241198" y="927100"/>
                  </a:lnTo>
                  <a:lnTo>
                    <a:pt x="292806" y="927100"/>
                  </a:lnTo>
                  <a:lnTo>
                    <a:pt x="300356" y="914400"/>
                  </a:lnTo>
                  <a:close/>
                </a:path>
                <a:path w="690879" h="1282700">
                  <a:moveTo>
                    <a:pt x="228545" y="889000"/>
                  </a:moveTo>
                  <a:lnTo>
                    <a:pt x="208546" y="889000"/>
                  </a:lnTo>
                  <a:lnTo>
                    <a:pt x="212844" y="901700"/>
                  </a:lnTo>
                  <a:lnTo>
                    <a:pt x="219719" y="914400"/>
                  </a:lnTo>
                  <a:lnTo>
                    <a:pt x="248869" y="914400"/>
                  </a:lnTo>
                  <a:lnTo>
                    <a:pt x="240470" y="901700"/>
                  </a:lnTo>
                  <a:lnTo>
                    <a:pt x="233695" y="901700"/>
                  </a:lnTo>
                  <a:lnTo>
                    <a:pt x="228545" y="889000"/>
                  </a:lnTo>
                  <a:close/>
                </a:path>
                <a:path w="690879" h="1282700">
                  <a:moveTo>
                    <a:pt x="311950" y="901700"/>
                  </a:moveTo>
                  <a:lnTo>
                    <a:pt x="294855" y="901700"/>
                  </a:lnTo>
                  <a:lnTo>
                    <a:pt x="288709" y="914400"/>
                  </a:lnTo>
                  <a:lnTo>
                    <a:pt x="306737" y="914400"/>
                  </a:lnTo>
                  <a:lnTo>
                    <a:pt x="311950" y="901700"/>
                  </a:lnTo>
                  <a:close/>
                </a:path>
                <a:path w="690879" h="1282700">
                  <a:moveTo>
                    <a:pt x="316017" y="889000"/>
                  </a:moveTo>
                  <a:lnTo>
                    <a:pt x="300670" y="889000"/>
                  </a:lnTo>
                  <a:lnTo>
                    <a:pt x="298589" y="901700"/>
                  </a:lnTo>
                  <a:lnTo>
                    <a:pt x="314405" y="901700"/>
                  </a:lnTo>
                  <a:lnTo>
                    <a:pt x="316017" y="889000"/>
                  </a:lnTo>
                  <a:close/>
                </a:path>
                <a:path w="690879" h="1282700">
                  <a:moveTo>
                    <a:pt x="223079" y="863600"/>
                  </a:moveTo>
                  <a:lnTo>
                    <a:pt x="208471" y="863600"/>
                  </a:lnTo>
                  <a:lnTo>
                    <a:pt x="206854" y="876300"/>
                  </a:lnTo>
                  <a:lnTo>
                    <a:pt x="206880" y="889000"/>
                  </a:lnTo>
                  <a:lnTo>
                    <a:pt x="225018" y="889000"/>
                  </a:lnTo>
                  <a:lnTo>
                    <a:pt x="222994" y="876300"/>
                  </a:lnTo>
                  <a:lnTo>
                    <a:pt x="222348" y="876300"/>
                  </a:lnTo>
                  <a:lnTo>
                    <a:pt x="223079" y="863600"/>
                  </a:lnTo>
                  <a:close/>
                </a:path>
                <a:path w="690879" h="1282700">
                  <a:moveTo>
                    <a:pt x="316052" y="863600"/>
                  </a:moveTo>
                  <a:lnTo>
                    <a:pt x="295026" y="863600"/>
                  </a:lnTo>
                  <a:lnTo>
                    <a:pt x="298615" y="876300"/>
                  </a:lnTo>
                  <a:lnTo>
                    <a:pt x="300684" y="876300"/>
                  </a:lnTo>
                  <a:lnTo>
                    <a:pt x="301369" y="889000"/>
                  </a:lnTo>
                  <a:lnTo>
                    <a:pt x="316786" y="889000"/>
                  </a:lnTo>
                  <a:lnTo>
                    <a:pt x="316712" y="876300"/>
                  </a:lnTo>
                  <a:lnTo>
                    <a:pt x="316052" y="863600"/>
                  </a:lnTo>
                  <a:close/>
                </a:path>
                <a:path w="690879" h="1282700">
                  <a:moveTo>
                    <a:pt x="296987" y="838200"/>
                  </a:moveTo>
                  <a:lnTo>
                    <a:pt x="223224" y="838200"/>
                  </a:lnTo>
                  <a:lnTo>
                    <a:pt x="216878" y="850900"/>
                  </a:lnTo>
                  <a:lnTo>
                    <a:pt x="211734" y="863600"/>
                  </a:lnTo>
                  <a:lnTo>
                    <a:pt x="225183" y="863600"/>
                  </a:lnTo>
                  <a:lnTo>
                    <a:pt x="228866" y="850900"/>
                  </a:lnTo>
                  <a:lnTo>
                    <a:pt x="302975" y="850900"/>
                  </a:lnTo>
                  <a:lnTo>
                    <a:pt x="296987" y="838200"/>
                  </a:lnTo>
                  <a:close/>
                </a:path>
                <a:path w="690879" h="1282700">
                  <a:moveTo>
                    <a:pt x="307657" y="850900"/>
                  </a:moveTo>
                  <a:lnTo>
                    <a:pt x="282834" y="850900"/>
                  </a:lnTo>
                  <a:lnTo>
                    <a:pt x="289766" y="863600"/>
                  </a:lnTo>
                  <a:lnTo>
                    <a:pt x="313029" y="863600"/>
                  </a:lnTo>
                  <a:lnTo>
                    <a:pt x="307657" y="850900"/>
                  </a:lnTo>
                  <a:close/>
                </a:path>
                <a:path w="690879" h="1282700">
                  <a:moveTo>
                    <a:pt x="249897" y="774700"/>
                  </a:moveTo>
                  <a:lnTo>
                    <a:pt x="243103" y="800100"/>
                  </a:lnTo>
                  <a:lnTo>
                    <a:pt x="375716" y="850900"/>
                  </a:lnTo>
                  <a:lnTo>
                    <a:pt x="383184" y="838200"/>
                  </a:lnTo>
                  <a:lnTo>
                    <a:pt x="336511" y="812800"/>
                  </a:lnTo>
                  <a:lnTo>
                    <a:pt x="315291" y="812800"/>
                  </a:lnTo>
                  <a:lnTo>
                    <a:pt x="307203" y="800100"/>
                  </a:lnTo>
                  <a:lnTo>
                    <a:pt x="289863" y="800100"/>
                  </a:lnTo>
                  <a:lnTo>
                    <a:pt x="282946" y="787400"/>
                  </a:lnTo>
                  <a:lnTo>
                    <a:pt x="262356" y="787400"/>
                  </a:lnTo>
                  <a:lnTo>
                    <a:pt x="249897" y="774700"/>
                  </a:lnTo>
                  <a:close/>
                </a:path>
                <a:path w="690879" h="1282700">
                  <a:moveTo>
                    <a:pt x="269925" y="825500"/>
                  </a:moveTo>
                  <a:lnTo>
                    <a:pt x="239534" y="825500"/>
                  </a:lnTo>
                  <a:lnTo>
                    <a:pt x="230776" y="838200"/>
                  </a:lnTo>
                  <a:lnTo>
                    <a:pt x="281089" y="838200"/>
                  </a:lnTo>
                  <a:lnTo>
                    <a:pt x="269925" y="825500"/>
                  </a:lnTo>
                  <a:close/>
                </a:path>
                <a:path w="690879" h="1282700">
                  <a:moveTo>
                    <a:pt x="362311" y="762000"/>
                  </a:moveTo>
                  <a:lnTo>
                    <a:pt x="342008" y="762000"/>
                  </a:lnTo>
                  <a:lnTo>
                    <a:pt x="345668" y="774700"/>
                  </a:lnTo>
                  <a:lnTo>
                    <a:pt x="349415" y="774700"/>
                  </a:lnTo>
                  <a:lnTo>
                    <a:pt x="349630" y="787400"/>
                  </a:lnTo>
                  <a:lnTo>
                    <a:pt x="343052" y="800100"/>
                  </a:lnTo>
                  <a:lnTo>
                    <a:pt x="337324" y="800100"/>
                  </a:lnTo>
                  <a:lnTo>
                    <a:pt x="329133" y="812800"/>
                  </a:lnTo>
                  <a:lnTo>
                    <a:pt x="354304" y="812800"/>
                  </a:lnTo>
                  <a:lnTo>
                    <a:pt x="357682" y="800100"/>
                  </a:lnTo>
                  <a:lnTo>
                    <a:pt x="363575" y="787400"/>
                  </a:lnTo>
                  <a:lnTo>
                    <a:pt x="364718" y="787400"/>
                  </a:lnTo>
                  <a:lnTo>
                    <a:pt x="363613" y="774700"/>
                  </a:lnTo>
                  <a:lnTo>
                    <a:pt x="362311" y="762000"/>
                  </a:lnTo>
                  <a:close/>
                </a:path>
                <a:path w="690879" h="1282700">
                  <a:moveTo>
                    <a:pt x="314820" y="723900"/>
                  </a:moveTo>
                  <a:lnTo>
                    <a:pt x="283857" y="723900"/>
                  </a:lnTo>
                  <a:lnTo>
                    <a:pt x="269684" y="736600"/>
                  </a:lnTo>
                  <a:lnTo>
                    <a:pt x="264261" y="749300"/>
                  </a:lnTo>
                  <a:lnTo>
                    <a:pt x="257619" y="762000"/>
                  </a:lnTo>
                  <a:lnTo>
                    <a:pt x="256400" y="762000"/>
                  </a:lnTo>
                  <a:lnTo>
                    <a:pt x="257238" y="774700"/>
                  </a:lnTo>
                  <a:lnTo>
                    <a:pt x="259079" y="774700"/>
                  </a:lnTo>
                  <a:lnTo>
                    <a:pt x="262356" y="787400"/>
                  </a:lnTo>
                  <a:lnTo>
                    <a:pt x="273786" y="787400"/>
                  </a:lnTo>
                  <a:lnTo>
                    <a:pt x="269773" y="774700"/>
                  </a:lnTo>
                  <a:lnTo>
                    <a:pt x="269341" y="762000"/>
                  </a:lnTo>
                  <a:lnTo>
                    <a:pt x="275729" y="749300"/>
                  </a:lnTo>
                  <a:lnTo>
                    <a:pt x="347597" y="749300"/>
                  </a:lnTo>
                  <a:lnTo>
                    <a:pt x="341914" y="736600"/>
                  </a:lnTo>
                  <a:lnTo>
                    <a:pt x="321678" y="736600"/>
                  </a:lnTo>
                  <a:lnTo>
                    <a:pt x="314820" y="723900"/>
                  </a:lnTo>
                  <a:close/>
                </a:path>
                <a:path w="690879" h="1282700">
                  <a:moveTo>
                    <a:pt x="352615" y="749300"/>
                  </a:moveTo>
                  <a:lnTo>
                    <a:pt x="329582" y="749300"/>
                  </a:lnTo>
                  <a:lnTo>
                    <a:pt x="336646" y="762000"/>
                  </a:lnTo>
                  <a:lnTo>
                    <a:pt x="356811" y="762000"/>
                  </a:lnTo>
                  <a:lnTo>
                    <a:pt x="352615" y="749300"/>
                  </a:lnTo>
                  <a:close/>
                </a:path>
                <a:path w="690879" h="1282700">
                  <a:moveTo>
                    <a:pt x="296798" y="673100"/>
                  </a:moveTo>
                  <a:lnTo>
                    <a:pt x="290080" y="698500"/>
                  </a:lnTo>
                  <a:lnTo>
                    <a:pt x="385952" y="736600"/>
                  </a:lnTo>
                  <a:lnTo>
                    <a:pt x="393420" y="723900"/>
                  </a:lnTo>
                  <a:lnTo>
                    <a:pt x="336359" y="698500"/>
                  </a:lnTo>
                  <a:lnTo>
                    <a:pt x="330453" y="685800"/>
                  </a:lnTo>
                  <a:lnTo>
                    <a:pt x="311327" y="685800"/>
                  </a:lnTo>
                  <a:lnTo>
                    <a:pt x="296798" y="673100"/>
                  </a:lnTo>
                  <a:close/>
                </a:path>
                <a:path w="690879" h="1282700">
                  <a:moveTo>
                    <a:pt x="318554" y="673100"/>
                  </a:moveTo>
                  <a:lnTo>
                    <a:pt x="306247" y="673100"/>
                  </a:lnTo>
                  <a:lnTo>
                    <a:pt x="311327" y="685800"/>
                  </a:lnTo>
                  <a:lnTo>
                    <a:pt x="320230" y="685800"/>
                  </a:lnTo>
                  <a:lnTo>
                    <a:pt x="318554" y="673100"/>
                  </a:lnTo>
                  <a:close/>
                </a:path>
                <a:path w="690879" h="1282700">
                  <a:moveTo>
                    <a:pt x="322402" y="660400"/>
                  </a:moveTo>
                  <a:lnTo>
                    <a:pt x="301904" y="660400"/>
                  </a:lnTo>
                  <a:lnTo>
                    <a:pt x="303339" y="673100"/>
                  </a:lnTo>
                  <a:lnTo>
                    <a:pt x="318947" y="673100"/>
                  </a:lnTo>
                  <a:lnTo>
                    <a:pt x="322402" y="660400"/>
                  </a:lnTo>
                  <a:close/>
                </a:path>
                <a:path w="690879" h="1282700">
                  <a:moveTo>
                    <a:pt x="317068" y="647700"/>
                  </a:moveTo>
                  <a:lnTo>
                    <a:pt x="306679" y="647700"/>
                  </a:lnTo>
                  <a:lnTo>
                    <a:pt x="302425" y="660400"/>
                  </a:lnTo>
                  <a:lnTo>
                    <a:pt x="329577" y="660400"/>
                  </a:lnTo>
                  <a:lnTo>
                    <a:pt x="317068" y="647700"/>
                  </a:lnTo>
                  <a:close/>
                </a:path>
                <a:path w="690879" h="1282700">
                  <a:moveTo>
                    <a:pt x="422784" y="647700"/>
                  </a:moveTo>
                  <a:lnTo>
                    <a:pt x="351598" y="647700"/>
                  </a:lnTo>
                  <a:lnTo>
                    <a:pt x="363626" y="660400"/>
                  </a:lnTo>
                  <a:lnTo>
                    <a:pt x="415234" y="660400"/>
                  </a:lnTo>
                  <a:lnTo>
                    <a:pt x="422784" y="647700"/>
                  </a:lnTo>
                  <a:close/>
                </a:path>
                <a:path w="690879" h="1282700">
                  <a:moveTo>
                    <a:pt x="350973" y="622300"/>
                  </a:moveTo>
                  <a:lnTo>
                    <a:pt x="330974" y="622300"/>
                  </a:lnTo>
                  <a:lnTo>
                    <a:pt x="335272" y="635000"/>
                  </a:lnTo>
                  <a:lnTo>
                    <a:pt x="342147" y="647700"/>
                  </a:lnTo>
                  <a:lnTo>
                    <a:pt x="371297" y="647700"/>
                  </a:lnTo>
                  <a:lnTo>
                    <a:pt x="362898" y="635000"/>
                  </a:lnTo>
                  <a:lnTo>
                    <a:pt x="356123" y="635000"/>
                  </a:lnTo>
                  <a:lnTo>
                    <a:pt x="350973" y="622300"/>
                  </a:lnTo>
                  <a:close/>
                </a:path>
                <a:path w="690879" h="1282700">
                  <a:moveTo>
                    <a:pt x="434378" y="635000"/>
                  </a:moveTo>
                  <a:lnTo>
                    <a:pt x="417283" y="635000"/>
                  </a:lnTo>
                  <a:lnTo>
                    <a:pt x="411137" y="647700"/>
                  </a:lnTo>
                  <a:lnTo>
                    <a:pt x="429165" y="647700"/>
                  </a:lnTo>
                  <a:lnTo>
                    <a:pt x="434378" y="635000"/>
                  </a:lnTo>
                  <a:close/>
                </a:path>
                <a:path w="690879" h="1282700">
                  <a:moveTo>
                    <a:pt x="438445" y="622300"/>
                  </a:moveTo>
                  <a:lnTo>
                    <a:pt x="423098" y="622300"/>
                  </a:lnTo>
                  <a:lnTo>
                    <a:pt x="421017" y="635000"/>
                  </a:lnTo>
                  <a:lnTo>
                    <a:pt x="436833" y="635000"/>
                  </a:lnTo>
                  <a:lnTo>
                    <a:pt x="438445" y="622300"/>
                  </a:lnTo>
                  <a:close/>
                </a:path>
                <a:path w="690879" h="1282700">
                  <a:moveTo>
                    <a:pt x="419415" y="571500"/>
                  </a:moveTo>
                  <a:lnTo>
                    <a:pt x="345652" y="571500"/>
                  </a:lnTo>
                  <a:lnTo>
                    <a:pt x="339306" y="584200"/>
                  </a:lnTo>
                  <a:lnTo>
                    <a:pt x="334162" y="596900"/>
                  </a:lnTo>
                  <a:lnTo>
                    <a:pt x="330899" y="596900"/>
                  </a:lnTo>
                  <a:lnTo>
                    <a:pt x="329282" y="609600"/>
                  </a:lnTo>
                  <a:lnTo>
                    <a:pt x="329308" y="622300"/>
                  </a:lnTo>
                  <a:lnTo>
                    <a:pt x="347446" y="622300"/>
                  </a:lnTo>
                  <a:lnTo>
                    <a:pt x="345422" y="609600"/>
                  </a:lnTo>
                  <a:lnTo>
                    <a:pt x="347611" y="596900"/>
                  </a:lnTo>
                  <a:lnTo>
                    <a:pt x="351294" y="584200"/>
                  </a:lnTo>
                  <a:lnTo>
                    <a:pt x="425403" y="584200"/>
                  </a:lnTo>
                  <a:lnTo>
                    <a:pt x="419415" y="571500"/>
                  </a:lnTo>
                  <a:close/>
                </a:path>
                <a:path w="690879" h="1282700">
                  <a:moveTo>
                    <a:pt x="439140" y="609600"/>
                  </a:moveTo>
                  <a:lnTo>
                    <a:pt x="423117" y="609600"/>
                  </a:lnTo>
                  <a:lnTo>
                    <a:pt x="423798" y="622300"/>
                  </a:lnTo>
                  <a:lnTo>
                    <a:pt x="439214" y="622300"/>
                  </a:lnTo>
                  <a:lnTo>
                    <a:pt x="439140" y="609600"/>
                  </a:lnTo>
                  <a:close/>
                </a:path>
                <a:path w="690879" h="1282700">
                  <a:moveTo>
                    <a:pt x="436379" y="596900"/>
                  </a:moveTo>
                  <a:lnTo>
                    <a:pt x="417459" y="596900"/>
                  </a:lnTo>
                  <a:lnTo>
                    <a:pt x="421055" y="609600"/>
                  </a:lnTo>
                  <a:lnTo>
                    <a:pt x="438202" y="609600"/>
                  </a:lnTo>
                  <a:lnTo>
                    <a:pt x="436379" y="596900"/>
                  </a:lnTo>
                  <a:close/>
                </a:path>
                <a:path w="690879" h="1282700">
                  <a:moveTo>
                    <a:pt x="430085" y="584200"/>
                  </a:moveTo>
                  <a:lnTo>
                    <a:pt x="405262" y="584200"/>
                  </a:lnTo>
                  <a:lnTo>
                    <a:pt x="412195" y="596900"/>
                  </a:lnTo>
                  <a:lnTo>
                    <a:pt x="433673" y="596900"/>
                  </a:lnTo>
                  <a:lnTo>
                    <a:pt x="430085" y="584200"/>
                  </a:lnTo>
                  <a:close/>
                </a:path>
                <a:path w="690879" h="1282700">
                  <a:moveTo>
                    <a:pt x="392353" y="558800"/>
                  </a:moveTo>
                  <a:lnTo>
                    <a:pt x="361962" y="558800"/>
                  </a:lnTo>
                  <a:lnTo>
                    <a:pt x="353204" y="571500"/>
                  </a:lnTo>
                  <a:lnTo>
                    <a:pt x="403517" y="571500"/>
                  </a:lnTo>
                  <a:lnTo>
                    <a:pt x="392353" y="558800"/>
                  </a:lnTo>
                  <a:close/>
                </a:path>
                <a:path w="690879" h="1282700">
                  <a:moveTo>
                    <a:pt x="469944" y="546100"/>
                  </a:moveTo>
                  <a:lnTo>
                    <a:pt x="404171" y="546100"/>
                  </a:lnTo>
                  <a:lnTo>
                    <a:pt x="411543" y="558800"/>
                  </a:lnTo>
                  <a:lnTo>
                    <a:pt x="462514" y="558800"/>
                  </a:lnTo>
                  <a:lnTo>
                    <a:pt x="469944" y="546100"/>
                  </a:lnTo>
                  <a:close/>
                </a:path>
                <a:path w="690879" h="1282700">
                  <a:moveTo>
                    <a:pt x="418769" y="533400"/>
                  </a:moveTo>
                  <a:lnTo>
                    <a:pt x="386740" y="533400"/>
                  </a:lnTo>
                  <a:lnTo>
                    <a:pt x="391769" y="546100"/>
                  </a:lnTo>
                  <a:lnTo>
                    <a:pt x="427980" y="546100"/>
                  </a:lnTo>
                  <a:lnTo>
                    <a:pt x="418769" y="533400"/>
                  </a:lnTo>
                  <a:close/>
                </a:path>
                <a:path w="690879" h="1282700">
                  <a:moveTo>
                    <a:pt x="484193" y="520700"/>
                  </a:moveTo>
                  <a:lnTo>
                    <a:pt x="470801" y="520700"/>
                  </a:lnTo>
                  <a:lnTo>
                    <a:pt x="464223" y="533400"/>
                  </a:lnTo>
                  <a:lnTo>
                    <a:pt x="458342" y="546100"/>
                  </a:lnTo>
                  <a:lnTo>
                    <a:pt x="476211" y="546100"/>
                  </a:lnTo>
                  <a:lnTo>
                    <a:pt x="481317" y="533400"/>
                  </a:lnTo>
                  <a:lnTo>
                    <a:pt x="484193" y="520700"/>
                  </a:lnTo>
                  <a:close/>
                </a:path>
                <a:path w="690879" h="1282700">
                  <a:moveTo>
                    <a:pt x="397936" y="520700"/>
                  </a:moveTo>
                  <a:lnTo>
                    <a:pt x="379525" y="520700"/>
                  </a:lnTo>
                  <a:lnTo>
                    <a:pt x="382613" y="533400"/>
                  </a:lnTo>
                  <a:lnTo>
                    <a:pt x="403159" y="533400"/>
                  </a:lnTo>
                  <a:lnTo>
                    <a:pt x="397936" y="520700"/>
                  </a:lnTo>
                  <a:close/>
                </a:path>
                <a:path w="690879" h="1282700">
                  <a:moveTo>
                    <a:pt x="390918" y="508000"/>
                  </a:moveTo>
                  <a:lnTo>
                    <a:pt x="376453" y="508000"/>
                  </a:lnTo>
                  <a:lnTo>
                    <a:pt x="377473" y="520700"/>
                  </a:lnTo>
                  <a:lnTo>
                    <a:pt x="394436" y="520700"/>
                  </a:lnTo>
                  <a:lnTo>
                    <a:pt x="390918" y="508000"/>
                  </a:lnTo>
                  <a:close/>
                </a:path>
                <a:path w="690879" h="1282700">
                  <a:moveTo>
                    <a:pt x="481260" y="495300"/>
                  </a:moveTo>
                  <a:lnTo>
                    <a:pt x="462610" y="495300"/>
                  </a:lnTo>
                  <a:lnTo>
                    <a:pt x="467385" y="508000"/>
                  </a:lnTo>
                  <a:lnTo>
                    <a:pt x="471284" y="520700"/>
                  </a:lnTo>
                  <a:lnTo>
                    <a:pt x="485622" y="520700"/>
                  </a:lnTo>
                  <a:lnTo>
                    <a:pt x="485603" y="508000"/>
                  </a:lnTo>
                  <a:lnTo>
                    <a:pt x="484136" y="508000"/>
                  </a:lnTo>
                  <a:lnTo>
                    <a:pt x="481260" y="495300"/>
                  </a:lnTo>
                  <a:close/>
                </a:path>
                <a:path w="690879" h="1282700">
                  <a:moveTo>
                    <a:pt x="397281" y="482600"/>
                  </a:moveTo>
                  <a:lnTo>
                    <a:pt x="381139" y="482600"/>
                  </a:lnTo>
                  <a:lnTo>
                    <a:pt x="378717" y="495300"/>
                  </a:lnTo>
                  <a:lnTo>
                    <a:pt x="377129" y="495300"/>
                  </a:lnTo>
                  <a:lnTo>
                    <a:pt x="376374" y="508000"/>
                  </a:lnTo>
                  <a:lnTo>
                    <a:pt x="391032" y="508000"/>
                  </a:lnTo>
                  <a:lnTo>
                    <a:pt x="397281" y="482600"/>
                  </a:lnTo>
                  <a:close/>
                </a:path>
                <a:path w="690879" h="1282700">
                  <a:moveTo>
                    <a:pt x="471402" y="482600"/>
                  </a:moveTo>
                  <a:lnTo>
                    <a:pt x="464426" y="482600"/>
                  </a:lnTo>
                  <a:lnTo>
                    <a:pt x="455015" y="495300"/>
                  </a:lnTo>
                  <a:lnTo>
                    <a:pt x="477015" y="495300"/>
                  </a:lnTo>
                  <a:lnTo>
                    <a:pt x="471402" y="482600"/>
                  </a:lnTo>
                  <a:close/>
                </a:path>
                <a:path w="690879" h="1282700">
                  <a:moveTo>
                    <a:pt x="421358" y="457200"/>
                  </a:moveTo>
                  <a:lnTo>
                    <a:pt x="414077" y="457200"/>
                  </a:lnTo>
                  <a:lnTo>
                    <a:pt x="407214" y="469900"/>
                  </a:lnTo>
                  <a:lnTo>
                    <a:pt x="389637" y="469900"/>
                  </a:lnTo>
                  <a:lnTo>
                    <a:pt x="385059" y="482600"/>
                  </a:lnTo>
                  <a:lnTo>
                    <a:pt x="424243" y="482600"/>
                  </a:lnTo>
                  <a:lnTo>
                    <a:pt x="429056" y="469900"/>
                  </a:lnTo>
                  <a:lnTo>
                    <a:pt x="421358" y="457200"/>
                  </a:lnTo>
                  <a:close/>
                </a:path>
                <a:path w="690879" h="1282700">
                  <a:moveTo>
                    <a:pt x="519286" y="444500"/>
                  </a:moveTo>
                  <a:lnTo>
                    <a:pt x="493750" y="444500"/>
                  </a:lnTo>
                  <a:lnTo>
                    <a:pt x="487452" y="457200"/>
                  </a:lnTo>
                  <a:lnTo>
                    <a:pt x="454405" y="457200"/>
                  </a:lnTo>
                  <a:lnTo>
                    <a:pt x="465795" y="469900"/>
                  </a:lnTo>
                  <a:lnTo>
                    <a:pt x="505145" y="469900"/>
                  </a:lnTo>
                  <a:lnTo>
                    <a:pt x="512776" y="457200"/>
                  </a:lnTo>
                  <a:lnTo>
                    <a:pt x="519286" y="444500"/>
                  </a:lnTo>
                  <a:close/>
                </a:path>
                <a:path w="690879" h="1282700">
                  <a:moveTo>
                    <a:pt x="473303" y="444500"/>
                  </a:moveTo>
                  <a:lnTo>
                    <a:pt x="434347" y="444500"/>
                  </a:lnTo>
                  <a:lnTo>
                    <a:pt x="443342" y="457200"/>
                  </a:lnTo>
                  <a:lnTo>
                    <a:pt x="480636" y="457200"/>
                  </a:lnTo>
                  <a:lnTo>
                    <a:pt x="473303" y="444500"/>
                  </a:lnTo>
                  <a:close/>
                </a:path>
                <a:path w="690879" h="1282700">
                  <a:moveTo>
                    <a:pt x="456120" y="381000"/>
                  </a:moveTo>
                  <a:lnTo>
                    <a:pt x="429079" y="381000"/>
                  </a:lnTo>
                  <a:lnTo>
                    <a:pt x="424052" y="393700"/>
                  </a:lnTo>
                  <a:lnTo>
                    <a:pt x="420538" y="406400"/>
                  </a:lnTo>
                  <a:lnTo>
                    <a:pt x="419119" y="419100"/>
                  </a:lnTo>
                  <a:lnTo>
                    <a:pt x="419795" y="419100"/>
                  </a:lnTo>
                  <a:lnTo>
                    <a:pt x="422567" y="431800"/>
                  </a:lnTo>
                  <a:lnTo>
                    <a:pt x="427422" y="444500"/>
                  </a:lnTo>
                  <a:lnTo>
                    <a:pt x="452500" y="444500"/>
                  </a:lnTo>
                  <a:lnTo>
                    <a:pt x="444385" y="431800"/>
                  </a:lnTo>
                  <a:lnTo>
                    <a:pt x="439000" y="431800"/>
                  </a:lnTo>
                  <a:lnTo>
                    <a:pt x="433679" y="419100"/>
                  </a:lnTo>
                  <a:lnTo>
                    <a:pt x="434060" y="406400"/>
                  </a:lnTo>
                  <a:lnTo>
                    <a:pt x="441274" y="393700"/>
                  </a:lnTo>
                  <a:lnTo>
                    <a:pt x="447484" y="393700"/>
                  </a:lnTo>
                  <a:lnTo>
                    <a:pt x="456120" y="381000"/>
                  </a:lnTo>
                  <a:close/>
                </a:path>
                <a:path w="690879" h="1282700">
                  <a:moveTo>
                    <a:pt x="498284" y="381000"/>
                  </a:moveTo>
                  <a:lnTo>
                    <a:pt x="468693" y="381000"/>
                  </a:lnTo>
                  <a:lnTo>
                    <a:pt x="477088" y="393700"/>
                  </a:lnTo>
                  <a:lnTo>
                    <a:pt x="452500" y="444500"/>
                  </a:lnTo>
                  <a:lnTo>
                    <a:pt x="465454" y="444500"/>
                  </a:lnTo>
                  <a:lnTo>
                    <a:pt x="498284" y="381000"/>
                  </a:lnTo>
                  <a:close/>
                </a:path>
                <a:path w="690879" h="1282700">
                  <a:moveTo>
                    <a:pt x="529145" y="406400"/>
                  </a:moveTo>
                  <a:lnTo>
                    <a:pt x="512470" y="406400"/>
                  </a:lnTo>
                  <a:lnTo>
                    <a:pt x="514857" y="419100"/>
                  </a:lnTo>
                  <a:lnTo>
                    <a:pt x="514083" y="431800"/>
                  </a:lnTo>
                  <a:lnTo>
                    <a:pt x="507669" y="444500"/>
                  </a:lnTo>
                  <a:lnTo>
                    <a:pt x="524675" y="444500"/>
                  </a:lnTo>
                  <a:lnTo>
                    <a:pt x="527827" y="431800"/>
                  </a:lnTo>
                  <a:lnTo>
                    <a:pt x="529624" y="419100"/>
                  </a:lnTo>
                  <a:lnTo>
                    <a:pt x="530065" y="419100"/>
                  </a:lnTo>
                  <a:lnTo>
                    <a:pt x="529145" y="406400"/>
                  </a:lnTo>
                  <a:close/>
                </a:path>
                <a:path w="690879" h="1282700">
                  <a:moveTo>
                    <a:pt x="513067" y="381000"/>
                  </a:moveTo>
                  <a:lnTo>
                    <a:pt x="503275" y="393700"/>
                  </a:lnTo>
                  <a:lnTo>
                    <a:pt x="509003" y="406400"/>
                  </a:lnTo>
                  <a:lnTo>
                    <a:pt x="526947" y="406400"/>
                  </a:lnTo>
                  <a:lnTo>
                    <a:pt x="523535" y="393700"/>
                  </a:lnTo>
                  <a:lnTo>
                    <a:pt x="518908" y="393700"/>
                  </a:lnTo>
                  <a:lnTo>
                    <a:pt x="513067" y="381000"/>
                  </a:lnTo>
                  <a:close/>
                </a:path>
                <a:path w="690879" h="1282700">
                  <a:moveTo>
                    <a:pt x="493991" y="368300"/>
                  </a:moveTo>
                  <a:lnTo>
                    <a:pt x="442833" y="368300"/>
                  </a:lnTo>
                  <a:lnTo>
                    <a:pt x="435340" y="381000"/>
                  </a:lnTo>
                  <a:lnTo>
                    <a:pt x="494957" y="381000"/>
                  </a:lnTo>
                  <a:lnTo>
                    <a:pt x="493991" y="368300"/>
                  </a:lnTo>
                  <a:close/>
                </a:path>
                <a:path w="690879" h="1282700">
                  <a:moveTo>
                    <a:pt x="559579" y="355600"/>
                  </a:moveTo>
                  <a:lnTo>
                    <a:pt x="524332" y="355600"/>
                  </a:lnTo>
                  <a:lnTo>
                    <a:pt x="519468" y="368300"/>
                  </a:lnTo>
                  <a:lnTo>
                    <a:pt x="554136" y="368300"/>
                  </a:lnTo>
                  <a:lnTo>
                    <a:pt x="559579" y="355600"/>
                  </a:lnTo>
                  <a:close/>
                </a:path>
                <a:path w="690879" h="1282700">
                  <a:moveTo>
                    <a:pt x="503034" y="342900"/>
                  </a:moveTo>
                  <a:lnTo>
                    <a:pt x="474649" y="342900"/>
                  </a:lnTo>
                  <a:lnTo>
                    <a:pt x="483615" y="355600"/>
                  </a:lnTo>
                  <a:lnTo>
                    <a:pt x="498398" y="355600"/>
                  </a:lnTo>
                  <a:lnTo>
                    <a:pt x="503034" y="342900"/>
                  </a:lnTo>
                  <a:close/>
                </a:path>
                <a:path w="690879" h="1282700">
                  <a:moveTo>
                    <a:pt x="572541" y="330200"/>
                  </a:moveTo>
                  <a:lnTo>
                    <a:pt x="559104" y="330200"/>
                  </a:lnTo>
                  <a:lnTo>
                    <a:pt x="552284" y="342900"/>
                  </a:lnTo>
                  <a:lnTo>
                    <a:pt x="547916" y="355600"/>
                  </a:lnTo>
                  <a:lnTo>
                    <a:pt x="564562" y="355600"/>
                  </a:lnTo>
                  <a:lnTo>
                    <a:pt x="569086" y="342900"/>
                  </a:lnTo>
                  <a:lnTo>
                    <a:pt x="572541" y="330200"/>
                  </a:lnTo>
                  <a:close/>
                </a:path>
                <a:path w="690879" h="1282700">
                  <a:moveTo>
                    <a:pt x="537210" y="304800"/>
                  </a:moveTo>
                  <a:lnTo>
                    <a:pt x="514630" y="304800"/>
                  </a:lnTo>
                  <a:lnTo>
                    <a:pt x="502958" y="317500"/>
                  </a:lnTo>
                  <a:lnTo>
                    <a:pt x="499376" y="330200"/>
                  </a:lnTo>
                  <a:lnTo>
                    <a:pt x="463854" y="330200"/>
                  </a:lnTo>
                  <a:lnTo>
                    <a:pt x="465645" y="342900"/>
                  </a:lnTo>
                  <a:lnTo>
                    <a:pt x="515380" y="342900"/>
                  </a:lnTo>
                  <a:lnTo>
                    <a:pt x="520570" y="330200"/>
                  </a:lnTo>
                  <a:lnTo>
                    <a:pt x="526541" y="317500"/>
                  </a:lnTo>
                  <a:lnTo>
                    <a:pt x="532828" y="317500"/>
                  </a:lnTo>
                  <a:lnTo>
                    <a:pt x="537210" y="304800"/>
                  </a:lnTo>
                  <a:close/>
                </a:path>
                <a:path w="690879" h="1282700">
                  <a:moveTo>
                    <a:pt x="487933" y="292100"/>
                  </a:moveTo>
                  <a:lnTo>
                    <a:pt x="470954" y="292100"/>
                  </a:lnTo>
                  <a:lnTo>
                    <a:pt x="465213" y="304800"/>
                  </a:lnTo>
                  <a:lnTo>
                    <a:pt x="463702" y="304800"/>
                  </a:lnTo>
                  <a:lnTo>
                    <a:pt x="462292" y="317500"/>
                  </a:lnTo>
                  <a:lnTo>
                    <a:pt x="462279" y="330200"/>
                  </a:lnTo>
                  <a:lnTo>
                    <a:pt x="478764" y="330200"/>
                  </a:lnTo>
                  <a:lnTo>
                    <a:pt x="476770" y="317500"/>
                  </a:lnTo>
                  <a:lnTo>
                    <a:pt x="477977" y="317500"/>
                  </a:lnTo>
                  <a:lnTo>
                    <a:pt x="484301" y="304800"/>
                  </a:lnTo>
                  <a:lnTo>
                    <a:pt x="487933" y="292100"/>
                  </a:lnTo>
                  <a:close/>
                </a:path>
                <a:path w="690879" h="1282700">
                  <a:moveTo>
                    <a:pt x="566280" y="292100"/>
                  </a:moveTo>
                  <a:lnTo>
                    <a:pt x="527367" y="292100"/>
                  </a:lnTo>
                  <a:lnTo>
                    <a:pt x="523926" y="304800"/>
                  </a:lnTo>
                  <a:lnTo>
                    <a:pt x="554634" y="304800"/>
                  </a:lnTo>
                  <a:lnTo>
                    <a:pt x="557364" y="317500"/>
                  </a:lnTo>
                  <a:lnTo>
                    <a:pt x="560133" y="330200"/>
                  </a:lnTo>
                  <a:lnTo>
                    <a:pt x="574319" y="330200"/>
                  </a:lnTo>
                  <a:lnTo>
                    <a:pt x="574560" y="317500"/>
                  </a:lnTo>
                  <a:lnTo>
                    <a:pt x="572947" y="304800"/>
                  </a:lnTo>
                  <a:lnTo>
                    <a:pt x="566280" y="292100"/>
                  </a:lnTo>
                  <a:close/>
                </a:path>
                <a:path w="690879" h="1282700">
                  <a:moveTo>
                    <a:pt x="511860" y="279400"/>
                  </a:moveTo>
                  <a:lnTo>
                    <a:pt x="484631" y="279400"/>
                  </a:lnTo>
                  <a:lnTo>
                    <a:pt x="475068" y="292100"/>
                  </a:lnTo>
                  <a:lnTo>
                    <a:pt x="506729" y="292100"/>
                  </a:lnTo>
                  <a:lnTo>
                    <a:pt x="511860" y="279400"/>
                  </a:lnTo>
                  <a:close/>
                </a:path>
                <a:path w="690879" h="1282700">
                  <a:moveTo>
                    <a:pt x="499389" y="266700"/>
                  </a:moveTo>
                  <a:lnTo>
                    <a:pt x="489496" y="279400"/>
                  </a:lnTo>
                  <a:lnTo>
                    <a:pt x="505193" y="279400"/>
                  </a:lnTo>
                  <a:lnTo>
                    <a:pt x="499389" y="266700"/>
                  </a:lnTo>
                  <a:close/>
                </a:path>
                <a:path w="690879" h="1282700">
                  <a:moveTo>
                    <a:pt x="596750" y="266700"/>
                  </a:moveTo>
                  <a:lnTo>
                    <a:pt x="566940" y="266700"/>
                  </a:lnTo>
                  <a:lnTo>
                    <a:pt x="562089" y="279400"/>
                  </a:lnTo>
                  <a:lnTo>
                    <a:pt x="590854" y="279400"/>
                  </a:lnTo>
                  <a:lnTo>
                    <a:pt x="596750" y="266700"/>
                  </a:lnTo>
                  <a:close/>
                </a:path>
                <a:path w="690879" h="1282700">
                  <a:moveTo>
                    <a:pt x="607171" y="254000"/>
                  </a:moveTo>
                  <a:lnTo>
                    <a:pt x="590524" y="254000"/>
                  </a:lnTo>
                  <a:lnTo>
                    <a:pt x="579881" y="266700"/>
                  </a:lnTo>
                  <a:lnTo>
                    <a:pt x="602189" y="266700"/>
                  </a:lnTo>
                  <a:lnTo>
                    <a:pt x="607171" y="254000"/>
                  </a:lnTo>
                  <a:close/>
                </a:path>
                <a:path w="690879" h="1282700">
                  <a:moveTo>
                    <a:pt x="557988" y="241300"/>
                  </a:moveTo>
                  <a:lnTo>
                    <a:pt x="508266" y="241300"/>
                  </a:lnTo>
                  <a:lnTo>
                    <a:pt x="513753" y="254000"/>
                  </a:lnTo>
                  <a:lnTo>
                    <a:pt x="553582" y="254000"/>
                  </a:lnTo>
                  <a:lnTo>
                    <a:pt x="557988" y="241300"/>
                  </a:lnTo>
                  <a:close/>
                </a:path>
                <a:path w="690879" h="1282700">
                  <a:moveTo>
                    <a:pt x="617169" y="215900"/>
                  </a:moveTo>
                  <a:lnTo>
                    <a:pt x="599973" y="215900"/>
                  </a:lnTo>
                  <a:lnTo>
                    <a:pt x="602741" y="228600"/>
                  </a:lnTo>
                  <a:lnTo>
                    <a:pt x="601713" y="241300"/>
                  </a:lnTo>
                  <a:lnTo>
                    <a:pt x="594893" y="254000"/>
                  </a:lnTo>
                  <a:lnTo>
                    <a:pt x="611695" y="254000"/>
                  </a:lnTo>
                  <a:lnTo>
                    <a:pt x="615149" y="241300"/>
                  </a:lnTo>
                  <a:lnTo>
                    <a:pt x="616927" y="241300"/>
                  </a:lnTo>
                  <a:lnTo>
                    <a:pt x="617169" y="215900"/>
                  </a:lnTo>
                  <a:close/>
                </a:path>
                <a:path w="690879" h="1282700">
                  <a:moveTo>
                    <a:pt x="554469" y="177800"/>
                  </a:moveTo>
                  <a:lnTo>
                    <a:pt x="532104" y="177800"/>
                  </a:lnTo>
                  <a:lnTo>
                    <a:pt x="527240" y="190500"/>
                  </a:lnTo>
                  <a:lnTo>
                    <a:pt x="517690" y="190500"/>
                  </a:lnTo>
                  <a:lnTo>
                    <a:pt x="513575" y="203200"/>
                  </a:lnTo>
                  <a:lnTo>
                    <a:pt x="507822" y="215900"/>
                  </a:lnTo>
                  <a:lnTo>
                    <a:pt x="506323" y="215900"/>
                  </a:lnTo>
                  <a:lnTo>
                    <a:pt x="504901" y="228600"/>
                  </a:lnTo>
                  <a:lnTo>
                    <a:pt x="505599" y="241300"/>
                  </a:lnTo>
                  <a:lnTo>
                    <a:pt x="523532" y="241300"/>
                  </a:lnTo>
                  <a:lnTo>
                    <a:pt x="521385" y="228600"/>
                  </a:lnTo>
                  <a:lnTo>
                    <a:pt x="519379" y="228600"/>
                  </a:lnTo>
                  <a:lnTo>
                    <a:pt x="520585" y="215900"/>
                  </a:lnTo>
                  <a:lnTo>
                    <a:pt x="526922" y="203200"/>
                  </a:lnTo>
                  <a:lnTo>
                    <a:pt x="549338" y="203200"/>
                  </a:lnTo>
                  <a:lnTo>
                    <a:pt x="554469" y="177800"/>
                  </a:lnTo>
                  <a:close/>
                </a:path>
                <a:path w="690879" h="1282700">
                  <a:moveTo>
                    <a:pt x="569150" y="228600"/>
                  </a:moveTo>
                  <a:lnTo>
                    <a:pt x="541985" y="228600"/>
                  </a:lnTo>
                  <a:lnTo>
                    <a:pt x="540638" y="241300"/>
                  </a:lnTo>
                  <a:lnTo>
                    <a:pt x="563178" y="241300"/>
                  </a:lnTo>
                  <a:lnTo>
                    <a:pt x="569150" y="228600"/>
                  </a:lnTo>
                  <a:close/>
                </a:path>
                <a:path w="690879" h="1282700">
                  <a:moveTo>
                    <a:pt x="579818" y="215900"/>
                  </a:moveTo>
                  <a:lnTo>
                    <a:pt x="557244" y="215900"/>
                  </a:lnTo>
                  <a:lnTo>
                    <a:pt x="551383" y="228600"/>
                  </a:lnTo>
                  <a:lnTo>
                    <a:pt x="575436" y="228600"/>
                  </a:lnTo>
                  <a:lnTo>
                    <a:pt x="579818" y="215900"/>
                  </a:lnTo>
                  <a:close/>
                </a:path>
                <a:path w="690879" h="1282700">
                  <a:moveTo>
                    <a:pt x="608888" y="203200"/>
                  </a:moveTo>
                  <a:lnTo>
                    <a:pt x="566536" y="203200"/>
                  </a:lnTo>
                  <a:lnTo>
                    <a:pt x="562294" y="215900"/>
                  </a:lnTo>
                  <a:lnTo>
                    <a:pt x="615556" y="215900"/>
                  </a:lnTo>
                  <a:lnTo>
                    <a:pt x="608888" y="203200"/>
                  </a:lnTo>
                  <a:close/>
                </a:path>
                <a:path w="690879" h="1282700">
                  <a:moveTo>
                    <a:pt x="593559" y="190500"/>
                  </a:moveTo>
                  <a:lnTo>
                    <a:pt x="578497" y="190500"/>
                  </a:lnTo>
                  <a:lnTo>
                    <a:pt x="574014" y="203200"/>
                  </a:lnTo>
                  <a:lnTo>
                    <a:pt x="604519" y="203200"/>
                  </a:lnTo>
                  <a:lnTo>
                    <a:pt x="593559" y="190500"/>
                  </a:lnTo>
                  <a:close/>
                </a:path>
                <a:path w="690879" h="1282700">
                  <a:moveTo>
                    <a:pt x="644753" y="165100"/>
                  </a:moveTo>
                  <a:lnTo>
                    <a:pt x="573556" y="165100"/>
                  </a:lnTo>
                  <a:lnTo>
                    <a:pt x="585584" y="177800"/>
                  </a:lnTo>
                  <a:lnTo>
                    <a:pt x="637205" y="177800"/>
                  </a:lnTo>
                  <a:lnTo>
                    <a:pt x="644753" y="165100"/>
                  </a:lnTo>
                  <a:close/>
                </a:path>
                <a:path w="690879" h="1282700">
                  <a:moveTo>
                    <a:pt x="572931" y="139700"/>
                  </a:moveTo>
                  <a:lnTo>
                    <a:pt x="552932" y="139700"/>
                  </a:lnTo>
                  <a:lnTo>
                    <a:pt x="557230" y="152400"/>
                  </a:lnTo>
                  <a:lnTo>
                    <a:pt x="564105" y="165100"/>
                  </a:lnTo>
                  <a:lnTo>
                    <a:pt x="593255" y="165100"/>
                  </a:lnTo>
                  <a:lnTo>
                    <a:pt x="584856" y="152400"/>
                  </a:lnTo>
                  <a:lnTo>
                    <a:pt x="578081" y="152400"/>
                  </a:lnTo>
                  <a:lnTo>
                    <a:pt x="572931" y="139700"/>
                  </a:lnTo>
                  <a:close/>
                </a:path>
                <a:path w="690879" h="1282700">
                  <a:moveTo>
                    <a:pt x="656335" y="152400"/>
                  </a:moveTo>
                  <a:lnTo>
                    <a:pt x="639241" y="152400"/>
                  </a:lnTo>
                  <a:lnTo>
                    <a:pt x="633094" y="165100"/>
                  </a:lnTo>
                  <a:lnTo>
                    <a:pt x="651130" y="165100"/>
                  </a:lnTo>
                  <a:lnTo>
                    <a:pt x="656335" y="152400"/>
                  </a:lnTo>
                  <a:close/>
                </a:path>
                <a:path w="690879" h="1282700">
                  <a:moveTo>
                    <a:pt x="660407" y="139700"/>
                  </a:moveTo>
                  <a:lnTo>
                    <a:pt x="645056" y="139700"/>
                  </a:lnTo>
                  <a:lnTo>
                    <a:pt x="642975" y="152400"/>
                  </a:lnTo>
                  <a:lnTo>
                    <a:pt x="658792" y="152400"/>
                  </a:lnTo>
                  <a:lnTo>
                    <a:pt x="660407" y="139700"/>
                  </a:lnTo>
                  <a:close/>
                </a:path>
                <a:path w="690879" h="1282700">
                  <a:moveTo>
                    <a:pt x="573252" y="101600"/>
                  </a:moveTo>
                  <a:lnTo>
                    <a:pt x="556120" y="101600"/>
                  </a:lnTo>
                  <a:lnTo>
                    <a:pt x="552862" y="114300"/>
                  </a:lnTo>
                  <a:lnTo>
                    <a:pt x="551245" y="127000"/>
                  </a:lnTo>
                  <a:lnTo>
                    <a:pt x="551267" y="139700"/>
                  </a:lnTo>
                  <a:lnTo>
                    <a:pt x="569404" y="139700"/>
                  </a:lnTo>
                  <a:lnTo>
                    <a:pt x="567380" y="127000"/>
                  </a:lnTo>
                  <a:lnTo>
                    <a:pt x="566735" y="127000"/>
                  </a:lnTo>
                  <a:lnTo>
                    <a:pt x="567470" y="114300"/>
                  </a:lnTo>
                  <a:lnTo>
                    <a:pt x="569582" y="114300"/>
                  </a:lnTo>
                  <a:lnTo>
                    <a:pt x="573252" y="101600"/>
                  </a:lnTo>
                  <a:close/>
                </a:path>
                <a:path w="690879" h="1282700">
                  <a:moveTo>
                    <a:pt x="661098" y="127000"/>
                  </a:moveTo>
                  <a:lnTo>
                    <a:pt x="645075" y="127000"/>
                  </a:lnTo>
                  <a:lnTo>
                    <a:pt x="645756" y="139700"/>
                  </a:lnTo>
                  <a:lnTo>
                    <a:pt x="661177" y="139700"/>
                  </a:lnTo>
                  <a:lnTo>
                    <a:pt x="661098" y="127000"/>
                  </a:lnTo>
                  <a:close/>
                </a:path>
                <a:path w="690879" h="1282700">
                  <a:moveTo>
                    <a:pt x="658337" y="114300"/>
                  </a:moveTo>
                  <a:lnTo>
                    <a:pt x="639418" y="114300"/>
                  </a:lnTo>
                  <a:lnTo>
                    <a:pt x="643013" y="127000"/>
                  </a:lnTo>
                  <a:lnTo>
                    <a:pt x="660160" y="127000"/>
                  </a:lnTo>
                  <a:lnTo>
                    <a:pt x="658337" y="114300"/>
                  </a:lnTo>
                  <a:close/>
                </a:path>
                <a:path w="690879" h="1282700">
                  <a:moveTo>
                    <a:pt x="652043" y="101600"/>
                  </a:moveTo>
                  <a:lnTo>
                    <a:pt x="627226" y="101600"/>
                  </a:lnTo>
                  <a:lnTo>
                    <a:pt x="634155" y="114300"/>
                  </a:lnTo>
                  <a:lnTo>
                    <a:pt x="655631" y="114300"/>
                  </a:lnTo>
                  <a:lnTo>
                    <a:pt x="652043" y="101600"/>
                  </a:lnTo>
                  <a:close/>
                </a:path>
                <a:path w="690879" h="1282700">
                  <a:moveTo>
                    <a:pt x="641373" y="88900"/>
                  </a:moveTo>
                  <a:lnTo>
                    <a:pt x="567615" y="88900"/>
                  </a:lnTo>
                  <a:lnTo>
                    <a:pt x="561265" y="101600"/>
                  </a:lnTo>
                  <a:lnTo>
                    <a:pt x="647361" y="101600"/>
                  </a:lnTo>
                  <a:lnTo>
                    <a:pt x="641373" y="88900"/>
                  </a:lnTo>
                  <a:close/>
                </a:path>
                <a:path w="690879" h="1282700">
                  <a:moveTo>
                    <a:pt x="614313" y="76200"/>
                  </a:moveTo>
                  <a:lnTo>
                    <a:pt x="583920" y="76200"/>
                  </a:lnTo>
                  <a:lnTo>
                    <a:pt x="575167" y="88900"/>
                  </a:lnTo>
                  <a:lnTo>
                    <a:pt x="625474" y="88900"/>
                  </a:lnTo>
                  <a:lnTo>
                    <a:pt x="614313" y="76200"/>
                  </a:lnTo>
                  <a:close/>
                </a:path>
                <a:path w="690879" h="1282700">
                  <a:moveTo>
                    <a:pt x="594118" y="25400"/>
                  </a:moveTo>
                  <a:lnTo>
                    <a:pt x="587400" y="50800"/>
                  </a:lnTo>
                  <a:lnTo>
                    <a:pt x="683285" y="88900"/>
                  </a:lnTo>
                  <a:lnTo>
                    <a:pt x="690740" y="76200"/>
                  </a:lnTo>
                  <a:lnTo>
                    <a:pt x="633691" y="50800"/>
                  </a:lnTo>
                  <a:lnTo>
                    <a:pt x="627786" y="38100"/>
                  </a:lnTo>
                  <a:lnTo>
                    <a:pt x="608660" y="38100"/>
                  </a:lnTo>
                  <a:lnTo>
                    <a:pt x="594118" y="25400"/>
                  </a:lnTo>
                  <a:close/>
                </a:path>
                <a:path w="690879" h="1282700">
                  <a:moveTo>
                    <a:pt x="615886" y="25400"/>
                  </a:moveTo>
                  <a:lnTo>
                    <a:pt x="603567" y="25400"/>
                  </a:lnTo>
                  <a:lnTo>
                    <a:pt x="608660" y="38100"/>
                  </a:lnTo>
                  <a:lnTo>
                    <a:pt x="617550" y="38100"/>
                  </a:lnTo>
                  <a:lnTo>
                    <a:pt x="615886" y="25400"/>
                  </a:lnTo>
                  <a:close/>
                </a:path>
                <a:path w="690879" h="1282700">
                  <a:moveTo>
                    <a:pt x="619734" y="12700"/>
                  </a:moveTo>
                  <a:lnTo>
                    <a:pt x="599236" y="12700"/>
                  </a:lnTo>
                  <a:lnTo>
                    <a:pt x="600671" y="25400"/>
                  </a:lnTo>
                  <a:lnTo>
                    <a:pt x="616280" y="25400"/>
                  </a:lnTo>
                  <a:lnTo>
                    <a:pt x="619734" y="12700"/>
                  </a:lnTo>
                  <a:close/>
                </a:path>
                <a:path w="690879" h="1282700">
                  <a:moveTo>
                    <a:pt x="614400" y="0"/>
                  </a:moveTo>
                  <a:lnTo>
                    <a:pt x="603999" y="0"/>
                  </a:lnTo>
                  <a:lnTo>
                    <a:pt x="599744" y="12700"/>
                  </a:lnTo>
                  <a:lnTo>
                    <a:pt x="626897" y="12700"/>
                  </a:lnTo>
                  <a:lnTo>
                    <a:pt x="614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67200" y="4419600"/>
              <a:ext cx="0" cy="469900"/>
            </a:xfrm>
            <a:custGeom>
              <a:avLst/>
              <a:gdLst/>
              <a:ahLst/>
              <a:cxnLst/>
              <a:rect l="l" t="t" r="r" b="b"/>
              <a:pathLst>
                <a:path h="469900">
                  <a:moveTo>
                    <a:pt x="0" y="0"/>
                  </a:moveTo>
                  <a:lnTo>
                    <a:pt x="0" y="469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29100" y="48768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876800" y="4483100"/>
              <a:ext cx="0" cy="469900"/>
            </a:xfrm>
            <a:custGeom>
              <a:avLst/>
              <a:gdLst/>
              <a:ahLst/>
              <a:cxnLst/>
              <a:rect l="l" t="t" r="r" b="b"/>
              <a:pathLst>
                <a:path h="469900">
                  <a:moveTo>
                    <a:pt x="0" y="4699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838706" y="441960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087" y="0"/>
                  </a:moveTo>
                  <a:lnTo>
                    <a:pt x="0" y="76199"/>
                  </a:lnTo>
                  <a:lnTo>
                    <a:pt x="76200" y="76187"/>
                  </a:lnTo>
                  <a:lnTo>
                    <a:pt x="380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352800" y="3581400"/>
              <a:ext cx="622300" cy="0"/>
            </a:xfrm>
            <a:custGeom>
              <a:avLst/>
              <a:gdLst/>
              <a:ahLst/>
              <a:cxnLst/>
              <a:rect l="l" t="t" r="r" b="b"/>
              <a:pathLst>
                <a:path w="622300">
                  <a:moveTo>
                    <a:pt x="0" y="0"/>
                  </a:moveTo>
                  <a:lnTo>
                    <a:pt x="6223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962402" y="35432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105400" y="3581400"/>
              <a:ext cx="622300" cy="0"/>
            </a:xfrm>
            <a:custGeom>
              <a:avLst/>
              <a:gdLst/>
              <a:ahLst/>
              <a:cxnLst/>
              <a:rect l="l" t="t" r="r" b="b"/>
              <a:pathLst>
                <a:path w="622300">
                  <a:moveTo>
                    <a:pt x="0" y="0"/>
                  </a:moveTo>
                  <a:lnTo>
                    <a:pt x="6223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15002" y="35432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50066" y="814069"/>
            <a:ext cx="60432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Inside</a:t>
            </a:r>
            <a:r>
              <a:rPr spc="-30" dirty="0"/>
              <a:t> </a:t>
            </a:r>
            <a:r>
              <a:rPr spc="-5" dirty="0"/>
              <a:t>The</a:t>
            </a:r>
            <a:r>
              <a:rPr spc="-15" dirty="0"/>
              <a:t> </a:t>
            </a:r>
            <a:r>
              <a:rPr spc="-5" dirty="0"/>
              <a:t>Microprocessor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2000504"/>
            <a:ext cx="7562215" cy="2966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Internally, the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microprocessor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made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up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3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main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units.</a:t>
            </a:r>
            <a:endParaRPr sz="32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9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Arithmetic/Logic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Unit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(ALU)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Control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Unit.</a:t>
            </a:r>
            <a:endParaRPr sz="2800">
              <a:latin typeface="Times New Roman"/>
              <a:cs typeface="Times New Roman"/>
            </a:endParaRPr>
          </a:p>
          <a:p>
            <a:pPr marL="755650" marR="20320" lvl="1" indent="-285750">
              <a:lnSpc>
                <a:spcPct val="100000"/>
              </a:lnSpc>
              <a:spcBef>
                <a:spcPts val="675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array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5" dirty="0">
                <a:latin typeface="Times New Roman"/>
                <a:cs typeface="Times New Roman"/>
              </a:rPr>
              <a:t> registers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holding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data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while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being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manipulated.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01800" y="222758"/>
            <a:ext cx="673989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94230" marR="5080" indent="-2082164">
              <a:lnSpc>
                <a:spcPct val="100000"/>
              </a:lnSpc>
              <a:spcBef>
                <a:spcPts val="100"/>
              </a:spcBef>
            </a:pPr>
            <a:r>
              <a:rPr sz="3600" b="1" spc="-5" dirty="0">
                <a:latin typeface="Times New Roman"/>
                <a:cs typeface="Times New Roman"/>
              </a:rPr>
              <a:t>Organization </a:t>
            </a:r>
            <a:r>
              <a:rPr sz="3600" b="1" dirty="0">
                <a:latin typeface="Times New Roman"/>
                <a:cs typeface="Times New Roman"/>
              </a:rPr>
              <a:t>of a </a:t>
            </a:r>
            <a:r>
              <a:rPr sz="3600" b="1" spc="-5" dirty="0">
                <a:latin typeface="Times New Roman"/>
                <a:cs typeface="Times New Roman"/>
              </a:rPr>
              <a:t>microprocessor- </a:t>
            </a:r>
            <a:r>
              <a:rPr sz="3600" b="1" spc="-885" dirty="0">
                <a:latin typeface="Times New Roman"/>
                <a:cs typeface="Times New Roman"/>
              </a:rPr>
              <a:t> </a:t>
            </a:r>
            <a:r>
              <a:rPr sz="3600" b="1" spc="-5" dirty="0">
                <a:latin typeface="Times New Roman"/>
                <a:cs typeface="Times New Roman"/>
              </a:rPr>
              <a:t>based</a:t>
            </a:r>
            <a:r>
              <a:rPr sz="3600" b="1" spc="-10" dirty="0">
                <a:latin typeface="Times New Roman"/>
                <a:cs typeface="Times New Roman"/>
              </a:rPr>
              <a:t> </a:t>
            </a:r>
            <a:r>
              <a:rPr sz="3600" b="1" spc="-5" dirty="0">
                <a:latin typeface="Times New Roman"/>
                <a:cs typeface="Times New Roman"/>
              </a:rPr>
              <a:t>system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24400" y="2362200"/>
            <a:ext cx="1371600" cy="6096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147955" marR="140335" indent="417830">
              <a:lnSpc>
                <a:spcPct val="100000"/>
              </a:lnSpc>
              <a:spcBef>
                <a:spcPts val="320"/>
              </a:spcBef>
            </a:pPr>
            <a:r>
              <a:rPr sz="1400" spc="-5" dirty="0">
                <a:latin typeface="Arial MT"/>
                <a:cs typeface="Arial MT"/>
              </a:rPr>
              <a:t>I/O 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Input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/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Output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175250" y="2965450"/>
            <a:ext cx="393700" cy="850900"/>
            <a:chOff x="5175250" y="2965450"/>
            <a:chExt cx="393700" cy="850900"/>
          </a:xfrm>
        </p:grpSpPr>
        <p:sp>
          <p:nvSpPr>
            <p:cNvPr id="6" name="object 6"/>
            <p:cNvSpPr/>
            <p:nvPr/>
          </p:nvSpPr>
          <p:spPr>
            <a:xfrm>
              <a:off x="5181600" y="2971800"/>
              <a:ext cx="381000" cy="838200"/>
            </a:xfrm>
            <a:custGeom>
              <a:avLst/>
              <a:gdLst/>
              <a:ahLst/>
              <a:cxnLst/>
              <a:rect l="l" t="t" r="r" b="b"/>
              <a:pathLst>
                <a:path w="381000" h="838200">
                  <a:moveTo>
                    <a:pt x="190500" y="0"/>
                  </a:moveTo>
                  <a:lnTo>
                    <a:pt x="0" y="167639"/>
                  </a:lnTo>
                  <a:lnTo>
                    <a:pt x="95250" y="167639"/>
                  </a:lnTo>
                  <a:lnTo>
                    <a:pt x="95250" y="670559"/>
                  </a:lnTo>
                  <a:lnTo>
                    <a:pt x="0" y="670559"/>
                  </a:lnTo>
                  <a:lnTo>
                    <a:pt x="190500" y="838199"/>
                  </a:lnTo>
                  <a:lnTo>
                    <a:pt x="381000" y="670559"/>
                  </a:lnTo>
                  <a:lnTo>
                    <a:pt x="285750" y="670559"/>
                  </a:lnTo>
                  <a:lnTo>
                    <a:pt x="285750" y="167639"/>
                  </a:lnTo>
                  <a:lnTo>
                    <a:pt x="381000" y="167639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FF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81600" y="2971800"/>
              <a:ext cx="381000" cy="838200"/>
            </a:xfrm>
            <a:custGeom>
              <a:avLst/>
              <a:gdLst/>
              <a:ahLst/>
              <a:cxnLst/>
              <a:rect l="l" t="t" r="r" b="b"/>
              <a:pathLst>
                <a:path w="381000" h="838200">
                  <a:moveTo>
                    <a:pt x="0" y="167639"/>
                  </a:moveTo>
                  <a:lnTo>
                    <a:pt x="190500" y="0"/>
                  </a:lnTo>
                  <a:lnTo>
                    <a:pt x="381000" y="167639"/>
                  </a:lnTo>
                  <a:lnTo>
                    <a:pt x="285750" y="167639"/>
                  </a:lnTo>
                  <a:lnTo>
                    <a:pt x="285750" y="670559"/>
                  </a:lnTo>
                  <a:lnTo>
                    <a:pt x="381000" y="670559"/>
                  </a:lnTo>
                  <a:lnTo>
                    <a:pt x="190500" y="838199"/>
                  </a:lnTo>
                  <a:lnTo>
                    <a:pt x="0" y="670559"/>
                  </a:lnTo>
                  <a:lnTo>
                    <a:pt x="95250" y="670559"/>
                  </a:lnTo>
                  <a:lnTo>
                    <a:pt x="95250" y="167639"/>
                  </a:lnTo>
                  <a:lnTo>
                    <a:pt x="0" y="16763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648200" y="3810000"/>
            <a:ext cx="1524000" cy="6858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20"/>
              </a:spcBef>
            </a:pPr>
            <a:r>
              <a:rPr sz="1400" spc="-5" dirty="0">
                <a:latin typeface="Arial MT"/>
                <a:cs typeface="Arial MT"/>
              </a:rPr>
              <a:t>Memory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  <a:tabLst>
                <a:tab pos="561340" algn="l"/>
              </a:tabLst>
            </a:pPr>
            <a:r>
              <a:rPr sz="1400" spc="-5" dirty="0">
                <a:latin typeface="Arial MT"/>
                <a:cs typeface="Arial MT"/>
              </a:rPr>
              <a:t>ROM	RAM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956050" y="3194050"/>
            <a:ext cx="2679700" cy="393700"/>
            <a:chOff x="3956050" y="3194050"/>
            <a:chExt cx="2679700" cy="393700"/>
          </a:xfrm>
        </p:grpSpPr>
        <p:sp>
          <p:nvSpPr>
            <p:cNvPr id="10" name="object 10"/>
            <p:cNvSpPr/>
            <p:nvPr/>
          </p:nvSpPr>
          <p:spPr>
            <a:xfrm>
              <a:off x="3962400" y="3200400"/>
              <a:ext cx="2667000" cy="381000"/>
            </a:xfrm>
            <a:custGeom>
              <a:avLst/>
              <a:gdLst/>
              <a:ahLst/>
              <a:cxnLst/>
              <a:rect l="l" t="t" r="r" b="b"/>
              <a:pathLst>
                <a:path w="2667000" h="381000">
                  <a:moveTo>
                    <a:pt x="2133600" y="0"/>
                  </a:moveTo>
                  <a:lnTo>
                    <a:pt x="2133600" y="95250"/>
                  </a:lnTo>
                  <a:lnTo>
                    <a:pt x="533400" y="95250"/>
                  </a:lnTo>
                  <a:lnTo>
                    <a:pt x="533400" y="0"/>
                  </a:lnTo>
                  <a:lnTo>
                    <a:pt x="0" y="190500"/>
                  </a:lnTo>
                  <a:lnTo>
                    <a:pt x="533400" y="381000"/>
                  </a:lnTo>
                  <a:lnTo>
                    <a:pt x="533400" y="285750"/>
                  </a:lnTo>
                  <a:lnTo>
                    <a:pt x="2133600" y="285750"/>
                  </a:lnTo>
                  <a:lnTo>
                    <a:pt x="2133600" y="381000"/>
                  </a:lnTo>
                  <a:lnTo>
                    <a:pt x="2667000" y="190500"/>
                  </a:lnTo>
                  <a:lnTo>
                    <a:pt x="2133600" y="0"/>
                  </a:lnTo>
                  <a:close/>
                </a:path>
              </a:pathLst>
            </a:custGeom>
            <a:solidFill>
              <a:srgbClr val="FF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962400" y="3200400"/>
              <a:ext cx="2667000" cy="381000"/>
            </a:xfrm>
            <a:custGeom>
              <a:avLst/>
              <a:gdLst/>
              <a:ahLst/>
              <a:cxnLst/>
              <a:rect l="l" t="t" r="r" b="b"/>
              <a:pathLst>
                <a:path w="2667000" h="381000">
                  <a:moveTo>
                    <a:pt x="0" y="190500"/>
                  </a:moveTo>
                  <a:lnTo>
                    <a:pt x="533400" y="0"/>
                  </a:lnTo>
                  <a:lnTo>
                    <a:pt x="533400" y="95250"/>
                  </a:lnTo>
                  <a:lnTo>
                    <a:pt x="2133600" y="95250"/>
                  </a:lnTo>
                  <a:lnTo>
                    <a:pt x="2133600" y="0"/>
                  </a:lnTo>
                  <a:lnTo>
                    <a:pt x="2667000" y="190500"/>
                  </a:lnTo>
                  <a:lnTo>
                    <a:pt x="2133600" y="381000"/>
                  </a:lnTo>
                  <a:lnTo>
                    <a:pt x="2133600" y="285750"/>
                  </a:lnTo>
                  <a:lnTo>
                    <a:pt x="533400" y="285750"/>
                  </a:lnTo>
                  <a:lnTo>
                    <a:pt x="533400" y="381000"/>
                  </a:lnTo>
                  <a:lnTo>
                    <a:pt x="0" y="1905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809140" y="3266947"/>
            <a:ext cx="972819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 MT"/>
                <a:cs typeface="Arial MT"/>
              </a:rPr>
              <a:t>System</a:t>
            </a:r>
            <a:r>
              <a:rPr sz="1400" spc="-7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Bus</a:t>
            </a:r>
            <a:endParaRPr sz="1400">
              <a:latin typeface="Arial MT"/>
              <a:cs typeface="Arial MT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2508250" y="2736850"/>
          <a:ext cx="1447800" cy="1447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7155">
                        <a:lnSpc>
                          <a:spcPct val="100000"/>
                        </a:lnSpc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ALU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63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128905" marR="1143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R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egister  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Array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4114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Control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4" name="object 14"/>
          <p:cNvGrpSpPr/>
          <p:nvPr/>
        </p:nvGrpSpPr>
        <p:grpSpPr>
          <a:xfrm>
            <a:off x="5276850" y="3289300"/>
            <a:ext cx="187325" cy="201930"/>
            <a:chOff x="5276850" y="3289300"/>
            <a:chExt cx="187325" cy="201930"/>
          </a:xfrm>
        </p:grpSpPr>
        <p:sp>
          <p:nvSpPr>
            <p:cNvPr id="15" name="object 15"/>
            <p:cNvSpPr/>
            <p:nvPr/>
          </p:nvSpPr>
          <p:spPr>
            <a:xfrm>
              <a:off x="5276850" y="3295650"/>
              <a:ext cx="186055" cy="0"/>
            </a:xfrm>
            <a:custGeom>
              <a:avLst/>
              <a:gdLst/>
              <a:ahLst/>
              <a:cxnLst/>
              <a:rect l="l" t="t" r="r" b="b"/>
              <a:pathLst>
                <a:path w="186054">
                  <a:moveTo>
                    <a:pt x="0" y="0"/>
                  </a:moveTo>
                  <a:lnTo>
                    <a:pt x="185737" y="0"/>
                  </a:lnTo>
                </a:path>
              </a:pathLst>
            </a:custGeom>
            <a:ln w="12700">
              <a:solidFill>
                <a:srgbClr val="FF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278437" y="3484562"/>
              <a:ext cx="186055" cy="0"/>
            </a:xfrm>
            <a:custGeom>
              <a:avLst/>
              <a:gdLst/>
              <a:ahLst/>
              <a:cxnLst/>
              <a:rect l="l" t="t" r="r" b="b"/>
              <a:pathLst>
                <a:path w="186054">
                  <a:moveTo>
                    <a:pt x="0" y="0"/>
                  </a:moveTo>
                  <a:lnTo>
                    <a:pt x="185737" y="0"/>
                  </a:lnTo>
                </a:path>
              </a:pathLst>
            </a:custGeom>
            <a:ln w="12700">
              <a:solidFill>
                <a:srgbClr val="FF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64540" y="1543303"/>
            <a:ext cx="522351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Let’s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expand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picture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bit.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96766" y="0"/>
            <a:ext cx="194945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M</a:t>
            </a:r>
            <a:r>
              <a:rPr spc="-10" dirty="0"/>
              <a:t>e</a:t>
            </a:r>
            <a:r>
              <a:rPr spc="-5" dirty="0"/>
              <a:t>mory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740155"/>
            <a:ext cx="7399020" cy="579628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469265" marR="5080" indent="-457200">
              <a:lnSpc>
                <a:spcPts val="3020"/>
              </a:lnSpc>
              <a:spcBef>
                <a:spcPts val="484"/>
              </a:spcBef>
              <a:buChar char="•"/>
              <a:tabLst>
                <a:tab pos="469265" algn="l"/>
                <a:tab pos="469900" algn="l"/>
              </a:tabLst>
            </a:pPr>
            <a:r>
              <a:rPr sz="2800" spc="-5" dirty="0">
                <a:latin typeface="Times New Roman"/>
                <a:cs typeface="Times New Roman"/>
              </a:rPr>
              <a:t>Memory stores information such as instructions 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and data </a:t>
            </a:r>
            <a:r>
              <a:rPr sz="2800" dirty="0">
                <a:latin typeface="Times New Roman"/>
                <a:cs typeface="Times New Roman"/>
              </a:rPr>
              <a:t>in binary </a:t>
            </a:r>
            <a:r>
              <a:rPr sz="2800" spc="-5" dirty="0">
                <a:latin typeface="Times New Roman"/>
                <a:cs typeface="Times New Roman"/>
              </a:rPr>
              <a:t>format </a:t>
            </a:r>
            <a:r>
              <a:rPr sz="2800" dirty="0">
                <a:latin typeface="Times New Roman"/>
                <a:cs typeface="Times New Roman"/>
              </a:rPr>
              <a:t>(0 </a:t>
            </a:r>
            <a:r>
              <a:rPr sz="2800" spc="-5" dirty="0">
                <a:latin typeface="Times New Roman"/>
                <a:cs typeface="Times New Roman"/>
              </a:rPr>
              <a:t>and </a:t>
            </a:r>
            <a:r>
              <a:rPr sz="2800" dirty="0">
                <a:latin typeface="Times New Roman"/>
                <a:cs typeface="Times New Roman"/>
              </a:rPr>
              <a:t>1). It provides 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this </a:t>
            </a:r>
            <a:r>
              <a:rPr sz="2800" spc="-5" dirty="0">
                <a:latin typeface="Times New Roman"/>
                <a:cs typeface="Times New Roman"/>
              </a:rPr>
              <a:t>information </a:t>
            </a:r>
            <a:r>
              <a:rPr sz="2800" dirty="0">
                <a:latin typeface="Times New Roman"/>
                <a:cs typeface="Times New Roman"/>
              </a:rPr>
              <a:t>to the </a:t>
            </a:r>
            <a:r>
              <a:rPr sz="2800" spc="-5" dirty="0">
                <a:latin typeface="Times New Roman"/>
                <a:cs typeface="Times New Roman"/>
              </a:rPr>
              <a:t>microprocessor whenever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needed.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Times New Roman"/>
              <a:buChar char="•"/>
            </a:pPr>
            <a:endParaRPr sz="3800">
              <a:latin typeface="Times New Roman"/>
              <a:cs typeface="Times New Roman"/>
            </a:endParaRPr>
          </a:p>
          <a:p>
            <a:pPr marL="469900" marR="227965" indent="-457834">
              <a:lnSpc>
                <a:spcPts val="3020"/>
              </a:lnSpc>
              <a:buChar char="•"/>
              <a:tabLst>
                <a:tab pos="469900" algn="l"/>
                <a:tab pos="470534" algn="l"/>
              </a:tabLst>
            </a:pPr>
            <a:r>
              <a:rPr sz="2800" spc="-5" dirty="0">
                <a:latin typeface="Times New Roman"/>
                <a:cs typeface="Times New Roman"/>
              </a:rPr>
              <a:t>Usually, there </a:t>
            </a:r>
            <a:r>
              <a:rPr sz="2800" dirty="0">
                <a:latin typeface="Times New Roman"/>
                <a:cs typeface="Times New Roman"/>
              </a:rPr>
              <a:t>is a </a:t>
            </a:r>
            <a:r>
              <a:rPr sz="2800" spc="-5" dirty="0">
                <a:latin typeface="Times New Roman"/>
                <a:cs typeface="Times New Roman"/>
              </a:rPr>
              <a:t>memory “sub-system” </a:t>
            </a:r>
            <a:r>
              <a:rPr sz="2800" dirty="0">
                <a:latin typeface="Times New Roman"/>
                <a:cs typeface="Times New Roman"/>
              </a:rPr>
              <a:t>in a 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microprocessor-based system. This sub-system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includes:</a:t>
            </a:r>
            <a:endParaRPr sz="2800">
              <a:latin typeface="Times New Roman"/>
              <a:cs typeface="Times New Roman"/>
            </a:endParaRPr>
          </a:p>
          <a:p>
            <a:pPr marL="869950" lvl="1" indent="-286385">
              <a:lnSpc>
                <a:spcPct val="100000"/>
              </a:lnSpc>
              <a:spcBef>
                <a:spcPts val="260"/>
              </a:spcBef>
              <a:buChar char="–"/>
              <a:tabLst>
                <a:tab pos="869950" algn="l"/>
                <a:tab pos="870585" algn="l"/>
              </a:tabLst>
            </a:pP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registers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inside the microprocessor</a:t>
            </a:r>
            <a:endParaRPr sz="2400">
              <a:latin typeface="Times New Roman"/>
              <a:cs typeface="Times New Roman"/>
            </a:endParaRPr>
          </a:p>
          <a:p>
            <a:pPr marL="869950" lvl="1" indent="-287020">
              <a:lnSpc>
                <a:spcPct val="100000"/>
              </a:lnSpc>
              <a:spcBef>
                <a:spcPts val="290"/>
              </a:spcBef>
              <a:buChar char="–"/>
              <a:tabLst>
                <a:tab pos="869950" algn="l"/>
                <a:tab pos="870585" algn="l"/>
              </a:tabLst>
            </a:pPr>
            <a:r>
              <a:rPr sz="2400" dirty="0">
                <a:latin typeface="Times New Roman"/>
                <a:cs typeface="Times New Roman"/>
              </a:rPr>
              <a:t>Read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Only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Memory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(ROM)</a:t>
            </a:r>
            <a:endParaRPr sz="2400">
              <a:latin typeface="Times New Roman"/>
              <a:cs typeface="Times New Roman"/>
            </a:endParaRPr>
          </a:p>
          <a:p>
            <a:pPr marL="1212850" lvl="2" indent="-229870">
              <a:lnSpc>
                <a:spcPct val="100000"/>
              </a:lnSpc>
              <a:spcBef>
                <a:spcPts val="254"/>
              </a:spcBef>
              <a:buChar char="•"/>
              <a:tabLst>
                <a:tab pos="1212215" algn="l"/>
                <a:tab pos="1213485" algn="l"/>
              </a:tabLst>
            </a:pPr>
            <a:r>
              <a:rPr sz="2000" spc="-5" dirty="0">
                <a:latin typeface="Times New Roman"/>
                <a:cs typeface="Times New Roman"/>
              </a:rPr>
              <a:t>used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store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information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that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does not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change.</a:t>
            </a:r>
            <a:endParaRPr sz="2000">
              <a:latin typeface="Times New Roman"/>
              <a:cs typeface="Times New Roman"/>
            </a:endParaRPr>
          </a:p>
          <a:p>
            <a:pPr marL="869950" marR="547370" lvl="1" indent="-286385">
              <a:lnSpc>
                <a:spcPts val="2590"/>
              </a:lnSpc>
              <a:spcBef>
                <a:spcPts val="600"/>
              </a:spcBef>
              <a:buChar char="–"/>
              <a:tabLst>
                <a:tab pos="869950" algn="l"/>
                <a:tab pos="870585" algn="l"/>
              </a:tabLst>
            </a:pPr>
            <a:r>
              <a:rPr sz="2400" dirty="0">
                <a:latin typeface="Times New Roman"/>
                <a:cs typeface="Times New Roman"/>
              </a:rPr>
              <a:t>Random </a:t>
            </a:r>
            <a:r>
              <a:rPr sz="2400" spc="-5" dirty="0">
                <a:latin typeface="Times New Roman"/>
                <a:cs typeface="Times New Roman"/>
              </a:rPr>
              <a:t>Access Memory (RAM) (also </a:t>
            </a:r>
            <a:r>
              <a:rPr sz="2400" dirty="0">
                <a:latin typeface="Times New Roman"/>
                <a:cs typeface="Times New Roman"/>
              </a:rPr>
              <a:t>known as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Read/Write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Memory).</a:t>
            </a:r>
            <a:endParaRPr sz="2400">
              <a:latin typeface="Times New Roman"/>
              <a:cs typeface="Times New Roman"/>
            </a:endParaRPr>
          </a:p>
          <a:p>
            <a:pPr marL="1212850" marR="635000" lvl="2" indent="-229235">
              <a:lnSpc>
                <a:spcPts val="2160"/>
              </a:lnSpc>
              <a:spcBef>
                <a:spcPts val="490"/>
              </a:spcBef>
              <a:buChar char="•"/>
              <a:tabLst>
                <a:tab pos="1212215" algn="l"/>
                <a:tab pos="1213485" algn="l"/>
              </a:tabLst>
            </a:pPr>
            <a:r>
              <a:rPr sz="2000" spc="-5" dirty="0">
                <a:latin typeface="Times New Roman"/>
                <a:cs typeface="Times New Roman"/>
              </a:rPr>
              <a:t>used to store information supplied by the user. Such as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programs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data.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25276" y="0"/>
            <a:ext cx="649414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Memory</a:t>
            </a:r>
            <a:r>
              <a:rPr spc="-25" dirty="0"/>
              <a:t> </a:t>
            </a:r>
            <a:r>
              <a:rPr spc="-5" dirty="0"/>
              <a:t>Map</a:t>
            </a:r>
            <a:r>
              <a:rPr spc="-15" dirty="0"/>
              <a:t> </a:t>
            </a:r>
            <a:r>
              <a:rPr spc="-5" dirty="0"/>
              <a:t>and</a:t>
            </a:r>
            <a:r>
              <a:rPr spc="-15" dirty="0"/>
              <a:t> </a:t>
            </a:r>
            <a:r>
              <a:rPr spc="-5" dirty="0"/>
              <a:t>Addresses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682290" y="5721972"/>
            <a:ext cx="33655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 MT"/>
                <a:cs typeface="Arial MT"/>
              </a:rPr>
              <a:t>FFFF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390775" y="2844796"/>
            <a:ext cx="304800" cy="2857500"/>
            <a:chOff x="2390775" y="2844796"/>
            <a:chExt cx="304800" cy="2857500"/>
          </a:xfrm>
        </p:grpSpPr>
        <p:sp>
          <p:nvSpPr>
            <p:cNvPr id="6" name="object 6"/>
            <p:cNvSpPr/>
            <p:nvPr/>
          </p:nvSpPr>
          <p:spPr>
            <a:xfrm>
              <a:off x="2557459" y="4959350"/>
              <a:ext cx="0" cy="679450"/>
            </a:xfrm>
            <a:custGeom>
              <a:avLst/>
              <a:gdLst/>
              <a:ahLst/>
              <a:cxnLst/>
              <a:rect l="l" t="t" r="r" b="b"/>
              <a:pathLst>
                <a:path h="679450">
                  <a:moveTo>
                    <a:pt x="0" y="0"/>
                  </a:moveTo>
                  <a:lnTo>
                    <a:pt x="0" y="67945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519362" y="56261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557459" y="2908299"/>
              <a:ext cx="0" cy="622300"/>
            </a:xfrm>
            <a:custGeom>
              <a:avLst/>
              <a:gdLst/>
              <a:ahLst/>
              <a:cxnLst/>
              <a:rect l="l" t="t" r="r" b="b"/>
              <a:pathLst>
                <a:path h="622300">
                  <a:moveTo>
                    <a:pt x="0" y="0"/>
                  </a:moveTo>
                  <a:lnTo>
                    <a:pt x="0" y="6223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19356" y="2844796"/>
              <a:ext cx="76200" cy="76835"/>
            </a:xfrm>
            <a:custGeom>
              <a:avLst/>
              <a:gdLst/>
              <a:ahLst/>
              <a:cxnLst/>
              <a:rect l="l" t="t" r="r" b="b"/>
              <a:pathLst>
                <a:path w="76200" h="76835">
                  <a:moveTo>
                    <a:pt x="38112" y="0"/>
                  </a:moveTo>
                  <a:lnTo>
                    <a:pt x="0" y="76200"/>
                  </a:lnTo>
                  <a:lnTo>
                    <a:pt x="76200" y="76212"/>
                  </a:lnTo>
                  <a:lnTo>
                    <a:pt x="381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90775" y="3530599"/>
              <a:ext cx="304800" cy="1428750"/>
            </a:xfrm>
            <a:custGeom>
              <a:avLst/>
              <a:gdLst/>
              <a:ahLst/>
              <a:cxnLst/>
              <a:rect l="l" t="t" r="r" b="b"/>
              <a:pathLst>
                <a:path w="304800" h="1428750">
                  <a:moveTo>
                    <a:pt x="304800" y="0"/>
                  </a:moveTo>
                  <a:lnTo>
                    <a:pt x="0" y="0"/>
                  </a:lnTo>
                  <a:lnTo>
                    <a:pt x="0" y="1428750"/>
                  </a:lnTo>
                  <a:lnTo>
                    <a:pt x="304800" y="142875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436041" y="3631385"/>
            <a:ext cx="224154" cy="124968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5" dirty="0">
                <a:latin typeface="Arial MT"/>
                <a:cs typeface="Arial MT"/>
              </a:rPr>
              <a:t>Address</a:t>
            </a:r>
            <a:r>
              <a:rPr sz="1400" spc="-7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Range</a:t>
            </a:r>
            <a:endParaRPr sz="1400">
              <a:latin typeface="Arial MT"/>
              <a:cs typeface="Arial MT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3097212" y="2711450"/>
          <a:ext cx="1282700" cy="3136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20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spc="-5" dirty="0">
                          <a:latin typeface="Arial MT"/>
                          <a:cs typeface="Arial MT"/>
                        </a:rPr>
                        <a:t>EPROM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200" spc="-5" dirty="0">
                          <a:latin typeface="Arial MT"/>
                          <a:cs typeface="Arial MT"/>
                        </a:rPr>
                        <a:t>RAM</a:t>
                      </a:r>
                      <a:r>
                        <a:rPr sz="12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1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882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5" dirty="0">
                          <a:latin typeface="Arial MT"/>
                          <a:cs typeface="Arial MT"/>
                        </a:rPr>
                        <a:t>RAM</a:t>
                      </a:r>
                      <a:r>
                        <a:rPr sz="12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2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200" spc="-5" dirty="0">
                          <a:latin typeface="Arial MT"/>
                          <a:cs typeface="Arial MT"/>
                        </a:rPr>
                        <a:t>RAM</a:t>
                      </a:r>
                      <a:r>
                        <a:rPr sz="12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3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882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spc="-5" dirty="0">
                          <a:latin typeface="Arial MT"/>
                          <a:cs typeface="Arial MT"/>
                        </a:rPr>
                        <a:t>RAM</a:t>
                      </a:r>
                      <a:r>
                        <a:rPr sz="12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4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764540" y="628904"/>
            <a:ext cx="7548880" cy="2211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The memory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map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is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picture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representation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address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range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and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shows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where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different memory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chips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are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located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within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address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range.</a:t>
            </a:r>
            <a:endParaRPr sz="3200">
              <a:latin typeface="Times New Roman"/>
              <a:cs typeface="Times New Roman"/>
            </a:endParaRPr>
          </a:p>
          <a:p>
            <a:pPr marL="1905000">
              <a:lnSpc>
                <a:spcPct val="100000"/>
              </a:lnSpc>
              <a:spcBef>
                <a:spcPts val="650"/>
              </a:spcBef>
              <a:tabLst>
                <a:tab pos="3733165" algn="l"/>
              </a:tabLst>
            </a:pPr>
            <a:r>
              <a:rPr sz="1500" spc="-7" baseline="-5555" dirty="0">
                <a:latin typeface="Arial MT"/>
                <a:cs typeface="Arial MT"/>
              </a:rPr>
              <a:t>0000	</a:t>
            </a:r>
            <a:r>
              <a:rPr sz="1000" spc="-5" dirty="0">
                <a:latin typeface="Arial MT"/>
                <a:cs typeface="Arial MT"/>
              </a:rPr>
              <a:t>0000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485640" y="4198004"/>
            <a:ext cx="336550" cy="686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100"/>
              </a:lnSpc>
              <a:spcBef>
                <a:spcPts val="100"/>
              </a:spcBef>
            </a:pPr>
            <a:r>
              <a:rPr sz="1000" dirty="0">
                <a:latin typeface="Arial MT"/>
                <a:cs typeface="Arial MT"/>
              </a:rPr>
              <a:t>8FFF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9000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850">
              <a:latin typeface="Arial MT"/>
              <a:cs typeface="Arial MT"/>
            </a:endParaRPr>
          </a:p>
          <a:p>
            <a:pPr marL="12700" marR="5080">
              <a:lnSpc>
                <a:spcPts val="1000"/>
              </a:lnSpc>
              <a:spcBef>
                <a:spcPts val="5"/>
              </a:spcBef>
            </a:pPr>
            <a:r>
              <a:rPr sz="1000" spc="-5" dirty="0">
                <a:latin typeface="Arial MT"/>
                <a:cs typeface="Arial MT"/>
              </a:rPr>
              <a:t>A</a:t>
            </a:r>
            <a:r>
              <a:rPr sz="1000" dirty="0">
                <a:latin typeface="Arial MT"/>
                <a:cs typeface="Arial MT"/>
              </a:rPr>
              <a:t>3FF  </a:t>
            </a:r>
            <a:r>
              <a:rPr sz="1000" spc="-5" dirty="0">
                <a:latin typeface="Arial MT"/>
                <a:cs typeface="Arial MT"/>
              </a:rPr>
              <a:t>A</a:t>
            </a:r>
            <a:r>
              <a:rPr sz="1000" dirty="0">
                <a:latin typeface="Arial MT"/>
                <a:cs typeface="Arial MT"/>
              </a:rPr>
              <a:t>4</a:t>
            </a:r>
            <a:r>
              <a:rPr sz="1000" spc="-5" dirty="0">
                <a:latin typeface="Arial MT"/>
                <a:cs typeface="Arial MT"/>
              </a:rPr>
              <a:t>00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970456" y="2755896"/>
            <a:ext cx="76200" cy="444500"/>
            <a:chOff x="4970456" y="2755896"/>
            <a:chExt cx="76200" cy="444500"/>
          </a:xfrm>
        </p:grpSpPr>
        <p:sp>
          <p:nvSpPr>
            <p:cNvPr id="16" name="object 16"/>
            <p:cNvSpPr/>
            <p:nvPr/>
          </p:nvSpPr>
          <p:spPr>
            <a:xfrm>
              <a:off x="5008560" y="2819399"/>
              <a:ext cx="0" cy="317500"/>
            </a:xfrm>
            <a:custGeom>
              <a:avLst/>
              <a:gdLst/>
              <a:ahLst/>
              <a:cxnLst/>
              <a:rect l="l" t="t" r="r" b="b"/>
              <a:pathLst>
                <a:path h="317500">
                  <a:moveTo>
                    <a:pt x="0" y="0"/>
                  </a:moveTo>
                  <a:lnTo>
                    <a:pt x="0" y="3175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970450" y="2755899"/>
              <a:ext cx="76835" cy="444500"/>
            </a:xfrm>
            <a:custGeom>
              <a:avLst/>
              <a:gdLst/>
              <a:ahLst/>
              <a:cxnLst/>
              <a:rect l="l" t="t" r="r" b="b"/>
              <a:pathLst>
                <a:path w="76835" h="444500">
                  <a:moveTo>
                    <a:pt x="76200" y="76212"/>
                  </a:moveTo>
                  <a:lnTo>
                    <a:pt x="38112" y="0"/>
                  </a:lnTo>
                  <a:lnTo>
                    <a:pt x="0" y="76200"/>
                  </a:lnTo>
                  <a:lnTo>
                    <a:pt x="76200" y="76212"/>
                  </a:lnTo>
                  <a:close/>
                </a:path>
                <a:path w="76835" h="444500">
                  <a:moveTo>
                    <a:pt x="76212" y="368300"/>
                  </a:moveTo>
                  <a:lnTo>
                    <a:pt x="12" y="368300"/>
                  </a:lnTo>
                  <a:lnTo>
                    <a:pt x="38112" y="444500"/>
                  </a:lnTo>
                  <a:lnTo>
                    <a:pt x="76212" y="3683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4970456" y="3378196"/>
            <a:ext cx="76200" cy="2311400"/>
            <a:chOff x="4970456" y="3378196"/>
            <a:chExt cx="76200" cy="2311400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70456" y="3378196"/>
              <a:ext cx="76206" cy="374653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008560" y="3835399"/>
              <a:ext cx="0" cy="469900"/>
            </a:xfrm>
            <a:custGeom>
              <a:avLst/>
              <a:gdLst/>
              <a:ahLst/>
              <a:cxnLst/>
              <a:rect l="l" t="t" r="r" b="b"/>
              <a:pathLst>
                <a:path h="469900">
                  <a:moveTo>
                    <a:pt x="0" y="0"/>
                  </a:moveTo>
                  <a:lnTo>
                    <a:pt x="0" y="469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970450" y="3771899"/>
              <a:ext cx="76835" cy="596900"/>
            </a:xfrm>
            <a:custGeom>
              <a:avLst/>
              <a:gdLst/>
              <a:ahLst/>
              <a:cxnLst/>
              <a:rect l="l" t="t" r="r" b="b"/>
              <a:pathLst>
                <a:path w="76835" h="596900">
                  <a:moveTo>
                    <a:pt x="76200" y="76212"/>
                  </a:moveTo>
                  <a:lnTo>
                    <a:pt x="38112" y="0"/>
                  </a:lnTo>
                  <a:lnTo>
                    <a:pt x="0" y="76200"/>
                  </a:lnTo>
                  <a:lnTo>
                    <a:pt x="76200" y="76212"/>
                  </a:lnTo>
                  <a:close/>
                </a:path>
                <a:path w="76835" h="596900">
                  <a:moveTo>
                    <a:pt x="76212" y="520700"/>
                  </a:moveTo>
                  <a:lnTo>
                    <a:pt x="12" y="520700"/>
                  </a:lnTo>
                  <a:lnTo>
                    <a:pt x="38112" y="596900"/>
                  </a:lnTo>
                  <a:lnTo>
                    <a:pt x="76212" y="520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008560" y="4419599"/>
              <a:ext cx="0" cy="215900"/>
            </a:xfrm>
            <a:custGeom>
              <a:avLst/>
              <a:gdLst/>
              <a:ahLst/>
              <a:cxnLst/>
              <a:rect l="l" t="t" r="r" b="b"/>
              <a:pathLst>
                <a:path h="215900">
                  <a:moveTo>
                    <a:pt x="0" y="0"/>
                  </a:moveTo>
                  <a:lnTo>
                    <a:pt x="0" y="215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970450" y="4356099"/>
              <a:ext cx="76835" cy="342900"/>
            </a:xfrm>
            <a:custGeom>
              <a:avLst/>
              <a:gdLst/>
              <a:ahLst/>
              <a:cxnLst/>
              <a:rect l="l" t="t" r="r" b="b"/>
              <a:pathLst>
                <a:path w="76835" h="342900">
                  <a:moveTo>
                    <a:pt x="76200" y="76212"/>
                  </a:moveTo>
                  <a:lnTo>
                    <a:pt x="38112" y="0"/>
                  </a:lnTo>
                  <a:lnTo>
                    <a:pt x="0" y="76200"/>
                  </a:lnTo>
                  <a:lnTo>
                    <a:pt x="76200" y="76212"/>
                  </a:lnTo>
                  <a:close/>
                </a:path>
                <a:path w="76835" h="342900">
                  <a:moveTo>
                    <a:pt x="76212" y="266700"/>
                  </a:moveTo>
                  <a:lnTo>
                    <a:pt x="12" y="266700"/>
                  </a:lnTo>
                  <a:lnTo>
                    <a:pt x="38112" y="342900"/>
                  </a:lnTo>
                  <a:lnTo>
                    <a:pt x="76212" y="266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008560" y="4768849"/>
              <a:ext cx="0" cy="857250"/>
            </a:xfrm>
            <a:custGeom>
              <a:avLst/>
              <a:gdLst/>
              <a:ahLst/>
              <a:cxnLst/>
              <a:rect l="l" t="t" r="r" b="b"/>
              <a:pathLst>
                <a:path h="857250">
                  <a:moveTo>
                    <a:pt x="0" y="0"/>
                  </a:moveTo>
                  <a:lnTo>
                    <a:pt x="0" y="85725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970450" y="4705349"/>
              <a:ext cx="76835" cy="984250"/>
            </a:xfrm>
            <a:custGeom>
              <a:avLst/>
              <a:gdLst/>
              <a:ahLst/>
              <a:cxnLst/>
              <a:rect l="l" t="t" r="r" b="b"/>
              <a:pathLst>
                <a:path w="76835" h="984250">
                  <a:moveTo>
                    <a:pt x="76200" y="76212"/>
                  </a:moveTo>
                  <a:lnTo>
                    <a:pt x="38112" y="0"/>
                  </a:lnTo>
                  <a:lnTo>
                    <a:pt x="0" y="76200"/>
                  </a:lnTo>
                  <a:lnTo>
                    <a:pt x="76200" y="76212"/>
                  </a:lnTo>
                  <a:close/>
                </a:path>
                <a:path w="76835" h="984250">
                  <a:moveTo>
                    <a:pt x="76212" y="908050"/>
                  </a:moveTo>
                  <a:lnTo>
                    <a:pt x="12" y="908050"/>
                  </a:lnTo>
                  <a:lnTo>
                    <a:pt x="38112" y="984250"/>
                  </a:lnTo>
                  <a:lnTo>
                    <a:pt x="76212" y="9080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447540" y="2830386"/>
            <a:ext cx="3070860" cy="1338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6769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Address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Range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of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EPROM Chip</a:t>
            </a:r>
            <a:endParaRPr sz="1200"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  <a:spcBef>
                <a:spcPts val="830"/>
              </a:spcBef>
            </a:pPr>
            <a:r>
              <a:rPr sz="1000" dirty="0">
                <a:latin typeface="Arial MT"/>
                <a:cs typeface="Arial MT"/>
              </a:rPr>
              <a:t>3FFF</a:t>
            </a:r>
            <a:endParaRPr sz="1000">
              <a:latin typeface="Arial MT"/>
              <a:cs typeface="Arial MT"/>
            </a:endParaRPr>
          </a:p>
          <a:p>
            <a:pPr marL="50800">
              <a:lnSpc>
                <a:spcPts val="1115"/>
              </a:lnSpc>
              <a:spcBef>
                <a:spcPts val="200"/>
              </a:spcBef>
            </a:pPr>
            <a:r>
              <a:rPr sz="1000" spc="-5" dirty="0">
                <a:latin typeface="Arial MT"/>
                <a:cs typeface="Arial MT"/>
              </a:rPr>
              <a:t>4400</a:t>
            </a:r>
            <a:endParaRPr sz="1000">
              <a:latin typeface="Arial MT"/>
              <a:cs typeface="Arial MT"/>
            </a:endParaRPr>
          </a:p>
          <a:p>
            <a:pPr marL="826769">
              <a:lnSpc>
                <a:spcPts val="1355"/>
              </a:lnSpc>
            </a:pPr>
            <a:r>
              <a:rPr sz="1200" spc="-5" dirty="0">
                <a:latin typeface="Arial MT"/>
                <a:cs typeface="Arial MT"/>
              </a:rPr>
              <a:t>Address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Range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of</a:t>
            </a:r>
            <a:r>
              <a:rPr sz="120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1</a:t>
            </a:r>
            <a:r>
              <a:rPr sz="1200" spc="-7" baseline="24305" dirty="0">
                <a:latin typeface="Arial MT"/>
                <a:cs typeface="Arial MT"/>
              </a:rPr>
              <a:t>st</a:t>
            </a:r>
            <a:r>
              <a:rPr sz="1200" spc="157" baseline="2430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RAM </a:t>
            </a:r>
            <a:r>
              <a:rPr sz="1200" spc="-10" dirty="0">
                <a:latin typeface="Arial MT"/>
                <a:cs typeface="Arial MT"/>
              </a:rPr>
              <a:t>Chip</a:t>
            </a:r>
            <a:endParaRPr sz="1200">
              <a:latin typeface="Arial MT"/>
              <a:cs typeface="Arial MT"/>
            </a:endParaRPr>
          </a:p>
          <a:p>
            <a:pPr marL="50800">
              <a:lnSpc>
                <a:spcPts val="1100"/>
              </a:lnSpc>
              <a:spcBef>
                <a:spcPts val="30"/>
              </a:spcBef>
            </a:pPr>
            <a:r>
              <a:rPr sz="1000" dirty="0">
                <a:latin typeface="Arial MT"/>
                <a:cs typeface="Arial MT"/>
              </a:rPr>
              <a:t>5FFF</a:t>
            </a:r>
            <a:endParaRPr sz="1000">
              <a:latin typeface="Arial MT"/>
              <a:cs typeface="Arial MT"/>
            </a:endParaRPr>
          </a:p>
          <a:p>
            <a:pPr marL="50800"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6000</a:t>
            </a:r>
            <a:endParaRPr sz="1000">
              <a:latin typeface="Arial MT"/>
              <a:cs typeface="Arial MT"/>
            </a:endParaRPr>
          </a:p>
          <a:p>
            <a:pPr marL="826769">
              <a:lnSpc>
                <a:spcPct val="100000"/>
              </a:lnSpc>
              <a:spcBef>
                <a:spcPts val="530"/>
              </a:spcBef>
            </a:pPr>
            <a:r>
              <a:rPr sz="1200" spc="-5" dirty="0">
                <a:latin typeface="Arial MT"/>
                <a:cs typeface="Arial MT"/>
              </a:rPr>
              <a:t>Address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Range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of</a:t>
            </a:r>
            <a:r>
              <a:rPr sz="120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2</a:t>
            </a:r>
            <a:r>
              <a:rPr sz="1200" spc="-7" baseline="24305" dirty="0">
                <a:latin typeface="Arial MT"/>
                <a:cs typeface="Arial MT"/>
              </a:rPr>
              <a:t>nd</a:t>
            </a:r>
            <a:r>
              <a:rPr sz="1200" spc="172" baseline="2430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RAM </a:t>
            </a:r>
            <a:r>
              <a:rPr sz="1200" spc="-10" dirty="0">
                <a:latin typeface="Arial MT"/>
                <a:cs typeface="Arial MT"/>
              </a:rPr>
              <a:t>Chip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236527" y="4405236"/>
            <a:ext cx="22459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Address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Range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of 3</a:t>
            </a:r>
            <a:r>
              <a:rPr sz="1200" spc="-7" baseline="24305" dirty="0">
                <a:latin typeface="Arial MT"/>
                <a:cs typeface="Arial MT"/>
              </a:rPr>
              <a:t>rd</a:t>
            </a:r>
            <a:r>
              <a:rPr sz="1200" spc="165" baseline="2430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RAM </a:t>
            </a:r>
            <a:r>
              <a:rPr sz="1200" spc="-10" dirty="0">
                <a:latin typeface="Arial MT"/>
                <a:cs typeface="Arial MT"/>
              </a:rPr>
              <a:t>Chip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472940" y="5052885"/>
            <a:ext cx="3016885" cy="695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0137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Address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Range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of</a:t>
            </a:r>
            <a:r>
              <a:rPr sz="120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4</a:t>
            </a:r>
            <a:r>
              <a:rPr sz="1200" spc="-7" baseline="24305" dirty="0">
                <a:latin typeface="Arial MT"/>
                <a:cs typeface="Arial MT"/>
              </a:rPr>
              <a:t>th</a:t>
            </a:r>
            <a:r>
              <a:rPr sz="1200" spc="165" baseline="2430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RAM </a:t>
            </a:r>
            <a:r>
              <a:rPr sz="1200" spc="-10" dirty="0">
                <a:latin typeface="Arial MT"/>
                <a:cs typeface="Arial MT"/>
              </a:rPr>
              <a:t>Chip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marL="25400">
              <a:lnSpc>
                <a:spcPct val="100000"/>
              </a:lnSpc>
              <a:spcBef>
                <a:spcPts val="1135"/>
              </a:spcBef>
            </a:pPr>
            <a:r>
              <a:rPr sz="1000" dirty="0">
                <a:latin typeface="Arial MT"/>
                <a:cs typeface="Arial MT"/>
              </a:rPr>
              <a:t>F7FF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96766" y="814069"/>
            <a:ext cx="194945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M</a:t>
            </a:r>
            <a:r>
              <a:rPr spc="-10" dirty="0"/>
              <a:t>e</a:t>
            </a:r>
            <a:r>
              <a:rPr spc="-5" dirty="0"/>
              <a:t>mory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1915199"/>
            <a:ext cx="7435215" cy="288163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78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To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execute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program:</a:t>
            </a:r>
            <a:endParaRPr sz="2800">
              <a:latin typeface="Times New Roman"/>
              <a:cs typeface="Times New Roman"/>
            </a:endParaRPr>
          </a:p>
          <a:p>
            <a:pPr marL="755650" marR="5080" lvl="1" indent="-286385">
              <a:lnSpc>
                <a:spcPct val="100000"/>
              </a:lnSpc>
              <a:spcBef>
                <a:spcPts val="585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the user enters its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instructions in binary format into the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memory.</a:t>
            </a:r>
            <a:endParaRPr sz="2400">
              <a:latin typeface="Times New Roman"/>
              <a:cs typeface="Times New Roman"/>
            </a:endParaRPr>
          </a:p>
          <a:p>
            <a:pPr marL="755650" marR="81280" lvl="1" indent="-286385">
              <a:lnSpc>
                <a:spcPct val="100000"/>
              </a:lnSpc>
              <a:spcBef>
                <a:spcPts val="575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The microprocessor then reads these instructions </a:t>
            </a:r>
            <a:r>
              <a:rPr sz="2400" dirty="0">
                <a:latin typeface="Times New Roman"/>
                <a:cs typeface="Times New Roman"/>
              </a:rPr>
              <a:t>and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whatever data is </a:t>
            </a:r>
            <a:r>
              <a:rPr sz="2400" dirty="0">
                <a:latin typeface="Times New Roman"/>
                <a:cs typeface="Times New Roman"/>
              </a:rPr>
              <a:t>needed </a:t>
            </a:r>
            <a:r>
              <a:rPr sz="2400" spc="-5" dirty="0">
                <a:latin typeface="Times New Roman"/>
                <a:cs typeface="Times New Roman"/>
              </a:rPr>
              <a:t>from </a:t>
            </a:r>
            <a:r>
              <a:rPr sz="2400" dirty="0">
                <a:latin typeface="Times New Roman"/>
                <a:cs typeface="Times New Roman"/>
              </a:rPr>
              <a:t>memory, </a:t>
            </a:r>
            <a:r>
              <a:rPr sz="2400" spc="-5" dirty="0">
                <a:latin typeface="Times New Roman"/>
                <a:cs typeface="Times New Roman"/>
              </a:rPr>
              <a:t>executes the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instructions </a:t>
            </a:r>
            <a:r>
              <a:rPr sz="2400" dirty="0">
                <a:latin typeface="Times New Roman"/>
                <a:cs typeface="Times New Roman"/>
              </a:rPr>
              <a:t>and </a:t>
            </a:r>
            <a:r>
              <a:rPr sz="2400" spc="-5" dirty="0">
                <a:latin typeface="Times New Roman"/>
                <a:cs typeface="Times New Roman"/>
              </a:rPr>
              <a:t>places the results either in </a:t>
            </a:r>
            <a:r>
              <a:rPr sz="2400" dirty="0">
                <a:latin typeface="Times New Roman"/>
                <a:cs typeface="Times New Roman"/>
              </a:rPr>
              <a:t>memory or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produces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output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device.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74850" marR="5080" indent="-1108075">
              <a:lnSpc>
                <a:spcPct val="100000"/>
              </a:lnSpc>
              <a:spcBef>
                <a:spcPts val="100"/>
              </a:spcBef>
            </a:pPr>
            <a:r>
              <a:rPr sz="4300" dirty="0"/>
              <a:t>The </a:t>
            </a:r>
            <a:r>
              <a:rPr sz="4300" spc="-5" dirty="0"/>
              <a:t>three cycle instruction </a:t>
            </a:r>
            <a:r>
              <a:rPr sz="4300" spc="-1060" dirty="0"/>
              <a:t> </a:t>
            </a:r>
            <a:r>
              <a:rPr sz="4300" spc="-5" dirty="0"/>
              <a:t>execution </a:t>
            </a:r>
            <a:r>
              <a:rPr sz="4300" dirty="0"/>
              <a:t>model</a:t>
            </a:r>
            <a:endParaRPr sz="4300"/>
          </a:p>
        </p:txBody>
      </p:sp>
      <p:sp>
        <p:nvSpPr>
          <p:cNvPr id="4" name="object 4"/>
          <p:cNvSpPr txBox="1"/>
          <p:nvPr/>
        </p:nvSpPr>
        <p:spPr>
          <a:xfrm>
            <a:off x="764540" y="1959355"/>
            <a:ext cx="7585709" cy="468947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marR="5080" indent="-342900" algn="just">
              <a:lnSpc>
                <a:spcPts val="3020"/>
              </a:lnSpc>
              <a:spcBef>
                <a:spcPts val="484"/>
              </a:spcBef>
              <a:buChar char="•"/>
              <a:tabLst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To execute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program,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microprocessor “reads”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each instruction </a:t>
            </a:r>
            <a:r>
              <a:rPr sz="2800" dirty="0">
                <a:latin typeface="Times New Roman"/>
                <a:cs typeface="Times New Roman"/>
              </a:rPr>
              <a:t>from </a:t>
            </a:r>
            <a:r>
              <a:rPr sz="2800" spc="-5" dirty="0">
                <a:latin typeface="Times New Roman"/>
                <a:cs typeface="Times New Roman"/>
              </a:rPr>
              <a:t>memory, “interprets” </a:t>
            </a:r>
            <a:r>
              <a:rPr sz="2800" dirty="0">
                <a:latin typeface="Times New Roman"/>
                <a:cs typeface="Times New Roman"/>
              </a:rPr>
              <a:t>it, </a:t>
            </a:r>
            <a:r>
              <a:rPr sz="2800" spc="-5" dirty="0">
                <a:latin typeface="Times New Roman"/>
                <a:cs typeface="Times New Roman"/>
              </a:rPr>
              <a:t>then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“executes”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it.</a:t>
            </a:r>
          </a:p>
          <a:p>
            <a:pPr>
              <a:lnSpc>
                <a:spcPct val="100000"/>
              </a:lnSpc>
              <a:spcBef>
                <a:spcPts val="25"/>
              </a:spcBef>
              <a:buFont typeface="Times New Roman"/>
              <a:buChar char="•"/>
            </a:pPr>
            <a:endParaRPr sz="3450" dirty="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To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right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names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cycles:</a:t>
            </a:r>
            <a:endParaRPr sz="2800" dirty="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295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microprocessor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fetches</a:t>
            </a:r>
            <a:r>
              <a:rPr sz="2400" b="1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each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instruction,</a:t>
            </a:r>
            <a:endParaRPr sz="2400" dirty="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290"/>
              </a:spcBef>
              <a:buFont typeface="Times New Roman"/>
              <a:buChar char="–"/>
              <a:tabLst>
                <a:tab pos="755015" algn="l"/>
                <a:tab pos="755650" algn="l"/>
              </a:tabLst>
            </a:pPr>
            <a:r>
              <a:rPr sz="24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decodes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it,</a:t>
            </a:r>
            <a:endParaRPr sz="2400" dirty="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285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spc="-5" dirty="0">
                <a:latin typeface="Times New Roman"/>
                <a:cs typeface="Times New Roman"/>
              </a:rPr>
              <a:t>Then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executes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it.</a:t>
            </a:r>
            <a:endParaRPr sz="2400" dirty="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Font typeface="Times New Roman"/>
              <a:buChar char="–"/>
            </a:pPr>
            <a:endParaRPr sz="3800" dirty="0">
              <a:latin typeface="Times New Roman"/>
              <a:cs typeface="Times New Roman"/>
            </a:endParaRPr>
          </a:p>
          <a:p>
            <a:pPr marL="355600" marR="457834" indent="-343535">
              <a:lnSpc>
                <a:spcPts val="3020"/>
              </a:lnSpc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This sequence </a:t>
            </a:r>
            <a:r>
              <a:rPr sz="2800" dirty="0">
                <a:latin typeface="Times New Roman"/>
                <a:cs typeface="Times New Roman"/>
              </a:rPr>
              <a:t>is </a:t>
            </a:r>
            <a:r>
              <a:rPr sz="2800" spc="-5" dirty="0">
                <a:latin typeface="Times New Roman"/>
                <a:cs typeface="Times New Roman"/>
              </a:rPr>
              <a:t>continued </a:t>
            </a:r>
            <a:r>
              <a:rPr sz="2800" dirty="0">
                <a:latin typeface="Times New Roman"/>
                <a:cs typeface="Times New Roman"/>
              </a:rPr>
              <a:t>until </a:t>
            </a:r>
            <a:r>
              <a:rPr sz="2800" spc="-5" dirty="0">
                <a:latin typeface="Times New Roman"/>
                <a:cs typeface="Times New Roman"/>
              </a:rPr>
              <a:t>all instructions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are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performed.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11095" y="0"/>
            <a:ext cx="432117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Machine</a:t>
            </a:r>
            <a:r>
              <a:rPr spc="-80" dirty="0"/>
              <a:t> </a:t>
            </a:r>
            <a:r>
              <a:rPr spc="-5" dirty="0"/>
              <a:t>Language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39140" y="892555"/>
            <a:ext cx="7639050" cy="579945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81000" marR="847090" indent="-343535">
              <a:lnSpc>
                <a:spcPts val="3020"/>
              </a:lnSpc>
              <a:spcBef>
                <a:spcPts val="484"/>
              </a:spcBef>
              <a:buChar char="•"/>
              <a:tabLst>
                <a:tab pos="381000" algn="l"/>
                <a:tab pos="381635" algn="l"/>
              </a:tabLst>
            </a:pP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number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 bits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that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form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“word”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microprocessor </a:t>
            </a:r>
            <a:r>
              <a:rPr sz="2800" dirty="0">
                <a:latin typeface="Times New Roman"/>
                <a:cs typeface="Times New Roman"/>
              </a:rPr>
              <a:t>is </a:t>
            </a:r>
            <a:r>
              <a:rPr sz="2800" spc="-5" dirty="0">
                <a:latin typeface="Times New Roman"/>
                <a:cs typeface="Times New Roman"/>
              </a:rPr>
              <a:t>fixed </a:t>
            </a:r>
            <a:r>
              <a:rPr sz="2800" dirty="0">
                <a:latin typeface="Times New Roman"/>
                <a:cs typeface="Times New Roman"/>
              </a:rPr>
              <a:t>for </a:t>
            </a:r>
            <a:r>
              <a:rPr sz="2800" spc="-5" dirty="0">
                <a:latin typeface="Times New Roman"/>
                <a:cs typeface="Times New Roman"/>
              </a:rPr>
              <a:t>that particular 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processor.</a:t>
            </a:r>
            <a:endParaRPr sz="2800">
              <a:latin typeface="Times New Roman"/>
              <a:cs typeface="Times New Roman"/>
            </a:endParaRPr>
          </a:p>
          <a:p>
            <a:pPr marL="781050" lvl="1" indent="-286385">
              <a:lnSpc>
                <a:spcPct val="100000"/>
              </a:lnSpc>
              <a:spcBef>
                <a:spcPts val="260"/>
              </a:spcBef>
              <a:buChar char="–"/>
              <a:tabLst>
                <a:tab pos="781050" algn="l"/>
                <a:tab pos="781685" algn="l"/>
              </a:tabLst>
            </a:pPr>
            <a:r>
              <a:rPr sz="2400" spc="-5" dirty="0">
                <a:latin typeface="Times New Roman"/>
                <a:cs typeface="Times New Roman"/>
              </a:rPr>
              <a:t>These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bits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define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maximum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number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combinations.</a:t>
            </a:r>
            <a:endParaRPr sz="2400">
              <a:latin typeface="Times New Roman"/>
              <a:cs typeface="Times New Roman"/>
            </a:endParaRPr>
          </a:p>
          <a:p>
            <a:pPr marL="1180465" marR="39370" lvl="2" indent="-228600">
              <a:lnSpc>
                <a:spcPts val="2160"/>
              </a:lnSpc>
              <a:spcBef>
                <a:spcPts val="530"/>
              </a:spcBef>
              <a:buChar char="•"/>
              <a:tabLst>
                <a:tab pos="1180465" algn="l"/>
                <a:tab pos="1181100" algn="l"/>
              </a:tabLst>
            </a:pPr>
            <a:r>
              <a:rPr sz="2000" spc="-5" dirty="0">
                <a:latin typeface="Times New Roman"/>
                <a:cs typeface="Times New Roman"/>
              </a:rPr>
              <a:t>For example an </a:t>
            </a:r>
            <a:r>
              <a:rPr sz="2000" dirty="0">
                <a:latin typeface="Times New Roman"/>
                <a:cs typeface="Times New Roman"/>
              </a:rPr>
              <a:t>8-bit </a:t>
            </a:r>
            <a:r>
              <a:rPr sz="2000" spc="-5" dirty="0">
                <a:latin typeface="Times New Roman"/>
                <a:cs typeface="Times New Roman"/>
              </a:rPr>
              <a:t>microprocessor can have at most </a:t>
            </a:r>
            <a:r>
              <a:rPr sz="2000" spc="20" dirty="0">
                <a:latin typeface="Times New Roman"/>
                <a:cs typeface="Times New Roman"/>
              </a:rPr>
              <a:t>2</a:t>
            </a:r>
            <a:r>
              <a:rPr sz="1950" spc="30" baseline="25641" dirty="0">
                <a:latin typeface="Times New Roman"/>
                <a:cs typeface="Times New Roman"/>
              </a:rPr>
              <a:t>8 </a:t>
            </a:r>
            <a:r>
              <a:rPr sz="2000" spc="-5" dirty="0">
                <a:latin typeface="Times New Roman"/>
                <a:cs typeface="Times New Roman"/>
              </a:rPr>
              <a:t>= 256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different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combinations.</a:t>
            </a:r>
            <a:endParaRPr sz="200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25"/>
              </a:spcBef>
              <a:buFont typeface="Times New Roman"/>
              <a:buChar char="•"/>
            </a:pPr>
            <a:endParaRPr sz="2850">
              <a:latin typeface="Times New Roman"/>
              <a:cs typeface="Times New Roman"/>
            </a:endParaRPr>
          </a:p>
          <a:p>
            <a:pPr marL="381000" marR="17780" indent="-343535">
              <a:lnSpc>
                <a:spcPts val="3020"/>
              </a:lnSpc>
              <a:buChar char="•"/>
              <a:tabLst>
                <a:tab pos="381000" algn="l"/>
                <a:tab pos="381635" algn="l"/>
              </a:tabLst>
            </a:pPr>
            <a:r>
              <a:rPr sz="2800" spc="-5" dirty="0">
                <a:latin typeface="Times New Roman"/>
                <a:cs typeface="Times New Roman"/>
              </a:rPr>
              <a:t>However, </a:t>
            </a:r>
            <a:r>
              <a:rPr sz="2800" dirty="0">
                <a:latin typeface="Times New Roman"/>
                <a:cs typeface="Times New Roman"/>
              </a:rPr>
              <a:t>in </a:t>
            </a:r>
            <a:r>
              <a:rPr sz="2800" spc="-5" dirty="0">
                <a:latin typeface="Times New Roman"/>
                <a:cs typeface="Times New Roman"/>
              </a:rPr>
              <a:t>most microprocessors, </a:t>
            </a:r>
            <a:r>
              <a:rPr sz="2800" dirty="0">
                <a:latin typeface="Times New Roman"/>
                <a:cs typeface="Times New Roman"/>
              </a:rPr>
              <a:t>not </a:t>
            </a:r>
            <a:r>
              <a:rPr sz="2800" spc="-5" dirty="0">
                <a:latin typeface="Times New Roman"/>
                <a:cs typeface="Times New Roman"/>
              </a:rPr>
              <a:t>all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5" dirty="0">
                <a:latin typeface="Times New Roman"/>
                <a:cs typeface="Times New Roman"/>
              </a:rPr>
              <a:t>these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combinations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are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used.</a:t>
            </a:r>
            <a:endParaRPr sz="2800">
              <a:latin typeface="Times New Roman"/>
              <a:cs typeface="Times New Roman"/>
            </a:endParaRPr>
          </a:p>
          <a:p>
            <a:pPr marL="780415" marR="386715" lvl="1" indent="-285750">
              <a:lnSpc>
                <a:spcPts val="2810"/>
              </a:lnSpc>
              <a:spcBef>
                <a:spcPts val="625"/>
              </a:spcBef>
              <a:buChar char="–"/>
              <a:tabLst>
                <a:tab pos="781050" algn="l"/>
              </a:tabLst>
            </a:pPr>
            <a:r>
              <a:rPr sz="2600" spc="-5" dirty="0">
                <a:latin typeface="Times New Roman"/>
                <a:cs typeface="Times New Roman"/>
              </a:rPr>
              <a:t>Certain patterns are chosen and assigned specific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meanings.</a:t>
            </a:r>
            <a:endParaRPr sz="2600">
              <a:latin typeface="Times New Roman"/>
              <a:cs typeface="Times New Roman"/>
            </a:endParaRPr>
          </a:p>
          <a:p>
            <a:pPr marL="780415" marR="256540" lvl="1" indent="-285750">
              <a:lnSpc>
                <a:spcPts val="2810"/>
              </a:lnSpc>
              <a:spcBef>
                <a:spcPts val="620"/>
              </a:spcBef>
              <a:buChar char="–"/>
              <a:tabLst>
                <a:tab pos="781050" algn="l"/>
              </a:tabLst>
            </a:pPr>
            <a:r>
              <a:rPr sz="2600" spc="-5" dirty="0">
                <a:latin typeface="Times New Roman"/>
                <a:cs typeface="Times New Roman"/>
              </a:rPr>
              <a:t>Each of these patterns forms an instruction for the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microprocessor.</a:t>
            </a:r>
            <a:endParaRPr sz="2600">
              <a:latin typeface="Times New Roman"/>
              <a:cs typeface="Times New Roman"/>
            </a:endParaRPr>
          </a:p>
          <a:p>
            <a:pPr marL="780415" marR="1290320" lvl="1" indent="-285750">
              <a:lnSpc>
                <a:spcPts val="2810"/>
              </a:lnSpc>
              <a:spcBef>
                <a:spcPts val="620"/>
              </a:spcBef>
              <a:buChar char="–"/>
              <a:tabLst>
                <a:tab pos="781050" algn="l"/>
              </a:tabLst>
            </a:pPr>
            <a:r>
              <a:rPr sz="2600" spc="-5" dirty="0">
                <a:latin typeface="Times New Roman"/>
                <a:cs typeface="Times New Roman"/>
              </a:rPr>
              <a:t>The complete set of patterns makes up the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microprocessor’s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machine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language.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78032" y="814069"/>
            <a:ext cx="658749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The</a:t>
            </a:r>
            <a:r>
              <a:rPr spc="-30" dirty="0"/>
              <a:t> </a:t>
            </a:r>
            <a:r>
              <a:rPr spc="-5" dirty="0"/>
              <a:t>8085</a:t>
            </a:r>
            <a:r>
              <a:rPr spc="-15" dirty="0"/>
              <a:t> </a:t>
            </a:r>
            <a:r>
              <a:rPr spc="-5" dirty="0"/>
              <a:t>Machine</a:t>
            </a:r>
            <a:r>
              <a:rPr spc="-15" dirty="0"/>
              <a:t> </a:t>
            </a:r>
            <a:r>
              <a:rPr spc="-5" dirty="0"/>
              <a:t>Language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1915229"/>
            <a:ext cx="7512050" cy="4590415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450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8085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(from</a:t>
            </a:r>
            <a:r>
              <a:rPr sz="2800" spc="-5" dirty="0">
                <a:latin typeface="Times New Roman"/>
                <a:cs typeface="Times New Roman"/>
              </a:rPr>
              <a:t> Intel)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8-bit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microprocessor.</a:t>
            </a:r>
            <a:endParaRPr sz="2800">
              <a:latin typeface="Times New Roman"/>
              <a:cs typeface="Times New Roman"/>
            </a:endParaRPr>
          </a:p>
          <a:p>
            <a:pPr marL="755650" marR="518159" lvl="1" indent="-286385">
              <a:lnSpc>
                <a:spcPts val="2590"/>
              </a:lnSpc>
              <a:spcBef>
                <a:spcPts val="625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8085 </a:t>
            </a:r>
            <a:r>
              <a:rPr sz="2400" spc="-5" dirty="0">
                <a:latin typeface="Times New Roman"/>
                <a:cs typeface="Times New Roman"/>
              </a:rPr>
              <a:t>uses </a:t>
            </a:r>
            <a:r>
              <a:rPr sz="2400" dirty="0">
                <a:latin typeface="Times New Roman"/>
                <a:cs typeface="Times New Roman"/>
              </a:rPr>
              <a:t>a total of 246 </a:t>
            </a:r>
            <a:r>
              <a:rPr sz="2400" spc="-5" dirty="0">
                <a:latin typeface="Times New Roman"/>
                <a:cs typeface="Times New Roman"/>
              </a:rPr>
              <a:t>bit patterns to form its </a:t>
            </a:r>
            <a:r>
              <a:rPr sz="2400" spc="-59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instruction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set.</a:t>
            </a:r>
            <a:endParaRPr sz="2400">
              <a:latin typeface="Times New Roman"/>
              <a:cs typeface="Times New Roman"/>
            </a:endParaRPr>
          </a:p>
          <a:p>
            <a:pPr marL="755650" lvl="1" indent="-287020">
              <a:lnSpc>
                <a:spcPct val="100000"/>
              </a:lnSpc>
              <a:spcBef>
                <a:spcPts val="250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These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246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patterns represent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only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74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instructions.</a:t>
            </a:r>
            <a:endParaRPr sz="2400">
              <a:latin typeface="Times New Roman"/>
              <a:cs typeface="Times New Roman"/>
            </a:endParaRPr>
          </a:p>
          <a:p>
            <a:pPr marL="1155065" marR="546100" lvl="2" indent="-228600">
              <a:lnSpc>
                <a:spcPts val="2160"/>
              </a:lnSpc>
              <a:spcBef>
                <a:spcPts val="530"/>
              </a:spcBef>
              <a:buChar char="•"/>
              <a:tabLst>
                <a:tab pos="1155065" algn="l"/>
                <a:tab pos="1155700" algn="l"/>
              </a:tabLst>
            </a:pPr>
            <a:r>
              <a:rPr sz="2000" spc="-5" dirty="0">
                <a:latin typeface="Times New Roman"/>
                <a:cs typeface="Times New Roman"/>
              </a:rPr>
              <a:t>The reason for the difference is that some (actually most)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instructions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have multiple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different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formats.</a:t>
            </a:r>
            <a:endParaRPr sz="200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55"/>
              </a:spcBef>
              <a:buFont typeface="Times New Roman"/>
              <a:buChar char="•"/>
            </a:pPr>
            <a:endParaRPr sz="3200">
              <a:latin typeface="Times New Roman"/>
              <a:cs typeface="Times New Roman"/>
            </a:endParaRPr>
          </a:p>
          <a:p>
            <a:pPr marL="755650" marR="659130" lvl="1" indent="-286385" algn="just">
              <a:lnSpc>
                <a:spcPts val="2590"/>
              </a:lnSpc>
              <a:buChar char="–"/>
              <a:tabLst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Because it is </a:t>
            </a:r>
            <a:r>
              <a:rPr sz="2400" dirty="0">
                <a:latin typeface="Times New Roman"/>
                <a:cs typeface="Times New Roman"/>
              </a:rPr>
              <a:t>very </a:t>
            </a:r>
            <a:r>
              <a:rPr sz="2400" spc="-5" dirty="0">
                <a:latin typeface="Times New Roman"/>
                <a:cs typeface="Times New Roman"/>
              </a:rPr>
              <a:t>difficult to enter the bit patterns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correctly, they are usually entered in hexadecimal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instead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binary.</a:t>
            </a:r>
            <a:endParaRPr sz="2400">
              <a:latin typeface="Times New Roman"/>
              <a:cs typeface="Times New Roman"/>
            </a:endParaRPr>
          </a:p>
          <a:p>
            <a:pPr marL="1155700" marR="5080" lvl="2" indent="-229235" algn="just">
              <a:lnSpc>
                <a:spcPts val="2160"/>
              </a:lnSpc>
              <a:spcBef>
                <a:spcPts val="495"/>
              </a:spcBef>
              <a:buChar char="•"/>
              <a:tabLst>
                <a:tab pos="1156335" algn="l"/>
              </a:tabLst>
            </a:pPr>
            <a:r>
              <a:rPr sz="2000" spc="-5" dirty="0">
                <a:latin typeface="Times New Roman"/>
                <a:cs typeface="Times New Roman"/>
              </a:rPr>
              <a:t>For example, the combination 0011 1100 which translates into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“increment the number in the register called the accumulator”,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usually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entered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as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3C.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70156" y="814069"/>
            <a:ext cx="460375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Assembly</a:t>
            </a:r>
            <a:r>
              <a:rPr spc="-50" dirty="0"/>
              <a:t> </a:t>
            </a:r>
            <a:r>
              <a:rPr spc="-5" dirty="0"/>
              <a:t>Language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2002789"/>
            <a:ext cx="7208520" cy="34353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1016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2600" spc="-5" dirty="0">
                <a:latin typeface="Times New Roman"/>
                <a:cs typeface="Times New Roman"/>
              </a:rPr>
              <a:t>Entering the instructions using hexadecimal is quite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easier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than entering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binary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combinations.</a:t>
            </a:r>
            <a:endParaRPr sz="2600">
              <a:latin typeface="Times New Roman"/>
              <a:cs typeface="Times New Roman"/>
            </a:endParaRPr>
          </a:p>
          <a:p>
            <a:pPr marL="755650" marR="5080" lvl="1" indent="-286385">
              <a:lnSpc>
                <a:spcPct val="100000"/>
              </a:lnSpc>
              <a:spcBef>
                <a:spcPts val="545"/>
              </a:spcBef>
              <a:buChar char="–"/>
              <a:tabLst>
                <a:tab pos="755015" algn="l"/>
                <a:tab pos="756285" algn="l"/>
              </a:tabLst>
            </a:pPr>
            <a:r>
              <a:rPr sz="2200" dirty="0">
                <a:latin typeface="Times New Roman"/>
                <a:cs typeface="Times New Roman"/>
              </a:rPr>
              <a:t>However,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 still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difficult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understand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what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program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written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hexadecimal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does.</a:t>
            </a:r>
            <a:endParaRPr sz="2200">
              <a:latin typeface="Times New Roman"/>
              <a:cs typeface="Times New Roman"/>
            </a:endParaRPr>
          </a:p>
          <a:p>
            <a:pPr marL="755650" marR="836294" lvl="1" indent="-286385">
              <a:lnSpc>
                <a:spcPct val="100000"/>
              </a:lnSpc>
              <a:spcBef>
                <a:spcPts val="530"/>
              </a:spcBef>
              <a:buChar char="–"/>
              <a:tabLst>
                <a:tab pos="755015" algn="l"/>
                <a:tab pos="755650" algn="l"/>
              </a:tabLst>
            </a:pPr>
            <a:r>
              <a:rPr sz="2200" dirty="0">
                <a:latin typeface="Times New Roman"/>
                <a:cs typeface="Times New Roman"/>
              </a:rPr>
              <a:t>So,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each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company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defines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symbolic</a:t>
            </a:r>
            <a:r>
              <a:rPr sz="2200" u="heavy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code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for </a:t>
            </a:r>
            <a:r>
              <a:rPr sz="2200" dirty="0">
                <a:latin typeface="Times New Roman"/>
                <a:cs typeface="Times New Roman"/>
              </a:rPr>
              <a:t>the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instructions.</a:t>
            </a:r>
            <a:endParaRPr sz="22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525"/>
              </a:spcBef>
              <a:buChar char="–"/>
              <a:tabLst>
                <a:tab pos="755015" algn="l"/>
                <a:tab pos="755650" algn="l"/>
              </a:tabLst>
            </a:pPr>
            <a:r>
              <a:rPr sz="2200" spc="-5" dirty="0">
                <a:latin typeface="Times New Roman"/>
                <a:cs typeface="Times New Roman"/>
              </a:rPr>
              <a:t>These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codes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are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called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“</a:t>
            </a:r>
            <a:r>
              <a:rPr sz="22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mnemonics</a:t>
            </a:r>
            <a:r>
              <a:rPr sz="2200" dirty="0">
                <a:latin typeface="Times New Roman"/>
                <a:cs typeface="Times New Roman"/>
              </a:rPr>
              <a:t>”.</a:t>
            </a:r>
            <a:endParaRPr sz="2200">
              <a:latin typeface="Times New Roman"/>
              <a:cs typeface="Times New Roman"/>
            </a:endParaRPr>
          </a:p>
          <a:p>
            <a:pPr marL="755650" marR="170815" lvl="1" indent="-285750">
              <a:lnSpc>
                <a:spcPct val="100000"/>
              </a:lnSpc>
              <a:spcBef>
                <a:spcPts val="530"/>
              </a:spcBef>
              <a:buChar char="–"/>
              <a:tabLst>
                <a:tab pos="755015" algn="l"/>
                <a:tab pos="755650" algn="l"/>
              </a:tabLst>
            </a:pPr>
            <a:r>
              <a:rPr sz="2200" spc="-5" dirty="0">
                <a:latin typeface="Times New Roman"/>
                <a:cs typeface="Times New Roman"/>
              </a:rPr>
              <a:t>The mnemonic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for</a:t>
            </a:r>
            <a:r>
              <a:rPr sz="2200" dirty="0">
                <a:latin typeface="Times New Roman"/>
                <a:cs typeface="Times New Roman"/>
              </a:rPr>
              <a:t> each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instruction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usually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5" dirty="0">
                <a:latin typeface="Times New Roman"/>
                <a:cs typeface="Times New Roman"/>
              </a:rPr>
              <a:t> group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letters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suggest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operation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performed.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70156" y="814069"/>
            <a:ext cx="460375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Assembly</a:t>
            </a:r>
            <a:r>
              <a:rPr spc="-50" dirty="0"/>
              <a:t> </a:t>
            </a:r>
            <a:r>
              <a:rPr spc="-5" dirty="0"/>
              <a:t>Language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1921450"/>
            <a:ext cx="7554595" cy="408686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425"/>
              </a:spcBef>
              <a:buChar char="•"/>
              <a:tabLst>
                <a:tab pos="354965" algn="l"/>
                <a:tab pos="355600" algn="l"/>
              </a:tabLst>
            </a:pPr>
            <a:r>
              <a:rPr sz="2600" spc="-5" dirty="0">
                <a:latin typeface="Times New Roman"/>
                <a:cs typeface="Times New Roman"/>
              </a:rPr>
              <a:t>Using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same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example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from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before,</a:t>
            </a:r>
            <a:endParaRPr sz="26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280"/>
              </a:spcBef>
              <a:buChar char="–"/>
              <a:tabLst>
                <a:tab pos="755015" algn="l"/>
                <a:tab pos="756285" algn="l"/>
              </a:tabLst>
            </a:pPr>
            <a:r>
              <a:rPr sz="2200" spc="-5" dirty="0">
                <a:latin typeface="Times New Roman"/>
                <a:cs typeface="Times New Roman"/>
              </a:rPr>
              <a:t>00111100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translates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3C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hexadecimal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(OPCODE)</a:t>
            </a:r>
            <a:endParaRPr sz="2200">
              <a:latin typeface="Times New Roman"/>
              <a:cs typeface="Times New Roman"/>
            </a:endParaRPr>
          </a:p>
          <a:p>
            <a:pPr marL="755015" lvl="1" indent="-286385">
              <a:lnSpc>
                <a:spcPct val="100000"/>
              </a:lnSpc>
              <a:spcBef>
                <a:spcPts val="265"/>
              </a:spcBef>
              <a:buChar char="–"/>
              <a:tabLst>
                <a:tab pos="755015" algn="l"/>
                <a:tab pos="755650" algn="l"/>
              </a:tabLst>
            </a:pPr>
            <a:r>
              <a:rPr sz="2200" spc="-5" dirty="0">
                <a:latin typeface="Times New Roman"/>
                <a:cs typeface="Times New Roman"/>
              </a:rPr>
              <a:t>Its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mnemonic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is: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“INR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A”.</a:t>
            </a:r>
            <a:endParaRPr sz="2200">
              <a:latin typeface="Times New Roman"/>
              <a:cs typeface="Times New Roman"/>
            </a:endParaRPr>
          </a:p>
          <a:p>
            <a:pPr marL="755650" marR="780415" lvl="1" indent="-286385">
              <a:lnSpc>
                <a:spcPts val="2380"/>
              </a:lnSpc>
              <a:spcBef>
                <a:spcPts val="560"/>
              </a:spcBef>
              <a:buChar char="–"/>
              <a:tabLst>
                <a:tab pos="755015" algn="l"/>
                <a:tab pos="755650" algn="l"/>
              </a:tabLst>
            </a:pPr>
            <a:r>
              <a:rPr sz="2200" spc="-5" dirty="0">
                <a:latin typeface="Times New Roman"/>
                <a:cs typeface="Times New Roman"/>
              </a:rPr>
              <a:t>INR </a:t>
            </a:r>
            <a:r>
              <a:rPr sz="2200" dirty="0">
                <a:latin typeface="Times New Roman"/>
                <a:cs typeface="Times New Roman"/>
              </a:rPr>
              <a:t>stands </a:t>
            </a:r>
            <a:r>
              <a:rPr sz="2200" spc="-5" dirty="0">
                <a:latin typeface="Times New Roman"/>
                <a:cs typeface="Times New Roman"/>
              </a:rPr>
              <a:t>for “increment register” </a:t>
            </a:r>
            <a:r>
              <a:rPr sz="2200" dirty="0">
                <a:latin typeface="Times New Roman"/>
                <a:cs typeface="Times New Roman"/>
              </a:rPr>
              <a:t>and A is </a:t>
            </a:r>
            <a:r>
              <a:rPr sz="2200" spc="-5" dirty="0">
                <a:latin typeface="Times New Roman"/>
                <a:cs typeface="Times New Roman"/>
              </a:rPr>
              <a:t>short for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accumulator.</a:t>
            </a:r>
            <a:endParaRPr sz="22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Font typeface="Times New Roman"/>
              <a:buChar char="–"/>
            </a:pPr>
            <a:endParaRPr sz="2700">
              <a:latin typeface="Times New Roman"/>
              <a:cs typeface="Times New Roman"/>
            </a:endParaRPr>
          </a:p>
          <a:p>
            <a:pPr marL="354965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2600" spc="-5" dirty="0">
                <a:latin typeface="Times New Roman"/>
                <a:cs typeface="Times New Roman"/>
              </a:rPr>
              <a:t>Another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example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is: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1000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0000,</a:t>
            </a:r>
            <a:endParaRPr sz="26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280"/>
              </a:spcBef>
              <a:buChar char="–"/>
              <a:tabLst>
                <a:tab pos="755015" algn="l"/>
                <a:tab pos="756285" algn="l"/>
              </a:tabLst>
            </a:pP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translates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80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hexadecimal.</a:t>
            </a:r>
            <a:endParaRPr sz="2200">
              <a:latin typeface="Times New Roman"/>
              <a:cs typeface="Times New Roman"/>
            </a:endParaRPr>
          </a:p>
          <a:p>
            <a:pPr marL="755650" lvl="1" indent="-287020">
              <a:lnSpc>
                <a:spcPct val="100000"/>
              </a:lnSpc>
              <a:spcBef>
                <a:spcPts val="265"/>
              </a:spcBef>
              <a:buChar char="–"/>
              <a:tabLst>
                <a:tab pos="755015" algn="l"/>
                <a:tab pos="756285" algn="l"/>
              </a:tabLst>
            </a:pPr>
            <a:r>
              <a:rPr sz="2200" spc="-5" dirty="0">
                <a:latin typeface="Times New Roman"/>
                <a:cs typeface="Times New Roman"/>
              </a:rPr>
              <a:t>Its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mnemonic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“ADD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B”.</a:t>
            </a:r>
            <a:endParaRPr sz="2200">
              <a:latin typeface="Times New Roman"/>
              <a:cs typeface="Times New Roman"/>
            </a:endParaRPr>
          </a:p>
          <a:p>
            <a:pPr marL="755650" marR="5080" lvl="1" indent="-286385">
              <a:lnSpc>
                <a:spcPts val="2380"/>
              </a:lnSpc>
              <a:spcBef>
                <a:spcPts val="560"/>
              </a:spcBef>
              <a:buChar char="–"/>
              <a:tabLst>
                <a:tab pos="755015" algn="l"/>
                <a:tab pos="756285" algn="l"/>
              </a:tabLst>
            </a:pPr>
            <a:r>
              <a:rPr sz="2200" dirty="0">
                <a:latin typeface="Times New Roman"/>
                <a:cs typeface="Times New Roman"/>
              </a:rPr>
              <a:t>“Add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register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accumulator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keep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result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accumulator”.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70156" y="814069"/>
            <a:ext cx="460375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Assembly</a:t>
            </a:r>
            <a:r>
              <a:rPr spc="-50" dirty="0"/>
              <a:t> </a:t>
            </a:r>
            <a:r>
              <a:rPr spc="-5" dirty="0"/>
              <a:t>Language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1959355"/>
            <a:ext cx="7522209" cy="473964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marR="5080" indent="-342900">
              <a:lnSpc>
                <a:spcPts val="3020"/>
              </a:lnSpc>
              <a:spcBef>
                <a:spcPts val="484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It is </a:t>
            </a:r>
            <a:r>
              <a:rPr sz="2800" spc="-5" dirty="0">
                <a:latin typeface="Times New Roman"/>
                <a:cs typeface="Times New Roman"/>
              </a:rPr>
              <a:t>important </a:t>
            </a:r>
            <a:r>
              <a:rPr sz="2800" dirty="0">
                <a:latin typeface="Times New Roman"/>
                <a:cs typeface="Times New Roman"/>
              </a:rPr>
              <a:t>to </a:t>
            </a:r>
            <a:r>
              <a:rPr sz="2800" spc="-5" dirty="0">
                <a:latin typeface="Times New Roman"/>
                <a:cs typeface="Times New Roman"/>
              </a:rPr>
              <a:t>remember that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machine 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language and </a:t>
            </a:r>
            <a:r>
              <a:rPr sz="2800" dirty="0">
                <a:latin typeface="Times New Roman"/>
                <a:cs typeface="Times New Roman"/>
              </a:rPr>
              <a:t>its </a:t>
            </a:r>
            <a:r>
              <a:rPr sz="2800" spc="-5" dirty="0">
                <a:latin typeface="Times New Roman"/>
                <a:cs typeface="Times New Roman"/>
              </a:rPr>
              <a:t>associated assembly language are </a:t>
            </a:r>
            <a:r>
              <a:rPr sz="2800" spc="-685" dirty="0">
                <a:solidFill>
                  <a:srgbClr val="800000"/>
                </a:solidFill>
                <a:latin typeface="Times New Roman"/>
                <a:cs typeface="Times New Roman"/>
              </a:rPr>
              <a:t> </a:t>
            </a:r>
            <a:r>
              <a:rPr sz="2800" u="heavy" spc="-5" dirty="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  <a:latin typeface="Times New Roman"/>
                <a:cs typeface="Times New Roman"/>
              </a:rPr>
              <a:t>completely</a:t>
            </a:r>
            <a:r>
              <a:rPr sz="2800" u="heavy" spc="-30" dirty="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u="heavy" spc="-5" dirty="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  <a:latin typeface="Times New Roman"/>
                <a:cs typeface="Times New Roman"/>
              </a:rPr>
              <a:t>machine</a:t>
            </a:r>
            <a:r>
              <a:rPr sz="2800" u="heavy" spc="-35" dirty="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u="heavy" spc="-5" dirty="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  <a:latin typeface="Times New Roman"/>
                <a:cs typeface="Times New Roman"/>
              </a:rPr>
              <a:t>dependent</a:t>
            </a:r>
            <a:r>
              <a:rPr sz="2800" spc="-5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  <a:p>
            <a:pPr marL="755650" marR="698500" lvl="1" indent="-285750">
              <a:lnSpc>
                <a:spcPts val="2590"/>
              </a:lnSpc>
              <a:spcBef>
                <a:spcPts val="590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spc="-5" dirty="0">
                <a:latin typeface="Times New Roman"/>
                <a:cs typeface="Times New Roman"/>
              </a:rPr>
              <a:t>In other words, they are </a:t>
            </a:r>
            <a:r>
              <a:rPr sz="2400" dirty="0">
                <a:latin typeface="Times New Roman"/>
                <a:cs typeface="Times New Roman"/>
              </a:rPr>
              <a:t>not </a:t>
            </a:r>
            <a:r>
              <a:rPr sz="2400" spc="-5" dirty="0">
                <a:latin typeface="Times New Roman"/>
                <a:cs typeface="Times New Roman"/>
              </a:rPr>
              <a:t>transferable from </a:t>
            </a:r>
            <a:r>
              <a:rPr sz="2400" dirty="0">
                <a:latin typeface="Times New Roman"/>
                <a:cs typeface="Times New Roman"/>
              </a:rPr>
              <a:t>one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microprocessor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 different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one.</a:t>
            </a:r>
            <a:endParaRPr sz="2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buFont typeface="Times New Roman"/>
              <a:buChar char="–"/>
            </a:pPr>
            <a:endParaRPr sz="3800">
              <a:latin typeface="Times New Roman"/>
              <a:cs typeface="Times New Roman"/>
            </a:endParaRPr>
          </a:p>
          <a:p>
            <a:pPr marL="355600" marR="2026285" indent="-343535">
              <a:lnSpc>
                <a:spcPts val="3020"/>
              </a:lnSpc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latin typeface="Times New Roman"/>
                <a:cs typeface="Times New Roman"/>
              </a:rPr>
              <a:t>For </a:t>
            </a:r>
            <a:r>
              <a:rPr sz="2800" spc="-5" dirty="0">
                <a:latin typeface="Times New Roman"/>
                <a:cs typeface="Times New Roman"/>
              </a:rPr>
              <a:t>example, Motorolla has an </a:t>
            </a:r>
            <a:r>
              <a:rPr sz="2800" dirty="0">
                <a:latin typeface="Times New Roman"/>
                <a:cs typeface="Times New Roman"/>
              </a:rPr>
              <a:t>8-bit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microprocessor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called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6800.</a:t>
            </a:r>
            <a:endParaRPr sz="2800">
              <a:latin typeface="Times New Roman"/>
              <a:cs typeface="Times New Roman"/>
            </a:endParaRPr>
          </a:p>
          <a:p>
            <a:pPr marL="755650" marR="99060" lvl="1" indent="-286385">
              <a:lnSpc>
                <a:spcPts val="2590"/>
              </a:lnSpc>
              <a:spcBef>
                <a:spcPts val="585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8085 </a:t>
            </a:r>
            <a:r>
              <a:rPr sz="2400" spc="-5" dirty="0">
                <a:latin typeface="Times New Roman"/>
                <a:cs typeface="Times New Roman"/>
              </a:rPr>
              <a:t>machine language is very different from that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6800.</a:t>
            </a:r>
            <a:r>
              <a:rPr sz="2400" spc="-5" dirty="0">
                <a:latin typeface="Times New Roman"/>
                <a:cs typeface="Times New Roman"/>
              </a:rPr>
              <a:t> So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 the assembly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language.</a:t>
            </a:r>
            <a:endParaRPr sz="2400">
              <a:latin typeface="Times New Roman"/>
              <a:cs typeface="Times New Roman"/>
            </a:endParaRPr>
          </a:p>
          <a:p>
            <a:pPr marL="755650" marR="139700" lvl="1" indent="-286385">
              <a:lnSpc>
                <a:spcPts val="2590"/>
              </a:lnSpc>
              <a:spcBef>
                <a:spcPts val="580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program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written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for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8085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cannot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5" dirty="0">
                <a:latin typeface="Times New Roman"/>
                <a:cs typeface="Times New Roman"/>
              </a:rPr>
              <a:t> executed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6800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vice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versa.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1100" y="814069"/>
            <a:ext cx="626173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“Assembling”</a:t>
            </a:r>
            <a:r>
              <a:rPr spc="-20" dirty="0"/>
              <a:t> </a:t>
            </a:r>
            <a:r>
              <a:rPr spc="-5" dirty="0"/>
              <a:t>The</a:t>
            </a:r>
            <a:r>
              <a:rPr spc="-30" dirty="0"/>
              <a:t> </a:t>
            </a:r>
            <a:r>
              <a:rPr spc="-5" dirty="0"/>
              <a:t>Program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39140" y="2002027"/>
            <a:ext cx="7633970" cy="3538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0" marR="401955" indent="-343535">
              <a:lnSpc>
                <a:spcPct val="100000"/>
              </a:lnSpc>
              <a:spcBef>
                <a:spcPts val="100"/>
              </a:spcBef>
              <a:buChar char="•"/>
              <a:tabLst>
                <a:tab pos="381000" algn="l"/>
                <a:tab pos="381635" algn="l"/>
              </a:tabLst>
            </a:pPr>
            <a:r>
              <a:rPr sz="2800" dirty="0">
                <a:latin typeface="Times New Roman"/>
                <a:cs typeface="Times New Roman"/>
              </a:rPr>
              <a:t>How </a:t>
            </a:r>
            <a:r>
              <a:rPr sz="2800" spc="-5" dirty="0">
                <a:latin typeface="Times New Roman"/>
                <a:cs typeface="Times New Roman"/>
              </a:rPr>
              <a:t>does assembly language get translated </a:t>
            </a:r>
            <a:r>
              <a:rPr sz="2800" dirty="0">
                <a:latin typeface="Times New Roman"/>
                <a:cs typeface="Times New Roman"/>
              </a:rPr>
              <a:t>into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machine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language?</a:t>
            </a:r>
            <a:endParaRPr sz="2800">
              <a:latin typeface="Times New Roman"/>
              <a:cs typeface="Times New Roman"/>
            </a:endParaRPr>
          </a:p>
          <a:p>
            <a:pPr marL="781050" lvl="1" indent="-286385">
              <a:lnSpc>
                <a:spcPct val="100000"/>
              </a:lnSpc>
              <a:spcBef>
                <a:spcPts val="585"/>
              </a:spcBef>
              <a:buChar char="–"/>
              <a:tabLst>
                <a:tab pos="781050" algn="l"/>
                <a:tab pos="781685" algn="l"/>
              </a:tabLst>
            </a:pPr>
            <a:r>
              <a:rPr sz="2400" spc="-5" dirty="0">
                <a:latin typeface="Times New Roman"/>
                <a:cs typeface="Times New Roman"/>
              </a:rPr>
              <a:t>There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are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two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ways:</a:t>
            </a:r>
            <a:endParaRPr sz="2400">
              <a:latin typeface="Times New Roman"/>
              <a:cs typeface="Times New Roman"/>
            </a:endParaRPr>
          </a:p>
          <a:p>
            <a:pPr marL="781050" lvl="1" indent="-286385">
              <a:lnSpc>
                <a:spcPct val="100000"/>
              </a:lnSpc>
              <a:spcBef>
                <a:spcPts val="575"/>
              </a:spcBef>
              <a:buChar char="–"/>
              <a:tabLst>
                <a:tab pos="781050" algn="l"/>
                <a:tab pos="781685" algn="l"/>
              </a:tabLst>
            </a:pPr>
            <a:r>
              <a:rPr sz="2400" spc="-5" dirty="0">
                <a:latin typeface="Times New Roman"/>
                <a:cs typeface="Times New Roman"/>
              </a:rPr>
              <a:t>1</a:t>
            </a:r>
            <a:r>
              <a:rPr sz="2400" spc="-7" baseline="24305" dirty="0">
                <a:latin typeface="Times New Roman"/>
                <a:cs typeface="Times New Roman"/>
              </a:rPr>
              <a:t>st </a:t>
            </a:r>
            <a:r>
              <a:rPr sz="2400" spc="-5" dirty="0">
                <a:latin typeface="Times New Roman"/>
                <a:cs typeface="Times New Roman"/>
              </a:rPr>
              <a:t>there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“</a:t>
            </a:r>
            <a:r>
              <a:rPr sz="2400" b="1" spc="-5" dirty="0">
                <a:solidFill>
                  <a:srgbClr val="800000"/>
                </a:solidFill>
                <a:latin typeface="Times New Roman"/>
                <a:cs typeface="Times New Roman"/>
              </a:rPr>
              <a:t>hand</a:t>
            </a:r>
            <a:r>
              <a:rPr sz="2400" b="1" dirty="0">
                <a:solidFill>
                  <a:srgbClr val="80000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800000"/>
                </a:solidFill>
                <a:latin typeface="Times New Roman"/>
                <a:cs typeface="Times New Roman"/>
              </a:rPr>
              <a:t>assembly</a:t>
            </a:r>
            <a:r>
              <a:rPr sz="2400" spc="-5" dirty="0">
                <a:latin typeface="Times New Roman"/>
                <a:cs typeface="Times New Roman"/>
              </a:rPr>
              <a:t>”.</a:t>
            </a:r>
            <a:endParaRPr sz="2400">
              <a:latin typeface="Times New Roman"/>
              <a:cs typeface="Times New Roman"/>
            </a:endParaRPr>
          </a:p>
          <a:p>
            <a:pPr marL="1181100" marR="30480" lvl="2" indent="-229235" algn="just">
              <a:lnSpc>
                <a:spcPct val="100000"/>
              </a:lnSpc>
              <a:spcBef>
                <a:spcPts val="500"/>
              </a:spcBef>
              <a:buChar char="•"/>
              <a:tabLst>
                <a:tab pos="1181735" algn="l"/>
              </a:tabLst>
            </a:pPr>
            <a:r>
              <a:rPr sz="2000" spc="-5" dirty="0">
                <a:latin typeface="Times New Roman"/>
                <a:cs typeface="Times New Roman"/>
              </a:rPr>
              <a:t>The programmer translates each assembly language instruction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into its equivalent hexadecimal code (machine language). Then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hexadecimal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code 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entered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memory.</a:t>
            </a:r>
            <a:endParaRPr sz="2000">
              <a:latin typeface="Times New Roman"/>
              <a:cs typeface="Times New Roman"/>
            </a:endParaRPr>
          </a:p>
          <a:p>
            <a:pPr marL="781050" marR="125730" lvl="1" indent="-286385">
              <a:lnSpc>
                <a:spcPct val="100000"/>
              </a:lnSpc>
              <a:spcBef>
                <a:spcPts val="560"/>
              </a:spcBef>
              <a:buChar char="–"/>
              <a:tabLst>
                <a:tab pos="781050" algn="l"/>
                <a:tab pos="781685" algn="l"/>
              </a:tabLst>
            </a:pPr>
            <a:r>
              <a:rPr sz="2400" spc="-5" dirty="0">
                <a:latin typeface="Times New Roman"/>
                <a:cs typeface="Times New Roman"/>
              </a:rPr>
              <a:t>The other possibility is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program called </a:t>
            </a:r>
            <a:r>
              <a:rPr sz="2400" dirty="0">
                <a:latin typeface="Times New Roman"/>
                <a:cs typeface="Times New Roman"/>
              </a:rPr>
              <a:t>an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“</a:t>
            </a:r>
            <a:r>
              <a:rPr sz="2400" b="1" spc="-5" dirty="0">
                <a:solidFill>
                  <a:srgbClr val="800000"/>
                </a:solidFill>
                <a:latin typeface="Times New Roman"/>
                <a:cs typeface="Times New Roman"/>
              </a:rPr>
              <a:t>assembler</a:t>
            </a:r>
            <a:r>
              <a:rPr sz="2400" spc="-5" dirty="0">
                <a:latin typeface="Times New Roman"/>
                <a:cs typeface="Times New Roman"/>
              </a:rPr>
              <a:t>”,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which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does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translation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automatically.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93315" marR="5080" indent="-985519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8085</a:t>
            </a:r>
            <a:r>
              <a:rPr spc="-60" dirty="0"/>
              <a:t> </a:t>
            </a:r>
            <a:r>
              <a:rPr spc="-5" dirty="0"/>
              <a:t>Microprocessor </a:t>
            </a:r>
            <a:r>
              <a:rPr spc="-1085" dirty="0"/>
              <a:t> </a:t>
            </a:r>
            <a:r>
              <a:rPr spc="-5" dirty="0"/>
              <a:t>Architecture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1916979"/>
            <a:ext cx="5895975" cy="309816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770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latin typeface="Times New Roman"/>
                <a:cs typeface="Times New Roman"/>
              </a:rPr>
              <a:t>8-bit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general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purpose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µp</a:t>
            </a:r>
            <a:endParaRPr sz="280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670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Capable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addressing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64 k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memory</a:t>
            </a:r>
            <a:endParaRPr sz="280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67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Has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40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pins</a:t>
            </a:r>
            <a:endParaRPr sz="280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670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Requires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+5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power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supply</a:t>
            </a:r>
            <a:endParaRPr sz="280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67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Can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operate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3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MHz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clock</a:t>
            </a:r>
            <a:endParaRPr sz="280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670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latin typeface="Times New Roman"/>
                <a:cs typeface="Times New Roman"/>
              </a:rPr>
              <a:t>8085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upward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compatible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625600" y="25"/>
            <a:ext cx="5842000" cy="6858000"/>
            <a:chOff x="1625600" y="25"/>
            <a:chExt cx="5842000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52600" y="25"/>
              <a:ext cx="5714974" cy="685797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625600" y="31749"/>
              <a:ext cx="1802130" cy="376555"/>
            </a:xfrm>
            <a:custGeom>
              <a:avLst/>
              <a:gdLst/>
              <a:ahLst/>
              <a:cxnLst/>
              <a:rect l="l" t="t" r="r" b="b"/>
              <a:pathLst>
                <a:path w="1802129" h="376555">
                  <a:moveTo>
                    <a:pt x="1801812" y="0"/>
                  </a:moveTo>
                  <a:lnTo>
                    <a:pt x="0" y="0"/>
                  </a:lnTo>
                  <a:lnTo>
                    <a:pt x="0" y="376237"/>
                  </a:lnTo>
                  <a:lnTo>
                    <a:pt x="1801812" y="376237"/>
                  </a:lnTo>
                  <a:lnTo>
                    <a:pt x="1801812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625600" y="31750"/>
            <a:ext cx="1802130" cy="376555"/>
          </a:xfrm>
          <a:prstGeom prst="rect">
            <a:avLst/>
          </a:prstGeom>
          <a:ln w="12700">
            <a:solidFill>
              <a:srgbClr val="0000FF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320"/>
              </a:spcBef>
            </a:pPr>
            <a:r>
              <a:rPr sz="1800" spc="-5" dirty="0">
                <a:latin typeface="Arial MT"/>
                <a:cs typeface="Arial MT"/>
              </a:rPr>
              <a:t>Pins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52412" y="158751"/>
            <a:ext cx="4396105" cy="1962150"/>
            <a:chOff x="252412" y="158751"/>
            <a:chExt cx="4396105" cy="1962150"/>
          </a:xfrm>
        </p:grpSpPr>
        <p:sp>
          <p:nvSpPr>
            <p:cNvPr id="8" name="object 8"/>
            <p:cNvSpPr/>
            <p:nvPr/>
          </p:nvSpPr>
          <p:spPr>
            <a:xfrm>
              <a:off x="3424237" y="173038"/>
              <a:ext cx="1155700" cy="340360"/>
            </a:xfrm>
            <a:custGeom>
              <a:avLst/>
              <a:gdLst/>
              <a:ahLst/>
              <a:cxnLst/>
              <a:rect l="l" t="t" r="r" b="b"/>
              <a:pathLst>
                <a:path w="1155700" h="340359">
                  <a:moveTo>
                    <a:pt x="0" y="0"/>
                  </a:moveTo>
                  <a:lnTo>
                    <a:pt x="1155433" y="340182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53856" y="468068"/>
              <a:ext cx="94615" cy="82550"/>
            </a:xfrm>
            <a:custGeom>
              <a:avLst/>
              <a:gdLst/>
              <a:ahLst/>
              <a:cxnLst/>
              <a:rect l="l" t="t" r="r" b="b"/>
              <a:pathLst>
                <a:path w="94614" h="82550">
                  <a:moveTo>
                    <a:pt x="24218" y="0"/>
                  </a:moveTo>
                  <a:lnTo>
                    <a:pt x="0" y="82232"/>
                  </a:lnTo>
                  <a:lnTo>
                    <a:pt x="94348" y="65328"/>
                  </a:lnTo>
                  <a:lnTo>
                    <a:pt x="2421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52412" y="901700"/>
              <a:ext cx="1658620" cy="1219200"/>
            </a:xfrm>
            <a:custGeom>
              <a:avLst/>
              <a:gdLst/>
              <a:ahLst/>
              <a:cxnLst/>
              <a:rect l="l" t="t" r="r" b="b"/>
              <a:pathLst>
                <a:path w="1658620" h="1219200">
                  <a:moveTo>
                    <a:pt x="1657997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1657997" y="1219200"/>
                  </a:lnTo>
                  <a:lnTo>
                    <a:pt x="1657997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52412" y="901700"/>
            <a:ext cx="1658620" cy="1219200"/>
          </a:xfrm>
          <a:prstGeom prst="rect">
            <a:avLst/>
          </a:prstGeom>
          <a:ln w="28575">
            <a:solidFill>
              <a:srgbClr val="0000FF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144145" marR="197485" algn="ctr">
              <a:lnSpc>
                <a:spcPct val="100000"/>
              </a:lnSpc>
              <a:spcBef>
                <a:spcPts val="320"/>
              </a:spcBef>
            </a:pPr>
            <a:r>
              <a:rPr sz="1800" spc="-5" dirty="0">
                <a:latin typeface="Arial MT"/>
                <a:cs typeface="Arial MT"/>
              </a:rPr>
              <a:t>Frequency 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Generator is </a:t>
            </a:r>
            <a:r>
              <a:rPr sz="1800" spc="-49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connected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to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those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pins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894539" y="352425"/>
            <a:ext cx="6925945" cy="711200"/>
            <a:chOff x="1894539" y="352425"/>
            <a:chExt cx="6925945" cy="711200"/>
          </a:xfrm>
        </p:grpSpPr>
        <p:sp>
          <p:nvSpPr>
            <p:cNvPr id="13" name="object 13"/>
            <p:cNvSpPr/>
            <p:nvPr/>
          </p:nvSpPr>
          <p:spPr>
            <a:xfrm>
              <a:off x="1908826" y="779310"/>
              <a:ext cx="1081405" cy="270510"/>
            </a:xfrm>
            <a:custGeom>
              <a:avLst/>
              <a:gdLst/>
              <a:ahLst/>
              <a:cxnLst/>
              <a:rect l="l" t="t" r="r" b="b"/>
              <a:pathLst>
                <a:path w="1081405" h="270509">
                  <a:moveTo>
                    <a:pt x="0" y="270027"/>
                  </a:moveTo>
                  <a:lnTo>
                    <a:pt x="1080973" y="0"/>
                  </a:lnTo>
                </a:path>
              </a:pathLst>
            </a:custGeom>
            <a:ln w="285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965556" y="741185"/>
              <a:ext cx="93980" cy="83185"/>
            </a:xfrm>
            <a:custGeom>
              <a:avLst/>
              <a:gdLst/>
              <a:ahLst/>
              <a:cxnLst/>
              <a:rect l="l" t="t" r="r" b="b"/>
              <a:pathLst>
                <a:path w="93980" h="83184">
                  <a:moveTo>
                    <a:pt x="0" y="0"/>
                  </a:moveTo>
                  <a:lnTo>
                    <a:pt x="20777" y="83172"/>
                  </a:lnTo>
                  <a:lnTo>
                    <a:pt x="93560" y="208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908826" y="982624"/>
              <a:ext cx="1007744" cy="67310"/>
            </a:xfrm>
            <a:custGeom>
              <a:avLst/>
              <a:gdLst/>
              <a:ahLst/>
              <a:cxnLst/>
              <a:rect l="l" t="t" r="r" b="b"/>
              <a:pathLst>
                <a:path w="1007744" h="67309">
                  <a:moveTo>
                    <a:pt x="0" y="66713"/>
                  </a:moveTo>
                  <a:lnTo>
                    <a:pt x="1007605" y="0"/>
                  </a:lnTo>
                </a:path>
              </a:pathLst>
            </a:custGeom>
            <a:ln w="2857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899347" y="940790"/>
              <a:ext cx="88900" cy="85725"/>
            </a:xfrm>
            <a:custGeom>
              <a:avLst/>
              <a:gdLst/>
              <a:ahLst/>
              <a:cxnLst/>
              <a:rect l="l" t="t" r="r" b="b"/>
              <a:pathLst>
                <a:path w="88900" h="85725">
                  <a:moveTo>
                    <a:pt x="0" y="0"/>
                  </a:moveTo>
                  <a:lnTo>
                    <a:pt x="5664" y="85534"/>
                  </a:lnTo>
                  <a:lnTo>
                    <a:pt x="88366" y="371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308850" y="352425"/>
              <a:ext cx="1511300" cy="669925"/>
            </a:xfrm>
            <a:custGeom>
              <a:avLst/>
              <a:gdLst/>
              <a:ahLst/>
              <a:cxnLst/>
              <a:rect l="l" t="t" r="r" b="b"/>
              <a:pathLst>
                <a:path w="1511300" h="669925">
                  <a:moveTo>
                    <a:pt x="1511300" y="0"/>
                  </a:moveTo>
                  <a:lnTo>
                    <a:pt x="0" y="0"/>
                  </a:lnTo>
                  <a:lnTo>
                    <a:pt x="0" y="669925"/>
                  </a:lnTo>
                  <a:lnTo>
                    <a:pt x="1511300" y="669925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308850" y="352425"/>
            <a:ext cx="1511300" cy="669925"/>
          </a:xfrm>
          <a:prstGeom prst="rect">
            <a:avLst/>
          </a:prstGeom>
          <a:ln w="28575">
            <a:solidFill>
              <a:srgbClr val="0000FF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106045" marR="95885" indent="325755">
              <a:lnSpc>
                <a:spcPct val="100000"/>
              </a:lnSpc>
              <a:spcBef>
                <a:spcPts val="320"/>
              </a:spcBef>
            </a:pPr>
            <a:r>
              <a:rPr sz="1800" spc="-5" dirty="0">
                <a:latin typeface="Arial MT"/>
                <a:cs typeface="Arial MT"/>
              </a:rPr>
              <a:t>Power 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Supply: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+5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227765" y="481012"/>
            <a:ext cx="2447925" cy="4616450"/>
            <a:chOff x="6227765" y="481012"/>
            <a:chExt cx="2447925" cy="4616450"/>
          </a:xfrm>
        </p:grpSpPr>
        <p:sp>
          <p:nvSpPr>
            <p:cNvPr id="20" name="object 20"/>
            <p:cNvSpPr/>
            <p:nvPr/>
          </p:nvSpPr>
          <p:spPr>
            <a:xfrm>
              <a:off x="6297803" y="495300"/>
              <a:ext cx="1011555" cy="203835"/>
            </a:xfrm>
            <a:custGeom>
              <a:avLst/>
              <a:gdLst/>
              <a:ahLst/>
              <a:cxnLst/>
              <a:rect l="l" t="t" r="r" b="b"/>
              <a:pathLst>
                <a:path w="1011554" h="203834">
                  <a:moveTo>
                    <a:pt x="1011047" y="0"/>
                  </a:moveTo>
                  <a:lnTo>
                    <a:pt x="0" y="203403"/>
                  </a:lnTo>
                </a:path>
              </a:pathLst>
            </a:custGeom>
            <a:ln w="285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27765" y="653860"/>
              <a:ext cx="92710" cy="84455"/>
            </a:xfrm>
            <a:custGeom>
              <a:avLst/>
              <a:gdLst/>
              <a:ahLst/>
              <a:cxnLst/>
              <a:rect l="l" t="t" r="r" b="b"/>
              <a:pathLst>
                <a:path w="92710" h="84454">
                  <a:moveTo>
                    <a:pt x="75577" y="0"/>
                  </a:moveTo>
                  <a:lnTo>
                    <a:pt x="0" y="58928"/>
                  </a:lnTo>
                  <a:lnTo>
                    <a:pt x="92494" y="84035"/>
                  </a:lnTo>
                  <a:lnTo>
                    <a:pt x="75577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059612" y="4445000"/>
              <a:ext cx="1616075" cy="652780"/>
            </a:xfrm>
            <a:custGeom>
              <a:avLst/>
              <a:gdLst/>
              <a:ahLst/>
              <a:cxnLst/>
              <a:rect l="l" t="t" r="r" b="b"/>
              <a:pathLst>
                <a:path w="1616075" h="652779">
                  <a:moveTo>
                    <a:pt x="1616075" y="0"/>
                  </a:moveTo>
                  <a:lnTo>
                    <a:pt x="0" y="0"/>
                  </a:lnTo>
                  <a:lnTo>
                    <a:pt x="0" y="652462"/>
                  </a:lnTo>
                  <a:lnTo>
                    <a:pt x="1616075" y="652462"/>
                  </a:lnTo>
                  <a:lnTo>
                    <a:pt x="1616075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7059612" y="4445000"/>
            <a:ext cx="1616075" cy="652780"/>
          </a:xfrm>
          <a:prstGeom prst="rect">
            <a:avLst/>
          </a:prstGeom>
          <a:ln w="28575">
            <a:solidFill>
              <a:srgbClr val="0000FF"/>
            </a:solidFill>
          </a:ln>
        </p:spPr>
        <p:txBody>
          <a:bodyPr vert="horz" wrap="square" lIns="0" tIns="45720" rIns="0" bIns="0" rtlCol="0">
            <a:spAutoFit/>
          </a:bodyPr>
          <a:lstStyle/>
          <a:p>
            <a:pPr marL="420370" marR="138430" indent="-335915">
              <a:lnSpc>
                <a:spcPct val="100000"/>
              </a:lnSpc>
              <a:spcBef>
                <a:spcPts val="360"/>
              </a:spcBef>
            </a:pPr>
            <a:r>
              <a:rPr sz="1800" spc="-5" dirty="0">
                <a:latin typeface="Arial MT"/>
                <a:cs typeface="Arial MT"/>
              </a:rPr>
              <a:t>Address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latch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Enable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227759" y="3716338"/>
            <a:ext cx="806450" cy="866775"/>
            <a:chOff x="6227759" y="3716338"/>
            <a:chExt cx="806450" cy="866775"/>
          </a:xfrm>
        </p:grpSpPr>
        <p:sp>
          <p:nvSpPr>
            <p:cNvPr id="25" name="object 25"/>
            <p:cNvSpPr/>
            <p:nvPr/>
          </p:nvSpPr>
          <p:spPr>
            <a:xfrm>
              <a:off x="6276391" y="3768675"/>
              <a:ext cx="743585" cy="800735"/>
            </a:xfrm>
            <a:custGeom>
              <a:avLst/>
              <a:gdLst/>
              <a:ahLst/>
              <a:cxnLst/>
              <a:rect l="l" t="t" r="r" b="b"/>
              <a:pathLst>
                <a:path w="743584" h="800735">
                  <a:moveTo>
                    <a:pt x="743534" y="800150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227759" y="3716338"/>
              <a:ext cx="90170" cy="92075"/>
            </a:xfrm>
            <a:custGeom>
              <a:avLst/>
              <a:gdLst/>
              <a:ahLst/>
              <a:cxnLst/>
              <a:rect l="l" t="t" r="r" b="b"/>
              <a:pathLst>
                <a:path w="90170" h="92075">
                  <a:moveTo>
                    <a:pt x="0" y="0"/>
                  </a:moveTo>
                  <a:lnTo>
                    <a:pt x="26962" y="91973"/>
                  </a:lnTo>
                  <a:lnTo>
                    <a:pt x="89750" y="336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7883525" y="3357562"/>
            <a:ext cx="865505" cy="463550"/>
          </a:xfrm>
          <a:prstGeom prst="rect">
            <a:avLst/>
          </a:prstGeom>
          <a:solidFill>
            <a:srgbClr val="00CC99"/>
          </a:solidFill>
          <a:ln w="28575">
            <a:solidFill>
              <a:srgbClr val="0000FF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159385">
              <a:lnSpc>
                <a:spcPct val="100000"/>
              </a:lnSpc>
              <a:spcBef>
                <a:spcPts val="320"/>
              </a:spcBef>
            </a:pPr>
            <a:r>
              <a:rPr sz="1800" spc="-5" dirty="0">
                <a:latin typeface="Arial MT"/>
                <a:cs typeface="Arial MT"/>
              </a:rPr>
              <a:t>Read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227767" y="3117907"/>
            <a:ext cx="2536825" cy="1294130"/>
            <a:chOff x="6227767" y="3117907"/>
            <a:chExt cx="2536825" cy="1294130"/>
          </a:xfrm>
        </p:grpSpPr>
        <p:sp>
          <p:nvSpPr>
            <p:cNvPr id="29" name="object 29"/>
            <p:cNvSpPr/>
            <p:nvPr/>
          </p:nvSpPr>
          <p:spPr>
            <a:xfrm>
              <a:off x="6297588" y="3156775"/>
              <a:ext cx="1588135" cy="344170"/>
            </a:xfrm>
            <a:custGeom>
              <a:avLst/>
              <a:gdLst/>
              <a:ahLst/>
              <a:cxnLst/>
              <a:rect l="l" t="t" r="r" b="b"/>
              <a:pathLst>
                <a:path w="1588134" h="344170">
                  <a:moveTo>
                    <a:pt x="1587525" y="343662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227767" y="3117907"/>
              <a:ext cx="93345" cy="83820"/>
            </a:xfrm>
            <a:custGeom>
              <a:avLst/>
              <a:gdLst/>
              <a:ahLst/>
              <a:cxnLst/>
              <a:rect l="l" t="t" r="r" b="b"/>
              <a:pathLst>
                <a:path w="93345" h="83819">
                  <a:moveTo>
                    <a:pt x="92849" y="0"/>
                  </a:moveTo>
                  <a:lnTo>
                    <a:pt x="0" y="23761"/>
                  </a:lnTo>
                  <a:lnTo>
                    <a:pt x="74714" y="83781"/>
                  </a:lnTo>
                  <a:lnTo>
                    <a:pt x="92849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884058" y="3933825"/>
              <a:ext cx="866775" cy="463550"/>
            </a:xfrm>
            <a:custGeom>
              <a:avLst/>
              <a:gdLst/>
              <a:ahLst/>
              <a:cxnLst/>
              <a:rect l="l" t="t" r="r" b="b"/>
              <a:pathLst>
                <a:path w="866775" h="463550">
                  <a:moveTo>
                    <a:pt x="0" y="0"/>
                  </a:moveTo>
                  <a:lnTo>
                    <a:pt x="866241" y="0"/>
                  </a:lnTo>
                  <a:lnTo>
                    <a:pt x="866241" y="463550"/>
                  </a:lnTo>
                  <a:lnTo>
                    <a:pt x="0" y="463550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8040920" y="3961828"/>
            <a:ext cx="5549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latin typeface="Arial MT"/>
                <a:cs typeface="Arial MT"/>
              </a:rPr>
              <a:t>W</a:t>
            </a:r>
            <a:r>
              <a:rPr sz="1800" dirty="0">
                <a:latin typeface="Arial MT"/>
                <a:cs typeface="Arial MT"/>
              </a:rPr>
              <a:t>r</a:t>
            </a:r>
            <a:r>
              <a:rPr sz="1800" spc="-5" dirty="0">
                <a:latin typeface="Arial MT"/>
                <a:cs typeface="Arial MT"/>
              </a:rPr>
              <a:t>ite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157911" y="2565400"/>
            <a:ext cx="2986405" cy="1454150"/>
            <a:chOff x="6157911" y="2565400"/>
            <a:chExt cx="2986405" cy="1454150"/>
          </a:xfrm>
        </p:grpSpPr>
        <p:sp>
          <p:nvSpPr>
            <p:cNvPr id="34" name="object 34"/>
            <p:cNvSpPr/>
            <p:nvPr/>
          </p:nvSpPr>
          <p:spPr>
            <a:xfrm>
              <a:off x="6225377" y="3452494"/>
              <a:ext cx="1587500" cy="553085"/>
            </a:xfrm>
            <a:custGeom>
              <a:avLst/>
              <a:gdLst/>
              <a:ahLst/>
              <a:cxnLst/>
              <a:rect l="l" t="t" r="r" b="b"/>
              <a:pathLst>
                <a:path w="1587500" h="553085">
                  <a:moveTo>
                    <a:pt x="1587284" y="552767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157911" y="3416705"/>
              <a:ext cx="95250" cy="81280"/>
            </a:xfrm>
            <a:custGeom>
              <a:avLst/>
              <a:gdLst/>
              <a:ahLst/>
              <a:cxnLst/>
              <a:rect l="l" t="t" r="r" b="b"/>
              <a:pathLst>
                <a:path w="95250" h="81279">
                  <a:moveTo>
                    <a:pt x="95059" y="0"/>
                  </a:moveTo>
                  <a:lnTo>
                    <a:pt x="0" y="12293"/>
                  </a:lnTo>
                  <a:lnTo>
                    <a:pt x="66865" y="80962"/>
                  </a:lnTo>
                  <a:lnTo>
                    <a:pt x="95059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525677" y="2565400"/>
              <a:ext cx="1618615" cy="654050"/>
            </a:xfrm>
            <a:custGeom>
              <a:avLst/>
              <a:gdLst/>
              <a:ahLst/>
              <a:cxnLst/>
              <a:rect l="l" t="t" r="r" b="b"/>
              <a:pathLst>
                <a:path w="1618615" h="654050">
                  <a:moveTo>
                    <a:pt x="1618322" y="0"/>
                  </a:moveTo>
                  <a:lnTo>
                    <a:pt x="0" y="0"/>
                  </a:lnTo>
                  <a:lnTo>
                    <a:pt x="0" y="654050"/>
                  </a:lnTo>
                  <a:lnTo>
                    <a:pt x="1618322" y="654050"/>
                  </a:lnTo>
                  <a:lnTo>
                    <a:pt x="1618322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7525677" y="2565400"/>
            <a:ext cx="1618615" cy="654050"/>
          </a:xfrm>
          <a:prstGeom prst="rect">
            <a:avLst/>
          </a:prstGeom>
          <a:ln w="28575">
            <a:solidFill>
              <a:srgbClr val="0000FF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365125" marR="139065" indent="-215900">
              <a:lnSpc>
                <a:spcPct val="100000"/>
              </a:lnSpc>
              <a:spcBef>
                <a:spcPts val="320"/>
              </a:spcBef>
            </a:pPr>
            <a:r>
              <a:rPr sz="1800" spc="-5" dirty="0">
                <a:latin typeface="Arial MT"/>
                <a:cs typeface="Arial MT"/>
              </a:rPr>
              <a:t>I</a:t>
            </a:r>
            <a:r>
              <a:rPr sz="1800" dirty="0">
                <a:latin typeface="Arial MT"/>
                <a:cs typeface="Arial MT"/>
              </a:rPr>
              <a:t>n</a:t>
            </a:r>
            <a:r>
              <a:rPr sz="1800" spc="-5" dirty="0">
                <a:latin typeface="Arial MT"/>
                <a:cs typeface="Arial MT"/>
              </a:rPr>
              <a:t>put/O</a:t>
            </a:r>
            <a:r>
              <a:rPr sz="1800" dirty="0">
                <a:latin typeface="Arial MT"/>
                <a:cs typeface="Arial MT"/>
              </a:rPr>
              <a:t>u</a:t>
            </a:r>
            <a:r>
              <a:rPr sz="1800" spc="-5" dirty="0">
                <a:latin typeface="Arial MT"/>
                <a:cs typeface="Arial MT"/>
              </a:rPr>
              <a:t>t</a:t>
            </a:r>
            <a:r>
              <a:rPr sz="1800" dirty="0">
                <a:latin typeface="Arial MT"/>
                <a:cs typeface="Arial MT"/>
              </a:rPr>
              <a:t>p</a:t>
            </a:r>
            <a:r>
              <a:rPr sz="1800" spc="-5" dirty="0">
                <a:latin typeface="Arial MT"/>
                <a:cs typeface="Arial MT"/>
              </a:rPr>
              <a:t>ut/  Memory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1712277" y="2604966"/>
            <a:ext cx="5828030" cy="3472179"/>
            <a:chOff x="1712277" y="2604966"/>
            <a:chExt cx="5828030" cy="3472179"/>
          </a:xfrm>
        </p:grpSpPr>
        <p:sp>
          <p:nvSpPr>
            <p:cNvPr id="39" name="object 39"/>
            <p:cNvSpPr/>
            <p:nvPr/>
          </p:nvSpPr>
          <p:spPr>
            <a:xfrm>
              <a:off x="6444692" y="2645728"/>
              <a:ext cx="1081405" cy="135890"/>
            </a:xfrm>
            <a:custGeom>
              <a:avLst/>
              <a:gdLst/>
              <a:ahLst/>
              <a:cxnLst/>
              <a:rect l="l" t="t" r="r" b="b"/>
              <a:pathLst>
                <a:path w="1081404" h="135889">
                  <a:moveTo>
                    <a:pt x="1080985" y="135572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373809" y="2604966"/>
              <a:ext cx="90805" cy="85090"/>
            </a:xfrm>
            <a:custGeom>
              <a:avLst/>
              <a:gdLst/>
              <a:ahLst/>
              <a:cxnLst/>
              <a:rect l="l" t="t" r="r" b="b"/>
              <a:pathLst>
                <a:path w="90804" h="85089">
                  <a:moveTo>
                    <a:pt x="90398" y="0"/>
                  </a:moveTo>
                  <a:lnTo>
                    <a:pt x="0" y="31876"/>
                  </a:lnTo>
                  <a:lnTo>
                    <a:pt x="79730" y="85064"/>
                  </a:lnTo>
                  <a:lnTo>
                    <a:pt x="9039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701886" y="4191001"/>
              <a:ext cx="71755" cy="1871980"/>
            </a:xfrm>
            <a:custGeom>
              <a:avLst/>
              <a:gdLst/>
              <a:ahLst/>
              <a:cxnLst/>
              <a:rect l="l" t="t" r="r" b="b"/>
              <a:pathLst>
                <a:path w="71755" h="1871979">
                  <a:moveTo>
                    <a:pt x="71475" y="1871662"/>
                  </a:moveTo>
                  <a:lnTo>
                    <a:pt x="57565" y="1859397"/>
                  </a:lnTo>
                  <a:lnTo>
                    <a:pt x="46205" y="1825950"/>
                  </a:lnTo>
                  <a:lnTo>
                    <a:pt x="38546" y="1776341"/>
                  </a:lnTo>
                  <a:lnTo>
                    <a:pt x="35737" y="1715592"/>
                  </a:lnTo>
                  <a:lnTo>
                    <a:pt x="35737" y="1091895"/>
                  </a:lnTo>
                  <a:lnTo>
                    <a:pt x="32929" y="1031145"/>
                  </a:lnTo>
                  <a:lnTo>
                    <a:pt x="25269" y="981536"/>
                  </a:lnTo>
                  <a:lnTo>
                    <a:pt x="13910" y="948089"/>
                  </a:lnTo>
                  <a:lnTo>
                    <a:pt x="0" y="935824"/>
                  </a:lnTo>
                  <a:lnTo>
                    <a:pt x="13910" y="923562"/>
                  </a:lnTo>
                  <a:lnTo>
                    <a:pt x="25269" y="890119"/>
                  </a:lnTo>
                  <a:lnTo>
                    <a:pt x="32929" y="840514"/>
                  </a:lnTo>
                  <a:lnTo>
                    <a:pt x="35737" y="779767"/>
                  </a:lnTo>
                  <a:lnTo>
                    <a:pt x="35737" y="156070"/>
                  </a:lnTo>
                  <a:lnTo>
                    <a:pt x="38546" y="95320"/>
                  </a:lnTo>
                  <a:lnTo>
                    <a:pt x="46205" y="45712"/>
                  </a:lnTo>
                  <a:lnTo>
                    <a:pt x="57565" y="12264"/>
                  </a:lnTo>
                  <a:lnTo>
                    <a:pt x="71475" y="0"/>
                  </a:lnTo>
                </a:path>
              </a:pathLst>
            </a:custGeom>
            <a:ln w="2857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726564" y="5126037"/>
              <a:ext cx="831215" cy="0"/>
            </a:xfrm>
            <a:custGeom>
              <a:avLst/>
              <a:gdLst/>
              <a:ahLst/>
              <a:cxnLst/>
              <a:rect l="l" t="t" r="r" b="b"/>
              <a:pathLst>
                <a:path w="831214">
                  <a:moveTo>
                    <a:pt x="0" y="0"/>
                  </a:moveTo>
                  <a:lnTo>
                    <a:pt x="830808" y="0"/>
                  </a:lnTo>
                </a:path>
              </a:pathLst>
            </a:custGeom>
            <a:ln w="285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543088" y="5083171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0" y="0"/>
                  </a:moveTo>
                  <a:lnTo>
                    <a:pt x="0" y="85725"/>
                  </a:lnTo>
                  <a:lnTo>
                    <a:pt x="85725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179387" y="4622800"/>
            <a:ext cx="1547495" cy="854075"/>
          </a:xfrm>
          <a:prstGeom prst="rect">
            <a:avLst/>
          </a:prstGeom>
          <a:solidFill>
            <a:srgbClr val="00CC99"/>
          </a:solidFill>
          <a:ln w="28575">
            <a:solidFill>
              <a:srgbClr val="0000FF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91440" marR="139065" indent="-1905" algn="ctr">
              <a:lnSpc>
                <a:spcPct val="100000"/>
              </a:lnSpc>
              <a:spcBef>
                <a:spcPts val="320"/>
              </a:spcBef>
            </a:pPr>
            <a:r>
              <a:rPr sz="1600" b="1" spc="-5" dirty="0">
                <a:latin typeface="Arial"/>
                <a:cs typeface="Arial"/>
              </a:rPr>
              <a:t>Multiplexed </a:t>
            </a:r>
            <a:r>
              <a:rPr sz="1600" b="1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Address</a:t>
            </a:r>
            <a:r>
              <a:rPr sz="1600" b="1" spc="-7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Data </a:t>
            </a:r>
            <a:r>
              <a:rPr sz="1600" b="1" spc="-43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Bus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6213476" y="4481512"/>
            <a:ext cx="2319655" cy="1900555"/>
            <a:chOff x="6213476" y="4481512"/>
            <a:chExt cx="2319655" cy="1900555"/>
          </a:xfrm>
        </p:grpSpPr>
        <p:sp>
          <p:nvSpPr>
            <p:cNvPr id="46" name="object 46"/>
            <p:cNvSpPr/>
            <p:nvPr/>
          </p:nvSpPr>
          <p:spPr>
            <a:xfrm>
              <a:off x="6227763" y="4495800"/>
              <a:ext cx="144780" cy="1871980"/>
            </a:xfrm>
            <a:custGeom>
              <a:avLst/>
              <a:gdLst/>
              <a:ahLst/>
              <a:cxnLst/>
              <a:rect l="l" t="t" r="r" b="b"/>
              <a:pathLst>
                <a:path w="144779" h="1871979">
                  <a:moveTo>
                    <a:pt x="0" y="0"/>
                  </a:moveTo>
                  <a:lnTo>
                    <a:pt x="28116" y="12257"/>
                  </a:lnTo>
                  <a:lnTo>
                    <a:pt x="51077" y="45685"/>
                  </a:lnTo>
                  <a:lnTo>
                    <a:pt x="66560" y="95261"/>
                  </a:lnTo>
                  <a:lnTo>
                    <a:pt x="72237" y="155968"/>
                  </a:lnTo>
                  <a:lnTo>
                    <a:pt x="72237" y="779856"/>
                  </a:lnTo>
                  <a:lnTo>
                    <a:pt x="77913" y="840570"/>
                  </a:lnTo>
                  <a:lnTo>
                    <a:pt x="93391" y="890150"/>
                  </a:lnTo>
                  <a:lnTo>
                    <a:pt x="116348" y="923579"/>
                  </a:lnTo>
                  <a:lnTo>
                    <a:pt x="144462" y="935837"/>
                  </a:lnTo>
                  <a:lnTo>
                    <a:pt x="116348" y="948093"/>
                  </a:lnTo>
                  <a:lnTo>
                    <a:pt x="93391" y="981517"/>
                  </a:lnTo>
                  <a:lnTo>
                    <a:pt x="77913" y="1031094"/>
                  </a:lnTo>
                  <a:lnTo>
                    <a:pt x="72237" y="1091806"/>
                  </a:lnTo>
                  <a:lnTo>
                    <a:pt x="72237" y="1715693"/>
                  </a:lnTo>
                  <a:lnTo>
                    <a:pt x="66560" y="1776405"/>
                  </a:lnTo>
                  <a:lnTo>
                    <a:pt x="51077" y="1825982"/>
                  </a:lnTo>
                  <a:lnTo>
                    <a:pt x="28116" y="1859406"/>
                  </a:lnTo>
                  <a:lnTo>
                    <a:pt x="0" y="1871662"/>
                  </a:lnTo>
                </a:path>
              </a:pathLst>
            </a:custGeom>
            <a:ln w="285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510376" y="5529416"/>
              <a:ext cx="869950" cy="333375"/>
            </a:xfrm>
            <a:custGeom>
              <a:avLst/>
              <a:gdLst/>
              <a:ahLst/>
              <a:cxnLst/>
              <a:rect l="l" t="t" r="r" b="b"/>
              <a:pathLst>
                <a:path w="869950" h="333375">
                  <a:moveTo>
                    <a:pt x="869911" y="333222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443667" y="5494489"/>
              <a:ext cx="95885" cy="80645"/>
            </a:xfrm>
            <a:custGeom>
              <a:avLst/>
              <a:gdLst/>
              <a:ahLst/>
              <a:cxnLst/>
              <a:rect l="l" t="t" r="r" b="b"/>
              <a:pathLst>
                <a:path w="95884" h="80645">
                  <a:moveTo>
                    <a:pt x="95377" y="0"/>
                  </a:moveTo>
                  <a:lnTo>
                    <a:pt x="0" y="9372"/>
                  </a:lnTo>
                  <a:lnTo>
                    <a:pt x="64719" y="80060"/>
                  </a:lnTo>
                  <a:lnTo>
                    <a:pt x="95377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451724" y="5646737"/>
              <a:ext cx="1081405" cy="669925"/>
            </a:xfrm>
            <a:custGeom>
              <a:avLst/>
              <a:gdLst/>
              <a:ahLst/>
              <a:cxnLst/>
              <a:rect l="l" t="t" r="r" b="b"/>
              <a:pathLst>
                <a:path w="1081404" h="669925">
                  <a:moveTo>
                    <a:pt x="1081087" y="0"/>
                  </a:moveTo>
                  <a:lnTo>
                    <a:pt x="0" y="0"/>
                  </a:lnTo>
                  <a:lnTo>
                    <a:pt x="0" y="669925"/>
                  </a:lnTo>
                  <a:lnTo>
                    <a:pt x="1081087" y="669925"/>
                  </a:lnTo>
                  <a:lnTo>
                    <a:pt x="1081087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7451725" y="5646737"/>
            <a:ext cx="1081405" cy="669925"/>
          </a:xfrm>
          <a:prstGeom prst="rect">
            <a:avLst/>
          </a:prstGeom>
          <a:ln w="28575">
            <a:solidFill>
              <a:srgbClr val="0000FF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313055" marR="143510" indent="-222885">
              <a:lnSpc>
                <a:spcPct val="100000"/>
              </a:lnSpc>
              <a:spcBef>
                <a:spcPts val="320"/>
              </a:spcBef>
            </a:pPr>
            <a:r>
              <a:rPr sz="1800" spc="-5" dirty="0">
                <a:latin typeface="Arial MT"/>
                <a:cs typeface="Arial MT"/>
              </a:rPr>
              <a:t>Address  Bus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8187" y="12"/>
            <a:ext cx="5543537" cy="685798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35940" y="706628"/>
            <a:ext cx="7392670" cy="4759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buFont typeface="Times New Roman"/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latin typeface="Times New Roman"/>
                <a:cs typeface="Times New Roman"/>
              </a:rPr>
              <a:t>System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Bus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–</a:t>
            </a:r>
            <a:r>
              <a:rPr sz="2800" spc="-5" dirty="0">
                <a:latin typeface="Times New Roman"/>
                <a:cs typeface="Times New Roman"/>
              </a:rPr>
              <a:t> wires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connecting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memory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&amp;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I/O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microprocessor</a:t>
            </a:r>
            <a:endParaRPr sz="28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585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Address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Bus</a:t>
            </a:r>
            <a:endParaRPr sz="2400">
              <a:latin typeface="Times New Roman"/>
              <a:cs typeface="Times New Roman"/>
            </a:endParaRPr>
          </a:p>
          <a:p>
            <a:pPr marL="1155700" lvl="2" indent="-229235">
              <a:lnSpc>
                <a:spcPct val="100000"/>
              </a:lnSpc>
              <a:spcBef>
                <a:spcPts val="500"/>
              </a:spcBef>
              <a:buChar char="•"/>
              <a:tabLst>
                <a:tab pos="1155065" algn="l"/>
                <a:tab pos="1156335" algn="l"/>
              </a:tabLst>
            </a:pPr>
            <a:r>
              <a:rPr sz="2000" spc="-5" dirty="0">
                <a:latin typeface="Times New Roman"/>
                <a:cs typeface="Times New Roman"/>
              </a:rPr>
              <a:t>Unidirectional</a:t>
            </a:r>
            <a:endParaRPr sz="2000">
              <a:latin typeface="Times New Roman"/>
              <a:cs typeface="Times New Roman"/>
            </a:endParaRPr>
          </a:p>
          <a:p>
            <a:pPr marL="1155700" lvl="2" indent="-229870">
              <a:lnSpc>
                <a:spcPct val="100000"/>
              </a:lnSpc>
              <a:spcBef>
                <a:spcPts val="475"/>
              </a:spcBef>
              <a:buChar char="•"/>
              <a:tabLst>
                <a:tab pos="1155065" algn="l"/>
                <a:tab pos="1156335" algn="l"/>
              </a:tabLst>
            </a:pPr>
            <a:r>
              <a:rPr sz="2000" spc="-5" dirty="0">
                <a:latin typeface="Times New Roman"/>
                <a:cs typeface="Times New Roman"/>
              </a:rPr>
              <a:t>Identifying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peripheral 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memory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location</a:t>
            </a:r>
            <a:endParaRPr sz="20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565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Data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Bus</a:t>
            </a:r>
            <a:endParaRPr sz="2400">
              <a:latin typeface="Times New Roman"/>
              <a:cs typeface="Times New Roman"/>
            </a:endParaRPr>
          </a:p>
          <a:p>
            <a:pPr marL="1155700" lvl="2" indent="-229235">
              <a:lnSpc>
                <a:spcPct val="100000"/>
              </a:lnSpc>
              <a:spcBef>
                <a:spcPts val="495"/>
              </a:spcBef>
              <a:buChar char="•"/>
              <a:tabLst>
                <a:tab pos="1155065" algn="l"/>
                <a:tab pos="1156335" algn="l"/>
              </a:tabLst>
            </a:pPr>
            <a:r>
              <a:rPr sz="2000" spc="-5" dirty="0">
                <a:latin typeface="Times New Roman"/>
                <a:cs typeface="Times New Roman"/>
              </a:rPr>
              <a:t>Bidirectional</a:t>
            </a:r>
            <a:endParaRPr sz="2000">
              <a:latin typeface="Times New Roman"/>
              <a:cs typeface="Times New Roman"/>
            </a:endParaRPr>
          </a:p>
          <a:p>
            <a:pPr marL="1155700" lvl="2" indent="-229870">
              <a:lnSpc>
                <a:spcPct val="100000"/>
              </a:lnSpc>
              <a:spcBef>
                <a:spcPts val="480"/>
              </a:spcBef>
              <a:buChar char="•"/>
              <a:tabLst>
                <a:tab pos="1155065" algn="l"/>
                <a:tab pos="1156335" algn="l"/>
              </a:tabLst>
            </a:pPr>
            <a:r>
              <a:rPr sz="2000" spc="-5" dirty="0">
                <a:latin typeface="Times New Roman"/>
                <a:cs typeface="Times New Roman"/>
              </a:rPr>
              <a:t>Transferring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data</a:t>
            </a:r>
            <a:endParaRPr sz="20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560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Control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Bus</a:t>
            </a:r>
            <a:endParaRPr sz="2400">
              <a:latin typeface="Times New Roman"/>
              <a:cs typeface="Times New Roman"/>
            </a:endParaRPr>
          </a:p>
          <a:p>
            <a:pPr marL="1155700" lvl="2" indent="-229235">
              <a:lnSpc>
                <a:spcPct val="100000"/>
              </a:lnSpc>
              <a:spcBef>
                <a:spcPts val="495"/>
              </a:spcBef>
              <a:buChar char="•"/>
              <a:tabLst>
                <a:tab pos="1155065" algn="l"/>
                <a:tab pos="1156335" algn="l"/>
              </a:tabLst>
            </a:pPr>
            <a:r>
              <a:rPr sz="2000" spc="-5" dirty="0">
                <a:latin typeface="Times New Roman"/>
                <a:cs typeface="Times New Roman"/>
              </a:rPr>
              <a:t>Synchronization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signals</a:t>
            </a:r>
            <a:endParaRPr sz="2000">
              <a:latin typeface="Times New Roman"/>
              <a:cs typeface="Times New Roman"/>
            </a:endParaRPr>
          </a:p>
          <a:p>
            <a:pPr marL="1155700" lvl="2" indent="-229870">
              <a:lnSpc>
                <a:spcPct val="100000"/>
              </a:lnSpc>
              <a:spcBef>
                <a:spcPts val="480"/>
              </a:spcBef>
              <a:buChar char="•"/>
              <a:tabLst>
                <a:tab pos="1155065" algn="l"/>
                <a:tab pos="1156335" algn="l"/>
              </a:tabLst>
            </a:pPr>
            <a:r>
              <a:rPr sz="2000" spc="-5" dirty="0">
                <a:latin typeface="Times New Roman"/>
                <a:cs typeface="Times New Roman"/>
              </a:rPr>
              <a:t>Timing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signals</a:t>
            </a:r>
            <a:endParaRPr sz="2000">
              <a:latin typeface="Times New Roman"/>
              <a:cs typeface="Times New Roman"/>
            </a:endParaRPr>
          </a:p>
          <a:p>
            <a:pPr marL="1155700" lvl="2" indent="-229870">
              <a:lnSpc>
                <a:spcPct val="100000"/>
              </a:lnSpc>
              <a:spcBef>
                <a:spcPts val="480"/>
              </a:spcBef>
              <a:buChar char="•"/>
              <a:tabLst>
                <a:tab pos="1155065" algn="l"/>
                <a:tab pos="1156335" algn="l"/>
              </a:tabLst>
            </a:pPr>
            <a:r>
              <a:rPr sz="2000" spc="-5" dirty="0">
                <a:latin typeface="Times New Roman"/>
                <a:cs typeface="Times New Roman"/>
              </a:rPr>
              <a:t>Control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signal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17219" y="0"/>
            <a:ext cx="6909434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/>
              <a:t>Architecture</a:t>
            </a:r>
            <a:r>
              <a:rPr sz="3200" spc="5" dirty="0"/>
              <a:t> </a:t>
            </a:r>
            <a:r>
              <a:rPr sz="3200" spc="-5" dirty="0"/>
              <a:t>of</a:t>
            </a:r>
            <a:r>
              <a:rPr sz="3200" dirty="0"/>
              <a:t> </a:t>
            </a:r>
            <a:r>
              <a:rPr sz="3200" spc="-5" dirty="0"/>
              <a:t>Intel</a:t>
            </a:r>
            <a:r>
              <a:rPr sz="3200" dirty="0"/>
              <a:t> </a:t>
            </a:r>
            <a:r>
              <a:rPr sz="3200" spc="-5" dirty="0"/>
              <a:t>8085 Microprocessor</a:t>
            </a:r>
            <a:endParaRPr sz="32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762038"/>
            <a:ext cx="8534349" cy="5867361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04268" y="561594"/>
            <a:ext cx="433641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/>
              <a:t>Intel</a:t>
            </a:r>
            <a:r>
              <a:rPr sz="3200" spc="-25" dirty="0"/>
              <a:t> </a:t>
            </a:r>
            <a:r>
              <a:rPr sz="3200" spc="-5" dirty="0"/>
              <a:t>8085</a:t>
            </a:r>
            <a:r>
              <a:rPr sz="3200" spc="-25" dirty="0"/>
              <a:t> </a:t>
            </a:r>
            <a:r>
              <a:rPr sz="3200" spc="-5" dirty="0"/>
              <a:t>Microprocessor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535940" y="1153199"/>
            <a:ext cx="6781800" cy="273558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785"/>
              </a:spcBef>
              <a:buClr>
                <a:srgbClr val="9900CC"/>
              </a:buClr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Microprocessor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consists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of:</a:t>
            </a:r>
            <a:endParaRPr sz="28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585"/>
              </a:spcBef>
              <a:buFont typeface="Times New Roman"/>
              <a:buChar char="–"/>
              <a:tabLst>
                <a:tab pos="755650" algn="l"/>
                <a:tab pos="756285" algn="l"/>
              </a:tabLst>
            </a:pPr>
            <a:r>
              <a:rPr sz="24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Control</a:t>
            </a:r>
            <a:r>
              <a:rPr sz="2400" b="1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unit</a:t>
            </a:r>
            <a:r>
              <a:rPr sz="2400" spc="-5" dirty="0">
                <a:latin typeface="Times New Roman"/>
                <a:cs typeface="Times New Roman"/>
              </a:rPr>
              <a:t>: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control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microprocessor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operations.</a:t>
            </a:r>
            <a:endParaRPr sz="24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575"/>
              </a:spcBef>
              <a:buFont typeface="Times New Roman"/>
              <a:buChar char="–"/>
              <a:tabLst>
                <a:tab pos="755650" algn="l"/>
                <a:tab pos="756285" algn="l"/>
              </a:tabLst>
            </a:pPr>
            <a:r>
              <a:rPr sz="24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ALU</a:t>
            </a:r>
            <a:r>
              <a:rPr sz="2400" spc="-5" dirty="0">
                <a:latin typeface="Times New Roman"/>
                <a:cs typeface="Times New Roman"/>
              </a:rPr>
              <a:t>: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performs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5" dirty="0">
                <a:latin typeface="Times New Roman"/>
                <a:cs typeface="Times New Roman"/>
              </a:rPr>
              <a:t> processing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function.</a:t>
            </a:r>
            <a:endParaRPr sz="24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575"/>
              </a:spcBef>
              <a:buFont typeface="Times New Roman"/>
              <a:buChar char="–"/>
              <a:tabLst>
                <a:tab pos="755650" algn="l"/>
                <a:tab pos="756285" algn="l"/>
              </a:tabLst>
            </a:pPr>
            <a:r>
              <a:rPr sz="24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Registers</a:t>
            </a:r>
            <a:r>
              <a:rPr sz="2400" spc="-5" dirty="0">
                <a:latin typeface="Times New Roman"/>
                <a:cs typeface="Times New Roman"/>
              </a:rPr>
              <a:t>: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provide storage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internal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CPU.</a:t>
            </a:r>
            <a:endParaRPr sz="24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580"/>
              </a:spcBef>
              <a:buFont typeface="Times New Roman"/>
              <a:buChar char="–"/>
              <a:tabLst>
                <a:tab pos="755650" algn="l"/>
                <a:tab pos="756285" algn="l"/>
              </a:tabLst>
            </a:pPr>
            <a:r>
              <a:rPr sz="24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Interrupts</a:t>
            </a:r>
            <a:endParaRPr sz="24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575"/>
              </a:spcBef>
              <a:buFont typeface="Times New Roman"/>
              <a:buChar char="–"/>
              <a:tabLst>
                <a:tab pos="755650" algn="l"/>
                <a:tab pos="756285" algn="l"/>
              </a:tabLst>
            </a:pPr>
            <a:r>
              <a:rPr sz="24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Internal</a:t>
            </a:r>
            <a:r>
              <a:rPr sz="2400" b="1" spc="-3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data</a:t>
            </a:r>
            <a:r>
              <a:rPr sz="2400" b="1" spc="-2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bus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81704" y="814069"/>
            <a:ext cx="218059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The</a:t>
            </a:r>
            <a:r>
              <a:rPr spc="-95" dirty="0"/>
              <a:t> </a:t>
            </a:r>
            <a:r>
              <a:rPr spc="-5" dirty="0"/>
              <a:t>ALU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2002027"/>
            <a:ext cx="7432040" cy="3610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98755" indent="-342900" algn="just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addition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arithmetic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&amp;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logic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circuits,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ALU includes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accumulator, which </a:t>
            </a:r>
            <a:r>
              <a:rPr sz="2800" dirty="0">
                <a:latin typeface="Times New Roman"/>
                <a:cs typeface="Times New Roman"/>
              </a:rPr>
              <a:t>is </a:t>
            </a:r>
            <a:r>
              <a:rPr sz="2800" spc="-5" dirty="0">
                <a:latin typeface="Times New Roman"/>
                <a:cs typeface="Times New Roman"/>
              </a:rPr>
              <a:t>part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every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arithmetic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&amp;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logic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operation.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Times New Roman"/>
              <a:buChar char="•"/>
            </a:pPr>
            <a:endParaRPr sz="4050">
              <a:latin typeface="Times New Roman"/>
              <a:cs typeface="Times New Roman"/>
            </a:endParaRPr>
          </a:p>
          <a:p>
            <a:pPr marL="355600" marR="5080" indent="-343535">
              <a:lnSpc>
                <a:spcPct val="100000"/>
              </a:lnSpc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latin typeface="Times New Roman"/>
                <a:cs typeface="Times New Roman"/>
              </a:rPr>
              <a:t>Also, the </a:t>
            </a:r>
            <a:r>
              <a:rPr sz="2800" spc="-5" dirty="0">
                <a:latin typeface="Times New Roman"/>
                <a:cs typeface="Times New Roman"/>
              </a:rPr>
              <a:t>ALU includes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temporary register used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 holding </a:t>
            </a:r>
            <a:r>
              <a:rPr sz="2800" spc="-5" dirty="0">
                <a:latin typeface="Times New Roman"/>
                <a:cs typeface="Times New Roman"/>
              </a:rPr>
              <a:t>data temporarily </a:t>
            </a:r>
            <a:r>
              <a:rPr sz="2800" dirty="0">
                <a:latin typeface="Times New Roman"/>
                <a:cs typeface="Times New Roman"/>
              </a:rPr>
              <a:t>during the </a:t>
            </a:r>
            <a:r>
              <a:rPr sz="2800" spc="-5" dirty="0">
                <a:latin typeface="Times New Roman"/>
                <a:cs typeface="Times New Roman"/>
              </a:rPr>
              <a:t>execution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 the </a:t>
            </a:r>
            <a:r>
              <a:rPr sz="2800" spc="-5" dirty="0">
                <a:latin typeface="Times New Roman"/>
                <a:cs typeface="Times New Roman"/>
              </a:rPr>
              <a:t>operation. This temporary register </a:t>
            </a:r>
            <a:r>
              <a:rPr sz="2800" dirty="0">
                <a:latin typeface="Times New Roman"/>
                <a:cs typeface="Times New Roman"/>
              </a:rPr>
              <a:t>is not 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accessible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by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programmer.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35940" y="453146"/>
            <a:ext cx="7449820" cy="485457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495"/>
              </a:spcBef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Registers</a:t>
            </a:r>
            <a:endParaRPr sz="32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355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General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Purpose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Registers</a:t>
            </a:r>
            <a:endParaRPr sz="2800">
              <a:latin typeface="Times New Roman"/>
              <a:cs typeface="Times New Roman"/>
            </a:endParaRPr>
          </a:p>
          <a:p>
            <a:pPr marL="1155700" lvl="2" indent="-228600">
              <a:lnSpc>
                <a:spcPct val="100000"/>
              </a:lnSpc>
              <a:spcBef>
                <a:spcPts val="295"/>
              </a:spcBef>
              <a:buChar char="•"/>
              <a:tabLst>
                <a:tab pos="1155700" algn="l"/>
              </a:tabLst>
            </a:pPr>
            <a:r>
              <a:rPr sz="2400" dirty="0">
                <a:solidFill>
                  <a:srgbClr val="FF3300"/>
                </a:solidFill>
                <a:latin typeface="Times New Roman"/>
                <a:cs typeface="Times New Roman"/>
              </a:rPr>
              <a:t>B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300"/>
                </a:solidFill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3300"/>
                </a:solidFill>
                <a:latin typeface="Times New Roman"/>
                <a:cs typeface="Times New Roman"/>
              </a:rPr>
              <a:t>D</a:t>
            </a:r>
            <a:r>
              <a:rPr sz="2400" spc="-5" dirty="0">
                <a:latin typeface="Times New Roman"/>
                <a:cs typeface="Times New Roman"/>
              </a:rPr>
              <a:t>,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3300"/>
                </a:solidFill>
                <a:latin typeface="Times New Roman"/>
                <a:cs typeface="Times New Roman"/>
              </a:rPr>
              <a:t>E</a:t>
            </a:r>
            <a:r>
              <a:rPr sz="2400" spc="-5" dirty="0">
                <a:latin typeface="Times New Roman"/>
                <a:cs typeface="Times New Roman"/>
              </a:rPr>
              <a:t>, </a:t>
            </a:r>
            <a:r>
              <a:rPr sz="2400" spc="-5" dirty="0">
                <a:solidFill>
                  <a:srgbClr val="FF3300"/>
                </a:solidFill>
                <a:latin typeface="Times New Roman"/>
                <a:cs typeface="Times New Roman"/>
              </a:rPr>
              <a:t>H </a:t>
            </a:r>
            <a:r>
              <a:rPr sz="2400" dirty="0">
                <a:latin typeface="Times New Roman"/>
                <a:cs typeface="Times New Roman"/>
              </a:rPr>
              <a:t>&amp;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300"/>
                </a:solidFill>
                <a:latin typeface="Times New Roman"/>
                <a:cs typeface="Times New Roman"/>
              </a:rPr>
              <a:t>L</a:t>
            </a:r>
            <a:r>
              <a:rPr sz="2400" spc="-1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(8</a:t>
            </a:r>
            <a:r>
              <a:rPr sz="2400" spc="-5" dirty="0">
                <a:latin typeface="Times New Roman"/>
                <a:cs typeface="Times New Roman"/>
              </a:rPr>
              <a:t> bit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registers)</a:t>
            </a:r>
            <a:endParaRPr sz="2400">
              <a:latin typeface="Times New Roman"/>
              <a:cs typeface="Times New Roman"/>
            </a:endParaRPr>
          </a:p>
          <a:p>
            <a:pPr marL="1155700" lvl="2" indent="-228600">
              <a:lnSpc>
                <a:spcPct val="100000"/>
              </a:lnSpc>
              <a:spcBef>
                <a:spcPts val="290"/>
              </a:spcBef>
              <a:buChar char="•"/>
              <a:tabLst>
                <a:tab pos="1155700" algn="l"/>
              </a:tabLst>
            </a:pP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used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singly</a:t>
            </a:r>
            <a:endParaRPr sz="2400">
              <a:latin typeface="Times New Roman"/>
              <a:cs typeface="Times New Roman"/>
            </a:endParaRPr>
          </a:p>
          <a:p>
            <a:pPr marL="1155700" lvl="2" indent="-228600">
              <a:lnSpc>
                <a:spcPct val="100000"/>
              </a:lnSpc>
              <a:spcBef>
                <a:spcPts val="285"/>
              </a:spcBef>
              <a:buChar char="•"/>
              <a:tabLst>
                <a:tab pos="1155700" algn="l"/>
              </a:tabLst>
            </a:pPr>
            <a:r>
              <a:rPr sz="2400" spc="-5" dirty="0">
                <a:latin typeface="Times New Roman"/>
                <a:cs typeface="Times New Roman"/>
              </a:rPr>
              <a:t>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5" dirty="0">
                <a:latin typeface="Times New Roman"/>
                <a:cs typeface="Times New Roman"/>
              </a:rPr>
              <a:t> used as </a:t>
            </a:r>
            <a:r>
              <a:rPr sz="2400" dirty="0">
                <a:latin typeface="Times New Roman"/>
                <a:cs typeface="Times New Roman"/>
              </a:rPr>
              <a:t>16 </a:t>
            </a:r>
            <a:r>
              <a:rPr sz="2400" spc="-5" dirty="0">
                <a:latin typeface="Times New Roman"/>
                <a:cs typeface="Times New Roman"/>
              </a:rPr>
              <a:t>bit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register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pairs</a:t>
            </a:r>
            <a:endParaRPr sz="2400">
              <a:latin typeface="Times New Roman"/>
              <a:cs typeface="Times New Roman"/>
            </a:endParaRPr>
          </a:p>
          <a:p>
            <a:pPr marL="1612900" lvl="3" indent="-229870">
              <a:lnSpc>
                <a:spcPct val="100000"/>
              </a:lnSpc>
              <a:spcBef>
                <a:spcPts val="259"/>
              </a:spcBef>
              <a:buChar char="–"/>
              <a:tabLst>
                <a:tab pos="1613535" algn="l"/>
              </a:tabLst>
            </a:pPr>
            <a:r>
              <a:rPr sz="2000" spc="-5" dirty="0">
                <a:latin typeface="Times New Roman"/>
                <a:cs typeface="Times New Roman"/>
              </a:rPr>
              <a:t>BC,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DE,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HL</a:t>
            </a:r>
            <a:endParaRPr sz="2000">
              <a:latin typeface="Times New Roman"/>
              <a:cs typeface="Times New Roman"/>
            </a:endParaRPr>
          </a:p>
          <a:p>
            <a:pPr marL="1155065" marR="5080" lvl="2" indent="-228600">
              <a:lnSpc>
                <a:spcPts val="2590"/>
              </a:lnSpc>
              <a:spcBef>
                <a:spcPts val="600"/>
              </a:spcBef>
              <a:buChar char="•"/>
              <a:tabLst>
                <a:tab pos="1155700" algn="l"/>
              </a:tabLst>
            </a:pPr>
            <a:r>
              <a:rPr sz="2400" spc="-5" dirty="0">
                <a:latin typeface="Times New Roman"/>
                <a:cs typeface="Times New Roman"/>
              </a:rPr>
              <a:t>H </a:t>
            </a:r>
            <a:r>
              <a:rPr sz="2400" dirty="0">
                <a:latin typeface="Times New Roman"/>
                <a:cs typeface="Times New Roman"/>
              </a:rPr>
              <a:t>&amp; L can be </a:t>
            </a:r>
            <a:r>
              <a:rPr sz="2400" spc="-5" dirty="0">
                <a:latin typeface="Times New Roman"/>
                <a:cs typeface="Times New Roman"/>
              </a:rPr>
              <a:t>used as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data pointer (holds memory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address)</a:t>
            </a:r>
            <a:endParaRPr sz="24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29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Special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Purpose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Registers</a:t>
            </a:r>
            <a:endParaRPr sz="2800">
              <a:latin typeface="Times New Roman"/>
              <a:cs typeface="Times New Roman"/>
            </a:endParaRPr>
          </a:p>
          <a:p>
            <a:pPr marL="1155700" lvl="2" indent="-228600">
              <a:lnSpc>
                <a:spcPct val="100000"/>
              </a:lnSpc>
              <a:spcBef>
                <a:spcPts val="295"/>
              </a:spcBef>
              <a:buChar char="•"/>
              <a:tabLst>
                <a:tab pos="1155700" algn="l"/>
              </a:tabLst>
            </a:pPr>
            <a:r>
              <a:rPr sz="2400" spc="-5" dirty="0">
                <a:solidFill>
                  <a:srgbClr val="FF3300"/>
                </a:solidFill>
                <a:latin typeface="Times New Roman"/>
                <a:cs typeface="Times New Roman"/>
              </a:rPr>
              <a:t>Accumulator</a:t>
            </a:r>
            <a:r>
              <a:rPr sz="2400" spc="-30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(8</a:t>
            </a:r>
            <a:r>
              <a:rPr sz="2400" spc="-5" dirty="0">
                <a:latin typeface="Times New Roman"/>
                <a:cs typeface="Times New Roman"/>
              </a:rPr>
              <a:t> bit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register)</a:t>
            </a:r>
            <a:endParaRPr sz="2400">
              <a:latin typeface="Times New Roman"/>
              <a:cs typeface="Times New Roman"/>
            </a:endParaRPr>
          </a:p>
          <a:p>
            <a:pPr marL="1612900" lvl="3" indent="-229870">
              <a:lnSpc>
                <a:spcPct val="100000"/>
              </a:lnSpc>
              <a:spcBef>
                <a:spcPts val="254"/>
              </a:spcBef>
              <a:buChar char="–"/>
              <a:tabLst>
                <a:tab pos="1613535" algn="l"/>
              </a:tabLst>
            </a:pPr>
            <a:r>
              <a:rPr sz="2000" spc="-5" dirty="0">
                <a:latin typeface="Times New Roman"/>
                <a:cs typeface="Times New Roman"/>
              </a:rPr>
              <a:t>Store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8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bit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data</a:t>
            </a:r>
            <a:endParaRPr sz="2000">
              <a:latin typeface="Times New Roman"/>
              <a:cs typeface="Times New Roman"/>
            </a:endParaRPr>
          </a:p>
          <a:p>
            <a:pPr marL="1612900" lvl="3" indent="-229870">
              <a:lnSpc>
                <a:spcPct val="100000"/>
              </a:lnSpc>
              <a:spcBef>
                <a:spcPts val="240"/>
              </a:spcBef>
              <a:buChar char="–"/>
              <a:tabLst>
                <a:tab pos="1613535" algn="l"/>
              </a:tabLst>
            </a:pPr>
            <a:r>
              <a:rPr sz="2000" spc="-5" dirty="0">
                <a:latin typeface="Times New Roman"/>
                <a:cs typeface="Times New Roman"/>
              </a:rPr>
              <a:t>Store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result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an operation</a:t>
            </a:r>
            <a:endParaRPr sz="20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102350" y="3676650"/>
          <a:ext cx="2590800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R="14604" algn="ctr">
                        <a:lnSpc>
                          <a:spcPts val="1375"/>
                        </a:lnSpc>
                        <a:spcBef>
                          <a:spcPts val="325"/>
                        </a:spcBef>
                      </a:pPr>
                      <a:r>
                        <a:rPr sz="1200" spc="-5" dirty="0">
                          <a:latin typeface="Arial MT"/>
                          <a:cs typeface="Arial MT"/>
                        </a:rPr>
                        <a:t>Accumulator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ts val="1375"/>
                        </a:lnSpc>
                        <a:spcBef>
                          <a:spcPts val="325"/>
                        </a:spcBef>
                      </a:pPr>
                      <a:r>
                        <a:rPr sz="1200" spc="-10" dirty="0">
                          <a:latin typeface="Arial MT"/>
                          <a:cs typeface="Arial MT"/>
                        </a:rPr>
                        <a:t>Flags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R="1397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B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52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C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52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R="1524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D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52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5397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E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52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R="1524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H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52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L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52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 gridSpan="2">
                  <a:txBody>
                    <a:bodyPr/>
                    <a:lstStyle/>
                    <a:p>
                      <a:pPr marL="70040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spc="-5" dirty="0">
                          <a:latin typeface="Arial MT"/>
                          <a:cs typeface="Arial MT"/>
                        </a:rPr>
                        <a:t>Program</a:t>
                      </a:r>
                      <a:r>
                        <a:rPr sz="12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Counter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52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 gridSpan="2">
                  <a:txBody>
                    <a:bodyPr/>
                    <a:lstStyle/>
                    <a:p>
                      <a:pPr marL="83121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spc="-5" dirty="0">
                          <a:latin typeface="Arial MT"/>
                          <a:cs typeface="Arial MT"/>
                        </a:rPr>
                        <a:t>Stack</a:t>
                      </a:r>
                      <a:r>
                        <a:rPr sz="12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Pointer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52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5988050" y="3575050"/>
            <a:ext cx="2857500" cy="2247900"/>
            <a:chOff x="5988050" y="3575050"/>
            <a:chExt cx="2857500" cy="2247900"/>
          </a:xfrm>
        </p:grpSpPr>
        <p:sp>
          <p:nvSpPr>
            <p:cNvPr id="6" name="object 6"/>
            <p:cNvSpPr/>
            <p:nvPr/>
          </p:nvSpPr>
          <p:spPr>
            <a:xfrm>
              <a:off x="5994400" y="3581400"/>
              <a:ext cx="2844800" cy="1587500"/>
            </a:xfrm>
            <a:custGeom>
              <a:avLst/>
              <a:gdLst/>
              <a:ahLst/>
              <a:cxnLst/>
              <a:rect l="l" t="t" r="r" b="b"/>
              <a:pathLst>
                <a:path w="2844800" h="1587500">
                  <a:moveTo>
                    <a:pt x="0" y="0"/>
                  </a:moveTo>
                  <a:lnTo>
                    <a:pt x="2844800" y="0"/>
                  </a:lnTo>
                  <a:lnTo>
                    <a:pt x="2844800" y="1587500"/>
                  </a:lnTo>
                  <a:lnTo>
                    <a:pt x="0" y="15875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835900" y="5168897"/>
              <a:ext cx="533400" cy="622300"/>
            </a:xfrm>
            <a:custGeom>
              <a:avLst/>
              <a:gdLst/>
              <a:ahLst/>
              <a:cxnLst/>
              <a:rect l="l" t="t" r="r" b="b"/>
              <a:pathLst>
                <a:path w="533400" h="622300">
                  <a:moveTo>
                    <a:pt x="266700" y="0"/>
                  </a:moveTo>
                  <a:lnTo>
                    <a:pt x="0" y="124460"/>
                  </a:lnTo>
                  <a:lnTo>
                    <a:pt x="133350" y="124460"/>
                  </a:lnTo>
                  <a:lnTo>
                    <a:pt x="133350" y="497840"/>
                  </a:lnTo>
                  <a:lnTo>
                    <a:pt x="0" y="497840"/>
                  </a:lnTo>
                  <a:lnTo>
                    <a:pt x="266700" y="622300"/>
                  </a:lnTo>
                  <a:lnTo>
                    <a:pt x="533400" y="497840"/>
                  </a:lnTo>
                  <a:lnTo>
                    <a:pt x="400050" y="497840"/>
                  </a:lnTo>
                  <a:lnTo>
                    <a:pt x="400050" y="124460"/>
                  </a:lnTo>
                  <a:lnTo>
                    <a:pt x="533400" y="124460"/>
                  </a:lnTo>
                  <a:lnTo>
                    <a:pt x="266700" y="0"/>
                  </a:lnTo>
                  <a:close/>
                </a:path>
              </a:pathLst>
            </a:custGeom>
            <a:solidFill>
              <a:srgbClr val="CC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835900" y="5168897"/>
              <a:ext cx="533400" cy="622300"/>
            </a:xfrm>
            <a:custGeom>
              <a:avLst/>
              <a:gdLst/>
              <a:ahLst/>
              <a:cxnLst/>
              <a:rect l="l" t="t" r="r" b="b"/>
              <a:pathLst>
                <a:path w="533400" h="622300">
                  <a:moveTo>
                    <a:pt x="0" y="124460"/>
                  </a:moveTo>
                  <a:lnTo>
                    <a:pt x="266700" y="0"/>
                  </a:lnTo>
                  <a:lnTo>
                    <a:pt x="533400" y="124460"/>
                  </a:lnTo>
                  <a:lnTo>
                    <a:pt x="400050" y="124460"/>
                  </a:lnTo>
                  <a:lnTo>
                    <a:pt x="400050" y="497840"/>
                  </a:lnTo>
                  <a:lnTo>
                    <a:pt x="533400" y="497840"/>
                  </a:lnTo>
                  <a:lnTo>
                    <a:pt x="266700" y="622300"/>
                  </a:lnTo>
                  <a:lnTo>
                    <a:pt x="0" y="497840"/>
                  </a:lnTo>
                  <a:lnTo>
                    <a:pt x="133350" y="497840"/>
                  </a:lnTo>
                  <a:lnTo>
                    <a:pt x="133350" y="124460"/>
                  </a:lnTo>
                  <a:lnTo>
                    <a:pt x="0" y="12446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375400" y="5168900"/>
              <a:ext cx="736600" cy="647700"/>
            </a:xfrm>
            <a:custGeom>
              <a:avLst/>
              <a:gdLst/>
              <a:ahLst/>
              <a:cxnLst/>
              <a:rect l="l" t="t" r="r" b="b"/>
              <a:pathLst>
                <a:path w="736600" h="647700">
                  <a:moveTo>
                    <a:pt x="552450" y="0"/>
                  </a:moveTo>
                  <a:lnTo>
                    <a:pt x="184150" y="0"/>
                  </a:lnTo>
                  <a:lnTo>
                    <a:pt x="184150" y="485775"/>
                  </a:lnTo>
                  <a:lnTo>
                    <a:pt x="0" y="485775"/>
                  </a:lnTo>
                  <a:lnTo>
                    <a:pt x="368300" y="647700"/>
                  </a:lnTo>
                  <a:lnTo>
                    <a:pt x="736600" y="485775"/>
                  </a:lnTo>
                  <a:lnTo>
                    <a:pt x="552450" y="485775"/>
                  </a:lnTo>
                  <a:lnTo>
                    <a:pt x="552450" y="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75400" y="5168900"/>
              <a:ext cx="736600" cy="647700"/>
            </a:xfrm>
            <a:custGeom>
              <a:avLst/>
              <a:gdLst/>
              <a:ahLst/>
              <a:cxnLst/>
              <a:rect l="l" t="t" r="r" b="b"/>
              <a:pathLst>
                <a:path w="736600" h="647700">
                  <a:moveTo>
                    <a:pt x="0" y="485775"/>
                  </a:moveTo>
                  <a:lnTo>
                    <a:pt x="184150" y="485775"/>
                  </a:lnTo>
                  <a:lnTo>
                    <a:pt x="184150" y="0"/>
                  </a:lnTo>
                  <a:lnTo>
                    <a:pt x="552450" y="0"/>
                  </a:lnTo>
                  <a:lnTo>
                    <a:pt x="552450" y="485775"/>
                  </a:lnTo>
                  <a:lnTo>
                    <a:pt x="736600" y="485775"/>
                  </a:lnTo>
                  <a:lnTo>
                    <a:pt x="368300" y="647700"/>
                  </a:lnTo>
                  <a:lnTo>
                    <a:pt x="0" y="4857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882139" y="5312754"/>
            <a:ext cx="456184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Times New Roman"/>
                <a:cs typeface="Times New Roman"/>
              </a:rPr>
              <a:t>–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Store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8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bit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data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during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I/O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transfer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100" spc="-7" baseline="19841" dirty="0">
                <a:latin typeface="Arial MT"/>
                <a:cs typeface="Arial MT"/>
              </a:rPr>
              <a:t>Address</a:t>
            </a:r>
            <a:endParaRPr sz="2100" baseline="19841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025801" y="5322760"/>
            <a:ext cx="69342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4165" algn="l"/>
              </a:tabLst>
            </a:pPr>
            <a:r>
              <a:rPr sz="1400" spc="-5" dirty="0">
                <a:latin typeface="Arial MT"/>
                <a:cs typeface="Arial MT"/>
              </a:rPr>
              <a:t>8	</a:t>
            </a:r>
            <a:r>
              <a:rPr sz="1400" spc="-10" dirty="0">
                <a:latin typeface="Arial MT"/>
                <a:cs typeface="Arial MT"/>
              </a:rPr>
              <a:t>D</a:t>
            </a:r>
            <a:r>
              <a:rPr sz="1400" spc="-5" dirty="0">
                <a:latin typeface="Arial MT"/>
                <a:cs typeface="Arial MT"/>
              </a:rPr>
              <a:t>ata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616086" y="5322760"/>
            <a:ext cx="224154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 MT"/>
                <a:cs typeface="Arial MT"/>
              </a:rPr>
              <a:t>16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35940" y="555981"/>
            <a:ext cx="7885430" cy="181038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95"/>
              </a:spcBef>
              <a:buClr>
                <a:srgbClr val="FF3300"/>
              </a:buClr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3300"/>
                </a:solidFill>
                <a:latin typeface="Times New Roman"/>
                <a:cs typeface="Times New Roman"/>
              </a:rPr>
              <a:t>Flag</a:t>
            </a:r>
            <a:r>
              <a:rPr sz="2400" spc="-80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3300"/>
                </a:solidFill>
                <a:latin typeface="Times New Roman"/>
                <a:cs typeface="Times New Roman"/>
              </a:rPr>
              <a:t>Register</a:t>
            </a:r>
            <a:endParaRPr sz="2400">
              <a:latin typeface="Times New Roman"/>
              <a:cs typeface="Times New Roman"/>
            </a:endParaRPr>
          </a:p>
          <a:p>
            <a:pPr marL="755650" marR="124460" lvl="1" indent="-286385">
              <a:lnSpc>
                <a:spcPct val="100000"/>
              </a:lnSpc>
              <a:spcBef>
                <a:spcPts val="500"/>
              </a:spcBef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Times New Roman"/>
                <a:cs typeface="Times New Roman"/>
              </a:rPr>
              <a:t>8 bit register – shows the status of the microprocessor before/after an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operation</a:t>
            </a:r>
            <a:endParaRPr sz="2000">
              <a:latin typeface="Times New Roman"/>
              <a:cs typeface="Times New Roman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480"/>
              </a:spcBef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Times New Roman"/>
                <a:cs typeface="Times New Roman"/>
              </a:rPr>
              <a:t>S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(sign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flag),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Z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(zero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flag),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AC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(auxillary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carry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flag),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(parity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flag) &amp;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CY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(carry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flag)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3139" y="4168794"/>
            <a:ext cx="6029325" cy="138112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297815" indent="-285750">
              <a:lnSpc>
                <a:spcPct val="100000"/>
              </a:lnSpc>
              <a:spcBef>
                <a:spcPts val="585"/>
              </a:spcBef>
              <a:buChar char="–"/>
              <a:tabLst>
                <a:tab pos="297815" algn="l"/>
                <a:tab pos="298450" algn="l"/>
              </a:tabLst>
            </a:pPr>
            <a:r>
              <a:rPr sz="2000" u="sng" spc="-5" dirty="0">
                <a:solidFill>
                  <a:srgbClr val="FF9900"/>
                </a:solidFill>
                <a:uFill>
                  <a:solidFill>
                    <a:srgbClr val="FF9900"/>
                  </a:solidFill>
                </a:uFill>
                <a:latin typeface="Times New Roman"/>
                <a:cs typeface="Times New Roman"/>
              </a:rPr>
              <a:t>Sign</a:t>
            </a:r>
            <a:r>
              <a:rPr sz="2000" u="sng" spc="-50" dirty="0">
                <a:solidFill>
                  <a:srgbClr val="FF9900"/>
                </a:solidFill>
                <a:uFill>
                  <a:solidFill>
                    <a:srgbClr val="FF99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u="sng" spc="-5" dirty="0">
                <a:solidFill>
                  <a:srgbClr val="FF9900"/>
                </a:solidFill>
                <a:uFill>
                  <a:solidFill>
                    <a:srgbClr val="FF9900"/>
                  </a:solidFill>
                </a:uFill>
                <a:latin typeface="Times New Roman"/>
                <a:cs typeface="Times New Roman"/>
              </a:rPr>
              <a:t>Flag</a:t>
            </a:r>
            <a:endParaRPr sz="200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440"/>
              </a:spcBef>
              <a:buChar char="•"/>
              <a:tabLst>
                <a:tab pos="697865" algn="l"/>
                <a:tab pos="698500" algn="l"/>
              </a:tabLst>
            </a:pPr>
            <a:r>
              <a:rPr sz="1800" spc="-5" dirty="0">
                <a:latin typeface="Times New Roman"/>
                <a:cs typeface="Times New Roman"/>
              </a:rPr>
              <a:t>Used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 </a:t>
            </a:r>
            <a:r>
              <a:rPr sz="1800" spc="-5" dirty="0">
                <a:latin typeface="Times New Roman"/>
                <a:cs typeface="Times New Roman"/>
              </a:rPr>
              <a:t>indicating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sign</a:t>
            </a:r>
            <a:r>
              <a:rPr sz="1800" dirty="0">
                <a:latin typeface="Times New Roman"/>
                <a:cs typeface="Times New Roman"/>
              </a:rPr>
              <a:t> of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data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in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accumulator</a:t>
            </a:r>
            <a:endParaRPr sz="1800">
              <a:latin typeface="Times New Roman"/>
              <a:cs typeface="Times New Roman"/>
            </a:endParaRPr>
          </a:p>
          <a:p>
            <a:pPr marL="698500" lvl="1" indent="-229235">
              <a:lnSpc>
                <a:spcPct val="100000"/>
              </a:lnSpc>
              <a:spcBef>
                <a:spcPts val="430"/>
              </a:spcBef>
              <a:buChar char="•"/>
              <a:tabLst>
                <a:tab pos="697865" algn="l"/>
                <a:tab pos="698500" algn="l"/>
              </a:tabLst>
            </a:pP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sign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flag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is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set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if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negative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(1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– </a:t>
            </a:r>
            <a:r>
              <a:rPr sz="1800" spc="-5" dirty="0">
                <a:latin typeface="Times New Roman"/>
                <a:cs typeface="Times New Roman"/>
              </a:rPr>
              <a:t>negative)</a:t>
            </a:r>
            <a:endParaRPr sz="180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434"/>
              </a:spcBef>
              <a:buChar char="•"/>
              <a:tabLst>
                <a:tab pos="697865" algn="l"/>
                <a:tab pos="698500" algn="l"/>
              </a:tabLst>
            </a:pPr>
            <a:r>
              <a:rPr sz="1800" spc="-5" dirty="0">
                <a:latin typeface="Times New Roman"/>
                <a:cs typeface="Times New Roman"/>
              </a:rPr>
              <a:t>The sign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flag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is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reset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if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positive</a:t>
            </a:r>
            <a:r>
              <a:rPr sz="1800" dirty="0">
                <a:latin typeface="Times New Roman"/>
                <a:cs typeface="Times New Roman"/>
              </a:rPr>
              <a:t> (0 </a:t>
            </a:r>
            <a:r>
              <a:rPr sz="1800" spc="-5" dirty="0">
                <a:latin typeface="Times New Roman"/>
                <a:cs typeface="Times New Roman"/>
              </a:rPr>
              <a:t>–positive)</a:t>
            </a:r>
            <a:endParaRPr sz="18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631251" y="2848665"/>
          <a:ext cx="6170928" cy="2253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6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96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658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25309">
                <a:tc>
                  <a:txBody>
                    <a:bodyPr/>
                    <a:lstStyle/>
                    <a:p>
                      <a:pPr marL="127000">
                        <a:lnSpc>
                          <a:spcPts val="167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D7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D6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D5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D4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D3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D2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D1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ts val="167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D0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463675" y="3230562"/>
          <a:ext cx="6477000" cy="419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9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Z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X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marL="26289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AC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X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P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X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marL="26352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CY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35940" y="3052064"/>
            <a:ext cx="16783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FF9900"/>
              </a:buClr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sz="2400" u="heavy" spc="-5" dirty="0">
                <a:solidFill>
                  <a:srgbClr val="FF9900"/>
                </a:solidFill>
                <a:uFill>
                  <a:solidFill>
                    <a:srgbClr val="FF9900"/>
                  </a:solidFill>
                </a:uFill>
                <a:latin typeface="Times New Roman"/>
                <a:cs typeface="Times New Roman"/>
              </a:rPr>
              <a:t>Carry</a:t>
            </a:r>
            <a:r>
              <a:rPr sz="2400" u="heavy" spc="-95" dirty="0">
                <a:solidFill>
                  <a:srgbClr val="FF9900"/>
                </a:solidFill>
                <a:uFill>
                  <a:solidFill>
                    <a:srgbClr val="FF99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heavy" spc="-5" dirty="0">
                <a:solidFill>
                  <a:srgbClr val="FF9900"/>
                </a:solidFill>
                <a:uFill>
                  <a:solidFill>
                    <a:srgbClr val="FF9900"/>
                  </a:solidFill>
                </a:uFill>
                <a:latin typeface="Times New Roman"/>
                <a:cs typeface="Times New Roman"/>
              </a:rPr>
              <a:t>Flag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3139" y="3481070"/>
            <a:ext cx="635190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97815" algn="l"/>
              </a:tabLst>
            </a:pPr>
            <a:r>
              <a:rPr sz="2000" spc="-5" dirty="0">
                <a:latin typeface="Times New Roman"/>
                <a:cs typeface="Times New Roman"/>
              </a:rPr>
              <a:t>–	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set if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there is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carry or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borrow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from arithmetic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operation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708381"/>
            <a:ext cx="7674609" cy="196850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9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u="heavy" spc="-5" dirty="0">
                <a:solidFill>
                  <a:srgbClr val="FF9900"/>
                </a:solidFill>
                <a:uFill>
                  <a:solidFill>
                    <a:srgbClr val="FF9900"/>
                  </a:solidFill>
                </a:uFill>
                <a:latin typeface="Times New Roman"/>
                <a:cs typeface="Times New Roman"/>
              </a:rPr>
              <a:t>Zero</a:t>
            </a:r>
            <a:r>
              <a:rPr sz="2400" u="heavy" spc="-50" dirty="0">
                <a:solidFill>
                  <a:srgbClr val="FF9900"/>
                </a:solidFill>
                <a:uFill>
                  <a:solidFill>
                    <a:srgbClr val="FF99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heavy" spc="-5" dirty="0">
                <a:solidFill>
                  <a:srgbClr val="FF9900"/>
                </a:solidFill>
                <a:uFill>
                  <a:solidFill>
                    <a:srgbClr val="FF9900"/>
                  </a:solidFill>
                </a:uFill>
                <a:latin typeface="Times New Roman"/>
                <a:cs typeface="Times New Roman"/>
              </a:rPr>
              <a:t>Flag</a:t>
            </a:r>
            <a:endParaRPr sz="2400">
              <a:latin typeface="Times New Roman"/>
              <a:cs typeface="Times New Roman"/>
            </a:endParaRPr>
          </a:p>
          <a:p>
            <a:pPr marL="755015" lvl="1" indent="-285750">
              <a:lnSpc>
                <a:spcPct val="100000"/>
              </a:lnSpc>
              <a:spcBef>
                <a:spcPts val="500"/>
              </a:spcBef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set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result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obtained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after an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operation is 0</a:t>
            </a:r>
            <a:endParaRPr sz="2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475"/>
              </a:spcBef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Times New Roman"/>
                <a:cs typeface="Times New Roman"/>
              </a:rPr>
              <a:t>Is set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following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an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increment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decrement operation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of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that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register</a:t>
            </a:r>
            <a:endParaRPr sz="2000">
              <a:latin typeface="Times New Roman"/>
              <a:cs typeface="Times New Roman"/>
            </a:endParaRPr>
          </a:p>
          <a:p>
            <a:pPr marR="3633470" algn="r">
              <a:lnSpc>
                <a:spcPct val="100000"/>
              </a:lnSpc>
              <a:spcBef>
                <a:spcPts val="1785"/>
              </a:spcBef>
            </a:pPr>
            <a:r>
              <a:rPr sz="1600" spc="-35" dirty="0">
                <a:latin typeface="Arial MT"/>
                <a:cs typeface="Arial MT"/>
              </a:rPr>
              <a:t>10110011</a:t>
            </a:r>
            <a:endParaRPr sz="1600">
              <a:latin typeface="Arial MT"/>
              <a:cs typeface="Arial MT"/>
            </a:endParaRPr>
          </a:p>
          <a:p>
            <a:pPr marR="3582035" algn="r">
              <a:lnSpc>
                <a:spcPct val="100000"/>
              </a:lnSpc>
              <a:spcBef>
                <a:spcPts val="425"/>
              </a:spcBef>
              <a:tabLst>
                <a:tab pos="288925" algn="l"/>
              </a:tabLst>
            </a:pPr>
            <a:r>
              <a:rPr sz="1600" dirty="0">
                <a:latin typeface="Arial MT"/>
                <a:cs typeface="Arial MT"/>
              </a:rPr>
              <a:t>+	</a:t>
            </a:r>
            <a:r>
              <a:rPr sz="1600" spc="-20" dirty="0">
                <a:latin typeface="Arial MT"/>
                <a:cs typeface="Arial MT"/>
              </a:rPr>
              <a:t>01001101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672199" y="2863352"/>
            <a:ext cx="1020444" cy="0"/>
          </a:xfrm>
          <a:custGeom>
            <a:avLst/>
            <a:gdLst/>
            <a:ahLst/>
            <a:cxnLst/>
            <a:rect l="l" t="t" r="r" b="b"/>
            <a:pathLst>
              <a:path w="1020445">
                <a:moveTo>
                  <a:pt x="0" y="0"/>
                </a:moveTo>
                <a:lnTo>
                  <a:pt x="1020321" y="0"/>
                </a:lnTo>
              </a:path>
            </a:pathLst>
          </a:custGeom>
          <a:ln w="17903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431630" y="2992460"/>
            <a:ext cx="121094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5910" algn="l"/>
              </a:tabLst>
            </a:pPr>
            <a:r>
              <a:rPr sz="1600" dirty="0">
                <a:latin typeface="Arial MT"/>
                <a:cs typeface="Arial MT"/>
              </a:rPr>
              <a:t>1	</a:t>
            </a:r>
            <a:r>
              <a:rPr sz="1600" spc="-5" dirty="0">
                <a:latin typeface="Arial MT"/>
                <a:cs typeface="Arial MT"/>
              </a:rPr>
              <a:t>00000000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719831" y="5453932"/>
            <a:ext cx="1020444" cy="0"/>
          </a:xfrm>
          <a:custGeom>
            <a:avLst/>
            <a:gdLst/>
            <a:ahLst/>
            <a:cxnLst/>
            <a:rect l="l" t="t" r="r" b="b"/>
            <a:pathLst>
              <a:path w="1020445">
                <a:moveTo>
                  <a:pt x="0" y="0"/>
                </a:moveTo>
                <a:lnTo>
                  <a:pt x="1020321" y="0"/>
                </a:lnTo>
              </a:path>
            </a:pathLst>
          </a:custGeom>
          <a:ln w="17903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907760" y="5583040"/>
            <a:ext cx="6921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Arial MT"/>
                <a:cs typeface="Arial MT"/>
              </a:rPr>
              <a:t>Carry</a:t>
            </a:r>
            <a:r>
              <a:rPr sz="1600" spc="-6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1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45176" y="5583040"/>
            <a:ext cx="98488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Arial MT"/>
                <a:cs typeface="Arial MT"/>
              </a:rPr>
              <a:t>0010</a:t>
            </a:r>
            <a:r>
              <a:rPr sz="1600" spc="-7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0001</a:t>
            </a:r>
            <a:endParaRPr sz="1600">
              <a:latin typeface="Arial MT"/>
              <a:cs typeface="Arial MT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2402228" y="4731818"/>
          <a:ext cx="5041264" cy="5253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46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4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2678">
                <a:tc>
                  <a:txBody>
                    <a:bodyPr/>
                    <a:lstStyle/>
                    <a:p>
                      <a:pPr marR="1302385" algn="r">
                        <a:lnSpc>
                          <a:spcPts val="1770"/>
                        </a:lnSpc>
                      </a:pPr>
                      <a:r>
                        <a:rPr sz="1600" spc="-35" dirty="0">
                          <a:latin typeface="Arial MT"/>
                          <a:cs typeface="Arial MT"/>
                        </a:rPr>
                        <a:t>1011</a:t>
                      </a:r>
                      <a:r>
                        <a:rPr sz="16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0101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ts val="1770"/>
                        </a:lnSpc>
                      </a:pPr>
                      <a:r>
                        <a:rPr sz="1600" spc="-35" dirty="0">
                          <a:latin typeface="Arial MT"/>
                          <a:cs typeface="Arial MT"/>
                        </a:rPr>
                        <a:t>1011</a:t>
                      </a:r>
                      <a:r>
                        <a:rPr sz="16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0101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00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678">
                <a:tc>
                  <a:txBody>
                    <a:bodyPr/>
                    <a:lstStyle/>
                    <a:p>
                      <a:pPr marR="1287780" algn="r">
                        <a:lnSpc>
                          <a:spcPts val="1839"/>
                        </a:lnSpc>
                        <a:spcBef>
                          <a:spcPts val="125"/>
                        </a:spcBef>
                        <a:tabLst>
                          <a:tab pos="290195" algn="l"/>
                        </a:tabLst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+	</a:t>
                      </a:r>
                      <a:r>
                        <a:rPr sz="1600" spc="-35" dirty="0">
                          <a:latin typeface="Arial MT"/>
                          <a:cs typeface="Arial MT"/>
                        </a:rPr>
                        <a:t>0110</a:t>
                      </a:r>
                      <a:r>
                        <a:rPr sz="16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35" dirty="0">
                          <a:latin typeface="Arial MT"/>
                          <a:cs typeface="Arial MT"/>
                        </a:rPr>
                        <a:t>1100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5875" marB="0"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marR="69215" algn="r">
                        <a:lnSpc>
                          <a:spcPts val="1839"/>
                        </a:lnSpc>
                        <a:spcBef>
                          <a:spcPts val="125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-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5875" marB="0"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marL="62865" algn="ctr">
                        <a:lnSpc>
                          <a:spcPts val="1839"/>
                        </a:lnSpc>
                        <a:spcBef>
                          <a:spcPts val="125"/>
                        </a:spcBef>
                      </a:pPr>
                      <a:r>
                        <a:rPr sz="1600" spc="-35" dirty="0">
                          <a:latin typeface="Arial MT"/>
                          <a:cs typeface="Arial MT"/>
                        </a:rPr>
                        <a:t>1100</a:t>
                      </a:r>
                      <a:r>
                        <a:rPr sz="16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35" dirty="0">
                          <a:latin typeface="Arial MT"/>
                          <a:cs typeface="Arial MT"/>
                        </a:rPr>
                        <a:t>1100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5875" marB="0">
                    <a:solidFill>
                      <a:srgbClr val="00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object 12"/>
          <p:cNvSpPr/>
          <p:nvPr/>
        </p:nvSpPr>
        <p:spPr>
          <a:xfrm>
            <a:off x="6472540" y="5453729"/>
            <a:ext cx="1020444" cy="0"/>
          </a:xfrm>
          <a:custGeom>
            <a:avLst/>
            <a:gdLst/>
            <a:ahLst/>
            <a:cxnLst/>
            <a:rect l="l" t="t" r="r" b="b"/>
            <a:pathLst>
              <a:path w="1020445">
                <a:moveTo>
                  <a:pt x="0" y="0"/>
                </a:moveTo>
                <a:lnTo>
                  <a:pt x="1020321" y="0"/>
                </a:lnTo>
              </a:path>
            </a:pathLst>
          </a:custGeom>
          <a:ln w="17903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488957" y="5582836"/>
            <a:ext cx="83820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Arial MT"/>
                <a:cs typeface="Arial MT"/>
              </a:rPr>
              <a:t>Borrow</a:t>
            </a:r>
            <a:r>
              <a:rPr sz="1600" spc="-6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1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72657" y="5582836"/>
            <a:ext cx="953769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25" dirty="0">
                <a:latin typeface="Arial MT"/>
                <a:cs typeface="Arial MT"/>
              </a:rPr>
              <a:t>11</a:t>
            </a:r>
            <a:r>
              <a:rPr sz="1600" spc="-5" dirty="0">
                <a:latin typeface="Arial MT"/>
                <a:cs typeface="Arial MT"/>
              </a:rPr>
              <a:t>1</a:t>
            </a:r>
            <a:r>
              <a:rPr sz="1600" dirty="0">
                <a:latin typeface="Arial MT"/>
                <a:cs typeface="Arial MT"/>
              </a:rPr>
              <a:t>0 </a:t>
            </a:r>
            <a:r>
              <a:rPr sz="1600" spc="-5" dirty="0">
                <a:latin typeface="Arial MT"/>
                <a:cs typeface="Arial MT"/>
              </a:rPr>
              <a:t>1001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59740" y="619799"/>
            <a:ext cx="4962525" cy="236982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85"/>
              </a:spcBef>
              <a:buClr>
                <a:srgbClr val="FF9900"/>
              </a:buClr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sz="2800" u="heavy" spc="-5" dirty="0">
                <a:solidFill>
                  <a:srgbClr val="FF9900"/>
                </a:solidFill>
                <a:uFill>
                  <a:solidFill>
                    <a:srgbClr val="FF9900"/>
                  </a:solidFill>
                </a:uFill>
                <a:latin typeface="Times New Roman"/>
                <a:cs typeface="Times New Roman"/>
              </a:rPr>
              <a:t>Auxillary</a:t>
            </a:r>
            <a:r>
              <a:rPr sz="2800" u="heavy" spc="-35" dirty="0">
                <a:solidFill>
                  <a:srgbClr val="FF9900"/>
                </a:solidFill>
                <a:uFill>
                  <a:solidFill>
                    <a:srgbClr val="FF99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u="heavy" spc="-5" dirty="0">
                <a:solidFill>
                  <a:srgbClr val="FF9900"/>
                </a:solidFill>
                <a:uFill>
                  <a:solidFill>
                    <a:srgbClr val="FF9900"/>
                  </a:solidFill>
                </a:uFill>
                <a:latin typeface="Times New Roman"/>
                <a:cs typeface="Times New Roman"/>
              </a:rPr>
              <a:t>Carry</a:t>
            </a:r>
            <a:r>
              <a:rPr sz="2800" u="heavy" spc="-25" dirty="0">
                <a:solidFill>
                  <a:srgbClr val="FF9900"/>
                </a:solidFill>
                <a:uFill>
                  <a:solidFill>
                    <a:srgbClr val="FF99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u="heavy" spc="-5" dirty="0">
                <a:solidFill>
                  <a:srgbClr val="FF9900"/>
                </a:solidFill>
                <a:uFill>
                  <a:solidFill>
                    <a:srgbClr val="FF9900"/>
                  </a:solidFill>
                </a:uFill>
                <a:latin typeface="Times New Roman"/>
                <a:cs typeface="Times New Roman"/>
              </a:rPr>
              <a:t>Flag</a:t>
            </a:r>
            <a:endParaRPr sz="28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585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Is set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if there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 carry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out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bit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6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u="heavy" spc="-5" dirty="0">
                <a:solidFill>
                  <a:srgbClr val="FF9900"/>
                </a:solidFill>
                <a:uFill>
                  <a:solidFill>
                    <a:srgbClr val="FF9900"/>
                  </a:solidFill>
                </a:uFill>
                <a:latin typeface="Times New Roman"/>
                <a:cs typeface="Times New Roman"/>
              </a:rPr>
              <a:t>Parity</a:t>
            </a:r>
            <a:r>
              <a:rPr sz="2800" u="heavy" spc="-45" dirty="0">
                <a:solidFill>
                  <a:srgbClr val="FF9900"/>
                </a:solidFill>
                <a:uFill>
                  <a:solidFill>
                    <a:srgbClr val="FF99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u="heavy" spc="-5" dirty="0">
                <a:solidFill>
                  <a:srgbClr val="FF9900"/>
                </a:solidFill>
                <a:uFill>
                  <a:solidFill>
                    <a:srgbClr val="FF9900"/>
                  </a:solidFill>
                </a:uFill>
                <a:latin typeface="Times New Roman"/>
                <a:cs typeface="Times New Roman"/>
              </a:rPr>
              <a:t>Flag</a:t>
            </a:r>
            <a:endParaRPr sz="28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590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set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parity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 </a:t>
            </a:r>
            <a:r>
              <a:rPr sz="2400" dirty="0">
                <a:latin typeface="Times New Roman"/>
                <a:cs typeface="Times New Roman"/>
              </a:rPr>
              <a:t>even</a:t>
            </a:r>
            <a:endParaRPr sz="24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575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cleared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parity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odd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21516" y="814069"/>
            <a:ext cx="569912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The</a:t>
            </a:r>
            <a:r>
              <a:rPr spc="-30" dirty="0"/>
              <a:t> </a:t>
            </a:r>
            <a:r>
              <a:rPr spc="-5" dirty="0"/>
              <a:t>Internal</a:t>
            </a:r>
            <a:r>
              <a:rPr spc="-25" dirty="0"/>
              <a:t> </a:t>
            </a:r>
            <a:r>
              <a:rPr spc="-5" dirty="0"/>
              <a:t>Architecture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2002027"/>
            <a:ext cx="7378700" cy="3952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310515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We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have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already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discussed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general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purpose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registers,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Accumulator,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flags.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Times New Roman"/>
              <a:buChar char="•"/>
            </a:pPr>
            <a:endParaRPr sz="405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Program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Counter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(PC)</a:t>
            </a:r>
            <a:endParaRPr sz="2800">
              <a:latin typeface="Times New Roman"/>
              <a:cs typeface="Times New Roman"/>
            </a:endParaRPr>
          </a:p>
          <a:p>
            <a:pPr marL="755650" marR="5080" lvl="1" indent="-286385">
              <a:lnSpc>
                <a:spcPct val="100000"/>
              </a:lnSpc>
              <a:spcBef>
                <a:spcPts val="590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This is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register that is </a:t>
            </a:r>
            <a:r>
              <a:rPr sz="2400" dirty="0">
                <a:latin typeface="Times New Roman"/>
                <a:cs typeface="Times New Roman"/>
              </a:rPr>
              <a:t>used </a:t>
            </a:r>
            <a:r>
              <a:rPr sz="2400" spc="-5" dirty="0">
                <a:latin typeface="Times New Roman"/>
                <a:cs typeface="Times New Roman"/>
              </a:rPr>
              <a:t>to control the sequencing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 execution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instructions.</a:t>
            </a:r>
            <a:endParaRPr sz="2400">
              <a:latin typeface="Times New Roman"/>
              <a:cs typeface="Times New Roman"/>
            </a:endParaRPr>
          </a:p>
          <a:p>
            <a:pPr marL="755650" marR="611505" lvl="1" indent="-286385">
              <a:lnSpc>
                <a:spcPct val="100000"/>
              </a:lnSpc>
              <a:spcBef>
                <a:spcPts val="575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This register always holds the address </a:t>
            </a:r>
            <a:r>
              <a:rPr sz="2400" dirty="0">
                <a:latin typeface="Times New Roman"/>
                <a:cs typeface="Times New Roman"/>
              </a:rPr>
              <a:t>of the next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instruction.</a:t>
            </a:r>
            <a:endParaRPr sz="24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575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Since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holds</a:t>
            </a:r>
            <a:r>
              <a:rPr sz="2400" dirty="0">
                <a:latin typeface="Times New Roman"/>
                <a:cs typeface="Times New Roman"/>
              </a:rPr>
              <a:t> an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address, it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must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16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bits wide.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21516" y="814069"/>
            <a:ext cx="569912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The</a:t>
            </a:r>
            <a:r>
              <a:rPr spc="-30" dirty="0"/>
              <a:t> </a:t>
            </a:r>
            <a:r>
              <a:rPr spc="-5" dirty="0"/>
              <a:t>Internal</a:t>
            </a:r>
            <a:r>
              <a:rPr spc="-25" dirty="0"/>
              <a:t> </a:t>
            </a:r>
            <a:r>
              <a:rPr spc="-5" dirty="0"/>
              <a:t>Architecture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1900946"/>
            <a:ext cx="7502525" cy="397954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49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Stack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pointer</a:t>
            </a:r>
            <a:endParaRPr sz="3200">
              <a:latin typeface="Times New Roman"/>
              <a:cs typeface="Times New Roman"/>
            </a:endParaRPr>
          </a:p>
          <a:p>
            <a:pPr marL="755650" marR="5080" lvl="1" indent="-285750">
              <a:lnSpc>
                <a:spcPts val="3020"/>
              </a:lnSpc>
              <a:spcBef>
                <a:spcPts val="735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stack pointer </a:t>
            </a:r>
            <a:r>
              <a:rPr sz="2800" dirty="0">
                <a:latin typeface="Times New Roman"/>
                <a:cs typeface="Times New Roman"/>
              </a:rPr>
              <a:t>is </a:t>
            </a:r>
            <a:r>
              <a:rPr sz="2800" spc="-5" dirty="0">
                <a:latin typeface="Times New Roman"/>
                <a:cs typeface="Times New Roman"/>
              </a:rPr>
              <a:t>also </a:t>
            </a:r>
            <a:r>
              <a:rPr sz="2800" dirty="0">
                <a:latin typeface="Times New Roman"/>
                <a:cs typeface="Times New Roman"/>
              </a:rPr>
              <a:t>a 16-bit </a:t>
            </a:r>
            <a:r>
              <a:rPr sz="2800" spc="-5" dirty="0">
                <a:latin typeface="Times New Roman"/>
                <a:cs typeface="Times New Roman"/>
              </a:rPr>
              <a:t>register that </a:t>
            </a:r>
            <a:r>
              <a:rPr sz="2800" dirty="0">
                <a:latin typeface="Times New Roman"/>
                <a:cs typeface="Times New Roman"/>
              </a:rPr>
              <a:t>is </a:t>
            </a:r>
            <a:r>
              <a:rPr sz="2800" spc="-69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used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point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into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memory.</a:t>
            </a:r>
            <a:endParaRPr sz="2800">
              <a:latin typeface="Times New Roman"/>
              <a:cs typeface="Times New Roman"/>
            </a:endParaRPr>
          </a:p>
          <a:p>
            <a:pPr marL="755650" marR="190500" lvl="1" indent="-285750">
              <a:lnSpc>
                <a:spcPts val="3020"/>
              </a:lnSpc>
              <a:spcBef>
                <a:spcPts val="68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memory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this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register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points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5" dirty="0">
                <a:latin typeface="Times New Roman"/>
                <a:cs typeface="Times New Roman"/>
              </a:rPr>
              <a:t> special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area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called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stack.</a:t>
            </a:r>
            <a:endParaRPr sz="2800">
              <a:latin typeface="Times New Roman"/>
              <a:cs typeface="Times New Roman"/>
            </a:endParaRPr>
          </a:p>
          <a:p>
            <a:pPr marL="755650" marR="457200" lvl="1" indent="-285750">
              <a:lnSpc>
                <a:spcPts val="3020"/>
              </a:lnSpc>
              <a:spcBef>
                <a:spcPts val="68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stack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area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5" dirty="0">
                <a:latin typeface="Times New Roman"/>
                <a:cs typeface="Times New Roman"/>
              </a:rPr>
              <a:t> memory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used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hold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data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that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will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retreived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soon.</a:t>
            </a:r>
            <a:endParaRPr sz="2800">
              <a:latin typeface="Times New Roman"/>
              <a:cs typeface="Times New Roman"/>
            </a:endParaRPr>
          </a:p>
          <a:p>
            <a:pPr marL="755650" marR="163830" lvl="1" indent="-285750">
              <a:lnSpc>
                <a:spcPts val="3020"/>
              </a:lnSpc>
              <a:spcBef>
                <a:spcPts val="68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stack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usually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accessed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Last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First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Out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(LIFO)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fashion.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55825" y="720344"/>
            <a:ext cx="483362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/>
              <a:t>Non</a:t>
            </a:r>
            <a:r>
              <a:rPr sz="3200" spc="-20" dirty="0"/>
              <a:t> </a:t>
            </a:r>
            <a:r>
              <a:rPr sz="3200" spc="-5" dirty="0"/>
              <a:t>Programmable</a:t>
            </a:r>
            <a:r>
              <a:rPr sz="3200" spc="-20" dirty="0"/>
              <a:t> </a:t>
            </a:r>
            <a:r>
              <a:rPr sz="3200" spc="-5" dirty="0"/>
              <a:t>Registers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535940" y="1381799"/>
            <a:ext cx="7108825" cy="339344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78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solidFill>
                  <a:srgbClr val="FF9900"/>
                </a:solidFill>
                <a:latin typeface="Times New Roman"/>
                <a:cs typeface="Times New Roman"/>
              </a:rPr>
              <a:t>Instruction</a:t>
            </a:r>
            <a:r>
              <a:rPr sz="2800" spc="-30" dirty="0">
                <a:solidFill>
                  <a:srgbClr val="FF99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9900"/>
                </a:solidFill>
                <a:latin typeface="Times New Roman"/>
                <a:cs typeface="Times New Roman"/>
              </a:rPr>
              <a:t>Register</a:t>
            </a:r>
            <a:r>
              <a:rPr sz="2800" spc="-25" dirty="0">
                <a:solidFill>
                  <a:srgbClr val="FF99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9900"/>
                </a:solidFill>
                <a:latin typeface="Times New Roman"/>
                <a:cs typeface="Times New Roman"/>
              </a:rPr>
              <a:t>&amp;</a:t>
            </a:r>
            <a:r>
              <a:rPr sz="2800" spc="-15" dirty="0">
                <a:solidFill>
                  <a:srgbClr val="FF99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9900"/>
                </a:solidFill>
                <a:latin typeface="Times New Roman"/>
                <a:cs typeface="Times New Roman"/>
              </a:rPr>
              <a:t>Decoder</a:t>
            </a:r>
            <a:endParaRPr sz="28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585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Instruction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stored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 IR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after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fetched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processor</a:t>
            </a:r>
            <a:endParaRPr sz="24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575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spc="-5" dirty="0">
                <a:latin typeface="Times New Roman"/>
                <a:cs typeface="Times New Roman"/>
              </a:rPr>
              <a:t>Decoder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decodes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instruction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 IR</a:t>
            </a:r>
            <a:endParaRPr sz="2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buFont typeface="Times New Roman"/>
              <a:buChar char="–"/>
            </a:pP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85"/>
              </a:spcBef>
            </a:pPr>
            <a:r>
              <a:rPr sz="3200" spc="-5" dirty="0">
                <a:latin typeface="Times New Roman"/>
                <a:cs typeface="Times New Roman"/>
              </a:rPr>
              <a:t>Internal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Clock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generator</a:t>
            </a:r>
            <a:endParaRPr sz="32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600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dirty="0">
                <a:latin typeface="Times New Roman"/>
                <a:cs typeface="Times New Roman"/>
              </a:rPr>
              <a:t>3.125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MHz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internally</a:t>
            </a:r>
            <a:endParaRPr sz="24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580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dirty="0">
                <a:latin typeface="Times New Roman"/>
                <a:cs typeface="Times New Roman"/>
              </a:rPr>
              <a:t>6.25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MHz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externally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24661" y="814069"/>
            <a:ext cx="669480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The</a:t>
            </a:r>
            <a:r>
              <a:rPr spc="-25" dirty="0"/>
              <a:t> </a:t>
            </a:r>
            <a:r>
              <a:rPr spc="-5" dirty="0"/>
              <a:t>Address</a:t>
            </a:r>
            <a:r>
              <a:rPr spc="-15" dirty="0"/>
              <a:t> </a:t>
            </a:r>
            <a:r>
              <a:rPr spc="-5" dirty="0"/>
              <a:t>and Data</a:t>
            </a:r>
            <a:r>
              <a:rPr spc="-15" dirty="0"/>
              <a:t> </a:t>
            </a:r>
            <a:r>
              <a:rPr spc="-5" dirty="0"/>
              <a:t>Busses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184" y="1959355"/>
            <a:ext cx="7426325" cy="436753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marR="756920" indent="-342900">
              <a:lnSpc>
                <a:spcPts val="3020"/>
              </a:lnSpc>
              <a:spcBef>
                <a:spcPts val="484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address </a:t>
            </a:r>
            <a:r>
              <a:rPr sz="2800" dirty="0">
                <a:latin typeface="Times New Roman"/>
                <a:cs typeface="Times New Roman"/>
              </a:rPr>
              <a:t>bus </a:t>
            </a:r>
            <a:r>
              <a:rPr sz="2800" spc="-5" dirty="0">
                <a:latin typeface="Times New Roman"/>
                <a:cs typeface="Times New Roman"/>
              </a:rPr>
              <a:t>has </a:t>
            </a:r>
            <a:r>
              <a:rPr sz="2800" dirty="0">
                <a:latin typeface="Times New Roman"/>
                <a:cs typeface="Times New Roman"/>
              </a:rPr>
              <a:t>8 </a:t>
            </a:r>
            <a:r>
              <a:rPr sz="2800" spc="-5" dirty="0">
                <a:latin typeface="Times New Roman"/>
                <a:cs typeface="Times New Roman"/>
              </a:rPr>
              <a:t>signal lines </a:t>
            </a:r>
            <a:r>
              <a:rPr sz="2800" dirty="0">
                <a:solidFill>
                  <a:srgbClr val="990000"/>
                </a:solidFill>
                <a:latin typeface="Times New Roman"/>
                <a:cs typeface="Times New Roman"/>
              </a:rPr>
              <a:t>A8 – A15 </a:t>
            </a:r>
            <a:r>
              <a:rPr sz="2800" spc="-68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which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are </a:t>
            </a:r>
            <a:r>
              <a:rPr sz="2800" spc="-5" dirty="0">
                <a:solidFill>
                  <a:srgbClr val="990000"/>
                </a:solidFill>
                <a:latin typeface="Times New Roman"/>
                <a:cs typeface="Times New Roman"/>
              </a:rPr>
              <a:t>unidirectional</a:t>
            </a:r>
            <a:r>
              <a:rPr sz="2800" spc="-5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  <a:p>
            <a:pPr marL="354965" marR="522605" indent="-342900">
              <a:lnSpc>
                <a:spcPts val="3020"/>
              </a:lnSpc>
              <a:spcBef>
                <a:spcPts val="680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other </a:t>
            </a:r>
            <a:r>
              <a:rPr sz="2800" dirty="0">
                <a:latin typeface="Times New Roman"/>
                <a:cs typeface="Times New Roman"/>
              </a:rPr>
              <a:t>8 </a:t>
            </a:r>
            <a:r>
              <a:rPr sz="2800" spc="-5" dirty="0">
                <a:latin typeface="Times New Roman"/>
                <a:cs typeface="Times New Roman"/>
              </a:rPr>
              <a:t>address </a:t>
            </a:r>
            <a:r>
              <a:rPr sz="2800" dirty="0">
                <a:latin typeface="Times New Roman"/>
                <a:cs typeface="Times New Roman"/>
              </a:rPr>
              <a:t>bits </a:t>
            </a:r>
            <a:r>
              <a:rPr sz="2800" spc="-5" dirty="0">
                <a:latin typeface="Times New Roman"/>
                <a:cs typeface="Times New Roman"/>
              </a:rPr>
              <a:t>are </a:t>
            </a:r>
            <a:r>
              <a:rPr sz="2800" spc="-5" dirty="0">
                <a:solidFill>
                  <a:srgbClr val="3333CC"/>
                </a:solidFill>
                <a:latin typeface="Times New Roman"/>
                <a:cs typeface="Times New Roman"/>
              </a:rPr>
              <a:t>multiplexed </a:t>
            </a:r>
            <a:r>
              <a:rPr sz="2800" spc="-5" dirty="0">
                <a:latin typeface="Times New Roman"/>
                <a:cs typeface="Times New Roman"/>
              </a:rPr>
              <a:t>(time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shared)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990000"/>
                </a:solidFill>
                <a:latin typeface="Times New Roman"/>
                <a:cs typeface="Times New Roman"/>
              </a:rPr>
              <a:t>with</a:t>
            </a:r>
            <a:r>
              <a:rPr sz="2800" spc="-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990000"/>
                </a:solidFill>
                <a:latin typeface="Times New Roman"/>
                <a:cs typeface="Times New Roman"/>
              </a:rPr>
              <a:t>the</a:t>
            </a:r>
            <a:r>
              <a:rPr sz="2800" spc="-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990000"/>
                </a:solidFill>
                <a:latin typeface="Times New Roman"/>
                <a:cs typeface="Times New Roman"/>
              </a:rPr>
              <a:t>8</a:t>
            </a:r>
            <a:r>
              <a:rPr sz="2800" spc="-5" dirty="0">
                <a:solidFill>
                  <a:srgbClr val="990000"/>
                </a:solidFill>
                <a:latin typeface="Times New Roman"/>
                <a:cs typeface="Times New Roman"/>
              </a:rPr>
              <a:t> data</a:t>
            </a:r>
            <a:r>
              <a:rPr sz="2800" spc="-2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990000"/>
                </a:solidFill>
                <a:latin typeface="Times New Roman"/>
                <a:cs typeface="Times New Roman"/>
              </a:rPr>
              <a:t>bits</a:t>
            </a:r>
            <a:r>
              <a:rPr sz="2800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  <a:p>
            <a:pPr marL="755650" marR="5080" lvl="1" indent="-286385">
              <a:lnSpc>
                <a:spcPts val="2590"/>
              </a:lnSpc>
              <a:spcBef>
                <a:spcPts val="585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So,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bits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AD0</a:t>
            </a:r>
            <a:r>
              <a:rPr sz="2400" spc="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990000"/>
                </a:solidFill>
                <a:latin typeface="Times New Roman"/>
                <a:cs typeface="Times New Roman"/>
              </a:rPr>
              <a:t>–</a:t>
            </a:r>
            <a:r>
              <a:rPr sz="2400" spc="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AD7</a:t>
            </a:r>
            <a:r>
              <a:rPr sz="2400" spc="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are </a:t>
            </a:r>
            <a:r>
              <a:rPr sz="2400" spc="-5" dirty="0">
                <a:solidFill>
                  <a:srgbClr val="3333CC"/>
                </a:solidFill>
                <a:latin typeface="Times New Roman"/>
                <a:cs typeface="Times New Roman"/>
              </a:rPr>
              <a:t>bi-directional</a:t>
            </a:r>
            <a:r>
              <a:rPr sz="2400" spc="-2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" dirty="0">
                <a:latin typeface="Times New Roman"/>
                <a:cs typeface="Times New Roman"/>
              </a:rPr>
              <a:t> serve as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339933"/>
                </a:solidFill>
                <a:latin typeface="Times New Roman"/>
                <a:cs typeface="Times New Roman"/>
              </a:rPr>
              <a:t>A0 </a:t>
            </a:r>
            <a:r>
              <a:rPr sz="2400" dirty="0">
                <a:solidFill>
                  <a:srgbClr val="339933"/>
                </a:solidFill>
                <a:latin typeface="Times New Roman"/>
                <a:cs typeface="Times New Roman"/>
              </a:rPr>
              <a:t>– </a:t>
            </a:r>
            <a:r>
              <a:rPr sz="2400" spc="-5" dirty="0">
                <a:solidFill>
                  <a:srgbClr val="339933"/>
                </a:solidFill>
                <a:latin typeface="Times New Roman"/>
                <a:cs typeface="Times New Roman"/>
              </a:rPr>
              <a:t>A7</a:t>
            </a:r>
            <a:r>
              <a:rPr sz="2400" dirty="0">
                <a:solidFill>
                  <a:srgbClr val="3399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339933"/>
                </a:solidFill>
                <a:latin typeface="Times New Roman"/>
                <a:cs typeface="Times New Roman"/>
              </a:rPr>
              <a:t>D0</a:t>
            </a:r>
            <a:r>
              <a:rPr sz="2400" spc="5" dirty="0">
                <a:solidFill>
                  <a:srgbClr val="3399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9933"/>
                </a:solidFill>
                <a:latin typeface="Times New Roman"/>
                <a:cs typeface="Times New Roman"/>
              </a:rPr>
              <a:t>– </a:t>
            </a:r>
            <a:r>
              <a:rPr sz="2400" spc="-5" dirty="0">
                <a:solidFill>
                  <a:srgbClr val="339933"/>
                </a:solidFill>
                <a:latin typeface="Times New Roman"/>
                <a:cs typeface="Times New Roman"/>
              </a:rPr>
              <a:t>D7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same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time.</a:t>
            </a:r>
            <a:endParaRPr sz="2400">
              <a:latin typeface="Times New Roman"/>
              <a:cs typeface="Times New Roman"/>
            </a:endParaRPr>
          </a:p>
          <a:p>
            <a:pPr marL="1155700" marR="33020" lvl="2" indent="-229235">
              <a:lnSpc>
                <a:spcPts val="2160"/>
              </a:lnSpc>
              <a:spcBef>
                <a:spcPts val="495"/>
              </a:spcBef>
              <a:buChar char="•"/>
              <a:tabLst>
                <a:tab pos="1155700" algn="l"/>
                <a:tab pos="1156335" algn="l"/>
              </a:tabLst>
            </a:pPr>
            <a:r>
              <a:rPr sz="2000" spc="-5" dirty="0">
                <a:latin typeface="Times New Roman"/>
                <a:cs typeface="Times New Roman"/>
              </a:rPr>
              <a:t>During the execution of the instruction, these lines carry the 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address bits during the early part, then during the late parts of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execution,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carry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8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data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bits.</a:t>
            </a:r>
            <a:endParaRPr sz="2000">
              <a:latin typeface="Times New Roman"/>
              <a:cs typeface="Times New Roman"/>
            </a:endParaRPr>
          </a:p>
          <a:p>
            <a:pPr marL="755650" marR="98425" lvl="1" indent="-286385" algn="just">
              <a:lnSpc>
                <a:spcPts val="2590"/>
              </a:lnSpc>
              <a:spcBef>
                <a:spcPts val="565"/>
              </a:spcBef>
              <a:buChar char="–"/>
              <a:tabLst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In order </a:t>
            </a:r>
            <a:r>
              <a:rPr sz="2400" dirty="0">
                <a:latin typeface="Times New Roman"/>
                <a:cs typeface="Times New Roman"/>
              </a:rPr>
              <a:t>to </a:t>
            </a:r>
            <a:r>
              <a:rPr sz="2400" spc="-5" dirty="0">
                <a:latin typeface="Times New Roman"/>
                <a:cs typeface="Times New Roman"/>
              </a:rPr>
              <a:t>separate the address from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data, we </a:t>
            </a:r>
            <a:r>
              <a:rPr sz="2400" dirty="0">
                <a:latin typeface="Times New Roman"/>
                <a:cs typeface="Times New Roman"/>
              </a:rPr>
              <a:t>can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use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latch to </a:t>
            </a:r>
            <a:r>
              <a:rPr sz="2400" dirty="0">
                <a:latin typeface="Times New Roman"/>
                <a:cs typeface="Times New Roman"/>
              </a:rPr>
              <a:t>save </a:t>
            </a:r>
            <a:r>
              <a:rPr sz="2400" spc="-5" dirty="0">
                <a:latin typeface="Times New Roman"/>
                <a:cs typeface="Times New Roman"/>
              </a:rPr>
              <a:t>the value before the function </a:t>
            </a:r>
            <a:r>
              <a:rPr sz="2400" dirty="0">
                <a:latin typeface="Times New Roman"/>
                <a:cs typeface="Times New Roman"/>
              </a:rPr>
              <a:t>of the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bits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changes.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56162" y="0"/>
            <a:ext cx="60305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Demultiplexing</a:t>
            </a:r>
            <a:r>
              <a:rPr spc="-45" dirty="0"/>
              <a:t> </a:t>
            </a:r>
            <a:r>
              <a:rPr spc="-5" dirty="0"/>
              <a:t>AD7-AD0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21739" y="972565"/>
            <a:ext cx="7155815" cy="557276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297815" marR="5080" indent="-285750">
              <a:lnSpc>
                <a:spcPts val="2810"/>
              </a:lnSpc>
              <a:spcBef>
                <a:spcPts val="450"/>
              </a:spcBef>
              <a:buChar char="–"/>
              <a:tabLst>
                <a:tab pos="298450" algn="l"/>
              </a:tabLst>
            </a:pPr>
            <a:r>
              <a:rPr sz="2600" spc="-5" dirty="0">
                <a:latin typeface="Times New Roman"/>
                <a:cs typeface="Times New Roman"/>
              </a:rPr>
              <a:t>From</a:t>
            </a:r>
            <a:r>
              <a:rPr sz="2600" spc="5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the</a:t>
            </a:r>
            <a:r>
              <a:rPr sz="2600" spc="5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above</a:t>
            </a:r>
            <a:r>
              <a:rPr sz="2600" spc="5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description,</a:t>
            </a:r>
            <a:r>
              <a:rPr sz="2600" spc="6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it</a:t>
            </a:r>
            <a:r>
              <a:rPr sz="2600" spc="7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becomes</a:t>
            </a:r>
            <a:r>
              <a:rPr sz="2600" spc="5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obvious 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that the </a:t>
            </a:r>
            <a:r>
              <a:rPr sz="2600" spc="-5" dirty="0">
                <a:solidFill>
                  <a:srgbClr val="990000"/>
                </a:solidFill>
                <a:latin typeface="Times New Roman"/>
                <a:cs typeface="Times New Roman"/>
              </a:rPr>
              <a:t>AD7– AD0 </a:t>
            </a:r>
            <a:r>
              <a:rPr sz="2600" spc="-5" dirty="0">
                <a:latin typeface="Times New Roman"/>
                <a:cs typeface="Times New Roman"/>
              </a:rPr>
              <a:t>lines are serving a </a:t>
            </a:r>
            <a:r>
              <a:rPr sz="2600" spc="-5" dirty="0">
                <a:solidFill>
                  <a:srgbClr val="3333CC"/>
                </a:solidFill>
                <a:latin typeface="Times New Roman"/>
                <a:cs typeface="Times New Roman"/>
              </a:rPr>
              <a:t>dual purpose </a:t>
            </a:r>
            <a:r>
              <a:rPr sz="2600" spc="-63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and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that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they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need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to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be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demultiplexed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to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get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all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the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information.</a:t>
            </a:r>
            <a:endParaRPr sz="2600">
              <a:latin typeface="Times New Roman"/>
              <a:cs typeface="Times New Roman"/>
            </a:endParaRPr>
          </a:p>
          <a:p>
            <a:pPr marL="297815" marR="34290" indent="-285750">
              <a:lnSpc>
                <a:spcPts val="2810"/>
              </a:lnSpc>
              <a:spcBef>
                <a:spcPts val="615"/>
              </a:spcBef>
              <a:buChar char="–"/>
              <a:tabLst>
                <a:tab pos="298450" algn="l"/>
              </a:tabLst>
            </a:pPr>
            <a:r>
              <a:rPr sz="2600" spc="-5" dirty="0">
                <a:latin typeface="Times New Roman"/>
                <a:cs typeface="Times New Roman"/>
              </a:rPr>
              <a:t>The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spc="-5" dirty="0">
                <a:solidFill>
                  <a:srgbClr val="3333CC"/>
                </a:solidFill>
                <a:latin typeface="Times New Roman"/>
                <a:cs typeface="Times New Roman"/>
              </a:rPr>
              <a:t>high</a:t>
            </a:r>
            <a:r>
              <a:rPr sz="2600" spc="4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solidFill>
                  <a:srgbClr val="3333CC"/>
                </a:solidFill>
                <a:latin typeface="Times New Roman"/>
                <a:cs typeface="Times New Roman"/>
              </a:rPr>
              <a:t>order</a:t>
            </a:r>
            <a:r>
              <a:rPr sz="2600" spc="3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solidFill>
                  <a:srgbClr val="3333CC"/>
                </a:solidFill>
                <a:latin typeface="Times New Roman"/>
                <a:cs typeface="Times New Roman"/>
              </a:rPr>
              <a:t>bits</a:t>
            </a:r>
            <a:r>
              <a:rPr sz="2600" spc="6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of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the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address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remain</a:t>
            </a:r>
            <a:r>
              <a:rPr sz="2600" spc="5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on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the 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bus for </a:t>
            </a:r>
            <a:r>
              <a:rPr sz="2600" spc="-5" dirty="0">
                <a:solidFill>
                  <a:srgbClr val="990000"/>
                </a:solidFill>
                <a:latin typeface="Times New Roman"/>
                <a:cs typeface="Times New Roman"/>
              </a:rPr>
              <a:t>three clock periods</a:t>
            </a:r>
            <a:r>
              <a:rPr sz="2600" spc="-5" dirty="0">
                <a:latin typeface="Times New Roman"/>
                <a:cs typeface="Times New Roman"/>
              </a:rPr>
              <a:t>. However, the </a:t>
            </a:r>
            <a:r>
              <a:rPr sz="2600" spc="-5" dirty="0">
                <a:solidFill>
                  <a:srgbClr val="3333CC"/>
                </a:solidFill>
                <a:latin typeface="Times New Roman"/>
                <a:cs typeface="Times New Roman"/>
              </a:rPr>
              <a:t>low order </a:t>
            </a:r>
            <a:r>
              <a:rPr sz="2600" spc="-63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solidFill>
                  <a:srgbClr val="3333CC"/>
                </a:solidFill>
                <a:latin typeface="Times New Roman"/>
                <a:cs typeface="Times New Roman"/>
              </a:rPr>
              <a:t>bits </a:t>
            </a:r>
            <a:r>
              <a:rPr sz="2600" spc="-5" dirty="0">
                <a:latin typeface="Times New Roman"/>
                <a:cs typeface="Times New Roman"/>
              </a:rPr>
              <a:t>remain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for</a:t>
            </a:r>
            <a:r>
              <a:rPr sz="2600" spc="-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600" u="heavy" spc="-5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only</a:t>
            </a:r>
            <a:r>
              <a:rPr sz="2600" u="heavy" spc="5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600" u="heavy" spc="-5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one</a:t>
            </a:r>
            <a:r>
              <a:rPr sz="2600" u="heavy" spc="-15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600" u="heavy" spc="-5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clock period</a:t>
            </a:r>
            <a:r>
              <a:rPr sz="2600" spc="-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and they 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would be lost if they are not saved externally. Also,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notice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that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the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solidFill>
                  <a:srgbClr val="3333CC"/>
                </a:solidFill>
                <a:latin typeface="Times New Roman"/>
                <a:cs typeface="Times New Roman"/>
              </a:rPr>
              <a:t>low order</a:t>
            </a:r>
            <a:r>
              <a:rPr sz="2600" spc="-1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solidFill>
                  <a:srgbClr val="3333CC"/>
                </a:solidFill>
                <a:latin typeface="Times New Roman"/>
                <a:cs typeface="Times New Roman"/>
              </a:rPr>
              <a:t>bits</a:t>
            </a:r>
            <a:r>
              <a:rPr sz="2600" spc="1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of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address 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solidFill>
                  <a:srgbClr val="990000"/>
                </a:solidFill>
                <a:latin typeface="Times New Roman"/>
                <a:cs typeface="Times New Roman"/>
              </a:rPr>
              <a:t>disappear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when</a:t>
            </a:r>
            <a:r>
              <a:rPr sz="2600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6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they are</a:t>
            </a:r>
            <a:r>
              <a:rPr sz="2600" u="heavy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6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needed</a:t>
            </a:r>
            <a:r>
              <a:rPr sz="2600" u="heavy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6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most</a:t>
            </a:r>
            <a:r>
              <a:rPr sz="260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297815" marR="21590" indent="-285750">
              <a:lnSpc>
                <a:spcPts val="2810"/>
              </a:lnSpc>
              <a:spcBef>
                <a:spcPts val="610"/>
              </a:spcBef>
              <a:buChar char="–"/>
              <a:tabLst>
                <a:tab pos="298450" algn="l"/>
              </a:tabLst>
            </a:pPr>
            <a:r>
              <a:rPr sz="2600" spc="-5" dirty="0">
                <a:latin typeface="Times New Roman"/>
                <a:cs typeface="Times New Roman"/>
              </a:rPr>
              <a:t>To</a:t>
            </a:r>
            <a:r>
              <a:rPr sz="2600" spc="7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make</a:t>
            </a:r>
            <a:r>
              <a:rPr sz="2600" spc="6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sure</a:t>
            </a:r>
            <a:r>
              <a:rPr sz="2600" spc="7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we</a:t>
            </a:r>
            <a:r>
              <a:rPr sz="2600" spc="6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have</a:t>
            </a:r>
            <a:r>
              <a:rPr sz="2600" spc="6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the</a:t>
            </a:r>
            <a:r>
              <a:rPr sz="2600" spc="8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entire</a:t>
            </a:r>
            <a:r>
              <a:rPr sz="2600" spc="7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address</a:t>
            </a:r>
            <a:r>
              <a:rPr sz="2600" spc="7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for</a:t>
            </a:r>
            <a:r>
              <a:rPr sz="2600" spc="6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the 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full three clock cycles, we will use an </a:t>
            </a:r>
            <a:r>
              <a:rPr sz="2600" spc="-5" dirty="0">
                <a:solidFill>
                  <a:srgbClr val="990000"/>
                </a:solidFill>
                <a:latin typeface="Times New Roman"/>
                <a:cs typeface="Times New Roman"/>
              </a:rPr>
              <a:t>external latch </a:t>
            </a:r>
            <a:r>
              <a:rPr sz="2600" spc="-63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to save the value of </a:t>
            </a:r>
            <a:r>
              <a:rPr sz="2600" dirty="0">
                <a:latin typeface="Times New Roman"/>
                <a:cs typeface="Times New Roman"/>
              </a:rPr>
              <a:t>AD7– </a:t>
            </a:r>
            <a:r>
              <a:rPr sz="2600" spc="-5" dirty="0">
                <a:latin typeface="Times New Roman"/>
                <a:cs typeface="Times New Roman"/>
              </a:rPr>
              <a:t>AD0 when it is carrying 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address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bits.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We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use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the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-5" dirty="0">
                <a:solidFill>
                  <a:srgbClr val="990000"/>
                </a:solidFill>
                <a:latin typeface="Times New Roman"/>
                <a:cs typeface="Times New Roman"/>
              </a:rPr>
              <a:t>ALE</a:t>
            </a:r>
            <a:r>
              <a:rPr sz="260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signal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to enable 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this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latch.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56162" y="356869"/>
            <a:ext cx="603123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Demultiplexing</a:t>
            </a:r>
            <a:r>
              <a:rPr spc="-35" dirty="0"/>
              <a:t> </a:t>
            </a:r>
            <a:r>
              <a:rPr spc="-5" dirty="0"/>
              <a:t>AD7-AD0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21739" y="4354639"/>
            <a:ext cx="7023734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5080" indent="-286385">
              <a:lnSpc>
                <a:spcPct val="100000"/>
              </a:lnSpc>
              <a:spcBef>
                <a:spcPts val="100"/>
              </a:spcBef>
              <a:tabLst>
                <a:tab pos="298450" algn="l"/>
              </a:tabLst>
            </a:pPr>
            <a:r>
              <a:rPr sz="2400" dirty="0">
                <a:latin typeface="Times New Roman"/>
                <a:cs typeface="Times New Roman"/>
              </a:rPr>
              <a:t>–	</a:t>
            </a:r>
            <a:r>
              <a:rPr sz="2400" spc="-5" dirty="0">
                <a:latin typeface="Times New Roman"/>
                <a:cs typeface="Times New Roman"/>
              </a:rPr>
              <a:t>Given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that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ALE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operates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pulse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during T1,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will </a:t>
            </a:r>
            <a:r>
              <a:rPr sz="2400" dirty="0">
                <a:latin typeface="Times New Roman"/>
                <a:cs typeface="Times New Roman"/>
              </a:rPr>
              <a:t> be </a:t>
            </a:r>
            <a:r>
              <a:rPr sz="2400" spc="-5" dirty="0">
                <a:latin typeface="Times New Roman"/>
                <a:cs typeface="Times New Roman"/>
              </a:rPr>
              <a:t>able to latch the address. Then when </a:t>
            </a:r>
            <a:r>
              <a:rPr sz="2400" dirty="0">
                <a:latin typeface="Times New Roman"/>
                <a:cs typeface="Times New Roman"/>
              </a:rPr>
              <a:t>ALE goes low,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address is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saved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 AD7–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AD0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lines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used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for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their purpose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bi-directional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data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lines.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203450" y="1455737"/>
            <a:ext cx="3971925" cy="2360930"/>
            <a:chOff x="2203450" y="1455737"/>
            <a:chExt cx="3971925" cy="2360930"/>
          </a:xfrm>
        </p:grpSpPr>
        <p:sp>
          <p:nvSpPr>
            <p:cNvPr id="6" name="object 6"/>
            <p:cNvSpPr/>
            <p:nvPr/>
          </p:nvSpPr>
          <p:spPr>
            <a:xfrm>
              <a:off x="4137025" y="3289300"/>
              <a:ext cx="1984375" cy="520700"/>
            </a:xfrm>
            <a:custGeom>
              <a:avLst/>
              <a:gdLst/>
              <a:ahLst/>
              <a:cxnLst/>
              <a:rect l="l" t="t" r="r" b="b"/>
              <a:pathLst>
                <a:path w="1984375" h="520700">
                  <a:moveTo>
                    <a:pt x="1820202" y="0"/>
                  </a:moveTo>
                  <a:lnTo>
                    <a:pt x="1820202" y="130175"/>
                  </a:lnTo>
                  <a:lnTo>
                    <a:pt x="0" y="130175"/>
                  </a:lnTo>
                  <a:lnTo>
                    <a:pt x="0" y="390525"/>
                  </a:lnTo>
                  <a:lnTo>
                    <a:pt x="1820202" y="390525"/>
                  </a:lnTo>
                  <a:lnTo>
                    <a:pt x="1820202" y="520700"/>
                  </a:lnTo>
                  <a:lnTo>
                    <a:pt x="1984375" y="260350"/>
                  </a:lnTo>
                  <a:lnTo>
                    <a:pt x="1820202" y="0"/>
                  </a:lnTo>
                  <a:close/>
                </a:path>
              </a:pathLst>
            </a:custGeom>
            <a:solidFill>
              <a:srgbClr val="66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137025" y="3289300"/>
              <a:ext cx="1984375" cy="520700"/>
            </a:xfrm>
            <a:custGeom>
              <a:avLst/>
              <a:gdLst/>
              <a:ahLst/>
              <a:cxnLst/>
              <a:rect l="l" t="t" r="r" b="b"/>
              <a:pathLst>
                <a:path w="1984375" h="520700">
                  <a:moveTo>
                    <a:pt x="0" y="130175"/>
                  </a:moveTo>
                  <a:lnTo>
                    <a:pt x="1820202" y="130175"/>
                  </a:lnTo>
                  <a:lnTo>
                    <a:pt x="1820202" y="0"/>
                  </a:lnTo>
                  <a:lnTo>
                    <a:pt x="1984375" y="260350"/>
                  </a:lnTo>
                  <a:lnTo>
                    <a:pt x="1820202" y="520700"/>
                  </a:lnTo>
                  <a:lnTo>
                    <a:pt x="1820202" y="390525"/>
                  </a:lnTo>
                  <a:lnTo>
                    <a:pt x="0" y="390525"/>
                  </a:lnTo>
                  <a:lnTo>
                    <a:pt x="0" y="1301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09800" y="1462087"/>
              <a:ext cx="1341755" cy="2152650"/>
            </a:xfrm>
            <a:custGeom>
              <a:avLst/>
              <a:gdLst/>
              <a:ahLst/>
              <a:cxnLst/>
              <a:rect l="l" t="t" r="r" b="b"/>
              <a:pathLst>
                <a:path w="1341754" h="2152650">
                  <a:moveTo>
                    <a:pt x="1341437" y="0"/>
                  </a:moveTo>
                  <a:lnTo>
                    <a:pt x="0" y="0"/>
                  </a:lnTo>
                  <a:lnTo>
                    <a:pt x="0" y="2152650"/>
                  </a:lnTo>
                  <a:lnTo>
                    <a:pt x="1341437" y="2152650"/>
                  </a:lnTo>
                  <a:lnTo>
                    <a:pt x="1341437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09800" y="1462087"/>
              <a:ext cx="1341755" cy="2152650"/>
            </a:xfrm>
            <a:custGeom>
              <a:avLst/>
              <a:gdLst/>
              <a:ahLst/>
              <a:cxnLst/>
              <a:rect l="l" t="t" r="r" b="b"/>
              <a:pathLst>
                <a:path w="1341754" h="2152650">
                  <a:moveTo>
                    <a:pt x="0" y="0"/>
                  </a:moveTo>
                  <a:lnTo>
                    <a:pt x="1341437" y="0"/>
                  </a:lnTo>
                  <a:lnTo>
                    <a:pt x="1341437" y="2152650"/>
                  </a:lnTo>
                  <a:lnTo>
                    <a:pt x="0" y="215265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551237" y="1611313"/>
              <a:ext cx="2618105" cy="635000"/>
            </a:xfrm>
            <a:custGeom>
              <a:avLst/>
              <a:gdLst/>
              <a:ahLst/>
              <a:cxnLst/>
              <a:rect l="l" t="t" r="r" b="b"/>
              <a:pathLst>
                <a:path w="2618104" h="635000">
                  <a:moveTo>
                    <a:pt x="2408237" y="0"/>
                  </a:moveTo>
                  <a:lnTo>
                    <a:pt x="2408237" y="158750"/>
                  </a:lnTo>
                  <a:lnTo>
                    <a:pt x="0" y="158750"/>
                  </a:lnTo>
                  <a:lnTo>
                    <a:pt x="0" y="476250"/>
                  </a:lnTo>
                  <a:lnTo>
                    <a:pt x="2408237" y="476250"/>
                  </a:lnTo>
                  <a:lnTo>
                    <a:pt x="2408237" y="635000"/>
                  </a:lnTo>
                  <a:lnTo>
                    <a:pt x="2617787" y="317500"/>
                  </a:lnTo>
                  <a:lnTo>
                    <a:pt x="2408237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551237" y="1611313"/>
              <a:ext cx="2618105" cy="635000"/>
            </a:xfrm>
            <a:custGeom>
              <a:avLst/>
              <a:gdLst/>
              <a:ahLst/>
              <a:cxnLst/>
              <a:rect l="l" t="t" r="r" b="b"/>
              <a:pathLst>
                <a:path w="2618104" h="635000">
                  <a:moveTo>
                    <a:pt x="0" y="158750"/>
                  </a:moveTo>
                  <a:lnTo>
                    <a:pt x="2408237" y="158750"/>
                  </a:lnTo>
                  <a:lnTo>
                    <a:pt x="2408237" y="0"/>
                  </a:lnTo>
                  <a:lnTo>
                    <a:pt x="2617787" y="317500"/>
                  </a:lnTo>
                  <a:lnTo>
                    <a:pt x="2408237" y="635000"/>
                  </a:lnTo>
                  <a:lnTo>
                    <a:pt x="2408237" y="476250"/>
                  </a:lnTo>
                  <a:lnTo>
                    <a:pt x="0" y="476250"/>
                  </a:lnTo>
                  <a:lnTo>
                    <a:pt x="0" y="15875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541076" y="1798511"/>
            <a:ext cx="5334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A</a:t>
            </a:r>
            <a:r>
              <a:rPr sz="1200" spc="-10" dirty="0">
                <a:latin typeface="Arial MT"/>
                <a:cs typeface="Arial MT"/>
              </a:rPr>
              <a:t>15</a:t>
            </a:r>
            <a:r>
              <a:rPr sz="1200" dirty="0">
                <a:latin typeface="Arial MT"/>
                <a:cs typeface="Arial MT"/>
              </a:rPr>
              <a:t>-</a:t>
            </a:r>
            <a:r>
              <a:rPr sz="1200" spc="-5" dirty="0">
                <a:latin typeface="Arial MT"/>
                <a:cs typeface="Arial MT"/>
              </a:rPr>
              <a:t>A8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48200" y="2635250"/>
            <a:ext cx="732155" cy="488950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179070">
              <a:lnSpc>
                <a:spcPct val="100000"/>
              </a:lnSpc>
              <a:spcBef>
                <a:spcPts val="315"/>
              </a:spcBef>
            </a:pPr>
            <a:r>
              <a:rPr sz="1200" spc="-5" dirty="0">
                <a:latin typeface="Arial MT"/>
                <a:cs typeface="Arial MT"/>
              </a:rPr>
              <a:t>Latch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544887" y="2532059"/>
            <a:ext cx="1109980" cy="697230"/>
            <a:chOff x="3544887" y="2532059"/>
            <a:chExt cx="1109980" cy="697230"/>
          </a:xfrm>
        </p:grpSpPr>
        <p:sp>
          <p:nvSpPr>
            <p:cNvPr id="15" name="object 15"/>
            <p:cNvSpPr/>
            <p:nvPr/>
          </p:nvSpPr>
          <p:spPr>
            <a:xfrm>
              <a:off x="3551237" y="2538409"/>
              <a:ext cx="1097280" cy="684530"/>
            </a:xfrm>
            <a:custGeom>
              <a:avLst/>
              <a:gdLst/>
              <a:ahLst/>
              <a:cxnLst/>
              <a:rect l="l" t="t" r="r" b="b"/>
              <a:pathLst>
                <a:path w="1097279" h="684530">
                  <a:moveTo>
                    <a:pt x="822718" y="0"/>
                  </a:moveTo>
                  <a:lnTo>
                    <a:pt x="822718" y="171056"/>
                  </a:lnTo>
                  <a:lnTo>
                    <a:pt x="0" y="171056"/>
                  </a:lnTo>
                  <a:lnTo>
                    <a:pt x="0" y="513156"/>
                  </a:lnTo>
                  <a:lnTo>
                    <a:pt x="822718" y="513156"/>
                  </a:lnTo>
                  <a:lnTo>
                    <a:pt x="822718" y="684212"/>
                  </a:lnTo>
                  <a:lnTo>
                    <a:pt x="1096962" y="342112"/>
                  </a:lnTo>
                  <a:lnTo>
                    <a:pt x="822718" y="0"/>
                  </a:lnTo>
                  <a:close/>
                </a:path>
              </a:pathLst>
            </a:custGeom>
            <a:solidFill>
              <a:srgbClr val="FF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551237" y="2538409"/>
              <a:ext cx="1097280" cy="684530"/>
            </a:xfrm>
            <a:custGeom>
              <a:avLst/>
              <a:gdLst/>
              <a:ahLst/>
              <a:cxnLst/>
              <a:rect l="l" t="t" r="r" b="b"/>
              <a:pathLst>
                <a:path w="1097279" h="684530">
                  <a:moveTo>
                    <a:pt x="0" y="171056"/>
                  </a:moveTo>
                  <a:lnTo>
                    <a:pt x="822718" y="171056"/>
                  </a:lnTo>
                  <a:lnTo>
                    <a:pt x="822718" y="0"/>
                  </a:lnTo>
                  <a:lnTo>
                    <a:pt x="1096962" y="342112"/>
                  </a:lnTo>
                  <a:lnTo>
                    <a:pt x="822718" y="684212"/>
                  </a:lnTo>
                  <a:lnTo>
                    <a:pt x="822718" y="513156"/>
                  </a:lnTo>
                  <a:lnTo>
                    <a:pt x="0" y="513156"/>
                  </a:lnTo>
                  <a:lnTo>
                    <a:pt x="0" y="17105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697211" y="2737914"/>
            <a:ext cx="6680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 MT"/>
                <a:cs typeface="Arial MT"/>
              </a:rPr>
              <a:t>AD7</a:t>
            </a:r>
            <a:r>
              <a:rPr sz="1200" dirty="0">
                <a:latin typeface="Arial MT"/>
                <a:cs typeface="Arial MT"/>
              </a:rPr>
              <a:t>-</a:t>
            </a:r>
            <a:r>
              <a:rPr sz="1200" spc="-5" dirty="0">
                <a:latin typeface="Arial MT"/>
                <a:cs typeface="Arial MT"/>
              </a:rPr>
              <a:t>AD0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383212" y="2622550"/>
            <a:ext cx="744855" cy="533400"/>
            <a:chOff x="5383212" y="2622550"/>
            <a:chExt cx="744855" cy="533400"/>
          </a:xfrm>
        </p:grpSpPr>
        <p:sp>
          <p:nvSpPr>
            <p:cNvPr id="19" name="object 19"/>
            <p:cNvSpPr/>
            <p:nvPr/>
          </p:nvSpPr>
          <p:spPr>
            <a:xfrm>
              <a:off x="5389562" y="2628900"/>
              <a:ext cx="732155" cy="520700"/>
            </a:xfrm>
            <a:custGeom>
              <a:avLst/>
              <a:gdLst/>
              <a:ahLst/>
              <a:cxnLst/>
              <a:rect l="l" t="t" r="r" b="b"/>
              <a:pathLst>
                <a:path w="732154" h="520700">
                  <a:moveTo>
                    <a:pt x="548881" y="0"/>
                  </a:moveTo>
                  <a:lnTo>
                    <a:pt x="548881" y="130175"/>
                  </a:lnTo>
                  <a:lnTo>
                    <a:pt x="0" y="130175"/>
                  </a:lnTo>
                  <a:lnTo>
                    <a:pt x="0" y="390525"/>
                  </a:lnTo>
                  <a:lnTo>
                    <a:pt x="548881" y="390525"/>
                  </a:lnTo>
                  <a:lnTo>
                    <a:pt x="548881" y="520700"/>
                  </a:lnTo>
                  <a:lnTo>
                    <a:pt x="731837" y="260350"/>
                  </a:lnTo>
                  <a:lnTo>
                    <a:pt x="548881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389562" y="2628900"/>
              <a:ext cx="732155" cy="520700"/>
            </a:xfrm>
            <a:custGeom>
              <a:avLst/>
              <a:gdLst/>
              <a:ahLst/>
              <a:cxnLst/>
              <a:rect l="l" t="t" r="r" b="b"/>
              <a:pathLst>
                <a:path w="732154" h="520700">
                  <a:moveTo>
                    <a:pt x="0" y="130175"/>
                  </a:moveTo>
                  <a:lnTo>
                    <a:pt x="548881" y="130175"/>
                  </a:lnTo>
                  <a:lnTo>
                    <a:pt x="548881" y="0"/>
                  </a:lnTo>
                  <a:lnTo>
                    <a:pt x="731837" y="260350"/>
                  </a:lnTo>
                  <a:lnTo>
                    <a:pt x="548881" y="520700"/>
                  </a:lnTo>
                  <a:lnTo>
                    <a:pt x="548881" y="390525"/>
                  </a:lnTo>
                  <a:lnTo>
                    <a:pt x="0" y="390525"/>
                  </a:lnTo>
                  <a:lnTo>
                    <a:pt x="0" y="1301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450840" y="3406711"/>
            <a:ext cx="55372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latin typeface="Times New Roman"/>
                <a:cs typeface="Times New Roman"/>
              </a:rPr>
              <a:t>D</a:t>
            </a:r>
            <a:r>
              <a:rPr sz="1350" baseline="-21604" dirty="0">
                <a:latin typeface="Times New Roman"/>
                <a:cs typeface="Times New Roman"/>
              </a:rPr>
              <a:t>7</a:t>
            </a:r>
            <a:r>
              <a:rPr sz="1400" dirty="0">
                <a:latin typeface="Times New Roman"/>
                <a:cs typeface="Times New Roman"/>
              </a:rPr>
              <a:t>-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5" dirty="0">
                <a:latin typeface="Times New Roman"/>
                <a:cs typeface="Times New Roman"/>
              </a:rPr>
              <a:t>D</a:t>
            </a:r>
            <a:r>
              <a:rPr sz="1350" spc="7" baseline="-21604" dirty="0">
                <a:latin typeface="Times New Roman"/>
                <a:cs typeface="Times New Roman"/>
              </a:rPr>
              <a:t>0</a:t>
            </a:r>
            <a:endParaRPr sz="1350" baseline="-21604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441315" y="2755836"/>
            <a:ext cx="54356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Times New Roman"/>
                <a:cs typeface="Times New Roman"/>
              </a:rPr>
              <a:t>A</a:t>
            </a:r>
            <a:r>
              <a:rPr sz="1350" spc="22" baseline="-21604" dirty="0">
                <a:latin typeface="Times New Roman"/>
                <a:cs typeface="Times New Roman"/>
              </a:rPr>
              <a:t>7</a:t>
            </a:r>
            <a:r>
              <a:rPr sz="1400" spc="-5" dirty="0">
                <a:latin typeface="Times New Roman"/>
                <a:cs typeface="Times New Roman"/>
              </a:rPr>
              <a:t>-</a:t>
            </a:r>
            <a:r>
              <a:rPr sz="1400" spc="-9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</a:t>
            </a:r>
            <a:r>
              <a:rPr sz="1350" spc="22" baseline="-21604" dirty="0">
                <a:latin typeface="Times New Roman"/>
                <a:cs typeface="Times New Roman"/>
              </a:rPr>
              <a:t>0</a:t>
            </a:r>
            <a:endParaRPr sz="1350" baseline="-21604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556000" y="2419350"/>
            <a:ext cx="1492250" cy="1270000"/>
            <a:chOff x="3556000" y="2419350"/>
            <a:chExt cx="1492250" cy="1270000"/>
          </a:xfrm>
        </p:grpSpPr>
        <p:sp>
          <p:nvSpPr>
            <p:cNvPr id="24" name="object 24"/>
            <p:cNvSpPr/>
            <p:nvPr/>
          </p:nvSpPr>
          <p:spPr>
            <a:xfrm>
              <a:off x="3886200" y="3048000"/>
              <a:ext cx="254000" cy="635000"/>
            </a:xfrm>
            <a:custGeom>
              <a:avLst/>
              <a:gdLst/>
              <a:ahLst/>
              <a:cxnLst/>
              <a:rect l="l" t="t" r="r" b="b"/>
              <a:pathLst>
                <a:path w="254000" h="635000">
                  <a:moveTo>
                    <a:pt x="254000" y="0"/>
                  </a:moveTo>
                  <a:lnTo>
                    <a:pt x="0" y="0"/>
                  </a:lnTo>
                  <a:lnTo>
                    <a:pt x="0" y="635000"/>
                  </a:lnTo>
                  <a:lnTo>
                    <a:pt x="254000" y="635000"/>
                  </a:lnTo>
                  <a:lnTo>
                    <a:pt x="254000" y="0"/>
                  </a:lnTo>
                  <a:close/>
                </a:path>
              </a:pathLst>
            </a:custGeom>
            <a:solidFill>
              <a:srgbClr val="66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886200" y="3048000"/>
              <a:ext cx="254000" cy="635000"/>
            </a:xfrm>
            <a:custGeom>
              <a:avLst/>
              <a:gdLst/>
              <a:ahLst/>
              <a:cxnLst/>
              <a:rect l="l" t="t" r="r" b="b"/>
              <a:pathLst>
                <a:path w="254000" h="635000">
                  <a:moveTo>
                    <a:pt x="0" y="0"/>
                  </a:moveTo>
                  <a:lnTo>
                    <a:pt x="254000" y="0"/>
                  </a:lnTo>
                  <a:lnTo>
                    <a:pt x="254000" y="635000"/>
                  </a:lnTo>
                  <a:lnTo>
                    <a:pt x="0" y="6350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041900" y="2425700"/>
              <a:ext cx="0" cy="215900"/>
            </a:xfrm>
            <a:custGeom>
              <a:avLst/>
              <a:gdLst/>
              <a:ahLst/>
              <a:cxnLst/>
              <a:rect l="l" t="t" r="r" b="b"/>
              <a:pathLst>
                <a:path h="215900">
                  <a:moveTo>
                    <a:pt x="0" y="2159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556000" y="2425700"/>
              <a:ext cx="1485900" cy="0"/>
            </a:xfrm>
            <a:custGeom>
              <a:avLst/>
              <a:gdLst/>
              <a:ahLst/>
              <a:cxnLst/>
              <a:rect l="l" t="t" r="r" b="b"/>
              <a:pathLst>
                <a:path w="1485900">
                  <a:moveTo>
                    <a:pt x="14859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2298064" y="1485836"/>
            <a:ext cx="522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8085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212464" y="2322386"/>
            <a:ext cx="3003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 MT"/>
                <a:cs typeface="Arial MT"/>
              </a:rPr>
              <a:t>AL</a:t>
            </a:r>
            <a:r>
              <a:rPr sz="1200" dirty="0">
                <a:latin typeface="Arial MT"/>
                <a:cs typeface="Arial MT"/>
              </a:rPr>
              <a:t>E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627888" y="715517"/>
            <a:ext cx="7793990" cy="817244"/>
            <a:chOff x="627888" y="715517"/>
            <a:chExt cx="7793990" cy="81724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7888" y="715517"/>
              <a:ext cx="6379463" cy="81686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67094" y="973835"/>
              <a:ext cx="560832" cy="54711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21017" y="715517"/>
              <a:ext cx="918972" cy="81686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02779" y="715517"/>
              <a:ext cx="1399031" cy="81686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60791" y="973835"/>
              <a:ext cx="560832" cy="547116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928242" y="846074"/>
            <a:ext cx="7287259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5" dirty="0">
                <a:solidFill>
                  <a:srgbClr val="FF3300"/>
                </a:solidFill>
              </a:rPr>
              <a:t>Demultiplexing</a:t>
            </a:r>
            <a:r>
              <a:rPr sz="4000" spc="-25" dirty="0">
                <a:solidFill>
                  <a:srgbClr val="FF3300"/>
                </a:solidFill>
              </a:rPr>
              <a:t> </a:t>
            </a:r>
            <a:r>
              <a:rPr sz="4000" spc="-5" dirty="0">
                <a:solidFill>
                  <a:srgbClr val="FF3300"/>
                </a:solidFill>
              </a:rPr>
              <a:t>the</a:t>
            </a:r>
            <a:r>
              <a:rPr sz="4000" spc="-10" dirty="0">
                <a:solidFill>
                  <a:srgbClr val="FF3300"/>
                </a:solidFill>
              </a:rPr>
              <a:t> </a:t>
            </a:r>
            <a:r>
              <a:rPr sz="4000" dirty="0">
                <a:solidFill>
                  <a:srgbClr val="FF3300"/>
                </a:solidFill>
              </a:rPr>
              <a:t>Bus AD</a:t>
            </a:r>
            <a:r>
              <a:rPr sz="2400" dirty="0">
                <a:solidFill>
                  <a:srgbClr val="FF3300"/>
                </a:solidFill>
              </a:rPr>
              <a:t>7</a:t>
            </a:r>
            <a:r>
              <a:rPr sz="2400" spc="385" dirty="0">
                <a:solidFill>
                  <a:srgbClr val="FF3300"/>
                </a:solidFill>
              </a:rPr>
              <a:t> </a:t>
            </a:r>
            <a:r>
              <a:rPr sz="4000" dirty="0">
                <a:solidFill>
                  <a:srgbClr val="FF3300"/>
                </a:solidFill>
              </a:rPr>
              <a:t>– </a:t>
            </a:r>
            <a:r>
              <a:rPr sz="4000" spc="-5" dirty="0">
                <a:solidFill>
                  <a:srgbClr val="FF3300"/>
                </a:solidFill>
              </a:rPr>
              <a:t>AD</a:t>
            </a:r>
            <a:r>
              <a:rPr sz="2400" spc="-5" dirty="0">
                <a:solidFill>
                  <a:srgbClr val="FF3300"/>
                </a:solidFill>
              </a:rPr>
              <a:t>0</a:t>
            </a:r>
            <a:endParaRPr sz="2400"/>
          </a:p>
        </p:txBody>
      </p:sp>
      <p:sp>
        <p:nvSpPr>
          <p:cNvPr id="10" name="object 10"/>
          <p:cNvSpPr txBox="1"/>
          <p:nvPr/>
        </p:nvSpPr>
        <p:spPr>
          <a:xfrm>
            <a:off x="764540" y="2005838"/>
            <a:ext cx="7581900" cy="2341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The</a:t>
            </a:r>
            <a:r>
              <a:rPr sz="200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high order address</a:t>
            </a:r>
            <a:r>
              <a:rPr sz="200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is placed</a:t>
            </a:r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on</a:t>
            </a:r>
            <a:r>
              <a:rPr sz="2000" spc="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the address</a:t>
            </a:r>
            <a:r>
              <a:rPr sz="200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bus</a:t>
            </a:r>
            <a:r>
              <a:rPr sz="200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and</a:t>
            </a:r>
            <a:r>
              <a:rPr sz="200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hold for</a:t>
            </a:r>
            <a:r>
              <a:rPr sz="2000" spc="4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3</a:t>
            </a:r>
            <a:r>
              <a:rPr sz="2000" spc="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clk </a:t>
            </a:r>
            <a:r>
              <a:rPr sz="2000" spc="-484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periods,</a:t>
            </a:r>
            <a:endParaRPr sz="2000">
              <a:latin typeface="Times New Roman"/>
              <a:cs typeface="Times New Roman"/>
            </a:endParaRPr>
          </a:p>
          <a:p>
            <a:pPr marL="354965" marR="466725" indent="-342900">
              <a:lnSpc>
                <a:spcPct val="100000"/>
              </a:lnSpc>
              <a:spcBef>
                <a:spcPts val="480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The</a:t>
            </a:r>
            <a:r>
              <a:rPr sz="2000" spc="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low</a:t>
            </a:r>
            <a:r>
              <a:rPr sz="2000" spc="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order</a:t>
            </a:r>
            <a:r>
              <a:rPr sz="200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address</a:t>
            </a:r>
            <a:r>
              <a:rPr sz="2000" spc="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is</a:t>
            </a:r>
            <a:r>
              <a:rPr sz="200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lost</a:t>
            </a:r>
            <a:r>
              <a:rPr sz="2000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after the first</a:t>
            </a:r>
            <a:r>
              <a:rPr sz="2000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clk</a:t>
            </a:r>
            <a:r>
              <a:rPr sz="200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period,</a:t>
            </a:r>
            <a:r>
              <a:rPr sz="2000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this</a:t>
            </a:r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address </a:t>
            </a:r>
            <a:r>
              <a:rPr sz="2000" spc="-484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needs</a:t>
            </a:r>
            <a:r>
              <a:rPr sz="2000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to</a:t>
            </a:r>
            <a:r>
              <a:rPr sz="2000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be hold</a:t>
            </a:r>
            <a:r>
              <a:rPr sz="2000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however</a:t>
            </a:r>
            <a:r>
              <a:rPr sz="200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we</a:t>
            </a:r>
            <a:r>
              <a:rPr sz="2000" spc="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need to</a:t>
            </a:r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use</a:t>
            </a:r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latch</a:t>
            </a:r>
            <a:endParaRPr sz="2000">
              <a:latin typeface="Times New Roman"/>
              <a:cs typeface="Times New Roman"/>
            </a:endParaRPr>
          </a:p>
          <a:p>
            <a:pPr marL="354965" indent="-342900">
              <a:lnSpc>
                <a:spcPct val="100000"/>
              </a:lnSpc>
              <a:spcBef>
                <a:spcPts val="480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The</a:t>
            </a:r>
            <a:r>
              <a:rPr sz="200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address</a:t>
            </a:r>
            <a:r>
              <a:rPr sz="2000" spc="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AD7</a:t>
            </a:r>
            <a:r>
              <a:rPr sz="2000" spc="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–</a:t>
            </a:r>
            <a:r>
              <a:rPr sz="2000" spc="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AD0</a:t>
            </a:r>
            <a:r>
              <a:rPr sz="2000" spc="2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is connected</a:t>
            </a:r>
            <a:r>
              <a:rPr sz="2000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as</a:t>
            </a:r>
            <a:r>
              <a:rPr sz="200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inputs</a:t>
            </a:r>
            <a:r>
              <a:rPr sz="2000" spc="-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to the</a:t>
            </a:r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latch</a:t>
            </a:r>
            <a:r>
              <a:rPr sz="2000" spc="2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74LS373.</a:t>
            </a:r>
            <a:endParaRPr sz="2000">
              <a:latin typeface="Times New Roman"/>
              <a:cs typeface="Times New Roman"/>
            </a:endParaRPr>
          </a:p>
          <a:p>
            <a:pPr marL="355600" marR="108585" indent="-342900">
              <a:lnSpc>
                <a:spcPct val="100000"/>
              </a:lnSpc>
              <a:spcBef>
                <a:spcPts val="480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The</a:t>
            </a:r>
            <a:r>
              <a:rPr sz="200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ALE</a:t>
            </a:r>
            <a:r>
              <a:rPr sz="2000" spc="2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signal</a:t>
            </a:r>
            <a:r>
              <a:rPr sz="2000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is connected</a:t>
            </a:r>
            <a:r>
              <a:rPr sz="2000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to</a:t>
            </a:r>
            <a:r>
              <a:rPr sz="200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the</a:t>
            </a:r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enable (G)</a:t>
            </a:r>
            <a:r>
              <a:rPr sz="2000" spc="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pin</a:t>
            </a:r>
            <a:r>
              <a:rPr sz="200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of the</a:t>
            </a:r>
            <a:r>
              <a:rPr sz="200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latch</a:t>
            </a:r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and the </a:t>
            </a:r>
            <a:r>
              <a:rPr sz="2000" spc="-484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OC</a:t>
            </a:r>
            <a:r>
              <a:rPr sz="2000" spc="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–</a:t>
            </a:r>
            <a:r>
              <a:rPr sz="200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Output</a:t>
            </a:r>
            <a:r>
              <a:rPr sz="2000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control</a:t>
            </a:r>
            <a:r>
              <a:rPr sz="2000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–</a:t>
            </a:r>
            <a:r>
              <a:rPr sz="200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of</a:t>
            </a:r>
            <a:r>
              <a:rPr sz="200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latch</a:t>
            </a:r>
            <a:r>
              <a:rPr sz="2000" spc="-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is</a:t>
            </a:r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grounded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0800" y="12"/>
            <a:ext cx="4800561" cy="6857987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57024" y="0"/>
            <a:ext cx="442976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The</a:t>
            </a:r>
            <a:r>
              <a:rPr spc="-40" dirty="0"/>
              <a:t> </a:t>
            </a:r>
            <a:r>
              <a:rPr spc="-5" dirty="0"/>
              <a:t>Overall</a:t>
            </a:r>
            <a:r>
              <a:rPr spc="-25" dirty="0"/>
              <a:t> </a:t>
            </a:r>
            <a:r>
              <a:rPr spc="-5" dirty="0"/>
              <a:t>Picture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1009903"/>
            <a:ext cx="7436484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Putting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all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 the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concepts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together,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we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get: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122362" y="2336800"/>
            <a:ext cx="5946775" cy="2360930"/>
            <a:chOff x="1122362" y="2336800"/>
            <a:chExt cx="5946775" cy="2360930"/>
          </a:xfrm>
        </p:grpSpPr>
        <p:sp>
          <p:nvSpPr>
            <p:cNvPr id="6" name="object 6"/>
            <p:cNvSpPr/>
            <p:nvPr/>
          </p:nvSpPr>
          <p:spPr>
            <a:xfrm>
              <a:off x="4302125" y="3665537"/>
              <a:ext cx="1484630" cy="243204"/>
            </a:xfrm>
            <a:custGeom>
              <a:avLst/>
              <a:gdLst/>
              <a:ahLst/>
              <a:cxnLst/>
              <a:rect l="l" t="t" r="r" b="b"/>
              <a:pathLst>
                <a:path w="1484629" h="243204">
                  <a:moveTo>
                    <a:pt x="0" y="0"/>
                  </a:moveTo>
                  <a:lnTo>
                    <a:pt x="1484312" y="0"/>
                  </a:lnTo>
                  <a:lnTo>
                    <a:pt x="1484312" y="242887"/>
                  </a:lnTo>
                  <a:lnTo>
                    <a:pt x="0" y="242887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28712" y="2343150"/>
              <a:ext cx="1341755" cy="2152650"/>
            </a:xfrm>
            <a:custGeom>
              <a:avLst/>
              <a:gdLst/>
              <a:ahLst/>
              <a:cxnLst/>
              <a:rect l="l" t="t" r="r" b="b"/>
              <a:pathLst>
                <a:path w="1341755" h="2152650">
                  <a:moveTo>
                    <a:pt x="1341437" y="0"/>
                  </a:moveTo>
                  <a:lnTo>
                    <a:pt x="0" y="0"/>
                  </a:lnTo>
                  <a:lnTo>
                    <a:pt x="0" y="2152650"/>
                  </a:lnTo>
                  <a:lnTo>
                    <a:pt x="1341437" y="2152650"/>
                  </a:lnTo>
                  <a:lnTo>
                    <a:pt x="1341437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28712" y="2343150"/>
              <a:ext cx="1341755" cy="2152650"/>
            </a:xfrm>
            <a:custGeom>
              <a:avLst/>
              <a:gdLst/>
              <a:ahLst/>
              <a:cxnLst/>
              <a:rect l="l" t="t" r="r" b="b"/>
              <a:pathLst>
                <a:path w="1341755" h="2152650">
                  <a:moveTo>
                    <a:pt x="0" y="0"/>
                  </a:moveTo>
                  <a:lnTo>
                    <a:pt x="1341437" y="0"/>
                  </a:lnTo>
                  <a:lnTo>
                    <a:pt x="1341437" y="2152650"/>
                  </a:lnTo>
                  <a:lnTo>
                    <a:pt x="0" y="215265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470150" y="2676525"/>
              <a:ext cx="3430904" cy="250825"/>
            </a:xfrm>
            <a:custGeom>
              <a:avLst/>
              <a:gdLst/>
              <a:ahLst/>
              <a:cxnLst/>
              <a:rect l="l" t="t" r="r" b="b"/>
              <a:pathLst>
                <a:path w="3430904" h="250825">
                  <a:moveTo>
                    <a:pt x="3430587" y="0"/>
                  </a:moveTo>
                  <a:lnTo>
                    <a:pt x="0" y="0"/>
                  </a:lnTo>
                  <a:lnTo>
                    <a:pt x="0" y="250825"/>
                  </a:lnTo>
                  <a:lnTo>
                    <a:pt x="3430587" y="250825"/>
                  </a:lnTo>
                  <a:lnTo>
                    <a:pt x="3430587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470150" y="2676525"/>
              <a:ext cx="3430904" cy="250825"/>
            </a:xfrm>
            <a:custGeom>
              <a:avLst/>
              <a:gdLst/>
              <a:ahLst/>
              <a:cxnLst/>
              <a:rect l="l" t="t" r="r" b="b"/>
              <a:pathLst>
                <a:path w="3430904" h="250825">
                  <a:moveTo>
                    <a:pt x="0" y="0"/>
                  </a:moveTo>
                  <a:lnTo>
                    <a:pt x="3430587" y="0"/>
                  </a:lnTo>
                  <a:lnTo>
                    <a:pt x="3430587" y="250825"/>
                  </a:lnTo>
                  <a:lnTo>
                    <a:pt x="0" y="25082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55937" y="4170362"/>
              <a:ext cx="4006850" cy="520700"/>
            </a:xfrm>
            <a:custGeom>
              <a:avLst/>
              <a:gdLst/>
              <a:ahLst/>
              <a:cxnLst/>
              <a:rect l="l" t="t" r="r" b="b"/>
              <a:pathLst>
                <a:path w="4006850" h="520700">
                  <a:moveTo>
                    <a:pt x="3675354" y="0"/>
                  </a:moveTo>
                  <a:lnTo>
                    <a:pt x="3675354" y="130175"/>
                  </a:lnTo>
                  <a:lnTo>
                    <a:pt x="0" y="130175"/>
                  </a:lnTo>
                  <a:lnTo>
                    <a:pt x="0" y="390525"/>
                  </a:lnTo>
                  <a:lnTo>
                    <a:pt x="3675354" y="390525"/>
                  </a:lnTo>
                  <a:lnTo>
                    <a:pt x="3675354" y="520700"/>
                  </a:lnTo>
                  <a:lnTo>
                    <a:pt x="4006850" y="260350"/>
                  </a:lnTo>
                  <a:lnTo>
                    <a:pt x="3675354" y="0"/>
                  </a:lnTo>
                  <a:close/>
                </a:path>
              </a:pathLst>
            </a:custGeom>
            <a:solidFill>
              <a:srgbClr val="66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55937" y="4170362"/>
              <a:ext cx="4006850" cy="520700"/>
            </a:xfrm>
            <a:custGeom>
              <a:avLst/>
              <a:gdLst/>
              <a:ahLst/>
              <a:cxnLst/>
              <a:rect l="l" t="t" r="r" b="b"/>
              <a:pathLst>
                <a:path w="4006850" h="520700">
                  <a:moveTo>
                    <a:pt x="0" y="130175"/>
                  </a:moveTo>
                  <a:lnTo>
                    <a:pt x="3675354" y="130175"/>
                  </a:lnTo>
                  <a:lnTo>
                    <a:pt x="3675354" y="0"/>
                  </a:lnTo>
                  <a:lnTo>
                    <a:pt x="4006850" y="260350"/>
                  </a:lnTo>
                  <a:lnTo>
                    <a:pt x="3675354" y="520700"/>
                  </a:lnTo>
                  <a:lnTo>
                    <a:pt x="3675354" y="390525"/>
                  </a:lnTo>
                  <a:lnTo>
                    <a:pt x="0" y="390525"/>
                  </a:lnTo>
                  <a:lnTo>
                    <a:pt x="0" y="1301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476500" y="2682875"/>
            <a:ext cx="3300095" cy="189865"/>
          </a:xfrm>
          <a:prstGeom prst="rect">
            <a:avLst/>
          </a:prstGeom>
          <a:solidFill>
            <a:srgbClr val="CCFFCC"/>
          </a:solidFill>
        </p:spPr>
        <p:txBody>
          <a:bodyPr vert="horz" wrap="square" lIns="0" tIns="33020" rIns="0" bIns="0" rtlCol="0">
            <a:spAutoFit/>
          </a:bodyPr>
          <a:lstStyle/>
          <a:p>
            <a:pPr marL="117475" algn="ctr">
              <a:lnSpc>
                <a:spcPts val="1235"/>
              </a:lnSpc>
              <a:spcBef>
                <a:spcPts val="260"/>
              </a:spcBef>
            </a:pPr>
            <a:r>
              <a:rPr sz="1400" spc="-5" dirty="0">
                <a:latin typeface="Times New Roman"/>
                <a:cs typeface="Times New Roman"/>
              </a:rPr>
              <a:t>A15-A8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567112" y="3516312"/>
            <a:ext cx="732155" cy="488950"/>
          </a:xfrm>
          <a:custGeom>
            <a:avLst/>
            <a:gdLst/>
            <a:ahLst/>
            <a:cxnLst/>
            <a:rect l="l" t="t" r="r" b="b"/>
            <a:pathLst>
              <a:path w="732154" h="488950">
                <a:moveTo>
                  <a:pt x="0" y="0"/>
                </a:moveTo>
                <a:lnTo>
                  <a:pt x="731837" y="0"/>
                </a:lnTo>
                <a:lnTo>
                  <a:pt x="731837" y="488950"/>
                </a:lnTo>
                <a:lnTo>
                  <a:pt x="0" y="48895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573462" y="3530600"/>
            <a:ext cx="717550" cy="468630"/>
          </a:xfrm>
          <a:prstGeom prst="rect">
            <a:avLst/>
          </a:prstGeom>
          <a:solidFill>
            <a:srgbClr val="CCFFFF"/>
          </a:solidFill>
        </p:spPr>
        <p:txBody>
          <a:bodyPr vert="horz" wrap="square" lIns="0" tIns="26034" rIns="0" bIns="0" rtlCol="0">
            <a:spAutoFit/>
          </a:bodyPr>
          <a:lstStyle/>
          <a:p>
            <a:pPr marL="172720">
              <a:lnSpc>
                <a:spcPct val="100000"/>
              </a:lnSpc>
              <a:spcBef>
                <a:spcPts val="204"/>
              </a:spcBef>
            </a:pPr>
            <a:r>
              <a:rPr sz="1200" spc="-5" dirty="0">
                <a:latin typeface="Arial MT"/>
                <a:cs typeface="Arial MT"/>
              </a:rPr>
              <a:t>Latch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463801" y="3413122"/>
            <a:ext cx="1109980" cy="697230"/>
            <a:chOff x="2463801" y="3413122"/>
            <a:chExt cx="1109980" cy="697230"/>
          </a:xfrm>
        </p:grpSpPr>
        <p:sp>
          <p:nvSpPr>
            <p:cNvPr id="17" name="object 17"/>
            <p:cNvSpPr/>
            <p:nvPr/>
          </p:nvSpPr>
          <p:spPr>
            <a:xfrm>
              <a:off x="2470151" y="3419472"/>
              <a:ext cx="1097280" cy="684530"/>
            </a:xfrm>
            <a:custGeom>
              <a:avLst/>
              <a:gdLst/>
              <a:ahLst/>
              <a:cxnLst/>
              <a:rect l="l" t="t" r="r" b="b"/>
              <a:pathLst>
                <a:path w="1097279" h="684529">
                  <a:moveTo>
                    <a:pt x="822718" y="0"/>
                  </a:moveTo>
                  <a:lnTo>
                    <a:pt x="822718" y="171056"/>
                  </a:lnTo>
                  <a:lnTo>
                    <a:pt x="0" y="171056"/>
                  </a:lnTo>
                  <a:lnTo>
                    <a:pt x="0" y="513168"/>
                  </a:lnTo>
                  <a:lnTo>
                    <a:pt x="822718" y="513168"/>
                  </a:lnTo>
                  <a:lnTo>
                    <a:pt x="822718" y="684212"/>
                  </a:lnTo>
                  <a:lnTo>
                    <a:pt x="1096962" y="342112"/>
                  </a:lnTo>
                  <a:lnTo>
                    <a:pt x="822718" y="0"/>
                  </a:lnTo>
                  <a:close/>
                </a:path>
              </a:pathLst>
            </a:custGeom>
            <a:solidFill>
              <a:srgbClr val="FF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470151" y="3419472"/>
              <a:ext cx="1097280" cy="684530"/>
            </a:xfrm>
            <a:custGeom>
              <a:avLst/>
              <a:gdLst/>
              <a:ahLst/>
              <a:cxnLst/>
              <a:rect l="l" t="t" r="r" b="b"/>
              <a:pathLst>
                <a:path w="1097279" h="684529">
                  <a:moveTo>
                    <a:pt x="0" y="171056"/>
                  </a:moveTo>
                  <a:lnTo>
                    <a:pt x="822718" y="171056"/>
                  </a:lnTo>
                  <a:lnTo>
                    <a:pt x="822718" y="0"/>
                  </a:lnTo>
                  <a:lnTo>
                    <a:pt x="1096962" y="342112"/>
                  </a:lnTo>
                  <a:lnTo>
                    <a:pt x="822718" y="684212"/>
                  </a:lnTo>
                  <a:lnTo>
                    <a:pt x="822718" y="513168"/>
                  </a:lnTo>
                  <a:lnTo>
                    <a:pt x="0" y="513168"/>
                  </a:lnTo>
                  <a:lnTo>
                    <a:pt x="0" y="17105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616125" y="3618976"/>
            <a:ext cx="6680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 MT"/>
                <a:cs typeface="Arial MT"/>
              </a:rPr>
              <a:t>AD7</a:t>
            </a:r>
            <a:r>
              <a:rPr sz="1200" dirty="0">
                <a:latin typeface="Arial MT"/>
                <a:cs typeface="Arial MT"/>
              </a:rPr>
              <a:t>-</a:t>
            </a:r>
            <a:r>
              <a:rPr sz="1200" spc="-5" dirty="0">
                <a:latin typeface="Arial MT"/>
                <a:cs typeface="Arial MT"/>
              </a:rPr>
              <a:t>AD0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969001" y="1817688"/>
            <a:ext cx="1120775" cy="533400"/>
            <a:chOff x="5969001" y="1817688"/>
            <a:chExt cx="1120775" cy="533400"/>
          </a:xfrm>
        </p:grpSpPr>
        <p:sp>
          <p:nvSpPr>
            <p:cNvPr id="21" name="object 21"/>
            <p:cNvSpPr/>
            <p:nvPr/>
          </p:nvSpPr>
          <p:spPr>
            <a:xfrm>
              <a:off x="5975351" y="1824038"/>
              <a:ext cx="1108075" cy="520700"/>
            </a:xfrm>
            <a:custGeom>
              <a:avLst/>
              <a:gdLst/>
              <a:ahLst/>
              <a:cxnLst/>
              <a:rect l="l" t="t" r="r" b="b"/>
              <a:pathLst>
                <a:path w="1108075" h="520700">
                  <a:moveTo>
                    <a:pt x="831062" y="0"/>
                  </a:moveTo>
                  <a:lnTo>
                    <a:pt x="831062" y="130175"/>
                  </a:lnTo>
                  <a:lnTo>
                    <a:pt x="0" y="130175"/>
                  </a:lnTo>
                  <a:lnTo>
                    <a:pt x="0" y="390525"/>
                  </a:lnTo>
                  <a:lnTo>
                    <a:pt x="831062" y="390525"/>
                  </a:lnTo>
                  <a:lnTo>
                    <a:pt x="831062" y="520700"/>
                  </a:lnTo>
                  <a:lnTo>
                    <a:pt x="1108075" y="260350"/>
                  </a:lnTo>
                  <a:lnTo>
                    <a:pt x="831062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975351" y="1824038"/>
              <a:ext cx="1108075" cy="520700"/>
            </a:xfrm>
            <a:custGeom>
              <a:avLst/>
              <a:gdLst/>
              <a:ahLst/>
              <a:cxnLst/>
              <a:rect l="l" t="t" r="r" b="b"/>
              <a:pathLst>
                <a:path w="1108075" h="520700">
                  <a:moveTo>
                    <a:pt x="0" y="130175"/>
                  </a:moveTo>
                  <a:lnTo>
                    <a:pt x="831062" y="130175"/>
                  </a:lnTo>
                  <a:lnTo>
                    <a:pt x="831062" y="0"/>
                  </a:lnTo>
                  <a:lnTo>
                    <a:pt x="1108075" y="260350"/>
                  </a:lnTo>
                  <a:lnTo>
                    <a:pt x="831062" y="520700"/>
                  </a:lnTo>
                  <a:lnTo>
                    <a:pt x="831062" y="390525"/>
                  </a:lnTo>
                  <a:lnTo>
                    <a:pt x="0" y="390525"/>
                  </a:lnTo>
                  <a:lnTo>
                    <a:pt x="0" y="1301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040062" y="4287775"/>
            <a:ext cx="297434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8125" algn="ctr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latin typeface="Times New Roman"/>
                <a:cs typeface="Times New Roman"/>
              </a:rPr>
              <a:t>D</a:t>
            </a:r>
            <a:r>
              <a:rPr sz="1350" baseline="-21604" dirty="0">
                <a:latin typeface="Times New Roman"/>
                <a:cs typeface="Times New Roman"/>
              </a:rPr>
              <a:t>7</a:t>
            </a:r>
            <a:r>
              <a:rPr sz="1400" dirty="0">
                <a:latin typeface="Times New Roman"/>
                <a:cs typeface="Times New Roman"/>
              </a:rPr>
              <a:t>-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5" dirty="0">
                <a:latin typeface="Times New Roman"/>
                <a:cs typeface="Times New Roman"/>
              </a:rPr>
              <a:t>D</a:t>
            </a:r>
            <a:r>
              <a:rPr sz="1350" spc="7" baseline="-21604" dirty="0">
                <a:latin typeface="Times New Roman"/>
                <a:cs typeface="Times New Roman"/>
              </a:rPr>
              <a:t>0</a:t>
            </a:r>
            <a:endParaRPr sz="1350" baseline="-21604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06887" y="3671887"/>
            <a:ext cx="1465580" cy="230504"/>
          </a:xfrm>
          <a:prstGeom prst="rect">
            <a:avLst/>
          </a:prstGeom>
          <a:solidFill>
            <a:srgbClr val="CCFFCC"/>
          </a:solidFill>
        </p:spPr>
        <p:txBody>
          <a:bodyPr vert="horz" wrap="square" lIns="0" tIns="0" rIns="0" bIns="0" rtlCol="0">
            <a:spAutoFit/>
          </a:bodyPr>
          <a:lstStyle/>
          <a:p>
            <a:pPr marL="90805">
              <a:lnSpc>
                <a:spcPts val="1505"/>
              </a:lnSpc>
            </a:pPr>
            <a:r>
              <a:rPr sz="1400" spc="-10" dirty="0">
                <a:latin typeface="Times New Roman"/>
                <a:cs typeface="Times New Roman"/>
              </a:rPr>
              <a:t>A</a:t>
            </a:r>
            <a:r>
              <a:rPr sz="1350" spc="22" baseline="-21604" dirty="0">
                <a:latin typeface="Times New Roman"/>
                <a:cs typeface="Times New Roman"/>
              </a:rPr>
              <a:t>7</a:t>
            </a:r>
            <a:r>
              <a:rPr sz="1400" spc="-5" dirty="0">
                <a:latin typeface="Times New Roman"/>
                <a:cs typeface="Times New Roman"/>
              </a:rPr>
              <a:t>-</a:t>
            </a:r>
            <a:r>
              <a:rPr sz="1400" spc="-9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</a:t>
            </a:r>
            <a:r>
              <a:rPr sz="1350" spc="22" baseline="-21604" dirty="0">
                <a:latin typeface="Times New Roman"/>
                <a:cs typeface="Times New Roman"/>
              </a:rPr>
              <a:t>0</a:t>
            </a:r>
            <a:endParaRPr sz="1350" baseline="-21604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428751" y="3300412"/>
            <a:ext cx="3482975" cy="2346325"/>
            <a:chOff x="1428751" y="3300412"/>
            <a:chExt cx="3482975" cy="2346325"/>
          </a:xfrm>
        </p:grpSpPr>
        <p:sp>
          <p:nvSpPr>
            <p:cNvPr id="26" name="object 26"/>
            <p:cNvSpPr/>
            <p:nvPr/>
          </p:nvSpPr>
          <p:spPr>
            <a:xfrm>
              <a:off x="2805112" y="3929062"/>
              <a:ext cx="254000" cy="635000"/>
            </a:xfrm>
            <a:custGeom>
              <a:avLst/>
              <a:gdLst/>
              <a:ahLst/>
              <a:cxnLst/>
              <a:rect l="l" t="t" r="r" b="b"/>
              <a:pathLst>
                <a:path w="254000" h="635000">
                  <a:moveTo>
                    <a:pt x="254000" y="0"/>
                  </a:moveTo>
                  <a:lnTo>
                    <a:pt x="0" y="0"/>
                  </a:lnTo>
                  <a:lnTo>
                    <a:pt x="0" y="635000"/>
                  </a:lnTo>
                  <a:lnTo>
                    <a:pt x="254000" y="635000"/>
                  </a:lnTo>
                  <a:lnTo>
                    <a:pt x="254000" y="0"/>
                  </a:lnTo>
                  <a:close/>
                </a:path>
              </a:pathLst>
            </a:custGeom>
            <a:solidFill>
              <a:srgbClr val="66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805112" y="3929062"/>
              <a:ext cx="254000" cy="635000"/>
            </a:xfrm>
            <a:custGeom>
              <a:avLst/>
              <a:gdLst/>
              <a:ahLst/>
              <a:cxnLst/>
              <a:rect l="l" t="t" r="r" b="b"/>
              <a:pathLst>
                <a:path w="254000" h="635000">
                  <a:moveTo>
                    <a:pt x="0" y="0"/>
                  </a:moveTo>
                  <a:lnTo>
                    <a:pt x="254000" y="0"/>
                  </a:lnTo>
                  <a:lnTo>
                    <a:pt x="254000" y="635000"/>
                  </a:lnTo>
                  <a:lnTo>
                    <a:pt x="0" y="6350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960812" y="3306762"/>
              <a:ext cx="0" cy="215900"/>
            </a:xfrm>
            <a:custGeom>
              <a:avLst/>
              <a:gdLst/>
              <a:ahLst/>
              <a:cxnLst/>
              <a:rect l="l" t="t" r="r" b="b"/>
              <a:pathLst>
                <a:path h="215900">
                  <a:moveTo>
                    <a:pt x="0" y="2159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474912" y="3306762"/>
              <a:ext cx="1485900" cy="0"/>
            </a:xfrm>
            <a:custGeom>
              <a:avLst/>
              <a:gdLst/>
              <a:ahLst/>
              <a:cxnLst/>
              <a:rect l="l" t="t" r="r" b="b"/>
              <a:pathLst>
                <a:path w="1485900">
                  <a:moveTo>
                    <a:pt x="14859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86037" y="4741862"/>
              <a:ext cx="2325687" cy="904875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2117726" y="4498976"/>
              <a:ext cx="0" cy="508000"/>
            </a:xfrm>
            <a:custGeom>
              <a:avLst/>
              <a:gdLst/>
              <a:ahLst/>
              <a:cxnLst/>
              <a:rect l="l" t="t" r="r" b="b"/>
              <a:pathLst>
                <a:path h="508000">
                  <a:moveTo>
                    <a:pt x="0" y="0"/>
                  </a:moveTo>
                  <a:lnTo>
                    <a:pt x="0" y="50800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108201" y="5006976"/>
              <a:ext cx="487680" cy="0"/>
            </a:xfrm>
            <a:custGeom>
              <a:avLst/>
              <a:gdLst/>
              <a:ahLst/>
              <a:cxnLst/>
              <a:rect l="l" t="t" r="r" b="b"/>
              <a:pathLst>
                <a:path w="487680">
                  <a:moveTo>
                    <a:pt x="487362" y="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762126" y="5108576"/>
              <a:ext cx="844550" cy="0"/>
            </a:xfrm>
            <a:custGeom>
              <a:avLst/>
              <a:gdLst/>
              <a:ahLst/>
              <a:cxnLst/>
              <a:rect l="l" t="t" r="r" b="b"/>
              <a:pathLst>
                <a:path w="844550">
                  <a:moveTo>
                    <a:pt x="844550" y="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438276" y="5454651"/>
              <a:ext cx="1157605" cy="0"/>
            </a:xfrm>
            <a:custGeom>
              <a:avLst/>
              <a:gdLst/>
              <a:ahLst/>
              <a:cxnLst/>
              <a:rect l="l" t="t" r="r" b="b"/>
              <a:pathLst>
                <a:path w="1157605">
                  <a:moveTo>
                    <a:pt x="1157287" y="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447801" y="4498976"/>
              <a:ext cx="0" cy="965200"/>
            </a:xfrm>
            <a:custGeom>
              <a:avLst/>
              <a:gdLst/>
              <a:ahLst/>
              <a:cxnLst/>
              <a:rect l="l" t="t" r="r" b="b"/>
              <a:pathLst>
                <a:path h="965200">
                  <a:moveTo>
                    <a:pt x="0" y="0"/>
                  </a:moveTo>
                  <a:lnTo>
                    <a:pt x="0" y="96520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771651" y="4498976"/>
              <a:ext cx="0" cy="609600"/>
            </a:xfrm>
            <a:custGeom>
              <a:avLst/>
              <a:gdLst/>
              <a:ahLst/>
              <a:cxnLst/>
              <a:rect l="l" t="t" r="r" b="b"/>
              <a:pathLst>
                <a:path h="609600">
                  <a:moveTo>
                    <a:pt x="0" y="0"/>
                  </a:moveTo>
                  <a:lnTo>
                    <a:pt x="0" y="60960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1216977" y="2366900"/>
            <a:ext cx="522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8085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131377" y="3203449"/>
            <a:ext cx="3003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 MT"/>
                <a:cs typeface="Arial MT"/>
              </a:rPr>
              <a:t>AL</a:t>
            </a:r>
            <a:r>
              <a:rPr sz="1200" dirty="0">
                <a:latin typeface="Arial MT"/>
                <a:cs typeface="Arial MT"/>
              </a:rPr>
              <a:t>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336024" y="4320228"/>
            <a:ext cx="93281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643890" algn="l"/>
              </a:tabLst>
            </a:pPr>
            <a:r>
              <a:rPr sz="1500" baseline="2777" dirty="0">
                <a:latin typeface="Arial MT"/>
                <a:cs typeface="Arial MT"/>
              </a:rPr>
              <a:t>WR  </a:t>
            </a:r>
            <a:r>
              <a:rPr sz="1500" spc="104" baseline="2777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RD	</a:t>
            </a:r>
            <a:r>
              <a:rPr sz="1500" spc="-7" baseline="2777" dirty="0">
                <a:latin typeface="Arial MT"/>
                <a:cs typeface="Arial MT"/>
              </a:rPr>
              <a:t>I</a:t>
            </a:r>
            <a:r>
              <a:rPr sz="1500" baseline="2777" dirty="0">
                <a:latin typeface="Arial MT"/>
                <a:cs typeface="Arial MT"/>
              </a:rPr>
              <a:t>O</a:t>
            </a:r>
            <a:r>
              <a:rPr sz="1500" spc="-7" baseline="2777" dirty="0">
                <a:latin typeface="Arial MT"/>
                <a:cs typeface="Arial MT"/>
              </a:rPr>
              <a:t>/</a:t>
            </a:r>
            <a:r>
              <a:rPr sz="1500" baseline="2777" dirty="0">
                <a:latin typeface="Arial MT"/>
                <a:cs typeface="Arial MT"/>
              </a:rPr>
              <a:t>M</a:t>
            </a:r>
            <a:endParaRPr sz="1500" baseline="2777">
              <a:latin typeface="Arial MT"/>
              <a:cs typeface="Arial MT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1309687" y="2486026"/>
            <a:ext cx="6678930" cy="2443480"/>
            <a:chOff x="1309687" y="2486026"/>
            <a:chExt cx="6678930" cy="2443480"/>
          </a:xfrm>
        </p:grpSpPr>
        <p:sp>
          <p:nvSpPr>
            <p:cNvPr id="41" name="object 41"/>
            <p:cNvSpPr/>
            <p:nvPr/>
          </p:nvSpPr>
          <p:spPr>
            <a:xfrm>
              <a:off x="1316037" y="4305301"/>
              <a:ext cx="243204" cy="0"/>
            </a:xfrm>
            <a:custGeom>
              <a:avLst/>
              <a:gdLst/>
              <a:ahLst/>
              <a:cxnLst/>
              <a:rect l="l" t="t" r="r" b="b"/>
              <a:pathLst>
                <a:path w="243205">
                  <a:moveTo>
                    <a:pt x="0" y="0"/>
                  </a:moveTo>
                  <a:lnTo>
                    <a:pt x="24288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053262" y="2578100"/>
              <a:ext cx="935355" cy="2256155"/>
            </a:xfrm>
            <a:custGeom>
              <a:avLst/>
              <a:gdLst/>
              <a:ahLst/>
              <a:cxnLst/>
              <a:rect l="l" t="t" r="r" b="b"/>
              <a:pathLst>
                <a:path w="935354" h="2256154">
                  <a:moveTo>
                    <a:pt x="935037" y="0"/>
                  </a:moveTo>
                  <a:lnTo>
                    <a:pt x="0" y="0"/>
                  </a:lnTo>
                  <a:lnTo>
                    <a:pt x="0" y="2255837"/>
                  </a:lnTo>
                  <a:lnTo>
                    <a:pt x="935037" y="2255837"/>
                  </a:lnTo>
                  <a:lnTo>
                    <a:pt x="935037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630362" y="4305301"/>
              <a:ext cx="243204" cy="0"/>
            </a:xfrm>
            <a:custGeom>
              <a:avLst/>
              <a:gdLst/>
              <a:ahLst/>
              <a:cxnLst/>
              <a:rect l="l" t="t" r="r" b="b"/>
              <a:pathLst>
                <a:path w="243205">
                  <a:moveTo>
                    <a:pt x="0" y="0"/>
                  </a:moveTo>
                  <a:lnTo>
                    <a:pt x="24288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151062" y="4305301"/>
              <a:ext cx="151130" cy="0"/>
            </a:xfrm>
            <a:custGeom>
              <a:avLst/>
              <a:gdLst/>
              <a:ahLst/>
              <a:cxnLst/>
              <a:rect l="l" t="t" r="r" b="b"/>
              <a:pathLst>
                <a:path w="151130">
                  <a:moveTo>
                    <a:pt x="0" y="0"/>
                  </a:moveTo>
                  <a:lnTo>
                    <a:pt x="15081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51701" y="4827587"/>
              <a:ext cx="101600" cy="101600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42226" y="4827587"/>
              <a:ext cx="101600" cy="101600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89826" y="2486026"/>
              <a:ext cx="101600" cy="101600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7566026" y="4657726"/>
              <a:ext cx="243204" cy="0"/>
            </a:xfrm>
            <a:custGeom>
              <a:avLst/>
              <a:gdLst/>
              <a:ahLst/>
              <a:cxnLst/>
              <a:rect l="l" t="t" r="r" b="b"/>
              <a:pathLst>
                <a:path w="243204">
                  <a:moveTo>
                    <a:pt x="0" y="0"/>
                  </a:moveTo>
                  <a:lnTo>
                    <a:pt x="24288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186613" y="4657726"/>
              <a:ext cx="243204" cy="0"/>
            </a:xfrm>
            <a:custGeom>
              <a:avLst/>
              <a:gdLst/>
              <a:ahLst/>
              <a:cxnLst/>
              <a:rect l="l" t="t" r="r" b="b"/>
              <a:pathLst>
                <a:path w="243204">
                  <a:moveTo>
                    <a:pt x="0" y="0"/>
                  </a:moveTo>
                  <a:lnTo>
                    <a:pt x="24288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7053262" y="2578100"/>
            <a:ext cx="935355" cy="225615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80010" rIns="0" bIns="0" rtlCol="0">
            <a:spAutoFit/>
          </a:bodyPr>
          <a:lstStyle/>
          <a:p>
            <a:pPr marL="43815" algn="ctr">
              <a:lnSpc>
                <a:spcPct val="100000"/>
              </a:lnSpc>
              <a:spcBef>
                <a:spcPts val="630"/>
              </a:spcBef>
            </a:pPr>
            <a:r>
              <a:rPr sz="1000" dirty="0">
                <a:latin typeface="Arial MT"/>
                <a:cs typeface="Arial MT"/>
              </a:rPr>
              <a:t>CS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00">
              <a:latin typeface="Arial MT"/>
              <a:cs typeface="Arial MT"/>
            </a:endParaRPr>
          </a:p>
          <a:p>
            <a:pPr marL="205104" marR="170180" indent="-635" algn="ctr">
              <a:lnSpc>
                <a:spcPct val="100000"/>
              </a:lnSpc>
              <a:spcBef>
                <a:spcPts val="675"/>
              </a:spcBef>
            </a:pPr>
            <a:r>
              <a:rPr sz="1200" spc="-5" dirty="0">
                <a:latin typeface="Arial MT"/>
                <a:cs typeface="Arial MT"/>
              </a:rPr>
              <a:t>1K Byte </a:t>
            </a:r>
            <a:r>
              <a:rPr sz="1200" spc="-32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M</a:t>
            </a:r>
            <a:r>
              <a:rPr sz="1200" spc="-10" dirty="0">
                <a:latin typeface="Arial MT"/>
                <a:cs typeface="Arial MT"/>
              </a:rPr>
              <a:t>e</a:t>
            </a:r>
            <a:r>
              <a:rPr sz="1200" spc="-5" dirty="0">
                <a:latin typeface="Arial MT"/>
                <a:cs typeface="Arial MT"/>
              </a:rPr>
              <a:t>m</a:t>
            </a:r>
            <a:r>
              <a:rPr sz="1200" spc="-10" dirty="0">
                <a:latin typeface="Arial MT"/>
                <a:cs typeface="Arial MT"/>
              </a:rPr>
              <a:t>o</a:t>
            </a:r>
            <a:r>
              <a:rPr sz="1200" dirty="0">
                <a:latin typeface="Arial MT"/>
                <a:cs typeface="Arial MT"/>
              </a:rPr>
              <a:t>ry  </a:t>
            </a:r>
            <a:r>
              <a:rPr sz="1200" spc="-10" dirty="0">
                <a:latin typeface="Arial MT"/>
                <a:cs typeface="Arial MT"/>
              </a:rPr>
              <a:t>Chip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50">
              <a:latin typeface="Arial MT"/>
              <a:cs typeface="Arial MT"/>
            </a:endParaRPr>
          </a:p>
          <a:p>
            <a:pPr marR="15875" algn="ctr">
              <a:lnSpc>
                <a:spcPts val="1170"/>
              </a:lnSpc>
              <a:tabLst>
                <a:tab pos="366395" algn="l"/>
              </a:tabLst>
            </a:pPr>
            <a:r>
              <a:rPr sz="1000" dirty="0">
                <a:latin typeface="Arial MT"/>
                <a:cs typeface="Arial MT"/>
              </a:rPr>
              <a:t>RD	</a:t>
            </a:r>
            <a:r>
              <a:rPr sz="1500" baseline="2777" dirty="0">
                <a:latin typeface="Arial MT"/>
                <a:cs typeface="Arial MT"/>
              </a:rPr>
              <a:t>WR</a:t>
            </a:r>
            <a:endParaRPr sz="1500" baseline="2777">
              <a:latin typeface="Arial MT"/>
              <a:cs typeface="Arial MT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5770562" y="2630488"/>
            <a:ext cx="1913255" cy="1284605"/>
            <a:chOff x="5770562" y="2630488"/>
            <a:chExt cx="1913255" cy="1284605"/>
          </a:xfrm>
        </p:grpSpPr>
        <p:sp>
          <p:nvSpPr>
            <p:cNvPr id="52" name="object 52"/>
            <p:cNvSpPr/>
            <p:nvPr/>
          </p:nvSpPr>
          <p:spPr>
            <a:xfrm>
              <a:off x="7434263" y="2636838"/>
              <a:ext cx="243204" cy="0"/>
            </a:xfrm>
            <a:custGeom>
              <a:avLst/>
              <a:gdLst/>
              <a:ahLst/>
              <a:cxnLst/>
              <a:rect l="l" t="t" r="r" b="b"/>
              <a:pathLst>
                <a:path w="243204">
                  <a:moveTo>
                    <a:pt x="0" y="0"/>
                  </a:moveTo>
                  <a:lnTo>
                    <a:pt x="24288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992813" y="3225795"/>
              <a:ext cx="1066800" cy="530860"/>
            </a:xfrm>
            <a:custGeom>
              <a:avLst/>
              <a:gdLst/>
              <a:ahLst/>
              <a:cxnLst/>
              <a:rect l="l" t="t" r="r" b="b"/>
              <a:pathLst>
                <a:path w="1066800" h="530860">
                  <a:moveTo>
                    <a:pt x="800100" y="0"/>
                  </a:moveTo>
                  <a:lnTo>
                    <a:pt x="800100" y="132562"/>
                  </a:lnTo>
                  <a:lnTo>
                    <a:pt x="0" y="132562"/>
                  </a:lnTo>
                  <a:lnTo>
                    <a:pt x="0" y="397675"/>
                  </a:lnTo>
                  <a:lnTo>
                    <a:pt x="800100" y="397675"/>
                  </a:lnTo>
                  <a:lnTo>
                    <a:pt x="800100" y="530237"/>
                  </a:lnTo>
                  <a:lnTo>
                    <a:pt x="1066800" y="265125"/>
                  </a:lnTo>
                  <a:lnTo>
                    <a:pt x="800100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992813" y="3225795"/>
              <a:ext cx="1066800" cy="530860"/>
            </a:xfrm>
            <a:custGeom>
              <a:avLst/>
              <a:gdLst/>
              <a:ahLst/>
              <a:cxnLst/>
              <a:rect l="l" t="t" r="r" b="b"/>
              <a:pathLst>
                <a:path w="1066800" h="530860">
                  <a:moveTo>
                    <a:pt x="0" y="132562"/>
                  </a:moveTo>
                  <a:lnTo>
                    <a:pt x="800100" y="132562"/>
                  </a:lnTo>
                  <a:lnTo>
                    <a:pt x="800100" y="0"/>
                  </a:lnTo>
                  <a:lnTo>
                    <a:pt x="1066800" y="265125"/>
                  </a:lnTo>
                  <a:lnTo>
                    <a:pt x="800100" y="530237"/>
                  </a:lnTo>
                  <a:lnTo>
                    <a:pt x="800100" y="397675"/>
                  </a:lnTo>
                  <a:lnTo>
                    <a:pt x="0" y="397675"/>
                  </a:lnTo>
                  <a:lnTo>
                    <a:pt x="0" y="132562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776912" y="3532187"/>
              <a:ext cx="212725" cy="376555"/>
            </a:xfrm>
            <a:custGeom>
              <a:avLst/>
              <a:gdLst/>
              <a:ahLst/>
              <a:cxnLst/>
              <a:rect l="l" t="t" r="r" b="b"/>
              <a:pathLst>
                <a:path w="212725" h="376554">
                  <a:moveTo>
                    <a:pt x="212725" y="0"/>
                  </a:moveTo>
                  <a:lnTo>
                    <a:pt x="0" y="0"/>
                  </a:lnTo>
                  <a:lnTo>
                    <a:pt x="0" y="376237"/>
                  </a:lnTo>
                  <a:lnTo>
                    <a:pt x="212725" y="376237"/>
                  </a:lnTo>
                  <a:lnTo>
                    <a:pt x="212725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776912" y="3532187"/>
              <a:ext cx="212725" cy="376555"/>
            </a:xfrm>
            <a:custGeom>
              <a:avLst/>
              <a:gdLst/>
              <a:ahLst/>
              <a:cxnLst/>
              <a:rect l="l" t="t" r="r" b="b"/>
              <a:pathLst>
                <a:path w="212725" h="376554">
                  <a:moveTo>
                    <a:pt x="0" y="0"/>
                  </a:moveTo>
                  <a:lnTo>
                    <a:pt x="212725" y="0"/>
                  </a:lnTo>
                  <a:lnTo>
                    <a:pt x="212725" y="376237"/>
                  </a:lnTo>
                  <a:lnTo>
                    <a:pt x="0" y="376237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899150" y="2871787"/>
              <a:ext cx="88900" cy="589280"/>
            </a:xfrm>
            <a:custGeom>
              <a:avLst/>
              <a:gdLst/>
              <a:ahLst/>
              <a:cxnLst/>
              <a:rect l="l" t="t" r="r" b="b"/>
              <a:pathLst>
                <a:path w="88900" h="589279">
                  <a:moveTo>
                    <a:pt x="88900" y="0"/>
                  </a:moveTo>
                  <a:lnTo>
                    <a:pt x="0" y="0"/>
                  </a:lnTo>
                  <a:lnTo>
                    <a:pt x="0" y="588962"/>
                  </a:lnTo>
                  <a:lnTo>
                    <a:pt x="88900" y="588962"/>
                  </a:lnTo>
                  <a:lnTo>
                    <a:pt x="88900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899150" y="2871787"/>
              <a:ext cx="88900" cy="589280"/>
            </a:xfrm>
            <a:custGeom>
              <a:avLst/>
              <a:gdLst/>
              <a:ahLst/>
              <a:cxnLst/>
              <a:rect l="l" t="t" r="r" b="b"/>
              <a:pathLst>
                <a:path w="88900" h="589279">
                  <a:moveTo>
                    <a:pt x="0" y="0"/>
                  </a:moveTo>
                  <a:lnTo>
                    <a:pt x="88900" y="0"/>
                  </a:lnTo>
                  <a:lnTo>
                    <a:pt x="88900" y="588962"/>
                  </a:lnTo>
                  <a:lnTo>
                    <a:pt x="0" y="588962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6066791" y="3352736"/>
            <a:ext cx="54356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Times New Roman"/>
                <a:cs typeface="Times New Roman"/>
              </a:rPr>
              <a:t>A</a:t>
            </a:r>
            <a:r>
              <a:rPr sz="1350" spc="22" baseline="-21604" dirty="0">
                <a:latin typeface="Times New Roman"/>
                <a:cs typeface="Times New Roman"/>
              </a:rPr>
              <a:t>9</a:t>
            </a:r>
            <a:r>
              <a:rPr sz="1400" spc="-5" dirty="0">
                <a:latin typeface="Times New Roman"/>
                <a:cs typeface="Times New Roman"/>
              </a:rPr>
              <a:t>-</a:t>
            </a:r>
            <a:r>
              <a:rPr sz="1400" spc="-9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</a:t>
            </a:r>
            <a:r>
              <a:rPr sz="1350" spc="22" baseline="-21604" dirty="0">
                <a:latin typeface="Times New Roman"/>
                <a:cs typeface="Times New Roman"/>
              </a:rPr>
              <a:t>0</a:t>
            </a:r>
            <a:endParaRPr sz="1350" baseline="-21604">
              <a:latin typeface="Times New Roman"/>
              <a:cs typeface="Times New Roman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5778500" y="1941512"/>
            <a:ext cx="1762125" cy="936625"/>
            <a:chOff x="5778500" y="1941512"/>
            <a:chExt cx="1762125" cy="936625"/>
          </a:xfrm>
        </p:grpSpPr>
        <p:sp>
          <p:nvSpPr>
            <p:cNvPr id="61" name="object 61"/>
            <p:cNvSpPr/>
            <p:nvPr/>
          </p:nvSpPr>
          <p:spPr>
            <a:xfrm>
              <a:off x="5784850" y="1947862"/>
              <a:ext cx="203200" cy="923925"/>
            </a:xfrm>
            <a:custGeom>
              <a:avLst/>
              <a:gdLst/>
              <a:ahLst/>
              <a:cxnLst/>
              <a:rect l="l" t="t" r="r" b="b"/>
              <a:pathLst>
                <a:path w="203200" h="923925">
                  <a:moveTo>
                    <a:pt x="203200" y="0"/>
                  </a:moveTo>
                  <a:lnTo>
                    <a:pt x="0" y="0"/>
                  </a:lnTo>
                  <a:lnTo>
                    <a:pt x="0" y="923925"/>
                  </a:lnTo>
                  <a:lnTo>
                    <a:pt x="203200" y="92392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784850" y="1947862"/>
              <a:ext cx="203200" cy="923925"/>
            </a:xfrm>
            <a:custGeom>
              <a:avLst/>
              <a:gdLst/>
              <a:ahLst/>
              <a:cxnLst/>
              <a:rect l="l" t="t" r="r" b="b"/>
              <a:pathLst>
                <a:path w="203200" h="923925">
                  <a:moveTo>
                    <a:pt x="0" y="0"/>
                  </a:moveTo>
                  <a:lnTo>
                    <a:pt x="203200" y="0"/>
                  </a:lnTo>
                  <a:lnTo>
                    <a:pt x="203200" y="923925"/>
                  </a:lnTo>
                  <a:lnTo>
                    <a:pt x="0" y="92392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7534276" y="2293938"/>
              <a:ext cx="0" cy="212725"/>
            </a:xfrm>
            <a:custGeom>
              <a:avLst/>
              <a:gdLst/>
              <a:ahLst/>
              <a:cxnLst/>
              <a:rect l="l" t="t" r="r" b="b"/>
              <a:pathLst>
                <a:path h="212725">
                  <a:moveTo>
                    <a:pt x="0" y="0"/>
                  </a:moveTo>
                  <a:lnTo>
                    <a:pt x="0" y="21272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6158866" y="1992821"/>
            <a:ext cx="66230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100" spc="-15" baseline="13888" dirty="0">
                <a:latin typeface="Times New Roman"/>
                <a:cs typeface="Times New Roman"/>
              </a:rPr>
              <a:t>A</a:t>
            </a:r>
            <a:r>
              <a:rPr sz="900" spc="15" dirty="0">
                <a:latin typeface="Times New Roman"/>
                <a:cs typeface="Times New Roman"/>
              </a:rPr>
              <a:t>15</a:t>
            </a:r>
            <a:r>
              <a:rPr sz="2100" spc="-7" baseline="13888" dirty="0">
                <a:latin typeface="Times New Roman"/>
                <a:cs typeface="Times New Roman"/>
              </a:rPr>
              <a:t>-</a:t>
            </a:r>
            <a:r>
              <a:rPr sz="2100" spc="-135" baseline="13888" dirty="0">
                <a:latin typeface="Times New Roman"/>
                <a:cs typeface="Times New Roman"/>
              </a:rPr>
              <a:t> </a:t>
            </a:r>
            <a:r>
              <a:rPr sz="2100" spc="-15" baseline="13888" dirty="0">
                <a:latin typeface="Times New Roman"/>
                <a:cs typeface="Times New Roman"/>
              </a:rPr>
              <a:t>A</a:t>
            </a:r>
            <a:r>
              <a:rPr sz="900" spc="15" dirty="0">
                <a:latin typeface="Times New Roman"/>
                <a:cs typeface="Times New Roman"/>
              </a:rPr>
              <a:t>10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7081837" y="1866900"/>
            <a:ext cx="903605" cy="427355"/>
          </a:xfrm>
          <a:prstGeom prst="rect">
            <a:avLst/>
          </a:prstGeom>
          <a:solidFill>
            <a:srgbClr val="CCECFF"/>
          </a:solidFill>
          <a:ln w="12700">
            <a:solidFill>
              <a:srgbClr val="000000"/>
            </a:solidFill>
          </a:ln>
        </p:spPr>
        <p:txBody>
          <a:bodyPr vert="horz" wrap="square" lIns="0" tIns="62865" rIns="0" bIns="0" rtlCol="0">
            <a:spAutoFit/>
          </a:bodyPr>
          <a:lstStyle/>
          <a:p>
            <a:pPr marL="284480" marR="20320" indent="-227329">
              <a:lnSpc>
                <a:spcPct val="100000"/>
              </a:lnSpc>
              <a:spcBef>
                <a:spcPts val="495"/>
              </a:spcBef>
            </a:pPr>
            <a:r>
              <a:rPr sz="1000" dirty="0">
                <a:latin typeface="Arial MT"/>
                <a:cs typeface="Arial MT"/>
              </a:rPr>
              <a:t>Chip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5" dirty="0">
                <a:latin typeface="Arial MT"/>
                <a:cs typeface="Arial MT"/>
              </a:rPr>
              <a:t>S</a:t>
            </a:r>
            <a:r>
              <a:rPr sz="1000" dirty="0">
                <a:latin typeface="Arial MT"/>
                <a:cs typeface="Arial MT"/>
              </a:rPr>
              <a:t>e</a:t>
            </a:r>
            <a:r>
              <a:rPr sz="1000" spc="-5" dirty="0">
                <a:latin typeface="Arial MT"/>
                <a:cs typeface="Arial MT"/>
              </a:rPr>
              <a:t>l</a:t>
            </a:r>
            <a:r>
              <a:rPr sz="1000" dirty="0">
                <a:latin typeface="Arial MT"/>
                <a:cs typeface="Arial MT"/>
              </a:rPr>
              <a:t>ec</a:t>
            </a:r>
            <a:r>
              <a:rPr sz="1000" spc="-5" dirty="0">
                <a:latin typeface="Arial MT"/>
                <a:cs typeface="Arial MT"/>
              </a:rPr>
              <a:t>t</a:t>
            </a:r>
            <a:r>
              <a:rPr sz="1000" dirty="0">
                <a:latin typeface="Arial MT"/>
                <a:cs typeface="Arial MT"/>
              </a:rPr>
              <a:t>i</a:t>
            </a:r>
            <a:r>
              <a:rPr sz="1000" spc="-5" dirty="0">
                <a:latin typeface="Arial MT"/>
                <a:cs typeface="Arial MT"/>
              </a:rPr>
              <a:t>o</a:t>
            </a:r>
            <a:r>
              <a:rPr sz="1000" dirty="0">
                <a:latin typeface="Arial MT"/>
                <a:cs typeface="Arial MT"/>
              </a:rPr>
              <a:t>n  </a:t>
            </a:r>
            <a:r>
              <a:rPr sz="1000" spc="-5" dirty="0">
                <a:latin typeface="Arial MT"/>
                <a:cs typeface="Arial MT"/>
              </a:rPr>
              <a:t>Circuit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3054351" y="1968501"/>
            <a:ext cx="4651375" cy="3454400"/>
            <a:chOff x="3054351" y="1968501"/>
            <a:chExt cx="4651375" cy="3454400"/>
          </a:xfrm>
        </p:grpSpPr>
        <p:sp>
          <p:nvSpPr>
            <p:cNvPr id="67" name="object 67"/>
            <p:cNvSpPr/>
            <p:nvPr/>
          </p:nvSpPr>
          <p:spPr>
            <a:xfrm>
              <a:off x="4170362" y="5067301"/>
              <a:ext cx="3140075" cy="0"/>
            </a:xfrm>
            <a:custGeom>
              <a:avLst/>
              <a:gdLst/>
              <a:ahLst/>
              <a:cxnLst/>
              <a:rect l="l" t="t" r="r" b="b"/>
              <a:pathLst>
                <a:path w="3140075">
                  <a:moveTo>
                    <a:pt x="0" y="0"/>
                  </a:moveTo>
                  <a:lnTo>
                    <a:pt x="3140075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160837" y="5403851"/>
              <a:ext cx="3526154" cy="0"/>
            </a:xfrm>
            <a:custGeom>
              <a:avLst/>
              <a:gdLst/>
              <a:ahLst/>
              <a:cxnLst/>
              <a:rect l="l" t="t" r="r" b="b"/>
              <a:pathLst>
                <a:path w="3526154">
                  <a:moveTo>
                    <a:pt x="0" y="0"/>
                  </a:moveTo>
                  <a:lnTo>
                    <a:pt x="3525837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7310438" y="4924426"/>
              <a:ext cx="0" cy="133350"/>
            </a:xfrm>
            <a:custGeom>
              <a:avLst/>
              <a:gdLst/>
              <a:ahLst/>
              <a:cxnLst/>
              <a:rect l="l" t="t" r="r" b="b"/>
              <a:pathLst>
                <a:path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7696201" y="4924426"/>
              <a:ext cx="0" cy="498475"/>
            </a:xfrm>
            <a:custGeom>
              <a:avLst/>
              <a:gdLst/>
              <a:ahLst/>
              <a:cxnLst/>
              <a:rect l="l" t="t" r="r" b="b"/>
              <a:pathLst>
                <a:path h="498475">
                  <a:moveTo>
                    <a:pt x="0" y="0"/>
                  </a:moveTo>
                  <a:lnTo>
                    <a:pt x="0" y="498475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5783263" y="2689226"/>
              <a:ext cx="0" cy="198755"/>
            </a:xfrm>
            <a:custGeom>
              <a:avLst/>
              <a:gdLst/>
              <a:ahLst/>
              <a:cxnLst/>
              <a:rect l="l" t="t" r="r" b="b"/>
              <a:pathLst>
                <a:path h="198755">
                  <a:moveTo>
                    <a:pt x="0" y="0"/>
                  </a:moveTo>
                  <a:lnTo>
                    <a:pt x="0" y="198437"/>
                  </a:lnTo>
                </a:path>
              </a:pathLst>
            </a:custGeom>
            <a:ln w="12700">
              <a:solidFill>
                <a:srgbClr val="CCF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5780088" y="2867026"/>
              <a:ext cx="198755" cy="12700"/>
            </a:xfrm>
            <a:custGeom>
              <a:avLst/>
              <a:gdLst/>
              <a:ahLst/>
              <a:cxnLst/>
              <a:rect l="l" t="t" r="r" b="b"/>
              <a:pathLst>
                <a:path w="198754" h="12700">
                  <a:moveTo>
                    <a:pt x="0" y="12700"/>
                  </a:moveTo>
                  <a:lnTo>
                    <a:pt x="198437" y="12700"/>
                  </a:lnTo>
                  <a:lnTo>
                    <a:pt x="198437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5907088" y="2865438"/>
              <a:ext cx="0" cy="52705"/>
            </a:xfrm>
            <a:custGeom>
              <a:avLst/>
              <a:gdLst/>
              <a:ahLst/>
              <a:cxnLst/>
              <a:rect l="l" t="t" r="r" b="b"/>
              <a:pathLst>
                <a:path h="52705">
                  <a:moveTo>
                    <a:pt x="0" y="0"/>
                  </a:moveTo>
                  <a:lnTo>
                    <a:pt x="0" y="52387"/>
                  </a:lnTo>
                </a:path>
              </a:pathLst>
            </a:custGeom>
            <a:ln w="12700">
              <a:solidFill>
                <a:srgbClr val="CCF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5986463" y="1968501"/>
              <a:ext cx="0" cy="231775"/>
            </a:xfrm>
            <a:custGeom>
              <a:avLst/>
              <a:gdLst/>
              <a:ahLst/>
              <a:cxnLst/>
              <a:rect l="l" t="t" r="r" b="b"/>
              <a:pathLst>
                <a:path h="231775">
                  <a:moveTo>
                    <a:pt x="0" y="0"/>
                  </a:moveTo>
                  <a:lnTo>
                    <a:pt x="0" y="231775"/>
                  </a:lnTo>
                </a:path>
              </a:pathLst>
            </a:custGeom>
            <a:ln w="12700">
              <a:solidFill>
                <a:srgbClr val="CCF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5992813" y="3360738"/>
              <a:ext cx="1905" cy="93980"/>
            </a:xfrm>
            <a:custGeom>
              <a:avLst/>
              <a:gdLst/>
              <a:ahLst/>
              <a:cxnLst/>
              <a:rect l="l" t="t" r="r" b="b"/>
              <a:pathLst>
                <a:path w="1904" h="93979">
                  <a:moveTo>
                    <a:pt x="793" y="-9525"/>
                  </a:moveTo>
                  <a:lnTo>
                    <a:pt x="793" y="103187"/>
                  </a:lnTo>
                </a:path>
              </a:pathLst>
            </a:custGeom>
            <a:ln w="20637">
              <a:solidFill>
                <a:srgbClr val="CCF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989638" y="3535362"/>
              <a:ext cx="0" cy="84455"/>
            </a:xfrm>
            <a:custGeom>
              <a:avLst/>
              <a:gdLst/>
              <a:ahLst/>
              <a:cxnLst/>
              <a:rect l="l" t="t" r="r" b="b"/>
              <a:pathLst>
                <a:path h="84454">
                  <a:moveTo>
                    <a:pt x="0" y="0"/>
                  </a:moveTo>
                  <a:lnTo>
                    <a:pt x="0" y="84137"/>
                  </a:lnTo>
                </a:path>
              </a:pathLst>
            </a:custGeom>
            <a:ln w="19050">
              <a:solidFill>
                <a:srgbClr val="CCF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3060701" y="4313237"/>
              <a:ext cx="0" cy="244475"/>
            </a:xfrm>
            <a:custGeom>
              <a:avLst/>
              <a:gdLst/>
              <a:ahLst/>
              <a:cxnLst/>
              <a:rect l="l" t="t" r="r" b="b"/>
              <a:pathLst>
                <a:path h="244475">
                  <a:moveTo>
                    <a:pt x="0" y="0"/>
                  </a:moveTo>
                  <a:lnTo>
                    <a:pt x="0" y="244475"/>
                  </a:lnTo>
                </a:path>
              </a:pathLst>
            </a:custGeom>
            <a:ln w="12700">
              <a:solidFill>
                <a:srgbClr val="66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2616" y="2490469"/>
            <a:ext cx="739902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Introduction</a:t>
            </a:r>
            <a:r>
              <a:rPr spc="-20" dirty="0"/>
              <a:t> </a:t>
            </a:r>
            <a:r>
              <a:rPr spc="-5" dirty="0"/>
              <a:t>to</a:t>
            </a:r>
            <a:r>
              <a:rPr spc="10" dirty="0"/>
              <a:t> </a:t>
            </a:r>
            <a:r>
              <a:rPr spc="-5" dirty="0"/>
              <a:t>8085</a:t>
            </a:r>
            <a:r>
              <a:rPr dirty="0"/>
              <a:t> </a:t>
            </a:r>
            <a:r>
              <a:rPr spc="-5" dirty="0"/>
              <a:t>Instructions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07088" y="814069"/>
            <a:ext cx="493014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The</a:t>
            </a:r>
            <a:r>
              <a:rPr spc="-25" dirty="0"/>
              <a:t> </a:t>
            </a:r>
            <a:r>
              <a:rPr spc="-5" dirty="0"/>
              <a:t>8085</a:t>
            </a:r>
            <a:r>
              <a:rPr spc="-25" dirty="0"/>
              <a:t> </a:t>
            </a:r>
            <a:r>
              <a:rPr spc="-5" dirty="0"/>
              <a:t>Instructions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96339" y="1966976"/>
            <a:ext cx="7197725" cy="4443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850" indent="-286385">
              <a:lnSpc>
                <a:spcPts val="2735"/>
              </a:lnSpc>
              <a:spcBef>
                <a:spcPts val="100"/>
              </a:spcBef>
              <a:buChar char="–"/>
              <a:tabLst>
                <a:tab pos="323850" algn="l"/>
                <a:tab pos="324485" algn="l"/>
                <a:tab pos="6536055" algn="l"/>
              </a:tabLst>
            </a:pPr>
            <a:r>
              <a:rPr sz="2400" spc="-5" dirty="0">
                <a:latin typeface="Times New Roman"/>
                <a:cs typeface="Times New Roman"/>
              </a:rPr>
              <a:t>Since the </a:t>
            </a:r>
            <a:r>
              <a:rPr sz="2400" dirty="0">
                <a:latin typeface="Times New Roman"/>
                <a:cs typeface="Times New Roman"/>
              </a:rPr>
              <a:t>8085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8-bit device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have up to	</a:t>
            </a:r>
            <a:r>
              <a:rPr sz="2400" spc="-5" dirty="0">
                <a:latin typeface="Times New Roman"/>
                <a:cs typeface="Times New Roman"/>
              </a:rPr>
              <a:t>2</a:t>
            </a:r>
            <a:r>
              <a:rPr sz="2400" spc="-7" baseline="24305" dirty="0">
                <a:latin typeface="Times New Roman"/>
                <a:cs typeface="Times New Roman"/>
              </a:rPr>
              <a:t>8</a:t>
            </a:r>
            <a:endParaRPr sz="2400" baseline="24305">
              <a:latin typeface="Times New Roman"/>
              <a:cs typeface="Times New Roman"/>
            </a:endParaRPr>
          </a:p>
          <a:p>
            <a:pPr marL="323850">
              <a:lnSpc>
                <a:spcPts val="2735"/>
              </a:lnSpc>
            </a:pPr>
            <a:r>
              <a:rPr sz="2400" dirty="0">
                <a:latin typeface="Times New Roman"/>
                <a:cs typeface="Times New Roman"/>
              </a:rPr>
              <a:t>(256)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instructions.</a:t>
            </a:r>
            <a:endParaRPr sz="2400">
              <a:latin typeface="Times New Roman"/>
              <a:cs typeface="Times New Roman"/>
            </a:endParaRPr>
          </a:p>
          <a:p>
            <a:pPr marL="723900" marR="30480" lvl="1" indent="-229235">
              <a:lnSpc>
                <a:spcPts val="2160"/>
              </a:lnSpc>
              <a:spcBef>
                <a:spcPts val="525"/>
              </a:spcBef>
              <a:buChar char="•"/>
              <a:tabLst>
                <a:tab pos="723265" algn="l"/>
                <a:tab pos="724535" algn="l"/>
              </a:tabLst>
            </a:pPr>
            <a:r>
              <a:rPr sz="2000" spc="-5" dirty="0">
                <a:latin typeface="Times New Roman"/>
                <a:cs typeface="Times New Roman"/>
              </a:rPr>
              <a:t>However,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8085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only uses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246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combinations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that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represent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total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of 74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instructions.</a:t>
            </a:r>
            <a:endParaRPr sz="2000">
              <a:latin typeface="Times New Roman"/>
              <a:cs typeface="Times New Roman"/>
            </a:endParaRPr>
          </a:p>
          <a:p>
            <a:pPr marL="951865">
              <a:lnSpc>
                <a:spcPct val="100000"/>
              </a:lnSpc>
              <a:spcBef>
                <a:spcPts val="195"/>
              </a:spcBef>
            </a:pPr>
            <a:r>
              <a:rPr sz="1800" dirty="0">
                <a:latin typeface="Times New Roman"/>
                <a:cs typeface="Times New Roman"/>
              </a:rPr>
              <a:t>–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Most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instructions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have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more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than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one</a:t>
            </a:r>
            <a:r>
              <a:rPr sz="1800" spc="-5" dirty="0">
                <a:latin typeface="Times New Roman"/>
                <a:cs typeface="Times New Roman"/>
              </a:rPr>
              <a:t> format.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323850" marR="484505" indent="-286385">
              <a:lnSpc>
                <a:spcPts val="2590"/>
              </a:lnSpc>
              <a:spcBef>
                <a:spcPts val="1460"/>
              </a:spcBef>
              <a:buChar char="–"/>
              <a:tabLst>
                <a:tab pos="323850" algn="l"/>
                <a:tab pos="324485" algn="l"/>
              </a:tabLst>
            </a:pPr>
            <a:r>
              <a:rPr sz="2400" spc="-5" dirty="0">
                <a:latin typeface="Times New Roman"/>
                <a:cs typeface="Times New Roman"/>
              </a:rPr>
              <a:t>These instructions </a:t>
            </a:r>
            <a:r>
              <a:rPr sz="2400" dirty="0">
                <a:latin typeface="Times New Roman"/>
                <a:cs typeface="Times New Roman"/>
              </a:rPr>
              <a:t>can be </a:t>
            </a:r>
            <a:r>
              <a:rPr sz="2400" spc="-5" dirty="0">
                <a:latin typeface="Times New Roman"/>
                <a:cs typeface="Times New Roman"/>
              </a:rPr>
              <a:t>grouped into five different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groups:</a:t>
            </a:r>
            <a:endParaRPr sz="2400">
              <a:latin typeface="Times New Roman"/>
              <a:cs typeface="Times New Roman"/>
            </a:endParaRPr>
          </a:p>
          <a:p>
            <a:pPr marL="723900" lvl="1" indent="-229870">
              <a:lnSpc>
                <a:spcPct val="100000"/>
              </a:lnSpc>
              <a:spcBef>
                <a:spcPts val="220"/>
              </a:spcBef>
              <a:buChar char="•"/>
              <a:tabLst>
                <a:tab pos="723265" algn="l"/>
                <a:tab pos="724535" algn="l"/>
              </a:tabLst>
            </a:pPr>
            <a:r>
              <a:rPr sz="2000" spc="-5" dirty="0">
                <a:latin typeface="Times New Roman"/>
                <a:cs typeface="Times New Roman"/>
              </a:rPr>
              <a:t>Data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Transfer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Operations</a:t>
            </a:r>
            <a:endParaRPr sz="2000">
              <a:latin typeface="Times New Roman"/>
              <a:cs typeface="Times New Roman"/>
            </a:endParaRPr>
          </a:p>
          <a:p>
            <a:pPr marL="723900" lvl="1" indent="-229870">
              <a:lnSpc>
                <a:spcPct val="100000"/>
              </a:lnSpc>
              <a:spcBef>
                <a:spcPts val="240"/>
              </a:spcBef>
              <a:buChar char="•"/>
              <a:tabLst>
                <a:tab pos="723265" algn="l"/>
                <a:tab pos="724535" algn="l"/>
              </a:tabLst>
            </a:pPr>
            <a:r>
              <a:rPr sz="2000" spc="-5" dirty="0">
                <a:latin typeface="Times New Roman"/>
                <a:cs typeface="Times New Roman"/>
              </a:rPr>
              <a:t>Arithmetic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Operations</a:t>
            </a:r>
            <a:endParaRPr sz="2000">
              <a:latin typeface="Times New Roman"/>
              <a:cs typeface="Times New Roman"/>
            </a:endParaRPr>
          </a:p>
          <a:p>
            <a:pPr marL="723900" lvl="1" indent="-229870">
              <a:lnSpc>
                <a:spcPct val="100000"/>
              </a:lnSpc>
              <a:spcBef>
                <a:spcPts val="235"/>
              </a:spcBef>
              <a:buChar char="•"/>
              <a:tabLst>
                <a:tab pos="723265" algn="l"/>
                <a:tab pos="724535" algn="l"/>
              </a:tabLst>
            </a:pPr>
            <a:r>
              <a:rPr sz="2000" spc="-5" dirty="0">
                <a:latin typeface="Times New Roman"/>
                <a:cs typeface="Times New Roman"/>
              </a:rPr>
              <a:t>Logic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Operations</a:t>
            </a:r>
            <a:endParaRPr sz="2000">
              <a:latin typeface="Times New Roman"/>
              <a:cs typeface="Times New Roman"/>
            </a:endParaRPr>
          </a:p>
          <a:p>
            <a:pPr marL="723900" lvl="1" indent="-229870">
              <a:lnSpc>
                <a:spcPct val="100000"/>
              </a:lnSpc>
              <a:spcBef>
                <a:spcPts val="240"/>
              </a:spcBef>
              <a:buChar char="•"/>
              <a:tabLst>
                <a:tab pos="723265" algn="l"/>
                <a:tab pos="724535" algn="l"/>
              </a:tabLst>
            </a:pPr>
            <a:r>
              <a:rPr sz="2000" spc="-5" dirty="0">
                <a:latin typeface="Times New Roman"/>
                <a:cs typeface="Times New Roman"/>
              </a:rPr>
              <a:t>Branch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Operations</a:t>
            </a:r>
            <a:endParaRPr sz="2000">
              <a:latin typeface="Times New Roman"/>
              <a:cs typeface="Times New Roman"/>
            </a:endParaRPr>
          </a:p>
          <a:p>
            <a:pPr marL="723900" lvl="1" indent="-229870">
              <a:lnSpc>
                <a:spcPct val="100000"/>
              </a:lnSpc>
              <a:spcBef>
                <a:spcPts val="240"/>
              </a:spcBef>
              <a:buChar char="•"/>
              <a:tabLst>
                <a:tab pos="723265" algn="l"/>
                <a:tab pos="724535" algn="l"/>
              </a:tabLst>
            </a:pPr>
            <a:r>
              <a:rPr sz="2000" spc="-5" dirty="0">
                <a:latin typeface="Times New Roman"/>
                <a:cs typeface="Times New Roman"/>
              </a:rPr>
              <a:t>Machine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Control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Operations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3272" y="814069"/>
            <a:ext cx="6557009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Instruction</a:t>
            </a:r>
            <a:r>
              <a:rPr spc="-20" dirty="0"/>
              <a:t> </a:t>
            </a:r>
            <a:r>
              <a:rPr spc="-5" dirty="0"/>
              <a:t>and Data</a:t>
            </a:r>
            <a:r>
              <a:rPr spc="-10" dirty="0"/>
              <a:t> </a:t>
            </a:r>
            <a:r>
              <a:rPr spc="-5" dirty="0"/>
              <a:t>Formats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01011"/>
            <a:ext cx="7169784" cy="345694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88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Each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instruction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has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two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parts.</a:t>
            </a:r>
            <a:endParaRPr sz="3200">
              <a:latin typeface="Times New Roman"/>
              <a:cs typeface="Times New Roman"/>
            </a:endParaRPr>
          </a:p>
          <a:p>
            <a:pPr marL="755650" marR="438784" lvl="1" indent="-285750">
              <a:lnSpc>
                <a:spcPct val="100000"/>
              </a:lnSpc>
              <a:spcBef>
                <a:spcPts val="69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first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part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task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 </a:t>
            </a:r>
            <a:r>
              <a:rPr sz="2800" spc="-5" dirty="0">
                <a:latin typeface="Times New Roman"/>
                <a:cs typeface="Times New Roman"/>
              </a:rPr>
              <a:t>operation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performed.</a:t>
            </a:r>
            <a:endParaRPr sz="2800">
              <a:latin typeface="Times New Roman"/>
              <a:cs typeface="Times New Roman"/>
            </a:endParaRPr>
          </a:p>
          <a:p>
            <a:pPr marL="1155700" lvl="2" indent="-229235">
              <a:lnSpc>
                <a:spcPct val="100000"/>
              </a:lnSpc>
              <a:spcBef>
                <a:spcPts val="585"/>
              </a:spcBef>
              <a:buChar char="•"/>
              <a:tabLst>
                <a:tab pos="1155700" algn="l"/>
              </a:tabLst>
            </a:pPr>
            <a:r>
              <a:rPr sz="2400" spc="-5" dirty="0">
                <a:latin typeface="Times New Roman"/>
                <a:cs typeface="Times New Roman"/>
              </a:rPr>
              <a:t>This part is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called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 “</a:t>
            </a:r>
            <a:r>
              <a:rPr sz="2400" dirty="0">
                <a:solidFill>
                  <a:srgbClr val="990000"/>
                </a:solidFill>
                <a:latin typeface="Times New Roman"/>
                <a:cs typeface="Times New Roman"/>
              </a:rPr>
              <a:t>opcode</a:t>
            </a:r>
            <a:r>
              <a:rPr sz="2400" dirty="0">
                <a:latin typeface="Times New Roman"/>
                <a:cs typeface="Times New Roman"/>
              </a:rPr>
              <a:t>”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(</a:t>
            </a:r>
            <a:r>
              <a:rPr sz="2400" u="heavy" spc="-5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op</a:t>
            </a:r>
            <a:r>
              <a:rPr sz="2400" spc="-5" dirty="0">
                <a:latin typeface="Times New Roman"/>
                <a:cs typeface="Times New Roman"/>
              </a:rPr>
              <a:t>eration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u="heavy" spc="-5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code</a:t>
            </a:r>
            <a:r>
              <a:rPr sz="2400" spc="-5" dirty="0">
                <a:latin typeface="Times New Roman"/>
                <a:cs typeface="Times New Roman"/>
              </a:rPr>
              <a:t>).</a:t>
            </a:r>
            <a:endParaRPr sz="240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buFont typeface="Times New Roman"/>
              <a:buChar char="•"/>
            </a:pPr>
            <a:endParaRPr sz="26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705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second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part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data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operated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</a:t>
            </a:r>
            <a:endParaRPr sz="2800">
              <a:latin typeface="Times New Roman"/>
              <a:cs typeface="Times New Roman"/>
            </a:endParaRPr>
          </a:p>
          <a:p>
            <a:pPr marL="1155700" lvl="2" indent="-229235">
              <a:lnSpc>
                <a:spcPct val="100000"/>
              </a:lnSpc>
              <a:spcBef>
                <a:spcPts val="585"/>
              </a:spcBef>
              <a:buChar char="•"/>
              <a:tabLst>
                <a:tab pos="1155700" algn="l"/>
              </a:tabLst>
            </a:pPr>
            <a:r>
              <a:rPr sz="2400" spc="-5" dirty="0">
                <a:latin typeface="Times New Roman"/>
                <a:cs typeface="Times New Roman"/>
              </a:rPr>
              <a:t>Called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“</a:t>
            </a:r>
            <a:r>
              <a:rPr sz="2400" dirty="0">
                <a:solidFill>
                  <a:srgbClr val="990000"/>
                </a:solidFill>
                <a:latin typeface="Times New Roman"/>
                <a:cs typeface="Times New Roman"/>
              </a:rPr>
              <a:t>operand</a:t>
            </a:r>
            <a:r>
              <a:rPr sz="2400" dirty="0">
                <a:latin typeface="Times New Roman"/>
                <a:cs typeface="Times New Roman"/>
              </a:rPr>
              <a:t>”.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21516" y="814069"/>
            <a:ext cx="569976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Data</a:t>
            </a:r>
            <a:r>
              <a:rPr spc="-25" dirty="0"/>
              <a:t> </a:t>
            </a:r>
            <a:r>
              <a:rPr spc="-5" dirty="0"/>
              <a:t>Transfer</a:t>
            </a:r>
            <a:r>
              <a:rPr spc="-30" dirty="0"/>
              <a:t> </a:t>
            </a:r>
            <a:r>
              <a:rPr spc="-5"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1739" y="1966976"/>
            <a:ext cx="6373495" cy="327088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97815" marR="5080" indent="-285750">
              <a:lnSpc>
                <a:spcPts val="2590"/>
              </a:lnSpc>
              <a:spcBef>
                <a:spcPts val="425"/>
              </a:spcBef>
              <a:buChar char="–"/>
              <a:tabLst>
                <a:tab pos="297815" algn="l"/>
                <a:tab pos="298450" algn="l"/>
              </a:tabLst>
            </a:pPr>
            <a:r>
              <a:rPr sz="2400" spc="-5" dirty="0">
                <a:latin typeface="Times New Roman"/>
                <a:cs typeface="Times New Roman"/>
              </a:rPr>
              <a:t>These operations simply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b="1" u="heavy" spc="-5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COPY</a:t>
            </a:r>
            <a:r>
              <a:rPr sz="2400" b="1" spc="-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 data from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source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 destination.</a:t>
            </a:r>
            <a:endParaRPr sz="24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254"/>
              </a:spcBef>
              <a:buChar char="–"/>
              <a:tabLst>
                <a:tab pos="297815" algn="l"/>
                <a:tab pos="298450" algn="l"/>
              </a:tabLst>
            </a:pPr>
            <a:r>
              <a:rPr sz="2400" spc="-5" dirty="0">
                <a:latin typeface="Times New Roman"/>
                <a:cs typeface="Times New Roman"/>
              </a:rPr>
              <a:t>MOV,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MVI,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LDA,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STA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Times New Roman"/>
              <a:buChar char="–"/>
            </a:pPr>
            <a:endParaRPr sz="3000">
              <a:latin typeface="Times New Roman"/>
              <a:cs typeface="Times New Roman"/>
            </a:endParaRPr>
          </a:p>
          <a:p>
            <a:pPr marL="298450" indent="-286385">
              <a:lnSpc>
                <a:spcPct val="100000"/>
              </a:lnSpc>
              <a:buChar char="–"/>
              <a:tabLst>
                <a:tab pos="298450" algn="l"/>
                <a:tab pos="299085" algn="l"/>
              </a:tabLst>
            </a:pPr>
            <a:r>
              <a:rPr sz="2400" spc="-5" dirty="0">
                <a:latin typeface="Times New Roman"/>
                <a:cs typeface="Times New Roman"/>
              </a:rPr>
              <a:t>They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transfer:</a:t>
            </a:r>
            <a:endParaRPr sz="2400">
              <a:latin typeface="Times New Roman"/>
              <a:cs typeface="Times New Roman"/>
            </a:endParaRPr>
          </a:p>
          <a:p>
            <a:pPr marL="698500" lvl="1" indent="-229870">
              <a:lnSpc>
                <a:spcPct val="100000"/>
              </a:lnSpc>
              <a:spcBef>
                <a:spcPts val="254"/>
              </a:spcBef>
              <a:buChar char="•"/>
              <a:tabLst>
                <a:tab pos="697865" algn="l"/>
                <a:tab pos="699135" algn="l"/>
              </a:tabLst>
            </a:pPr>
            <a:r>
              <a:rPr sz="2000" spc="-5" dirty="0">
                <a:latin typeface="Times New Roman"/>
                <a:cs typeface="Times New Roman"/>
              </a:rPr>
              <a:t>Data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between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registers.</a:t>
            </a:r>
            <a:endParaRPr sz="2000">
              <a:latin typeface="Times New Roman"/>
              <a:cs typeface="Times New Roman"/>
            </a:endParaRPr>
          </a:p>
          <a:p>
            <a:pPr marL="698500" lvl="1" indent="-229870">
              <a:lnSpc>
                <a:spcPct val="100000"/>
              </a:lnSpc>
              <a:spcBef>
                <a:spcPts val="240"/>
              </a:spcBef>
              <a:buChar char="•"/>
              <a:tabLst>
                <a:tab pos="697865" algn="l"/>
                <a:tab pos="699135" algn="l"/>
              </a:tabLst>
            </a:pPr>
            <a:r>
              <a:rPr sz="2000" spc="-5" dirty="0">
                <a:latin typeface="Times New Roman"/>
                <a:cs typeface="Times New Roman"/>
              </a:rPr>
              <a:t>Data Byte to a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register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or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memory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location.</a:t>
            </a:r>
            <a:endParaRPr sz="2000">
              <a:latin typeface="Times New Roman"/>
              <a:cs typeface="Times New Roman"/>
            </a:endParaRPr>
          </a:p>
          <a:p>
            <a:pPr marL="698500" lvl="1" indent="-229870">
              <a:lnSpc>
                <a:spcPct val="100000"/>
              </a:lnSpc>
              <a:spcBef>
                <a:spcPts val="240"/>
              </a:spcBef>
              <a:buChar char="•"/>
              <a:tabLst>
                <a:tab pos="697865" algn="l"/>
                <a:tab pos="699135" algn="l"/>
              </a:tabLst>
            </a:pPr>
            <a:r>
              <a:rPr sz="2000" spc="-5" dirty="0">
                <a:latin typeface="Times New Roman"/>
                <a:cs typeface="Times New Roman"/>
              </a:rPr>
              <a:t>Data between a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memory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location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and a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register.</a:t>
            </a:r>
            <a:endParaRPr sz="2000">
              <a:latin typeface="Times New Roman"/>
              <a:cs typeface="Times New Roman"/>
            </a:endParaRPr>
          </a:p>
          <a:p>
            <a:pPr marL="698500" lvl="1" indent="-229235">
              <a:lnSpc>
                <a:spcPct val="100000"/>
              </a:lnSpc>
              <a:spcBef>
                <a:spcPts val="240"/>
              </a:spcBef>
              <a:buChar char="•"/>
              <a:tabLst>
                <a:tab pos="697865" algn="l"/>
                <a:tab pos="698500" algn="l"/>
              </a:tabLst>
            </a:pPr>
            <a:r>
              <a:rPr sz="2000" spc="-5" dirty="0">
                <a:latin typeface="Times New Roman"/>
                <a:cs typeface="Times New Roman"/>
              </a:rPr>
              <a:t>Data between an </a:t>
            </a:r>
            <a:r>
              <a:rPr sz="2000" dirty="0">
                <a:latin typeface="Times New Roman"/>
                <a:cs typeface="Times New Roman"/>
              </a:rPr>
              <a:t>I\O </a:t>
            </a:r>
            <a:r>
              <a:rPr sz="2000" spc="-5" dirty="0">
                <a:latin typeface="Times New Roman"/>
                <a:cs typeface="Times New Roman"/>
              </a:rPr>
              <a:t>Device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and the accumulator.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21739" y="6051296"/>
            <a:ext cx="49117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7815" algn="l"/>
              </a:tabLst>
            </a:pPr>
            <a:r>
              <a:rPr sz="2400" dirty="0">
                <a:latin typeface="Times New Roman"/>
                <a:cs typeface="Times New Roman"/>
              </a:rPr>
              <a:t>–	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data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source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spc="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u="heavy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not</a:t>
            </a:r>
            <a:r>
              <a:rPr sz="2400" u="heavy" spc="-15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heavy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changed</a:t>
            </a:r>
            <a:r>
              <a:rPr sz="24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25020" y="0"/>
            <a:ext cx="449326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The</a:t>
            </a:r>
            <a:r>
              <a:rPr spc="-35" dirty="0"/>
              <a:t> </a:t>
            </a:r>
            <a:r>
              <a:rPr spc="-5" dirty="0"/>
              <a:t>LXI</a:t>
            </a:r>
            <a:r>
              <a:rPr spc="-20" dirty="0"/>
              <a:t> </a:t>
            </a:r>
            <a:r>
              <a:rPr spc="-5" dirty="0"/>
              <a:t>instruction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1840" y="503936"/>
            <a:ext cx="7534275" cy="385064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67665" marR="317500" indent="-342900" algn="just">
              <a:lnSpc>
                <a:spcPts val="3460"/>
              </a:lnSpc>
              <a:spcBef>
                <a:spcPts val="530"/>
              </a:spcBef>
              <a:buChar char="•"/>
              <a:tabLst>
                <a:tab pos="368300" algn="l"/>
              </a:tabLst>
            </a:pPr>
            <a:r>
              <a:rPr sz="3200" spc="-5" dirty="0">
                <a:latin typeface="Times New Roman"/>
                <a:cs typeface="Times New Roman"/>
              </a:rPr>
              <a:t>The 8085 provides an instruction to place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 16-bit data into the register pair in one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step.</a:t>
            </a:r>
            <a:endParaRPr sz="3200">
              <a:latin typeface="Times New Roman"/>
              <a:cs typeface="Times New Roman"/>
            </a:endParaRPr>
          </a:p>
          <a:p>
            <a:pPr marL="1168400" lvl="1" indent="-229235">
              <a:lnSpc>
                <a:spcPct val="100000"/>
              </a:lnSpc>
              <a:spcBef>
                <a:spcPts val="655"/>
              </a:spcBef>
              <a:buFont typeface="Times New Roman"/>
              <a:buChar char="•"/>
              <a:tabLst>
                <a:tab pos="1167765" algn="l"/>
                <a:tab pos="1168400" algn="l"/>
                <a:tab pos="4596765" algn="l"/>
              </a:tabLst>
            </a:pPr>
            <a:r>
              <a:rPr sz="2000" b="1" spc="-5" dirty="0">
                <a:latin typeface="Times New Roman"/>
                <a:cs typeface="Times New Roman"/>
              </a:rPr>
              <a:t>LXI</a:t>
            </a:r>
            <a:r>
              <a:rPr sz="2000" b="1" spc="15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Rp,</a:t>
            </a:r>
            <a:r>
              <a:rPr sz="2000" b="1" spc="25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&lt;16-bit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address&gt;	</a:t>
            </a:r>
            <a:r>
              <a:rPr sz="2000" spc="-5" dirty="0">
                <a:latin typeface="Times New Roman"/>
                <a:cs typeface="Times New Roman"/>
              </a:rPr>
              <a:t>(</a:t>
            </a:r>
            <a:r>
              <a:rPr sz="2000" u="sng" spc="-5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L</a:t>
            </a:r>
            <a:r>
              <a:rPr sz="2000" spc="-5" dirty="0">
                <a:latin typeface="Times New Roman"/>
                <a:cs typeface="Times New Roman"/>
              </a:rPr>
              <a:t>oad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</a:t>
            </a:r>
            <a:r>
              <a:rPr sz="2000" u="sng" spc="-5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X</a:t>
            </a:r>
            <a:r>
              <a:rPr sz="2000" spc="-5" dirty="0">
                <a:latin typeface="Times New Roman"/>
                <a:cs typeface="Times New Roman"/>
              </a:rPr>
              <a:t>tended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u="sng" spc="-5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sz="2000" spc="-5" dirty="0">
                <a:latin typeface="Times New Roman"/>
                <a:cs typeface="Times New Roman"/>
              </a:rPr>
              <a:t>mmediate)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200">
              <a:latin typeface="Times New Roman"/>
              <a:cs typeface="Times New Roman"/>
            </a:endParaRPr>
          </a:p>
          <a:p>
            <a:pPr marL="768350" marR="146685" indent="-285750">
              <a:lnSpc>
                <a:spcPts val="3020"/>
              </a:lnSpc>
              <a:spcBef>
                <a:spcPts val="1955"/>
              </a:spcBef>
              <a:buChar char="–"/>
              <a:tabLst>
                <a:tab pos="76835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instruction </a:t>
            </a:r>
            <a:r>
              <a:rPr sz="2800" b="1" spc="-5" dirty="0">
                <a:latin typeface="Times New Roman"/>
                <a:cs typeface="Times New Roman"/>
              </a:rPr>
              <a:t>LXI </a:t>
            </a:r>
            <a:r>
              <a:rPr sz="2800" b="1" dirty="0">
                <a:latin typeface="Times New Roman"/>
                <a:cs typeface="Times New Roman"/>
              </a:rPr>
              <a:t>B 4000H </a:t>
            </a:r>
            <a:r>
              <a:rPr sz="2800" dirty="0">
                <a:latin typeface="Times New Roman"/>
                <a:cs typeface="Times New Roman"/>
              </a:rPr>
              <a:t>will </a:t>
            </a:r>
            <a:r>
              <a:rPr sz="2800" spc="-5" dirty="0">
                <a:latin typeface="Times New Roman"/>
                <a:cs typeface="Times New Roman"/>
              </a:rPr>
              <a:t>place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16-bit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number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4000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into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register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pair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B,</a:t>
            </a:r>
            <a:r>
              <a:rPr sz="2800" spc="-5" dirty="0">
                <a:latin typeface="Times New Roman"/>
                <a:cs typeface="Times New Roman"/>
              </a:rPr>
              <a:t> C.</a:t>
            </a:r>
            <a:endParaRPr sz="2800">
              <a:latin typeface="Times New Roman"/>
              <a:cs typeface="Times New Roman"/>
            </a:endParaRPr>
          </a:p>
          <a:p>
            <a:pPr marL="1168400" marR="43180" lvl="1" indent="-229235">
              <a:lnSpc>
                <a:spcPts val="2590"/>
              </a:lnSpc>
              <a:spcBef>
                <a:spcPts val="585"/>
              </a:spcBef>
              <a:buChar char="•"/>
              <a:tabLst>
                <a:tab pos="1168400" algn="l"/>
              </a:tabLst>
            </a:pP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upper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two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digits are placed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 the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1</a:t>
            </a:r>
            <a:r>
              <a:rPr sz="2400" spc="-7" baseline="24305" dirty="0">
                <a:latin typeface="Times New Roman"/>
                <a:cs typeface="Times New Roman"/>
              </a:rPr>
              <a:t>st</a:t>
            </a:r>
            <a:r>
              <a:rPr sz="2400" spc="15" baseline="2430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register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pair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 lower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two digits in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2</a:t>
            </a:r>
            <a:r>
              <a:rPr sz="2400" spc="-7" baseline="24305" dirty="0">
                <a:latin typeface="Times New Roman"/>
                <a:cs typeface="Times New Roman"/>
              </a:rPr>
              <a:t>nd</a:t>
            </a:r>
            <a:r>
              <a:rPr sz="2400" spc="-15" baseline="243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337050" y="5022850"/>
            <a:ext cx="1079500" cy="241300"/>
            <a:chOff x="4337050" y="5022850"/>
            <a:chExt cx="1079500" cy="241300"/>
          </a:xfrm>
        </p:grpSpPr>
        <p:sp>
          <p:nvSpPr>
            <p:cNvPr id="5" name="object 5"/>
            <p:cNvSpPr/>
            <p:nvPr/>
          </p:nvSpPr>
          <p:spPr>
            <a:xfrm>
              <a:off x="4343400" y="5029200"/>
              <a:ext cx="1066800" cy="228600"/>
            </a:xfrm>
            <a:custGeom>
              <a:avLst/>
              <a:gdLst/>
              <a:ahLst/>
              <a:cxnLst/>
              <a:rect l="l" t="t" r="r" b="b"/>
              <a:pathLst>
                <a:path w="1066800" h="228600">
                  <a:moveTo>
                    <a:pt x="10668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1066800" y="228600"/>
                  </a:lnTo>
                  <a:lnTo>
                    <a:pt x="1066800" y="0"/>
                  </a:lnTo>
                  <a:close/>
                </a:path>
              </a:pathLst>
            </a:custGeom>
            <a:solidFill>
              <a:srgbClr val="CC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343400" y="5029200"/>
              <a:ext cx="1066800" cy="228600"/>
            </a:xfrm>
            <a:custGeom>
              <a:avLst/>
              <a:gdLst/>
              <a:ahLst/>
              <a:cxnLst/>
              <a:rect l="l" t="t" r="r" b="b"/>
              <a:pathLst>
                <a:path w="1066800" h="228600">
                  <a:moveTo>
                    <a:pt x="0" y="0"/>
                  </a:moveTo>
                  <a:lnTo>
                    <a:pt x="1066800" y="0"/>
                  </a:lnTo>
                  <a:lnTo>
                    <a:pt x="106680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764913" y="5019547"/>
            <a:ext cx="224154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 MT"/>
                <a:cs typeface="Arial MT"/>
              </a:rPr>
              <a:t>40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403850" y="5022850"/>
            <a:ext cx="1003300" cy="241300"/>
            <a:chOff x="5403850" y="5022850"/>
            <a:chExt cx="1003300" cy="241300"/>
          </a:xfrm>
        </p:grpSpPr>
        <p:sp>
          <p:nvSpPr>
            <p:cNvPr id="9" name="object 9"/>
            <p:cNvSpPr/>
            <p:nvPr/>
          </p:nvSpPr>
          <p:spPr>
            <a:xfrm>
              <a:off x="5410200" y="5029200"/>
              <a:ext cx="990600" cy="228600"/>
            </a:xfrm>
            <a:custGeom>
              <a:avLst/>
              <a:gdLst/>
              <a:ahLst/>
              <a:cxnLst/>
              <a:rect l="l" t="t" r="r" b="b"/>
              <a:pathLst>
                <a:path w="990600" h="228600">
                  <a:moveTo>
                    <a:pt x="990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990600" y="228600"/>
                  </a:lnTo>
                  <a:lnTo>
                    <a:pt x="99060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10200" y="5029200"/>
              <a:ext cx="990600" cy="228600"/>
            </a:xfrm>
            <a:custGeom>
              <a:avLst/>
              <a:gdLst/>
              <a:ahLst/>
              <a:cxnLst/>
              <a:rect l="l" t="t" r="r" b="b"/>
              <a:pathLst>
                <a:path w="990600" h="228600">
                  <a:moveTo>
                    <a:pt x="0" y="0"/>
                  </a:moveTo>
                  <a:lnTo>
                    <a:pt x="990600" y="0"/>
                  </a:lnTo>
                  <a:lnTo>
                    <a:pt x="99060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793613" y="5019547"/>
            <a:ext cx="224154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 MT"/>
                <a:cs typeface="Arial MT"/>
              </a:rPr>
              <a:t>00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91684" y="5068728"/>
            <a:ext cx="133985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86105" algn="l"/>
              </a:tabLst>
            </a:pPr>
            <a:r>
              <a:rPr sz="1400" spc="-5" dirty="0">
                <a:latin typeface="Arial MT"/>
                <a:cs typeface="Arial MT"/>
              </a:rPr>
              <a:t>LXI	B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40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00H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722563" y="4451351"/>
            <a:ext cx="2664460" cy="546100"/>
            <a:chOff x="2722563" y="4451351"/>
            <a:chExt cx="2664460" cy="546100"/>
          </a:xfrm>
        </p:grpSpPr>
        <p:sp>
          <p:nvSpPr>
            <p:cNvPr id="14" name="object 14"/>
            <p:cNvSpPr/>
            <p:nvPr/>
          </p:nvSpPr>
          <p:spPr>
            <a:xfrm>
              <a:off x="3770520" y="4457699"/>
              <a:ext cx="1609725" cy="533400"/>
            </a:xfrm>
            <a:custGeom>
              <a:avLst/>
              <a:gdLst/>
              <a:ahLst/>
              <a:cxnLst/>
              <a:rect l="l" t="t" r="r" b="b"/>
              <a:pathLst>
                <a:path w="1609725" h="533400">
                  <a:moveTo>
                    <a:pt x="1609725" y="406400"/>
                  </a:moveTo>
                  <a:lnTo>
                    <a:pt x="549998" y="406400"/>
                  </a:lnTo>
                  <a:lnTo>
                    <a:pt x="1109814" y="533400"/>
                  </a:lnTo>
                  <a:lnTo>
                    <a:pt x="1609725" y="406400"/>
                  </a:lnTo>
                  <a:close/>
                </a:path>
                <a:path w="1609725" h="533400">
                  <a:moveTo>
                    <a:pt x="136423" y="0"/>
                  </a:moveTo>
                  <a:lnTo>
                    <a:pt x="0" y="0"/>
                  </a:lnTo>
                  <a:lnTo>
                    <a:pt x="59625" y="866"/>
                  </a:lnTo>
                  <a:lnTo>
                    <a:pt x="118500" y="3439"/>
                  </a:lnTo>
                  <a:lnTo>
                    <a:pt x="176519" y="7675"/>
                  </a:lnTo>
                  <a:lnTo>
                    <a:pt x="233577" y="13533"/>
                  </a:lnTo>
                  <a:lnTo>
                    <a:pt x="289570" y="20971"/>
                  </a:lnTo>
                  <a:lnTo>
                    <a:pt x="344392" y="29945"/>
                  </a:lnTo>
                  <a:lnTo>
                    <a:pt x="397940" y="40415"/>
                  </a:lnTo>
                  <a:lnTo>
                    <a:pt x="450108" y="52339"/>
                  </a:lnTo>
                  <a:lnTo>
                    <a:pt x="500791" y="65673"/>
                  </a:lnTo>
                  <a:lnTo>
                    <a:pt x="549885" y="80376"/>
                  </a:lnTo>
                  <a:lnTo>
                    <a:pt x="597285" y="96407"/>
                  </a:lnTo>
                  <a:lnTo>
                    <a:pt x="642886" y="113722"/>
                  </a:lnTo>
                  <a:lnTo>
                    <a:pt x="686584" y="132280"/>
                  </a:lnTo>
                  <a:lnTo>
                    <a:pt x="728273" y="152038"/>
                  </a:lnTo>
                  <a:lnTo>
                    <a:pt x="767848" y="172955"/>
                  </a:lnTo>
                  <a:lnTo>
                    <a:pt x="805206" y="194989"/>
                  </a:lnTo>
                  <a:lnTo>
                    <a:pt x="840241" y="218097"/>
                  </a:lnTo>
                  <a:lnTo>
                    <a:pt x="872848" y="242237"/>
                  </a:lnTo>
                  <a:lnTo>
                    <a:pt x="902923" y="267367"/>
                  </a:lnTo>
                  <a:lnTo>
                    <a:pt x="955056" y="320431"/>
                  </a:lnTo>
                  <a:lnTo>
                    <a:pt x="995802" y="376949"/>
                  </a:lnTo>
                  <a:lnTo>
                    <a:pt x="1011643" y="406400"/>
                  </a:lnTo>
                  <a:lnTo>
                    <a:pt x="1148067" y="406400"/>
                  </a:lnTo>
                  <a:lnTo>
                    <a:pt x="1113328" y="348279"/>
                  </a:lnTo>
                  <a:lnTo>
                    <a:pt x="1066784" y="293446"/>
                  </a:lnTo>
                  <a:lnTo>
                    <a:pt x="1009271" y="242237"/>
                  </a:lnTo>
                  <a:lnTo>
                    <a:pt x="976664" y="218097"/>
                  </a:lnTo>
                  <a:lnTo>
                    <a:pt x="941629" y="194989"/>
                  </a:lnTo>
                  <a:lnTo>
                    <a:pt x="904272" y="172955"/>
                  </a:lnTo>
                  <a:lnTo>
                    <a:pt x="864696" y="152038"/>
                  </a:lnTo>
                  <a:lnTo>
                    <a:pt x="823007" y="132280"/>
                  </a:lnTo>
                  <a:lnTo>
                    <a:pt x="779310" y="113722"/>
                  </a:lnTo>
                  <a:lnTo>
                    <a:pt x="733709" y="96407"/>
                  </a:lnTo>
                  <a:lnTo>
                    <a:pt x="686309" y="80376"/>
                  </a:lnTo>
                  <a:lnTo>
                    <a:pt x="637215" y="65673"/>
                  </a:lnTo>
                  <a:lnTo>
                    <a:pt x="586531" y="52339"/>
                  </a:lnTo>
                  <a:lnTo>
                    <a:pt x="534363" y="40415"/>
                  </a:lnTo>
                  <a:lnTo>
                    <a:pt x="480816" y="29945"/>
                  </a:lnTo>
                  <a:lnTo>
                    <a:pt x="425993" y="20971"/>
                  </a:lnTo>
                  <a:lnTo>
                    <a:pt x="370000" y="13533"/>
                  </a:lnTo>
                  <a:lnTo>
                    <a:pt x="312942" y="7675"/>
                  </a:lnTo>
                  <a:lnTo>
                    <a:pt x="254923" y="3439"/>
                  </a:lnTo>
                  <a:lnTo>
                    <a:pt x="196049" y="866"/>
                  </a:lnTo>
                  <a:lnTo>
                    <a:pt x="136423" y="0"/>
                  </a:lnTo>
                  <a:close/>
                </a:path>
              </a:pathLst>
            </a:custGeom>
            <a:solidFill>
              <a:srgbClr val="99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728913" y="4457701"/>
              <a:ext cx="1109980" cy="533400"/>
            </a:xfrm>
            <a:custGeom>
              <a:avLst/>
              <a:gdLst/>
              <a:ahLst/>
              <a:cxnLst/>
              <a:rect l="l" t="t" r="r" b="b"/>
              <a:pathLst>
                <a:path w="1109979" h="533400">
                  <a:moveTo>
                    <a:pt x="1041603" y="0"/>
                  </a:moveTo>
                  <a:lnTo>
                    <a:pt x="978151" y="973"/>
                  </a:lnTo>
                  <a:lnTo>
                    <a:pt x="915705" y="3856"/>
                  </a:lnTo>
                  <a:lnTo>
                    <a:pt x="854374" y="8593"/>
                  </a:lnTo>
                  <a:lnTo>
                    <a:pt x="794266" y="15129"/>
                  </a:lnTo>
                  <a:lnTo>
                    <a:pt x="735489" y="23406"/>
                  </a:lnTo>
                  <a:lnTo>
                    <a:pt x="678155" y="33370"/>
                  </a:lnTo>
                  <a:lnTo>
                    <a:pt x="622370" y="44965"/>
                  </a:lnTo>
                  <a:lnTo>
                    <a:pt x="568244" y="58135"/>
                  </a:lnTo>
                  <a:lnTo>
                    <a:pt x="515887" y="72824"/>
                  </a:lnTo>
                  <a:lnTo>
                    <a:pt x="465406" y="88977"/>
                  </a:lnTo>
                  <a:lnTo>
                    <a:pt x="416912" y="106537"/>
                  </a:lnTo>
                  <a:lnTo>
                    <a:pt x="370512" y="125448"/>
                  </a:lnTo>
                  <a:lnTo>
                    <a:pt x="326316" y="145656"/>
                  </a:lnTo>
                  <a:lnTo>
                    <a:pt x="284433" y="167104"/>
                  </a:lnTo>
                  <a:lnTo>
                    <a:pt x="244972" y="189736"/>
                  </a:lnTo>
                  <a:lnTo>
                    <a:pt x="208042" y="213497"/>
                  </a:lnTo>
                  <a:lnTo>
                    <a:pt x="173751" y="238331"/>
                  </a:lnTo>
                  <a:lnTo>
                    <a:pt x="142209" y="264182"/>
                  </a:lnTo>
                  <a:lnTo>
                    <a:pt x="113525" y="290994"/>
                  </a:lnTo>
                  <a:lnTo>
                    <a:pt x="65165" y="347279"/>
                  </a:lnTo>
                  <a:lnTo>
                    <a:pt x="29543" y="406739"/>
                  </a:lnTo>
                  <a:lnTo>
                    <a:pt x="7531" y="468928"/>
                  </a:lnTo>
                  <a:lnTo>
                    <a:pt x="0" y="533400"/>
                  </a:lnTo>
                  <a:lnTo>
                    <a:pt x="136423" y="533400"/>
                  </a:lnTo>
                  <a:lnTo>
                    <a:pt x="138295" y="501197"/>
                  </a:lnTo>
                  <a:lnTo>
                    <a:pt x="143843" y="469479"/>
                  </a:lnTo>
                  <a:lnTo>
                    <a:pt x="165550" y="407723"/>
                  </a:lnTo>
                  <a:lnTo>
                    <a:pt x="200713" y="348586"/>
                  </a:lnTo>
                  <a:lnTo>
                    <a:pt x="248503" y="292523"/>
                  </a:lnTo>
                  <a:lnTo>
                    <a:pt x="276873" y="265785"/>
                  </a:lnTo>
                  <a:lnTo>
                    <a:pt x="308089" y="239986"/>
                  </a:lnTo>
                  <a:lnTo>
                    <a:pt x="342046" y="215182"/>
                  </a:lnTo>
                  <a:lnTo>
                    <a:pt x="378640" y="191430"/>
                  </a:lnTo>
                  <a:lnTo>
                    <a:pt x="417769" y="168787"/>
                  </a:lnTo>
                  <a:lnTo>
                    <a:pt x="459328" y="147310"/>
                  </a:lnTo>
                  <a:lnTo>
                    <a:pt x="503213" y="127054"/>
                  </a:lnTo>
                  <a:lnTo>
                    <a:pt x="549321" y="108078"/>
                  </a:lnTo>
                  <a:lnTo>
                    <a:pt x="597548" y="90437"/>
                  </a:lnTo>
                  <a:lnTo>
                    <a:pt x="647790" y="74189"/>
                  </a:lnTo>
                  <a:lnTo>
                    <a:pt x="699943" y="59390"/>
                  </a:lnTo>
                  <a:lnTo>
                    <a:pt x="753904" y="46097"/>
                  </a:lnTo>
                  <a:lnTo>
                    <a:pt x="809568" y="34367"/>
                  </a:lnTo>
                  <a:lnTo>
                    <a:pt x="866832" y="24256"/>
                  </a:lnTo>
                  <a:lnTo>
                    <a:pt x="925593" y="15822"/>
                  </a:lnTo>
                  <a:lnTo>
                    <a:pt x="985746" y="9120"/>
                  </a:lnTo>
                  <a:lnTo>
                    <a:pt x="1047188" y="4208"/>
                  </a:lnTo>
                  <a:lnTo>
                    <a:pt x="1109814" y="1143"/>
                  </a:lnTo>
                  <a:lnTo>
                    <a:pt x="1075728" y="285"/>
                  </a:lnTo>
                  <a:lnTo>
                    <a:pt x="1041603" y="0"/>
                  </a:lnTo>
                  <a:close/>
                </a:path>
              </a:pathLst>
            </a:custGeom>
            <a:solidFill>
              <a:srgbClr val="7BCD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728913" y="4457701"/>
              <a:ext cx="2651760" cy="533400"/>
            </a:xfrm>
            <a:custGeom>
              <a:avLst/>
              <a:gdLst/>
              <a:ahLst/>
              <a:cxnLst/>
              <a:rect l="l" t="t" r="r" b="b"/>
              <a:pathLst>
                <a:path w="2651760" h="533400">
                  <a:moveTo>
                    <a:pt x="1109814" y="1143"/>
                  </a:moveTo>
                  <a:lnTo>
                    <a:pt x="1047188" y="4208"/>
                  </a:lnTo>
                  <a:lnTo>
                    <a:pt x="985746" y="9120"/>
                  </a:lnTo>
                  <a:lnTo>
                    <a:pt x="925593" y="15822"/>
                  </a:lnTo>
                  <a:lnTo>
                    <a:pt x="866832" y="24256"/>
                  </a:lnTo>
                  <a:lnTo>
                    <a:pt x="809568" y="34367"/>
                  </a:lnTo>
                  <a:lnTo>
                    <a:pt x="753904" y="46097"/>
                  </a:lnTo>
                  <a:lnTo>
                    <a:pt x="699943" y="59390"/>
                  </a:lnTo>
                  <a:lnTo>
                    <a:pt x="647790" y="74189"/>
                  </a:lnTo>
                  <a:lnTo>
                    <a:pt x="597548" y="90437"/>
                  </a:lnTo>
                  <a:lnTo>
                    <a:pt x="549321" y="108078"/>
                  </a:lnTo>
                  <a:lnTo>
                    <a:pt x="503213" y="127054"/>
                  </a:lnTo>
                  <a:lnTo>
                    <a:pt x="459328" y="147310"/>
                  </a:lnTo>
                  <a:lnTo>
                    <a:pt x="417769" y="168787"/>
                  </a:lnTo>
                  <a:lnTo>
                    <a:pt x="378640" y="191430"/>
                  </a:lnTo>
                  <a:lnTo>
                    <a:pt x="342046" y="215182"/>
                  </a:lnTo>
                  <a:lnTo>
                    <a:pt x="308089" y="239986"/>
                  </a:lnTo>
                  <a:lnTo>
                    <a:pt x="276873" y="265785"/>
                  </a:lnTo>
                  <a:lnTo>
                    <a:pt x="248503" y="292523"/>
                  </a:lnTo>
                  <a:lnTo>
                    <a:pt x="200713" y="348586"/>
                  </a:lnTo>
                  <a:lnTo>
                    <a:pt x="165550" y="407723"/>
                  </a:lnTo>
                  <a:lnTo>
                    <a:pt x="143843" y="469479"/>
                  </a:lnTo>
                  <a:lnTo>
                    <a:pt x="136423" y="533400"/>
                  </a:lnTo>
                  <a:lnTo>
                    <a:pt x="0" y="533400"/>
                  </a:lnTo>
                  <a:lnTo>
                    <a:pt x="7531" y="468928"/>
                  </a:lnTo>
                  <a:lnTo>
                    <a:pt x="29543" y="406739"/>
                  </a:lnTo>
                  <a:lnTo>
                    <a:pt x="65165" y="347279"/>
                  </a:lnTo>
                  <a:lnTo>
                    <a:pt x="113525" y="290994"/>
                  </a:lnTo>
                  <a:lnTo>
                    <a:pt x="142209" y="264182"/>
                  </a:lnTo>
                  <a:lnTo>
                    <a:pt x="173751" y="238331"/>
                  </a:lnTo>
                  <a:lnTo>
                    <a:pt x="208042" y="213497"/>
                  </a:lnTo>
                  <a:lnTo>
                    <a:pt x="244972" y="189736"/>
                  </a:lnTo>
                  <a:lnTo>
                    <a:pt x="284433" y="167104"/>
                  </a:lnTo>
                  <a:lnTo>
                    <a:pt x="326316" y="145656"/>
                  </a:lnTo>
                  <a:lnTo>
                    <a:pt x="370512" y="125448"/>
                  </a:lnTo>
                  <a:lnTo>
                    <a:pt x="416912" y="106537"/>
                  </a:lnTo>
                  <a:lnTo>
                    <a:pt x="465406" y="88977"/>
                  </a:lnTo>
                  <a:lnTo>
                    <a:pt x="515887" y="72824"/>
                  </a:lnTo>
                  <a:lnTo>
                    <a:pt x="568244" y="58135"/>
                  </a:lnTo>
                  <a:lnTo>
                    <a:pt x="622370" y="44965"/>
                  </a:lnTo>
                  <a:lnTo>
                    <a:pt x="678155" y="33370"/>
                  </a:lnTo>
                  <a:lnTo>
                    <a:pt x="735489" y="23406"/>
                  </a:lnTo>
                  <a:lnTo>
                    <a:pt x="794266" y="15129"/>
                  </a:lnTo>
                  <a:lnTo>
                    <a:pt x="854374" y="8593"/>
                  </a:lnTo>
                  <a:lnTo>
                    <a:pt x="915705" y="3856"/>
                  </a:lnTo>
                  <a:lnTo>
                    <a:pt x="978151" y="973"/>
                  </a:lnTo>
                  <a:lnTo>
                    <a:pt x="1041603" y="0"/>
                  </a:lnTo>
                  <a:lnTo>
                    <a:pt x="1178026" y="0"/>
                  </a:lnTo>
                  <a:lnTo>
                    <a:pt x="1237652" y="866"/>
                  </a:lnTo>
                  <a:lnTo>
                    <a:pt x="1296527" y="3439"/>
                  </a:lnTo>
                  <a:lnTo>
                    <a:pt x="1354546" y="7675"/>
                  </a:lnTo>
                  <a:lnTo>
                    <a:pt x="1411604" y="13533"/>
                  </a:lnTo>
                  <a:lnTo>
                    <a:pt x="1467598" y="20971"/>
                  </a:lnTo>
                  <a:lnTo>
                    <a:pt x="1522421" y="29945"/>
                  </a:lnTo>
                  <a:lnTo>
                    <a:pt x="1575969" y="40415"/>
                  </a:lnTo>
                  <a:lnTo>
                    <a:pt x="1628138" y="52339"/>
                  </a:lnTo>
                  <a:lnTo>
                    <a:pt x="1678822" y="65673"/>
                  </a:lnTo>
                  <a:lnTo>
                    <a:pt x="1727917" y="80376"/>
                  </a:lnTo>
                  <a:lnTo>
                    <a:pt x="1775317" y="96407"/>
                  </a:lnTo>
                  <a:lnTo>
                    <a:pt x="1820919" y="113722"/>
                  </a:lnTo>
                  <a:lnTo>
                    <a:pt x="1864617" y="132280"/>
                  </a:lnTo>
                  <a:lnTo>
                    <a:pt x="1906307" y="152038"/>
                  </a:lnTo>
                  <a:lnTo>
                    <a:pt x="1945883" y="172955"/>
                  </a:lnTo>
                  <a:lnTo>
                    <a:pt x="1983242" y="194989"/>
                  </a:lnTo>
                  <a:lnTo>
                    <a:pt x="2018277" y="218097"/>
                  </a:lnTo>
                  <a:lnTo>
                    <a:pt x="2050885" y="242237"/>
                  </a:lnTo>
                  <a:lnTo>
                    <a:pt x="2080961" y="267367"/>
                  </a:lnTo>
                  <a:lnTo>
                    <a:pt x="2133095" y="320431"/>
                  </a:lnTo>
                  <a:lnTo>
                    <a:pt x="2173842" y="376949"/>
                  </a:lnTo>
                  <a:lnTo>
                    <a:pt x="2189683" y="406400"/>
                  </a:lnTo>
                  <a:lnTo>
                    <a:pt x="2651328" y="406400"/>
                  </a:lnTo>
                  <a:lnTo>
                    <a:pt x="2151418" y="533400"/>
                  </a:lnTo>
                  <a:lnTo>
                    <a:pt x="1591602" y="406400"/>
                  </a:lnTo>
                  <a:lnTo>
                    <a:pt x="2053259" y="406400"/>
                  </a:lnTo>
                  <a:lnTo>
                    <a:pt x="2018521" y="348279"/>
                  </a:lnTo>
                  <a:lnTo>
                    <a:pt x="1971975" y="293446"/>
                  </a:lnTo>
                  <a:lnTo>
                    <a:pt x="1914462" y="242237"/>
                  </a:lnTo>
                  <a:lnTo>
                    <a:pt x="1881854" y="218097"/>
                  </a:lnTo>
                  <a:lnTo>
                    <a:pt x="1846818" y="194989"/>
                  </a:lnTo>
                  <a:lnTo>
                    <a:pt x="1809460" y="172955"/>
                  </a:lnTo>
                  <a:lnTo>
                    <a:pt x="1769884" y="152038"/>
                  </a:lnTo>
                  <a:lnTo>
                    <a:pt x="1728194" y="132280"/>
                  </a:lnTo>
                  <a:lnTo>
                    <a:pt x="1684496" y="113722"/>
                  </a:lnTo>
                  <a:lnTo>
                    <a:pt x="1638894" y="96407"/>
                  </a:lnTo>
                  <a:lnTo>
                    <a:pt x="1591493" y="80376"/>
                  </a:lnTo>
                  <a:lnTo>
                    <a:pt x="1542398" y="65673"/>
                  </a:lnTo>
                  <a:lnTo>
                    <a:pt x="1491714" y="52339"/>
                  </a:lnTo>
                  <a:lnTo>
                    <a:pt x="1439546" y="40415"/>
                  </a:lnTo>
                  <a:lnTo>
                    <a:pt x="1385997" y="29945"/>
                  </a:lnTo>
                  <a:lnTo>
                    <a:pt x="1331174" y="20971"/>
                  </a:lnTo>
                  <a:lnTo>
                    <a:pt x="1275181" y="13533"/>
                  </a:lnTo>
                  <a:lnTo>
                    <a:pt x="1218122" y="7675"/>
                  </a:lnTo>
                  <a:lnTo>
                    <a:pt x="1160103" y="3439"/>
                  </a:lnTo>
                  <a:lnTo>
                    <a:pt x="1101228" y="866"/>
                  </a:lnTo>
                  <a:lnTo>
                    <a:pt x="1041603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107815" y="5040185"/>
            <a:ext cx="15367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5" dirty="0">
                <a:latin typeface="Arial"/>
                <a:cs typeface="Arial"/>
              </a:rPr>
              <a:t>B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90660" y="5019590"/>
            <a:ext cx="15367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5" dirty="0">
                <a:latin typeface="Arial"/>
                <a:cs typeface="Arial"/>
              </a:rPr>
              <a:t>C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957518" y="5322888"/>
            <a:ext cx="3255645" cy="548005"/>
            <a:chOff x="2957518" y="5322888"/>
            <a:chExt cx="3255645" cy="548005"/>
          </a:xfrm>
        </p:grpSpPr>
        <p:sp>
          <p:nvSpPr>
            <p:cNvPr id="20" name="object 20"/>
            <p:cNvSpPr/>
            <p:nvPr/>
          </p:nvSpPr>
          <p:spPr>
            <a:xfrm>
              <a:off x="4459770" y="5329237"/>
              <a:ext cx="1746885" cy="535305"/>
            </a:xfrm>
            <a:custGeom>
              <a:avLst/>
              <a:gdLst/>
              <a:ahLst/>
              <a:cxnLst/>
              <a:rect l="l" t="t" r="r" b="b"/>
              <a:pathLst>
                <a:path w="1746885" h="535304">
                  <a:moveTo>
                    <a:pt x="1746481" y="178320"/>
                  </a:moveTo>
                  <a:lnTo>
                    <a:pt x="1283563" y="178333"/>
                  </a:lnTo>
                  <a:lnTo>
                    <a:pt x="1260726" y="200868"/>
                  </a:lnTo>
                  <a:lnTo>
                    <a:pt x="1235369" y="222864"/>
                  </a:lnTo>
                  <a:lnTo>
                    <a:pt x="1177426" y="265121"/>
                  </a:lnTo>
                  <a:lnTo>
                    <a:pt x="1144986" y="285342"/>
                  </a:lnTo>
                  <a:lnTo>
                    <a:pt x="1110330" y="304931"/>
                  </a:lnTo>
                  <a:lnTo>
                    <a:pt x="1073531" y="323868"/>
                  </a:lnTo>
                  <a:lnTo>
                    <a:pt x="1034663" y="342132"/>
                  </a:lnTo>
                  <a:lnTo>
                    <a:pt x="993799" y="359703"/>
                  </a:lnTo>
                  <a:lnTo>
                    <a:pt x="951011" y="376560"/>
                  </a:lnTo>
                  <a:lnTo>
                    <a:pt x="906372" y="392685"/>
                  </a:lnTo>
                  <a:lnTo>
                    <a:pt x="859956" y="408056"/>
                  </a:lnTo>
                  <a:lnTo>
                    <a:pt x="811835" y="422653"/>
                  </a:lnTo>
                  <a:lnTo>
                    <a:pt x="762082" y="436456"/>
                  </a:lnTo>
                  <a:lnTo>
                    <a:pt x="710771" y="449444"/>
                  </a:lnTo>
                  <a:lnTo>
                    <a:pt x="657973" y="461599"/>
                  </a:lnTo>
                  <a:lnTo>
                    <a:pt x="603763" y="472898"/>
                  </a:lnTo>
                  <a:lnTo>
                    <a:pt x="548213" y="483322"/>
                  </a:lnTo>
                  <a:lnTo>
                    <a:pt x="491396" y="492852"/>
                  </a:lnTo>
                  <a:lnTo>
                    <a:pt x="433384" y="501465"/>
                  </a:lnTo>
                  <a:lnTo>
                    <a:pt x="374252" y="509143"/>
                  </a:lnTo>
                  <a:lnTo>
                    <a:pt x="314071" y="515865"/>
                  </a:lnTo>
                  <a:lnTo>
                    <a:pt x="252916" y="521611"/>
                  </a:lnTo>
                  <a:lnTo>
                    <a:pt x="190857" y="526361"/>
                  </a:lnTo>
                  <a:lnTo>
                    <a:pt x="127970" y="530093"/>
                  </a:lnTo>
                  <a:lnTo>
                    <a:pt x="64327" y="532789"/>
                  </a:lnTo>
                  <a:lnTo>
                    <a:pt x="0" y="534428"/>
                  </a:lnTo>
                  <a:lnTo>
                    <a:pt x="62770" y="534989"/>
                  </a:lnTo>
                  <a:lnTo>
                    <a:pt x="125103" y="534531"/>
                  </a:lnTo>
                  <a:lnTo>
                    <a:pt x="186930" y="533072"/>
                  </a:lnTo>
                  <a:lnTo>
                    <a:pt x="248181" y="530628"/>
                  </a:lnTo>
                  <a:lnTo>
                    <a:pt x="308789" y="527218"/>
                  </a:lnTo>
                  <a:lnTo>
                    <a:pt x="368685" y="522859"/>
                  </a:lnTo>
                  <a:lnTo>
                    <a:pt x="427800" y="517567"/>
                  </a:lnTo>
                  <a:lnTo>
                    <a:pt x="486066" y="511360"/>
                  </a:lnTo>
                  <a:lnTo>
                    <a:pt x="543413" y="504256"/>
                  </a:lnTo>
                  <a:lnTo>
                    <a:pt x="599774" y="496271"/>
                  </a:lnTo>
                  <a:lnTo>
                    <a:pt x="655079" y="487424"/>
                  </a:lnTo>
                  <a:lnTo>
                    <a:pt x="709261" y="477730"/>
                  </a:lnTo>
                  <a:lnTo>
                    <a:pt x="762249" y="467208"/>
                  </a:lnTo>
                  <a:lnTo>
                    <a:pt x="813977" y="455876"/>
                  </a:lnTo>
                  <a:lnTo>
                    <a:pt x="864374" y="443749"/>
                  </a:lnTo>
                  <a:lnTo>
                    <a:pt x="913373" y="430845"/>
                  </a:lnTo>
                  <a:lnTo>
                    <a:pt x="960905" y="417182"/>
                  </a:lnTo>
                  <a:lnTo>
                    <a:pt x="1006901" y="402777"/>
                  </a:lnTo>
                  <a:lnTo>
                    <a:pt x="1051293" y="387648"/>
                  </a:lnTo>
                  <a:lnTo>
                    <a:pt x="1094011" y="371811"/>
                  </a:lnTo>
                  <a:lnTo>
                    <a:pt x="1134988" y="355284"/>
                  </a:lnTo>
                  <a:lnTo>
                    <a:pt x="1174155" y="338083"/>
                  </a:lnTo>
                  <a:lnTo>
                    <a:pt x="1211443" y="320228"/>
                  </a:lnTo>
                  <a:lnTo>
                    <a:pt x="1246783" y="301734"/>
                  </a:lnTo>
                  <a:lnTo>
                    <a:pt x="1280107" y="282619"/>
                  </a:lnTo>
                  <a:lnTo>
                    <a:pt x="1340431" y="242595"/>
                  </a:lnTo>
                  <a:lnTo>
                    <a:pt x="1391868" y="200294"/>
                  </a:lnTo>
                  <a:lnTo>
                    <a:pt x="1414081" y="178333"/>
                  </a:lnTo>
                  <a:lnTo>
                    <a:pt x="1746504" y="178333"/>
                  </a:lnTo>
                  <a:close/>
                </a:path>
                <a:path w="1746885" h="535304">
                  <a:moveTo>
                    <a:pt x="1430642" y="0"/>
                  </a:moveTo>
                  <a:lnTo>
                    <a:pt x="951153" y="178333"/>
                  </a:lnTo>
                  <a:lnTo>
                    <a:pt x="1746481" y="178320"/>
                  </a:lnTo>
                  <a:lnTo>
                    <a:pt x="1430642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963857" y="5329237"/>
              <a:ext cx="1561465" cy="535305"/>
            </a:xfrm>
            <a:custGeom>
              <a:avLst/>
              <a:gdLst/>
              <a:ahLst/>
              <a:cxnLst/>
              <a:rect l="l" t="t" r="r" b="b"/>
              <a:pathLst>
                <a:path w="1561464" h="535304">
                  <a:moveTo>
                    <a:pt x="130505" y="0"/>
                  </a:moveTo>
                  <a:lnTo>
                    <a:pt x="0" y="0"/>
                  </a:lnTo>
                  <a:lnTo>
                    <a:pt x="1557" y="25184"/>
                  </a:lnTo>
                  <a:lnTo>
                    <a:pt x="13808" y="74628"/>
                  </a:lnTo>
                  <a:lnTo>
                    <a:pt x="37784" y="122667"/>
                  </a:lnTo>
                  <a:lnTo>
                    <a:pt x="72935" y="169097"/>
                  </a:lnTo>
                  <a:lnTo>
                    <a:pt x="118712" y="213711"/>
                  </a:lnTo>
                  <a:lnTo>
                    <a:pt x="174564" y="256305"/>
                  </a:lnTo>
                  <a:lnTo>
                    <a:pt x="239943" y="296672"/>
                  </a:lnTo>
                  <a:lnTo>
                    <a:pt x="276032" y="315956"/>
                  </a:lnTo>
                  <a:lnTo>
                    <a:pt x="314298" y="334607"/>
                  </a:lnTo>
                  <a:lnTo>
                    <a:pt x="354670" y="352598"/>
                  </a:lnTo>
                  <a:lnTo>
                    <a:pt x="397080" y="369905"/>
                  </a:lnTo>
                  <a:lnTo>
                    <a:pt x="441460" y="386500"/>
                  </a:lnTo>
                  <a:lnTo>
                    <a:pt x="487740" y="402359"/>
                  </a:lnTo>
                  <a:lnTo>
                    <a:pt x="535852" y="417456"/>
                  </a:lnTo>
                  <a:lnTo>
                    <a:pt x="585728" y="431765"/>
                  </a:lnTo>
                  <a:lnTo>
                    <a:pt x="637298" y="445261"/>
                  </a:lnTo>
                  <a:lnTo>
                    <a:pt x="690493" y="457918"/>
                  </a:lnTo>
                  <a:lnTo>
                    <a:pt x="745246" y="469709"/>
                  </a:lnTo>
                  <a:lnTo>
                    <a:pt x="801488" y="480610"/>
                  </a:lnTo>
                  <a:lnTo>
                    <a:pt x="859149" y="490595"/>
                  </a:lnTo>
                  <a:lnTo>
                    <a:pt x="918162" y="499638"/>
                  </a:lnTo>
                  <a:lnTo>
                    <a:pt x="978456" y="507713"/>
                  </a:lnTo>
                  <a:lnTo>
                    <a:pt x="1039965" y="514795"/>
                  </a:lnTo>
                  <a:lnTo>
                    <a:pt x="1102618" y="520858"/>
                  </a:lnTo>
                  <a:lnTo>
                    <a:pt x="1166348" y="525876"/>
                  </a:lnTo>
                  <a:lnTo>
                    <a:pt x="1231085" y="529823"/>
                  </a:lnTo>
                  <a:lnTo>
                    <a:pt x="1296761" y="532675"/>
                  </a:lnTo>
                  <a:lnTo>
                    <a:pt x="1363307" y="534405"/>
                  </a:lnTo>
                  <a:lnTo>
                    <a:pt x="1430655" y="534987"/>
                  </a:lnTo>
                  <a:lnTo>
                    <a:pt x="1561160" y="534987"/>
                  </a:lnTo>
                  <a:lnTo>
                    <a:pt x="1493812" y="534405"/>
                  </a:lnTo>
                  <a:lnTo>
                    <a:pt x="1427266" y="532675"/>
                  </a:lnTo>
                  <a:lnTo>
                    <a:pt x="1361590" y="529823"/>
                  </a:lnTo>
                  <a:lnTo>
                    <a:pt x="1296853" y="525876"/>
                  </a:lnTo>
                  <a:lnTo>
                    <a:pt x="1233123" y="520858"/>
                  </a:lnTo>
                  <a:lnTo>
                    <a:pt x="1170470" y="514795"/>
                  </a:lnTo>
                  <a:lnTo>
                    <a:pt x="1108961" y="507713"/>
                  </a:lnTo>
                  <a:lnTo>
                    <a:pt x="1048667" y="499638"/>
                  </a:lnTo>
                  <a:lnTo>
                    <a:pt x="989654" y="490595"/>
                  </a:lnTo>
                  <a:lnTo>
                    <a:pt x="931993" y="480610"/>
                  </a:lnTo>
                  <a:lnTo>
                    <a:pt x="875752" y="469709"/>
                  </a:lnTo>
                  <a:lnTo>
                    <a:pt x="820999" y="457918"/>
                  </a:lnTo>
                  <a:lnTo>
                    <a:pt x="767803" y="445261"/>
                  </a:lnTo>
                  <a:lnTo>
                    <a:pt x="716233" y="431765"/>
                  </a:lnTo>
                  <a:lnTo>
                    <a:pt x="666357" y="417456"/>
                  </a:lnTo>
                  <a:lnTo>
                    <a:pt x="618245" y="402359"/>
                  </a:lnTo>
                  <a:lnTo>
                    <a:pt x="571965" y="386500"/>
                  </a:lnTo>
                  <a:lnTo>
                    <a:pt x="527585" y="369905"/>
                  </a:lnTo>
                  <a:lnTo>
                    <a:pt x="485175" y="352598"/>
                  </a:lnTo>
                  <a:lnTo>
                    <a:pt x="444803" y="334607"/>
                  </a:lnTo>
                  <a:lnTo>
                    <a:pt x="406538" y="315956"/>
                  </a:lnTo>
                  <a:lnTo>
                    <a:pt x="370448" y="296672"/>
                  </a:lnTo>
                  <a:lnTo>
                    <a:pt x="336602" y="276779"/>
                  </a:lnTo>
                  <a:lnTo>
                    <a:pt x="275918" y="235273"/>
                  </a:lnTo>
                  <a:lnTo>
                    <a:pt x="225035" y="191644"/>
                  </a:lnTo>
                  <a:lnTo>
                    <a:pt x="184502" y="146096"/>
                  </a:lnTo>
                  <a:lnTo>
                    <a:pt x="154870" y="98836"/>
                  </a:lnTo>
                  <a:lnTo>
                    <a:pt x="136688" y="50068"/>
                  </a:lnTo>
                  <a:lnTo>
                    <a:pt x="132062" y="25184"/>
                  </a:lnTo>
                  <a:lnTo>
                    <a:pt x="130505" y="0"/>
                  </a:lnTo>
                  <a:close/>
                </a:path>
              </a:pathLst>
            </a:custGeom>
            <a:solidFill>
              <a:srgbClr val="7BA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963868" y="5329238"/>
              <a:ext cx="3242945" cy="535305"/>
            </a:xfrm>
            <a:custGeom>
              <a:avLst/>
              <a:gdLst/>
              <a:ahLst/>
              <a:cxnLst/>
              <a:rect l="l" t="t" r="r" b="b"/>
              <a:pathLst>
                <a:path w="3242945" h="535304">
                  <a:moveTo>
                    <a:pt x="1495894" y="534428"/>
                  </a:moveTo>
                  <a:lnTo>
                    <a:pt x="1560223" y="532789"/>
                  </a:lnTo>
                  <a:lnTo>
                    <a:pt x="1623868" y="530093"/>
                  </a:lnTo>
                  <a:lnTo>
                    <a:pt x="1686756" y="526361"/>
                  </a:lnTo>
                  <a:lnTo>
                    <a:pt x="1748815" y="521611"/>
                  </a:lnTo>
                  <a:lnTo>
                    <a:pt x="1809972" y="515865"/>
                  </a:lnTo>
                  <a:lnTo>
                    <a:pt x="1870153" y="509143"/>
                  </a:lnTo>
                  <a:lnTo>
                    <a:pt x="1929286" y="501465"/>
                  </a:lnTo>
                  <a:lnTo>
                    <a:pt x="1987298" y="492852"/>
                  </a:lnTo>
                  <a:lnTo>
                    <a:pt x="2044116" y="483322"/>
                  </a:lnTo>
                  <a:lnTo>
                    <a:pt x="2099667" y="472898"/>
                  </a:lnTo>
                  <a:lnTo>
                    <a:pt x="2153878" y="461599"/>
                  </a:lnTo>
                  <a:lnTo>
                    <a:pt x="2206675" y="449444"/>
                  </a:lnTo>
                  <a:lnTo>
                    <a:pt x="2257987" y="436456"/>
                  </a:lnTo>
                  <a:lnTo>
                    <a:pt x="2307740" y="422653"/>
                  </a:lnTo>
                  <a:lnTo>
                    <a:pt x="2355860" y="408056"/>
                  </a:lnTo>
                  <a:lnTo>
                    <a:pt x="2402276" y="392685"/>
                  </a:lnTo>
                  <a:lnTo>
                    <a:pt x="2446915" y="376560"/>
                  </a:lnTo>
                  <a:lnTo>
                    <a:pt x="2489702" y="359703"/>
                  </a:lnTo>
                  <a:lnTo>
                    <a:pt x="2530566" y="342132"/>
                  </a:lnTo>
                  <a:lnTo>
                    <a:pt x="2569433" y="323868"/>
                  </a:lnTo>
                  <a:lnTo>
                    <a:pt x="2606231" y="304931"/>
                  </a:lnTo>
                  <a:lnTo>
                    <a:pt x="2640886" y="285342"/>
                  </a:lnTo>
                  <a:lnTo>
                    <a:pt x="2673326" y="265121"/>
                  </a:lnTo>
                  <a:lnTo>
                    <a:pt x="2731267" y="222864"/>
                  </a:lnTo>
                  <a:lnTo>
                    <a:pt x="2779471" y="178320"/>
                  </a:lnTo>
                  <a:lnTo>
                    <a:pt x="2447048" y="178320"/>
                  </a:lnTo>
                  <a:lnTo>
                    <a:pt x="2926549" y="0"/>
                  </a:lnTo>
                  <a:lnTo>
                    <a:pt x="3242398" y="178320"/>
                  </a:lnTo>
                  <a:lnTo>
                    <a:pt x="2909976" y="178320"/>
                  </a:lnTo>
                  <a:lnTo>
                    <a:pt x="2887874" y="200177"/>
                  </a:lnTo>
                  <a:lnTo>
                    <a:pt x="2836696" y="242303"/>
                  </a:lnTo>
                  <a:lnTo>
                    <a:pt x="2776666" y="282196"/>
                  </a:lnTo>
                  <a:lnTo>
                    <a:pt x="2743500" y="301259"/>
                  </a:lnTo>
                  <a:lnTo>
                    <a:pt x="2708322" y="319711"/>
                  </a:lnTo>
                  <a:lnTo>
                    <a:pt x="2671200" y="337534"/>
                  </a:lnTo>
                  <a:lnTo>
                    <a:pt x="2632200" y="354709"/>
                  </a:lnTo>
                  <a:lnTo>
                    <a:pt x="2591389" y="371219"/>
                  </a:lnTo>
                  <a:lnTo>
                    <a:pt x="2548835" y="387047"/>
                  </a:lnTo>
                  <a:lnTo>
                    <a:pt x="2504604" y="402174"/>
                  </a:lnTo>
                  <a:lnTo>
                    <a:pt x="2458764" y="416583"/>
                  </a:lnTo>
                  <a:lnTo>
                    <a:pt x="2411381" y="430256"/>
                  </a:lnTo>
                  <a:lnTo>
                    <a:pt x="2362524" y="443176"/>
                  </a:lnTo>
                  <a:lnTo>
                    <a:pt x="2312258" y="455324"/>
                  </a:lnTo>
                  <a:lnTo>
                    <a:pt x="2260650" y="466683"/>
                  </a:lnTo>
                  <a:lnTo>
                    <a:pt x="2207769" y="477235"/>
                  </a:lnTo>
                  <a:lnTo>
                    <a:pt x="2153680" y="486962"/>
                  </a:lnTo>
                  <a:lnTo>
                    <a:pt x="2098451" y="495848"/>
                  </a:lnTo>
                  <a:lnTo>
                    <a:pt x="2042149" y="503873"/>
                  </a:lnTo>
                  <a:lnTo>
                    <a:pt x="1984841" y="511021"/>
                  </a:lnTo>
                  <a:lnTo>
                    <a:pt x="1926594" y="517273"/>
                  </a:lnTo>
                  <a:lnTo>
                    <a:pt x="1867475" y="522611"/>
                  </a:lnTo>
                  <a:lnTo>
                    <a:pt x="1807551" y="527019"/>
                  </a:lnTo>
                  <a:lnTo>
                    <a:pt x="1746889" y="530479"/>
                  </a:lnTo>
                  <a:lnTo>
                    <a:pt x="1685557" y="532971"/>
                  </a:lnTo>
                  <a:lnTo>
                    <a:pt x="1623620" y="534480"/>
                  </a:lnTo>
                  <a:lnTo>
                    <a:pt x="1561147" y="534987"/>
                  </a:lnTo>
                  <a:lnTo>
                    <a:pt x="1430642" y="534987"/>
                  </a:lnTo>
                  <a:lnTo>
                    <a:pt x="1363294" y="534405"/>
                  </a:lnTo>
                  <a:lnTo>
                    <a:pt x="1296748" y="532675"/>
                  </a:lnTo>
                  <a:lnTo>
                    <a:pt x="1231072" y="529823"/>
                  </a:lnTo>
                  <a:lnTo>
                    <a:pt x="1166335" y="525876"/>
                  </a:lnTo>
                  <a:lnTo>
                    <a:pt x="1102606" y="520858"/>
                  </a:lnTo>
                  <a:lnTo>
                    <a:pt x="1039953" y="514795"/>
                  </a:lnTo>
                  <a:lnTo>
                    <a:pt x="978445" y="507713"/>
                  </a:lnTo>
                  <a:lnTo>
                    <a:pt x="918151" y="499638"/>
                  </a:lnTo>
                  <a:lnTo>
                    <a:pt x="859139" y="490595"/>
                  </a:lnTo>
                  <a:lnTo>
                    <a:pt x="801478" y="480610"/>
                  </a:lnTo>
                  <a:lnTo>
                    <a:pt x="745237" y="469709"/>
                  </a:lnTo>
                  <a:lnTo>
                    <a:pt x="690484" y="457918"/>
                  </a:lnTo>
                  <a:lnTo>
                    <a:pt x="637289" y="445261"/>
                  </a:lnTo>
                  <a:lnTo>
                    <a:pt x="585719" y="431765"/>
                  </a:lnTo>
                  <a:lnTo>
                    <a:pt x="535844" y="417456"/>
                  </a:lnTo>
                  <a:lnTo>
                    <a:pt x="487733" y="402359"/>
                  </a:lnTo>
                  <a:lnTo>
                    <a:pt x="441453" y="386500"/>
                  </a:lnTo>
                  <a:lnTo>
                    <a:pt x="397074" y="369905"/>
                  </a:lnTo>
                  <a:lnTo>
                    <a:pt x="354664" y="352598"/>
                  </a:lnTo>
                  <a:lnTo>
                    <a:pt x="314293" y="334607"/>
                  </a:lnTo>
                  <a:lnTo>
                    <a:pt x="276028" y="315956"/>
                  </a:lnTo>
                  <a:lnTo>
                    <a:pt x="239939" y="296672"/>
                  </a:lnTo>
                  <a:lnTo>
                    <a:pt x="206093" y="276779"/>
                  </a:lnTo>
                  <a:lnTo>
                    <a:pt x="145410" y="235273"/>
                  </a:lnTo>
                  <a:lnTo>
                    <a:pt x="94528" y="191644"/>
                  </a:lnTo>
                  <a:lnTo>
                    <a:pt x="53996" y="146096"/>
                  </a:lnTo>
                  <a:lnTo>
                    <a:pt x="24364" y="98836"/>
                  </a:lnTo>
                  <a:lnTo>
                    <a:pt x="6182" y="50068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2049" y="25184"/>
                  </a:lnTo>
                  <a:lnTo>
                    <a:pt x="136675" y="50068"/>
                  </a:lnTo>
                  <a:lnTo>
                    <a:pt x="154857" y="98836"/>
                  </a:lnTo>
                  <a:lnTo>
                    <a:pt x="184490" y="146096"/>
                  </a:lnTo>
                  <a:lnTo>
                    <a:pt x="225022" y="191644"/>
                  </a:lnTo>
                  <a:lnTo>
                    <a:pt x="275905" y="235273"/>
                  </a:lnTo>
                  <a:lnTo>
                    <a:pt x="336589" y="276779"/>
                  </a:lnTo>
                  <a:lnTo>
                    <a:pt x="370435" y="296672"/>
                  </a:lnTo>
                  <a:lnTo>
                    <a:pt x="406525" y="315956"/>
                  </a:lnTo>
                  <a:lnTo>
                    <a:pt x="444790" y="334607"/>
                  </a:lnTo>
                  <a:lnTo>
                    <a:pt x="485162" y="352598"/>
                  </a:lnTo>
                  <a:lnTo>
                    <a:pt x="527573" y="369905"/>
                  </a:lnTo>
                  <a:lnTo>
                    <a:pt x="571952" y="386500"/>
                  </a:lnTo>
                  <a:lnTo>
                    <a:pt x="618232" y="402359"/>
                  </a:lnTo>
                  <a:lnTo>
                    <a:pt x="666345" y="417456"/>
                  </a:lnTo>
                  <a:lnTo>
                    <a:pt x="716220" y="431765"/>
                  </a:lnTo>
                  <a:lnTo>
                    <a:pt x="767790" y="445261"/>
                  </a:lnTo>
                  <a:lnTo>
                    <a:pt x="820986" y="457918"/>
                  </a:lnTo>
                  <a:lnTo>
                    <a:pt x="875739" y="469709"/>
                  </a:lnTo>
                  <a:lnTo>
                    <a:pt x="931980" y="480610"/>
                  </a:lnTo>
                  <a:lnTo>
                    <a:pt x="989642" y="490595"/>
                  </a:lnTo>
                  <a:lnTo>
                    <a:pt x="1048654" y="499638"/>
                  </a:lnTo>
                  <a:lnTo>
                    <a:pt x="1108949" y="507713"/>
                  </a:lnTo>
                  <a:lnTo>
                    <a:pt x="1170457" y="514795"/>
                  </a:lnTo>
                  <a:lnTo>
                    <a:pt x="1233110" y="520858"/>
                  </a:lnTo>
                  <a:lnTo>
                    <a:pt x="1296840" y="525876"/>
                  </a:lnTo>
                  <a:lnTo>
                    <a:pt x="1361577" y="529823"/>
                  </a:lnTo>
                  <a:lnTo>
                    <a:pt x="1427253" y="532675"/>
                  </a:lnTo>
                  <a:lnTo>
                    <a:pt x="1493799" y="534405"/>
                  </a:lnTo>
                  <a:lnTo>
                    <a:pt x="1561147" y="53498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44929" y="814069"/>
            <a:ext cx="545274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The</a:t>
            </a:r>
            <a:r>
              <a:rPr spc="-40" dirty="0"/>
              <a:t> </a:t>
            </a:r>
            <a:r>
              <a:rPr spc="-5" dirty="0"/>
              <a:t>Memory</a:t>
            </a:r>
            <a:r>
              <a:rPr spc="-20" dirty="0"/>
              <a:t> </a:t>
            </a:r>
            <a:r>
              <a:rPr spc="-5" dirty="0"/>
              <a:t>“Register”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59355"/>
            <a:ext cx="7438390" cy="452882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4965" marR="593090" indent="-342900">
              <a:lnSpc>
                <a:spcPts val="3020"/>
              </a:lnSpc>
              <a:spcBef>
                <a:spcPts val="484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u="heavy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Most</a:t>
            </a:r>
            <a:r>
              <a:rPr sz="2800" spc="-3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instructions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 the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8085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can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memory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location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place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register.</a:t>
            </a:r>
            <a:endParaRPr sz="2800">
              <a:latin typeface="Times New Roman"/>
              <a:cs typeface="Times New Roman"/>
            </a:endParaRPr>
          </a:p>
          <a:p>
            <a:pPr marL="755015" lvl="1" indent="-285750">
              <a:lnSpc>
                <a:spcPct val="100000"/>
              </a:lnSpc>
              <a:spcBef>
                <a:spcPts val="225"/>
              </a:spcBef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memory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location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will become 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“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memory”</a:t>
            </a:r>
            <a:r>
              <a:rPr sz="2000" spc="-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register</a:t>
            </a:r>
            <a:r>
              <a:rPr sz="2000" spc="-2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M</a:t>
            </a:r>
            <a:r>
              <a:rPr sz="2000" spc="-5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1155700" lvl="2" indent="-229235">
              <a:lnSpc>
                <a:spcPct val="100000"/>
              </a:lnSpc>
              <a:spcBef>
                <a:spcPts val="240"/>
              </a:spcBef>
              <a:buFont typeface="Times New Roman"/>
              <a:buChar char="•"/>
              <a:tabLst>
                <a:tab pos="1155700" algn="l"/>
                <a:tab pos="1156335" algn="l"/>
              </a:tabLst>
            </a:pPr>
            <a:r>
              <a:rPr sz="2000" b="1" spc="-5" dirty="0">
                <a:latin typeface="Times New Roman"/>
                <a:cs typeface="Times New Roman"/>
              </a:rPr>
              <a:t>MOV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M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B</a:t>
            </a:r>
            <a:endParaRPr sz="2000">
              <a:latin typeface="Times New Roman"/>
              <a:cs typeface="Times New Roman"/>
            </a:endParaRPr>
          </a:p>
          <a:p>
            <a:pPr marL="471170" algn="ctr">
              <a:lnSpc>
                <a:spcPct val="100000"/>
              </a:lnSpc>
              <a:spcBef>
                <a:spcPts val="225"/>
              </a:spcBef>
            </a:pPr>
            <a:r>
              <a:rPr sz="1800" dirty="0">
                <a:latin typeface="Times New Roman"/>
                <a:cs typeface="Times New Roman"/>
              </a:rPr>
              <a:t>–</a:t>
            </a:r>
            <a:r>
              <a:rPr sz="1800" spc="4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copy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data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from</a:t>
            </a:r>
            <a:r>
              <a:rPr sz="1800" spc="-5" dirty="0">
                <a:latin typeface="Times New Roman"/>
                <a:cs typeface="Times New Roman"/>
              </a:rPr>
              <a:t> register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 </a:t>
            </a:r>
            <a:r>
              <a:rPr sz="1800" spc="-5" dirty="0">
                <a:latin typeface="Times New Roman"/>
                <a:cs typeface="Times New Roman"/>
              </a:rPr>
              <a:t>into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5" dirty="0">
                <a:latin typeface="Times New Roman"/>
                <a:cs typeface="Times New Roman"/>
              </a:rPr>
              <a:t> memory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location.</a:t>
            </a:r>
            <a:endParaRPr sz="1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265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spc="-5" dirty="0">
                <a:latin typeface="Times New Roman"/>
                <a:cs typeface="Times New Roman"/>
              </a:rPr>
              <a:t>Which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memory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location?</a:t>
            </a:r>
            <a:endParaRPr sz="2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Char char="–"/>
            </a:pPr>
            <a:endParaRPr sz="3350">
              <a:latin typeface="Times New Roman"/>
              <a:cs typeface="Times New Roman"/>
            </a:endParaRPr>
          </a:p>
          <a:p>
            <a:pPr marL="355600" marR="5080" indent="-343535">
              <a:lnSpc>
                <a:spcPts val="3020"/>
              </a:lnSpc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memory location </a:t>
            </a:r>
            <a:r>
              <a:rPr sz="2800" dirty="0">
                <a:latin typeface="Times New Roman"/>
                <a:cs typeface="Times New Roman"/>
              </a:rPr>
              <a:t>is </a:t>
            </a:r>
            <a:r>
              <a:rPr sz="2800" spc="-5" dirty="0">
                <a:latin typeface="Times New Roman"/>
                <a:cs typeface="Times New Roman"/>
              </a:rPr>
              <a:t>identified </a:t>
            </a:r>
            <a:r>
              <a:rPr sz="2800" dirty="0">
                <a:latin typeface="Times New Roman"/>
                <a:cs typeface="Times New Roman"/>
              </a:rPr>
              <a:t>by the </a:t>
            </a:r>
            <a:r>
              <a:rPr sz="2800" spc="-5" dirty="0">
                <a:latin typeface="Times New Roman"/>
                <a:cs typeface="Times New Roman"/>
              </a:rPr>
              <a:t>contents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HL</a:t>
            </a:r>
            <a:r>
              <a:rPr sz="2800" spc="-5" dirty="0">
                <a:latin typeface="Times New Roman"/>
                <a:cs typeface="Times New Roman"/>
              </a:rPr>
              <a:t> register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pair.</a:t>
            </a:r>
            <a:endParaRPr sz="2800">
              <a:latin typeface="Times New Roman"/>
              <a:cs typeface="Times New Roman"/>
            </a:endParaRPr>
          </a:p>
          <a:p>
            <a:pPr marL="755650" marR="156210" lvl="1" indent="-285750">
              <a:lnSpc>
                <a:spcPts val="2590"/>
              </a:lnSpc>
              <a:spcBef>
                <a:spcPts val="585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u="heavy" spc="-5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16-bit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u="heavy" spc="-5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contents</a:t>
            </a:r>
            <a:r>
              <a:rPr sz="2400" spc="-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u="heavy" spc="-5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HL</a:t>
            </a:r>
            <a:r>
              <a:rPr sz="2400" u="heavy" spc="-10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heavy" spc="-5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register</a:t>
            </a:r>
            <a:r>
              <a:rPr sz="2400" u="heavy" spc="-10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heavy" spc="-5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pair</a:t>
            </a:r>
            <a:r>
              <a:rPr sz="2400" spc="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are</a:t>
            </a:r>
            <a:r>
              <a:rPr sz="240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u="heavy" spc="-5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treated </a:t>
            </a:r>
            <a:r>
              <a:rPr sz="2400" spc="-58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as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u="heavy" spc="-5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16-bit address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 </a:t>
            </a:r>
            <a:r>
              <a:rPr sz="2400" spc="-5" dirty="0">
                <a:latin typeface="Times New Roman"/>
                <a:cs typeface="Times New Roman"/>
              </a:rPr>
              <a:t>used to identify the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u="heavy" spc="-5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memory </a:t>
            </a:r>
            <a:r>
              <a:rPr sz="240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u="heavy" spc="-5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location</a:t>
            </a:r>
            <a:r>
              <a:rPr sz="2400" spc="-5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0088" y="821690"/>
            <a:ext cx="6701155" cy="681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spc="-5" dirty="0"/>
              <a:t>Using</a:t>
            </a:r>
            <a:r>
              <a:rPr sz="4300" spc="-10" dirty="0"/>
              <a:t> </a:t>
            </a:r>
            <a:r>
              <a:rPr sz="4300" spc="-5" dirty="0"/>
              <a:t>the</a:t>
            </a:r>
            <a:r>
              <a:rPr sz="4300" spc="5" dirty="0"/>
              <a:t> </a:t>
            </a:r>
            <a:r>
              <a:rPr sz="4300" spc="-5" dirty="0"/>
              <a:t>Other</a:t>
            </a:r>
            <a:r>
              <a:rPr sz="4300" spc="5" dirty="0"/>
              <a:t> </a:t>
            </a:r>
            <a:r>
              <a:rPr sz="4300" spc="-5" dirty="0"/>
              <a:t>Register</a:t>
            </a:r>
            <a:r>
              <a:rPr sz="4300" spc="15" dirty="0"/>
              <a:t> </a:t>
            </a:r>
            <a:r>
              <a:rPr sz="4300" spc="-5" dirty="0"/>
              <a:t>Pairs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764540" y="2002027"/>
            <a:ext cx="7517765" cy="3632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1430" indent="-342900">
              <a:lnSpc>
                <a:spcPct val="100000"/>
              </a:lnSpc>
              <a:spcBef>
                <a:spcPts val="100"/>
              </a:spcBef>
              <a:buChar char="–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There </a:t>
            </a:r>
            <a:r>
              <a:rPr sz="2800" dirty="0">
                <a:latin typeface="Times New Roman"/>
                <a:cs typeface="Times New Roman"/>
              </a:rPr>
              <a:t>is </a:t>
            </a:r>
            <a:r>
              <a:rPr sz="2800" spc="-5" dirty="0">
                <a:latin typeface="Times New Roman"/>
                <a:cs typeface="Times New Roman"/>
              </a:rPr>
              <a:t>also an instruction </a:t>
            </a:r>
            <a:r>
              <a:rPr sz="2800" dirty="0">
                <a:latin typeface="Times New Roman"/>
                <a:cs typeface="Times New Roman"/>
              </a:rPr>
              <a:t>for moving </a:t>
            </a:r>
            <a:r>
              <a:rPr sz="2800" spc="-5" dirty="0">
                <a:latin typeface="Times New Roman"/>
                <a:cs typeface="Times New Roman"/>
              </a:rPr>
              <a:t>data </a:t>
            </a:r>
            <a:r>
              <a:rPr sz="2800" dirty="0">
                <a:latin typeface="Times New Roman"/>
                <a:cs typeface="Times New Roman"/>
              </a:rPr>
              <a:t>from 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memory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u="heavy" spc="-5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accumulator</a:t>
            </a:r>
            <a:r>
              <a:rPr sz="2800" spc="-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without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disturbing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contents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</a:t>
            </a:r>
            <a:r>
              <a:rPr sz="2800" spc="-5" dirty="0">
                <a:latin typeface="Times New Roman"/>
                <a:cs typeface="Times New Roman"/>
              </a:rPr>
              <a:t> register.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Times New Roman"/>
              <a:buChar char="–"/>
            </a:pPr>
            <a:endParaRPr sz="2900">
              <a:latin typeface="Times New Roman"/>
              <a:cs typeface="Times New Roman"/>
            </a:endParaRPr>
          </a:p>
          <a:p>
            <a:pPr marL="1155700" lvl="1" indent="-229235">
              <a:lnSpc>
                <a:spcPct val="100000"/>
              </a:lnSpc>
              <a:buFont typeface="Times New Roman"/>
              <a:buChar char="•"/>
              <a:tabLst>
                <a:tab pos="1155065" algn="l"/>
                <a:tab pos="1155700" algn="l"/>
                <a:tab pos="3847465" algn="l"/>
              </a:tabLst>
            </a:pPr>
            <a:r>
              <a:rPr sz="2000" b="1" spc="-5" dirty="0">
                <a:latin typeface="Times New Roman"/>
                <a:cs typeface="Times New Roman"/>
              </a:rPr>
              <a:t>LDAX</a:t>
            </a:r>
            <a:r>
              <a:rPr sz="2000" b="1" spc="15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Rp	</a:t>
            </a:r>
            <a:r>
              <a:rPr sz="2000" spc="-5" dirty="0">
                <a:latin typeface="Times New Roman"/>
                <a:cs typeface="Times New Roman"/>
              </a:rPr>
              <a:t>(</a:t>
            </a:r>
            <a:r>
              <a:rPr sz="2000" u="sng" spc="-5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L</a:t>
            </a:r>
            <a:r>
              <a:rPr sz="2000" spc="-5" dirty="0">
                <a:latin typeface="Times New Roman"/>
                <a:cs typeface="Times New Roman"/>
              </a:rPr>
              <a:t>oa</a:t>
            </a:r>
            <a:r>
              <a:rPr sz="2000" u="sng" spc="-5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D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u="sng" spc="-5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ccumulator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</a:t>
            </a:r>
            <a:r>
              <a:rPr sz="2000" u="sng" spc="-5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X</a:t>
            </a:r>
            <a:r>
              <a:rPr sz="2000" spc="-5" dirty="0">
                <a:latin typeface="Times New Roman"/>
                <a:cs typeface="Times New Roman"/>
              </a:rPr>
              <a:t>tended)</a:t>
            </a:r>
            <a:endParaRPr sz="20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Font typeface="Times New Roman"/>
              <a:buChar char="•"/>
            </a:pPr>
            <a:endParaRPr sz="2600">
              <a:latin typeface="Times New Roman"/>
              <a:cs typeface="Times New Roman"/>
            </a:endParaRPr>
          </a:p>
          <a:p>
            <a:pPr marL="1612900" marR="5080" lvl="2" indent="-229235">
              <a:lnSpc>
                <a:spcPct val="100000"/>
              </a:lnSpc>
              <a:buChar char="–"/>
              <a:tabLst>
                <a:tab pos="1612900" algn="l"/>
              </a:tabLst>
            </a:pPr>
            <a:r>
              <a:rPr sz="1800" u="sng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Copy</a:t>
            </a:r>
            <a:r>
              <a:rPr sz="1800" spc="-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u="sng" spc="-5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8-bit</a:t>
            </a:r>
            <a:r>
              <a:rPr sz="180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u="sng" spc="-5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contents</a:t>
            </a:r>
            <a:r>
              <a:rPr sz="1800" spc="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u="sng" spc="-5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memory</a:t>
            </a:r>
            <a:r>
              <a:rPr sz="1800" u="sng" spc="5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spc="-5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location</a:t>
            </a:r>
            <a:r>
              <a:rPr sz="1800" spc="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u="sng" spc="-5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identified</a:t>
            </a:r>
            <a:r>
              <a:rPr sz="1800" spc="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by </a:t>
            </a:r>
            <a:r>
              <a:rPr sz="1800" spc="-5" dirty="0">
                <a:latin typeface="Times New Roman"/>
                <a:cs typeface="Times New Roman"/>
              </a:rPr>
              <a:t>the </a:t>
            </a:r>
            <a:r>
              <a:rPr sz="1800" spc="-434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Rp</a:t>
            </a:r>
            <a:r>
              <a:rPr sz="1800" u="sng" spc="-15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spc="-5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register</a:t>
            </a:r>
            <a:r>
              <a:rPr sz="1800" u="sng" spc="5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spc="-5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pair</a:t>
            </a:r>
            <a:r>
              <a:rPr sz="1800" spc="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into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Accumulator.</a:t>
            </a:r>
            <a:endParaRPr sz="1800">
              <a:latin typeface="Times New Roman"/>
              <a:cs typeface="Times New Roman"/>
            </a:endParaRPr>
          </a:p>
          <a:p>
            <a:pPr marL="1612900" lvl="2" indent="-229235">
              <a:lnSpc>
                <a:spcPct val="100000"/>
              </a:lnSpc>
              <a:spcBef>
                <a:spcPts val="430"/>
              </a:spcBef>
              <a:buChar char="–"/>
              <a:tabLst>
                <a:tab pos="1612900" algn="l"/>
              </a:tabLst>
            </a:pPr>
            <a:r>
              <a:rPr sz="1800" spc="-5" dirty="0">
                <a:latin typeface="Times New Roman"/>
                <a:cs typeface="Times New Roman"/>
              </a:rPr>
              <a:t>This instruction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only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uses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 </a:t>
            </a:r>
            <a:r>
              <a:rPr sz="1800" b="1" spc="-5" dirty="0">
                <a:latin typeface="Times New Roman"/>
                <a:cs typeface="Times New Roman"/>
              </a:rPr>
              <a:t>BC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or </a:t>
            </a:r>
            <a:r>
              <a:rPr sz="1800" b="1" spc="-5" dirty="0">
                <a:latin typeface="Times New Roman"/>
                <a:cs typeface="Times New Roman"/>
              </a:rPr>
              <a:t>DE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pair.</a:t>
            </a:r>
            <a:endParaRPr sz="1800">
              <a:latin typeface="Times New Roman"/>
              <a:cs typeface="Times New Roman"/>
            </a:endParaRPr>
          </a:p>
          <a:p>
            <a:pPr marL="1612265" lvl="2" indent="-229235">
              <a:lnSpc>
                <a:spcPct val="100000"/>
              </a:lnSpc>
              <a:spcBef>
                <a:spcPts val="434"/>
              </a:spcBef>
              <a:buChar char="–"/>
              <a:tabLst>
                <a:tab pos="1612900" algn="l"/>
              </a:tabLst>
            </a:pPr>
            <a:r>
              <a:rPr sz="1800" dirty="0">
                <a:latin typeface="Times New Roman"/>
                <a:cs typeface="Times New Roman"/>
              </a:rPr>
              <a:t>It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does</a:t>
            </a:r>
            <a:r>
              <a:rPr sz="1800" dirty="0">
                <a:latin typeface="Times New Roman"/>
                <a:cs typeface="Times New Roman"/>
              </a:rPr>
              <a:t> not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accept the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HL </a:t>
            </a:r>
            <a:r>
              <a:rPr sz="1800" spc="-5" dirty="0">
                <a:latin typeface="Times New Roman"/>
                <a:cs typeface="Times New Roman"/>
              </a:rPr>
              <a:t>pair.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26997" y="814069"/>
            <a:ext cx="589026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Indirect</a:t>
            </a:r>
            <a:r>
              <a:rPr spc="-25" dirty="0"/>
              <a:t> </a:t>
            </a:r>
            <a:r>
              <a:rPr spc="-5" dirty="0"/>
              <a:t>Addressing</a:t>
            </a:r>
            <a:r>
              <a:rPr spc="-20" dirty="0"/>
              <a:t> </a:t>
            </a:r>
            <a:r>
              <a:rPr spc="-5" dirty="0"/>
              <a:t>Mode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59355"/>
            <a:ext cx="7590155" cy="425767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4965" marR="436880" indent="-342900">
              <a:lnSpc>
                <a:spcPts val="3020"/>
              </a:lnSpc>
              <a:spcBef>
                <a:spcPts val="484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Using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data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memory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directly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(without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loading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first into a </a:t>
            </a:r>
            <a:r>
              <a:rPr sz="2800" spc="-5" dirty="0">
                <a:latin typeface="Times New Roman"/>
                <a:cs typeface="Times New Roman"/>
              </a:rPr>
              <a:t>Microprocessor’s register) </a:t>
            </a:r>
            <a:r>
              <a:rPr sz="2800" dirty="0">
                <a:latin typeface="Times New Roman"/>
                <a:cs typeface="Times New Roman"/>
              </a:rPr>
              <a:t>is </a:t>
            </a:r>
            <a:r>
              <a:rPr sz="2800" spc="-5" dirty="0">
                <a:latin typeface="Times New Roman"/>
                <a:cs typeface="Times New Roman"/>
              </a:rPr>
              <a:t>called 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990000"/>
                </a:solidFill>
                <a:latin typeface="Times New Roman"/>
                <a:cs typeface="Times New Roman"/>
              </a:rPr>
              <a:t>Indirect</a:t>
            </a:r>
            <a:r>
              <a:rPr sz="2800" spc="-3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990000"/>
                </a:solidFill>
                <a:latin typeface="Times New Roman"/>
                <a:cs typeface="Times New Roman"/>
              </a:rPr>
              <a:t>Addressing</a:t>
            </a:r>
            <a:r>
              <a:rPr sz="2800" spc="-5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Times New Roman"/>
              <a:buChar char="•"/>
            </a:pPr>
            <a:endParaRPr sz="285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3020"/>
              </a:lnSpc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Indirect addressing uses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u="heavy" spc="-5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data</a:t>
            </a:r>
            <a:r>
              <a:rPr sz="2800" spc="-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 a</a:t>
            </a:r>
            <a:r>
              <a:rPr sz="280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u="heavy" spc="-5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register pair </a:t>
            </a:r>
            <a:r>
              <a:rPr sz="280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u="heavy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16-bit</a:t>
            </a:r>
            <a:r>
              <a:rPr sz="2800" u="heavy" spc="-25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u="heavy" spc="-5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address</a:t>
            </a:r>
            <a:r>
              <a:rPr sz="2800" spc="-2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u="heavy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identify</a:t>
            </a:r>
            <a:r>
              <a:rPr sz="2800" spc="-2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u="heavy" spc="-5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memory</a:t>
            </a:r>
            <a:r>
              <a:rPr sz="2800" u="heavy" spc="-15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u="heavy" spc="-5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location </a:t>
            </a:r>
            <a:r>
              <a:rPr sz="2800" spc="-68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being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accessed.</a:t>
            </a:r>
            <a:endParaRPr sz="2800">
              <a:latin typeface="Times New Roman"/>
              <a:cs typeface="Times New Roman"/>
            </a:endParaRPr>
          </a:p>
          <a:p>
            <a:pPr marL="755015" marR="54610" lvl="1" indent="-285750">
              <a:lnSpc>
                <a:spcPts val="2590"/>
              </a:lnSpc>
              <a:spcBef>
                <a:spcPts val="590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spc="-5" dirty="0">
                <a:latin typeface="Times New Roman"/>
                <a:cs typeface="Times New Roman"/>
              </a:rPr>
              <a:t>The HL register pair is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u="heavy" spc="-5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always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used in </a:t>
            </a:r>
            <a:r>
              <a:rPr sz="2400" dirty="0">
                <a:latin typeface="Times New Roman"/>
                <a:cs typeface="Times New Roman"/>
              </a:rPr>
              <a:t>conjunction </a:t>
            </a:r>
            <a:r>
              <a:rPr sz="2400" spc="-5" dirty="0">
                <a:latin typeface="Times New Roman"/>
                <a:cs typeface="Times New Roman"/>
              </a:rPr>
              <a:t>with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memory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register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“M”.</a:t>
            </a:r>
            <a:endParaRPr sz="2400">
              <a:latin typeface="Times New Roman"/>
              <a:cs typeface="Times New Roman"/>
            </a:endParaRPr>
          </a:p>
          <a:p>
            <a:pPr marL="755650" marR="225425" lvl="1" indent="-285750">
              <a:lnSpc>
                <a:spcPts val="2590"/>
              </a:lnSpc>
              <a:spcBef>
                <a:spcPts val="580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spc="-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BC and </a:t>
            </a:r>
            <a:r>
              <a:rPr sz="2400" spc="-5" dirty="0">
                <a:latin typeface="Times New Roman"/>
                <a:cs typeface="Times New Roman"/>
              </a:rPr>
              <a:t>DE register pairs </a:t>
            </a:r>
            <a:r>
              <a:rPr sz="2400" dirty="0">
                <a:latin typeface="Times New Roman"/>
                <a:cs typeface="Times New Roman"/>
              </a:rPr>
              <a:t>can be </a:t>
            </a:r>
            <a:r>
              <a:rPr sz="2400" spc="-5" dirty="0">
                <a:latin typeface="Times New Roman"/>
                <a:cs typeface="Times New Roman"/>
              </a:rPr>
              <a:t>used to </a:t>
            </a:r>
            <a:r>
              <a:rPr sz="2400" dirty="0">
                <a:latin typeface="Times New Roman"/>
                <a:cs typeface="Times New Roman"/>
              </a:rPr>
              <a:t>load </a:t>
            </a:r>
            <a:r>
              <a:rPr sz="2400" spc="-5" dirty="0">
                <a:latin typeface="Times New Roman"/>
                <a:cs typeface="Times New Roman"/>
              </a:rPr>
              <a:t>data </a:t>
            </a:r>
            <a:r>
              <a:rPr sz="2400" spc="-59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u="heavy" spc="-5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Accumultor</a:t>
            </a:r>
            <a:r>
              <a:rPr sz="240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using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indirect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addressing.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3748" y="814069"/>
            <a:ext cx="503618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Arithmetic</a:t>
            </a:r>
            <a:r>
              <a:rPr spc="-40" dirty="0"/>
              <a:t> </a:t>
            </a:r>
            <a:r>
              <a:rPr spc="-5"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1739" y="1926336"/>
            <a:ext cx="7030084" cy="406717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298450" indent="-286385">
              <a:lnSpc>
                <a:spcPct val="100000"/>
              </a:lnSpc>
              <a:spcBef>
                <a:spcPts val="420"/>
              </a:spcBef>
              <a:buChar char="–"/>
              <a:tabLst>
                <a:tab pos="298450" algn="l"/>
                <a:tab pos="299085" algn="l"/>
              </a:tabLst>
            </a:pPr>
            <a:r>
              <a:rPr sz="2400" spc="-5" dirty="0">
                <a:latin typeface="Times New Roman"/>
                <a:cs typeface="Times New Roman"/>
              </a:rPr>
              <a:t>Addition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(ADD,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ADI):</a:t>
            </a:r>
            <a:endParaRPr sz="2400">
              <a:latin typeface="Times New Roman"/>
              <a:cs typeface="Times New Roman"/>
            </a:endParaRPr>
          </a:p>
          <a:p>
            <a:pPr marL="1155700" lvl="1" indent="-229235">
              <a:lnSpc>
                <a:spcPct val="100000"/>
              </a:lnSpc>
              <a:spcBef>
                <a:spcPts val="240"/>
              </a:spcBef>
              <a:buChar char="–"/>
              <a:tabLst>
                <a:tab pos="1155700" algn="l"/>
              </a:tabLst>
            </a:pPr>
            <a:r>
              <a:rPr sz="1800" spc="-5" dirty="0">
                <a:latin typeface="Times New Roman"/>
                <a:cs typeface="Times New Roman"/>
              </a:rPr>
              <a:t>Any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8-bit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number.</a:t>
            </a:r>
            <a:endParaRPr sz="1800">
              <a:latin typeface="Times New Roman"/>
              <a:cs typeface="Times New Roman"/>
            </a:endParaRPr>
          </a:p>
          <a:p>
            <a:pPr marL="1155700" lvl="1" indent="-229235">
              <a:lnSpc>
                <a:spcPct val="100000"/>
              </a:lnSpc>
              <a:spcBef>
                <a:spcPts val="215"/>
              </a:spcBef>
              <a:buChar char="–"/>
              <a:tabLst>
                <a:tab pos="1155700" algn="l"/>
              </a:tabLst>
            </a:pP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contents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register.</a:t>
            </a:r>
            <a:endParaRPr sz="1800">
              <a:latin typeface="Times New Roman"/>
              <a:cs typeface="Times New Roman"/>
            </a:endParaRPr>
          </a:p>
          <a:p>
            <a:pPr marL="1155700" lvl="1" indent="-229235">
              <a:lnSpc>
                <a:spcPct val="100000"/>
              </a:lnSpc>
              <a:spcBef>
                <a:spcPts val="215"/>
              </a:spcBef>
              <a:buChar char="–"/>
              <a:tabLst>
                <a:tab pos="1155700" algn="l"/>
              </a:tabLst>
            </a:pP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contents</a:t>
            </a:r>
            <a:r>
              <a:rPr sz="1800" dirty="0">
                <a:latin typeface="Times New Roman"/>
                <a:cs typeface="Times New Roman"/>
              </a:rPr>
              <a:t> of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memory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location.</a:t>
            </a:r>
            <a:endParaRPr sz="1800">
              <a:latin typeface="Times New Roman"/>
              <a:cs typeface="Times New Roman"/>
            </a:endParaRPr>
          </a:p>
          <a:p>
            <a:pPr marL="698500" marR="5080" indent="-228600">
              <a:lnSpc>
                <a:spcPts val="2160"/>
              </a:lnSpc>
              <a:spcBef>
                <a:spcPts val="505"/>
              </a:spcBef>
              <a:buChar char="•"/>
              <a:tabLst>
                <a:tab pos="697865" algn="l"/>
                <a:tab pos="698500" algn="l"/>
              </a:tabLst>
            </a:pPr>
            <a:r>
              <a:rPr sz="2000" spc="-5" dirty="0">
                <a:latin typeface="Times New Roman"/>
                <a:cs typeface="Times New Roman"/>
              </a:rPr>
              <a:t>Can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be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added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 contents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of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 accumulator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and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result </a:t>
            </a:r>
            <a:r>
              <a:rPr sz="2000" spc="-484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is</a:t>
            </a:r>
            <a:r>
              <a:rPr sz="2000" spc="-2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stored</a:t>
            </a:r>
            <a:r>
              <a:rPr sz="2000" spc="-2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in</a:t>
            </a:r>
            <a:r>
              <a:rPr sz="2000" spc="-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accumulator</a:t>
            </a:r>
            <a:r>
              <a:rPr sz="200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298450" indent="-286385">
              <a:lnSpc>
                <a:spcPct val="100000"/>
              </a:lnSpc>
              <a:spcBef>
                <a:spcPts val="1825"/>
              </a:spcBef>
              <a:buChar char="–"/>
              <a:tabLst>
                <a:tab pos="298450" algn="l"/>
                <a:tab pos="299085" algn="l"/>
              </a:tabLst>
            </a:pPr>
            <a:r>
              <a:rPr sz="2400" spc="-5" dirty="0">
                <a:latin typeface="Times New Roman"/>
                <a:cs typeface="Times New Roman"/>
              </a:rPr>
              <a:t>Subtraction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(SUB,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SUI):</a:t>
            </a:r>
            <a:endParaRPr sz="2400">
              <a:latin typeface="Times New Roman"/>
              <a:cs typeface="Times New Roman"/>
            </a:endParaRPr>
          </a:p>
          <a:p>
            <a:pPr marL="1155700" lvl="1" indent="-229235">
              <a:lnSpc>
                <a:spcPct val="100000"/>
              </a:lnSpc>
              <a:spcBef>
                <a:spcPts val="240"/>
              </a:spcBef>
              <a:buChar char="–"/>
              <a:tabLst>
                <a:tab pos="1155700" algn="l"/>
              </a:tabLst>
            </a:pPr>
            <a:r>
              <a:rPr sz="1800" spc="-5" dirty="0">
                <a:latin typeface="Times New Roman"/>
                <a:cs typeface="Times New Roman"/>
              </a:rPr>
              <a:t>Any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8-bit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number</a:t>
            </a:r>
            <a:endParaRPr sz="1800">
              <a:latin typeface="Times New Roman"/>
              <a:cs typeface="Times New Roman"/>
            </a:endParaRPr>
          </a:p>
          <a:p>
            <a:pPr marL="1155700" lvl="1" indent="-229235">
              <a:lnSpc>
                <a:spcPct val="100000"/>
              </a:lnSpc>
              <a:spcBef>
                <a:spcPts val="215"/>
              </a:spcBef>
              <a:buChar char="–"/>
              <a:tabLst>
                <a:tab pos="1155700" algn="l"/>
              </a:tabLst>
            </a:pP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contents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register</a:t>
            </a:r>
            <a:endParaRPr sz="1800">
              <a:latin typeface="Times New Roman"/>
              <a:cs typeface="Times New Roman"/>
            </a:endParaRPr>
          </a:p>
          <a:p>
            <a:pPr marL="1155700" lvl="1" indent="-229235">
              <a:lnSpc>
                <a:spcPct val="100000"/>
              </a:lnSpc>
              <a:spcBef>
                <a:spcPts val="215"/>
              </a:spcBef>
              <a:buChar char="–"/>
              <a:tabLst>
                <a:tab pos="1155700" algn="l"/>
              </a:tabLst>
            </a:pP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contents</a:t>
            </a:r>
            <a:r>
              <a:rPr sz="1800" dirty="0">
                <a:latin typeface="Times New Roman"/>
                <a:cs typeface="Times New Roman"/>
              </a:rPr>
              <a:t> of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memory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location</a:t>
            </a:r>
            <a:endParaRPr sz="1800">
              <a:latin typeface="Times New Roman"/>
              <a:cs typeface="Times New Roman"/>
            </a:endParaRPr>
          </a:p>
          <a:p>
            <a:pPr marL="697865" marR="141605" indent="-228600">
              <a:lnSpc>
                <a:spcPts val="2160"/>
              </a:lnSpc>
              <a:spcBef>
                <a:spcPts val="505"/>
              </a:spcBef>
              <a:buChar char="•"/>
              <a:tabLst>
                <a:tab pos="697865" algn="l"/>
                <a:tab pos="698500" algn="l"/>
              </a:tabLst>
            </a:pPr>
            <a:r>
              <a:rPr sz="2000" spc="-5" dirty="0">
                <a:latin typeface="Times New Roman"/>
                <a:cs typeface="Times New Roman"/>
              </a:rPr>
              <a:t>Can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be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subtracted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b="1" u="heavy" spc="-5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from</a:t>
            </a:r>
            <a:r>
              <a:rPr sz="2000" b="1" spc="-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contents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of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 accumulator.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The </a:t>
            </a:r>
            <a:r>
              <a:rPr sz="2000" spc="-484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result</a:t>
            </a:r>
            <a:r>
              <a:rPr sz="2000" spc="-4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is</a:t>
            </a:r>
            <a:r>
              <a:rPr sz="2000" spc="-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stored</a:t>
            </a:r>
            <a:r>
              <a:rPr sz="2000" spc="-2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in</a:t>
            </a:r>
            <a:r>
              <a:rPr sz="2000" spc="-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accumulator</a:t>
            </a:r>
            <a:r>
              <a:rPr sz="200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27020" marR="5080" indent="-275399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Arithmetic Operations Related to </a:t>
            </a:r>
            <a:r>
              <a:rPr spc="-1085" dirty="0"/>
              <a:t> </a:t>
            </a:r>
            <a:r>
              <a:rPr spc="-5" dirty="0"/>
              <a:t>Memory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59355"/>
            <a:ext cx="7578090" cy="474218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marR="5080" indent="-343535">
              <a:lnSpc>
                <a:spcPts val="3020"/>
              </a:lnSpc>
              <a:spcBef>
                <a:spcPts val="484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These instructions </a:t>
            </a:r>
            <a:r>
              <a:rPr sz="2800" dirty="0">
                <a:latin typeface="Times New Roman"/>
                <a:cs typeface="Times New Roman"/>
              </a:rPr>
              <a:t>perform </a:t>
            </a:r>
            <a:r>
              <a:rPr sz="2800" spc="-5" dirty="0">
                <a:latin typeface="Times New Roman"/>
                <a:cs typeface="Times New Roman"/>
              </a:rPr>
              <a:t>an arithmetic operation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using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contents</a:t>
            </a:r>
            <a:r>
              <a:rPr sz="2800" spc="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memory</a:t>
            </a:r>
            <a:r>
              <a:rPr sz="2800" spc="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location</a:t>
            </a:r>
            <a:r>
              <a:rPr sz="2800" spc="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while 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they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are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still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memory.</a:t>
            </a:r>
            <a:endParaRPr sz="28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260"/>
              </a:spcBef>
              <a:buChar char="–"/>
              <a:tabLst>
                <a:tab pos="755650" algn="l"/>
                <a:tab pos="756285" algn="l"/>
                <a:tab pos="1841500" algn="l"/>
              </a:tabLst>
            </a:pPr>
            <a:r>
              <a:rPr sz="2400" spc="-5" dirty="0">
                <a:latin typeface="Times New Roman"/>
                <a:cs typeface="Times New Roman"/>
              </a:rPr>
              <a:t>ADD	M</a:t>
            </a:r>
            <a:endParaRPr sz="2400">
              <a:latin typeface="Times New Roman"/>
              <a:cs typeface="Times New Roman"/>
            </a:endParaRPr>
          </a:p>
          <a:p>
            <a:pPr marL="1155700" lvl="2" indent="-229870">
              <a:lnSpc>
                <a:spcPct val="100000"/>
              </a:lnSpc>
              <a:spcBef>
                <a:spcPts val="259"/>
              </a:spcBef>
              <a:buChar char="•"/>
              <a:tabLst>
                <a:tab pos="1155065" algn="l"/>
                <a:tab pos="1156335" algn="l"/>
              </a:tabLst>
            </a:pPr>
            <a:r>
              <a:rPr sz="2000" spc="-5" dirty="0">
                <a:latin typeface="Times New Roman"/>
                <a:cs typeface="Times New Roman"/>
              </a:rPr>
              <a:t>Add the contents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 to 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Accumulator</a:t>
            </a:r>
            <a:endParaRPr sz="20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270"/>
              </a:spcBef>
              <a:buChar char="–"/>
              <a:tabLst>
                <a:tab pos="755650" algn="l"/>
                <a:tab pos="756285" algn="l"/>
                <a:tab pos="1841500" algn="l"/>
              </a:tabLst>
            </a:pPr>
            <a:r>
              <a:rPr sz="2400" spc="-5" dirty="0">
                <a:latin typeface="Times New Roman"/>
                <a:cs typeface="Times New Roman"/>
              </a:rPr>
              <a:t>SUB	M</a:t>
            </a:r>
            <a:endParaRPr sz="2400">
              <a:latin typeface="Times New Roman"/>
              <a:cs typeface="Times New Roman"/>
            </a:endParaRPr>
          </a:p>
          <a:p>
            <a:pPr marL="1155700" lvl="2" indent="-229870">
              <a:lnSpc>
                <a:spcPct val="100000"/>
              </a:lnSpc>
              <a:spcBef>
                <a:spcPts val="254"/>
              </a:spcBef>
              <a:buChar char="•"/>
              <a:tabLst>
                <a:tab pos="1155065" algn="l"/>
                <a:tab pos="1156335" algn="l"/>
              </a:tabLst>
            </a:pPr>
            <a:r>
              <a:rPr sz="2000" spc="-5" dirty="0">
                <a:latin typeface="Times New Roman"/>
                <a:cs typeface="Times New Roman"/>
              </a:rPr>
              <a:t>Sub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 contents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of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from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 Accumulator</a:t>
            </a:r>
            <a:endParaRPr sz="20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275"/>
              </a:spcBef>
              <a:buChar char="–"/>
              <a:tabLst>
                <a:tab pos="755650" algn="l"/>
                <a:tab pos="756285" algn="l"/>
                <a:tab pos="1841500" algn="l"/>
              </a:tabLst>
            </a:pPr>
            <a:r>
              <a:rPr sz="2400" spc="-5" dirty="0">
                <a:latin typeface="Times New Roman"/>
                <a:cs typeface="Times New Roman"/>
              </a:rPr>
              <a:t>INR	M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/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DCR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</a:t>
            </a:r>
            <a:endParaRPr sz="2400">
              <a:latin typeface="Times New Roman"/>
              <a:cs typeface="Times New Roman"/>
            </a:endParaRPr>
          </a:p>
          <a:p>
            <a:pPr marL="1155700" marR="290830" lvl="2" indent="-229235">
              <a:lnSpc>
                <a:spcPts val="2160"/>
              </a:lnSpc>
              <a:spcBef>
                <a:spcPts val="525"/>
              </a:spcBef>
              <a:buChar char="•"/>
              <a:tabLst>
                <a:tab pos="1155065" algn="l"/>
                <a:tab pos="1156335" algn="l"/>
              </a:tabLst>
            </a:pPr>
            <a:r>
              <a:rPr sz="2000" spc="-5" dirty="0">
                <a:latin typeface="Times New Roman"/>
                <a:cs typeface="Times New Roman"/>
              </a:rPr>
              <a:t>Increment/decrement the contents of the memory location in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place.</a:t>
            </a:r>
            <a:endParaRPr sz="200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10"/>
              </a:spcBef>
              <a:buFont typeface="Times New Roman"/>
              <a:buChar char="•"/>
            </a:pPr>
            <a:endParaRPr sz="2550">
              <a:latin typeface="Times New Roman"/>
              <a:cs typeface="Times New Roman"/>
            </a:endParaRPr>
          </a:p>
          <a:p>
            <a:pPr marL="755650" marR="264795" lvl="1" indent="-286385">
              <a:lnSpc>
                <a:spcPts val="2590"/>
              </a:lnSpc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All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these use the contents </a:t>
            </a:r>
            <a:r>
              <a:rPr sz="2400" dirty="0">
                <a:latin typeface="Times New Roman"/>
                <a:cs typeface="Times New Roman"/>
              </a:rPr>
              <a:t>of the </a:t>
            </a:r>
            <a:r>
              <a:rPr sz="2400" spc="-5" dirty="0">
                <a:latin typeface="Times New Roman"/>
                <a:cs typeface="Times New Roman"/>
              </a:rPr>
              <a:t>HL register pair to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identify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memory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location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being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used.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3748" y="814069"/>
            <a:ext cx="503618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Arithmetic</a:t>
            </a:r>
            <a:r>
              <a:rPr spc="-40" dirty="0"/>
              <a:t> </a:t>
            </a:r>
            <a:r>
              <a:rPr spc="-5"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1739" y="1915199"/>
            <a:ext cx="7033259" cy="215011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785"/>
              </a:spcBef>
              <a:buChar char="–"/>
              <a:tabLst>
                <a:tab pos="298450" algn="l"/>
                <a:tab pos="1915160" algn="l"/>
              </a:tabLst>
            </a:pPr>
            <a:r>
              <a:rPr sz="2800" spc="-5" dirty="0">
                <a:latin typeface="Times New Roman"/>
                <a:cs typeface="Times New Roman"/>
              </a:rPr>
              <a:t>Increment	(INR) and Decrement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(DCR):</a:t>
            </a:r>
            <a:endParaRPr sz="2800">
              <a:latin typeface="Times New Roman"/>
              <a:cs typeface="Times New Roman"/>
            </a:endParaRPr>
          </a:p>
          <a:p>
            <a:pPr marL="698500" marR="5080" lvl="1" indent="-229235">
              <a:lnSpc>
                <a:spcPct val="100000"/>
              </a:lnSpc>
              <a:spcBef>
                <a:spcPts val="585"/>
              </a:spcBef>
              <a:buChar char="•"/>
              <a:tabLst>
                <a:tab pos="698500" algn="l"/>
              </a:tabLst>
            </a:pPr>
            <a:r>
              <a:rPr sz="2400" spc="-5" dirty="0">
                <a:latin typeface="Times New Roman"/>
                <a:cs typeface="Times New Roman"/>
              </a:rPr>
              <a:t>The 8-bit contents </a:t>
            </a:r>
            <a:r>
              <a:rPr sz="2400" dirty="0">
                <a:latin typeface="Times New Roman"/>
                <a:cs typeface="Times New Roman"/>
              </a:rPr>
              <a:t>of any </a:t>
            </a:r>
            <a:r>
              <a:rPr sz="2400" spc="-5" dirty="0">
                <a:latin typeface="Times New Roman"/>
                <a:cs typeface="Times New Roman"/>
              </a:rPr>
              <a:t>memory location </a:t>
            </a:r>
            <a:r>
              <a:rPr sz="2400" dirty="0">
                <a:latin typeface="Times New Roman"/>
                <a:cs typeface="Times New Roman"/>
              </a:rPr>
              <a:t>or any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register </a:t>
            </a:r>
            <a:r>
              <a:rPr sz="2400" dirty="0">
                <a:latin typeface="Times New Roman"/>
                <a:cs typeface="Times New Roman"/>
              </a:rPr>
              <a:t>can be </a:t>
            </a:r>
            <a:r>
              <a:rPr sz="2400" spc="-5" dirty="0">
                <a:latin typeface="Times New Roman"/>
                <a:cs typeface="Times New Roman"/>
              </a:rPr>
              <a:t>directly incremented </a:t>
            </a:r>
            <a:r>
              <a:rPr sz="2400" dirty="0">
                <a:latin typeface="Times New Roman"/>
                <a:cs typeface="Times New Roman"/>
              </a:rPr>
              <a:t>or </a:t>
            </a:r>
            <a:r>
              <a:rPr sz="2400" spc="-5" dirty="0">
                <a:latin typeface="Times New Roman"/>
                <a:cs typeface="Times New Roman"/>
              </a:rPr>
              <a:t>decremented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1.</a:t>
            </a:r>
            <a:endParaRPr sz="2400">
              <a:latin typeface="Times New Roman"/>
              <a:cs typeface="Times New Roman"/>
            </a:endParaRPr>
          </a:p>
          <a:p>
            <a:pPr marL="698500" lvl="1" indent="-229235">
              <a:lnSpc>
                <a:spcPct val="100000"/>
              </a:lnSpc>
              <a:spcBef>
                <a:spcPts val="575"/>
              </a:spcBef>
              <a:buChar char="•"/>
              <a:tabLst>
                <a:tab pos="699135" algn="l"/>
              </a:tabLst>
            </a:pPr>
            <a:r>
              <a:rPr sz="2400" spc="-5" dirty="0">
                <a:latin typeface="Times New Roman"/>
                <a:cs typeface="Times New Roman"/>
              </a:rPr>
              <a:t>No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to disturb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contents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accumulator.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36578" y="814069"/>
            <a:ext cx="547052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Manipulating</a:t>
            </a:r>
            <a:r>
              <a:rPr spc="-50" dirty="0"/>
              <a:t> </a:t>
            </a:r>
            <a:r>
              <a:rPr spc="-5" dirty="0"/>
              <a:t>Addresses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5372" rIns="0" bIns="0" rtlCol="0">
            <a:spAutoFit/>
          </a:bodyPr>
          <a:lstStyle/>
          <a:p>
            <a:pPr marL="354965" marR="7620" indent="-342900" algn="just">
              <a:lnSpc>
                <a:spcPct val="100000"/>
              </a:lnSpc>
              <a:spcBef>
                <a:spcPts val="100"/>
              </a:spcBef>
              <a:buChar char="•"/>
              <a:tabLst>
                <a:tab pos="356235" algn="l"/>
              </a:tabLst>
            </a:pPr>
            <a:r>
              <a:rPr dirty="0"/>
              <a:t>Now </a:t>
            </a:r>
            <a:r>
              <a:rPr spc="-5" dirty="0"/>
              <a:t>that </a:t>
            </a:r>
            <a:r>
              <a:rPr dirty="0"/>
              <a:t>we </a:t>
            </a:r>
            <a:r>
              <a:rPr spc="-5" dirty="0"/>
              <a:t>have </a:t>
            </a:r>
            <a:r>
              <a:rPr dirty="0"/>
              <a:t>a </a:t>
            </a:r>
            <a:r>
              <a:rPr spc="-5" dirty="0"/>
              <a:t>16-bit address </a:t>
            </a:r>
            <a:r>
              <a:rPr dirty="0"/>
              <a:t>in a </a:t>
            </a:r>
            <a:r>
              <a:rPr spc="-5" dirty="0"/>
              <a:t>register </a:t>
            </a:r>
            <a:r>
              <a:rPr dirty="0"/>
              <a:t> </a:t>
            </a:r>
            <a:r>
              <a:rPr spc="-5" dirty="0"/>
              <a:t>pair,</a:t>
            </a:r>
            <a:r>
              <a:rPr spc="-25" dirty="0"/>
              <a:t> </a:t>
            </a:r>
            <a:r>
              <a:rPr dirty="0"/>
              <a:t>how</a:t>
            </a:r>
            <a:r>
              <a:rPr spc="-10" dirty="0"/>
              <a:t> </a:t>
            </a:r>
            <a:r>
              <a:rPr dirty="0"/>
              <a:t>do we</a:t>
            </a:r>
            <a:r>
              <a:rPr spc="-15" dirty="0"/>
              <a:t> </a:t>
            </a:r>
            <a:r>
              <a:rPr spc="-5" dirty="0"/>
              <a:t>manipulate</a:t>
            </a:r>
            <a:r>
              <a:rPr spc="-25" dirty="0"/>
              <a:t> </a:t>
            </a:r>
            <a:r>
              <a:rPr dirty="0"/>
              <a:t>it?</a:t>
            </a:r>
          </a:p>
          <a:p>
            <a:pPr marL="756285" marR="5080" indent="-287020" algn="just">
              <a:lnSpc>
                <a:spcPct val="100000"/>
              </a:lnSpc>
              <a:spcBef>
                <a:spcPts val="585"/>
              </a:spcBef>
            </a:pPr>
            <a:r>
              <a:rPr sz="2400" dirty="0"/>
              <a:t>– </a:t>
            </a:r>
            <a:r>
              <a:rPr sz="2400" spc="-5" dirty="0"/>
              <a:t>It is possible to manipulate </a:t>
            </a:r>
            <a:r>
              <a:rPr sz="2400" dirty="0"/>
              <a:t>a </a:t>
            </a:r>
            <a:r>
              <a:rPr sz="2400" spc="-5" dirty="0"/>
              <a:t>16-bit address stored in </a:t>
            </a:r>
            <a:r>
              <a:rPr sz="2400" dirty="0"/>
              <a:t>a </a:t>
            </a:r>
            <a:r>
              <a:rPr sz="2400" spc="5" dirty="0"/>
              <a:t> </a:t>
            </a:r>
            <a:r>
              <a:rPr sz="2400" spc="-5" dirty="0"/>
              <a:t>register</a:t>
            </a:r>
            <a:r>
              <a:rPr sz="2400" dirty="0"/>
              <a:t> </a:t>
            </a:r>
            <a:r>
              <a:rPr sz="2400" spc="-5" dirty="0"/>
              <a:t>pair</a:t>
            </a:r>
            <a:r>
              <a:rPr sz="2400" dirty="0"/>
              <a:t> </a:t>
            </a:r>
            <a:r>
              <a:rPr sz="2400" spc="-5" dirty="0"/>
              <a:t>as</a:t>
            </a:r>
            <a:r>
              <a:rPr sz="2400" dirty="0"/>
              <a:t> one</a:t>
            </a:r>
            <a:r>
              <a:rPr sz="2400" spc="5" dirty="0"/>
              <a:t> </a:t>
            </a:r>
            <a:r>
              <a:rPr sz="2400" spc="-5" dirty="0"/>
              <a:t>entity</a:t>
            </a:r>
            <a:r>
              <a:rPr sz="2400" dirty="0"/>
              <a:t> </a:t>
            </a:r>
            <a:r>
              <a:rPr sz="2400" spc="-5" dirty="0"/>
              <a:t>using</a:t>
            </a:r>
            <a:r>
              <a:rPr sz="2400" dirty="0"/>
              <a:t> </a:t>
            </a:r>
            <a:r>
              <a:rPr sz="2400" spc="-5" dirty="0"/>
              <a:t>some</a:t>
            </a:r>
            <a:r>
              <a:rPr sz="2400" dirty="0"/>
              <a:t> </a:t>
            </a:r>
            <a:r>
              <a:rPr sz="2400" spc="-10" dirty="0"/>
              <a:t>special </a:t>
            </a:r>
            <a:r>
              <a:rPr sz="2400" spc="-5" dirty="0"/>
              <a:t> instructions.</a:t>
            </a:r>
            <a:endParaRPr sz="2400"/>
          </a:p>
        </p:txBody>
      </p:sp>
      <p:sp>
        <p:nvSpPr>
          <p:cNvPr id="4" name="object 4"/>
          <p:cNvSpPr txBox="1"/>
          <p:nvPr/>
        </p:nvSpPr>
        <p:spPr>
          <a:xfrm>
            <a:off x="1678939" y="4031579"/>
            <a:ext cx="1003300" cy="61087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480"/>
              </a:spcBef>
              <a:buFont typeface="Times New Roman"/>
              <a:buChar char="•"/>
              <a:tabLst>
                <a:tab pos="241300" algn="l"/>
                <a:tab pos="241935" algn="l"/>
              </a:tabLst>
            </a:pPr>
            <a:r>
              <a:rPr sz="1600" b="1" dirty="0">
                <a:latin typeface="Times New Roman"/>
                <a:cs typeface="Times New Roman"/>
              </a:rPr>
              <a:t>INX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Rp</a:t>
            </a:r>
            <a:endParaRPr sz="16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385"/>
              </a:spcBef>
              <a:buFont typeface="Times New Roman"/>
              <a:buChar char="•"/>
              <a:tabLst>
                <a:tab pos="241300" algn="l"/>
                <a:tab pos="241935" algn="l"/>
              </a:tabLst>
            </a:pPr>
            <a:r>
              <a:rPr sz="1600" b="1" dirty="0">
                <a:latin typeface="Times New Roman"/>
                <a:cs typeface="Times New Roman"/>
              </a:rPr>
              <a:t>DCX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Rp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53049" y="4031579"/>
            <a:ext cx="4107179" cy="610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>
              <a:lnSpc>
                <a:spcPct val="120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(Increment </a:t>
            </a:r>
            <a:r>
              <a:rPr sz="1600" spc="-5" dirty="0">
                <a:latin typeface="Times New Roman"/>
                <a:cs typeface="Times New Roman"/>
              </a:rPr>
              <a:t>the </a:t>
            </a:r>
            <a:r>
              <a:rPr sz="1600" dirty="0">
                <a:latin typeface="Times New Roman"/>
                <a:cs typeface="Times New Roman"/>
              </a:rPr>
              <a:t>16-bit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number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register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pair) </a:t>
            </a:r>
            <a:r>
              <a:rPr sz="1600" dirty="0">
                <a:latin typeface="Times New Roman"/>
                <a:cs typeface="Times New Roman"/>
              </a:rPr>
              <a:t> (Decrement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16-bit number</a:t>
            </a:r>
            <a:r>
              <a:rPr sz="1600" spc="-5" dirty="0">
                <a:latin typeface="Times New Roman"/>
                <a:cs typeface="Times New Roman"/>
              </a:rPr>
              <a:t> in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 register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pair)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21739" y="4685792"/>
            <a:ext cx="698436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5080" indent="-286385">
              <a:lnSpc>
                <a:spcPct val="100000"/>
              </a:lnSpc>
              <a:spcBef>
                <a:spcPts val="100"/>
              </a:spcBef>
              <a:tabLst>
                <a:tab pos="298450" algn="l"/>
              </a:tabLst>
            </a:pPr>
            <a:r>
              <a:rPr sz="2400" dirty="0">
                <a:latin typeface="Times New Roman"/>
                <a:cs typeface="Times New Roman"/>
              </a:rPr>
              <a:t>–	</a:t>
            </a:r>
            <a:r>
              <a:rPr sz="2400" spc="-5" dirty="0">
                <a:latin typeface="Times New Roman"/>
                <a:cs typeface="Times New Roman"/>
              </a:rPr>
              <a:t>The register pair is incremented </a:t>
            </a:r>
            <a:r>
              <a:rPr sz="2400" dirty="0">
                <a:latin typeface="Times New Roman"/>
                <a:cs typeface="Times New Roman"/>
              </a:rPr>
              <a:t>or </a:t>
            </a:r>
            <a:r>
              <a:rPr sz="2400" spc="-5" dirty="0">
                <a:latin typeface="Times New Roman"/>
                <a:cs typeface="Times New Roman"/>
              </a:rPr>
              <a:t>decremented as </a:t>
            </a:r>
            <a:r>
              <a:rPr sz="2400" dirty="0">
                <a:latin typeface="Times New Roman"/>
                <a:cs typeface="Times New Roman"/>
              </a:rPr>
              <a:t>one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entity. No </a:t>
            </a:r>
            <a:r>
              <a:rPr sz="2400" dirty="0">
                <a:latin typeface="Times New Roman"/>
                <a:cs typeface="Times New Roman"/>
              </a:rPr>
              <a:t>need </a:t>
            </a:r>
            <a:r>
              <a:rPr sz="2400" spc="-5" dirty="0">
                <a:latin typeface="Times New Roman"/>
                <a:cs typeface="Times New Roman"/>
              </a:rPr>
              <a:t>to worry </a:t>
            </a:r>
            <a:r>
              <a:rPr sz="2400" dirty="0">
                <a:latin typeface="Times New Roman"/>
                <a:cs typeface="Times New Roman"/>
              </a:rPr>
              <a:t>about a </a:t>
            </a:r>
            <a:r>
              <a:rPr sz="2400" spc="-5" dirty="0">
                <a:latin typeface="Times New Roman"/>
                <a:cs typeface="Times New Roman"/>
              </a:rPr>
              <a:t>carry from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lower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8-bits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upper.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 </a:t>
            </a:r>
            <a:r>
              <a:rPr sz="2400" spc="-5" dirty="0">
                <a:latin typeface="Times New Roman"/>
                <a:cs typeface="Times New Roman"/>
              </a:rPr>
              <a:t>taken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care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automatically.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12294" y="0"/>
            <a:ext cx="391922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Logic</a:t>
            </a:r>
            <a:r>
              <a:rPr spc="-65" dirty="0"/>
              <a:t> </a:t>
            </a:r>
            <a:r>
              <a:rPr spc="-5"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808736"/>
            <a:ext cx="8569960" cy="323532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61315" marR="5080" indent="-349250">
              <a:lnSpc>
                <a:spcPts val="3460"/>
              </a:lnSpc>
              <a:spcBef>
                <a:spcPts val="530"/>
              </a:spcBef>
              <a:buChar char="•"/>
              <a:tabLst>
                <a:tab pos="361315" algn="l"/>
                <a:tab pos="361950" algn="l"/>
              </a:tabLst>
            </a:pPr>
            <a:r>
              <a:rPr sz="3200" spc="-5" dirty="0">
                <a:latin typeface="Times New Roman"/>
                <a:cs typeface="Times New Roman"/>
              </a:rPr>
              <a:t>These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instructions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perform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logic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operations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on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contents of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 accumulator.</a:t>
            </a:r>
            <a:endParaRPr sz="3200">
              <a:latin typeface="Times New Roman"/>
              <a:cs typeface="Times New Roman"/>
            </a:endParaRPr>
          </a:p>
          <a:p>
            <a:pPr marL="761365" lvl="1" indent="-286385">
              <a:lnSpc>
                <a:spcPct val="100000"/>
              </a:lnSpc>
              <a:spcBef>
                <a:spcPts val="295"/>
              </a:spcBef>
              <a:buChar char="–"/>
              <a:tabLst>
                <a:tab pos="762000" algn="l"/>
              </a:tabLst>
            </a:pPr>
            <a:r>
              <a:rPr sz="2800" dirty="0">
                <a:latin typeface="Times New Roman"/>
                <a:cs typeface="Times New Roman"/>
              </a:rPr>
              <a:t>ANA,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ANI,</a:t>
            </a:r>
            <a:r>
              <a:rPr sz="2800" spc="-5" dirty="0">
                <a:latin typeface="Times New Roman"/>
                <a:cs typeface="Times New Roman"/>
              </a:rPr>
              <a:t> ORA,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ORI, XRA and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XRI</a:t>
            </a:r>
            <a:endParaRPr sz="2800">
              <a:latin typeface="Times New Roman"/>
              <a:cs typeface="Times New Roman"/>
            </a:endParaRPr>
          </a:p>
          <a:p>
            <a:pPr marL="1155700" lvl="2" indent="-228600">
              <a:lnSpc>
                <a:spcPct val="100000"/>
              </a:lnSpc>
              <a:spcBef>
                <a:spcPts val="295"/>
              </a:spcBef>
              <a:buChar char="•"/>
              <a:tabLst>
                <a:tab pos="1155700" algn="l"/>
              </a:tabLst>
            </a:pPr>
            <a:r>
              <a:rPr sz="2400" spc="-5" dirty="0">
                <a:latin typeface="Times New Roman"/>
                <a:cs typeface="Times New Roman"/>
              </a:rPr>
              <a:t>Source: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Accumulator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endParaRPr sz="2400">
              <a:latin typeface="Times New Roman"/>
              <a:cs typeface="Times New Roman"/>
            </a:endParaRPr>
          </a:p>
          <a:p>
            <a:pPr marL="1612900" lvl="3" indent="-229235">
              <a:lnSpc>
                <a:spcPct val="100000"/>
              </a:lnSpc>
              <a:spcBef>
                <a:spcPts val="259"/>
              </a:spcBef>
              <a:buChar char="–"/>
              <a:tabLst>
                <a:tab pos="1613535" algn="l"/>
              </a:tabLst>
            </a:pPr>
            <a:r>
              <a:rPr sz="2000" spc="-5" dirty="0">
                <a:latin typeface="Times New Roman"/>
                <a:cs typeface="Times New Roman"/>
              </a:rPr>
              <a:t>An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8-bit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number</a:t>
            </a:r>
            <a:endParaRPr sz="2000">
              <a:latin typeface="Times New Roman"/>
              <a:cs typeface="Times New Roman"/>
            </a:endParaRPr>
          </a:p>
          <a:p>
            <a:pPr marL="1612265" lvl="3" indent="-229235">
              <a:lnSpc>
                <a:spcPct val="100000"/>
              </a:lnSpc>
              <a:spcBef>
                <a:spcPts val="240"/>
              </a:spcBef>
              <a:buChar char="–"/>
              <a:tabLst>
                <a:tab pos="1612900" algn="l"/>
              </a:tabLst>
            </a:pP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contents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of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register</a:t>
            </a:r>
            <a:endParaRPr sz="2000">
              <a:latin typeface="Times New Roman"/>
              <a:cs typeface="Times New Roman"/>
            </a:endParaRPr>
          </a:p>
          <a:p>
            <a:pPr marL="1612265" lvl="3" indent="-229235">
              <a:lnSpc>
                <a:spcPct val="100000"/>
              </a:lnSpc>
              <a:spcBef>
                <a:spcPts val="235"/>
              </a:spcBef>
              <a:buChar char="–"/>
              <a:tabLst>
                <a:tab pos="1612900" algn="l"/>
              </a:tabLst>
            </a:pPr>
            <a:r>
              <a:rPr sz="2000" spc="-5" dirty="0">
                <a:latin typeface="Times New Roman"/>
                <a:cs typeface="Times New Roman"/>
              </a:rPr>
              <a:t>The contents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of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 memory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location</a:t>
            </a:r>
            <a:endParaRPr sz="2000">
              <a:latin typeface="Times New Roman"/>
              <a:cs typeface="Times New Roman"/>
            </a:endParaRPr>
          </a:p>
          <a:p>
            <a:pPr marL="1155700" lvl="2" indent="-228600">
              <a:lnSpc>
                <a:spcPct val="100000"/>
              </a:lnSpc>
              <a:spcBef>
                <a:spcPts val="275"/>
              </a:spcBef>
              <a:buChar char="•"/>
              <a:tabLst>
                <a:tab pos="1155700" algn="l"/>
              </a:tabLst>
            </a:pPr>
            <a:r>
              <a:rPr sz="2400" spc="-5" dirty="0">
                <a:latin typeface="Times New Roman"/>
                <a:cs typeface="Times New Roman"/>
              </a:rPr>
              <a:t>Destination: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Accumulator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802889" y="4329852"/>
          <a:ext cx="5988049" cy="1971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6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944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1211">
                <a:tc>
                  <a:txBody>
                    <a:bodyPr/>
                    <a:lstStyle/>
                    <a:p>
                      <a:pPr marL="31750">
                        <a:lnSpc>
                          <a:spcPts val="1635"/>
                        </a:lnSpc>
                      </a:pPr>
                      <a:r>
                        <a:rPr sz="1500" spc="-5" dirty="0">
                          <a:latin typeface="Times New Roman"/>
                          <a:cs typeface="Times New Roman"/>
                        </a:rPr>
                        <a:t>ANA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ts val="1635"/>
                        </a:lnSpc>
                      </a:pPr>
                      <a:r>
                        <a:rPr sz="1500" spc="-5" dirty="0">
                          <a:latin typeface="Times New Roman"/>
                          <a:cs typeface="Times New Roman"/>
                        </a:rPr>
                        <a:t>R/M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81380">
                        <a:lnSpc>
                          <a:spcPts val="1635"/>
                        </a:lnSpc>
                      </a:pPr>
                      <a:r>
                        <a:rPr sz="1500" spc="-5" dirty="0">
                          <a:latin typeface="Times New Roman"/>
                          <a:cs typeface="Times New Roman"/>
                        </a:rPr>
                        <a:t>AND Accumulator</a:t>
                      </a:r>
                      <a:r>
                        <a:rPr sz="15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5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5" dirty="0">
                          <a:latin typeface="Times New Roman"/>
                          <a:cs typeface="Times New Roman"/>
                        </a:rPr>
                        <a:t>Reg/Mem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31750">
                        <a:lnSpc>
                          <a:spcPts val="1795"/>
                        </a:lnSpc>
                      </a:pPr>
                      <a:r>
                        <a:rPr sz="1500" spc="-5" dirty="0">
                          <a:latin typeface="Times New Roman"/>
                          <a:cs typeface="Times New Roman"/>
                        </a:rPr>
                        <a:t>ANI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ts val="1795"/>
                        </a:lnSpc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#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795"/>
                        </a:lnSpc>
                      </a:pPr>
                      <a:r>
                        <a:rPr sz="1500" spc="-5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5" dirty="0">
                          <a:latin typeface="Times New Roman"/>
                          <a:cs typeface="Times New Roman"/>
                        </a:rPr>
                        <a:t>Accumulator</a:t>
                      </a:r>
                      <a:r>
                        <a:rPr sz="15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5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1500" spc="-5" dirty="0">
                          <a:latin typeface="Times New Roman"/>
                          <a:cs typeface="Times New Roman"/>
                        </a:rPr>
                        <a:t> 8-bit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5" dirty="0">
                          <a:latin typeface="Times New Roman"/>
                          <a:cs typeface="Times New Roman"/>
                        </a:rPr>
                        <a:t>number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18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1500" spc="-5" dirty="0">
                          <a:latin typeface="Times New Roman"/>
                          <a:cs typeface="Times New Roman"/>
                        </a:rPr>
                        <a:t>ORA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125095" marB="0"/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1500" spc="-5" dirty="0">
                          <a:latin typeface="Times New Roman"/>
                          <a:cs typeface="Times New Roman"/>
                        </a:rPr>
                        <a:t>R/M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125095" marB="0"/>
                </a:tc>
                <a:tc>
                  <a:txBody>
                    <a:bodyPr/>
                    <a:lstStyle/>
                    <a:p>
                      <a:pPr marL="881380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1500" spc="-5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5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5" dirty="0">
                          <a:latin typeface="Times New Roman"/>
                          <a:cs typeface="Times New Roman"/>
                        </a:rPr>
                        <a:t>Accumulator</a:t>
                      </a:r>
                      <a:r>
                        <a:rPr sz="15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5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5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5" dirty="0">
                          <a:latin typeface="Times New Roman"/>
                          <a:cs typeface="Times New Roman"/>
                        </a:rPr>
                        <a:t>Reg/Mem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12509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189">
                <a:tc>
                  <a:txBody>
                    <a:bodyPr/>
                    <a:lstStyle/>
                    <a:p>
                      <a:pPr marL="31750">
                        <a:lnSpc>
                          <a:spcPts val="1795"/>
                        </a:lnSpc>
                      </a:pPr>
                      <a:r>
                        <a:rPr sz="1500" spc="-5" dirty="0">
                          <a:latin typeface="Times New Roman"/>
                          <a:cs typeface="Times New Roman"/>
                        </a:rPr>
                        <a:t>ORI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ts val="1795"/>
                        </a:lnSpc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#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71219">
                        <a:lnSpc>
                          <a:spcPts val="1795"/>
                        </a:lnSpc>
                      </a:pPr>
                      <a:r>
                        <a:rPr sz="1500" spc="-5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5" dirty="0">
                          <a:latin typeface="Times New Roman"/>
                          <a:cs typeface="Times New Roman"/>
                        </a:rPr>
                        <a:t>Accumulator</a:t>
                      </a:r>
                      <a:r>
                        <a:rPr sz="15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5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1500" spc="-5" dirty="0">
                          <a:latin typeface="Times New Roman"/>
                          <a:cs typeface="Times New Roman"/>
                        </a:rPr>
                        <a:t> 8-bit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5" dirty="0">
                          <a:latin typeface="Times New Roman"/>
                          <a:cs typeface="Times New Roman"/>
                        </a:rPr>
                        <a:t>number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1500" spc="-5" dirty="0">
                          <a:latin typeface="Times New Roman"/>
                          <a:cs typeface="Times New Roman"/>
                        </a:rPr>
                        <a:t>XRA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125095" marB="0"/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1500" spc="-5" dirty="0">
                          <a:latin typeface="Times New Roman"/>
                          <a:cs typeface="Times New Roman"/>
                        </a:rPr>
                        <a:t>R/M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125095" marB="0"/>
                </a:tc>
                <a:tc>
                  <a:txBody>
                    <a:bodyPr/>
                    <a:lstStyle/>
                    <a:p>
                      <a:pPr marL="881380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1500" spc="-5" dirty="0">
                          <a:latin typeface="Times New Roman"/>
                          <a:cs typeface="Times New Roman"/>
                        </a:rPr>
                        <a:t>XOR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5" dirty="0">
                          <a:latin typeface="Times New Roman"/>
                          <a:cs typeface="Times New Roman"/>
                        </a:rPr>
                        <a:t>Accumulator</a:t>
                      </a:r>
                      <a:r>
                        <a:rPr sz="15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5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5" dirty="0">
                          <a:latin typeface="Times New Roman"/>
                          <a:cs typeface="Times New Roman"/>
                        </a:rPr>
                        <a:t>Reg/Mem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12509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1211">
                <a:tc>
                  <a:txBody>
                    <a:bodyPr/>
                    <a:lstStyle/>
                    <a:p>
                      <a:pPr marL="31750">
                        <a:lnSpc>
                          <a:spcPts val="1720"/>
                        </a:lnSpc>
                      </a:pPr>
                      <a:r>
                        <a:rPr sz="1500" spc="-5" dirty="0">
                          <a:latin typeface="Times New Roman"/>
                          <a:cs typeface="Times New Roman"/>
                        </a:rPr>
                        <a:t>XRI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ts val="1720"/>
                        </a:lnSpc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#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ts val="1720"/>
                        </a:lnSpc>
                      </a:pPr>
                      <a:r>
                        <a:rPr sz="1500" spc="-5" dirty="0">
                          <a:latin typeface="Times New Roman"/>
                          <a:cs typeface="Times New Roman"/>
                        </a:rPr>
                        <a:t>XOR Accumulator</a:t>
                      </a:r>
                      <a:r>
                        <a:rPr sz="15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5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1500" spc="-5" dirty="0">
                          <a:latin typeface="Times New Roman"/>
                          <a:cs typeface="Times New Roman"/>
                        </a:rPr>
                        <a:t> 8-bit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5" dirty="0">
                          <a:latin typeface="Times New Roman"/>
                          <a:cs typeface="Times New Roman"/>
                        </a:rPr>
                        <a:t>number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12294" y="814069"/>
            <a:ext cx="391922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Logic</a:t>
            </a:r>
            <a:r>
              <a:rPr spc="-65" dirty="0"/>
              <a:t> </a:t>
            </a:r>
            <a:r>
              <a:rPr spc="-5"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1739" y="1915199"/>
            <a:ext cx="6965315" cy="127635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785"/>
              </a:spcBef>
              <a:buChar char="–"/>
              <a:tabLst>
                <a:tab pos="298450" algn="l"/>
              </a:tabLst>
            </a:pPr>
            <a:r>
              <a:rPr sz="2800" spc="-5" dirty="0">
                <a:latin typeface="Times New Roman"/>
                <a:cs typeface="Times New Roman"/>
              </a:rPr>
              <a:t>Complement:</a:t>
            </a:r>
            <a:endParaRPr sz="2800">
              <a:latin typeface="Times New Roman"/>
              <a:cs typeface="Times New Roman"/>
            </a:endParaRPr>
          </a:p>
          <a:p>
            <a:pPr marL="698500" lvl="1" indent="-229235">
              <a:lnSpc>
                <a:spcPct val="100000"/>
              </a:lnSpc>
              <a:spcBef>
                <a:spcPts val="585"/>
              </a:spcBef>
              <a:buChar char="•"/>
              <a:tabLst>
                <a:tab pos="698500" algn="l"/>
              </a:tabLst>
            </a:pPr>
            <a:r>
              <a:rPr sz="2400" spc="-5" dirty="0">
                <a:latin typeface="Times New Roman"/>
                <a:cs typeface="Times New Roman"/>
              </a:rPr>
              <a:t>1’s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complement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contents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accumulator.</a:t>
            </a:r>
            <a:endParaRPr sz="2400">
              <a:latin typeface="Times New Roman"/>
              <a:cs typeface="Times New Roman"/>
            </a:endParaRPr>
          </a:p>
          <a:p>
            <a:pPr marL="1210945">
              <a:lnSpc>
                <a:spcPct val="100000"/>
              </a:lnSpc>
              <a:spcBef>
                <a:spcPts val="415"/>
              </a:spcBef>
              <a:tabLst>
                <a:tab pos="2132965" algn="l"/>
              </a:tabLst>
            </a:pPr>
            <a:r>
              <a:rPr sz="1600" spc="-5" dirty="0">
                <a:latin typeface="Times New Roman"/>
                <a:cs typeface="Times New Roman"/>
              </a:rPr>
              <a:t>CMA	</a:t>
            </a:r>
            <a:r>
              <a:rPr sz="1600" dirty="0">
                <a:latin typeface="Times New Roman"/>
                <a:cs typeface="Times New Roman"/>
              </a:rPr>
              <a:t>No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operand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46612" y="814069"/>
            <a:ext cx="64496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Additional</a:t>
            </a:r>
            <a:r>
              <a:rPr spc="-20" dirty="0"/>
              <a:t> </a:t>
            </a:r>
            <a:r>
              <a:rPr spc="-5" dirty="0"/>
              <a:t>Logic</a:t>
            </a:r>
            <a:r>
              <a:rPr spc="-10" dirty="0"/>
              <a:t> </a:t>
            </a:r>
            <a:r>
              <a:rPr spc="-5"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00946"/>
            <a:ext cx="7011034" cy="141922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508000" indent="-495934">
              <a:lnSpc>
                <a:spcPct val="100000"/>
              </a:lnSpc>
              <a:spcBef>
                <a:spcPts val="495"/>
              </a:spcBef>
              <a:buChar char="•"/>
              <a:tabLst>
                <a:tab pos="508000" algn="l"/>
                <a:tab pos="508634" algn="l"/>
              </a:tabLst>
            </a:pPr>
            <a:r>
              <a:rPr sz="3200" spc="-5" dirty="0">
                <a:latin typeface="Times New Roman"/>
                <a:cs typeface="Times New Roman"/>
              </a:rPr>
              <a:t>Rotate</a:t>
            </a:r>
            <a:endParaRPr sz="3200">
              <a:latin typeface="Times New Roman"/>
              <a:cs typeface="Times New Roman"/>
            </a:endParaRPr>
          </a:p>
          <a:p>
            <a:pPr marL="927100" marR="5080" indent="-457834">
              <a:lnSpc>
                <a:spcPts val="3020"/>
              </a:lnSpc>
              <a:spcBef>
                <a:spcPts val="735"/>
              </a:spcBef>
              <a:tabLst>
                <a:tab pos="927100" algn="l"/>
              </a:tabLst>
            </a:pPr>
            <a:r>
              <a:rPr sz="2800" dirty="0">
                <a:latin typeface="Times New Roman"/>
                <a:cs typeface="Times New Roman"/>
              </a:rPr>
              <a:t>–	</a:t>
            </a:r>
            <a:r>
              <a:rPr sz="2800" spc="-5" dirty="0">
                <a:latin typeface="Times New Roman"/>
                <a:cs typeface="Times New Roman"/>
              </a:rPr>
              <a:t>Rotate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contents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accumulator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one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position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left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right.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36139" y="3328669"/>
            <a:ext cx="889635" cy="2159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har char="–"/>
              <a:tabLst>
                <a:tab pos="354965" algn="l"/>
                <a:tab pos="355600" algn="l"/>
              </a:tabLst>
            </a:pPr>
            <a:r>
              <a:rPr sz="2000" spc="-5" dirty="0">
                <a:latin typeface="Times New Roman"/>
                <a:cs typeface="Times New Roman"/>
              </a:rPr>
              <a:t>RLC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Times New Roman"/>
              <a:buChar char="–"/>
            </a:pPr>
            <a:endParaRPr sz="2050">
              <a:latin typeface="Times New Roman"/>
              <a:cs typeface="Times New Roman"/>
            </a:endParaRPr>
          </a:p>
          <a:p>
            <a:pPr marL="354965" indent="-342900">
              <a:lnSpc>
                <a:spcPct val="100000"/>
              </a:lnSpc>
              <a:buChar char="–"/>
              <a:tabLst>
                <a:tab pos="354965" algn="l"/>
                <a:tab pos="355600" algn="l"/>
              </a:tabLst>
            </a:pPr>
            <a:r>
              <a:rPr sz="2000" spc="-5" dirty="0">
                <a:latin typeface="Times New Roman"/>
                <a:cs typeface="Times New Roman"/>
              </a:rPr>
              <a:t>RAL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Times New Roman"/>
              <a:buChar char="–"/>
            </a:pPr>
            <a:endParaRPr sz="20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har char="–"/>
              <a:tabLst>
                <a:tab pos="354965" algn="l"/>
                <a:tab pos="355600" algn="l"/>
              </a:tabLst>
            </a:pPr>
            <a:r>
              <a:rPr sz="2000" spc="-5" dirty="0">
                <a:latin typeface="Times New Roman"/>
                <a:cs typeface="Times New Roman"/>
              </a:rPr>
              <a:t>RRC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Times New Roman"/>
              <a:buChar char="–"/>
            </a:pPr>
            <a:endParaRPr sz="2050">
              <a:latin typeface="Times New Roman"/>
              <a:cs typeface="Times New Roman"/>
            </a:endParaRPr>
          </a:p>
          <a:p>
            <a:pPr marL="354965" indent="-342900">
              <a:lnSpc>
                <a:spcPct val="100000"/>
              </a:lnSpc>
              <a:buChar char="–"/>
              <a:tabLst>
                <a:tab pos="354965" algn="l"/>
                <a:tab pos="355600" algn="l"/>
              </a:tabLst>
            </a:pPr>
            <a:r>
              <a:rPr sz="2000" spc="-5" dirty="0">
                <a:latin typeface="Times New Roman"/>
                <a:cs typeface="Times New Roman"/>
              </a:rPr>
              <a:t>R</a:t>
            </a:r>
            <a:r>
              <a:rPr sz="2000" spc="-10" dirty="0">
                <a:latin typeface="Times New Roman"/>
                <a:cs typeface="Times New Roman"/>
              </a:rPr>
              <a:t>AR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07637" y="3328669"/>
            <a:ext cx="4787900" cy="2433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280"/>
              </a:lnSpc>
              <a:spcBef>
                <a:spcPts val="95"/>
              </a:spcBef>
            </a:pPr>
            <a:r>
              <a:rPr sz="2000" spc="-5" dirty="0">
                <a:latin typeface="Times New Roman"/>
                <a:cs typeface="Times New Roman"/>
              </a:rPr>
              <a:t>Rotate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accumulator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left.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280"/>
              </a:lnSpc>
            </a:pPr>
            <a:r>
              <a:rPr sz="2000" spc="-5" dirty="0">
                <a:latin typeface="Times New Roman"/>
                <a:cs typeface="Times New Roman"/>
              </a:rPr>
              <a:t>Bit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7 goes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bit</a:t>
            </a:r>
            <a:r>
              <a:rPr sz="2000" spc="-2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0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u="sng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AND</a:t>
            </a:r>
            <a:r>
              <a:rPr sz="2000" spc="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Carry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flag</a:t>
            </a:r>
            <a:r>
              <a:rPr sz="200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12700" marR="133985">
              <a:lnSpc>
                <a:spcPts val="2160"/>
              </a:lnSpc>
              <a:spcBef>
                <a:spcPts val="515"/>
              </a:spcBef>
            </a:pPr>
            <a:r>
              <a:rPr sz="2000" spc="-5" dirty="0">
                <a:latin typeface="Times New Roman"/>
                <a:cs typeface="Times New Roman"/>
              </a:rPr>
              <a:t>Rotate the accumulator left through the carry.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Bit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7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goes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the carry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and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carry </a:t>
            </a:r>
            <a:r>
              <a:rPr sz="2000" spc="-5" dirty="0">
                <a:latin typeface="Times New Roman"/>
                <a:cs typeface="Times New Roman"/>
              </a:rPr>
              <a:t>goes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bit</a:t>
            </a:r>
            <a:r>
              <a:rPr sz="2000" spc="-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0</a:t>
            </a:r>
            <a:r>
              <a:rPr sz="200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280"/>
              </a:lnSpc>
              <a:spcBef>
                <a:spcPts val="204"/>
              </a:spcBef>
            </a:pPr>
            <a:r>
              <a:rPr sz="2000" spc="-5" dirty="0">
                <a:latin typeface="Times New Roman"/>
                <a:cs typeface="Times New Roman"/>
              </a:rPr>
              <a:t>Rotate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accumulator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right.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280"/>
              </a:lnSpc>
            </a:pPr>
            <a:r>
              <a:rPr sz="2000" spc="-5" dirty="0">
                <a:latin typeface="Times New Roman"/>
                <a:cs typeface="Times New Roman"/>
              </a:rPr>
              <a:t>Bit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0 goes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bit</a:t>
            </a:r>
            <a:r>
              <a:rPr sz="2000" spc="-2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7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u="sng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AND</a:t>
            </a:r>
            <a:r>
              <a:rPr sz="2000" spc="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Carry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flag</a:t>
            </a:r>
            <a:r>
              <a:rPr sz="200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ts val="2160"/>
              </a:lnSpc>
              <a:spcBef>
                <a:spcPts val="515"/>
              </a:spcBef>
            </a:pPr>
            <a:r>
              <a:rPr sz="2000" spc="-5" dirty="0">
                <a:latin typeface="Times New Roman"/>
                <a:cs typeface="Times New Roman"/>
              </a:rPr>
              <a:t>Rotate the accumulator right through the carry.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Bit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0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goes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the carry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and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carry </a:t>
            </a:r>
            <a:r>
              <a:rPr sz="2000" spc="-5" dirty="0">
                <a:latin typeface="Times New Roman"/>
                <a:cs typeface="Times New Roman"/>
              </a:rPr>
              <a:t>goes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bit</a:t>
            </a:r>
            <a:r>
              <a:rPr sz="2000" spc="-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7</a:t>
            </a:r>
            <a:r>
              <a:rPr sz="200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99358" y="814069"/>
            <a:ext cx="314579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RLC</a:t>
            </a:r>
            <a:r>
              <a:rPr spc="-40" dirty="0"/>
              <a:t> </a:t>
            </a:r>
            <a:r>
              <a:rPr spc="-5" dirty="0"/>
              <a:t>vs.</a:t>
            </a:r>
            <a:r>
              <a:rPr spc="-35" dirty="0"/>
              <a:t> </a:t>
            </a:r>
            <a:r>
              <a:rPr spc="-5" dirty="0"/>
              <a:t>RLA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2000504"/>
            <a:ext cx="115951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RLC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4926584"/>
            <a:ext cx="11811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RAL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584424" y="1663700"/>
            <a:ext cx="3810000" cy="1433830"/>
            <a:chOff x="2584424" y="1663700"/>
            <a:chExt cx="3810000" cy="1433830"/>
          </a:xfrm>
        </p:grpSpPr>
        <p:sp>
          <p:nvSpPr>
            <p:cNvPr id="6" name="object 6"/>
            <p:cNvSpPr/>
            <p:nvPr/>
          </p:nvSpPr>
          <p:spPr>
            <a:xfrm>
              <a:off x="4457700" y="1670050"/>
              <a:ext cx="319405" cy="354330"/>
            </a:xfrm>
            <a:custGeom>
              <a:avLst/>
              <a:gdLst/>
              <a:ahLst/>
              <a:cxnLst/>
              <a:rect l="l" t="t" r="r" b="b"/>
              <a:pathLst>
                <a:path w="319404" h="354330">
                  <a:moveTo>
                    <a:pt x="319087" y="0"/>
                  </a:moveTo>
                  <a:lnTo>
                    <a:pt x="0" y="0"/>
                  </a:lnTo>
                  <a:lnTo>
                    <a:pt x="0" y="354012"/>
                  </a:lnTo>
                  <a:lnTo>
                    <a:pt x="319087" y="354012"/>
                  </a:lnTo>
                  <a:lnTo>
                    <a:pt x="319087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57700" y="1670050"/>
              <a:ext cx="319405" cy="354330"/>
            </a:xfrm>
            <a:custGeom>
              <a:avLst/>
              <a:gdLst/>
              <a:ahLst/>
              <a:cxnLst/>
              <a:rect l="l" t="t" r="r" b="b"/>
              <a:pathLst>
                <a:path w="319404" h="354330">
                  <a:moveTo>
                    <a:pt x="0" y="0"/>
                  </a:moveTo>
                  <a:lnTo>
                    <a:pt x="319087" y="0"/>
                  </a:lnTo>
                  <a:lnTo>
                    <a:pt x="319087" y="354012"/>
                  </a:lnTo>
                  <a:lnTo>
                    <a:pt x="0" y="354012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62300" y="2744787"/>
              <a:ext cx="2984500" cy="352425"/>
            </a:xfrm>
            <a:custGeom>
              <a:avLst/>
              <a:gdLst/>
              <a:ahLst/>
              <a:cxnLst/>
              <a:rect l="l" t="t" r="r" b="b"/>
              <a:pathLst>
                <a:path w="2984500" h="352425">
                  <a:moveTo>
                    <a:pt x="2984500" y="0"/>
                  </a:moveTo>
                  <a:lnTo>
                    <a:pt x="0" y="0"/>
                  </a:lnTo>
                  <a:lnTo>
                    <a:pt x="0" y="352425"/>
                  </a:lnTo>
                  <a:lnTo>
                    <a:pt x="2984500" y="352425"/>
                  </a:lnTo>
                  <a:lnTo>
                    <a:pt x="2984500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03474" y="1848827"/>
              <a:ext cx="1757045" cy="1072515"/>
            </a:xfrm>
            <a:custGeom>
              <a:avLst/>
              <a:gdLst/>
              <a:ahLst/>
              <a:cxnLst/>
              <a:rect l="l" t="t" r="r" b="b"/>
              <a:pathLst>
                <a:path w="1757045" h="1072514">
                  <a:moveTo>
                    <a:pt x="558825" y="1072172"/>
                  </a:moveTo>
                  <a:lnTo>
                    <a:pt x="512304" y="1069733"/>
                  </a:lnTo>
                  <a:lnTo>
                    <a:pt x="466071" y="1062603"/>
                  </a:lnTo>
                  <a:lnTo>
                    <a:pt x="420412" y="1051056"/>
                  </a:lnTo>
                  <a:lnTo>
                    <a:pt x="375616" y="1035369"/>
                  </a:lnTo>
                  <a:lnTo>
                    <a:pt x="331970" y="1015818"/>
                  </a:lnTo>
                  <a:lnTo>
                    <a:pt x="289761" y="992679"/>
                  </a:lnTo>
                  <a:lnTo>
                    <a:pt x="249277" y="966227"/>
                  </a:lnTo>
                  <a:lnTo>
                    <a:pt x="210805" y="936740"/>
                  </a:lnTo>
                  <a:lnTo>
                    <a:pt x="174632" y="904492"/>
                  </a:lnTo>
                  <a:lnTo>
                    <a:pt x="141047" y="869760"/>
                  </a:lnTo>
                  <a:lnTo>
                    <a:pt x="110337" y="832820"/>
                  </a:lnTo>
                  <a:lnTo>
                    <a:pt x="82788" y="793948"/>
                  </a:lnTo>
                  <a:lnTo>
                    <a:pt x="58690" y="753419"/>
                  </a:lnTo>
                  <a:lnTo>
                    <a:pt x="38328" y="711511"/>
                  </a:lnTo>
                  <a:lnTo>
                    <a:pt x="21990" y="668498"/>
                  </a:lnTo>
                  <a:lnTo>
                    <a:pt x="9965" y="624658"/>
                  </a:lnTo>
                  <a:lnTo>
                    <a:pt x="2539" y="580265"/>
                  </a:lnTo>
                  <a:lnTo>
                    <a:pt x="0" y="535597"/>
                  </a:lnTo>
                  <a:lnTo>
                    <a:pt x="1605" y="516183"/>
                  </a:lnTo>
                  <a:lnTo>
                    <a:pt x="14217" y="477446"/>
                  </a:lnTo>
                  <a:lnTo>
                    <a:pt x="38842" y="438980"/>
                  </a:lnTo>
                  <a:lnTo>
                    <a:pt x="74855" y="400966"/>
                  </a:lnTo>
                  <a:lnTo>
                    <a:pt x="121632" y="363585"/>
                  </a:lnTo>
                  <a:lnTo>
                    <a:pt x="178547" y="327019"/>
                  </a:lnTo>
                  <a:lnTo>
                    <a:pt x="244976" y="291447"/>
                  </a:lnTo>
                  <a:lnTo>
                    <a:pt x="281562" y="274090"/>
                  </a:lnTo>
                  <a:lnTo>
                    <a:pt x="320293" y="257050"/>
                  </a:lnTo>
                  <a:lnTo>
                    <a:pt x="361090" y="240349"/>
                  </a:lnTo>
                  <a:lnTo>
                    <a:pt x="403874" y="224009"/>
                  </a:lnTo>
                  <a:lnTo>
                    <a:pt x="448568" y="208054"/>
                  </a:lnTo>
                  <a:lnTo>
                    <a:pt x="495094" y="192506"/>
                  </a:lnTo>
                  <a:lnTo>
                    <a:pt x="543374" y="177387"/>
                  </a:lnTo>
                  <a:lnTo>
                    <a:pt x="593329" y="162720"/>
                  </a:lnTo>
                  <a:lnTo>
                    <a:pt x="644881" y="148528"/>
                  </a:lnTo>
                  <a:lnTo>
                    <a:pt x="697952" y="134833"/>
                  </a:lnTo>
                  <a:lnTo>
                    <a:pt x="752465" y="121658"/>
                  </a:lnTo>
                  <a:lnTo>
                    <a:pt x="808340" y="109025"/>
                  </a:lnTo>
                  <a:lnTo>
                    <a:pt x="865501" y="96958"/>
                  </a:lnTo>
                  <a:lnTo>
                    <a:pt x="923868" y="85478"/>
                  </a:lnTo>
                  <a:lnTo>
                    <a:pt x="983364" y="74608"/>
                  </a:lnTo>
                  <a:lnTo>
                    <a:pt x="1043910" y="64371"/>
                  </a:lnTo>
                  <a:lnTo>
                    <a:pt x="1105429" y="54790"/>
                  </a:lnTo>
                  <a:lnTo>
                    <a:pt x="1167842" y="45887"/>
                  </a:lnTo>
                  <a:lnTo>
                    <a:pt x="1231071" y="37684"/>
                  </a:lnTo>
                  <a:lnTo>
                    <a:pt x="1295039" y="30205"/>
                  </a:lnTo>
                  <a:lnTo>
                    <a:pt x="1359666" y="23471"/>
                  </a:lnTo>
                  <a:lnTo>
                    <a:pt x="1424876" y="17506"/>
                  </a:lnTo>
                  <a:lnTo>
                    <a:pt x="1490589" y="12333"/>
                  </a:lnTo>
                  <a:lnTo>
                    <a:pt x="1556728" y="7972"/>
                  </a:lnTo>
                  <a:lnTo>
                    <a:pt x="1623214" y="4448"/>
                  </a:lnTo>
                  <a:lnTo>
                    <a:pt x="1689970" y="1783"/>
                  </a:lnTo>
                  <a:lnTo>
                    <a:pt x="1756918" y="0"/>
                  </a:lnTo>
                </a:path>
              </a:pathLst>
            </a:custGeom>
            <a:ln w="38100">
              <a:solidFill>
                <a:srgbClr val="666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342836" y="1791841"/>
              <a:ext cx="114935" cy="114300"/>
            </a:xfrm>
            <a:custGeom>
              <a:avLst/>
              <a:gdLst/>
              <a:ahLst/>
              <a:cxnLst/>
              <a:rect l="l" t="t" r="r" b="b"/>
              <a:pathLst>
                <a:path w="114935" h="114300">
                  <a:moveTo>
                    <a:pt x="0" y="0"/>
                  </a:moveTo>
                  <a:lnTo>
                    <a:pt x="1143" y="114300"/>
                  </a:lnTo>
                  <a:lnTo>
                    <a:pt x="114858" y="56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933776" y="2304859"/>
              <a:ext cx="3441700" cy="616585"/>
            </a:xfrm>
            <a:custGeom>
              <a:avLst/>
              <a:gdLst/>
              <a:ahLst/>
              <a:cxnLst/>
              <a:rect l="l" t="t" r="r" b="b"/>
              <a:pathLst>
                <a:path w="3441700" h="616585">
                  <a:moveTo>
                    <a:pt x="228523" y="616140"/>
                  </a:moveTo>
                  <a:lnTo>
                    <a:pt x="190593" y="610646"/>
                  </a:lnTo>
                  <a:lnTo>
                    <a:pt x="153603" y="595010"/>
                  </a:lnTo>
                  <a:lnTo>
                    <a:pt x="118493" y="570499"/>
                  </a:lnTo>
                  <a:lnTo>
                    <a:pt x="86205" y="538381"/>
                  </a:lnTo>
                  <a:lnTo>
                    <a:pt x="57679" y="499925"/>
                  </a:lnTo>
                  <a:lnTo>
                    <a:pt x="33855" y="456397"/>
                  </a:lnTo>
                  <a:lnTo>
                    <a:pt x="15673" y="409065"/>
                  </a:lnTo>
                  <a:lnTo>
                    <a:pt x="4075" y="359198"/>
                  </a:lnTo>
                  <a:lnTo>
                    <a:pt x="0" y="308063"/>
                  </a:lnTo>
                  <a:lnTo>
                    <a:pt x="1868" y="295578"/>
                  </a:lnTo>
                  <a:lnTo>
                    <a:pt x="29079" y="258303"/>
                  </a:lnTo>
                  <a:lnTo>
                    <a:pt x="64206" y="233788"/>
                  </a:lnTo>
                  <a:lnTo>
                    <a:pt x="111971" y="209710"/>
                  </a:lnTo>
                  <a:lnTo>
                    <a:pt x="171557" y="186216"/>
                  </a:lnTo>
                  <a:lnTo>
                    <a:pt x="242151" y="163452"/>
                  </a:lnTo>
                  <a:lnTo>
                    <a:pt x="281320" y="152389"/>
                  </a:lnTo>
                  <a:lnTo>
                    <a:pt x="322935" y="141563"/>
                  </a:lnTo>
                  <a:lnTo>
                    <a:pt x="366895" y="130993"/>
                  </a:lnTo>
                  <a:lnTo>
                    <a:pt x="413097" y="120696"/>
                  </a:lnTo>
                  <a:lnTo>
                    <a:pt x="461439" y="110692"/>
                  </a:lnTo>
                  <a:lnTo>
                    <a:pt x="511819" y="100997"/>
                  </a:lnTo>
                  <a:lnTo>
                    <a:pt x="564135" y="91631"/>
                  </a:lnTo>
                  <a:lnTo>
                    <a:pt x="618286" y="82611"/>
                  </a:lnTo>
                  <a:lnTo>
                    <a:pt x="674170" y="73957"/>
                  </a:lnTo>
                  <a:lnTo>
                    <a:pt x="731684" y="65685"/>
                  </a:lnTo>
                  <a:lnTo>
                    <a:pt x="790727" y="57815"/>
                  </a:lnTo>
                  <a:lnTo>
                    <a:pt x="851197" y="50365"/>
                  </a:lnTo>
                  <a:lnTo>
                    <a:pt x="912992" y="43352"/>
                  </a:lnTo>
                  <a:lnTo>
                    <a:pt x="976009" y="36796"/>
                  </a:lnTo>
                  <a:lnTo>
                    <a:pt x="1040148" y="30714"/>
                  </a:lnTo>
                  <a:lnTo>
                    <a:pt x="1105306" y="25124"/>
                  </a:lnTo>
                  <a:lnTo>
                    <a:pt x="1171381" y="20046"/>
                  </a:lnTo>
                  <a:lnTo>
                    <a:pt x="1238272" y="15497"/>
                  </a:lnTo>
                  <a:lnTo>
                    <a:pt x="1305876" y="11495"/>
                  </a:lnTo>
                  <a:lnTo>
                    <a:pt x="1374091" y="8058"/>
                  </a:lnTo>
                  <a:lnTo>
                    <a:pt x="1442816" y="5206"/>
                  </a:lnTo>
                  <a:lnTo>
                    <a:pt x="1511949" y="2955"/>
                  </a:lnTo>
                  <a:lnTo>
                    <a:pt x="1581387" y="1325"/>
                  </a:lnTo>
                  <a:lnTo>
                    <a:pt x="1651029" y="334"/>
                  </a:lnTo>
                  <a:lnTo>
                    <a:pt x="1720773" y="0"/>
                  </a:lnTo>
                  <a:lnTo>
                    <a:pt x="1790517" y="335"/>
                  </a:lnTo>
                  <a:lnTo>
                    <a:pt x="1860160" y="1329"/>
                  </a:lnTo>
                  <a:lnTo>
                    <a:pt x="1929598" y="2963"/>
                  </a:lnTo>
                  <a:lnTo>
                    <a:pt x="1998731" y="5219"/>
                  </a:lnTo>
                  <a:lnTo>
                    <a:pt x="2067456" y="8079"/>
                  </a:lnTo>
                  <a:lnTo>
                    <a:pt x="2135671" y="11524"/>
                  </a:lnTo>
                  <a:lnTo>
                    <a:pt x="2203275" y="15536"/>
                  </a:lnTo>
                  <a:lnTo>
                    <a:pt x="2270165" y="20097"/>
                  </a:lnTo>
                  <a:lnTo>
                    <a:pt x="2336240" y="25189"/>
                  </a:lnTo>
                  <a:lnTo>
                    <a:pt x="2401398" y="30793"/>
                  </a:lnTo>
                  <a:lnTo>
                    <a:pt x="2465537" y="36890"/>
                  </a:lnTo>
                  <a:lnTo>
                    <a:pt x="2528555" y="43464"/>
                  </a:lnTo>
                  <a:lnTo>
                    <a:pt x="2590350" y="50494"/>
                  </a:lnTo>
                  <a:lnTo>
                    <a:pt x="2650819" y="57964"/>
                  </a:lnTo>
                  <a:lnTo>
                    <a:pt x="2709862" y="65854"/>
                  </a:lnTo>
                  <a:lnTo>
                    <a:pt x="2767377" y="74147"/>
                  </a:lnTo>
                  <a:lnTo>
                    <a:pt x="2823260" y="82824"/>
                  </a:lnTo>
                  <a:lnTo>
                    <a:pt x="2877411" y="91867"/>
                  </a:lnTo>
                  <a:lnTo>
                    <a:pt x="2929728" y="101257"/>
                  </a:lnTo>
                  <a:lnTo>
                    <a:pt x="2980108" y="110977"/>
                  </a:lnTo>
                  <a:lnTo>
                    <a:pt x="3028450" y="121007"/>
                  </a:lnTo>
                  <a:lnTo>
                    <a:pt x="3074652" y="131331"/>
                  </a:lnTo>
                  <a:lnTo>
                    <a:pt x="3118611" y="141928"/>
                  </a:lnTo>
                  <a:lnTo>
                    <a:pt x="3160227" y="152782"/>
                  </a:lnTo>
                  <a:lnTo>
                    <a:pt x="3199396" y="163874"/>
                  </a:lnTo>
                  <a:lnTo>
                    <a:pt x="3236018" y="175185"/>
                  </a:lnTo>
                  <a:lnTo>
                    <a:pt x="3301210" y="198392"/>
                  </a:lnTo>
                  <a:lnTo>
                    <a:pt x="3354987" y="222259"/>
                  </a:lnTo>
                  <a:lnTo>
                    <a:pt x="3396534" y="246637"/>
                  </a:lnTo>
                  <a:lnTo>
                    <a:pt x="3434141" y="283845"/>
                  </a:lnTo>
                  <a:lnTo>
                    <a:pt x="3441547" y="308863"/>
                  </a:lnTo>
                  <a:lnTo>
                    <a:pt x="3437948" y="357005"/>
                  </a:lnTo>
                  <a:lnTo>
                    <a:pt x="3427671" y="404095"/>
                  </a:lnTo>
                  <a:lnTo>
                    <a:pt x="3411492" y="449083"/>
                  </a:lnTo>
                  <a:lnTo>
                    <a:pt x="3390190" y="490918"/>
                  </a:lnTo>
                  <a:lnTo>
                    <a:pt x="3364542" y="528548"/>
                  </a:lnTo>
                  <a:lnTo>
                    <a:pt x="3335326" y="560924"/>
                  </a:lnTo>
                  <a:lnTo>
                    <a:pt x="3303320" y="586993"/>
                  </a:lnTo>
                </a:path>
              </a:pathLst>
            </a:custGeom>
            <a:ln w="38100">
              <a:solidFill>
                <a:srgbClr val="666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146800" y="2831652"/>
              <a:ext cx="127000" cy="108585"/>
            </a:xfrm>
            <a:custGeom>
              <a:avLst/>
              <a:gdLst/>
              <a:ahLst/>
              <a:cxnLst/>
              <a:rect l="l" t="t" r="r" b="b"/>
              <a:pathLst>
                <a:path w="127000" h="108585">
                  <a:moveTo>
                    <a:pt x="89789" y="0"/>
                  </a:moveTo>
                  <a:lnTo>
                    <a:pt x="0" y="90931"/>
                  </a:lnTo>
                  <a:lnTo>
                    <a:pt x="126619" y="108203"/>
                  </a:lnTo>
                  <a:lnTo>
                    <a:pt x="89789" y="0"/>
                  </a:lnTo>
                  <a:close/>
                </a:path>
              </a:pathLst>
            </a:custGeom>
            <a:solidFill>
              <a:srgbClr val="66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2830474" y="4405312"/>
            <a:ext cx="3564254" cy="1040130"/>
            <a:chOff x="2830474" y="4405312"/>
            <a:chExt cx="3564254" cy="1040130"/>
          </a:xfrm>
        </p:grpSpPr>
        <p:sp>
          <p:nvSpPr>
            <p:cNvPr id="14" name="object 14"/>
            <p:cNvSpPr/>
            <p:nvPr/>
          </p:nvSpPr>
          <p:spPr>
            <a:xfrm>
              <a:off x="4422774" y="4411662"/>
              <a:ext cx="319405" cy="354330"/>
            </a:xfrm>
            <a:custGeom>
              <a:avLst/>
              <a:gdLst/>
              <a:ahLst/>
              <a:cxnLst/>
              <a:rect l="l" t="t" r="r" b="b"/>
              <a:pathLst>
                <a:path w="319404" h="354329">
                  <a:moveTo>
                    <a:pt x="319087" y="0"/>
                  </a:moveTo>
                  <a:lnTo>
                    <a:pt x="0" y="0"/>
                  </a:lnTo>
                  <a:lnTo>
                    <a:pt x="0" y="354012"/>
                  </a:lnTo>
                  <a:lnTo>
                    <a:pt x="319087" y="354012"/>
                  </a:lnTo>
                  <a:lnTo>
                    <a:pt x="319087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22774" y="4411662"/>
              <a:ext cx="319405" cy="354330"/>
            </a:xfrm>
            <a:custGeom>
              <a:avLst/>
              <a:gdLst/>
              <a:ahLst/>
              <a:cxnLst/>
              <a:rect l="l" t="t" r="r" b="b"/>
              <a:pathLst>
                <a:path w="319404" h="354329">
                  <a:moveTo>
                    <a:pt x="0" y="0"/>
                  </a:moveTo>
                  <a:lnTo>
                    <a:pt x="319087" y="0"/>
                  </a:lnTo>
                  <a:lnTo>
                    <a:pt x="319087" y="354012"/>
                  </a:lnTo>
                  <a:lnTo>
                    <a:pt x="0" y="354012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127374" y="5092700"/>
              <a:ext cx="2984500" cy="352425"/>
            </a:xfrm>
            <a:custGeom>
              <a:avLst/>
              <a:gdLst/>
              <a:ahLst/>
              <a:cxnLst/>
              <a:rect l="l" t="t" r="r" b="b"/>
              <a:pathLst>
                <a:path w="2984500" h="352425">
                  <a:moveTo>
                    <a:pt x="2984500" y="0"/>
                  </a:moveTo>
                  <a:lnTo>
                    <a:pt x="0" y="0"/>
                  </a:lnTo>
                  <a:lnTo>
                    <a:pt x="0" y="352425"/>
                  </a:lnTo>
                  <a:lnTo>
                    <a:pt x="2984500" y="352425"/>
                  </a:lnTo>
                  <a:lnTo>
                    <a:pt x="2984500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849524" y="4590313"/>
              <a:ext cx="1477010" cy="678815"/>
            </a:xfrm>
            <a:custGeom>
              <a:avLst/>
              <a:gdLst/>
              <a:ahLst/>
              <a:cxnLst/>
              <a:rect l="l" t="t" r="r" b="b"/>
              <a:pathLst>
                <a:path w="1477010" h="678814">
                  <a:moveTo>
                    <a:pt x="277850" y="678599"/>
                  </a:moveTo>
                  <a:lnTo>
                    <a:pt x="236311" y="673673"/>
                  </a:lnTo>
                  <a:lnTo>
                    <a:pt x="195606" y="659574"/>
                  </a:lnTo>
                  <a:lnTo>
                    <a:pt x="156568" y="637322"/>
                  </a:lnTo>
                  <a:lnTo>
                    <a:pt x="120031" y="607936"/>
                  </a:lnTo>
                  <a:lnTo>
                    <a:pt x="86828" y="572435"/>
                  </a:lnTo>
                  <a:lnTo>
                    <a:pt x="57792" y="531837"/>
                  </a:lnTo>
                  <a:lnTo>
                    <a:pt x="33758" y="487164"/>
                  </a:lnTo>
                  <a:lnTo>
                    <a:pt x="15559" y="439432"/>
                  </a:lnTo>
                  <a:lnTo>
                    <a:pt x="4028" y="389662"/>
                  </a:lnTo>
                  <a:lnTo>
                    <a:pt x="0" y="338874"/>
                  </a:lnTo>
                  <a:lnTo>
                    <a:pt x="1973" y="324068"/>
                  </a:lnTo>
                  <a:lnTo>
                    <a:pt x="30651" y="279904"/>
                  </a:lnTo>
                  <a:lnTo>
                    <a:pt x="67576" y="250919"/>
                  </a:lnTo>
                  <a:lnTo>
                    <a:pt x="117664" y="222535"/>
                  </a:lnTo>
                  <a:lnTo>
                    <a:pt x="179990" y="194952"/>
                  </a:lnTo>
                  <a:lnTo>
                    <a:pt x="253625" y="168369"/>
                  </a:lnTo>
                  <a:lnTo>
                    <a:pt x="294395" y="155516"/>
                  </a:lnTo>
                  <a:lnTo>
                    <a:pt x="337645" y="142987"/>
                  </a:lnTo>
                  <a:lnTo>
                    <a:pt x="383259" y="130809"/>
                  </a:lnTo>
                  <a:lnTo>
                    <a:pt x="431121" y="119006"/>
                  </a:lnTo>
                  <a:lnTo>
                    <a:pt x="481117" y="107604"/>
                  </a:lnTo>
                  <a:lnTo>
                    <a:pt x="533128" y="96626"/>
                  </a:lnTo>
                  <a:lnTo>
                    <a:pt x="587041" y="86099"/>
                  </a:lnTo>
                  <a:lnTo>
                    <a:pt x="642739" y="76047"/>
                  </a:lnTo>
                  <a:lnTo>
                    <a:pt x="700106" y="66495"/>
                  </a:lnTo>
                  <a:lnTo>
                    <a:pt x="759027" y="57469"/>
                  </a:lnTo>
                  <a:lnTo>
                    <a:pt x="819385" y="48993"/>
                  </a:lnTo>
                  <a:lnTo>
                    <a:pt x="881065" y="41092"/>
                  </a:lnTo>
                  <a:lnTo>
                    <a:pt x="943951" y="33791"/>
                  </a:lnTo>
                  <a:lnTo>
                    <a:pt x="1007927" y="27116"/>
                  </a:lnTo>
                  <a:lnTo>
                    <a:pt x="1072877" y="21091"/>
                  </a:lnTo>
                  <a:lnTo>
                    <a:pt x="1138686" y="15742"/>
                  </a:lnTo>
                  <a:lnTo>
                    <a:pt x="1205237" y="11093"/>
                  </a:lnTo>
                  <a:lnTo>
                    <a:pt x="1272415" y="7169"/>
                  </a:lnTo>
                  <a:lnTo>
                    <a:pt x="1340105" y="3995"/>
                  </a:lnTo>
                  <a:lnTo>
                    <a:pt x="1408189" y="1597"/>
                  </a:lnTo>
                  <a:lnTo>
                    <a:pt x="1476552" y="0"/>
                  </a:lnTo>
                </a:path>
              </a:pathLst>
            </a:custGeom>
            <a:ln w="38100">
              <a:solidFill>
                <a:srgbClr val="666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307982" y="4533308"/>
              <a:ext cx="114935" cy="114300"/>
            </a:xfrm>
            <a:custGeom>
              <a:avLst/>
              <a:gdLst/>
              <a:ahLst/>
              <a:cxnLst/>
              <a:rect l="l" t="t" r="r" b="b"/>
              <a:pathLst>
                <a:path w="114935" h="114300">
                  <a:moveTo>
                    <a:pt x="0" y="0"/>
                  </a:moveTo>
                  <a:lnTo>
                    <a:pt x="990" y="114300"/>
                  </a:lnTo>
                  <a:lnTo>
                    <a:pt x="114795" y="561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741862" y="4589462"/>
              <a:ext cx="1633855" cy="653415"/>
            </a:xfrm>
            <a:custGeom>
              <a:avLst/>
              <a:gdLst/>
              <a:ahLst/>
              <a:cxnLst/>
              <a:rect l="l" t="t" r="r" b="b"/>
              <a:pathLst>
                <a:path w="1633854" h="653414">
                  <a:moveTo>
                    <a:pt x="0" y="0"/>
                  </a:moveTo>
                  <a:lnTo>
                    <a:pt x="68047" y="389"/>
                  </a:lnTo>
                  <a:lnTo>
                    <a:pt x="135989" y="1543"/>
                  </a:lnTo>
                  <a:lnTo>
                    <a:pt x="203721" y="3440"/>
                  </a:lnTo>
                  <a:lnTo>
                    <a:pt x="271137" y="6058"/>
                  </a:lnTo>
                  <a:lnTo>
                    <a:pt x="338134" y="9374"/>
                  </a:lnTo>
                  <a:lnTo>
                    <a:pt x="404606" y="13368"/>
                  </a:lnTo>
                  <a:lnTo>
                    <a:pt x="470447" y="18018"/>
                  </a:lnTo>
                  <a:lnTo>
                    <a:pt x="535553" y="23300"/>
                  </a:lnTo>
                  <a:lnTo>
                    <a:pt x="599819" y="29195"/>
                  </a:lnTo>
                  <a:lnTo>
                    <a:pt x="663139" y="35679"/>
                  </a:lnTo>
                  <a:lnTo>
                    <a:pt x="725409" y="42731"/>
                  </a:lnTo>
                  <a:lnTo>
                    <a:pt x="786524" y="50329"/>
                  </a:lnTo>
                  <a:lnTo>
                    <a:pt x="846378" y="58452"/>
                  </a:lnTo>
                  <a:lnTo>
                    <a:pt x="904866" y="67077"/>
                  </a:lnTo>
                  <a:lnTo>
                    <a:pt x="961885" y="76182"/>
                  </a:lnTo>
                  <a:lnTo>
                    <a:pt x="1017327" y="85746"/>
                  </a:lnTo>
                  <a:lnTo>
                    <a:pt x="1071089" y="95747"/>
                  </a:lnTo>
                  <a:lnTo>
                    <a:pt x="1123065" y="106164"/>
                  </a:lnTo>
                  <a:lnTo>
                    <a:pt x="1173151" y="116973"/>
                  </a:lnTo>
                  <a:lnTo>
                    <a:pt x="1221241" y="128154"/>
                  </a:lnTo>
                  <a:lnTo>
                    <a:pt x="1267230" y="139684"/>
                  </a:lnTo>
                  <a:lnTo>
                    <a:pt x="1311013" y="151542"/>
                  </a:lnTo>
                  <a:lnTo>
                    <a:pt x="1352486" y="163706"/>
                  </a:lnTo>
                  <a:lnTo>
                    <a:pt x="1391542" y="176153"/>
                  </a:lnTo>
                  <a:lnTo>
                    <a:pt x="1428078" y="188863"/>
                  </a:lnTo>
                  <a:lnTo>
                    <a:pt x="1493166" y="214982"/>
                  </a:lnTo>
                  <a:lnTo>
                    <a:pt x="1546911" y="241887"/>
                  </a:lnTo>
                  <a:lnTo>
                    <a:pt x="1588471" y="269404"/>
                  </a:lnTo>
                  <a:lnTo>
                    <a:pt x="1617006" y="297357"/>
                  </a:lnTo>
                  <a:lnTo>
                    <a:pt x="1633550" y="339725"/>
                  </a:lnTo>
                  <a:lnTo>
                    <a:pt x="1630068" y="388178"/>
                  </a:lnTo>
                  <a:lnTo>
                    <a:pt x="1620080" y="435748"/>
                  </a:lnTo>
                  <a:lnTo>
                    <a:pt x="1604271" y="481550"/>
                  </a:lnTo>
                  <a:lnTo>
                    <a:pt x="1583329" y="524698"/>
                  </a:lnTo>
                  <a:lnTo>
                    <a:pt x="1557939" y="564310"/>
                  </a:lnTo>
                  <a:lnTo>
                    <a:pt x="1528788" y="599502"/>
                  </a:lnTo>
                  <a:lnTo>
                    <a:pt x="1496562" y="629388"/>
                  </a:lnTo>
                  <a:lnTo>
                    <a:pt x="1461947" y="653084"/>
                  </a:lnTo>
                </a:path>
              </a:pathLst>
            </a:custGeom>
            <a:ln w="38100">
              <a:solidFill>
                <a:srgbClr val="666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111872" y="5182469"/>
              <a:ext cx="125730" cy="110489"/>
            </a:xfrm>
            <a:custGeom>
              <a:avLst/>
              <a:gdLst/>
              <a:ahLst/>
              <a:cxnLst/>
              <a:rect l="l" t="t" r="r" b="b"/>
              <a:pathLst>
                <a:path w="125729" h="110489">
                  <a:moveTo>
                    <a:pt x="94119" y="0"/>
                  </a:moveTo>
                  <a:lnTo>
                    <a:pt x="0" y="86448"/>
                  </a:lnTo>
                  <a:lnTo>
                    <a:pt x="125628" y="109867"/>
                  </a:lnTo>
                  <a:lnTo>
                    <a:pt x="94119" y="0"/>
                  </a:lnTo>
                  <a:close/>
                </a:path>
              </a:pathLst>
            </a:custGeom>
            <a:solidFill>
              <a:srgbClr val="66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077652" y="3159061"/>
            <a:ext cx="115443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Arial MT"/>
                <a:cs typeface="Arial MT"/>
              </a:rPr>
              <a:t>Accumulator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823718" y="1695413"/>
            <a:ext cx="97345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Arial MT"/>
                <a:cs typeface="Arial MT"/>
              </a:rPr>
              <a:t>Carry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Flag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162300" y="2744787"/>
            <a:ext cx="354330" cy="35242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64769" rIns="0" bIns="0" rtlCol="0">
            <a:spAutoFit/>
          </a:bodyPr>
          <a:lstStyle/>
          <a:p>
            <a:pPr marR="7620" algn="ctr">
              <a:lnSpc>
                <a:spcPct val="100000"/>
              </a:lnSpc>
              <a:spcBef>
                <a:spcPts val="509"/>
              </a:spcBef>
            </a:pPr>
            <a:r>
              <a:rPr sz="1400" b="1" spc="-5" dirty="0">
                <a:latin typeface="Arial"/>
                <a:cs typeface="Arial"/>
              </a:rPr>
              <a:t>7</a:t>
            </a:r>
            <a:endParaRPr sz="1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516312" y="2744787"/>
            <a:ext cx="365125" cy="35242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64769" rIns="0" bIns="0" rtlCol="0">
            <a:spAutoFit/>
          </a:bodyPr>
          <a:lstStyle/>
          <a:p>
            <a:pPr marL="14604" algn="ctr">
              <a:lnSpc>
                <a:spcPct val="100000"/>
              </a:lnSpc>
              <a:spcBef>
                <a:spcPts val="509"/>
              </a:spcBef>
            </a:pPr>
            <a:r>
              <a:rPr sz="1400" b="1" spc="-5" dirty="0">
                <a:latin typeface="Arial"/>
                <a:cs typeface="Arial"/>
              </a:rPr>
              <a:t>6</a:t>
            </a:r>
            <a:endParaRPr sz="14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881437" y="2744787"/>
            <a:ext cx="386080" cy="35242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64769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509"/>
              </a:spcBef>
            </a:pPr>
            <a:r>
              <a:rPr sz="1400" b="1" spc="-5" dirty="0">
                <a:latin typeface="Arial"/>
                <a:cs typeface="Arial"/>
              </a:rPr>
              <a:t>5</a:t>
            </a:r>
            <a:endParaRPr sz="14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267200" y="2744787"/>
            <a:ext cx="387350" cy="35242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64769" rIns="0" bIns="0" rtlCol="0">
            <a:spAutoFit/>
          </a:bodyPr>
          <a:lstStyle/>
          <a:p>
            <a:pPr marL="127635">
              <a:lnSpc>
                <a:spcPct val="100000"/>
              </a:lnSpc>
              <a:spcBef>
                <a:spcPts val="509"/>
              </a:spcBef>
            </a:pPr>
            <a:r>
              <a:rPr sz="1400" b="1" spc="-5" dirty="0">
                <a:latin typeface="Arial"/>
                <a:cs typeface="Arial"/>
              </a:rPr>
              <a:t>4</a:t>
            </a:r>
            <a:endParaRPr sz="1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654550" y="2744787"/>
            <a:ext cx="374650" cy="35242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64769" rIns="0" bIns="0" rtlCol="0">
            <a:spAutoFit/>
          </a:bodyPr>
          <a:lstStyle/>
          <a:p>
            <a:pPr marR="15240" algn="ctr">
              <a:lnSpc>
                <a:spcPct val="100000"/>
              </a:lnSpc>
              <a:spcBef>
                <a:spcPts val="509"/>
              </a:spcBef>
            </a:pPr>
            <a:r>
              <a:rPr sz="1400" b="1" spc="-5" dirty="0">
                <a:latin typeface="Arial"/>
                <a:cs typeface="Arial"/>
              </a:rPr>
              <a:t>3</a:t>
            </a:r>
            <a:endParaRPr sz="14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029200" y="2744787"/>
            <a:ext cx="400050" cy="35242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6476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09"/>
              </a:spcBef>
            </a:pPr>
            <a:r>
              <a:rPr sz="1400" b="1" spc="-5" dirty="0"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429250" y="2744787"/>
            <a:ext cx="361950" cy="35242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64769" rIns="0" bIns="0" rtlCol="0">
            <a:spAutoFit/>
          </a:bodyPr>
          <a:lstStyle/>
          <a:p>
            <a:pPr marL="144780">
              <a:lnSpc>
                <a:spcPct val="100000"/>
              </a:lnSpc>
              <a:spcBef>
                <a:spcPts val="509"/>
              </a:spcBef>
            </a:pPr>
            <a:r>
              <a:rPr sz="1400" b="1" spc="-5" dirty="0"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791200" y="2744787"/>
            <a:ext cx="355600" cy="35242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64769" rIns="0" bIns="0" rtlCol="0">
            <a:spAutoFit/>
          </a:bodyPr>
          <a:lstStyle/>
          <a:p>
            <a:pPr marL="113030">
              <a:lnSpc>
                <a:spcPct val="100000"/>
              </a:lnSpc>
              <a:spcBef>
                <a:spcPts val="509"/>
              </a:spcBef>
            </a:pPr>
            <a:r>
              <a:rPr sz="1400" b="1" spc="-5" dirty="0">
                <a:latin typeface="Arial"/>
                <a:cs typeface="Arial"/>
              </a:rPr>
              <a:t>0</a:t>
            </a:r>
            <a:endParaRPr sz="14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053840" y="5538723"/>
            <a:ext cx="115443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Arial MT"/>
                <a:cs typeface="Arial MT"/>
              </a:rPr>
              <a:t>Accumulator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858704" y="4238652"/>
            <a:ext cx="97345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Arial MT"/>
                <a:cs typeface="Arial MT"/>
              </a:rPr>
              <a:t>Carry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Flag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127375" y="5092700"/>
            <a:ext cx="367030" cy="35242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6159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84"/>
              </a:spcBef>
            </a:pPr>
            <a:r>
              <a:rPr sz="1400" b="1" spc="-5" dirty="0">
                <a:latin typeface="Arial"/>
                <a:cs typeface="Arial"/>
              </a:rPr>
              <a:t>7</a:t>
            </a:r>
            <a:endParaRPr sz="14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494087" y="5092700"/>
            <a:ext cx="365125" cy="35242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61594" rIns="0" bIns="0" rtlCol="0">
            <a:spAutoFit/>
          </a:bodyPr>
          <a:lstStyle/>
          <a:p>
            <a:pPr marL="14604" algn="ctr">
              <a:lnSpc>
                <a:spcPct val="100000"/>
              </a:lnSpc>
              <a:spcBef>
                <a:spcPts val="484"/>
              </a:spcBef>
            </a:pPr>
            <a:r>
              <a:rPr sz="1400" b="1" spc="-5" dirty="0">
                <a:latin typeface="Arial"/>
                <a:cs typeface="Arial"/>
              </a:rPr>
              <a:t>6</a:t>
            </a:r>
            <a:endParaRPr sz="14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859212" y="5092700"/>
            <a:ext cx="386080" cy="35242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61594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484"/>
              </a:spcBef>
            </a:pPr>
            <a:r>
              <a:rPr sz="1400" b="1" spc="-5" dirty="0">
                <a:latin typeface="Arial"/>
                <a:cs typeface="Arial"/>
              </a:rPr>
              <a:t>5</a:t>
            </a:r>
            <a:endParaRPr sz="14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244975" y="5092700"/>
            <a:ext cx="387350" cy="35242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61594" rIns="0" bIns="0" rtlCol="0">
            <a:spAutoFit/>
          </a:bodyPr>
          <a:lstStyle/>
          <a:p>
            <a:pPr marL="127635">
              <a:lnSpc>
                <a:spcPct val="100000"/>
              </a:lnSpc>
              <a:spcBef>
                <a:spcPts val="484"/>
              </a:spcBef>
            </a:pPr>
            <a:r>
              <a:rPr sz="1400" b="1" spc="-5" dirty="0">
                <a:latin typeface="Arial"/>
                <a:cs typeface="Arial"/>
              </a:rPr>
              <a:t>4</a:t>
            </a:r>
            <a:endParaRPr sz="14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632325" y="5092700"/>
            <a:ext cx="374650" cy="35242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61594" rIns="0" bIns="0" rtlCol="0">
            <a:spAutoFit/>
          </a:bodyPr>
          <a:lstStyle/>
          <a:p>
            <a:pPr marR="15240" algn="ctr">
              <a:lnSpc>
                <a:spcPct val="100000"/>
              </a:lnSpc>
              <a:spcBef>
                <a:spcPts val="484"/>
              </a:spcBef>
            </a:pPr>
            <a:r>
              <a:rPr sz="1400" b="1" spc="-5" dirty="0">
                <a:latin typeface="Arial"/>
                <a:cs typeface="Arial"/>
              </a:rPr>
              <a:t>3</a:t>
            </a:r>
            <a:endParaRPr sz="14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006975" y="5092700"/>
            <a:ext cx="411480" cy="35242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61594" rIns="0" bIns="0" rtlCol="0">
            <a:spAutoFit/>
          </a:bodyPr>
          <a:lstStyle/>
          <a:p>
            <a:pPr marR="7620" algn="ctr">
              <a:lnSpc>
                <a:spcPct val="100000"/>
              </a:lnSpc>
              <a:spcBef>
                <a:spcPts val="484"/>
              </a:spcBef>
            </a:pPr>
            <a:r>
              <a:rPr sz="1400" b="1" spc="-5" dirty="0"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418137" y="5092700"/>
            <a:ext cx="351155" cy="35242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61594" rIns="0" bIns="0" rtlCol="0">
            <a:spAutoFit/>
          </a:bodyPr>
          <a:lstStyle/>
          <a:p>
            <a:pPr marL="15875" algn="ctr">
              <a:lnSpc>
                <a:spcPct val="100000"/>
              </a:lnSpc>
              <a:spcBef>
                <a:spcPts val="484"/>
              </a:spcBef>
            </a:pPr>
            <a:r>
              <a:rPr sz="1400" b="1" spc="-5" dirty="0"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768975" y="5092700"/>
            <a:ext cx="342900" cy="35242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61594" rIns="0" bIns="0" rtlCol="0">
            <a:spAutoFit/>
          </a:bodyPr>
          <a:lstStyle/>
          <a:p>
            <a:pPr marL="113030">
              <a:lnSpc>
                <a:spcPct val="100000"/>
              </a:lnSpc>
              <a:spcBef>
                <a:spcPts val="484"/>
              </a:spcBef>
            </a:pPr>
            <a:r>
              <a:rPr sz="1400" b="1" spc="-5" dirty="0">
                <a:latin typeface="Arial"/>
                <a:cs typeface="Arial"/>
              </a:rPr>
              <a:t>0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10364" y="814069"/>
            <a:ext cx="432181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Logical</a:t>
            </a:r>
            <a:r>
              <a:rPr spc="-65" dirty="0"/>
              <a:t> </a:t>
            </a:r>
            <a:r>
              <a:rPr spc="-5"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11694"/>
            <a:ext cx="7599680" cy="111315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47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Compare</a:t>
            </a:r>
            <a:endParaRPr sz="2800">
              <a:latin typeface="Times New Roman"/>
              <a:cs typeface="Times New Roman"/>
            </a:endParaRPr>
          </a:p>
          <a:p>
            <a:pPr marL="1155700" marR="5080" lvl="1" indent="-229235">
              <a:lnSpc>
                <a:spcPts val="2160"/>
              </a:lnSpc>
              <a:spcBef>
                <a:spcPts val="540"/>
              </a:spcBef>
              <a:buChar char="•"/>
              <a:tabLst>
                <a:tab pos="1155065" algn="l"/>
                <a:tab pos="1156335" algn="l"/>
              </a:tabLst>
            </a:pPr>
            <a:r>
              <a:rPr sz="2000" spc="-5" dirty="0">
                <a:latin typeface="Times New Roman"/>
                <a:cs typeface="Times New Roman"/>
              </a:rPr>
              <a:t>Compare the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contents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of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register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or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memory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location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with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contents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of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accumulator.</a:t>
            </a:r>
            <a:endParaRPr sz="20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117089" y="3065271"/>
          <a:ext cx="5789293" cy="12955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3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63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198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1230">
                <a:tc>
                  <a:txBody>
                    <a:bodyPr/>
                    <a:lstStyle/>
                    <a:p>
                      <a:pPr marL="31750">
                        <a:lnSpc>
                          <a:spcPts val="1964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sz="1800" spc="3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CMP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9565">
                        <a:lnSpc>
                          <a:spcPts val="1964"/>
                        </a:lnSpc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R/M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47650" marR="24130">
                        <a:lnSpc>
                          <a:spcPts val="1939"/>
                        </a:lnSpc>
                        <a:spcBef>
                          <a:spcPts val="50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Compare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contents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 of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register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 or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memory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location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to the contents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 of </a:t>
                      </a:r>
                      <a:r>
                        <a:rPr sz="1800" spc="-43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accumulator.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635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4342">
                <a:tc>
                  <a:txBody>
                    <a:bodyPr/>
                    <a:lstStyle/>
                    <a:p>
                      <a:pPr marL="31750">
                        <a:lnSpc>
                          <a:spcPts val="2155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sz="1800" spc="3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CPI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9565">
                        <a:lnSpc>
                          <a:spcPts val="2155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#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47650" marR="474980">
                        <a:lnSpc>
                          <a:spcPts val="1939"/>
                        </a:lnSpc>
                        <a:spcBef>
                          <a:spcPts val="145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Compare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8-bit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number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800" spc="-43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contents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the accumulator.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678939" y="4374133"/>
            <a:ext cx="6670040" cy="1577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spc="-5" dirty="0">
                <a:latin typeface="Times New Roman"/>
                <a:cs typeface="Times New Roman"/>
              </a:rPr>
              <a:t>The compare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instruction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sets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flags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(Z,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Cy,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and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S).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Times New Roman"/>
              <a:buChar char="•"/>
            </a:pPr>
            <a:endParaRPr sz="2700">
              <a:latin typeface="Times New Roman"/>
              <a:cs typeface="Times New Roman"/>
            </a:endParaRPr>
          </a:p>
          <a:p>
            <a:pPr marL="241300" marR="5080" indent="-229235">
              <a:lnSpc>
                <a:spcPts val="2160"/>
              </a:lnSpc>
              <a:buChar char="•"/>
              <a:tabLst>
                <a:tab pos="240665" algn="l"/>
                <a:tab pos="241935" algn="l"/>
              </a:tabLst>
            </a:pPr>
            <a:r>
              <a:rPr sz="2000" spc="-5" dirty="0">
                <a:latin typeface="Times New Roman"/>
                <a:cs typeface="Times New Roman"/>
              </a:rPr>
              <a:t>The compare is done using an internal subtraction that does not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change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contents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of 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accumulator.</a:t>
            </a:r>
            <a:endParaRPr sz="20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90"/>
              </a:spcBef>
            </a:pPr>
            <a:r>
              <a:rPr sz="1800" spc="-5" dirty="0">
                <a:latin typeface="Times New Roman"/>
                <a:cs typeface="Times New Roman"/>
              </a:rPr>
              <a:t>A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–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(R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/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/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#)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57576" y="814069"/>
            <a:ext cx="422846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Branch</a:t>
            </a:r>
            <a:r>
              <a:rPr spc="-65" dirty="0"/>
              <a:t> </a:t>
            </a:r>
            <a:r>
              <a:rPr spc="-5"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01011"/>
            <a:ext cx="6541770" cy="2517775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88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Two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types:</a:t>
            </a:r>
            <a:endParaRPr sz="32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9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Unconditional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branch.</a:t>
            </a:r>
            <a:endParaRPr sz="2800">
              <a:latin typeface="Times New Roman"/>
              <a:cs typeface="Times New Roman"/>
            </a:endParaRPr>
          </a:p>
          <a:p>
            <a:pPr marL="1155700" lvl="2" indent="-229235">
              <a:lnSpc>
                <a:spcPct val="100000"/>
              </a:lnSpc>
              <a:spcBef>
                <a:spcPts val="585"/>
              </a:spcBef>
              <a:buChar char="•"/>
              <a:tabLst>
                <a:tab pos="1155700" algn="l"/>
              </a:tabLst>
            </a:pPr>
            <a:r>
              <a:rPr sz="2400" spc="-5" dirty="0">
                <a:latin typeface="Times New Roman"/>
                <a:cs typeface="Times New Roman"/>
              </a:rPr>
              <a:t>Go 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 new location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 </a:t>
            </a:r>
            <a:r>
              <a:rPr sz="2400" spc="-5" dirty="0">
                <a:latin typeface="Times New Roman"/>
                <a:cs typeface="Times New Roman"/>
              </a:rPr>
              <a:t>matter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what.</a:t>
            </a:r>
            <a:endParaRPr sz="24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6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Conditional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branch.</a:t>
            </a:r>
            <a:endParaRPr sz="2800">
              <a:latin typeface="Times New Roman"/>
              <a:cs typeface="Times New Roman"/>
            </a:endParaRPr>
          </a:p>
          <a:p>
            <a:pPr marL="1155700" lvl="2" indent="-229235">
              <a:lnSpc>
                <a:spcPct val="100000"/>
              </a:lnSpc>
              <a:spcBef>
                <a:spcPts val="585"/>
              </a:spcBef>
              <a:buChar char="•"/>
              <a:tabLst>
                <a:tab pos="1155700" algn="l"/>
              </a:tabLst>
            </a:pPr>
            <a:r>
              <a:rPr sz="2400" spc="-5" dirty="0">
                <a:latin typeface="Times New Roman"/>
                <a:cs typeface="Times New Roman"/>
              </a:rPr>
              <a:t>Go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 new location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if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condition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 true.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84197" y="814069"/>
            <a:ext cx="497395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Unconditional</a:t>
            </a:r>
            <a:r>
              <a:rPr spc="-60" dirty="0"/>
              <a:t> </a:t>
            </a:r>
            <a:r>
              <a:rPr spc="-5" dirty="0"/>
              <a:t>Branch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1739" y="1966976"/>
            <a:ext cx="87121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8450" algn="l"/>
              </a:tabLst>
            </a:pPr>
            <a:r>
              <a:rPr sz="2400" dirty="0">
                <a:latin typeface="Times New Roman"/>
                <a:cs typeface="Times New Roman"/>
              </a:rPr>
              <a:t>–	</a:t>
            </a:r>
            <a:r>
              <a:rPr sz="2400" spc="-5" dirty="0">
                <a:latin typeface="Times New Roman"/>
                <a:cs typeface="Times New Roman"/>
              </a:rPr>
              <a:t>JMP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93644" y="1966976"/>
            <a:ext cx="10248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Address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21739" y="2365501"/>
            <a:ext cx="6447790" cy="25431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98500" indent="-229235">
              <a:lnSpc>
                <a:spcPct val="100000"/>
              </a:lnSpc>
              <a:spcBef>
                <a:spcPts val="95"/>
              </a:spcBef>
              <a:buChar char="•"/>
              <a:tabLst>
                <a:tab pos="697865" algn="l"/>
                <a:tab pos="698500" algn="l"/>
              </a:tabLst>
            </a:pPr>
            <a:r>
              <a:rPr sz="2000" spc="-5" dirty="0">
                <a:latin typeface="Times New Roman"/>
                <a:cs typeface="Times New Roman"/>
              </a:rPr>
              <a:t>Jump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 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address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specified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(Go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to).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500">
              <a:latin typeface="Times New Roman"/>
              <a:cs typeface="Times New Roman"/>
            </a:endParaRPr>
          </a:p>
          <a:p>
            <a:pPr marL="298450" indent="-286385">
              <a:lnSpc>
                <a:spcPct val="100000"/>
              </a:lnSpc>
              <a:buChar char="–"/>
              <a:tabLst>
                <a:tab pos="298450" algn="l"/>
                <a:tab pos="299085" algn="l"/>
                <a:tab pos="1384300" algn="l"/>
              </a:tabLst>
            </a:pPr>
            <a:r>
              <a:rPr sz="2400" spc="-5" dirty="0">
                <a:latin typeface="Times New Roman"/>
                <a:cs typeface="Times New Roman"/>
              </a:rPr>
              <a:t>CALL	Address</a:t>
            </a:r>
            <a:endParaRPr sz="2400">
              <a:latin typeface="Times New Roman"/>
              <a:cs typeface="Times New Roman"/>
            </a:endParaRPr>
          </a:p>
          <a:p>
            <a:pPr marL="698500" lvl="1" indent="-229235">
              <a:lnSpc>
                <a:spcPct val="100000"/>
              </a:lnSpc>
              <a:spcBef>
                <a:spcPts val="254"/>
              </a:spcBef>
              <a:buChar char="•"/>
              <a:tabLst>
                <a:tab pos="697865" algn="l"/>
                <a:tab pos="698500" algn="l"/>
              </a:tabLst>
            </a:pPr>
            <a:r>
              <a:rPr sz="2000" spc="-5" dirty="0">
                <a:latin typeface="Times New Roman"/>
                <a:cs typeface="Times New Roman"/>
              </a:rPr>
              <a:t>Jump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 address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specified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but treat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it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as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subroutine.</a:t>
            </a:r>
            <a:endParaRPr sz="20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Font typeface="Times New Roman"/>
              <a:buChar char="•"/>
            </a:pPr>
            <a:endParaRPr sz="2950">
              <a:latin typeface="Times New Roman"/>
              <a:cs typeface="Times New Roman"/>
            </a:endParaRPr>
          </a:p>
          <a:p>
            <a:pPr marL="298450" indent="-286385">
              <a:lnSpc>
                <a:spcPct val="100000"/>
              </a:lnSpc>
              <a:spcBef>
                <a:spcPts val="5"/>
              </a:spcBef>
              <a:buChar char="–"/>
              <a:tabLst>
                <a:tab pos="298450" algn="l"/>
                <a:tab pos="299085" algn="l"/>
              </a:tabLst>
            </a:pPr>
            <a:r>
              <a:rPr sz="2400" spc="-5" dirty="0">
                <a:latin typeface="Times New Roman"/>
                <a:cs typeface="Times New Roman"/>
              </a:rPr>
              <a:t>RET</a:t>
            </a:r>
            <a:endParaRPr sz="2400">
              <a:latin typeface="Times New Roman"/>
              <a:cs typeface="Times New Roman"/>
            </a:endParaRPr>
          </a:p>
          <a:p>
            <a:pPr marL="698500" lvl="1" indent="-229235">
              <a:lnSpc>
                <a:spcPct val="100000"/>
              </a:lnSpc>
              <a:spcBef>
                <a:spcPts val="254"/>
              </a:spcBef>
              <a:buChar char="•"/>
              <a:tabLst>
                <a:tab pos="697865" algn="l"/>
                <a:tab pos="698500" algn="l"/>
              </a:tabLst>
            </a:pPr>
            <a:r>
              <a:rPr sz="2000" spc="-5" dirty="0">
                <a:latin typeface="Times New Roman"/>
                <a:cs typeface="Times New Roman"/>
              </a:rPr>
              <a:t>Return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from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subroutine.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21739" y="5923279"/>
            <a:ext cx="710819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98450" marR="5080" indent="-286385">
              <a:lnSpc>
                <a:spcPts val="2590"/>
              </a:lnSpc>
              <a:spcBef>
                <a:spcPts val="425"/>
              </a:spcBef>
              <a:tabLst>
                <a:tab pos="298450" algn="l"/>
              </a:tabLst>
            </a:pPr>
            <a:r>
              <a:rPr sz="2400" dirty="0">
                <a:latin typeface="Times New Roman"/>
                <a:cs typeface="Times New Roman"/>
              </a:rPr>
              <a:t>–	</a:t>
            </a:r>
            <a:r>
              <a:rPr sz="2400" spc="-5" dirty="0">
                <a:latin typeface="Times New Roman"/>
                <a:cs typeface="Times New Roman"/>
              </a:rPr>
              <a:t>The addresses supplied to </a:t>
            </a:r>
            <a:r>
              <a:rPr sz="2400" dirty="0">
                <a:latin typeface="Times New Roman"/>
                <a:cs typeface="Times New Roman"/>
              </a:rPr>
              <a:t>all </a:t>
            </a:r>
            <a:r>
              <a:rPr sz="2400" spc="-5" dirty="0">
                <a:latin typeface="Times New Roman"/>
                <a:cs typeface="Times New Roman"/>
              </a:rPr>
              <a:t>branch operations must </a:t>
            </a:r>
            <a:r>
              <a:rPr sz="2400" dirty="0">
                <a:latin typeface="Times New Roman"/>
                <a:cs typeface="Times New Roman"/>
              </a:rPr>
              <a:t>be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16-bits</a:t>
            </a:r>
            <a:r>
              <a:rPr sz="2400" spc="-5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3120" y="814069"/>
            <a:ext cx="441642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Conditional</a:t>
            </a:r>
            <a:r>
              <a:rPr spc="-55" dirty="0"/>
              <a:t> </a:t>
            </a:r>
            <a:r>
              <a:rPr spc="-5" dirty="0"/>
              <a:t>Branch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1739" y="1927617"/>
            <a:ext cx="6395085" cy="425577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98450" indent="-286385">
              <a:lnSpc>
                <a:spcPct val="100000"/>
              </a:lnSpc>
              <a:spcBef>
                <a:spcPts val="409"/>
              </a:spcBef>
              <a:buChar char="–"/>
              <a:tabLst>
                <a:tab pos="298450" algn="l"/>
                <a:tab pos="299085" algn="l"/>
              </a:tabLst>
            </a:pPr>
            <a:r>
              <a:rPr sz="2400" spc="-5" dirty="0">
                <a:latin typeface="Times New Roman"/>
                <a:cs typeface="Times New Roman"/>
              </a:rPr>
              <a:t>Go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to new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location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if</a:t>
            </a:r>
            <a:r>
              <a:rPr sz="2400" dirty="0">
                <a:latin typeface="Times New Roman"/>
                <a:cs typeface="Times New Roman"/>
              </a:rPr>
              <a:t> a </a:t>
            </a:r>
            <a:r>
              <a:rPr sz="2400" spc="-5" dirty="0">
                <a:latin typeface="Times New Roman"/>
                <a:cs typeface="Times New Roman"/>
              </a:rPr>
              <a:t>specified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condition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met.</a:t>
            </a:r>
            <a:endParaRPr sz="2400">
              <a:latin typeface="Times New Roman"/>
              <a:cs typeface="Times New Roman"/>
            </a:endParaRPr>
          </a:p>
          <a:p>
            <a:pPr marL="698500" lvl="1" indent="-229870">
              <a:lnSpc>
                <a:spcPct val="100000"/>
              </a:lnSpc>
              <a:spcBef>
                <a:spcPts val="254"/>
              </a:spcBef>
              <a:buChar char="•"/>
              <a:tabLst>
                <a:tab pos="697865" algn="l"/>
                <a:tab pos="699135" algn="l"/>
                <a:tab pos="1384300" algn="l"/>
              </a:tabLst>
            </a:pPr>
            <a:r>
              <a:rPr sz="2000" spc="-5" dirty="0">
                <a:latin typeface="Times New Roman"/>
                <a:cs typeface="Times New Roman"/>
              </a:rPr>
              <a:t>JZ	Address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(Jump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Zero)</a:t>
            </a:r>
            <a:endParaRPr sz="2000">
              <a:latin typeface="Times New Roman"/>
              <a:cs typeface="Times New Roman"/>
            </a:endParaRPr>
          </a:p>
          <a:p>
            <a:pPr marL="1155700" lvl="2" indent="-229235">
              <a:lnSpc>
                <a:spcPct val="100000"/>
              </a:lnSpc>
              <a:spcBef>
                <a:spcPts val="225"/>
              </a:spcBef>
              <a:buChar char="–"/>
              <a:tabLst>
                <a:tab pos="1155700" algn="l"/>
              </a:tabLst>
            </a:pPr>
            <a:r>
              <a:rPr sz="1800" spc="-5" dirty="0">
                <a:latin typeface="Times New Roman"/>
                <a:cs typeface="Times New Roman"/>
              </a:rPr>
              <a:t>Go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to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address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specified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if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990000"/>
                </a:solidFill>
                <a:latin typeface="Times New Roman"/>
                <a:cs typeface="Times New Roman"/>
              </a:rPr>
              <a:t>Zero</a:t>
            </a:r>
            <a:r>
              <a:rPr sz="1800" b="1" spc="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990000"/>
                </a:solidFill>
                <a:latin typeface="Times New Roman"/>
                <a:cs typeface="Times New Roman"/>
              </a:rPr>
              <a:t>flag</a:t>
            </a:r>
            <a:r>
              <a:rPr sz="1800" b="1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990000"/>
                </a:solidFill>
                <a:latin typeface="Times New Roman"/>
                <a:cs typeface="Times New Roman"/>
              </a:rPr>
              <a:t>is</a:t>
            </a:r>
            <a:r>
              <a:rPr sz="1800" b="1" spc="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990000"/>
                </a:solidFill>
                <a:latin typeface="Times New Roman"/>
                <a:cs typeface="Times New Roman"/>
              </a:rPr>
              <a:t>set</a:t>
            </a:r>
            <a:r>
              <a:rPr sz="1800" spc="-5" dirty="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698500" lvl="1" indent="-229870">
              <a:lnSpc>
                <a:spcPct val="100000"/>
              </a:lnSpc>
              <a:spcBef>
                <a:spcPts val="229"/>
              </a:spcBef>
              <a:buChar char="•"/>
              <a:tabLst>
                <a:tab pos="697865" algn="l"/>
                <a:tab pos="699135" algn="l"/>
                <a:tab pos="1384300" algn="l"/>
              </a:tabLst>
            </a:pPr>
            <a:r>
              <a:rPr sz="2000" spc="-5" dirty="0">
                <a:latin typeface="Times New Roman"/>
                <a:cs typeface="Times New Roman"/>
              </a:rPr>
              <a:t>JNZ	Address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(Jump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NOT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Zero)</a:t>
            </a:r>
            <a:endParaRPr sz="2000">
              <a:latin typeface="Times New Roman"/>
              <a:cs typeface="Times New Roman"/>
            </a:endParaRPr>
          </a:p>
          <a:p>
            <a:pPr marL="1155700" lvl="2" indent="-229235">
              <a:lnSpc>
                <a:spcPct val="100000"/>
              </a:lnSpc>
              <a:spcBef>
                <a:spcPts val="225"/>
              </a:spcBef>
              <a:buChar char="–"/>
              <a:tabLst>
                <a:tab pos="1155700" algn="l"/>
              </a:tabLst>
            </a:pPr>
            <a:r>
              <a:rPr sz="1800" spc="-5" dirty="0">
                <a:latin typeface="Times New Roman"/>
                <a:cs typeface="Times New Roman"/>
              </a:rPr>
              <a:t>Go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to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address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specified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if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990000"/>
                </a:solidFill>
                <a:latin typeface="Times New Roman"/>
                <a:cs typeface="Times New Roman"/>
              </a:rPr>
              <a:t>Zero</a:t>
            </a:r>
            <a:r>
              <a:rPr sz="1800" b="1" spc="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990000"/>
                </a:solidFill>
                <a:latin typeface="Times New Roman"/>
                <a:cs typeface="Times New Roman"/>
              </a:rPr>
              <a:t>flag</a:t>
            </a:r>
            <a:r>
              <a:rPr sz="1800" b="1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990000"/>
                </a:solidFill>
                <a:latin typeface="Times New Roman"/>
                <a:cs typeface="Times New Roman"/>
              </a:rPr>
              <a:t>is</a:t>
            </a:r>
            <a:r>
              <a:rPr sz="1800" b="1" spc="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990000"/>
                </a:solidFill>
                <a:latin typeface="Times New Roman"/>
                <a:cs typeface="Times New Roman"/>
              </a:rPr>
              <a:t>not</a:t>
            </a:r>
            <a:r>
              <a:rPr sz="1800" b="1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990000"/>
                </a:solidFill>
                <a:latin typeface="Times New Roman"/>
                <a:cs typeface="Times New Roman"/>
              </a:rPr>
              <a:t>set</a:t>
            </a:r>
            <a:r>
              <a:rPr sz="1800" spc="-5" dirty="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698500" lvl="1" indent="-229870">
              <a:lnSpc>
                <a:spcPct val="100000"/>
              </a:lnSpc>
              <a:spcBef>
                <a:spcPts val="229"/>
              </a:spcBef>
              <a:buChar char="•"/>
              <a:tabLst>
                <a:tab pos="697865" algn="l"/>
                <a:tab pos="699135" algn="l"/>
                <a:tab pos="1384300" algn="l"/>
              </a:tabLst>
            </a:pPr>
            <a:r>
              <a:rPr sz="2000" spc="-5" dirty="0">
                <a:latin typeface="Times New Roman"/>
                <a:cs typeface="Times New Roman"/>
              </a:rPr>
              <a:t>JC	Address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(Jump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Carry)</a:t>
            </a:r>
            <a:endParaRPr sz="2000">
              <a:latin typeface="Times New Roman"/>
              <a:cs typeface="Times New Roman"/>
            </a:endParaRPr>
          </a:p>
          <a:p>
            <a:pPr marL="1155700" lvl="2" indent="-229235">
              <a:lnSpc>
                <a:spcPct val="100000"/>
              </a:lnSpc>
              <a:spcBef>
                <a:spcPts val="225"/>
              </a:spcBef>
              <a:buChar char="–"/>
              <a:tabLst>
                <a:tab pos="1155700" algn="l"/>
              </a:tabLst>
            </a:pPr>
            <a:r>
              <a:rPr sz="1800" spc="-5" dirty="0">
                <a:latin typeface="Times New Roman"/>
                <a:cs typeface="Times New Roman"/>
              </a:rPr>
              <a:t>Go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to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address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specified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if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990000"/>
                </a:solidFill>
                <a:latin typeface="Times New Roman"/>
                <a:cs typeface="Times New Roman"/>
              </a:rPr>
              <a:t>Carry</a:t>
            </a:r>
            <a:r>
              <a:rPr sz="1800" b="1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990000"/>
                </a:solidFill>
                <a:latin typeface="Times New Roman"/>
                <a:cs typeface="Times New Roman"/>
              </a:rPr>
              <a:t>flag</a:t>
            </a:r>
            <a:r>
              <a:rPr sz="1800" b="1" spc="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990000"/>
                </a:solidFill>
                <a:latin typeface="Times New Roman"/>
                <a:cs typeface="Times New Roman"/>
              </a:rPr>
              <a:t>is</a:t>
            </a:r>
            <a:r>
              <a:rPr sz="1800" b="1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990000"/>
                </a:solidFill>
                <a:latin typeface="Times New Roman"/>
                <a:cs typeface="Times New Roman"/>
              </a:rPr>
              <a:t>set</a:t>
            </a:r>
            <a:r>
              <a:rPr sz="1800" spc="-5" dirty="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698500" lvl="1" indent="-229870">
              <a:lnSpc>
                <a:spcPct val="100000"/>
              </a:lnSpc>
              <a:spcBef>
                <a:spcPts val="229"/>
              </a:spcBef>
              <a:buChar char="•"/>
              <a:tabLst>
                <a:tab pos="697865" algn="l"/>
                <a:tab pos="699135" algn="l"/>
                <a:tab pos="1384300" algn="l"/>
              </a:tabLst>
            </a:pPr>
            <a:r>
              <a:rPr sz="2000" spc="-5" dirty="0">
                <a:latin typeface="Times New Roman"/>
                <a:cs typeface="Times New Roman"/>
              </a:rPr>
              <a:t>JNC	Address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(Jump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No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Carry)</a:t>
            </a:r>
            <a:endParaRPr sz="2000">
              <a:latin typeface="Times New Roman"/>
              <a:cs typeface="Times New Roman"/>
            </a:endParaRPr>
          </a:p>
          <a:p>
            <a:pPr marL="1155700" lvl="2" indent="-229235">
              <a:lnSpc>
                <a:spcPct val="100000"/>
              </a:lnSpc>
              <a:spcBef>
                <a:spcPts val="225"/>
              </a:spcBef>
              <a:buChar char="–"/>
              <a:tabLst>
                <a:tab pos="1155700" algn="l"/>
              </a:tabLst>
            </a:pPr>
            <a:r>
              <a:rPr sz="1800" spc="-5" dirty="0">
                <a:latin typeface="Times New Roman"/>
                <a:cs typeface="Times New Roman"/>
              </a:rPr>
              <a:t>Go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to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address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specified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if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990000"/>
                </a:solidFill>
                <a:latin typeface="Times New Roman"/>
                <a:cs typeface="Times New Roman"/>
              </a:rPr>
              <a:t>Carry</a:t>
            </a:r>
            <a:r>
              <a:rPr sz="1800" b="1" spc="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990000"/>
                </a:solidFill>
                <a:latin typeface="Times New Roman"/>
                <a:cs typeface="Times New Roman"/>
              </a:rPr>
              <a:t>flag</a:t>
            </a:r>
            <a:r>
              <a:rPr sz="1800" b="1" spc="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990000"/>
                </a:solidFill>
                <a:latin typeface="Times New Roman"/>
                <a:cs typeface="Times New Roman"/>
              </a:rPr>
              <a:t>is</a:t>
            </a:r>
            <a:r>
              <a:rPr sz="1800" b="1" spc="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990000"/>
                </a:solidFill>
                <a:latin typeface="Times New Roman"/>
                <a:cs typeface="Times New Roman"/>
              </a:rPr>
              <a:t>not set</a:t>
            </a:r>
            <a:r>
              <a:rPr sz="1800" spc="-5" dirty="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698500" lvl="1" indent="-229870">
              <a:lnSpc>
                <a:spcPct val="100000"/>
              </a:lnSpc>
              <a:spcBef>
                <a:spcPts val="234"/>
              </a:spcBef>
              <a:buChar char="•"/>
              <a:tabLst>
                <a:tab pos="697865" algn="l"/>
                <a:tab pos="699135" algn="l"/>
                <a:tab pos="1384300" algn="l"/>
              </a:tabLst>
            </a:pPr>
            <a:r>
              <a:rPr sz="2000" spc="-5" dirty="0">
                <a:latin typeface="Times New Roman"/>
                <a:cs typeface="Times New Roman"/>
              </a:rPr>
              <a:t>JP	Address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(Jump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Plus)</a:t>
            </a:r>
            <a:endParaRPr sz="2000">
              <a:latin typeface="Times New Roman"/>
              <a:cs typeface="Times New Roman"/>
            </a:endParaRPr>
          </a:p>
          <a:p>
            <a:pPr marL="1155700" lvl="2" indent="-229235">
              <a:lnSpc>
                <a:spcPct val="100000"/>
              </a:lnSpc>
              <a:spcBef>
                <a:spcPts val="220"/>
              </a:spcBef>
              <a:buChar char="–"/>
              <a:tabLst>
                <a:tab pos="1155700" algn="l"/>
              </a:tabLst>
            </a:pPr>
            <a:r>
              <a:rPr sz="1800" spc="-5" dirty="0">
                <a:latin typeface="Times New Roman"/>
                <a:cs typeface="Times New Roman"/>
              </a:rPr>
              <a:t>Go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to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address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specified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if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990000"/>
                </a:solidFill>
                <a:latin typeface="Times New Roman"/>
                <a:cs typeface="Times New Roman"/>
              </a:rPr>
              <a:t>Sign</a:t>
            </a:r>
            <a:r>
              <a:rPr sz="1800" b="1" spc="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990000"/>
                </a:solidFill>
                <a:latin typeface="Times New Roman"/>
                <a:cs typeface="Times New Roman"/>
              </a:rPr>
              <a:t>flag</a:t>
            </a:r>
            <a:r>
              <a:rPr sz="1800" b="1" spc="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990000"/>
                </a:solidFill>
                <a:latin typeface="Times New Roman"/>
                <a:cs typeface="Times New Roman"/>
              </a:rPr>
              <a:t>is</a:t>
            </a:r>
            <a:r>
              <a:rPr sz="1800" b="1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990000"/>
                </a:solidFill>
                <a:latin typeface="Times New Roman"/>
                <a:cs typeface="Times New Roman"/>
              </a:rPr>
              <a:t>not</a:t>
            </a:r>
            <a:r>
              <a:rPr sz="1800" b="1" spc="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990000"/>
                </a:solidFill>
                <a:latin typeface="Times New Roman"/>
                <a:cs typeface="Times New Roman"/>
              </a:rPr>
              <a:t>set</a:t>
            </a:r>
            <a:endParaRPr sz="1800">
              <a:latin typeface="Times New Roman"/>
              <a:cs typeface="Times New Roman"/>
            </a:endParaRPr>
          </a:p>
          <a:p>
            <a:pPr marL="698500" lvl="1" indent="-229870">
              <a:lnSpc>
                <a:spcPct val="100000"/>
              </a:lnSpc>
              <a:spcBef>
                <a:spcPts val="235"/>
              </a:spcBef>
              <a:buChar char="•"/>
              <a:tabLst>
                <a:tab pos="697865" algn="l"/>
                <a:tab pos="699135" algn="l"/>
                <a:tab pos="1384300" algn="l"/>
              </a:tabLst>
            </a:pPr>
            <a:r>
              <a:rPr sz="2000" spc="-5" dirty="0">
                <a:latin typeface="Times New Roman"/>
                <a:cs typeface="Times New Roman"/>
              </a:rPr>
              <a:t>JM	Address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(Jump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Minus)</a:t>
            </a:r>
            <a:endParaRPr sz="2000">
              <a:latin typeface="Times New Roman"/>
              <a:cs typeface="Times New Roman"/>
            </a:endParaRPr>
          </a:p>
          <a:p>
            <a:pPr marL="1155700" lvl="2" indent="-229235">
              <a:lnSpc>
                <a:spcPct val="100000"/>
              </a:lnSpc>
              <a:spcBef>
                <a:spcPts val="225"/>
              </a:spcBef>
              <a:buChar char="–"/>
              <a:tabLst>
                <a:tab pos="1155700" algn="l"/>
              </a:tabLst>
            </a:pPr>
            <a:r>
              <a:rPr sz="1800" spc="-5" dirty="0">
                <a:latin typeface="Times New Roman"/>
                <a:cs typeface="Times New Roman"/>
              </a:rPr>
              <a:t>Go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to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address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specified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if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990000"/>
                </a:solidFill>
                <a:latin typeface="Times New Roman"/>
                <a:cs typeface="Times New Roman"/>
              </a:rPr>
              <a:t>Sign</a:t>
            </a:r>
            <a:r>
              <a:rPr sz="1800" b="1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990000"/>
                </a:solidFill>
                <a:latin typeface="Times New Roman"/>
                <a:cs typeface="Times New Roman"/>
              </a:rPr>
              <a:t>flag</a:t>
            </a:r>
            <a:r>
              <a:rPr sz="1800" b="1" spc="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990000"/>
                </a:solidFill>
                <a:latin typeface="Times New Roman"/>
                <a:cs typeface="Times New Roman"/>
              </a:rPr>
              <a:t>is</a:t>
            </a:r>
            <a:r>
              <a:rPr sz="1800" b="1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990000"/>
                </a:solidFill>
                <a:latin typeface="Times New Roman"/>
                <a:cs typeface="Times New Roman"/>
              </a:rPr>
              <a:t>set</a:t>
            </a:r>
            <a:r>
              <a:rPr sz="1800" spc="-5" dirty="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58014" y="814069"/>
            <a:ext cx="382651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Machine</a:t>
            </a:r>
            <a:r>
              <a:rPr spc="-70" dirty="0"/>
              <a:t> </a:t>
            </a:r>
            <a:r>
              <a:rPr spc="-5" dirty="0"/>
              <a:t>Control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1739" y="1915199"/>
            <a:ext cx="6551930" cy="317436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785"/>
              </a:spcBef>
              <a:buChar char="–"/>
              <a:tabLst>
                <a:tab pos="298450" algn="l"/>
              </a:tabLst>
            </a:pPr>
            <a:r>
              <a:rPr sz="2800" spc="-5" dirty="0">
                <a:latin typeface="Times New Roman"/>
                <a:cs typeface="Times New Roman"/>
              </a:rPr>
              <a:t>HLT</a:t>
            </a:r>
            <a:endParaRPr sz="2800">
              <a:latin typeface="Times New Roman"/>
              <a:cs typeface="Times New Roman"/>
            </a:endParaRPr>
          </a:p>
          <a:p>
            <a:pPr marL="698500" lvl="1" indent="-229235">
              <a:lnSpc>
                <a:spcPct val="100000"/>
              </a:lnSpc>
              <a:spcBef>
                <a:spcPts val="585"/>
              </a:spcBef>
              <a:buChar char="•"/>
              <a:tabLst>
                <a:tab pos="698500" algn="l"/>
              </a:tabLst>
            </a:pPr>
            <a:r>
              <a:rPr sz="2400" spc="-5" dirty="0">
                <a:latin typeface="Times New Roman"/>
                <a:cs typeface="Times New Roman"/>
              </a:rPr>
              <a:t>Stop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executing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program.</a:t>
            </a:r>
            <a:endParaRPr sz="24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660"/>
              </a:spcBef>
              <a:buChar char="–"/>
              <a:tabLst>
                <a:tab pos="298450" algn="l"/>
              </a:tabLst>
            </a:pPr>
            <a:r>
              <a:rPr sz="2800" dirty="0">
                <a:latin typeface="Times New Roman"/>
                <a:cs typeface="Times New Roman"/>
              </a:rPr>
              <a:t>NOP</a:t>
            </a:r>
            <a:endParaRPr sz="2800">
              <a:latin typeface="Times New Roman"/>
              <a:cs typeface="Times New Roman"/>
            </a:endParaRPr>
          </a:p>
          <a:p>
            <a:pPr marL="698500" lvl="1" indent="-229235">
              <a:lnSpc>
                <a:spcPct val="100000"/>
              </a:lnSpc>
              <a:spcBef>
                <a:spcPts val="590"/>
              </a:spcBef>
              <a:buChar char="•"/>
              <a:tabLst>
                <a:tab pos="698500" algn="l"/>
              </a:tabLst>
            </a:pPr>
            <a:r>
              <a:rPr sz="2400" spc="-5" dirty="0">
                <a:latin typeface="Times New Roman"/>
                <a:cs typeface="Times New Roman"/>
              </a:rPr>
              <a:t>No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operation</a:t>
            </a:r>
            <a:endParaRPr sz="2400">
              <a:latin typeface="Times New Roman"/>
              <a:cs typeface="Times New Roman"/>
            </a:endParaRPr>
          </a:p>
          <a:p>
            <a:pPr marL="698500" lvl="1" indent="-229235">
              <a:lnSpc>
                <a:spcPct val="100000"/>
              </a:lnSpc>
              <a:spcBef>
                <a:spcPts val="575"/>
              </a:spcBef>
              <a:buChar char="•"/>
              <a:tabLst>
                <a:tab pos="698500" algn="l"/>
              </a:tabLst>
            </a:pPr>
            <a:r>
              <a:rPr sz="2400" spc="-5" dirty="0">
                <a:latin typeface="Times New Roman"/>
                <a:cs typeface="Times New Roman"/>
              </a:rPr>
              <a:t>Exactly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says,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nothing.</a:t>
            </a:r>
            <a:endParaRPr sz="2400">
              <a:latin typeface="Times New Roman"/>
              <a:cs typeface="Times New Roman"/>
            </a:endParaRPr>
          </a:p>
          <a:p>
            <a:pPr marL="697865" marR="5080" lvl="1" indent="-228600">
              <a:lnSpc>
                <a:spcPct val="100000"/>
              </a:lnSpc>
              <a:spcBef>
                <a:spcPts val="575"/>
              </a:spcBef>
              <a:buChar char="•"/>
              <a:tabLst>
                <a:tab pos="698500" algn="l"/>
              </a:tabLst>
            </a:pPr>
            <a:r>
              <a:rPr sz="2400" spc="-5" dirty="0">
                <a:latin typeface="Times New Roman"/>
                <a:cs typeface="Times New Roman"/>
              </a:rPr>
              <a:t>Usually used for delay </a:t>
            </a:r>
            <a:r>
              <a:rPr sz="2400" dirty="0">
                <a:latin typeface="Times New Roman"/>
                <a:cs typeface="Times New Roman"/>
              </a:rPr>
              <a:t>or </a:t>
            </a:r>
            <a:r>
              <a:rPr sz="2400" spc="-5" dirty="0">
                <a:latin typeface="Times New Roman"/>
                <a:cs typeface="Times New Roman"/>
              </a:rPr>
              <a:t>to replace instructions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during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debugging.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5466" y="814069"/>
            <a:ext cx="34524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Operand</a:t>
            </a:r>
            <a:r>
              <a:rPr spc="-80" dirty="0"/>
              <a:t> </a:t>
            </a:r>
            <a:r>
              <a:rPr spc="-5" dirty="0"/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59355"/>
            <a:ext cx="7552690" cy="379031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marR="1111250" indent="-343535">
              <a:lnSpc>
                <a:spcPts val="3020"/>
              </a:lnSpc>
              <a:spcBef>
                <a:spcPts val="484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There are different ways </a:t>
            </a:r>
            <a:r>
              <a:rPr sz="2800" dirty="0">
                <a:latin typeface="Times New Roman"/>
                <a:cs typeface="Times New Roman"/>
              </a:rPr>
              <a:t>for </a:t>
            </a:r>
            <a:r>
              <a:rPr sz="2800" spc="-5" dirty="0">
                <a:latin typeface="Times New Roman"/>
                <a:cs typeface="Times New Roman"/>
              </a:rPr>
              <a:t>specifying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operand:</a:t>
            </a:r>
            <a:endParaRPr sz="28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259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There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5" dirty="0">
                <a:latin typeface="Times New Roman"/>
                <a:cs typeface="Times New Roman"/>
              </a:rPr>
              <a:t> operand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(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implied</a:t>
            </a:r>
            <a:r>
              <a:rPr sz="2400" spc="-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operand</a:t>
            </a:r>
            <a:r>
              <a:rPr sz="2400" spc="-5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L="1155700" lvl="2" indent="-229870">
              <a:lnSpc>
                <a:spcPct val="100000"/>
              </a:lnSpc>
              <a:spcBef>
                <a:spcPts val="254"/>
              </a:spcBef>
              <a:buChar char="•"/>
              <a:tabLst>
                <a:tab pos="1155065" algn="l"/>
                <a:tab pos="1156335" algn="l"/>
              </a:tabLst>
            </a:pPr>
            <a:r>
              <a:rPr sz="2000" spc="-5" dirty="0">
                <a:latin typeface="Times New Roman"/>
                <a:cs typeface="Times New Roman"/>
              </a:rPr>
              <a:t>CMA</a:t>
            </a:r>
            <a:endParaRPr sz="20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270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operand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 an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8-bit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number (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immediate</a:t>
            </a:r>
            <a:r>
              <a:rPr sz="2400" spc="-2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990000"/>
                </a:solidFill>
                <a:latin typeface="Times New Roman"/>
                <a:cs typeface="Times New Roman"/>
              </a:rPr>
              <a:t>data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L="1155700" lvl="2" indent="-229870">
              <a:lnSpc>
                <a:spcPct val="100000"/>
              </a:lnSpc>
              <a:spcBef>
                <a:spcPts val="254"/>
              </a:spcBef>
              <a:buChar char="•"/>
              <a:tabLst>
                <a:tab pos="1155065" algn="l"/>
                <a:tab pos="1156335" algn="l"/>
                <a:tab pos="1892300" algn="l"/>
              </a:tabLst>
            </a:pPr>
            <a:r>
              <a:rPr sz="2000" spc="-5" dirty="0">
                <a:latin typeface="Times New Roman"/>
                <a:cs typeface="Times New Roman"/>
              </a:rPr>
              <a:t>ADI	4FH</a:t>
            </a:r>
            <a:endParaRPr sz="20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275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operand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internal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register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dirty="0">
                <a:solidFill>
                  <a:srgbClr val="990000"/>
                </a:solidFill>
                <a:latin typeface="Times New Roman"/>
                <a:cs typeface="Times New Roman"/>
              </a:rPr>
              <a:t>register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L="1155700" lvl="2" indent="-229870">
              <a:lnSpc>
                <a:spcPct val="100000"/>
              </a:lnSpc>
              <a:spcBef>
                <a:spcPts val="254"/>
              </a:spcBef>
              <a:buChar char="•"/>
              <a:tabLst>
                <a:tab pos="1155065" algn="l"/>
                <a:tab pos="1156335" algn="l"/>
                <a:tab pos="1892300" algn="l"/>
              </a:tabLst>
            </a:pPr>
            <a:r>
              <a:rPr sz="2000" spc="-5" dirty="0">
                <a:latin typeface="Times New Roman"/>
                <a:cs typeface="Times New Roman"/>
              </a:rPr>
              <a:t>SUB	B</a:t>
            </a:r>
            <a:endParaRPr sz="20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270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The operand may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16-bit address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(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memory</a:t>
            </a:r>
            <a:r>
              <a:rPr sz="240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address</a:t>
            </a:r>
            <a:r>
              <a:rPr sz="2400" spc="-5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L="1155700" lvl="2" indent="-229870">
              <a:lnSpc>
                <a:spcPct val="100000"/>
              </a:lnSpc>
              <a:spcBef>
                <a:spcPts val="259"/>
              </a:spcBef>
              <a:buChar char="•"/>
              <a:tabLst>
                <a:tab pos="1155065" algn="l"/>
                <a:tab pos="1156335" algn="l"/>
                <a:tab pos="1892300" algn="l"/>
              </a:tabLst>
            </a:pPr>
            <a:r>
              <a:rPr sz="2000" spc="-5" dirty="0">
                <a:latin typeface="Times New Roman"/>
                <a:cs typeface="Times New Roman"/>
              </a:rPr>
              <a:t>LDA	4000H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98222" y="814069"/>
            <a:ext cx="354711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Instruction</a:t>
            </a:r>
            <a:r>
              <a:rPr spc="-60" dirty="0"/>
              <a:t> </a:t>
            </a:r>
            <a:r>
              <a:rPr spc="-5" dirty="0"/>
              <a:t>Size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2002027"/>
            <a:ext cx="7555230" cy="3943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22225" indent="-343535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Depending </a:t>
            </a:r>
            <a:r>
              <a:rPr sz="2800" dirty="0">
                <a:latin typeface="Times New Roman"/>
                <a:cs typeface="Times New Roman"/>
              </a:rPr>
              <a:t>on the </a:t>
            </a:r>
            <a:r>
              <a:rPr sz="2800" spc="-5" dirty="0">
                <a:latin typeface="Times New Roman"/>
                <a:cs typeface="Times New Roman"/>
              </a:rPr>
              <a:t>operand type,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instruction 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may have different sizes. </a:t>
            </a:r>
            <a:r>
              <a:rPr sz="2800" dirty="0">
                <a:latin typeface="Times New Roman"/>
                <a:cs typeface="Times New Roman"/>
              </a:rPr>
              <a:t>It will </a:t>
            </a:r>
            <a:r>
              <a:rPr sz="2800" spc="-5" dirty="0">
                <a:latin typeface="Times New Roman"/>
                <a:cs typeface="Times New Roman"/>
              </a:rPr>
              <a:t>occupy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different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number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5" dirty="0">
                <a:latin typeface="Times New Roman"/>
                <a:cs typeface="Times New Roman"/>
              </a:rPr>
              <a:t> memory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bytes.</a:t>
            </a:r>
            <a:endParaRPr sz="28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585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Typically,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all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instructions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occupy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800000"/>
                </a:solidFill>
                <a:latin typeface="Times New Roman"/>
                <a:cs typeface="Times New Roman"/>
              </a:rPr>
              <a:t>one</a:t>
            </a:r>
            <a:r>
              <a:rPr sz="2400" spc="-5" dirty="0">
                <a:solidFill>
                  <a:srgbClr val="800000"/>
                </a:solidFill>
                <a:latin typeface="Times New Roman"/>
                <a:cs typeface="Times New Roman"/>
              </a:rPr>
              <a:t> byte</a:t>
            </a:r>
            <a:r>
              <a:rPr sz="2400" spc="5" dirty="0">
                <a:solidFill>
                  <a:srgbClr val="80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only.</a:t>
            </a:r>
            <a:endParaRPr sz="2400">
              <a:latin typeface="Times New Roman"/>
              <a:cs typeface="Times New Roman"/>
            </a:endParaRPr>
          </a:p>
          <a:p>
            <a:pPr marL="755650" marR="1264920" lvl="1" indent="-286385">
              <a:lnSpc>
                <a:spcPct val="100000"/>
              </a:lnSpc>
              <a:spcBef>
                <a:spcPts val="580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The exception is </a:t>
            </a:r>
            <a:r>
              <a:rPr sz="2400" dirty="0">
                <a:latin typeface="Times New Roman"/>
                <a:cs typeface="Times New Roman"/>
              </a:rPr>
              <a:t>any </a:t>
            </a:r>
            <a:r>
              <a:rPr sz="2400" spc="-5" dirty="0">
                <a:latin typeface="Times New Roman"/>
                <a:cs typeface="Times New Roman"/>
              </a:rPr>
              <a:t>instruction that contains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immediate</a:t>
            </a:r>
            <a:r>
              <a:rPr sz="2400" spc="-3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data</a:t>
            </a:r>
            <a:r>
              <a:rPr sz="240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memory</a:t>
            </a:r>
            <a:r>
              <a:rPr sz="2400" spc="-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address</a:t>
            </a:r>
            <a:r>
              <a:rPr sz="2400" spc="-5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1155700" lvl="2" indent="-229870">
              <a:lnSpc>
                <a:spcPct val="100000"/>
              </a:lnSpc>
              <a:spcBef>
                <a:spcPts val="495"/>
              </a:spcBef>
              <a:buChar char="•"/>
              <a:tabLst>
                <a:tab pos="1155065" algn="l"/>
                <a:tab pos="1156335" algn="l"/>
              </a:tabLst>
            </a:pPr>
            <a:r>
              <a:rPr sz="2000" spc="-5" dirty="0">
                <a:latin typeface="Times New Roman"/>
                <a:cs typeface="Times New Roman"/>
              </a:rPr>
              <a:t>Instructions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that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include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immediate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data use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800000"/>
                </a:solidFill>
                <a:latin typeface="Times New Roman"/>
                <a:cs typeface="Times New Roman"/>
              </a:rPr>
              <a:t>two</a:t>
            </a:r>
            <a:r>
              <a:rPr sz="2000" dirty="0">
                <a:solidFill>
                  <a:srgbClr val="800000"/>
                </a:solidFill>
                <a:latin typeface="Times New Roman"/>
                <a:cs typeface="Times New Roman"/>
              </a:rPr>
              <a:t> bytes</a:t>
            </a:r>
            <a:r>
              <a:rPr sz="200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1612900" lvl="3" indent="-229235">
              <a:lnSpc>
                <a:spcPct val="100000"/>
              </a:lnSpc>
              <a:spcBef>
                <a:spcPts val="439"/>
              </a:spcBef>
              <a:buChar char="–"/>
              <a:tabLst>
                <a:tab pos="1612900" algn="l"/>
              </a:tabLst>
            </a:pPr>
            <a:r>
              <a:rPr sz="1800" spc="-5" dirty="0">
                <a:latin typeface="Times New Roman"/>
                <a:cs typeface="Times New Roman"/>
              </a:rPr>
              <a:t>One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opcode and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 other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8-bit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data.</a:t>
            </a:r>
            <a:endParaRPr sz="1800">
              <a:latin typeface="Times New Roman"/>
              <a:cs typeface="Times New Roman"/>
            </a:endParaRPr>
          </a:p>
          <a:p>
            <a:pPr marL="1155700" lvl="2" indent="-229870">
              <a:lnSpc>
                <a:spcPct val="100000"/>
              </a:lnSpc>
              <a:spcBef>
                <a:spcPts val="470"/>
              </a:spcBef>
              <a:buChar char="•"/>
              <a:tabLst>
                <a:tab pos="1155065" algn="l"/>
                <a:tab pos="1156335" algn="l"/>
              </a:tabLst>
            </a:pPr>
            <a:r>
              <a:rPr sz="2000" spc="-5" dirty="0">
                <a:latin typeface="Times New Roman"/>
                <a:cs typeface="Times New Roman"/>
              </a:rPr>
              <a:t>Instructions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that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include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memory address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occupy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three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bytes</a:t>
            </a:r>
            <a:r>
              <a:rPr sz="200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1612900" lvl="3" indent="-229235">
              <a:lnSpc>
                <a:spcPct val="100000"/>
              </a:lnSpc>
              <a:spcBef>
                <a:spcPts val="440"/>
              </a:spcBef>
              <a:buChar char="–"/>
              <a:tabLst>
                <a:tab pos="1612900" algn="l"/>
              </a:tabLst>
            </a:pPr>
            <a:r>
              <a:rPr sz="1800" spc="-5" dirty="0">
                <a:latin typeface="Times New Roman"/>
                <a:cs typeface="Times New Roman"/>
              </a:rPr>
              <a:t>One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opcode,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and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other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two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16-bit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address.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0622" y="814069"/>
            <a:ext cx="730123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Instruction</a:t>
            </a:r>
            <a:r>
              <a:rPr spc="-15" dirty="0"/>
              <a:t> </a:t>
            </a:r>
            <a:r>
              <a:rPr spc="-5" dirty="0"/>
              <a:t>with</a:t>
            </a:r>
            <a:r>
              <a:rPr spc="5" dirty="0"/>
              <a:t> </a:t>
            </a:r>
            <a:r>
              <a:rPr spc="-5" dirty="0"/>
              <a:t>Immediate Date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2002027"/>
            <a:ext cx="6229985" cy="2930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Operation: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Load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8-bit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number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into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accumulator.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</a:pPr>
            <a:endParaRPr sz="40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buChar char="–"/>
              <a:tabLst>
                <a:tab pos="755650" algn="l"/>
                <a:tab pos="756285" algn="l"/>
                <a:tab pos="1668145" algn="l"/>
              </a:tabLst>
            </a:pPr>
            <a:r>
              <a:rPr sz="2400" spc="-5" dirty="0">
                <a:latin typeface="Times New Roman"/>
                <a:cs typeface="Times New Roman"/>
              </a:rPr>
              <a:t>MVI	A,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32</a:t>
            </a:r>
            <a:endParaRPr sz="2400">
              <a:latin typeface="Times New Roman"/>
              <a:cs typeface="Times New Roman"/>
            </a:endParaRPr>
          </a:p>
          <a:p>
            <a:pPr marL="1155700" lvl="2" indent="-229870">
              <a:lnSpc>
                <a:spcPct val="100000"/>
              </a:lnSpc>
              <a:spcBef>
                <a:spcPts val="495"/>
              </a:spcBef>
              <a:buChar char="•"/>
              <a:tabLst>
                <a:tab pos="1155065" algn="l"/>
                <a:tab pos="1156335" algn="l"/>
                <a:tab pos="3100705" algn="l"/>
              </a:tabLst>
            </a:pPr>
            <a:r>
              <a:rPr sz="2000" spc="-5" dirty="0">
                <a:latin typeface="Times New Roman"/>
                <a:cs typeface="Times New Roman"/>
              </a:rPr>
              <a:t>Operation: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MVI	A</a:t>
            </a:r>
            <a:endParaRPr sz="2000">
              <a:latin typeface="Times New Roman"/>
              <a:cs typeface="Times New Roman"/>
            </a:endParaRPr>
          </a:p>
          <a:p>
            <a:pPr marL="1155700" lvl="2" indent="-229235">
              <a:lnSpc>
                <a:spcPct val="100000"/>
              </a:lnSpc>
              <a:spcBef>
                <a:spcPts val="480"/>
              </a:spcBef>
              <a:buChar char="•"/>
              <a:tabLst>
                <a:tab pos="1155065" algn="l"/>
                <a:tab pos="1156335" algn="l"/>
              </a:tabLst>
            </a:pPr>
            <a:r>
              <a:rPr sz="2000" spc="-5" dirty="0">
                <a:latin typeface="Times New Roman"/>
                <a:cs typeface="Times New Roman"/>
              </a:rPr>
              <a:t>Operand: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number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32</a:t>
            </a:r>
            <a:endParaRPr sz="2000">
              <a:latin typeface="Times New Roman"/>
              <a:cs typeface="Times New Roman"/>
            </a:endParaRPr>
          </a:p>
          <a:p>
            <a:pPr marL="1155700" lvl="2" indent="-229235">
              <a:lnSpc>
                <a:spcPct val="100000"/>
              </a:lnSpc>
              <a:spcBef>
                <a:spcPts val="480"/>
              </a:spcBef>
              <a:buChar char="•"/>
              <a:tabLst>
                <a:tab pos="1155065" algn="l"/>
                <a:tab pos="1156335" algn="l"/>
              </a:tabLst>
            </a:pPr>
            <a:r>
              <a:rPr sz="2000" spc="-5" dirty="0">
                <a:latin typeface="Times New Roman"/>
                <a:cs typeface="Times New Roman"/>
              </a:rPr>
              <a:t>Binary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Code: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96587" y="5325871"/>
            <a:ext cx="4330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baseline="-16203" dirty="0">
                <a:latin typeface="Times New Roman"/>
                <a:cs typeface="Times New Roman"/>
              </a:rPr>
              <a:t>2</a:t>
            </a:r>
            <a:r>
              <a:rPr sz="1600" dirty="0">
                <a:latin typeface="Times New Roman"/>
                <a:cs typeface="Times New Roman"/>
              </a:rPr>
              <a:t>nd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82266" y="4905247"/>
            <a:ext cx="3199765" cy="90360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675"/>
              </a:spcBef>
              <a:tabLst>
                <a:tab pos="1482725" algn="l"/>
                <a:tab pos="2052320" algn="l"/>
                <a:tab pos="2467610" algn="l"/>
              </a:tabLst>
            </a:pPr>
            <a:r>
              <a:rPr sz="2400" dirty="0">
                <a:latin typeface="Times New Roman"/>
                <a:cs typeface="Times New Roman"/>
              </a:rPr>
              <a:t>0011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1110	3E	1</a:t>
            </a:r>
            <a:r>
              <a:rPr sz="2400" baseline="24305" dirty="0">
                <a:latin typeface="Times New Roman"/>
                <a:cs typeface="Times New Roman"/>
              </a:rPr>
              <a:t>st	</a:t>
            </a:r>
            <a:r>
              <a:rPr sz="2400" spc="-5" dirty="0">
                <a:latin typeface="Times New Roman"/>
                <a:cs typeface="Times New Roman"/>
              </a:rPr>
              <a:t>byte.</a:t>
            </a:r>
            <a:endParaRPr sz="24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575"/>
              </a:spcBef>
              <a:tabLst>
                <a:tab pos="1482725" algn="l"/>
                <a:tab pos="2559685" algn="l"/>
              </a:tabLst>
            </a:pPr>
            <a:r>
              <a:rPr sz="2400" dirty="0">
                <a:latin typeface="Times New Roman"/>
                <a:cs typeface="Times New Roman"/>
              </a:rPr>
              <a:t>0011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0010	32	</a:t>
            </a:r>
            <a:r>
              <a:rPr sz="2400" spc="-5" dirty="0">
                <a:latin typeface="Times New Roman"/>
                <a:cs typeface="Times New Roman"/>
              </a:rPr>
              <a:t>byte.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4645" marR="5080" indent="-208788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Instruction with a Memory </a:t>
            </a:r>
            <a:r>
              <a:rPr spc="-1085" dirty="0"/>
              <a:t> </a:t>
            </a:r>
            <a:r>
              <a:rPr spc="-5" dirty="0"/>
              <a:t>Address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1840" y="1951736"/>
            <a:ext cx="5396865" cy="3063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830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67665" algn="l"/>
                <a:tab pos="368300" algn="l"/>
              </a:tabLst>
            </a:pPr>
            <a:r>
              <a:rPr sz="3200" spc="-5" dirty="0">
                <a:latin typeface="Times New Roman"/>
                <a:cs typeface="Times New Roman"/>
              </a:rPr>
              <a:t>Operation: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go to address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2085.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Times New Roman"/>
              <a:buChar char="•"/>
            </a:pPr>
            <a:endParaRPr sz="3050">
              <a:latin typeface="Times New Roman"/>
              <a:cs typeface="Times New Roman"/>
            </a:endParaRPr>
          </a:p>
          <a:p>
            <a:pPr marL="768350" lvl="1" indent="-285750">
              <a:lnSpc>
                <a:spcPct val="100000"/>
              </a:lnSpc>
              <a:buChar char="–"/>
              <a:tabLst>
                <a:tab pos="768350" algn="l"/>
              </a:tabLst>
            </a:pPr>
            <a:r>
              <a:rPr sz="2800" spc="-5" dirty="0">
                <a:latin typeface="Times New Roman"/>
                <a:cs typeface="Times New Roman"/>
              </a:rPr>
              <a:t>Instruction: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JMP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2085</a:t>
            </a:r>
            <a:endParaRPr sz="2800">
              <a:latin typeface="Times New Roman"/>
              <a:cs typeface="Times New Roman"/>
            </a:endParaRPr>
          </a:p>
          <a:p>
            <a:pPr marL="1168400" lvl="2" indent="-229235">
              <a:lnSpc>
                <a:spcPct val="100000"/>
              </a:lnSpc>
              <a:spcBef>
                <a:spcPts val="295"/>
              </a:spcBef>
              <a:buChar char="•"/>
              <a:tabLst>
                <a:tab pos="1168400" algn="l"/>
              </a:tabLst>
            </a:pPr>
            <a:r>
              <a:rPr sz="2400" spc="-5" dirty="0">
                <a:latin typeface="Times New Roman"/>
                <a:cs typeface="Times New Roman"/>
              </a:rPr>
              <a:t>Opcode: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JMP</a:t>
            </a:r>
            <a:endParaRPr sz="2400">
              <a:latin typeface="Times New Roman"/>
              <a:cs typeface="Times New Roman"/>
            </a:endParaRPr>
          </a:p>
          <a:p>
            <a:pPr marL="1168400" lvl="2" indent="-229235">
              <a:lnSpc>
                <a:spcPct val="100000"/>
              </a:lnSpc>
              <a:spcBef>
                <a:spcPts val="290"/>
              </a:spcBef>
              <a:buChar char="•"/>
              <a:tabLst>
                <a:tab pos="1168400" algn="l"/>
              </a:tabLst>
            </a:pPr>
            <a:r>
              <a:rPr sz="2400" spc="-5" dirty="0">
                <a:latin typeface="Times New Roman"/>
                <a:cs typeface="Times New Roman"/>
              </a:rPr>
              <a:t>Operand: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2085</a:t>
            </a:r>
            <a:endParaRPr sz="2400">
              <a:latin typeface="Times New Roman"/>
              <a:cs typeface="Times New Roman"/>
            </a:endParaRPr>
          </a:p>
          <a:p>
            <a:pPr marL="1167765" lvl="2" indent="-229235">
              <a:lnSpc>
                <a:spcPct val="100000"/>
              </a:lnSpc>
              <a:spcBef>
                <a:spcPts val="290"/>
              </a:spcBef>
              <a:buChar char="•"/>
              <a:tabLst>
                <a:tab pos="1168400" algn="l"/>
              </a:tabLst>
            </a:pPr>
            <a:r>
              <a:rPr sz="2400" spc="-5" dirty="0">
                <a:latin typeface="Times New Roman"/>
                <a:cs typeface="Times New Roman"/>
              </a:rPr>
              <a:t>Binary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code:</a:t>
            </a:r>
            <a:endParaRPr sz="2400">
              <a:latin typeface="Times New Roman"/>
              <a:cs typeface="Times New Roman"/>
            </a:endParaRPr>
          </a:p>
          <a:p>
            <a:pPr marL="939165">
              <a:lnSpc>
                <a:spcPct val="100000"/>
              </a:lnSpc>
              <a:spcBef>
                <a:spcPts val="325"/>
              </a:spcBef>
              <a:tabLst>
                <a:tab pos="2767965" algn="l"/>
                <a:tab pos="3683000" algn="l"/>
                <a:tab pos="4164965" algn="l"/>
              </a:tabLst>
            </a:pPr>
            <a:r>
              <a:rPr sz="2800" dirty="0">
                <a:latin typeface="Times New Roman"/>
                <a:cs typeface="Times New Roman"/>
              </a:rPr>
              <a:t>1100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0011	</a:t>
            </a:r>
            <a:r>
              <a:rPr sz="2800" spc="-5" dirty="0">
                <a:latin typeface="Times New Roman"/>
                <a:cs typeface="Times New Roman"/>
              </a:rPr>
              <a:t>C3	</a:t>
            </a:r>
            <a:r>
              <a:rPr sz="2800" dirty="0">
                <a:latin typeface="Times New Roman"/>
                <a:cs typeface="Times New Roman"/>
              </a:rPr>
              <a:t>1</a:t>
            </a:r>
            <a:r>
              <a:rPr sz="2775" baseline="25525" dirty="0">
                <a:latin typeface="Times New Roman"/>
                <a:cs typeface="Times New Roman"/>
              </a:rPr>
              <a:t>st	</a:t>
            </a:r>
            <a:r>
              <a:rPr sz="2800" spc="-5" dirty="0">
                <a:latin typeface="Times New Roman"/>
                <a:cs typeface="Times New Roman"/>
              </a:rPr>
              <a:t>byte.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659889" y="5082436"/>
          <a:ext cx="3924300" cy="8642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6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5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112">
                <a:tc>
                  <a:txBody>
                    <a:bodyPr/>
                    <a:lstStyle/>
                    <a:p>
                      <a:pPr marL="31750">
                        <a:lnSpc>
                          <a:spcPts val="3065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1000</a:t>
                      </a:r>
                      <a:r>
                        <a:rPr sz="28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0101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08279" algn="r">
                        <a:lnSpc>
                          <a:spcPts val="3065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85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3065"/>
                        </a:lnSpc>
                      </a:pPr>
                      <a:r>
                        <a:rPr sz="2800" spc="5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2775" spc="7" baseline="25525" dirty="0">
                          <a:latin typeface="Times New Roman"/>
                          <a:cs typeface="Times New Roman"/>
                        </a:rPr>
                        <a:t>nd</a:t>
                      </a:r>
                      <a:r>
                        <a:rPr sz="2775" spc="284" baseline="255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byte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112">
                <a:tc>
                  <a:txBody>
                    <a:bodyPr/>
                    <a:lstStyle/>
                    <a:p>
                      <a:pPr marL="31750">
                        <a:lnSpc>
                          <a:spcPts val="3300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0010</a:t>
                      </a:r>
                      <a:r>
                        <a:rPr sz="28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0000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08279" algn="r">
                        <a:lnSpc>
                          <a:spcPts val="3300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20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4135" algn="r">
                        <a:lnSpc>
                          <a:spcPts val="3300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2775" baseline="25525" dirty="0">
                          <a:latin typeface="Times New Roman"/>
                          <a:cs typeface="Times New Roman"/>
                        </a:rPr>
                        <a:t>rd</a:t>
                      </a:r>
                      <a:r>
                        <a:rPr sz="2775" spc="284" baseline="255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byte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56846" y="814069"/>
            <a:ext cx="423100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Addressing</a:t>
            </a:r>
            <a:r>
              <a:rPr spc="-60" dirty="0"/>
              <a:t> </a:t>
            </a:r>
            <a:r>
              <a:rPr spc="-5" dirty="0"/>
              <a:t>Modes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59355"/>
            <a:ext cx="7230745" cy="215963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marR="5080" indent="-342900">
              <a:lnSpc>
                <a:spcPts val="3020"/>
              </a:lnSpc>
              <a:spcBef>
                <a:spcPts val="484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microprocessor has different ways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specifying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data </a:t>
            </a:r>
            <a:r>
              <a:rPr sz="2800" dirty="0">
                <a:latin typeface="Times New Roman"/>
                <a:cs typeface="Times New Roman"/>
              </a:rPr>
              <a:t>for the </a:t>
            </a:r>
            <a:r>
              <a:rPr sz="2800" spc="-5" dirty="0">
                <a:latin typeface="Times New Roman"/>
                <a:cs typeface="Times New Roman"/>
              </a:rPr>
              <a:t>instruction. These are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called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“</a:t>
            </a:r>
            <a:r>
              <a:rPr sz="2800" spc="-5" dirty="0">
                <a:solidFill>
                  <a:srgbClr val="800000"/>
                </a:solidFill>
                <a:latin typeface="Times New Roman"/>
                <a:cs typeface="Times New Roman"/>
              </a:rPr>
              <a:t>addressing</a:t>
            </a:r>
            <a:r>
              <a:rPr sz="2800" spc="-25" dirty="0">
                <a:solidFill>
                  <a:srgbClr val="80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800000"/>
                </a:solidFill>
                <a:latin typeface="Times New Roman"/>
                <a:cs typeface="Times New Roman"/>
              </a:rPr>
              <a:t>modes</a:t>
            </a:r>
            <a:r>
              <a:rPr sz="2800" spc="-5" dirty="0">
                <a:latin typeface="Times New Roman"/>
                <a:cs typeface="Times New Roman"/>
              </a:rPr>
              <a:t>”.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Times New Roman"/>
              <a:buChar char="•"/>
            </a:pPr>
            <a:endParaRPr sz="345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8085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has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four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addressing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modes: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21739" y="4094479"/>
            <a:ext cx="1613535" cy="163512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98450" indent="-286385">
              <a:lnSpc>
                <a:spcPct val="100000"/>
              </a:lnSpc>
              <a:spcBef>
                <a:spcPts val="385"/>
              </a:spcBef>
              <a:buChar char="–"/>
              <a:tabLst>
                <a:tab pos="298450" algn="l"/>
                <a:tab pos="299085" algn="l"/>
              </a:tabLst>
            </a:pP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Implied</a:t>
            </a:r>
            <a:endParaRPr sz="2400">
              <a:latin typeface="Times New Roman"/>
              <a:cs typeface="Times New Roman"/>
            </a:endParaRPr>
          </a:p>
          <a:p>
            <a:pPr marL="298450" indent="-286385">
              <a:lnSpc>
                <a:spcPct val="100000"/>
              </a:lnSpc>
              <a:spcBef>
                <a:spcPts val="290"/>
              </a:spcBef>
              <a:buChar char="–"/>
              <a:tabLst>
                <a:tab pos="298450" algn="l"/>
                <a:tab pos="299085" algn="l"/>
              </a:tabLst>
            </a:pP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Imm</a:t>
            </a:r>
            <a:r>
              <a:rPr sz="2400" dirty="0">
                <a:solidFill>
                  <a:srgbClr val="990000"/>
                </a:solidFill>
                <a:latin typeface="Times New Roman"/>
                <a:cs typeface="Times New Roman"/>
              </a:rPr>
              <a:t>ed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i</a:t>
            </a:r>
            <a:r>
              <a:rPr sz="2400" dirty="0">
                <a:solidFill>
                  <a:srgbClr val="990000"/>
                </a:solidFill>
                <a:latin typeface="Times New Roman"/>
                <a:cs typeface="Times New Roman"/>
              </a:rPr>
              <a:t>a</a:t>
            </a:r>
            <a:r>
              <a:rPr sz="2400" spc="-10" dirty="0">
                <a:solidFill>
                  <a:srgbClr val="990000"/>
                </a:solidFill>
                <a:latin typeface="Times New Roman"/>
                <a:cs typeface="Times New Roman"/>
              </a:rPr>
              <a:t>t</a:t>
            </a:r>
            <a:r>
              <a:rPr sz="2400" dirty="0">
                <a:solidFill>
                  <a:srgbClr val="990000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290"/>
              </a:spcBef>
              <a:buChar char="–"/>
              <a:tabLst>
                <a:tab pos="299085" algn="l"/>
                <a:tab pos="299720" algn="l"/>
              </a:tabLst>
            </a:pP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Direct</a:t>
            </a:r>
            <a:endParaRPr sz="24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285"/>
              </a:spcBef>
              <a:buChar char="–"/>
              <a:tabLst>
                <a:tab pos="299085" algn="l"/>
                <a:tab pos="299720" algn="l"/>
              </a:tabLst>
            </a:pP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Indirect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08044" y="4094479"/>
            <a:ext cx="1355090" cy="1635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>
              <a:lnSpc>
                <a:spcPct val="11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CMA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MVI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45</a:t>
            </a:r>
            <a:endParaRPr sz="2400">
              <a:latin typeface="Times New Roman"/>
              <a:cs typeface="Times New Roman"/>
            </a:endParaRPr>
          </a:p>
          <a:p>
            <a:pPr marL="13335" marR="21590" indent="-635">
              <a:lnSpc>
                <a:spcPct val="110000"/>
              </a:lnSpc>
            </a:pPr>
            <a:r>
              <a:rPr sz="2400" spc="-5" dirty="0">
                <a:latin typeface="Times New Roman"/>
                <a:cs typeface="Times New Roman"/>
              </a:rPr>
              <a:t>LDA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4000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LDAX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78939" y="5736590"/>
            <a:ext cx="6693534" cy="60452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41300" marR="5080" indent="-229235">
              <a:lnSpc>
                <a:spcPts val="2160"/>
              </a:lnSpc>
              <a:spcBef>
                <a:spcPts val="370"/>
              </a:spcBef>
              <a:buChar char="•"/>
              <a:tabLst>
                <a:tab pos="240665" algn="l"/>
                <a:tab pos="241935" algn="l"/>
              </a:tabLst>
            </a:pPr>
            <a:r>
              <a:rPr sz="2000" spc="-5" dirty="0">
                <a:latin typeface="Times New Roman"/>
                <a:cs typeface="Times New Roman"/>
              </a:rPr>
              <a:t>Load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 accumulator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with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contents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memory location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whose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address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stored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 register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pair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BC).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6602" y="814069"/>
            <a:ext cx="304990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Data</a:t>
            </a:r>
            <a:r>
              <a:rPr spc="-75" dirty="0"/>
              <a:t> </a:t>
            </a:r>
            <a:r>
              <a:rPr spc="-5" dirty="0"/>
              <a:t>Formats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59355"/>
            <a:ext cx="6995159" cy="398526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marR="1097915" indent="-343535">
              <a:lnSpc>
                <a:spcPts val="3020"/>
              </a:lnSpc>
              <a:spcBef>
                <a:spcPts val="484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</a:t>
            </a:r>
            <a:r>
              <a:rPr sz="2800" dirty="0">
                <a:latin typeface="Times New Roman"/>
                <a:cs typeface="Times New Roman"/>
              </a:rPr>
              <a:t> 8-bit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microprocessor,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data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can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represented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four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formats:</a:t>
            </a:r>
            <a:endParaRPr sz="2800">
              <a:latin typeface="Times New Roman"/>
              <a:cs typeface="Times New Roman"/>
            </a:endParaRPr>
          </a:p>
          <a:p>
            <a:pPr marL="1155700" lvl="1" indent="-229870">
              <a:lnSpc>
                <a:spcPct val="100000"/>
              </a:lnSpc>
              <a:spcBef>
                <a:spcPts val="225"/>
              </a:spcBef>
              <a:buChar char="•"/>
              <a:tabLst>
                <a:tab pos="1155065" algn="l"/>
                <a:tab pos="1156335" algn="l"/>
              </a:tabLst>
            </a:pPr>
            <a:r>
              <a:rPr sz="2000" spc="-5" dirty="0">
                <a:latin typeface="Times New Roman"/>
                <a:cs typeface="Times New Roman"/>
              </a:rPr>
              <a:t>ASCII</a:t>
            </a:r>
            <a:endParaRPr sz="2000">
              <a:latin typeface="Times New Roman"/>
              <a:cs typeface="Times New Roman"/>
            </a:endParaRPr>
          </a:p>
          <a:p>
            <a:pPr marL="1155700" lvl="1" indent="-229870">
              <a:lnSpc>
                <a:spcPct val="100000"/>
              </a:lnSpc>
              <a:spcBef>
                <a:spcPts val="240"/>
              </a:spcBef>
              <a:buChar char="•"/>
              <a:tabLst>
                <a:tab pos="1155065" algn="l"/>
                <a:tab pos="1156335" algn="l"/>
              </a:tabLst>
            </a:pPr>
            <a:r>
              <a:rPr sz="2000" spc="-5" dirty="0">
                <a:latin typeface="Times New Roman"/>
                <a:cs typeface="Times New Roman"/>
              </a:rPr>
              <a:t>BCD</a:t>
            </a:r>
            <a:endParaRPr sz="2000">
              <a:latin typeface="Times New Roman"/>
              <a:cs typeface="Times New Roman"/>
            </a:endParaRPr>
          </a:p>
          <a:p>
            <a:pPr marL="1155700" lvl="1" indent="-229870">
              <a:lnSpc>
                <a:spcPct val="100000"/>
              </a:lnSpc>
              <a:spcBef>
                <a:spcPts val="240"/>
              </a:spcBef>
              <a:buChar char="•"/>
              <a:tabLst>
                <a:tab pos="1155065" algn="l"/>
                <a:tab pos="1156335" algn="l"/>
              </a:tabLst>
            </a:pPr>
            <a:r>
              <a:rPr sz="2000" spc="-5" dirty="0">
                <a:latin typeface="Times New Roman"/>
                <a:cs typeface="Times New Roman"/>
              </a:rPr>
              <a:t>Signed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Integer</a:t>
            </a:r>
            <a:endParaRPr sz="2000">
              <a:latin typeface="Times New Roman"/>
              <a:cs typeface="Times New Roman"/>
            </a:endParaRPr>
          </a:p>
          <a:p>
            <a:pPr marL="1155700" lvl="1" indent="-229235">
              <a:lnSpc>
                <a:spcPct val="100000"/>
              </a:lnSpc>
              <a:spcBef>
                <a:spcPts val="240"/>
              </a:spcBef>
              <a:buChar char="•"/>
              <a:tabLst>
                <a:tab pos="1155065" algn="l"/>
                <a:tab pos="1155700" algn="l"/>
              </a:tabLst>
            </a:pPr>
            <a:r>
              <a:rPr sz="2000" spc="-5" dirty="0">
                <a:latin typeface="Times New Roman"/>
                <a:cs typeface="Times New Roman"/>
              </a:rPr>
              <a:t>Unsigned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Integer.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250">
              <a:latin typeface="Times New Roman"/>
              <a:cs typeface="Times New Roman"/>
            </a:endParaRPr>
          </a:p>
          <a:p>
            <a:pPr marL="755650" marR="5080" indent="-286385">
              <a:lnSpc>
                <a:spcPts val="2590"/>
              </a:lnSpc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It is important to recognize that the microprocessor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deals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with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0’s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" dirty="0">
                <a:latin typeface="Times New Roman"/>
                <a:cs typeface="Times New Roman"/>
              </a:rPr>
              <a:t> 1’s.</a:t>
            </a:r>
            <a:endParaRPr sz="2400">
              <a:latin typeface="Times New Roman"/>
              <a:cs typeface="Times New Roman"/>
            </a:endParaRPr>
          </a:p>
          <a:p>
            <a:pPr marL="1155700" lvl="1" indent="-229870">
              <a:lnSpc>
                <a:spcPct val="100000"/>
              </a:lnSpc>
              <a:spcBef>
                <a:spcPts val="220"/>
              </a:spcBef>
              <a:buChar char="•"/>
              <a:tabLst>
                <a:tab pos="1155065" algn="l"/>
                <a:tab pos="1156335" algn="l"/>
              </a:tabLst>
            </a:pPr>
            <a:r>
              <a:rPr sz="2000" spc="-5" dirty="0">
                <a:latin typeface="Times New Roman"/>
                <a:cs typeface="Times New Roman"/>
              </a:rPr>
              <a:t>It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deals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with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values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as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strings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bits.</a:t>
            </a:r>
            <a:endParaRPr sz="2000">
              <a:latin typeface="Times New Roman"/>
              <a:cs typeface="Times New Roman"/>
            </a:endParaRPr>
          </a:p>
          <a:p>
            <a:pPr marL="1155700" lvl="1" indent="-229870">
              <a:lnSpc>
                <a:spcPct val="100000"/>
              </a:lnSpc>
              <a:spcBef>
                <a:spcPts val="240"/>
              </a:spcBef>
              <a:buChar char="•"/>
              <a:tabLst>
                <a:tab pos="1155065" algn="l"/>
                <a:tab pos="1156335" algn="l"/>
              </a:tabLst>
            </a:pPr>
            <a:r>
              <a:rPr sz="2000" spc="-5" dirty="0">
                <a:latin typeface="Times New Roman"/>
                <a:cs typeface="Times New Roman"/>
              </a:rPr>
              <a:t>It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 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job of the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user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 add a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meaning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 these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strings.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6602" y="814069"/>
            <a:ext cx="304990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Data</a:t>
            </a:r>
            <a:r>
              <a:rPr spc="-75" dirty="0"/>
              <a:t> </a:t>
            </a:r>
            <a:r>
              <a:rPr spc="-5" dirty="0"/>
              <a:t>Formats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1840" y="1959355"/>
            <a:ext cx="7618095" cy="368046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68300" marR="466090" indent="-343535">
              <a:lnSpc>
                <a:spcPts val="3020"/>
              </a:lnSpc>
              <a:spcBef>
                <a:spcPts val="484"/>
              </a:spcBef>
              <a:buChar char="•"/>
              <a:tabLst>
                <a:tab pos="368300" algn="l"/>
                <a:tab pos="368935" algn="l"/>
              </a:tabLst>
            </a:pPr>
            <a:r>
              <a:rPr sz="2800" spc="-5" dirty="0">
                <a:latin typeface="Times New Roman"/>
                <a:cs typeface="Times New Roman"/>
              </a:rPr>
              <a:t>Assume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accumulator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contains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following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value: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0100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0001.</a:t>
            </a:r>
            <a:endParaRPr sz="2800">
              <a:latin typeface="Times New Roman"/>
              <a:cs typeface="Times New Roman"/>
            </a:endParaRPr>
          </a:p>
          <a:p>
            <a:pPr marL="768350" lvl="1" indent="-286385">
              <a:lnSpc>
                <a:spcPct val="100000"/>
              </a:lnSpc>
              <a:spcBef>
                <a:spcPts val="259"/>
              </a:spcBef>
              <a:buChar char="–"/>
              <a:tabLst>
                <a:tab pos="768350" algn="l"/>
                <a:tab pos="768985" algn="l"/>
              </a:tabLst>
            </a:pPr>
            <a:r>
              <a:rPr sz="2400" spc="-5" dirty="0">
                <a:latin typeface="Times New Roman"/>
                <a:cs typeface="Times New Roman"/>
              </a:rPr>
              <a:t>There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are four ways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reading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this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value:</a:t>
            </a:r>
            <a:endParaRPr sz="2400">
              <a:latin typeface="Times New Roman"/>
              <a:cs typeface="Times New Roman"/>
            </a:endParaRPr>
          </a:p>
          <a:p>
            <a:pPr marL="1168400" marR="419100" lvl="2" indent="-229235">
              <a:lnSpc>
                <a:spcPts val="2160"/>
              </a:lnSpc>
              <a:spcBef>
                <a:spcPts val="525"/>
              </a:spcBef>
              <a:buChar char="•"/>
              <a:tabLst>
                <a:tab pos="1167765" algn="l"/>
                <a:tab pos="1169035" algn="l"/>
              </a:tabLst>
            </a:pPr>
            <a:r>
              <a:rPr sz="2000" spc="-5" dirty="0">
                <a:latin typeface="Times New Roman"/>
                <a:cs typeface="Times New Roman"/>
              </a:rPr>
              <a:t>It is an unsigned integer expressed in binary, the equivalent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decimal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number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would be 65.</a:t>
            </a:r>
            <a:endParaRPr sz="2000">
              <a:latin typeface="Times New Roman"/>
              <a:cs typeface="Times New Roman"/>
            </a:endParaRPr>
          </a:p>
          <a:p>
            <a:pPr marL="1168400" marR="557530" lvl="2" indent="-229235">
              <a:lnSpc>
                <a:spcPts val="2160"/>
              </a:lnSpc>
              <a:spcBef>
                <a:spcPts val="480"/>
              </a:spcBef>
              <a:buChar char="•"/>
              <a:tabLst>
                <a:tab pos="1167765" algn="l"/>
                <a:tab pos="1169035" algn="l"/>
              </a:tabLst>
            </a:pPr>
            <a:r>
              <a:rPr sz="2000" spc="-5" dirty="0">
                <a:latin typeface="Times New Roman"/>
                <a:cs typeface="Times New Roman"/>
              </a:rPr>
              <a:t>It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 a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number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expressed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BCD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B</a:t>
            </a:r>
            <a:r>
              <a:rPr sz="2000" dirty="0">
                <a:latin typeface="Times New Roman"/>
                <a:cs typeface="Times New Roman"/>
              </a:rPr>
              <a:t>inary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C</a:t>
            </a:r>
            <a:r>
              <a:rPr sz="2000" spc="-5" dirty="0">
                <a:latin typeface="Times New Roman"/>
                <a:cs typeface="Times New Roman"/>
              </a:rPr>
              <a:t>oded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D</a:t>
            </a:r>
            <a:r>
              <a:rPr sz="2000" spc="-5" dirty="0">
                <a:latin typeface="Times New Roman"/>
                <a:cs typeface="Times New Roman"/>
              </a:rPr>
              <a:t>ecimal)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format.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That would make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it,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41.</a:t>
            </a:r>
            <a:endParaRPr sz="2000">
              <a:latin typeface="Times New Roman"/>
              <a:cs typeface="Times New Roman"/>
            </a:endParaRPr>
          </a:p>
          <a:p>
            <a:pPr marL="1168400" marR="17780" lvl="2" indent="-229235">
              <a:lnSpc>
                <a:spcPts val="2160"/>
              </a:lnSpc>
              <a:spcBef>
                <a:spcPts val="480"/>
              </a:spcBef>
              <a:buChar char="•"/>
              <a:tabLst>
                <a:tab pos="1168400" algn="l"/>
                <a:tab pos="1169035" algn="l"/>
              </a:tabLst>
            </a:pPr>
            <a:r>
              <a:rPr sz="2000" spc="-5" dirty="0">
                <a:latin typeface="Times New Roman"/>
                <a:cs typeface="Times New Roman"/>
              </a:rPr>
              <a:t>It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 an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ASCII</a:t>
            </a:r>
            <a:r>
              <a:rPr sz="2000" spc="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representation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of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letter.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That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would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make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letter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A.</a:t>
            </a:r>
            <a:endParaRPr sz="2000">
              <a:latin typeface="Times New Roman"/>
              <a:cs typeface="Times New Roman"/>
            </a:endParaRPr>
          </a:p>
          <a:p>
            <a:pPr marL="1167765" marR="136525" lvl="2" indent="-228600">
              <a:lnSpc>
                <a:spcPts val="2160"/>
              </a:lnSpc>
              <a:spcBef>
                <a:spcPts val="480"/>
              </a:spcBef>
              <a:buChar char="•"/>
              <a:tabLst>
                <a:tab pos="1167765" algn="l"/>
                <a:tab pos="1168400" algn="l"/>
              </a:tabLst>
            </a:pPr>
            <a:r>
              <a:rPr sz="2000" spc="-5" dirty="0">
                <a:latin typeface="Times New Roman"/>
                <a:cs typeface="Times New Roman"/>
              </a:rPr>
              <a:t>It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 a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string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of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0’s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and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1’s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where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15" dirty="0">
                <a:latin typeface="Times New Roman"/>
                <a:cs typeface="Times New Roman"/>
              </a:rPr>
              <a:t>0</a:t>
            </a:r>
            <a:r>
              <a:rPr sz="1950" spc="22" baseline="25641" dirty="0">
                <a:latin typeface="Times New Roman"/>
                <a:cs typeface="Times New Roman"/>
              </a:rPr>
              <a:t>th  </a:t>
            </a:r>
            <a:r>
              <a:rPr sz="2000" spc="-5" dirty="0">
                <a:latin typeface="Times New Roman"/>
                <a:cs typeface="Times New Roman"/>
              </a:rPr>
              <a:t>and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6</a:t>
            </a:r>
            <a:r>
              <a:rPr sz="1950" spc="7" baseline="25641" dirty="0">
                <a:latin typeface="Times New Roman"/>
                <a:cs typeface="Times New Roman"/>
              </a:rPr>
              <a:t>th</a:t>
            </a:r>
            <a:r>
              <a:rPr sz="1950" spc="22" baseline="25641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bits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are set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1 while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all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other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bits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are set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0.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6309614"/>
            <a:ext cx="550608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solidFill>
                  <a:srgbClr val="990000"/>
                </a:solidFill>
                <a:latin typeface="Times New Roman"/>
                <a:cs typeface="Times New Roman"/>
              </a:rPr>
              <a:t>ASCII</a:t>
            </a:r>
            <a:r>
              <a:rPr sz="1500" spc="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stands</a:t>
            </a:r>
            <a:r>
              <a:rPr sz="1500" spc="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for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u="sng" spc="-5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1500" spc="-5" dirty="0">
                <a:latin typeface="Times New Roman"/>
                <a:cs typeface="Times New Roman"/>
              </a:rPr>
              <a:t>merican</a:t>
            </a:r>
            <a:r>
              <a:rPr sz="1500" dirty="0">
                <a:latin typeface="Times New Roman"/>
                <a:cs typeface="Times New Roman"/>
              </a:rPr>
              <a:t> </a:t>
            </a:r>
            <a:r>
              <a:rPr sz="1500" u="sng" spc="-5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S</a:t>
            </a:r>
            <a:r>
              <a:rPr sz="1500" spc="-5" dirty="0">
                <a:latin typeface="Times New Roman"/>
                <a:cs typeface="Times New Roman"/>
              </a:rPr>
              <a:t>tandard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u="sng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C</a:t>
            </a:r>
            <a:r>
              <a:rPr sz="1500" dirty="0">
                <a:latin typeface="Times New Roman"/>
                <a:cs typeface="Times New Roman"/>
              </a:rPr>
              <a:t>ode </a:t>
            </a:r>
            <a:r>
              <a:rPr sz="1500" spc="-5" dirty="0">
                <a:latin typeface="Times New Roman"/>
                <a:cs typeface="Times New Roman"/>
              </a:rPr>
              <a:t>for</a:t>
            </a:r>
            <a:r>
              <a:rPr sz="1500" spc="10" dirty="0">
                <a:latin typeface="Times New Roman"/>
                <a:cs typeface="Times New Roman"/>
              </a:rPr>
              <a:t> </a:t>
            </a:r>
            <a:r>
              <a:rPr sz="1500" u="sng" spc="-5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sz="1500" spc="-5" dirty="0">
                <a:latin typeface="Times New Roman"/>
                <a:cs typeface="Times New Roman"/>
              </a:rPr>
              <a:t>nformation</a:t>
            </a:r>
            <a:r>
              <a:rPr sz="1500" dirty="0">
                <a:latin typeface="Times New Roman"/>
                <a:cs typeface="Times New Roman"/>
              </a:rPr>
              <a:t> </a:t>
            </a:r>
            <a:r>
              <a:rPr sz="1500" u="sng" spc="-5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sz="1500" spc="-5" dirty="0">
                <a:latin typeface="Times New Roman"/>
                <a:cs typeface="Times New Roman"/>
              </a:rPr>
              <a:t>nterchange.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8092" y="2490469"/>
            <a:ext cx="562610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Counters</a:t>
            </a:r>
            <a:r>
              <a:rPr spc="-25" dirty="0"/>
              <a:t> </a:t>
            </a:r>
            <a:r>
              <a:rPr spc="-5" dirty="0"/>
              <a:t>&amp;</a:t>
            </a:r>
            <a:r>
              <a:rPr spc="-15" dirty="0"/>
              <a:t> </a:t>
            </a:r>
            <a:r>
              <a:rPr spc="-5" dirty="0"/>
              <a:t>Time</a:t>
            </a:r>
            <a:r>
              <a:rPr spc="-15" dirty="0"/>
              <a:t> </a:t>
            </a:r>
            <a:r>
              <a:rPr spc="-5" dirty="0"/>
              <a:t>Delays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50316" y="814069"/>
            <a:ext cx="204343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Counters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2002027"/>
            <a:ext cx="7585709" cy="3609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20014" indent="-343535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loop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counter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set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up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by </a:t>
            </a:r>
            <a:r>
              <a:rPr sz="2800" spc="-5" dirty="0">
                <a:latin typeface="Times New Roman"/>
                <a:cs typeface="Times New Roman"/>
              </a:rPr>
              <a:t>loading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5" dirty="0">
                <a:latin typeface="Times New Roman"/>
                <a:cs typeface="Times New Roman"/>
              </a:rPr>
              <a:t> register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certain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value</a:t>
            </a:r>
            <a:endParaRPr sz="2800">
              <a:latin typeface="Times New Roman"/>
              <a:cs typeface="Times New Roman"/>
            </a:endParaRPr>
          </a:p>
          <a:p>
            <a:pPr marL="355600" marR="5080" indent="-343535">
              <a:lnSpc>
                <a:spcPct val="100000"/>
              </a:lnSpc>
              <a:spcBef>
                <a:spcPts val="670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Then </a:t>
            </a:r>
            <a:r>
              <a:rPr sz="2800" dirty="0">
                <a:latin typeface="Times New Roman"/>
                <a:cs typeface="Times New Roman"/>
              </a:rPr>
              <a:t>using the </a:t>
            </a:r>
            <a:r>
              <a:rPr sz="2800" spc="-5" dirty="0">
                <a:latin typeface="Times New Roman"/>
                <a:cs typeface="Times New Roman"/>
              </a:rPr>
              <a:t>DCR </a:t>
            </a:r>
            <a:r>
              <a:rPr sz="2800" dirty="0">
                <a:latin typeface="Times New Roman"/>
                <a:cs typeface="Times New Roman"/>
              </a:rPr>
              <a:t>(to </a:t>
            </a:r>
            <a:r>
              <a:rPr sz="2800" spc="-5" dirty="0">
                <a:latin typeface="Times New Roman"/>
                <a:cs typeface="Times New Roman"/>
              </a:rPr>
              <a:t>decrement) and </a:t>
            </a:r>
            <a:r>
              <a:rPr sz="2800" dirty="0">
                <a:latin typeface="Times New Roman"/>
                <a:cs typeface="Times New Roman"/>
              </a:rPr>
              <a:t>INR (to 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increment)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contents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 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register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are updated.</a:t>
            </a:r>
            <a:endParaRPr sz="2800">
              <a:latin typeface="Times New Roman"/>
              <a:cs typeface="Times New Roman"/>
            </a:endParaRPr>
          </a:p>
          <a:p>
            <a:pPr marL="355600" marR="524510" indent="-343535">
              <a:lnSpc>
                <a:spcPct val="100000"/>
              </a:lnSpc>
              <a:spcBef>
                <a:spcPts val="67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latin typeface="Times New Roman"/>
                <a:cs typeface="Times New Roman"/>
              </a:rPr>
              <a:t>A loop is </a:t>
            </a:r>
            <a:r>
              <a:rPr sz="2800" spc="-5" dirty="0">
                <a:latin typeface="Times New Roman"/>
                <a:cs typeface="Times New Roman"/>
              </a:rPr>
              <a:t>set </a:t>
            </a:r>
            <a:r>
              <a:rPr sz="2800" dirty="0">
                <a:latin typeface="Times New Roman"/>
                <a:cs typeface="Times New Roman"/>
              </a:rPr>
              <a:t>up with a </a:t>
            </a:r>
            <a:r>
              <a:rPr sz="2800" spc="-5" dirty="0">
                <a:latin typeface="Times New Roman"/>
                <a:cs typeface="Times New Roman"/>
              </a:rPr>
              <a:t>conditional jump 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instruction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that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loops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back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depending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whether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count has reached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termination 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count.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50316" y="204469"/>
            <a:ext cx="204343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Counters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162303"/>
            <a:ext cx="6949440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The operation of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loop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counter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can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be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described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using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following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flowchart.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17950" y="2998787"/>
            <a:ext cx="1282700" cy="285750"/>
          </a:xfrm>
          <a:prstGeom prst="rect">
            <a:avLst/>
          </a:prstGeom>
          <a:solidFill>
            <a:srgbClr val="FFFFCC"/>
          </a:solidFill>
          <a:ln w="12700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366395">
              <a:lnSpc>
                <a:spcPct val="100000"/>
              </a:lnSpc>
              <a:spcBef>
                <a:spcPts val="370"/>
              </a:spcBef>
            </a:pPr>
            <a:r>
              <a:rPr sz="1200" spc="-5" dirty="0">
                <a:latin typeface="Arial MT"/>
                <a:cs typeface="Arial MT"/>
              </a:rPr>
              <a:t>Initialize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17950" y="4097337"/>
            <a:ext cx="1282700" cy="285750"/>
          </a:xfrm>
          <a:prstGeom prst="rect">
            <a:avLst/>
          </a:prstGeom>
          <a:solidFill>
            <a:srgbClr val="FFFFCC"/>
          </a:solidFill>
          <a:ln w="12700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2865">
              <a:lnSpc>
                <a:spcPct val="100000"/>
              </a:lnSpc>
              <a:spcBef>
                <a:spcPts val="370"/>
              </a:spcBef>
            </a:pPr>
            <a:r>
              <a:rPr sz="1200" spc="-5" dirty="0">
                <a:latin typeface="Arial MT"/>
                <a:cs typeface="Arial MT"/>
              </a:rPr>
              <a:t>Update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the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count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086225" y="4648193"/>
            <a:ext cx="948055" cy="948055"/>
            <a:chOff x="4086225" y="4648193"/>
            <a:chExt cx="948055" cy="948055"/>
          </a:xfrm>
        </p:grpSpPr>
        <p:sp>
          <p:nvSpPr>
            <p:cNvPr id="7" name="object 7"/>
            <p:cNvSpPr/>
            <p:nvPr/>
          </p:nvSpPr>
          <p:spPr>
            <a:xfrm>
              <a:off x="4092575" y="4654543"/>
              <a:ext cx="935355" cy="935355"/>
            </a:xfrm>
            <a:custGeom>
              <a:avLst/>
              <a:gdLst/>
              <a:ahLst/>
              <a:cxnLst/>
              <a:rect l="l" t="t" r="r" b="b"/>
              <a:pathLst>
                <a:path w="935354" h="935354">
                  <a:moveTo>
                    <a:pt x="467525" y="0"/>
                  </a:moveTo>
                  <a:lnTo>
                    <a:pt x="0" y="467525"/>
                  </a:lnTo>
                  <a:lnTo>
                    <a:pt x="467525" y="935050"/>
                  </a:lnTo>
                  <a:lnTo>
                    <a:pt x="935037" y="467525"/>
                  </a:lnTo>
                  <a:lnTo>
                    <a:pt x="467525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092575" y="4654543"/>
              <a:ext cx="935355" cy="935355"/>
            </a:xfrm>
            <a:custGeom>
              <a:avLst/>
              <a:gdLst/>
              <a:ahLst/>
              <a:cxnLst/>
              <a:rect l="l" t="t" r="r" b="b"/>
              <a:pathLst>
                <a:path w="935354" h="935354">
                  <a:moveTo>
                    <a:pt x="0" y="467525"/>
                  </a:moveTo>
                  <a:lnTo>
                    <a:pt x="467525" y="0"/>
                  </a:lnTo>
                  <a:lnTo>
                    <a:pt x="935037" y="467525"/>
                  </a:lnTo>
                  <a:lnTo>
                    <a:pt x="467525" y="935050"/>
                  </a:lnTo>
                  <a:lnTo>
                    <a:pt x="0" y="46752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320603" y="4835397"/>
            <a:ext cx="5168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5720" algn="just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Is </a:t>
            </a:r>
            <a:r>
              <a:rPr sz="1200" spc="-5" dirty="0">
                <a:latin typeface="Arial MT"/>
                <a:cs typeface="Arial MT"/>
              </a:rPr>
              <a:t>this </a:t>
            </a:r>
            <a:r>
              <a:rPr sz="1200" spc="-3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Final 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Coun</a:t>
            </a:r>
            <a:r>
              <a:rPr sz="1200" spc="-5" dirty="0">
                <a:latin typeface="Arial MT"/>
                <a:cs typeface="Arial MT"/>
              </a:rPr>
              <a:t>t?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629025" y="3278187"/>
            <a:ext cx="967105" cy="2584450"/>
            <a:chOff x="3629025" y="3278187"/>
            <a:chExt cx="967105" cy="2584450"/>
          </a:xfrm>
        </p:grpSpPr>
        <p:sp>
          <p:nvSpPr>
            <p:cNvPr id="11" name="object 11"/>
            <p:cNvSpPr/>
            <p:nvPr/>
          </p:nvSpPr>
          <p:spPr>
            <a:xfrm>
              <a:off x="4557712" y="4379912"/>
              <a:ext cx="0" cy="211454"/>
            </a:xfrm>
            <a:custGeom>
              <a:avLst/>
              <a:gdLst/>
              <a:ahLst/>
              <a:cxnLst/>
              <a:rect l="l" t="t" r="r" b="b"/>
              <a:pathLst>
                <a:path h="211454">
                  <a:moveTo>
                    <a:pt x="0" y="0"/>
                  </a:moveTo>
                  <a:lnTo>
                    <a:pt x="0" y="21113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19612" y="45783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57712" y="5575300"/>
              <a:ext cx="0" cy="224154"/>
            </a:xfrm>
            <a:custGeom>
              <a:avLst/>
              <a:gdLst/>
              <a:ahLst/>
              <a:cxnLst/>
              <a:rect l="l" t="t" r="r" b="b"/>
              <a:pathLst>
                <a:path h="224154">
                  <a:moveTo>
                    <a:pt x="0" y="0"/>
                  </a:moveTo>
                  <a:lnTo>
                    <a:pt x="0" y="22383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19612" y="578643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635375" y="5127625"/>
              <a:ext cx="436880" cy="0"/>
            </a:xfrm>
            <a:custGeom>
              <a:avLst/>
              <a:gdLst/>
              <a:ahLst/>
              <a:cxnLst/>
              <a:rect l="l" t="t" r="r" b="b"/>
              <a:pathLst>
                <a:path w="436879">
                  <a:moveTo>
                    <a:pt x="436562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557712" y="3284537"/>
              <a:ext cx="0" cy="186055"/>
            </a:xfrm>
            <a:custGeom>
              <a:avLst/>
              <a:gdLst/>
              <a:ahLst/>
              <a:cxnLst/>
              <a:rect l="l" t="t" r="r" b="b"/>
              <a:pathLst>
                <a:path h="186054">
                  <a:moveTo>
                    <a:pt x="0" y="0"/>
                  </a:moveTo>
                  <a:lnTo>
                    <a:pt x="0" y="18573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519612" y="34575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921125" y="3536950"/>
            <a:ext cx="1282700" cy="285750"/>
          </a:xfrm>
          <a:prstGeom prst="rect">
            <a:avLst/>
          </a:prstGeom>
          <a:solidFill>
            <a:srgbClr val="FFFFCC"/>
          </a:solidFill>
          <a:ln w="12700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218440">
              <a:lnSpc>
                <a:spcPct val="100000"/>
              </a:lnSpc>
              <a:spcBef>
                <a:spcPts val="370"/>
              </a:spcBef>
            </a:pPr>
            <a:r>
              <a:rPr sz="1200" spc="-5" dirty="0">
                <a:latin typeface="Arial MT"/>
                <a:cs typeface="Arial MT"/>
              </a:rPr>
              <a:t>Body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of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loop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522787" y="3822700"/>
            <a:ext cx="76200" cy="249554"/>
            <a:chOff x="4522787" y="3822700"/>
            <a:chExt cx="76200" cy="249554"/>
          </a:xfrm>
        </p:grpSpPr>
        <p:sp>
          <p:nvSpPr>
            <p:cNvPr id="20" name="object 20"/>
            <p:cNvSpPr/>
            <p:nvPr/>
          </p:nvSpPr>
          <p:spPr>
            <a:xfrm>
              <a:off x="4560887" y="3822700"/>
              <a:ext cx="0" cy="186055"/>
            </a:xfrm>
            <a:custGeom>
              <a:avLst/>
              <a:gdLst/>
              <a:ahLst/>
              <a:cxnLst/>
              <a:rect l="l" t="t" r="r" b="b"/>
              <a:pathLst>
                <a:path h="186054">
                  <a:moveTo>
                    <a:pt x="0" y="0"/>
                  </a:moveTo>
                  <a:lnTo>
                    <a:pt x="0" y="18573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22787" y="399573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/>
          <p:nvPr/>
        </p:nvSpPr>
        <p:spPr>
          <a:xfrm>
            <a:off x="3648075" y="3384550"/>
            <a:ext cx="846455" cy="0"/>
          </a:xfrm>
          <a:custGeom>
            <a:avLst/>
            <a:gdLst/>
            <a:ahLst/>
            <a:cxnLst/>
            <a:rect l="l" t="t" r="r" b="b"/>
            <a:pathLst>
              <a:path w="846454">
                <a:moveTo>
                  <a:pt x="0" y="0"/>
                </a:moveTo>
                <a:lnTo>
                  <a:pt x="846137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3" name="object 23"/>
          <p:cNvGrpSpPr/>
          <p:nvPr/>
        </p:nvGrpSpPr>
        <p:grpSpPr>
          <a:xfrm>
            <a:off x="3641725" y="3346446"/>
            <a:ext cx="916305" cy="1781175"/>
            <a:chOff x="3641725" y="3346446"/>
            <a:chExt cx="916305" cy="1781175"/>
          </a:xfrm>
        </p:grpSpPr>
        <p:sp>
          <p:nvSpPr>
            <p:cNvPr id="24" name="object 24"/>
            <p:cNvSpPr/>
            <p:nvPr/>
          </p:nvSpPr>
          <p:spPr>
            <a:xfrm>
              <a:off x="3648075" y="3384549"/>
              <a:ext cx="0" cy="1743075"/>
            </a:xfrm>
            <a:custGeom>
              <a:avLst/>
              <a:gdLst/>
              <a:ahLst/>
              <a:cxnLst/>
              <a:rect l="l" t="t" r="r" b="b"/>
              <a:pathLst>
                <a:path h="1743075">
                  <a:moveTo>
                    <a:pt x="0" y="1743075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481515" y="334644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696652" y="4898897"/>
            <a:ext cx="2197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 MT"/>
                <a:cs typeface="Arial MT"/>
              </a:rPr>
              <a:t>No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655553" y="5621273"/>
            <a:ext cx="2743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20" dirty="0">
                <a:latin typeface="Arial MT"/>
                <a:cs typeface="Arial MT"/>
              </a:rPr>
              <a:t>Y</a:t>
            </a:r>
            <a:r>
              <a:rPr sz="1200" spc="-10" dirty="0">
                <a:latin typeface="Arial MT"/>
                <a:cs typeface="Arial MT"/>
              </a:rPr>
              <a:t>e</a:t>
            </a:r>
            <a:r>
              <a:rPr sz="1200" dirty="0">
                <a:latin typeface="Arial MT"/>
                <a:cs typeface="Arial MT"/>
              </a:rPr>
              <a:t>s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02939" y="2270251"/>
            <a:ext cx="173228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5" dirty="0">
                <a:latin typeface="Arial MT"/>
                <a:cs typeface="Arial MT"/>
              </a:rPr>
              <a:t>MVI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C,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15H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74049" y="2824891"/>
            <a:ext cx="94297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5" dirty="0">
                <a:latin typeface="Arial MT"/>
                <a:cs typeface="Arial MT"/>
              </a:rPr>
              <a:t>LOOP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02939" y="2666187"/>
            <a:ext cx="1983739" cy="1134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13765">
              <a:lnSpc>
                <a:spcPct val="140000"/>
              </a:lnSpc>
              <a:spcBef>
                <a:spcPts val="100"/>
              </a:spcBef>
            </a:pPr>
            <a:r>
              <a:rPr sz="2600" spc="-5" dirty="0">
                <a:latin typeface="Arial MT"/>
                <a:cs typeface="Arial MT"/>
              </a:rPr>
              <a:t>DCR</a:t>
            </a:r>
            <a:r>
              <a:rPr sz="2600" spc="-10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C </a:t>
            </a:r>
            <a:r>
              <a:rPr sz="2600" spc="-71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JNZ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LOOP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43711" y="823467"/>
            <a:ext cx="687641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0325" marR="5080" indent="-131826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Sample</a:t>
            </a:r>
            <a:r>
              <a:rPr sz="3600" spc="-215" dirty="0"/>
              <a:t> </a:t>
            </a:r>
            <a:r>
              <a:rPr sz="3600" spc="-5" dirty="0"/>
              <a:t>ALP</a:t>
            </a:r>
            <a:r>
              <a:rPr sz="3600" spc="-140" dirty="0"/>
              <a:t> </a:t>
            </a:r>
            <a:r>
              <a:rPr sz="3600" dirty="0"/>
              <a:t>for</a:t>
            </a:r>
            <a:r>
              <a:rPr sz="3600" spc="-10" dirty="0"/>
              <a:t> </a:t>
            </a:r>
            <a:r>
              <a:rPr sz="3600" spc="-5" dirty="0"/>
              <a:t>implementing</a:t>
            </a:r>
            <a:r>
              <a:rPr sz="3600" spc="-15" dirty="0"/>
              <a:t> </a:t>
            </a:r>
            <a:r>
              <a:rPr sz="3600" dirty="0"/>
              <a:t>a loop </a:t>
            </a:r>
            <a:r>
              <a:rPr sz="3600" spc="-885" dirty="0"/>
              <a:t> </a:t>
            </a:r>
            <a:r>
              <a:rPr sz="3600" spc="-5" dirty="0"/>
              <a:t>Using</a:t>
            </a:r>
            <a:r>
              <a:rPr sz="3600" spc="-10" dirty="0"/>
              <a:t> 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DCR</a:t>
            </a:r>
            <a:r>
              <a:rPr sz="3600" spc="-5" dirty="0"/>
              <a:t> instruction</a:t>
            </a:r>
            <a:endParaRPr sz="360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88615" marR="5080" indent="-263779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Using a Register Pair as a Loop </a:t>
            </a:r>
            <a:r>
              <a:rPr spc="-1085" dirty="0"/>
              <a:t> </a:t>
            </a:r>
            <a:r>
              <a:rPr spc="-5" dirty="0"/>
              <a:t>Counter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marR="5080" indent="-343535" algn="just">
              <a:lnSpc>
                <a:spcPts val="3020"/>
              </a:lnSpc>
              <a:spcBef>
                <a:spcPts val="484"/>
              </a:spcBef>
              <a:buChar char="•"/>
              <a:tabLst>
                <a:tab pos="355600" algn="l"/>
              </a:tabLst>
            </a:pPr>
            <a:r>
              <a:rPr spc="-5" dirty="0"/>
              <a:t>Using </a:t>
            </a:r>
            <a:r>
              <a:rPr dirty="0"/>
              <a:t>a </a:t>
            </a:r>
            <a:r>
              <a:rPr spc="-5" dirty="0"/>
              <a:t>single register, one </a:t>
            </a:r>
            <a:r>
              <a:rPr spc="-10" dirty="0"/>
              <a:t>can </a:t>
            </a:r>
            <a:r>
              <a:rPr spc="-5" dirty="0"/>
              <a:t>repeat </a:t>
            </a:r>
            <a:r>
              <a:rPr dirty="0"/>
              <a:t>a </a:t>
            </a:r>
            <a:r>
              <a:rPr spc="-5" dirty="0"/>
              <a:t>loop </a:t>
            </a:r>
            <a:r>
              <a:rPr dirty="0"/>
              <a:t>for a </a:t>
            </a:r>
            <a:r>
              <a:rPr spc="5" dirty="0"/>
              <a:t> </a:t>
            </a:r>
            <a:r>
              <a:rPr spc="-5" dirty="0"/>
              <a:t>maximum</a:t>
            </a:r>
            <a:r>
              <a:rPr spc="-35" dirty="0"/>
              <a:t> </a:t>
            </a:r>
            <a:r>
              <a:rPr spc="-5" dirty="0"/>
              <a:t>count</a:t>
            </a:r>
            <a:r>
              <a:rPr spc="-20" dirty="0"/>
              <a:t> </a:t>
            </a:r>
            <a:r>
              <a:rPr dirty="0"/>
              <a:t>of</a:t>
            </a:r>
            <a:r>
              <a:rPr spc="5" dirty="0"/>
              <a:t> </a:t>
            </a:r>
            <a:r>
              <a:rPr dirty="0"/>
              <a:t>255</a:t>
            </a:r>
            <a:r>
              <a:rPr spc="-15" dirty="0"/>
              <a:t> </a:t>
            </a:r>
            <a:r>
              <a:rPr spc="-5" dirty="0"/>
              <a:t>times.</a:t>
            </a:r>
          </a:p>
          <a:p>
            <a:pPr>
              <a:lnSpc>
                <a:spcPct val="100000"/>
              </a:lnSpc>
              <a:spcBef>
                <a:spcPts val="5"/>
              </a:spcBef>
              <a:buFont typeface="Times New Roman"/>
              <a:buChar char="•"/>
            </a:pPr>
            <a:endParaRPr sz="3800"/>
          </a:p>
          <a:p>
            <a:pPr marL="354965" marR="5080" indent="-342900" algn="just">
              <a:lnSpc>
                <a:spcPts val="3020"/>
              </a:lnSpc>
              <a:buChar char="•"/>
              <a:tabLst>
                <a:tab pos="356235" algn="l"/>
              </a:tabLst>
            </a:pPr>
            <a:r>
              <a:rPr dirty="0"/>
              <a:t>It</a:t>
            </a:r>
            <a:r>
              <a:rPr spc="5" dirty="0"/>
              <a:t> </a:t>
            </a:r>
            <a:r>
              <a:rPr spc="-5" dirty="0"/>
              <a:t>is</a:t>
            </a:r>
            <a:r>
              <a:rPr dirty="0"/>
              <a:t> </a:t>
            </a:r>
            <a:r>
              <a:rPr spc="-5" dirty="0"/>
              <a:t>possible</a:t>
            </a:r>
            <a:r>
              <a:rPr dirty="0"/>
              <a:t> to</a:t>
            </a:r>
            <a:r>
              <a:rPr spc="5" dirty="0"/>
              <a:t> </a:t>
            </a:r>
            <a:r>
              <a:rPr spc="-5" dirty="0"/>
              <a:t>increase</a:t>
            </a:r>
            <a:r>
              <a:rPr dirty="0"/>
              <a:t> </a:t>
            </a:r>
            <a:r>
              <a:rPr spc="-10" dirty="0"/>
              <a:t>this</a:t>
            </a:r>
            <a:r>
              <a:rPr spc="-5" dirty="0"/>
              <a:t> count</a:t>
            </a:r>
            <a:r>
              <a:rPr dirty="0"/>
              <a:t> by</a:t>
            </a:r>
            <a:r>
              <a:rPr spc="5" dirty="0"/>
              <a:t> </a:t>
            </a:r>
            <a:r>
              <a:rPr spc="-5" dirty="0"/>
              <a:t>using</a:t>
            </a:r>
            <a:r>
              <a:rPr dirty="0"/>
              <a:t> a </a:t>
            </a:r>
            <a:r>
              <a:rPr spc="-685" dirty="0"/>
              <a:t> </a:t>
            </a:r>
            <a:r>
              <a:rPr spc="-5" dirty="0"/>
              <a:t>register pair </a:t>
            </a:r>
            <a:r>
              <a:rPr dirty="0"/>
              <a:t>for </a:t>
            </a:r>
            <a:r>
              <a:rPr spc="-5" dirty="0"/>
              <a:t>the loop counter instead </a:t>
            </a:r>
            <a:r>
              <a:rPr dirty="0"/>
              <a:t>of </a:t>
            </a:r>
            <a:r>
              <a:rPr spc="-5" dirty="0"/>
              <a:t>the </a:t>
            </a:r>
            <a:r>
              <a:rPr dirty="0"/>
              <a:t> </a:t>
            </a:r>
            <a:r>
              <a:rPr spc="-5" dirty="0"/>
              <a:t>single</a:t>
            </a:r>
            <a:r>
              <a:rPr spc="-35" dirty="0"/>
              <a:t> </a:t>
            </a:r>
            <a:r>
              <a:rPr spc="-5" dirty="0"/>
              <a:t>register.</a:t>
            </a:r>
          </a:p>
          <a:p>
            <a:pPr marL="755650" marR="5715" lvl="1" indent="-286385" algn="just">
              <a:lnSpc>
                <a:spcPts val="2590"/>
              </a:lnSpc>
              <a:spcBef>
                <a:spcPts val="590"/>
              </a:spcBef>
              <a:buChar char="–"/>
              <a:tabLst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spc="56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minor</a:t>
            </a:r>
            <a:r>
              <a:rPr sz="2400" spc="56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problem</a:t>
            </a:r>
            <a:r>
              <a:rPr sz="2400" spc="56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arises</a:t>
            </a:r>
            <a:r>
              <a:rPr sz="2400" spc="56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</a:t>
            </a:r>
            <a:r>
              <a:rPr sz="2400" spc="5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how</a:t>
            </a:r>
            <a:r>
              <a:rPr sz="2400" spc="56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to</a:t>
            </a:r>
            <a:r>
              <a:rPr sz="2400" spc="5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test</a:t>
            </a:r>
            <a:r>
              <a:rPr sz="2400" spc="56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for</a:t>
            </a:r>
            <a:r>
              <a:rPr sz="2400" spc="5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5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final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count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since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DCX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INX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 not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modify the flags.</a:t>
            </a:r>
            <a:endParaRPr sz="2400">
              <a:latin typeface="Times New Roman"/>
              <a:cs typeface="Times New Roman"/>
            </a:endParaRPr>
          </a:p>
          <a:p>
            <a:pPr marL="755650" marR="5080" lvl="1" indent="-285750" algn="just">
              <a:lnSpc>
                <a:spcPts val="2590"/>
              </a:lnSpc>
              <a:spcBef>
                <a:spcPts val="580"/>
              </a:spcBef>
              <a:buChar char="–"/>
              <a:tabLst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However,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if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loop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is</a:t>
            </a:r>
            <a:r>
              <a:rPr sz="2400" spc="-5" dirty="0">
                <a:latin typeface="Times New Roman"/>
                <a:cs typeface="Times New Roman"/>
              </a:rPr>
              <a:t> looking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for</a:t>
            </a:r>
            <a:r>
              <a:rPr sz="2400" dirty="0">
                <a:latin typeface="Times New Roman"/>
                <a:cs typeface="Times New Roman"/>
              </a:rPr>
              <a:t> when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count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becomes zero, we can use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small trick </a:t>
            </a:r>
            <a:r>
              <a:rPr sz="2400" dirty="0">
                <a:latin typeface="Times New Roman"/>
                <a:cs typeface="Times New Roman"/>
              </a:rPr>
              <a:t>by </a:t>
            </a:r>
            <a:r>
              <a:rPr sz="2400" spc="-5" dirty="0">
                <a:latin typeface="Times New Roman"/>
                <a:cs typeface="Times New Roman"/>
              </a:rPr>
              <a:t>ORing </a:t>
            </a:r>
            <a:r>
              <a:rPr sz="2400" spc="-1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 two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registers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 pair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" dirty="0">
                <a:latin typeface="Times New Roman"/>
                <a:cs typeface="Times New Roman"/>
              </a:rPr>
              <a:t> then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checking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zero flag.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88615" marR="5080" indent="-263779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Using a Register Pair as a Loop </a:t>
            </a:r>
            <a:r>
              <a:rPr spc="-1085" dirty="0"/>
              <a:t> </a:t>
            </a:r>
            <a:r>
              <a:rPr spc="-5" dirty="0"/>
              <a:t>Counter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23" y="2000504"/>
            <a:ext cx="7221220" cy="3858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The following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is an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example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loop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set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up with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register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pair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 loop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counter.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250">
              <a:latin typeface="Times New Roman"/>
              <a:cs typeface="Times New Roman"/>
            </a:endParaRPr>
          </a:p>
          <a:p>
            <a:pPr marL="12700" marR="4198620" indent="1033780">
              <a:lnSpc>
                <a:spcPct val="120000"/>
              </a:lnSpc>
            </a:pPr>
            <a:r>
              <a:rPr sz="2600" dirty="0">
                <a:latin typeface="Arial MT"/>
                <a:cs typeface="Arial MT"/>
              </a:rPr>
              <a:t>LXI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B,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1000H </a:t>
            </a:r>
            <a:r>
              <a:rPr sz="2600" spc="-70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LOOP</a:t>
            </a:r>
            <a:r>
              <a:rPr sz="2600" spc="18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DCX</a:t>
            </a:r>
            <a:r>
              <a:rPr sz="2600" spc="-1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B</a:t>
            </a:r>
            <a:endParaRPr sz="2600">
              <a:latin typeface="Arial MT"/>
              <a:cs typeface="Arial MT"/>
            </a:endParaRPr>
          </a:p>
          <a:p>
            <a:pPr marL="1046480" marR="4549775">
              <a:lnSpc>
                <a:spcPct val="120000"/>
              </a:lnSpc>
            </a:pPr>
            <a:r>
              <a:rPr sz="2600" spc="-5" dirty="0">
                <a:latin typeface="Arial MT"/>
                <a:cs typeface="Arial MT"/>
              </a:rPr>
              <a:t>MOV </a:t>
            </a:r>
            <a:r>
              <a:rPr sz="2600" dirty="0">
                <a:latin typeface="Arial MT"/>
                <a:cs typeface="Arial MT"/>
              </a:rPr>
              <a:t>A, </a:t>
            </a:r>
            <a:r>
              <a:rPr sz="2600" spc="-5" dirty="0">
                <a:latin typeface="Arial MT"/>
                <a:cs typeface="Arial MT"/>
              </a:rPr>
              <a:t>C </a:t>
            </a:r>
            <a:r>
              <a:rPr sz="260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ORA B </a:t>
            </a:r>
            <a:r>
              <a:rPr sz="260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JNZ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LOOP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83488" y="814069"/>
            <a:ext cx="157607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</a:t>
            </a:r>
            <a:r>
              <a:rPr spc="-10" dirty="0"/>
              <a:t>e</a:t>
            </a:r>
            <a:r>
              <a:rPr spc="-5" dirty="0"/>
              <a:t>l</a:t>
            </a:r>
            <a:r>
              <a:rPr spc="-10" dirty="0"/>
              <a:t>a</a:t>
            </a:r>
            <a:r>
              <a:rPr spc="-5" dirty="0"/>
              <a:t>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59355"/>
            <a:ext cx="7136765" cy="451993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marR="5080" indent="-343535" algn="just">
              <a:lnSpc>
                <a:spcPts val="3020"/>
              </a:lnSpc>
              <a:spcBef>
                <a:spcPts val="484"/>
              </a:spcBef>
              <a:buChar char="•"/>
              <a:tabLst>
                <a:tab pos="356235" algn="l"/>
              </a:tabLst>
            </a:pPr>
            <a:r>
              <a:rPr sz="2800" dirty="0">
                <a:latin typeface="Times New Roman"/>
                <a:cs typeface="Times New Roman"/>
              </a:rPr>
              <a:t>It </a:t>
            </a:r>
            <a:r>
              <a:rPr sz="2800" spc="-5" dirty="0">
                <a:latin typeface="Times New Roman"/>
                <a:cs typeface="Times New Roman"/>
              </a:rPr>
              <a:t>was </a:t>
            </a:r>
            <a:r>
              <a:rPr sz="2800" dirty="0">
                <a:latin typeface="Times New Roman"/>
                <a:cs typeface="Times New Roman"/>
              </a:rPr>
              <a:t>shown in </a:t>
            </a:r>
            <a:r>
              <a:rPr sz="2800" spc="-5" dirty="0">
                <a:latin typeface="Times New Roman"/>
                <a:cs typeface="Times New Roman"/>
              </a:rPr>
              <a:t>Chapter </a:t>
            </a:r>
            <a:r>
              <a:rPr sz="2800" dirty="0">
                <a:latin typeface="Times New Roman"/>
                <a:cs typeface="Times New Roman"/>
              </a:rPr>
              <a:t>2 </a:t>
            </a:r>
            <a:r>
              <a:rPr sz="2800" spc="-5" dirty="0">
                <a:latin typeface="Times New Roman"/>
                <a:cs typeface="Times New Roman"/>
              </a:rPr>
              <a:t>that each instruction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passes </a:t>
            </a:r>
            <a:r>
              <a:rPr sz="2800" dirty="0">
                <a:latin typeface="Times New Roman"/>
                <a:cs typeface="Times New Roman"/>
              </a:rPr>
              <a:t>through </a:t>
            </a:r>
            <a:r>
              <a:rPr sz="2800" spc="-5" dirty="0">
                <a:latin typeface="Times New Roman"/>
                <a:cs typeface="Times New Roman"/>
              </a:rPr>
              <a:t>different combinations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5" dirty="0">
                <a:latin typeface="Times New Roman"/>
                <a:cs typeface="Times New Roman"/>
              </a:rPr>
              <a:t>Fetch,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Memory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Read,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Memory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Write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cycles.</a:t>
            </a:r>
            <a:endParaRPr sz="2800">
              <a:latin typeface="Times New Roman"/>
              <a:cs typeface="Times New Roman"/>
            </a:endParaRPr>
          </a:p>
          <a:p>
            <a:pPr marL="355600" marR="295275" indent="-343535" algn="just">
              <a:lnSpc>
                <a:spcPts val="3020"/>
              </a:lnSpc>
              <a:spcBef>
                <a:spcPts val="680"/>
              </a:spcBef>
              <a:buChar char="•"/>
              <a:tabLst>
                <a:tab pos="356235" algn="l"/>
              </a:tabLst>
            </a:pPr>
            <a:r>
              <a:rPr sz="2800" dirty="0">
                <a:latin typeface="Times New Roman"/>
                <a:cs typeface="Times New Roman"/>
              </a:rPr>
              <a:t>Knowing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combinations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cycles,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can </a:t>
            </a:r>
            <a:r>
              <a:rPr sz="2800" spc="-69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calculate </a:t>
            </a:r>
            <a:r>
              <a:rPr sz="2800" dirty="0">
                <a:latin typeface="Times New Roman"/>
                <a:cs typeface="Times New Roman"/>
              </a:rPr>
              <a:t>how long </a:t>
            </a:r>
            <a:r>
              <a:rPr sz="2800" spc="-5" dirty="0">
                <a:latin typeface="Times New Roman"/>
                <a:cs typeface="Times New Roman"/>
              </a:rPr>
              <a:t>such an instruction </a:t>
            </a:r>
            <a:r>
              <a:rPr sz="2800" dirty="0">
                <a:latin typeface="Times New Roman"/>
                <a:cs typeface="Times New Roman"/>
              </a:rPr>
              <a:t>would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require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complete.</a:t>
            </a:r>
            <a:endParaRPr sz="2800">
              <a:latin typeface="Times New Roman"/>
              <a:cs typeface="Times New Roman"/>
            </a:endParaRPr>
          </a:p>
          <a:p>
            <a:pPr marL="355600" marR="76835" indent="-343535" algn="just">
              <a:lnSpc>
                <a:spcPts val="3020"/>
              </a:lnSpc>
              <a:spcBef>
                <a:spcPts val="685"/>
              </a:spcBef>
              <a:buChar char="•"/>
              <a:tabLst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table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Appendix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 of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book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contains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69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column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title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B/M/T.</a:t>
            </a:r>
            <a:endParaRPr sz="28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260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dirty="0">
                <a:latin typeface="Times New Roman"/>
                <a:cs typeface="Times New Roman"/>
              </a:rPr>
              <a:t>B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Number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Bytes</a:t>
            </a:r>
            <a:endParaRPr sz="24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290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M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for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Number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Machine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Cycles</a:t>
            </a:r>
            <a:endParaRPr sz="24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285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dirty="0">
                <a:latin typeface="Times New Roman"/>
                <a:cs typeface="Times New Roman"/>
              </a:rPr>
              <a:t>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Number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T-State.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83488" y="814069"/>
            <a:ext cx="157607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</a:t>
            </a:r>
            <a:r>
              <a:rPr spc="-10" dirty="0"/>
              <a:t>e</a:t>
            </a:r>
            <a:r>
              <a:rPr spc="-5" dirty="0"/>
              <a:t>l</a:t>
            </a:r>
            <a:r>
              <a:rPr spc="-10" dirty="0"/>
              <a:t>a</a:t>
            </a:r>
            <a:r>
              <a:rPr spc="-5" dirty="0"/>
              <a:t>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59355"/>
            <a:ext cx="7530465" cy="463423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4965" marR="5080" indent="-342900">
              <a:lnSpc>
                <a:spcPts val="3020"/>
              </a:lnSpc>
              <a:spcBef>
                <a:spcPts val="484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Knowing how </a:t>
            </a:r>
            <a:r>
              <a:rPr sz="2800" spc="-5" dirty="0">
                <a:latin typeface="Times New Roman"/>
                <a:cs typeface="Times New Roman"/>
              </a:rPr>
              <a:t>many T-States an instruction 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requires, and keeping </a:t>
            </a:r>
            <a:r>
              <a:rPr sz="2800" dirty="0">
                <a:latin typeface="Times New Roman"/>
                <a:cs typeface="Times New Roman"/>
              </a:rPr>
              <a:t>in </a:t>
            </a:r>
            <a:r>
              <a:rPr sz="2800" spc="-5" dirty="0">
                <a:latin typeface="Times New Roman"/>
                <a:cs typeface="Times New Roman"/>
              </a:rPr>
              <a:t>mind that </a:t>
            </a:r>
            <a:r>
              <a:rPr sz="2800" dirty="0">
                <a:latin typeface="Times New Roman"/>
                <a:cs typeface="Times New Roman"/>
              </a:rPr>
              <a:t>a T-State is one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clock cycle </a:t>
            </a:r>
            <a:r>
              <a:rPr sz="2800" dirty="0">
                <a:latin typeface="Times New Roman"/>
                <a:cs typeface="Times New Roman"/>
              </a:rPr>
              <a:t>long, we </a:t>
            </a:r>
            <a:r>
              <a:rPr sz="2800" spc="-5" dirty="0">
                <a:latin typeface="Times New Roman"/>
                <a:cs typeface="Times New Roman"/>
              </a:rPr>
              <a:t>can calculate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time </a:t>
            </a:r>
            <a:r>
              <a:rPr sz="2800" dirty="0">
                <a:latin typeface="Times New Roman"/>
                <a:cs typeface="Times New Roman"/>
              </a:rPr>
              <a:t>using 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following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formula: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Times New Roman"/>
              <a:buChar char="•"/>
            </a:pPr>
            <a:endParaRPr sz="3450">
              <a:latin typeface="Times New Roman"/>
              <a:cs typeface="Times New Roman"/>
            </a:endParaRPr>
          </a:p>
          <a:p>
            <a:pPr marL="80645" algn="ctr">
              <a:lnSpc>
                <a:spcPct val="100000"/>
              </a:lnSpc>
            </a:pPr>
            <a:r>
              <a:rPr sz="2800" spc="-5" dirty="0">
                <a:latin typeface="Times New Roman"/>
                <a:cs typeface="Times New Roman"/>
              </a:rPr>
              <a:t>Delay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No. of</a:t>
            </a:r>
            <a:r>
              <a:rPr sz="2800" spc="-5" dirty="0">
                <a:latin typeface="Times New Roman"/>
                <a:cs typeface="Times New Roman"/>
              </a:rPr>
              <a:t> T-States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/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Frequency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800">
              <a:latin typeface="Times New Roman"/>
              <a:cs typeface="Times New Roman"/>
            </a:endParaRPr>
          </a:p>
          <a:p>
            <a:pPr marL="354965" marR="100965" indent="-342900">
              <a:lnSpc>
                <a:spcPct val="90000"/>
              </a:lnSpc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latin typeface="Times New Roman"/>
                <a:cs typeface="Times New Roman"/>
              </a:rPr>
              <a:t>For </a:t>
            </a:r>
            <a:r>
              <a:rPr sz="2800" spc="-5" dirty="0">
                <a:latin typeface="Times New Roman"/>
                <a:cs typeface="Times New Roman"/>
              </a:rPr>
              <a:t>example </a:t>
            </a:r>
            <a:r>
              <a:rPr sz="2800" dirty="0">
                <a:latin typeface="Times New Roman"/>
                <a:cs typeface="Times New Roman"/>
              </a:rPr>
              <a:t>a “MVI” </a:t>
            </a:r>
            <a:r>
              <a:rPr sz="2800" spc="-5" dirty="0">
                <a:latin typeface="Times New Roman"/>
                <a:cs typeface="Times New Roman"/>
              </a:rPr>
              <a:t>instruction uses </a:t>
            </a:r>
            <a:r>
              <a:rPr sz="2800" dirty="0">
                <a:latin typeface="Times New Roman"/>
                <a:cs typeface="Times New Roman"/>
              </a:rPr>
              <a:t>7 </a:t>
            </a:r>
            <a:r>
              <a:rPr sz="2800" spc="-5" dirty="0">
                <a:latin typeface="Times New Roman"/>
                <a:cs typeface="Times New Roman"/>
              </a:rPr>
              <a:t>T-States.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Therefore, </a:t>
            </a:r>
            <a:r>
              <a:rPr sz="2800" dirty="0">
                <a:latin typeface="Times New Roman"/>
                <a:cs typeface="Times New Roman"/>
              </a:rPr>
              <a:t>if the </a:t>
            </a:r>
            <a:r>
              <a:rPr sz="2800" spc="-5" dirty="0">
                <a:latin typeface="Times New Roman"/>
                <a:cs typeface="Times New Roman"/>
              </a:rPr>
              <a:t>Microprocessor </a:t>
            </a:r>
            <a:r>
              <a:rPr sz="2800" dirty="0">
                <a:latin typeface="Times New Roman"/>
                <a:cs typeface="Times New Roman"/>
              </a:rPr>
              <a:t>is running </a:t>
            </a:r>
            <a:r>
              <a:rPr sz="2800" spc="-5" dirty="0">
                <a:latin typeface="Times New Roman"/>
                <a:cs typeface="Times New Roman"/>
              </a:rPr>
              <a:t>at </a:t>
            </a:r>
            <a:r>
              <a:rPr sz="2800" dirty="0">
                <a:latin typeface="Times New Roman"/>
                <a:cs typeface="Times New Roman"/>
              </a:rPr>
              <a:t>2 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MHz,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instruction </a:t>
            </a:r>
            <a:r>
              <a:rPr sz="2800" dirty="0">
                <a:latin typeface="Times New Roman"/>
                <a:cs typeface="Times New Roman"/>
              </a:rPr>
              <a:t>would require 3.5 </a:t>
            </a:r>
            <a:r>
              <a:rPr sz="2800" spc="-5" dirty="0">
                <a:latin typeface="Symbol"/>
                <a:cs typeface="Symbol"/>
              </a:rPr>
              <a:t></a:t>
            </a:r>
            <a:r>
              <a:rPr sz="2800" spc="-5" dirty="0">
                <a:latin typeface="Times New Roman"/>
                <a:cs typeface="Times New Roman"/>
              </a:rPr>
              <a:t>Seconds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complete.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17322" y="0"/>
            <a:ext cx="271018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Delay</a:t>
            </a:r>
            <a:r>
              <a:rPr spc="-75" dirty="0"/>
              <a:t> </a:t>
            </a:r>
            <a:r>
              <a:rPr spc="-5" dirty="0"/>
              <a:t>loops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580136"/>
            <a:ext cx="6724650" cy="246380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5600" marR="59055" indent="-342900">
              <a:lnSpc>
                <a:spcPts val="3460"/>
              </a:lnSpc>
              <a:spcBef>
                <a:spcPts val="53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We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can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use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loop to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produce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certain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amount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time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delay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 a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program.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Char char="•"/>
            </a:pPr>
            <a:endParaRPr sz="4300">
              <a:latin typeface="Times New Roman"/>
              <a:cs typeface="Times New Roman"/>
            </a:endParaRPr>
          </a:p>
          <a:p>
            <a:pPr marL="354965" marR="5080" indent="-342900">
              <a:lnSpc>
                <a:spcPts val="3460"/>
              </a:lnSpc>
              <a:spcBef>
                <a:spcPts val="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The following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is an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example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delay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loop: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399" y="3022808"/>
            <a:ext cx="2740025" cy="1333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71550">
              <a:lnSpc>
                <a:spcPct val="110000"/>
              </a:lnSpc>
              <a:spcBef>
                <a:spcPts val="100"/>
              </a:spcBef>
            </a:pPr>
            <a:r>
              <a:rPr sz="2600" spc="-5" dirty="0">
                <a:latin typeface="Arial MT"/>
                <a:cs typeface="Arial MT"/>
              </a:rPr>
              <a:t>MVI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C,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FFH </a:t>
            </a:r>
            <a:r>
              <a:rPr sz="2600" spc="-70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LOOP</a:t>
            </a:r>
            <a:r>
              <a:rPr sz="2600" spc="-29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DCR</a:t>
            </a:r>
            <a:r>
              <a:rPr sz="2600" spc="-1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C</a:t>
            </a:r>
            <a:endParaRPr sz="2600">
              <a:latin typeface="Arial MT"/>
              <a:cs typeface="Arial MT"/>
            </a:endParaRPr>
          </a:p>
          <a:p>
            <a:pPr marL="984250">
              <a:lnSpc>
                <a:spcPct val="100000"/>
              </a:lnSpc>
              <a:spcBef>
                <a:spcPts val="310"/>
              </a:spcBef>
            </a:pPr>
            <a:r>
              <a:rPr sz="2600" spc="-5" dirty="0">
                <a:latin typeface="Arial MT"/>
                <a:cs typeface="Arial MT"/>
              </a:rPr>
              <a:t>JNZ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LOOP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50199" y="3022808"/>
            <a:ext cx="1731645" cy="133350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95580">
              <a:lnSpc>
                <a:spcPct val="100000"/>
              </a:lnSpc>
              <a:spcBef>
                <a:spcPts val="409"/>
              </a:spcBef>
            </a:pPr>
            <a:r>
              <a:rPr sz="2600" spc="-5" dirty="0">
                <a:latin typeface="Arial MT"/>
                <a:cs typeface="Arial MT"/>
              </a:rPr>
              <a:t>7</a:t>
            </a:r>
            <a:r>
              <a:rPr sz="2600" spc="-7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T-States</a:t>
            </a:r>
            <a:endParaRPr sz="2600">
              <a:latin typeface="Arial MT"/>
              <a:cs typeface="Arial MT"/>
            </a:endParaRPr>
          </a:p>
          <a:p>
            <a:pPr marL="195580">
              <a:lnSpc>
                <a:spcPct val="100000"/>
              </a:lnSpc>
              <a:spcBef>
                <a:spcPts val="315"/>
              </a:spcBef>
            </a:pPr>
            <a:r>
              <a:rPr sz="2600" spc="-5" dirty="0">
                <a:latin typeface="Arial MT"/>
                <a:cs typeface="Arial MT"/>
              </a:rPr>
              <a:t>4</a:t>
            </a:r>
            <a:r>
              <a:rPr sz="2600" spc="-7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T-States</a:t>
            </a:r>
            <a:endParaRPr sz="2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2600" spc="-5" dirty="0">
                <a:latin typeface="Arial MT"/>
                <a:cs typeface="Arial MT"/>
              </a:rPr>
              <a:t>10</a:t>
            </a:r>
            <a:r>
              <a:rPr sz="2600" spc="-7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T-States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4729" y="4904490"/>
            <a:ext cx="7442200" cy="1927225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354965" marR="5080" indent="-342900">
              <a:lnSpc>
                <a:spcPts val="2810"/>
              </a:lnSpc>
              <a:spcBef>
                <a:spcPts val="450"/>
              </a:spcBef>
              <a:buChar char="•"/>
              <a:tabLst>
                <a:tab pos="354965" algn="l"/>
                <a:tab pos="355600" algn="l"/>
              </a:tabLst>
            </a:pPr>
            <a:r>
              <a:rPr sz="2600" spc="-5" dirty="0">
                <a:latin typeface="Times New Roman"/>
                <a:cs typeface="Times New Roman"/>
              </a:rPr>
              <a:t>The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first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instruction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initializes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loop counter and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is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executed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only once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requiring only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7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T-States.</a:t>
            </a:r>
            <a:endParaRPr sz="2600">
              <a:latin typeface="Times New Roman"/>
              <a:cs typeface="Times New Roman"/>
            </a:endParaRPr>
          </a:p>
          <a:p>
            <a:pPr marL="354965" marR="355600" indent="-342900">
              <a:lnSpc>
                <a:spcPts val="2810"/>
              </a:lnSpc>
              <a:spcBef>
                <a:spcPts val="620"/>
              </a:spcBef>
              <a:buChar char="•"/>
              <a:tabLst>
                <a:tab pos="354965" algn="l"/>
                <a:tab pos="355600" algn="l"/>
              </a:tabLst>
            </a:pPr>
            <a:r>
              <a:rPr sz="2600" spc="-5" dirty="0">
                <a:latin typeface="Times New Roman"/>
                <a:cs typeface="Times New Roman"/>
              </a:rPr>
              <a:t>The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following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two instructions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form a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loop that 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requires 14 T-States to execute and is repeated 255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times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until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becomes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0.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15470" y="814069"/>
            <a:ext cx="491363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Delay</a:t>
            </a:r>
            <a:r>
              <a:rPr spc="-25" dirty="0"/>
              <a:t> </a:t>
            </a:r>
            <a:r>
              <a:rPr spc="-5" dirty="0"/>
              <a:t>Loops</a:t>
            </a:r>
            <a:r>
              <a:rPr spc="-25" dirty="0"/>
              <a:t> </a:t>
            </a:r>
            <a:r>
              <a:rPr spc="-5" dirty="0"/>
              <a:t>(Contd.)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6440" y="1963166"/>
            <a:ext cx="7487284" cy="457581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393065" marR="81915" indent="-342900">
              <a:lnSpc>
                <a:spcPts val="2810"/>
              </a:lnSpc>
              <a:spcBef>
                <a:spcPts val="450"/>
              </a:spcBef>
              <a:buChar char="•"/>
              <a:tabLst>
                <a:tab pos="393065" algn="l"/>
                <a:tab pos="393700" algn="l"/>
              </a:tabLst>
            </a:pPr>
            <a:r>
              <a:rPr sz="2600" spc="-5" dirty="0">
                <a:latin typeface="Times New Roman"/>
                <a:cs typeface="Times New Roman"/>
              </a:rPr>
              <a:t>We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need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to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keep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in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mind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though that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in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last 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iteration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of the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loop,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JNZ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instruction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will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fail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and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require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only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7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T-States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rather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than the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10.</a:t>
            </a:r>
            <a:endParaRPr sz="2600">
              <a:latin typeface="Times New Roman"/>
              <a:cs typeface="Times New Roman"/>
            </a:endParaRPr>
          </a:p>
          <a:p>
            <a:pPr marL="393700" marR="242570" indent="-343535">
              <a:lnSpc>
                <a:spcPts val="2810"/>
              </a:lnSpc>
              <a:spcBef>
                <a:spcPts val="615"/>
              </a:spcBef>
              <a:buChar char="•"/>
              <a:tabLst>
                <a:tab pos="393700" algn="l"/>
                <a:tab pos="394335" algn="l"/>
              </a:tabLst>
            </a:pPr>
            <a:r>
              <a:rPr sz="2600" spc="-5" dirty="0">
                <a:latin typeface="Times New Roman"/>
                <a:cs typeface="Times New Roman"/>
              </a:rPr>
              <a:t>Therefore,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we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must deduct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3 T-States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from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total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delay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to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get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an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accurate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delay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calculation.</a:t>
            </a:r>
            <a:endParaRPr sz="2600">
              <a:latin typeface="Times New Roman"/>
              <a:cs typeface="Times New Roman"/>
            </a:endParaRPr>
          </a:p>
          <a:p>
            <a:pPr marL="393700" indent="-342900">
              <a:lnSpc>
                <a:spcPct val="100000"/>
              </a:lnSpc>
              <a:spcBef>
                <a:spcPts val="270"/>
              </a:spcBef>
              <a:buChar char="•"/>
              <a:tabLst>
                <a:tab pos="393700" algn="l"/>
                <a:tab pos="394335" algn="l"/>
              </a:tabLst>
            </a:pPr>
            <a:r>
              <a:rPr sz="2600" spc="-5" dirty="0">
                <a:latin typeface="Times New Roman"/>
                <a:cs typeface="Times New Roman"/>
              </a:rPr>
              <a:t>To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calculate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delay,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we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use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following formula:</a:t>
            </a:r>
            <a:endParaRPr sz="2600">
              <a:latin typeface="Times New Roman"/>
              <a:cs typeface="Times New Roman"/>
            </a:endParaRPr>
          </a:p>
          <a:p>
            <a:pPr marL="201930" algn="ctr">
              <a:lnSpc>
                <a:spcPts val="2925"/>
              </a:lnSpc>
              <a:spcBef>
                <a:spcPts val="955"/>
              </a:spcBef>
            </a:pPr>
            <a:r>
              <a:rPr sz="3900" spc="7" baseline="13888" dirty="0">
                <a:latin typeface="Times New Roman"/>
                <a:cs typeface="Times New Roman"/>
              </a:rPr>
              <a:t>T</a:t>
            </a:r>
            <a:r>
              <a:rPr sz="1700" spc="5" dirty="0">
                <a:latin typeface="Times New Roman"/>
                <a:cs typeface="Times New Roman"/>
              </a:rPr>
              <a:t>delay</a:t>
            </a:r>
            <a:r>
              <a:rPr sz="1700" spc="215" dirty="0">
                <a:latin typeface="Times New Roman"/>
                <a:cs typeface="Times New Roman"/>
              </a:rPr>
              <a:t> </a:t>
            </a:r>
            <a:r>
              <a:rPr sz="3900" spc="-7" baseline="13888" dirty="0">
                <a:latin typeface="Times New Roman"/>
                <a:cs typeface="Times New Roman"/>
              </a:rPr>
              <a:t>=</a:t>
            </a:r>
            <a:r>
              <a:rPr sz="3900" spc="-30" baseline="13888" dirty="0">
                <a:latin typeface="Times New Roman"/>
                <a:cs typeface="Times New Roman"/>
              </a:rPr>
              <a:t> </a:t>
            </a:r>
            <a:r>
              <a:rPr sz="3900" spc="7" baseline="13888" dirty="0">
                <a:latin typeface="Times New Roman"/>
                <a:cs typeface="Times New Roman"/>
              </a:rPr>
              <a:t>T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spc="210" dirty="0">
                <a:latin typeface="Times New Roman"/>
                <a:cs typeface="Times New Roman"/>
              </a:rPr>
              <a:t> </a:t>
            </a:r>
            <a:r>
              <a:rPr sz="3900" spc="-7" baseline="13888" dirty="0">
                <a:latin typeface="Times New Roman"/>
                <a:cs typeface="Times New Roman"/>
              </a:rPr>
              <a:t>+</a:t>
            </a:r>
            <a:r>
              <a:rPr sz="3900" spc="-30" baseline="13888" dirty="0">
                <a:latin typeface="Times New Roman"/>
                <a:cs typeface="Times New Roman"/>
              </a:rPr>
              <a:t> </a:t>
            </a:r>
            <a:r>
              <a:rPr sz="3900" spc="7" baseline="13888" dirty="0">
                <a:latin typeface="Times New Roman"/>
                <a:cs typeface="Times New Roman"/>
              </a:rPr>
              <a:t>T</a:t>
            </a:r>
            <a:r>
              <a:rPr sz="1700" spc="5" dirty="0">
                <a:latin typeface="Times New Roman"/>
                <a:cs typeface="Times New Roman"/>
              </a:rPr>
              <a:t>L</a:t>
            </a:r>
            <a:endParaRPr sz="1700">
              <a:latin typeface="Times New Roman"/>
              <a:cs typeface="Times New Roman"/>
            </a:endParaRPr>
          </a:p>
          <a:p>
            <a:pPr marL="793750" lvl="1" indent="-285750">
              <a:lnSpc>
                <a:spcPts val="1964"/>
              </a:lnSpc>
              <a:buChar char="–"/>
              <a:tabLst>
                <a:tab pos="793115" algn="l"/>
                <a:tab pos="793750" algn="l"/>
              </a:tabLst>
            </a:pPr>
            <a:r>
              <a:rPr sz="1800" spc="-5" dirty="0">
                <a:latin typeface="Times New Roman"/>
                <a:cs typeface="Times New Roman"/>
              </a:rPr>
              <a:t>T</a:t>
            </a:r>
            <a:r>
              <a:rPr sz="1800" spc="-7" baseline="-20833" dirty="0">
                <a:latin typeface="Times New Roman"/>
                <a:cs typeface="Times New Roman"/>
              </a:rPr>
              <a:t>delay</a:t>
            </a:r>
            <a:r>
              <a:rPr sz="1800" spc="209" baseline="-20833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total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delay</a:t>
            </a:r>
            <a:endParaRPr sz="1800">
              <a:latin typeface="Times New Roman"/>
              <a:cs typeface="Times New Roman"/>
            </a:endParaRPr>
          </a:p>
          <a:p>
            <a:pPr marL="793750" lvl="1" indent="-285750">
              <a:lnSpc>
                <a:spcPct val="100000"/>
              </a:lnSpc>
              <a:spcBef>
                <a:spcPts val="215"/>
              </a:spcBef>
              <a:buChar char="–"/>
              <a:tabLst>
                <a:tab pos="793115" algn="l"/>
                <a:tab pos="793750" algn="l"/>
              </a:tabLst>
            </a:pPr>
            <a:r>
              <a:rPr sz="1800" spc="-5" dirty="0">
                <a:latin typeface="Times New Roman"/>
                <a:cs typeface="Times New Roman"/>
              </a:rPr>
              <a:t>T</a:t>
            </a:r>
            <a:r>
              <a:rPr sz="1800" spc="-7" baseline="-20833" dirty="0">
                <a:latin typeface="Times New Roman"/>
                <a:cs typeface="Times New Roman"/>
              </a:rPr>
              <a:t>O</a:t>
            </a:r>
            <a:r>
              <a:rPr sz="1800" spc="195" baseline="-20833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delay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outside the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loop</a:t>
            </a:r>
            <a:endParaRPr sz="1800">
              <a:latin typeface="Times New Roman"/>
              <a:cs typeface="Times New Roman"/>
            </a:endParaRPr>
          </a:p>
          <a:p>
            <a:pPr marL="793750" lvl="1" indent="-286385">
              <a:lnSpc>
                <a:spcPct val="100000"/>
              </a:lnSpc>
              <a:spcBef>
                <a:spcPts val="215"/>
              </a:spcBef>
              <a:buChar char="–"/>
              <a:tabLst>
                <a:tab pos="793115" algn="l"/>
                <a:tab pos="793750" algn="l"/>
              </a:tabLst>
            </a:pPr>
            <a:r>
              <a:rPr sz="1800" spc="-5" dirty="0">
                <a:latin typeface="Times New Roman"/>
                <a:cs typeface="Times New Roman"/>
              </a:rPr>
              <a:t>T</a:t>
            </a:r>
            <a:r>
              <a:rPr sz="1800" spc="-7" baseline="-20833" dirty="0">
                <a:latin typeface="Times New Roman"/>
                <a:cs typeface="Times New Roman"/>
              </a:rPr>
              <a:t>L</a:t>
            </a:r>
            <a:r>
              <a:rPr sz="1800" spc="202" baseline="-20833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delay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loop</a:t>
            </a:r>
            <a:endParaRPr sz="18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Font typeface="Times New Roman"/>
              <a:buChar char="–"/>
            </a:pPr>
            <a:endParaRPr sz="3200">
              <a:latin typeface="Times New Roman"/>
              <a:cs typeface="Times New Roman"/>
            </a:endParaRPr>
          </a:p>
          <a:p>
            <a:pPr marL="393065" indent="-342900">
              <a:lnSpc>
                <a:spcPct val="100000"/>
              </a:lnSpc>
              <a:spcBef>
                <a:spcPts val="5"/>
              </a:spcBef>
              <a:buChar char="•"/>
              <a:tabLst>
                <a:tab pos="393065" algn="l"/>
                <a:tab pos="393700" algn="l"/>
              </a:tabLst>
            </a:pPr>
            <a:r>
              <a:rPr sz="2600" spc="5" dirty="0">
                <a:latin typeface="Times New Roman"/>
                <a:cs typeface="Times New Roman"/>
              </a:rPr>
              <a:t>T</a:t>
            </a:r>
            <a:r>
              <a:rPr sz="2550" spc="7" baseline="-21241" dirty="0">
                <a:latin typeface="Times New Roman"/>
                <a:cs typeface="Times New Roman"/>
              </a:rPr>
              <a:t>O</a:t>
            </a:r>
            <a:r>
              <a:rPr sz="2550" spc="315" baseline="-21241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sum of all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delays outside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loop.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15470" y="814069"/>
            <a:ext cx="491363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Delay</a:t>
            </a:r>
            <a:r>
              <a:rPr spc="-25" dirty="0"/>
              <a:t> </a:t>
            </a:r>
            <a:r>
              <a:rPr spc="-5" dirty="0"/>
              <a:t>Loops</a:t>
            </a:r>
            <a:r>
              <a:rPr spc="-25" dirty="0"/>
              <a:t> </a:t>
            </a:r>
            <a:r>
              <a:rPr spc="-5" dirty="0"/>
              <a:t>(Contd.)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13740" y="1951736"/>
            <a:ext cx="7392034" cy="429577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406400" marR="30480" indent="-342900">
              <a:lnSpc>
                <a:spcPts val="3460"/>
              </a:lnSpc>
              <a:spcBef>
                <a:spcPts val="530"/>
              </a:spcBef>
              <a:buChar char="•"/>
              <a:tabLst>
                <a:tab pos="405765" algn="l"/>
                <a:tab pos="406400" algn="l"/>
              </a:tabLst>
            </a:pPr>
            <a:r>
              <a:rPr sz="3200" spc="-5" dirty="0">
                <a:latin typeface="Times New Roman"/>
                <a:cs typeface="Times New Roman"/>
              </a:rPr>
              <a:t>Using these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formulas,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can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calculate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time delay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for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previous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example: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har char="•"/>
            </a:pPr>
            <a:endParaRPr sz="3450">
              <a:latin typeface="Times New Roman"/>
              <a:cs typeface="Times New Roman"/>
            </a:endParaRPr>
          </a:p>
          <a:p>
            <a:pPr marL="406400" indent="-343535">
              <a:lnSpc>
                <a:spcPct val="100000"/>
              </a:lnSpc>
              <a:spcBef>
                <a:spcPts val="5"/>
              </a:spcBef>
              <a:buChar char="•"/>
              <a:tabLst>
                <a:tab pos="406400" algn="l"/>
                <a:tab pos="407034" algn="l"/>
              </a:tabLst>
            </a:pPr>
            <a:r>
              <a:rPr sz="2800" dirty="0">
                <a:latin typeface="Times New Roman"/>
                <a:cs typeface="Times New Roman"/>
              </a:rPr>
              <a:t>T</a:t>
            </a:r>
            <a:r>
              <a:rPr sz="2775" baseline="-21021" dirty="0">
                <a:latin typeface="Times New Roman"/>
                <a:cs typeface="Times New Roman"/>
              </a:rPr>
              <a:t>O</a:t>
            </a:r>
            <a:r>
              <a:rPr sz="2775" spc="322" baseline="-21021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7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T-States</a:t>
            </a:r>
            <a:endParaRPr sz="2800">
              <a:latin typeface="Times New Roman"/>
              <a:cs typeface="Times New Roman"/>
            </a:endParaRPr>
          </a:p>
          <a:p>
            <a:pPr marL="806450" lvl="1" indent="-285750">
              <a:lnSpc>
                <a:spcPct val="100000"/>
              </a:lnSpc>
              <a:spcBef>
                <a:spcPts val="295"/>
              </a:spcBef>
              <a:buChar char="–"/>
              <a:tabLst>
                <a:tab pos="805815" algn="l"/>
                <a:tab pos="806450" algn="l"/>
              </a:tabLst>
            </a:pPr>
            <a:r>
              <a:rPr sz="2400" spc="-5" dirty="0">
                <a:latin typeface="Times New Roman"/>
                <a:cs typeface="Times New Roman"/>
              </a:rPr>
              <a:t>Delay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MVI instruction</a:t>
            </a:r>
            <a:endParaRPr sz="2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buFont typeface="Times New Roman"/>
              <a:buChar char="–"/>
            </a:pPr>
            <a:endParaRPr sz="3500">
              <a:latin typeface="Times New Roman"/>
              <a:cs typeface="Times New Roman"/>
            </a:endParaRPr>
          </a:p>
          <a:p>
            <a:pPr marL="406400" indent="-343535">
              <a:lnSpc>
                <a:spcPct val="100000"/>
              </a:lnSpc>
              <a:buChar char="•"/>
              <a:tabLst>
                <a:tab pos="406400" algn="l"/>
                <a:tab pos="407034" algn="l"/>
              </a:tabLst>
            </a:pPr>
            <a:r>
              <a:rPr sz="2800" dirty="0">
                <a:latin typeface="Times New Roman"/>
                <a:cs typeface="Times New Roman"/>
              </a:rPr>
              <a:t>T</a:t>
            </a:r>
            <a:r>
              <a:rPr sz="2775" baseline="-21021" dirty="0">
                <a:latin typeface="Times New Roman"/>
                <a:cs typeface="Times New Roman"/>
              </a:rPr>
              <a:t>L</a:t>
            </a:r>
            <a:r>
              <a:rPr sz="2775" spc="337" baseline="-21021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(14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X 255)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-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3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3567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T-States</a:t>
            </a:r>
            <a:endParaRPr sz="2800">
              <a:latin typeface="Times New Roman"/>
              <a:cs typeface="Times New Roman"/>
            </a:endParaRPr>
          </a:p>
          <a:p>
            <a:pPr marL="805815" marR="147320" lvl="1" indent="-285750" algn="just">
              <a:lnSpc>
                <a:spcPts val="2590"/>
              </a:lnSpc>
              <a:spcBef>
                <a:spcPts val="625"/>
              </a:spcBef>
              <a:buChar char="–"/>
              <a:tabLst>
                <a:tab pos="806450" algn="l"/>
              </a:tabLst>
            </a:pPr>
            <a:r>
              <a:rPr sz="2400" dirty="0">
                <a:latin typeface="Times New Roman"/>
                <a:cs typeface="Times New Roman"/>
              </a:rPr>
              <a:t>14 </a:t>
            </a:r>
            <a:r>
              <a:rPr sz="2400" spc="-5" dirty="0">
                <a:latin typeface="Times New Roman"/>
                <a:cs typeface="Times New Roman"/>
              </a:rPr>
              <a:t>T-States for the </a:t>
            </a:r>
            <a:r>
              <a:rPr sz="2400" dirty="0">
                <a:latin typeface="Times New Roman"/>
                <a:cs typeface="Times New Roman"/>
              </a:rPr>
              <a:t>2 </a:t>
            </a:r>
            <a:r>
              <a:rPr sz="2400" spc="-5" dirty="0">
                <a:latin typeface="Times New Roman"/>
                <a:cs typeface="Times New Roman"/>
              </a:rPr>
              <a:t>instructions repeated </a:t>
            </a:r>
            <a:r>
              <a:rPr sz="2400" dirty="0">
                <a:latin typeface="Times New Roman"/>
                <a:cs typeface="Times New Roman"/>
              </a:rPr>
              <a:t>255 </a:t>
            </a:r>
            <a:r>
              <a:rPr sz="2400" spc="-5" dirty="0">
                <a:latin typeface="Times New Roman"/>
                <a:cs typeface="Times New Roman"/>
              </a:rPr>
              <a:t>times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(FF</a:t>
            </a:r>
            <a:r>
              <a:rPr sz="2400" spc="-7" baseline="-20833" dirty="0">
                <a:latin typeface="Times New Roman"/>
                <a:cs typeface="Times New Roman"/>
              </a:rPr>
              <a:t>16 </a:t>
            </a:r>
            <a:r>
              <a:rPr sz="2400" dirty="0">
                <a:latin typeface="Times New Roman"/>
                <a:cs typeface="Times New Roman"/>
              </a:rPr>
              <a:t>= </a:t>
            </a:r>
            <a:r>
              <a:rPr sz="2400" spc="-5" dirty="0">
                <a:latin typeface="Times New Roman"/>
                <a:cs typeface="Times New Roman"/>
              </a:rPr>
              <a:t>255</a:t>
            </a:r>
            <a:r>
              <a:rPr sz="2400" spc="-7" baseline="-20833" dirty="0">
                <a:latin typeface="Times New Roman"/>
                <a:cs typeface="Times New Roman"/>
              </a:rPr>
              <a:t>10</a:t>
            </a:r>
            <a:r>
              <a:rPr sz="2400" spc="-5" dirty="0">
                <a:latin typeface="Times New Roman"/>
                <a:cs typeface="Times New Roman"/>
              </a:rPr>
              <a:t>) reduced </a:t>
            </a:r>
            <a:r>
              <a:rPr sz="2400" dirty="0">
                <a:latin typeface="Times New Roman"/>
                <a:cs typeface="Times New Roman"/>
              </a:rPr>
              <a:t>by the 3 </a:t>
            </a:r>
            <a:r>
              <a:rPr sz="2400" spc="-5" dirty="0">
                <a:latin typeface="Times New Roman"/>
                <a:cs typeface="Times New Roman"/>
              </a:rPr>
              <a:t>T-States for the final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JNZ.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88615" marR="5080" indent="-263779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Using a Register Pair as a Loop </a:t>
            </a:r>
            <a:r>
              <a:rPr spc="-1085" dirty="0"/>
              <a:t> </a:t>
            </a:r>
            <a:r>
              <a:rPr spc="-5" dirty="0"/>
              <a:t>Counter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marR="5080" indent="-343535" algn="just">
              <a:lnSpc>
                <a:spcPts val="3020"/>
              </a:lnSpc>
              <a:spcBef>
                <a:spcPts val="484"/>
              </a:spcBef>
              <a:buChar char="•"/>
              <a:tabLst>
                <a:tab pos="355600" algn="l"/>
              </a:tabLst>
            </a:pPr>
            <a:r>
              <a:rPr spc="-5" dirty="0"/>
              <a:t>Using </a:t>
            </a:r>
            <a:r>
              <a:rPr dirty="0"/>
              <a:t>a </a:t>
            </a:r>
            <a:r>
              <a:rPr spc="-5" dirty="0"/>
              <a:t>single register, one </a:t>
            </a:r>
            <a:r>
              <a:rPr spc="-10" dirty="0"/>
              <a:t>can </a:t>
            </a:r>
            <a:r>
              <a:rPr spc="-5" dirty="0"/>
              <a:t>repeat </a:t>
            </a:r>
            <a:r>
              <a:rPr dirty="0"/>
              <a:t>a </a:t>
            </a:r>
            <a:r>
              <a:rPr spc="-5" dirty="0"/>
              <a:t>loop </a:t>
            </a:r>
            <a:r>
              <a:rPr dirty="0"/>
              <a:t>for a </a:t>
            </a:r>
            <a:r>
              <a:rPr spc="5" dirty="0"/>
              <a:t> </a:t>
            </a:r>
            <a:r>
              <a:rPr spc="-5" dirty="0"/>
              <a:t>maximum</a:t>
            </a:r>
            <a:r>
              <a:rPr spc="-35" dirty="0"/>
              <a:t> </a:t>
            </a:r>
            <a:r>
              <a:rPr spc="-5" dirty="0"/>
              <a:t>count</a:t>
            </a:r>
            <a:r>
              <a:rPr spc="-20" dirty="0"/>
              <a:t> </a:t>
            </a:r>
            <a:r>
              <a:rPr dirty="0"/>
              <a:t>of</a:t>
            </a:r>
            <a:r>
              <a:rPr spc="5" dirty="0"/>
              <a:t> </a:t>
            </a:r>
            <a:r>
              <a:rPr dirty="0"/>
              <a:t>255</a:t>
            </a:r>
            <a:r>
              <a:rPr spc="-15" dirty="0"/>
              <a:t> </a:t>
            </a:r>
            <a:r>
              <a:rPr spc="-5" dirty="0"/>
              <a:t>times.</a:t>
            </a:r>
          </a:p>
          <a:p>
            <a:pPr>
              <a:lnSpc>
                <a:spcPct val="100000"/>
              </a:lnSpc>
              <a:spcBef>
                <a:spcPts val="5"/>
              </a:spcBef>
              <a:buFont typeface="Times New Roman"/>
              <a:buChar char="•"/>
            </a:pPr>
            <a:endParaRPr sz="3800"/>
          </a:p>
          <a:p>
            <a:pPr marL="354965" marR="5080" indent="-342900" algn="just">
              <a:lnSpc>
                <a:spcPts val="3020"/>
              </a:lnSpc>
              <a:buChar char="•"/>
              <a:tabLst>
                <a:tab pos="356235" algn="l"/>
              </a:tabLst>
            </a:pPr>
            <a:r>
              <a:rPr dirty="0"/>
              <a:t>It</a:t>
            </a:r>
            <a:r>
              <a:rPr spc="5" dirty="0"/>
              <a:t> </a:t>
            </a:r>
            <a:r>
              <a:rPr spc="-5" dirty="0"/>
              <a:t>is</a:t>
            </a:r>
            <a:r>
              <a:rPr dirty="0"/>
              <a:t> </a:t>
            </a:r>
            <a:r>
              <a:rPr spc="-5" dirty="0"/>
              <a:t>possible</a:t>
            </a:r>
            <a:r>
              <a:rPr dirty="0"/>
              <a:t> to</a:t>
            </a:r>
            <a:r>
              <a:rPr spc="5" dirty="0"/>
              <a:t> </a:t>
            </a:r>
            <a:r>
              <a:rPr spc="-5" dirty="0"/>
              <a:t>increase</a:t>
            </a:r>
            <a:r>
              <a:rPr dirty="0"/>
              <a:t> </a:t>
            </a:r>
            <a:r>
              <a:rPr spc="-10" dirty="0"/>
              <a:t>this</a:t>
            </a:r>
            <a:r>
              <a:rPr spc="-5" dirty="0"/>
              <a:t> count</a:t>
            </a:r>
            <a:r>
              <a:rPr dirty="0"/>
              <a:t> by</a:t>
            </a:r>
            <a:r>
              <a:rPr spc="5" dirty="0"/>
              <a:t> </a:t>
            </a:r>
            <a:r>
              <a:rPr spc="-5" dirty="0"/>
              <a:t>using</a:t>
            </a:r>
            <a:r>
              <a:rPr dirty="0"/>
              <a:t> a </a:t>
            </a:r>
            <a:r>
              <a:rPr spc="-685" dirty="0"/>
              <a:t> </a:t>
            </a:r>
            <a:r>
              <a:rPr spc="-5" dirty="0"/>
              <a:t>register pair </a:t>
            </a:r>
            <a:r>
              <a:rPr dirty="0"/>
              <a:t>for </a:t>
            </a:r>
            <a:r>
              <a:rPr spc="-5" dirty="0"/>
              <a:t>the loop counter instead </a:t>
            </a:r>
            <a:r>
              <a:rPr dirty="0"/>
              <a:t>of </a:t>
            </a:r>
            <a:r>
              <a:rPr spc="-5" dirty="0"/>
              <a:t>the </a:t>
            </a:r>
            <a:r>
              <a:rPr dirty="0"/>
              <a:t> </a:t>
            </a:r>
            <a:r>
              <a:rPr spc="-5" dirty="0"/>
              <a:t>single</a:t>
            </a:r>
            <a:r>
              <a:rPr spc="-35" dirty="0"/>
              <a:t> </a:t>
            </a:r>
            <a:r>
              <a:rPr spc="-5" dirty="0"/>
              <a:t>register.</a:t>
            </a:r>
          </a:p>
          <a:p>
            <a:pPr marL="755650" marR="5715" lvl="1" indent="-286385" algn="just">
              <a:lnSpc>
                <a:spcPts val="2590"/>
              </a:lnSpc>
              <a:spcBef>
                <a:spcPts val="590"/>
              </a:spcBef>
              <a:buChar char="–"/>
              <a:tabLst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spc="56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minor</a:t>
            </a:r>
            <a:r>
              <a:rPr sz="2400" spc="56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problem</a:t>
            </a:r>
            <a:r>
              <a:rPr sz="2400" spc="56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arises</a:t>
            </a:r>
            <a:r>
              <a:rPr sz="2400" spc="56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</a:t>
            </a:r>
            <a:r>
              <a:rPr sz="2400" spc="5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how</a:t>
            </a:r>
            <a:r>
              <a:rPr sz="2400" spc="56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to</a:t>
            </a:r>
            <a:r>
              <a:rPr sz="2400" spc="5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test</a:t>
            </a:r>
            <a:r>
              <a:rPr sz="2400" spc="56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for</a:t>
            </a:r>
            <a:r>
              <a:rPr sz="2400" spc="5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5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final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count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since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DCX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INX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 not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modify the flags.</a:t>
            </a:r>
            <a:endParaRPr sz="2400">
              <a:latin typeface="Times New Roman"/>
              <a:cs typeface="Times New Roman"/>
            </a:endParaRPr>
          </a:p>
          <a:p>
            <a:pPr marL="755650" marR="5080" lvl="1" indent="-285750" algn="just">
              <a:lnSpc>
                <a:spcPts val="2590"/>
              </a:lnSpc>
              <a:spcBef>
                <a:spcPts val="580"/>
              </a:spcBef>
              <a:buChar char="–"/>
              <a:tabLst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However,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if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loop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is</a:t>
            </a:r>
            <a:r>
              <a:rPr sz="2400" spc="-5" dirty="0">
                <a:latin typeface="Times New Roman"/>
                <a:cs typeface="Times New Roman"/>
              </a:rPr>
              <a:t> looking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for</a:t>
            </a:r>
            <a:r>
              <a:rPr sz="2400" dirty="0">
                <a:latin typeface="Times New Roman"/>
                <a:cs typeface="Times New Roman"/>
              </a:rPr>
              <a:t> when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count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becomes zero, we can use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small trick </a:t>
            </a:r>
            <a:r>
              <a:rPr sz="2400" dirty="0">
                <a:latin typeface="Times New Roman"/>
                <a:cs typeface="Times New Roman"/>
              </a:rPr>
              <a:t>by </a:t>
            </a:r>
            <a:r>
              <a:rPr sz="2400" spc="-5" dirty="0">
                <a:latin typeface="Times New Roman"/>
                <a:cs typeface="Times New Roman"/>
              </a:rPr>
              <a:t>ORing </a:t>
            </a:r>
            <a:r>
              <a:rPr sz="2400" spc="-1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 two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registers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 pair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" dirty="0">
                <a:latin typeface="Times New Roman"/>
                <a:cs typeface="Times New Roman"/>
              </a:rPr>
              <a:t> then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checking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zero flag.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88615" marR="5080" indent="-263779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Using a Register Pair as a Loop </a:t>
            </a:r>
            <a:r>
              <a:rPr spc="-1085" dirty="0"/>
              <a:t> </a:t>
            </a:r>
            <a:r>
              <a:rPr spc="-5" dirty="0"/>
              <a:t>Counter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51736"/>
            <a:ext cx="7550150" cy="139128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4965" marR="5080" indent="-342900">
              <a:lnSpc>
                <a:spcPts val="3460"/>
              </a:lnSpc>
              <a:spcBef>
                <a:spcPts val="53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The following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is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an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example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 a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delay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loop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set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up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with a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register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pair as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loop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counter.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853" y="3757376"/>
            <a:ext cx="3027680" cy="2204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033144">
              <a:lnSpc>
                <a:spcPct val="110000"/>
              </a:lnSpc>
              <a:spcBef>
                <a:spcPts val="100"/>
              </a:spcBef>
            </a:pPr>
            <a:r>
              <a:rPr sz="2600" dirty="0">
                <a:latin typeface="Arial MT"/>
                <a:cs typeface="Arial MT"/>
              </a:rPr>
              <a:t>LXI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B,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1000H </a:t>
            </a:r>
            <a:r>
              <a:rPr sz="2600" spc="-70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LOOP</a:t>
            </a:r>
            <a:r>
              <a:rPr sz="2600" spc="18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DCX</a:t>
            </a:r>
            <a:r>
              <a:rPr sz="2600" spc="-1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B</a:t>
            </a:r>
            <a:endParaRPr sz="2600">
              <a:latin typeface="Arial MT"/>
              <a:cs typeface="Arial MT"/>
            </a:endParaRPr>
          </a:p>
          <a:p>
            <a:pPr marL="1045844" marR="356235">
              <a:lnSpc>
                <a:spcPct val="110000"/>
              </a:lnSpc>
            </a:pPr>
            <a:r>
              <a:rPr sz="2600" spc="-5" dirty="0">
                <a:latin typeface="Arial MT"/>
                <a:cs typeface="Arial MT"/>
              </a:rPr>
              <a:t>MOV </a:t>
            </a:r>
            <a:r>
              <a:rPr sz="2600" dirty="0">
                <a:latin typeface="Arial MT"/>
                <a:cs typeface="Arial MT"/>
              </a:rPr>
              <a:t>A, </a:t>
            </a:r>
            <a:r>
              <a:rPr sz="2600" spc="-5" dirty="0">
                <a:latin typeface="Arial MT"/>
                <a:cs typeface="Arial MT"/>
              </a:rPr>
              <a:t>C </a:t>
            </a:r>
            <a:r>
              <a:rPr sz="260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ORA B </a:t>
            </a:r>
            <a:r>
              <a:rPr sz="260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JNZ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LOOP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13092" y="3757376"/>
            <a:ext cx="1732280" cy="220472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600" spc="-5" dirty="0">
                <a:latin typeface="Arial MT"/>
                <a:cs typeface="Arial MT"/>
              </a:rPr>
              <a:t>10</a:t>
            </a:r>
            <a:r>
              <a:rPr sz="2600" spc="-7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T-States</a:t>
            </a:r>
            <a:endParaRPr sz="2600">
              <a:latin typeface="Arial MT"/>
              <a:cs typeface="Arial MT"/>
            </a:endParaRPr>
          </a:p>
          <a:p>
            <a:pPr marL="196215">
              <a:lnSpc>
                <a:spcPct val="100000"/>
              </a:lnSpc>
              <a:spcBef>
                <a:spcPts val="315"/>
              </a:spcBef>
            </a:pPr>
            <a:r>
              <a:rPr sz="2600" spc="-5" dirty="0">
                <a:latin typeface="Arial MT"/>
                <a:cs typeface="Arial MT"/>
              </a:rPr>
              <a:t>6</a:t>
            </a:r>
            <a:r>
              <a:rPr sz="2600" spc="-7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T-States</a:t>
            </a:r>
            <a:endParaRPr sz="2600">
              <a:latin typeface="Arial MT"/>
              <a:cs typeface="Arial MT"/>
            </a:endParaRPr>
          </a:p>
          <a:p>
            <a:pPr marL="196215">
              <a:lnSpc>
                <a:spcPct val="100000"/>
              </a:lnSpc>
              <a:spcBef>
                <a:spcPts val="310"/>
              </a:spcBef>
            </a:pPr>
            <a:r>
              <a:rPr sz="2600" spc="-5" dirty="0">
                <a:latin typeface="Arial MT"/>
                <a:cs typeface="Arial MT"/>
              </a:rPr>
              <a:t>4</a:t>
            </a:r>
            <a:r>
              <a:rPr sz="2600" spc="-7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T-States</a:t>
            </a:r>
            <a:endParaRPr sz="2600">
              <a:latin typeface="Arial MT"/>
              <a:cs typeface="Arial MT"/>
            </a:endParaRPr>
          </a:p>
          <a:p>
            <a:pPr marL="196215">
              <a:lnSpc>
                <a:spcPct val="100000"/>
              </a:lnSpc>
              <a:spcBef>
                <a:spcPts val="310"/>
              </a:spcBef>
            </a:pPr>
            <a:r>
              <a:rPr sz="2600" spc="-5" dirty="0">
                <a:latin typeface="Arial MT"/>
                <a:cs typeface="Arial MT"/>
              </a:rPr>
              <a:t>4</a:t>
            </a:r>
            <a:r>
              <a:rPr sz="2600" spc="-7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T-States</a:t>
            </a:r>
            <a:endParaRPr sz="2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2600" spc="-5" dirty="0">
                <a:latin typeface="Arial MT"/>
                <a:cs typeface="Arial MT"/>
              </a:rPr>
              <a:t>10</a:t>
            </a:r>
            <a:r>
              <a:rPr sz="2600" spc="-7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T-States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88615" marR="5080" indent="-263779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Using a Register Pair as a Loop </a:t>
            </a:r>
            <a:r>
              <a:rPr spc="-1085" dirty="0"/>
              <a:t> </a:t>
            </a:r>
            <a:r>
              <a:rPr spc="-5" dirty="0"/>
              <a:t>Counter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951736"/>
            <a:ext cx="7731759" cy="429577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74650" marR="79375" indent="-285750">
              <a:lnSpc>
                <a:spcPts val="3460"/>
              </a:lnSpc>
              <a:spcBef>
                <a:spcPts val="530"/>
              </a:spcBef>
              <a:buChar char="•"/>
              <a:tabLst>
                <a:tab pos="374650" algn="l"/>
              </a:tabLst>
            </a:pPr>
            <a:r>
              <a:rPr sz="3200" spc="-5" dirty="0">
                <a:latin typeface="Times New Roman"/>
                <a:cs typeface="Times New Roman"/>
              </a:rPr>
              <a:t>Using the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same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formula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from before, we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can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calculate: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har char="•"/>
            </a:pPr>
            <a:endParaRPr sz="3450">
              <a:latin typeface="Times New Roman"/>
              <a:cs typeface="Times New Roman"/>
            </a:endParaRPr>
          </a:p>
          <a:p>
            <a:pPr marL="374650" indent="-285750">
              <a:lnSpc>
                <a:spcPct val="100000"/>
              </a:lnSpc>
              <a:spcBef>
                <a:spcPts val="5"/>
              </a:spcBef>
              <a:buChar char="•"/>
              <a:tabLst>
                <a:tab pos="374015" algn="l"/>
                <a:tab pos="374650" algn="l"/>
              </a:tabLst>
            </a:pPr>
            <a:r>
              <a:rPr sz="2800" dirty="0">
                <a:latin typeface="Times New Roman"/>
                <a:cs typeface="Times New Roman"/>
              </a:rPr>
              <a:t>T</a:t>
            </a:r>
            <a:r>
              <a:rPr sz="2775" baseline="-21021" dirty="0">
                <a:latin typeface="Times New Roman"/>
                <a:cs typeface="Times New Roman"/>
              </a:rPr>
              <a:t>O</a:t>
            </a:r>
            <a:r>
              <a:rPr sz="2775" spc="330" baseline="-21021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10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T-States</a:t>
            </a:r>
            <a:endParaRPr sz="2800">
              <a:latin typeface="Times New Roman"/>
              <a:cs typeface="Times New Roman"/>
            </a:endParaRPr>
          </a:p>
          <a:p>
            <a:pPr marL="1171575" lvl="1" indent="-457834">
              <a:lnSpc>
                <a:spcPct val="100000"/>
              </a:lnSpc>
              <a:spcBef>
                <a:spcPts val="295"/>
              </a:spcBef>
              <a:buChar char="–"/>
              <a:tabLst>
                <a:tab pos="1171575" algn="l"/>
                <a:tab pos="1172210" algn="l"/>
              </a:tabLst>
            </a:pP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delay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for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 LXI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instruction</a:t>
            </a:r>
            <a:endParaRPr sz="2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buFont typeface="Times New Roman"/>
              <a:buChar char="–"/>
            </a:pPr>
            <a:endParaRPr sz="3500">
              <a:latin typeface="Times New Roman"/>
              <a:cs typeface="Times New Roman"/>
            </a:endParaRPr>
          </a:p>
          <a:p>
            <a:pPr marL="374650" indent="-285750">
              <a:lnSpc>
                <a:spcPct val="100000"/>
              </a:lnSpc>
              <a:buChar char="•"/>
              <a:tabLst>
                <a:tab pos="374015" algn="l"/>
                <a:tab pos="374650" algn="l"/>
              </a:tabLst>
            </a:pPr>
            <a:r>
              <a:rPr sz="2800" dirty="0">
                <a:latin typeface="Times New Roman"/>
                <a:cs typeface="Times New Roman"/>
              </a:rPr>
              <a:t>T</a:t>
            </a:r>
            <a:r>
              <a:rPr sz="2775" baseline="-21021" dirty="0">
                <a:latin typeface="Times New Roman"/>
                <a:cs typeface="Times New Roman"/>
              </a:rPr>
              <a:t>L</a:t>
            </a:r>
            <a:r>
              <a:rPr sz="2775" spc="337" baseline="-21021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(24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X 4096)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- 3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98301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T-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States</a:t>
            </a:r>
            <a:endParaRPr sz="2800">
              <a:latin typeface="Times New Roman"/>
              <a:cs typeface="Times New Roman"/>
            </a:endParaRPr>
          </a:p>
          <a:p>
            <a:pPr marL="1171575" marR="68580" lvl="1" indent="-457200">
              <a:lnSpc>
                <a:spcPts val="2590"/>
              </a:lnSpc>
              <a:spcBef>
                <a:spcPts val="625"/>
              </a:spcBef>
              <a:buChar char="–"/>
              <a:tabLst>
                <a:tab pos="1171575" algn="l"/>
                <a:tab pos="1172210" algn="l"/>
              </a:tabLst>
            </a:pPr>
            <a:r>
              <a:rPr sz="2400" dirty="0">
                <a:latin typeface="Times New Roman"/>
                <a:cs typeface="Times New Roman"/>
              </a:rPr>
              <a:t>24 </a:t>
            </a:r>
            <a:r>
              <a:rPr sz="2400" spc="-5" dirty="0">
                <a:latin typeface="Times New Roman"/>
                <a:cs typeface="Times New Roman"/>
              </a:rPr>
              <a:t>T-States for the </a:t>
            </a:r>
            <a:r>
              <a:rPr sz="2400" dirty="0">
                <a:latin typeface="Times New Roman"/>
                <a:cs typeface="Times New Roman"/>
              </a:rPr>
              <a:t>4 </a:t>
            </a:r>
            <a:r>
              <a:rPr sz="2400" spc="-5" dirty="0">
                <a:latin typeface="Times New Roman"/>
                <a:cs typeface="Times New Roman"/>
              </a:rPr>
              <a:t>instructions in the loop repeated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4096 </a:t>
            </a:r>
            <a:r>
              <a:rPr sz="2400" spc="-5" dirty="0">
                <a:latin typeface="Times New Roman"/>
                <a:cs typeface="Times New Roman"/>
              </a:rPr>
              <a:t>times </a:t>
            </a:r>
            <a:r>
              <a:rPr sz="2400" dirty="0">
                <a:latin typeface="Times New Roman"/>
                <a:cs typeface="Times New Roman"/>
              </a:rPr>
              <a:t>(1000</a:t>
            </a:r>
            <a:r>
              <a:rPr sz="2400" baseline="-20833" dirty="0">
                <a:latin typeface="Times New Roman"/>
                <a:cs typeface="Times New Roman"/>
              </a:rPr>
              <a:t>16</a:t>
            </a:r>
            <a:r>
              <a:rPr sz="2400" spc="7" baseline="-2083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 4096</a:t>
            </a:r>
            <a:r>
              <a:rPr sz="2400" baseline="-20833" dirty="0">
                <a:latin typeface="Times New Roman"/>
                <a:cs typeface="Times New Roman"/>
              </a:rPr>
              <a:t>10</a:t>
            </a:r>
            <a:r>
              <a:rPr sz="2400" dirty="0">
                <a:latin typeface="Times New Roman"/>
                <a:cs typeface="Times New Roman"/>
              </a:rPr>
              <a:t>) </a:t>
            </a:r>
            <a:r>
              <a:rPr sz="2400" spc="-5" dirty="0">
                <a:latin typeface="Times New Roman"/>
                <a:cs typeface="Times New Roman"/>
              </a:rPr>
              <a:t>reduced </a:t>
            </a:r>
            <a:r>
              <a:rPr sz="2400" dirty="0">
                <a:latin typeface="Times New Roman"/>
                <a:cs typeface="Times New Roman"/>
              </a:rPr>
              <a:t>by the 3 </a:t>
            </a:r>
            <a:r>
              <a:rPr sz="2400" spc="5" dirty="0">
                <a:latin typeface="Times New Roman"/>
                <a:cs typeface="Times New Roman"/>
              </a:rPr>
              <a:t>T- 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States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for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JNZ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 last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iteration.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15392" y="814069"/>
            <a:ext cx="311340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Nested</a:t>
            </a:r>
            <a:r>
              <a:rPr spc="-70" dirty="0"/>
              <a:t> </a:t>
            </a:r>
            <a:r>
              <a:rPr spc="-5" dirty="0"/>
              <a:t>Loops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59355"/>
            <a:ext cx="3810635" cy="420306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marR="212090" indent="-343535">
              <a:lnSpc>
                <a:spcPts val="3020"/>
              </a:lnSpc>
              <a:spcBef>
                <a:spcPts val="484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Nested </a:t>
            </a:r>
            <a:r>
              <a:rPr sz="2800" dirty="0">
                <a:latin typeface="Times New Roman"/>
                <a:cs typeface="Times New Roman"/>
              </a:rPr>
              <a:t>loops </a:t>
            </a:r>
            <a:r>
              <a:rPr sz="2800" spc="-5" dirty="0">
                <a:latin typeface="Times New Roman"/>
                <a:cs typeface="Times New Roman"/>
              </a:rPr>
              <a:t>can </a:t>
            </a:r>
            <a:r>
              <a:rPr sz="2800" dirty="0">
                <a:latin typeface="Times New Roman"/>
                <a:cs typeface="Times New Roman"/>
              </a:rPr>
              <a:t>be 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easily setup </a:t>
            </a:r>
            <a:r>
              <a:rPr sz="2800" dirty="0">
                <a:latin typeface="Times New Roman"/>
                <a:cs typeface="Times New Roman"/>
              </a:rPr>
              <a:t>in 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Assembly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language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by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using two </a:t>
            </a:r>
            <a:r>
              <a:rPr sz="2800" spc="-5" dirty="0">
                <a:latin typeface="Times New Roman"/>
                <a:cs typeface="Times New Roman"/>
              </a:rPr>
              <a:t>registers </a:t>
            </a:r>
            <a:r>
              <a:rPr sz="2800" dirty="0">
                <a:latin typeface="Times New Roman"/>
                <a:cs typeface="Times New Roman"/>
              </a:rPr>
              <a:t>for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 two loop </a:t>
            </a:r>
            <a:r>
              <a:rPr sz="2800" spc="-5" dirty="0">
                <a:latin typeface="Times New Roman"/>
                <a:cs typeface="Times New Roman"/>
              </a:rPr>
              <a:t>counters 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and updating </a:t>
            </a:r>
            <a:r>
              <a:rPr sz="2800" dirty="0">
                <a:latin typeface="Times New Roman"/>
                <a:cs typeface="Times New Roman"/>
              </a:rPr>
              <a:t>the right 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register </a:t>
            </a:r>
            <a:r>
              <a:rPr sz="2800" dirty="0">
                <a:latin typeface="Times New Roman"/>
                <a:cs typeface="Times New Roman"/>
              </a:rPr>
              <a:t>in the right 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loop.</a:t>
            </a:r>
            <a:endParaRPr sz="2800">
              <a:latin typeface="Times New Roman"/>
              <a:cs typeface="Times New Roman"/>
            </a:endParaRPr>
          </a:p>
          <a:p>
            <a:pPr marL="755650" marR="5080" indent="-286385">
              <a:lnSpc>
                <a:spcPts val="2590"/>
              </a:lnSpc>
              <a:spcBef>
                <a:spcPts val="610"/>
              </a:spcBef>
              <a:tabLst>
                <a:tab pos="755650" algn="l"/>
              </a:tabLst>
            </a:pPr>
            <a:r>
              <a:rPr sz="2400" dirty="0">
                <a:latin typeface="Times New Roman"/>
                <a:cs typeface="Times New Roman"/>
              </a:rPr>
              <a:t>–	</a:t>
            </a:r>
            <a:r>
              <a:rPr sz="2400" spc="-5" dirty="0">
                <a:latin typeface="Times New Roman"/>
                <a:cs typeface="Times New Roman"/>
              </a:rPr>
              <a:t>In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figure,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body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loop2 </a:t>
            </a:r>
            <a:r>
              <a:rPr sz="2400" dirty="0">
                <a:latin typeface="Times New Roman"/>
                <a:cs typeface="Times New Roman"/>
              </a:rPr>
              <a:t>can be </a:t>
            </a:r>
            <a:r>
              <a:rPr sz="2400" spc="-5" dirty="0">
                <a:latin typeface="Times New Roman"/>
                <a:cs typeface="Times New Roman"/>
              </a:rPr>
              <a:t>before </a:t>
            </a:r>
            <a:r>
              <a:rPr sz="2400" dirty="0">
                <a:latin typeface="Times New Roman"/>
                <a:cs typeface="Times New Roman"/>
              </a:rPr>
              <a:t>or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after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loop1.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59500" y="2065337"/>
            <a:ext cx="1282700" cy="211454"/>
          </a:xfrm>
          <a:prstGeom prst="rect">
            <a:avLst/>
          </a:prstGeom>
          <a:solidFill>
            <a:srgbClr val="FFFFCC"/>
          </a:solidFill>
          <a:ln w="12700">
            <a:solidFill>
              <a:srgbClr val="000000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139700">
              <a:lnSpc>
                <a:spcPct val="100000"/>
              </a:lnSpc>
              <a:spcBef>
                <a:spcPts val="75"/>
              </a:spcBef>
            </a:pPr>
            <a:r>
              <a:rPr sz="1200" spc="-5" dirty="0">
                <a:latin typeface="Arial MT"/>
                <a:cs typeface="Arial MT"/>
              </a:rPr>
              <a:t>Initialize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loop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59500" y="2935287"/>
            <a:ext cx="1282700" cy="224154"/>
          </a:xfrm>
          <a:prstGeom prst="rect">
            <a:avLst/>
          </a:prstGeom>
          <a:solidFill>
            <a:srgbClr val="FFFFCC"/>
          </a:solidFill>
          <a:ln w="12700">
            <a:solidFill>
              <a:srgbClr val="000000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125"/>
              </a:spcBef>
            </a:pPr>
            <a:r>
              <a:rPr sz="1200" spc="-5" dirty="0">
                <a:latin typeface="Arial MT"/>
                <a:cs typeface="Arial MT"/>
              </a:rPr>
              <a:t>Update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the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count1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340475" y="3321043"/>
            <a:ext cx="909955" cy="909955"/>
            <a:chOff x="6340475" y="3321043"/>
            <a:chExt cx="909955" cy="909955"/>
          </a:xfrm>
        </p:grpSpPr>
        <p:sp>
          <p:nvSpPr>
            <p:cNvPr id="7" name="object 7"/>
            <p:cNvSpPr/>
            <p:nvPr/>
          </p:nvSpPr>
          <p:spPr>
            <a:xfrm>
              <a:off x="6346825" y="3327393"/>
              <a:ext cx="897255" cy="897255"/>
            </a:xfrm>
            <a:custGeom>
              <a:avLst/>
              <a:gdLst/>
              <a:ahLst/>
              <a:cxnLst/>
              <a:rect l="l" t="t" r="r" b="b"/>
              <a:pathLst>
                <a:path w="897254" h="897254">
                  <a:moveTo>
                    <a:pt x="448475" y="0"/>
                  </a:moveTo>
                  <a:lnTo>
                    <a:pt x="0" y="448475"/>
                  </a:lnTo>
                  <a:lnTo>
                    <a:pt x="448475" y="896950"/>
                  </a:lnTo>
                  <a:lnTo>
                    <a:pt x="896937" y="448475"/>
                  </a:lnTo>
                  <a:lnTo>
                    <a:pt x="448475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346825" y="3327393"/>
              <a:ext cx="897255" cy="897255"/>
            </a:xfrm>
            <a:custGeom>
              <a:avLst/>
              <a:gdLst/>
              <a:ahLst/>
              <a:cxnLst/>
              <a:rect l="l" t="t" r="r" b="b"/>
              <a:pathLst>
                <a:path w="897254" h="897254">
                  <a:moveTo>
                    <a:pt x="0" y="448475"/>
                  </a:moveTo>
                  <a:lnTo>
                    <a:pt x="448475" y="0"/>
                  </a:lnTo>
                  <a:lnTo>
                    <a:pt x="896937" y="448475"/>
                  </a:lnTo>
                  <a:lnTo>
                    <a:pt x="448475" y="896950"/>
                  </a:lnTo>
                  <a:lnTo>
                    <a:pt x="0" y="4484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555630" y="3502037"/>
            <a:ext cx="5168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5720" algn="just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Is </a:t>
            </a:r>
            <a:r>
              <a:rPr sz="1200" spc="-5" dirty="0">
                <a:latin typeface="Arial MT"/>
                <a:cs typeface="Arial MT"/>
              </a:rPr>
              <a:t>this </a:t>
            </a:r>
            <a:r>
              <a:rPr sz="1200" spc="-3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Final 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Coun</a:t>
            </a:r>
            <a:r>
              <a:rPr sz="1200" spc="-5" dirty="0">
                <a:latin typeface="Arial MT"/>
                <a:cs typeface="Arial MT"/>
              </a:rPr>
              <a:t>t?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895976" y="2255838"/>
            <a:ext cx="941705" cy="2167255"/>
            <a:chOff x="5895976" y="2255838"/>
            <a:chExt cx="941705" cy="2167255"/>
          </a:xfrm>
        </p:grpSpPr>
        <p:sp>
          <p:nvSpPr>
            <p:cNvPr id="11" name="object 11"/>
            <p:cNvSpPr/>
            <p:nvPr/>
          </p:nvSpPr>
          <p:spPr>
            <a:xfrm>
              <a:off x="6799263" y="3176588"/>
              <a:ext cx="0" cy="100330"/>
            </a:xfrm>
            <a:custGeom>
              <a:avLst/>
              <a:gdLst/>
              <a:ahLst/>
              <a:cxnLst/>
              <a:rect l="l" t="t" r="r" b="b"/>
              <a:pathLst>
                <a:path h="100329">
                  <a:moveTo>
                    <a:pt x="0" y="0"/>
                  </a:moveTo>
                  <a:lnTo>
                    <a:pt x="0" y="100012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761163" y="32639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799263" y="4235450"/>
              <a:ext cx="0" cy="123825"/>
            </a:xfrm>
            <a:custGeom>
              <a:avLst/>
              <a:gdLst/>
              <a:ahLst/>
              <a:cxnLst/>
              <a:rect l="l" t="t" r="r" b="b"/>
              <a:pathLst>
                <a:path h="123825">
                  <a:moveTo>
                    <a:pt x="0" y="0"/>
                  </a:moveTo>
                  <a:lnTo>
                    <a:pt x="0" y="12382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761163" y="43465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902326" y="3775075"/>
              <a:ext cx="436880" cy="0"/>
            </a:xfrm>
            <a:custGeom>
              <a:avLst/>
              <a:gdLst/>
              <a:ahLst/>
              <a:cxnLst/>
              <a:rect l="l" t="t" r="r" b="b"/>
              <a:pathLst>
                <a:path w="436879">
                  <a:moveTo>
                    <a:pt x="436562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799263" y="2262188"/>
              <a:ext cx="0" cy="186055"/>
            </a:xfrm>
            <a:custGeom>
              <a:avLst/>
              <a:gdLst/>
              <a:ahLst/>
              <a:cxnLst/>
              <a:rect l="l" t="t" r="r" b="b"/>
              <a:pathLst>
                <a:path h="186055">
                  <a:moveTo>
                    <a:pt x="0" y="0"/>
                  </a:moveTo>
                  <a:lnTo>
                    <a:pt x="0" y="18573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761163" y="243522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162675" y="2514600"/>
            <a:ext cx="1282700" cy="211454"/>
          </a:xfrm>
          <a:prstGeom prst="rect">
            <a:avLst/>
          </a:prstGeom>
          <a:solidFill>
            <a:srgbClr val="FFFFCC"/>
          </a:solidFill>
          <a:ln w="12700">
            <a:solidFill>
              <a:srgbClr val="000000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75"/>
              </a:spcBef>
            </a:pPr>
            <a:r>
              <a:rPr sz="1200" spc="-5" dirty="0">
                <a:latin typeface="Arial MT"/>
                <a:cs typeface="Arial MT"/>
              </a:rPr>
              <a:t>Body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of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loop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1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764339" y="2735263"/>
            <a:ext cx="76200" cy="225425"/>
            <a:chOff x="6764339" y="2735263"/>
            <a:chExt cx="76200" cy="225425"/>
          </a:xfrm>
        </p:grpSpPr>
        <p:sp>
          <p:nvSpPr>
            <p:cNvPr id="20" name="object 20"/>
            <p:cNvSpPr/>
            <p:nvPr/>
          </p:nvSpPr>
          <p:spPr>
            <a:xfrm>
              <a:off x="6802439" y="2735263"/>
              <a:ext cx="0" cy="161925"/>
            </a:xfrm>
            <a:custGeom>
              <a:avLst/>
              <a:gdLst/>
              <a:ahLst/>
              <a:cxnLst/>
              <a:rect l="l" t="t" r="r" b="b"/>
              <a:pathLst>
                <a:path h="161925">
                  <a:moveTo>
                    <a:pt x="0" y="0"/>
                  </a:moveTo>
                  <a:lnTo>
                    <a:pt x="0" y="16192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764339" y="288448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/>
          <p:nvPr/>
        </p:nvSpPr>
        <p:spPr>
          <a:xfrm>
            <a:off x="5889625" y="2362200"/>
            <a:ext cx="846455" cy="0"/>
          </a:xfrm>
          <a:custGeom>
            <a:avLst/>
            <a:gdLst/>
            <a:ahLst/>
            <a:cxnLst/>
            <a:rect l="l" t="t" r="r" b="b"/>
            <a:pathLst>
              <a:path w="846454">
                <a:moveTo>
                  <a:pt x="0" y="0"/>
                </a:moveTo>
                <a:lnTo>
                  <a:pt x="846137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3" name="object 23"/>
          <p:cNvGrpSpPr/>
          <p:nvPr/>
        </p:nvGrpSpPr>
        <p:grpSpPr>
          <a:xfrm>
            <a:off x="5883275" y="2324096"/>
            <a:ext cx="916305" cy="1452880"/>
            <a:chOff x="5883275" y="2324096"/>
            <a:chExt cx="916305" cy="1452880"/>
          </a:xfrm>
        </p:grpSpPr>
        <p:sp>
          <p:nvSpPr>
            <p:cNvPr id="24" name="object 24"/>
            <p:cNvSpPr/>
            <p:nvPr/>
          </p:nvSpPr>
          <p:spPr>
            <a:xfrm>
              <a:off x="5889625" y="2381249"/>
              <a:ext cx="0" cy="1395730"/>
            </a:xfrm>
            <a:custGeom>
              <a:avLst/>
              <a:gdLst/>
              <a:ahLst/>
              <a:cxnLst/>
              <a:rect l="l" t="t" r="r" b="b"/>
              <a:pathLst>
                <a:path h="1395729">
                  <a:moveTo>
                    <a:pt x="0" y="1395412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723065" y="23240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077902" y="3559047"/>
            <a:ext cx="2197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 MT"/>
                <a:cs typeface="Arial MT"/>
              </a:rPr>
              <a:t>No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884403" y="4205223"/>
            <a:ext cx="2743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20" dirty="0">
                <a:latin typeface="Arial MT"/>
                <a:cs typeface="Arial MT"/>
              </a:rPr>
              <a:t>Y</a:t>
            </a:r>
            <a:r>
              <a:rPr sz="1200" spc="-10" dirty="0">
                <a:latin typeface="Arial MT"/>
                <a:cs typeface="Arial MT"/>
              </a:rPr>
              <a:t>e</a:t>
            </a:r>
            <a:r>
              <a:rPr sz="1200" dirty="0">
                <a:latin typeface="Arial MT"/>
                <a:cs typeface="Arial MT"/>
              </a:rPr>
              <a:t>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173787" y="1174750"/>
            <a:ext cx="1282700" cy="224154"/>
          </a:xfrm>
          <a:prstGeom prst="rect">
            <a:avLst/>
          </a:prstGeom>
          <a:solidFill>
            <a:srgbClr val="CCFFCC"/>
          </a:solidFill>
          <a:ln w="12700">
            <a:solidFill>
              <a:srgbClr val="000000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139700">
              <a:lnSpc>
                <a:spcPct val="100000"/>
              </a:lnSpc>
              <a:spcBef>
                <a:spcPts val="125"/>
              </a:spcBef>
            </a:pPr>
            <a:r>
              <a:rPr sz="1200" spc="-5" dirty="0">
                <a:latin typeface="Arial MT"/>
                <a:cs typeface="Arial MT"/>
              </a:rPr>
              <a:t>Initialize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loop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2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775450" y="1390650"/>
            <a:ext cx="76200" cy="255904"/>
            <a:chOff x="6775450" y="1390650"/>
            <a:chExt cx="76200" cy="255904"/>
          </a:xfrm>
        </p:grpSpPr>
        <p:sp>
          <p:nvSpPr>
            <p:cNvPr id="30" name="object 30"/>
            <p:cNvSpPr/>
            <p:nvPr/>
          </p:nvSpPr>
          <p:spPr>
            <a:xfrm>
              <a:off x="6813550" y="1397000"/>
              <a:ext cx="0" cy="186055"/>
            </a:xfrm>
            <a:custGeom>
              <a:avLst/>
              <a:gdLst/>
              <a:ahLst/>
              <a:cxnLst/>
              <a:rect l="l" t="t" r="r" b="b"/>
              <a:pathLst>
                <a:path h="186055">
                  <a:moveTo>
                    <a:pt x="0" y="0"/>
                  </a:moveTo>
                  <a:lnTo>
                    <a:pt x="0" y="18573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775450" y="157003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6176962" y="1649412"/>
            <a:ext cx="1282700" cy="224154"/>
          </a:xfrm>
          <a:prstGeom prst="rect">
            <a:avLst/>
          </a:prstGeom>
          <a:solidFill>
            <a:srgbClr val="CCFFCC"/>
          </a:solidFill>
          <a:ln w="12700">
            <a:solidFill>
              <a:srgbClr val="000000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125"/>
              </a:spcBef>
            </a:pPr>
            <a:r>
              <a:rPr sz="1200" spc="-5" dirty="0">
                <a:latin typeface="Arial MT"/>
                <a:cs typeface="Arial MT"/>
              </a:rPr>
              <a:t>Body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of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loop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2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778625" y="1884363"/>
            <a:ext cx="76200" cy="187325"/>
            <a:chOff x="6778625" y="1884363"/>
            <a:chExt cx="76200" cy="187325"/>
          </a:xfrm>
        </p:grpSpPr>
        <p:sp>
          <p:nvSpPr>
            <p:cNvPr id="34" name="object 34"/>
            <p:cNvSpPr/>
            <p:nvPr/>
          </p:nvSpPr>
          <p:spPr>
            <a:xfrm>
              <a:off x="6816725" y="1884363"/>
              <a:ext cx="0" cy="123825"/>
            </a:xfrm>
            <a:custGeom>
              <a:avLst/>
              <a:gdLst/>
              <a:ahLst/>
              <a:cxnLst/>
              <a:rect l="l" t="t" r="r" b="b"/>
              <a:pathLst>
                <a:path h="123825">
                  <a:moveTo>
                    <a:pt x="0" y="0"/>
                  </a:moveTo>
                  <a:lnTo>
                    <a:pt x="0" y="12382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778625" y="199548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" name="object 36"/>
          <p:cNvGrpSpPr/>
          <p:nvPr/>
        </p:nvGrpSpPr>
        <p:grpSpPr>
          <a:xfrm>
            <a:off x="5661025" y="1458909"/>
            <a:ext cx="1152525" cy="76200"/>
            <a:chOff x="5661025" y="1458909"/>
            <a:chExt cx="1152525" cy="76200"/>
          </a:xfrm>
        </p:grpSpPr>
        <p:sp>
          <p:nvSpPr>
            <p:cNvPr id="37" name="object 37"/>
            <p:cNvSpPr/>
            <p:nvPr/>
          </p:nvSpPr>
          <p:spPr>
            <a:xfrm>
              <a:off x="5667375" y="1497012"/>
              <a:ext cx="1082675" cy="0"/>
            </a:xfrm>
            <a:custGeom>
              <a:avLst/>
              <a:gdLst/>
              <a:ahLst/>
              <a:cxnLst/>
              <a:rect l="l" t="t" r="r" b="b"/>
              <a:pathLst>
                <a:path w="1082675">
                  <a:moveTo>
                    <a:pt x="0" y="0"/>
                  </a:moveTo>
                  <a:lnTo>
                    <a:pt x="10826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737352" y="145890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6149975" y="4408487"/>
            <a:ext cx="1295400" cy="211454"/>
          </a:xfrm>
          <a:prstGeom prst="rect">
            <a:avLst/>
          </a:prstGeom>
          <a:solidFill>
            <a:srgbClr val="CCFFCC"/>
          </a:solidFill>
          <a:ln w="12700">
            <a:solidFill>
              <a:srgbClr val="000000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sz="1200" spc="-5" dirty="0">
                <a:latin typeface="Arial MT"/>
                <a:cs typeface="Arial MT"/>
              </a:rPr>
              <a:t>Update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the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count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2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6330950" y="4810118"/>
            <a:ext cx="909955" cy="909955"/>
            <a:chOff x="6330950" y="4810118"/>
            <a:chExt cx="909955" cy="909955"/>
          </a:xfrm>
        </p:grpSpPr>
        <p:sp>
          <p:nvSpPr>
            <p:cNvPr id="41" name="object 41"/>
            <p:cNvSpPr/>
            <p:nvPr/>
          </p:nvSpPr>
          <p:spPr>
            <a:xfrm>
              <a:off x="6337300" y="4816468"/>
              <a:ext cx="897255" cy="897255"/>
            </a:xfrm>
            <a:custGeom>
              <a:avLst/>
              <a:gdLst/>
              <a:ahLst/>
              <a:cxnLst/>
              <a:rect l="l" t="t" r="r" b="b"/>
              <a:pathLst>
                <a:path w="897254" h="897254">
                  <a:moveTo>
                    <a:pt x="448475" y="0"/>
                  </a:moveTo>
                  <a:lnTo>
                    <a:pt x="0" y="448475"/>
                  </a:lnTo>
                  <a:lnTo>
                    <a:pt x="448475" y="896950"/>
                  </a:lnTo>
                  <a:lnTo>
                    <a:pt x="896937" y="448475"/>
                  </a:lnTo>
                  <a:lnTo>
                    <a:pt x="448475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337300" y="4816468"/>
              <a:ext cx="897255" cy="897255"/>
            </a:xfrm>
            <a:custGeom>
              <a:avLst/>
              <a:gdLst/>
              <a:ahLst/>
              <a:cxnLst/>
              <a:rect l="l" t="t" r="r" b="b"/>
              <a:pathLst>
                <a:path w="897254" h="897254">
                  <a:moveTo>
                    <a:pt x="0" y="448475"/>
                  </a:moveTo>
                  <a:lnTo>
                    <a:pt x="448475" y="0"/>
                  </a:lnTo>
                  <a:lnTo>
                    <a:pt x="896937" y="448475"/>
                  </a:lnTo>
                  <a:lnTo>
                    <a:pt x="448475" y="896950"/>
                  </a:lnTo>
                  <a:lnTo>
                    <a:pt x="0" y="4484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6546278" y="4990972"/>
            <a:ext cx="5168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5720" algn="just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Is </a:t>
            </a:r>
            <a:r>
              <a:rPr sz="1200" spc="-5" dirty="0">
                <a:latin typeface="Arial MT"/>
                <a:cs typeface="Arial MT"/>
              </a:rPr>
              <a:t>this </a:t>
            </a:r>
            <a:r>
              <a:rPr sz="1200" spc="-3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Final 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Coun</a:t>
            </a:r>
            <a:r>
              <a:rPr sz="1200" spc="-5" dirty="0">
                <a:latin typeface="Arial MT"/>
                <a:cs typeface="Arial MT"/>
              </a:rPr>
              <a:t>t?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5675313" y="4611687"/>
            <a:ext cx="1152525" cy="1387475"/>
            <a:chOff x="5675313" y="4611687"/>
            <a:chExt cx="1152525" cy="1387475"/>
          </a:xfrm>
        </p:grpSpPr>
        <p:sp>
          <p:nvSpPr>
            <p:cNvPr id="45" name="object 45"/>
            <p:cNvSpPr/>
            <p:nvPr/>
          </p:nvSpPr>
          <p:spPr>
            <a:xfrm>
              <a:off x="6789738" y="4618037"/>
              <a:ext cx="0" cy="147955"/>
            </a:xfrm>
            <a:custGeom>
              <a:avLst/>
              <a:gdLst/>
              <a:ahLst/>
              <a:cxnLst/>
              <a:rect l="l" t="t" r="r" b="b"/>
              <a:pathLst>
                <a:path h="147954">
                  <a:moveTo>
                    <a:pt x="0" y="0"/>
                  </a:moveTo>
                  <a:lnTo>
                    <a:pt x="0" y="14763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751638" y="47529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789738" y="5711825"/>
              <a:ext cx="0" cy="224154"/>
            </a:xfrm>
            <a:custGeom>
              <a:avLst/>
              <a:gdLst/>
              <a:ahLst/>
              <a:cxnLst/>
              <a:rect l="l" t="t" r="r" b="b"/>
              <a:pathLst>
                <a:path h="224154">
                  <a:moveTo>
                    <a:pt x="0" y="0"/>
                  </a:moveTo>
                  <a:lnTo>
                    <a:pt x="0" y="22383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751638" y="592296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681663" y="5264150"/>
              <a:ext cx="647700" cy="0"/>
            </a:xfrm>
            <a:custGeom>
              <a:avLst/>
              <a:gdLst/>
              <a:ahLst/>
              <a:cxnLst/>
              <a:rect l="l" t="t" r="r" b="b"/>
              <a:pathLst>
                <a:path w="647700">
                  <a:moveTo>
                    <a:pt x="6477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6081077" y="5035422"/>
            <a:ext cx="2197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 MT"/>
                <a:cs typeface="Arial MT"/>
              </a:rPr>
              <a:t>No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887578" y="5770448"/>
            <a:ext cx="2743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20" dirty="0">
                <a:latin typeface="Arial MT"/>
                <a:cs typeface="Arial MT"/>
              </a:rPr>
              <a:t>Y</a:t>
            </a:r>
            <a:r>
              <a:rPr sz="1200" spc="-10" dirty="0">
                <a:latin typeface="Arial MT"/>
                <a:cs typeface="Arial MT"/>
              </a:rPr>
              <a:t>e</a:t>
            </a:r>
            <a:r>
              <a:rPr sz="1200" dirty="0">
                <a:latin typeface="Arial MT"/>
                <a:cs typeface="Arial MT"/>
              </a:rPr>
              <a:t>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5678488" y="1493837"/>
            <a:ext cx="0" cy="3773804"/>
          </a:xfrm>
          <a:custGeom>
            <a:avLst/>
            <a:gdLst/>
            <a:ahLst/>
            <a:cxnLst/>
            <a:rect l="l" t="t" r="r" b="b"/>
            <a:pathLst>
              <a:path h="3773804">
                <a:moveTo>
                  <a:pt x="0" y="3773487"/>
                </a:moveTo>
                <a:lnTo>
                  <a:pt x="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83822" y="814069"/>
            <a:ext cx="537591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Nested</a:t>
            </a:r>
            <a:r>
              <a:rPr spc="-20" dirty="0"/>
              <a:t> </a:t>
            </a:r>
            <a:r>
              <a:rPr spc="-5" dirty="0"/>
              <a:t>Loops</a:t>
            </a:r>
            <a:r>
              <a:rPr spc="-25" dirty="0"/>
              <a:t> </a:t>
            </a:r>
            <a:r>
              <a:rPr spc="-5" dirty="0"/>
              <a:t>for</a:t>
            </a:r>
            <a:r>
              <a:rPr spc="-20" dirty="0"/>
              <a:t> </a:t>
            </a:r>
            <a:r>
              <a:rPr spc="-5" dirty="0"/>
              <a:t>Delay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59355"/>
            <a:ext cx="7273290" cy="122047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marR="5080" indent="-343535" algn="just">
              <a:lnSpc>
                <a:spcPts val="3020"/>
              </a:lnSpc>
              <a:spcBef>
                <a:spcPts val="484"/>
              </a:spcBef>
              <a:buChar char="•"/>
              <a:tabLst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Instead </a:t>
            </a:r>
            <a:r>
              <a:rPr sz="2800" dirty="0">
                <a:latin typeface="Times New Roman"/>
                <a:cs typeface="Times New Roman"/>
              </a:rPr>
              <a:t>(or in </a:t>
            </a:r>
            <a:r>
              <a:rPr sz="2800" spc="-5" dirty="0">
                <a:latin typeface="Times New Roman"/>
                <a:cs typeface="Times New Roman"/>
              </a:rPr>
              <a:t>conjunction </a:t>
            </a:r>
            <a:r>
              <a:rPr sz="2800" dirty="0">
                <a:latin typeface="Times New Roman"/>
                <a:cs typeface="Times New Roman"/>
              </a:rPr>
              <a:t>with) </a:t>
            </a:r>
            <a:r>
              <a:rPr sz="2800" spc="-5" dirty="0">
                <a:latin typeface="Times New Roman"/>
                <a:cs typeface="Times New Roman"/>
              </a:rPr>
              <a:t>Register Pairs,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nested </a:t>
            </a:r>
            <a:r>
              <a:rPr sz="2800" dirty="0">
                <a:latin typeface="Times New Roman"/>
                <a:cs typeface="Times New Roman"/>
              </a:rPr>
              <a:t>loop structure </a:t>
            </a:r>
            <a:r>
              <a:rPr sz="2800" spc="-5" dirty="0">
                <a:latin typeface="Times New Roman"/>
                <a:cs typeface="Times New Roman"/>
              </a:rPr>
              <a:t>can </a:t>
            </a:r>
            <a:r>
              <a:rPr sz="2800" dirty="0">
                <a:latin typeface="Times New Roman"/>
                <a:cs typeface="Times New Roman"/>
              </a:rPr>
              <a:t>be </a:t>
            </a:r>
            <a:r>
              <a:rPr sz="2800" spc="-5" dirty="0">
                <a:latin typeface="Times New Roman"/>
                <a:cs typeface="Times New Roman"/>
              </a:rPr>
              <a:t>used </a:t>
            </a:r>
            <a:r>
              <a:rPr sz="2800" dirty="0">
                <a:latin typeface="Times New Roman"/>
                <a:cs typeface="Times New Roman"/>
              </a:rPr>
              <a:t>to </a:t>
            </a:r>
            <a:r>
              <a:rPr sz="2800" spc="-5" dirty="0">
                <a:latin typeface="Times New Roman"/>
                <a:cs typeface="Times New Roman"/>
              </a:rPr>
              <a:t>increase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total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delay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produced.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44987" y="3600270"/>
          <a:ext cx="5603875" cy="215646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5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3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5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06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ts val="2435"/>
                        </a:lnSpc>
                      </a:pPr>
                      <a:r>
                        <a:rPr sz="2200" dirty="0">
                          <a:latin typeface="Arial MT"/>
                          <a:cs typeface="Arial MT"/>
                        </a:rPr>
                        <a:t>MVI</a:t>
                      </a:r>
                      <a:r>
                        <a:rPr sz="22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200" spc="-5" dirty="0">
                          <a:latin typeface="Arial MT"/>
                          <a:cs typeface="Arial MT"/>
                        </a:rPr>
                        <a:t>B,</a:t>
                      </a:r>
                      <a:r>
                        <a:rPr sz="22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200" dirty="0">
                          <a:latin typeface="Arial MT"/>
                          <a:cs typeface="Arial MT"/>
                        </a:rPr>
                        <a:t>10H</a:t>
                      </a:r>
                      <a:endParaRPr sz="22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435"/>
                        </a:lnSpc>
                      </a:pPr>
                      <a:r>
                        <a:rPr sz="2200" dirty="0">
                          <a:latin typeface="Arial MT"/>
                          <a:cs typeface="Arial MT"/>
                        </a:rPr>
                        <a:t>7</a:t>
                      </a:r>
                      <a:r>
                        <a:rPr sz="22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200" spc="-5" dirty="0">
                          <a:latin typeface="Arial MT"/>
                          <a:cs typeface="Arial MT"/>
                        </a:rPr>
                        <a:t>T-States</a:t>
                      </a:r>
                      <a:endParaRPr sz="22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863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200" spc="-5" dirty="0">
                          <a:latin typeface="Arial MT"/>
                          <a:cs typeface="Arial MT"/>
                        </a:rPr>
                        <a:t>LOOP2</a:t>
                      </a:r>
                      <a:endParaRPr sz="2200">
                        <a:latin typeface="Arial MT"/>
                        <a:cs typeface="Arial MT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200" dirty="0">
                          <a:latin typeface="Arial MT"/>
                          <a:cs typeface="Arial MT"/>
                        </a:rPr>
                        <a:t>MVI</a:t>
                      </a:r>
                      <a:r>
                        <a:rPr sz="22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200" spc="-5" dirty="0">
                          <a:latin typeface="Arial MT"/>
                          <a:cs typeface="Arial MT"/>
                        </a:rPr>
                        <a:t>C,</a:t>
                      </a:r>
                      <a:r>
                        <a:rPr sz="22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200" spc="-5" dirty="0">
                          <a:latin typeface="Arial MT"/>
                          <a:cs typeface="Arial MT"/>
                        </a:rPr>
                        <a:t>FFH</a:t>
                      </a:r>
                      <a:endParaRPr sz="2200">
                        <a:latin typeface="Arial MT"/>
                        <a:cs typeface="Arial MT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200" dirty="0">
                          <a:latin typeface="Arial MT"/>
                          <a:cs typeface="Arial MT"/>
                        </a:rPr>
                        <a:t>7</a:t>
                      </a:r>
                      <a:r>
                        <a:rPr sz="22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200" spc="-5" dirty="0">
                          <a:latin typeface="Arial MT"/>
                          <a:cs typeface="Arial MT"/>
                        </a:rPr>
                        <a:t>T-States</a:t>
                      </a:r>
                      <a:endParaRPr sz="2200">
                        <a:latin typeface="Arial MT"/>
                        <a:cs typeface="Arial MT"/>
                      </a:endParaRPr>
                    </a:p>
                  </a:txBody>
                  <a:tcPr marL="0" marR="0" marT="190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863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200" spc="-5" dirty="0">
                          <a:latin typeface="Arial MT"/>
                          <a:cs typeface="Arial MT"/>
                        </a:rPr>
                        <a:t>LOOP1</a:t>
                      </a:r>
                      <a:endParaRPr sz="2200">
                        <a:latin typeface="Arial MT"/>
                        <a:cs typeface="Arial MT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200" dirty="0">
                          <a:latin typeface="Arial MT"/>
                          <a:cs typeface="Arial MT"/>
                        </a:rPr>
                        <a:t>DCR</a:t>
                      </a:r>
                      <a:r>
                        <a:rPr sz="22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200" dirty="0">
                          <a:latin typeface="Arial MT"/>
                          <a:cs typeface="Arial MT"/>
                        </a:rPr>
                        <a:t>C</a:t>
                      </a:r>
                      <a:endParaRPr sz="2200">
                        <a:latin typeface="Arial MT"/>
                        <a:cs typeface="Arial MT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200" dirty="0">
                          <a:latin typeface="Arial MT"/>
                          <a:cs typeface="Arial MT"/>
                        </a:rPr>
                        <a:t>4</a:t>
                      </a:r>
                      <a:r>
                        <a:rPr sz="22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200" spc="-5" dirty="0">
                          <a:latin typeface="Arial MT"/>
                          <a:cs typeface="Arial MT"/>
                        </a:rPr>
                        <a:t>T-States</a:t>
                      </a:r>
                      <a:endParaRPr sz="2200">
                        <a:latin typeface="Arial MT"/>
                        <a:cs typeface="Arial MT"/>
                      </a:endParaRPr>
                    </a:p>
                  </a:txBody>
                  <a:tcPr marL="0" marR="0" marT="190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86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200" dirty="0">
                          <a:latin typeface="Arial MT"/>
                          <a:cs typeface="Arial MT"/>
                        </a:rPr>
                        <a:t>JNZ</a:t>
                      </a:r>
                      <a:r>
                        <a:rPr sz="22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200" spc="-5" dirty="0">
                          <a:latin typeface="Arial MT"/>
                          <a:cs typeface="Arial MT"/>
                        </a:rPr>
                        <a:t>LOOP1</a:t>
                      </a:r>
                      <a:endParaRPr sz="2200">
                        <a:latin typeface="Arial MT"/>
                        <a:cs typeface="Arial MT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200" dirty="0">
                          <a:latin typeface="Arial MT"/>
                          <a:cs typeface="Arial MT"/>
                        </a:rPr>
                        <a:t>10</a:t>
                      </a:r>
                      <a:r>
                        <a:rPr sz="22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200" spc="-5" dirty="0">
                          <a:latin typeface="Arial MT"/>
                          <a:cs typeface="Arial MT"/>
                        </a:rPr>
                        <a:t>T-States</a:t>
                      </a:r>
                      <a:endParaRPr sz="2200">
                        <a:latin typeface="Arial MT"/>
                        <a:cs typeface="Arial MT"/>
                      </a:endParaRPr>
                    </a:p>
                  </a:txBody>
                  <a:tcPr marL="0" marR="0" marT="190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7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200" dirty="0">
                          <a:latin typeface="Arial MT"/>
                          <a:cs typeface="Arial MT"/>
                        </a:rPr>
                        <a:t>DCR</a:t>
                      </a:r>
                      <a:r>
                        <a:rPr sz="22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200" dirty="0">
                          <a:latin typeface="Arial MT"/>
                          <a:cs typeface="Arial MT"/>
                        </a:rPr>
                        <a:t>B</a:t>
                      </a:r>
                      <a:endParaRPr sz="2200">
                        <a:latin typeface="Arial MT"/>
                        <a:cs typeface="Arial MT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200" dirty="0">
                          <a:latin typeface="Arial MT"/>
                          <a:cs typeface="Arial MT"/>
                        </a:rPr>
                        <a:t>4</a:t>
                      </a:r>
                      <a:r>
                        <a:rPr sz="22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200" spc="-5" dirty="0">
                          <a:latin typeface="Arial MT"/>
                          <a:cs typeface="Arial MT"/>
                        </a:rPr>
                        <a:t>T-States</a:t>
                      </a:r>
                      <a:endParaRPr sz="2200">
                        <a:latin typeface="Arial MT"/>
                        <a:cs typeface="Arial MT"/>
                      </a:endParaRPr>
                    </a:p>
                  </a:txBody>
                  <a:tcPr marL="0" marR="0" marT="190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5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ts val="2565"/>
                        </a:lnSpc>
                        <a:spcBef>
                          <a:spcPts val="15"/>
                        </a:spcBef>
                      </a:pPr>
                      <a:r>
                        <a:rPr sz="2200" dirty="0">
                          <a:latin typeface="Arial MT"/>
                          <a:cs typeface="Arial MT"/>
                        </a:rPr>
                        <a:t>JNZ</a:t>
                      </a:r>
                      <a:r>
                        <a:rPr sz="22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200" spc="-5" dirty="0">
                          <a:latin typeface="Arial MT"/>
                          <a:cs typeface="Arial MT"/>
                        </a:rPr>
                        <a:t>LOOP2</a:t>
                      </a:r>
                      <a:endParaRPr sz="2200">
                        <a:latin typeface="Arial MT"/>
                        <a:cs typeface="Arial MT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565"/>
                        </a:lnSpc>
                        <a:spcBef>
                          <a:spcPts val="15"/>
                        </a:spcBef>
                      </a:pPr>
                      <a:r>
                        <a:rPr sz="2200" dirty="0">
                          <a:latin typeface="Arial MT"/>
                          <a:cs typeface="Arial MT"/>
                        </a:rPr>
                        <a:t>10</a:t>
                      </a:r>
                      <a:r>
                        <a:rPr sz="22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200" spc="-5" dirty="0">
                          <a:latin typeface="Arial MT"/>
                          <a:cs typeface="Arial MT"/>
                        </a:rPr>
                        <a:t>T-States</a:t>
                      </a:r>
                      <a:endParaRPr sz="2200">
                        <a:latin typeface="Arial MT"/>
                        <a:cs typeface="Arial MT"/>
                      </a:endParaRPr>
                    </a:p>
                  </a:txBody>
                  <a:tcPr marL="0" marR="0" marT="190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89910" marR="5080" indent="-247332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Delay Calculation of Nested </a:t>
            </a:r>
            <a:r>
              <a:rPr spc="-1085" dirty="0"/>
              <a:t> </a:t>
            </a:r>
            <a:r>
              <a:rPr spc="-5" dirty="0"/>
              <a:t>Loops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6440" y="1951736"/>
            <a:ext cx="7623175" cy="500507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93065" marR="612775" indent="-342900">
              <a:lnSpc>
                <a:spcPts val="3460"/>
              </a:lnSpc>
              <a:spcBef>
                <a:spcPts val="530"/>
              </a:spcBef>
              <a:buChar char="•"/>
              <a:tabLst>
                <a:tab pos="393065" algn="l"/>
                <a:tab pos="393700" algn="l"/>
              </a:tabLst>
            </a:pP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calculation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remains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same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except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that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it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formula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must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be applied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recursively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to each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loop.</a:t>
            </a:r>
            <a:endParaRPr sz="3200">
              <a:latin typeface="Times New Roman"/>
              <a:cs typeface="Times New Roman"/>
            </a:endParaRPr>
          </a:p>
          <a:p>
            <a:pPr marL="793750" marR="17780" lvl="1" indent="-285750">
              <a:lnSpc>
                <a:spcPts val="3020"/>
              </a:lnSpc>
              <a:spcBef>
                <a:spcPts val="675"/>
              </a:spcBef>
              <a:buChar char="–"/>
              <a:tabLst>
                <a:tab pos="793750" algn="l"/>
              </a:tabLst>
            </a:pPr>
            <a:r>
              <a:rPr sz="2800" spc="-5" dirty="0">
                <a:latin typeface="Times New Roman"/>
                <a:cs typeface="Times New Roman"/>
              </a:rPr>
              <a:t>Start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inner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loop,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plug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that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delay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calculation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outer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loop.</a:t>
            </a:r>
            <a:endParaRPr sz="28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Char char="–"/>
            </a:pPr>
            <a:endParaRPr sz="3900">
              <a:latin typeface="Times New Roman"/>
              <a:cs typeface="Times New Roman"/>
            </a:endParaRPr>
          </a:p>
          <a:p>
            <a:pPr marL="393700" indent="-343535">
              <a:lnSpc>
                <a:spcPct val="100000"/>
              </a:lnSpc>
              <a:buChar char="•"/>
              <a:tabLst>
                <a:tab pos="393700" algn="l"/>
                <a:tab pos="394335" algn="l"/>
              </a:tabLst>
            </a:pPr>
            <a:r>
              <a:rPr sz="2800" spc="-5" dirty="0">
                <a:latin typeface="Times New Roman"/>
                <a:cs typeface="Times New Roman"/>
              </a:rPr>
              <a:t>Delay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inner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loop</a:t>
            </a:r>
            <a:endParaRPr sz="2800">
              <a:latin typeface="Times New Roman"/>
              <a:cs typeface="Times New Roman"/>
            </a:endParaRPr>
          </a:p>
          <a:p>
            <a:pPr marL="793750" lvl="1" indent="-286385">
              <a:lnSpc>
                <a:spcPct val="100000"/>
              </a:lnSpc>
              <a:spcBef>
                <a:spcPts val="300"/>
              </a:spcBef>
              <a:buChar char="–"/>
              <a:tabLst>
                <a:tab pos="793750" algn="l"/>
                <a:tab pos="794385" algn="l"/>
              </a:tabLst>
            </a:pPr>
            <a:r>
              <a:rPr sz="2400" spc="-5" dirty="0">
                <a:latin typeface="Times New Roman"/>
                <a:cs typeface="Times New Roman"/>
              </a:rPr>
              <a:t>T</a:t>
            </a:r>
            <a:r>
              <a:rPr sz="2400" spc="-7" baseline="-20833" dirty="0">
                <a:latin typeface="Times New Roman"/>
                <a:cs typeface="Times New Roman"/>
              </a:rPr>
              <a:t>O1</a:t>
            </a:r>
            <a:r>
              <a:rPr sz="2400" spc="240" baseline="-2083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7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T-States</a:t>
            </a:r>
            <a:endParaRPr sz="2400">
              <a:latin typeface="Times New Roman"/>
              <a:cs typeface="Times New Roman"/>
            </a:endParaRPr>
          </a:p>
          <a:p>
            <a:pPr marL="1193800" lvl="2" indent="-229870">
              <a:lnSpc>
                <a:spcPct val="100000"/>
              </a:lnSpc>
              <a:spcBef>
                <a:spcPts val="254"/>
              </a:spcBef>
              <a:buChar char="•"/>
              <a:tabLst>
                <a:tab pos="1193165" algn="l"/>
                <a:tab pos="1194435" algn="l"/>
              </a:tabLst>
            </a:pPr>
            <a:r>
              <a:rPr sz="2000" spc="-5" dirty="0">
                <a:latin typeface="Times New Roman"/>
                <a:cs typeface="Times New Roman"/>
              </a:rPr>
              <a:t>MVI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C,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FFH instruction</a:t>
            </a:r>
            <a:endParaRPr sz="2000">
              <a:latin typeface="Times New Roman"/>
              <a:cs typeface="Times New Roman"/>
            </a:endParaRPr>
          </a:p>
          <a:p>
            <a:pPr marL="508000">
              <a:lnSpc>
                <a:spcPct val="100000"/>
              </a:lnSpc>
              <a:spcBef>
                <a:spcPts val="270"/>
              </a:spcBef>
              <a:tabLst>
                <a:tab pos="793750" algn="l"/>
              </a:tabLst>
            </a:pPr>
            <a:r>
              <a:rPr sz="2400" dirty="0">
                <a:latin typeface="Times New Roman"/>
                <a:cs typeface="Times New Roman"/>
              </a:rPr>
              <a:t>–	</a:t>
            </a:r>
            <a:r>
              <a:rPr sz="2400" spc="-5" dirty="0">
                <a:latin typeface="Times New Roman"/>
                <a:cs typeface="Times New Roman"/>
              </a:rPr>
              <a:t>T</a:t>
            </a:r>
            <a:r>
              <a:rPr sz="2400" spc="-7" baseline="-20833" dirty="0">
                <a:latin typeface="Times New Roman"/>
                <a:cs typeface="Times New Roman"/>
              </a:rPr>
              <a:t>L1</a:t>
            </a:r>
            <a:r>
              <a:rPr sz="2400" spc="270" baseline="-2083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(255</a:t>
            </a:r>
            <a:r>
              <a:rPr sz="2400" spc="-5" dirty="0">
                <a:latin typeface="Times New Roman"/>
                <a:cs typeface="Times New Roman"/>
              </a:rPr>
              <a:t> X </a:t>
            </a:r>
            <a:r>
              <a:rPr sz="2400" dirty="0">
                <a:latin typeface="Times New Roman"/>
                <a:cs typeface="Times New Roman"/>
              </a:rPr>
              <a:t>14)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3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3567</a:t>
            </a:r>
            <a:r>
              <a:rPr sz="2400" spc="-5" dirty="0">
                <a:latin typeface="Times New Roman"/>
                <a:cs typeface="Times New Roman"/>
              </a:rPr>
              <a:t> T-States</a:t>
            </a:r>
            <a:endParaRPr sz="2400">
              <a:latin typeface="Times New Roman"/>
              <a:cs typeface="Times New Roman"/>
            </a:endParaRPr>
          </a:p>
          <a:p>
            <a:pPr marL="1193165" marR="163195" lvl="2" indent="-228600">
              <a:lnSpc>
                <a:spcPts val="2160"/>
              </a:lnSpc>
              <a:spcBef>
                <a:spcPts val="530"/>
              </a:spcBef>
              <a:buChar char="•"/>
              <a:tabLst>
                <a:tab pos="1193165" algn="l"/>
                <a:tab pos="1193800" algn="l"/>
                <a:tab pos="2402840" algn="l"/>
                <a:tab pos="3159125" algn="l"/>
              </a:tabLst>
            </a:pPr>
            <a:r>
              <a:rPr sz="2000" spc="-5" dirty="0">
                <a:latin typeface="Times New Roman"/>
                <a:cs typeface="Times New Roman"/>
              </a:rPr>
              <a:t>14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T-States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for the DCR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and JNZ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instructions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repeated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255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times (FF	= 255	)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minus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3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for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final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JNZ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89910" marR="5080" indent="-247332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Delay Calculation of Nested </a:t>
            </a:r>
            <a:r>
              <a:rPr spc="-1085" dirty="0"/>
              <a:t> </a:t>
            </a:r>
            <a:r>
              <a:rPr spc="-5" dirty="0"/>
              <a:t>Loops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6440" y="1927581"/>
            <a:ext cx="7226934" cy="4018279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93700" indent="-342900">
              <a:lnSpc>
                <a:spcPct val="100000"/>
              </a:lnSpc>
              <a:spcBef>
                <a:spcPts val="695"/>
              </a:spcBef>
              <a:buChar char="•"/>
              <a:tabLst>
                <a:tab pos="393065" algn="l"/>
                <a:tab pos="393700" algn="l"/>
              </a:tabLst>
            </a:pPr>
            <a:r>
              <a:rPr sz="2400" spc="-5" dirty="0">
                <a:latin typeface="Times New Roman"/>
                <a:cs typeface="Times New Roman"/>
              </a:rPr>
              <a:t>Delay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outer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loop</a:t>
            </a:r>
            <a:endParaRPr sz="2400">
              <a:latin typeface="Times New Roman"/>
              <a:cs typeface="Times New Roman"/>
            </a:endParaRPr>
          </a:p>
          <a:p>
            <a:pPr marL="793115" lvl="1" indent="-285750">
              <a:lnSpc>
                <a:spcPct val="100000"/>
              </a:lnSpc>
              <a:spcBef>
                <a:spcPts val="500"/>
              </a:spcBef>
              <a:buChar char="–"/>
              <a:tabLst>
                <a:tab pos="793115" algn="l"/>
                <a:tab pos="793750" algn="l"/>
              </a:tabLst>
            </a:pPr>
            <a:r>
              <a:rPr sz="2000" spc="5" dirty="0">
                <a:latin typeface="Times New Roman"/>
                <a:cs typeface="Times New Roman"/>
              </a:rPr>
              <a:t>T</a:t>
            </a:r>
            <a:r>
              <a:rPr sz="1950" spc="7" baseline="-21367" dirty="0">
                <a:latin typeface="Times New Roman"/>
                <a:cs typeface="Times New Roman"/>
              </a:rPr>
              <a:t>O2</a:t>
            </a:r>
            <a:r>
              <a:rPr sz="1950" spc="232" baseline="-21367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7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T-States</a:t>
            </a:r>
            <a:endParaRPr sz="2000">
              <a:latin typeface="Times New Roman"/>
              <a:cs typeface="Times New Roman"/>
            </a:endParaRPr>
          </a:p>
          <a:p>
            <a:pPr marL="1193800" lvl="2" indent="-229235">
              <a:lnSpc>
                <a:spcPct val="100000"/>
              </a:lnSpc>
              <a:spcBef>
                <a:spcPts val="439"/>
              </a:spcBef>
              <a:buChar char="•"/>
              <a:tabLst>
                <a:tab pos="1193165" algn="l"/>
                <a:tab pos="1193800" algn="l"/>
              </a:tabLst>
            </a:pPr>
            <a:r>
              <a:rPr sz="1800" spc="-5" dirty="0">
                <a:latin typeface="Times New Roman"/>
                <a:cs typeface="Times New Roman"/>
              </a:rPr>
              <a:t>MVI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10H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instruction</a:t>
            </a:r>
            <a:endParaRPr sz="1800">
              <a:latin typeface="Times New Roman"/>
              <a:cs typeface="Times New Roman"/>
            </a:endParaRPr>
          </a:p>
          <a:p>
            <a:pPr marL="508000">
              <a:lnSpc>
                <a:spcPct val="100000"/>
              </a:lnSpc>
              <a:spcBef>
                <a:spcPts val="470"/>
              </a:spcBef>
              <a:tabLst>
                <a:tab pos="793115" algn="l"/>
              </a:tabLst>
            </a:pPr>
            <a:r>
              <a:rPr sz="2000" spc="-5" dirty="0">
                <a:latin typeface="Times New Roman"/>
                <a:cs typeface="Times New Roman"/>
              </a:rPr>
              <a:t>–	</a:t>
            </a:r>
            <a:r>
              <a:rPr sz="2000" spc="5" dirty="0">
                <a:latin typeface="Times New Roman"/>
                <a:cs typeface="Times New Roman"/>
              </a:rPr>
              <a:t>T</a:t>
            </a:r>
            <a:r>
              <a:rPr sz="1950" spc="7" baseline="-21367" dirty="0">
                <a:latin typeface="Times New Roman"/>
                <a:cs typeface="Times New Roman"/>
              </a:rPr>
              <a:t>L1</a:t>
            </a:r>
            <a:r>
              <a:rPr sz="1950" spc="247" baseline="-21367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=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(16 X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(14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+ 3574))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-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3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=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57405 T-States</a:t>
            </a:r>
            <a:endParaRPr sz="2000">
              <a:latin typeface="Times New Roman"/>
              <a:cs typeface="Times New Roman"/>
            </a:endParaRPr>
          </a:p>
          <a:p>
            <a:pPr marL="1193800" lvl="2" indent="-229235">
              <a:lnSpc>
                <a:spcPct val="100000"/>
              </a:lnSpc>
              <a:spcBef>
                <a:spcPts val="440"/>
              </a:spcBef>
              <a:buChar char="•"/>
              <a:tabLst>
                <a:tab pos="1193165" algn="l"/>
                <a:tab pos="1193800" algn="l"/>
              </a:tabLst>
            </a:pPr>
            <a:r>
              <a:rPr sz="1800" dirty="0">
                <a:latin typeface="Times New Roman"/>
                <a:cs typeface="Times New Roman"/>
              </a:rPr>
              <a:t>14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T-States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DCR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and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JNZ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instructions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and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3574</a:t>
            </a:r>
            <a:endParaRPr sz="1800">
              <a:latin typeface="Times New Roman"/>
              <a:cs typeface="Times New Roman"/>
            </a:endParaRPr>
          </a:p>
          <a:p>
            <a:pPr marL="1193165" marR="30480">
              <a:lnSpc>
                <a:spcPct val="100000"/>
              </a:lnSpc>
            </a:pPr>
            <a:r>
              <a:rPr sz="1800" spc="-5" dirty="0">
                <a:latin typeface="Times New Roman"/>
                <a:cs typeface="Times New Roman"/>
              </a:rPr>
              <a:t>T-States </a:t>
            </a:r>
            <a:r>
              <a:rPr sz="1800" dirty="0">
                <a:latin typeface="Times New Roman"/>
                <a:cs typeface="Times New Roman"/>
              </a:rPr>
              <a:t>for </a:t>
            </a:r>
            <a:r>
              <a:rPr sz="1800" spc="-5" dirty="0">
                <a:latin typeface="Times New Roman"/>
                <a:cs typeface="Times New Roman"/>
              </a:rPr>
              <a:t>loop1 repeated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16 </a:t>
            </a:r>
            <a:r>
              <a:rPr sz="1800" spc="-5" dirty="0">
                <a:latin typeface="Times New Roman"/>
                <a:cs typeface="Times New Roman"/>
              </a:rPr>
              <a:t>times</a:t>
            </a:r>
            <a:r>
              <a:rPr sz="1800" dirty="0">
                <a:latin typeface="Times New Roman"/>
                <a:cs typeface="Times New Roman"/>
              </a:rPr>
              <a:t> (10</a:t>
            </a:r>
            <a:r>
              <a:rPr sz="1800" baseline="-20833" dirty="0">
                <a:latin typeface="Times New Roman"/>
                <a:cs typeface="Times New Roman"/>
              </a:rPr>
              <a:t>16</a:t>
            </a:r>
            <a:r>
              <a:rPr sz="1800" spc="225" baseline="-20833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16</a:t>
            </a:r>
            <a:r>
              <a:rPr sz="1800" baseline="-20833" dirty="0">
                <a:latin typeface="Times New Roman"/>
                <a:cs typeface="Times New Roman"/>
              </a:rPr>
              <a:t>10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-5" dirty="0">
                <a:latin typeface="Times New Roman"/>
                <a:cs typeface="Times New Roman"/>
              </a:rPr>
              <a:t> minus</a:t>
            </a:r>
            <a:r>
              <a:rPr sz="1800" dirty="0">
                <a:latin typeface="Times New Roman"/>
                <a:cs typeface="Times New Roman"/>
              </a:rPr>
              <a:t> 3 for</a:t>
            </a:r>
            <a:r>
              <a:rPr sz="1800" spc="-5" dirty="0">
                <a:latin typeface="Times New Roman"/>
                <a:cs typeface="Times New Roman"/>
              </a:rPr>
              <a:t> the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final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JNZ.</a:t>
            </a:r>
            <a:endParaRPr sz="1800">
              <a:latin typeface="Times New Roman"/>
              <a:cs typeface="Times New Roman"/>
            </a:endParaRPr>
          </a:p>
          <a:p>
            <a:pPr marL="508000">
              <a:lnSpc>
                <a:spcPct val="100000"/>
              </a:lnSpc>
              <a:spcBef>
                <a:spcPts val="470"/>
              </a:spcBef>
              <a:tabLst>
                <a:tab pos="793115" algn="l"/>
              </a:tabLst>
            </a:pPr>
            <a:r>
              <a:rPr sz="2000" spc="-5" dirty="0">
                <a:latin typeface="Times New Roman"/>
                <a:cs typeface="Times New Roman"/>
              </a:rPr>
              <a:t>–	</a:t>
            </a:r>
            <a:r>
              <a:rPr sz="2000" spc="10" dirty="0">
                <a:latin typeface="Times New Roman"/>
                <a:cs typeface="Times New Roman"/>
              </a:rPr>
              <a:t>T</a:t>
            </a:r>
            <a:r>
              <a:rPr sz="1950" spc="15" baseline="-21367" dirty="0">
                <a:latin typeface="Times New Roman"/>
                <a:cs typeface="Times New Roman"/>
              </a:rPr>
              <a:t>Delay</a:t>
            </a:r>
            <a:r>
              <a:rPr sz="1950" spc="240" baseline="-21367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= 7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+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57405 = 57412 T-States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450">
              <a:latin typeface="Times New Roman"/>
              <a:cs typeface="Times New Roman"/>
            </a:endParaRPr>
          </a:p>
          <a:p>
            <a:pPr marL="393700" indent="-342900">
              <a:lnSpc>
                <a:spcPct val="100000"/>
              </a:lnSpc>
              <a:buChar char="•"/>
              <a:tabLst>
                <a:tab pos="393065" algn="l"/>
                <a:tab pos="393700" algn="l"/>
              </a:tabLst>
            </a:pPr>
            <a:r>
              <a:rPr sz="2400" spc="-5" dirty="0">
                <a:latin typeface="Times New Roman"/>
                <a:cs typeface="Times New Roman"/>
              </a:rPr>
              <a:t>Total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Delay</a:t>
            </a:r>
            <a:endParaRPr sz="2400">
              <a:latin typeface="Times New Roman"/>
              <a:cs typeface="Times New Roman"/>
            </a:endParaRPr>
          </a:p>
          <a:p>
            <a:pPr marL="508000">
              <a:lnSpc>
                <a:spcPct val="100000"/>
              </a:lnSpc>
              <a:spcBef>
                <a:spcPts val="505"/>
              </a:spcBef>
              <a:tabLst>
                <a:tab pos="793115" algn="l"/>
              </a:tabLst>
            </a:pPr>
            <a:r>
              <a:rPr sz="2000" spc="-5" dirty="0">
                <a:latin typeface="Times New Roman"/>
                <a:cs typeface="Times New Roman"/>
              </a:rPr>
              <a:t>–	</a:t>
            </a:r>
            <a:r>
              <a:rPr sz="2000" spc="10" dirty="0">
                <a:latin typeface="Times New Roman"/>
                <a:cs typeface="Times New Roman"/>
              </a:rPr>
              <a:t>T</a:t>
            </a:r>
            <a:r>
              <a:rPr sz="1950" spc="15" baseline="-21367" dirty="0">
                <a:latin typeface="Times New Roman"/>
                <a:cs typeface="Times New Roman"/>
              </a:rPr>
              <a:t>Delay</a:t>
            </a:r>
            <a:r>
              <a:rPr sz="1950" spc="240" baseline="-21367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= 57412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X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0.5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Symbol"/>
                <a:cs typeface="Symbol"/>
              </a:rPr>
              <a:t></a:t>
            </a:r>
            <a:r>
              <a:rPr sz="2000" spc="-5" dirty="0">
                <a:latin typeface="Times New Roman"/>
                <a:cs typeface="Times New Roman"/>
              </a:rPr>
              <a:t>Sec = 28.706 mSec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0542" y="814069"/>
            <a:ext cx="452183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Increasing</a:t>
            </a:r>
            <a:r>
              <a:rPr spc="-40" dirty="0"/>
              <a:t> </a:t>
            </a:r>
            <a:r>
              <a:rPr spc="-5" dirty="0"/>
              <a:t>the</a:t>
            </a:r>
            <a:r>
              <a:rPr spc="-30" dirty="0"/>
              <a:t> </a:t>
            </a:r>
            <a:r>
              <a:rPr spc="-5" dirty="0"/>
              <a:t>delay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2000504"/>
            <a:ext cx="7472045" cy="30492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The delay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can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further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increased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by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using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register pairs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for each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 the loop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counters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 nested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loops setup.</a:t>
            </a:r>
            <a:endParaRPr sz="3200">
              <a:latin typeface="Times New Roman"/>
              <a:cs typeface="Times New Roman"/>
            </a:endParaRPr>
          </a:p>
          <a:p>
            <a:pPr marL="354965" marR="250825" indent="-342900" algn="just">
              <a:lnSpc>
                <a:spcPct val="100000"/>
              </a:lnSpc>
              <a:spcBef>
                <a:spcPts val="770"/>
              </a:spcBef>
              <a:buChar char="•"/>
              <a:tabLst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It can also be increased by adding dummy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instructions (like NOP) in the body of the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loop.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3139" y="1317752"/>
            <a:ext cx="7309484" cy="4963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i="1" spc="-10" dirty="0">
                <a:solidFill>
                  <a:srgbClr val="660033"/>
                </a:solidFill>
                <a:latin typeface="Times New Roman"/>
                <a:cs typeface="Times New Roman"/>
              </a:rPr>
              <a:t>Representation</a:t>
            </a:r>
            <a:r>
              <a:rPr sz="2400" i="1" spc="-25" dirty="0">
                <a:solidFill>
                  <a:srgbClr val="660033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660033"/>
                </a:solidFill>
                <a:latin typeface="Times New Roman"/>
                <a:cs typeface="Times New Roman"/>
              </a:rPr>
              <a:t>of</a:t>
            </a:r>
            <a:r>
              <a:rPr sz="2400" i="1" spc="-5" dirty="0">
                <a:solidFill>
                  <a:srgbClr val="660033"/>
                </a:solidFill>
                <a:latin typeface="Times New Roman"/>
                <a:cs typeface="Times New Roman"/>
              </a:rPr>
              <a:t> </a:t>
            </a:r>
            <a:r>
              <a:rPr sz="2400" i="1" spc="-40" dirty="0">
                <a:solidFill>
                  <a:srgbClr val="660033"/>
                </a:solidFill>
                <a:latin typeface="Times New Roman"/>
                <a:cs typeface="Times New Roman"/>
              </a:rPr>
              <a:t>Various</a:t>
            </a:r>
            <a:r>
              <a:rPr sz="2400" i="1" dirty="0">
                <a:solidFill>
                  <a:srgbClr val="660033"/>
                </a:solidFill>
                <a:latin typeface="Times New Roman"/>
                <a:cs typeface="Times New Roman"/>
              </a:rPr>
              <a:t> </a:t>
            </a:r>
            <a:r>
              <a:rPr sz="2400" i="1" spc="-15" dirty="0">
                <a:solidFill>
                  <a:srgbClr val="660033"/>
                </a:solidFill>
                <a:latin typeface="Times New Roman"/>
                <a:cs typeface="Times New Roman"/>
              </a:rPr>
              <a:t>Control</a:t>
            </a:r>
            <a:r>
              <a:rPr sz="2400" i="1" spc="-5" dirty="0">
                <a:solidFill>
                  <a:srgbClr val="660033"/>
                </a:solidFill>
                <a:latin typeface="Times New Roman"/>
                <a:cs typeface="Times New Roman"/>
              </a:rPr>
              <a:t> signals</a:t>
            </a:r>
            <a:r>
              <a:rPr sz="2400" i="1" dirty="0">
                <a:solidFill>
                  <a:srgbClr val="660033"/>
                </a:solidFill>
                <a:latin typeface="Times New Roman"/>
                <a:cs typeface="Times New Roman"/>
              </a:rPr>
              <a:t> </a:t>
            </a:r>
            <a:r>
              <a:rPr sz="2400" i="1" spc="-5" dirty="0">
                <a:solidFill>
                  <a:srgbClr val="660033"/>
                </a:solidFill>
                <a:latin typeface="Times New Roman"/>
                <a:cs typeface="Times New Roman"/>
              </a:rPr>
              <a:t>generated</a:t>
            </a:r>
            <a:r>
              <a:rPr sz="2400" i="1" spc="-15" dirty="0">
                <a:solidFill>
                  <a:srgbClr val="660033"/>
                </a:solidFill>
                <a:latin typeface="Times New Roman"/>
                <a:cs typeface="Times New Roman"/>
              </a:rPr>
              <a:t> </a:t>
            </a:r>
            <a:r>
              <a:rPr sz="2400" i="1" spc="-5" dirty="0">
                <a:solidFill>
                  <a:srgbClr val="660033"/>
                </a:solidFill>
                <a:latin typeface="Times New Roman"/>
                <a:cs typeface="Times New Roman"/>
              </a:rPr>
              <a:t>during </a:t>
            </a:r>
            <a:r>
              <a:rPr sz="2400" i="1" spc="-585" dirty="0">
                <a:solidFill>
                  <a:srgbClr val="660033"/>
                </a:solidFill>
                <a:latin typeface="Times New Roman"/>
                <a:cs typeface="Times New Roman"/>
              </a:rPr>
              <a:t> </a:t>
            </a:r>
            <a:r>
              <a:rPr sz="2400" i="1" spc="-5" dirty="0">
                <a:solidFill>
                  <a:srgbClr val="660033"/>
                </a:solidFill>
                <a:latin typeface="Times New Roman"/>
                <a:cs typeface="Times New Roman"/>
              </a:rPr>
              <a:t>Execution</a:t>
            </a:r>
            <a:r>
              <a:rPr sz="2400" i="1" spc="-30" dirty="0">
                <a:solidFill>
                  <a:srgbClr val="660033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660033"/>
                </a:solidFill>
                <a:latin typeface="Times New Roman"/>
                <a:cs typeface="Times New Roman"/>
              </a:rPr>
              <a:t>of</a:t>
            </a:r>
            <a:r>
              <a:rPr sz="2400" i="1" spc="-10" dirty="0">
                <a:solidFill>
                  <a:srgbClr val="660033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660033"/>
                </a:solidFill>
                <a:latin typeface="Times New Roman"/>
                <a:cs typeface="Times New Roman"/>
              </a:rPr>
              <a:t>an</a:t>
            </a:r>
            <a:r>
              <a:rPr sz="2400" i="1" spc="-25" dirty="0">
                <a:solidFill>
                  <a:srgbClr val="660033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660033"/>
                </a:solidFill>
                <a:latin typeface="Times New Roman"/>
                <a:cs typeface="Times New Roman"/>
              </a:rPr>
              <a:t>Instruction.</a:t>
            </a:r>
            <a:endParaRPr sz="2400">
              <a:latin typeface="Times New Roman"/>
              <a:cs typeface="Times New Roman"/>
            </a:endParaRPr>
          </a:p>
          <a:p>
            <a:pPr marL="12700" marR="311785">
              <a:lnSpc>
                <a:spcPct val="100000"/>
              </a:lnSpc>
              <a:spcBef>
                <a:spcPts val="1440"/>
              </a:spcBef>
            </a:pPr>
            <a:r>
              <a:rPr sz="2400" spc="-5" dirty="0">
                <a:latin typeface="Times New Roman"/>
                <a:cs typeface="Times New Roman"/>
              </a:rPr>
              <a:t>Following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Buses</a:t>
            </a:r>
            <a:r>
              <a:rPr sz="2400" dirty="0">
                <a:latin typeface="Times New Roman"/>
                <a:cs typeface="Times New Roman"/>
              </a:rPr>
              <a:t> and</a:t>
            </a:r>
            <a:r>
              <a:rPr sz="2400" spc="-5" dirty="0">
                <a:latin typeface="Times New Roman"/>
                <a:cs typeface="Times New Roman"/>
              </a:rPr>
              <a:t> Control Signals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must </a:t>
            </a:r>
            <a:r>
              <a:rPr sz="2400" dirty="0">
                <a:latin typeface="Times New Roman"/>
                <a:cs typeface="Times New Roman"/>
              </a:rPr>
              <a:t>be </a:t>
            </a:r>
            <a:r>
              <a:rPr sz="2400" spc="-5" dirty="0">
                <a:latin typeface="Times New Roman"/>
                <a:cs typeface="Times New Roman"/>
              </a:rPr>
              <a:t>shown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 a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Timing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Diagram:</a:t>
            </a:r>
            <a:endParaRPr sz="2400">
              <a:latin typeface="Times New Roman"/>
              <a:cs typeface="Times New Roman"/>
            </a:endParaRPr>
          </a:p>
          <a:p>
            <a:pPr marL="120014" indent="-107314">
              <a:lnSpc>
                <a:spcPct val="100000"/>
              </a:lnSpc>
              <a:spcBef>
                <a:spcPts val="1440"/>
              </a:spcBef>
              <a:buSzPct val="95833"/>
              <a:buChar char="•"/>
              <a:tabLst>
                <a:tab pos="120014" algn="l"/>
              </a:tabLst>
            </a:pPr>
            <a:r>
              <a:rPr sz="2400" spc="-5" dirty="0">
                <a:solidFill>
                  <a:srgbClr val="0000FF"/>
                </a:solidFill>
                <a:latin typeface="Times New Roman"/>
                <a:cs typeface="Times New Roman"/>
              </a:rPr>
              <a:t>Higher</a:t>
            </a:r>
            <a:r>
              <a:rPr sz="2400" spc="-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Times New Roman"/>
                <a:cs typeface="Times New Roman"/>
              </a:rPr>
              <a:t>Order</a:t>
            </a:r>
            <a:r>
              <a:rPr sz="2400" spc="-13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Times New Roman"/>
                <a:cs typeface="Times New Roman"/>
              </a:rPr>
              <a:t>Address</a:t>
            </a:r>
            <a:r>
              <a:rPr sz="2400" spc="-12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spc="25" dirty="0">
                <a:solidFill>
                  <a:srgbClr val="0000FF"/>
                </a:solidFill>
                <a:latin typeface="Times New Roman"/>
                <a:cs typeface="Times New Roman"/>
              </a:rPr>
              <a:t>Bus.</a:t>
            </a:r>
            <a:endParaRPr sz="2400">
              <a:latin typeface="Times New Roman"/>
              <a:cs typeface="Times New Roman"/>
            </a:endParaRPr>
          </a:p>
          <a:p>
            <a:pPr marL="120014" indent="-107314">
              <a:lnSpc>
                <a:spcPct val="100000"/>
              </a:lnSpc>
              <a:spcBef>
                <a:spcPts val="1440"/>
              </a:spcBef>
              <a:buSzPct val="95833"/>
              <a:buChar char="•"/>
              <a:tabLst>
                <a:tab pos="120014" algn="l"/>
              </a:tabLst>
            </a:pPr>
            <a:r>
              <a:rPr sz="2400" spc="-5" dirty="0">
                <a:solidFill>
                  <a:srgbClr val="0000FF"/>
                </a:solidFill>
                <a:latin typeface="Times New Roman"/>
                <a:cs typeface="Times New Roman"/>
              </a:rPr>
              <a:t>Lower</a:t>
            </a:r>
            <a:r>
              <a:rPr sz="2400" spc="-14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FF"/>
                </a:solidFill>
                <a:latin typeface="Times New Roman"/>
                <a:cs typeface="Times New Roman"/>
              </a:rPr>
              <a:t>Add</a:t>
            </a:r>
            <a:r>
              <a:rPr sz="2400" spc="-5" dirty="0">
                <a:solidFill>
                  <a:srgbClr val="0000FF"/>
                </a:solidFill>
                <a:latin typeface="Times New Roman"/>
                <a:cs typeface="Times New Roman"/>
              </a:rPr>
              <a:t>r</a:t>
            </a:r>
            <a:r>
              <a:rPr sz="2400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2400" spc="-5" dirty="0">
                <a:solidFill>
                  <a:srgbClr val="0000FF"/>
                </a:solidFill>
                <a:latin typeface="Times New Roman"/>
                <a:cs typeface="Times New Roman"/>
              </a:rPr>
              <a:t>ss/Dat</a:t>
            </a:r>
            <a:r>
              <a:rPr sz="2400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sz="2400" spc="-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Times New Roman"/>
                <a:cs typeface="Times New Roman"/>
              </a:rPr>
              <a:t>bus</a:t>
            </a:r>
            <a:endParaRPr sz="2400">
              <a:latin typeface="Times New Roman"/>
              <a:cs typeface="Times New Roman"/>
            </a:endParaRPr>
          </a:p>
          <a:p>
            <a:pPr marL="120014" indent="-107314">
              <a:lnSpc>
                <a:spcPct val="100000"/>
              </a:lnSpc>
              <a:spcBef>
                <a:spcPts val="1440"/>
              </a:spcBef>
              <a:buSzPct val="95833"/>
              <a:buChar char="•"/>
              <a:tabLst>
                <a:tab pos="120014" algn="l"/>
              </a:tabLst>
            </a:pPr>
            <a:r>
              <a:rPr sz="2400" spc="-5" dirty="0">
                <a:solidFill>
                  <a:srgbClr val="0000FF"/>
                </a:solidFill>
                <a:latin typeface="Times New Roman"/>
                <a:cs typeface="Times New Roman"/>
              </a:rPr>
              <a:t>ALE</a:t>
            </a:r>
            <a:endParaRPr sz="2400">
              <a:latin typeface="Times New Roman"/>
              <a:cs typeface="Times New Roman"/>
            </a:endParaRPr>
          </a:p>
          <a:p>
            <a:pPr marL="120014" indent="-107314">
              <a:lnSpc>
                <a:spcPct val="100000"/>
              </a:lnSpc>
              <a:spcBef>
                <a:spcPts val="1440"/>
              </a:spcBef>
              <a:buSzPct val="95833"/>
              <a:buChar char="•"/>
              <a:tabLst>
                <a:tab pos="120014" algn="l"/>
              </a:tabLst>
            </a:pPr>
            <a:r>
              <a:rPr sz="2400" spc="-5" dirty="0">
                <a:solidFill>
                  <a:srgbClr val="0000FF"/>
                </a:solidFill>
                <a:latin typeface="Times New Roman"/>
                <a:cs typeface="Times New Roman"/>
              </a:rPr>
              <a:t>RD</a:t>
            </a:r>
            <a:endParaRPr sz="2400">
              <a:latin typeface="Times New Roman"/>
              <a:cs typeface="Times New Roman"/>
            </a:endParaRPr>
          </a:p>
          <a:p>
            <a:pPr marL="120014" indent="-107314">
              <a:lnSpc>
                <a:spcPct val="100000"/>
              </a:lnSpc>
              <a:spcBef>
                <a:spcPts val="1440"/>
              </a:spcBef>
              <a:buSzPct val="95833"/>
              <a:buChar char="•"/>
              <a:tabLst>
                <a:tab pos="120014" algn="l"/>
              </a:tabLst>
            </a:pPr>
            <a:r>
              <a:rPr sz="2400" dirty="0">
                <a:solidFill>
                  <a:srgbClr val="0000FF"/>
                </a:solidFill>
                <a:latin typeface="Times New Roman"/>
                <a:cs typeface="Times New Roman"/>
              </a:rPr>
              <a:t>WR</a:t>
            </a:r>
            <a:endParaRPr sz="2400">
              <a:latin typeface="Times New Roman"/>
              <a:cs typeface="Times New Roman"/>
            </a:endParaRPr>
          </a:p>
          <a:p>
            <a:pPr marL="120014" indent="-107314">
              <a:lnSpc>
                <a:spcPct val="100000"/>
              </a:lnSpc>
              <a:spcBef>
                <a:spcPts val="1440"/>
              </a:spcBef>
              <a:buSzPct val="95833"/>
              <a:buChar char="•"/>
              <a:tabLst>
                <a:tab pos="120014" algn="l"/>
              </a:tabLst>
            </a:pPr>
            <a:r>
              <a:rPr sz="2400" spc="-5" dirty="0">
                <a:solidFill>
                  <a:srgbClr val="0000FF"/>
                </a:solidFill>
                <a:latin typeface="Times New Roman"/>
                <a:cs typeface="Times New Roman"/>
              </a:rPr>
              <a:t>IO/M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36678" y="204469"/>
            <a:ext cx="3872229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i="1" u="heavy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Timing</a:t>
            </a:r>
            <a:r>
              <a:rPr b="1" i="1" u="heavy" spc="-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b="1" i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Diagram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9740" y="830072"/>
            <a:ext cx="143002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Instr</a:t>
            </a:r>
            <a:r>
              <a:rPr sz="2400" dirty="0">
                <a:latin typeface="Times New Roman"/>
                <a:cs typeface="Times New Roman"/>
              </a:rPr>
              <a:t>uc</a:t>
            </a:r>
            <a:r>
              <a:rPr sz="2400" spc="-5" dirty="0">
                <a:latin typeface="Times New Roman"/>
                <a:cs typeface="Times New Roman"/>
              </a:rPr>
              <a:t>ti</a:t>
            </a:r>
            <a:r>
              <a:rPr sz="2400" dirty="0">
                <a:latin typeface="Times New Roman"/>
                <a:cs typeface="Times New Roman"/>
              </a:rPr>
              <a:t>on:  </a:t>
            </a:r>
            <a:r>
              <a:rPr sz="2400" spc="-5" dirty="0">
                <a:latin typeface="Times New Roman"/>
                <a:cs typeface="Times New Roman"/>
              </a:rPr>
              <a:t>A000h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88539" y="1561591"/>
            <a:ext cx="12909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MOV</a:t>
            </a:r>
            <a:r>
              <a:rPr sz="2400" spc="-17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A,B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9740" y="3024632"/>
            <a:ext cx="289369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  <a:tabLst>
                <a:tab pos="1840864" algn="l"/>
              </a:tabLst>
            </a:pPr>
            <a:r>
              <a:rPr sz="2400" spc="-5" dirty="0">
                <a:latin typeface="Times New Roman"/>
                <a:cs typeface="Times New Roman"/>
              </a:rPr>
              <a:t>Corresponding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Coding: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A000h	</a:t>
            </a:r>
            <a:r>
              <a:rPr sz="2400" dirty="0">
                <a:latin typeface="Times New Roman"/>
                <a:cs typeface="Times New Roman"/>
              </a:rPr>
              <a:t>78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636678" y="204469"/>
            <a:ext cx="3872229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i="1" u="heavy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Timing</a:t>
            </a:r>
            <a:r>
              <a:rPr b="1" i="1" u="heavy" spc="-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b="1" i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Diagram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9740" y="830072"/>
            <a:ext cx="3119755" cy="221996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2400" spc="-5" dirty="0">
                <a:latin typeface="Times New Roman"/>
                <a:cs typeface="Times New Roman"/>
              </a:rPr>
              <a:t>Instruction: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  <a:tabLst>
                <a:tab pos="1840864" algn="l"/>
              </a:tabLst>
            </a:pPr>
            <a:r>
              <a:rPr sz="2400" spc="-5" dirty="0">
                <a:latin typeface="Times New Roman"/>
                <a:cs typeface="Times New Roman"/>
              </a:rPr>
              <a:t>A000h	MOV</a:t>
            </a:r>
            <a:r>
              <a:rPr sz="2400" spc="-17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A,B</a:t>
            </a:r>
            <a:endParaRPr sz="2400">
              <a:latin typeface="Times New Roman"/>
              <a:cs typeface="Times New Roman"/>
            </a:endParaRPr>
          </a:p>
          <a:p>
            <a:pPr marL="12700" marR="230504">
              <a:lnSpc>
                <a:spcPct val="150000"/>
              </a:lnSpc>
              <a:tabLst>
                <a:tab pos="1840864" algn="l"/>
              </a:tabLst>
            </a:pPr>
            <a:r>
              <a:rPr sz="2400" spc="-5" dirty="0">
                <a:latin typeface="Times New Roman"/>
                <a:cs typeface="Times New Roman"/>
              </a:rPr>
              <a:t>Corresponding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Coding: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A000h	</a:t>
            </a:r>
            <a:r>
              <a:rPr sz="2400" dirty="0">
                <a:latin typeface="Times New Roman"/>
                <a:cs typeface="Times New Roman"/>
              </a:rPr>
              <a:t>78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27050" y="3956050"/>
            <a:ext cx="3136900" cy="1841500"/>
            <a:chOff x="527050" y="3956050"/>
            <a:chExt cx="3136900" cy="1841500"/>
          </a:xfrm>
        </p:grpSpPr>
        <p:sp>
          <p:nvSpPr>
            <p:cNvPr id="4" name="object 4"/>
            <p:cNvSpPr/>
            <p:nvPr/>
          </p:nvSpPr>
          <p:spPr>
            <a:xfrm>
              <a:off x="533400" y="3962400"/>
              <a:ext cx="914400" cy="1828800"/>
            </a:xfrm>
            <a:custGeom>
              <a:avLst/>
              <a:gdLst/>
              <a:ahLst/>
              <a:cxnLst/>
              <a:rect l="l" t="t" r="r" b="b"/>
              <a:pathLst>
                <a:path w="914400" h="1828800">
                  <a:moveTo>
                    <a:pt x="914400" y="0"/>
                  </a:moveTo>
                  <a:lnTo>
                    <a:pt x="0" y="0"/>
                  </a:lnTo>
                  <a:lnTo>
                    <a:pt x="0" y="1828800"/>
                  </a:lnTo>
                  <a:lnTo>
                    <a:pt x="914400" y="18288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3400" y="3962400"/>
              <a:ext cx="914400" cy="1828800"/>
            </a:xfrm>
            <a:custGeom>
              <a:avLst/>
              <a:gdLst/>
              <a:ahLst/>
              <a:cxnLst/>
              <a:rect l="l" t="t" r="r" b="b"/>
              <a:pathLst>
                <a:path w="914400" h="1828800">
                  <a:moveTo>
                    <a:pt x="0" y="0"/>
                  </a:moveTo>
                  <a:lnTo>
                    <a:pt x="914400" y="0"/>
                  </a:lnTo>
                  <a:lnTo>
                    <a:pt x="9144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971800" y="4191000"/>
              <a:ext cx="685800" cy="1524000"/>
            </a:xfrm>
            <a:custGeom>
              <a:avLst/>
              <a:gdLst/>
              <a:ahLst/>
              <a:cxnLst/>
              <a:rect l="l" t="t" r="r" b="b"/>
              <a:pathLst>
                <a:path w="685800" h="1524000">
                  <a:moveTo>
                    <a:pt x="685800" y="0"/>
                  </a:moveTo>
                  <a:lnTo>
                    <a:pt x="0" y="0"/>
                  </a:lnTo>
                  <a:lnTo>
                    <a:pt x="0" y="1524000"/>
                  </a:lnTo>
                  <a:lnTo>
                    <a:pt x="685800" y="15240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00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971800" y="4191000"/>
              <a:ext cx="685800" cy="1524000"/>
            </a:xfrm>
            <a:custGeom>
              <a:avLst/>
              <a:gdLst/>
              <a:ahLst/>
              <a:cxnLst/>
              <a:rect l="l" t="t" r="r" b="b"/>
              <a:pathLst>
                <a:path w="685800" h="1524000">
                  <a:moveTo>
                    <a:pt x="0" y="0"/>
                  </a:moveTo>
                  <a:lnTo>
                    <a:pt x="685800" y="0"/>
                  </a:lnTo>
                  <a:lnTo>
                    <a:pt x="685800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27175" y="4876800"/>
              <a:ext cx="1444625" cy="0"/>
            </a:xfrm>
            <a:custGeom>
              <a:avLst/>
              <a:gdLst/>
              <a:ahLst/>
              <a:cxnLst/>
              <a:rect l="l" t="t" r="r" b="b"/>
              <a:pathLst>
                <a:path w="1444625">
                  <a:moveTo>
                    <a:pt x="1444625" y="0"/>
                  </a:moveTo>
                  <a:lnTo>
                    <a:pt x="0" y="0"/>
                  </a:lnTo>
                </a:path>
              </a:pathLst>
            </a:custGeom>
            <a:ln w="317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447802" y="4829171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0"/>
                  </a:moveTo>
                  <a:lnTo>
                    <a:pt x="0" y="47625"/>
                  </a:lnTo>
                  <a:lnTo>
                    <a:pt x="95250" y="9525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12140" y="5965952"/>
            <a:ext cx="635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8085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98139" y="5889752"/>
            <a:ext cx="1075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Mem</a:t>
            </a:r>
            <a:r>
              <a:rPr sz="2400" dirty="0">
                <a:latin typeface="Times New Roman"/>
                <a:cs typeface="Times New Roman"/>
              </a:rPr>
              <a:t>o</a:t>
            </a:r>
            <a:r>
              <a:rPr sz="2400" spc="-5" dirty="0">
                <a:latin typeface="Times New Roman"/>
                <a:cs typeface="Times New Roman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83739" y="4979923"/>
            <a:ext cx="37147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Times New Roman"/>
                <a:cs typeface="Times New Roman"/>
              </a:rPr>
              <a:t>O</a:t>
            </a:r>
            <a:r>
              <a:rPr sz="1400" spc="-5" dirty="0">
                <a:latin typeface="Times New Roman"/>
                <a:cs typeface="Times New Roman"/>
              </a:rPr>
              <a:t>FC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636678" y="204469"/>
            <a:ext cx="3872229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i="1" u="heavy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Timing</a:t>
            </a:r>
            <a:r>
              <a:rPr b="1" i="1" u="heavy" spc="-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b="1" i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Diagram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29325" y="1071562"/>
            <a:ext cx="457200" cy="0"/>
          </a:xfrm>
          <a:custGeom>
            <a:avLst/>
            <a:gdLst/>
            <a:ahLst/>
            <a:cxnLst/>
            <a:rect l="l" t="t" r="r" b="b"/>
            <a:pathLst>
              <a:path w="457200">
                <a:moveTo>
                  <a:pt x="0" y="0"/>
                </a:moveTo>
                <a:lnTo>
                  <a:pt x="457200" y="0"/>
                </a:lnTo>
              </a:path>
            </a:pathLst>
          </a:custGeom>
          <a:ln w="22225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5561012" y="679450"/>
            <a:ext cx="479425" cy="392430"/>
            <a:chOff x="5561012" y="679450"/>
            <a:chExt cx="479425" cy="392430"/>
          </a:xfrm>
        </p:grpSpPr>
        <p:sp>
          <p:nvSpPr>
            <p:cNvPr id="4" name="object 4"/>
            <p:cNvSpPr/>
            <p:nvPr/>
          </p:nvSpPr>
          <p:spPr>
            <a:xfrm>
              <a:off x="5572125" y="690562"/>
              <a:ext cx="457200" cy="381000"/>
            </a:xfrm>
            <a:custGeom>
              <a:avLst/>
              <a:gdLst/>
              <a:ahLst/>
              <a:cxnLst/>
              <a:rect l="l" t="t" r="r" b="b"/>
              <a:pathLst>
                <a:path w="457200" h="381000">
                  <a:moveTo>
                    <a:pt x="0" y="0"/>
                  </a:moveTo>
                  <a:lnTo>
                    <a:pt x="0" y="381000"/>
                  </a:lnTo>
                </a:path>
                <a:path w="457200" h="381000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29325" y="690562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6943725" y="1066800"/>
            <a:ext cx="457200" cy="0"/>
          </a:xfrm>
          <a:custGeom>
            <a:avLst/>
            <a:gdLst/>
            <a:ahLst/>
            <a:cxnLst/>
            <a:rect l="l" t="t" r="r" b="b"/>
            <a:pathLst>
              <a:path w="457200">
                <a:moveTo>
                  <a:pt x="0" y="0"/>
                </a:moveTo>
                <a:lnTo>
                  <a:pt x="457200" y="0"/>
                </a:lnTo>
              </a:path>
            </a:pathLst>
          </a:custGeom>
          <a:ln w="22225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6475412" y="674687"/>
            <a:ext cx="479425" cy="392430"/>
            <a:chOff x="6475412" y="674687"/>
            <a:chExt cx="479425" cy="392430"/>
          </a:xfrm>
        </p:grpSpPr>
        <p:sp>
          <p:nvSpPr>
            <p:cNvPr id="8" name="object 8"/>
            <p:cNvSpPr/>
            <p:nvPr/>
          </p:nvSpPr>
          <p:spPr>
            <a:xfrm>
              <a:off x="6486525" y="685800"/>
              <a:ext cx="457200" cy="381000"/>
            </a:xfrm>
            <a:custGeom>
              <a:avLst/>
              <a:gdLst/>
              <a:ahLst/>
              <a:cxnLst/>
              <a:rect l="l" t="t" r="r" b="b"/>
              <a:pathLst>
                <a:path w="457200" h="381000">
                  <a:moveTo>
                    <a:pt x="0" y="0"/>
                  </a:moveTo>
                  <a:lnTo>
                    <a:pt x="0" y="381000"/>
                  </a:lnTo>
                </a:path>
                <a:path w="457200" h="381000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943725" y="6858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7858125" y="1071562"/>
            <a:ext cx="457200" cy="0"/>
          </a:xfrm>
          <a:custGeom>
            <a:avLst/>
            <a:gdLst/>
            <a:ahLst/>
            <a:cxnLst/>
            <a:rect l="l" t="t" r="r" b="b"/>
            <a:pathLst>
              <a:path w="457200">
                <a:moveTo>
                  <a:pt x="0" y="0"/>
                </a:moveTo>
                <a:lnTo>
                  <a:pt x="457200" y="0"/>
                </a:lnTo>
              </a:path>
            </a:pathLst>
          </a:custGeom>
          <a:ln w="22225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7389812" y="679450"/>
            <a:ext cx="479425" cy="392430"/>
            <a:chOff x="7389812" y="679450"/>
            <a:chExt cx="479425" cy="392430"/>
          </a:xfrm>
        </p:grpSpPr>
        <p:sp>
          <p:nvSpPr>
            <p:cNvPr id="12" name="object 12"/>
            <p:cNvSpPr/>
            <p:nvPr/>
          </p:nvSpPr>
          <p:spPr>
            <a:xfrm>
              <a:off x="7400925" y="690562"/>
              <a:ext cx="457200" cy="381000"/>
            </a:xfrm>
            <a:custGeom>
              <a:avLst/>
              <a:gdLst/>
              <a:ahLst/>
              <a:cxnLst/>
              <a:rect l="l" t="t" r="r" b="b"/>
              <a:pathLst>
                <a:path w="457200" h="381000">
                  <a:moveTo>
                    <a:pt x="0" y="0"/>
                  </a:moveTo>
                  <a:lnTo>
                    <a:pt x="0" y="381000"/>
                  </a:lnTo>
                </a:path>
                <a:path w="457200" h="381000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858125" y="690562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8315325" y="690562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22225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4637087" y="679450"/>
            <a:ext cx="925830" cy="403225"/>
            <a:chOff x="4637087" y="679450"/>
            <a:chExt cx="925830" cy="403225"/>
          </a:xfrm>
        </p:grpSpPr>
        <p:sp>
          <p:nvSpPr>
            <p:cNvPr id="16" name="object 16"/>
            <p:cNvSpPr/>
            <p:nvPr/>
          </p:nvSpPr>
          <p:spPr>
            <a:xfrm>
              <a:off x="4648200" y="690562"/>
              <a:ext cx="457200" cy="381000"/>
            </a:xfrm>
            <a:custGeom>
              <a:avLst/>
              <a:gdLst/>
              <a:ahLst/>
              <a:cxnLst/>
              <a:rect l="l" t="t" r="r" b="b"/>
              <a:pathLst>
                <a:path w="457200" h="381000">
                  <a:moveTo>
                    <a:pt x="0" y="0"/>
                  </a:moveTo>
                  <a:lnTo>
                    <a:pt x="0" y="381000"/>
                  </a:lnTo>
                </a:path>
                <a:path w="457200" h="381000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05400" y="690562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105400" y="1071562"/>
              <a:ext cx="457200" cy="0"/>
            </a:xfrm>
            <a:custGeom>
              <a:avLst/>
              <a:gdLst/>
              <a:ahLst/>
              <a:cxnLst/>
              <a:rect l="l" t="t" r="r" b="b"/>
              <a:pathLst>
                <a:path w="457200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/>
          <p:nvPr/>
        </p:nvSpPr>
        <p:spPr>
          <a:xfrm>
            <a:off x="5562600" y="1295400"/>
            <a:ext cx="0" cy="4953000"/>
          </a:xfrm>
          <a:custGeom>
            <a:avLst/>
            <a:gdLst/>
            <a:ahLst/>
            <a:cxnLst/>
            <a:rect l="l" t="t" r="r" b="b"/>
            <a:pathLst>
              <a:path h="4953000">
                <a:moveTo>
                  <a:pt x="0" y="0"/>
                </a:moveTo>
                <a:lnTo>
                  <a:pt x="0" y="4953000"/>
                </a:lnTo>
              </a:path>
            </a:pathLst>
          </a:custGeom>
          <a:ln w="12700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391400" y="1295400"/>
            <a:ext cx="0" cy="4953000"/>
          </a:xfrm>
          <a:custGeom>
            <a:avLst/>
            <a:gdLst/>
            <a:ahLst/>
            <a:cxnLst/>
            <a:rect l="l" t="t" r="r" b="b"/>
            <a:pathLst>
              <a:path h="4953000">
                <a:moveTo>
                  <a:pt x="0" y="0"/>
                </a:moveTo>
                <a:lnTo>
                  <a:pt x="0" y="4953000"/>
                </a:lnTo>
              </a:path>
            </a:pathLst>
          </a:custGeom>
          <a:ln w="12700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477000" y="1295400"/>
            <a:ext cx="0" cy="4953000"/>
          </a:xfrm>
          <a:custGeom>
            <a:avLst/>
            <a:gdLst/>
            <a:ahLst/>
            <a:cxnLst/>
            <a:rect l="l" t="t" r="r" b="b"/>
            <a:pathLst>
              <a:path h="4953000">
                <a:moveTo>
                  <a:pt x="0" y="0"/>
                </a:moveTo>
                <a:lnTo>
                  <a:pt x="0" y="4953000"/>
                </a:lnTo>
              </a:path>
            </a:pathLst>
          </a:custGeom>
          <a:ln w="12700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" name="object 22"/>
          <p:cNvGrpSpPr/>
          <p:nvPr/>
        </p:nvGrpSpPr>
        <p:grpSpPr>
          <a:xfrm>
            <a:off x="7391400" y="1295400"/>
            <a:ext cx="920750" cy="4953000"/>
            <a:chOff x="7391400" y="1295400"/>
            <a:chExt cx="920750" cy="4953000"/>
          </a:xfrm>
        </p:grpSpPr>
        <p:sp>
          <p:nvSpPr>
            <p:cNvPr id="23" name="object 23"/>
            <p:cNvSpPr/>
            <p:nvPr/>
          </p:nvSpPr>
          <p:spPr>
            <a:xfrm>
              <a:off x="8305800" y="1295400"/>
              <a:ext cx="0" cy="4953000"/>
            </a:xfrm>
            <a:custGeom>
              <a:avLst/>
              <a:gdLst/>
              <a:ahLst/>
              <a:cxnLst/>
              <a:rect l="l" t="t" r="r" b="b"/>
              <a:pathLst>
                <a:path h="4953000">
                  <a:moveTo>
                    <a:pt x="0" y="0"/>
                  </a:moveTo>
                  <a:lnTo>
                    <a:pt x="0" y="4953000"/>
                  </a:lnTo>
                </a:path>
              </a:pathLst>
            </a:custGeom>
            <a:ln w="12700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391400" y="2486025"/>
              <a:ext cx="914400" cy="0"/>
            </a:xfrm>
            <a:custGeom>
              <a:avLst/>
              <a:gdLst/>
              <a:ahLst/>
              <a:cxnLst/>
              <a:rect l="l" t="t" r="r" b="b"/>
              <a:pathLst>
                <a:path w="914400">
                  <a:moveTo>
                    <a:pt x="0" y="0"/>
                  </a:moveTo>
                  <a:lnTo>
                    <a:pt x="914400" y="0"/>
                  </a:lnTo>
                </a:path>
              </a:pathLst>
            </a:custGeom>
            <a:ln w="25400">
              <a:solidFill>
                <a:srgbClr val="00CC99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4635500" y="2973387"/>
            <a:ext cx="3670300" cy="558800"/>
            <a:chOff x="4635500" y="2973387"/>
            <a:chExt cx="3670300" cy="558800"/>
          </a:xfrm>
        </p:grpSpPr>
        <p:sp>
          <p:nvSpPr>
            <p:cNvPr id="26" name="object 26"/>
            <p:cNvSpPr/>
            <p:nvPr/>
          </p:nvSpPr>
          <p:spPr>
            <a:xfrm>
              <a:off x="4800600" y="2986088"/>
              <a:ext cx="561975" cy="0"/>
            </a:xfrm>
            <a:custGeom>
              <a:avLst/>
              <a:gdLst/>
              <a:ahLst/>
              <a:cxnLst/>
              <a:rect l="l" t="t" r="r" b="b"/>
              <a:pathLst>
                <a:path w="561975">
                  <a:moveTo>
                    <a:pt x="0" y="0"/>
                  </a:moveTo>
                  <a:lnTo>
                    <a:pt x="561975" y="0"/>
                  </a:lnTo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353050" y="2986088"/>
              <a:ext cx="228600" cy="533400"/>
            </a:xfrm>
            <a:custGeom>
              <a:avLst/>
              <a:gdLst/>
              <a:ahLst/>
              <a:cxnLst/>
              <a:rect l="l" t="t" r="r" b="b"/>
              <a:pathLst>
                <a:path w="228600" h="533400">
                  <a:moveTo>
                    <a:pt x="0" y="0"/>
                  </a:moveTo>
                  <a:lnTo>
                    <a:pt x="228600" y="533400"/>
                  </a:lnTo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648200" y="2986087"/>
              <a:ext cx="152400" cy="533400"/>
            </a:xfrm>
            <a:custGeom>
              <a:avLst/>
              <a:gdLst/>
              <a:ahLst/>
              <a:cxnLst/>
              <a:rect l="l" t="t" r="r" b="b"/>
              <a:pathLst>
                <a:path w="152400" h="533400">
                  <a:moveTo>
                    <a:pt x="0" y="533400"/>
                  </a:moveTo>
                  <a:lnTo>
                    <a:pt x="152400" y="0"/>
                  </a:lnTo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562600" y="3519487"/>
              <a:ext cx="2743200" cy="0"/>
            </a:xfrm>
            <a:custGeom>
              <a:avLst/>
              <a:gdLst/>
              <a:ahLst/>
              <a:cxnLst/>
              <a:rect l="l" t="t" r="r" b="b"/>
              <a:pathLst>
                <a:path w="2743200">
                  <a:moveTo>
                    <a:pt x="0" y="0"/>
                  </a:moveTo>
                  <a:lnTo>
                    <a:pt x="2743200" y="0"/>
                  </a:lnTo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4633912" y="3856037"/>
            <a:ext cx="2754630" cy="555625"/>
            <a:chOff x="4633912" y="3856037"/>
            <a:chExt cx="2754630" cy="555625"/>
          </a:xfrm>
        </p:grpSpPr>
        <p:sp>
          <p:nvSpPr>
            <p:cNvPr id="31" name="object 31"/>
            <p:cNvSpPr/>
            <p:nvPr/>
          </p:nvSpPr>
          <p:spPr>
            <a:xfrm>
              <a:off x="4633912" y="3867150"/>
              <a:ext cx="914400" cy="0"/>
            </a:xfrm>
            <a:custGeom>
              <a:avLst/>
              <a:gdLst/>
              <a:ahLst/>
              <a:cxnLst/>
              <a:rect l="l" t="t" r="r" b="b"/>
              <a:pathLst>
                <a:path w="914400">
                  <a:moveTo>
                    <a:pt x="0" y="0"/>
                  </a:moveTo>
                  <a:lnTo>
                    <a:pt x="914400" y="0"/>
                  </a:lnTo>
                </a:path>
              </a:pathLst>
            </a:custGeom>
            <a:ln w="22225">
              <a:solidFill>
                <a:srgbClr val="8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548313" y="3867150"/>
              <a:ext cx="152400" cy="533400"/>
            </a:xfrm>
            <a:custGeom>
              <a:avLst/>
              <a:gdLst/>
              <a:ahLst/>
              <a:cxnLst/>
              <a:rect l="l" t="t" r="r" b="b"/>
              <a:pathLst>
                <a:path w="152400" h="533400">
                  <a:moveTo>
                    <a:pt x="0" y="0"/>
                  </a:moveTo>
                  <a:lnTo>
                    <a:pt x="152400" y="533400"/>
                  </a:lnTo>
                </a:path>
              </a:pathLst>
            </a:custGeom>
            <a:ln w="22225">
              <a:solidFill>
                <a:srgbClr val="8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700713" y="4400550"/>
              <a:ext cx="1524000" cy="0"/>
            </a:xfrm>
            <a:custGeom>
              <a:avLst/>
              <a:gdLst/>
              <a:ahLst/>
              <a:cxnLst/>
              <a:rect l="l" t="t" r="r" b="b"/>
              <a:pathLst>
                <a:path w="1524000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ln w="22225">
              <a:solidFill>
                <a:srgbClr val="8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224713" y="3867150"/>
              <a:ext cx="152400" cy="533400"/>
            </a:xfrm>
            <a:custGeom>
              <a:avLst/>
              <a:gdLst/>
              <a:ahLst/>
              <a:cxnLst/>
              <a:rect l="l" t="t" r="r" b="b"/>
              <a:pathLst>
                <a:path w="152400" h="533400">
                  <a:moveTo>
                    <a:pt x="152400" y="0"/>
                  </a:moveTo>
                  <a:lnTo>
                    <a:pt x="0" y="533400"/>
                  </a:lnTo>
                </a:path>
              </a:pathLst>
            </a:custGeom>
            <a:ln w="22225">
              <a:solidFill>
                <a:srgbClr val="8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/>
          <p:nvPr/>
        </p:nvSpPr>
        <p:spPr>
          <a:xfrm>
            <a:off x="4648200" y="4643437"/>
            <a:ext cx="228600" cy="533400"/>
          </a:xfrm>
          <a:custGeom>
            <a:avLst/>
            <a:gdLst/>
            <a:ahLst/>
            <a:cxnLst/>
            <a:rect l="l" t="t" r="r" b="b"/>
            <a:pathLst>
              <a:path w="228600" h="533400">
                <a:moveTo>
                  <a:pt x="0" y="533400"/>
                </a:moveTo>
                <a:lnTo>
                  <a:pt x="228600" y="0"/>
                </a:lnTo>
              </a:path>
            </a:pathLst>
          </a:custGeom>
          <a:ln w="22225">
            <a:solidFill>
              <a:srgbClr val="9933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604225" y="5315040"/>
            <a:ext cx="345440" cy="466725"/>
          </a:xfrm>
          <a:custGeom>
            <a:avLst/>
            <a:gdLst/>
            <a:ahLst/>
            <a:cxnLst/>
            <a:rect l="l" t="t" r="r" b="b"/>
            <a:pathLst>
              <a:path w="345439" h="466725">
                <a:moveTo>
                  <a:pt x="345122" y="466547"/>
                </a:moveTo>
                <a:lnTo>
                  <a:pt x="0" y="0"/>
                </a:lnTo>
              </a:path>
            </a:pathLst>
          </a:custGeom>
          <a:ln w="28575">
            <a:solidFill>
              <a:srgbClr val="9933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7" name="object 37"/>
          <p:cNvGrpSpPr/>
          <p:nvPr/>
        </p:nvGrpSpPr>
        <p:grpSpPr>
          <a:xfrm>
            <a:off x="4625975" y="1066800"/>
            <a:ext cx="3727450" cy="5181600"/>
            <a:chOff x="4625975" y="1066800"/>
            <a:chExt cx="3727450" cy="5181600"/>
          </a:xfrm>
        </p:grpSpPr>
        <p:sp>
          <p:nvSpPr>
            <p:cNvPr id="38" name="object 38"/>
            <p:cNvSpPr/>
            <p:nvPr/>
          </p:nvSpPr>
          <p:spPr>
            <a:xfrm>
              <a:off x="5562600" y="2257425"/>
              <a:ext cx="1828800" cy="333375"/>
            </a:xfrm>
            <a:custGeom>
              <a:avLst/>
              <a:gdLst/>
              <a:ahLst/>
              <a:cxnLst/>
              <a:rect l="l" t="t" r="r" b="b"/>
              <a:pathLst>
                <a:path w="1828800" h="333375">
                  <a:moveTo>
                    <a:pt x="1463040" y="0"/>
                  </a:moveTo>
                  <a:lnTo>
                    <a:pt x="365760" y="0"/>
                  </a:lnTo>
                  <a:lnTo>
                    <a:pt x="0" y="166687"/>
                  </a:lnTo>
                  <a:lnTo>
                    <a:pt x="365760" y="333375"/>
                  </a:lnTo>
                  <a:lnTo>
                    <a:pt x="1463040" y="333375"/>
                  </a:lnTo>
                  <a:lnTo>
                    <a:pt x="1828800" y="166687"/>
                  </a:lnTo>
                  <a:lnTo>
                    <a:pt x="1463040" y="0"/>
                  </a:lnTo>
                  <a:close/>
                </a:path>
              </a:pathLst>
            </a:custGeom>
            <a:solidFill>
              <a:srgbClr val="00CC99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562600" y="2257425"/>
              <a:ext cx="1828800" cy="333375"/>
            </a:xfrm>
            <a:custGeom>
              <a:avLst/>
              <a:gdLst/>
              <a:ahLst/>
              <a:cxnLst/>
              <a:rect l="l" t="t" r="r" b="b"/>
              <a:pathLst>
                <a:path w="1828800" h="333375">
                  <a:moveTo>
                    <a:pt x="0" y="166687"/>
                  </a:moveTo>
                  <a:lnTo>
                    <a:pt x="365760" y="0"/>
                  </a:lnTo>
                  <a:lnTo>
                    <a:pt x="1463040" y="0"/>
                  </a:lnTo>
                  <a:lnTo>
                    <a:pt x="1828800" y="166687"/>
                  </a:lnTo>
                  <a:lnTo>
                    <a:pt x="1463040" y="333375"/>
                  </a:lnTo>
                  <a:lnTo>
                    <a:pt x="365760" y="333375"/>
                  </a:lnTo>
                  <a:lnTo>
                    <a:pt x="0" y="16668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648200" y="2257425"/>
              <a:ext cx="914400" cy="333375"/>
            </a:xfrm>
            <a:custGeom>
              <a:avLst/>
              <a:gdLst/>
              <a:ahLst/>
              <a:cxnLst/>
              <a:rect l="l" t="t" r="r" b="b"/>
              <a:pathLst>
                <a:path w="914400" h="333375">
                  <a:moveTo>
                    <a:pt x="731520" y="0"/>
                  </a:moveTo>
                  <a:lnTo>
                    <a:pt x="182880" y="0"/>
                  </a:lnTo>
                  <a:lnTo>
                    <a:pt x="0" y="166687"/>
                  </a:lnTo>
                  <a:lnTo>
                    <a:pt x="182880" y="333375"/>
                  </a:lnTo>
                  <a:lnTo>
                    <a:pt x="731520" y="333375"/>
                  </a:lnTo>
                  <a:lnTo>
                    <a:pt x="914400" y="166687"/>
                  </a:lnTo>
                  <a:lnTo>
                    <a:pt x="731520" y="0"/>
                  </a:lnTo>
                  <a:close/>
                </a:path>
              </a:pathLst>
            </a:custGeom>
            <a:solidFill>
              <a:srgbClr val="00CC99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648200" y="2257425"/>
              <a:ext cx="914400" cy="333375"/>
            </a:xfrm>
            <a:custGeom>
              <a:avLst/>
              <a:gdLst/>
              <a:ahLst/>
              <a:cxnLst/>
              <a:rect l="l" t="t" r="r" b="b"/>
              <a:pathLst>
                <a:path w="914400" h="333375">
                  <a:moveTo>
                    <a:pt x="0" y="166687"/>
                  </a:moveTo>
                  <a:lnTo>
                    <a:pt x="182880" y="0"/>
                  </a:lnTo>
                  <a:lnTo>
                    <a:pt x="731520" y="0"/>
                  </a:lnTo>
                  <a:lnTo>
                    <a:pt x="914400" y="166687"/>
                  </a:lnTo>
                  <a:lnTo>
                    <a:pt x="731520" y="333375"/>
                  </a:lnTo>
                  <a:lnTo>
                    <a:pt x="182880" y="333375"/>
                  </a:lnTo>
                  <a:lnTo>
                    <a:pt x="0" y="16668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648200" y="1600200"/>
              <a:ext cx="3657600" cy="333375"/>
            </a:xfrm>
            <a:custGeom>
              <a:avLst/>
              <a:gdLst/>
              <a:ahLst/>
              <a:cxnLst/>
              <a:rect l="l" t="t" r="r" b="b"/>
              <a:pathLst>
                <a:path w="3657600" h="333375">
                  <a:moveTo>
                    <a:pt x="2926080" y="0"/>
                  </a:moveTo>
                  <a:lnTo>
                    <a:pt x="731520" y="0"/>
                  </a:lnTo>
                  <a:lnTo>
                    <a:pt x="0" y="166687"/>
                  </a:lnTo>
                  <a:lnTo>
                    <a:pt x="731520" y="333375"/>
                  </a:lnTo>
                  <a:lnTo>
                    <a:pt x="2926080" y="333375"/>
                  </a:lnTo>
                  <a:lnTo>
                    <a:pt x="3657600" y="166687"/>
                  </a:lnTo>
                  <a:lnTo>
                    <a:pt x="2926080" y="0"/>
                  </a:lnTo>
                  <a:close/>
                </a:path>
              </a:pathLst>
            </a:custGeom>
            <a:solidFill>
              <a:srgbClr val="3366FF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648200" y="1600200"/>
              <a:ext cx="3657600" cy="333375"/>
            </a:xfrm>
            <a:custGeom>
              <a:avLst/>
              <a:gdLst/>
              <a:ahLst/>
              <a:cxnLst/>
              <a:rect l="l" t="t" r="r" b="b"/>
              <a:pathLst>
                <a:path w="3657600" h="333375">
                  <a:moveTo>
                    <a:pt x="0" y="166687"/>
                  </a:moveTo>
                  <a:lnTo>
                    <a:pt x="731520" y="0"/>
                  </a:lnTo>
                  <a:lnTo>
                    <a:pt x="2926080" y="0"/>
                  </a:lnTo>
                  <a:lnTo>
                    <a:pt x="3657600" y="166687"/>
                  </a:lnTo>
                  <a:lnTo>
                    <a:pt x="2926080" y="333375"/>
                  </a:lnTo>
                  <a:lnTo>
                    <a:pt x="731520" y="333375"/>
                  </a:lnTo>
                  <a:lnTo>
                    <a:pt x="0" y="16668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633912" y="1066800"/>
              <a:ext cx="0" cy="5181600"/>
            </a:xfrm>
            <a:custGeom>
              <a:avLst/>
              <a:gdLst/>
              <a:ahLst/>
              <a:cxnLst/>
              <a:rect l="l" t="t" r="r" b="b"/>
              <a:pathLst>
                <a:path h="5181600">
                  <a:moveTo>
                    <a:pt x="0" y="0"/>
                  </a:moveTo>
                  <a:lnTo>
                    <a:pt x="0" y="5181600"/>
                  </a:lnTo>
                </a:path>
              </a:pathLst>
            </a:custGeom>
            <a:ln w="1587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924425" y="5762625"/>
              <a:ext cx="3429000" cy="0"/>
            </a:xfrm>
            <a:custGeom>
              <a:avLst/>
              <a:gdLst/>
              <a:ahLst/>
              <a:cxnLst/>
              <a:rect l="l" t="t" r="r" b="b"/>
              <a:pathLst>
                <a:path w="3429000">
                  <a:moveTo>
                    <a:pt x="0" y="0"/>
                  </a:moveTo>
                  <a:lnTo>
                    <a:pt x="3429000" y="0"/>
                  </a:lnTo>
                </a:path>
              </a:pathLst>
            </a:custGeom>
            <a:ln w="22225">
              <a:solidFill>
                <a:srgbClr val="99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391400" y="3905250"/>
              <a:ext cx="914400" cy="0"/>
            </a:xfrm>
            <a:custGeom>
              <a:avLst/>
              <a:gdLst/>
              <a:ahLst/>
              <a:cxnLst/>
              <a:rect l="l" t="t" r="r" b="b"/>
              <a:pathLst>
                <a:path w="914400">
                  <a:moveTo>
                    <a:pt x="0" y="0"/>
                  </a:moveTo>
                  <a:lnTo>
                    <a:pt x="914400" y="0"/>
                  </a:lnTo>
                </a:path>
              </a:pathLst>
            </a:custGeom>
            <a:ln w="22225">
              <a:solidFill>
                <a:srgbClr val="8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4726982" y="3493356"/>
            <a:ext cx="44450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ALE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849257" y="4031492"/>
            <a:ext cx="32004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RD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4862512" y="4062412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600" y="0"/>
                </a:lnTo>
              </a:path>
            </a:pathLst>
          </a:custGeom>
          <a:ln w="12700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4831715" y="4931536"/>
            <a:ext cx="37592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WR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4857750" y="4957762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600" y="0"/>
                </a:lnTo>
              </a:path>
            </a:pathLst>
          </a:custGeom>
          <a:ln w="12700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4776152" y="5861811"/>
            <a:ext cx="511809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IO</a:t>
            </a:r>
            <a:r>
              <a:rPr sz="1600" b="1" spc="-5" dirty="0">
                <a:solidFill>
                  <a:srgbClr val="800000"/>
                </a:solidFill>
                <a:latin typeface="Times New Roman"/>
                <a:cs typeface="Times New Roman"/>
              </a:rPr>
              <a:t>/M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4906962" y="5897563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600" y="0"/>
                </a:lnTo>
              </a:path>
            </a:pathLst>
          </a:custGeom>
          <a:ln w="12700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4876800" y="4648200"/>
            <a:ext cx="3429000" cy="0"/>
          </a:xfrm>
          <a:custGeom>
            <a:avLst/>
            <a:gdLst/>
            <a:ahLst/>
            <a:cxnLst/>
            <a:rect l="l" t="t" r="r" b="b"/>
            <a:pathLst>
              <a:path w="3429000">
                <a:moveTo>
                  <a:pt x="0" y="0"/>
                </a:moveTo>
                <a:lnTo>
                  <a:pt x="3429000" y="0"/>
                </a:lnTo>
              </a:path>
            </a:pathLst>
          </a:custGeom>
          <a:ln w="22225">
            <a:solidFill>
              <a:srgbClr val="9933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4898390" y="1138110"/>
            <a:ext cx="1670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T1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705307" y="1138110"/>
            <a:ext cx="1670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T2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672310" y="1138110"/>
            <a:ext cx="1670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T3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607245" y="1138110"/>
            <a:ext cx="1670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T4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726940" y="1564351"/>
            <a:ext cx="3037840" cy="972819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R="97790" algn="ctr">
              <a:lnSpc>
                <a:spcPct val="100000"/>
              </a:lnSpc>
              <a:spcBef>
                <a:spcPts val="590"/>
              </a:spcBef>
            </a:pPr>
            <a:r>
              <a:rPr sz="1400" b="1" spc="-5" dirty="0">
                <a:latin typeface="Times New Roman"/>
                <a:cs typeface="Times New Roman"/>
              </a:rPr>
              <a:t>A0h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A</a:t>
            </a:r>
            <a:r>
              <a:rPr sz="800" b="1" spc="-5" dirty="0">
                <a:solidFill>
                  <a:srgbClr val="800000"/>
                </a:solidFill>
                <a:latin typeface="Times New Roman"/>
                <a:cs typeface="Times New Roman"/>
              </a:rPr>
              <a:t>15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-</a:t>
            </a:r>
            <a:r>
              <a:rPr sz="1600" b="1" spc="-100" dirty="0">
                <a:solidFill>
                  <a:srgbClr val="80000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A</a:t>
            </a:r>
            <a:r>
              <a:rPr sz="800" b="1" spc="-5" dirty="0">
                <a:solidFill>
                  <a:srgbClr val="800000"/>
                </a:solidFill>
                <a:latin typeface="Times New Roman"/>
                <a:cs typeface="Times New Roman"/>
              </a:rPr>
              <a:t>8</a:t>
            </a:r>
            <a:r>
              <a:rPr sz="800" b="1" spc="-15" dirty="0">
                <a:solidFill>
                  <a:srgbClr val="80000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(H</a:t>
            </a:r>
            <a:r>
              <a:rPr sz="1600" b="1" spc="-5" dirty="0">
                <a:solidFill>
                  <a:srgbClr val="800000"/>
                </a:solidFill>
                <a:latin typeface="Times New Roman"/>
                <a:cs typeface="Times New Roman"/>
              </a:rPr>
              <a:t>i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g</a:t>
            </a:r>
            <a:r>
              <a:rPr sz="1600" b="1" spc="-5" dirty="0">
                <a:solidFill>
                  <a:srgbClr val="800000"/>
                </a:solidFill>
                <a:latin typeface="Times New Roman"/>
                <a:cs typeface="Times New Roman"/>
              </a:rPr>
              <a:t>h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er</a:t>
            </a:r>
            <a:r>
              <a:rPr sz="1600" b="1" spc="-20" dirty="0">
                <a:solidFill>
                  <a:srgbClr val="80000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Or</a:t>
            </a:r>
            <a:r>
              <a:rPr sz="1600" b="1" spc="-5" dirty="0">
                <a:solidFill>
                  <a:srgbClr val="800000"/>
                </a:solidFill>
                <a:latin typeface="Times New Roman"/>
                <a:cs typeface="Times New Roman"/>
              </a:rPr>
              <a:t>d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er</a:t>
            </a:r>
            <a:r>
              <a:rPr sz="1600" b="1" spc="-125" dirty="0">
                <a:solidFill>
                  <a:srgbClr val="80000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A</a:t>
            </a:r>
            <a:r>
              <a:rPr sz="1600" b="1" spc="-5" dirty="0">
                <a:solidFill>
                  <a:srgbClr val="800000"/>
                </a:solidFill>
                <a:latin typeface="Times New Roman"/>
                <a:cs typeface="Times New Roman"/>
              </a:rPr>
              <a:t>dd</a:t>
            </a:r>
            <a:r>
              <a:rPr sz="1600" b="1" spc="-30" dirty="0">
                <a:solidFill>
                  <a:srgbClr val="800000"/>
                </a:solidFill>
                <a:latin typeface="Times New Roman"/>
                <a:cs typeface="Times New Roman"/>
              </a:rPr>
              <a:t>r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ess</a:t>
            </a:r>
            <a:r>
              <a:rPr sz="1600" b="1" spc="-10" dirty="0">
                <a:solidFill>
                  <a:srgbClr val="800000"/>
                </a:solidFill>
                <a:latin typeface="Times New Roman"/>
                <a:cs typeface="Times New Roman"/>
              </a:rPr>
              <a:t> </a:t>
            </a:r>
            <a:r>
              <a:rPr sz="1600" b="1" spc="-5" dirty="0">
                <a:solidFill>
                  <a:srgbClr val="800000"/>
                </a:solidFill>
                <a:latin typeface="Times New Roman"/>
                <a:cs typeface="Times New Roman"/>
              </a:rPr>
              <a:t>bu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s)</a:t>
            </a:r>
            <a:endParaRPr sz="1600">
              <a:latin typeface="Times New Roman"/>
              <a:cs typeface="Times New Roman"/>
            </a:endParaRPr>
          </a:p>
          <a:p>
            <a:pPr marL="238760">
              <a:lnSpc>
                <a:spcPct val="100000"/>
              </a:lnSpc>
              <a:spcBef>
                <a:spcPts val="1120"/>
              </a:spcBef>
              <a:tabLst>
                <a:tab pos="1610995" algn="l"/>
              </a:tabLst>
            </a:pPr>
            <a:r>
              <a:rPr sz="1400" b="1" spc="-5" dirty="0">
                <a:latin typeface="Times New Roman"/>
                <a:cs typeface="Times New Roman"/>
              </a:rPr>
              <a:t>00h	78h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459740" y="830072"/>
            <a:ext cx="3119755" cy="221996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2400" spc="-5" dirty="0">
                <a:latin typeface="Times New Roman"/>
                <a:cs typeface="Times New Roman"/>
              </a:rPr>
              <a:t>Instruction: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  <a:tabLst>
                <a:tab pos="1840864" algn="l"/>
              </a:tabLst>
            </a:pPr>
            <a:r>
              <a:rPr sz="2400" spc="-5" dirty="0">
                <a:latin typeface="Times New Roman"/>
                <a:cs typeface="Times New Roman"/>
              </a:rPr>
              <a:t>A000h	MOV</a:t>
            </a:r>
            <a:r>
              <a:rPr sz="2400" spc="-17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A,B</a:t>
            </a:r>
            <a:endParaRPr sz="2400">
              <a:latin typeface="Times New Roman"/>
              <a:cs typeface="Times New Roman"/>
            </a:endParaRPr>
          </a:p>
          <a:p>
            <a:pPr marL="12700" marR="230504">
              <a:lnSpc>
                <a:spcPct val="150000"/>
              </a:lnSpc>
              <a:tabLst>
                <a:tab pos="1840864" algn="l"/>
              </a:tabLst>
            </a:pPr>
            <a:r>
              <a:rPr sz="2400" spc="-5" dirty="0">
                <a:latin typeface="Times New Roman"/>
                <a:cs typeface="Times New Roman"/>
              </a:rPr>
              <a:t>Corresponding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Coding: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A000h	</a:t>
            </a:r>
            <a:r>
              <a:rPr sz="2400" dirty="0">
                <a:latin typeface="Times New Roman"/>
                <a:cs typeface="Times New Roman"/>
              </a:rPr>
              <a:t>78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527050" y="3956050"/>
            <a:ext cx="3136900" cy="1841500"/>
            <a:chOff x="527050" y="3956050"/>
            <a:chExt cx="3136900" cy="1841500"/>
          </a:xfrm>
        </p:grpSpPr>
        <p:sp>
          <p:nvSpPr>
            <p:cNvPr id="62" name="object 62"/>
            <p:cNvSpPr/>
            <p:nvPr/>
          </p:nvSpPr>
          <p:spPr>
            <a:xfrm>
              <a:off x="533400" y="3962400"/>
              <a:ext cx="914400" cy="1828800"/>
            </a:xfrm>
            <a:custGeom>
              <a:avLst/>
              <a:gdLst/>
              <a:ahLst/>
              <a:cxnLst/>
              <a:rect l="l" t="t" r="r" b="b"/>
              <a:pathLst>
                <a:path w="914400" h="1828800">
                  <a:moveTo>
                    <a:pt x="914400" y="0"/>
                  </a:moveTo>
                  <a:lnTo>
                    <a:pt x="0" y="0"/>
                  </a:lnTo>
                  <a:lnTo>
                    <a:pt x="0" y="1828800"/>
                  </a:lnTo>
                  <a:lnTo>
                    <a:pt x="914400" y="18288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533400" y="3962400"/>
              <a:ext cx="914400" cy="1828800"/>
            </a:xfrm>
            <a:custGeom>
              <a:avLst/>
              <a:gdLst/>
              <a:ahLst/>
              <a:cxnLst/>
              <a:rect l="l" t="t" r="r" b="b"/>
              <a:pathLst>
                <a:path w="914400" h="1828800">
                  <a:moveTo>
                    <a:pt x="0" y="0"/>
                  </a:moveTo>
                  <a:lnTo>
                    <a:pt x="914400" y="0"/>
                  </a:lnTo>
                  <a:lnTo>
                    <a:pt x="9144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2971800" y="4191000"/>
              <a:ext cx="685800" cy="1524000"/>
            </a:xfrm>
            <a:custGeom>
              <a:avLst/>
              <a:gdLst/>
              <a:ahLst/>
              <a:cxnLst/>
              <a:rect l="l" t="t" r="r" b="b"/>
              <a:pathLst>
                <a:path w="685800" h="1524000">
                  <a:moveTo>
                    <a:pt x="685800" y="0"/>
                  </a:moveTo>
                  <a:lnTo>
                    <a:pt x="0" y="0"/>
                  </a:lnTo>
                  <a:lnTo>
                    <a:pt x="0" y="1524000"/>
                  </a:lnTo>
                  <a:lnTo>
                    <a:pt x="685800" y="15240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00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2971800" y="4191000"/>
              <a:ext cx="685800" cy="1524000"/>
            </a:xfrm>
            <a:custGeom>
              <a:avLst/>
              <a:gdLst/>
              <a:ahLst/>
              <a:cxnLst/>
              <a:rect l="l" t="t" r="r" b="b"/>
              <a:pathLst>
                <a:path w="685800" h="1524000">
                  <a:moveTo>
                    <a:pt x="0" y="0"/>
                  </a:moveTo>
                  <a:lnTo>
                    <a:pt x="685800" y="0"/>
                  </a:lnTo>
                  <a:lnTo>
                    <a:pt x="685800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527175" y="4876800"/>
              <a:ext cx="1444625" cy="0"/>
            </a:xfrm>
            <a:custGeom>
              <a:avLst/>
              <a:gdLst/>
              <a:ahLst/>
              <a:cxnLst/>
              <a:rect l="l" t="t" r="r" b="b"/>
              <a:pathLst>
                <a:path w="1444625">
                  <a:moveTo>
                    <a:pt x="1444625" y="0"/>
                  </a:moveTo>
                  <a:lnTo>
                    <a:pt x="0" y="0"/>
                  </a:lnTo>
                </a:path>
              </a:pathLst>
            </a:custGeom>
            <a:ln w="317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447802" y="4829171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0"/>
                  </a:moveTo>
                  <a:lnTo>
                    <a:pt x="0" y="47625"/>
                  </a:lnTo>
                  <a:lnTo>
                    <a:pt x="95250" y="9525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612140" y="5965952"/>
            <a:ext cx="635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8085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2898139" y="5889752"/>
            <a:ext cx="1075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Mem</a:t>
            </a:r>
            <a:r>
              <a:rPr sz="2400" dirty="0">
                <a:latin typeface="Times New Roman"/>
                <a:cs typeface="Times New Roman"/>
              </a:rPr>
              <a:t>o</a:t>
            </a:r>
            <a:r>
              <a:rPr sz="2400" spc="-5" dirty="0">
                <a:latin typeface="Times New Roman"/>
                <a:cs typeface="Times New Roman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983739" y="4979923"/>
            <a:ext cx="37147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Times New Roman"/>
                <a:cs typeface="Times New Roman"/>
              </a:rPr>
              <a:t>O</a:t>
            </a:r>
            <a:r>
              <a:rPr sz="1400" spc="-5" dirty="0">
                <a:latin typeface="Times New Roman"/>
                <a:cs typeface="Times New Roman"/>
              </a:rPr>
              <a:t>FC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5549265" y="6287325"/>
            <a:ext cx="212407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Times New Roman"/>
                <a:cs typeface="Times New Roman"/>
              </a:rPr>
              <a:t>Op-code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fetch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Cycle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 txBox="1">
            <a:spLocks noGrp="1"/>
          </p:cNvSpPr>
          <p:nvPr>
            <p:ph type="title"/>
          </p:nvPr>
        </p:nvSpPr>
        <p:spPr>
          <a:xfrm>
            <a:off x="2636678" y="0"/>
            <a:ext cx="3872229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i="1" u="heavy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Timing</a:t>
            </a:r>
            <a:r>
              <a:rPr b="1" i="1" u="heavy" spc="-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b="1" i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Diagram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9740" y="830072"/>
            <a:ext cx="3260090" cy="167132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2400" spc="-5" dirty="0">
                <a:latin typeface="Times New Roman"/>
                <a:cs typeface="Times New Roman"/>
              </a:rPr>
              <a:t>Instruction: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  <a:tabLst>
                <a:tab pos="1840864" algn="l"/>
              </a:tabLst>
            </a:pPr>
            <a:r>
              <a:rPr sz="2400" spc="-5" dirty="0">
                <a:latin typeface="Times New Roman"/>
                <a:cs typeface="Times New Roman"/>
              </a:rPr>
              <a:t>A000h	MVI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A,</a:t>
            </a:r>
            <a:r>
              <a:rPr sz="2400" dirty="0">
                <a:latin typeface="Times New Roman"/>
                <a:cs typeface="Times New Roman"/>
              </a:rPr>
              <a:t>45h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spc="-5" dirty="0">
                <a:latin typeface="Times New Roman"/>
                <a:cs typeface="Times New Roman"/>
              </a:rPr>
              <a:t>Corresponding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Coding: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9740" y="2475991"/>
            <a:ext cx="855344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A000h  A001h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88539" y="2475991"/>
            <a:ext cx="364490" cy="112268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2400" dirty="0">
                <a:latin typeface="Times New Roman"/>
                <a:cs typeface="Times New Roman"/>
              </a:rPr>
              <a:t>3E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latin typeface="Times New Roman"/>
                <a:cs typeface="Times New Roman"/>
              </a:rPr>
              <a:t>45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636678" y="204469"/>
            <a:ext cx="3872229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i="1" u="heavy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Timing</a:t>
            </a:r>
            <a:r>
              <a:rPr b="1" i="1" u="heavy" spc="-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b="1" i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Diagram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9740" y="830072"/>
            <a:ext cx="3260090" cy="167132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2400" spc="-5" dirty="0">
                <a:latin typeface="Times New Roman"/>
                <a:cs typeface="Times New Roman"/>
              </a:rPr>
              <a:t>Instruction: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  <a:tabLst>
                <a:tab pos="1840864" algn="l"/>
              </a:tabLst>
            </a:pPr>
            <a:r>
              <a:rPr sz="2400" spc="-5" dirty="0">
                <a:latin typeface="Times New Roman"/>
                <a:cs typeface="Times New Roman"/>
              </a:rPr>
              <a:t>A000h	MVI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A,</a:t>
            </a:r>
            <a:r>
              <a:rPr sz="2400" dirty="0">
                <a:latin typeface="Times New Roman"/>
                <a:cs typeface="Times New Roman"/>
              </a:rPr>
              <a:t>45h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spc="-5" dirty="0">
                <a:latin typeface="Times New Roman"/>
                <a:cs typeface="Times New Roman"/>
              </a:rPr>
              <a:t>Corresponding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Coding: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9740" y="2475991"/>
            <a:ext cx="855344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A000h  A001h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88539" y="2475991"/>
            <a:ext cx="364490" cy="112268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2400" dirty="0">
                <a:latin typeface="Times New Roman"/>
                <a:cs typeface="Times New Roman"/>
              </a:rPr>
              <a:t>3E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latin typeface="Times New Roman"/>
                <a:cs typeface="Times New Roman"/>
              </a:rPr>
              <a:t>45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940425" y="1974850"/>
          <a:ext cx="2130425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46863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OFC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46863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MEMR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4946650" y="1746250"/>
            <a:ext cx="1025525" cy="1841500"/>
            <a:chOff x="4946650" y="1746250"/>
            <a:chExt cx="1025525" cy="1841500"/>
          </a:xfrm>
        </p:grpSpPr>
        <p:sp>
          <p:nvSpPr>
            <p:cNvPr id="7" name="object 7"/>
            <p:cNvSpPr/>
            <p:nvPr/>
          </p:nvSpPr>
          <p:spPr>
            <a:xfrm>
              <a:off x="4953000" y="1752600"/>
              <a:ext cx="914400" cy="1828800"/>
            </a:xfrm>
            <a:custGeom>
              <a:avLst/>
              <a:gdLst/>
              <a:ahLst/>
              <a:cxnLst/>
              <a:rect l="l" t="t" r="r" b="b"/>
              <a:pathLst>
                <a:path w="914400" h="1828800">
                  <a:moveTo>
                    <a:pt x="914400" y="0"/>
                  </a:moveTo>
                  <a:lnTo>
                    <a:pt x="0" y="0"/>
                  </a:lnTo>
                  <a:lnTo>
                    <a:pt x="0" y="1828800"/>
                  </a:lnTo>
                  <a:lnTo>
                    <a:pt x="914400" y="18288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953000" y="1752600"/>
              <a:ext cx="914400" cy="1828800"/>
            </a:xfrm>
            <a:custGeom>
              <a:avLst/>
              <a:gdLst/>
              <a:ahLst/>
              <a:cxnLst/>
              <a:rect l="l" t="t" r="r" b="b"/>
              <a:pathLst>
                <a:path w="914400" h="1828800">
                  <a:moveTo>
                    <a:pt x="0" y="0"/>
                  </a:moveTo>
                  <a:lnTo>
                    <a:pt x="914400" y="0"/>
                  </a:lnTo>
                  <a:lnTo>
                    <a:pt x="9144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867400" y="2466974"/>
              <a:ext cx="104775" cy="552450"/>
            </a:xfrm>
            <a:custGeom>
              <a:avLst/>
              <a:gdLst/>
              <a:ahLst/>
              <a:cxnLst/>
              <a:rect l="l" t="t" r="r" b="b"/>
              <a:pathLst>
                <a:path w="104775" h="552450">
                  <a:moveTo>
                    <a:pt x="95250" y="0"/>
                  </a:moveTo>
                  <a:lnTo>
                    <a:pt x="0" y="47625"/>
                  </a:lnTo>
                  <a:lnTo>
                    <a:pt x="95250" y="95250"/>
                  </a:lnTo>
                  <a:lnTo>
                    <a:pt x="95250" y="0"/>
                  </a:lnTo>
                  <a:close/>
                </a:path>
                <a:path w="104775" h="552450">
                  <a:moveTo>
                    <a:pt x="104775" y="457200"/>
                  </a:moveTo>
                  <a:lnTo>
                    <a:pt x="9525" y="504825"/>
                  </a:lnTo>
                  <a:lnTo>
                    <a:pt x="104775" y="552450"/>
                  </a:lnTo>
                  <a:lnTo>
                    <a:pt x="104775" y="457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031740" y="3756152"/>
            <a:ext cx="635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8085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317740" y="3679952"/>
            <a:ext cx="1075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Mem</a:t>
            </a:r>
            <a:r>
              <a:rPr sz="2400" dirty="0">
                <a:latin typeface="Times New Roman"/>
                <a:cs typeface="Times New Roman"/>
              </a:rPr>
              <a:t>o</a:t>
            </a:r>
            <a:r>
              <a:rPr sz="2400" spc="-5" dirty="0">
                <a:latin typeface="Times New Roman"/>
                <a:cs typeface="Times New Roman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2636678" y="204469"/>
            <a:ext cx="3872229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i="1" u="heavy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Timing</a:t>
            </a:r>
            <a:r>
              <a:rPr b="1" i="1" u="heavy" spc="-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b="1" i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Diagram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95750" y="1014412"/>
            <a:ext cx="457200" cy="0"/>
          </a:xfrm>
          <a:custGeom>
            <a:avLst/>
            <a:gdLst/>
            <a:ahLst/>
            <a:cxnLst/>
            <a:rect l="l" t="t" r="r" b="b"/>
            <a:pathLst>
              <a:path w="457200">
                <a:moveTo>
                  <a:pt x="0" y="0"/>
                </a:moveTo>
                <a:lnTo>
                  <a:pt x="457200" y="0"/>
                </a:lnTo>
              </a:path>
            </a:pathLst>
          </a:custGeom>
          <a:ln w="22225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3627437" y="622300"/>
            <a:ext cx="479425" cy="392430"/>
            <a:chOff x="3627437" y="622300"/>
            <a:chExt cx="479425" cy="392430"/>
          </a:xfrm>
        </p:grpSpPr>
        <p:sp>
          <p:nvSpPr>
            <p:cNvPr id="4" name="object 4"/>
            <p:cNvSpPr/>
            <p:nvPr/>
          </p:nvSpPr>
          <p:spPr>
            <a:xfrm>
              <a:off x="3638550" y="633412"/>
              <a:ext cx="457200" cy="381000"/>
            </a:xfrm>
            <a:custGeom>
              <a:avLst/>
              <a:gdLst/>
              <a:ahLst/>
              <a:cxnLst/>
              <a:rect l="l" t="t" r="r" b="b"/>
              <a:pathLst>
                <a:path w="457200" h="381000">
                  <a:moveTo>
                    <a:pt x="0" y="0"/>
                  </a:moveTo>
                  <a:lnTo>
                    <a:pt x="0" y="381000"/>
                  </a:lnTo>
                </a:path>
                <a:path w="457200" h="381000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095750" y="633412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5010150" y="1009650"/>
            <a:ext cx="457200" cy="0"/>
          </a:xfrm>
          <a:custGeom>
            <a:avLst/>
            <a:gdLst/>
            <a:ahLst/>
            <a:cxnLst/>
            <a:rect l="l" t="t" r="r" b="b"/>
            <a:pathLst>
              <a:path w="457200">
                <a:moveTo>
                  <a:pt x="0" y="0"/>
                </a:moveTo>
                <a:lnTo>
                  <a:pt x="457200" y="0"/>
                </a:lnTo>
              </a:path>
            </a:pathLst>
          </a:custGeom>
          <a:ln w="22225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4541837" y="617537"/>
            <a:ext cx="479425" cy="392430"/>
            <a:chOff x="4541837" y="617537"/>
            <a:chExt cx="479425" cy="392430"/>
          </a:xfrm>
        </p:grpSpPr>
        <p:sp>
          <p:nvSpPr>
            <p:cNvPr id="8" name="object 8"/>
            <p:cNvSpPr/>
            <p:nvPr/>
          </p:nvSpPr>
          <p:spPr>
            <a:xfrm>
              <a:off x="4552950" y="628650"/>
              <a:ext cx="457200" cy="381000"/>
            </a:xfrm>
            <a:custGeom>
              <a:avLst/>
              <a:gdLst/>
              <a:ahLst/>
              <a:cxnLst/>
              <a:rect l="l" t="t" r="r" b="b"/>
              <a:pathLst>
                <a:path w="457200" h="381000">
                  <a:moveTo>
                    <a:pt x="0" y="0"/>
                  </a:moveTo>
                  <a:lnTo>
                    <a:pt x="0" y="381000"/>
                  </a:lnTo>
                </a:path>
                <a:path w="457200" h="381000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010150" y="62865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5924550" y="1014412"/>
            <a:ext cx="457200" cy="0"/>
          </a:xfrm>
          <a:custGeom>
            <a:avLst/>
            <a:gdLst/>
            <a:ahLst/>
            <a:cxnLst/>
            <a:rect l="l" t="t" r="r" b="b"/>
            <a:pathLst>
              <a:path w="457200">
                <a:moveTo>
                  <a:pt x="0" y="0"/>
                </a:moveTo>
                <a:lnTo>
                  <a:pt x="457200" y="0"/>
                </a:lnTo>
              </a:path>
            </a:pathLst>
          </a:custGeom>
          <a:ln w="22225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5456237" y="622300"/>
            <a:ext cx="479425" cy="392430"/>
            <a:chOff x="5456237" y="622300"/>
            <a:chExt cx="479425" cy="392430"/>
          </a:xfrm>
        </p:grpSpPr>
        <p:sp>
          <p:nvSpPr>
            <p:cNvPr id="12" name="object 12"/>
            <p:cNvSpPr/>
            <p:nvPr/>
          </p:nvSpPr>
          <p:spPr>
            <a:xfrm>
              <a:off x="5467350" y="633412"/>
              <a:ext cx="457200" cy="381000"/>
            </a:xfrm>
            <a:custGeom>
              <a:avLst/>
              <a:gdLst/>
              <a:ahLst/>
              <a:cxnLst/>
              <a:rect l="l" t="t" r="r" b="b"/>
              <a:pathLst>
                <a:path w="457200" h="381000">
                  <a:moveTo>
                    <a:pt x="0" y="0"/>
                  </a:moveTo>
                  <a:lnTo>
                    <a:pt x="0" y="381000"/>
                  </a:lnTo>
                </a:path>
                <a:path w="457200" h="381000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924550" y="633412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6838950" y="1014412"/>
            <a:ext cx="457200" cy="0"/>
          </a:xfrm>
          <a:custGeom>
            <a:avLst/>
            <a:gdLst/>
            <a:ahLst/>
            <a:cxnLst/>
            <a:rect l="l" t="t" r="r" b="b"/>
            <a:pathLst>
              <a:path w="457200">
                <a:moveTo>
                  <a:pt x="0" y="0"/>
                </a:moveTo>
                <a:lnTo>
                  <a:pt x="457200" y="0"/>
                </a:lnTo>
              </a:path>
            </a:pathLst>
          </a:custGeom>
          <a:ln w="22225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6370637" y="622300"/>
            <a:ext cx="479425" cy="392430"/>
            <a:chOff x="6370637" y="622300"/>
            <a:chExt cx="479425" cy="392430"/>
          </a:xfrm>
        </p:grpSpPr>
        <p:sp>
          <p:nvSpPr>
            <p:cNvPr id="16" name="object 16"/>
            <p:cNvSpPr/>
            <p:nvPr/>
          </p:nvSpPr>
          <p:spPr>
            <a:xfrm>
              <a:off x="6381750" y="633412"/>
              <a:ext cx="457200" cy="381000"/>
            </a:xfrm>
            <a:custGeom>
              <a:avLst/>
              <a:gdLst/>
              <a:ahLst/>
              <a:cxnLst/>
              <a:rect l="l" t="t" r="r" b="b"/>
              <a:pathLst>
                <a:path w="457200" h="381000">
                  <a:moveTo>
                    <a:pt x="0" y="0"/>
                  </a:moveTo>
                  <a:lnTo>
                    <a:pt x="0" y="381000"/>
                  </a:lnTo>
                </a:path>
                <a:path w="457200" h="381000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838950" y="633412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7753350" y="1014412"/>
            <a:ext cx="457200" cy="0"/>
          </a:xfrm>
          <a:custGeom>
            <a:avLst/>
            <a:gdLst/>
            <a:ahLst/>
            <a:cxnLst/>
            <a:rect l="l" t="t" r="r" b="b"/>
            <a:pathLst>
              <a:path w="457200">
                <a:moveTo>
                  <a:pt x="0" y="0"/>
                </a:moveTo>
                <a:lnTo>
                  <a:pt x="457200" y="0"/>
                </a:lnTo>
              </a:path>
            </a:pathLst>
          </a:custGeom>
          <a:ln w="22225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7285037" y="622300"/>
            <a:ext cx="479425" cy="392430"/>
            <a:chOff x="7285037" y="622300"/>
            <a:chExt cx="479425" cy="392430"/>
          </a:xfrm>
        </p:grpSpPr>
        <p:sp>
          <p:nvSpPr>
            <p:cNvPr id="20" name="object 20"/>
            <p:cNvSpPr/>
            <p:nvPr/>
          </p:nvSpPr>
          <p:spPr>
            <a:xfrm>
              <a:off x="7296150" y="633412"/>
              <a:ext cx="457200" cy="381000"/>
            </a:xfrm>
            <a:custGeom>
              <a:avLst/>
              <a:gdLst/>
              <a:ahLst/>
              <a:cxnLst/>
              <a:rect l="l" t="t" r="r" b="b"/>
              <a:pathLst>
                <a:path w="457200" h="381000">
                  <a:moveTo>
                    <a:pt x="0" y="0"/>
                  </a:moveTo>
                  <a:lnTo>
                    <a:pt x="0" y="381000"/>
                  </a:lnTo>
                </a:path>
                <a:path w="457200" h="381000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753350" y="633412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/>
          <p:nvPr/>
        </p:nvSpPr>
        <p:spPr>
          <a:xfrm>
            <a:off x="8667750" y="1014412"/>
            <a:ext cx="457200" cy="0"/>
          </a:xfrm>
          <a:custGeom>
            <a:avLst/>
            <a:gdLst/>
            <a:ahLst/>
            <a:cxnLst/>
            <a:rect l="l" t="t" r="r" b="b"/>
            <a:pathLst>
              <a:path w="457200">
                <a:moveTo>
                  <a:pt x="0" y="0"/>
                </a:moveTo>
                <a:lnTo>
                  <a:pt x="457200" y="0"/>
                </a:lnTo>
              </a:path>
            </a:pathLst>
          </a:custGeom>
          <a:ln w="22225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3" name="object 23"/>
          <p:cNvGrpSpPr/>
          <p:nvPr/>
        </p:nvGrpSpPr>
        <p:grpSpPr>
          <a:xfrm>
            <a:off x="8199437" y="622300"/>
            <a:ext cx="479425" cy="392430"/>
            <a:chOff x="8199437" y="622300"/>
            <a:chExt cx="479425" cy="392430"/>
          </a:xfrm>
        </p:grpSpPr>
        <p:sp>
          <p:nvSpPr>
            <p:cNvPr id="24" name="object 24"/>
            <p:cNvSpPr/>
            <p:nvPr/>
          </p:nvSpPr>
          <p:spPr>
            <a:xfrm>
              <a:off x="8210550" y="633412"/>
              <a:ext cx="457200" cy="381000"/>
            </a:xfrm>
            <a:custGeom>
              <a:avLst/>
              <a:gdLst/>
              <a:ahLst/>
              <a:cxnLst/>
              <a:rect l="l" t="t" r="r" b="b"/>
              <a:pathLst>
                <a:path w="457200" h="381000">
                  <a:moveTo>
                    <a:pt x="0" y="0"/>
                  </a:moveTo>
                  <a:lnTo>
                    <a:pt x="0" y="381000"/>
                  </a:lnTo>
                </a:path>
                <a:path w="457200" h="381000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667750" y="633412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/>
          <p:nvPr/>
        </p:nvSpPr>
        <p:spPr>
          <a:xfrm>
            <a:off x="9124950" y="633412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22225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7" name="object 27"/>
          <p:cNvGrpSpPr/>
          <p:nvPr/>
        </p:nvGrpSpPr>
        <p:grpSpPr>
          <a:xfrm>
            <a:off x="2703512" y="622300"/>
            <a:ext cx="925830" cy="403225"/>
            <a:chOff x="2703512" y="622300"/>
            <a:chExt cx="925830" cy="403225"/>
          </a:xfrm>
        </p:grpSpPr>
        <p:sp>
          <p:nvSpPr>
            <p:cNvPr id="28" name="object 28"/>
            <p:cNvSpPr/>
            <p:nvPr/>
          </p:nvSpPr>
          <p:spPr>
            <a:xfrm>
              <a:off x="2714625" y="633412"/>
              <a:ext cx="457200" cy="381000"/>
            </a:xfrm>
            <a:custGeom>
              <a:avLst/>
              <a:gdLst/>
              <a:ahLst/>
              <a:cxnLst/>
              <a:rect l="l" t="t" r="r" b="b"/>
              <a:pathLst>
                <a:path w="457200" h="381000">
                  <a:moveTo>
                    <a:pt x="0" y="0"/>
                  </a:moveTo>
                  <a:lnTo>
                    <a:pt x="0" y="381000"/>
                  </a:lnTo>
                </a:path>
                <a:path w="457200" h="381000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171825" y="633412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171825" y="1014412"/>
              <a:ext cx="457200" cy="0"/>
            </a:xfrm>
            <a:custGeom>
              <a:avLst/>
              <a:gdLst/>
              <a:ahLst/>
              <a:cxnLst/>
              <a:rect l="l" t="t" r="r" b="b"/>
              <a:pathLst>
                <a:path w="457200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/>
          <p:nvPr/>
        </p:nvSpPr>
        <p:spPr>
          <a:xfrm>
            <a:off x="3629025" y="1238250"/>
            <a:ext cx="0" cy="4953000"/>
          </a:xfrm>
          <a:custGeom>
            <a:avLst/>
            <a:gdLst/>
            <a:ahLst/>
            <a:cxnLst/>
            <a:rect l="l" t="t" r="r" b="b"/>
            <a:pathLst>
              <a:path h="4953000">
                <a:moveTo>
                  <a:pt x="0" y="0"/>
                </a:moveTo>
                <a:lnTo>
                  <a:pt x="0" y="4953000"/>
                </a:lnTo>
              </a:path>
            </a:pathLst>
          </a:custGeom>
          <a:ln w="12700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457825" y="1238250"/>
            <a:ext cx="0" cy="4953000"/>
          </a:xfrm>
          <a:custGeom>
            <a:avLst/>
            <a:gdLst/>
            <a:ahLst/>
            <a:cxnLst/>
            <a:rect l="l" t="t" r="r" b="b"/>
            <a:pathLst>
              <a:path h="4953000">
                <a:moveTo>
                  <a:pt x="0" y="0"/>
                </a:moveTo>
                <a:lnTo>
                  <a:pt x="0" y="4953000"/>
                </a:lnTo>
              </a:path>
            </a:pathLst>
          </a:custGeom>
          <a:ln w="12700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543425" y="1238250"/>
            <a:ext cx="0" cy="4953000"/>
          </a:xfrm>
          <a:custGeom>
            <a:avLst/>
            <a:gdLst/>
            <a:ahLst/>
            <a:cxnLst/>
            <a:rect l="l" t="t" r="r" b="b"/>
            <a:pathLst>
              <a:path h="4953000">
                <a:moveTo>
                  <a:pt x="0" y="0"/>
                </a:moveTo>
                <a:lnTo>
                  <a:pt x="0" y="4953000"/>
                </a:lnTo>
              </a:path>
            </a:pathLst>
          </a:custGeom>
          <a:ln w="12700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286625" y="1238250"/>
            <a:ext cx="0" cy="4953000"/>
          </a:xfrm>
          <a:custGeom>
            <a:avLst/>
            <a:gdLst/>
            <a:ahLst/>
            <a:cxnLst/>
            <a:rect l="l" t="t" r="r" b="b"/>
            <a:pathLst>
              <a:path h="4953000">
                <a:moveTo>
                  <a:pt x="0" y="0"/>
                </a:moveTo>
                <a:lnTo>
                  <a:pt x="0" y="4953000"/>
                </a:lnTo>
              </a:path>
            </a:pathLst>
          </a:custGeom>
          <a:ln w="12700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372225" y="1238250"/>
            <a:ext cx="0" cy="4953000"/>
          </a:xfrm>
          <a:custGeom>
            <a:avLst/>
            <a:gdLst/>
            <a:ahLst/>
            <a:cxnLst/>
            <a:rect l="l" t="t" r="r" b="b"/>
            <a:pathLst>
              <a:path h="4953000">
                <a:moveTo>
                  <a:pt x="0" y="0"/>
                </a:moveTo>
                <a:lnTo>
                  <a:pt x="0" y="4953000"/>
                </a:lnTo>
              </a:path>
            </a:pathLst>
          </a:custGeom>
          <a:ln w="12700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9115425" y="1238250"/>
            <a:ext cx="0" cy="4953000"/>
          </a:xfrm>
          <a:custGeom>
            <a:avLst/>
            <a:gdLst/>
            <a:ahLst/>
            <a:cxnLst/>
            <a:rect l="l" t="t" r="r" b="b"/>
            <a:pathLst>
              <a:path h="4953000">
                <a:moveTo>
                  <a:pt x="0" y="0"/>
                </a:moveTo>
                <a:lnTo>
                  <a:pt x="0" y="4953000"/>
                </a:lnTo>
              </a:path>
            </a:pathLst>
          </a:custGeom>
          <a:ln w="12700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201025" y="1238250"/>
            <a:ext cx="0" cy="4953000"/>
          </a:xfrm>
          <a:custGeom>
            <a:avLst/>
            <a:gdLst/>
            <a:ahLst/>
            <a:cxnLst/>
            <a:rect l="l" t="t" r="r" b="b"/>
            <a:pathLst>
              <a:path h="4953000">
                <a:moveTo>
                  <a:pt x="0" y="0"/>
                </a:moveTo>
                <a:lnTo>
                  <a:pt x="0" y="4953000"/>
                </a:lnTo>
              </a:path>
            </a:pathLst>
          </a:custGeom>
          <a:ln w="12700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457825" y="2428875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0" y="0"/>
                </a:moveTo>
                <a:lnTo>
                  <a:pt x="914400" y="0"/>
                </a:lnTo>
              </a:path>
            </a:pathLst>
          </a:custGeom>
          <a:ln w="25400">
            <a:solidFill>
              <a:srgbClr val="00CC99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9" name="object 39"/>
          <p:cNvGrpSpPr/>
          <p:nvPr/>
        </p:nvGrpSpPr>
        <p:grpSpPr>
          <a:xfrm>
            <a:off x="2701925" y="2916237"/>
            <a:ext cx="3670300" cy="558800"/>
            <a:chOff x="2701925" y="2916237"/>
            <a:chExt cx="3670300" cy="558800"/>
          </a:xfrm>
        </p:grpSpPr>
        <p:sp>
          <p:nvSpPr>
            <p:cNvPr id="40" name="object 40"/>
            <p:cNvSpPr/>
            <p:nvPr/>
          </p:nvSpPr>
          <p:spPr>
            <a:xfrm>
              <a:off x="2867025" y="2928938"/>
              <a:ext cx="561975" cy="0"/>
            </a:xfrm>
            <a:custGeom>
              <a:avLst/>
              <a:gdLst/>
              <a:ahLst/>
              <a:cxnLst/>
              <a:rect l="l" t="t" r="r" b="b"/>
              <a:pathLst>
                <a:path w="561975">
                  <a:moveTo>
                    <a:pt x="0" y="0"/>
                  </a:moveTo>
                  <a:lnTo>
                    <a:pt x="561975" y="0"/>
                  </a:lnTo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419475" y="2928938"/>
              <a:ext cx="228600" cy="533400"/>
            </a:xfrm>
            <a:custGeom>
              <a:avLst/>
              <a:gdLst/>
              <a:ahLst/>
              <a:cxnLst/>
              <a:rect l="l" t="t" r="r" b="b"/>
              <a:pathLst>
                <a:path w="228600" h="533400">
                  <a:moveTo>
                    <a:pt x="0" y="0"/>
                  </a:moveTo>
                  <a:lnTo>
                    <a:pt x="228600" y="533400"/>
                  </a:lnTo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714625" y="2928937"/>
              <a:ext cx="152400" cy="533400"/>
            </a:xfrm>
            <a:custGeom>
              <a:avLst/>
              <a:gdLst/>
              <a:ahLst/>
              <a:cxnLst/>
              <a:rect l="l" t="t" r="r" b="b"/>
              <a:pathLst>
                <a:path w="152400" h="533400">
                  <a:moveTo>
                    <a:pt x="0" y="533400"/>
                  </a:moveTo>
                  <a:lnTo>
                    <a:pt x="152400" y="0"/>
                  </a:lnTo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629025" y="3462337"/>
              <a:ext cx="2743200" cy="0"/>
            </a:xfrm>
            <a:custGeom>
              <a:avLst/>
              <a:gdLst/>
              <a:ahLst/>
              <a:cxnLst/>
              <a:rect l="l" t="t" r="r" b="b"/>
              <a:pathLst>
                <a:path w="2743200">
                  <a:moveTo>
                    <a:pt x="0" y="0"/>
                  </a:moveTo>
                  <a:lnTo>
                    <a:pt x="2743200" y="0"/>
                  </a:lnTo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4" name="object 44"/>
          <p:cNvGrpSpPr/>
          <p:nvPr/>
        </p:nvGrpSpPr>
        <p:grpSpPr>
          <a:xfrm>
            <a:off x="6359525" y="2911475"/>
            <a:ext cx="2768600" cy="563880"/>
            <a:chOff x="6359525" y="2911475"/>
            <a:chExt cx="2768600" cy="563880"/>
          </a:xfrm>
        </p:grpSpPr>
        <p:sp>
          <p:nvSpPr>
            <p:cNvPr id="45" name="object 45"/>
            <p:cNvSpPr/>
            <p:nvPr/>
          </p:nvSpPr>
          <p:spPr>
            <a:xfrm>
              <a:off x="6524625" y="2924175"/>
              <a:ext cx="561975" cy="0"/>
            </a:xfrm>
            <a:custGeom>
              <a:avLst/>
              <a:gdLst/>
              <a:ahLst/>
              <a:cxnLst/>
              <a:rect l="l" t="t" r="r" b="b"/>
              <a:pathLst>
                <a:path w="561975">
                  <a:moveTo>
                    <a:pt x="0" y="0"/>
                  </a:moveTo>
                  <a:lnTo>
                    <a:pt x="561975" y="0"/>
                  </a:lnTo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077075" y="2924175"/>
              <a:ext cx="228600" cy="533400"/>
            </a:xfrm>
            <a:custGeom>
              <a:avLst/>
              <a:gdLst/>
              <a:ahLst/>
              <a:cxnLst/>
              <a:rect l="l" t="t" r="r" b="b"/>
              <a:pathLst>
                <a:path w="228600" h="533400">
                  <a:moveTo>
                    <a:pt x="0" y="0"/>
                  </a:moveTo>
                  <a:lnTo>
                    <a:pt x="228600" y="533400"/>
                  </a:lnTo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372225" y="2924175"/>
              <a:ext cx="152400" cy="533400"/>
            </a:xfrm>
            <a:custGeom>
              <a:avLst/>
              <a:gdLst/>
              <a:ahLst/>
              <a:cxnLst/>
              <a:rect l="l" t="t" r="r" b="b"/>
              <a:pathLst>
                <a:path w="152400" h="533400">
                  <a:moveTo>
                    <a:pt x="0" y="533400"/>
                  </a:moveTo>
                  <a:lnTo>
                    <a:pt x="152400" y="0"/>
                  </a:lnTo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286625" y="3457575"/>
              <a:ext cx="1828800" cy="5080"/>
            </a:xfrm>
            <a:custGeom>
              <a:avLst/>
              <a:gdLst/>
              <a:ahLst/>
              <a:cxnLst/>
              <a:rect l="l" t="t" r="r" b="b"/>
              <a:pathLst>
                <a:path w="1828800" h="5079">
                  <a:moveTo>
                    <a:pt x="0" y="0"/>
                  </a:moveTo>
                  <a:lnTo>
                    <a:pt x="1828800" y="4762"/>
                  </a:lnTo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9" name="object 49"/>
          <p:cNvGrpSpPr/>
          <p:nvPr/>
        </p:nvGrpSpPr>
        <p:grpSpPr>
          <a:xfrm>
            <a:off x="2700337" y="3794125"/>
            <a:ext cx="6416675" cy="560705"/>
            <a:chOff x="2700337" y="3794125"/>
            <a:chExt cx="6416675" cy="560705"/>
          </a:xfrm>
        </p:grpSpPr>
        <p:sp>
          <p:nvSpPr>
            <p:cNvPr id="50" name="object 50"/>
            <p:cNvSpPr/>
            <p:nvPr/>
          </p:nvSpPr>
          <p:spPr>
            <a:xfrm>
              <a:off x="2700337" y="3810000"/>
              <a:ext cx="914400" cy="0"/>
            </a:xfrm>
            <a:custGeom>
              <a:avLst/>
              <a:gdLst/>
              <a:ahLst/>
              <a:cxnLst/>
              <a:rect l="l" t="t" r="r" b="b"/>
              <a:pathLst>
                <a:path w="914400">
                  <a:moveTo>
                    <a:pt x="0" y="0"/>
                  </a:moveTo>
                  <a:lnTo>
                    <a:pt x="914400" y="0"/>
                  </a:lnTo>
                </a:path>
              </a:pathLst>
            </a:custGeom>
            <a:ln w="22225">
              <a:solidFill>
                <a:srgbClr val="8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614737" y="3810000"/>
              <a:ext cx="152400" cy="533400"/>
            </a:xfrm>
            <a:custGeom>
              <a:avLst/>
              <a:gdLst/>
              <a:ahLst/>
              <a:cxnLst/>
              <a:rect l="l" t="t" r="r" b="b"/>
              <a:pathLst>
                <a:path w="152400" h="533400">
                  <a:moveTo>
                    <a:pt x="0" y="0"/>
                  </a:moveTo>
                  <a:lnTo>
                    <a:pt x="152400" y="533400"/>
                  </a:lnTo>
                </a:path>
              </a:pathLst>
            </a:custGeom>
            <a:ln w="22225">
              <a:solidFill>
                <a:srgbClr val="8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767137" y="4343400"/>
              <a:ext cx="1524000" cy="0"/>
            </a:xfrm>
            <a:custGeom>
              <a:avLst/>
              <a:gdLst/>
              <a:ahLst/>
              <a:cxnLst/>
              <a:rect l="l" t="t" r="r" b="b"/>
              <a:pathLst>
                <a:path w="1524000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ln w="22225">
              <a:solidFill>
                <a:srgbClr val="8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291137" y="3810000"/>
              <a:ext cx="1981200" cy="533400"/>
            </a:xfrm>
            <a:custGeom>
              <a:avLst/>
              <a:gdLst/>
              <a:ahLst/>
              <a:cxnLst/>
              <a:rect l="l" t="t" r="r" b="b"/>
              <a:pathLst>
                <a:path w="1981200" h="533400">
                  <a:moveTo>
                    <a:pt x="152400" y="0"/>
                  </a:moveTo>
                  <a:lnTo>
                    <a:pt x="0" y="533400"/>
                  </a:lnTo>
                </a:path>
                <a:path w="1981200" h="533400">
                  <a:moveTo>
                    <a:pt x="152400" y="0"/>
                  </a:moveTo>
                  <a:lnTo>
                    <a:pt x="1981200" y="0"/>
                  </a:lnTo>
                </a:path>
              </a:pathLst>
            </a:custGeom>
            <a:ln w="22225">
              <a:solidFill>
                <a:srgbClr val="8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277100" y="3805237"/>
              <a:ext cx="152400" cy="533400"/>
            </a:xfrm>
            <a:custGeom>
              <a:avLst/>
              <a:gdLst/>
              <a:ahLst/>
              <a:cxnLst/>
              <a:rect l="l" t="t" r="r" b="b"/>
              <a:pathLst>
                <a:path w="152400" h="533400">
                  <a:moveTo>
                    <a:pt x="0" y="0"/>
                  </a:moveTo>
                  <a:lnTo>
                    <a:pt x="152400" y="533400"/>
                  </a:lnTo>
                </a:path>
              </a:pathLst>
            </a:custGeom>
            <a:ln w="22225">
              <a:solidFill>
                <a:srgbClr val="8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7429500" y="4338637"/>
              <a:ext cx="1524000" cy="0"/>
            </a:xfrm>
            <a:custGeom>
              <a:avLst/>
              <a:gdLst/>
              <a:ahLst/>
              <a:cxnLst/>
              <a:rect l="l" t="t" r="r" b="b"/>
              <a:pathLst>
                <a:path w="1524000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ln w="22225">
              <a:solidFill>
                <a:srgbClr val="8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8953500" y="3805237"/>
              <a:ext cx="152400" cy="533400"/>
            </a:xfrm>
            <a:custGeom>
              <a:avLst/>
              <a:gdLst/>
              <a:ahLst/>
              <a:cxnLst/>
              <a:rect l="l" t="t" r="r" b="b"/>
              <a:pathLst>
                <a:path w="152400" h="533400">
                  <a:moveTo>
                    <a:pt x="152400" y="0"/>
                  </a:moveTo>
                  <a:lnTo>
                    <a:pt x="0" y="533400"/>
                  </a:lnTo>
                </a:path>
              </a:pathLst>
            </a:custGeom>
            <a:ln w="22225">
              <a:solidFill>
                <a:srgbClr val="8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/>
          <p:nvPr/>
        </p:nvSpPr>
        <p:spPr>
          <a:xfrm>
            <a:off x="2714625" y="4586287"/>
            <a:ext cx="228600" cy="533400"/>
          </a:xfrm>
          <a:custGeom>
            <a:avLst/>
            <a:gdLst/>
            <a:ahLst/>
            <a:cxnLst/>
            <a:rect l="l" t="t" r="r" b="b"/>
            <a:pathLst>
              <a:path w="228600" h="533400">
                <a:moveTo>
                  <a:pt x="0" y="533400"/>
                </a:moveTo>
                <a:lnTo>
                  <a:pt x="228600" y="0"/>
                </a:lnTo>
              </a:path>
            </a:pathLst>
          </a:custGeom>
          <a:ln w="22225">
            <a:solidFill>
              <a:srgbClr val="9933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2670649" y="5257890"/>
            <a:ext cx="345440" cy="466725"/>
          </a:xfrm>
          <a:custGeom>
            <a:avLst/>
            <a:gdLst/>
            <a:ahLst/>
            <a:cxnLst/>
            <a:rect l="l" t="t" r="r" b="b"/>
            <a:pathLst>
              <a:path w="345439" h="466725">
                <a:moveTo>
                  <a:pt x="345122" y="466547"/>
                </a:moveTo>
                <a:lnTo>
                  <a:pt x="0" y="0"/>
                </a:lnTo>
              </a:path>
            </a:pathLst>
          </a:custGeom>
          <a:ln w="28575">
            <a:solidFill>
              <a:srgbClr val="9933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9" name="object 59"/>
          <p:cNvGrpSpPr/>
          <p:nvPr/>
        </p:nvGrpSpPr>
        <p:grpSpPr>
          <a:xfrm>
            <a:off x="2708275" y="1536700"/>
            <a:ext cx="6413500" cy="1003300"/>
            <a:chOff x="2708275" y="1536700"/>
            <a:chExt cx="6413500" cy="1003300"/>
          </a:xfrm>
        </p:grpSpPr>
        <p:sp>
          <p:nvSpPr>
            <p:cNvPr id="60" name="object 60"/>
            <p:cNvSpPr/>
            <p:nvPr/>
          </p:nvSpPr>
          <p:spPr>
            <a:xfrm>
              <a:off x="3629025" y="2200275"/>
              <a:ext cx="1828800" cy="333375"/>
            </a:xfrm>
            <a:custGeom>
              <a:avLst/>
              <a:gdLst/>
              <a:ahLst/>
              <a:cxnLst/>
              <a:rect l="l" t="t" r="r" b="b"/>
              <a:pathLst>
                <a:path w="1828800" h="333375">
                  <a:moveTo>
                    <a:pt x="1463040" y="0"/>
                  </a:moveTo>
                  <a:lnTo>
                    <a:pt x="365760" y="0"/>
                  </a:lnTo>
                  <a:lnTo>
                    <a:pt x="0" y="166687"/>
                  </a:lnTo>
                  <a:lnTo>
                    <a:pt x="365760" y="333375"/>
                  </a:lnTo>
                  <a:lnTo>
                    <a:pt x="1463040" y="333375"/>
                  </a:lnTo>
                  <a:lnTo>
                    <a:pt x="1828800" y="166687"/>
                  </a:lnTo>
                  <a:lnTo>
                    <a:pt x="1463040" y="0"/>
                  </a:lnTo>
                  <a:close/>
                </a:path>
              </a:pathLst>
            </a:custGeom>
            <a:solidFill>
              <a:srgbClr val="00CC99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629025" y="2200275"/>
              <a:ext cx="1828800" cy="333375"/>
            </a:xfrm>
            <a:custGeom>
              <a:avLst/>
              <a:gdLst/>
              <a:ahLst/>
              <a:cxnLst/>
              <a:rect l="l" t="t" r="r" b="b"/>
              <a:pathLst>
                <a:path w="1828800" h="333375">
                  <a:moveTo>
                    <a:pt x="0" y="166687"/>
                  </a:moveTo>
                  <a:lnTo>
                    <a:pt x="365760" y="0"/>
                  </a:lnTo>
                  <a:lnTo>
                    <a:pt x="1463040" y="0"/>
                  </a:lnTo>
                  <a:lnTo>
                    <a:pt x="1828800" y="166687"/>
                  </a:lnTo>
                  <a:lnTo>
                    <a:pt x="1463040" y="333375"/>
                  </a:lnTo>
                  <a:lnTo>
                    <a:pt x="365760" y="333375"/>
                  </a:lnTo>
                  <a:lnTo>
                    <a:pt x="0" y="16668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2714625" y="2200275"/>
              <a:ext cx="914400" cy="333375"/>
            </a:xfrm>
            <a:custGeom>
              <a:avLst/>
              <a:gdLst/>
              <a:ahLst/>
              <a:cxnLst/>
              <a:rect l="l" t="t" r="r" b="b"/>
              <a:pathLst>
                <a:path w="914400" h="333375">
                  <a:moveTo>
                    <a:pt x="731520" y="0"/>
                  </a:moveTo>
                  <a:lnTo>
                    <a:pt x="182880" y="0"/>
                  </a:lnTo>
                  <a:lnTo>
                    <a:pt x="0" y="166687"/>
                  </a:lnTo>
                  <a:lnTo>
                    <a:pt x="182880" y="333375"/>
                  </a:lnTo>
                  <a:lnTo>
                    <a:pt x="731520" y="333375"/>
                  </a:lnTo>
                  <a:lnTo>
                    <a:pt x="914400" y="166687"/>
                  </a:lnTo>
                  <a:lnTo>
                    <a:pt x="731520" y="0"/>
                  </a:lnTo>
                  <a:close/>
                </a:path>
              </a:pathLst>
            </a:custGeom>
            <a:solidFill>
              <a:srgbClr val="00CC99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2714625" y="2200275"/>
              <a:ext cx="914400" cy="333375"/>
            </a:xfrm>
            <a:custGeom>
              <a:avLst/>
              <a:gdLst/>
              <a:ahLst/>
              <a:cxnLst/>
              <a:rect l="l" t="t" r="r" b="b"/>
              <a:pathLst>
                <a:path w="914400" h="333375">
                  <a:moveTo>
                    <a:pt x="0" y="166687"/>
                  </a:moveTo>
                  <a:lnTo>
                    <a:pt x="182880" y="0"/>
                  </a:lnTo>
                  <a:lnTo>
                    <a:pt x="731520" y="0"/>
                  </a:lnTo>
                  <a:lnTo>
                    <a:pt x="914400" y="166687"/>
                  </a:lnTo>
                  <a:lnTo>
                    <a:pt x="731520" y="333375"/>
                  </a:lnTo>
                  <a:lnTo>
                    <a:pt x="182880" y="333375"/>
                  </a:lnTo>
                  <a:lnTo>
                    <a:pt x="0" y="16668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2714625" y="1543050"/>
              <a:ext cx="3657600" cy="333375"/>
            </a:xfrm>
            <a:custGeom>
              <a:avLst/>
              <a:gdLst/>
              <a:ahLst/>
              <a:cxnLst/>
              <a:rect l="l" t="t" r="r" b="b"/>
              <a:pathLst>
                <a:path w="3657600" h="333375">
                  <a:moveTo>
                    <a:pt x="2926080" y="0"/>
                  </a:moveTo>
                  <a:lnTo>
                    <a:pt x="731520" y="0"/>
                  </a:lnTo>
                  <a:lnTo>
                    <a:pt x="0" y="166687"/>
                  </a:lnTo>
                  <a:lnTo>
                    <a:pt x="731520" y="333375"/>
                  </a:lnTo>
                  <a:lnTo>
                    <a:pt x="2926080" y="333375"/>
                  </a:lnTo>
                  <a:lnTo>
                    <a:pt x="3657600" y="166687"/>
                  </a:lnTo>
                  <a:lnTo>
                    <a:pt x="2926080" y="0"/>
                  </a:lnTo>
                  <a:close/>
                </a:path>
              </a:pathLst>
            </a:custGeom>
            <a:solidFill>
              <a:srgbClr val="3366FF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2714625" y="1543050"/>
              <a:ext cx="3657600" cy="333375"/>
            </a:xfrm>
            <a:custGeom>
              <a:avLst/>
              <a:gdLst/>
              <a:ahLst/>
              <a:cxnLst/>
              <a:rect l="l" t="t" r="r" b="b"/>
              <a:pathLst>
                <a:path w="3657600" h="333375">
                  <a:moveTo>
                    <a:pt x="0" y="166687"/>
                  </a:moveTo>
                  <a:lnTo>
                    <a:pt x="731520" y="0"/>
                  </a:lnTo>
                  <a:lnTo>
                    <a:pt x="2926080" y="0"/>
                  </a:lnTo>
                  <a:lnTo>
                    <a:pt x="3657600" y="166687"/>
                  </a:lnTo>
                  <a:lnTo>
                    <a:pt x="2926080" y="333375"/>
                  </a:lnTo>
                  <a:lnTo>
                    <a:pt x="731520" y="333375"/>
                  </a:lnTo>
                  <a:lnTo>
                    <a:pt x="0" y="16668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372225" y="1543050"/>
              <a:ext cx="2743200" cy="333375"/>
            </a:xfrm>
            <a:custGeom>
              <a:avLst/>
              <a:gdLst/>
              <a:ahLst/>
              <a:cxnLst/>
              <a:rect l="l" t="t" r="r" b="b"/>
              <a:pathLst>
                <a:path w="2743200" h="333375">
                  <a:moveTo>
                    <a:pt x="2194560" y="0"/>
                  </a:moveTo>
                  <a:lnTo>
                    <a:pt x="548640" y="0"/>
                  </a:lnTo>
                  <a:lnTo>
                    <a:pt x="0" y="166687"/>
                  </a:lnTo>
                  <a:lnTo>
                    <a:pt x="548640" y="333375"/>
                  </a:lnTo>
                  <a:lnTo>
                    <a:pt x="2194560" y="333375"/>
                  </a:lnTo>
                  <a:lnTo>
                    <a:pt x="2743200" y="166687"/>
                  </a:lnTo>
                  <a:lnTo>
                    <a:pt x="2194560" y="0"/>
                  </a:lnTo>
                  <a:close/>
                </a:path>
              </a:pathLst>
            </a:custGeom>
            <a:solidFill>
              <a:srgbClr val="3366FF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372225" y="1543050"/>
              <a:ext cx="2743200" cy="333375"/>
            </a:xfrm>
            <a:custGeom>
              <a:avLst/>
              <a:gdLst/>
              <a:ahLst/>
              <a:cxnLst/>
              <a:rect l="l" t="t" r="r" b="b"/>
              <a:pathLst>
                <a:path w="2743200" h="333375">
                  <a:moveTo>
                    <a:pt x="0" y="166687"/>
                  </a:moveTo>
                  <a:lnTo>
                    <a:pt x="548640" y="0"/>
                  </a:lnTo>
                  <a:lnTo>
                    <a:pt x="2194560" y="0"/>
                  </a:lnTo>
                  <a:lnTo>
                    <a:pt x="2743200" y="166687"/>
                  </a:lnTo>
                  <a:lnTo>
                    <a:pt x="2194560" y="333375"/>
                  </a:lnTo>
                  <a:lnTo>
                    <a:pt x="548640" y="333375"/>
                  </a:lnTo>
                  <a:lnTo>
                    <a:pt x="0" y="16668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8" name="object 68"/>
          <p:cNvGrpSpPr/>
          <p:nvPr/>
        </p:nvGrpSpPr>
        <p:grpSpPr>
          <a:xfrm>
            <a:off x="6365875" y="2222500"/>
            <a:ext cx="927100" cy="346075"/>
            <a:chOff x="6365875" y="2222500"/>
            <a:chExt cx="927100" cy="346075"/>
          </a:xfrm>
        </p:grpSpPr>
        <p:sp>
          <p:nvSpPr>
            <p:cNvPr id="69" name="object 69"/>
            <p:cNvSpPr/>
            <p:nvPr/>
          </p:nvSpPr>
          <p:spPr>
            <a:xfrm>
              <a:off x="6372225" y="2228850"/>
              <a:ext cx="914400" cy="333375"/>
            </a:xfrm>
            <a:custGeom>
              <a:avLst/>
              <a:gdLst/>
              <a:ahLst/>
              <a:cxnLst/>
              <a:rect l="l" t="t" r="r" b="b"/>
              <a:pathLst>
                <a:path w="914400" h="333375">
                  <a:moveTo>
                    <a:pt x="731520" y="0"/>
                  </a:moveTo>
                  <a:lnTo>
                    <a:pt x="182880" y="0"/>
                  </a:lnTo>
                  <a:lnTo>
                    <a:pt x="0" y="166687"/>
                  </a:lnTo>
                  <a:lnTo>
                    <a:pt x="182880" y="333375"/>
                  </a:lnTo>
                  <a:lnTo>
                    <a:pt x="731520" y="333375"/>
                  </a:lnTo>
                  <a:lnTo>
                    <a:pt x="914400" y="166687"/>
                  </a:lnTo>
                  <a:lnTo>
                    <a:pt x="731520" y="0"/>
                  </a:lnTo>
                  <a:close/>
                </a:path>
              </a:pathLst>
            </a:custGeom>
            <a:solidFill>
              <a:srgbClr val="00CC99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6372225" y="2228850"/>
              <a:ext cx="914400" cy="333375"/>
            </a:xfrm>
            <a:custGeom>
              <a:avLst/>
              <a:gdLst/>
              <a:ahLst/>
              <a:cxnLst/>
              <a:rect l="l" t="t" r="r" b="b"/>
              <a:pathLst>
                <a:path w="914400" h="333375">
                  <a:moveTo>
                    <a:pt x="0" y="166687"/>
                  </a:moveTo>
                  <a:lnTo>
                    <a:pt x="182880" y="0"/>
                  </a:lnTo>
                  <a:lnTo>
                    <a:pt x="731520" y="0"/>
                  </a:lnTo>
                  <a:lnTo>
                    <a:pt x="914400" y="166687"/>
                  </a:lnTo>
                  <a:lnTo>
                    <a:pt x="731520" y="333375"/>
                  </a:lnTo>
                  <a:lnTo>
                    <a:pt x="182880" y="333375"/>
                  </a:lnTo>
                  <a:lnTo>
                    <a:pt x="0" y="16668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6677596" y="2270061"/>
            <a:ext cx="30289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5" dirty="0">
                <a:latin typeface="Times New Roman"/>
                <a:cs typeface="Times New Roman"/>
              </a:rPr>
              <a:t>01h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7280275" y="2222500"/>
            <a:ext cx="1841500" cy="346075"/>
            <a:chOff x="7280275" y="2222500"/>
            <a:chExt cx="1841500" cy="346075"/>
          </a:xfrm>
        </p:grpSpPr>
        <p:sp>
          <p:nvSpPr>
            <p:cNvPr id="73" name="object 73"/>
            <p:cNvSpPr/>
            <p:nvPr/>
          </p:nvSpPr>
          <p:spPr>
            <a:xfrm>
              <a:off x="7286625" y="2228850"/>
              <a:ext cx="1828800" cy="333375"/>
            </a:xfrm>
            <a:custGeom>
              <a:avLst/>
              <a:gdLst/>
              <a:ahLst/>
              <a:cxnLst/>
              <a:rect l="l" t="t" r="r" b="b"/>
              <a:pathLst>
                <a:path w="1828800" h="333375">
                  <a:moveTo>
                    <a:pt x="1463040" y="0"/>
                  </a:moveTo>
                  <a:lnTo>
                    <a:pt x="365760" y="0"/>
                  </a:lnTo>
                  <a:lnTo>
                    <a:pt x="0" y="166687"/>
                  </a:lnTo>
                  <a:lnTo>
                    <a:pt x="365760" y="333375"/>
                  </a:lnTo>
                  <a:lnTo>
                    <a:pt x="1463040" y="333375"/>
                  </a:lnTo>
                  <a:lnTo>
                    <a:pt x="1828800" y="166687"/>
                  </a:lnTo>
                  <a:lnTo>
                    <a:pt x="1463040" y="0"/>
                  </a:lnTo>
                  <a:close/>
                </a:path>
              </a:pathLst>
            </a:custGeom>
            <a:solidFill>
              <a:srgbClr val="00CC99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7286625" y="2228850"/>
              <a:ext cx="1828800" cy="333375"/>
            </a:xfrm>
            <a:custGeom>
              <a:avLst/>
              <a:gdLst/>
              <a:ahLst/>
              <a:cxnLst/>
              <a:rect l="l" t="t" r="r" b="b"/>
              <a:pathLst>
                <a:path w="1828800" h="333375">
                  <a:moveTo>
                    <a:pt x="0" y="166687"/>
                  </a:moveTo>
                  <a:lnTo>
                    <a:pt x="365760" y="0"/>
                  </a:lnTo>
                  <a:lnTo>
                    <a:pt x="1463040" y="0"/>
                  </a:lnTo>
                  <a:lnTo>
                    <a:pt x="1828800" y="166687"/>
                  </a:lnTo>
                  <a:lnTo>
                    <a:pt x="1463040" y="333375"/>
                  </a:lnTo>
                  <a:lnTo>
                    <a:pt x="365760" y="333375"/>
                  </a:lnTo>
                  <a:lnTo>
                    <a:pt x="0" y="16668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5" name="object 75"/>
          <p:cNvSpPr txBox="1"/>
          <p:nvPr/>
        </p:nvSpPr>
        <p:spPr>
          <a:xfrm>
            <a:off x="8049641" y="2270061"/>
            <a:ext cx="30289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5" dirty="0">
                <a:latin typeface="Times New Roman"/>
                <a:cs typeface="Times New Roman"/>
              </a:rPr>
              <a:t>45h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7572978" y="1584261"/>
            <a:ext cx="3416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latin typeface="Times New Roman"/>
                <a:cs typeface="Times New Roman"/>
              </a:rPr>
              <a:t>A</a:t>
            </a:r>
            <a:r>
              <a:rPr sz="1400" b="1" spc="-5" dirty="0">
                <a:latin typeface="Times New Roman"/>
                <a:cs typeface="Times New Roman"/>
              </a:rPr>
              <a:t>0h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2793364" y="1854961"/>
            <a:ext cx="3539490" cy="937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A</a:t>
            </a:r>
            <a:r>
              <a:rPr sz="800" b="1" spc="-5" dirty="0">
                <a:solidFill>
                  <a:srgbClr val="800000"/>
                </a:solidFill>
                <a:latin typeface="Times New Roman"/>
                <a:cs typeface="Times New Roman"/>
              </a:rPr>
              <a:t>15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-</a:t>
            </a:r>
            <a:r>
              <a:rPr sz="1600" b="1" spc="-100" dirty="0">
                <a:solidFill>
                  <a:srgbClr val="80000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A</a:t>
            </a:r>
            <a:r>
              <a:rPr sz="800" b="1" spc="-5" dirty="0">
                <a:solidFill>
                  <a:srgbClr val="800000"/>
                </a:solidFill>
                <a:latin typeface="Times New Roman"/>
                <a:cs typeface="Times New Roman"/>
              </a:rPr>
              <a:t>8</a:t>
            </a:r>
            <a:r>
              <a:rPr sz="800" b="1" spc="-15" dirty="0">
                <a:solidFill>
                  <a:srgbClr val="80000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(H</a:t>
            </a:r>
            <a:r>
              <a:rPr sz="1600" b="1" spc="-5" dirty="0">
                <a:solidFill>
                  <a:srgbClr val="800000"/>
                </a:solidFill>
                <a:latin typeface="Times New Roman"/>
                <a:cs typeface="Times New Roman"/>
              </a:rPr>
              <a:t>i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g</a:t>
            </a:r>
            <a:r>
              <a:rPr sz="1600" b="1" spc="-5" dirty="0">
                <a:solidFill>
                  <a:srgbClr val="800000"/>
                </a:solidFill>
                <a:latin typeface="Times New Roman"/>
                <a:cs typeface="Times New Roman"/>
              </a:rPr>
              <a:t>h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er</a:t>
            </a:r>
            <a:r>
              <a:rPr sz="1600" b="1" spc="-20" dirty="0">
                <a:solidFill>
                  <a:srgbClr val="80000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Or</a:t>
            </a:r>
            <a:r>
              <a:rPr sz="1600" b="1" spc="-5" dirty="0">
                <a:solidFill>
                  <a:srgbClr val="800000"/>
                </a:solidFill>
                <a:latin typeface="Times New Roman"/>
                <a:cs typeface="Times New Roman"/>
              </a:rPr>
              <a:t>d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er</a:t>
            </a:r>
            <a:r>
              <a:rPr sz="1600" b="1" spc="-125" dirty="0">
                <a:solidFill>
                  <a:srgbClr val="80000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A</a:t>
            </a:r>
            <a:r>
              <a:rPr sz="1600" b="1" spc="-5" dirty="0">
                <a:solidFill>
                  <a:srgbClr val="800000"/>
                </a:solidFill>
                <a:latin typeface="Times New Roman"/>
                <a:cs typeface="Times New Roman"/>
              </a:rPr>
              <a:t>dd</a:t>
            </a:r>
            <a:r>
              <a:rPr sz="1600" b="1" spc="-30" dirty="0">
                <a:solidFill>
                  <a:srgbClr val="800000"/>
                </a:solidFill>
                <a:latin typeface="Times New Roman"/>
                <a:cs typeface="Times New Roman"/>
              </a:rPr>
              <a:t>r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ess</a:t>
            </a:r>
            <a:r>
              <a:rPr sz="1600" b="1" spc="-10" dirty="0">
                <a:solidFill>
                  <a:srgbClr val="800000"/>
                </a:solidFill>
                <a:latin typeface="Times New Roman"/>
                <a:cs typeface="Times New Roman"/>
              </a:rPr>
              <a:t> </a:t>
            </a:r>
            <a:r>
              <a:rPr sz="1600" b="1" spc="-5" dirty="0">
                <a:solidFill>
                  <a:srgbClr val="800000"/>
                </a:solidFill>
                <a:latin typeface="Times New Roman"/>
                <a:cs typeface="Times New Roman"/>
              </a:rPr>
              <a:t>bu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s)</a:t>
            </a:r>
            <a:endParaRPr sz="1600" dirty="0">
              <a:latin typeface="Times New Roman"/>
              <a:cs typeface="Times New Roman"/>
            </a:endParaRPr>
          </a:p>
          <a:p>
            <a:pPr marL="238760">
              <a:lnSpc>
                <a:spcPct val="100000"/>
              </a:lnSpc>
              <a:spcBef>
                <a:spcPts val="1120"/>
              </a:spcBef>
              <a:tabLst>
                <a:tab pos="1596390" algn="l"/>
              </a:tabLst>
            </a:pPr>
            <a:r>
              <a:rPr sz="1400" b="1" spc="-5" dirty="0">
                <a:latin typeface="Times New Roman"/>
                <a:cs typeface="Times New Roman"/>
              </a:rPr>
              <a:t>00h	3Eh</a:t>
            </a: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400" b="1" spc="-10" dirty="0">
                <a:solidFill>
                  <a:srgbClr val="800000"/>
                </a:solidFill>
                <a:latin typeface="Times New Roman"/>
                <a:cs typeface="Times New Roman"/>
              </a:rPr>
              <a:t>DA</a:t>
            </a:r>
            <a:r>
              <a:rPr sz="800" b="1" spc="-5" dirty="0">
                <a:solidFill>
                  <a:srgbClr val="800000"/>
                </a:solidFill>
                <a:latin typeface="Times New Roman"/>
                <a:cs typeface="Times New Roman"/>
              </a:rPr>
              <a:t>7</a:t>
            </a:r>
            <a:r>
              <a:rPr sz="1800" b="1" dirty="0">
                <a:solidFill>
                  <a:srgbClr val="800000"/>
                </a:solidFill>
                <a:latin typeface="Times New Roman"/>
                <a:cs typeface="Times New Roman"/>
              </a:rPr>
              <a:t>-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DA</a:t>
            </a:r>
            <a:r>
              <a:rPr sz="800" b="1" spc="-5" dirty="0">
                <a:solidFill>
                  <a:srgbClr val="800000"/>
                </a:solidFill>
                <a:latin typeface="Times New Roman"/>
                <a:cs typeface="Times New Roman"/>
              </a:rPr>
              <a:t>0</a:t>
            </a:r>
            <a:r>
              <a:rPr sz="800" b="1" spc="-15" dirty="0">
                <a:solidFill>
                  <a:srgbClr val="80000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(Lower</a:t>
            </a:r>
            <a:r>
              <a:rPr sz="1600" b="1" spc="-45" dirty="0">
                <a:solidFill>
                  <a:srgbClr val="80000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or</a:t>
            </a:r>
            <a:r>
              <a:rPr sz="1600" b="1" spc="-5" dirty="0">
                <a:solidFill>
                  <a:srgbClr val="800000"/>
                </a:solidFill>
                <a:latin typeface="Times New Roman"/>
                <a:cs typeface="Times New Roman"/>
              </a:rPr>
              <a:t>d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er</a:t>
            </a:r>
            <a:r>
              <a:rPr sz="1600" b="1" spc="-40" dirty="0">
                <a:solidFill>
                  <a:srgbClr val="80000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a</a:t>
            </a:r>
            <a:r>
              <a:rPr sz="1600" b="1" spc="-5" dirty="0">
                <a:solidFill>
                  <a:srgbClr val="800000"/>
                </a:solidFill>
                <a:latin typeface="Times New Roman"/>
                <a:cs typeface="Times New Roman"/>
              </a:rPr>
              <a:t>dd</a:t>
            </a:r>
            <a:r>
              <a:rPr sz="1600" b="1" spc="-30" dirty="0">
                <a:solidFill>
                  <a:srgbClr val="800000"/>
                </a:solidFill>
                <a:latin typeface="Times New Roman"/>
                <a:cs typeface="Times New Roman"/>
              </a:rPr>
              <a:t>r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ess</a:t>
            </a:r>
            <a:r>
              <a:rPr sz="1600" b="1" spc="-5" dirty="0">
                <a:solidFill>
                  <a:srgbClr val="800000"/>
                </a:solidFill>
                <a:latin typeface="Times New Roman"/>
                <a:cs typeface="Times New Roman"/>
              </a:rPr>
              <a:t>/d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ata</a:t>
            </a:r>
            <a:r>
              <a:rPr sz="1600" b="1" spc="-5" dirty="0">
                <a:solidFill>
                  <a:srgbClr val="80000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B</a:t>
            </a:r>
            <a:r>
              <a:rPr sz="1600" b="1" spc="-5" dirty="0">
                <a:solidFill>
                  <a:srgbClr val="800000"/>
                </a:solidFill>
                <a:latin typeface="Times New Roman"/>
                <a:cs typeface="Times New Roman"/>
              </a:rPr>
              <a:t>u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s)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2793289" y="3436115"/>
            <a:ext cx="44450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ALE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2915565" y="3974251"/>
            <a:ext cx="32004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RD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2928937" y="4005262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600" y="0"/>
                </a:lnTo>
              </a:path>
            </a:pathLst>
          </a:custGeom>
          <a:ln w="12700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 txBox="1"/>
          <p:nvPr/>
        </p:nvSpPr>
        <p:spPr>
          <a:xfrm>
            <a:off x="2898139" y="4874386"/>
            <a:ext cx="37592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WR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2" name="object 82"/>
          <p:cNvSpPr/>
          <p:nvPr/>
        </p:nvSpPr>
        <p:spPr>
          <a:xfrm>
            <a:off x="2924175" y="4900612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600" y="0"/>
                </a:lnTo>
              </a:path>
            </a:pathLst>
          </a:custGeom>
          <a:ln w="12700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 txBox="1"/>
          <p:nvPr/>
        </p:nvSpPr>
        <p:spPr>
          <a:xfrm>
            <a:off x="2842577" y="5804661"/>
            <a:ext cx="511809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IO</a:t>
            </a:r>
            <a:r>
              <a:rPr sz="1600" b="1" spc="-5" dirty="0">
                <a:solidFill>
                  <a:srgbClr val="800000"/>
                </a:solidFill>
                <a:latin typeface="Times New Roman"/>
                <a:cs typeface="Times New Roman"/>
              </a:rPr>
              <a:t>/M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2973387" y="5840413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600" y="0"/>
                </a:lnTo>
              </a:path>
            </a:pathLst>
          </a:custGeom>
          <a:ln w="12700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2943225" y="4586287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22225">
            <a:solidFill>
              <a:srgbClr val="9933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2971800" y="571500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22225">
            <a:solidFill>
              <a:srgbClr val="9933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2700337" y="1143000"/>
            <a:ext cx="0" cy="5181600"/>
          </a:xfrm>
          <a:custGeom>
            <a:avLst/>
            <a:gdLst/>
            <a:ahLst/>
            <a:cxnLst/>
            <a:rect l="l" t="t" r="r" b="b"/>
            <a:pathLst>
              <a:path h="5181600">
                <a:moveTo>
                  <a:pt x="0" y="0"/>
                </a:moveTo>
                <a:lnTo>
                  <a:pt x="0" y="5181600"/>
                </a:lnTo>
              </a:path>
            </a:pathLst>
          </a:custGeom>
          <a:ln w="15875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 txBox="1"/>
          <p:nvPr/>
        </p:nvSpPr>
        <p:spPr>
          <a:xfrm>
            <a:off x="3264852" y="6350000"/>
            <a:ext cx="2118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Times New Roman"/>
                <a:cs typeface="Times New Roman"/>
              </a:rPr>
              <a:t>Op-Code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Fetch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Cycle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6830326" y="6311823"/>
            <a:ext cx="20307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Times New Roman"/>
                <a:cs typeface="Times New Roman"/>
              </a:rPr>
              <a:t>Memory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Read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Cycle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90" name="object 90"/>
          <p:cNvGrpSpPr/>
          <p:nvPr/>
        </p:nvGrpSpPr>
        <p:grpSpPr>
          <a:xfrm>
            <a:off x="2728915" y="6286496"/>
            <a:ext cx="6400800" cy="76200"/>
            <a:chOff x="2728915" y="6286496"/>
            <a:chExt cx="6400800" cy="76200"/>
          </a:xfrm>
        </p:grpSpPr>
        <p:sp>
          <p:nvSpPr>
            <p:cNvPr id="91" name="object 91"/>
            <p:cNvSpPr/>
            <p:nvPr/>
          </p:nvSpPr>
          <p:spPr>
            <a:xfrm>
              <a:off x="2792412" y="6324599"/>
              <a:ext cx="3530600" cy="0"/>
            </a:xfrm>
            <a:custGeom>
              <a:avLst/>
              <a:gdLst/>
              <a:ahLst/>
              <a:cxnLst/>
              <a:rect l="l" t="t" r="r" b="b"/>
              <a:pathLst>
                <a:path w="3530600">
                  <a:moveTo>
                    <a:pt x="0" y="0"/>
                  </a:moveTo>
                  <a:lnTo>
                    <a:pt x="3530600" y="0"/>
                  </a:lnTo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2728912" y="6286499"/>
              <a:ext cx="3657600" cy="76200"/>
            </a:xfrm>
            <a:custGeom>
              <a:avLst/>
              <a:gdLst/>
              <a:ahLst/>
              <a:cxnLst/>
              <a:rect l="l" t="t" r="r" b="b"/>
              <a:pathLst>
                <a:path w="36576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  <a:path w="3657600" h="76200">
                  <a:moveTo>
                    <a:pt x="3657600" y="38100"/>
                  </a:moveTo>
                  <a:lnTo>
                    <a:pt x="3581400" y="0"/>
                  </a:lnTo>
                  <a:lnTo>
                    <a:pt x="3581400" y="76200"/>
                  </a:lnTo>
                  <a:lnTo>
                    <a:pt x="3657600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6450013" y="6324599"/>
              <a:ext cx="2616200" cy="0"/>
            </a:xfrm>
            <a:custGeom>
              <a:avLst/>
              <a:gdLst/>
              <a:ahLst/>
              <a:cxnLst/>
              <a:rect l="l" t="t" r="r" b="b"/>
              <a:pathLst>
                <a:path w="2616200">
                  <a:moveTo>
                    <a:pt x="0" y="0"/>
                  </a:moveTo>
                  <a:lnTo>
                    <a:pt x="2616200" y="0"/>
                  </a:lnTo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6386512" y="6286499"/>
              <a:ext cx="2743200" cy="76200"/>
            </a:xfrm>
            <a:custGeom>
              <a:avLst/>
              <a:gdLst/>
              <a:ahLst/>
              <a:cxnLst/>
              <a:rect l="l" t="t" r="r" b="b"/>
              <a:pathLst>
                <a:path w="27432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  <a:path w="2743200" h="76200">
                  <a:moveTo>
                    <a:pt x="2743200" y="38100"/>
                  </a:moveTo>
                  <a:lnTo>
                    <a:pt x="2667000" y="0"/>
                  </a:lnTo>
                  <a:lnTo>
                    <a:pt x="2667000" y="76200"/>
                  </a:lnTo>
                  <a:lnTo>
                    <a:pt x="2743200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5" name="object 95"/>
          <p:cNvSpPr txBox="1"/>
          <p:nvPr/>
        </p:nvSpPr>
        <p:spPr>
          <a:xfrm>
            <a:off x="2950527" y="1171448"/>
            <a:ext cx="1670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T1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3757445" y="1171448"/>
            <a:ext cx="1670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T2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4724448" y="1171448"/>
            <a:ext cx="1670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T3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5659383" y="1171448"/>
            <a:ext cx="1670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T4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6563141" y="1171448"/>
            <a:ext cx="1670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T5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7466135" y="1171448"/>
            <a:ext cx="1670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T6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8369893" y="1171448"/>
            <a:ext cx="1670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T7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4391977" y="1562036"/>
            <a:ext cx="3416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latin typeface="Times New Roman"/>
                <a:cs typeface="Times New Roman"/>
              </a:rPr>
              <a:t>A</a:t>
            </a:r>
            <a:r>
              <a:rPr sz="1400" b="1" spc="-5" dirty="0">
                <a:latin typeface="Times New Roman"/>
                <a:cs typeface="Times New Roman"/>
              </a:rPr>
              <a:t>0h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78739" y="2615083"/>
            <a:ext cx="2415540" cy="139763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000" spc="-5" dirty="0">
                <a:latin typeface="Times New Roman"/>
                <a:cs typeface="Times New Roman"/>
              </a:rPr>
              <a:t>Instruction: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  <a:tabLst>
                <a:tab pos="927100" algn="l"/>
              </a:tabLst>
            </a:pPr>
            <a:r>
              <a:rPr sz="2000" spc="-1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00</a:t>
            </a:r>
            <a:r>
              <a:rPr sz="2000" dirty="0">
                <a:latin typeface="Times New Roman"/>
                <a:cs typeface="Times New Roman"/>
              </a:rPr>
              <a:t>0</a:t>
            </a:r>
            <a:r>
              <a:rPr sz="2000" spc="-5" dirty="0">
                <a:latin typeface="Times New Roman"/>
                <a:cs typeface="Times New Roman"/>
              </a:rPr>
              <a:t>h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5" dirty="0">
                <a:latin typeface="Times New Roman"/>
                <a:cs typeface="Times New Roman"/>
              </a:rPr>
              <a:t>M</a:t>
            </a:r>
            <a:r>
              <a:rPr sz="2000" spc="-10" dirty="0">
                <a:latin typeface="Times New Roman"/>
                <a:cs typeface="Times New Roman"/>
              </a:rPr>
              <a:t>V</a:t>
            </a:r>
            <a:r>
              <a:rPr sz="2000" spc="-5" dirty="0">
                <a:latin typeface="Times New Roman"/>
                <a:cs typeface="Times New Roman"/>
              </a:rPr>
              <a:t>I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A,</a:t>
            </a:r>
            <a:r>
              <a:rPr sz="2000" spc="-5" dirty="0">
                <a:latin typeface="Times New Roman"/>
                <a:cs typeface="Times New Roman"/>
              </a:rPr>
              <a:t>45h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spc="-5" dirty="0">
                <a:latin typeface="Times New Roman"/>
                <a:cs typeface="Times New Roman"/>
              </a:rPr>
              <a:t>Corresponding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Coding: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78739" y="3986833"/>
            <a:ext cx="71755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2000" spc="-1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00</a:t>
            </a:r>
            <a:r>
              <a:rPr sz="2000" dirty="0">
                <a:latin typeface="Times New Roman"/>
                <a:cs typeface="Times New Roman"/>
              </a:rPr>
              <a:t>0</a:t>
            </a:r>
            <a:r>
              <a:rPr sz="2000" spc="-5" dirty="0">
                <a:latin typeface="Times New Roman"/>
                <a:cs typeface="Times New Roman"/>
              </a:rPr>
              <a:t>h  </a:t>
            </a:r>
            <a:r>
              <a:rPr sz="2000" spc="-1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00</a:t>
            </a:r>
            <a:r>
              <a:rPr sz="2000" dirty="0">
                <a:latin typeface="Times New Roman"/>
                <a:cs typeface="Times New Roman"/>
              </a:rPr>
              <a:t>1</a:t>
            </a:r>
            <a:r>
              <a:rPr sz="2000" spc="-5" dirty="0">
                <a:latin typeface="Times New Roman"/>
                <a:cs typeface="Times New Roman"/>
              </a:rPr>
              <a:t>h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1907741" y="3986833"/>
            <a:ext cx="307975" cy="94043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000" spc="-5" dirty="0">
                <a:latin typeface="Times New Roman"/>
                <a:cs typeface="Times New Roman"/>
              </a:rPr>
              <a:t>3E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spc="-5" dirty="0">
                <a:latin typeface="Times New Roman"/>
                <a:cs typeface="Times New Roman"/>
              </a:rPr>
              <a:t>45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6" name="object 106"/>
          <p:cNvSpPr txBox="1">
            <a:spLocks noGrp="1"/>
          </p:cNvSpPr>
          <p:nvPr>
            <p:ph type="title"/>
          </p:nvPr>
        </p:nvSpPr>
        <p:spPr>
          <a:xfrm>
            <a:off x="257550" y="836"/>
            <a:ext cx="3487536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b="1" i="1" u="heavy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Timing</a:t>
            </a:r>
            <a:r>
              <a:rPr sz="3600" b="1" i="1" u="heavy" spc="-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i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Diagram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9740" y="830072"/>
            <a:ext cx="3563620" cy="167132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2400" spc="-5" dirty="0">
                <a:latin typeface="Times New Roman"/>
                <a:cs typeface="Times New Roman"/>
              </a:rPr>
              <a:t>Instruction: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  <a:tabLst>
                <a:tab pos="1840864" algn="l"/>
              </a:tabLst>
            </a:pPr>
            <a:r>
              <a:rPr sz="2400" spc="-5" dirty="0">
                <a:latin typeface="Times New Roman"/>
                <a:cs typeface="Times New Roman"/>
              </a:rPr>
              <a:t>A000h	LXI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A,</a:t>
            </a:r>
            <a:r>
              <a:rPr sz="2400" spc="-10" dirty="0">
                <a:latin typeface="Times New Roman"/>
                <a:cs typeface="Times New Roman"/>
              </a:rPr>
              <a:t>F</a:t>
            </a:r>
            <a:r>
              <a:rPr sz="2400" spc="-5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45h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spc="-5" dirty="0">
                <a:latin typeface="Times New Roman"/>
                <a:cs typeface="Times New Roman"/>
              </a:rPr>
              <a:t>Corresponding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Coding: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9740" y="2475991"/>
            <a:ext cx="855344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A000h  A001h  A002h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88539" y="2475991"/>
            <a:ext cx="347345" cy="167132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2400" dirty="0">
                <a:latin typeface="Times New Roman"/>
                <a:cs typeface="Times New Roman"/>
              </a:rPr>
              <a:t>21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latin typeface="Times New Roman"/>
                <a:cs typeface="Times New Roman"/>
              </a:rPr>
              <a:t>45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spc="-10" dirty="0">
                <a:latin typeface="Times New Roman"/>
                <a:cs typeface="Times New Roman"/>
              </a:rPr>
              <a:t>F</a:t>
            </a:r>
            <a:r>
              <a:rPr sz="2400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636678" y="204469"/>
            <a:ext cx="3872229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i="1" u="heavy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Timing</a:t>
            </a:r>
            <a:r>
              <a:rPr b="1" i="1" u="heavy" spc="-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b="1" i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Diagram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9740" y="830072"/>
            <a:ext cx="3563620" cy="167132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2400" spc="-5" dirty="0">
                <a:latin typeface="Times New Roman"/>
                <a:cs typeface="Times New Roman"/>
              </a:rPr>
              <a:t>Instruction: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  <a:tabLst>
                <a:tab pos="1840864" algn="l"/>
              </a:tabLst>
            </a:pPr>
            <a:r>
              <a:rPr sz="2400" spc="-5" dirty="0">
                <a:latin typeface="Times New Roman"/>
                <a:cs typeface="Times New Roman"/>
              </a:rPr>
              <a:t>A000h	LXI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A,</a:t>
            </a:r>
            <a:r>
              <a:rPr sz="2400" spc="-10" dirty="0">
                <a:latin typeface="Times New Roman"/>
                <a:cs typeface="Times New Roman"/>
              </a:rPr>
              <a:t>F</a:t>
            </a:r>
            <a:r>
              <a:rPr sz="2400" spc="-5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45h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spc="-5" dirty="0">
                <a:latin typeface="Times New Roman"/>
                <a:cs typeface="Times New Roman"/>
              </a:rPr>
              <a:t>Corresponding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Coding: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9740" y="2475991"/>
            <a:ext cx="855344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A000h  A001h  A002h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88539" y="2475991"/>
            <a:ext cx="347345" cy="167132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2400" dirty="0">
                <a:latin typeface="Times New Roman"/>
                <a:cs typeface="Times New Roman"/>
              </a:rPr>
              <a:t>21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latin typeface="Times New Roman"/>
                <a:cs typeface="Times New Roman"/>
              </a:rPr>
              <a:t>45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spc="-10" dirty="0">
                <a:latin typeface="Times New Roman"/>
                <a:cs typeface="Times New Roman"/>
              </a:rPr>
              <a:t>F</a:t>
            </a:r>
            <a:r>
              <a:rPr sz="2400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355340" y="22352"/>
            <a:ext cx="20516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/>
              <a:t>Timing</a:t>
            </a:r>
            <a:r>
              <a:rPr sz="2400" spc="-70" dirty="0"/>
              <a:t> </a:t>
            </a:r>
            <a:r>
              <a:rPr sz="2400" spc="-5" dirty="0"/>
              <a:t>Diagram</a:t>
            </a:r>
            <a:endParaRPr sz="2400"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940425" y="1974850"/>
          <a:ext cx="2130425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46863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OFC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46863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MEMR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4591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MEMR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7" name="object 7"/>
          <p:cNvGrpSpPr/>
          <p:nvPr/>
        </p:nvGrpSpPr>
        <p:grpSpPr>
          <a:xfrm>
            <a:off x="4946650" y="1746250"/>
            <a:ext cx="1025525" cy="1841500"/>
            <a:chOff x="4946650" y="1746250"/>
            <a:chExt cx="1025525" cy="1841500"/>
          </a:xfrm>
        </p:grpSpPr>
        <p:sp>
          <p:nvSpPr>
            <p:cNvPr id="8" name="object 8"/>
            <p:cNvSpPr/>
            <p:nvPr/>
          </p:nvSpPr>
          <p:spPr>
            <a:xfrm>
              <a:off x="4953000" y="1752600"/>
              <a:ext cx="914400" cy="1828800"/>
            </a:xfrm>
            <a:custGeom>
              <a:avLst/>
              <a:gdLst/>
              <a:ahLst/>
              <a:cxnLst/>
              <a:rect l="l" t="t" r="r" b="b"/>
              <a:pathLst>
                <a:path w="914400" h="1828800">
                  <a:moveTo>
                    <a:pt x="914400" y="0"/>
                  </a:moveTo>
                  <a:lnTo>
                    <a:pt x="0" y="0"/>
                  </a:lnTo>
                  <a:lnTo>
                    <a:pt x="0" y="1828800"/>
                  </a:lnTo>
                  <a:lnTo>
                    <a:pt x="914400" y="18288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953000" y="1752600"/>
              <a:ext cx="914400" cy="1828800"/>
            </a:xfrm>
            <a:custGeom>
              <a:avLst/>
              <a:gdLst/>
              <a:ahLst/>
              <a:cxnLst/>
              <a:rect l="l" t="t" r="r" b="b"/>
              <a:pathLst>
                <a:path w="914400" h="1828800">
                  <a:moveTo>
                    <a:pt x="0" y="0"/>
                  </a:moveTo>
                  <a:lnTo>
                    <a:pt x="914400" y="0"/>
                  </a:lnTo>
                  <a:lnTo>
                    <a:pt x="9144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867400" y="2238374"/>
              <a:ext cx="104775" cy="933450"/>
            </a:xfrm>
            <a:custGeom>
              <a:avLst/>
              <a:gdLst/>
              <a:ahLst/>
              <a:cxnLst/>
              <a:rect l="l" t="t" r="r" b="b"/>
              <a:pathLst>
                <a:path w="104775" h="933450">
                  <a:moveTo>
                    <a:pt x="95250" y="838200"/>
                  </a:moveTo>
                  <a:lnTo>
                    <a:pt x="0" y="885825"/>
                  </a:lnTo>
                  <a:lnTo>
                    <a:pt x="95250" y="933450"/>
                  </a:lnTo>
                  <a:lnTo>
                    <a:pt x="95250" y="838200"/>
                  </a:lnTo>
                  <a:close/>
                </a:path>
                <a:path w="104775" h="933450">
                  <a:moveTo>
                    <a:pt x="95250" y="0"/>
                  </a:moveTo>
                  <a:lnTo>
                    <a:pt x="0" y="47625"/>
                  </a:lnTo>
                  <a:lnTo>
                    <a:pt x="95250" y="95250"/>
                  </a:lnTo>
                  <a:lnTo>
                    <a:pt x="95250" y="0"/>
                  </a:lnTo>
                  <a:close/>
                </a:path>
                <a:path w="104775" h="933450">
                  <a:moveTo>
                    <a:pt x="104775" y="457200"/>
                  </a:moveTo>
                  <a:lnTo>
                    <a:pt x="9525" y="504825"/>
                  </a:lnTo>
                  <a:lnTo>
                    <a:pt x="104775" y="552450"/>
                  </a:lnTo>
                  <a:lnTo>
                    <a:pt x="104775" y="457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031740" y="3756152"/>
            <a:ext cx="635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8085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317740" y="3679952"/>
            <a:ext cx="1075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Mem</a:t>
            </a:r>
            <a:r>
              <a:rPr sz="2400" dirty="0">
                <a:latin typeface="Times New Roman"/>
                <a:cs typeface="Times New Roman"/>
              </a:rPr>
              <a:t>o</a:t>
            </a:r>
            <a:r>
              <a:rPr sz="2400" spc="-5" dirty="0">
                <a:latin typeface="Times New Roman"/>
                <a:cs typeface="Times New Roman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y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01420" y="141223"/>
            <a:ext cx="129286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5" dirty="0">
                <a:latin typeface="Times New Roman"/>
                <a:cs typeface="Times New Roman"/>
              </a:rPr>
              <a:t>Timing</a:t>
            </a:r>
            <a:r>
              <a:rPr sz="1400" b="1" spc="-80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Diagram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11112" y="1284287"/>
            <a:ext cx="9155430" cy="408305"/>
            <a:chOff x="-11112" y="1284287"/>
            <a:chExt cx="9155430" cy="408305"/>
          </a:xfrm>
        </p:grpSpPr>
        <p:sp>
          <p:nvSpPr>
            <p:cNvPr id="4" name="object 4"/>
            <p:cNvSpPr/>
            <p:nvPr/>
          </p:nvSpPr>
          <p:spPr>
            <a:xfrm>
              <a:off x="1381125" y="1681163"/>
              <a:ext cx="457200" cy="0"/>
            </a:xfrm>
            <a:custGeom>
              <a:avLst/>
              <a:gdLst/>
              <a:ahLst/>
              <a:cxnLst/>
              <a:rect l="l" t="t" r="r" b="b"/>
              <a:pathLst>
                <a:path w="457200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23925" y="1300162"/>
              <a:ext cx="457200" cy="381000"/>
            </a:xfrm>
            <a:custGeom>
              <a:avLst/>
              <a:gdLst/>
              <a:ahLst/>
              <a:cxnLst/>
              <a:rect l="l" t="t" r="r" b="b"/>
              <a:pathLst>
                <a:path w="457200" h="381000">
                  <a:moveTo>
                    <a:pt x="0" y="0"/>
                  </a:moveTo>
                  <a:lnTo>
                    <a:pt x="0" y="381000"/>
                  </a:lnTo>
                </a:path>
                <a:path w="457200" h="381000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81125" y="1300162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838325" y="1295400"/>
              <a:ext cx="457200" cy="381000"/>
            </a:xfrm>
            <a:custGeom>
              <a:avLst/>
              <a:gdLst/>
              <a:ahLst/>
              <a:cxnLst/>
              <a:rect l="l" t="t" r="r" b="b"/>
              <a:pathLst>
                <a:path w="457200" h="381000">
                  <a:moveTo>
                    <a:pt x="0" y="0"/>
                  </a:moveTo>
                  <a:lnTo>
                    <a:pt x="0" y="381000"/>
                  </a:lnTo>
                </a:path>
                <a:path w="457200" h="381000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95525" y="1676400"/>
              <a:ext cx="457200" cy="0"/>
            </a:xfrm>
            <a:custGeom>
              <a:avLst/>
              <a:gdLst/>
              <a:ahLst/>
              <a:cxnLst/>
              <a:rect l="l" t="t" r="r" b="b"/>
              <a:pathLst>
                <a:path w="457200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95525" y="12954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752725" y="1300162"/>
              <a:ext cx="457200" cy="381000"/>
            </a:xfrm>
            <a:custGeom>
              <a:avLst/>
              <a:gdLst/>
              <a:ahLst/>
              <a:cxnLst/>
              <a:rect l="l" t="t" r="r" b="b"/>
              <a:pathLst>
                <a:path w="457200" h="381000">
                  <a:moveTo>
                    <a:pt x="0" y="0"/>
                  </a:moveTo>
                  <a:lnTo>
                    <a:pt x="0" y="381000"/>
                  </a:lnTo>
                </a:path>
                <a:path w="457200" h="381000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209925" y="1681163"/>
              <a:ext cx="457200" cy="0"/>
            </a:xfrm>
            <a:custGeom>
              <a:avLst/>
              <a:gdLst/>
              <a:ahLst/>
              <a:cxnLst/>
              <a:rect l="l" t="t" r="r" b="b"/>
              <a:pathLst>
                <a:path w="457200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09925" y="1300162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667125" y="1300162"/>
              <a:ext cx="457200" cy="381000"/>
            </a:xfrm>
            <a:custGeom>
              <a:avLst/>
              <a:gdLst/>
              <a:ahLst/>
              <a:cxnLst/>
              <a:rect l="l" t="t" r="r" b="b"/>
              <a:pathLst>
                <a:path w="457200" h="381000">
                  <a:moveTo>
                    <a:pt x="0" y="0"/>
                  </a:moveTo>
                  <a:lnTo>
                    <a:pt x="0" y="381000"/>
                  </a:lnTo>
                </a:path>
                <a:path w="457200" h="381000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124325" y="1681163"/>
              <a:ext cx="457200" cy="0"/>
            </a:xfrm>
            <a:custGeom>
              <a:avLst/>
              <a:gdLst/>
              <a:ahLst/>
              <a:cxnLst/>
              <a:rect l="l" t="t" r="r" b="b"/>
              <a:pathLst>
                <a:path w="457200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124325" y="1300162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581525" y="1300162"/>
              <a:ext cx="457200" cy="381000"/>
            </a:xfrm>
            <a:custGeom>
              <a:avLst/>
              <a:gdLst/>
              <a:ahLst/>
              <a:cxnLst/>
              <a:rect l="l" t="t" r="r" b="b"/>
              <a:pathLst>
                <a:path w="457200" h="381000">
                  <a:moveTo>
                    <a:pt x="0" y="0"/>
                  </a:moveTo>
                  <a:lnTo>
                    <a:pt x="0" y="381000"/>
                  </a:lnTo>
                </a:path>
                <a:path w="457200" h="381000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038725" y="1681163"/>
              <a:ext cx="457200" cy="0"/>
            </a:xfrm>
            <a:custGeom>
              <a:avLst/>
              <a:gdLst/>
              <a:ahLst/>
              <a:cxnLst/>
              <a:rect l="l" t="t" r="r" b="b"/>
              <a:pathLst>
                <a:path w="457200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38725" y="1300162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495925" y="1300162"/>
              <a:ext cx="457200" cy="381000"/>
            </a:xfrm>
            <a:custGeom>
              <a:avLst/>
              <a:gdLst/>
              <a:ahLst/>
              <a:cxnLst/>
              <a:rect l="l" t="t" r="r" b="b"/>
              <a:pathLst>
                <a:path w="457200" h="381000">
                  <a:moveTo>
                    <a:pt x="0" y="0"/>
                  </a:moveTo>
                  <a:lnTo>
                    <a:pt x="0" y="381000"/>
                  </a:lnTo>
                </a:path>
                <a:path w="457200" h="381000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953125" y="1681163"/>
              <a:ext cx="457200" cy="0"/>
            </a:xfrm>
            <a:custGeom>
              <a:avLst/>
              <a:gdLst/>
              <a:ahLst/>
              <a:cxnLst/>
              <a:rect l="l" t="t" r="r" b="b"/>
              <a:pathLst>
                <a:path w="457200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953125" y="1300162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410325" y="1300162"/>
              <a:ext cx="457200" cy="381000"/>
            </a:xfrm>
            <a:custGeom>
              <a:avLst/>
              <a:gdLst/>
              <a:ahLst/>
              <a:cxnLst/>
              <a:rect l="l" t="t" r="r" b="b"/>
              <a:pathLst>
                <a:path w="457200" h="381000">
                  <a:moveTo>
                    <a:pt x="0" y="0"/>
                  </a:moveTo>
                  <a:lnTo>
                    <a:pt x="0" y="381000"/>
                  </a:lnTo>
                </a:path>
                <a:path w="457200" h="381000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867525" y="1681163"/>
              <a:ext cx="457200" cy="0"/>
            </a:xfrm>
            <a:custGeom>
              <a:avLst/>
              <a:gdLst/>
              <a:ahLst/>
              <a:cxnLst/>
              <a:rect l="l" t="t" r="r" b="b"/>
              <a:pathLst>
                <a:path w="457200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867525" y="1300162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324725" y="1300162"/>
              <a:ext cx="457200" cy="381000"/>
            </a:xfrm>
            <a:custGeom>
              <a:avLst/>
              <a:gdLst/>
              <a:ahLst/>
              <a:cxnLst/>
              <a:rect l="l" t="t" r="r" b="b"/>
              <a:pathLst>
                <a:path w="457200" h="381000">
                  <a:moveTo>
                    <a:pt x="0" y="0"/>
                  </a:moveTo>
                  <a:lnTo>
                    <a:pt x="0" y="381000"/>
                  </a:lnTo>
                </a:path>
                <a:path w="457200" h="381000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781925" y="1681163"/>
              <a:ext cx="457200" cy="0"/>
            </a:xfrm>
            <a:custGeom>
              <a:avLst/>
              <a:gdLst/>
              <a:ahLst/>
              <a:cxnLst/>
              <a:rect l="l" t="t" r="r" b="b"/>
              <a:pathLst>
                <a:path w="457200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781925" y="1300162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239125" y="1300162"/>
              <a:ext cx="457200" cy="381000"/>
            </a:xfrm>
            <a:custGeom>
              <a:avLst/>
              <a:gdLst/>
              <a:ahLst/>
              <a:cxnLst/>
              <a:rect l="l" t="t" r="r" b="b"/>
              <a:pathLst>
                <a:path w="457200" h="381000">
                  <a:moveTo>
                    <a:pt x="0" y="0"/>
                  </a:moveTo>
                  <a:lnTo>
                    <a:pt x="0" y="381000"/>
                  </a:lnTo>
                </a:path>
                <a:path w="457200" h="381000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696325" y="1670051"/>
              <a:ext cx="447675" cy="22225"/>
            </a:xfrm>
            <a:custGeom>
              <a:avLst/>
              <a:gdLst/>
              <a:ahLst/>
              <a:cxnLst/>
              <a:rect l="l" t="t" r="r" b="b"/>
              <a:pathLst>
                <a:path w="447675" h="22225">
                  <a:moveTo>
                    <a:pt x="0" y="22225"/>
                  </a:moveTo>
                  <a:lnTo>
                    <a:pt x="447675" y="22225"/>
                  </a:lnTo>
                  <a:lnTo>
                    <a:pt x="447675" y="0"/>
                  </a:lnTo>
                  <a:lnTo>
                    <a:pt x="0" y="0"/>
                  </a:lnTo>
                  <a:lnTo>
                    <a:pt x="0" y="22225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696325" y="1300162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0" y="1300162"/>
              <a:ext cx="457200" cy="381000"/>
            </a:xfrm>
            <a:custGeom>
              <a:avLst/>
              <a:gdLst/>
              <a:ahLst/>
              <a:cxnLst/>
              <a:rect l="l" t="t" r="r" b="b"/>
              <a:pathLst>
                <a:path w="457200" h="381000">
                  <a:moveTo>
                    <a:pt x="0" y="0"/>
                  </a:moveTo>
                  <a:lnTo>
                    <a:pt x="0" y="381000"/>
                  </a:lnTo>
                </a:path>
                <a:path w="457200" h="381000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57200" y="1300162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57200" y="1681163"/>
              <a:ext cx="457200" cy="0"/>
            </a:xfrm>
            <a:custGeom>
              <a:avLst/>
              <a:gdLst/>
              <a:ahLst/>
              <a:cxnLst/>
              <a:rect l="l" t="t" r="r" b="b"/>
              <a:pathLst>
                <a:path w="457200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231140" y="1781048"/>
            <a:ext cx="1670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T1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038057" y="1781048"/>
            <a:ext cx="1670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T2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005060" y="1781048"/>
            <a:ext cx="1670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T3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939995" y="1781048"/>
            <a:ext cx="1670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T4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843753" y="1781048"/>
            <a:ext cx="1670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T5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746748" y="1781048"/>
            <a:ext cx="1670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T6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650506" y="1781048"/>
            <a:ext cx="1670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T7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553500" y="1781048"/>
            <a:ext cx="1670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T8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488435" y="1781048"/>
            <a:ext cx="1670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T9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8391429" y="1781048"/>
            <a:ext cx="23177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T10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-14287" y="1898650"/>
            <a:ext cx="9171305" cy="4965700"/>
            <a:chOff x="-14287" y="1898650"/>
            <a:chExt cx="9171305" cy="4965700"/>
          </a:xfrm>
        </p:grpSpPr>
        <p:sp>
          <p:nvSpPr>
            <p:cNvPr id="45" name="object 45"/>
            <p:cNvSpPr/>
            <p:nvPr/>
          </p:nvSpPr>
          <p:spPr>
            <a:xfrm>
              <a:off x="914399" y="1905000"/>
              <a:ext cx="0" cy="4953000"/>
            </a:xfrm>
            <a:custGeom>
              <a:avLst/>
              <a:gdLst/>
              <a:ahLst/>
              <a:cxnLst/>
              <a:rect l="l" t="t" r="r" b="b"/>
              <a:pathLst>
                <a:path h="4953000">
                  <a:moveTo>
                    <a:pt x="0" y="0"/>
                  </a:moveTo>
                  <a:lnTo>
                    <a:pt x="0" y="4953000"/>
                  </a:lnTo>
                </a:path>
              </a:pathLst>
            </a:custGeom>
            <a:ln w="12700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52399" y="3595687"/>
              <a:ext cx="561975" cy="0"/>
            </a:xfrm>
            <a:custGeom>
              <a:avLst/>
              <a:gdLst/>
              <a:ahLst/>
              <a:cxnLst/>
              <a:rect l="l" t="t" r="r" b="b"/>
              <a:pathLst>
                <a:path w="561975">
                  <a:moveTo>
                    <a:pt x="0" y="0"/>
                  </a:moveTo>
                  <a:lnTo>
                    <a:pt x="561975" y="0"/>
                  </a:lnTo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04849" y="3595687"/>
              <a:ext cx="228600" cy="533400"/>
            </a:xfrm>
            <a:custGeom>
              <a:avLst/>
              <a:gdLst/>
              <a:ahLst/>
              <a:cxnLst/>
              <a:rect l="l" t="t" r="r" b="b"/>
              <a:pathLst>
                <a:path w="228600" h="533400">
                  <a:moveTo>
                    <a:pt x="0" y="0"/>
                  </a:moveTo>
                  <a:lnTo>
                    <a:pt x="228600" y="533400"/>
                  </a:lnTo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0" y="3595687"/>
              <a:ext cx="152400" cy="533400"/>
            </a:xfrm>
            <a:custGeom>
              <a:avLst/>
              <a:gdLst/>
              <a:ahLst/>
              <a:cxnLst/>
              <a:rect l="l" t="t" r="r" b="b"/>
              <a:pathLst>
                <a:path w="152400" h="533400">
                  <a:moveTo>
                    <a:pt x="0" y="533400"/>
                  </a:moveTo>
                  <a:lnTo>
                    <a:pt x="152400" y="0"/>
                  </a:lnTo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743199" y="1905000"/>
              <a:ext cx="0" cy="4953000"/>
            </a:xfrm>
            <a:custGeom>
              <a:avLst/>
              <a:gdLst/>
              <a:ahLst/>
              <a:cxnLst/>
              <a:rect l="l" t="t" r="r" b="b"/>
              <a:pathLst>
                <a:path h="4953000">
                  <a:moveTo>
                    <a:pt x="0" y="0"/>
                  </a:moveTo>
                  <a:lnTo>
                    <a:pt x="0" y="4953000"/>
                  </a:lnTo>
                </a:path>
              </a:pathLst>
            </a:custGeom>
            <a:ln w="12700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657599" y="1905000"/>
              <a:ext cx="0" cy="4953000"/>
            </a:xfrm>
            <a:custGeom>
              <a:avLst/>
              <a:gdLst/>
              <a:ahLst/>
              <a:cxnLst/>
              <a:rect l="l" t="t" r="r" b="b"/>
              <a:pathLst>
                <a:path h="4953000">
                  <a:moveTo>
                    <a:pt x="0" y="0"/>
                  </a:moveTo>
                  <a:lnTo>
                    <a:pt x="0" y="4953000"/>
                  </a:lnTo>
                </a:path>
              </a:pathLst>
            </a:custGeom>
            <a:ln w="12700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743199" y="3095625"/>
              <a:ext cx="914400" cy="0"/>
            </a:xfrm>
            <a:custGeom>
              <a:avLst/>
              <a:gdLst/>
              <a:ahLst/>
              <a:cxnLst/>
              <a:rect l="l" t="t" r="r" b="b"/>
              <a:pathLst>
                <a:path w="914400">
                  <a:moveTo>
                    <a:pt x="0" y="0"/>
                  </a:moveTo>
                  <a:lnTo>
                    <a:pt x="914400" y="0"/>
                  </a:lnTo>
                </a:path>
              </a:pathLst>
            </a:custGeom>
            <a:ln w="25400">
              <a:solidFill>
                <a:srgbClr val="00CC99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828799" y="1905000"/>
              <a:ext cx="0" cy="4953000"/>
            </a:xfrm>
            <a:custGeom>
              <a:avLst/>
              <a:gdLst/>
              <a:ahLst/>
              <a:cxnLst/>
              <a:rect l="l" t="t" r="r" b="b"/>
              <a:pathLst>
                <a:path h="4953000">
                  <a:moveTo>
                    <a:pt x="0" y="0"/>
                  </a:moveTo>
                  <a:lnTo>
                    <a:pt x="0" y="4953000"/>
                  </a:lnTo>
                </a:path>
              </a:pathLst>
            </a:custGeom>
            <a:ln w="12700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914399" y="4129087"/>
              <a:ext cx="2743200" cy="0"/>
            </a:xfrm>
            <a:custGeom>
              <a:avLst/>
              <a:gdLst/>
              <a:ahLst/>
              <a:cxnLst/>
              <a:rect l="l" t="t" r="r" b="b"/>
              <a:pathLst>
                <a:path w="2743200">
                  <a:moveTo>
                    <a:pt x="0" y="0"/>
                  </a:moveTo>
                  <a:lnTo>
                    <a:pt x="2743200" y="0"/>
                  </a:lnTo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571999" y="1905000"/>
              <a:ext cx="0" cy="4953000"/>
            </a:xfrm>
            <a:custGeom>
              <a:avLst/>
              <a:gdLst/>
              <a:ahLst/>
              <a:cxnLst/>
              <a:rect l="l" t="t" r="r" b="b"/>
              <a:pathLst>
                <a:path h="4953000">
                  <a:moveTo>
                    <a:pt x="0" y="0"/>
                  </a:moveTo>
                  <a:lnTo>
                    <a:pt x="0" y="4953000"/>
                  </a:lnTo>
                </a:path>
              </a:pathLst>
            </a:custGeom>
            <a:ln w="12700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809999" y="3590925"/>
              <a:ext cx="561975" cy="0"/>
            </a:xfrm>
            <a:custGeom>
              <a:avLst/>
              <a:gdLst/>
              <a:ahLst/>
              <a:cxnLst/>
              <a:rect l="l" t="t" r="r" b="b"/>
              <a:pathLst>
                <a:path w="561975">
                  <a:moveTo>
                    <a:pt x="0" y="0"/>
                  </a:moveTo>
                  <a:lnTo>
                    <a:pt x="561975" y="0"/>
                  </a:lnTo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362449" y="3590925"/>
              <a:ext cx="228600" cy="533400"/>
            </a:xfrm>
            <a:custGeom>
              <a:avLst/>
              <a:gdLst/>
              <a:ahLst/>
              <a:cxnLst/>
              <a:rect l="l" t="t" r="r" b="b"/>
              <a:pathLst>
                <a:path w="228600" h="533400">
                  <a:moveTo>
                    <a:pt x="0" y="0"/>
                  </a:moveTo>
                  <a:lnTo>
                    <a:pt x="228600" y="533400"/>
                  </a:lnTo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657599" y="3590925"/>
              <a:ext cx="152400" cy="533400"/>
            </a:xfrm>
            <a:custGeom>
              <a:avLst/>
              <a:gdLst/>
              <a:ahLst/>
              <a:cxnLst/>
              <a:rect l="l" t="t" r="r" b="b"/>
              <a:pathLst>
                <a:path w="152400" h="533400">
                  <a:moveTo>
                    <a:pt x="0" y="533400"/>
                  </a:moveTo>
                  <a:lnTo>
                    <a:pt x="152400" y="0"/>
                  </a:lnTo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400799" y="1905000"/>
              <a:ext cx="0" cy="4953000"/>
            </a:xfrm>
            <a:custGeom>
              <a:avLst/>
              <a:gdLst/>
              <a:ahLst/>
              <a:cxnLst/>
              <a:rect l="l" t="t" r="r" b="b"/>
              <a:pathLst>
                <a:path h="4953000">
                  <a:moveTo>
                    <a:pt x="0" y="0"/>
                  </a:moveTo>
                  <a:lnTo>
                    <a:pt x="0" y="4953000"/>
                  </a:lnTo>
                </a:path>
              </a:pathLst>
            </a:custGeom>
            <a:ln w="12700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486399" y="1905000"/>
              <a:ext cx="0" cy="4953000"/>
            </a:xfrm>
            <a:custGeom>
              <a:avLst/>
              <a:gdLst/>
              <a:ahLst/>
              <a:cxnLst/>
              <a:rect l="l" t="t" r="r" b="b"/>
              <a:pathLst>
                <a:path h="4953000">
                  <a:moveTo>
                    <a:pt x="0" y="0"/>
                  </a:moveTo>
                  <a:lnTo>
                    <a:pt x="0" y="4953000"/>
                  </a:lnTo>
                </a:path>
              </a:pathLst>
            </a:custGeom>
            <a:ln w="12700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71999" y="4124325"/>
              <a:ext cx="1828800" cy="5080"/>
            </a:xfrm>
            <a:custGeom>
              <a:avLst/>
              <a:gdLst/>
              <a:ahLst/>
              <a:cxnLst/>
              <a:rect l="l" t="t" r="r" b="b"/>
              <a:pathLst>
                <a:path w="1828800" h="5079">
                  <a:moveTo>
                    <a:pt x="0" y="0"/>
                  </a:moveTo>
                  <a:lnTo>
                    <a:pt x="1828800" y="4762"/>
                  </a:lnTo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315199" y="1905000"/>
              <a:ext cx="0" cy="4953000"/>
            </a:xfrm>
            <a:custGeom>
              <a:avLst/>
              <a:gdLst/>
              <a:ahLst/>
              <a:cxnLst/>
              <a:rect l="l" t="t" r="r" b="b"/>
              <a:pathLst>
                <a:path h="4953000">
                  <a:moveTo>
                    <a:pt x="0" y="0"/>
                  </a:moveTo>
                  <a:lnTo>
                    <a:pt x="0" y="4953000"/>
                  </a:lnTo>
                </a:path>
              </a:pathLst>
            </a:custGeom>
            <a:ln w="12700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6553199" y="3600450"/>
              <a:ext cx="561975" cy="0"/>
            </a:xfrm>
            <a:custGeom>
              <a:avLst/>
              <a:gdLst/>
              <a:ahLst/>
              <a:cxnLst/>
              <a:rect l="l" t="t" r="r" b="b"/>
              <a:pathLst>
                <a:path w="561975">
                  <a:moveTo>
                    <a:pt x="0" y="0"/>
                  </a:moveTo>
                  <a:lnTo>
                    <a:pt x="561975" y="0"/>
                  </a:lnTo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7105649" y="3600450"/>
              <a:ext cx="228600" cy="533400"/>
            </a:xfrm>
            <a:custGeom>
              <a:avLst/>
              <a:gdLst/>
              <a:ahLst/>
              <a:cxnLst/>
              <a:rect l="l" t="t" r="r" b="b"/>
              <a:pathLst>
                <a:path w="228600" h="533400">
                  <a:moveTo>
                    <a:pt x="0" y="0"/>
                  </a:moveTo>
                  <a:lnTo>
                    <a:pt x="228600" y="533400"/>
                  </a:lnTo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400799" y="3600450"/>
              <a:ext cx="152400" cy="533400"/>
            </a:xfrm>
            <a:custGeom>
              <a:avLst/>
              <a:gdLst/>
              <a:ahLst/>
              <a:cxnLst/>
              <a:rect l="l" t="t" r="r" b="b"/>
              <a:pathLst>
                <a:path w="152400" h="533400">
                  <a:moveTo>
                    <a:pt x="0" y="533400"/>
                  </a:moveTo>
                  <a:lnTo>
                    <a:pt x="152400" y="0"/>
                  </a:lnTo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8229599" y="1905000"/>
              <a:ext cx="0" cy="4953000"/>
            </a:xfrm>
            <a:custGeom>
              <a:avLst/>
              <a:gdLst/>
              <a:ahLst/>
              <a:cxnLst/>
              <a:rect l="l" t="t" r="r" b="b"/>
              <a:pathLst>
                <a:path h="4953000">
                  <a:moveTo>
                    <a:pt x="0" y="0"/>
                  </a:moveTo>
                  <a:lnTo>
                    <a:pt x="0" y="4953000"/>
                  </a:lnTo>
                </a:path>
              </a:pathLst>
            </a:custGeom>
            <a:ln w="12700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7315199" y="4133850"/>
              <a:ext cx="1828800" cy="5080"/>
            </a:xfrm>
            <a:custGeom>
              <a:avLst/>
              <a:gdLst/>
              <a:ahLst/>
              <a:cxnLst/>
              <a:rect l="l" t="t" r="r" b="b"/>
              <a:pathLst>
                <a:path w="1828800" h="5079">
                  <a:moveTo>
                    <a:pt x="0" y="0"/>
                  </a:moveTo>
                  <a:lnTo>
                    <a:pt x="1828800" y="4762"/>
                  </a:lnTo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0" y="4465637"/>
              <a:ext cx="900430" cy="22225"/>
            </a:xfrm>
            <a:custGeom>
              <a:avLst/>
              <a:gdLst/>
              <a:ahLst/>
              <a:cxnLst/>
              <a:rect l="l" t="t" r="r" b="b"/>
              <a:pathLst>
                <a:path w="900430" h="22225">
                  <a:moveTo>
                    <a:pt x="900112" y="0"/>
                  </a:moveTo>
                  <a:lnTo>
                    <a:pt x="0" y="0"/>
                  </a:lnTo>
                  <a:lnTo>
                    <a:pt x="0" y="22225"/>
                  </a:lnTo>
                  <a:lnTo>
                    <a:pt x="900112" y="22225"/>
                  </a:lnTo>
                  <a:lnTo>
                    <a:pt x="900112" y="0"/>
                  </a:lnTo>
                  <a:close/>
                </a:path>
              </a:pathLst>
            </a:custGeom>
            <a:solidFill>
              <a:srgbClr val="8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900112" y="4476750"/>
              <a:ext cx="152400" cy="533400"/>
            </a:xfrm>
            <a:custGeom>
              <a:avLst/>
              <a:gdLst/>
              <a:ahLst/>
              <a:cxnLst/>
              <a:rect l="l" t="t" r="r" b="b"/>
              <a:pathLst>
                <a:path w="152400" h="533400">
                  <a:moveTo>
                    <a:pt x="0" y="0"/>
                  </a:moveTo>
                  <a:lnTo>
                    <a:pt x="152400" y="533400"/>
                  </a:lnTo>
                </a:path>
              </a:pathLst>
            </a:custGeom>
            <a:ln w="22225">
              <a:solidFill>
                <a:srgbClr val="8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052512" y="5010150"/>
              <a:ext cx="1524000" cy="0"/>
            </a:xfrm>
            <a:custGeom>
              <a:avLst/>
              <a:gdLst/>
              <a:ahLst/>
              <a:cxnLst/>
              <a:rect l="l" t="t" r="r" b="b"/>
              <a:pathLst>
                <a:path w="1524000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ln w="22225">
              <a:solidFill>
                <a:srgbClr val="8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2576512" y="4476750"/>
              <a:ext cx="1981200" cy="533400"/>
            </a:xfrm>
            <a:custGeom>
              <a:avLst/>
              <a:gdLst/>
              <a:ahLst/>
              <a:cxnLst/>
              <a:rect l="l" t="t" r="r" b="b"/>
              <a:pathLst>
                <a:path w="1981200" h="533400">
                  <a:moveTo>
                    <a:pt x="152400" y="0"/>
                  </a:moveTo>
                  <a:lnTo>
                    <a:pt x="0" y="533400"/>
                  </a:lnTo>
                </a:path>
                <a:path w="1981200" h="533400">
                  <a:moveTo>
                    <a:pt x="152400" y="0"/>
                  </a:moveTo>
                  <a:lnTo>
                    <a:pt x="1981200" y="0"/>
                  </a:lnTo>
                </a:path>
              </a:pathLst>
            </a:custGeom>
            <a:ln w="22225">
              <a:solidFill>
                <a:srgbClr val="8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4562474" y="4471987"/>
              <a:ext cx="152400" cy="533400"/>
            </a:xfrm>
            <a:custGeom>
              <a:avLst/>
              <a:gdLst/>
              <a:ahLst/>
              <a:cxnLst/>
              <a:rect l="l" t="t" r="r" b="b"/>
              <a:pathLst>
                <a:path w="152400" h="533400">
                  <a:moveTo>
                    <a:pt x="0" y="0"/>
                  </a:moveTo>
                  <a:lnTo>
                    <a:pt x="152400" y="533400"/>
                  </a:lnTo>
                </a:path>
              </a:pathLst>
            </a:custGeom>
            <a:ln w="22225">
              <a:solidFill>
                <a:srgbClr val="8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4714874" y="5005387"/>
              <a:ext cx="1524000" cy="0"/>
            </a:xfrm>
            <a:custGeom>
              <a:avLst/>
              <a:gdLst/>
              <a:ahLst/>
              <a:cxnLst/>
              <a:rect l="l" t="t" r="r" b="b"/>
              <a:pathLst>
                <a:path w="1524000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ln w="22225">
              <a:solidFill>
                <a:srgbClr val="8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6238874" y="4471987"/>
              <a:ext cx="152400" cy="533400"/>
            </a:xfrm>
            <a:custGeom>
              <a:avLst/>
              <a:gdLst/>
              <a:ahLst/>
              <a:cxnLst/>
              <a:rect l="l" t="t" r="r" b="b"/>
              <a:pathLst>
                <a:path w="152400" h="533400">
                  <a:moveTo>
                    <a:pt x="152400" y="0"/>
                  </a:moveTo>
                  <a:lnTo>
                    <a:pt x="0" y="533400"/>
                  </a:lnTo>
                </a:path>
              </a:pathLst>
            </a:custGeom>
            <a:ln w="22225">
              <a:solidFill>
                <a:srgbClr val="8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6386513" y="4471987"/>
              <a:ext cx="914400" cy="0"/>
            </a:xfrm>
            <a:custGeom>
              <a:avLst/>
              <a:gdLst/>
              <a:ahLst/>
              <a:cxnLst/>
              <a:rect l="l" t="t" r="r" b="b"/>
              <a:pathLst>
                <a:path w="914400">
                  <a:moveTo>
                    <a:pt x="0" y="0"/>
                  </a:moveTo>
                  <a:lnTo>
                    <a:pt x="914400" y="0"/>
                  </a:lnTo>
                </a:path>
              </a:pathLst>
            </a:custGeom>
            <a:ln w="22225">
              <a:solidFill>
                <a:srgbClr val="8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7300914" y="4471987"/>
              <a:ext cx="152400" cy="533400"/>
            </a:xfrm>
            <a:custGeom>
              <a:avLst/>
              <a:gdLst/>
              <a:ahLst/>
              <a:cxnLst/>
              <a:rect l="l" t="t" r="r" b="b"/>
              <a:pathLst>
                <a:path w="152400" h="533400">
                  <a:moveTo>
                    <a:pt x="0" y="0"/>
                  </a:moveTo>
                  <a:lnTo>
                    <a:pt x="152400" y="533400"/>
                  </a:lnTo>
                </a:path>
              </a:pathLst>
            </a:custGeom>
            <a:ln w="22225">
              <a:solidFill>
                <a:srgbClr val="8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7453314" y="5005387"/>
              <a:ext cx="1524000" cy="0"/>
            </a:xfrm>
            <a:custGeom>
              <a:avLst/>
              <a:gdLst/>
              <a:ahLst/>
              <a:cxnLst/>
              <a:rect l="l" t="t" r="r" b="b"/>
              <a:pathLst>
                <a:path w="1524000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ln w="22225">
              <a:solidFill>
                <a:srgbClr val="8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8977314" y="4471987"/>
              <a:ext cx="152400" cy="533400"/>
            </a:xfrm>
            <a:custGeom>
              <a:avLst/>
              <a:gdLst/>
              <a:ahLst/>
              <a:cxnLst/>
              <a:rect l="l" t="t" r="r" b="b"/>
              <a:pathLst>
                <a:path w="152400" h="533400">
                  <a:moveTo>
                    <a:pt x="152400" y="0"/>
                  </a:moveTo>
                  <a:lnTo>
                    <a:pt x="0" y="533400"/>
                  </a:lnTo>
                </a:path>
              </a:pathLst>
            </a:custGeom>
            <a:ln w="22225">
              <a:solidFill>
                <a:srgbClr val="8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0" y="5253038"/>
              <a:ext cx="228600" cy="533400"/>
            </a:xfrm>
            <a:custGeom>
              <a:avLst/>
              <a:gdLst/>
              <a:ahLst/>
              <a:cxnLst/>
              <a:rect l="l" t="t" r="r" b="b"/>
              <a:pathLst>
                <a:path w="228600" h="533400">
                  <a:moveTo>
                    <a:pt x="0" y="533400"/>
                  </a:moveTo>
                  <a:lnTo>
                    <a:pt x="228600" y="0"/>
                  </a:lnTo>
                </a:path>
              </a:pathLst>
            </a:custGeom>
            <a:ln w="22225">
              <a:solidFill>
                <a:srgbClr val="99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214312" y="5267325"/>
              <a:ext cx="8915400" cy="0"/>
            </a:xfrm>
            <a:custGeom>
              <a:avLst/>
              <a:gdLst/>
              <a:ahLst/>
              <a:cxnLst/>
              <a:rect l="l" t="t" r="r" b="b"/>
              <a:pathLst>
                <a:path w="8915400">
                  <a:moveTo>
                    <a:pt x="0" y="0"/>
                  </a:moveTo>
                  <a:lnTo>
                    <a:pt x="8915400" y="0"/>
                  </a:lnTo>
                </a:path>
              </a:pathLst>
            </a:custGeom>
            <a:ln w="22225">
              <a:solidFill>
                <a:srgbClr val="99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0" y="5984087"/>
              <a:ext cx="301625" cy="407670"/>
            </a:xfrm>
            <a:custGeom>
              <a:avLst/>
              <a:gdLst/>
              <a:ahLst/>
              <a:cxnLst/>
              <a:rect l="l" t="t" r="r" b="b"/>
              <a:pathLst>
                <a:path w="301625" h="407670">
                  <a:moveTo>
                    <a:pt x="301147" y="407100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99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257174" y="6384925"/>
              <a:ext cx="8886825" cy="1905"/>
            </a:xfrm>
            <a:custGeom>
              <a:avLst/>
              <a:gdLst/>
              <a:ahLst/>
              <a:cxnLst/>
              <a:rect l="l" t="t" r="r" b="b"/>
              <a:pathLst>
                <a:path w="8886825" h="1904">
                  <a:moveTo>
                    <a:pt x="0" y="0"/>
                  </a:moveTo>
                  <a:lnTo>
                    <a:pt x="8886825" y="1582"/>
                  </a:lnTo>
                </a:path>
              </a:pathLst>
            </a:custGeom>
            <a:ln w="22225">
              <a:solidFill>
                <a:srgbClr val="99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914399" y="2867025"/>
              <a:ext cx="1828800" cy="333375"/>
            </a:xfrm>
            <a:custGeom>
              <a:avLst/>
              <a:gdLst/>
              <a:ahLst/>
              <a:cxnLst/>
              <a:rect l="l" t="t" r="r" b="b"/>
              <a:pathLst>
                <a:path w="1828800" h="333375">
                  <a:moveTo>
                    <a:pt x="1463040" y="0"/>
                  </a:moveTo>
                  <a:lnTo>
                    <a:pt x="365760" y="0"/>
                  </a:lnTo>
                  <a:lnTo>
                    <a:pt x="0" y="166687"/>
                  </a:lnTo>
                  <a:lnTo>
                    <a:pt x="365760" y="333375"/>
                  </a:lnTo>
                  <a:lnTo>
                    <a:pt x="1463040" y="333375"/>
                  </a:lnTo>
                  <a:lnTo>
                    <a:pt x="1828800" y="166687"/>
                  </a:lnTo>
                  <a:lnTo>
                    <a:pt x="1463040" y="0"/>
                  </a:lnTo>
                  <a:close/>
                </a:path>
              </a:pathLst>
            </a:custGeom>
            <a:solidFill>
              <a:srgbClr val="00CC99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914399" y="2867025"/>
              <a:ext cx="1828800" cy="333375"/>
            </a:xfrm>
            <a:custGeom>
              <a:avLst/>
              <a:gdLst/>
              <a:ahLst/>
              <a:cxnLst/>
              <a:rect l="l" t="t" r="r" b="b"/>
              <a:pathLst>
                <a:path w="1828800" h="333375">
                  <a:moveTo>
                    <a:pt x="0" y="166687"/>
                  </a:moveTo>
                  <a:lnTo>
                    <a:pt x="365760" y="0"/>
                  </a:lnTo>
                  <a:lnTo>
                    <a:pt x="1463040" y="0"/>
                  </a:lnTo>
                  <a:lnTo>
                    <a:pt x="1828800" y="166687"/>
                  </a:lnTo>
                  <a:lnTo>
                    <a:pt x="1463040" y="333375"/>
                  </a:lnTo>
                  <a:lnTo>
                    <a:pt x="365760" y="333375"/>
                  </a:lnTo>
                  <a:lnTo>
                    <a:pt x="0" y="16668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4" name="object 84"/>
          <p:cNvSpPr txBox="1"/>
          <p:nvPr/>
        </p:nvSpPr>
        <p:spPr>
          <a:xfrm>
            <a:off x="1677416" y="2908236"/>
            <a:ext cx="30289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5" dirty="0">
                <a:latin typeface="Times New Roman"/>
                <a:cs typeface="Times New Roman"/>
              </a:rPr>
              <a:t>21h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85" name="object 85"/>
          <p:cNvGrpSpPr/>
          <p:nvPr/>
        </p:nvGrpSpPr>
        <p:grpSpPr>
          <a:xfrm>
            <a:off x="-6350" y="2860675"/>
            <a:ext cx="4584700" cy="374650"/>
            <a:chOff x="-6350" y="2860675"/>
            <a:chExt cx="4584700" cy="374650"/>
          </a:xfrm>
        </p:grpSpPr>
        <p:sp>
          <p:nvSpPr>
            <p:cNvPr id="86" name="object 86"/>
            <p:cNvSpPr/>
            <p:nvPr/>
          </p:nvSpPr>
          <p:spPr>
            <a:xfrm>
              <a:off x="0" y="2867021"/>
              <a:ext cx="914400" cy="333375"/>
            </a:xfrm>
            <a:custGeom>
              <a:avLst/>
              <a:gdLst/>
              <a:ahLst/>
              <a:cxnLst/>
              <a:rect l="l" t="t" r="r" b="b"/>
              <a:pathLst>
                <a:path w="914400" h="333375">
                  <a:moveTo>
                    <a:pt x="731520" y="0"/>
                  </a:moveTo>
                  <a:lnTo>
                    <a:pt x="182880" y="0"/>
                  </a:lnTo>
                  <a:lnTo>
                    <a:pt x="0" y="166700"/>
                  </a:lnTo>
                  <a:lnTo>
                    <a:pt x="182880" y="333375"/>
                  </a:lnTo>
                  <a:lnTo>
                    <a:pt x="731520" y="333375"/>
                  </a:lnTo>
                  <a:lnTo>
                    <a:pt x="914400" y="166700"/>
                  </a:lnTo>
                  <a:lnTo>
                    <a:pt x="731520" y="0"/>
                  </a:lnTo>
                  <a:close/>
                </a:path>
              </a:pathLst>
            </a:custGeom>
            <a:solidFill>
              <a:srgbClr val="00CC99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0" y="2867025"/>
              <a:ext cx="914400" cy="333375"/>
            </a:xfrm>
            <a:custGeom>
              <a:avLst/>
              <a:gdLst/>
              <a:ahLst/>
              <a:cxnLst/>
              <a:rect l="l" t="t" r="r" b="b"/>
              <a:pathLst>
                <a:path w="914400" h="333375">
                  <a:moveTo>
                    <a:pt x="0" y="166687"/>
                  </a:moveTo>
                  <a:lnTo>
                    <a:pt x="182880" y="0"/>
                  </a:lnTo>
                  <a:lnTo>
                    <a:pt x="731520" y="0"/>
                  </a:lnTo>
                  <a:lnTo>
                    <a:pt x="914400" y="166687"/>
                  </a:lnTo>
                  <a:lnTo>
                    <a:pt x="731520" y="333375"/>
                  </a:lnTo>
                  <a:lnTo>
                    <a:pt x="182880" y="333375"/>
                  </a:lnTo>
                  <a:lnTo>
                    <a:pt x="0" y="16668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3657600" y="2895600"/>
              <a:ext cx="914400" cy="333375"/>
            </a:xfrm>
            <a:custGeom>
              <a:avLst/>
              <a:gdLst/>
              <a:ahLst/>
              <a:cxnLst/>
              <a:rect l="l" t="t" r="r" b="b"/>
              <a:pathLst>
                <a:path w="914400" h="333375">
                  <a:moveTo>
                    <a:pt x="731520" y="0"/>
                  </a:moveTo>
                  <a:lnTo>
                    <a:pt x="182880" y="0"/>
                  </a:lnTo>
                  <a:lnTo>
                    <a:pt x="0" y="166687"/>
                  </a:lnTo>
                  <a:lnTo>
                    <a:pt x="182880" y="333375"/>
                  </a:lnTo>
                  <a:lnTo>
                    <a:pt x="731520" y="333375"/>
                  </a:lnTo>
                  <a:lnTo>
                    <a:pt x="914400" y="166687"/>
                  </a:lnTo>
                  <a:lnTo>
                    <a:pt x="731520" y="0"/>
                  </a:lnTo>
                  <a:close/>
                </a:path>
              </a:pathLst>
            </a:custGeom>
            <a:solidFill>
              <a:srgbClr val="00CC99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657600" y="2895600"/>
              <a:ext cx="914400" cy="333375"/>
            </a:xfrm>
            <a:custGeom>
              <a:avLst/>
              <a:gdLst/>
              <a:ahLst/>
              <a:cxnLst/>
              <a:rect l="l" t="t" r="r" b="b"/>
              <a:pathLst>
                <a:path w="914400" h="333375">
                  <a:moveTo>
                    <a:pt x="0" y="166687"/>
                  </a:moveTo>
                  <a:lnTo>
                    <a:pt x="182880" y="0"/>
                  </a:lnTo>
                  <a:lnTo>
                    <a:pt x="731520" y="0"/>
                  </a:lnTo>
                  <a:lnTo>
                    <a:pt x="914400" y="166687"/>
                  </a:lnTo>
                  <a:lnTo>
                    <a:pt x="731520" y="333375"/>
                  </a:lnTo>
                  <a:lnTo>
                    <a:pt x="182880" y="333375"/>
                  </a:lnTo>
                  <a:lnTo>
                    <a:pt x="0" y="16668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0" name="object 90"/>
          <p:cNvSpPr txBox="1"/>
          <p:nvPr/>
        </p:nvSpPr>
        <p:spPr>
          <a:xfrm>
            <a:off x="3962971" y="2936811"/>
            <a:ext cx="30289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5" dirty="0">
                <a:latin typeface="Times New Roman"/>
                <a:cs typeface="Times New Roman"/>
              </a:rPr>
              <a:t>01h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91" name="object 91"/>
          <p:cNvGrpSpPr/>
          <p:nvPr/>
        </p:nvGrpSpPr>
        <p:grpSpPr>
          <a:xfrm>
            <a:off x="4565650" y="2889250"/>
            <a:ext cx="1841500" cy="346075"/>
            <a:chOff x="4565650" y="2889250"/>
            <a:chExt cx="1841500" cy="346075"/>
          </a:xfrm>
        </p:grpSpPr>
        <p:sp>
          <p:nvSpPr>
            <p:cNvPr id="92" name="object 92"/>
            <p:cNvSpPr/>
            <p:nvPr/>
          </p:nvSpPr>
          <p:spPr>
            <a:xfrm>
              <a:off x="4572000" y="2895600"/>
              <a:ext cx="1828800" cy="333375"/>
            </a:xfrm>
            <a:custGeom>
              <a:avLst/>
              <a:gdLst/>
              <a:ahLst/>
              <a:cxnLst/>
              <a:rect l="l" t="t" r="r" b="b"/>
              <a:pathLst>
                <a:path w="1828800" h="333375">
                  <a:moveTo>
                    <a:pt x="1463040" y="0"/>
                  </a:moveTo>
                  <a:lnTo>
                    <a:pt x="365760" y="0"/>
                  </a:lnTo>
                  <a:lnTo>
                    <a:pt x="0" y="166687"/>
                  </a:lnTo>
                  <a:lnTo>
                    <a:pt x="365760" y="333375"/>
                  </a:lnTo>
                  <a:lnTo>
                    <a:pt x="1463040" y="333375"/>
                  </a:lnTo>
                  <a:lnTo>
                    <a:pt x="1828800" y="166687"/>
                  </a:lnTo>
                  <a:lnTo>
                    <a:pt x="1463040" y="0"/>
                  </a:lnTo>
                  <a:close/>
                </a:path>
              </a:pathLst>
            </a:custGeom>
            <a:solidFill>
              <a:srgbClr val="00CC99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4572000" y="2895600"/>
              <a:ext cx="1828800" cy="333375"/>
            </a:xfrm>
            <a:custGeom>
              <a:avLst/>
              <a:gdLst/>
              <a:ahLst/>
              <a:cxnLst/>
              <a:rect l="l" t="t" r="r" b="b"/>
              <a:pathLst>
                <a:path w="1828800" h="333375">
                  <a:moveTo>
                    <a:pt x="0" y="166687"/>
                  </a:moveTo>
                  <a:lnTo>
                    <a:pt x="365760" y="0"/>
                  </a:lnTo>
                  <a:lnTo>
                    <a:pt x="1463040" y="0"/>
                  </a:lnTo>
                  <a:lnTo>
                    <a:pt x="1828800" y="166687"/>
                  </a:lnTo>
                  <a:lnTo>
                    <a:pt x="1463040" y="333375"/>
                  </a:lnTo>
                  <a:lnTo>
                    <a:pt x="365760" y="333375"/>
                  </a:lnTo>
                  <a:lnTo>
                    <a:pt x="0" y="16668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4" name="object 94"/>
          <p:cNvSpPr txBox="1"/>
          <p:nvPr/>
        </p:nvSpPr>
        <p:spPr>
          <a:xfrm>
            <a:off x="5335015" y="2936811"/>
            <a:ext cx="30289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5" dirty="0">
                <a:latin typeface="Times New Roman"/>
                <a:cs typeface="Times New Roman"/>
              </a:rPr>
              <a:t>45h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95" name="object 95"/>
          <p:cNvGrpSpPr/>
          <p:nvPr/>
        </p:nvGrpSpPr>
        <p:grpSpPr>
          <a:xfrm>
            <a:off x="6394450" y="2889250"/>
            <a:ext cx="927100" cy="346075"/>
            <a:chOff x="6394450" y="2889250"/>
            <a:chExt cx="927100" cy="346075"/>
          </a:xfrm>
        </p:grpSpPr>
        <p:sp>
          <p:nvSpPr>
            <p:cNvPr id="96" name="object 96"/>
            <p:cNvSpPr/>
            <p:nvPr/>
          </p:nvSpPr>
          <p:spPr>
            <a:xfrm>
              <a:off x="6400800" y="2895600"/>
              <a:ext cx="914400" cy="333375"/>
            </a:xfrm>
            <a:custGeom>
              <a:avLst/>
              <a:gdLst/>
              <a:ahLst/>
              <a:cxnLst/>
              <a:rect l="l" t="t" r="r" b="b"/>
              <a:pathLst>
                <a:path w="914400" h="333375">
                  <a:moveTo>
                    <a:pt x="731520" y="0"/>
                  </a:moveTo>
                  <a:lnTo>
                    <a:pt x="182880" y="0"/>
                  </a:lnTo>
                  <a:lnTo>
                    <a:pt x="0" y="166687"/>
                  </a:lnTo>
                  <a:lnTo>
                    <a:pt x="182880" y="333375"/>
                  </a:lnTo>
                  <a:lnTo>
                    <a:pt x="731520" y="333375"/>
                  </a:lnTo>
                  <a:lnTo>
                    <a:pt x="914400" y="166687"/>
                  </a:lnTo>
                  <a:lnTo>
                    <a:pt x="731520" y="0"/>
                  </a:lnTo>
                  <a:close/>
                </a:path>
              </a:pathLst>
            </a:custGeom>
            <a:solidFill>
              <a:srgbClr val="00CC99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6400800" y="2895600"/>
              <a:ext cx="914400" cy="333375"/>
            </a:xfrm>
            <a:custGeom>
              <a:avLst/>
              <a:gdLst/>
              <a:ahLst/>
              <a:cxnLst/>
              <a:rect l="l" t="t" r="r" b="b"/>
              <a:pathLst>
                <a:path w="914400" h="333375">
                  <a:moveTo>
                    <a:pt x="0" y="166687"/>
                  </a:moveTo>
                  <a:lnTo>
                    <a:pt x="182880" y="0"/>
                  </a:lnTo>
                  <a:lnTo>
                    <a:pt x="731520" y="0"/>
                  </a:lnTo>
                  <a:lnTo>
                    <a:pt x="914400" y="166687"/>
                  </a:lnTo>
                  <a:lnTo>
                    <a:pt x="731520" y="333375"/>
                  </a:lnTo>
                  <a:lnTo>
                    <a:pt x="182880" y="333375"/>
                  </a:lnTo>
                  <a:lnTo>
                    <a:pt x="0" y="16668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8" name="object 98"/>
          <p:cNvSpPr txBox="1"/>
          <p:nvPr/>
        </p:nvSpPr>
        <p:spPr>
          <a:xfrm>
            <a:off x="6706171" y="2936811"/>
            <a:ext cx="30289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5" dirty="0">
                <a:latin typeface="Times New Roman"/>
                <a:cs typeface="Times New Roman"/>
              </a:rPr>
              <a:t>02h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99" name="object 99"/>
          <p:cNvGrpSpPr/>
          <p:nvPr/>
        </p:nvGrpSpPr>
        <p:grpSpPr>
          <a:xfrm>
            <a:off x="7308850" y="2889250"/>
            <a:ext cx="1841500" cy="346075"/>
            <a:chOff x="7308850" y="2889250"/>
            <a:chExt cx="1841500" cy="346075"/>
          </a:xfrm>
        </p:grpSpPr>
        <p:sp>
          <p:nvSpPr>
            <p:cNvPr id="100" name="object 100"/>
            <p:cNvSpPr/>
            <p:nvPr/>
          </p:nvSpPr>
          <p:spPr>
            <a:xfrm>
              <a:off x="7315200" y="2895600"/>
              <a:ext cx="1828800" cy="333375"/>
            </a:xfrm>
            <a:custGeom>
              <a:avLst/>
              <a:gdLst/>
              <a:ahLst/>
              <a:cxnLst/>
              <a:rect l="l" t="t" r="r" b="b"/>
              <a:pathLst>
                <a:path w="1828800" h="333375">
                  <a:moveTo>
                    <a:pt x="1463040" y="0"/>
                  </a:moveTo>
                  <a:lnTo>
                    <a:pt x="365760" y="0"/>
                  </a:lnTo>
                  <a:lnTo>
                    <a:pt x="0" y="166687"/>
                  </a:lnTo>
                  <a:lnTo>
                    <a:pt x="365760" y="333375"/>
                  </a:lnTo>
                  <a:lnTo>
                    <a:pt x="1463040" y="333375"/>
                  </a:lnTo>
                  <a:lnTo>
                    <a:pt x="1828800" y="166687"/>
                  </a:lnTo>
                  <a:lnTo>
                    <a:pt x="1463040" y="0"/>
                  </a:lnTo>
                  <a:close/>
                </a:path>
              </a:pathLst>
            </a:custGeom>
            <a:solidFill>
              <a:srgbClr val="00CC99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7315200" y="2895600"/>
              <a:ext cx="1828800" cy="333375"/>
            </a:xfrm>
            <a:custGeom>
              <a:avLst/>
              <a:gdLst/>
              <a:ahLst/>
              <a:cxnLst/>
              <a:rect l="l" t="t" r="r" b="b"/>
              <a:pathLst>
                <a:path w="1828800" h="333375">
                  <a:moveTo>
                    <a:pt x="0" y="166687"/>
                  </a:moveTo>
                  <a:lnTo>
                    <a:pt x="365760" y="0"/>
                  </a:lnTo>
                  <a:lnTo>
                    <a:pt x="1463040" y="0"/>
                  </a:lnTo>
                  <a:lnTo>
                    <a:pt x="1828800" y="166687"/>
                  </a:lnTo>
                  <a:lnTo>
                    <a:pt x="1463040" y="333375"/>
                  </a:lnTo>
                  <a:lnTo>
                    <a:pt x="365760" y="333375"/>
                  </a:lnTo>
                  <a:lnTo>
                    <a:pt x="0" y="16668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2" name="object 102"/>
          <p:cNvSpPr txBox="1"/>
          <p:nvPr/>
        </p:nvSpPr>
        <p:spPr>
          <a:xfrm>
            <a:off x="8068309" y="2936811"/>
            <a:ext cx="32194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latin typeface="Times New Roman"/>
                <a:cs typeface="Times New Roman"/>
              </a:rPr>
              <a:t>F</a:t>
            </a:r>
            <a:r>
              <a:rPr sz="1400" b="1" spc="-5" dirty="0">
                <a:latin typeface="Times New Roman"/>
                <a:cs typeface="Times New Roman"/>
              </a:rPr>
              <a:t>0h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03" name="object 103"/>
          <p:cNvGrpSpPr/>
          <p:nvPr/>
        </p:nvGrpSpPr>
        <p:grpSpPr>
          <a:xfrm>
            <a:off x="-6350" y="2203450"/>
            <a:ext cx="3670300" cy="346075"/>
            <a:chOff x="-6350" y="2203450"/>
            <a:chExt cx="3670300" cy="346075"/>
          </a:xfrm>
        </p:grpSpPr>
        <p:sp>
          <p:nvSpPr>
            <p:cNvPr id="104" name="object 104"/>
            <p:cNvSpPr/>
            <p:nvPr/>
          </p:nvSpPr>
          <p:spPr>
            <a:xfrm>
              <a:off x="0" y="2209796"/>
              <a:ext cx="3657600" cy="333375"/>
            </a:xfrm>
            <a:custGeom>
              <a:avLst/>
              <a:gdLst/>
              <a:ahLst/>
              <a:cxnLst/>
              <a:rect l="l" t="t" r="r" b="b"/>
              <a:pathLst>
                <a:path w="3657600" h="333375">
                  <a:moveTo>
                    <a:pt x="2926080" y="0"/>
                  </a:moveTo>
                  <a:lnTo>
                    <a:pt x="731520" y="0"/>
                  </a:lnTo>
                  <a:lnTo>
                    <a:pt x="0" y="166700"/>
                  </a:lnTo>
                  <a:lnTo>
                    <a:pt x="731520" y="333375"/>
                  </a:lnTo>
                  <a:lnTo>
                    <a:pt x="2926080" y="333375"/>
                  </a:lnTo>
                  <a:lnTo>
                    <a:pt x="3657600" y="166700"/>
                  </a:lnTo>
                  <a:lnTo>
                    <a:pt x="2926080" y="0"/>
                  </a:lnTo>
                  <a:close/>
                </a:path>
              </a:pathLst>
            </a:custGeom>
            <a:solidFill>
              <a:srgbClr val="3366FF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0" y="2209800"/>
              <a:ext cx="3657600" cy="333375"/>
            </a:xfrm>
            <a:custGeom>
              <a:avLst/>
              <a:gdLst/>
              <a:ahLst/>
              <a:cxnLst/>
              <a:rect l="l" t="t" r="r" b="b"/>
              <a:pathLst>
                <a:path w="3657600" h="333375">
                  <a:moveTo>
                    <a:pt x="0" y="166687"/>
                  </a:moveTo>
                  <a:lnTo>
                    <a:pt x="731520" y="0"/>
                  </a:lnTo>
                  <a:lnTo>
                    <a:pt x="2926080" y="0"/>
                  </a:lnTo>
                  <a:lnTo>
                    <a:pt x="3657600" y="166687"/>
                  </a:lnTo>
                  <a:lnTo>
                    <a:pt x="2926080" y="333375"/>
                  </a:lnTo>
                  <a:lnTo>
                    <a:pt x="731520" y="333375"/>
                  </a:lnTo>
                  <a:lnTo>
                    <a:pt x="0" y="16668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6" name="object 106"/>
          <p:cNvSpPr txBox="1"/>
          <p:nvPr/>
        </p:nvSpPr>
        <p:spPr>
          <a:xfrm>
            <a:off x="1657635" y="2251011"/>
            <a:ext cx="3416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latin typeface="Times New Roman"/>
                <a:cs typeface="Times New Roman"/>
              </a:rPr>
              <a:t>A</a:t>
            </a:r>
            <a:r>
              <a:rPr sz="1400" b="1" spc="-5" dirty="0">
                <a:latin typeface="Times New Roman"/>
                <a:cs typeface="Times New Roman"/>
              </a:rPr>
              <a:t>0h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07" name="object 107"/>
          <p:cNvGrpSpPr/>
          <p:nvPr/>
        </p:nvGrpSpPr>
        <p:grpSpPr>
          <a:xfrm>
            <a:off x="3651250" y="2203450"/>
            <a:ext cx="2755900" cy="346075"/>
            <a:chOff x="3651250" y="2203450"/>
            <a:chExt cx="2755900" cy="346075"/>
          </a:xfrm>
        </p:grpSpPr>
        <p:sp>
          <p:nvSpPr>
            <p:cNvPr id="108" name="object 108"/>
            <p:cNvSpPr/>
            <p:nvPr/>
          </p:nvSpPr>
          <p:spPr>
            <a:xfrm>
              <a:off x="3657600" y="2209800"/>
              <a:ext cx="2743200" cy="333375"/>
            </a:xfrm>
            <a:custGeom>
              <a:avLst/>
              <a:gdLst/>
              <a:ahLst/>
              <a:cxnLst/>
              <a:rect l="l" t="t" r="r" b="b"/>
              <a:pathLst>
                <a:path w="2743200" h="333375">
                  <a:moveTo>
                    <a:pt x="2194560" y="0"/>
                  </a:moveTo>
                  <a:lnTo>
                    <a:pt x="548640" y="0"/>
                  </a:lnTo>
                  <a:lnTo>
                    <a:pt x="0" y="166687"/>
                  </a:lnTo>
                  <a:lnTo>
                    <a:pt x="548640" y="333375"/>
                  </a:lnTo>
                  <a:lnTo>
                    <a:pt x="2194560" y="333375"/>
                  </a:lnTo>
                  <a:lnTo>
                    <a:pt x="2743200" y="166687"/>
                  </a:lnTo>
                  <a:lnTo>
                    <a:pt x="2194560" y="0"/>
                  </a:lnTo>
                  <a:close/>
                </a:path>
              </a:pathLst>
            </a:custGeom>
            <a:solidFill>
              <a:srgbClr val="3366FF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3657600" y="2209800"/>
              <a:ext cx="2743200" cy="333375"/>
            </a:xfrm>
            <a:custGeom>
              <a:avLst/>
              <a:gdLst/>
              <a:ahLst/>
              <a:cxnLst/>
              <a:rect l="l" t="t" r="r" b="b"/>
              <a:pathLst>
                <a:path w="2743200" h="333375">
                  <a:moveTo>
                    <a:pt x="0" y="166687"/>
                  </a:moveTo>
                  <a:lnTo>
                    <a:pt x="548640" y="0"/>
                  </a:lnTo>
                  <a:lnTo>
                    <a:pt x="2194560" y="0"/>
                  </a:lnTo>
                  <a:lnTo>
                    <a:pt x="2743200" y="166687"/>
                  </a:lnTo>
                  <a:lnTo>
                    <a:pt x="2194560" y="333375"/>
                  </a:lnTo>
                  <a:lnTo>
                    <a:pt x="548640" y="333375"/>
                  </a:lnTo>
                  <a:lnTo>
                    <a:pt x="0" y="16668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0" name="object 110"/>
          <p:cNvSpPr txBox="1"/>
          <p:nvPr/>
        </p:nvSpPr>
        <p:spPr>
          <a:xfrm>
            <a:off x="4858353" y="2251011"/>
            <a:ext cx="3416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latin typeface="Times New Roman"/>
                <a:cs typeface="Times New Roman"/>
              </a:rPr>
              <a:t>A</a:t>
            </a:r>
            <a:r>
              <a:rPr sz="1400" b="1" spc="-5" dirty="0">
                <a:latin typeface="Times New Roman"/>
                <a:cs typeface="Times New Roman"/>
              </a:rPr>
              <a:t>0h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11" name="object 111"/>
          <p:cNvGrpSpPr/>
          <p:nvPr/>
        </p:nvGrpSpPr>
        <p:grpSpPr>
          <a:xfrm>
            <a:off x="6399213" y="2203450"/>
            <a:ext cx="2679700" cy="346075"/>
            <a:chOff x="6399213" y="2203450"/>
            <a:chExt cx="2679700" cy="346075"/>
          </a:xfrm>
        </p:grpSpPr>
        <p:sp>
          <p:nvSpPr>
            <p:cNvPr id="112" name="object 112"/>
            <p:cNvSpPr/>
            <p:nvPr/>
          </p:nvSpPr>
          <p:spPr>
            <a:xfrm>
              <a:off x="6405563" y="2209800"/>
              <a:ext cx="2667000" cy="333375"/>
            </a:xfrm>
            <a:custGeom>
              <a:avLst/>
              <a:gdLst/>
              <a:ahLst/>
              <a:cxnLst/>
              <a:rect l="l" t="t" r="r" b="b"/>
              <a:pathLst>
                <a:path w="2667000" h="333375">
                  <a:moveTo>
                    <a:pt x="2133600" y="0"/>
                  </a:moveTo>
                  <a:lnTo>
                    <a:pt x="533400" y="0"/>
                  </a:lnTo>
                  <a:lnTo>
                    <a:pt x="0" y="166687"/>
                  </a:lnTo>
                  <a:lnTo>
                    <a:pt x="533400" y="333375"/>
                  </a:lnTo>
                  <a:lnTo>
                    <a:pt x="2133600" y="333375"/>
                  </a:lnTo>
                  <a:lnTo>
                    <a:pt x="2667000" y="166687"/>
                  </a:lnTo>
                  <a:lnTo>
                    <a:pt x="2133600" y="0"/>
                  </a:lnTo>
                  <a:close/>
                </a:path>
              </a:pathLst>
            </a:custGeom>
            <a:solidFill>
              <a:srgbClr val="3366FF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6405563" y="2209800"/>
              <a:ext cx="2667000" cy="333375"/>
            </a:xfrm>
            <a:custGeom>
              <a:avLst/>
              <a:gdLst/>
              <a:ahLst/>
              <a:cxnLst/>
              <a:rect l="l" t="t" r="r" b="b"/>
              <a:pathLst>
                <a:path w="2667000" h="333375">
                  <a:moveTo>
                    <a:pt x="0" y="166687"/>
                  </a:moveTo>
                  <a:lnTo>
                    <a:pt x="533400" y="0"/>
                  </a:lnTo>
                  <a:lnTo>
                    <a:pt x="2133600" y="0"/>
                  </a:lnTo>
                  <a:lnTo>
                    <a:pt x="2667000" y="166687"/>
                  </a:lnTo>
                  <a:lnTo>
                    <a:pt x="2133600" y="333375"/>
                  </a:lnTo>
                  <a:lnTo>
                    <a:pt x="533400" y="333375"/>
                  </a:lnTo>
                  <a:lnTo>
                    <a:pt x="0" y="16668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4" name="object 114"/>
          <p:cNvSpPr txBox="1"/>
          <p:nvPr/>
        </p:nvSpPr>
        <p:spPr>
          <a:xfrm>
            <a:off x="7567771" y="2251011"/>
            <a:ext cx="3416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latin typeface="Times New Roman"/>
                <a:cs typeface="Times New Roman"/>
              </a:rPr>
              <a:t>A</a:t>
            </a:r>
            <a:r>
              <a:rPr sz="1400" b="1" spc="-5" dirty="0">
                <a:latin typeface="Times New Roman"/>
                <a:cs typeface="Times New Roman"/>
              </a:rPr>
              <a:t>0h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78739" y="2521711"/>
            <a:ext cx="303784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A</a:t>
            </a:r>
            <a:r>
              <a:rPr sz="800" b="1" spc="-5" dirty="0">
                <a:solidFill>
                  <a:srgbClr val="800000"/>
                </a:solidFill>
                <a:latin typeface="Times New Roman"/>
                <a:cs typeface="Times New Roman"/>
              </a:rPr>
              <a:t>15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-</a:t>
            </a:r>
            <a:r>
              <a:rPr sz="1600" b="1" spc="-100" dirty="0">
                <a:solidFill>
                  <a:srgbClr val="80000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A</a:t>
            </a:r>
            <a:r>
              <a:rPr sz="800" b="1" spc="-5" dirty="0">
                <a:solidFill>
                  <a:srgbClr val="800000"/>
                </a:solidFill>
                <a:latin typeface="Times New Roman"/>
                <a:cs typeface="Times New Roman"/>
              </a:rPr>
              <a:t>8</a:t>
            </a:r>
            <a:r>
              <a:rPr sz="800" b="1" spc="-15" dirty="0">
                <a:solidFill>
                  <a:srgbClr val="80000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(H</a:t>
            </a:r>
            <a:r>
              <a:rPr sz="1600" b="1" spc="-5" dirty="0">
                <a:solidFill>
                  <a:srgbClr val="800000"/>
                </a:solidFill>
                <a:latin typeface="Times New Roman"/>
                <a:cs typeface="Times New Roman"/>
              </a:rPr>
              <a:t>i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g</a:t>
            </a:r>
            <a:r>
              <a:rPr sz="1600" b="1" spc="-5" dirty="0">
                <a:solidFill>
                  <a:srgbClr val="800000"/>
                </a:solidFill>
                <a:latin typeface="Times New Roman"/>
                <a:cs typeface="Times New Roman"/>
              </a:rPr>
              <a:t>h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er</a:t>
            </a:r>
            <a:r>
              <a:rPr sz="1600" b="1" spc="-20" dirty="0">
                <a:solidFill>
                  <a:srgbClr val="80000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Or</a:t>
            </a:r>
            <a:r>
              <a:rPr sz="1600" b="1" spc="-5" dirty="0">
                <a:solidFill>
                  <a:srgbClr val="800000"/>
                </a:solidFill>
                <a:latin typeface="Times New Roman"/>
                <a:cs typeface="Times New Roman"/>
              </a:rPr>
              <a:t>d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er</a:t>
            </a:r>
            <a:r>
              <a:rPr sz="1600" b="1" spc="-125" dirty="0">
                <a:solidFill>
                  <a:srgbClr val="80000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A</a:t>
            </a:r>
            <a:r>
              <a:rPr sz="1600" b="1" spc="-5" dirty="0">
                <a:solidFill>
                  <a:srgbClr val="800000"/>
                </a:solidFill>
                <a:latin typeface="Times New Roman"/>
                <a:cs typeface="Times New Roman"/>
              </a:rPr>
              <a:t>dd</a:t>
            </a:r>
            <a:r>
              <a:rPr sz="1600" b="1" spc="-30" dirty="0">
                <a:solidFill>
                  <a:srgbClr val="800000"/>
                </a:solidFill>
                <a:latin typeface="Times New Roman"/>
                <a:cs typeface="Times New Roman"/>
              </a:rPr>
              <a:t>r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ess</a:t>
            </a:r>
            <a:r>
              <a:rPr sz="1600" b="1" spc="-10" dirty="0">
                <a:solidFill>
                  <a:srgbClr val="800000"/>
                </a:solidFill>
                <a:latin typeface="Times New Roman"/>
                <a:cs typeface="Times New Roman"/>
              </a:rPr>
              <a:t> </a:t>
            </a:r>
            <a:r>
              <a:rPr sz="1600" b="1" spc="-5" dirty="0">
                <a:solidFill>
                  <a:srgbClr val="800000"/>
                </a:solidFill>
                <a:latin typeface="Times New Roman"/>
                <a:cs typeface="Times New Roman"/>
              </a:rPr>
              <a:t>bu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s)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78739" y="3159125"/>
            <a:ext cx="35394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800000"/>
                </a:solidFill>
                <a:latin typeface="Times New Roman"/>
                <a:cs typeface="Times New Roman"/>
              </a:rPr>
              <a:t>DA</a:t>
            </a:r>
            <a:r>
              <a:rPr sz="800" b="1" spc="-5" dirty="0">
                <a:solidFill>
                  <a:srgbClr val="800000"/>
                </a:solidFill>
                <a:latin typeface="Times New Roman"/>
                <a:cs typeface="Times New Roman"/>
              </a:rPr>
              <a:t>7</a:t>
            </a:r>
            <a:r>
              <a:rPr sz="1800" b="1" dirty="0">
                <a:solidFill>
                  <a:srgbClr val="800000"/>
                </a:solidFill>
                <a:latin typeface="Times New Roman"/>
                <a:cs typeface="Times New Roman"/>
              </a:rPr>
              <a:t>-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DA</a:t>
            </a:r>
            <a:r>
              <a:rPr sz="800" b="1" spc="-5" dirty="0">
                <a:solidFill>
                  <a:srgbClr val="800000"/>
                </a:solidFill>
                <a:latin typeface="Times New Roman"/>
                <a:cs typeface="Times New Roman"/>
              </a:rPr>
              <a:t>0</a:t>
            </a:r>
            <a:r>
              <a:rPr sz="800" b="1" spc="-15" dirty="0">
                <a:solidFill>
                  <a:srgbClr val="80000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(Lower</a:t>
            </a:r>
            <a:r>
              <a:rPr sz="1600" b="1" spc="-45" dirty="0">
                <a:solidFill>
                  <a:srgbClr val="80000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or</a:t>
            </a:r>
            <a:r>
              <a:rPr sz="1600" b="1" spc="-5" dirty="0">
                <a:solidFill>
                  <a:srgbClr val="800000"/>
                </a:solidFill>
                <a:latin typeface="Times New Roman"/>
                <a:cs typeface="Times New Roman"/>
              </a:rPr>
              <a:t>d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er</a:t>
            </a:r>
            <a:r>
              <a:rPr sz="1600" b="1" spc="-40" dirty="0">
                <a:solidFill>
                  <a:srgbClr val="80000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a</a:t>
            </a:r>
            <a:r>
              <a:rPr sz="1600" b="1" spc="-5" dirty="0">
                <a:solidFill>
                  <a:srgbClr val="800000"/>
                </a:solidFill>
                <a:latin typeface="Times New Roman"/>
                <a:cs typeface="Times New Roman"/>
              </a:rPr>
              <a:t>dd</a:t>
            </a:r>
            <a:r>
              <a:rPr sz="1600" b="1" spc="-30" dirty="0">
                <a:solidFill>
                  <a:srgbClr val="800000"/>
                </a:solidFill>
                <a:latin typeface="Times New Roman"/>
                <a:cs typeface="Times New Roman"/>
              </a:rPr>
              <a:t>r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ess</a:t>
            </a:r>
            <a:r>
              <a:rPr sz="1600" b="1" spc="-5" dirty="0">
                <a:solidFill>
                  <a:srgbClr val="800000"/>
                </a:solidFill>
                <a:latin typeface="Times New Roman"/>
                <a:cs typeface="Times New Roman"/>
              </a:rPr>
              <a:t>/d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ata</a:t>
            </a:r>
            <a:r>
              <a:rPr sz="1600" b="1" spc="-5" dirty="0">
                <a:solidFill>
                  <a:srgbClr val="80000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B</a:t>
            </a:r>
            <a:r>
              <a:rPr sz="1600" b="1" spc="-5" dirty="0">
                <a:solidFill>
                  <a:srgbClr val="800000"/>
                </a:solidFill>
                <a:latin typeface="Times New Roman"/>
                <a:cs typeface="Times New Roman"/>
              </a:rPr>
              <a:t>u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s)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78664" y="4102865"/>
            <a:ext cx="444500" cy="807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ALE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000">
              <a:latin typeface="Times New Roman"/>
              <a:cs typeface="Times New Roman"/>
            </a:endParaRPr>
          </a:p>
          <a:p>
            <a:pPr marR="6985" algn="r">
              <a:lnSpc>
                <a:spcPct val="100000"/>
              </a:lnSpc>
              <a:spcBef>
                <a:spcPts val="5"/>
              </a:spcBef>
            </a:pP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RD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8" name="object 118"/>
          <p:cNvSpPr/>
          <p:nvPr/>
        </p:nvSpPr>
        <p:spPr>
          <a:xfrm>
            <a:off x="214312" y="4672012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600" y="0"/>
                </a:lnTo>
              </a:path>
            </a:pathLst>
          </a:custGeom>
          <a:ln w="12700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 txBox="1"/>
          <p:nvPr/>
        </p:nvSpPr>
        <p:spPr>
          <a:xfrm>
            <a:off x="183514" y="5541136"/>
            <a:ext cx="37592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WR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0" name="object 120"/>
          <p:cNvSpPr/>
          <p:nvPr/>
        </p:nvSpPr>
        <p:spPr>
          <a:xfrm>
            <a:off x="209550" y="5567363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600" y="0"/>
                </a:lnTo>
              </a:path>
            </a:pathLst>
          </a:custGeom>
          <a:ln w="12700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 txBox="1"/>
          <p:nvPr/>
        </p:nvSpPr>
        <p:spPr>
          <a:xfrm>
            <a:off x="127952" y="6471411"/>
            <a:ext cx="511809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IO</a:t>
            </a:r>
            <a:r>
              <a:rPr sz="1600" b="1" spc="-5" dirty="0">
                <a:solidFill>
                  <a:srgbClr val="800000"/>
                </a:solidFill>
                <a:latin typeface="Times New Roman"/>
                <a:cs typeface="Times New Roman"/>
              </a:rPr>
              <a:t>/M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2" name="object 122"/>
          <p:cNvSpPr/>
          <p:nvPr/>
        </p:nvSpPr>
        <p:spPr>
          <a:xfrm>
            <a:off x="258762" y="6507164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600" y="0"/>
                </a:lnTo>
              </a:path>
            </a:pathLst>
          </a:custGeom>
          <a:ln w="12700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 txBox="1"/>
          <p:nvPr/>
        </p:nvSpPr>
        <p:spPr>
          <a:xfrm>
            <a:off x="443865" y="2933636"/>
            <a:ext cx="30289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5" dirty="0">
                <a:latin typeface="Times New Roman"/>
                <a:cs typeface="Times New Roman"/>
              </a:rPr>
              <a:t>00h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535940" y="787400"/>
            <a:ext cx="2118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Times New Roman"/>
                <a:cs typeface="Times New Roman"/>
              </a:rPr>
              <a:t>Op-Code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Fetch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Cycle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4101414" y="749223"/>
            <a:ext cx="20307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Times New Roman"/>
                <a:cs typeface="Times New Roman"/>
              </a:rPr>
              <a:t>Memory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Read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Cycle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26" name="object 126"/>
          <p:cNvGrpSpPr/>
          <p:nvPr/>
        </p:nvGrpSpPr>
        <p:grpSpPr>
          <a:xfrm>
            <a:off x="0" y="723891"/>
            <a:ext cx="6400800" cy="76835"/>
            <a:chOff x="0" y="723891"/>
            <a:chExt cx="6400800" cy="76835"/>
          </a:xfrm>
        </p:grpSpPr>
        <p:sp>
          <p:nvSpPr>
            <p:cNvPr id="127" name="object 127"/>
            <p:cNvSpPr/>
            <p:nvPr/>
          </p:nvSpPr>
          <p:spPr>
            <a:xfrm>
              <a:off x="63500" y="761999"/>
              <a:ext cx="3530600" cy="0"/>
            </a:xfrm>
            <a:custGeom>
              <a:avLst/>
              <a:gdLst/>
              <a:ahLst/>
              <a:cxnLst/>
              <a:rect l="l" t="t" r="r" b="b"/>
              <a:pathLst>
                <a:path w="3530600">
                  <a:moveTo>
                    <a:pt x="0" y="0"/>
                  </a:moveTo>
                  <a:lnTo>
                    <a:pt x="3530600" y="0"/>
                  </a:lnTo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0" y="723899"/>
              <a:ext cx="3657600" cy="76835"/>
            </a:xfrm>
            <a:custGeom>
              <a:avLst/>
              <a:gdLst/>
              <a:ahLst/>
              <a:cxnLst/>
              <a:rect l="l" t="t" r="r" b="b"/>
              <a:pathLst>
                <a:path w="3657600" h="76834">
                  <a:moveTo>
                    <a:pt x="76200" y="0"/>
                  </a:moveTo>
                  <a:lnTo>
                    <a:pt x="0" y="38112"/>
                  </a:lnTo>
                  <a:lnTo>
                    <a:pt x="76200" y="76212"/>
                  </a:lnTo>
                  <a:lnTo>
                    <a:pt x="76200" y="0"/>
                  </a:lnTo>
                  <a:close/>
                </a:path>
                <a:path w="3657600" h="76834">
                  <a:moveTo>
                    <a:pt x="3657600" y="38100"/>
                  </a:moveTo>
                  <a:lnTo>
                    <a:pt x="3581400" y="0"/>
                  </a:lnTo>
                  <a:lnTo>
                    <a:pt x="3581400" y="76200"/>
                  </a:lnTo>
                  <a:lnTo>
                    <a:pt x="3657600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3721100" y="761999"/>
              <a:ext cx="2616200" cy="0"/>
            </a:xfrm>
            <a:custGeom>
              <a:avLst/>
              <a:gdLst/>
              <a:ahLst/>
              <a:cxnLst/>
              <a:rect l="l" t="t" r="r" b="b"/>
              <a:pathLst>
                <a:path w="2616200">
                  <a:moveTo>
                    <a:pt x="0" y="0"/>
                  </a:moveTo>
                  <a:lnTo>
                    <a:pt x="2616200" y="0"/>
                  </a:lnTo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3657600" y="723899"/>
              <a:ext cx="2743200" cy="76200"/>
            </a:xfrm>
            <a:custGeom>
              <a:avLst/>
              <a:gdLst/>
              <a:ahLst/>
              <a:cxnLst/>
              <a:rect l="l" t="t" r="r" b="b"/>
              <a:pathLst>
                <a:path w="27432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  <a:path w="2743200" h="76200">
                  <a:moveTo>
                    <a:pt x="2743200" y="38100"/>
                  </a:moveTo>
                  <a:lnTo>
                    <a:pt x="2667000" y="0"/>
                  </a:lnTo>
                  <a:lnTo>
                    <a:pt x="2667000" y="76200"/>
                  </a:lnTo>
                  <a:lnTo>
                    <a:pt x="2743200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1" name="object 131"/>
          <p:cNvSpPr txBox="1">
            <a:spLocks noGrp="1"/>
          </p:cNvSpPr>
          <p:nvPr>
            <p:ph type="title"/>
          </p:nvPr>
        </p:nvSpPr>
        <p:spPr>
          <a:xfrm>
            <a:off x="6830377" y="739775"/>
            <a:ext cx="20307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Times New Roman"/>
                <a:cs typeface="Times New Roman"/>
              </a:rPr>
              <a:t>Memory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Read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Cycle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32" name="object 132"/>
          <p:cNvGrpSpPr/>
          <p:nvPr/>
        </p:nvGrpSpPr>
        <p:grpSpPr>
          <a:xfrm>
            <a:off x="6386515" y="714371"/>
            <a:ext cx="2743200" cy="76200"/>
            <a:chOff x="6386515" y="714371"/>
            <a:chExt cx="2743200" cy="76200"/>
          </a:xfrm>
        </p:grpSpPr>
        <p:sp>
          <p:nvSpPr>
            <p:cNvPr id="133" name="object 133"/>
            <p:cNvSpPr/>
            <p:nvPr/>
          </p:nvSpPr>
          <p:spPr>
            <a:xfrm>
              <a:off x="6450013" y="752474"/>
              <a:ext cx="2616200" cy="0"/>
            </a:xfrm>
            <a:custGeom>
              <a:avLst/>
              <a:gdLst/>
              <a:ahLst/>
              <a:cxnLst/>
              <a:rect l="l" t="t" r="r" b="b"/>
              <a:pathLst>
                <a:path w="2616200">
                  <a:moveTo>
                    <a:pt x="0" y="0"/>
                  </a:moveTo>
                  <a:lnTo>
                    <a:pt x="2616200" y="0"/>
                  </a:lnTo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6386512" y="714374"/>
              <a:ext cx="2743200" cy="76200"/>
            </a:xfrm>
            <a:custGeom>
              <a:avLst/>
              <a:gdLst/>
              <a:ahLst/>
              <a:cxnLst/>
              <a:rect l="l" t="t" r="r" b="b"/>
              <a:pathLst>
                <a:path w="27432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  <a:path w="2743200" h="76200">
                  <a:moveTo>
                    <a:pt x="2743200" y="38100"/>
                  </a:moveTo>
                  <a:lnTo>
                    <a:pt x="2667000" y="0"/>
                  </a:lnTo>
                  <a:lnTo>
                    <a:pt x="2667000" y="76200"/>
                  </a:lnTo>
                  <a:lnTo>
                    <a:pt x="2743200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9740" y="830072"/>
            <a:ext cx="3187700" cy="221996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2400" spc="-5" dirty="0">
                <a:latin typeface="Times New Roman"/>
                <a:cs typeface="Times New Roman"/>
              </a:rPr>
              <a:t>Instruction: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  <a:tabLst>
                <a:tab pos="1840864" algn="l"/>
              </a:tabLst>
            </a:pPr>
            <a:r>
              <a:rPr sz="2400" spc="-5" dirty="0">
                <a:latin typeface="Times New Roman"/>
                <a:cs typeface="Times New Roman"/>
              </a:rPr>
              <a:t>A000h	MOV</a:t>
            </a:r>
            <a:r>
              <a:rPr sz="2400" spc="-17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A,M</a:t>
            </a:r>
            <a:endParaRPr sz="2400">
              <a:latin typeface="Times New Roman"/>
              <a:cs typeface="Times New Roman"/>
            </a:endParaRPr>
          </a:p>
          <a:p>
            <a:pPr marL="12700" marR="298450">
              <a:lnSpc>
                <a:spcPct val="150000"/>
              </a:lnSpc>
              <a:tabLst>
                <a:tab pos="1840864" algn="l"/>
              </a:tabLst>
            </a:pPr>
            <a:r>
              <a:rPr sz="2400" spc="-5" dirty="0">
                <a:latin typeface="Times New Roman"/>
                <a:cs typeface="Times New Roman"/>
              </a:rPr>
              <a:t>Corresponding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Coding: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A000h	</a:t>
            </a:r>
            <a:r>
              <a:rPr sz="2400" dirty="0">
                <a:latin typeface="Times New Roman"/>
                <a:cs typeface="Times New Roman"/>
              </a:rPr>
              <a:t>7E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36678" y="204469"/>
            <a:ext cx="3872229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i="1" u="heavy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Timing</a:t>
            </a:r>
            <a:r>
              <a:rPr b="1" i="1" u="heavy" spc="-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b="1" i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Diagram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40425" y="1974850"/>
          <a:ext cx="2130425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46863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OFC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46863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MEMR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4946650" y="1746250"/>
            <a:ext cx="1016000" cy="1841500"/>
            <a:chOff x="4946650" y="1746250"/>
            <a:chExt cx="1016000" cy="1841500"/>
          </a:xfrm>
        </p:grpSpPr>
        <p:sp>
          <p:nvSpPr>
            <p:cNvPr id="4" name="object 4"/>
            <p:cNvSpPr/>
            <p:nvPr/>
          </p:nvSpPr>
          <p:spPr>
            <a:xfrm>
              <a:off x="4953000" y="1752600"/>
              <a:ext cx="914400" cy="1828800"/>
            </a:xfrm>
            <a:custGeom>
              <a:avLst/>
              <a:gdLst/>
              <a:ahLst/>
              <a:cxnLst/>
              <a:rect l="l" t="t" r="r" b="b"/>
              <a:pathLst>
                <a:path w="914400" h="1828800">
                  <a:moveTo>
                    <a:pt x="914400" y="0"/>
                  </a:moveTo>
                  <a:lnTo>
                    <a:pt x="0" y="0"/>
                  </a:lnTo>
                  <a:lnTo>
                    <a:pt x="0" y="1828800"/>
                  </a:lnTo>
                  <a:lnTo>
                    <a:pt x="914400" y="18288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953000" y="1752600"/>
              <a:ext cx="914400" cy="1828800"/>
            </a:xfrm>
            <a:custGeom>
              <a:avLst/>
              <a:gdLst/>
              <a:ahLst/>
              <a:cxnLst/>
              <a:rect l="l" t="t" r="r" b="b"/>
              <a:pathLst>
                <a:path w="914400" h="1828800">
                  <a:moveTo>
                    <a:pt x="0" y="0"/>
                  </a:moveTo>
                  <a:lnTo>
                    <a:pt x="914400" y="0"/>
                  </a:lnTo>
                  <a:lnTo>
                    <a:pt x="9144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867402" y="2466969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0"/>
                  </a:moveTo>
                  <a:lnTo>
                    <a:pt x="0" y="47625"/>
                  </a:lnTo>
                  <a:lnTo>
                    <a:pt x="95250" y="9525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031740" y="3756152"/>
            <a:ext cx="635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8085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17740" y="3679952"/>
            <a:ext cx="1075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Mem</a:t>
            </a:r>
            <a:r>
              <a:rPr sz="2400" dirty="0">
                <a:latin typeface="Times New Roman"/>
                <a:cs typeface="Times New Roman"/>
              </a:rPr>
              <a:t>o</a:t>
            </a:r>
            <a:r>
              <a:rPr sz="2400" spc="-5" dirty="0">
                <a:latin typeface="Times New Roman"/>
                <a:cs typeface="Times New Roman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3540" y="1439672"/>
            <a:ext cx="3187700" cy="221996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2400" spc="-5" dirty="0">
                <a:latin typeface="Times New Roman"/>
                <a:cs typeface="Times New Roman"/>
              </a:rPr>
              <a:t>Instruction: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  <a:tabLst>
                <a:tab pos="1840864" algn="l"/>
              </a:tabLst>
            </a:pPr>
            <a:r>
              <a:rPr sz="2400" spc="-5" dirty="0">
                <a:latin typeface="Times New Roman"/>
                <a:cs typeface="Times New Roman"/>
              </a:rPr>
              <a:t>A000h	MOV</a:t>
            </a:r>
            <a:r>
              <a:rPr sz="2400" spc="-17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A,M</a:t>
            </a:r>
            <a:endParaRPr sz="2400">
              <a:latin typeface="Times New Roman"/>
              <a:cs typeface="Times New Roman"/>
            </a:endParaRPr>
          </a:p>
          <a:p>
            <a:pPr marL="12700" marR="298450">
              <a:lnSpc>
                <a:spcPct val="150000"/>
              </a:lnSpc>
              <a:tabLst>
                <a:tab pos="1840864" algn="l"/>
              </a:tabLst>
            </a:pPr>
            <a:r>
              <a:rPr sz="2400" spc="-5" dirty="0">
                <a:latin typeface="Times New Roman"/>
                <a:cs typeface="Times New Roman"/>
              </a:rPr>
              <a:t>Corresponding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Coding: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A000h	</a:t>
            </a:r>
            <a:r>
              <a:rPr sz="2400" dirty="0">
                <a:latin typeface="Times New Roman"/>
                <a:cs typeface="Times New Roman"/>
              </a:rPr>
              <a:t>7E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636678" y="204469"/>
            <a:ext cx="3872229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i="1" u="heavy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Timing</a:t>
            </a:r>
            <a:r>
              <a:rPr b="1" i="1" u="heavy" spc="-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b="1" i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Diagram</a:t>
            </a:r>
          </a:p>
        </p:txBody>
      </p:sp>
      <p:sp>
        <p:nvSpPr>
          <p:cNvPr id="11" name="object 11"/>
          <p:cNvSpPr/>
          <p:nvPr/>
        </p:nvSpPr>
        <p:spPr>
          <a:xfrm>
            <a:off x="5876927" y="2924169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95250" y="0"/>
                </a:moveTo>
                <a:lnTo>
                  <a:pt x="0" y="47625"/>
                </a:lnTo>
                <a:lnTo>
                  <a:pt x="95250" y="95250"/>
                </a:lnTo>
                <a:lnTo>
                  <a:pt x="952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95750" y="1181100"/>
            <a:ext cx="457200" cy="0"/>
          </a:xfrm>
          <a:custGeom>
            <a:avLst/>
            <a:gdLst/>
            <a:ahLst/>
            <a:cxnLst/>
            <a:rect l="l" t="t" r="r" b="b"/>
            <a:pathLst>
              <a:path w="457200">
                <a:moveTo>
                  <a:pt x="0" y="0"/>
                </a:moveTo>
                <a:lnTo>
                  <a:pt x="457200" y="0"/>
                </a:lnTo>
              </a:path>
            </a:pathLst>
          </a:custGeom>
          <a:ln w="22225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3627437" y="788987"/>
            <a:ext cx="479425" cy="392430"/>
            <a:chOff x="3627437" y="788987"/>
            <a:chExt cx="479425" cy="392430"/>
          </a:xfrm>
        </p:grpSpPr>
        <p:sp>
          <p:nvSpPr>
            <p:cNvPr id="4" name="object 4"/>
            <p:cNvSpPr/>
            <p:nvPr/>
          </p:nvSpPr>
          <p:spPr>
            <a:xfrm>
              <a:off x="3638550" y="800100"/>
              <a:ext cx="457200" cy="381000"/>
            </a:xfrm>
            <a:custGeom>
              <a:avLst/>
              <a:gdLst/>
              <a:ahLst/>
              <a:cxnLst/>
              <a:rect l="l" t="t" r="r" b="b"/>
              <a:pathLst>
                <a:path w="457200" h="381000">
                  <a:moveTo>
                    <a:pt x="0" y="0"/>
                  </a:moveTo>
                  <a:lnTo>
                    <a:pt x="0" y="381000"/>
                  </a:lnTo>
                </a:path>
                <a:path w="457200" h="381000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095750" y="8001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5010150" y="1176337"/>
            <a:ext cx="457200" cy="0"/>
          </a:xfrm>
          <a:custGeom>
            <a:avLst/>
            <a:gdLst/>
            <a:ahLst/>
            <a:cxnLst/>
            <a:rect l="l" t="t" r="r" b="b"/>
            <a:pathLst>
              <a:path w="457200">
                <a:moveTo>
                  <a:pt x="0" y="0"/>
                </a:moveTo>
                <a:lnTo>
                  <a:pt x="457200" y="0"/>
                </a:lnTo>
              </a:path>
            </a:pathLst>
          </a:custGeom>
          <a:ln w="22225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4541837" y="784225"/>
            <a:ext cx="479425" cy="392430"/>
            <a:chOff x="4541837" y="784225"/>
            <a:chExt cx="479425" cy="392430"/>
          </a:xfrm>
        </p:grpSpPr>
        <p:sp>
          <p:nvSpPr>
            <p:cNvPr id="8" name="object 8"/>
            <p:cNvSpPr/>
            <p:nvPr/>
          </p:nvSpPr>
          <p:spPr>
            <a:xfrm>
              <a:off x="4552950" y="795337"/>
              <a:ext cx="457200" cy="381000"/>
            </a:xfrm>
            <a:custGeom>
              <a:avLst/>
              <a:gdLst/>
              <a:ahLst/>
              <a:cxnLst/>
              <a:rect l="l" t="t" r="r" b="b"/>
              <a:pathLst>
                <a:path w="457200" h="381000">
                  <a:moveTo>
                    <a:pt x="0" y="0"/>
                  </a:moveTo>
                  <a:lnTo>
                    <a:pt x="0" y="381000"/>
                  </a:lnTo>
                </a:path>
                <a:path w="457200" h="381000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010150" y="795337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5924550" y="1181100"/>
            <a:ext cx="457200" cy="0"/>
          </a:xfrm>
          <a:custGeom>
            <a:avLst/>
            <a:gdLst/>
            <a:ahLst/>
            <a:cxnLst/>
            <a:rect l="l" t="t" r="r" b="b"/>
            <a:pathLst>
              <a:path w="457200">
                <a:moveTo>
                  <a:pt x="0" y="0"/>
                </a:moveTo>
                <a:lnTo>
                  <a:pt x="457200" y="0"/>
                </a:lnTo>
              </a:path>
            </a:pathLst>
          </a:custGeom>
          <a:ln w="22225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5456237" y="788987"/>
            <a:ext cx="479425" cy="392430"/>
            <a:chOff x="5456237" y="788987"/>
            <a:chExt cx="479425" cy="392430"/>
          </a:xfrm>
        </p:grpSpPr>
        <p:sp>
          <p:nvSpPr>
            <p:cNvPr id="12" name="object 12"/>
            <p:cNvSpPr/>
            <p:nvPr/>
          </p:nvSpPr>
          <p:spPr>
            <a:xfrm>
              <a:off x="5467350" y="800100"/>
              <a:ext cx="457200" cy="381000"/>
            </a:xfrm>
            <a:custGeom>
              <a:avLst/>
              <a:gdLst/>
              <a:ahLst/>
              <a:cxnLst/>
              <a:rect l="l" t="t" r="r" b="b"/>
              <a:pathLst>
                <a:path w="457200" h="381000">
                  <a:moveTo>
                    <a:pt x="0" y="0"/>
                  </a:moveTo>
                  <a:lnTo>
                    <a:pt x="0" y="381000"/>
                  </a:lnTo>
                </a:path>
                <a:path w="457200" h="381000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924550" y="8001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6838950" y="1181100"/>
            <a:ext cx="457200" cy="0"/>
          </a:xfrm>
          <a:custGeom>
            <a:avLst/>
            <a:gdLst/>
            <a:ahLst/>
            <a:cxnLst/>
            <a:rect l="l" t="t" r="r" b="b"/>
            <a:pathLst>
              <a:path w="457200">
                <a:moveTo>
                  <a:pt x="0" y="0"/>
                </a:moveTo>
                <a:lnTo>
                  <a:pt x="457200" y="0"/>
                </a:lnTo>
              </a:path>
            </a:pathLst>
          </a:custGeom>
          <a:ln w="22225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6370637" y="788987"/>
            <a:ext cx="479425" cy="392430"/>
            <a:chOff x="6370637" y="788987"/>
            <a:chExt cx="479425" cy="392430"/>
          </a:xfrm>
        </p:grpSpPr>
        <p:sp>
          <p:nvSpPr>
            <p:cNvPr id="16" name="object 16"/>
            <p:cNvSpPr/>
            <p:nvPr/>
          </p:nvSpPr>
          <p:spPr>
            <a:xfrm>
              <a:off x="6381750" y="800100"/>
              <a:ext cx="457200" cy="381000"/>
            </a:xfrm>
            <a:custGeom>
              <a:avLst/>
              <a:gdLst/>
              <a:ahLst/>
              <a:cxnLst/>
              <a:rect l="l" t="t" r="r" b="b"/>
              <a:pathLst>
                <a:path w="457200" h="381000">
                  <a:moveTo>
                    <a:pt x="0" y="0"/>
                  </a:moveTo>
                  <a:lnTo>
                    <a:pt x="0" y="381000"/>
                  </a:lnTo>
                </a:path>
                <a:path w="457200" h="381000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838950" y="8001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7753350" y="1181100"/>
            <a:ext cx="457200" cy="0"/>
          </a:xfrm>
          <a:custGeom>
            <a:avLst/>
            <a:gdLst/>
            <a:ahLst/>
            <a:cxnLst/>
            <a:rect l="l" t="t" r="r" b="b"/>
            <a:pathLst>
              <a:path w="457200">
                <a:moveTo>
                  <a:pt x="0" y="0"/>
                </a:moveTo>
                <a:lnTo>
                  <a:pt x="457200" y="0"/>
                </a:lnTo>
              </a:path>
            </a:pathLst>
          </a:custGeom>
          <a:ln w="22225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7285037" y="788987"/>
            <a:ext cx="479425" cy="392430"/>
            <a:chOff x="7285037" y="788987"/>
            <a:chExt cx="479425" cy="392430"/>
          </a:xfrm>
        </p:grpSpPr>
        <p:sp>
          <p:nvSpPr>
            <p:cNvPr id="20" name="object 20"/>
            <p:cNvSpPr/>
            <p:nvPr/>
          </p:nvSpPr>
          <p:spPr>
            <a:xfrm>
              <a:off x="7296150" y="800100"/>
              <a:ext cx="457200" cy="381000"/>
            </a:xfrm>
            <a:custGeom>
              <a:avLst/>
              <a:gdLst/>
              <a:ahLst/>
              <a:cxnLst/>
              <a:rect l="l" t="t" r="r" b="b"/>
              <a:pathLst>
                <a:path w="457200" h="381000">
                  <a:moveTo>
                    <a:pt x="0" y="0"/>
                  </a:moveTo>
                  <a:lnTo>
                    <a:pt x="0" y="381000"/>
                  </a:lnTo>
                </a:path>
                <a:path w="457200" h="381000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753350" y="8001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/>
          <p:nvPr/>
        </p:nvSpPr>
        <p:spPr>
          <a:xfrm>
            <a:off x="8667750" y="1181100"/>
            <a:ext cx="457200" cy="0"/>
          </a:xfrm>
          <a:custGeom>
            <a:avLst/>
            <a:gdLst/>
            <a:ahLst/>
            <a:cxnLst/>
            <a:rect l="l" t="t" r="r" b="b"/>
            <a:pathLst>
              <a:path w="457200">
                <a:moveTo>
                  <a:pt x="0" y="0"/>
                </a:moveTo>
                <a:lnTo>
                  <a:pt x="457200" y="0"/>
                </a:lnTo>
              </a:path>
            </a:pathLst>
          </a:custGeom>
          <a:ln w="22225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3" name="object 23"/>
          <p:cNvGrpSpPr/>
          <p:nvPr/>
        </p:nvGrpSpPr>
        <p:grpSpPr>
          <a:xfrm>
            <a:off x="8199437" y="788987"/>
            <a:ext cx="479425" cy="392430"/>
            <a:chOff x="8199437" y="788987"/>
            <a:chExt cx="479425" cy="392430"/>
          </a:xfrm>
        </p:grpSpPr>
        <p:sp>
          <p:nvSpPr>
            <p:cNvPr id="24" name="object 24"/>
            <p:cNvSpPr/>
            <p:nvPr/>
          </p:nvSpPr>
          <p:spPr>
            <a:xfrm>
              <a:off x="8210550" y="800100"/>
              <a:ext cx="457200" cy="381000"/>
            </a:xfrm>
            <a:custGeom>
              <a:avLst/>
              <a:gdLst/>
              <a:ahLst/>
              <a:cxnLst/>
              <a:rect l="l" t="t" r="r" b="b"/>
              <a:pathLst>
                <a:path w="457200" h="381000">
                  <a:moveTo>
                    <a:pt x="0" y="0"/>
                  </a:moveTo>
                  <a:lnTo>
                    <a:pt x="0" y="381000"/>
                  </a:lnTo>
                </a:path>
                <a:path w="457200" h="381000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667750" y="8001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/>
          <p:nvPr/>
        </p:nvSpPr>
        <p:spPr>
          <a:xfrm>
            <a:off x="9124950" y="800100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22225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7" name="object 27"/>
          <p:cNvGrpSpPr/>
          <p:nvPr/>
        </p:nvGrpSpPr>
        <p:grpSpPr>
          <a:xfrm>
            <a:off x="2703512" y="788987"/>
            <a:ext cx="925830" cy="403225"/>
            <a:chOff x="2703512" y="788987"/>
            <a:chExt cx="925830" cy="403225"/>
          </a:xfrm>
        </p:grpSpPr>
        <p:sp>
          <p:nvSpPr>
            <p:cNvPr id="28" name="object 28"/>
            <p:cNvSpPr/>
            <p:nvPr/>
          </p:nvSpPr>
          <p:spPr>
            <a:xfrm>
              <a:off x="2714625" y="800100"/>
              <a:ext cx="457200" cy="381000"/>
            </a:xfrm>
            <a:custGeom>
              <a:avLst/>
              <a:gdLst/>
              <a:ahLst/>
              <a:cxnLst/>
              <a:rect l="l" t="t" r="r" b="b"/>
              <a:pathLst>
                <a:path w="457200" h="381000">
                  <a:moveTo>
                    <a:pt x="0" y="0"/>
                  </a:moveTo>
                  <a:lnTo>
                    <a:pt x="0" y="381000"/>
                  </a:lnTo>
                </a:path>
                <a:path w="457200" h="381000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171825" y="8001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171825" y="1181100"/>
              <a:ext cx="457200" cy="0"/>
            </a:xfrm>
            <a:custGeom>
              <a:avLst/>
              <a:gdLst/>
              <a:ahLst/>
              <a:cxnLst/>
              <a:rect l="l" t="t" r="r" b="b"/>
              <a:pathLst>
                <a:path w="457200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/>
          <p:nvPr/>
        </p:nvSpPr>
        <p:spPr>
          <a:xfrm>
            <a:off x="3629025" y="1404937"/>
            <a:ext cx="0" cy="4953000"/>
          </a:xfrm>
          <a:custGeom>
            <a:avLst/>
            <a:gdLst/>
            <a:ahLst/>
            <a:cxnLst/>
            <a:rect l="l" t="t" r="r" b="b"/>
            <a:pathLst>
              <a:path h="4953000">
                <a:moveTo>
                  <a:pt x="0" y="0"/>
                </a:moveTo>
                <a:lnTo>
                  <a:pt x="0" y="4953000"/>
                </a:lnTo>
              </a:path>
            </a:pathLst>
          </a:custGeom>
          <a:ln w="12700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457825" y="1404937"/>
            <a:ext cx="0" cy="4953000"/>
          </a:xfrm>
          <a:custGeom>
            <a:avLst/>
            <a:gdLst/>
            <a:ahLst/>
            <a:cxnLst/>
            <a:rect l="l" t="t" r="r" b="b"/>
            <a:pathLst>
              <a:path h="4953000">
                <a:moveTo>
                  <a:pt x="0" y="0"/>
                </a:moveTo>
                <a:lnTo>
                  <a:pt x="0" y="4953000"/>
                </a:lnTo>
              </a:path>
            </a:pathLst>
          </a:custGeom>
          <a:ln w="12700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543425" y="1404937"/>
            <a:ext cx="0" cy="4953000"/>
          </a:xfrm>
          <a:custGeom>
            <a:avLst/>
            <a:gdLst/>
            <a:ahLst/>
            <a:cxnLst/>
            <a:rect l="l" t="t" r="r" b="b"/>
            <a:pathLst>
              <a:path h="4953000">
                <a:moveTo>
                  <a:pt x="0" y="0"/>
                </a:moveTo>
                <a:lnTo>
                  <a:pt x="0" y="4953000"/>
                </a:lnTo>
              </a:path>
            </a:pathLst>
          </a:custGeom>
          <a:ln w="12700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286625" y="1404937"/>
            <a:ext cx="0" cy="4953000"/>
          </a:xfrm>
          <a:custGeom>
            <a:avLst/>
            <a:gdLst/>
            <a:ahLst/>
            <a:cxnLst/>
            <a:rect l="l" t="t" r="r" b="b"/>
            <a:pathLst>
              <a:path h="4953000">
                <a:moveTo>
                  <a:pt x="0" y="0"/>
                </a:moveTo>
                <a:lnTo>
                  <a:pt x="0" y="4953000"/>
                </a:lnTo>
              </a:path>
            </a:pathLst>
          </a:custGeom>
          <a:ln w="12700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372225" y="1404937"/>
            <a:ext cx="0" cy="4953000"/>
          </a:xfrm>
          <a:custGeom>
            <a:avLst/>
            <a:gdLst/>
            <a:ahLst/>
            <a:cxnLst/>
            <a:rect l="l" t="t" r="r" b="b"/>
            <a:pathLst>
              <a:path h="4953000">
                <a:moveTo>
                  <a:pt x="0" y="0"/>
                </a:moveTo>
                <a:lnTo>
                  <a:pt x="0" y="4953000"/>
                </a:lnTo>
              </a:path>
            </a:pathLst>
          </a:custGeom>
          <a:ln w="12700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9115425" y="1404937"/>
            <a:ext cx="0" cy="4953000"/>
          </a:xfrm>
          <a:custGeom>
            <a:avLst/>
            <a:gdLst/>
            <a:ahLst/>
            <a:cxnLst/>
            <a:rect l="l" t="t" r="r" b="b"/>
            <a:pathLst>
              <a:path h="4953000">
                <a:moveTo>
                  <a:pt x="0" y="0"/>
                </a:moveTo>
                <a:lnTo>
                  <a:pt x="0" y="4953000"/>
                </a:lnTo>
              </a:path>
            </a:pathLst>
          </a:custGeom>
          <a:ln w="12700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201025" y="1404937"/>
            <a:ext cx="0" cy="4953000"/>
          </a:xfrm>
          <a:custGeom>
            <a:avLst/>
            <a:gdLst/>
            <a:ahLst/>
            <a:cxnLst/>
            <a:rect l="l" t="t" r="r" b="b"/>
            <a:pathLst>
              <a:path h="4953000">
                <a:moveTo>
                  <a:pt x="0" y="0"/>
                </a:moveTo>
                <a:lnTo>
                  <a:pt x="0" y="4953000"/>
                </a:lnTo>
              </a:path>
            </a:pathLst>
          </a:custGeom>
          <a:ln w="12700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457825" y="2595563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0" y="0"/>
                </a:moveTo>
                <a:lnTo>
                  <a:pt x="914400" y="0"/>
                </a:lnTo>
              </a:path>
            </a:pathLst>
          </a:custGeom>
          <a:ln w="25400">
            <a:solidFill>
              <a:srgbClr val="00CC99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9" name="object 39"/>
          <p:cNvGrpSpPr/>
          <p:nvPr/>
        </p:nvGrpSpPr>
        <p:grpSpPr>
          <a:xfrm>
            <a:off x="2701925" y="3082925"/>
            <a:ext cx="3670300" cy="558800"/>
            <a:chOff x="2701925" y="3082925"/>
            <a:chExt cx="3670300" cy="558800"/>
          </a:xfrm>
        </p:grpSpPr>
        <p:sp>
          <p:nvSpPr>
            <p:cNvPr id="40" name="object 40"/>
            <p:cNvSpPr/>
            <p:nvPr/>
          </p:nvSpPr>
          <p:spPr>
            <a:xfrm>
              <a:off x="2867025" y="3095625"/>
              <a:ext cx="561975" cy="0"/>
            </a:xfrm>
            <a:custGeom>
              <a:avLst/>
              <a:gdLst/>
              <a:ahLst/>
              <a:cxnLst/>
              <a:rect l="l" t="t" r="r" b="b"/>
              <a:pathLst>
                <a:path w="561975">
                  <a:moveTo>
                    <a:pt x="0" y="0"/>
                  </a:moveTo>
                  <a:lnTo>
                    <a:pt x="561975" y="0"/>
                  </a:lnTo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419475" y="3095625"/>
              <a:ext cx="228600" cy="533400"/>
            </a:xfrm>
            <a:custGeom>
              <a:avLst/>
              <a:gdLst/>
              <a:ahLst/>
              <a:cxnLst/>
              <a:rect l="l" t="t" r="r" b="b"/>
              <a:pathLst>
                <a:path w="228600" h="533400">
                  <a:moveTo>
                    <a:pt x="0" y="0"/>
                  </a:moveTo>
                  <a:lnTo>
                    <a:pt x="228600" y="533400"/>
                  </a:lnTo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714625" y="3095625"/>
              <a:ext cx="152400" cy="533400"/>
            </a:xfrm>
            <a:custGeom>
              <a:avLst/>
              <a:gdLst/>
              <a:ahLst/>
              <a:cxnLst/>
              <a:rect l="l" t="t" r="r" b="b"/>
              <a:pathLst>
                <a:path w="152400" h="533400">
                  <a:moveTo>
                    <a:pt x="0" y="533400"/>
                  </a:moveTo>
                  <a:lnTo>
                    <a:pt x="152400" y="0"/>
                  </a:lnTo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629025" y="3629025"/>
              <a:ext cx="2743200" cy="0"/>
            </a:xfrm>
            <a:custGeom>
              <a:avLst/>
              <a:gdLst/>
              <a:ahLst/>
              <a:cxnLst/>
              <a:rect l="l" t="t" r="r" b="b"/>
              <a:pathLst>
                <a:path w="2743200">
                  <a:moveTo>
                    <a:pt x="0" y="0"/>
                  </a:moveTo>
                  <a:lnTo>
                    <a:pt x="2743200" y="0"/>
                  </a:lnTo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4" name="object 44"/>
          <p:cNvGrpSpPr/>
          <p:nvPr/>
        </p:nvGrpSpPr>
        <p:grpSpPr>
          <a:xfrm>
            <a:off x="6359525" y="3078162"/>
            <a:ext cx="2768600" cy="563880"/>
            <a:chOff x="6359525" y="3078162"/>
            <a:chExt cx="2768600" cy="563880"/>
          </a:xfrm>
        </p:grpSpPr>
        <p:sp>
          <p:nvSpPr>
            <p:cNvPr id="45" name="object 45"/>
            <p:cNvSpPr/>
            <p:nvPr/>
          </p:nvSpPr>
          <p:spPr>
            <a:xfrm>
              <a:off x="6524625" y="3090863"/>
              <a:ext cx="561975" cy="0"/>
            </a:xfrm>
            <a:custGeom>
              <a:avLst/>
              <a:gdLst/>
              <a:ahLst/>
              <a:cxnLst/>
              <a:rect l="l" t="t" r="r" b="b"/>
              <a:pathLst>
                <a:path w="561975">
                  <a:moveTo>
                    <a:pt x="0" y="0"/>
                  </a:moveTo>
                  <a:lnTo>
                    <a:pt x="561975" y="0"/>
                  </a:lnTo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077075" y="3090863"/>
              <a:ext cx="228600" cy="533400"/>
            </a:xfrm>
            <a:custGeom>
              <a:avLst/>
              <a:gdLst/>
              <a:ahLst/>
              <a:cxnLst/>
              <a:rect l="l" t="t" r="r" b="b"/>
              <a:pathLst>
                <a:path w="228600" h="533400">
                  <a:moveTo>
                    <a:pt x="0" y="0"/>
                  </a:moveTo>
                  <a:lnTo>
                    <a:pt x="228600" y="533400"/>
                  </a:lnTo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372225" y="3090862"/>
              <a:ext cx="152400" cy="533400"/>
            </a:xfrm>
            <a:custGeom>
              <a:avLst/>
              <a:gdLst/>
              <a:ahLst/>
              <a:cxnLst/>
              <a:rect l="l" t="t" r="r" b="b"/>
              <a:pathLst>
                <a:path w="152400" h="533400">
                  <a:moveTo>
                    <a:pt x="0" y="533400"/>
                  </a:moveTo>
                  <a:lnTo>
                    <a:pt x="152400" y="0"/>
                  </a:lnTo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286625" y="3624262"/>
              <a:ext cx="1828800" cy="5080"/>
            </a:xfrm>
            <a:custGeom>
              <a:avLst/>
              <a:gdLst/>
              <a:ahLst/>
              <a:cxnLst/>
              <a:rect l="l" t="t" r="r" b="b"/>
              <a:pathLst>
                <a:path w="1828800" h="5079">
                  <a:moveTo>
                    <a:pt x="0" y="0"/>
                  </a:moveTo>
                  <a:lnTo>
                    <a:pt x="1828800" y="4762"/>
                  </a:lnTo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9" name="object 49"/>
          <p:cNvGrpSpPr/>
          <p:nvPr/>
        </p:nvGrpSpPr>
        <p:grpSpPr>
          <a:xfrm>
            <a:off x="2700337" y="3960812"/>
            <a:ext cx="6416675" cy="560705"/>
            <a:chOff x="2700337" y="3960812"/>
            <a:chExt cx="6416675" cy="560705"/>
          </a:xfrm>
        </p:grpSpPr>
        <p:sp>
          <p:nvSpPr>
            <p:cNvPr id="50" name="object 50"/>
            <p:cNvSpPr/>
            <p:nvPr/>
          </p:nvSpPr>
          <p:spPr>
            <a:xfrm>
              <a:off x="2700337" y="3976687"/>
              <a:ext cx="914400" cy="0"/>
            </a:xfrm>
            <a:custGeom>
              <a:avLst/>
              <a:gdLst/>
              <a:ahLst/>
              <a:cxnLst/>
              <a:rect l="l" t="t" r="r" b="b"/>
              <a:pathLst>
                <a:path w="914400">
                  <a:moveTo>
                    <a:pt x="0" y="0"/>
                  </a:moveTo>
                  <a:lnTo>
                    <a:pt x="914400" y="0"/>
                  </a:lnTo>
                </a:path>
              </a:pathLst>
            </a:custGeom>
            <a:ln w="22225">
              <a:solidFill>
                <a:srgbClr val="8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614737" y="3976687"/>
              <a:ext cx="152400" cy="533400"/>
            </a:xfrm>
            <a:custGeom>
              <a:avLst/>
              <a:gdLst/>
              <a:ahLst/>
              <a:cxnLst/>
              <a:rect l="l" t="t" r="r" b="b"/>
              <a:pathLst>
                <a:path w="152400" h="533400">
                  <a:moveTo>
                    <a:pt x="0" y="0"/>
                  </a:moveTo>
                  <a:lnTo>
                    <a:pt x="152400" y="533400"/>
                  </a:lnTo>
                </a:path>
              </a:pathLst>
            </a:custGeom>
            <a:ln w="22225">
              <a:solidFill>
                <a:srgbClr val="8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767137" y="4510087"/>
              <a:ext cx="1524000" cy="0"/>
            </a:xfrm>
            <a:custGeom>
              <a:avLst/>
              <a:gdLst/>
              <a:ahLst/>
              <a:cxnLst/>
              <a:rect l="l" t="t" r="r" b="b"/>
              <a:pathLst>
                <a:path w="1524000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ln w="22225">
              <a:solidFill>
                <a:srgbClr val="8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291137" y="3976687"/>
              <a:ext cx="1981200" cy="533400"/>
            </a:xfrm>
            <a:custGeom>
              <a:avLst/>
              <a:gdLst/>
              <a:ahLst/>
              <a:cxnLst/>
              <a:rect l="l" t="t" r="r" b="b"/>
              <a:pathLst>
                <a:path w="1981200" h="533400">
                  <a:moveTo>
                    <a:pt x="152400" y="0"/>
                  </a:moveTo>
                  <a:lnTo>
                    <a:pt x="0" y="533400"/>
                  </a:lnTo>
                </a:path>
                <a:path w="1981200" h="533400">
                  <a:moveTo>
                    <a:pt x="152400" y="0"/>
                  </a:moveTo>
                  <a:lnTo>
                    <a:pt x="1981200" y="0"/>
                  </a:lnTo>
                </a:path>
              </a:pathLst>
            </a:custGeom>
            <a:ln w="22225">
              <a:solidFill>
                <a:srgbClr val="8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277100" y="3971925"/>
              <a:ext cx="152400" cy="533400"/>
            </a:xfrm>
            <a:custGeom>
              <a:avLst/>
              <a:gdLst/>
              <a:ahLst/>
              <a:cxnLst/>
              <a:rect l="l" t="t" r="r" b="b"/>
              <a:pathLst>
                <a:path w="152400" h="533400">
                  <a:moveTo>
                    <a:pt x="0" y="0"/>
                  </a:moveTo>
                  <a:lnTo>
                    <a:pt x="152400" y="533400"/>
                  </a:lnTo>
                </a:path>
              </a:pathLst>
            </a:custGeom>
            <a:ln w="22225">
              <a:solidFill>
                <a:srgbClr val="8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7429500" y="4505325"/>
              <a:ext cx="1524000" cy="0"/>
            </a:xfrm>
            <a:custGeom>
              <a:avLst/>
              <a:gdLst/>
              <a:ahLst/>
              <a:cxnLst/>
              <a:rect l="l" t="t" r="r" b="b"/>
              <a:pathLst>
                <a:path w="1524000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ln w="22225">
              <a:solidFill>
                <a:srgbClr val="8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8953500" y="3971925"/>
              <a:ext cx="152400" cy="533400"/>
            </a:xfrm>
            <a:custGeom>
              <a:avLst/>
              <a:gdLst/>
              <a:ahLst/>
              <a:cxnLst/>
              <a:rect l="l" t="t" r="r" b="b"/>
              <a:pathLst>
                <a:path w="152400" h="533400">
                  <a:moveTo>
                    <a:pt x="152400" y="0"/>
                  </a:moveTo>
                  <a:lnTo>
                    <a:pt x="0" y="533400"/>
                  </a:lnTo>
                </a:path>
              </a:pathLst>
            </a:custGeom>
            <a:ln w="22225">
              <a:solidFill>
                <a:srgbClr val="8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/>
          <p:nvPr/>
        </p:nvSpPr>
        <p:spPr>
          <a:xfrm>
            <a:off x="2714625" y="4752975"/>
            <a:ext cx="228600" cy="533400"/>
          </a:xfrm>
          <a:custGeom>
            <a:avLst/>
            <a:gdLst/>
            <a:ahLst/>
            <a:cxnLst/>
            <a:rect l="l" t="t" r="r" b="b"/>
            <a:pathLst>
              <a:path w="228600" h="533400">
                <a:moveTo>
                  <a:pt x="0" y="533400"/>
                </a:moveTo>
                <a:lnTo>
                  <a:pt x="228600" y="0"/>
                </a:lnTo>
              </a:path>
            </a:pathLst>
          </a:custGeom>
          <a:ln w="22225">
            <a:solidFill>
              <a:srgbClr val="9933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2670649" y="5424576"/>
            <a:ext cx="345440" cy="466725"/>
          </a:xfrm>
          <a:custGeom>
            <a:avLst/>
            <a:gdLst/>
            <a:ahLst/>
            <a:cxnLst/>
            <a:rect l="l" t="t" r="r" b="b"/>
            <a:pathLst>
              <a:path w="345439" h="466725">
                <a:moveTo>
                  <a:pt x="345122" y="466547"/>
                </a:moveTo>
                <a:lnTo>
                  <a:pt x="0" y="0"/>
                </a:lnTo>
              </a:path>
            </a:pathLst>
          </a:custGeom>
          <a:ln w="28575">
            <a:solidFill>
              <a:srgbClr val="9933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9" name="object 59"/>
          <p:cNvGrpSpPr/>
          <p:nvPr/>
        </p:nvGrpSpPr>
        <p:grpSpPr>
          <a:xfrm>
            <a:off x="2708275" y="1703388"/>
            <a:ext cx="6413500" cy="1003300"/>
            <a:chOff x="2708275" y="1703388"/>
            <a:chExt cx="6413500" cy="1003300"/>
          </a:xfrm>
        </p:grpSpPr>
        <p:sp>
          <p:nvSpPr>
            <p:cNvPr id="60" name="object 60"/>
            <p:cNvSpPr/>
            <p:nvPr/>
          </p:nvSpPr>
          <p:spPr>
            <a:xfrm>
              <a:off x="3629025" y="2366963"/>
              <a:ext cx="1828800" cy="333375"/>
            </a:xfrm>
            <a:custGeom>
              <a:avLst/>
              <a:gdLst/>
              <a:ahLst/>
              <a:cxnLst/>
              <a:rect l="l" t="t" r="r" b="b"/>
              <a:pathLst>
                <a:path w="1828800" h="333375">
                  <a:moveTo>
                    <a:pt x="1463040" y="0"/>
                  </a:moveTo>
                  <a:lnTo>
                    <a:pt x="365760" y="0"/>
                  </a:lnTo>
                  <a:lnTo>
                    <a:pt x="0" y="166687"/>
                  </a:lnTo>
                  <a:lnTo>
                    <a:pt x="365760" y="333375"/>
                  </a:lnTo>
                  <a:lnTo>
                    <a:pt x="1463040" y="333375"/>
                  </a:lnTo>
                  <a:lnTo>
                    <a:pt x="1828800" y="166687"/>
                  </a:lnTo>
                  <a:lnTo>
                    <a:pt x="1463040" y="0"/>
                  </a:lnTo>
                  <a:close/>
                </a:path>
              </a:pathLst>
            </a:custGeom>
            <a:solidFill>
              <a:srgbClr val="00CC99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629025" y="2366963"/>
              <a:ext cx="1828800" cy="333375"/>
            </a:xfrm>
            <a:custGeom>
              <a:avLst/>
              <a:gdLst/>
              <a:ahLst/>
              <a:cxnLst/>
              <a:rect l="l" t="t" r="r" b="b"/>
              <a:pathLst>
                <a:path w="1828800" h="333375">
                  <a:moveTo>
                    <a:pt x="0" y="166687"/>
                  </a:moveTo>
                  <a:lnTo>
                    <a:pt x="365760" y="0"/>
                  </a:lnTo>
                  <a:lnTo>
                    <a:pt x="1463040" y="0"/>
                  </a:lnTo>
                  <a:lnTo>
                    <a:pt x="1828800" y="166687"/>
                  </a:lnTo>
                  <a:lnTo>
                    <a:pt x="1463040" y="333375"/>
                  </a:lnTo>
                  <a:lnTo>
                    <a:pt x="365760" y="333375"/>
                  </a:lnTo>
                  <a:lnTo>
                    <a:pt x="0" y="16668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2714625" y="2366963"/>
              <a:ext cx="914400" cy="333375"/>
            </a:xfrm>
            <a:custGeom>
              <a:avLst/>
              <a:gdLst/>
              <a:ahLst/>
              <a:cxnLst/>
              <a:rect l="l" t="t" r="r" b="b"/>
              <a:pathLst>
                <a:path w="914400" h="333375">
                  <a:moveTo>
                    <a:pt x="731520" y="0"/>
                  </a:moveTo>
                  <a:lnTo>
                    <a:pt x="182880" y="0"/>
                  </a:lnTo>
                  <a:lnTo>
                    <a:pt x="0" y="166687"/>
                  </a:lnTo>
                  <a:lnTo>
                    <a:pt x="182880" y="333375"/>
                  </a:lnTo>
                  <a:lnTo>
                    <a:pt x="731520" y="333375"/>
                  </a:lnTo>
                  <a:lnTo>
                    <a:pt x="914400" y="166687"/>
                  </a:lnTo>
                  <a:lnTo>
                    <a:pt x="731520" y="0"/>
                  </a:lnTo>
                  <a:close/>
                </a:path>
              </a:pathLst>
            </a:custGeom>
            <a:solidFill>
              <a:srgbClr val="00CC99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2714625" y="2366963"/>
              <a:ext cx="914400" cy="333375"/>
            </a:xfrm>
            <a:custGeom>
              <a:avLst/>
              <a:gdLst/>
              <a:ahLst/>
              <a:cxnLst/>
              <a:rect l="l" t="t" r="r" b="b"/>
              <a:pathLst>
                <a:path w="914400" h="333375">
                  <a:moveTo>
                    <a:pt x="0" y="166687"/>
                  </a:moveTo>
                  <a:lnTo>
                    <a:pt x="182880" y="0"/>
                  </a:lnTo>
                  <a:lnTo>
                    <a:pt x="731520" y="0"/>
                  </a:lnTo>
                  <a:lnTo>
                    <a:pt x="914400" y="166687"/>
                  </a:lnTo>
                  <a:lnTo>
                    <a:pt x="731520" y="333375"/>
                  </a:lnTo>
                  <a:lnTo>
                    <a:pt x="182880" y="333375"/>
                  </a:lnTo>
                  <a:lnTo>
                    <a:pt x="0" y="16668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2714625" y="1709738"/>
              <a:ext cx="3657600" cy="333375"/>
            </a:xfrm>
            <a:custGeom>
              <a:avLst/>
              <a:gdLst/>
              <a:ahLst/>
              <a:cxnLst/>
              <a:rect l="l" t="t" r="r" b="b"/>
              <a:pathLst>
                <a:path w="3657600" h="333375">
                  <a:moveTo>
                    <a:pt x="2926080" y="0"/>
                  </a:moveTo>
                  <a:lnTo>
                    <a:pt x="731520" y="0"/>
                  </a:lnTo>
                  <a:lnTo>
                    <a:pt x="0" y="166687"/>
                  </a:lnTo>
                  <a:lnTo>
                    <a:pt x="731520" y="333375"/>
                  </a:lnTo>
                  <a:lnTo>
                    <a:pt x="2926080" y="333375"/>
                  </a:lnTo>
                  <a:lnTo>
                    <a:pt x="3657600" y="166687"/>
                  </a:lnTo>
                  <a:lnTo>
                    <a:pt x="2926080" y="0"/>
                  </a:lnTo>
                  <a:close/>
                </a:path>
              </a:pathLst>
            </a:custGeom>
            <a:solidFill>
              <a:srgbClr val="3366FF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2714625" y="1709738"/>
              <a:ext cx="3657600" cy="333375"/>
            </a:xfrm>
            <a:custGeom>
              <a:avLst/>
              <a:gdLst/>
              <a:ahLst/>
              <a:cxnLst/>
              <a:rect l="l" t="t" r="r" b="b"/>
              <a:pathLst>
                <a:path w="3657600" h="333375">
                  <a:moveTo>
                    <a:pt x="0" y="166687"/>
                  </a:moveTo>
                  <a:lnTo>
                    <a:pt x="731520" y="0"/>
                  </a:lnTo>
                  <a:lnTo>
                    <a:pt x="2926080" y="0"/>
                  </a:lnTo>
                  <a:lnTo>
                    <a:pt x="3657600" y="166687"/>
                  </a:lnTo>
                  <a:lnTo>
                    <a:pt x="2926080" y="333375"/>
                  </a:lnTo>
                  <a:lnTo>
                    <a:pt x="731520" y="333375"/>
                  </a:lnTo>
                  <a:lnTo>
                    <a:pt x="0" y="16668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372225" y="1709738"/>
              <a:ext cx="2743200" cy="333375"/>
            </a:xfrm>
            <a:custGeom>
              <a:avLst/>
              <a:gdLst/>
              <a:ahLst/>
              <a:cxnLst/>
              <a:rect l="l" t="t" r="r" b="b"/>
              <a:pathLst>
                <a:path w="2743200" h="333375">
                  <a:moveTo>
                    <a:pt x="2194560" y="0"/>
                  </a:moveTo>
                  <a:lnTo>
                    <a:pt x="548640" y="0"/>
                  </a:lnTo>
                  <a:lnTo>
                    <a:pt x="0" y="166687"/>
                  </a:lnTo>
                  <a:lnTo>
                    <a:pt x="548640" y="333375"/>
                  </a:lnTo>
                  <a:lnTo>
                    <a:pt x="2194560" y="333375"/>
                  </a:lnTo>
                  <a:lnTo>
                    <a:pt x="2743200" y="166687"/>
                  </a:lnTo>
                  <a:lnTo>
                    <a:pt x="2194560" y="0"/>
                  </a:lnTo>
                  <a:close/>
                </a:path>
              </a:pathLst>
            </a:custGeom>
            <a:solidFill>
              <a:srgbClr val="3366FF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372225" y="1709738"/>
              <a:ext cx="2743200" cy="333375"/>
            </a:xfrm>
            <a:custGeom>
              <a:avLst/>
              <a:gdLst/>
              <a:ahLst/>
              <a:cxnLst/>
              <a:rect l="l" t="t" r="r" b="b"/>
              <a:pathLst>
                <a:path w="2743200" h="333375">
                  <a:moveTo>
                    <a:pt x="0" y="166687"/>
                  </a:moveTo>
                  <a:lnTo>
                    <a:pt x="548640" y="0"/>
                  </a:lnTo>
                  <a:lnTo>
                    <a:pt x="2194560" y="0"/>
                  </a:lnTo>
                  <a:lnTo>
                    <a:pt x="2743200" y="166687"/>
                  </a:lnTo>
                  <a:lnTo>
                    <a:pt x="2194560" y="333375"/>
                  </a:lnTo>
                  <a:lnTo>
                    <a:pt x="548640" y="333375"/>
                  </a:lnTo>
                  <a:lnTo>
                    <a:pt x="0" y="16668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8" name="object 68"/>
          <p:cNvGrpSpPr/>
          <p:nvPr/>
        </p:nvGrpSpPr>
        <p:grpSpPr>
          <a:xfrm>
            <a:off x="6365875" y="2389188"/>
            <a:ext cx="927100" cy="346075"/>
            <a:chOff x="6365875" y="2389188"/>
            <a:chExt cx="927100" cy="346075"/>
          </a:xfrm>
        </p:grpSpPr>
        <p:sp>
          <p:nvSpPr>
            <p:cNvPr id="69" name="object 69"/>
            <p:cNvSpPr/>
            <p:nvPr/>
          </p:nvSpPr>
          <p:spPr>
            <a:xfrm>
              <a:off x="6372225" y="2395538"/>
              <a:ext cx="914400" cy="333375"/>
            </a:xfrm>
            <a:custGeom>
              <a:avLst/>
              <a:gdLst/>
              <a:ahLst/>
              <a:cxnLst/>
              <a:rect l="l" t="t" r="r" b="b"/>
              <a:pathLst>
                <a:path w="914400" h="333375">
                  <a:moveTo>
                    <a:pt x="731520" y="0"/>
                  </a:moveTo>
                  <a:lnTo>
                    <a:pt x="182880" y="0"/>
                  </a:lnTo>
                  <a:lnTo>
                    <a:pt x="0" y="166687"/>
                  </a:lnTo>
                  <a:lnTo>
                    <a:pt x="182880" y="333375"/>
                  </a:lnTo>
                  <a:lnTo>
                    <a:pt x="731520" y="333375"/>
                  </a:lnTo>
                  <a:lnTo>
                    <a:pt x="914400" y="166687"/>
                  </a:lnTo>
                  <a:lnTo>
                    <a:pt x="731520" y="0"/>
                  </a:lnTo>
                  <a:close/>
                </a:path>
              </a:pathLst>
            </a:custGeom>
            <a:solidFill>
              <a:srgbClr val="00CC99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6372225" y="2395538"/>
              <a:ext cx="914400" cy="333375"/>
            </a:xfrm>
            <a:custGeom>
              <a:avLst/>
              <a:gdLst/>
              <a:ahLst/>
              <a:cxnLst/>
              <a:rect l="l" t="t" r="r" b="b"/>
              <a:pathLst>
                <a:path w="914400" h="333375">
                  <a:moveTo>
                    <a:pt x="0" y="166687"/>
                  </a:moveTo>
                  <a:lnTo>
                    <a:pt x="182880" y="0"/>
                  </a:lnTo>
                  <a:lnTo>
                    <a:pt x="731520" y="0"/>
                  </a:lnTo>
                  <a:lnTo>
                    <a:pt x="914400" y="166687"/>
                  </a:lnTo>
                  <a:lnTo>
                    <a:pt x="731520" y="333375"/>
                  </a:lnTo>
                  <a:lnTo>
                    <a:pt x="182880" y="333375"/>
                  </a:lnTo>
                  <a:lnTo>
                    <a:pt x="0" y="16668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6592252" y="2436749"/>
            <a:ext cx="473709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5" dirty="0">
                <a:latin typeface="Times New Roman"/>
                <a:cs typeface="Times New Roman"/>
              </a:rPr>
              <a:t>L</a:t>
            </a:r>
            <a:r>
              <a:rPr sz="1400" b="1" spc="-8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Re</a:t>
            </a:r>
            <a:r>
              <a:rPr sz="1400" b="1" spc="-5" dirty="0">
                <a:latin typeface="Times New Roman"/>
                <a:cs typeface="Times New Roman"/>
              </a:rPr>
              <a:t>g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7280275" y="2389188"/>
            <a:ext cx="1841500" cy="346075"/>
            <a:chOff x="7280275" y="2389188"/>
            <a:chExt cx="1841500" cy="346075"/>
          </a:xfrm>
        </p:grpSpPr>
        <p:sp>
          <p:nvSpPr>
            <p:cNvPr id="73" name="object 73"/>
            <p:cNvSpPr/>
            <p:nvPr/>
          </p:nvSpPr>
          <p:spPr>
            <a:xfrm>
              <a:off x="7286625" y="2395538"/>
              <a:ext cx="1828800" cy="333375"/>
            </a:xfrm>
            <a:custGeom>
              <a:avLst/>
              <a:gdLst/>
              <a:ahLst/>
              <a:cxnLst/>
              <a:rect l="l" t="t" r="r" b="b"/>
              <a:pathLst>
                <a:path w="1828800" h="333375">
                  <a:moveTo>
                    <a:pt x="1463040" y="0"/>
                  </a:moveTo>
                  <a:lnTo>
                    <a:pt x="365760" y="0"/>
                  </a:lnTo>
                  <a:lnTo>
                    <a:pt x="0" y="166687"/>
                  </a:lnTo>
                  <a:lnTo>
                    <a:pt x="365760" y="333375"/>
                  </a:lnTo>
                  <a:lnTo>
                    <a:pt x="1463040" y="333375"/>
                  </a:lnTo>
                  <a:lnTo>
                    <a:pt x="1828800" y="166687"/>
                  </a:lnTo>
                  <a:lnTo>
                    <a:pt x="1463040" y="0"/>
                  </a:lnTo>
                  <a:close/>
                </a:path>
              </a:pathLst>
            </a:custGeom>
            <a:solidFill>
              <a:srgbClr val="00CC99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7286625" y="2395538"/>
              <a:ext cx="1828800" cy="333375"/>
            </a:xfrm>
            <a:custGeom>
              <a:avLst/>
              <a:gdLst/>
              <a:ahLst/>
              <a:cxnLst/>
              <a:rect l="l" t="t" r="r" b="b"/>
              <a:pathLst>
                <a:path w="1828800" h="333375">
                  <a:moveTo>
                    <a:pt x="0" y="166687"/>
                  </a:moveTo>
                  <a:lnTo>
                    <a:pt x="365760" y="0"/>
                  </a:lnTo>
                  <a:lnTo>
                    <a:pt x="1463040" y="0"/>
                  </a:lnTo>
                  <a:lnTo>
                    <a:pt x="1828800" y="166687"/>
                  </a:lnTo>
                  <a:lnTo>
                    <a:pt x="1463040" y="333375"/>
                  </a:lnTo>
                  <a:lnTo>
                    <a:pt x="365760" y="333375"/>
                  </a:lnTo>
                  <a:lnTo>
                    <a:pt x="0" y="16668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5" name="object 75"/>
          <p:cNvSpPr txBox="1"/>
          <p:nvPr/>
        </p:nvSpPr>
        <p:spPr>
          <a:xfrm>
            <a:off x="7656417" y="2436749"/>
            <a:ext cx="108966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5" dirty="0">
                <a:latin typeface="Times New Roman"/>
                <a:cs typeface="Times New Roman"/>
              </a:rPr>
              <a:t>Content</a:t>
            </a:r>
            <a:r>
              <a:rPr sz="1400" b="1" spc="-55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Of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M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2793364" y="2021649"/>
            <a:ext cx="3539490" cy="937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A</a:t>
            </a:r>
            <a:r>
              <a:rPr sz="800" b="1" spc="-5" dirty="0">
                <a:solidFill>
                  <a:srgbClr val="800000"/>
                </a:solidFill>
                <a:latin typeface="Times New Roman"/>
                <a:cs typeface="Times New Roman"/>
              </a:rPr>
              <a:t>15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-</a:t>
            </a:r>
            <a:r>
              <a:rPr sz="1600" b="1" spc="-100" dirty="0">
                <a:solidFill>
                  <a:srgbClr val="80000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A</a:t>
            </a:r>
            <a:r>
              <a:rPr sz="800" b="1" spc="-5" dirty="0">
                <a:solidFill>
                  <a:srgbClr val="800000"/>
                </a:solidFill>
                <a:latin typeface="Times New Roman"/>
                <a:cs typeface="Times New Roman"/>
              </a:rPr>
              <a:t>8</a:t>
            </a:r>
            <a:r>
              <a:rPr sz="800" b="1" spc="-15" dirty="0">
                <a:solidFill>
                  <a:srgbClr val="80000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(H</a:t>
            </a:r>
            <a:r>
              <a:rPr sz="1600" b="1" spc="-5" dirty="0">
                <a:solidFill>
                  <a:srgbClr val="800000"/>
                </a:solidFill>
                <a:latin typeface="Times New Roman"/>
                <a:cs typeface="Times New Roman"/>
              </a:rPr>
              <a:t>i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g</a:t>
            </a:r>
            <a:r>
              <a:rPr sz="1600" b="1" spc="-5" dirty="0">
                <a:solidFill>
                  <a:srgbClr val="800000"/>
                </a:solidFill>
                <a:latin typeface="Times New Roman"/>
                <a:cs typeface="Times New Roman"/>
              </a:rPr>
              <a:t>h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er</a:t>
            </a:r>
            <a:r>
              <a:rPr sz="1600" b="1" spc="-20" dirty="0">
                <a:solidFill>
                  <a:srgbClr val="80000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Or</a:t>
            </a:r>
            <a:r>
              <a:rPr sz="1600" b="1" spc="-5" dirty="0">
                <a:solidFill>
                  <a:srgbClr val="800000"/>
                </a:solidFill>
                <a:latin typeface="Times New Roman"/>
                <a:cs typeface="Times New Roman"/>
              </a:rPr>
              <a:t>d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er</a:t>
            </a:r>
            <a:r>
              <a:rPr sz="1600" b="1" spc="-125" dirty="0">
                <a:solidFill>
                  <a:srgbClr val="80000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A</a:t>
            </a:r>
            <a:r>
              <a:rPr sz="1600" b="1" spc="-5" dirty="0">
                <a:solidFill>
                  <a:srgbClr val="800000"/>
                </a:solidFill>
                <a:latin typeface="Times New Roman"/>
                <a:cs typeface="Times New Roman"/>
              </a:rPr>
              <a:t>dd</a:t>
            </a:r>
            <a:r>
              <a:rPr sz="1600" b="1" spc="-30" dirty="0">
                <a:solidFill>
                  <a:srgbClr val="800000"/>
                </a:solidFill>
                <a:latin typeface="Times New Roman"/>
                <a:cs typeface="Times New Roman"/>
              </a:rPr>
              <a:t>r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ess</a:t>
            </a:r>
            <a:r>
              <a:rPr sz="1600" b="1" spc="-10" dirty="0">
                <a:solidFill>
                  <a:srgbClr val="800000"/>
                </a:solidFill>
                <a:latin typeface="Times New Roman"/>
                <a:cs typeface="Times New Roman"/>
              </a:rPr>
              <a:t> </a:t>
            </a:r>
            <a:r>
              <a:rPr sz="1600" b="1" spc="-5" dirty="0">
                <a:solidFill>
                  <a:srgbClr val="800000"/>
                </a:solidFill>
                <a:latin typeface="Times New Roman"/>
                <a:cs typeface="Times New Roman"/>
              </a:rPr>
              <a:t>bu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s)</a:t>
            </a:r>
            <a:endParaRPr sz="1600">
              <a:latin typeface="Times New Roman"/>
              <a:cs typeface="Times New Roman"/>
            </a:endParaRPr>
          </a:p>
          <a:p>
            <a:pPr marL="238760">
              <a:lnSpc>
                <a:spcPct val="100000"/>
              </a:lnSpc>
              <a:spcBef>
                <a:spcPts val="1120"/>
              </a:spcBef>
              <a:tabLst>
                <a:tab pos="1596390" algn="l"/>
              </a:tabLst>
            </a:pPr>
            <a:r>
              <a:rPr sz="1400" b="1" spc="-5" dirty="0">
                <a:latin typeface="Times New Roman"/>
                <a:cs typeface="Times New Roman"/>
              </a:rPr>
              <a:t>00h	7Eh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400" b="1" spc="-10" dirty="0">
                <a:solidFill>
                  <a:srgbClr val="800000"/>
                </a:solidFill>
                <a:latin typeface="Times New Roman"/>
                <a:cs typeface="Times New Roman"/>
              </a:rPr>
              <a:t>DA</a:t>
            </a:r>
            <a:r>
              <a:rPr sz="800" b="1" spc="-5" dirty="0">
                <a:solidFill>
                  <a:srgbClr val="800000"/>
                </a:solidFill>
                <a:latin typeface="Times New Roman"/>
                <a:cs typeface="Times New Roman"/>
              </a:rPr>
              <a:t>7</a:t>
            </a:r>
            <a:r>
              <a:rPr sz="1800" b="1" dirty="0">
                <a:solidFill>
                  <a:srgbClr val="800000"/>
                </a:solidFill>
                <a:latin typeface="Times New Roman"/>
                <a:cs typeface="Times New Roman"/>
              </a:rPr>
              <a:t>-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DA</a:t>
            </a:r>
            <a:r>
              <a:rPr sz="800" b="1" spc="-5" dirty="0">
                <a:solidFill>
                  <a:srgbClr val="800000"/>
                </a:solidFill>
                <a:latin typeface="Times New Roman"/>
                <a:cs typeface="Times New Roman"/>
              </a:rPr>
              <a:t>0</a:t>
            </a:r>
            <a:r>
              <a:rPr sz="800" b="1" spc="-15" dirty="0">
                <a:solidFill>
                  <a:srgbClr val="80000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(Lower</a:t>
            </a:r>
            <a:r>
              <a:rPr sz="1600" b="1" spc="-45" dirty="0">
                <a:solidFill>
                  <a:srgbClr val="80000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or</a:t>
            </a:r>
            <a:r>
              <a:rPr sz="1600" b="1" spc="-5" dirty="0">
                <a:solidFill>
                  <a:srgbClr val="800000"/>
                </a:solidFill>
                <a:latin typeface="Times New Roman"/>
                <a:cs typeface="Times New Roman"/>
              </a:rPr>
              <a:t>d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er</a:t>
            </a:r>
            <a:r>
              <a:rPr sz="1600" b="1" spc="-40" dirty="0">
                <a:solidFill>
                  <a:srgbClr val="80000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a</a:t>
            </a:r>
            <a:r>
              <a:rPr sz="1600" b="1" spc="-5" dirty="0">
                <a:solidFill>
                  <a:srgbClr val="800000"/>
                </a:solidFill>
                <a:latin typeface="Times New Roman"/>
                <a:cs typeface="Times New Roman"/>
              </a:rPr>
              <a:t>dd</a:t>
            </a:r>
            <a:r>
              <a:rPr sz="1600" b="1" spc="-30" dirty="0">
                <a:solidFill>
                  <a:srgbClr val="800000"/>
                </a:solidFill>
                <a:latin typeface="Times New Roman"/>
                <a:cs typeface="Times New Roman"/>
              </a:rPr>
              <a:t>r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ess</a:t>
            </a:r>
            <a:r>
              <a:rPr sz="1600" b="1" spc="-5" dirty="0">
                <a:solidFill>
                  <a:srgbClr val="800000"/>
                </a:solidFill>
                <a:latin typeface="Times New Roman"/>
                <a:cs typeface="Times New Roman"/>
              </a:rPr>
              <a:t>/d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ata</a:t>
            </a:r>
            <a:r>
              <a:rPr sz="1600" b="1" spc="-5" dirty="0">
                <a:solidFill>
                  <a:srgbClr val="80000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B</a:t>
            </a:r>
            <a:r>
              <a:rPr sz="1600" b="1" spc="-5" dirty="0">
                <a:solidFill>
                  <a:srgbClr val="800000"/>
                </a:solidFill>
                <a:latin typeface="Times New Roman"/>
                <a:cs typeface="Times New Roman"/>
              </a:rPr>
              <a:t>u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s)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2793289" y="3602803"/>
            <a:ext cx="44450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ALE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2915565" y="4140939"/>
            <a:ext cx="32004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RD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2928937" y="4171950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600" y="0"/>
                </a:lnTo>
              </a:path>
            </a:pathLst>
          </a:custGeom>
          <a:ln w="12700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 txBox="1"/>
          <p:nvPr/>
        </p:nvSpPr>
        <p:spPr>
          <a:xfrm>
            <a:off x="2898139" y="5041074"/>
            <a:ext cx="37592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WR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2924175" y="5067300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600" y="0"/>
                </a:lnTo>
              </a:path>
            </a:pathLst>
          </a:custGeom>
          <a:ln w="12700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 txBox="1"/>
          <p:nvPr/>
        </p:nvSpPr>
        <p:spPr>
          <a:xfrm>
            <a:off x="2842577" y="5971349"/>
            <a:ext cx="511809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IO</a:t>
            </a:r>
            <a:r>
              <a:rPr sz="1600" b="1" spc="-5" dirty="0">
                <a:solidFill>
                  <a:srgbClr val="800000"/>
                </a:solidFill>
                <a:latin typeface="Times New Roman"/>
                <a:cs typeface="Times New Roman"/>
              </a:rPr>
              <a:t>/M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2973387" y="6007100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600" y="0"/>
                </a:lnTo>
              </a:path>
            </a:pathLst>
          </a:custGeom>
          <a:ln w="12700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2943225" y="4752975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22225">
            <a:solidFill>
              <a:srgbClr val="9933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2971800" y="5881688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22225">
            <a:solidFill>
              <a:srgbClr val="9933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2700337" y="1309687"/>
            <a:ext cx="0" cy="5181600"/>
          </a:xfrm>
          <a:custGeom>
            <a:avLst/>
            <a:gdLst/>
            <a:ahLst/>
            <a:cxnLst/>
            <a:rect l="l" t="t" r="r" b="b"/>
            <a:pathLst>
              <a:path h="5181600">
                <a:moveTo>
                  <a:pt x="0" y="0"/>
                </a:moveTo>
                <a:lnTo>
                  <a:pt x="0" y="5181600"/>
                </a:lnTo>
              </a:path>
            </a:pathLst>
          </a:custGeom>
          <a:ln w="15875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 txBox="1"/>
          <p:nvPr/>
        </p:nvSpPr>
        <p:spPr>
          <a:xfrm>
            <a:off x="3264852" y="6516687"/>
            <a:ext cx="2118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Times New Roman"/>
                <a:cs typeface="Times New Roman"/>
              </a:rPr>
              <a:t>Op-Code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Fetch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Cycle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6830326" y="6478511"/>
            <a:ext cx="20307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Times New Roman"/>
                <a:cs typeface="Times New Roman"/>
              </a:rPr>
              <a:t>Memory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Read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Cycle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89" name="object 89"/>
          <p:cNvGrpSpPr/>
          <p:nvPr/>
        </p:nvGrpSpPr>
        <p:grpSpPr>
          <a:xfrm>
            <a:off x="2728915" y="6453184"/>
            <a:ext cx="6400800" cy="76200"/>
            <a:chOff x="2728915" y="6453184"/>
            <a:chExt cx="6400800" cy="76200"/>
          </a:xfrm>
        </p:grpSpPr>
        <p:sp>
          <p:nvSpPr>
            <p:cNvPr id="90" name="object 90"/>
            <p:cNvSpPr/>
            <p:nvPr/>
          </p:nvSpPr>
          <p:spPr>
            <a:xfrm>
              <a:off x="2792412" y="6491288"/>
              <a:ext cx="3530600" cy="0"/>
            </a:xfrm>
            <a:custGeom>
              <a:avLst/>
              <a:gdLst/>
              <a:ahLst/>
              <a:cxnLst/>
              <a:rect l="l" t="t" r="r" b="b"/>
              <a:pathLst>
                <a:path w="3530600">
                  <a:moveTo>
                    <a:pt x="0" y="0"/>
                  </a:moveTo>
                  <a:lnTo>
                    <a:pt x="3530600" y="0"/>
                  </a:lnTo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2728912" y="6453187"/>
              <a:ext cx="3657600" cy="76200"/>
            </a:xfrm>
            <a:custGeom>
              <a:avLst/>
              <a:gdLst/>
              <a:ahLst/>
              <a:cxnLst/>
              <a:rect l="l" t="t" r="r" b="b"/>
              <a:pathLst>
                <a:path w="36576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  <a:path w="3657600" h="76200">
                  <a:moveTo>
                    <a:pt x="3657600" y="38100"/>
                  </a:moveTo>
                  <a:lnTo>
                    <a:pt x="3581400" y="0"/>
                  </a:lnTo>
                  <a:lnTo>
                    <a:pt x="3581400" y="76200"/>
                  </a:lnTo>
                  <a:lnTo>
                    <a:pt x="3657600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6450013" y="6491288"/>
              <a:ext cx="2616200" cy="0"/>
            </a:xfrm>
            <a:custGeom>
              <a:avLst/>
              <a:gdLst/>
              <a:ahLst/>
              <a:cxnLst/>
              <a:rect l="l" t="t" r="r" b="b"/>
              <a:pathLst>
                <a:path w="2616200">
                  <a:moveTo>
                    <a:pt x="0" y="0"/>
                  </a:moveTo>
                  <a:lnTo>
                    <a:pt x="2616200" y="0"/>
                  </a:lnTo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6386512" y="6453187"/>
              <a:ext cx="2743200" cy="76200"/>
            </a:xfrm>
            <a:custGeom>
              <a:avLst/>
              <a:gdLst/>
              <a:ahLst/>
              <a:cxnLst/>
              <a:rect l="l" t="t" r="r" b="b"/>
              <a:pathLst>
                <a:path w="27432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  <a:path w="2743200" h="76200">
                  <a:moveTo>
                    <a:pt x="2743200" y="38100"/>
                  </a:moveTo>
                  <a:lnTo>
                    <a:pt x="2667000" y="0"/>
                  </a:lnTo>
                  <a:lnTo>
                    <a:pt x="2667000" y="76200"/>
                  </a:lnTo>
                  <a:lnTo>
                    <a:pt x="2743200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4" name="object 94"/>
          <p:cNvSpPr txBox="1"/>
          <p:nvPr/>
        </p:nvSpPr>
        <p:spPr>
          <a:xfrm>
            <a:off x="2950527" y="1552448"/>
            <a:ext cx="1670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T1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3757445" y="1552448"/>
            <a:ext cx="1670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T2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4724448" y="1552448"/>
            <a:ext cx="1670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T3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5659383" y="1552448"/>
            <a:ext cx="1670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T4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6563141" y="1552448"/>
            <a:ext cx="1670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T5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7043387" y="1519624"/>
            <a:ext cx="1493520" cy="46990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434975">
              <a:lnSpc>
                <a:spcPct val="100000"/>
              </a:lnSpc>
              <a:spcBef>
                <a:spcPts val="360"/>
              </a:spcBef>
              <a:tabLst>
                <a:tab pos="1338580" algn="l"/>
              </a:tabLst>
            </a:pPr>
            <a:r>
              <a:rPr sz="1000" dirty="0">
                <a:latin typeface="Times New Roman"/>
                <a:cs typeface="Times New Roman"/>
              </a:rPr>
              <a:t>T6	T7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9"/>
              </a:spcBef>
            </a:pPr>
            <a:r>
              <a:rPr sz="1400" b="1" spc="-5" dirty="0">
                <a:latin typeface="Times New Roman"/>
                <a:cs typeface="Times New Roman"/>
              </a:rPr>
              <a:t>Content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Of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Reg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H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4391977" y="1728724"/>
            <a:ext cx="3416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latin typeface="Times New Roman"/>
                <a:cs typeface="Times New Roman"/>
              </a:rPr>
              <a:t>A</a:t>
            </a:r>
            <a:r>
              <a:rPr sz="1400" b="1" spc="-5" dirty="0">
                <a:latin typeface="Times New Roman"/>
                <a:cs typeface="Times New Roman"/>
              </a:rPr>
              <a:t>0h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1" name="object 101"/>
          <p:cNvSpPr txBox="1">
            <a:spLocks noGrp="1"/>
          </p:cNvSpPr>
          <p:nvPr>
            <p:ph type="title"/>
          </p:nvPr>
        </p:nvSpPr>
        <p:spPr>
          <a:xfrm>
            <a:off x="2636678" y="0"/>
            <a:ext cx="3872229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i="1" u="heavy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Timing</a:t>
            </a:r>
            <a:r>
              <a:rPr b="1" i="1" u="heavy" spc="-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b="1" i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Diagram</a:t>
            </a:r>
          </a:p>
        </p:txBody>
      </p:sp>
      <p:sp>
        <p:nvSpPr>
          <p:cNvPr id="102" name="object 102"/>
          <p:cNvSpPr txBox="1"/>
          <p:nvPr/>
        </p:nvSpPr>
        <p:spPr>
          <a:xfrm>
            <a:off x="78739" y="2386483"/>
            <a:ext cx="2415540" cy="185483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000" spc="-5" dirty="0">
                <a:latin typeface="Times New Roman"/>
                <a:cs typeface="Times New Roman"/>
              </a:rPr>
              <a:t>Instruction: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  <a:tabLst>
                <a:tab pos="927100" algn="l"/>
              </a:tabLst>
            </a:pPr>
            <a:r>
              <a:rPr sz="2000" spc="-1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00</a:t>
            </a:r>
            <a:r>
              <a:rPr sz="2000" dirty="0">
                <a:latin typeface="Times New Roman"/>
                <a:cs typeface="Times New Roman"/>
              </a:rPr>
              <a:t>0</a:t>
            </a:r>
            <a:r>
              <a:rPr sz="2000" spc="-5" dirty="0">
                <a:latin typeface="Times New Roman"/>
                <a:cs typeface="Times New Roman"/>
              </a:rPr>
              <a:t>h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5" dirty="0">
                <a:latin typeface="Times New Roman"/>
                <a:cs typeface="Times New Roman"/>
              </a:rPr>
              <a:t>M</a:t>
            </a:r>
            <a:r>
              <a:rPr sz="2000" spc="-10" dirty="0">
                <a:latin typeface="Times New Roman"/>
                <a:cs typeface="Times New Roman"/>
              </a:rPr>
              <a:t>O</a:t>
            </a:r>
            <a:r>
              <a:rPr sz="2000" spc="-5" dirty="0">
                <a:latin typeface="Times New Roman"/>
                <a:cs typeface="Times New Roman"/>
              </a:rPr>
              <a:t>V</a:t>
            </a:r>
            <a:r>
              <a:rPr sz="2000" spc="-1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A,M</a:t>
            </a: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150000"/>
              </a:lnSpc>
              <a:tabLst>
                <a:tab pos="1841500" algn="l"/>
              </a:tabLst>
            </a:pPr>
            <a:r>
              <a:rPr sz="2000" spc="-5" dirty="0">
                <a:latin typeface="Times New Roman"/>
                <a:cs typeface="Times New Roman"/>
              </a:rPr>
              <a:t>Corresponding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Coding: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A000h	7E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1592072"/>
            <a:ext cx="3204210" cy="221996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2400" spc="-5" dirty="0">
                <a:latin typeface="Times New Roman"/>
                <a:cs typeface="Times New Roman"/>
              </a:rPr>
              <a:t>Instruction: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  <a:tabLst>
                <a:tab pos="1840864" algn="l"/>
              </a:tabLst>
            </a:pPr>
            <a:r>
              <a:rPr sz="2400" spc="-5" dirty="0">
                <a:latin typeface="Times New Roman"/>
                <a:cs typeface="Times New Roman"/>
              </a:rPr>
              <a:t>A000h	MOV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M,A</a:t>
            </a:r>
            <a:endParaRPr sz="2400">
              <a:latin typeface="Times New Roman"/>
              <a:cs typeface="Times New Roman"/>
            </a:endParaRPr>
          </a:p>
          <a:p>
            <a:pPr marL="12700" marR="315595">
              <a:lnSpc>
                <a:spcPct val="150000"/>
              </a:lnSpc>
              <a:tabLst>
                <a:tab pos="1840864" algn="l"/>
              </a:tabLst>
            </a:pPr>
            <a:r>
              <a:rPr sz="2400" spc="-5" dirty="0">
                <a:latin typeface="Times New Roman"/>
                <a:cs typeface="Times New Roman"/>
              </a:rPr>
              <a:t>Corresponding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Coding: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A000h	</a:t>
            </a:r>
            <a:r>
              <a:rPr sz="2400" dirty="0">
                <a:latin typeface="Times New Roman"/>
                <a:cs typeface="Times New Roman"/>
              </a:rPr>
              <a:t>77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36678" y="204469"/>
            <a:ext cx="3872229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i="1" u="heavy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Timing</a:t>
            </a:r>
            <a:r>
              <a:rPr b="1" i="1" u="heavy" spc="-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b="1" i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Diagram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9740" y="1439672"/>
            <a:ext cx="3204210" cy="221996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2400" spc="-5" dirty="0">
                <a:latin typeface="Times New Roman"/>
                <a:cs typeface="Times New Roman"/>
              </a:rPr>
              <a:t>Instruction: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  <a:tabLst>
                <a:tab pos="1840864" algn="l"/>
              </a:tabLst>
            </a:pPr>
            <a:r>
              <a:rPr sz="2400" spc="-5" dirty="0">
                <a:latin typeface="Times New Roman"/>
                <a:cs typeface="Times New Roman"/>
              </a:rPr>
              <a:t>A000h	MOV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M,A</a:t>
            </a:r>
            <a:endParaRPr sz="2400">
              <a:latin typeface="Times New Roman"/>
              <a:cs typeface="Times New Roman"/>
            </a:endParaRPr>
          </a:p>
          <a:p>
            <a:pPr marL="12700" marR="315595">
              <a:lnSpc>
                <a:spcPct val="150000"/>
              </a:lnSpc>
              <a:tabLst>
                <a:tab pos="1840864" algn="l"/>
              </a:tabLst>
            </a:pPr>
            <a:r>
              <a:rPr sz="2400" spc="-5" dirty="0">
                <a:latin typeface="Times New Roman"/>
                <a:cs typeface="Times New Roman"/>
              </a:rPr>
              <a:t>Corresponding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Coding: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A000h	</a:t>
            </a:r>
            <a:r>
              <a:rPr sz="2400" dirty="0">
                <a:latin typeface="Times New Roman"/>
                <a:cs typeface="Times New Roman"/>
              </a:rPr>
              <a:t>77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36678" y="204469"/>
            <a:ext cx="3872229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i="1" u="heavy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Timing</a:t>
            </a:r>
            <a:r>
              <a:rPr b="1" i="1" u="heavy" spc="-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b="1" i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Diagram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946650" y="1746250"/>
            <a:ext cx="3136900" cy="1841500"/>
            <a:chOff x="4946650" y="1746250"/>
            <a:chExt cx="3136900" cy="1841500"/>
          </a:xfrm>
        </p:grpSpPr>
        <p:sp>
          <p:nvSpPr>
            <p:cNvPr id="5" name="object 5"/>
            <p:cNvSpPr/>
            <p:nvPr/>
          </p:nvSpPr>
          <p:spPr>
            <a:xfrm>
              <a:off x="4953000" y="1752600"/>
              <a:ext cx="914400" cy="1828800"/>
            </a:xfrm>
            <a:custGeom>
              <a:avLst/>
              <a:gdLst/>
              <a:ahLst/>
              <a:cxnLst/>
              <a:rect l="l" t="t" r="r" b="b"/>
              <a:pathLst>
                <a:path w="914400" h="1828800">
                  <a:moveTo>
                    <a:pt x="914400" y="0"/>
                  </a:moveTo>
                  <a:lnTo>
                    <a:pt x="0" y="0"/>
                  </a:lnTo>
                  <a:lnTo>
                    <a:pt x="0" y="1828800"/>
                  </a:lnTo>
                  <a:lnTo>
                    <a:pt x="914400" y="18288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53000" y="1752600"/>
              <a:ext cx="914400" cy="1828800"/>
            </a:xfrm>
            <a:custGeom>
              <a:avLst/>
              <a:gdLst/>
              <a:ahLst/>
              <a:cxnLst/>
              <a:rect l="l" t="t" r="r" b="b"/>
              <a:pathLst>
                <a:path w="914400" h="1828800">
                  <a:moveTo>
                    <a:pt x="0" y="0"/>
                  </a:moveTo>
                  <a:lnTo>
                    <a:pt x="914400" y="0"/>
                  </a:lnTo>
                  <a:lnTo>
                    <a:pt x="9144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391400" y="1981200"/>
              <a:ext cx="685800" cy="1524000"/>
            </a:xfrm>
            <a:custGeom>
              <a:avLst/>
              <a:gdLst/>
              <a:ahLst/>
              <a:cxnLst/>
              <a:rect l="l" t="t" r="r" b="b"/>
              <a:pathLst>
                <a:path w="685800" h="1524000">
                  <a:moveTo>
                    <a:pt x="685800" y="0"/>
                  </a:moveTo>
                  <a:lnTo>
                    <a:pt x="0" y="0"/>
                  </a:lnTo>
                  <a:lnTo>
                    <a:pt x="0" y="1524000"/>
                  </a:lnTo>
                  <a:lnTo>
                    <a:pt x="685800" y="15240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00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391400" y="1981200"/>
              <a:ext cx="685800" cy="1524000"/>
            </a:xfrm>
            <a:custGeom>
              <a:avLst/>
              <a:gdLst/>
              <a:ahLst/>
              <a:cxnLst/>
              <a:rect l="l" t="t" r="r" b="b"/>
              <a:pathLst>
                <a:path w="685800" h="1524000">
                  <a:moveTo>
                    <a:pt x="0" y="0"/>
                  </a:moveTo>
                  <a:lnTo>
                    <a:pt x="685800" y="0"/>
                  </a:lnTo>
                  <a:lnTo>
                    <a:pt x="685800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946775" y="2514600"/>
              <a:ext cx="1444625" cy="0"/>
            </a:xfrm>
            <a:custGeom>
              <a:avLst/>
              <a:gdLst/>
              <a:ahLst/>
              <a:cxnLst/>
              <a:rect l="l" t="t" r="r" b="b"/>
              <a:pathLst>
                <a:path w="1444625">
                  <a:moveTo>
                    <a:pt x="1444625" y="0"/>
                  </a:moveTo>
                  <a:lnTo>
                    <a:pt x="0" y="0"/>
                  </a:lnTo>
                </a:path>
              </a:pathLst>
            </a:custGeom>
            <a:ln w="317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867402" y="2466969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0"/>
                  </a:moveTo>
                  <a:lnTo>
                    <a:pt x="0" y="47625"/>
                  </a:lnTo>
                  <a:lnTo>
                    <a:pt x="95250" y="9525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031740" y="3756152"/>
            <a:ext cx="635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8085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317740" y="3679952"/>
            <a:ext cx="1075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Mem</a:t>
            </a:r>
            <a:r>
              <a:rPr sz="2400" dirty="0">
                <a:latin typeface="Times New Roman"/>
                <a:cs typeface="Times New Roman"/>
              </a:rPr>
              <a:t>o</a:t>
            </a:r>
            <a:r>
              <a:rPr sz="2400" spc="-5" dirty="0">
                <a:latin typeface="Times New Roman"/>
                <a:cs typeface="Times New Roman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03340" y="2541524"/>
            <a:ext cx="37147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Times New Roman"/>
                <a:cs typeface="Times New Roman"/>
              </a:rPr>
              <a:t>O</a:t>
            </a:r>
            <a:r>
              <a:rPr sz="1400" spc="-5" dirty="0">
                <a:latin typeface="Times New Roman"/>
                <a:cs typeface="Times New Roman"/>
              </a:rPr>
              <a:t>FC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03340" y="2998705"/>
            <a:ext cx="61658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Times New Roman"/>
                <a:cs typeface="Times New Roman"/>
              </a:rPr>
              <a:t>MEMW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867400" y="2852733"/>
            <a:ext cx="1524000" cy="85725"/>
            <a:chOff x="5867400" y="2852733"/>
            <a:chExt cx="1524000" cy="85725"/>
          </a:xfrm>
        </p:grpSpPr>
        <p:sp>
          <p:nvSpPr>
            <p:cNvPr id="16" name="object 16"/>
            <p:cNvSpPr/>
            <p:nvPr/>
          </p:nvSpPr>
          <p:spPr>
            <a:xfrm>
              <a:off x="5867400" y="2895599"/>
              <a:ext cx="1452880" cy="0"/>
            </a:xfrm>
            <a:custGeom>
              <a:avLst/>
              <a:gdLst/>
              <a:ahLst/>
              <a:cxnLst/>
              <a:rect l="l" t="t" r="r" b="b"/>
              <a:pathLst>
                <a:path w="1452879">
                  <a:moveTo>
                    <a:pt x="0" y="0"/>
                  </a:moveTo>
                  <a:lnTo>
                    <a:pt x="1452562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305677" y="2852733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0" y="0"/>
                  </a:moveTo>
                  <a:lnTo>
                    <a:pt x="0" y="85725"/>
                  </a:lnTo>
                  <a:lnTo>
                    <a:pt x="85725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95750" y="1181100"/>
            <a:ext cx="457200" cy="0"/>
          </a:xfrm>
          <a:custGeom>
            <a:avLst/>
            <a:gdLst/>
            <a:ahLst/>
            <a:cxnLst/>
            <a:rect l="l" t="t" r="r" b="b"/>
            <a:pathLst>
              <a:path w="457200">
                <a:moveTo>
                  <a:pt x="0" y="0"/>
                </a:moveTo>
                <a:lnTo>
                  <a:pt x="457200" y="0"/>
                </a:lnTo>
              </a:path>
            </a:pathLst>
          </a:custGeom>
          <a:ln w="22225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3627437" y="788987"/>
            <a:ext cx="479425" cy="392430"/>
            <a:chOff x="3627437" y="788987"/>
            <a:chExt cx="479425" cy="392430"/>
          </a:xfrm>
        </p:grpSpPr>
        <p:sp>
          <p:nvSpPr>
            <p:cNvPr id="4" name="object 4"/>
            <p:cNvSpPr/>
            <p:nvPr/>
          </p:nvSpPr>
          <p:spPr>
            <a:xfrm>
              <a:off x="3638550" y="800100"/>
              <a:ext cx="457200" cy="381000"/>
            </a:xfrm>
            <a:custGeom>
              <a:avLst/>
              <a:gdLst/>
              <a:ahLst/>
              <a:cxnLst/>
              <a:rect l="l" t="t" r="r" b="b"/>
              <a:pathLst>
                <a:path w="457200" h="381000">
                  <a:moveTo>
                    <a:pt x="0" y="0"/>
                  </a:moveTo>
                  <a:lnTo>
                    <a:pt x="0" y="381000"/>
                  </a:lnTo>
                </a:path>
                <a:path w="457200" h="381000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095750" y="8001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5010150" y="1176337"/>
            <a:ext cx="457200" cy="0"/>
          </a:xfrm>
          <a:custGeom>
            <a:avLst/>
            <a:gdLst/>
            <a:ahLst/>
            <a:cxnLst/>
            <a:rect l="l" t="t" r="r" b="b"/>
            <a:pathLst>
              <a:path w="457200">
                <a:moveTo>
                  <a:pt x="0" y="0"/>
                </a:moveTo>
                <a:lnTo>
                  <a:pt x="457200" y="0"/>
                </a:lnTo>
              </a:path>
            </a:pathLst>
          </a:custGeom>
          <a:ln w="22225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4541837" y="784225"/>
            <a:ext cx="479425" cy="392430"/>
            <a:chOff x="4541837" y="784225"/>
            <a:chExt cx="479425" cy="392430"/>
          </a:xfrm>
        </p:grpSpPr>
        <p:sp>
          <p:nvSpPr>
            <p:cNvPr id="8" name="object 8"/>
            <p:cNvSpPr/>
            <p:nvPr/>
          </p:nvSpPr>
          <p:spPr>
            <a:xfrm>
              <a:off x="4552950" y="795337"/>
              <a:ext cx="457200" cy="381000"/>
            </a:xfrm>
            <a:custGeom>
              <a:avLst/>
              <a:gdLst/>
              <a:ahLst/>
              <a:cxnLst/>
              <a:rect l="l" t="t" r="r" b="b"/>
              <a:pathLst>
                <a:path w="457200" h="381000">
                  <a:moveTo>
                    <a:pt x="0" y="0"/>
                  </a:moveTo>
                  <a:lnTo>
                    <a:pt x="0" y="381000"/>
                  </a:lnTo>
                </a:path>
                <a:path w="457200" h="381000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010150" y="795337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5924550" y="1181100"/>
            <a:ext cx="457200" cy="0"/>
          </a:xfrm>
          <a:custGeom>
            <a:avLst/>
            <a:gdLst/>
            <a:ahLst/>
            <a:cxnLst/>
            <a:rect l="l" t="t" r="r" b="b"/>
            <a:pathLst>
              <a:path w="457200">
                <a:moveTo>
                  <a:pt x="0" y="0"/>
                </a:moveTo>
                <a:lnTo>
                  <a:pt x="457200" y="0"/>
                </a:lnTo>
              </a:path>
            </a:pathLst>
          </a:custGeom>
          <a:ln w="22225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5456237" y="788987"/>
            <a:ext cx="479425" cy="392430"/>
            <a:chOff x="5456237" y="788987"/>
            <a:chExt cx="479425" cy="392430"/>
          </a:xfrm>
        </p:grpSpPr>
        <p:sp>
          <p:nvSpPr>
            <p:cNvPr id="12" name="object 12"/>
            <p:cNvSpPr/>
            <p:nvPr/>
          </p:nvSpPr>
          <p:spPr>
            <a:xfrm>
              <a:off x="5467350" y="800100"/>
              <a:ext cx="457200" cy="381000"/>
            </a:xfrm>
            <a:custGeom>
              <a:avLst/>
              <a:gdLst/>
              <a:ahLst/>
              <a:cxnLst/>
              <a:rect l="l" t="t" r="r" b="b"/>
              <a:pathLst>
                <a:path w="457200" h="381000">
                  <a:moveTo>
                    <a:pt x="0" y="0"/>
                  </a:moveTo>
                  <a:lnTo>
                    <a:pt x="0" y="381000"/>
                  </a:lnTo>
                </a:path>
                <a:path w="457200" h="381000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924550" y="8001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6838950" y="1181100"/>
            <a:ext cx="457200" cy="0"/>
          </a:xfrm>
          <a:custGeom>
            <a:avLst/>
            <a:gdLst/>
            <a:ahLst/>
            <a:cxnLst/>
            <a:rect l="l" t="t" r="r" b="b"/>
            <a:pathLst>
              <a:path w="457200">
                <a:moveTo>
                  <a:pt x="0" y="0"/>
                </a:moveTo>
                <a:lnTo>
                  <a:pt x="457200" y="0"/>
                </a:lnTo>
              </a:path>
            </a:pathLst>
          </a:custGeom>
          <a:ln w="22225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6370637" y="788987"/>
            <a:ext cx="479425" cy="392430"/>
            <a:chOff x="6370637" y="788987"/>
            <a:chExt cx="479425" cy="392430"/>
          </a:xfrm>
        </p:grpSpPr>
        <p:sp>
          <p:nvSpPr>
            <p:cNvPr id="16" name="object 16"/>
            <p:cNvSpPr/>
            <p:nvPr/>
          </p:nvSpPr>
          <p:spPr>
            <a:xfrm>
              <a:off x="6381750" y="800100"/>
              <a:ext cx="457200" cy="381000"/>
            </a:xfrm>
            <a:custGeom>
              <a:avLst/>
              <a:gdLst/>
              <a:ahLst/>
              <a:cxnLst/>
              <a:rect l="l" t="t" r="r" b="b"/>
              <a:pathLst>
                <a:path w="457200" h="381000">
                  <a:moveTo>
                    <a:pt x="0" y="0"/>
                  </a:moveTo>
                  <a:lnTo>
                    <a:pt x="0" y="381000"/>
                  </a:lnTo>
                </a:path>
                <a:path w="457200" h="381000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838950" y="8001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7753350" y="1181100"/>
            <a:ext cx="457200" cy="0"/>
          </a:xfrm>
          <a:custGeom>
            <a:avLst/>
            <a:gdLst/>
            <a:ahLst/>
            <a:cxnLst/>
            <a:rect l="l" t="t" r="r" b="b"/>
            <a:pathLst>
              <a:path w="457200">
                <a:moveTo>
                  <a:pt x="0" y="0"/>
                </a:moveTo>
                <a:lnTo>
                  <a:pt x="457200" y="0"/>
                </a:lnTo>
              </a:path>
            </a:pathLst>
          </a:custGeom>
          <a:ln w="22225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7285037" y="788987"/>
            <a:ext cx="479425" cy="392430"/>
            <a:chOff x="7285037" y="788987"/>
            <a:chExt cx="479425" cy="392430"/>
          </a:xfrm>
        </p:grpSpPr>
        <p:sp>
          <p:nvSpPr>
            <p:cNvPr id="20" name="object 20"/>
            <p:cNvSpPr/>
            <p:nvPr/>
          </p:nvSpPr>
          <p:spPr>
            <a:xfrm>
              <a:off x="7296150" y="800100"/>
              <a:ext cx="457200" cy="381000"/>
            </a:xfrm>
            <a:custGeom>
              <a:avLst/>
              <a:gdLst/>
              <a:ahLst/>
              <a:cxnLst/>
              <a:rect l="l" t="t" r="r" b="b"/>
              <a:pathLst>
                <a:path w="457200" h="381000">
                  <a:moveTo>
                    <a:pt x="0" y="0"/>
                  </a:moveTo>
                  <a:lnTo>
                    <a:pt x="0" y="381000"/>
                  </a:lnTo>
                </a:path>
                <a:path w="457200" h="381000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753350" y="8001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/>
          <p:nvPr/>
        </p:nvSpPr>
        <p:spPr>
          <a:xfrm>
            <a:off x="8667750" y="1181100"/>
            <a:ext cx="457200" cy="0"/>
          </a:xfrm>
          <a:custGeom>
            <a:avLst/>
            <a:gdLst/>
            <a:ahLst/>
            <a:cxnLst/>
            <a:rect l="l" t="t" r="r" b="b"/>
            <a:pathLst>
              <a:path w="457200">
                <a:moveTo>
                  <a:pt x="0" y="0"/>
                </a:moveTo>
                <a:lnTo>
                  <a:pt x="457200" y="0"/>
                </a:lnTo>
              </a:path>
            </a:pathLst>
          </a:custGeom>
          <a:ln w="22225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3" name="object 23"/>
          <p:cNvGrpSpPr/>
          <p:nvPr/>
        </p:nvGrpSpPr>
        <p:grpSpPr>
          <a:xfrm>
            <a:off x="8199437" y="788987"/>
            <a:ext cx="479425" cy="392430"/>
            <a:chOff x="8199437" y="788987"/>
            <a:chExt cx="479425" cy="392430"/>
          </a:xfrm>
        </p:grpSpPr>
        <p:sp>
          <p:nvSpPr>
            <p:cNvPr id="24" name="object 24"/>
            <p:cNvSpPr/>
            <p:nvPr/>
          </p:nvSpPr>
          <p:spPr>
            <a:xfrm>
              <a:off x="8210550" y="800100"/>
              <a:ext cx="457200" cy="381000"/>
            </a:xfrm>
            <a:custGeom>
              <a:avLst/>
              <a:gdLst/>
              <a:ahLst/>
              <a:cxnLst/>
              <a:rect l="l" t="t" r="r" b="b"/>
              <a:pathLst>
                <a:path w="457200" h="381000">
                  <a:moveTo>
                    <a:pt x="0" y="0"/>
                  </a:moveTo>
                  <a:lnTo>
                    <a:pt x="0" y="381000"/>
                  </a:lnTo>
                </a:path>
                <a:path w="457200" h="381000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667750" y="8001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/>
          <p:nvPr/>
        </p:nvSpPr>
        <p:spPr>
          <a:xfrm>
            <a:off x="9124950" y="800100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22225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7" name="object 27"/>
          <p:cNvGrpSpPr/>
          <p:nvPr/>
        </p:nvGrpSpPr>
        <p:grpSpPr>
          <a:xfrm>
            <a:off x="2703512" y="788987"/>
            <a:ext cx="925830" cy="403225"/>
            <a:chOff x="2703512" y="788987"/>
            <a:chExt cx="925830" cy="403225"/>
          </a:xfrm>
        </p:grpSpPr>
        <p:sp>
          <p:nvSpPr>
            <p:cNvPr id="28" name="object 28"/>
            <p:cNvSpPr/>
            <p:nvPr/>
          </p:nvSpPr>
          <p:spPr>
            <a:xfrm>
              <a:off x="2714625" y="800100"/>
              <a:ext cx="457200" cy="381000"/>
            </a:xfrm>
            <a:custGeom>
              <a:avLst/>
              <a:gdLst/>
              <a:ahLst/>
              <a:cxnLst/>
              <a:rect l="l" t="t" r="r" b="b"/>
              <a:pathLst>
                <a:path w="457200" h="381000">
                  <a:moveTo>
                    <a:pt x="0" y="0"/>
                  </a:moveTo>
                  <a:lnTo>
                    <a:pt x="0" y="381000"/>
                  </a:lnTo>
                </a:path>
                <a:path w="457200" h="381000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171825" y="8001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171825" y="1181100"/>
              <a:ext cx="457200" cy="0"/>
            </a:xfrm>
            <a:custGeom>
              <a:avLst/>
              <a:gdLst/>
              <a:ahLst/>
              <a:cxnLst/>
              <a:rect l="l" t="t" r="r" b="b"/>
              <a:pathLst>
                <a:path w="457200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ln w="2222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/>
          <p:nvPr/>
        </p:nvSpPr>
        <p:spPr>
          <a:xfrm>
            <a:off x="3629025" y="1404937"/>
            <a:ext cx="0" cy="4953000"/>
          </a:xfrm>
          <a:custGeom>
            <a:avLst/>
            <a:gdLst/>
            <a:ahLst/>
            <a:cxnLst/>
            <a:rect l="l" t="t" r="r" b="b"/>
            <a:pathLst>
              <a:path h="4953000">
                <a:moveTo>
                  <a:pt x="0" y="0"/>
                </a:moveTo>
                <a:lnTo>
                  <a:pt x="0" y="4953000"/>
                </a:lnTo>
              </a:path>
            </a:pathLst>
          </a:custGeom>
          <a:ln w="12700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457825" y="1404937"/>
            <a:ext cx="0" cy="4953000"/>
          </a:xfrm>
          <a:custGeom>
            <a:avLst/>
            <a:gdLst/>
            <a:ahLst/>
            <a:cxnLst/>
            <a:rect l="l" t="t" r="r" b="b"/>
            <a:pathLst>
              <a:path h="4953000">
                <a:moveTo>
                  <a:pt x="0" y="0"/>
                </a:moveTo>
                <a:lnTo>
                  <a:pt x="0" y="4953000"/>
                </a:lnTo>
              </a:path>
            </a:pathLst>
          </a:custGeom>
          <a:ln w="12700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543425" y="1404937"/>
            <a:ext cx="0" cy="4953000"/>
          </a:xfrm>
          <a:custGeom>
            <a:avLst/>
            <a:gdLst/>
            <a:ahLst/>
            <a:cxnLst/>
            <a:rect l="l" t="t" r="r" b="b"/>
            <a:pathLst>
              <a:path h="4953000">
                <a:moveTo>
                  <a:pt x="0" y="0"/>
                </a:moveTo>
                <a:lnTo>
                  <a:pt x="0" y="4953000"/>
                </a:lnTo>
              </a:path>
            </a:pathLst>
          </a:custGeom>
          <a:ln w="12700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286625" y="1404937"/>
            <a:ext cx="0" cy="4953000"/>
          </a:xfrm>
          <a:custGeom>
            <a:avLst/>
            <a:gdLst/>
            <a:ahLst/>
            <a:cxnLst/>
            <a:rect l="l" t="t" r="r" b="b"/>
            <a:pathLst>
              <a:path h="4953000">
                <a:moveTo>
                  <a:pt x="0" y="0"/>
                </a:moveTo>
                <a:lnTo>
                  <a:pt x="0" y="4953000"/>
                </a:lnTo>
              </a:path>
            </a:pathLst>
          </a:custGeom>
          <a:ln w="12700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372225" y="1404937"/>
            <a:ext cx="0" cy="4953000"/>
          </a:xfrm>
          <a:custGeom>
            <a:avLst/>
            <a:gdLst/>
            <a:ahLst/>
            <a:cxnLst/>
            <a:rect l="l" t="t" r="r" b="b"/>
            <a:pathLst>
              <a:path h="4953000">
                <a:moveTo>
                  <a:pt x="0" y="0"/>
                </a:moveTo>
                <a:lnTo>
                  <a:pt x="0" y="4953000"/>
                </a:lnTo>
              </a:path>
            </a:pathLst>
          </a:custGeom>
          <a:ln w="12700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9115425" y="1404937"/>
            <a:ext cx="0" cy="4953000"/>
          </a:xfrm>
          <a:custGeom>
            <a:avLst/>
            <a:gdLst/>
            <a:ahLst/>
            <a:cxnLst/>
            <a:rect l="l" t="t" r="r" b="b"/>
            <a:pathLst>
              <a:path h="4953000">
                <a:moveTo>
                  <a:pt x="0" y="0"/>
                </a:moveTo>
                <a:lnTo>
                  <a:pt x="0" y="4953000"/>
                </a:lnTo>
              </a:path>
            </a:pathLst>
          </a:custGeom>
          <a:ln w="12700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201025" y="1404937"/>
            <a:ext cx="0" cy="4953000"/>
          </a:xfrm>
          <a:custGeom>
            <a:avLst/>
            <a:gdLst/>
            <a:ahLst/>
            <a:cxnLst/>
            <a:rect l="l" t="t" r="r" b="b"/>
            <a:pathLst>
              <a:path h="4953000">
                <a:moveTo>
                  <a:pt x="0" y="0"/>
                </a:moveTo>
                <a:lnTo>
                  <a:pt x="0" y="4953000"/>
                </a:lnTo>
              </a:path>
            </a:pathLst>
          </a:custGeom>
          <a:ln w="12700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457825" y="2595563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0" y="0"/>
                </a:moveTo>
                <a:lnTo>
                  <a:pt x="914400" y="0"/>
                </a:lnTo>
              </a:path>
            </a:pathLst>
          </a:custGeom>
          <a:ln w="25400">
            <a:solidFill>
              <a:srgbClr val="00CC99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9" name="object 39"/>
          <p:cNvGrpSpPr/>
          <p:nvPr/>
        </p:nvGrpSpPr>
        <p:grpSpPr>
          <a:xfrm>
            <a:off x="2701925" y="3082925"/>
            <a:ext cx="3670300" cy="558800"/>
            <a:chOff x="2701925" y="3082925"/>
            <a:chExt cx="3670300" cy="558800"/>
          </a:xfrm>
        </p:grpSpPr>
        <p:sp>
          <p:nvSpPr>
            <p:cNvPr id="40" name="object 40"/>
            <p:cNvSpPr/>
            <p:nvPr/>
          </p:nvSpPr>
          <p:spPr>
            <a:xfrm>
              <a:off x="2867025" y="3095625"/>
              <a:ext cx="561975" cy="0"/>
            </a:xfrm>
            <a:custGeom>
              <a:avLst/>
              <a:gdLst/>
              <a:ahLst/>
              <a:cxnLst/>
              <a:rect l="l" t="t" r="r" b="b"/>
              <a:pathLst>
                <a:path w="561975">
                  <a:moveTo>
                    <a:pt x="0" y="0"/>
                  </a:moveTo>
                  <a:lnTo>
                    <a:pt x="561975" y="0"/>
                  </a:lnTo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419475" y="3095625"/>
              <a:ext cx="228600" cy="533400"/>
            </a:xfrm>
            <a:custGeom>
              <a:avLst/>
              <a:gdLst/>
              <a:ahLst/>
              <a:cxnLst/>
              <a:rect l="l" t="t" r="r" b="b"/>
              <a:pathLst>
                <a:path w="228600" h="533400">
                  <a:moveTo>
                    <a:pt x="0" y="0"/>
                  </a:moveTo>
                  <a:lnTo>
                    <a:pt x="228600" y="533400"/>
                  </a:lnTo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714625" y="3095625"/>
              <a:ext cx="152400" cy="533400"/>
            </a:xfrm>
            <a:custGeom>
              <a:avLst/>
              <a:gdLst/>
              <a:ahLst/>
              <a:cxnLst/>
              <a:rect l="l" t="t" r="r" b="b"/>
              <a:pathLst>
                <a:path w="152400" h="533400">
                  <a:moveTo>
                    <a:pt x="0" y="533400"/>
                  </a:moveTo>
                  <a:lnTo>
                    <a:pt x="152400" y="0"/>
                  </a:lnTo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629025" y="3629025"/>
              <a:ext cx="2743200" cy="0"/>
            </a:xfrm>
            <a:custGeom>
              <a:avLst/>
              <a:gdLst/>
              <a:ahLst/>
              <a:cxnLst/>
              <a:rect l="l" t="t" r="r" b="b"/>
              <a:pathLst>
                <a:path w="2743200">
                  <a:moveTo>
                    <a:pt x="0" y="0"/>
                  </a:moveTo>
                  <a:lnTo>
                    <a:pt x="2743200" y="0"/>
                  </a:lnTo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4" name="object 44"/>
          <p:cNvGrpSpPr/>
          <p:nvPr/>
        </p:nvGrpSpPr>
        <p:grpSpPr>
          <a:xfrm>
            <a:off x="6359525" y="3078162"/>
            <a:ext cx="2768600" cy="563880"/>
            <a:chOff x="6359525" y="3078162"/>
            <a:chExt cx="2768600" cy="563880"/>
          </a:xfrm>
        </p:grpSpPr>
        <p:sp>
          <p:nvSpPr>
            <p:cNvPr id="45" name="object 45"/>
            <p:cNvSpPr/>
            <p:nvPr/>
          </p:nvSpPr>
          <p:spPr>
            <a:xfrm>
              <a:off x="6524625" y="3090863"/>
              <a:ext cx="561975" cy="0"/>
            </a:xfrm>
            <a:custGeom>
              <a:avLst/>
              <a:gdLst/>
              <a:ahLst/>
              <a:cxnLst/>
              <a:rect l="l" t="t" r="r" b="b"/>
              <a:pathLst>
                <a:path w="561975">
                  <a:moveTo>
                    <a:pt x="0" y="0"/>
                  </a:moveTo>
                  <a:lnTo>
                    <a:pt x="561975" y="0"/>
                  </a:lnTo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077075" y="3090863"/>
              <a:ext cx="228600" cy="533400"/>
            </a:xfrm>
            <a:custGeom>
              <a:avLst/>
              <a:gdLst/>
              <a:ahLst/>
              <a:cxnLst/>
              <a:rect l="l" t="t" r="r" b="b"/>
              <a:pathLst>
                <a:path w="228600" h="533400">
                  <a:moveTo>
                    <a:pt x="0" y="0"/>
                  </a:moveTo>
                  <a:lnTo>
                    <a:pt x="228600" y="533400"/>
                  </a:lnTo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372225" y="3090862"/>
              <a:ext cx="152400" cy="533400"/>
            </a:xfrm>
            <a:custGeom>
              <a:avLst/>
              <a:gdLst/>
              <a:ahLst/>
              <a:cxnLst/>
              <a:rect l="l" t="t" r="r" b="b"/>
              <a:pathLst>
                <a:path w="152400" h="533400">
                  <a:moveTo>
                    <a:pt x="0" y="533400"/>
                  </a:moveTo>
                  <a:lnTo>
                    <a:pt x="152400" y="0"/>
                  </a:lnTo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286625" y="3624262"/>
              <a:ext cx="1828800" cy="5080"/>
            </a:xfrm>
            <a:custGeom>
              <a:avLst/>
              <a:gdLst/>
              <a:ahLst/>
              <a:cxnLst/>
              <a:rect l="l" t="t" r="r" b="b"/>
              <a:pathLst>
                <a:path w="1828800" h="5079">
                  <a:moveTo>
                    <a:pt x="0" y="0"/>
                  </a:moveTo>
                  <a:lnTo>
                    <a:pt x="1828800" y="4762"/>
                  </a:lnTo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9" name="object 49"/>
          <p:cNvGrpSpPr/>
          <p:nvPr/>
        </p:nvGrpSpPr>
        <p:grpSpPr>
          <a:xfrm>
            <a:off x="2700337" y="3951287"/>
            <a:ext cx="6454775" cy="570230"/>
            <a:chOff x="2700337" y="3951287"/>
            <a:chExt cx="6454775" cy="570230"/>
          </a:xfrm>
        </p:grpSpPr>
        <p:sp>
          <p:nvSpPr>
            <p:cNvPr id="50" name="object 50"/>
            <p:cNvSpPr/>
            <p:nvPr/>
          </p:nvSpPr>
          <p:spPr>
            <a:xfrm>
              <a:off x="2700337" y="3976687"/>
              <a:ext cx="914400" cy="0"/>
            </a:xfrm>
            <a:custGeom>
              <a:avLst/>
              <a:gdLst/>
              <a:ahLst/>
              <a:cxnLst/>
              <a:rect l="l" t="t" r="r" b="b"/>
              <a:pathLst>
                <a:path w="914400">
                  <a:moveTo>
                    <a:pt x="0" y="0"/>
                  </a:moveTo>
                  <a:lnTo>
                    <a:pt x="914400" y="0"/>
                  </a:lnTo>
                </a:path>
              </a:pathLst>
            </a:custGeom>
            <a:ln w="22225">
              <a:solidFill>
                <a:srgbClr val="8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614737" y="3976687"/>
              <a:ext cx="152400" cy="533400"/>
            </a:xfrm>
            <a:custGeom>
              <a:avLst/>
              <a:gdLst/>
              <a:ahLst/>
              <a:cxnLst/>
              <a:rect l="l" t="t" r="r" b="b"/>
              <a:pathLst>
                <a:path w="152400" h="533400">
                  <a:moveTo>
                    <a:pt x="0" y="0"/>
                  </a:moveTo>
                  <a:lnTo>
                    <a:pt x="152400" y="533400"/>
                  </a:lnTo>
                </a:path>
              </a:pathLst>
            </a:custGeom>
            <a:ln w="22225">
              <a:solidFill>
                <a:srgbClr val="8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767137" y="4510087"/>
              <a:ext cx="1524000" cy="0"/>
            </a:xfrm>
            <a:custGeom>
              <a:avLst/>
              <a:gdLst/>
              <a:ahLst/>
              <a:cxnLst/>
              <a:rect l="l" t="t" r="r" b="b"/>
              <a:pathLst>
                <a:path w="1524000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ln w="22225">
              <a:solidFill>
                <a:srgbClr val="8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291137" y="3962400"/>
              <a:ext cx="3853179" cy="548005"/>
            </a:xfrm>
            <a:custGeom>
              <a:avLst/>
              <a:gdLst/>
              <a:ahLst/>
              <a:cxnLst/>
              <a:rect l="l" t="t" r="r" b="b"/>
              <a:pathLst>
                <a:path w="3853179" h="548004">
                  <a:moveTo>
                    <a:pt x="152400" y="14287"/>
                  </a:moveTo>
                  <a:lnTo>
                    <a:pt x="0" y="547687"/>
                  </a:lnTo>
                </a:path>
                <a:path w="3853179" h="548004">
                  <a:moveTo>
                    <a:pt x="152400" y="14287"/>
                  </a:moveTo>
                  <a:lnTo>
                    <a:pt x="3852862" y="0"/>
                  </a:lnTo>
                </a:path>
              </a:pathLst>
            </a:custGeom>
            <a:ln w="22225">
              <a:solidFill>
                <a:srgbClr val="8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/>
          <p:nvPr/>
        </p:nvSpPr>
        <p:spPr>
          <a:xfrm>
            <a:off x="2714625" y="4752975"/>
            <a:ext cx="228600" cy="533400"/>
          </a:xfrm>
          <a:custGeom>
            <a:avLst/>
            <a:gdLst/>
            <a:ahLst/>
            <a:cxnLst/>
            <a:rect l="l" t="t" r="r" b="b"/>
            <a:pathLst>
              <a:path w="228600" h="533400">
                <a:moveTo>
                  <a:pt x="0" y="533400"/>
                </a:moveTo>
                <a:lnTo>
                  <a:pt x="228600" y="0"/>
                </a:lnTo>
              </a:path>
            </a:pathLst>
          </a:custGeom>
          <a:ln w="22225">
            <a:solidFill>
              <a:srgbClr val="9933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2670649" y="5424576"/>
            <a:ext cx="345440" cy="466725"/>
          </a:xfrm>
          <a:custGeom>
            <a:avLst/>
            <a:gdLst/>
            <a:ahLst/>
            <a:cxnLst/>
            <a:rect l="l" t="t" r="r" b="b"/>
            <a:pathLst>
              <a:path w="345439" h="466725">
                <a:moveTo>
                  <a:pt x="345122" y="466547"/>
                </a:moveTo>
                <a:lnTo>
                  <a:pt x="0" y="0"/>
                </a:lnTo>
              </a:path>
            </a:pathLst>
          </a:custGeom>
          <a:ln w="28575">
            <a:solidFill>
              <a:srgbClr val="9933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6" name="object 56"/>
          <p:cNvGrpSpPr/>
          <p:nvPr/>
        </p:nvGrpSpPr>
        <p:grpSpPr>
          <a:xfrm>
            <a:off x="2708275" y="1703388"/>
            <a:ext cx="6413500" cy="1003300"/>
            <a:chOff x="2708275" y="1703388"/>
            <a:chExt cx="6413500" cy="1003300"/>
          </a:xfrm>
        </p:grpSpPr>
        <p:sp>
          <p:nvSpPr>
            <p:cNvPr id="57" name="object 57"/>
            <p:cNvSpPr/>
            <p:nvPr/>
          </p:nvSpPr>
          <p:spPr>
            <a:xfrm>
              <a:off x="3629025" y="2366963"/>
              <a:ext cx="1828800" cy="333375"/>
            </a:xfrm>
            <a:custGeom>
              <a:avLst/>
              <a:gdLst/>
              <a:ahLst/>
              <a:cxnLst/>
              <a:rect l="l" t="t" r="r" b="b"/>
              <a:pathLst>
                <a:path w="1828800" h="333375">
                  <a:moveTo>
                    <a:pt x="1463040" y="0"/>
                  </a:moveTo>
                  <a:lnTo>
                    <a:pt x="365760" y="0"/>
                  </a:lnTo>
                  <a:lnTo>
                    <a:pt x="0" y="166687"/>
                  </a:lnTo>
                  <a:lnTo>
                    <a:pt x="365760" y="333375"/>
                  </a:lnTo>
                  <a:lnTo>
                    <a:pt x="1463040" y="333375"/>
                  </a:lnTo>
                  <a:lnTo>
                    <a:pt x="1828800" y="166687"/>
                  </a:lnTo>
                  <a:lnTo>
                    <a:pt x="1463040" y="0"/>
                  </a:lnTo>
                  <a:close/>
                </a:path>
              </a:pathLst>
            </a:custGeom>
            <a:solidFill>
              <a:srgbClr val="00CC99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629025" y="2366963"/>
              <a:ext cx="1828800" cy="333375"/>
            </a:xfrm>
            <a:custGeom>
              <a:avLst/>
              <a:gdLst/>
              <a:ahLst/>
              <a:cxnLst/>
              <a:rect l="l" t="t" r="r" b="b"/>
              <a:pathLst>
                <a:path w="1828800" h="333375">
                  <a:moveTo>
                    <a:pt x="0" y="166687"/>
                  </a:moveTo>
                  <a:lnTo>
                    <a:pt x="365760" y="0"/>
                  </a:lnTo>
                  <a:lnTo>
                    <a:pt x="1463040" y="0"/>
                  </a:lnTo>
                  <a:lnTo>
                    <a:pt x="1828800" y="166687"/>
                  </a:lnTo>
                  <a:lnTo>
                    <a:pt x="1463040" y="333375"/>
                  </a:lnTo>
                  <a:lnTo>
                    <a:pt x="365760" y="333375"/>
                  </a:lnTo>
                  <a:lnTo>
                    <a:pt x="0" y="16668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2714625" y="2366963"/>
              <a:ext cx="914400" cy="333375"/>
            </a:xfrm>
            <a:custGeom>
              <a:avLst/>
              <a:gdLst/>
              <a:ahLst/>
              <a:cxnLst/>
              <a:rect l="l" t="t" r="r" b="b"/>
              <a:pathLst>
                <a:path w="914400" h="333375">
                  <a:moveTo>
                    <a:pt x="731520" y="0"/>
                  </a:moveTo>
                  <a:lnTo>
                    <a:pt x="182880" y="0"/>
                  </a:lnTo>
                  <a:lnTo>
                    <a:pt x="0" y="166687"/>
                  </a:lnTo>
                  <a:lnTo>
                    <a:pt x="182880" y="333375"/>
                  </a:lnTo>
                  <a:lnTo>
                    <a:pt x="731520" y="333375"/>
                  </a:lnTo>
                  <a:lnTo>
                    <a:pt x="914400" y="166687"/>
                  </a:lnTo>
                  <a:lnTo>
                    <a:pt x="731520" y="0"/>
                  </a:lnTo>
                  <a:close/>
                </a:path>
              </a:pathLst>
            </a:custGeom>
            <a:solidFill>
              <a:srgbClr val="00CC99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2714625" y="2366963"/>
              <a:ext cx="914400" cy="333375"/>
            </a:xfrm>
            <a:custGeom>
              <a:avLst/>
              <a:gdLst/>
              <a:ahLst/>
              <a:cxnLst/>
              <a:rect l="l" t="t" r="r" b="b"/>
              <a:pathLst>
                <a:path w="914400" h="333375">
                  <a:moveTo>
                    <a:pt x="0" y="166687"/>
                  </a:moveTo>
                  <a:lnTo>
                    <a:pt x="182880" y="0"/>
                  </a:lnTo>
                  <a:lnTo>
                    <a:pt x="731520" y="0"/>
                  </a:lnTo>
                  <a:lnTo>
                    <a:pt x="914400" y="166687"/>
                  </a:lnTo>
                  <a:lnTo>
                    <a:pt x="731520" y="333375"/>
                  </a:lnTo>
                  <a:lnTo>
                    <a:pt x="182880" y="333375"/>
                  </a:lnTo>
                  <a:lnTo>
                    <a:pt x="0" y="16668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2714625" y="1709738"/>
              <a:ext cx="3657600" cy="333375"/>
            </a:xfrm>
            <a:custGeom>
              <a:avLst/>
              <a:gdLst/>
              <a:ahLst/>
              <a:cxnLst/>
              <a:rect l="l" t="t" r="r" b="b"/>
              <a:pathLst>
                <a:path w="3657600" h="333375">
                  <a:moveTo>
                    <a:pt x="2926080" y="0"/>
                  </a:moveTo>
                  <a:lnTo>
                    <a:pt x="731520" y="0"/>
                  </a:lnTo>
                  <a:lnTo>
                    <a:pt x="0" y="166687"/>
                  </a:lnTo>
                  <a:lnTo>
                    <a:pt x="731520" y="333375"/>
                  </a:lnTo>
                  <a:lnTo>
                    <a:pt x="2926080" y="333375"/>
                  </a:lnTo>
                  <a:lnTo>
                    <a:pt x="3657600" y="166687"/>
                  </a:lnTo>
                  <a:lnTo>
                    <a:pt x="2926080" y="0"/>
                  </a:lnTo>
                  <a:close/>
                </a:path>
              </a:pathLst>
            </a:custGeom>
            <a:solidFill>
              <a:srgbClr val="3366FF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2714625" y="1709738"/>
              <a:ext cx="3657600" cy="333375"/>
            </a:xfrm>
            <a:custGeom>
              <a:avLst/>
              <a:gdLst/>
              <a:ahLst/>
              <a:cxnLst/>
              <a:rect l="l" t="t" r="r" b="b"/>
              <a:pathLst>
                <a:path w="3657600" h="333375">
                  <a:moveTo>
                    <a:pt x="0" y="166687"/>
                  </a:moveTo>
                  <a:lnTo>
                    <a:pt x="731520" y="0"/>
                  </a:lnTo>
                  <a:lnTo>
                    <a:pt x="2926080" y="0"/>
                  </a:lnTo>
                  <a:lnTo>
                    <a:pt x="3657600" y="166687"/>
                  </a:lnTo>
                  <a:lnTo>
                    <a:pt x="2926080" y="333375"/>
                  </a:lnTo>
                  <a:lnTo>
                    <a:pt x="731520" y="333375"/>
                  </a:lnTo>
                  <a:lnTo>
                    <a:pt x="0" y="16668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372225" y="1709738"/>
              <a:ext cx="2743200" cy="333375"/>
            </a:xfrm>
            <a:custGeom>
              <a:avLst/>
              <a:gdLst/>
              <a:ahLst/>
              <a:cxnLst/>
              <a:rect l="l" t="t" r="r" b="b"/>
              <a:pathLst>
                <a:path w="2743200" h="333375">
                  <a:moveTo>
                    <a:pt x="2194560" y="0"/>
                  </a:moveTo>
                  <a:lnTo>
                    <a:pt x="548640" y="0"/>
                  </a:lnTo>
                  <a:lnTo>
                    <a:pt x="0" y="166687"/>
                  </a:lnTo>
                  <a:lnTo>
                    <a:pt x="548640" y="333375"/>
                  </a:lnTo>
                  <a:lnTo>
                    <a:pt x="2194560" y="333375"/>
                  </a:lnTo>
                  <a:lnTo>
                    <a:pt x="2743200" y="166687"/>
                  </a:lnTo>
                  <a:lnTo>
                    <a:pt x="2194560" y="0"/>
                  </a:lnTo>
                  <a:close/>
                </a:path>
              </a:pathLst>
            </a:custGeom>
            <a:solidFill>
              <a:srgbClr val="3366FF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372225" y="1709738"/>
              <a:ext cx="2743200" cy="333375"/>
            </a:xfrm>
            <a:custGeom>
              <a:avLst/>
              <a:gdLst/>
              <a:ahLst/>
              <a:cxnLst/>
              <a:rect l="l" t="t" r="r" b="b"/>
              <a:pathLst>
                <a:path w="2743200" h="333375">
                  <a:moveTo>
                    <a:pt x="0" y="166687"/>
                  </a:moveTo>
                  <a:lnTo>
                    <a:pt x="548640" y="0"/>
                  </a:lnTo>
                  <a:lnTo>
                    <a:pt x="2194560" y="0"/>
                  </a:lnTo>
                  <a:lnTo>
                    <a:pt x="2743200" y="166687"/>
                  </a:lnTo>
                  <a:lnTo>
                    <a:pt x="2194560" y="333375"/>
                  </a:lnTo>
                  <a:lnTo>
                    <a:pt x="548640" y="333375"/>
                  </a:lnTo>
                  <a:lnTo>
                    <a:pt x="0" y="16668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5" name="object 65"/>
          <p:cNvGrpSpPr/>
          <p:nvPr/>
        </p:nvGrpSpPr>
        <p:grpSpPr>
          <a:xfrm>
            <a:off x="6365875" y="2389188"/>
            <a:ext cx="927100" cy="346075"/>
            <a:chOff x="6365875" y="2389188"/>
            <a:chExt cx="927100" cy="346075"/>
          </a:xfrm>
        </p:grpSpPr>
        <p:sp>
          <p:nvSpPr>
            <p:cNvPr id="66" name="object 66"/>
            <p:cNvSpPr/>
            <p:nvPr/>
          </p:nvSpPr>
          <p:spPr>
            <a:xfrm>
              <a:off x="6372225" y="2395538"/>
              <a:ext cx="914400" cy="333375"/>
            </a:xfrm>
            <a:custGeom>
              <a:avLst/>
              <a:gdLst/>
              <a:ahLst/>
              <a:cxnLst/>
              <a:rect l="l" t="t" r="r" b="b"/>
              <a:pathLst>
                <a:path w="914400" h="333375">
                  <a:moveTo>
                    <a:pt x="731520" y="0"/>
                  </a:moveTo>
                  <a:lnTo>
                    <a:pt x="182880" y="0"/>
                  </a:lnTo>
                  <a:lnTo>
                    <a:pt x="0" y="166687"/>
                  </a:lnTo>
                  <a:lnTo>
                    <a:pt x="182880" y="333375"/>
                  </a:lnTo>
                  <a:lnTo>
                    <a:pt x="731520" y="333375"/>
                  </a:lnTo>
                  <a:lnTo>
                    <a:pt x="914400" y="166687"/>
                  </a:lnTo>
                  <a:lnTo>
                    <a:pt x="731520" y="0"/>
                  </a:lnTo>
                  <a:close/>
                </a:path>
              </a:pathLst>
            </a:custGeom>
            <a:solidFill>
              <a:srgbClr val="00CC99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372225" y="2395538"/>
              <a:ext cx="914400" cy="333375"/>
            </a:xfrm>
            <a:custGeom>
              <a:avLst/>
              <a:gdLst/>
              <a:ahLst/>
              <a:cxnLst/>
              <a:rect l="l" t="t" r="r" b="b"/>
              <a:pathLst>
                <a:path w="914400" h="333375">
                  <a:moveTo>
                    <a:pt x="0" y="166687"/>
                  </a:moveTo>
                  <a:lnTo>
                    <a:pt x="182880" y="0"/>
                  </a:lnTo>
                  <a:lnTo>
                    <a:pt x="731520" y="0"/>
                  </a:lnTo>
                  <a:lnTo>
                    <a:pt x="914400" y="166687"/>
                  </a:lnTo>
                  <a:lnTo>
                    <a:pt x="731520" y="333375"/>
                  </a:lnTo>
                  <a:lnTo>
                    <a:pt x="182880" y="333375"/>
                  </a:lnTo>
                  <a:lnTo>
                    <a:pt x="0" y="16668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6592252" y="2436749"/>
            <a:ext cx="473709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5" dirty="0">
                <a:latin typeface="Times New Roman"/>
                <a:cs typeface="Times New Roman"/>
              </a:rPr>
              <a:t>L</a:t>
            </a:r>
            <a:r>
              <a:rPr sz="1400" b="1" spc="-8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Re</a:t>
            </a:r>
            <a:r>
              <a:rPr sz="1400" b="1" spc="-5" dirty="0">
                <a:latin typeface="Times New Roman"/>
                <a:cs typeface="Times New Roman"/>
              </a:rPr>
              <a:t>g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7280275" y="2389188"/>
            <a:ext cx="1841500" cy="346075"/>
            <a:chOff x="7280275" y="2389188"/>
            <a:chExt cx="1841500" cy="346075"/>
          </a:xfrm>
        </p:grpSpPr>
        <p:sp>
          <p:nvSpPr>
            <p:cNvPr id="70" name="object 70"/>
            <p:cNvSpPr/>
            <p:nvPr/>
          </p:nvSpPr>
          <p:spPr>
            <a:xfrm>
              <a:off x="7286625" y="2395538"/>
              <a:ext cx="1828800" cy="333375"/>
            </a:xfrm>
            <a:custGeom>
              <a:avLst/>
              <a:gdLst/>
              <a:ahLst/>
              <a:cxnLst/>
              <a:rect l="l" t="t" r="r" b="b"/>
              <a:pathLst>
                <a:path w="1828800" h="333375">
                  <a:moveTo>
                    <a:pt x="1463040" y="0"/>
                  </a:moveTo>
                  <a:lnTo>
                    <a:pt x="365760" y="0"/>
                  </a:lnTo>
                  <a:lnTo>
                    <a:pt x="0" y="166687"/>
                  </a:lnTo>
                  <a:lnTo>
                    <a:pt x="365760" y="333375"/>
                  </a:lnTo>
                  <a:lnTo>
                    <a:pt x="1463040" y="333375"/>
                  </a:lnTo>
                  <a:lnTo>
                    <a:pt x="1828800" y="166687"/>
                  </a:lnTo>
                  <a:lnTo>
                    <a:pt x="1463040" y="0"/>
                  </a:lnTo>
                  <a:close/>
                </a:path>
              </a:pathLst>
            </a:custGeom>
            <a:solidFill>
              <a:srgbClr val="00CC99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7286625" y="2395538"/>
              <a:ext cx="1828800" cy="333375"/>
            </a:xfrm>
            <a:custGeom>
              <a:avLst/>
              <a:gdLst/>
              <a:ahLst/>
              <a:cxnLst/>
              <a:rect l="l" t="t" r="r" b="b"/>
              <a:pathLst>
                <a:path w="1828800" h="333375">
                  <a:moveTo>
                    <a:pt x="0" y="166687"/>
                  </a:moveTo>
                  <a:lnTo>
                    <a:pt x="365760" y="0"/>
                  </a:lnTo>
                  <a:lnTo>
                    <a:pt x="1463040" y="0"/>
                  </a:lnTo>
                  <a:lnTo>
                    <a:pt x="1828800" y="166687"/>
                  </a:lnTo>
                  <a:lnTo>
                    <a:pt x="1463040" y="333375"/>
                  </a:lnTo>
                  <a:lnTo>
                    <a:pt x="365760" y="333375"/>
                  </a:lnTo>
                  <a:lnTo>
                    <a:pt x="0" y="16668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7535291" y="2436749"/>
            <a:ext cx="133286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latin typeface="Times New Roman"/>
                <a:cs typeface="Times New Roman"/>
              </a:rPr>
              <a:t>C</a:t>
            </a:r>
            <a:r>
              <a:rPr sz="1400" b="1" spc="-5" dirty="0">
                <a:latin typeface="Times New Roman"/>
                <a:cs typeface="Times New Roman"/>
              </a:rPr>
              <a:t>ont</a:t>
            </a:r>
            <a:r>
              <a:rPr sz="1400" b="1" spc="-10" dirty="0">
                <a:latin typeface="Times New Roman"/>
                <a:cs typeface="Times New Roman"/>
              </a:rPr>
              <a:t>e</a:t>
            </a:r>
            <a:r>
              <a:rPr sz="1400" b="1" spc="-5" dirty="0">
                <a:latin typeface="Times New Roman"/>
                <a:cs typeface="Times New Roman"/>
              </a:rPr>
              <a:t>nt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of</a:t>
            </a:r>
            <a:r>
              <a:rPr sz="1400" b="1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Re</a:t>
            </a:r>
            <a:r>
              <a:rPr sz="1400" b="1" spc="-5" dirty="0">
                <a:latin typeface="Times New Roman"/>
                <a:cs typeface="Times New Roman"/>
              </a:rPr>
              <a:t>g</a:t>
            </a:r>
            <a:r>
              <a:rPr sz="1400" b="1" spc="-65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A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2793364" y="2021649"/>
            <a:ext cx="3539490" cy="937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A</a:t>
            </a:r>
            <a:r>
              <a:rPr sz="800" b="1" spc="-5" dirty="0">
                <a:solidFill>
                  <a:srgbClr val="800000"/>
                </a:solidFill>
                <a:latin typeface="Times New Roman"/>
                <a:cs typeface="Times New Roman"/>
              </a:rPr>
              <a:t>15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-</a:t>
            </a:r>
            <a:r>
              <a:rPr sz="1600" b="1" spc="-100" dirty="0">
                <a:solidFill>
                  <a:srgbClr val="80000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A</a:t>
            </a:r>
            <a:r>
              <a:rPr sz="800" b="1" spc="-5" dirty="0">
                <a:solidFill>
                  <a:srgbClr val="800000"/>
                </a:solidFill>
                <a:latin typeface="Times New Roman"/>
                <a:cs typeface="Times New Roman"/>
              </a:rPr>
              <a:t>8</a:t>
            </a:r>
            <a:r>
              <a:rPr sz="800" b="1" spc="-15" dirty="0">
                <a:solidFill>
                  <a:srgbClr val="80000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(H</a:t>
            </a:r>
            <a:r>
              <a:rPr sz="1600" b="1" spc="-5" dirty="0">
                <a:solidFill>
                  <a:srgbClr val="800000"/>
                </a:solidFill>
                <a:latin typeface="Times New Roman"/>
                <a:cs typeface="Times New Roman"/>
              </a:rPr>
              <a:t>i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g</a:t>
            </a:r>
            <a:r>
              <a:rPr sz="1600" b="1" spc="-5" dirty="0">
                <a:solidFill>
                  <a:srgbClr val="800000"/>
                </a:solidFill>
                <a:latin typeface="Times New Roman"/>
                <a:cs typeface="Times New Roman"/>
              </a:rPr>
              <a:t>h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er</a:t>
            </a:r>
            <a:r>
              <a:rPr sz="1600" b="1" spc="-20" dirty="0">
                <a:solidFill>
                  <a:srgbClr val="80000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Or</a:t>
            </a:r>
            <a:r>
              <a:rPr sz="1600" b="1" spc="-5" dirty="0">
                <a:solidFill>
                  <a:srgbClr val="800000"/>
                </a:solidFill>
                <a:latin typeface="Times New Roman"/>
                <a:cs typeface="Times New Roman"/>
              </a:rPr>
              <a:t>d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er</a:t>
            </a:r>
            <a:r>
              <a:rPr sz="1600" b="1" spc="-125" dirty="0">
                <a:solidFill>
                  <a:srgbClr val="80000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A</a:t>
            </a:r>
            <a:r>
              <a:rPr sz="1600" b="1" spc="-5" dirty="0">
                <a:solidFill>
                  <a:srgbClr val="800000"/>
                </a:solidFill>
                <a:latin typeface="Times New Roman"/>
                <a:cs typeface="Times New Roman"/>
              </a:rPr>
              <a:t>dd</a:t>
            </a:r>
            <a:r>
              <a:rPr sz="1600" b="1" spc="-30" dirty="0">
                <a:solidFill>
                  <a:srgbClr val="800000"/>
                </a:solidFill>
                <a:latin typeface="Times New Roman"/>
                <a:cs typeface="Times New Roman"/>
              </a:rPr>
              <a:t>r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ess</a:t>
            </a:r>
            <a:r>
              <a:rPr sz="1600" b="1" spc="-10" dirty="0">
                <a:solidFill>
                  <a:srgbClr val="800000"/>
                </a:solidFill>
                <a:latin typeface="Times New Roman"/>
                <a:cs typeface="Times New Roman"/>
              </a:rPr>
              <a:t> </a:t>
            </a:r>
            <a:r>
              <a:rPr sz="1600" b="1" spc="-5" dirty="0">
                <a:solidFill>
                  <a:srgbClr val="800000"/>
                </a:solidFill>
                <a:latin typeface="Times New Roman"/>
                <a:cs typeface="Times New Roman"/>
              </a:rPr>
              <a:t>bu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s)</a:t>
            </a:r>
            <a:endParaRPr sz="1600">
              <a:latin typeface="Times New Roman"/>
              <a:cs typeface="Times New Roman"/>
            </a:endParaRPr>
          </a:p>
          <a:p>
            <a:pPr marL="238760">
              <a:lnSpc>
                <a:spcPct val="100000"/>
              </a:lnSpc>
              <a:spcBef>
                <a:spcPts val="1120"/>
              </a:spcBef>
              <a:tabLst>
                <a:tab pos="1596390" algn="l"/>
              </a:tabLst>
            </a:pPr>
            <a:r>
              <a:rPr sz="1400" b="1" spc="-5" dirty="0">
                <a:latin typeface="Times New Roman"/>
                <a:cs typeface="Times New Roman"/>
              </a:rPr>
              <a:t>00h	7Eh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400" b="1" spc="-10" dirty="0">
                <a:solidFill>
                  <a:srgbClr val="800000"/>
                </a:solidFill>
                <a:latin typeface="Times New Roman"/>
                <a:cs typeface="Times New Roman"/>
              </a:rPr>
              <a:t>DA</a:t>
            </a:r>
            <a:r>
              <a:rPr sz="800" b="1" spc="-5" dirty="0">
                <a:solidFill>
                  <a:srgbClr val="800000"/>
                </a:solidFill>
                <a:latin typeface="Times New Roman"/>
                <a:cs typeface="Times New Roman"/>
              </a:rPr>
              <a:t>7</a:t>
            </a:r>
            <a:r>
              <a:rPr sz="1800" b="1" dirty="0">
                <a:solidFill>
                  <a:srgbClr val="800000"/>
                </a:solidFill>
                <a:latin typeface="Times New Roman"/>
                <a:cs typeface="Times New Roman"/>
              </a:rPr>
              <a:t>-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DA</a:t>
            </a:r>
            <a:r>
              <a:rPr sz="800" b="1" spc="-5" dirty="0">
                <a:solidFill>
                  <a:srgbClr val="800000"/>
                </a:solidFill>
                <a:latin typeface="Times New Roman"/>
                <a:cs typeface="Times New Roman"/>
              </a:rPr>
              <a:t>0</a:t>
            </a:r>
            <a:r>
              <a:rPr sz="800" b="1" spc="-15" dirty="0">
                <a:solidFill>
                  <a:srgbClr val="80000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(Lower</a:t>
            </a:r>
            <a:r>
              <a:rPr sz="1600" b="1" spc="-45" dirty="0">
                <a:solidFill>
                  <a:srgbClr val="80000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or</a:t>
            </a:r>
            <a:r>
              <a:rPr sz="1600" b="1" spc="-5" dirty="0">
                <a:solidFill>
                  <a:srgbClr val="800000"/>
                </a:solidFill>
                <a:latin typeface="Times New Roman"/>
                <a:cs typeface="Times New Roman"/>
              </a:rPr>
              <a:t>d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er</a:t>
            </a:r>
            <a:r>
              <a:rPr sz="1600" b="1" spc="-40" dirty="0">
                <a:solidFill>
                  <a:srgbClr val="80000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a</a:t>
            </a:r>
            <a:r>
              <a:rPr sz="1600" b="1" spc="-5" dirty="0">
                <a:solidFill>
                  <a:srgbClr val="800000"/>
                </a:solidFill>
                <a:latin typeface="Times New Roman"/>
                <a:cs typeface="Times New Roman"/>
              </a:rPr>
              <a:t>dd</a:t>
            </a:r>
            <a:r>
              <a:rPr sz="1600" b="1" spc="-30" dirty="0">
                <a:solidFill>
                  <a:srgbClr val="800000"/>
                </a:solidFill>
                <a:latin typeface="Times New Roman"/>
                <a:cs typeface="Times New Roman"/>
              </a:rPr>
              <a:t>r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ess</a:t>
            </a:r>
            <a:r>
              <a:rPr sz="1600" b="1" spc="-5" dirty="0">
                <a:solidFill>
                  <a:srgbClr val="800000"/>
                </a:solidFill>
                <a:latin typeface="Times New Roman"/>
                <a:cs typeface="Times New Roman"/>
              </a:rPr>
              <a:t>/d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ata</a:t>
            </a:r>
            <a:r>
              <a:rPr sz="1600" b="1" spc="-5" dirty="0">
                <a:solidFill>
                  <a:srgbClr val="80000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B</a:t>
            </a:r>
            <a:r>
              <a:rPr sz="1600" b="1" spc="-5" dirty="0">
                <a:solidFill>
                  <a:srgbClr val="800000"/>
                </a:solidFill>
                <a:latin typeface="Times New Roman"/>
                <a:cs typeface="Times New Roman"/>
              </a:rPr>
              <a:t>u</a:t>
            </a: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s)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2793289" y="3602803"/>
            <a:ext cx="44450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ALE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2915565" y="4140939"/>
            <a:ext cx="32004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RD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2928937" y="4171950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600" y="0"/>
                </a:lnTo>
              </a:path>
            </a:pathLst>
          </a:custGeom>
          <a:ln w="12700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 txBox="1"/>
          <p:nvPr/>
        </p:nvSpPr>
        <p:spPr>
          <a:xfrm>
            <a:off x="2898139" y="5041074"/>
            <a:ext cx="37592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WR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2924175" y="5067300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600" y="0"/>
                </a:lnTo>
              </a:path>
            </a:pathLst>
          </a:custGeom>
          <a:ln w="12700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 txBox="1"/>
          <p:nvPr/>
        </p:nvSpPr>
        <p:spPr>
          <a:xfrm>
            <a:off x="2842577" y="5971349"/>
            <a:ext cx="511809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800000"/>
                </a:solidFill>
                <a:latin typeface="Times New Roman"/>
                <a:cs typeface="Times New Roman"/>
              </a:rPr>
              <a:t>IO</a:t>
            </a:r>
            <a:r>
              <a:rPr sz="1600" b="1" spc="-5" dirty="0">
                <a:solidFill>
                  <a:srgbClr val="800000"/>
                </a:solidFill>
                <a:latin typeface="Times New Roman"/>
                <a:cs typeface="Times New Roman"/>
              </a:rPr>
              <a:t>/M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2973387" y="6007100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600" y="0"/>
                </a:lnTo>
              </a:path>
            </a:pathLst>
          </a:custGeom>
          <a:ln w="12700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2971800" y="5881688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22225">
            <a:solidFill>
              <a:srgbClr val="9933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2" name="object 82"/>
          <p:cNvGrpSpPr/>
          <p:nvPr/>
        </p:nvGrpSpPr>
        <p:grpSpPr>
          <a:xfrm>
            <a:off x="2692400" y="1301750"/>
            <a:ext cx="4634230" cy="5197475"/>
            <a:chOff x="2692400" y="1301750"/>
            <a:chExt cx="4634230" cy="5197475"/>
          </a:xfrm>
        </p:grpSpPr>
        <p:sp>
          <p:nvSpPr>
            <p:cNvPr id="83" name="object 83"/>
            <p:cNvSpPr/>
            <p:nvPr/>
          </p:nvSpPr>
          <p:spPr>
            <a:xfrm>
              <a:off x="2700337" y="1309687"/>
              <a:ext cx="0" cy="5181600"/>
            </a:xfrm>
            <a:custGeom>
              <a:avLst/>
              <a:gdLst/>
              <a:ahLst/>
              <a:cxnLst/>
              <a:rect l="l" t="t" r="r" b="b"/>
              <a:pathLst>
                <a:path h="5181600">
                  <a:moveTo>
                    <a:pt x="0" y="0"/>
                  </a:moveTo>
                  <a:lnTo>
                    <a:pt x="0" y="5181600"/>
                  </a:lnTo>
                </a:path>
              </a:pathLst>
            </a:custGeom>
            <a:ln w="1587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2943225" y="4724400"/>
              <a:ext cx="4371975" cy="28575"/>
            </a:xfrm>
            <a:custGeom>
              <a:avLst/>
              <a:gdLst/>
              <a:ahLst/>
              <a:cxnLst/>
              <a:rect l="l" t="t" r="r" b="b"/>
              <a:pathLst>
                <a:path w="4371975" h="28575">
                  <a:moveTo>
                    <a:pt x="0" y="28575"/>
                  </a:moveTo>
                  <a:lnTo>
                    <a:pt x="4371975" y="0"/>
                  </a:lnTo>
                </a:path>
              </a:pathLst>
            </a:custGeom>
            <a:ln w="22225">
              <a:solidFill>
                <a:srgbClr val="99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5" name="object 85"/>
          <p:cNvSpPr txBox="1"/>
          <p:nvPr/>
        </p:nvSpPr>
        <p:spPr>
          <a:xfrm>
            <a:off x="3264852" y="6516687"/>
            <a:ext cx="2118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Times New Roman"/>
                <a:cs typeface="Times New Roman"/>
              </a:rPr>
              <a:t>Op-Code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Fetch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Cycle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6830326" y="6478511"/>
            <a:ext cx="20853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Times New Roman"/>
                <a:cs typeface="Times New Roman"/>
              </a:rPr>
              <a:t>Memory</a:t>
            </a:r>
            <a:r>
              <a:rPr sz="1800" b="1" spc="-6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Write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Cycle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87" name="object 87"/>
          <p:cNvGrpSpPr/>
          <p:nvPr/>
        </p:nvGrpSpPr>
        <p:grpSpPr>
          <a:xfrm>
            <a:off x="2728915" y="4713287"/>
            <a:ext cx="6426200" cy="1816100"/>
            <a:chOff x="2728915" y="4713287"/>
            <a:chExt cx="6426200" cy="1816100"/>
          </a:xfrm>
        </p:grpSpPr>
        <p:sp>
          <p:nvSpPr>
            <p:cNvPr id="88" name="object 88"/>
            <p:cNvSpPr/>
            <p:nvPr/>
          </p:nvSpPr>
          <p:spPr>
            <a:xfrm>
              <a:off x="2792412" y="6491288"/>
              <a:ext cx="3530600" cy="0"/>
            </a:xfrm>
            <a:custGeom>
              <a:avLst/>
              <a:gdLst/>
              <a:ahLst/>
              <a:cxnLst/>
              <a:rect l="l" t="t" r="r" b="b"/>
              <a:pathLst>
                <a:path w="3530600">
                  <a:moveTo>
                    <a:pt x="0" y="0"/>
                  </a:moveTo>
                  <a:lnTo>
                    <a:pt x="3530600" y="0"/>
                  </a:lnTo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2728912" y="6453187"/>
              <a:ext cx="3657600" cy="76200"/>
            </a:xfrm>
            <a:custGeom>
              <a:avLst/>
              <a:gdLst/>
              <a:ahLst/>
              <a:cxnLst/>
              <a:rect l="l" t="t" r="r" b="b"/>
              <a:pathLst>
                <a:path w="36576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  <a:path w="3657600" h="76200">
                  <a:moveTo>
                    <a:pt x="3657600" y="38100"/>
                  </a:moveTo>
                  <a:lnTo>
                    <a:pt x="3581400" y="0"/>
                  </a:lnTo>
                  <a:lnTo>
                    <a:pt x="3581400" y="76200"/>
                  </a:lnTo>
                  <a:lnTo>
                    <a:pt x="3657600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6450013" y="6491288"/>
              <a:ext cx="2616200" cy="0"/>
            </a:xfrm>
            <a:custGeom>
              <a:avLst/>
              <a:gdLst/>
              <a:ahLst/>
              <a:cxnLst/>
              <a:rect l="l" t="t" r="r" b="b"/>
              <a:pathLst>
                <a:path w="2616200">
                  <a:moveTo>
                    <a:pt x="0" y="0"/>
                  </a:moveTo>
                  <a:lnTo>
                    <a:pt x="2616200" y="0"/>
                  </a:lnTo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6386512" y="6453187"/>
              <a:ext cx="2743200" cy="76200"/>
            </a:xfrm>
            <a:custGeom>
              <a:avLst/>
              <a:gdLst/>
              <a:ahLst/>
              <a:cxnLst/>
              <a:rect l="l" t="t" r="r" b="b"/>
              <a:pathLst>
                <a:path w="27432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  <a:path w="2743200" h="76200">
                  <a:moveTo>
                    <a:pt x="2743200" y="38100"/>
                  </a:moveTo>
                  <a:lnTo>
                    <a:pt x="2667000" y="0"/>
                  </a:lnTo>
                  <a:lnTo>
                    <a:pt x="2667000" y="76200"/>
                  </a:lnTo>
                  <a:lnTo>
                    <a:pt x="2743200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7315199" y="4724400"/>
              <a:ext cx="228600" cy="533400"/>
            </a:xfrm>
            <a:custGeom>
              <a:avLst/>
              <a:gdLst/>
              <a:ahLst/>
              <a:cxnLst/>
              <a:rect l="l" t="t" r="r" b="b"/>
              <a:pathLst>
                <a:path w="228600" h="533400">
                  <a:moveTo>
                    <a:pt x="0" y="0"/>
                  </a:moveTo>
                  <a:lnTo>
                    <a:pt x="228600" y="533400"/>
                  </a:lnTo>
                </a:path>
              </a:pathLst>
            </a:custGeom>
            <a:ln w="22225">
              <a:solidFill>
                <a:srgbClr val="8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7543799" y="5257800"/>
              <a:ext cx="1447800" cy="0"/>
            </a:xfrm>
            <a:custGeom>
              <a:avLst/>
              <a:gdLst/>
              <a:ahLst/>
              <a:cxnLst/>
              <a:rect l="l" t="t" r="r" b="b"/>
              <a:pathLst>
                <a:path w="1447800">
                  <a:moveTo>
                    <a:pt x="0" y="0"/>
                  </a:moveTo>
                  <a:lnTo>
                    <a:pt x="1447800" y="0"/>
                  </a:lnTo>
                </a:path>
              </a:pathLst>
            </a:custGeom>
            <a:ln w="22225">
              <a:solidFill>
                <a:srgbClr val="99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8991599" y="4724400"/>
              <a:ext cx="152400" cy="533400"/>
            </a:xfrm>
            <a:custGeom>
              <a:avLst/>
              <a:gdLst/>
              <a:ahLst/>
              <a:cxnLst/>
              <a:rect l="l" t="t" r="r" b="b"/>
              <a:pathLst>
                <a:path w="152400" h="533400">
                  <a:moveTo>
                    <a:pt x="152400" y="0"/>
                  </a:moveTo>
                  <a:lnTo>
                    <a:pt x="0" y="533400"/>
                  </a:lnTo>
                </a:path>
              </a:pathLst>
            </a:custGeom>
            <a:ln w="22225">
              <a:solidFill>
                <a:srgbClr val="8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5" name="object 95"/>
          <p:cNvSpPr txBox="1"/>
          <p:nvPr/>
        </p:nvSpPr>
        <p:spPr>
          <a:xfrm>
            <a:off x="2950527" y="1552448"/>
            <a:ext cx="1670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T1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3756172" y="1552448"/>
            <a:ext cx="1670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T2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4721903" y="1552448"/>
            <a:ext cx="1670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T3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5655693" y="1552448"/>
            <a:ext cx="1670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T4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6557923" y="1552448"/>
            <a:ext cx="1670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T5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7043387" y="1519624"/>
            <a:ext cx="1492250" cy="46990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434975">
              <a:lnSpc>
                <a:spcPct val="100000"/>
              </a:lnSpc>
              <a:spcBef>
                <a:spcPts val="360"/>
              </a:spcBef>
              <a:tabLst>
                <a:tab pos="1337310" algn="l"/>
              </a:tabLst>
            </a:pPr>
            <a:r>
              <a:rPr sz="1000" dirty="0">
                <a:latin typeface="Times New Roman"/>
                <a:cs typeface="Times New Roman"/>
              </a:rPr>
              <a:t>T6	T7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9"/>
              </a:spcBef>
            </a:pPr>
            <a:r>
              <a:rPr sz="1400" b="1" spc="-5" dirty="0">
                <a:latin typeface="Times New Roman"/>
                <a:cs typeface="Times New Roman"/>
              </a:rPr>
              <a:t>Content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Of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Reg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H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4391977" y="1728724"/>
            <a:ext cx="3416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latin typeface="Times New Roman"/>
                <a:cs typeface="Times New Roman"/>
              </a:rPr>
              <a:t>A</a:t>
            </a:r>
            <a:r>
              <a:rPr sz="1400" b="1" spc="-5" dirty="0">
                <a:latin typeface="Times New Roman"/>
                <a:cs typeface="Times New Roman"/>
              </a:rPr>
              <a:t>0h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2" name="object 102"/>
          <p:cNvSpPr txBox="1">
            <a:spLocks noGrp="1"/>
          </p:cNvSpPr>
          <p:nvPr>
            <p:ph type="title"/>
          </p:nvPr>
        </p:nvSpPr>
        <p:spPr>
          <a:xfrm>
            <a:off x="2636678" y="0"/>
            <a:ext cx="3872229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i="1" u="heavy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Timing</a:t>
            </a:r>
            <a:r>
              <a:rPr b="1" i="1" u="heavy" spc="-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b="1" i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Diagram</a:t>
            </a:r>
          </a:p>
        </p:txBody>
      </p:sp>
      <p:sp>
        <p:nvSpPr>
          <p:cNvPr id="103" name="object 103"/>
          <p:cNvSpPr txBox="1"/>
          <p:nvPr/>
        </p:nvSpPr>
        <p:spPr>
          <a:xfrm>
            <a:off x="78739" y="2386483"/>
            <a:ext cx="2415540" cy="185483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000" spc="-5" dirty="0">
                <a:latin typeface="Times New Roman"/>
                <a:cs typeface="Times New Roman"/>
              </a:rPr>
              <a:t>Instruction: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  <a:tabLst>
                <a:tab pos="927100" algn="l"/>
              </a:tabLst>
            </a:pPr>
            <a:r>
              <a:rPr sz="2000" spc="-5" dirty="0">
                <a:latin typeface="Times New Roman"/>
                <a:cs typeface="Times New Roman"/>
              </a:rPr>
              <a:t>A000h	MOV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M,A</a:t>
            </a: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150000"/>
              </a:lnSpc>
              <a:tabLst>
                <a:tab pos="1841500" algn="l"/>
              </a:tabLst>
            </a:pPr>
            <a:r>
              <a:rPr sz="2000" spc="-5" dirty="0">
                <a:latin typeface="Times New Roman"/>
                <a:cs typeface="Times New Roman"/>
              </a:rPr>
              <a:t>Corresponding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Coding: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A000h	77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60959" y="2155189"/>
            <a:ext cx="5022850" cy="1366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Chapter</a:t>
            </a:r>
            <a:r>
              <a:rPr spc="-85" dirty="0"/>
              <a:t> </a:t>
            </a:r>
            <a:r>
              <a:rPr spc="-5" dirty="0"/>
              <a:t>9</a:t>
            </a: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Stack</a:t>
            </a:r>
            <a:r>
              <a:rPr spc="-25" dirty="0"/>
              <a:t> </a:t>
            </a:r>
            <a:r>
              <a:rPr spc="-5" dirty="0"/>
              <a:t>and</a:t>
            </a:r>
            <a:r>
              <a:rPr spc="-25" dirty="0"/>
              <a:t> </a:t>
            </a:r>
            <a:r>
              <a:rPr spc="-5" dirty="0"/>
              <a:t>Subroutines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34492" y="814069"/>
            <a:ext cx="227330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The</a:t>
            </a:r>
            <a:r>
              <a:rPr spc="-95" dirty="0"/>
              <a:t> </a:t>
            </a:r>
            <a:r>
              <a:rPr spc="-5" dirty="0"/>
              <a:t>Stack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59355"/>
            <a:ext cx="7536180" cy="170942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marR="5080" indent="-343535">
              <a:lnSpc>
                <a:spcPts val="3020"/>
              </a:lnSpc>
              <a:spcBef>
                <a:spcPts val="484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stack </a:t>
            </a:r>
            <a:r>
              <a:rPr sz="2800" dirty="0">
                <a:latin typeface="Times New Roman"/>
                <a:cs typeface="Times New Roman"/>
              </a:rPr>
              <a:t>is </a:t>
            </a:r>
            <a:r>
              <a:rPr sz="2800" spc="-5" dirty="0">
                <a:latin typeface="Times New Roman"/>
                <a:cs typeface="Times New Roman"/>
              </a:rPr>
              <a:t>an area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5" dirty="0">
                <a:latin typeface="Times New Roman"/>
                <a:cs typeface="Times New Roman"/>
              </a:rPr>
              <a:t>memory identified </a:t>
            </a:r>
            <a:r>
              <a:rPr sz="2800" dirty="0">
                <a:latin typeface="Times New Roman"/>
                <a:cs typeface="Times New Roman"/>
              </a:rPr>
              <a:t>by the 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programmer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 </a:t>
            </a:r>
            <a:r>
              <a:rPr sz="2800" spc="-5" dirty="0">
                <a:latin typeface="Times New Roman"/>
                <a:cs typeface="Times New Roman"/>
              </a:rPr>
              <a:t>temporary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storage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information.</a:t>
            </a:r>
            <a:endParaRPr sz="280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29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stack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LIFO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structure.</a:t>
            </a:r>
            <a:endParaRPr sz="28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300"/>
              </a:spcBef>
              <a:tabLst>
                <a:tab pos="755650" algn="l"/>
              </a:tabLst>
            </a:pPr>
            <a:r>
              <a:rPr sz="2400" dirty="0">
                <a:latin typeface="Times New Roman"/>
                <a:cs typeface="Times New Roman"/>
              </a:rPr>
              <a:t>–	</a:t>
            </a:r>
            <a:r>
              <a:rPr sz="2400" spc="-5" dirty="0">
                <a:latin typeface="Times New Roman"/>
                <a:cs typeface="Times New Roman"/>
              </a:rPr>
              <a:t>Last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First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Out.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3684523"/>
            <a:ext cx="6317615" cy="124015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marR="5080" indent="-343535">
              <a:lnSpc>
                <a:spcPts val="3020"/>
              </a:lnSpc>
              <a:spcBef>
                <a:spcPts val="484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stack normally </a:t>
            </a:r>
            <a:r>
              <a:rPr sz="2800" dirty="0">
                <a:latin typeface="Times New Roman"/>
                <a:cs typeface="Times New Roman"/>
              </a:rPr>
              <a:t>grows </a:t>
            </a:r>
            <a:r>
              <a:rPr sz="2800" spc="-5" dirty="0">
                <a:latin typeface="Times New Roman"/>
                <a:cs typeface="Times New Roman"/>
              </a:rPr>
              <a:t>backwards </a:t>
            </a:r>
            <a:r>
              <a:rPr sz="2800" dirty="0">
                <a:latin typeface="Times New Roman"/>
                <a:cs typeface="Times New Roman"/>
              </a:rPr>
              <a:t>into </a:t>
            </a:r>
            <a:r>
              <a:rPr sz="2800" spc="-69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memory.</a:t>
            </a:r>
            <a:endParaRPr sz="28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259"/>
              </a:spcBef>
              <a:tabLst>
                <a:tab pos="755650" algn="l"/>
              </a:tabLst>
            </a:pPr>
            <a:r>
              <a:rPr sz="2400" dirty="0">
                <a:latin typeface="Times New Roman"/>
                <a:cs typeface="Times New Roman"/>
              </a:rPr>
              <a:t>–	</a:t>
            </a:r>
            <a:r>
              <a:rPr sz="2400" spc="-5" dirty="0">
                <a:latin typeface="Times New Roman"/>
                <a:cs typeface="Times New Roman"/>
              </a:rPr>
              <a:t>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other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words, the programmer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07642" y="4862576"/>
            <a:ext cx="3769360" cy="104965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425"/>
              </a:spcBef>
            </a:pPr>
            <a:r>
              <a:rPr sz="2400" spc="-5" dirty="0">
                <a:latin typeface="Times New Roman"/>
                <a:cs typeface="Times New Roman"/>
              </a:rPr>
              <a:t>defines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bottom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stack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 </a:t>
            </a:r>
            <a:r>
              <a:rPr sz="2400" spc="-5" dirty="0">
                <a:latin typeface="Times New Roman"/>
                <a:cs typeface="Times New Roman"/>
              </a:rPr>
              <a:t>the stack grows </a:t>
            </a:r>
            <a:r>
              <a:rPr sz="2400" dirty="0">
                <a:latin typeface="Times New Roman"/>
                <a:cs typeface="Times New Roman"/>
              </a:rPr>
              <a:t>up into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reducing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address range.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881939" y="5802309"/>
            <a:ext cx="174625" cy="76200"/>
            <a:chOff x="7881939" y="5802309"/>
            <a:chExt cx="174625" cy="76200"/>
          </a:xfrm>
        </p:grpSpPr>
        <p:sp>
          <p:nvSpPr>
            <p:cNvPr id="7" name="object 7"/>
            <p:cNvSpPr/>
            <p:nvPr/>
          </p:nvSpPr>
          <p:spPr>
            <a:xfrm>
              <a:off x="7945438" y="5840413"/>
              <a:ext cx="111125" cy="0"/>
            </a:xfrm>
            <a:custGeom>
              <a:avLst/>
              <a:gdLst/>
              <a:ahLst/>
              <a:cxnLst/>
              <a:rect l="l" t="t" r="r" b="b"/>
              <a:pathLst>
                <a:path w="111125">
                  <a:moveTo>
                    <a:pt x="111125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881939" y="580230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7094545" y="5453066"/>
            <a:ext cx="76200" cy="361950"/>
            <a:chOff x="7094545" y="5453066"/>
            <a:chExt cx="76200" cy="361950"/>
          </a:xfrm>
        </p:grpSpPr>
        <p:sp>
          <p:nvSpPr>
            <p:cNvPr id="10" name="object 10"/>
            <p:cNvSpPr/>
            <p:nvPr/>
          </p:nvSpPr>
          <p:spPr>
            <a:xfrm>
              <a:off x="7132638" y="5516563"/>
              <a:ext cx="0" cy="298450"/>
            </a:xfrm>
            <a:custGeom>
              <a:avLst/>
              <a:gdLst/>
              <a:ahLst/>
              <a:cxnLst/>
              <a:rect l="l" t="t" r="r" b="b"/>
              <a:pathLst>
                <a:path h="298450">
                  <a:moveTo>
                    <a:pt x="0" y="29845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094545" y="545306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087" y="0"/>
                  </a:moveTo>
                  <a:lnTo>
                    <a:pt x="0" y="76200"/>
                  </a:lnTo>
                  <a:lnTo>
                    <a:pt x="76200" y="76187"/>
                  </a:lnTo>
                  <a:lnTo>
                    <a:pt x="380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221537" y="3698875"/>
            <a:ext cx="660400" cy="2154555"/>
          </a:xfrm>
          <a:prstGeom prst="rect">
            <a:avLst/>
          </a:prstGeom>
          <a:solidFill>
            <a:srgbClr val="FFFFCC"/>
          </a:solidFill>
          <a:ln w="12700">
            <a:solidFill>
              <a:srgbClr val="000000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86360">
              <a:lnSpc>
                <a:spcPct val="100000"/>
              </a:lnSpc>
              <a:spcBef>
                <a:spcPts val="350"/>
              </a:spcBef>
            </a:pPr>
            <a:r>
              <a:rPr sz="1200" spc="-5" dirty="0">
                <a:latin typeface="Arial MT"/>
                <a:cs typeface="Arial MT"/>
              </a:rPr>
              <a:t>Memory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130514" y="5543448"/>
            <a:ext cx="50863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Bo</a:t>
            </a:r>
            <a:r>
              <a:rPr sz="1200" dirty="0">
                <a:latin typeface="Arial MT"/>
                <a:cs typeface="Arial MT"/>
              </a:rPr>
              <a:t>tt</a:t>
            </a:r>
            <a:r>
              <a:rPr sz="1200" spc="-10" dirty="0">
                <a:latin typeface="Arial MT"/>
                <a:cs typeface="Arial MT"/>
              </a:rPr>
              <a:t>om  </a:t>
            </a:r>
            <a:r>
              <a:rPr sz="1200" spc="-5" dirty="0">
                <a:latin typeface="Arial MT"/>
                <a:cs typeface="Arial MT"/>
              </a:rPr>
              <a:t>of the </a:t>
            </a:r>
            <a:r>
              <a:rPr sz="120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Stack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87414" y="5052872"/>
            <a:ext cx="86296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The Stack </a:t>
            </a:r>
            <a:r>
              <a:rPr sz="120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grows </a:t>
            </a:r>
            <a:r>
              <a:rPr sz="120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backwards </a:t>
            </a:r>
            <a:r>
              <a:rPr sz="120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into</a:t>
            </a:r>
            <a:r>
              <a:rPr sz="1200" spc="-8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memory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34492" y="814069"/>
            <a:ext cx="227330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The</a:t>
            </a:r>
            <a:r>
              <a:rPr spc="-95" dirty="0"/>
              <a:t> </a:t>
            </a:r>
            <a:r>
              <a:rPr spc="-5" dirty="0"/>
              <a:t>Stack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59355"/>
            <a:ext cx="7593330" cy="465264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marR="51435" indent="-343535">
              <a:lnSpc>
                <a:spcPts val="3020"/>
              </a:lnSpc>
              <a:spcBef>
                <a:spcPts val="484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Given that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stack </a:t>
            </a:r>
            <a:r>
              <a:rPr sz="2800" dirty="0">
                <a:latin typeface="Times New Roman"/>
                <a:cs typeface="Times New Roman"/>
              </a:rPr>
              <a:t>grows </a:t>
            </a:r>
            <a:r>
              <a:rPr sz="2800" spc="-5" dirty="0">
                <a:latin typeface="Times New Roman"/>
                <a:cs typeface="Times New Roman"/>
              </a:rPr>
              <a:t>backwards </a:t>
            </a:r>
            <a:r>
              <a:rPr sz="2800" dirty="0">
                <a:latin typeface="Times New Roman"/>
                <a:cs typeface="Times New Roman"/>
              </a:rPr>
              <a:t>into 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memory,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customary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place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bottom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stack at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end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5" dirty="0">
                <a:latin typeface="Times New Roman"/>
                <a:cs typeface="Times New Roman"/>
              </a:rPr>
              <a:t>memory </a:t>
            </a:r>
            <a:r>
              <a:rPr sz="2800" dirty="0">
                <a:latin typeface="Times New Roman"/>
                <a:cs typeface="Times New Roman"/>
              </a:rPr>
              <a:t>to </a:t>
            </a:r>
            <a:r>
              <a:rPr sz="2800" spc="-5" dirty="0">
                <a:latin typeface="Times New Roman"/>
                <a:cs typeface="Times New Roman"/>
              </a:rPr>
              <a:t>keep </a:t>
            </a:r>
            <a:r>
              <a:rPr sz="2800" dirty="0">
                <a:latin typeface="Times New Roman"/>
                <a:cs typeface="Times New Roman"/>
              </a:rPr>
              <a:t>it </a:t>
            </a:r>
            <a:r>
              <a:rPr sz="2800" spc="-5" dirty="0">
                <a:latin typeface="Times New Roman"/>
                <a:cs typeface="Times New Roman"/>
              </a:rPr>
              <a:t>as far away </a:t>
            </a:r>
            <a:r>
              <a:rPr sz="2800" dirty="0">
                <a:latin typeface="Times New Roman"/>
                <a:cs typeface="Times New Roman"/>
              </a:rPr>
              <a:t> from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user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programs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possible.</a:t>
            </a:r>
            <a:endParaRPr sz="2800">
              <a:latin typeface="Times New Roman"/>
              <a:cs typeface="Times New Roman"/>
            </a:endParaRPr>
          </a:p>
          <a:p>
            <a:pPr marL="355600" marR="218440" indent="-342900">
              <a:lnSpc>
                <a:spcPts val="3020"/>
              </a:lnSpc>
              <a:spcBef>
                <a:spcPts val="69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8085,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stack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defined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by</a:t>
            </a:r>
            <a:r>
              <a:rPr sz="2800" spc="-5" dirty="0">
                <a:latin typeface="Times New Roman"/>
                <a:cs typeface="Times New Roman"/>
              </a:rPr>
              <a:t> setting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SP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(Stack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Pointer)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register.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Times New Roman"/>
              <a:buChar char="•"/>
            </a:pPr>
            <a:endParaRPr sz="3450">
              <a:latin typeface="Times New Roman"/>
              <a:cs typeface="Times New Roman"/>
            </a:endParaRPr>
          </a:p>
          <a:p>
            <a:pPr marL="17780" algn="ctr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LXI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SP,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FFFFH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800">
              <a:latin typeface="Arial MT"/>
              <a:cs typeface="Arial MT"/>
            </a:endParaRPr>
          </a:p>
          <a:p>
            <a:pPr marL="355600" marR="5080" indent="-343535">
              <a:lnSpc>
                <a:spcPts val="3020"/>
              </a:lnSpc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This sets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Stack </a:t>
            </a:r>
            <a:r>
              <a:rPr sz="2800" dirty="0">
                <a:latin typeface="Times New Roman"/>
                <a:cs typeface="Times New Roman"/>
              </a:rPr>
              <a:t>Pointer to </a:t>
            </a:r>
            <a:r>
              <a:rPr sz="2800" spc="-5" dirty="0">
                <a:latin typeface="Times New Roman"/>
                <a:cs typeface="Times New Roman"/>
              </a:rPr>
              <a:t>location </a:t>
            </a:r>
            <a:r>
              <a:rPr sz="2800" dirty="0">
                <a:latin typeface="Times New Roman"/>
                <a:cs typeface="Times New Roman"/>
              </a:rPr>
              <a:t>FFFFH </a:t>
            </a:r>
            <a:r>
              <a:rPr sz="2800" spc="-5" dirty="0">
                <a:latin typeface="Times New Roman"/>
                <a:cs typeface="Times New Roman"/>
              </a:rPr>
              <a:t>(end </a:t>
            </a:r>
            <a:r>
              <a:rPr sz="2800" spc="-6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memory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 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8085).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8274" y="814069"/>
            <a:ext cx="7287259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Saving</a:t>
            </a:r>
            <a:r>
              <a:rPr spc="-10" dirty="0"/>
              <a:t> </a:t>
            </a:r>
            <a:r>
              <a:rPr spc="-5" dirty="0"/>
              <a:t>Information</a:t>
            </a:r>
            <a:r>
              <a:rPr spc="-10" dirty="0"/>
              <a:t> </a:t>
            </a:r>
            <a:r>
              <a:rPr spc="-5" dirty="0"/>
              <a:t>on</a:t>
            </a:r>
            <a:r>
              <a:rPr dirty="0"/>
              <a:t> </a:t>
            </a:r>
            <a:r>
              <a:rPr spc="-5" dirty="0"/>
              <a:t>the</a:t>
            </a:r>
            <a:r>
              <a:rPr spc="-10" dirty="0"/>
              <a:t> </a:t>
            </a:r>
            <a:r>
              <a:rPr spc="-5" dirty="0"/>
              <a:t>Stack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2002027"/>
            <a:ext cx="7342505" cy="3636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91440" indent="-343535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Information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saved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stack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by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PUSHing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on.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585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spc="-5" dirty="0">
                <a:latin typeface="Times New Roman"/>
                <a:cs typeface="Times New Roman"/>
              </a:rPr>
              <a:t>It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 retrieved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from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stack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5" dirty="0">
                <a:latin typeface="Times New Roman"/>
                <a:cs typeface="Times New Roman"/>
              </a:rPr>
              <a:t> POPing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off.</a:t>
            </a:r>
            <a:endParaRPr sz="2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buFont typeface="Times New Roman"/>
              <a:buChar char="–"/>
            </a:pPr>
            <a:endParaRPr sz="2600">
              <a:latin typeface="Times New Roman"/>
              <a:cs typeface="Times New Roman"/>
            </a:endParaRPr>
          </a:p>
          <a:p>
            <a:pPr marL="355600" marR="244475" indent="-343535">
              <a:lnSpc>
                <a:spcPct val="100000"/>
              </a:lnSpc>
              <a:spcBef>
                <a:spcPts val="170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8085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provides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two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instructions: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PUSH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and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POP for storing </a:t>
            </a:r>
            <a:r>
              <a:rPr sz="2800" spc="-5" dirty="0">
                <a:latin typeface="Times New Roman"/>
                <a:cs typeface="Times New Roman"/>
              </a:rPr>
              <a:t>information </a:t>
            </a:r>
            <a:r>
              <a:rPr sz="2800" dirty="0">
                <a:latin typeface="Times New Roman"/>
                <a:cs typeface="Times New Roman"/>
              </a:rPr>
              <a:t>on the </a:t>
            </a:r>
            <a:r>
              <a:rPr sz="2800" spc="-5" dirty="0">
                <a:latin typeface="Times New Roman"/>
                <a:cs typeface="Times New Roman"/>
              </a:rPr>
              <a:t>stack and 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retrieving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back.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585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spc="-5" dirty="0">
                <a:latin typeface="Times New Roman"/>
                <a:cs typeface="Times New Roman"/>
              </a:rPr>
              <a:t>Both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PUSH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" dirty="0">
                <a:latin typeface="Times New Roman"/>
                <a:cs typeface="Times New Roman"/>
              </a:rPr>
              <a:t> POP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work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with register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pairs ONLY.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60575" y="814069"/>
            <a:ext cx="502348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The</a:t>
            </a:r>
            <a:r>
              <a:rPr spc="-35" dirty="0"/>
              <a:t> </a:t>
            </a:r>
            <a:r>
              <a:rPr spc="-5" dirty="0"/>
              <a:t>PUSH</a:t>
            </a:r>
            <a:r>
              <a:rPr spc="-20" dirty="0"/>
              <a:t> </a:t>
            </a:r>
            <a:r>
              <a:rPr spc="-5" dirty="0"/>
              <a:t>Instruction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01011"/>
            <a:ext cx="7357109" cy="2065655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88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PUSH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</a:t>
            </a:r>
            <a:endParaRPr sz="32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9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Decrement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SP</a:t>
            </a:r>
            <a:endParaRPr sz="2800">
              <a:latin typeface="Times New Roman"/>
              <a:cs typeface="Times New Roman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67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Copy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contents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5" dirty="0">
                <a:latin typeface="Times New Roman"/>
                <a:cs typeface="Times New Roman"/>
              </a:rPr>
              <a:t>register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memory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location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pointed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by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SP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07490" y="4964611"/>
            <a:ext cx="361569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Times New Roman"/>
                <a:cs typeface="Times New Roman"/>
              </a:rPr>
              <a:t>location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pointed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by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SP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870200" y="4602162"/>
            <a:ext cx="1295400" cy="173355"/>
            <a:chOff x="2870200" y="4602162"/>
            <a:chExt cx="1295400" cy="173355"/>
          </a:xfrm>
        </p:grpSpPr>
        <p:sp>
          <p:nvSpPr>
            <p:cNvPr id="6" name="object 6"/>
            <p:cNvSpPr/>
            <p:nvPr/>
          </p:nvSpPr>
          <p:spPr>
            <a:xfrm>
              <a:off x="2876550" y="4608512"/>
              <a:ext cx="1282700" cy="160655"/>
            </a:xfrm>
            <a:custGeom>
              <a:avLst/>
              <a:gdLst/>
              <a:ahLst/>
              <a:cxnLst/>
              <a:rect l="l" t="t" r="r" b="b"/>
              <a:pathLst>
                <a:path w="1282700" h="160654">
                  <a:moveTo>
                    <a:pt x="1282700" y="0"/>
                  </a:moveTo>
                  <a:lnTo>
                    <a:pt x="0" y="0"/>
                  </a:lnTo>
                  <a:lnTo>
                    <a:pt x="0" y="160337"/>
                  </a:lnTo>
                  <a:lnTo>
                    <a:pt x="1282700" y="160337"/>
                  </a:lnTo>
                  <a:lnTo>
                    <a:pt x="128270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876550" y="4608512"/>
              <a:ext cx="1282700" cy="160655"/>
            </a:xfrm>
            <a:custGeom>
              <a:avLst/>
              <a:gdLst/>
              <a:ahLst/>
              <a:cxnLst/>
              <a:rect l="l" t="t" r="r" b="b"/>
              <a:pathLst>
                <a:path w="1282700" h="160654">
                  <a:moveTo>
                    <a:pt x="0" y="0"/>
                  </a:moveTo>
                  <a:lnTo>
                    <a:pt x="1282700" y="0"/>
                  </a:lnTo>
                  <a:lnTo>
                    <a:pt x="1282700" y="160337"/>
                  </a:lnTo>
                  <a:lnTo>
                    <a:pt x="0" y="160337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524250" y="4608512"/>
              <a:ext cx="0" cy="160655"/>
            </a:xfrm>
            <a:custGeom>
              <a:avLst/>
              <a:gdLst/>
              <a:ahLst/>
              <a:cxnLst/>
              <a:rect l="l" t="t" r="r" b="b"/>
              <a:pathLst>
                <a:path h="160654">
                  <a:moveTo>
                    <a:pt x="0" y="0"/>
                  </a:moveTo>
                  <a:lnTo>
                    <a:pt x="0" y="16033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221739" y="4025868"/>
            <a:ext cx="2352040" cy="530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3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–</a:t>
            </a:r>
            <a:r>
              <a:rPr sz="2800" spc="10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Decrement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SP</a:t>
            </a:r>
            <a:endParaRPr sz="2800">
              <a:latin typeface="Times New Roman"/>
              <a:cs typeface="Times New Roman"/>
            </a:endParaRPr>
          </a:p>
          <a:p>
            <a:pPr marR="400685" algn="r">
              <a:lnSpc>
                <a:spcPts val="1150"/>
              </a:lnSpc>
            </a:pPr>
            <a:r>
              <a:rPr sz="1400" spc="-425" dirty="0">
                <a:latin typeface="Arial MT"/>
                <a:cs typeface="Arial MT"/>
              </a:rPr>
              <a:t>B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71314" y="4305089"/>
            <a:ext cx="15367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 MT"/>
                <a:cs typeface="Arial MT"/>
              </a:rPr>
              <a:t>C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50963" y="5511514"/>
            <a:ext cx="26162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 MT"/>
                <a:cs typeface="Arial MT"/>
              </a:rPr>
              <a:t>SP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71365" y="5215930"/>
            <a:ext cx="351155" cy="508000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 marR="5080" algn="just">
              <a:lnSpc>
                <a:spcPct val="104200"/>
              </a:lnSpc>
              <a:spcBef>
                <a:spcPts val="145"/>
              </a:spcBef>
            </a:pPr>
            <a:r>
              <a:rPr sz="1000" dirty="0">
                <a:latin typeface="Arial MT"/>
                <a:cs typeface="Arial MT"/>
              </a:rPr>
              <a:t>FFFD  FFFE  FFFF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71365" y="5063225"/>
            <a:ext cx="35115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 MT"/>
                <a:cs typeface="Arial MT"/>
              </a:rPr>
              <a:t>FFFC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71365" y="4898176"/>
            <a:ext cx="34353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 MT"/>
                <a:cs typeface="Arial MT"/>
              </a:rPr>
              <a:t>FFFB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168650" y="4784725"/>
            <a:ext cx="1379855" cy="751205"/>
            <a:chOff x="3168650" y="4784725"/>
            <a:chExt cx="1379855" cy="751205"/>
          </a:xfrm>
        </p:grpSpPr>
        <p:sp>
          <p:nvSpPr>
            <p:cNvPr id="16" name="object 16"/>
            <p:cNvSpPr/>
            <p:nvPr/>
          </p:nvSpPr>
          <p:spPr>
            <a:xfrm>
              <a:off x="3187700" y="4794250"/>
              <a:ext cx="0" cy="673100"/>
            </a:xfrm>
            <a:custGeom>
              <a:avLst/>
              <a:gdLst/>
              <a:ahLst/>
              <a:cxnLst/>
              <a:rect l="l" t="t" r="r" b="b"/>
              <a:pathLst>
                <a:path h="673100">
                  <a:moveTo>
                    <a:pt x="0" y="0"/>
                  </a:moveTo>
                  <a:lnTo>
                    <a:pt x="0" y="673100"/>
                  </a:lnTo>
                </a:path>
              </a:pathLst>
            </a:custGeom>
            <a:ln w="38100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189287" y="5478462"/>
              <a:ext cx="1262380" cy="0"/>
            </a:xfrm>
            <a:custGeom>
              <a:avLst/>
              <a:gdLst/>
              <a:ahLst/>
              <a:cxnLst/>
              <a:rect l="l" t="t" r="r" b="b"/>
              <a:pathLst>
                <a:path w="1262379">
                  <a:moveTo>
                    <a:pt x="0" y="0"/>
                  </a:moveTo>
                  <a:lnTo>
                    <a:pt x="1262062" y="0"/>
                  </a:lnTo>
                </a:path>
              </a:pathLst>
            </a:custGeom>
            <a:ln w="38100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32302" y="5421307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36987" y="4784725"/>
              <a:ext cx="0" cy="523875"/>
            </a:xfrm>
            <a:custGeom>
              <a:avLst/>
              <a:gdLst/>
              <a:ahLst/>
              <a:cxnLst/>
              <a:rect l="l" t="t" r="r" b="b"/>
              <a:pathLst>
                <a:path h="523875">
                  <a:moveTo>
                    <a:pt x="0" y="0"/>
                  </a:moveTo>
                  <a:lnTo>
                    <a:pt x="0" y="523875"/>
                  </a:lnTo>
                </a:path>
              </a:pathLst>
            </a:custGeom>
            <a:ln w="38100">
              <a:solidFill>
                <a:srgbClr val="00CC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838575" y="5319712"/>
              <a:ext cx="614680" cy="0"/>
            </a:xfrm>
            <a:custGeom>
              <a:avLst/>
              <a:gdLst/>
              <a:ahLst/>
              <a:cxnLst/>
              <a:rect l="l" t="t" r="r" b="b"/>
              <a:pathLst>
                <a:path w="614679">
                  <a:moveTo>
                    <a:pt x="0" y="0"/>
                  </a:moveTo>
                  <a:lnTo>
                    <a:pt x="614362" y="0"/>
                  </a:lnTo>
                </a:path>
              </a:pathLst>
            </a:custGeom>
            <a:ln w="38100">
              <a:solidFill>
                <a:srgbClr val="00CC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433890" y="5262557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183639" y="4537942"/>
            <a:ext cx="696340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4526280" algn="l"/>
              </a:tabLst>
            </a:pPr>
            <a:r>
              <a:rPr sz="2800" dirty="0">
                <a:latin typeface="Times New Roman"/>
                <a:cs typeface="Times New Roman"/>
              </a:rPr>
              <a:t>–</a:t>
            </a:r>
            <a:r>
              <a:rPr sz="2800" spc="14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</a:t>
            </a:r>
            <a:r>
              <a:rPr sz="2800" dirty="0">
                <a:latin typeface="Times New Roman"/>
                <a:cs typeface="Times New Roman"/>
              </a:rPr>
              <a:t>opy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</a:t>
            </a:r>
            <a:r>
              <a:rPr sz="2800" spc="-1025" dirty="0">
                <a:latin typeface="Times New Roman"/>
                <a:cs typeface="Times New Roman"/>
              </a:rPr>
              <a:t>o</a:t>
            </a:r>
            <a:r>
              <a:rPr sz="1800" spc="-15" baseline="55555" dirty="0">
                <a:latin typeface="Arial MT"/>
                <a:cs typeface="Arial MT"/>
              </a:rPr>
              <a:t>1</a:t>
            </a:r>
            <a:r>
              <a:rPr sz="1800" spc="-472" baseline="55555" dirty="0">
                <a:latin typeface="Arial MT"/>
                <a:cs typeface="Arial MT"/>
              </a:rPr>
              <a:t>2</a:t>
            </a:r>
            <a:r>
              <a:rPr sz="2800" dirty="0">
                <a:latin typeface="Times New Roman"/>
                <a:cs typeface="Times New Roman"/>
              </a:rPr>
              <a:t>nt</a:t>
            </a:r>
            <a:r>
              <a:rPr sz="2800" spc="-5" dirty="0">
                <a:latin typeface="Times New Roman"/>
                <a:cs typeface="Times New Roman"/>
              </a:rPr>
              <a:t>e</a:t>
            </a:r>
            <a:r>
              <a:rPr sz="2800" spc="-715" dirty="0">
                <a:latin typeface="Times New Roman"/>
                <a:cs typeface="Times New Roman"/>
              </a:rPr>
              <a:t>n</a:t>
            </a:r>
            <a:r>
              <a:rPr sz="1800" spc="-37" baseline="55555" dirty="0">
                <a:latin typeface="Arial MT"/>
                <a:cs typeface="Arial MT"/>
              </a:rPr>
              <a:t>F</a:t>
            </a:r>
            <a:r>
              <a:rPr sz="2800" spc="-760" dirty="0">
                <a:latin typeface="Times New Roman"/>
                <a:cs typeface="Times New Roman"/>
              </a:rPr>
              <a:t>t</a:t>
            </a:r>
            <a:r>
              <a:rPr sz="1800" spc="112" baseline="55555" dirty="0">
                <a:latin typeface="Arial MT"/>
                <a:cs typeface="Arial MT"/>
              </a:rPr>
              <a:t>3</a:t>
            </a:r>
            <a:r>
              <a:rPr sz="2800" dirty="0">
                <a:latin typeface="Times New Roman"/>
                <a:cs typeface="Times New Roman"/>
              </a:rPr>
              <a:t>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 r</a:t>
            </a:r>
            <a:r>
              <a:rPr sz="2800" spc="-5" dirty="0">
                <a:latin typeface="Times New Roman"/>
                <a:cs typeface="Times New Roman"/>
              </a:rPr>
              <a:t>e</a:t>
            </a:r>
            <a:r>
              <a:rPr sz="2800" dirty="0">
                <a:latin typeface="Times New Roman"/>
                <a:cs typeface="Times New Roman"/>
              </a:rPr>
              <a:t>g	C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mem</a:t>
            </a:r>
            <a:r>
              <a:rPr sz="2800" dirty="0">
                <a:latin typeface="Times New Roman"/>
                <a:cs typeface="Times New Roman"/>
              </a:rPr>
              <a:t>ory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4911725" y="4594225"/>
          <a:ext cx="725170" cy="11144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93345">
                        <a:lnSpc>
                          <a:spcPts val="2250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ist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R="39370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R="39370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R="39370" algn="ctr">
                        <a:lnSpc>
                          <a:spcPts val="1160"/>
                        </a:lnSpc>
                        <a:spcBef>
                          <a:spcPts val="35"/>
                        </a:spcBef>
                      </a:pPr>
                      <a:r>
                        <a:rPr sz="1200" spc="-5" dirty="0">
                          <a:latin typeface="Arial MT"/>
                          <a:cs typeface="Arial MT"/>
                        </a:rPr>
                        <a:t>F3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R="81915" algn="ctr">
                        <a:lnSpc>
                          <a:spcPts val="1200"/>
                        </a:lnSpc>
                      </a:pPr>
                      <a:r>
                        <a:rPr sz="1200" spc="-10" dirty="0">
                          <a:latin typeface="Arial MT"/>
                          <a:cs typeface="Arial MT"/>
                        </a:rPr>
                        <a:t>12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9225">
                <a:tc>
                  <a:txBody>
                    <a:bodyPr/>
                    <a:lstStyle/>
                    <a:p>
                      <a:pPr marR="39370"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24" name="object 24"/>
          <p:cNvGrpSpPr/>
          <p:nvPr/>
        </p:nvGrpSpPr>
        <p:grpSpPr>
          <a:xfrm>
            <a:off x="5640390" y="5265734"/>
            <a:ext cx="617855" cy="212725"/>
            <a:chOff x="5640390" y="5265734"/>
            <a:chExt cx="617855" cy="212725"/>
          </a:xfrm>
        </p:grpSpPr>
        <p:sp>
          <p:nvSpPr>
            <p:cNvPr id="25" name="object 25"/>
            <p:cNvSpPr/>
            <p:nvPr/>
          </p:nvSpPr>
          <p:spPr>
            <a:xfrm>
              <a:off x="6251575" y="5303837"/>
              <a:ext cx="0" cy="174625"/>
            </a:xfrm>
            <a:custGeom>
              <a:avLst/>
              <a:gdLst/>
              <a:ahLst/>
              <a:cxnLst/>
              <a:rect l="l" t="t" r="r" b="b"/>
              <a:pathLst>
                <a:path h="174625">
                  <a:moveTo>
                    <a:pt x="0" y="174625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703887" y="5303837"/>
              <a:ext cx="548005" cy="0"/>
            </a:xfrm>
            <a:custGeom>
              <a:avLst/>
              <a:gdLst/>
              <a:ahLst/>
              <a:cxnLst/>
              <a:rect l="l" t="t" r="r" b="b"/>
              <a:pathLst>
                <a:path w="548004">
                  <a:moveTo>
                    <a:pt x="547687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640390" y="526573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5640390" y="5589584"/>
            <a:ext cx="449580" cy="76200"/>
            <a:chOff x="5640390" y="5589584"/>
            <a:chExt cx="449580" cy="76200"/>
          </a:xfrm>
        </p:grpSpPr>
        <p:sp>
          <p:nvSpPr>
            <p:cNvPr id="29" name="object 29"/>
            <p:cNvSpPr/>
            <p:nvPr/>
          </p:nvSpPr>
          <p:spPr>
            <a:xfrm>
              <a:off x="5703887" y="5627688"/>
              <a:ext cx="386080" cy="0"/>
            </a:xfrm>
            <a:custGeom>
              <a:avLst/>
              <a:gdLst/>
              <a:ahLst/>
              <a:cxnLst/>
              <a:rect l="l" t="t" r="r" b="b"/>
              <a:pathLst>
                <a:path w="386079">
                  <a:moveTo>
                    <a:pt x="385762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B3B3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640390" y="558958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61742" y="814069"/>
            <a:ext cx="462026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The</a:t>
            </a:r>
            <a:r>
              <a:rPr spc="-35" dirty="0"/>
              <a:t> </a:t>
            </a:r>
            <a:r>
              <a:rPr spc="-5" dirty="0"/>
              <a:t>POP</a:t>
            </a:r>
            <a:r>
              <a:rPr spc="-15" dirty="0"/>
              <a:t> </a:t>
            </a:r>
            <a:r>
              <a:rPr spc="-5" dirty="0"/>
              <a:t>Instruction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01011"/>
            <a:ext cx="6744970" cy="2065655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88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POP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D</a:t>
            </a:r>
            <a:endParaRPr sz="3200">
              <a:latin typeface="Times New Roman"/>
              <a:cs typeface="Times New Roman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69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Copy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contents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memory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location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pointed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by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SP to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register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Increment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SP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21739" y="4025868"/>
            <a:ext cx="62877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–</a:t>
            </a:r>
            <a:r>
              <a:rPr sz="2800" spc="14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Copy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contents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 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memory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location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72264" y="4503985"/>
            <a:ext cx="1430655" cy="394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5"/>
              </a:lnSpc>
            </a:pPr>
            <a:r>
              <a:rPr sz="2800" dirty="0">
                <a:latin typeface="Times New Roman"/>
                <a:cs typeface="Times New Roman"/>
              </a:rPr>
              <a:t>o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by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07490" y="4452537"/>
            <a:ext cx="477075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94940" algn="l"/>
                <a:tab pos="4138295" algn="l"/>
              </a:tabLst>
            </a:pPr>
            <a:r>
              <a:rPr sz="2800" spc="-5" dirty="0">
                <a:latin typeface="Times New Roman"/>
                <a:cs typeface="Times New Roman"/>
              </a:rPr>
              <a:t>pointed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	P to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	</a:t>
            </a:r>
            <a:r>
              <a:rPr sz="2800" spc="-5" dirty="0">
                <a:latin typeface="Times New Roman"/>
                <a:cs typeface="Times New Roman"/>
              </a:rPr>
              <a:t>er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21739" y="4964611"/>
            <a:ext cx="223520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–</a:t>
            </a:r>
            <a:r>
              <a:rPr sz="2800" spc="10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Increment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SP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870200" y="4602162"/>
            <a:ext cx="1295400" cy="173355"/>
            <a:chOff x="2870200" y="4602162"/>
            <a:chExt cx="1295400" cy="173355"/>
          </a:xfrm>
        </p:grpSpPr>
        <p:sp>
          <p:nvSpPr>
            <p:cNvPr id="9" name="object 9"/>
            <p:cNvSpPr/>
            <p:nvPr/>
          </p:nvSpPr>
          <p:spPr>
            <a:xfrm>
              <a:off x="2876550" y="4608512"/>
              <a:ext cx="1282700" cy="160655"/>
            </a:xfrm>
            <a:custGeom>
              <a:avLst/>
              <a:gdLst/>
              <a:ahLst/>
              <a:cxnLst/>
              <a:rect l="l" t="t" r="r" b="b"/>
              <a:pathLst>
                <a:path w="1282700" h="160654">
                  <a:moveTo>
                    <a:pt x="1282700" y="0"/>
                  </a:moveTo>
                  <a:lnTo>
                    <a:pt x="0" y="0"/>
                  </a:lnTo>
                  <a:lnTo>
                    <a:pt x="0" y="160337"/>
                  </a:lnTo>
                  <a:lnTo>
                    <a:pt x="1282700" y="160337"/>
                  </a:lnTo>
                  <a:lnTo>
                    <a:pt x="128270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876550" y="4608512"/>
              <a:ext cx="1282700" cy="160655"/>
            </a:xfrm>
            <a:custGeom>
              <a:avLst/>
              <a:gdLst/>
              <a:ahLst/>
              <a:cxnLst/>
              <a:rect l="l" t="t" r="r" b="b"/>
              <a:pathLst>
                <a:path w="1282700" h="160654">
                  <a:moveTo>
                    <a:pt x="0" y="0"/>
                  </a:moveTo>
                  <a:lnTo>
                    <a:pt x="1282700" y="0"/>
                  </a:lnTo>
                  <a:lnTo>
                    <a:pt x="1282700" y="160337"/>
                  </a:lnTo>
                  <a:lnTo>
                    <a:pt x="0" y="160337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524250" y="4608512"/>
              <a:ext cx="0" cy="160655"/>
            </a:xfrm>
            <a:custGeom>
              <a:avLst/>
              <a:gdLst/>
              <a:ahLst/>
              <a:cxnLst/>
              <a:rect l="l" t="t" r="r" b="b"/>
              <a:pathLst>
                <a:path h="160654">
                  <a:moveTo>
                    <a:pt x="0" y="0"/>
                  </a:moveTo>
                  <a:lnTo>
                    <a:pt x="0" y="16033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087052" y="4317872"/>
            <a:ext cx="82867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96595" algn="l"/>
              </a:tabLst>
            </a:pPr>
            <a:r>
              <a:rPr sz="1400" spc="-5" dirty="0">
                <a:latin typeface="Arial MT"/>
                <a:cs typeface="Arial MT"/>
              </a:rPr>
              <a:t>D	E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50963" y="5202052"/>
            <a:ext cx="26162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 MT"/>
                <a:cs typeface="Arial MT"/>
              </a:rPr>
              <a:t>SP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71365" y="4885833"/>
            <a:ext cx="351155" cy="8382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 algn="just">
              <a:lnSpc>
                <a:spcPct val="106200"/>
              </a:lnSpc>
              <a:spcBef>
                <a:spcPts val="125"/>
              </a:spcBef>
            </a:pPr>
            <a:r>
              <a:rPr sz="1000" dirty="0">
                <a:latin typeface="Arial MT"/>
                <a:cs typeface="Arial MT"/>
              </a:rPr>
              <a:t>FFFB  FFFC  FFFD  FFFE  FFFF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130539" y="4784719"/>
            <a:ext cx="1417955" cy="713105"/>
            <a:chOff x="3130539" y="4784719"/>
            <a:chExt cx="1417955" cy="713105"/>
          </a:xfrm>
        </p:grpSpPr>
        <p:sp>
          <p:nvSpPr>
            <p:cNvPr id="16" name="object 16"/>
            <p:cNvSpPr/>
            <p:nvPr/>
          </p:nvSpPr>
          <p:spPr>
            <a:xfrm>
              <a:off x="3187695" y="4889500"/>
              <a:ext cx="0" cy="577850"/>
            </a:xfrm>
            <a:custGeom>
              <a:avLst/>
              <a:gdLst/>
              <a:ahLst/>
              <a:cxnLst/>
              <a:rect l="l" t="t" r="r" b="b"/>
              <a:pathLst>
                <a:path h="577850">
                  <a:moveTo>
                    <a:pt x="0" y="0"/>
                  </a:moveTo>
                  <a:lnTo>
                    <a:pt x="0" y="577850"/>
                  </a:lnTo>
                </a:path>
              </a:pathLst>
            </a:custGeom>
            <a:ln w="38100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130539" y="4794244"/>
              <a:ext cx="114300" cy="114935"/>
            </a:xfrm>
            <a:custGeom>
              <a:avLst/>
              <a:gdLst/>
              <a:ahLst/>
              <a:cxnLst/>
              <a:rect l="l" t="t" r="r" b="b"/>
              <a:pathLst>
                <a:path w="114300" h="114935">
                  <a:moveTo>
                    <a:pt x="57162" y="0"/>
                  </a:moveTo>
                  <a:lnTo>
                    <a:pt x="0" y="114300"/>
                  </a:lnTo>
                  <a:lnTo>
                    <a:pt x="114300" y="114312"/>
                  </a:lnTo>
                  <a:lnTo>
                    <a:pt x="57162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189287" y="5478462"/>
              <a:ext cx="1357630" cy="0"/>
            </a:xfrm>
            <a:custGeom>
              <a:avLst/>
              <a:gdLst/>
              <a:ahLst/>
              <a:cxnLst/>
              <a:rect l="l" t="t" r="r" b="b"/>
              <a:pathLst>
                <a:path w="1357629">
                  <a:moveTo>
                    <a:pt x="0" y="0"/>
                  </a:moveTo>
                  <a:lnTo>
                    <a:pt x="1357312" y="0"/>
                  </a:lnTo>
                </a:path>
              </a:pathLst>
            </a:custGeom>
            <a:ln w="38100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36983" y="4879975"/>
              <a:ext cx="0" cy="428625"/>
            </a:xfrm>
            <a:custGeom>
              <a:avLst/>
              <a:gdLst/>
              <a:ahLst/>
              <a:cxnLst/>
              <a:rect l="l" t="t" r="r" b="b"/>
              <a:pathLst>
                <a:path h="428625">
                  <a:moveTo>
                    <a:pt x="0" y="0"/>
                  </a:moveTo>
                  <a:lnTo>
                    <a:pt x="0" y="428625"/>
                  </a:lnTo>
                </a:path>
              </a:pathLst>
            </a:custGeom>
            <a:ln w="38100">
              <a:solidFill>
                <a:srgbClr val="00CC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779827" y="4784719"/>
              <a:ext cx="114300" cy="114935"/>
            </a:xfrm>
            <a:custGeom>
              <a:avLst/>
              <a:gdLst/>
              <a:ahLst/>
              <a:cxnLst/>
              <a:rect l="l" t="t" r="r" b="b"/>
              <a:pathLst>
                <a:path w="114300" h="114935">
                  <a:moveTo>
                    <a:pt x="57162" y="0"/>
                  </a:moveTo>
                  <a:lnTo>
                    <a:pt x="0" y="114300"/>
                  </a:lnTo>
                  <a:lnTo>
                    <a:pt x="114300" y="114312"/>
                  </a:lnTo>
                  <a:lnTo>
                    <a:pt x="57162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838575" y="5319712"/>
              <a:ext cx="709930" cy="0"/>
            </a:xfrm>
            <a:custGeom>
              <a:avLst/>
              <a:gdLst/>
              <a:ahLst/>
              <a:cxnLst/>
              <a:rect l="l" t="t" r="r" b="b"/>
              <a:pathLst>
                <a:path w="709929">
                  <a:moveTo>
                    <a:pt x="0" y="0"/>
                  </a:moveTo>
                  <a:lnTo>
                    <a:pt x="709612" y="0"/>
                  </a:lnTo>
                </a:path>
              </a:pathLst>
            </a:custGeom>
            <a:ln w="38100">
              <a:solidFill>
                <a:srgbClr val="00CC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093624" y="4589519"/>
            <a:ext cx="8559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64845" algn="l"/>
              </a:tabLst>
            </a:pPr>
            <a:r>
              <a:rPr sz="1200" spc="-10" dirty="0">
                <a:latin typeface="Arial MT"/>
                <a:cs typeface="Arial MT"/>
              </a:rPr>
              <a:t>1</a:t>
            </a:r>
            <a:r>
              <a:rPr sz="1200" spc="-5" dirty="0">
                <a:latin typeface="Arial MT"/>
                <a:cs typeface="Arial MT"/>
              </a:rPr>
              <a:t>2</a:t>
            </a:r>
            <a:r>
              <a:rPr sz="1200" dirty="0">
                <a:latin typeface="Arial MT"/>
                <a:cs typeface="Arial MT"/>
              </a:rPr>
              <a:t>	</a:t>
            </a:r>
            <a:r>
              <a:rPr sz="1800" spc="-7" baseline="2314" dirty="0">
                <a:latin typeface="Arial MT"/>
                <a:cs typeface="Arial MT"/>
              </a:rPr>
              <a:t>F3</a:t>
            </a:r>
            <a:endParaRPr sz="1800" baseline="2314">
              <a:latin typeface="Arial MT"/>
              <a:cs typeface="Arial MT"/>
            </a:endParaRPr>
          </a:p>
        </p:txBody>
      </p: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4911725" y="4594225"/>
          <a:ext cx="753110" cy="11144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4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55244">
                        <a:lnSpc>
                          <a:spcPts val="2250"/>
                        </a:lnSpc>
                      </a:pP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gist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R="67310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R="67310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R="67945" algn="ctr">
                        <a:lnSpc>
                          <a:spcPts val="1160"/>
                        </a:lnSpc>
                        <a:spcBef>
                          <a:spcPts val="35"/>
                        </a:spcBef>
                      </a:pPr>
                      <a:r>
                        <a:rPr sz="1200" spc="-5" dirty="0">
                          <a:latin typeface="Arial MT"/>
                          <a:cs typeface="Arial MT"/>
                        </a:rPr>
                        <a:t>F3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R="109855" algn="ctr">
                        <a:lnSpc>
                          <a:spcPts val="1200"/>
                        </a:lnSpc>
                      </a:pPr>
                      <a:r>
                        <a:rPr sz="1200" spc="-10" dirty="0">
                          <a:latin typeface="Arial MT"/>
                          <a:cs typeface="Arial MT"/>
                        </a:rPr>
                        <a:t>12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9225">
                <a:tc>
                  <a:txBody>
                    <a:bodyPr/>
                    <a:lstStyle/>
                    <a:p>
                      <a:pPr marR="67310"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24" name="object 24"/>
          <p:cNvGrpSpPr/>
          <p:nvPr/>
        </p:nvGrpSpPr>
        <p:grpSpPr>
          <a:xfrm>
            <a:off x="5638802" y="5465763"/>
            <a:ext cx="617855" cy="225425"/>
            <a:chOff x="5638802" y="5465763"/>
            <a:chExt cx="617855" cy="225425"/>
          </a:xfrm>
        </p:grpSpPr>
        <p:sp>
          <p:nvSpPr>
            <p:cNvPr id="25" name="object 25"/>
            <p:cNvSpPr/>
            <p:nvPr/>
          </p:nvSpPr>
          <p:spPr>
            <a:xfrm>
              <a:off x="6249988" y="5465763"/>
              <a:ext cx="0" cy="174625"/>
            </a:xfrm>
            <a:custGeom>
              <a:avLst/>
              <a:gdLst/>
              <a:ahLst/>
              <a:cxnLst/>
              <a:rect l="l" t="t" r="r" b="b"/>
              <a:pathLst>
                <a:path h="174625">
                  <a:moveTo>
                    <a:pt x="0" y="174625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702301" y="5653088"/>
              <a:ext cx="548005" cy="0"/>
            </a:xfrm>
            <a:custGeom>
              <a:avLst/>
              <a:gdLst/>
              <a:ahLst/>
              <a:cxnLst/>
              <a:rect l="l" t="t" r="r" b="b"/>
              <a:pathLst>
                <a:path w="548004">
                  <a:moveTo>
                    <a:pt x="547687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638802" y="561498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5640390" y="5278434"/>
            <a:ext cx="449580" cy="76200"/>
            <a:chOff x="5640390" y="5278434"/>
            <a:chExt cx="449580" cy="76200"/>
          </a:xfrm>
        </p:grpSpPr>
        <p:sp>
          <p:nvSpPr>
            <p:cNvPr id="29" name="object 29"/>
            <p:cNvSpPr/>
            <p:nvPr/>
          </p:nvSpPr>
          <p:spPr>
            <a:xfrm>
              <a:off x="5703887" y="5316537"/>
              <a:ext cx="386080" cy="0"/>
            </a:xfrm>
            <a:custGeom>
              <a:avLst/>
              <a:gdLst/>
              <a:ahLst/>
              <a:cxnLst/>
              <a:rect l="l" t="t" r="r" b="b"/>
              <a:pathLst>
                <a:path w="386079">
                  <a:moveTo>
                    <a:pt x="385762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B3B3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640390" y="527843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38476" y="814069"/>
            <a:ext cx="50653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Operation</a:t>
            </a:r>
            <a:r>
              <a:rPr spc="-20" dirty="0"/>
              <a:t> </a:t>
            </a:r>
            <a:r>
              <a:rPr spc="-5" dirty="0"/>
              <a:t>of</a:t>
            </a:r>
            <a:r>
              <a:rPr spc="-25" dirty="0"/>
              <a:t> </a:t>
            </a:r>
            <a:r>
              <a:rPr spc="-5" dirty="0"/>
              <a:t>the</a:t>
            </a:r>
            <a:r>
              <a:rPr spc="-20" dirty="0"/>
              <a:t> </a:t>
            </a:r>
            <a:r>
              <a:rPr spc="-5" dirty="0"/>
              <a:t>Stack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59355"/>
            <a:ext cx="7182484" cy="494538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marR="1286510" indent="-343535">
              <a:lnSpc>
                <a:spcPts val="3020"/>
              </a:lnSpc>
              <a:spcBef>
                <a:spcPts val="484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latin typeface="Times New Roman"/>
                <a:cs typeface="Times New Roman"/>
              </a:rPr>
              <a:t>During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pushing,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stack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operates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“decrement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store”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style.</a:t>
            </a:r>
            <a:endParaRPr sz="2800">
              <a:latin typeface="Times New Roman"/>
              <a:cs typeface="Times New Roman"/>
            </a:endParaRPr>
          </a:p>
          <a:p>
            <a:pPr marL="755650" marR="708025" lvl="1" indent="-285750">
              <a:lnSpc>
                <a:spcPts val="2590"/>
              </a:lnSpc>
              <a:spcBef>
                <a:spcPts val="585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spc="-5" dirty="0">
                <a:latin typeface="Times New Roman"/>
                <a:cs typeface="Times New Roman"/>
              </a:rPr>
              <a:t>The stack pointer is decremented first, </a:t>
            </a:r>
            <a:r>
              <a:rPr sz="2400" dirty="0">
                <a:latin typeface="Times New Roman"/>
                <a:cs typeface="Times New Roman"/>
              </a:rPr>
              <a:t>then </a:t>
            </a:r>
            <a:r>
              <a:rPr sz="2400" spc="-5" dirty="0">
                <a:latin typeface="Times New Roman"/>
                <a:cs typeface="Times New Roman"/>
              </a:rPr>
              <a:t>the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information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placed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stack.</a:t>
            </a:r>
            <a:endParaRPr sz="2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buFont typeface="Times New Roman"/>
              <a:buChar char="–"/>
            </a:pPr>
            <a:endParaRPr sz="3800">
              <a:latin typeface="Times New Roman"/>
              <a:cs typeface="Times New Roman"/>
            </a:endParaRPr>
          </a:p>
          <a:p>
            <a:pPr marL="355600" marR="5080" indent="-343535">
              <a:lnSpc>
                <a:spcPts val="3020"/>
              </a:lnSpc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latin typeface="Times New Roman"/>
                <a:cs typeface="Times New Roman"/>
              </a:rPr>
              <a:t>During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poping,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stack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operates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“use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then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increment”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style.</a:t>
            </a:r>
            <a:endParaRPr sz="2800">
              <a:latin typeface="Times New Roman"/>
              <a:cs typeface="Times New Roman"/>
            </a:endParaRPr>
          </a:p>
          <a:p>
            <a:pPr marL="755650" marR="192405" lvl="1" indent="-285750">
              <a:lnSpc>
                <a:spcPts val="2590"/>
              </a:lnSpc>
              <a:spcBef>
                <a:spcPts val="585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spc="-5" dirty="0">
                <a:latin typeface="Times New Roman"/>
                <a:cs typeface="Times New Roman"/>
              </a:rPr>
              <a:t>The information is retrieved from the top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the the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stack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 pointer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 incremented.</a:t>
            </a:r>
            <a:endParaRPr sz="2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buFont typeface="Times New Roman"/>
              <a:buChar char="–"/>
            </a:pPr>
            <a:endParaRPr sz="3800">
              <a:latin typeface="Times New Roman"/>
              <a:cs typeface="Times New Roman"/>
            </a:endParaRPr>
          </a:p>
          <a:p>
            <a:pPr marL="355600" marR="158750" indent="-342900">
              <a:lnSpc>
                <a:spcPts val="3020"/>
              </a:lnSpc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SP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pointer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always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points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5" dirty="0">
                <a:latin typeface="Times New Roman"/>
                <a:cs typeface="Times New Roman"/>
              </a:rPr>
              <a:t> “the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top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stack”.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38142" y="814069"/>
            <a:ext cx="126746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LIFO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59355"/>
            <a:ext cx="7489190" cy="3872229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marR="5080" indent="-342900">
              <a:lnSpc>
                <a:spcPts val="3020"/>
              </a:lnSpc>
              <a:spcBef>
                <a:spcPts val="484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order </a:t>
            </a:r>
            <a:r>
              <a:rPr sz="2800" dirty="0">
                <a:latin typeface="Times New Roman"/>
                <a:cs typeface="Times New Roman"/>
              </a:rPr>
              <a:t>of PUSHs </a:t>
            </a:r>
            <a:r>
              <a:rPr sz="2800" spc="-5" dirty="0">
                <a:latin typeface="Times New Roman"/>
                <a:cs typeface="Times New Roman"/>
              </a:rPr>
              <a:t>and </a:t>
            </a:r>
            <a:r>
              <a:rPr sz="2800" dirty="0">
                <a:latin typeface="Times New Roman"/>
                <a:cs typeface="Times New Roman"/>
              </a:rPr>
              <a:t>POPs </a:t>
            </a:r>
            <a:r>
              <a:rPr sz="2800" spc="-5" dirty="0">
                <a:latin typeface="Times New Roman"/>
                <a:cs typeface="Times New Roman"/>
              </a:rPr>
              <a:t>must </a:t>
            </a:r>
            <a:r>
              <a:rPr sz="2800" dirty="0">
                <a:latin typeface="Times New Roman"/>
                <a:cs typeface="Times New Roman"/>
              </a:rPr>
              <a:t>be </a:t>
            </a:r>
            <a:r>
              <a:rPr sz="2800" spc="-5" dirty="0">
                <a:latin typeface="Times New Roman"/>
                <a:cs typeface="Times New Roman"/>
              </a:rPr>
              <a:t>opposite </a:t>
            </a:r>
            <a:r>
              <a:rPr sz="2800" dirty="0">
                <a:latin typeface="Times New Roman"/>
                <a:cs typeface="Times New Roman"/>
              </a:rPr>
              <a:t> of </a:t>
            </a:r>
            <a:r>
              <a:rPr sz="2800" spc="-5" dirty="0">
                <a:latin typeface="Times New Roman"/>
                <a:cs typeface="Times New Roman"/>
              </a:rPr>
              <a:t>each other </a:t>
            </a:r>
            <a:r>
              <a:rPr sz="2800" dirty="0">
                <a:latin typeface="Times New Roman"/>
                <a:cs typeface="Times New Roman"/>
              </a:rPr>
              <a:t>in </a:t>
            </a:r>
            <a:r>
              <a:rPr sz="2800" spc="-5" dirty="0">
                <a:latin typeface="Times New Roman"/>
                <a:cs typeface="Times New Roman"/>
              </a:rPr>
              <a:t>order </a:t>
            </a:r>
            <a:r>
              <a:rPr sz="2800" dirty="0">
                <a:latin typeface="Times New Roman"/>
                <a:cs typeface="Times New Roman"/>
              </a:rPr>
              <a:t>to </a:t>
            </a:r>
            <a:r>
              <a:rPr sz="2800" spc="-5" dirty="0">
                <a:latin typeface="Times New Roman"/>
                <a:cs typeface="Times New Roman"/>
              </a:rPr>
              <a:t>retrieve information back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into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original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location.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200">
              <a:latin typeface="Times New Roman"/>
              <a:cs typeface="Times New Roman"/>
            </a:endParaRPr>
          </a:p>
          <a:p>
            <a:pPr marL="355600" marR="5878195">
              <a:lnSpc>
                <a:spcPct val="110000"/>
              </a:lnSpc>
            </a:pPr>
            <a:r>
              <a:rPr sz="2600" spc="-5" dirty="0">
                <a:latin typeface="Arial MT"/>
                <a:cs typeface="Arial MT"/>
              </a:rPr>
              <a:t>PUSH B </a:t>
            </a:r>
            <a:r>
              <a:rPr sz="2600" spc="-71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PUSH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D</a:t>
            </a:r>
            <a:endParaRPr sz="2600">
              <a:latin typeface="Arial MT"/>
              <a:cs typeface="Arial MT"/>
            </a:endParaRPr>
          </a:p>
          <a:p>
            <a:pPr marL="355600" marR="6097270">
              <a:lnSpc>
                <a:spcPct val="110000"/>
              </a:lnSpc>
            </a:pPr>
            <a:r>
              <a:rPr sz="2600" spc="-10" dirty="0">
                <a:latin typeface="Arial MT"/>
                <a:cs typeface="Arial MT"/>
              </a:rPr>
              <a:t>... </a:t>
            </a:r>
            <a:r>
              <a:rPr sz="2600" spc="-5" dirty="0">
                <a:latin typeface="Arial MT"/>
                <a:cs typeface="Arial MT"/>
              </a:rPr>
              <a:t> POP</a:t>
            </a:r>
            <a:r>
              <a:rPr sz="2600" spc="-7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D </a:t>
            </a:r>
            <a:r>
              <a:rPr sz="2600" spc="-71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POP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B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0022" y="814069"/>
            <a:ext cx="522351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The</a:t>
            </a:r>
            <a:r>
              <a:rPr spc="-30" dirty="0"/>
              <a:t> </a:t>
            </a:r>
            <a:r>
              <a:rPr spc="-5" dirty="0"/>
              <a:t>PSW</a:t>
            </a:r>
            <a:r>
              <a:rPr spc="-15" dirty="0"/>
              <a:t> </a:t>
            </a:r>
            <a:r>
              <a:rPr spc="-5" dirty="0"/>
              <a:t>Register</a:t>
            </a:r>
            <a:r>
              <a:rPr spc="-15" dirty="0"/>
              <a:t> </a:t>
            </a:r>
            <a:r>
              <a:rPr spc="-5" dirty="0"/>
              <a:t>Pair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59355"/>
            <a:ext cx="7560309" cy="433705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marR="334645" indent="-343535">
              <a:lnSpc>
                <a:spcPts val="3020"/>
              </a:lnSpc>
              <a:spcBef>
                <a:spcPts val="484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</a:t>
            </a:r>
            <a:r>
              <a:rPr sz="2800" dirty="0">
                <a:latin typeface="Times New Roman"/>
                <a:cs typeface="Times New Roman"/>
              </a:rPr>
              <a:t>8085 </a:t>
            </a:r>
            <a:r>
              <a:rPr sz="2800" spc="-5" dirty="0">
                <a:latin typeface="Times New Roman"/>
                <a:cs typeface="Times New Roman"/>
              </a:rPr>
              <a:t>recognizes </a:t>
            </a:r>
            <a:r>
              <a:rPr sz="2800" dirty="0">
                <a:latin typeface="Times New Roman"/>
                <a:cs typeface="Times New Roman"/>
              </a:rPr>
              <a:t>one </a:t>
            </a:r>
            <a:r>
              <a:rPr sz="2800" spc="-5" dirty="0">
                <a:latin typeface="Times New Roman"/>
                <a:cs typeface="Times New Roman"/>
              </a:rPr>
              <a:t>additional register pair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called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PSW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(Program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Status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Word).</a:t>
            </a:r>
            <a:endParaRPr sz="2800">
              <a:latin typeface="Times New Roman"/>
              <a:cs typeface="Times New Roman"/>
            </a:endParaRPr>
          </a:p>
          <a:p>
            <a:pPr marL="755650" marR="365760" lvl="1" indent="-285750" algn="just">
              <a:lnSpc>
                <a:spcPts val="2590"/>
              </a:lnSpc>
              <a:spcBef>
                <a:spcPts val="585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Times New Roman"/>
                <a:cs typeface="Times New Roman"/>
              </a:rPr>
              <a:t>This register pair is </a:t>
            </a:r>
            <a:r>
              <a:rPr sz="2400" dirty="0">
                <a:latin typeface="Times New Roman"/>
                <a:cs typeface="Times New Roman"/>
              </a:rPr>
              <a:t>made up of </a:t>
            </a:r>
            <a:r>
              <a:rPr sz="2400" spc="-5" dirty="0">
                <a:latin typeface="Times New Roman"/>
                <a:cs typeface="Times New Roman"/>
              </a:rPr>
              <a:t>the Accumulator </a:t>
            </a:r>
            <a:r>
              <a:rPr sz="2400" dirty="0">
                <a:latin typeface="Times New Roman"/>
                <a:cs typeface="Times New Roman"/>
              </a:rPr>
              <a:t>and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Flags registers.</a:t>
            </a:r>
            <a:endParaRPr sz="2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buFont typeface="Times New Roman"/>
              <a:buChar char="–"/>
            </a:pPr>
            <a:endParaRPr sz="3800">
              <a:latin typeface="Times New Roman"/>
              <a:cs typeface="Times New Roman"/>
            </a:endParaRPr>
          </a:p>
          <a:p>
            <a:pPr marL="355600" marR="5080" indent="-343535">
              <a:lnSpc>
                <a:spcPts val="3020"/>
              </a:lnSpc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latin typeface="Times New Roman"/>
                <a:cs typeface="Times New Roman"/>
              </a:rPr>
              <a:t>It is </a:t>
            </a:r>
            <a:r>
              <a:rPr sz="2800" spc="-5" dirty="0">
                <a:latin typeface="Times New Roman"/>
                <a:cs typeface="Times New Roman"/>
              </a:rPr>
              <a:t>possible </a:t>
            </a:r>
            <a:r>
              <a:rPr sz="2800" dirty="0">
                <a:latin typeface="Times New Roman"/>
                <a:cs typeface="Times New Roman"/>
              </a:rPr>
              <a:t>to push the PSW onto the </a:t>
            </a:r>
            <a:r>
              <a:rPr sz="2800" spc="-5" dirty="0">
                <a:latin typeface="Times New Roman"/>
                <a:cs typeface="Times New Roman"/>
              </a:rPr>
              <a:t>stack, </a:t>
            </a:r>
            <a:r>
              <a:rPr sz="2800" dirty="0">
                <a:latin typeface="Times New Roman"/>
                <a:cs typeface="Times New Roman"/>
              </a:rPr>
              <a:t>do 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whatever operations are needed, then </a:t>
            </a:r>
            <a:r>
              <a:rPr sz="2800" dirty="0">
                <a:latin typeface="Times New Roman"/>
                <a:cs typeface="Times New Roman"/>
              </a:rPr>
              <a:t>POP it off of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stack.</a:t>
            </a:r>
            <a:endParaRPr sz="2800">
              <a:latin typeface="Times New Roman"/>
              <a:cs typeface="Times New Roman"/>
            </a:endParaRPr>
          </a:p>
          <a:p>
            <a:pPr marL="755650" marR="265430" lvl="1" indent="-286385" algn="just">
              <a:lnSpc>
                <a:spcPts val="2590"/>
              </a:lnSpc>
              <a:spcBef>
                <a:spcPts val="590"/>
              </a:spcBef>
              <a:buChar char="–"/>
              <a:tabLst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The result is </a:t>
            </a:r>
            <a:r>
              <a:rPr sz="2400" dirty="0">
                <a:latin typeface="Times New Roman"/>
                <a:cs typeface="Times New Roman"/>
              </a:rPr>
              <a:t>that </a:t>
            </a:r>
            <a:r>
              <a:rPr sz="2400" spc="-5" dirty="0">
                <a:latin typeface="Times New Roman"/>
                <a:cs typeface="Times New Roman"/>
              </a:rPr>
              <a:t>the contents </a:t>
            </a:r>
            <a:r>
              <a:rPr sz="2400" dirty="0">
                <a:latin typeface="Times New Roman"/>
                <a:cs typeface="Times New Roman"/>
              </a:rPr>
              <a:t>of the </a:t>
            </a:r>
            <a:r>
              <a:rPr sz="2400" spc="-5" dirty="0">
                <a:latin typeface="Times New Roman"/>
                <a:cs typeface="Times New Roman"/>
              </a:rPr>
              <a:t>Accumulator </a:t>
            </a:r>
            <a:r>
              <a:rPr sz="2400" dirty="0">
                <a:latin typeface="Times New Roman"/>
                <a:cs typeface="Times New Roman"/>
              </a:rPr>
              <a:t>and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 status </a:t>
            </a:r>
            <a:r>
              <a:rPr sz="2400" dirty="0">
                <a:latin typeface="Times New Roman"/>
                <a:cs typeface="Times New Roman"/>
              </a:rPr>
              <a:t>of the </a:t>
            </a:r>
            <a:r>
              <a:rPr sz="2400" spc="-5" dirty="0">
                <a:latin typeface="Times New Roman"/>
                <a:cs typeface="Times New Roman"/>
              </a:rPr>
              <a:t>Flags are returned to </a:t>
            </a:r>
            <a:r>
              <a:rPr sz="2400" dirty="0">
                <a:latin typeface="Times New Roman"/>
                <a:cs typeface="Times New Roman"/>
              </a:rPr>
              <a:t>what </a:t>
            </a:r>
            <a:r>
              <a:rPr sz="2400" spc="-5" dirty="0">
                <a:latin typeface="Times New Roman"/>
                <a:cs typeface="Times New Roman"/>
              </a:rPr>
              <a:t>they were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before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operations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were executed.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23386" y="814069"/>
            <a:ext cx="269684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Subroutines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59355"/>
            <a:ext cx="7615555" cy="426974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4965" marR="5715" indent="-342900" algn="just">
              <a:lnSpc>
                <a:spcPts val="3020"/>
              </a:lnSpc>
              <a:spcBef>
                <a:spcPts val="484"/>
              </a:spcBef>
              <a:buChar char="•"/>
              <a:tabLst>
                <a:tab pos="356235" algn="l"/>
              </a:tabLst>
            </a:pP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subroutine is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group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5" dirty="0">
                <a:latin typeface="Times New Roman"/>
                <a:cs typeface="Times New Roman"/>
              </a:rPr>
              <a:t>instructions that will be 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used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repeatedly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different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locations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program.</a:t>
            </a:r>
            <a:endParaRPr sz="2800">
              <a:latin typeface="Times New Roman"/>
              <a:cs typeface="Times New Roman"/>
            </a:endParaRPr>
          </a:p>
          <a:p>
            <a:pPr marL="755650" marR="5715" lvl="1" indent="-286385" algn="just">
              <a:lnSpc>
                <a:spcPts val="2590"/>
              </a:lnSpc>
              <a:spcBef>
                <a:spcPts val="590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Times New Roman"/>
                <a:cs typeface="Times New Roman"/>
              </a:rPr>
              <a:t>Rather than repeat the same instructions several times,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they</a:t>
            </a:r>
            <a:r>
              <a:rPr sz="2400" spc="5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can</a:t>
            </a:r>
            <a:r>
              <a:rPr sz="2400" spc="5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be</a:t>
            </a:r>
            <a:r>
              <a:rPr sz="2400" spc="5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grouped</a:t>
            </a:r>
            <a:r>
              <a:rPr sz="2400" spc="56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into</a:t>
            </a:r>
            <a:r>
              <a:rPr sz="2400" spc="5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56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subroutine</a:t>
            </a:r>
            <a:r>
              <a:rPr sz="2400" spc="5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that</a:t>
            </a:r>
            <a:r>
              <a:rPr sz="2400" spc="56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spc="56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called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from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 different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locations.</a:t>
            </a:r>
            <a:endParaRPr sz="2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Times New Roman"/>
              <a:buChar char="–"/>
            </a:pPr>
            <a:endParaRPr sz="3300">
              <a:latin typeface="Times New Roman"/>
              <a:cs typeface="Times New Roman"/>
            </a:endParaRPr>
          </a:p>
          <a:p>
            <a:pPr marL="356235" marR="5080" indent="-344170" algn="just">
              <a:lnSpc>
                <a:spcPts val="3020"/>
              </a:lnSpc>
              <a:buChar char="•"/>
              <a:tabLst>
                <a:tab pos="356235" algn="l"/>
              </a:tabLst>
            </a:pP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Assembly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language,</a:t>
            </a:r>
            <a:r>
              <a:rPr sz="2800" dirty="0">
                <a:latin typeface="Times New Roman"/>
                <a:cs typeface="Times New Roman"/>
              </a:rPr>
              <a:t> a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subroutine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can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exist </a:t>
            </a:r>
            <a:r>
              <a:rPr sz="2800" spc="-5" dirty="0">
                <a:latin typeface="Times New Roman"/>
                <a:cs typeface="Times New Roman"/>
              </a:rPr>
              <a:t> anywhere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code.</a:t>
            </a:r>
            <a:endParaRPr sz="2800">
              <a:latin typeface="Times New Roman"/>
              <a:cs typeface="Times New Roman"/>
            </a:endParaRPr>
          </a:p>
          <a:p>
            <a:pPr marL="755650" marR="6350" lvl="1" indent="-286385" algn="just">
              <a:lnSpc>
                <a:spcPts val="2590"/>
              </a:lnSpc>
              <a:spcBef>
                <a:spcPts val="585"/>
              </a:spcBef>
              <a:buChar char="–"/>
              <a:tabLst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However,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it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customary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to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place</a:t>
            </a:r>
            <a:r>
              <a:rPr sz="2400" spc="59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subroutines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separately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from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main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program.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23386" y="814069"/>
            <a:ext cx="269684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Subroutines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2000504"/>
            <a:ext cx="7141845" cy="2880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8085 has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two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instructions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for dealing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with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subroutines.</a:t>
            </a:r>
            <a:endParaRPr sz="3200">
              <a:latin typeface="Times New Roman"/>
              <a:cs typeface="Times New Roman"/>
            </a:endParaRPr>
          </a:p>
          <a:p>
            <a:pPr marL="755650" marR="595630" lvl="1" indent="-285750">
              <a:lnSpc>
                <a:spcPct val="100000"/>
              </a:lnSpc>
              <a:spcBef>
                <a:spcPts val="69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CALL instruction </a:t>
            </a:r>
            <a:r>
              <a:rPr sz="2800" dirty="0">
                <a:latin typeface="Times New Roman"/>
                <a:cs typeface="Times New Roman"/>
              </a:rPr>
              <a:t>is </a:t>
            </a:r>
            <a:r>
              <a:rPr sz="2800" spc="-5" dirty="0">
                <a:latin typeface="Times New Roman"/>
                <a:cs typeface="Times New Roman"/>
              </a:rPr>
              <a:t>used </a:t>
            </a:r>
            <a:r>
              <a:rPr sz="2800" dirty="0">
                <a:latin typeface="Times New Roman"/>
                <a:cs typeface="Times New Roman"/>
              </a:rPr>
              <a:t>to </a:t>
            </a:r>
            <a:r>
              <a:rPr sz="2800" spc="-5" dirty="0">
                <a:latin typeface="Times New Roman"/>
                <a:cs typeface="Times New Roman"/>
              </a:rPr>
              <a:t>redirect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program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execution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subroutine.</a:t>
            </a:r>
            <a:endParaRPr sz="2800">
              <a:latin typeface="Times New Roman"/>
              <a:cs typeface="Times New Roman"/>
            </a:endParaRPr>
          </a:p>
          <a:p>
            <a:pPr marL="755650" marR="388620" lvl="1" indent="-285750">
              <a:lnSpc>
                <a:spcPct val="100000"/>
              </a:lnSpc>
              <a:spcBef>
                <a:spcPts val="67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RTE insutruction </a:t>
            </a:r>
            <a:r>
              <a:rPr sz="2800" dirty="0">
                <a:latin typeface="Times New Roman"/>
                <a:cs typeface="Times New Roman"/>
              </a:rPr>
              <a:t>is </a:t>
            </a:r>
            <a:r>
              <a:rPr sz="2800" spc="-5" dirty="0">
                <a:latin typeface="Times New Roman"/>
                <a:cs typeface="Times New Roman"/>
              </a:rPr>
              <a:t>used </a:t>
            </a:r>
            <a:r>
              <a:rPr sz="2800" dirty="0">
                <a:latin typeface="Times New Roman"/>
                <a:cs typeface="Times New Roman"/>
              </a:rPr>
              <a:t>to </a:t>
            </a:r>
            <a:r>
              <a:rPr sz="2800" spc="-5" dirty="0">
                <a:latin typeface="Times New Roman"/>
                <a:cs typeface="Times New Roman"/>
              </a:rPr>
              <a:t>return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execution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calling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routine.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45366" y="814069"/>
            <a:ext cx="505206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The</a:t>
            </a:r>
            <a:r>
              <a:rPr spc="-35" dirty="0"/>
              <a:t> </a:t>
            </a:r>
            <a:r>
              <a:rPr spc="-5" dirty="0"/>
              <a:t>CALL</a:t>
            </a:r>
            <a:r>
              <a:rPr spc="-15" dirty="0"/>
              <a:t> </a:t>
            </a:r>
            <a:r>
              <a:rPr spc="-5" dirty="0"/>
              <a:t>Instruction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01011"/>
            <a:ext cx="7135495" cy="155321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298450" indent="-286385">
              <a:lnSpc>
                <a:spcPct val="100000"/>
              </a:lnSpc>
              <a:spcBef>
                <a:spcPts val="880"/>
              </a:spcBef>
              <a:buChar char="•"/>
              <a:tabLst>
                <a:tab pos="299085" algn="l"/>
              </a:tabLst>
            </a:pPr>
            <a:r>
              <a:rPr sz="3200" spc="-5" dirty="0">
                <a:latin typeface="Times New Roman"/>
                <a:cs typeface="Times New Roman"/>
              </a:rPr>
              <a:t>CALL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4000H</a:t>
            </a:r>
            <a:endParaRPr sz="3200">
              <a:latin typeface="Times New Roman"/>
              <a:cs typeface="Times New Roman"/>
            </a:endParaRPr>
          </a:p>
          <a:p>
            <a:pPr marL="1095375" marR="5080" indent="-457834">
              <a:lnSpc>
                <a:spcPct val="100000"/>
              </a:lnSpc>
              <a:spcBef>
                <a:spcPts val="690"/>
              </a:spcBef>
              <a:tabLst>
                <a:tab pos="1095375" algn="l"/>
              </a:tabLst>
            </a:pPr>
            <a:r>
              <a:rPr sz="2800" dirty="0">
                <a:latin typeface="Times New Roman"/>
                <a:cs typeface="Times New Roman"/>
              </a:rPr>
              <a:t>–	Push the </a:t>
            </a:r>
            <a:r>
              <a:rPr sz="2800" spc="-5" dirty="0">
                <a:latin typeface="Times New Roman"/>
                <a:cs typeface="Times New Roman"/>
              </a:rPr>
              <a:t>address </a:t>
            </a:r>
            <a:r>
              <a:rPr sz="2800" dirty="0">
                <a:latin typeface="Times New Roman"/>
                <a:cs typeface="Times New Roman"/>
              </a:rPr>
              <a:t>of the </a:t>
            </a:r>
            <a:r>
              <a:rPr sz="2800" spc="-5" dirty="0">
                <a:latin typeface="Times New Roman"/>
                <a:cs typeface="Times New Roman"/>
              </a:rPr>
              <a:t>instruction 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immediately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following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CALL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onto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29082" y="3991911"/>
            <a:ext cx="1273175" cy="394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5"/>
              </a:lnSpc>
            </a:pPr>
            <a:r>
              <a:rPr sz="2800" spc="-5" dirty="0">
                <a:latin typeface="Times New Roman"/>
                <a:cs typeface="Times New Roman"/>
              </a:rPr>
              <a:t>unter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47414" y="3940463"/>
            <a:ext cx="496887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53865" algn="l"/>
              </a:tabLst>
            </a:pPr>
            <a:r>
              <a:rPr sz="2800" spc="-5" dirty="0">
                <a:latin typeface="Times New Roman"/>
                <a:cs typeface="Times New Roman"/>
              </a:rPr>
              <a:t>Load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program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	</a:t>
            </a:r>
            <a:r>
              <a:rPr sz="2800" dirty="0">
                <a:latin typeface="Times New Roman"/>
                <a:cs typeface="Times New Roman"/>
              </a:rPr>
              <a:t>h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31405" y="3940463"/>
            <a:ext cx="1244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47414" y="4367132"/>
            <a:ext cx="499427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Times New Roman"/>
                <a:cs typeface="Times New Roman"/>
              </a:rPr>
              <a:t>address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supplied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CALL </a:t>
            </a:r>
            <a:r>
              <a:rPr sz="2800" spc="-685" dirty="0">
                <a:latin typeface="Times New Roman"/>
                <a:cs typeface="Times New Roman"/>
              </a:rPr>
              <a:t>in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28940" y="4367132"/>
            <a:ext cx="13595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Times New Roman"/>
                <a:cs typeface="Times New Roman"/>
              </a:rPr>
              <a:t>struction.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799012" y="4168775"/>
            <a:ext cx="1295400" cy="173355"/>
            <a:chOff x="4799012" y="4168775"/>
            <a:chExt cx="1295400" cy="173355"/>
          </a:xfrm>
        </p:grpSpPr>
        <p:sp>
          <p:nvSpPr>
            <p:cNvPr id="10" name="object 10"/>
            <p:cNvSpPr/>
            <p:nvPr/>
          </p:nvSpPr>
          <p:spPr>
            <a:xfrm>
              <a:off x="4805362" y="4175125"/>
              <a:ext cx="1282700" cy="160655"/>
            </a:xfrm>
            <a:custGeom>
              <a:avLst/>
              <a:gdLst/>
              <a:ahLst/>
              <a:cxnLst/>
              <a:rect l="l" t="t" r="r" b="b"/>
              <a:pathLst>
                <a:path w="1282700" h="160654">
                  <a:moveTo>
                    <a:pt x="1282700" y="0"/>
                  </a:moveTo>
                  <a:lnTo>
                    <a:pt x="0" y="0"/>
                  </a:lnTo>
                  <a:lnTo>
                    <a:pt x="0" y="160337"/>
                  </a:lnTo>
                  <a:lnTo>
                    <a:pt x="1282700" y="160337"/>
                  </a:lnTo>
                  <a:lnTo>
                    <a:pt x="128270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805362" y="4175125"/>
              <a:ext cx="1282700" cy="160655"/>
            </a:xfrm>
            <a:custGeom>
              <a:avLst/>
              <a:gdLst/>
              <a:ahLst/>
              <a:cxnLst/>
              <a:rect l="l" t="t" r="r" b="b"/>
              <a:pathLst>
                <a:path w="1282700" h="160654">
                  <a:moveTo>
                    <a:pt x="0" y="0"/>
                  </a:moveTo>
                  <a:lnTo>
                    <a:pt x="1282700" y="0"/>
                  </a:lnTo>
                  <a:lnTo>
                    <a:pt x="1282700" y="160337"/>
                  </a:lnTo>
                  <a:lnTo>
                    <a:pt x="0" y="160337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468177" y="4133722"/>
            <a:ext cx="27178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 MT"/>
                <a:cs typeface="Arial MT"/>
              </a:rPr>
              <a:t>PC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79818" y="5078267"/>
            <a:ext cx="26162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 MT"/>
                <a:cs typeface="Arial MT"/>
              </a:rPr>
              <a:t>SP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500177" y="4617494"/>
            <a:ext cx="351155" cy="6731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 algn="just">
              <a:lnSpc>
                <a:spcPct val="105500"/>
              </a:lnSpc>
              <a:spcBef>
                <a:spcPts val="130"/>
              </a:spcBef>
            </a:pPr>
            <a:r>
              <a:rPr sz="1000" dirty="0">
                <a:latin typeface="Arial MT"/>
                <a:cs typeface="Arial MT"/>
              </a:rPr>
              <a:t>FFFC  FFFD  FFFE  FFFF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500177" y="4464789"/>
            <a:ext cx="34353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 MT"/>
                <a:cs typeface="Arial MT"/>
              </a:rPr>
              <a:t>FFFB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346700" y="4367212"/>
            <a:ext cx="1130300" cy="735330"/>
            <a:chOff x="5346700" y="4367212"/>
            <a:chExt cx="1130300" cy="735330"/>
          </a:xfrm>
        </p:grpSpPr>
        <p:sp>
          <p:nvSpPr>
            <p:cNvPr id="17" name="object 17"/>
            <p:cNvSpPr/>
            <p:nvPr/>
          </p:nvSpPr>
          <p:spPr>
            <a:xfrm>
              <a:off x="5365750" y="4386262"/>
              <a:ext cx="0" cy="647700"/>
            </a:xfrm>
            <a:custGeom>
              <a:avLst/>
              <a:gdLst/>
              <a:ahLst/>
              <a:cxnLst/>
              <a:rect l="l" t="t" r="r" b="b"/>
              <a:pathLst>
                <a:path h="647700">
                  <a:moveTo>
                    <a:pt x="0" y="0"/>
                  </a:moveTo>
                  <a:lnTo>
                    <a:pt x="0" y="647700"/>
                  </a:lnTo>
                </a:path>
              </a:pathLst>
            </a:custGeom>
            <a:ln w="38100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380037" y="5045075"/>
              <a:ext cx="1000125" cy="0"/>
            </a:xfrm>
            <a:custGeom>
              <a:avLst/>
              <a:gdLst/>
              <a:ahLst/>
              <a:cxnLst/>
              <a:rect l="l" t="t" r="r" b="b"/>
              <a:pathLst>
                <a:path w="1000125">
                  <a:moveTo>
                    <a:pt x="0" y="0"/>
                  </a:moveTo>
                  <a:lnTo>
                    <a:pt x="1000125" y="0"/>
                  </a:lnTo>
                </a:path>
              </a:pathLst>
            </a:custGeom>
            <a:ln w="38100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361115" y="4987919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578475" y="4389437"/>
              <a:ext cx="0" cy="498475"/>
            </a:xfrm>
            <a:custGeom>
              <a:avLst/>
              <a:gdLst/>
              <a:ahLst/>
              <a:cxnLst/>
              <a:rect l="l" t="t" r="r" b="b"/>
              <a:pathLst>
                <a:path h="498475">
                  <a:moveTo>
                    <a:pt x="0" y="0"/>
                  </a:moveTo>
                  <a:lnTo>
                    <a:pt x="0" y="498475"/>
                  </a:lnTo>
                </a:path>
              </a:pathLst>
            </a:custGeom>
            <a:ln w="38100">
              <a:solidFill>
                <a:srgbClr val="00CC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592763" y="4886325"/>
              <a:ext cx="789305" cy="0"/>
            </a:xfrm>
            <a:custGeom>
              <a:avLst/>
              <a:gdLst/>
              <a:ahLst/>
              <a:cxnLst/>
              <a:rect l="l" t="t" r="r" b="b"/>
              <a:pathLst>
                <a:path w="789304">
                  <a:moveTo>
                    <a:pt x="0" y="0"/>
                  </a:moveTo>
                  <a:lnTo>
                    <a:pt x="788987" y="0"/>
                  </a:lnTo>
                </a:path>
              </a:pathLst>
            </a:custGeom>
            <a:ln w="38100">
              <a:solidFill>
                <a:srgbClr val="00CC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62702" y="4829169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223795" y="4156106"/>
            <a:ext cx="490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2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0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0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3</a:t>
            </a:r>
            <a:endParaRPr sz="1200">
              <a:latin typeface="Arial MT"/>
              <a:cs typeface="Arial MT"/>
            </a:endParaRPr>
          </a:p>
        </p:txBody>
      </p:sp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6840539" y="4160837"/>
          <a:ext cx="826135" cy="11144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7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41910">
                        <a:lnSpc>
                          <a:spcPts val="1725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16</a:t>
                      </a:r>
                      <a:r>
                        <a:rPr sz="2800" spc="2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bi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R="14033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R="14033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R="142240" algn="ctr">
                        <a:lnSpc>
                          <a:spcPts val="1160"/>
                        </a:lnSpc>
                        <a:spcBef>
                          <a:spcPts val="35"/>
                        </a:spcBef>
                      </a:pPr>
                      <a:r>
                        <a:rPr sz="1200" spc="-10" dirty="0">
                          <a:latin typeface="Arial MT"/>
                          <a:cs typeface="Arial MT"/>
                        </a:rPr>
                        <a:t>03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R="182880" algn="ctr">
                        <a:lnSpc>
                          <a:spcPts val="1200"/>
                        </a:lnSpc>
                      </a:pPr>
                      <a:r>
                        <a:rPr sz="1200" spc="-10" dirty="0">
                          <a:latin typeface="Arial MT"/>
                          <a:cs typeface="Arial MT"/>
                        </a:rPr>
                        <a:t>20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9225">
                <a:tc>
                  <a:txBody>
                    <a:bodyPr/>
                    <a:lstStyle/>
                    <a:p>
                      <a:pPr marR="140335"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25" name="object 25"/>
          <p:cNvGrpSpPr/>
          <p:nvPr/>
        </p:nvGrpSpPr>
        <p:grpSpPr>
          <a:xfrm>
            <a:off x="7569202" y="4832346"/>
            <a:ext cx="617855" cy="212725"/>
            <a:chOff x="7569202" y="4832346"/>
            <a:chExt cx="617855" cy="212725"/>
          </a:xfrm>
        </p:grpSpPr>
        <p:sp>
          <p:nvSpPr>
            <p:cNvPr id="26" name="object 26"/>
            <p:cNvSpPr/>
            <p:nvPr/>
          </p:nvSpPr>
          <p:spPr>
            <a:xfrm>
              <a:off x="8180388" y="4870449"/>
              <a:ext cx="0" cy="174625"/>
            </a:xfrm>
            <a:custGeom>
              <a:avLst/>
              <a:gdLst/>
              <a:ahLst/>
              <a:cxnLst/>
              <a:rect l="l" t="t" r="r" b="b"/>
              <a:pathLst>
                <a:path h="174625">
                  <a:moveTo>
                    <a:pt x="0" y="174625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632701" y="4870449"/>
              <a:ext cx="548005" cy="0"/>
            </a:xfrm>
            <a:custGeom>
              <a:avLst/>
              <a:gdLst/>
              <a:ahLst/>
              <a:cxnLst/>
              <a:rect l="l" t="t" r="r" b="b"/>
              <a:pathLst>
                <a:path w="548004">
                  <a:moveTo>
                    <a:pt x="547687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569202" y="483234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7569202" y="5156196"/>
            <a:ext cx="449580" cy="76200"/>
            <a:chOff x="7569202" y="5156196"/>
            <a:chExt cx="449580" cy="76200"/>
          </a:xfrm>
        </p:grpSpPr>
        <p:sp>
          <p:nvSpPr>
            <p:cNvPr id="30" name="object 30"/>
            <p:cNvSpPr/>
            <p:nvPr/>
          </p:nvSpPr>
          <p:spPr>
            <a:xfrm>
              <a:off x="7632701" y="5194299"/>
              <a:ext cx="386080" cy="0"/>
            </a:xfrm>
            <a:custGeom>
              <a:avLst/>
              <a:gdLst/>
              <a:ahLst/>
              <a:cxnLst/>
              <a:rect l="l" t="t" r="r" b="b"/>
              <a:pathLst>
                <a:path w="386079">
                  <a:moveTo>
                    <a:pt x="385762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B3B3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569202" y="51561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2" name="object 32"/>
          <p:cNvGrpSpPr/>
          <p:nvPr/>
        </p:nvGrpSpPr>
        <p:grpSpPr>
          <a:xfrm>
            <a:off x="5227637" y="4102100"/>
            <a:ext cx="484505" cy="281305"/>
            <a:chOff x="5227637" y="4102100"/>
            <a:chExt cx="484505" cy="281305"/>
          </a:xfrm>
        </p:grpSpPr>
        <p:sp>
          <p:nvSpPr>
            <p:cNvPr id="33" name="object 33"/>
            <p:cNvSpPr/>
            <p:nvPr/>
          </p:nvSpPr>
          <p:spPr>
            <a:xfrm>
              <a:off x="5478462" y="4111625"/>
              <a:ext cx="224154" cy="262255"/>
            </a:xfrm>
            <a:custGeom>
              <a:avLst/>
              <a:gdLst/>
              <a:ahLst/>
              <a:cxnLst/>
              <a:rect l="l" t="t" r="r" b="b"/>
              <a:pathLst>
                <a:path w="224154" h="262254">
                  <a:moveTo>
                    <a:pt x="0" y="0"/>
                  </a:moveTo>
                  <a:lnTo>
                    <a:pt x="223837" y="0"/>
                  </a:lnTo>
                  <a:lnTo>
                    <a:pt x="223837" y="261937"/>
                  </a:lnTo>
                  <a:lnTo>
                    <a:pt x="0" y="261937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00CC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237162" y="4111625"/>
              <a:ext cx="224154" cy="262255"/>
            </a:xfrm>
            <a:custGeom>
              <a:avLst/>
              <a:gdLst/>
              <a:ahLst/>
              <a:cxnLst/>
              <a:rect l="l" t="t" r="r" b="b"/>
              <a:pathLst>
                <a:path w="224154" h="262254">
                  <a:moveTo>
                    <a:pt x="0" y="0"/>
                  </a:moveTo>
                  <a:lnTo>
                    <a:pt x="223837" y="0"/>
                  </a:lnTo>
                  <a:lnTo>
                    <a:pt x="223837" y="261937"/>
                  </a:lnTo>
                  <a:lnTo>
                    <a:pt x="0" y="261937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1012189" y="3512185"/>
            <a:ext cx="1898650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ts val="2520"/>
              </a:lnSpc>
              <a:spcBef>
                <a:spcPts val="100"/>
              </a:spcBef>
              <a:tabLst>
                <a:tab pos="847725" algn="l"/>
              </a:tabLst>
            </a:pPr>
            <a:r>
              <a:rPr sz="1400" spc="-5" dirty="0">
                <a:latin typeface="Arial MT"/>
                <a:cs typeface="Arial MT"/>
              </a:rPr>
              <a:t>2000	</a:t>
            </a:r>
            <a:r>
              <a:rPr sz="4200" spc="-525" baseline="12896" dirty="0">
                <a:latin typeface="Times New Roman"/>
                <a:cs typeface="Times New Roman"/>
              </a:rPr>
              <a:t>s</a:t>
            </a:r>
            <a:r>
              <a:rPr sz="1400" spc="-350" dirty="0">
                <a:latin typeface="Arial MT"/>
                <a:cs typeface="Arial MT"/>
              </a:rPr>
              <a:t>C</a:t>
            </a:r>
            <a:r>
              <a:rPr sz="4200" spc="-525" baseline="12896" dirty="0">
                <a:latin typeface="Times New Roman"/>
                <a:cs typeface="Times New Roman"/>
              </a:rPr>
              <a:t>ta</a:t>
            </a:r>
            <a:r>
              <a:rPr sz="1400" spc="-350" dirty="0">
                <a:latin typeface="Arial MT"/>
                <a:cs typeface="Arial MT"/>
              </a:rPr>
              <a:t>AL</a:t>
            </a:r>
            <a:r>
              <a:rPr sz="4200" spc="-525" baseline="12896" dirty="0">
                <a:latin typeface="Times New Roman"/>
                <a:cs typeface="Times New Roman"/>
              </a:rPr>
              <a:t>c</a:t>
            </a:r>
            <a:r>
              <a:rPr sz="1400" spc="-350" dirty="0">
                <a:latin typeface="Arial MT"/>
                <a:cs typeface="Arial MT"/>
              </a:rPr>
              <a:t>L</a:t>
            </a:r>
            <a:r>
              <a:rPr sz="4200" spc="-525" baseline="12896" dirty="0">
                <a:latin typeface="Times New Roman"/>
                <a:cs typeface="Times New Roman"/>
              </a:rPr>
              <a:t>k</a:t>
            </a:r>
            <a:r>
              <a:rPr sz="1400" spc="-350" dirty="0">
                <a:latin typeface="Arial MT"/>
                <a:cs typeface="Arial MT"/>
              </a:rPr>
              <a:t>4000</a:t>
            </a:r>
            <a:endParaRPr sz="1400">
              <a:latin typeface="Arial MT"/>
              <a:cs typeface="Arial MT"/>
            </a:endParaRPr>
          </a:p>
          <a:p>
            <a:pPr marL="50800">
              <a:lnSpc>
                <a:spcPts val="2520"/>
              </a:lnSpc>
            </a:pPr>
            <a:r>
              <a:rPr sz="1400" spc="-90" dirty="0">
                <a:latin typeface="Arial MT"/>
                <a:cs typeface="Arial MT"/>
              </a:rPr>
              <a:t>2003</a:t>
            </a:r>
            <a:r>
              <a:rPr sz="4200" spc="-135" baseline="-33730" dirty="0">
                <a:latin typeface="Times New Roman"/>
                <a:cs typeface="Times New Roman"/>
              </a:rPr>
              <a:t>–</a:t>
            </a:r>
            <a:endParaRPr sz="4200" baseline="-33730">
              <a:latin typeface="Times New Roman"/>
              <a:cs typeface="Times New Roman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2443162" y="3700462"/>
            <a:ext cx="3065780" cy="361950"/>
            <a:chOff x="2443162" y="3700462"/>
            <a:chExt cx="3065780" cy="361950"/>
          </a:xfrm>
        </p:grpSpPr>
        <p:sp>
          <p:nvSpPr>
            <p:cNvPr id="37" name="object 37"/>
            <p:cNvSpPr/>
            <p:nvPr/>
          </p:nvSpPr>
          <p:spPr>
            <a:xfrm>
              <a:off x="2452687" y="3709987"/>
              <a:ext cx="422275" cy="200025"/>
            </a:xfrm>
            <a:custGeom>
              <a:avLst/>
              <a:gdLst/>
              <a:ahLst/>
              <a:cxnLst/>
              <a:rect l="l" t="t" r="r" b="b"/>
              <a:pathLst>
                <a:path w="422275" h="200025">
                  <a:moveTo>
                    <a:pt x="0" y="0"/>
                  </a:moveTo>
                  <a:lnTo>
                    <a:pt x="422275" y="0"/>
                  </a:lnTo>
                  <a:lnTo>
                    <a:pt x="422275" y="200025"/>
                  </a:lnTo>
                  <a:lnTo>
                    <a:pt x="0" y="200025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99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876550" y="3797300"/>
              <a:ext cx="2589530" cy="0"/>
            </a:xfrm>
            <a:custGeom>
              <a:avLst/>
              <a:gdLst/>
              <a:ahLst/>
              <a:cxnLst/>
              <a:rect l="l" t="t" r="r" b="b"/>
              <a:pathLst>
                <a:path w="2589529">
                  <a:moveTo>
                    <a:pt x="0" y="0"/>
                  </a:moveTo>
                  <a:lnTo>
                    <a:pt x="2589212" y="0"/>
                  </a:lnTo>
                </a:path>
              </a:pathLst>
            </a:custGeom>
            <a:ln w="28575">
              <a:solidFill>
                <a:srgbClr val="99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465762" y="3800475"/>
              <a:ext cx="0" cy="190500"/>
            </a:xfrm>
            <a:custGeom>
              <a:avLst/>
              <a:gdLst/>
              <a:ahLst/>
              <a:cxnLst/>
              <a:rect l="l" t="t" r="r" b="b"/>
              <a:pathLst>
                <a:path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ln w="28575">
              <a:solidFill>
                <a:srgbClr val="99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422900" y="3976687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0"/>
                  </a:moveTo>
                  <a:lnTo>
                    <a:pt x="0" y="0"/>
                  </a:lnTo>
                  <a:lnTo>
                    <a:pt x="42862" y="85725"/>
                  </a:lnTo>
                  <a:lnTo>
                    <a:pt x="85725" y="0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46534" y="814069"/>
            <a:ext cx="464883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The</a:t>
            </a:r>
            <a:r>
              <a:rPr spc="-35" dirty="0"/>
              <a:t> </a:t>
            </a:r>
            <a:r>
              <a:rPr spc="-5" dirty="0"/>
              <a:t>RTE</a:t>
            </a:r>
            <a:r>
              <a:rPr spc="-20" dirty="0"/>
              <a:t> </a:t>
            </a:r>
            <a:r>
              <a:rPr spc="-5" dirty="0"/>
              <a:t>Instruction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77240" y="1901011"/>
            <a:ext cx="7141209" cy="2065655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285750" indent="-286385">
              <a:lnSpc>
                <a:spcPct val="100000"/>
              </a:lnSpc>
              <a:spcBef>
                <a:spcPts val="880"/>
              </a:spcBef>
              <a:buChar char="•"/>
              <a:tabLst>
                <a:tab pos="286385" algn="l"/>
              </a:tabLst>
            </a:pPr>
            <a:r>
              <a:rPr sz="3200" spc="-5" dirty="0">
                <a:latin typeface="Times New Roman"/>
                <a:cs typeface="Times New Roman"/>
              </a:rPr>
              <a:t>RTE</a:t>
            </a:r>
            <a:endParaRPr sz="3200">
              <a:latin typeface="Times New Roman"/>
              <a:cs typeface="Times New Roman"/>
            </a:endParaRPr>
          </a:p>
          <a:p>
            <a:pPr marL="1082675" marR="5080" lvl="1" indent="-457834">
              <a:lnSpc>
                <a:spcPct val="100000"/>
              </a:lnSpc>
              <a:spcBef>
                <a:spcPts val="690"/>
              </a:spcBef>
              <a:buChar char="–"/>
              <a:tabLst>
                <a:tab pos="1082675" algn="l"/>
                <a:tab pos="1083310" algn="l"/>
              </a:tabLst>
            </a:pPr>
            <a:r>
              <a:rPr sz="2800" spc="-5" dirty="0">
                <a:latin typeface="Times New Roman"/>
                <a:cs typeface="Times New Roman"/>
              </a:rPr>
              <a:t>Retrieve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return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address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from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top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stack</a:t>
            </a:r>
            <a:endParaRPr sz="2800">
              <a:latin typeface="Times New Roman"/>
              <a:cs typeface="Times New Roman"/>
            </a:endParaRPr>
          </a:p>
          <a:p>
            <a:pPr marL="1082675" lvl="1" indent="-457834">
              <a:lnSpc>
                <a:spcPct val="100000"/>
              </a:lnSpc>
              <a:spcBef>
                <a:spcPts val="670"/>
              </a:spcBef>
              <a:buChar char="–"/>
              <a:tabLst>
                <a:tab pos="1082675" algn="l"/>
                <a:tab pos="1083310" algn="l"/>
              </a:tabLst>
            </a:pPr>
            <a:r>
              <a:rPr sz="2800" spc="-5" dirty="0">
                <a:latin typeface="Times New Roman"/>
                <a:cs typeface="Times New Roman"/>
              </a:rPr>
              <a:t>Load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program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counter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return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47414" y="3940463"/>
            <a:ext cx="11817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Times New Roman"/>
                <a:cs typeface="Times New Roman"/>
              </a:rPr>
              <a:t>address.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240212" y="4168775"/>
            <a:ext cx="1295400" cy="173355"/>
            <a:chOff x="4240212" y="4168775"/>
            <a:chExt cx="1295400" cy="173355"/>
          </a:xfrm>
        </p:grpSpPr>
        <p:sp>
          <p:nvSpPr>
            <p:cNvPr id="6" name="object 6"/>
            <p:cNvSpPr/>
            <p:nvPr/>
          </p:nvSpPr>
          <p:spPr>
            <a:xfrm>
              <a:off x="4246562" y="4175125"/>
              <a:ext cx="1282700" cy="160655"/>
            </a:xfrm>
            <a:custGeom>
              <a:avLst/>
              <a:gdLst/>
              <a:ahLst/>
              <a:cxnLst/>
              <a:rect l="l" t="t" r="r" b="b"/>
              <a:pathLst>
                <a:path w="1282700" h="160654">
                  <a:moveTo>
                    <a:pt x="1282700" y="0"/>
                  </a:moveTo>
                  <a:lnTo>
                    <a:pt x="0" y="0"/>
                  </a:lnTo>
                  <a:lnTo>
                    <a:pt x="0" y="160337"/>
                  </a:lnTo>
                  <a:lnTo>
                    <a:pt x="1282700" y="160337"/>
                  </a:lnTo>
                  <a:lnTo>
                    <a:pt x="128270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246562" y="4175125"/>
              <a:ext cx="1282700" cy="160655"/>
            </a:xfrm>
            <a:custGeom>
              <a:avLst/>
              <a:gdLst/>
              <a:ahLst/>
              <a:cxnLst/>
              <a:rect l="l" t="t" r="r" b="b"/>
              <a:pathLst>
                <a:path w="1282700" h="160654">
                  <a:moveTo>
                    <a:pt x="0" y="0"/>
                  </a:moveTo>
                  <a:lnTo>
                    <a:pt x="1282700" y="0"/>
                  </a:lnTo>
                  <a:lnTo>
                    <a:pt x="1282700" y="160337"/>
                  </a:lnTo>
                  <a:lnTo>
                    <a:pt x="0" y="160337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909377" y="4133722"/>
            <a:ext cx="27178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 MT"/>
                <a:cs typeface="Arial MT"/>
              </a:rPr>
              <a:t>PC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41377" y="4452445"/>
            <a:ext cx="351155" cy="8382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 algn="just">
              <a:lnSpc>
                <a:spcPct val="106200"/>
              </a:lnSpc>
              <a:spcBef>
                <a:spcPts val="125"/>
              </a:spcBef>
            </a:pPr>
            <a:r>
              <a:rPr sz="1000" dirty="0">
                <a:latin typeface="Arial MT"/>
                <a:cs typeface="Arial MT"/>
              </a:rPr>
              <a:t>FFFB  FFFC  FFFD  FFFE  FFFF</a:t>
            </a:r>
            <a:endParaRPr sz="1000">
              <a:latin typeface="Arial MT"/>
              <a:cs typeface="Arial MT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6281738" y="4160837"/>
          <a:ext cx="679450" cy="11144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L="243840">
                        <a:lnSpc>
                          <a:spcPts val="1160"/>
                        </a:lnSpc>
                        <a:spcBef>
                          <a:spcPts val="35"/>
                        </a:spcBef>
                      </a:pPr>
                      <a:r>
                        <a:rPr sz="1200" spc="-10" dirty="0">
                          <a:latin typeface="Arial MT"/>
                          <a:cs typeface="Arial MT"/>
                        </a:rPr>
                        <a:t>03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L="222885">
                        <a:lnSpc>
                          <a:spcPts val="1200"/>
                        </a:lnSpc>
                      </a:pPr>
                      <a:r>
                        <a:rPr sz="1200" spc="-10" dirty="0">
                          <a:latin typeface="Arial MT"/>
                          <a:cs typeface="Arial MT"/>
                        </a:rPr>
                        <a:t>20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92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4664995" y="4156106"/>
            <a:ext cx="490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2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0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0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3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23389" y="4500117"/>
            <a:ext cx="4222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 MT"/>
                <a:cs typeface="Arial MT"/>
              </a:rPr>
              <a:t>4014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400" spc="-5" dirty="0">
                <a:latin typeface="Arial MT"/>
                <a:cs typeface="Arial MT"/>
              </a:rPr>
              <a:t>4015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37751" y="4500117"/>
            <a:ext cx="3771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 MT"/>
                <a:cs typeface="Arial MT"/>
              </a:rPr>
              <a:t>. . . 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35" dirty="0">
                <a:latin typeface="Arial MT"/>
                <a:cs typeface="Arial MT"/>
              </a:rPr>
              <a:t>R</a:t>
            </a:r>
            <a:r>
              <a:rPr sz="1400" spc="-10" dirty="0">
                <a:latin typeface="Arial MT"/>
                <a:cs typeface="Arial MT"/>
              </a:rPr>
              <a:t>T</a:t>
            </a:r>
            <a:r>
              <a:rPr sz="1400" spc="-5" dirty="0">
                <a:latin typeface="Arial MT"/>
                <a:cs typeface="Arial MT"/>
              </a:rPr>
              <a:t>E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497008" y="4754541"/>
            <a:ext cx="26162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 MT"/>
                <a:cs typeface="Arial MT"/>
              </a:rPr>
              <a:t>SP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725977" y="4360857"/>
            <a:ext cx="1169035" cy="713105"/>
            <a:chOff x="4725977" y="4360857"/>
            <a:chExt cx="1169035" cy="713105"/>
          </a:xfrm>
        </p:grpSpPr>
        <p:sp>
          <p:nvSpPr>
            <p:cNvPr id="16" name="object 16"/>
            <p:cNvSpPr/>
            <p:nvPr/>
          </p:nvSpPr>
          <p:spPr>
            <a:xfrm>
              <a:off x="4783133" y="4465637"/>
              <a:ext cx="0" cy="577850"/>
            </a:xfrm>
            <a:custGeom>
              <a:avLst/>
              <a:gdLst/>
              <a:ahLst/>
              <a:cxnLst/>
              <a:rect l="l" t="t" r="r" b="b"/>
              <a:pathLst>
                <a:path h="577850">
                  <a:moveTo>
                    <a:pt x="0" y="0"/>
                  </a:moveTo>
                  <a:lnTo>
                    <a:pt x="0" y="577850"/>
                  </a:lnTo>
                </a:path>
              </a:pathLst>
            </a:custGeom>
            <a:ln w="38100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725977" y="4370382"/>
              <a:ext cx="114300" cy="114935"/>
            </a:xfrm>
            <a:custGeom>
              <a:avLst/>
              <a:gdLst/>
              <a:ahLst/>
              <a:cxnLst/>
              <a:rect l="l" t="t" r="r" b="b"/>
              <a:pathLst>
                <a:path w="114300" h="114935">
                  <a:moveTo>
                    <a:pt x="57162" y="0"/>
                  </a:moveTo>
                  <a:lnTo>
                    <a:pt x="0" y="114300"/>
                  </a:lnTo>
                  <a:lnTo>
                    <a:pt x="114300" y="114312"/>
                  </a:lnTo>
                  <a:lnTo>
                    <a:pt x="57162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784725" y="5054600"/>
              <a:ext cx="1108075" cy="0"/>
            </a:xfrm>
            <a:custGeom>
              <a:avLst/>
              <a:gdLst/>
              <a:ahLst/>
              <a:cxnLst/>
              <a:rect l="l" t="t" r="r" b="b"/>
              <a:pathLst>
                <a:path w="1108075">
                  <a:moveTo>
                    <a:pt x="0" y="0"/>
                  </a:moveTo>
                  <a:lnTo>
                    <a:pt x="1108075" y="0"/>
                  </a:lnTo>
                </a:path>
              </a:pathLst>
            </a:custGeom>
            <a:ln w="38100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021258" y="4456112"/>
              <a:ext cx="0" cy="428625"/>
            </a:xfrm>
            <a:custGeom>
              <a:avLst/>
              <a:gdLst/>
              <a:ahLst/>
              <a:cxnLst/>
              <a:rect l="l" t="t" r="r" b="b"/>
              <a:pathLst>
                <a:path h="428625">
                  <a:moveTo>
                    <a:pt x="0" y="0"/>
                  </a:moveTo>
                  <a:lnTo>
                    <a:pt x="0" y="428625"/>
                  </a:lnTo>
                </a:path>
              </a:pathLst>
            </a:custGeom>
            <a:ln w="38100">
              <a:solidFill>
                <a:srgbClr val="00CC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964102" y="4360857"/>
              <a:ext cx="114300" cy="114935"/>
            </a:xfrm>
            <a:custGeom>
              <a:avLst/>
              <a:gdLst/>
              <a:ahLst/>
              <a:cxnLst/>
              <a:rect l="l" t="t" r="r" b="b"/>
              <a:pathLst>
                <a:path w="114300" h="114935">
                  <a:moveTo>
                    <a:pt x="57162" y="0"/>
                  </a:moveTo>
                  <a:lnTo>
                    <a:pt x="0" y="114300"/>
                  </a:lnTo>
                  <a:lnTo>
                    <a:pt x="114300" y="114312"/>
                  </a:lnTo>
                  <a:lnTo>
                    <a:pt x="57162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035550" y="4895850"/>
              <a:ext cx="859155" cy="0"/>
            </a:xfrm>
            <a:custGeom>
              <a:avLst/>
              <a:gdLst/>
              <a:ahLst/>
              <a:cxnLst/>
              <a:rect l="l" t="t" r="r" b="b"/>
              <a:pathLst>
                <a:path w="859154">
                  <a:moveTo>
                    <a:pt x="0" y="0"/>
                  </a:moveTo>
                  <a:lnTo>
                    <a:pt x="858837" y="0"/>
                  </a:lnTo>
                </a:path>
              </a:pathLst>
            </a:custGeom>
            <a:ln w="38100">
              <a:solidFill>
                <a:srgbClr val="00CC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6985002" y="5018087"/>
            <a:ext cx="617855" cy="225425"/>
            <a:chOff x="6985002" y="5018087"/>
            <a:chExt cx="617855" cy="225425"/>
          </a:xfrm>
        </p:grpSpPr>
        <p:sp>
          <p:nvSpPr>
            <p:cNvPr id="23" name="object 23"/>
            <p:cNvSpPr/>
            <p:nvPr/>
          </p:nvSpPr>
          <p:spPr>
            <a:xfrm>
              <a:off x="7596188" y="5018087"/>
              <a:ext cx="0" cy="174625"/>
            </a:xfrm>
            <a:custGeom>
              <a:avLst/>
              <a:gdLst/>
              <a:ahLst/>
              <a:cxnLst/>
              <a:rect l="l" t="t" r="r" b="b"/>
              <a:pathLst>
                <a:path h="174625">
                  <a:moveTo>
                    <a:pt x="0" y="174625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048501" y="5205412"/>
              <a:ext cx="548005" cy="0"/>
            </a:xfrm>
            <a:custGeom>
              <a:avLst/>
              <a:gdLst/>
              <a:ahLst/>
              <a:cxnLst/>
              <a:rect l="l" t="t" r="r" b="b"/>
              <a:pathLst>
                <a:path w="548004">
                  <a:moveTo>
                    <a:pt x="547687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985002" y="516730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6986589" y="4830759"/>
            <a:ext cx="449580" cy="76200"/>
            <a:chOff x="6986589" y="4830759"/>
            <a:chExt cx="449580" cy="76200"/>
          </a:xfrm>
        </p:grpSpPr>
        <p:sp>
          <p:nvSpPr>
            <p:cNvPr id="27" name="object 27"/>
            <p:cNvSpPr/>
            <p:nvPr/>
          </p:nvSpPr>
          <p:spPr>
            <a:xfrm>
              <a:off x="7050087" y="4868862"/>
              <a:ext cx="386080" cy="0"/>
            </a:xfrm>
            <a:custGeom>
              <a:avLst/>
              <a:gdLst/>
              <a:ahLst/>
              <a:cxnLst/>
              <a:rect l="l" t="t" r="r" b="b"/>
              <a:pathLst>
                <a:path w="386079">
                  <a:moveTo>
                    <a:pt x="385762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B3B3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986589" y="483075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65525" y="814069"/>
            <a:ext cx="201358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Cautions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59355"/>
            <a:ext cx="7478395" cy="439166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marR="5080" indent="-343535">
              <a:lnSpc>
                <a:spcPts val="3020"/>
              </a:lnSpc>
              <a:spcBef>
                <a:spcPts val="484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CALL instruction places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return address at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 two </a:t>
            </a:r>
            <a:r>
              <a:rPr sz="2800" spc="-5" dirty="0">
                <a:latin typeface="Times New Roman"/>
                <a:cs typeface="Times New Roman"/>
              </a:rPr>
              <a:t>memory locations immediately </a:t>
            </a:r>
            <a:r>
              <a:rPr sz="2800" dirty="0">
                <a:latin typeface="Times New Roman"/>
                <a:cs typeface="Times New Roman"/>
              </a:rPr>
              <a:t>before 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where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Stack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Pointer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pointing.</a:t>
            </a:r>
            <a:endParaRPr sz="2800">
              <a:latin typeface="Times New Roman"/>
              <a:cs typeface="Times New Roman"/>
            </a:endParaRPr>
          </a:p>
          <a:p>
            <a:pPr marL="755650" marR="659130" lvl="1" indent="-285750">
              <a:lnSpc>
                <a:spcPts val="2590"/>
              </a:lnSpc>
              <a:spcBef>
                <a:spcPts val="590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dirty="0">
                <a:latin typeface="Times New Roman"/>
                <a:cs typeface="Times New Roman"/>
              </a:rPr>
              <a:t>You </a:t>
            </a:r>
            <a:r>
              <a:rPr sz="2400" spc="-5" dirty="0">
                <a:latin typeface="Times New Roman"/>
                <a:cs typeface="Times New Roman"/>
              </a:rPr>
              <a:t>must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set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 SP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correctly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BEFORE using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CALL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instruction.</a:t>
            </a:r>
            <a:endParaRPr sz="2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buFont typeface="Times New Roman"/>
              <a:buChar char="–"/>
            </a:pPr>
            <a:endParaRPr sz="3800">
              <a:latin typeface="Times New Roman"/>
              <a:cs typeface="Times New Roman"/>
            </a:endParaRPr>
          </a:p>
          <a:p>
            <a:pPr marL="355600" marR="55244" indent="-343535" algn="just">
              <a:lnSpc>
                <a:spcPts val="3020"/>
              </a:lnSpc>
              <a:buChar char="•"/>
              <a:tabLst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RTE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instruction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takes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contents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two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memory locations at </a:t>
            </a:r>
            <a:r>
              <a:rPr sz="2800" dirty="0">
                <a:latin typeface="Times New Roman"/>
                <a:cs typeface="Times New Roman"/>
              </a:rPr>
              <a:t>the top of the </a:t>
            </a:r>
            <a:r>
              <a:rPr sz="2800" spc="-5" dirty="0">
                <a:latin typeface="Times New Roman"/>
                <a:cs typeface="Times New Roman"/>
              </a:rPr>
              <a:t>stack and uses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these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return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address.</a:t>
            </a:r>
            <a:endParaRPr sz="2800">
              <a:latin typeface="Times New Roman"/>
              <a:cs typeface="Times New Roman"/>
            </a:endParaRPr>
          </a:p>
          <a:p>
            <a:pPr marL="755650" marR="274320" lvl="1" indent="-286385" algn="just">
              <a:lnSpc>
                <a:spcPts val="2590"/>
              </a:lnSpc>
              <a:spcBef>
                <a:spcPts val="590"/>
              </a:spcBef>
              <a:buChar char="–"/>
              <a:tabLst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Do </a:t>
            </a:r>
            <a:r>
              <a:rPr sz="2400" dirty="0">
                <a:latin typeface="Times New Roman"/>
                <a:cs typeface="Times New Roman"/>
              </a:rPr>
              <a:t>not </a:t>
            </a:r>
            <a:r>
              <a:rPr sz="2400" spc="-5" dirty="0">
                <a:latin typeface="Times New Roman"/>
                <a:cs typeface="Times New Roman"/>
              </a:rPr>
              <a:t>modify the stack pointer in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subroutine. </a:t>
            </a:r>
            <a:r>
              <a:rPr sz="2400" dirty="0">
                <a:latin typeface="Times New Roman"/>
                <a:cs typeface="Times New Roman"/>
              </a:rPr>
              <a:t>You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will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loose 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return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address.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30610" y="814069"/>
            <a:ext cx="648335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Passing Data</a:t>
            </a:r>
            <a:r>
              <a:rPr spc="-10" dirty="0"/>
              <a:t> </a:t>
            </a:r>
            <a:r>
              <a:rPr spc="-5" dirty="0"/>
              <a:t>to a</a:t>
            </a:r>
            <a:r>
              <a:rPr spc="-10" dirty="0"/>
              <a:t> </a:t>
            </a:r>
            <a:r>
              <a:rPr spc="-5" dirty="0"/>
              <a:t>Subroutine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59355"/>
            <a:ext cx="7369175" cy="428244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marR="1060450" indent="-343535">
              <a:lnSpc>
                <a:spcPts val="3020"/>
              </a:lnSpc>
              <a:spcBef>
                <a:spcPts val="484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Assembly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Language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data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5" dirty="0">
                <a:latin typeface="Times New Roman"/>
                <a:cs typeface="Times New Roman"/>
              </a:rPr>
              <a:t> passed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subroutine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through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registers.</a:t>
            </a:r>
            <a:endParaRPr sz="2800">
              <a:latin typeface="Times New Roman"/>
              <a:cs typeface="Times New Roman"/>
            </a:endParaRPr>
          </a:p>
          <a:p>
            <a:pPr marL="755650" marR="5080" lvl="1" indent="-285750">
              <a:lnSpc>
                <a:spcPts val="2590"/>
              </a:lnSpc>
              <a:spcBef>
                <a:spcPts val="585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spc="-5" dirty="0">
                <a:latin typeface="Times New Roman"/>
                <a:cs typeface="Times New Roman"/>
              </a:rPr>
              <a:t>The data is stored in </a:t>
            </a:r>
            <a:r>
              <a:rPr sz="2400" dirty="0">
                <a:latin typeface="Times New Roman"/>
                <a:cs typeface="Times New Roman"/>
              </a:rPr>
              <a:t>one of </a:t>
            </a:r>
            <a:r>
              <a:rPr sz="2400" spc="-5" dirty="0">
                <a:latin typeface="Times New Roman"/>
                <a:cs typeface="Times New Roman"/>
              </a:rPr>
              <a:t>the registers </a:t>
            </a:r>
            <a:r>
              <a:rPr sz="2400" dirty="0">
                <a:latin typeface="Times New Roman"/>
                <a:cs typeface="Times New Roman"/>
              </a:rPr>
              <a:t>by </a:t>
            </a:r>
            <a:r>
              <a:rPr sz="2400" spc="-5" dirty="0">
                <a:latin typeface="Times New Roman"/>
                <a:cs typeface="Times New Roman"/>
              </a:rPr>
              <a:t>the calling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program </a:t>
            </a:r>
            <a:r>
              <a:rPr sz="2400" dirty="0">
                <a:latin typeface="Times New Roman"/>
                <a:cs typeface="Times New Roman"/>
              </a:rPr>
              <a:t>and </a:t>
            </a:r>
            <a:r>
              <a:rPr sz="2400" spc="-5" dirty="0">
                <a:latin typeface="Times New Roman"/>
                <a:cs typeface="Times New Roman"/>
              </a:rPr>
              <a:t>the subroutine uses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value from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register.</a:t>
            </a:r>
            <a:endParaRPr sz="2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buFont typeface="Times New Roman"/>
              <a:buChar char="–"/>
            </a:pPr>
            <a:endParaRPr sz="3800">
              <a:latin typeface="Times New Roman"/>
              <a:cs typeface="Times New Roman"/>
            </a:endParaRPr>
          </a:p>
          <a:p>
            <a:pPr marL="355600" marR="978535" indent="-343535">
              <a:lnSpc>
                <a:spcPts val="3020"/>
              </a:lnSpc>
              <a:spcBef>
                <a:spcPts val="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other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possibility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agreed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upon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memory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locations.</a:t>
            </a:r>
            <a:endParaRPr sz="2800">
              <a:latin typeface="Times New Roman"/>
              <a:cs typeface="Times New Roman"/>
            </a:endParaRPr>
          </a:p>
          <a:p>
            <a:pPr marL="755650" marR="33020" lvl="1" indent="-286385">
              <a:lnSpc>
                <a:spcPts val="2590"/>
              </a:lnSpc>
              <a:spcBef>
                <a:spcPts val="585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The calling program stores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data in the memory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location </a:t>
            </a:r>
            <a:r>
              <a:rPr sz="2400" dirty="0">
                <a:latin typeface="Times New Roman"/>
                <a:cs typeface="Times New Roman"/>
              </a:rPr>
              <a:t>and the </a:t>
            </a:r>
            <a:r>
              <a:rPr sz="2400" spc="-5" dirty="0">
                <a:latin typeface="Times New Roman"/>
                <a:cs typeface="Times New Roman"/>
              </a:rPr>
              <a:t>subroutine retrieves the data from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location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uses</a:t>
            </a:r>
            <a:r>
              <a:rPr sz="2400" spc="-5" dirty="0">
                <a:latin typeface="Times New Roman"/>
                <a:cs typeface="Times New Roman"/>
              </a:rPr>
              <a:t> it.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22295" marR="5080" indent="-270764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Call by Reference and Call by </a:t>
            </a:r>
            <a:r>
              <a:rPr spc="-1085" dirty="0"/>
              <a:t> </a:t>
            </a:r>
            <a:r>
              <a:rPr spc="-5" dirty="0"/>
              <a:t>Value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59355"/>
            <a:ext cx="7424420" cy="444690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marR="30480" indent="-343535">
              <a:lnSpc>
                <a:spcPts val="3020"/>
              </a:lnSpc>
              <a:spcBef>
                <a:spcPts val="484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latin typeface="Times New Roman"/>
                <a:cs typeface="Times New Roman"/>
              </a:rPr>
              <a:t>If the </a:t>
            </a:r>
            <a:r>
              <a:rPr sz="2800" spc="-5" dirty="0">
                <a:latin typeface="Times New Roman"/>
                <a:cs typeface="Times New Roman"/>
              </a:rPr>
              <a:t>subroutine performs operations </a:t>
            </a:r>
            <a:r>
              <a:rPr sz="2800" dirty="0">
                <a:latin typeface="Times New Roman"/>
                <a:cs typeface="Times New Roman"/>
              </a:rPr>
              <a:t>on the 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contents </a:t>
            </a:r>
            <a:r>
              <a:rPr sz="2800" dirty="0">
                <a:latin typeface="Times New Roman"/>
                <a:cs typeface="Times New Roman"/>
              </a:rPr>
              <a:t>of the </a:t>
            </a:r>
            <a:r>
              <a:rPr sz="2800" spc="-5" dirty="0">
                <a:latin typeface="Times New Roman"/>
                <a:cs typeface="Times New Roman"/>
              </a:rPr>
              <a:t>registers, then these modifications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will be </a:t>
            </a:r>
            <a:r>
              <a:rPr sz="2800" spc="-5" dirty="0">
                <a:latin typeface="Times New Roman"/>
                <a:cs typeface="Times New Roman"/>
              </a:rPr>
              <a:t>transferred back </a:t>
            </a:r>
            <a:r>
              <a:rPr sz="2800" dirty="0">
                <a:latin typeface="Times New Roman"/>
                <a:cs typeface="Times New Roman"/>
              </a:rPr>
              <a:t>to the </a:t>
            </a:r>
            <a:r>
              <a:rPr sz="2800" spc="-5" dirty="0">
                <a:latin typeface="Times New Roman"/>
                <a:cs typeface="Times New Roman"/>
              </a:rPr>
              <a:t>calling </a:t>
            </a:r>
            <a:r>
              <a:rPr sz="2800" dirty="0">
                <a:latin typeface="Times New Roman"/>
                <a:cs typeface="Times New Roman"/>
              </a:rPr>
              <a:t>program 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upon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returning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from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subroutine.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265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spc="-5" dirty="0">
                <a:latin typeface="Times New Roman"/>
                <a:cs typeface="Times New Roman"/>
              </a:rPr>
              <a:t>Call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reference</a:t>
            </a:r>
            <a:endParaRPr sz="2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Font typeface="Times New Roman"/>
              <a:buChar char="–"/>
            </a:pPr>
            <a:endParaRPr sz="3800">
              <a:latin typeface="Times New Roman"/>
              <a:cs typeface="Times New Roman"/>
            </a:endParaRPr>
          </a:p>
          <a:p>
            <a:pPr marL="355600" marR="5080" indent="-343535" algn="just">
              <a:lnSpc>
                <a:spcPts val="3020"/>
              </a:lnSpc>
              <a:buChar char="•"/>
              <a:tabLst>
                <a:tab pos="356235" algn="l"/>
              </a:tabLst>
            </a:pPr>
            <a:r>
              <a:rPr sz="2800" dirty="0">
                <a:latin typeface="Times New Roman"/>
                <a:cs typeface="Times New Roman"/>
              </a:rPr>
              <a:t>If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this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desired,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subroutine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should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PUSH </a:t>
            </a:r>
            <a:r>
              <a:rPr sz="2800" spc="-69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all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registers </a:t>
            </a:r>
            <a:r>
              <a:rPr sz="2800" dirty="0">
                <a:latin typeface="Times New Roman"/>
                <a:cs typeface="Times New Roman"/>
              </a:rPr>
              <a:t>it </a:t>
            </a:r>
            <a:r>
              <a:rPr sz="2800" spc="-5" dirty="0">
                <a:latin typeface="Times New Roman"/>
                <a:cs typeface="Times New Roman"/>
              </a:rPr>
              <a:t>needs </a:t>
            </a:r>
            <a:r>
              <a:rPr sz="2800" dirty="0">
                <a:latin typeface="Times New Roman"/>
                <a:cs typeface="Times New Roman"/>
              </a:rPr>
              <a:t>on the </a:t>
            </a:r>
            <a:r>
              <a:rPr sz="2800" spc="-5" dirty="0">
                <a:latin typeface="Times New Roman"/>
                <a:cs typeface="Times New Roman"/>
              </a:rPr>
              <a:t>stack </a:t>
            </a:r>
            <a:r>
              <a:rPr sz="2800" dirty="0">
                <a:latin typeface="Times New Roman"/>
                <a:cs typeface="Times New Roman"/>
              </a:rPr>
              <a:t>on </a:t>
            </a:r>
            <a:r>
              <a:rPr sz="2800" spc="-5" dirty="0">
                <a:latin typeface="Times New Roman"/>
                <a:cs typeface="Times New Roman"/>
              </a:rPr>
              <a:t>entry and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POP</a:t>
            </a:r>
            <a:r>
              <a:rPr sz="2800" spc="-5" dirty="0">
                <a:latin typeface="Times New Roman"/>
                <a:cs typeface="Times New Roman"/>
              </a:rPr>
              <a:t> them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return.</a:t>
            </a:r>
            <a:endParaRPr sz="2800">
              <a:latin typeface="Times New Roman"/>
              <a:cs typeface="Times New Roman"/>
            </a:endParaRPr>
          </a:p>
          <a:p>
            <a:pPr marL="755650" marR="694055" lvl="1" indent="-286385" algn="just">
              <a:lnSpc>
                <a:spcPts val="2590"/>
              </a:lnSpc>
              <a:spcBef>
                <a:spcPts val="590"/>
              </a:spcBef>
              <a:buChar char="–"/>
              <a:tabLst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The original values are restored before execution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returns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calling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program.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9128" y="814069"/>
            <a:ext cx="682561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Cautions</a:t>
            </a:r>
            <a:r>
              <a:rPr spc="-15" dirty="0"/>
              <a:t> </a:t>
            </a:r>
            <a:r>
              <a:rPr spc="-5" dirty="0"/>
              <a:t>with PUSH and</a:t>
            </a:r>
            <a:r>
              <a:rPr spc="-10" dirty="0"/>
              <a:t> </a:t>
            </a:r>
            <a:r>
              <a:rPr spc="-5" dirty="0"/>
              <a:t>POP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59355"/>
            <a:ext cx="7411084" cy="4159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PUSH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POP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should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used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opposite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order.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Times New Roman"/>
              <a:buChar char="•"/>
            </a:pPr>
            <a:endParaRPr sz="3800">
              <a:latin typeface="Times New Roman"/>
              <a:cs typeface="Times New Roman"/>
            </a:endParaRPr>
          </a:p>
          <a:p>
            <a:pPr marL="355600" marR="901700" indent="-343535">
              <a:lnSpc>
                <a:spcPts val="3020"/>
              </a:lnSpc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There has </a:t>
            </a:r>
            <a:r>
              <a:rPr sz="2800" dirty="0">
                <a:latin typeface="Times New Roman"/>
                <a:cs typeface="Times New Roman"/>
              </a:rPr>
              <a:t>to be </a:t>
            </a:r>
            <a:r>
              <a:rPr sz="2800" spc="-5" dirty="0">
                <a:latin typeface="Times New Roman"/>
                <a:cs typeface="Times New Roman"/>
              </a:rPr>
              <a:t>as many </a:t>
            </a:r>
            <a:r>
              <a:rPr sz="2800" dirty="0">
                <a:latin typeface="Times New Roman"/>
                <a:cs typeface="Times New Roman"/>
              </a:rPr>
              <a:t>POP’s </a:t>
            </a:r>
            <a:r>
              <a:rPr sz="2800" spc="-5" dirty="0">
                <a:latin typeface="Times New Roman"/>
                <a:cs typeface="Times New Roman"/>
              </a:rPr>
              <a:t>as there are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PUSH’s.</a:t>
            </a:r>
            <a:endParaRPr sz="2800">
              <a:latin typeface="Times New Roman"/>
              <a:cs typeface="Times New Roman"/>
            </a:endParaRPr>
          </a:p>
          <a:p>
            <a:pPr marL="755650" marR="81915" indent="-285750">
              <a:lnSpc>
                <a:spcPts val="2590"/>
              </a:lnSpc>
              <a:spcBef>
                <a:spcPts val="590"/>
              </a:spcBef>
              <a:tabLst>
                <a:tab pos="755015" algn="l"/>
              </a:tabLst>
            </a:pPr>
            <a:r>
              <a:rPr sz="2400" dirty="0">
                <a:latin typeface="Times New Roman"/>
                <a:cs typeface="Times New Roman"/>
              </a:rPr>
              <a:t>–	</a:t>
            </a:r>
            <a:r>
              <a:rPr sz="2400" spc="-5" dirty="0">
                <a:latin typeface="Times New Roman"/>
                <a:cs typeface="Times New Roman"/>
              </a:rPr>
              <a:t>If </a:t>
            </a:r>
            <a:r>
              <a:rPr sz="2400" dirty="0">
                <a:latin typeface="Times New Roman"/>
                <a:cs typeface="Times New Roman"/>
              </a:rPr>
              <a:t>not, </a:t>
            </a:r>
            <a:r>
              <a:rPr sz="2400" spc="-5" dirty="0">
                <a:latin typeface="Times New Roman"/>
                <a:cs typeface="Times New Roman"/>
              </a:rPr>
              <a:t>the RET statement will pick </a:t>
            </a:r>
            <a:r>
              <a:rPr sz="2400" dirty="0">
                <a:latin typeface="Times New Roman"/>
                <a:cs typeface="Times New Roman"/>
              </a:rPr>
              <a:t>up the </a:t>
            </a:r>
            <a:r>
              <a:rPr sz="2400" spc="-5" dirty="0">
                <a:latin typeface="Times New Roman"/>
                <a:cs typeface="Times New Roman"/>
              </a:rPr>
              <a:t>wrong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information from the top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the stack </a:t>
            </a:r>
            <a:r>
              <a:rPr sz="2400" dirty="0">
                <a:latin typeface="Times New Roman"/>
                <a:cs typeface="Times New Roman"/>
              </a:rPr>
              <a:t>and </a:t>
            </a:r>
            <a:r>
              <a:rPr sz="2400" spc="-5" dirty="0">
                <a:latin typeface="Times New Roman"/>
                <a:cs typeface="Times New Roman"/>
              </a:rPr>
              <a:t>the program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will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fail.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800">
              <a:latin typeface="Times New Roman"/>
              <a:cs typeface="Times New Roman"/>
            </a:endParaRPr>
          </a:p>
          <a:p>
            <a:pPr marL="355600" marR="20955" indent="-343535">
              <a:lnSpc>
                <a:spcPts val="3020"/>
              </a:lnSpc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advisable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place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PUSH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POP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inside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loop.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69515" marR="5080" indent="-187007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Conditional CALL and RTE </a:t>
            </a:r>
            <a:r>
              <a:rPr spc="-1085" dirty="0"/>
              <a:t> </a:t>
            </a:r>
            <a:r>
              <a:rPr spc="-5" dirty="0"/>
              <a:t>Instructions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59355"/>
            <a:ext cx="7041515" cy="3983354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marR="726440" indent="-343535">
              <a:lnSpc>
                <a:spcPts val="3020"/>
              </a:lnSpc>
              <a:spcBef>
                <a:spcPts val="484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8085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supports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conditional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CALL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and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conditional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RTE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instructions.</a:t>
            </a:r>
            <a:endParaRPr sz="2800">
              <a:latin typeface="Times New Roman"/>
              <a:cs typeface="Times New Roman"/>
            </a:endParaRPr>
          </a:p>
          <a:p>
            <a:pPr marL="755650" marR="208279" lvl="1" indent="-285750">
              <a:lnSpc>
                <a:spcPts val="2590"/>
              </a:lnSpc>
              <a:spcBef>
                <a:spcPts val="585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spc="-5" dirty="0">
                <a:latin typeface="Times New Roman"/>
                <a:cs typeface="Times New Roman"/>
              </a:rPr>
              <a:t>The same conditions used with conditional JUMP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instructions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5" dirty="0">
                <a:latin typeface="Times New Roman"/>
                <a:cs typeface="Times New Roman"/>
              </a:rPr>
              <a:t> used.</a:t>
            </a:r>
            <a:endParaRPr sz="2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Font typeface="Times New Roman"/>
              <a:buChar char="–"/>
            </a:pPr>
            <a:endParaRPr sz="295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5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dirty="0">
                <a:latin typeface="Times New Roman"/>
                <a:cs typeface="Times New Roman"/>
              </a:rPr>
              <a:t>CC,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call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subroutine if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Carry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flag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 set.</a:t>
            </a:r>
            <a:endParaRPr sz="24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285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dirty="0">
                <a:latin typeface="Times New Roman"/>
                <a:cs typeface="Times New Roman"/>
              </a:rPr>
              <a:t>CNC,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call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subroutine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if Carry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flag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dirty="0">
                <a:latin typeface="Times New Roman"/>
                <a:cs typeface="Times New Roman"/>
              </a:rPr>
              <a:t> not</a:t>
            </a:r>
            <a:r>
              <a:rPr sz="2400" spc="-5" dirty="0">
                <a:latin typeface="Times New Roman"/>
                <a:cs typeface="Times New Roman"/>
              </a:rPr>
              <a:t> set</a:t>
            </a:r>
            <a:endParaRPr sz="24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290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dirty="0">
                <a:latin typeface="Times New Roman"/>
                <a:cs typeface="Times New Roman"/>
              </a:rPr>
              <a:t>RC,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return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from subroutine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if Carry flag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set</a:t>
            </a:r>
            <a:endParaRPr sz="24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285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dirty="0">
                <a:latin typeface="Times New Roman"/>
                <a:cs typeface="Times New Roman"/>
              </a:rPr>
              <a:t>RNC,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return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from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subroutine if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Carry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flag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 </a:t>
            </a:r>
            <a:r>
              <a:rPr sz="2400" dirty="0">
                <a:latin typeface="Times New Roman"/>
                <a:cs typeface="Times New Roman"/>
              </a:rPr>
              <a:t>not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set</a:t>
            </a:r>
            <a:endParaRPr sz="24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290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Etc.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46534" y="814069"/>
            <a:ext cx="465264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</a:t>
            </a:r>
            <a:r>
              <a:rPr spc="-25" dirty="0"/>
              <a:t> </a:t>
            </a:r>
            <a:r>
              <a:rPr spc="-5" dirty="0"/>
              <a:t>Proper</a:t>
            </a:r>
            <a:r>
              <a:rPr spc="-30" dirty="0"/>
              <a:t> </a:t>
            </a:r>
            <a:r>
              <a:rPr spc="-5" dirty="0"/>
              <a:t>Subroutine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59355"/>
            <a:ext cx="7396480" cy="4177029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marR="286385" indent="-343535">
              <a:lnSpc>
                <a:spcPts val="3020"/>
              </a:lnSpc>
              <a:spcBef>
                <a:spcPts val="484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According </a:t>
            </a:r>
            <a:r>
              <a:rPr sz="2800" dirty="0">
                <a:latin typeface="Times New Roman"/>
                <a:cs typeface="Times New Roman"/>
              </a:rPr>
              <a:t>to Software </a:t>
            </a:r>
            <a:r>
              <a:rPr sz="2800" spc="-5" dirty="0">
                <a:latin typeface="Times New Roman"/>
                <a:cs typeface="Times New Roman"/>
              </a:rPr>
              <a:t>Engineering practices,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proper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subroutine:</a:t>
            </a:r>
            <a:endParaRPr sz="28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259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only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entered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with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 CALL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exited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with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RTE</a:t>
            </a:r>
            <a:endParaRPr sz="24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285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Has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single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entry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point</a:t>
            </a:r>
            <a:endParaRPr sz="2400">
              <a:latin typeface="Times New Roman"/>
              <a:cs typeface="Times New Roman"/>
            </a:endParaRPr>
          </a:p>
          <a:p>
            <a:pPr marL="1155700" marR="5080" lvl="2" indent="-229235">
              <a:lnSpc>
                <a:spcPts val="2160"/>
              </a:lnSpc>
              <a:spcBef>
                <a:spcPts val="530"/>
              </a:spcBef>
              <a:buChar char="•"/>
              <a:tabLst>
                <a:tab pos="1155065" algn="l"/>
                <a:tab pos="1156335" algn="l"/>
              </a:tabLst>
            </a:pPr>
            <a:r>
              <a:rPr sz="2000" spc="-5" dirty="0">
                <a:latin typeface="Times New Roman"/>
                <a:cs typeface="Times New Roman"/>
              </a:rPr>
              <a:t>Do not use a CALL statement to jump into different points of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same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subroutine.</a:t>
            </a:r>
            <a:endParaRPr sz="20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240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Has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single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exit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point</a:t>
            </a:r>
            <a:endParaRPr sz="2400">
              <a:latin typeface="Times New Roman"/>
              <a:cs typeface="Times New Roman"/>
            </a:endParaRPr>
          </a:p>
          <a:p>
            <a:pPr marL="1155700" lvl="2" indent="-229235">
              <a:lnSpc>
                <a:spcPct val="100000"/>
              </a:lnSpc>
              <a:spcBef>
                <a:spcPts val="254"/>
              </a:spcBef>
              <a:buChar char="•"/>
              <a:tabLst>
                <a:tab pos="1155065" algn="l"/>
                <a:tab pos="1155700" algn="l"/>
              </a:tabLst>
            </a:pPr>
            <a:r>
              <a:rPr sz="2000" spc="-5" dirty="0">
                <a:latin typeface="Times New Roman"/>
                <a:cs typeface="Times New Roman"/>
              </a:rPr>
              <a:t>There should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be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one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return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statement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from any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subroutine.</a:t>
            </a:r>
            <a:endParaRPr sz="200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buFont typeface="Times New Roman"/>
              <a:buChar char="•"/>
            </a:pPr>
            <a:endParaRPr sz="2900">
              <a:latin typeface="Times New Roman"/>
              <a:cs typeface="Times New Roman"/>
            </a:endParaRPr>
          </a:p>
          <a:p>
            <a:pPr marL="355600" marR="482600" indent="-343535">
              <a:lnSpc>
                <a:spcPts val="3020"/>
              </a:lnSpc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latin typeface="Times New Roman"/>
                <a:cs typeface="Times New Roman"/>
              </a:rPr>
              <a:t>Following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these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rules,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there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should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any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confusion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PUSH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POP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usage.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6350" y="0"/>
            <a:ext cx="9156700" cy="6870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515938" cy="68579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96240" y="742378"/>
            <a:ext cx="769937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9" dirty="0">
                <a:solidFill>
                  <a:srgbClr val="FFFFCC"/>
                </a:solidFill>
                <a:latin typeface="Arial MT"/>
                <a:cs typeface="Arial MT"/>
              </a:rPr>
              <a:t>The</a:t>
            </a:r>
            <a:r>
              <a:rPr spc="-220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475" dirty="0">
                <a:solidFill>
                  <a:srgbClr val="FFFFCC"/>
                </a:solidFill>
                <a:latin typeface="Arial MT"/>
                <a:cs typeface="Arial MT"/>
              </a:rPr>
              <a:t>Des</a:t>
            </a:r>
            <a:r>
              <a:rPr spc="-180" dirty="0">
                <a:solidFill>
                  <a:srgbClr val="FFFFCC"/>
                </a:solidFill>
                <a:latin typeface="Arial MT"/>
                <a:cs typeface="Arial MT"/>
              </a:rPr>
              <a:t>i</a:t>
            </a:r>
            <a:r>
              <a:rPr spc="-445" dirty="0">
                <a:solidFill>
                  <a:srgbClr val="FFFFCC"/>
                </a:solidFill>
                <a:latin typeface="Arial MT"/>
                <a:cs typeface="Arial MT"/>
              </a:rPr>
              <a:t>gn</a:t>
            </a:r>
            <a:r>
              <a:rPr spc="-210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445" dirty="0">
                <a:solidFill>
                  <a:srgbClr val="FFFFCC"/>
                </a:solidFill>
                <a:latin typeface="Arial MT"/>
                <a:cs typeface="Arial MT"/>
              </a:rPr>
              <a:t>and</a:t>
            </a:r>
            <a:r>
              <a:rPr spc="-200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390" dirty="0">
                <a:solidFill>
                  <a:srgbClr val="FFFFCC"/>
                </a:solidFill>
                <a:latin typeface="Arial MT"/>
                <a:cs typeface="Arial MT"/>
              </a:rPr>
              <a:t>Operation</a:t>
            </a:r>
            <a:r>
              <a:rPr spc="-200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335" dirty="0">
                <a:solidFill>
                  <a:srgbClr val="FFFFCC"/>
                </a:solidFill>
                <a:latin typeface="Arial MT"/>
                <a:cs typeface="Arial MT"/>
              </a:rPr>
              <a:t>of</a:t>
            </a:r>
            <a:r>
              <a:rPr spc="-220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480" dirty="0">
                <a:solidFill>
                  <a:srgbClr val="FFFFCC"/>
                </a:solidFill>
                <a:latin typeface="Arial MT"/>
                <a:cs typeface="Arial MT"/>
              </a:rPr>
              <a:t>Memory</a:t>
            </a: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7239" y="2135123"/>
            <a:ext cx="189738" cy="19888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34439" y="4360925"/>
            <a:ext cx="152400" cy="16002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34439" y="5702045"/>
            <a:ext cx="152400" cy="16002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07439" y="1963166"/>
            <a:ext cx="7190740" cy="430022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 marR="561340">
              <a:lnSpc>
                <a:spcPts val="3020"/>
              </a:lnSpc>
              <a:spcBef>
                <a:spcPts val="484"/>
              </a:spcBef>
            </a:pPr>
            <a:r>
              <a:rPr sz="2800" spc="-305" dirty="0">
                <a:latin typeface="Arial MT"/>
                <a:cs typeface="Arial MT"/>
              </a:rPr>
              <a:t>Memory</a:t>
            </a:r>
            <a:r>
              <a:rPr sz="2800" spc="-155" dirty="0">
                <a:latin typeface="Arial MT"/>
                <a:cs typeface="Arial MT"/>
              </a:rPr>
              <a:t> </a:t>
            </a:r>
            <a:r>
              <a:rPr sz="2800" spc="-200" dirty="0">
                <a:latin typeface="Arial MT"/>
                <a:cs typeface="Arial MT"/>
              </a:rPr>
              <a:t>in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280" dirty="0">
                <a:latin typeface="Arial MT"/>
                <a:cs typeface="Arial MT"/>
              </a:rPr>
              <a:t>a</a:t>
            </a:r>
            <a:r>
              <a:rPr sz="2800" spc="-150" dirty="0">
                <a:latin typeface="Arial MT"/>
                <a:cs typeface="Arial MT"/>
              </a:rPr>
              <a:t> </a:t>
            </a:r>
            <a:r>
              <a:rPr sz="2800" spc="-250" dirty="0">
                <a:latin typeface="Arial MT"/>
                <a:cs typeface="Arial MT"/>
              </a:rPr>
              <a:t>microprocessor</a:t>
            </a:r>
            <a:r>
              <a:rPr sz="2800" spc="-160" dirty="0">
                <a:latin typeface="Arial MT"/>
                <a:cs typeface="Arial MT"/>
              </a:rPr>
              <a:t> </a:t>
            </a:r>
            <a:r>
              <a:rPr sz="2800" spc="-270" dirty="0">
                <a:latin typeface="Arial MT"/>
                <a:cs typeface="Arial MT"/>
              </a:rPr>
              <a:t>system</a:t>
            </a:r>
            <a:r>
              <a:rPr sz="2800" spc="-150" dirty="0">
                <a:latin typeface="Arial MT"/>
                <a:cs typeface="Arial MT"/>
              </a:rPr>
              <a:t> </a:t>
            </a:r>
            <a:r>
              <a:rPr sz="2800" spc="-185" dirty="0">
                <a:latin typeface="Arial MT"/>
                <a:cs typeface="Arial MT"/>
              </a:rPr>
              <a:t>is</a:t>
            </a:r>
            <a:r>
              <a:rPr sz="2800" spc="-140" dirty="0">
                <a:latin typeface="Arial MT"/>
                <a:cs typeface="Arial MT"/>
              </a:rPr>
              <a:t> </a:t>
            </a:r>
            <a:r>
              <a:rPr sz="2800" spc="-280" dirty="0">
                <a:latin typeface="Arial MT"/>
                <a:cs typeface="Arial MT"/>
              </a:rPr>
              <a:t>where </a:t>
            </a:r>
            <a:r>
              <a:rPr sz="2800" spc="-275" dirty="0">
                <a:latin typeface="Arial MT"/>
                <a:cs typeface="Arial MT"/>
              </a:rPr>
              <a:t> </a:t>
            </a:r>
            <a:r>
              <a:rPr sz="2800" spc="-200" dirty="0">
                <a:latin typeface="Arial MT"/>
                <a:cs typeface="Arial MT"/>
              </a:rPr>
              <a:t>in</a:t>
            </a:r>
            <a:r>
              <a:rPr sz="2800" spc="-145" dirty="0">
                <a:latin typeface="Arial MT"/>
                <a:cs typeface="Arial MT"/>
              </a:rPr>
              <a:t>f</a:t>
            </a:r>
            <a:r>
              <a:rPr sz="2800" spc="-280" dirty="0">
                <a:latin typeface="Arial MT"/>
                <a:cs typeface="Arial MT"/>
              </a:rPr>
              <a:t>o</a:t>
            </a:r>
            <a:r>
              <a:rPr sz="2800" spc="-175" dirty="0">
                <a:latin typeface="Arial MT"/>
                <a:cs typeface="Arial MT"/>
              </a:rPr>
              <a:t>r</a:t>
            </a:r>
            <a:r>
              <a:rPr sz="2800" spc="-350" dirty="0">
                <a:latin typeface="Arial MT"/>
                <a:cs typeface="Arial MT"/>
              </a:rPr>
              <a:t>ma</a:t>
            </a:r>
            <a:r>
              <a:rPr sz="2800" spc="-145" dirty="0">
                <a:latin typeface="Arial MT"/>
                <a:cs typeface="Arial MT"/>
              </a:rPr>
              <a:t>t</a:t>
            </a:r>
            <a:r>
              <a:rPr sz="2800" spc="-225" dirty="0">
                <a:latin typeface="Arial MT"/>
                <a:cs typeface="Arial MT"/>
              </a:rPr>
              <a:t>ion</a:t>
            </a:r>
            <a:r>
              <a:rPr sz="2800" spc="-155" dirty="0">
                <a:latin typeface="Arial MT"/>
                <a:cs typeface="Arial MT"/>
              </a:rPr>
              <a:t> </a:t>
            </a:r>
            <a:r>
              <a:rPr sz="2800" spc="-175" dirty="0">
                <a:latin typeface="Arial MT"/>
                <a:cs typeface="Arial MT"/>
              </a:rPr>
              <a:t>(</a:t>
            </a:r>
            <a:r>
              <a:rPr sz="2800" spc="-280" dirty="0">
                <a:latin typeface="Arial MT"/>
                <a:cs typeface="Arial MT"/>
              </a:rPr>
              <a:t>da</a:t>
            </a:r>
            <a:r>
              <a:rPr sz="2800" spc="-145" dirty="0">
                <a:latin typeface="Arial MT"/>
                <a:cs typeface="Arial MT"/>
              </a:rPr>
              <a:t>t</a:t>
            </a:r>
            <a:r>
              <a:rPr sz="2800" spc="-280" dirty="0">
                <a:latin typeface="Arial MT"/>
                <a:cs typeface="Arial MT"/>
              </a:rPr>
              <a:t>a</a:t>
            </a:r>
            <a:r>
              <a:rPr sz="2800" spc="-150" dirty="0">
                <a:latin typeface="Arial MT"/>
                <a:cs typeface="Arial MT"/>
              </a:rPr>
              <a:t> </a:t>
            </a:r>
            <a:r>
              <a:rPr sz="2800" spc="-280" dirty="0">
                <a:latin typeface="Arial MT"/>
                <a:cs typeface="Arial MT"/>
              </a:rPr>
              <a:t>and</a:t>
            </a:r>
            <a:r>
              <a:rPr sz="2800" spc="-150" dirty="0">
                <a:latin typeface="Arial MT"/>
                <a:cs typeface="Arial MT"/>
              </a:rPr>
              <a:t> </a:t>
            </a:r>
            <a:r>
              <a:rPr sz="2800" spc="-215" dirty="0">
                <a:latin typeface="Arial MT"/>
                <a:cs typeface="Arial MT"/>
              </a:rPr>
              <a:t>ins</a:t>
            </a:r>
            <a:r>
              <a:rPr sz="2800" spc="-145" dirty="0">
                <a:latin typeface="Arial MT"/>
                <a:cs typeface="Arial MT"/>
              </a:rPr>
              <a:t>t</a:t>
            </a:r>
            <a:r>
              <a:rPr sz="2800" spc="-175" dirty="0">
                <a:latin typeface="Arial MT"/>
                <a:cs typeface="Arial MT"/>
              </a:rPr>
              <a:t>r</a:t>
            </a:r>
            <a:r>
              <a:rPr sz="2800" spc="-270" dirty="0">
                <a:latin typeface="Arial MT"/>
                <a:cs typeface="Arial MT"/>
              </a:rPr>
              <a:t>uc</a:t>
            </a:r>
            <a:r>
              <a:rPr sz="2800" spc="-145" dirty="0">
                <a:latin typeface="Arial MT"/>
                <a:cs typeface="Arial MT"/>
              </a:rPr>
              <a:t>t</a:t>
            </a:r>
            <a:r>
              <a:rPr sz="2800" spc="-220" dirty="0">
                <a:latin typeface="Arial MT"/>
                <a:cs typeface="Arial MT"/>
              </a:rPr>
              <a:t>ions)</a:t>
            </a:r>
            <a:r>
              <a:rPr sz="2800" spc="-155" dirty="0">
                <a:latin typeface="Arial MT"/>
                <a:cs typeface="Arial MT"/>
              </a:rPr>
              <a:t> </a:t>
            </a:r>
            <a:r>
              <a:rPr sz="2800" spc="-185" dirty="0">
                <a:latin typeface="Arial MT"/>
                <a:cs typeface="Arial MT"/>
              </a:rPr>
              <a:t>is</a:t>
            </a:r>
            <a:r>
              <a:rPr sz="2800" spc="-140" dirty="0">
                <a:latin typeface="Arial MT"/>
                <a:cs typeface="Arial MT"/>
              </a:rPr>
              <a:t> </a:t>
            </a:r>
            <a:r>
              <a:rPr sz="2800" spc="-270" dirty="0">
                <a:latin typeface="Arial MT"/>
                <a:cs typeface="Arial MT"/>
              </a:rPr>
              <a:t>kep</a:t>
            </a:r>
            <a:r>
              <a:rPr sz="2800" spc="-145" dirty="0">
                <a:latin typeface="Arial MT"/>
                <a:cs typeface="Arial MT"/>
              </a:rPr>
              <a:t>t</a:t>
            </a:r>
            <a:r>
              <a:rPr sz="2800" spc="-140" dirty="0">
                <a:latin typeface="Arial MT"/>
                <a:cs typeface="Arial MT"/>
              </a:rPr>
              <a:t>.</a:t>
            </a:r>
            <a:r>
              <a:rPr sz="2800" spc="-155" dirty="0">
                <a:latin typeface="Arial MT"/>
                <a:cs typeface="Arial MT"/>
              </a:rPr>
              <a:t> </a:t>
            </a:r>
            <a:r>
              <a:rPr sz="2800" spc="-145" dirty="0">
                <a:latin typeface="Arial MT"/>
                <a:cs typeface="Arial MT"/>
              </a:rPr>
              <a:t>I</a:t>
            </a:r>
            <a:r>
              <a:rPr sz="2800" spc="-140" dirty="0">
                <a:latin typeface="Arial MT"/>
                <a:cs typeface="Arial MT"/>
              </a:rPr>
              <a:t>t </a:t>
            </a:r>
            <a:r>
              <a:rPr sz="2800" spc="-270" dirty="0">
                <a:latin typeface="Arial MT"/>
                <a:cs typeface="Arial MT"/>
              </a:rPr>
              <a:t>can</a:t>
            </a:r>
            <a:r>
              <a:rPr sz="2800" spc="-150" dirty="0">
                <a:latin typeface="Arial MT"/>
                <a:cs typeface="Arial MT"/>
              </a:rPr>
              <a:t> </a:t>
            </a:r>
            <a:r>
              <a:rPr sz="2800" spc="-210" dirty="0">
                <a:latin typeface="Arial MT"/>
                <a:cs typeface="Arial MT"/>
              </a:rPr>
              <a:t>be  classi</a:t>
            </a:r>
            <a:r>
              <a:rPr sz="2800" spc="-145" dirty="0">
                <a:latin typeface="Arial MT"/>
                <a:cs typeface="Arial MT"/>
              </a:rPr>
              <a:t>f</a:t>
            </a:r>
            <a:r>
              <a:rPr sz="2800" spc="-225" dirty="0">
                <a:latin typeface="Arial MT"/>
                <a:cs typeface="Arial MT"/>
              </a:rPr>
              <a:t>ied</a:t>
            </a:r>
            <a:r>
              <a:rPr sz="2800" spc="-155" dirty="0">
                <a:latin typeface="Arial MT"/>
                <a:cs typeface="Arial MT"/>
              </a:rPr>
              <a:t> </a:t>
            </a:r>
            <a:r>
              <a:rPr sz="2800" spc="-200" dirty="0">
                <a:latin typeface="Arial MT"/>
                <a:cs typeface="Arial MT"/>
              </a:rPr>
              <a:t>in</a:t>
            </a:r>
            <a:r>
              <a:rPr sz="2800" spc="-145" dirty="0">
                <a:latin typeface="Arial MT"/>
                <a:cs typeface="Arial MT"/>
              </a:rPr>
              <a:t>t</a:t>
            </a:r>
            <a:r>
              <a:rPr sz="2800" spc="-280" dirty="0">
                <a:latin typeface="Arial MT"/>
                <a:cs typeface="Arial MT"/>
              </a:rPr>
              <a:t>o</a:t>
            </a:r>
            <a:r>
              <a:rPr sz="2800" spc="-145" dirty="0">
                <a:latin typeface="Arial MT"/>
                <a:cs typeface="Arial MT"/>
              </a:rPr>
              <a:t> t</a:t>
            </a:r>
            <a:r>
              <a:rPr sz="2800" spc="-370" dirty="0">
                <a:latin typeface="Arial MT"/>
                <a:cs typeface="Arial MT"/>
              </a:rPr>
              <a:t>w</a:t>
            </a:r>
            <a:r>
              <a:rPr sz="2800" spc="-280" dirty="0">
                <a:latin typeface="Arial MT"/>
                <a:cs typeface="Arial MT"/>
              </a:rPr>
              <a:t>o</a:t>
            </a:r>
            <a:r>
              <a:rPr sz="2800" spc="-140" dirty="0">
                <a:latin typeface="Arial MT"/>
                <a:cs typeface="Arial MT"/>
              </a:rPr>
              <a:t> </a:t>
            </a:r>
            <a:r>
              <a:rPr sz="2800" spc="-275" dirty="0">
                <a:latin typeface="Arial MT"/>
                <a:cs typeface="Arial MT"/>
              </a:rPr>
              <a:t>main</a:t>
            </a:r>
            <a:r>
              <a:rPr sz="2800" spc="-145" dirty="0">
                <a:latin typeface="Arial MT"/>
                <a:cs typeface="Arial MT"/>
              </a:rPr>
              <a:t> t</a:t>
            </a:r>
            <a:r>
              <a:rPr sz="2800" spc="-270" dirty="0">
                <a:latin typeface="Arial MT"/>
                <a:cs typeface="Arial MT"/>
              </a:rPr>
              <a:t>ypes</a:t>
            </a:r>
            <a:r>
              <a:rPr sz="2800" spc="-140" dirty="0">
                <a:latin typeface="Arial MT"/>
                <a:cs typeface="Arial MT"/>
              </a:rPr>
              <a:t>:</a:t>
            </a:r>
            <a:endParaRPr sz="2800">
              <a:latin typeface="Arial MT"/>
              <a:cs typeface="Arial MT"/>
            </a:endParaRPr>
          </a:p>
          <a:p>
            <a:pPr marL="812800" indent="-229235">
              <a:lnSpc>
                <a:spcPct val="100000"/>
              </a:lnSpc>
              <a:spcBef>
                <a:spcPts val="225"/>
              </a:spcBef>
              <a:buClr>
                <a:srgbClr val="CCFFCC"/>
              </a:buClr>
              <a:buSzPct val="60000"/>
              <a:buFont typeface="Wingdings"/>
              <a:buChar char=""/>
              <a:tabLst>
                <a:tab pos="812800" algn="l"/>
              </a:tabLst>
            </a:pPr>
            <a:r>
              <a:rPr sz="2000" spc="-310" dirty="0">
                <a:latin typeface="Arial MT"/>
                <a:cs typeface="Arial MT"/>
              </a:rPr>
              <a:t>M</a:t>
            </a:r>
            <a:r>
              <a:rPr sz="2000" spc="-145" dirty="0">
                <a:latin typeface="Arial MT"/>
                <a:cs typeface="Arial MT"/>
              </a:rPr>
              <a:t>ai</a:t>
            </a:r>
            <a:r>
              <a:rPr sz="2000" spc="-204" dirty="0">
                <a:latin typeface="Arial MT"/>
                <a:cs typeface="Arial MT"/>
              </a:rPr>
              <a:t>n</a:t>
            </a:r>
            <a:r>
              <a:rPr sz="2000" spc="-114" dirty="0">
                <a:latin typeface="Arial MT"/>
                <a:cs typeface="Arial MT"/>
              </a:rPr>
              <a:t> </a:t>
            </a:r>
            <a:r>
              <a:rPr sz="2000" spc="-310" dirty="0">
                <a:latin typeface="Arial MT"/>
                <a:cs typeface="Arial MT"/>
              </a:rPr>
              <a:t>m</a:t>
            </a:r>
            <a:r>
              <a:rPr sz="2000" spc="-204" dirty="0">
                <a:latin typeface="Arial MT"/>
                <a:cs typeface="Arial MT"/>
              </a:rPr>
              <a:t>e</a:t>
            </a:r>
            <a:r>
              <a:rPr sz="2000" spc="-310" dirty="0">
                <a:latin typeface="Arial MT"/>
                <a:cs typeface="Arial MT"/>
              </a:rPr>
              <a:t>m</a:t>
            </a:r>
            <a:r>
              <a:rPr sz="2000" spc="-170" dirty="0">
                <a:latin typeface="Arial MT"/>
                <a:cs typeface="Arial MT"/>
              </a:rPr>
              <a:t>ory</a:t>
            </a:r>
            <a:r>
              <a:rPr sz="2000" spc="-100" dirty="0">
                <a:latin typeface="Arial MT"/>
                <a:cs typeface="Arial MT"/>
              </a:rPr>
              <a:t> </a:t>
            </a:r>
            <a:r>
              <a:rPr sz="2000" spc="-195" dirty="0">
                <a:latin typeface="Arial MT"/>
                <a:cs typeface="Arial MT"/>
              </a:rPr>
              <a:t>(R</a:t>
            </a:r>
            <a:r>
              <a:rPr sz="2000" spc="-250" dirty="0">
                <a:latin typeface="Arial MT"/>
                <a:cs typeface="Arial MT"/>
              </a:rPr>
              <a:t>A</a:t>
            </a:r>
            <a:r>
              <a:rPr sz="2000" spc="-305" dirty="0">
                <a:latin typeface="Arial MT"/>
                <a:cs typeface="Arial MT"/>
              </a:rPr>
              <a:t>M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spc="-204" dirty="0">
                <a:latin typeface="Arial MT"/>
                <a:cs typeface="Arial MT"/>
              </a:rPr>
              <a:t>and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spc="-275" dirty="0">
                <a:latin typeface="Arial MT"/>
                <a:cs typeface="Arial MT"/>
              </a:rPr>
              <a:t>RO</a:t>
            </a:r>
            <a:r>
              <a:rPr sz="2000" spc="-310" dirty="0">
                <a:latin typeface="Arial MT"/>
                <a:cs typeface="Arial MT"/>
              </a:rPr>
              <a:t>M</a:t>
            </a:r>
            <a:r>
              <a:rPr sz="2000" spc="-125" dirty="0">
                <a:latin typeface="Arial MT"/>
                <a:cs typeface="Arial MT"/>
              </a:rPr>
              <a:t>)</a:t>
            </a:r>
            <a:endParaRPr sz="2000">
              <a:latin typeface="Arial MT"/>
              <a:cs typeface="Arial MT"/>
            </a:endParaRPr>
          </a:p>
          <a:p>
            <a:pPr marL="812800" indent="-229235">
              <a:lnSpc>
                <a:spcPct val="100000"/>
              </a:lnSpc>
              <a:spcBef>
                <a:spcPts val="240"/>
              </a:spcBef>
              <a:buClr>
                <a:srgbClr val="CCFFCC"/>
              </a:buClr>
              <a:buSzPct val="60000"/>
              <a:buFont typeface="Wingdings"/>
              <a:buChar char=""/>
              <a:tabLst>
                <a:tab pos="812800" algn="l"/>
              </a:tabLst>
            </a:pPr>
            <a:r>
              <a:rPr sz="2000" spc="-250" dirty="0">
                <a:latin typeface="Arial MT"/>
                <a:cs typeface="Arial MT"/>
              </a:rPr>
              <a:t>S</a:t>
            </a:r>
            <a:r>
              <a:rPr sz="2000" spc="-175" dirty="0">
                <a:latin typeface="Arial MT"/>
                <a:cs typeface="Arial MT"/>
              </a:rPr>
              <a:t>torage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spc="-310" dirty="0">
                <a:latin typeface="Arial MT"/>
                <a:cs typeface="Arial MT"/>
              </a:rPr>
              <a:t>m</a:t>
            </a:r>
            <a:r>
              <a:rPr sz="2000" spc="-204" dirty="0">
                <a:latin typeface="Arial MT"/>
                <a:cs typeface="Arial MT"/>
              </a:rPr>
              <a:t>e</a:t>
            </a:r>
            <a:r>
              <a:rPr sz="2000" spc="-310" dirty="0">
                <a:latin typeface="Arial MT"/>
                <a:cs typeface="Arial MT"/>
              </a:rPr>
              <a:t>m</a:t>
            </a:r>
            <a:r>
              <a:rPr sz="2000" spc="-170" dirty="0">
                <a:latin typeface="Arial MT"/>
                <a:cs typeface="Arial MT"/>
              </a:rPr>
              <a:t>ory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spc="-155" dirty="0">
                <a:latin typeface="Arial MT"/>
                <a:cs typeface="Arial MT"/>
              </a:rPr>
              <a:t>(Di</a:t>
            </a:r>
            <a:r>
              <a:rPr sz="2000" spc="-185" dirty="0">
                <a:latin typeface="Arial MT"/>
                <a:cs typeface="Arial MT"/>
              </a:rPr>
              <a:t>sks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spc="-105" dirty="0">
                <a:latin typeface="Arial MT"/>
                <a:cs typeface="Arial MT"/>
              </a:rPr>
              <a:t>,</a:t>
            </a:r>
            <a:r>
              <a:rPr sz="2000" spc="-114" dirty="0">
                <a:latin typeface="Arial MT"/>
                <a:cs typeface="Arial MT"/>
              </a:rPr>
              <a:t> </a:t>
            </a:r>
            <a:r>
              <a:rPr sz="2000" spc="-265" dirty="0">
                <a:latin typeface="Arial MT"/>
                <a:cs typeface="Arial MT"/>
              </a:rPr>
              <a:t>CD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spc="-275" dirty="0">
                <a:latin typeface="Arial MT"/>
                <a:cs typeface="Arial MT"/>
              </a:rPr>
              <a:t>RO</a:t>
            </a:r>
            <a:r>
              <a:rPr sz="2000" spc="-310" dirty="0">
                <a:latin typeface="Arial MT"/>
                <a:cs typeface="Arial MT"/>
              </a:rPr>
              <a:t>M</a:t>
            </a:r>
            <a:r>
              <a:rPr sz="2000" spc="-185" dirty="0">
                <a:latin typeface="Arial MT"/>
                <a:cs typeface="Arial MT"/>
              </a:rPr>
              <a:t>s</a:t>
            </a:r>
            <a:r>
              <a:rPr sz="2000" spc="-105" dirty="0">
                <a:latin typeface="Arial MT"/>
                <a:cs typeface="Arial MT"/>
              </a:rPr>
              <a:t>,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spc="-145" dirty="0">
                <a:latin typeface="Arial MT"/>
                <a:cs typeface="Arial MT"/>
              </a:rPr>
              <a:t>etc.)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CCFFCC"/>
              </a:buClr>
              <a:buFont typeface="Wingdings"/>
              <a:buChar char=""/>
            </a:pPr>
            <a:endParaRPr sz="2800">
              <a:latin typeface="Arial MT"/>
              <a:cs typeface="Arial MT"/>
            </a:endParaRPr>
          </a:p>
          <a:p>
            <a:pPr marL="412115" marR="41910">
              <a:lnSpc>
                <a:spcPts val="2590"/>
              </a:lnSpc>
            </a:pPr>
            <a:r>
              <a:rPr sz="2400" spc="-254" dirty="0">
                <a:latin typeface="Arial MT"/>
                <a:cs typeface="Arial MT"/>
              </a:rPr>
              <a:t>The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210" dirty="0">
                <a:latin typeface="Arial MT"/>
                <a:cs typeface="Arial MT"/>
              </a:rPr>
              <a:t>simple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220" dirty="0">
                <a:latin typeface="Arial MT"/>
                <a:cs typeface="Arial MT"/>
              </a:rPr>
              <a:t>view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85" dirty="0">
                <a:latin typeface="Arial MT"/>
                <a:cs typeface="Arial MT"/>
              </a:rPr>
              <a:t>of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325" dirty="0">
                <a:latin typeface="Arial MT"/>
                <a:cs typeface="Arial MT"/>
              </a:rPr>
              <a:t>RAM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160" dirty="0">
                <a:latin typeface="Arial MT"/>
                <a:cs typeface="Arial MT"/>
              </a:rPr>
              <a:t>is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185" dirty="0">
                <a:latin typeface="Arial MT"/>
                <a:cs typeface="Arial MT"/>
              </a:rPr>
              <a:t>that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110" dirty="0">
                <a:latin typeface="Arial MT"/>
                <a:cs typeface="Arial MT"/>
              </a:rPr>
              <a:t>it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160" dirty="0">
                <a:latin typeface="Arial MT"/>
                <a:cs typeface="Arial MT"/>
              </a:rPr>
              <a:t>is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275" dirty="0">
                <a:latin typeface="Arial MT"/>
                <a:cs typeface="Arial MT"/>
              </a:rPr>
              <a:t>made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245" dirty="0">
                <a:latin typeface="Arial MT"/>
                <a:cs typeface="Arial MT"/>
              </a:rPr>
              <a:t>up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85" dirty="0">
                <a:latin typeface="Arial MT"/>
                <a:cs typeface="Arial MT"/>
              </a:rPr>
              <a:t>of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u="heavy" spc="-190" dirty="0">
                <a:solidFill>
                  <a:srgbClr val="A50021"/>
                </a:solidFill>
                <a:uFill>
                  <a:solidFill>
                    <a:srgbClr val="A50021"/>
                  </a:solidFill>
                </a:uFill>
                <a:latin typeface="Arial MT"/>
                <a:cs typeface="Arial MT"/>
              </a:rPr>
              <a:t>registers</a:t>
            </a:r>
            <a:r>
              <a:rPr sz="2400" spc="-90" dirty="0">
                <a:solidFill>
                  <a:srgbClr val="A50021"/>
                </a:solidFill>
                <a:latin typeface="Arial MT"/>
                <a:cs typeface="Arial MT"/>
              </a:rPr>
              <a:t> </a:t>
            </a:r>
            <a:r>
              <a:rPr sz="2400" spc="-185" dirty="0">
                <a:latin typeface="Arial MT"/>
                <a:cs typeface="Arial MT"/>
              </a:rPr>
              <a:t>that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200" dirty="0">
                <a:latin typeface="Arial MT"/>
                <a:cs typeface="Arial MT"/>
              </a:rPr>
              <a:t>ar</a:t>
            </a:r>
            <a:r>
              <a:rPr sz="2400" spc="-245" dirty="0">
                <a:latin typeface="Arial MT"/>
                <a:cs typeface="Arial MT"/>
              </a:rPr>
              <a:t>e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290" dirty="0">
                <a:latin typeface="Arial MT"/>
                <a:cs typeface="Arial MT"/>
              </a:rPr>
              <a:t>mad</a:t>
            </a:r>
            <a:r>
              <a:rPr sz="2400" spc="-245" dirty="0">
                <a:latin typeface="Arial MT"/>
                <a:cs typeface="Arial MT"/>
              </a:rPr>
              <a:t>e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250" dirty="0">
                <a:latin typeface="Arial MT"/>
                <a:cs typeface="Arial MT"/>
              </a:rPr>
              <a:t>u</a:t>
            </a:r>
            <a:r>
              <a:rPr sz="2400" spc="-245" dirty="0">
                <a:latin typeface="Arial MT"/>
                <a:cs typeface="Arial MT"/>
              </a:rPr>
              <a:t>p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245" dirty="0">
                <a:latin typeface="Arial MT"/>
                <a:cs typeface="Arial MT"/>
              </a:rPr>
              <a:t>o</a:t>
            </a:r>
            <a:r>
              <a:rPr sz="2400" spc="-120" dirty="0">
                <a:latin typeface="Arial MT"/>
                <a:cs typeface="Arial MT"/>
              </a:rPr>
              <a:t>f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125" dirty="0">
                <a:latin typeface="Arial MT"/>
                <a:cs typeface="Arial MT"/>
              </a:rPr>
              <a:t>f</a:t>
            </a:r>
            <a:r>
              <a:rPr sz="2400" spc="-100" dirty="0">
                <a:latin typeface="Arial MT"/>
                <a:cs typeface="Arial MT"/>
              </a:rPr>
              <a:t>li</a:t>
            </a:r>
            <a:r>
              <a:rPr sz="2400" spc="-250" dirty="0">
                <a:latin typeface="Arial MT"/>
                <a:cs typeface="Arial MT"/>
              </a:rPr>
              <a:t>p</a:t>
            </a:r>
            <a:r>
              <a:rPr sz="2400" spc="-140" dirty="0">
                <a:latin typeface="Arial MT"/>
                <a:cs typeface="Arial MT"/>
              </a:rPr>
              <a:t>-</a:t>
            </a:r>
            <a:r>
              <a:rPr sz="2400" spc="-125" dirty="0">
                <a:latin typeface="Arial MT"/>
                <a:cs typeface="Arial MT"/>
              </a:rPr>
              <a:t>f</a:t>
            </a:r>
            <a:r>
              <a:rPr sz="2400" spc="-170" dirty="0">
                <a:latin typeface="Arial MT"/>
                <a:cs typeface="Arial MT"/>
              </a:rPr>
              <a:t>lo</a:t>
            </a:r>
            <a:r>
              <a:rPr sz="2400" spc="-250" dirty="0">
                <a:latin typeface="Arial MT"/>
                <a:cs typeface="Arial MT"/>
              </a:rPr>
              <a:t>p</a:t>
            </a:r>
            <a:r>
              <a:rPr sz="2400" spc="-220" dirty="0">
                <a:latin typeface="Arial MT"/>
                <a:cs typeface="Arial MT"/>
              </a:rPr>
              <a:t>s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50" dirty="0">
                <a:latin typeface="Arial MT"/>
                <a:cs typeface="Arial MT"/>
              </a:rPr>
              <a:t>(</a:t>
            </a:r>
            <a:r>
              <a:rPr sz="2400" spc="-250" dirty="0">
                <a:latin typeface="Arial MT"/>
                <a:cs typeface="Arial MT"/>
              </a:rPr>
              <a:t>o</a:t>
            </a:r>
            <a:r>
              <a:rPr sz="2400" spc="-145" dirty="0">
                <a:latin typeface="Arial MT"/>
                <a:cs typeface="Arial MT"/>
              </a:rPr>
              <a:t>r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u="heavy" spc="-275" dirty="0">
                <a:solidFill>
                  <a:srgbClr val="A50021"/>
                </a:solidFill>
                <a:uFill>
                  <a:solidFill>
                    <a:srgbClr val="A50021"/>
                  </a:solidFill>
                </a:uFill>
                <a:latin typeface="Arial MT"/>
                <a:cs typeface="Arial MT"/>
              </a:rPr>
              <a:t>memor</a:t>
            </a:r>
            <a:r>
              <a:rPr sz="2400" u="heavy" spc="-220" dirty="0">
                <a:solidFill>
                  <a:srgbClr val="A50021"/>
                </a:solidFill>
                <a:uFill>
                  <a:solidFill>
                    <a:srgbClr val="A50021"/>
                  </a:solidFill>
                </a:uFill>
                <a:latin typeface="Arial MT"/>
                <a:cs typeface="Arial MT"/>
              </a:rPr>
              <a:t>y</a:t>
            </a:r>
            <a:r>
              <a:rPr sz="2400" u="heavy" spc="-105" dirty="0">
                <a:solidFill>
                  <a:srgbClr val="A50021"/>
                </a:solidFill>
                <a:uFill>
                  <a:solidFill>
                    <a:srgbClr val="A50021"/>
                  </a:solidFill>
                </a:uFill>
                <a:latin typeface="Arial MT"/>
                <a:cs typeface="Arial MT"/>
              </a:rPr>
              <a:t> </a:t>
            </a:r>
            <a:r>
              <a:rPr sz="2400" u="heavy" spc="-250" dirty="0">
                <a:solidFill>
                  <a:srgbClr val="A50021"/>
                </a:solidFill>
                <a:uFill>
                  <a:solidFill>
                    <a:srgbClr val="A50021"/>
                  </a:solidFill>
                </a:uFill>
                <a:latin typeface="Arial MT"/>
                <a:cs typeface="Arial MT"/>
              </a:rPr>
              <a:t>e</a:t>
            </a:r>
            <a:r>
              <a:rPr sz="2400" u="heavy" spc="-100" dirty="0">
                <a:solidFill>
                  <a:srgbClr val="A50021"/>
                </a:solidFill>
                <a:uFill>
                  <a:solidFill>
                    <a:srgbClr val="A50021"/>
                  </a:solidFill>
                </a:uFill>
                <a:latin typeface="Arial MT"/>
                <a:cs typeface="Arial MT"/>
              </a:rPr>
              <a:t>l</a:t>
            </a:r>
            <a:r>
              <a:rPr sz="2400" u="heavy" spc="-310" dirty="0">
                <a:solidFill>
                  <a:srgbClr val="A50021"/>
                </a:solidFill>
                <a:uFill>
                  <a:solidFill>
                    <a:srgbClr val="A50021"/>
                  </a:solidFill>
                </a:uFill>
                <a:latin typeface="Arial MT"/>
                <a:cs typeface="Arial MT"/>
              </a:rPr>
              <a:t>em</a:t>
            </a:r>
            <a:r>
              <a:rPr sz="2400" u="heavy" spc="-245" dirty="0">
                <a:solidFill>
                  <a:srgbClr val="A50021"/>
                </a:solidFill>
                <a:uFill>
                  <a:solidFill>
                    <a:srgbClr val="A50021"/>
                  </a:solidFill>
                </a:uFill>
                <a:latin typeface="Arial MT"/>
                <a:cs typeface="Arial MT"/>
              </a:rPr>
              <a:t>en</a:t>
            </a:r>
            <a:r>
              <a:rPr sz="2400" u="heavy" spc="-125" dirty="0">
                <a:solidFill>
                  <a:srgbClr val="A50021"/>
                </a:solidFill>
                <a:uFill>
                  <a:solidFill>
                    <a:srgbClr val="A50021"/>
                  </a:solidFill>
                </a:uFill>
                <a:latin typeface="Arial MT"/>
                <a:cs typeface="Arial MT"/>
              </a:rPr>
              <a:t>t</a:t>
            </a:r>
            <a:r>
              <a:rPr sz="2400" u="heavy" spc="-215" dirty="0">
                <a:solidFill>
                  <a:srgbClr val="A50021"/>
                </a:solidFill>
                <a:uFill>
                  <a:solidFill>
                    <a:srgbClr val="A50021"/>
                  </a:solidFill>
                </a:uFill>
                <a:latin typeface="Arial MT"/>
                <a:cs typeface="Arial MT"/>
              </a:rPr>
              <a:t>s</a:t>
            </a:r>
            <a:r>
              <a:rPr sz="2400" spc="-150" dirty="0">
                <a:latin typeface="Arial MT"/>
                <a:cs typeface="Arial MT"/>
              </a:rPr>
              <a:t>)</a:t>
            </a:r>
            <a:r>
              <a:rPr sz="2400" spc="-120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 marL="812165" marR="5080" indent="-228600">
              <a:lnSpc>
                <a:spcPts val="2160"/>
              </a:lnSpc>
              <a:spcBef>
                <a:spcPts val="484"/>
              </a:spcBef>
              <a:buClr>
                <a:srgbClr val="CCFFCC"/>
              </a:buClr>
              <a:buSzPct val="60000"/>
              <a:buFont typeface="Wingdings"/>
              <a:buChar char=""/>
              <a:tabLst>
                <a:tab pos="812800" algn="l"/>
              </a:tabLst>
            </a:pPr>
            <a:r>
              <a:rPr sz="2000" spc="-210" dirty="0">
                <a:latin typeface="Arial MT"/>
                <a:cs typeface="Arial MT"/>
              </a:rPr>
              <a:t>The</a:t>
            </a:r>
            <a:r>
              <a:rPr sz="2000" spc="-114" dirty="0">
                <a:latin typeface="Arial MT"/>
                <a:cs typeface="Arial MT"/>
              </a:rPr>
              <a:t> </a:t>
            </a:r>
            <a:r>
              <a:rPr sz="2000" spc="-210" dirty="0">
                <a:latin typeface="Arial MT"/>
                <a:cs typeface="Arial MT"/>
              </a:rPr>
              <a:t>number</a:t>
            </a:r>
            <a:r>
              <a:rPr sz="2000" spc="-100" dirty="0">
                <a:latin typeface="Arial MT"/>
                <a:cs typeface="Arial MT"/>
              </a:rPr>
              <a:t> </a:t>
            </a:r>
            <a:r>
              <a:rPr sz="2000" spc="-155" dirty="0">
                <a:latin typeface="Arial MT"/>
                <a:cs typeface="Arial MT"/>
              </a:rPr>
              <a:t>of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spc="-135" dirty="0">
                <a:latin typeface="Arial MT"/>
                <a:cs typeface="Arial MT"/>
              </a:rPr>
              <a:t>flip-flops</a:t>
            </a:r>
            <a:r>
              <a:rPr sz="2000" spc="-114" dirty="0">
                <a:latin typeface="Arial MT"/>
                <a:cs typeface="Arial MT"/>
              </a:rPr>
              <a:t> </a:t>
            </a:r>
            <a:r>
              <a:rPr sz="2000" spc="-145" dirty="0">
                <a:latin typeface="Arial MT"/>
                <a:cs typeface="Arial MT"/>
              </a:rPr>
              <a:t>in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spc="-204" dirty="0">
                <a:latin typeface="Arial MT"/>
                <a:cs typeface="Arial MT"/>
              </a:rPr>
              <a:t>a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spc="-210" dirty="0">
                <a:latin typeface="Arial MT"/>
                <a:cs typeface="Arial MT"/>
              </a:rPr>
              <a:t>“memory</a:t>
            </a:r>
            <a:r>
              <a:rPr sz="2000" spc="-90" dirty="0">
                <a:latin typeface="Arial MT"/>
                <a:cs typeface="Arial MT"/>
              </a:rPr>
              <a:t> </a:t>
            </a:r>
            <a:r>
              <a:rPr sz="2000" spc="-150" dirty="0">
                <a:latin typeface="Arial MT"/>
                <a:cs typeface="Arial MT"/>
              </a:rPr>
              <a:t>register”</a:t>
            </a:r>
            <a:r>
              <a:rPr sz="2000" spc="-90" dirty="0">
                <a:latin typeface="Arial MT"/>
                <a:cs typeface="Arial MT"/>
              </a:rPr>
              <a:t> </a:t>
            </a:r>
            <a:r>
              <a:rPr sz="2000" spc="-180" dirty="0">
                <a:latin typeface="Arial MT"/>
                <a:cs typeface="Arial MT"/>
              </a:rPr>
              <a:t>determines</a:t>
            </a:r>
            <a:r>
              <a:rPr sz="2000" spc="-100" dirty="0">
                <a:latin typeface="Arial MT"/>
                <a:cs typeface="Arial MT"/>
              </a:rPr>
              <a:t> </a:t>
            </a:r>
            <a:r>
              <a:rPr sz="2000" spc="-170" dirty="0">
                <a:latin typeface="Arial MT"/>
                <a:cs typeface="Arial MT"/>
              </a:rPr>
              <a:t>the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spc="-165" dirty="0">
                <a:latin typeface="Arial MT"/>
                <a:cs typeface="Arial MT"/>
              </a:rPr>
              <a:t>size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spc="-155" dirty="0">
                <a:latin typeface="Arial MT"/>
                <a:cs typeface="Arial MT"/>
              </a:rPr>
              <a:t>of </a:t>
            </a:r>
            <a:r>
              <a:rPr sz="2000" spc="-540" dirty="0">
                <a:latin typeface="Arial MT"/>
                <a:cs typeface="Arial MT"/>
              </a:rPr>
              <a:t> </a:t>
            </a:r>
            <a:r>
              <a:rPr sz="2000" spc="-170" dirty="0">
                <a:latin typeface="Arial MT"/>
                <a:cs typeface="Arial MT"/>
              </a:rPr>
              <a:t>the</a:t>
            </a:r>
            <a:r>
              <a:rPr sz="2000" spc="-120" dirty="0">
                <a:latin typeface="Arial MT"/>
                <a:cs typeface="Arial MT"/>
              </a:rPr>
              <a:t> </a:t>
            </a:r>
            <a:r>
              <a:rPr sz="2000" u="heavy" spc="-310" dirty="0">
                <a:solidFill>
                  <a:srgbClr val="A50021"/>
                </a:solidFill>
                <a:uFill>
                  <a:solidFill>
                    <a:srgbClr val="A50021"/>
                  </a:solidFill>
                </a:uFill>
                <a:latin typeface="Arial MT"/>
                <a:cs typeface="Arial MT"/>
              </a:rPr>
              <a:t>m</a:t>
            </a:r>
            <a:r>
              <a:rPr sz="2000" u="heavy" spc="-204" dirty="0">
                <a:solidFill>
                  <a:srgbClr val="A50021"/>
                </a:solidFill>
                <a:uFill>
                  <a:solidFill>
                    <a:srgbClr val="A50021"/>
                  </a:solidFill>
                </a:uFill>
                <a:latin typeface="Arial MT"/>
                <a:cs typeface="Arial MT"/>
              </a:rPr>
              <a:t>e</a:t>
            </a:r>
            <a:r>
              <a:rPr sz="2000" u="heavy" spc="-310" dirty="0">
                <a:solidFill>
                  <a:srgbClr val="A50021"/>
                </a:solidFill>
                <a:uFill>
                  <a:solidFill>
                    <a:srgbClr val="A50021"/>
                  </a:solidFill>
                </a:uFill>
                <a:latin typeface="Arial MT"/>
                <a:cs typeface="Arial MT"/>
              </a:rPr>
              <a:t>m</a:t>
            </a:r>
            <a:r>
              <a:rPr sz="2000" u="heavy" spc="-170" dirty="0">
                <a:solidFill>
                  <a:srgbClr val="A50021"/>
                </a:solidFill>
                <a:uFill>
                  <a:solidFill>
                    <a:srgbClr val="A50021"/>
                  </a:solidFill>
                </a:uFill>
                <a:latin typeface="Arial MT"/>
                <a:cs typeface="Arial MT"/>
              </a:rPr>
              <a:t>ory</a:t>
            </a:r>
            <a:r>
              <a:rPr sz="2000" u="heavy" spc="-95" dirty="0">
                <a:solidFill>
                  <a:srgbClr val="A50021"/>
                </a:solidFill>
                <a:uFill>
                  <a:solidFill>
                    <a:srgbClr val="A50021"/>
                  </a:solidFill>
                </a:uFill>
                <a:latin typeface="Arial MT"/>
                <a:cs typeface="Arial MT"/>
              </a:rPr>
              <a:t> </a:t>
            </a:r>
            <a:r>
              <a:rPr sz="2000" u="heavy" spc="-200" dirty="0">
                <a:solidFill>
                  <a:srgbClr val="A50021"/>
                </a:solidFill>
                <a:uFill>
                  <a:solidFill>
                    <a:srgbClr val="A50021"/>
                  </a:solidFill>
                </a:uFill>
                <a:latin typeface="Arial MT"/>
                <a:cs typeface="Arial MT"/>
              </a:rPr>
              <a:t>word</a:t>
            </a:r>
            <a:r>
              <a:rPr sz="2000" spc="-105" dirty="0">
                <a:latin typeface="Arial MT"/>
                <a:cs typeface="Arial MT"/>
              </a:rPr>
              <a:t>.</a:t>
            </a:r>
            <a:endParaRPr sz="2000">
              <a:latin typeface="Arial MT"/>
              <a:cs typeface="Arial MT"/>
            </a:endParaRPr>
          </a:p>
          <a:p>
            <a:pPr marL="412750" marR="160655">
              <a:lnSpc>
                <a:spcPts val="2590"/>
              </a:lnSpc>
              <a:spcBef>
                <a:spcPts val="575"/>
              </a:spcBef>
            </a:pPr>
            <a:r>
              <a:rPr sz="2400" spc="-340" dirty="0">
                <a:latin typeface="Arial MT"/>
                <a:cs typeface="Arial MT"/>
              </a:rPr>
              <a:t>ROM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spc="-245" dirty="0">
                <a:latin typeface="Arial MT"/>
                <a:cs typeface="Arial MT"/>
              </a:rPr>
              <a:t>on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204" dirty="0">
                <a:latin typeface="Arial MT"/>
                <a:cs typeface="Arial MT"/>
              </a:rPr>
              <a:t>the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204" dirty="0">
                <a:latin typeface="Arial MT"/>
                <a:cs typeface="Arial MT"/>
              </a:rPr>
              <a:t>other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245" dirty="0">
                <a:latin typeface="Arial MT"/>
                <a:cs typeface="Arial MT"/>
              </a:rPr>
              <a:t>hand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235" dirty="0">
                <a:latin typeface="Arial MT"/>
                <a:cs typeface="Arial MT"/>
              </a:rPr>
              <a:t>uses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u="heavy" spc="-215" dirty="0">
                <a:solidFill>
                  <a:srgbClr val="A50021"/>
                </a:solidFill>
                <a:uFill>
                  <a:solidFill>
                    <a:srgbClr val="A50021"/>
                  </a:solidFill>
                </a:uFill>
                <a:latin typeface="Arial MT"/>
                <a:cs typeface="Arial MT"/>
              </a:rPr>
              <a:t>diodes</a:t>
            </a:r>
            <a:r>
              <a:rPr sz="2400" spc="-95" dirty="0">
                <a:solidFill>
                  <a:srgbClr val="A50021"/>
                </a:solidFill>
                <a:latin typeface="Arial MT"/>
                <a:cs typeface="Arial MT"/>
              </a:rPr>
              <a:t> </a:t>
            </a:r>
            <a:r>
              <a:rPr sz="2400" spc="-200" dirty="0">
                <a:latin typeface="Arial MT"/>
                <a:cs typeface="Arial MT"/>
              </a:rPr>
              <a:t>instead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85" dirty="0">
                <a:latin typeface="Arial MT"/>
                <a:cs typeface="Arial MT"/>
              </a:rPr>
              <a:t>of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204" dirty="0">
                <a:latin typeface="Arial MT"/>
                <a:cs typeface="Arial MT"/>
              </a:rPr>
              <a:t>the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65" dirty="0">
                <a:latin typeface="Arial MT"/>
                <a:cs typeface="Arial MT"/>
              </a:rPr>
              <a:t>flip-flops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125" dirty="0">
                <a:latin typeface="Arial MT"/>
                <a:cs typeface="Arial MT"/>
              </a:rPr>
              <a:t>t</a:t>
            </a:r>
            <a:r>
              <a:rPr sz="2400" spc="-240" dirty="0">
                <a:latin typeface="Arial MT"/>
                <a:cs typeface="Arial MT"/>
              </a:rPr>
              <a:t>o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u="heavy" spc="-250" dirty="0">
                <a:solidFill>
                  <a:srgbClr val="A50021"/>
                </a:solidFill>
                <a:uFill>
                  <a:solidFill>
                    <a:srgbClr val="A50021"/>
                  </a:solidFill>
                </a:uFill>
                <a:latin typeface="Arial MT"/>
                <a:cs typeface="Arial MT"/>
              </a:rPr>
              <a:t>perma</a:t>
            </a:r>
            <a:r>
              <a:rPr sz="2400" u="heavy" spc="-245" dirty="0">
                <a:solidFill>
                  <a:srgbClr val="A50021"/>
                </a:solidFill>
                <a:uFill>
                  <a:solidFill>
                    <a:srgbClr val="A50021"/>
                  </a:solidFill>
                </a:uFill>
                <a:latin typeface="Arial MT"/>
                <a:cs typeface="Arial MT"/>
              </a:rPr>
              <a:t>n</a:t>
            </a:r>
            <a:r>
              <a:rPr sz="2400" u="heavy" spc="-240" dirty="0">
                <a:solidFill>
                  <a:srgbClr val="A50021"/>
                </a:solidFill>
                <a:uFill>
                  <a:solidFill>
                    <a:srgbClr val="A50021"/>
                  </a:solidFill>
                </a:uFill>
                <a:latin typeface="Arial MT"/>
                <a:cs typeface="Arial MT"/>
              </a:rPr>
              <a:t>e</a:t>
            </a:r>
            <a:r>
              <a:rPr sz="2400" u="heavy" spc="-245" dirty="0">
                <a:solidFill>
                  <a:srgbClr val="A50021"/>
                </a:solidFill>
                <a:uFill>
                  <a:solidFill>
                    <a:srgbClr val="A50021"/>
                  </a:solidFill>
                </a:uFill>
                <a:latin typeface="Arial MT"/>
                <a:cs typeface="Arial MT"/>
              </a:rPr>
              <a:t>n</a:t>
            </a:r>
            <a:r>
              <a:rPr sz="2400" u="heavy" spc="-130" dirty="0">
                <a:solidFill>
                  <a:srgbClr val="A50021"/>
                </a:solidFill>
                <a:uFill>
                  <a:solidFill>
                    <a:srgbClr val="A50021"/>
                  </a:solidFill>
                </a:uFill>
                <a:latin typeface="Arial MT"/>
                <a:cs typeface="Arial MT"/>
              </a:rPr>
              <a:t>t</a:t>
            </a:r>
            <a:r>
              <a:rPr sz="2400" u="heavy" spc="-160" dirty="0">
                <a:solidFill>
                  <a:srgbClr val="A50021"/>
                </a:solidFill>
                <a:uFill>
                  <a:solidFill>
                    <a:srgbClr val="A50021"/>
                  </a:solidFill>
                </a:uFill>
                <a:latin typeface="Arial MT"/>
                <a:cs typeface="Arial MT"/>
              </a:rPr>
              <a:t>ly</a:t>
            </a:r>
            <a:r>
              <a:rPr sz="2400" spc="-90" dirty="0">
                <a:solidFill>
                  <a:srgbClr val="A50021"/>
                </a:solidFill>
                <a:latin typeface="Arial MT"/>
                <a:cs typeface="Arial MT"/>
              </a:rPr>
              <a:t> </a:t>
            </a:r>
            <a:r>
              <a:rPr sz="2400" spc="-250" dirty="0">
                <a:latin typeface="Arial MT"/>
                <a:cs typeface="Arial MT"/>
              </a:rPr>
              <a:t>ho</a:t>
            </a:r>
            <a:r>
              <a:rPr sz="2400" spc="-100" dirty="0">
                <a:latin typeface="Arial MT"/>
                <a:cs typeface="Arial MT"/>
              </a:rPr>
              <a:t>l</a:t>
            </a:r>
            <a:r>
              <a:rPr sz="2400" spc="-245" dirty="0">
                <a:latin typeface="Arial MT"/>
                <a:cs typeface="Arial MT"/>
              </a:rPr>
              <a:t>d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90" dirty="0">
                <a:latin typeface="Arial MT"/>
                <a:cs typeface="Arial MT"/>
              </a:rPr>
              <a:t>th</a:t>
            </a:r>
            <a:r>
              <a:rPr sz="2400" spc="-245" dirty="0">
                <a:latin typeface="Arial MT"/>
                <a:cs typeface="Arial MT"/>
              </a:rPr>
              <a:t>e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00" dirty="0">
                <a:latin typeface="Arial MT"/>
                <a:cs typeface="Arial MT"/>
              </a:rPr>
              <a:t>i</a:t>
            </a:r>
            <a:r>
              <a:rPr sz="2400" spc="-229" dirty="0">
                <a:latin typeface="Arial MT"/>
                <a:cs typeface="Arial MT"/>
              </a:rPr>
              <a:t>nform</a:t>
            </a:r>
            <a:r>
              <a:rPr sz="2400" spc="-245" dirty="0">
                <a:latin typeface="Arial MT"/>
                <a:cs typeface="Arial MT"/>
              </a:rPr>
              <a:t>a</a:t>
            </a:r>
            <a:r>
              <a:rPr sz="2400" spc="-125" dirty="0">
                <a:latin typeface="Arial MT"/>
                <a:cs typeface="Arial MT"/>
              </a:rPr>
              <a:t>t</a:t>
            </a:r>
            <a:r>
              <a:rPr sz="2400" spc="-95" dirty="0">
                <a:latin typeface="Arial MT"/>
                <a:cs typeface="Arial MT"/>
              </a:rPr>
              <a:t>i</a:t>
            </a:r>
            <a:r>
              <a:rPr sz="2400" spc="-245" dirty="0">
                <a:latin typeface="Arial MT"/>
                <a:cs typeface="Arial MT"/>
              </a:rPr>
              <a:t>on</a:t>
            </a:r>
            <a:r>
              <a:rPr sz="2400" spc="-120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37981" y="6564531"/>
            <a:ext cx="16510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r>
              <a:rPr sz="1400" spc="-5" dirty="0">
                <a:solidFill>
                  <a:srgbClr val="EBEBEB"/>
                </a:solidFill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6350" y="0"/>
            <a:ext cx="9156700" cy="6870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515938" cy="68579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64540" y="1010665"/>
            <a:ext cx="680275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30" dirty="0">
                <a:solidFill>
                  <a:srgbClr val="FFFFCC"/>
                </a:solidFill>
                <a:latin typeface="Arial MT"/>
                <a:cs typeface="Arial MT"/>
              </a:rPr>
              <a:t>Access</a:t>
            </a:r>
            <a:r>
              <a:rPr spc="-180" dirty="0">
                <a:solidFill>
                  <a:srgbClr val="FFFFCC"/>
                </a:solidFill>
                <a:latin typeface="Arial MT"/>
                <a:cs typeface="Arial MT"/>
              </a:rPr>
              <a:t>i</a:t>
            </a:r>
            <a:r>
              <a:rPr spc="-445" dirty="0">
                <a:solidFill>
                  <a:srgbClr val="FFFFCC"/>
                </a:solidFill>
                <a:latin typeface="Arial MT"/>
                <a:cs typeface="Arial MT"/>
              </a:rPr>
              <a:t>ng</a:t>
            </a:r>
            <a:r>
              <a:rPr spc="-229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345" dirty="0">
                <a:solidFill>
                  <a:srgbClr val="FFFFCC"/>
                </a:solidFill>
                <a:latin typeface="Arial MT"/>
                <a:cs typeface="Arial MT"/>
              </a:rPr>
              <a:t>Informati</a:t>
            </a:r>
            <a:r>
              <a:rPr spc="-445" dirty="0">
                <a:solidFill>
                  <a:srgbClr val="FFFFCC"/>
                </a:solidFill>
                <a:latin typeface="Arial MT"/>
                <a:cs typeface="Arial MT"/>
              </a:rPr>
              <a:t>on</a:t>
            </a:r>
            <a:r>
              <a:rPr spc="-204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180" dirty="0">
                <a:solidFill>
                  <a:srgbClr val="FFFFCC"/>
                </a:solidFill>
                <a:latin typeface="Arial MT"/>
                <a:cs typeface="Arial MT"/>
              </a:rPr>
              <a:t>i</a:t>
            </a:r>
            <a:r>
              <a:rPr spc="-445" dirty="0">
                <a:solidFill>
                  <a:srgbClr val="FFFFCC"/>
                </a:solidFill>
                <a:latin typeface="Arial MT"/>
                <a:cs typeface="Arial MT"/>
              </a:rPr>
              <a:t>n</a:t>
            </a:r>
            <a:r>
              <a:rPr spc="-220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480" dirty="0">
                <a:solidFill>
                  <a:srgbClr val="FFFFCC"/>
                </a:solidFill>
                <a:latin typeface="Arial MT"/>
                <a:cs typeface="Arial MT"/>
              </a:rPr>
              <a:t>Memory</a:t>
            </a: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7239" y="2197608"/>
            <a:ext cx="215645" cy="22707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33677" y="3737609"/>
            <a:ext cx="177545" cy="18668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33677" y="4676394"/>
            <a:ext cx="177545" cy="18668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33677" y="5615178"/>
            <a:ext cx="177545" cy="18668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07439" y="2005075"/>
            <a:ext cx="6972934" cy="38792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3200" spc="-290" dirty="0">
                <a:latin typeface="Arial MT"/>
                <a:cs typeface="Arial MT"/>
              </a:rPr>
              <a:t>For</a:t>
            </a:r>
            <a:r>
              <a:rPr sz="3200" spc="-170" dirty="0">
                <a:latin typeface="Arial MT"/>
                <a:cs typeface="Arial MT"/>
              </a:rPr>
              <a:t> </a:t>
            </a:r>
            <a:r>
              <a:rPr sz="3200" spc="-160" dirty="0">
                <a:latin typeface="Arial MT"/>
                <a:cs typeface="Arial MT"/>
              </a:rPr>
              <a:t>t</a:t>
            </a:r>
            <a:r>
              <a:rPr sz="3200" spc="-325" dirty="0">
                <a:latin typeface="Arial MT"/>
                <a:cs typeface="Arial MT"/>
              </a:rPr>
              <a:t>he</a:t>
            </a:r>
            <a:r>
              <a:rPr sz="3200" spc="-165" dirty="0">
                <a:latin typeface="Arial MT"/>
                <a:cs typeface="Arial MT"/>
              </a:rPr>
              <a:t> </a:t>
            </a:r>
            <a:r>
              <a:rPr sz="3200" spc="-300" dirty="0">
                <a:latin typeface="Arial MT"/>
                <a:cs typeface="Arial MT"/>
              </a:rPr>
              <a:t>mic</a:t>
            </a:r>
            <a:r>
              <a:rPr sz="3200" spc="-200" dirty="0">
                <a:latin typeface="Arial MT"/>
                <a:cs typeface="Arial MT"/>
              </a:rPr>
              <a:t>r</a:t>
            </a:r>
            <a:r>
              <a:rPr sz="3200" spc="-325" dirty="0">
                <a:latin typeface="Arial MT"/>
                <a:cs typeface="Arial MT"/>
              </a:rPr>
              <a:t>o</a:t>
            </a:r>
            <a:r>
              <a:rPr sz="3200" spc="-320" dirty="0">
                <a:latin typeface="Arial MT"/>
                <a:cs typeface="Arial MT"/>
              </a:rPr>
              <a:t>p</a:t>
            </a:r>
            <a:r>
              <a:rPr sz="3200" spc="-200" dirty="0">
                <a:latin typeface="Arial MT"/>
                <a:cs typeface="Arial MT"/>
              </a:rPr>
              <a:t>r</a:t>
            </a:r>
            <a:r>
              <a:rPr sz="3200" spc="-325" dirty="0">
                <a:latin typeface="Arial MT"/>
                <a:cs typeface="Arial MT"/>
              </a:rPr>
              <a:t>o</a:t>
            </a:r>
            <a:r>
              <a:rPr sz="3200" spc="-285" dirty="0">
                <a:latin typeface="Arial MT"/>
                <a:cs typeface="Arial MT"/>
              </a:rPr>
              <a:t>c</a:t>
            </a:r>
            <a:r>
              <a:rPr sz="3200" spc="-300" dirty="0">
                <a:latin typeface="Arial MT"/>
                <a:cs typeface="Arial MT"/>
              </a:rPr>
              <a:t>ess</a:t>
            </a:r>
            <a:r>
              <a:rPr sz="3200" spc="-320" dirty="0">
                <a:latin typeface="Arial MT"/>
                <a:cs typeface="Arial MT"/>
              </a:rPr>
              <a:t>o</a:t>
            </a:r>
            <a:r>
              <a:rPr sz="3200" spc="-195" dirty="0">
                <a:latin typeface="Arial MT"/>
                <a:cs typeface="Arial MT"/>
              </a:rPr>
              <a:t>r</a:t>
            </a:r>
            <a:r>
              <a:rPr sz="3200" spc="-145" dirty="0">
                <a:latin typeface="Arial MT"/>
                <a:cs typeface="Arial MT"/>
              </a:rPr>
              <a:t> </a:t>
            </a:r>
            <a:r>
              <a:rPr sz="3200" spc="-160" dirty="0">
                <a:latin typeface="Arial MT"/>
                <a:cs typeface="Arial MT"/>
              </a:rPr>
              <a:t>t</a:t>
            </a:r>
            <a:r>
              <a:rPr sz="3200" spc="-325" dirty="0">
                <a:latin typeface="Arial MT"/>
                <a:cs typeface="Arial MT"/>
              </a:rPr>
              <a:t>o</a:t>
            </a:r>
            <a:r>
              <a:rPr sz="3200" spc="-170" dirty="0">
                <a:latin typeface="Arial MT"/>
                <a:cs typeface="Arial MT"/>
              </a:rPr>
              <a:t> </a:t>
            </a:r>
            <a:r>
              <a:rPr sz="3200" spc="-300" dirty="0">
                <a:latin typeface="Arial MT"/>
                <a:cs typeface="Arial MT"/>
              </a:rPr>
              <a:t>access</a:t>
            </a:r>
            <a:r>
              <a:rPr sz="3200" spc="-155" dirty="0">
                <a:latin typeface="Arial MT"/>
                <a:cs typeface="Arial MT"/>
              </a:rPr>
              <a:t> </a:t>
            </a:r>
            <a:r>
              <a:rPr sz="3200" spc="-315" dirty="0">
                <a:latin typeface="Arial MT"/>
                <a:cs typeface="Arial MT"/>
              </a:rPr>
              <a:t>(R</a:t>
            </a:r>
            <a:r>
              <a:rPr sz="3200" spc="-325" dirty="0">
                <a:latin typeface="Arial MT"/>
                <a:cs typeface="Arial MT"/>
              </a:rPr>
              <a:t>ead</a:t>
            </a:r>
            <a:r>
              <a:rPr sz="3200" spc="-145" dirty="0">
                <a:latin typeface="Arial MT"/>
                <a:cs typeface="Arial MT"/>
              </a:rPr>
              <a:t> </a:t>
            </a:r>
            <a:r>
              <a:rPr sz="3200" spc="-210" dirty="0">
                <a:latin typeface="Arial MT"/>
                <a:cs typeface="Arial MT"/>
              </a:rPr>
              <a:t>or  </a:t>
            </a:r>
            <a:r>
              <a:rPr sz="3200" spc="-260" dirty="0">
                <a:latin typeface="Arial MT"/>
                <a:cs typeface="Arial MT"/>
              </a:rPr>
              <a:t>Write) </a:t>
            </a:r>
            <a:r>
              <a:rPr sz="3200" spc="-265" dirty="0">
                <a:latin typeface="Arial MT"/>
                <a:cs typeface="Arial MT"/>
              </a:rPr>
              <a:t>information </a:t>
            </a:r>
            <a:r>
              <a:rPr sz="3200" spc="-229" dirty="0">
                <a:latin typeface="Arial MT"/>
                <a:cs typeface="Arial MT"/>
              </a:rPr>
              <a:t>in </a:t>
            </a:r>
            <a:r>
              <a:rPr sz="3200" spc="-350" dirty="0">
                <a:latin typeface="Arial MT"/>
                <a:cs typeface="Arial MT"/>
              </a:rPr>
              <a:t>memory</a:t>
            </a:r>
            <a:r>
              <a:rPr sz="3200" spc="-345" dirty="0">
                <a:latin typeface="Arial MT"/>
                <a:cs typeface="Arial MT"/>
              </a:rPr>
              <a:t> </a:t>
            </a:r>
            <a:r>
              <a:rPr sz="3200" spc="-375" dirty="0">
                <a:latin typeface="Arial MT"/>
                <a:cs typeface="Arial MT"/>
              </a:rPr>
              <a:t>(RAM</a:t>
            </a:r>
            <a:r>
              <a:rPr sz="3200" spc="-370" dirty="0">
                <a:latin typeface="Arial MT"/>
                <a:cs typeface="Arial MT"/>
              </a:rPr>
              <a:t> </a:t>
            </a:r>
            <a:r>
              <a:rPr sz="3200" spc="-260" dirty="0">
                <a:latin typeface="Arial MT"/>
                <a:cs typeface="Arial MT"/>
              </a:rPr>
              <a:t>or </a:t>
            </a:r>
            <a:r>
              <a:rPr sz="3200" spc="-345" dirty="0">
                <a:latin typeface="Arial MT"/>
                <a:cs typeface="Arial MT"/>
              </a:rPr>
              <a:t>ROM), </a:t>
            </a:r>
            <a:r>
              <a:rPr sz="3200" spc="-145" dirty="0">
                <a:latin typeface="Arial MT"/>
                <a:cs typeface="Arial MT"/>
              </a:rPr>
              <a:t>it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spc="-315" dirty="0">
                <a:latin typeface="Arial MT"/>
                <a:cs typeface="Arial MT"/>
              </a:rPr>
              <a:t>needs</a:t>
            </a:r>
            <a:r>
              <a:rPr sz="3200" spc="-150" dirty="0">
                <a:latin typeface="Arial MT"/>
                <a:cs typeface="Arial MT"/>
              </a:rPr>
              <a:t> </a:t>
            </a:r>
            <a:r>
              <a:rPr sz="3200" spc="-160" dirty="0">
                <a:latin typeface="Arial MT"/>
                <a:cs typeface="Arial MT"/>
              </a:rPr>
              <a:t>t</a:t>
            </a:r>
            <a:r>
              <a:rPr sz="3200" spc="-325" dirty="0">
                <a:latin typeface="Arial MT"/>
                <a:cs typeface="Arial MT"/>
              </a:rPr>
              <a:t>o</a:t>
            </a:r>
            <a:r>
              <a:rPr sz="3200" spc="-170" dirty="0">
                <a:latin typeface="Arial MT"/>
                <a:cs typeface="Arial MT"/>
              </a:rPr>
              <a:t> </a:t>
            </a:r>
            <a:r>
              <a:rPr sz="3200" spc="-325" dirty="0">
                <a:latin typeface="Arial MT"/>
                <a:cs typeface="Arial MT"/>
              </a:rPr>
              <a:t>do</a:t>
            </a:r>
            <a:r>
              <a:rPr sz="3200" spc="-160" dirty="0">
                <a:latin typeface="Arial MT"/>
                <a:cs typeface="Arial MT"/>
              </a:rPr>
              <a:t> t</a:t>
            </a:r>
            <a:r>
              <a:rPr sz="3200" spc="-325" dirty="0">
                <a:latin typeface="Arial MT"/>
                <a:cs typeface="Arial MT"/>
              </a:rPr>
              <a:t>he</a:t>
            </a:r>
            <a:r>
              <a:rPr sz="3200" spc="-160" dirty="0">
                <a:latin typeface="Arial MT"/>
                <a:cs typeface="Arial MT"/>
              </a:rPr>
              <a:t> f</a:t>
            </a:r>
            <a:r>
              <a:rPr sz="3200" spc="-229" dirty="0">
                <a:latin typeface="Arial MT"/>
                <a:cs typeface="Arial MT"/>
              </a:rPr>
              <a:t>ollo</a:t>
            </a:r>
            <a:r>
              <a:rPr sz="3200" spc="-425" dirty="0">
                <a:latin typeface="Arial MT"/>
                <a:cs typeface="Arial MT"/>
              </a:rPr>
              <a:t>w</a:t>
            </a:r>
            <a:r>
              <a:rPr sz="3200" spc="-125" dirty="0">
                <a:latin typeface="Arial MT"/>
                <a:cs typeface="Arial MT"/>
              </a:rPr>
              <a:t>i</a:t>
            </a:r>
            <a:r>
              <a:rPr sz="3200" spc="-320" dirty="0">
                <a:latin typeface="Arial MT"/>
                <a:cs typeface="Arial MT"/>
              </a:rPr>
              <a:t>n</a:t>
            </a:r>
            <a:r>
              <a:rPr sz="3200" spc="-245" dirty="0">
                <a:latin typeface="Arial MT"/>
                <a:cs typeface="Arial MT"/>
              </a:rPr>
              <a:t>g:</a:t>
            </a:r>
            <a:endParaRPr sz="3200">
              <a:latin typeface="Arial MT"/>
              <a:cs typeface="Arial MT"/>
            </a:endParaRPr>
          </a:p>
          <a:p>
            <a:pPr marL="412750" marR="591185">
              <a:lnSpc>
                <a:spcPct val="100000"/>
              </a:lnSpc>
              <a:spcBef>
                <a:spcPts val="685"/>
              </a:spcBef>
            </a:pPr>
            <a:r>
              <a:rPr sz="2800" spc="-340" dirty="0">
                <a:latin typeface="Arial MT"/>
                <a:cs typeface="Arial MT"/>
              </a:rPr>
              <a:t>S</a:t>
            </a:r>
            <a:r>
              <a:rPr sz="2800" spc="-235" dirty="0">
                <a:latin typeface="Arial MT"/>
                <a:cs typeface="Arial MT"/>
              </a:rPr>
              <a:t>elec</a:t>
            </a:r>
            <a:r>
              <a:rPr sz="2800" spc="-140" dirty="0">
                <a:latin typeface="Arial MT"/>
                <a:cs typeface="Arial MT"/>
              </a:rPr>
              <a:t>t</a:t>
            </a:r>
            <a:r>
              <a:rPr sz="2800" spc="-145" dirty="0">
                <a:latin typeface="Arial MT"/>
                <a:cs typeface="Arial MT"/>
              </a:rPr>
              <a:t> t</a:t>
            </a:r>
            <a:r>
              <a:rPr sz="2800" spc="-280" dirty="0">
                <a:latin typeface="Arial MT"/>
                <a:cs typeface="Arial MT"/>
              </a:rPr>
              <a:t>he</a:t>
            </a:r>
            <a:r>
              <a:rPr sz="2800" spc="-150" dirty="0">
                <a:latin typeface="Arial MT"/>
                <a:cs typeface="Arial MT"/>
              </a:rPr>
              <a:t> </a:t>
            </a:r>
            <a:r>
              <a:rPr sz="2800" spc="-175" dirty="0">
                <a:latin typeface="Arial MT"/>
                <a:cs typeface="Arial MT"/>
              </a:rPr>
              <a:t>r</a:t>
            </a:r>
            <a:r>
              <a:rPr sz="2800" spc="-204" dirty="0">
                <a:latin typeface="Arial MT"/>
                <a:cs typeface="Arial MT"/>
              </a:rPr>
              <a:t>ight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350" dirty="0">
                <a:latin typeface="Arial MT"/>
                <a:cs typeface="Arial MT"/>
              </a:rPr>
              <a:t>memo</a:t>
            </a:r>
            <a:r>
              <a:rPr sz="2800" spc="-175" dirty="0">
                <a:latin typeface="Arial MT"/>
                <a:cs typeface="Arial MT"/>
              </a:rPr>
              <a:t>r</a:t>
            </a:r>
            <a:r>
              <a:rPr sz="2800" spc="-254" dirty="0">
                <a:latin typeface="Arial MT"/>
                <a:cs typeface="Arial MT"/>
              </a:rPr>
              <a:t>y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254" dirty="0">
                <a:latin typeface="Arial MT"/>
                <a:cs typeface="Arial MT"/>
              </a:rPr>
              <a:t>c</a:t>
            </a:r>
            <a:r>
              <a:rPr sz="2800" spc="-225" dirty="0">
                <a:latin typeface="Arial MT"/>
                <a:cs typeface="Arial MT"/>
              </a:rPr>
              <a:t>hip</a:t>
            </a:r>
            <a:r>
              <a:rPr sz="2800" spc="-150" dirty="0">
                <a:latin typeface="Arial MT"/>
                <a:cs typeface="Arial MT"/>
              </a:rPr>
              <a:t> </a:t>
            </a:r>
            <a:r>
              <a:rPr sz="2800" spc="-175" dirty="0">
                <a:latin typeface="Arial MT"/>
                <a:cs typeface="Arial MT"/>
              </a:rPr>
              <a:t>(</a:t>
            </a:r>
            <a:r>
              <a:rPr sz="2800" spc="-270" dirty="0">
                <a:latin typeface="Arial MT"/>
                <a:cs typeface="Arial MT"/>
              </a:rPr>
              <a:t>us</a:t>
            </a:r>
            <a:r>
              <a:rPr sz="2800" spc="-225" dirty="0">
                <a:latin typeface="Arial MT"/>
                <a:cs typeface="Arial MT"/>
              </a:rPr>
              <a:t>ing</a:t>
            </a:r>
            <a:r>
              <a:rPr sz="2800" spc="-150" dirty="0">
                <a:latin typeface="Arial MT"/>
                <a:cs typeface="Arial MT"/>
              </a:rPr>
              <a:t> </a:t>
            </a:r>
            <a:r>
              <a:rPr sz="2800" spc="-280" dirty="0">
                <a:latin typeface="Arial MT"/>
                <a:cs typeface="Arial MT"/>
              </a:rPr>
              <a:t>pa</a:t>
            </a:r>
            <a:r>
              <a:rPr sz="2800" spc="-175" dirty="0">
                <a:latin typeface="Arial MT"/>
                <a:cs typeface="Arial MT"/>
              </a:rPr>
              <a:t>r</a:t>
            </a:r>
            <a:r>
              <a:rPr sz="2800" spc="-140" dirty="0">
                <a:latin typeface="Arial MT"/>
                <a:cs typeface="Arial MT"/>
              </a:rPr>
              <a:t>t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210" dirty="0">
                <a:latin typeface="Arial MT"/>
                <a:cs typeface="Arial MT"/>
              </a:rPr>
              <a:t>of</a:t>
            </a:r>
            <a:r>
              <a:rPr sz="2800" spc="-145" dirty="0">
                <a:latin typeface="Arial MT"/>
                <a:cs typeface="Arial MT"/>
              </a:rPr>
              <a:t> t</a:t>
            </a:r>
            <a:r>
              <a:rPr sz="2800" spc="-240" dirty="0">
                <a:latin typeface="Arial MT"/>
                <a:cs typeface="Arial MT"/>
              </a:rPr>
              <a:t>he  add</a:t>
            </a:r>
            <a:r>
              <a:rPr sz="2800" spc="-175" dirty="0">
                <a:latin typeface="Arial MT"/>
                <a:cs typeface="Arial MT"/>
              </a:rPr>
              <a:t>r</a:t>
            </a:r>
            <a:r>
              <a:rPr sz="2800" spc="-265" dirty="0">
                <a:latin typeface="Arial MT"/>
                <a:cs typeface="Arial MT"/>
              </a:rPr>
              <a:t>ess</a:t>
            </a:r>
            <a:r>
              <a:rPr sz="2800" spc="-160" dirty="0">
                <a:latin typeface="Arial MT"/>
                <a:cs typeface="Arial MT"/>
              </a:rPr>
              <a:t> </a:t>
            </a:r>
            <a:r>
              <a:rPr sz="2800" spc="-275" dirty="0">
                <a:latin typeface="Arial MT"/>
                <a:cs typeface="Arial MT"/>
              </a:rPr>
              <a:t>bus</a:t>
            </a:r>
            <a:r>
              <a:rPr sz="2800" spc="-175" dirty="0">
                <a:latin typeface="Arial MT"/>
                <a:cs typeface="Arial MT"/>
              </a:rPr>
              <a:t>)</a:t>
            </a:r>
            <a:r>
              <a:rPr sz="2800" spc="-140" dirty="0">
                <a:latin typeface="Arial MT"/>
                <a:cs typeface="Arial MT"/>
              </a:rPr>
              <a:t>.</a:t>
            </a:r>
            <a:endParaRPr sz="2800">
              <a:latin typeface="Arial MT"/>
              <a:cs typeface="Arial MT"/>
            </a:endParaRPr>
          </a:p>
          <a:p>
            <a:pPr marL="412750" marR="170815">
              <a:lnSpc>
                <a:spcPct val="100000"/>
              </a:lnSpc>
              <a:spcBef>
                <a:spcPts val="670"/>
              </a:spcBef>
            </a:pPr>
            <a:r>
              <a:rPr sz="2800" spc="-145" dirty="0">
                <a:latin typeface="Arial MT"/>
                <a:cs typeface="Arial MT"/>
              </a:rPr>
              <a:t>I</a:t>
            </a:r>
            <a:r>
              <a:rPr sz="2800" spc="-280" dirty="0">
                <a:latin typeface="Arial MT"/>
                <a:cs typeface="Arial MT"/>
              </a:rPr>
              <a:t>den</a:t>
            </a:r>
            <a:r>
              <a:rPr sz="2800" spc="-145" dirty="0">
                <a:latin typeface="Arial MT"/>
                <a:cs typeface="Arial MT"/>
              </a:rPr>
              <a:t>t</a:t>
            </a:r>
            <a:r>
              <a:rPr sz="2800" spc="-114" dirty="0">
                <a:latin typeface="Arial MT"/>
                <a:cs typeface="Arial MT"/>
              </a:rPr>
              <a:t>i</a:t>
            </a:r>
            <a:r>
              <a:rPr sz="2800" spc="-145" dirty="0">
                <a:latin typeface="Arial MT"/>
                <a:cs typeface="Arial MT"/>
              </a:rPr>
              <a:t>f</a:t>
            </a:r>
            <a:r>
              <a:rPr sz="2800" spc="-254" dirty="0">
                <a:latin typeface="Arial MT"/>
                <a:cs typeface="Arial MT"/>
              </a:rPr>
              <a:t>y</a:t>
            </a:r>
            <a:r>
              <a:rPr sz="2800" spc="-145" dirty="0">
                <a:latin typeface="Arial MT"/>
                <a:cs typeface="Arial MT"/>
              </a:rPr>
              <a:t> t</a:t>
            </a:r>
            <a:r>
              <a:rPr sz="2800" spc="-280" dirty="0">
                <a:latin typeface="Arial MT"/>
                <a:cs typeface="Arial MT"/>
              </a:rPr>
              <a:t>he</a:t>
            </a:r>
            <a:r>
              <a:rPr sz="2800" spc="-150" dirty="0">
                <a:latin typeface="Arial MT"/>
                <a:cs typeface="Arial MT"/>
              </a:rPr>
              <a:t> </a:t>
            </a:r>
            <a:r>
              <a:rPr sz="2800" spc="-350" dirty="0">
                <a:latin typeface="Arial MT"/>
                <a:cs typeface="Arial MT"/>
              </a:rPr>
              <a:t>memo</a:t>
            </a:r>
            <a:r>
              <a:rPr sz="2800" spc="-175" dirty="0">
                <a:latin typeface="Arial MT"/>
                <a:cs typeface="Arial MT"/>
              </a:rPr>
              <a:t>r</a:t>
            </a:r>
            <a:r>
              <a:rPr sz="2800" spc="-254" dirty="0">
                <a:latin typeface="Arial MT"/>
                <a:cs typeface="Arial MT"/>
              </a:rPr>
              <a:t>y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215" dirty="0">
                <a:latin typeface="Arial MT"/>
                <a:cs typeface="Arial MT"/>
              </a:rPr>
              <a:t>loc</a:t>
            </a:r>
            <a:r>
              <a:rPr sz="2800" spc="-280" dirty="0">
                <a:latin typeface="Arial MT"/>
                <a:cs typeface="Arial MT"/>
              </a:rPr>
              <a:t>a</a:t>
            </a:r>
            <a:r>
              <a:rPr sz="2800" spc="-145" dirty="0">
                <a:latin typeface="Arial MT"/>
                <a:cs typeface="Arial MT"/>
              </a:rPr>
              <a:t>t</a:t>
            </a:r>
            <a:r>
              <a:rPr sz="2800" spc="-225" dirty="0">
                <a:latin typeface="Arial MT"/>
                <a:cs typeface="Arial MT"/>
              </a:rPr>
              <a:t>ion</a:t>
            </a:r>
            <a:r>
              <a:rPr sz="2800" spc="-150" dirty="0">
                <a:latin typeface="Arial MT"/>
                <a:cs typeface="Arial MT"/>
              </a:rPr>
              <a:t> </a:t>
            </a:r>
            <a:r>
              <a:rPr sz="2800" spc="-175" dirty="0">
                <a:latin typeface="Arial MT"/>
                <a:cs typeface="Arial MT"/>
              </a:rPr>
              <a:t>(</a:t>
            </a:r>
            <a:r>
              <a:rPr sz="2800" spc="-270" dirty="0">
                <a:latin typeface="Arial MT"/>
                <a:cs typeface="Arial MT"/>
              </a:rPr>
              <a:t>us</a:t>
            </a:r>
            <a:r>
              <a:rPr sz="2800" spc="-225" dirty="0">
                <a:latin typeface="Arial MT"/>
                <a:cs typeface="Arial MT"/>
              </a:rPr>
              <a:t>ing</a:t>
            </a:r>
            <a:r>
              <a:rPr sz="2800" spc="-150" dirty="0">
                <a:latin typeface="Arial MT"/>
                <a:cs typeface="Arial MT"/>
              </a:rPr>
              <a:t> </a:t>
            </a:r>
            <a:r>
              <a:rPr sz="2800" spc="-145" dirty="0">
                <a:latin typeface="Arial MT"/>
                <a:cs typeface="Arial MT"/>
              </a:rPr>
              <a:t>t</a:t>
            </a:r>
            <a:r>
              <a:rPr sz="2800" spc="-280" dirty="0">
                <a:latin typeface="Arial MT"/>
                <a:cs typeface="Arial MT"/>
              </a:rPr>
              <a:t>he</a:t>
            </a:r>
            <a:r>
              <a:rPr sz="2800" spc="-150" dirty="0">
                <a:latin typeface="Arial MT"/>
                <a:cs typeface="Arial MT"/>
              </a:rPr>
              <a:t> </a:t>
            </a:r>
            <a:r>
              <a:rPr sz="2800" spc="-175" dirty="0">
                <a:latin typeface="Arial MT"/>
                <a:cs typeface="Arial MT"/>
              </a:rPr>
              <a:t>r</a:t>
            </a:r>
            <a:r>
              <a:rPr sz="2800" spc="-270" dirty="0">
                <a:latin typeface="Arial MT"/>
                <a:cs typeface="Arial MT"/>
              </a:rPr>
              <a:t>es</a:t>
            </a:r>
            <a:r>
              <a:rPr sz="2800" spc="-140" dirty="0">
                <a:latin typeface="Arial MT"/>
                <a:cs typeface="Arial MT"/>
              </a:rPr>
              <a:t>t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210" dirty="0">
                <a:latin typeface="Arial MT"/>
                <a:cs typeface="Arial MT"/>
              </a:rPr>
              <a:t>of</a:t>
            </a:r>
            <a:r>
              <a:rPr sz="2800" spc="-145" dirty="0">
                <a:latin typeface="Arial MT"/>
                <a:cs typeface="Arial MT"/>
              </a:rPr>
              <a:t> t</a:t>
            </a:r>
            <a:r>
              <a:rPr sz="2800" spc="-240" dirty="0">
                <a:latin typeface="Arial MT"/>
                <a:cs typeface="Arial MT"/>
              </a:rPr>
              <a:t>he  add</a:t>
            </a:r>
            <a:r>
              <a:rPr sz="2800" spc="-175" dirty="0">
                <a:latin typeface="Arial MT"/>
                <a:cs typeface="Arial MT"/>
              </a:rPr>
              <a:t>r</a:t>
            </a:r>
            <a:r>
              <a:rPr sz="2800" spc="-265" dirty="0">
                <a:latin typeface="Arial MT"/>
                <a:cs typeface="Arial MT"/>
              </a:rPr>
              <a:t>ess</a:t>
            </a:r>
            <a:r>
              <a:rPr sz="2800" spc="-160" dirty="0">
                <a:latin typeface="Arial MT"/>
                <a:cs typeface="Arial MT"/>
              </a:rPr>
              <a:t> </a:t>
            </a:r>
            <a:r>
              <a:rPr sz="2800" spc="-275" dirty="0">
                <a:latin typeface="Arial MT"/>
                <a:cs typeface="Arial MT"/>
              </a:rPr>
              <a:t>bus</a:t>
            </a:r>
            <a:r>
              <a:rPr sz="2800" spc="-175" dirty="0">
                <a:latin typeface="Arial MT"/>
                <a:cs typeface="Arial MT"/>
              </a:rPr>
              <a:t>)</a:t>
            </a:r>
            <a:r>
              <a:rPr sz="2800" spc="-140" dirty="0">
                <a:latin typeface="Arial MT"/>
                <a:cs typeface="Arial MT"/>
              </a:rPr>
              <a:t>.</a:t>
            </a:r>
            <a:endParaRPr sz="2800">
              <a:latin typeface="Arial MT"/>
              <a:cs typeface="Arial MT"/>
            </a:endParaRPr>
          </a:p>
          <a:p>
            <a:pPr marL="412750">
              <a:lnSpc>
                <a:spcPct val="100000"/>
              </a:lnSpc>
              <a:spcBef>
                <a:spcPts val="675"/>
              </a:spcBef>
            </a:pPr>
            <a:r>
              <a:rPr sz="2800" spc="-340" dirty="0">
                <a:latin typeface="Arial MT"/>
                <a:cs typeface="Arial MT"/>
              </a:rPr>
              <a:t>A</a:t>
            </a:r>
            <a:r>
              <a:rPr sz="2800" spc="-260" dirty="0">
                <a:latin typeface="Arial MT"/>
                <a:cs typeface="Arial MT"/>
              </a:rPr>
              <a:t>ccess</a:t>
            </a:r>
            <a:r>
              <a:rPr sz="2800" spc="-145" dirty="0">
                <a:latin typeface="Arial MT"/>
                <a:cs typeface="Arial MT"/>
              </a:rPr>
              <a:t> t</a:t>
            </a:r>
            <a:r>
              <a:rPr sz="2800" spc="-280" dirty="0">
                <a:latin typeface="Arial MT"/>
                <a:cs typeface="Arial MT"/>
              </a:rPr>
              <a:t>he</a:t>
            </a:r>
            <a:r>
              <a:rPr sz="2800" spc="-150" dirty="0">
                <a:latin typeface="Arial MT"/>
                <a:cs typeface="Arial MT"/>
              </a:rPr>
              <a:t> </a:t>
            </a:r>
            <a:r>
              <a:rPr sz="2800" spc="-280" dirty="0">
                <a:latin typeface="Arial MT"/>
                <a:cs typeface="Arial MT"/>
              </a:rPr>
              <a:t>da</a:t>
            </a:r>
            <a:r>
              <a:rPr sz="2800" spc="-145" dirty="0">
                <a:latin typeface="Arial MT"/>
                <a:cs typeface="Arial MT"/>
              </a:rPr>
              <a:t>t</a:t>
            </a:r>
            <a:r>
              <a:rPr sz="2800" spc="-280" dirty="0">
                <a:latin typeface="Arial MT"/>
                <a:cs typeface="Arial MT"/>
              </a:rPr>
              <a:t>a</a:t>
            </a:r>
            <a:r>
              <a:rPr sz="2800" spc="-150" dirty="0">
                <a:latin typeface="Arial MT"/>
                <a:cs typeface="Arial MT"/>
              </a:rPr>
              <a:t> </a:t>
            </a:r>
            <a:r>
              <a:rPr sz="2800" spc="-175" dirty="0">
                <a:latin typeface="Arial MT"/>
                <a:cs typeface="Arial MT"/>
              </a:rPr>
              <a:t>(</a:t>
            </a:r>
            <a:r>
              <a:rPr sz="2800" spc="-270" dirty="0">
                <a:latin typeface="Arial MT"/>
                <a:cs typeface="Arial MT"/>
              </a:rPr>
              <a:t>us</a:t>
            </a:r>
            <a:r>
              <a:rPr sz="2800" spc="-225" dirty="0">
                <a:latin typeface="Arial MT"/>
                <a:cs typeface="Arial MT"/>
              </a:rPr>
              <a:t>ing</a:t>
            </a:r>
            <a:r>
              <a:rPr sz="2800" spc="-150" dirty="0">
                <a:latin typeface="Arial MT"/>
                <a:cs typeface="Arial MT"/>
              </a:rPr>
              <a:t> </a:t>
            </a:r>
            <a:r>
              <a:rPr sz="2800" spc="-145" dirty="0">
                <a:latin typeface="Arial MT"/>
                <a:cs typeface="Arial MT"/>
              </a:rPr>
              <a:t>t</a:t>
            </a:r>
            <a:r>
              <a:rPr sz="2800" spc="-280" dirty="0">
                <a:latin typeface="Arial MT"/>
                <a:cs typeface="Arial MT"/>
              </a:rPr>
              <a:t>he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280" dirty="0">
                <a:latin typeface="Arial MT"/>
                <a:cs typeface="Arial MT"/>
              </a:rPr>
              <a:t>da</a:t>
            </a:r>
            <a:r>
              <a:rPr sz="2800" spc="-145" dirty="0">
                <a:latin typeface="Arial MT"/>
                <a:cs typeface="Arial MT"/>
              </a:rPr>
              <a:t>t</a:t>
            </a:r>
            <a:r>
              <a:rPr sz="2800" spc="-280" dirty="0">
                <a:latin typeface="Arial MT"/>
                <a:cs typeface="Arial MT"/>
              </a:rPr>
              <a:t>a</a:t>
            </a:r>
            <a:r>
              <a:rPr sz="2800" spc="-150" dirty="0">
                <a:latin typeface="Arial MT"/>
                <a:cs typeface="Arial MT"/>
              </a:rPr>
              <a:t> </a:t>
            </a:r>
            <a:r>
              <a:rPr sz="2800" spc="-275" dirty="0">
                <a:latin typeface="Arial MT"/>
                <a:cs typeface="Arial MT"/>
              </a:rPr>
              <a:t>bus</a:t>
            </a:r>
            <a:r>
              <a:rPr sz="2800" spc="-175" dirty="0">
                <a:latin typeface="Arial MT"/>
                <a:cs typeface="Arial MT"/>
              </a:rPr>
              <a:t>)</a:t>
            </a:r>
            <a:r>
              <a:rPr sz="2800" spc="-140" dirty="0">
                <a:latin typeface="Arial MT"/>
                <a:cs typeface="Arial MT"/>
              </a:rPr>
              <a:t>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237981" y="6564531"/>
            <a:ext cx="16510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r>
              <a:rPr sz="1400" spc="-5" dirty="0">
                <a:solidFill>
                  <a:srgbClr val="EBEBEB"/>
                </a:solidFill>
                <a:latin typeface="Times New Roman"/>
                <a:cs typeface="Times New Roman"/>
              </a:rPr>
              <a:t>2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6350" y="0"/>
            <a:ext cx="9156700" cy="6870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515938" cy="68579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64540" y="1010665"/>
            <a:ext cx="3361054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0" dirty="0">
                <a:solidFill>
                  <a:srgbClr val="FFFFCC"/>
                </a:solidFill>
                <a:latin typeface="Arial MT"/>
                <a:cs typeface="Arial MT"/>
              </a:rPr>
              <a:t>Tri-</a:t>
            </a:r>
            <a:r>
              <a:rPr spc="-375" dirty="0">
                <a:solidFill>
                  <a:srgbClr val="FFFFCC"/>
                </a:solidFill>
                <a:latin typeface="Arial MT"/>
                <a:cs typeface="Arial MT"/>
              </a:rPr>
              <a:t>State</a:t>
            </a:r>
            <a:r>
              <a:rPr spc="-220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360" dirty="0">
                <a:solidFill>
                  <a:srgbClr val="FFFFCC"/>
                </a:solidFill>
                <a:latin typeface="Arial MT"/>
                <a:cs typeface="Arial MT"/>
              </a:rPr>
              <a:t>Buffers</a:t>
            </a: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7239" y="2197608"/>
            <a:ext cx="215645" cy="22707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7239" y="3270503"/>
            <a:ext cx="215645" cy="22707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33677" y="3835145"/>
            <a:ext cx="177545" cy="18668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33677" y="4347209"/>
            <a:ext cx="177545" cy="18668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07439" y="2005075"/>
            <a:ext cx="7160895" cy="3037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210310">
              <a:lnSpc>
                <a:spcPct val="100000"/>
              </a:lnSpc>
              <a:spcBef>
                <a:spcPts val="95"/>
              </a:spcBef>
            </a:pPr>
            <a:r>
              <a:rPr sz="3200" spc="-395" dirty="0">
                <a:latin typeface="Arial MT"/>
                <a:cs typeface="Arial MT"/>
              </a:rPr>
              <a:t>A</a:t>
            </a:r>
            <a:r>
              <a:rPr sz="3200" spc="-325" dirty="0">
                <a:latin typeface="Arial MT"/>
                <a:cs typeface="Arial MT"/>
              </a:rPr>
              <a:t>n</a:t>
            </a:r>
            <a:r>
              <a:rPr sz="3200" spc="-165" dirty="0">
                <a:latin typeface="Arial MT"/>
                <a:cs typeface="Arial MT"/>
              </a:rPr>
              <a:t> </a:t>
            </a:r>
            <a:r>
              <a:rPr sz="3200" spc="-315" dirty="0">
                <a:latin typeface="Arial MT"/>
                <a:cs typeface="Arial MT"/>
              </a:rPr>
              <a:t>impo</a:t>
            </a:r>
            <a:r>
              <a:rPr sz="3200" spc="-200" dirty="0">
                <a:latin typeface="Arial MT"/>
                <a:cs typeface="Arial MT"/>
              </a:rPr>
              <a:t>r</a:t>
            </a:r>
            <a:r>
              <a:rPr sz="3200" spc="-160" dirty="0">
                <a:latin typeface="Arial MT"/>
                <a:cs typeface="Arial MT"/>
              </a:rPr>
              <a:t>t</a:t>
            </a:r>
            <a:r>
              <a:rPr sz="3200" spc="-270" dirty="0">
                <a:latin typeface="Arial MT"/>
                <a:cs typeface="Arial MT"/>
              </a:rPr>
              <a:t>ant</a:t>
            </a:r>
            <a:r>
              <a:rPr sz="3200" spc="-145" dirty="0">
                <a:latin typeface="Arial MT"/>
                <a:cs typeface="Arial MT"/>
              </a:rPr>
              <a:t> </a:t>
            </a:r>
            <a:r>
              <a:rPr sz="3200" spc="-290" dirty="0">
                <a:latin typeface="Arial MT"/>
                <a:cs typeface="Arial MT"/>
              </a:rPr>
              <a:t>c</a:t>
            </a:r>
            <a:r>
              <a:rPr sz="3200" spc="-130" dirty="0">
                <a:latin typeface="Arial MT"/>
                <a:cs typeface="Arial MT"/>
              </a:rPr>
              <a:t>i</a:t>
            </a:r>
            <a:r>
              <a:rPr sz="3200" spc="-200" dirty="0">
                <a:latin typeface="Arial MT"/>
                <a:cs typeface="Arial MT"/>
              </a:rPr>
              <a:t>r</a:t>
            </a:r>
            <a:r>
              <a:rPr sz="3200" spc="-225" dirty="0">
                <a:latin typeface="Arial MT"/>
                <a:cs typeface="Arial MT"/>
              </a:rPr>
              <a:t>cuit</a:t>
            </a:r>
            <a:r>
              <a:rPr sz="3200" spc="-150" dirty="0">
                <a:latin typeface="Arial MT"/>
                <a:cs typeface="Arial MT"/>
              </a:rPr>
              <a:t> </a:t>
            </a:r>
            <a:r>
              <a:rPr sz="3200" spc="-295" dirty="0">
                <a:latin typeface="Arial MT"/>
                <a:cs typeface="Arial MT"/>
              </a:rPr>
              <a:t>element</a:t>
            </a:r>
            <a:r>
              <a:rPr sz="3200" spc="-145" dirty="0">
                <a:latin typeface="Arial MT"/>
                <a:cs typeface="Arial MT"/>
              </a:rPr>
              <a:t> </a:t>
            </a:r>
            <a:r>
              <a:rPr sz="3200" spc="-160" dirty="0">
                <a:latin typeface="Arial MT"/>
                <a:cs typeface="Arial MT"/>
              </a:rPr>
              <a:t>t</a:t>
            </a:r>
            <a:r>
              <a:rPr sz="3200" spc="-270" dirty="0">
                <a:latin typeface="Arial MT"/>
                <a:cs typeface="Arial MT"/>
              </a:rPr>
              <a:t>hat</a:t>
            </a:r>
            <a:r>
              <a:rPr sz="3200" spc="-170" dirty="0">
                <a:latin typeface="Arial MT"/>
                <a:cs typeface="Arial MT"/>
              </a:rPr>
              <a:t> </a:t>
            </a:r>
            <a:r>
              <a:rPr sz="3200" spc="-210" dirty="0">
                <a:latin typeface="Arial MT"/>
                <a:cs typeface="Arial MT"/>
              </a:rPr>
              <a:t>is</a:t>
            </a:r>
            <a:r>
              <a:rPr sz="3200" spc="-160" dirty="0">
                <a:latin typeface="Arial MT"/>
                <a:cs typeface="Arial MT"/>
              </a:rPr>
              <a:t> </a:t>
            </a:r>
            <a:r>
              <a:rPr sz="3200" spc="-275" dirty="0">
                <a:latin typeface="Arial MT"/>
                <a:cs typeface="Arial MT"/>
              </a:rPr>
              <a:t>used  ex</a:t>
            </a:r>
            <a:r>
              <a:rPr sz="3200" spc="-160" dirty="0">
                <a:latin typeface="Arial MT"/>
                <a:cs typeface="Arial MT"/>
              </a:rPr>
              <a:t>t</a:t>
            </a:r>
            <a:r>
              <a:rPr sz="3200" spc="-315" dirty="0">
                <a:latin typeface="Arial MT"/>
                <a:cs typeface="Arial MT"/>
              </a:rPr>
              <a:t>ens</a:t>
            </a:r>
            <a:r>
              <a:rPr sz="3200" spc="-235" dirty="0">
                <a:latin typeface="Arial MT"/>
                <a:cs typeface="Arial MT"/>
              </a:rPr>
              <a:t>ively</a:t>
            </a:r>
            <a:r>
              <a:rPr sz="3200" spc="-150" dirty="0">
                <a:latin typeface="Arial MT"/>
                <a:cs typeface="Arial MT"/>
              </a:rPr>
              <a:t> </a:t>
            </a:r>
            <a:r>
              <a:rPr sz="3200" spc="-229" dirty="0">
                <a:latin typeface="Arial MT"/>
                <a:cs typeface="Arial MT"/>
              </a:rPr>
              <a:t>in</a:t>
            </a:r>
            <a:r>
              <a:rPr sz="3200" spc="-160" dirty="0">
                <a:latin typeface="Arial MT"/>
                <a:cs typeface="Arial MT"/>
              </a:rPr>
              <a:t> </a:t>
            </a:r>
            <a:r>
              <a:rPr sz="3200" spc="-405" dirty="0">
                <a:latin typeface="Arial MT"/>
                <a:cs typeface="Arial MT"/>
              </a:rPr>
              <a:t>memo</a:t>
            </a:r>
            <a:r>
              <a:rPr sz="3200" spc="-200" dirty="0">
                <a:latin typeface="Arial MT"/>
                <a:cs typeface="Arial MT"/>
              </a:rPr>
              <a:t>r</a:t>
            </a:r>
            <a:r>
              <a:rPr sz="3200" spc="-290" dirty="0">
                <a:latin typeface="Arial MT"/>
                <a:cs typeface="Arial MT"/>
              </a:rPr>
              <a:t>y</a:t>
            </a:r>
            <a:r>
              <a:rPr sz="3200" spc="-160" dirty="0">
                <a:latin typeface="Arial MT"/>
                <a:cs typeface="Arial MT"/>
              </a:rPr>
              <a:t>.</a:t>
            </a:r>
            <a:endParaRPr sz="3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3200" spc="-275" dirty="0">
                <a:latin typeface="Arial MT"/>
                <a:cs typeface="Arial MT"/>
              </a:rPr>
              <a:t>This</a:t>
            </a:r>
            <a:r>
              <a:rPr sz="3200" spc="-160" dirty="0">
                <a:latin typeface="Arial MT"/>
                <a:cs typeface="Arial MT"/>
              </a:rPr>
              <a:t> </a:t>
            </a:r>
            <a:r>
              <a:rPr sz="3200" spc="-250" dirty="0">
                <a:latin typeface="Arial MT"/>
                <a:cs typeface="Arial MT"/>
              </a:rPr>
              <a:t>buffer</a:t>
            </a:r>
            <a:r>
              <a:rPr sz="3200" spc="-160" dirty="0">
                <a:latin typeface="Arial MT"/>
                <a:cs typeface="Arial MT"/>
              </a:rPr>
              <a:t> </a:t>
            </a:r>
            <a:r>
              <a:rPr sz="3200" spc="-210" dirty="0">
                <a:latin typeface="Arial MT"/>
                <a:cs typeface="Arial MT"/>
              </a:rPr>
              <a:t>is</a:t>
            </a:r>
            <a:r>
              <a:rPr sz="3200" spc="-155" dirty="0">
                <a:latin typeface="Arial MT"/>
                <a:cs typeface="Arial MT"/>
              </a:rPr>
              <a:t> </a:t>
            </a:r>
            <a:r>
              <a:rPr sz="3200" spc="-325" dirty="0">
                <a:latin typeface="Arial MT"/>
                <a:cs typeface="Arial MT"/>
              </a:rPr>
              <a:t>a</a:t>
            </a:r>
            <a:r>
              <a:rPr sz="3200" spc="-160" dirty="0">
                <a:latin typeface="Arial MT"/>
                <a:cs typeface="Arial MT"/>
              </a:rPr>
              <a:t> </a:t>
            </a:r>
            <a:r>
              <a:rPr sz="3200" spc="-240" dirty="0">
                <a:latin typeface="Arial MT"/>
                <a:cs typeface="Arial MT"/>
              </a:rPr>
              <a:t>logic</a:t>
            </a:r>
            <a:r>
              <a:rPr sz="3200" spc="-140" dirty="0">
                <a:latin typeface="Arial MT"/>
                <a:cs typeface="Arial MT"/>
              </a:rPr>
              <a:t> </a:t>
            </a:r>
            <a:r>
              <a:rPr sz="3200" spc="-220" dirty="0">
                <a:latin typeface="Arial MT"/>
                <a:cs typeface="Arial MT"/>
              </a:rPr>
              <a:t>circuit</a:t>
            </a:r>
            <a:r>
              <a:rPr sz="3200" spc="-155" dirty="0">
                <a:latin typeface="Arial MT"/>
                <a:cs typeface="Arial MT"/>
              </a:rPr>
              <a:t> </a:t>
            </a:r>
            <a:r>
              <a:rPr sz="3200" spc="-245" dirty="0">
                <a:latin typeface="Arial MT"/>
                <a:cs typeface="Arial MT"/>
              </a:rPr>
              <a:t>that</a:t>
            </a:r>
            <a:r>
              <a:rPr sz="3200" spc="-165" dirty="0">
                <a:latin typeface="Arial MT"/>
                <a:cs typeface="Arial MT"/>
              </a:rPr>
              <a:t> </a:t>
            </a:r>
            <a:r>
              <a:rPr sz="3200" spc="-315" dirty="0">
                <a:latin typeface="Arial MT"/>
                <a:cs typeface="Arial MT"/>
              </a:rPr>
              <a:t>has</a:t>
            </a:r>
            <a:r>
              <a:rPr sz="3200" spc="-155" dirty="0">
                <a:latin typeface="Arial MT"/>
                <a:cs typeface="Arial MT"/>
              </a:rPr>
              <a:t> </a:t>
            </a:r>
            <a:r>
              <a:rPr sz="3200" spc="-265" dirty="0">
                <a:latin typeface="Arial MT"/>
                <a:cs typeface="Arial MT"/>
              </a:rPr>
              <a:t>three</a:t>
            </a:r>
            <a:r>
              <a:rPr sz="3200" spc="-150" dirty="0">
                <a:latin typeface="Arial MT"/>
                <a:cs typeface="Arial MT"/>
              </a:rPr>
              <a:t> </a:t>
            </a:r>
            <a:r>
              <a:rPr sz="3200" spc="-245" dirty="0">
                <a:latin typeface="Arial MT"/>
                <a:cs typeface="Arial MT"/>
              </a:rPr>
              <a:t>states:</a:t>
            </a:r>
            <a:endParaRPr sz="3200">
              <a:latin typeface="Arial MT"/>
              <a:cs typeface="Arial MT"/>
            </a:endParaRPr>
          </a:p>
          <a:p>
            <a:pPr marL="412750">
              <a:lnSpc>
                <a:spcPct val="100000"/>
              </a:lnSpc>
              <a:spcBef>
                <a:spcPts val="680"/>
              </a:spcBef>
            </a:pPr>
            <a:r>
              <a:rPr sz="2800" spc="-245" dirty="0">
                <a:latin typeface="Arial MT"/>
                <a:cs typeface="Arial MT"/>
              </a:rPr>
              <a:t>Logic</a:t>
            </a:r>
            <a:r>
              <a:rPr sz="2800" spc="-155" dirty="0">
                <a:latin typeface="Arial MT"/>
                <a:cs typeface="Arial MT"/>
              </a:rPr>
              <a:t> </a:t>
            </a:r>
            <a:r>
              <a:rPr sz="2800" spc="-280" dirty="0">
                <a:latin typeface="Arial MT"/>
                <a:cs typeface="Arial MT"/>
              </a:rPr>
              <a:t>0</a:t>
            </a:r>
            <a:r>
              <a:rPr sz="2800" spc="-140" dirty="0">
                <a:latin typeface="Arial MT"/>
                <a:cs typeface="Arial MT"/>
              </a:rPr>
              <a:t>,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210" dirty="0">
                <a:latin typeface="Arial MT"/>
                <a:cs typeface="Arial MT"/>
              </a:rPr>
              <a:t>logic</a:t>
            </a:r>
            <a:r>
              <a:rPr sz="2800" spc="-280" dirty="0">
                <a:latin typeface="Arial MT"/>
                <a:cs typeface="Arial MT"/>
              </a:rPr>
              <a:t>1</a:t>
            </a:r>
            <a:r>
              <a:rPr sz="2800" spc="-140" dirty="0">
                <a:latin typeface="Arial MT"/>
                <a:cs typeface="Arial MT"/>
              </a:rPr>
              <a:t>,</a:t>
            </a:r>
            <a:r>
              <a:rPr sz="2800" spc="-155" dirty="0">
                <a:latin typeface="Arial MT"/>
                <a:cs typeface="Arial MT"/>
              </a:rPr>
              <a:t> </a:t>
            </a:r>
            <a:r>
              <a:rPr sz="2800" spc="-280" dirty="0">
                <a:latin typeface="Arial MT"/>
                <a:cs typeface="Arial MT"/>
              </a:rPr>
              <a:t>and</a:t>
            </a:r>
            <a:r>
              <a:rPr sz="2800" spc="-150" dirty="0">
                <a:latin typeface="Arial MT"/>
                <a:cs typeface="Arial MT"/>
              </a:rPr>
              <a:t> </a:t>
            </a:r>
            <a:r>
              <a:rPr sz="2800" spc="-240" dirty="0">
                <a:latin typeface="Arial MT"/>
                <a:cs typeface="Arial MT"/>
              </a:rPr>
              <a:t>high</a:t>
            </a:r>
            <a:r>
              <a:rPr sz="2800" spc="-150" dirty="0">
                <a:latin typeface="Arial MT"/>
                <a:cs typeface="Arial MT"/>
              </a:rPr>
              <a:t> </a:t>
            </a:r>
            <a:r>
              <a:rPr sz="2800" spc="-275" dirty="0">
                <a:latin typeface="Arial MT"/>
                <a:cs typeface="Arial MT"/>
              </a:rPr>
              <a:t>impedanc</a:t>
            </a:r>
            <a:r>
              <a:rPr sz="2800" spc="-210" dirty="0">
                <a:latin typeface="Arial MT"/>
                <a:cs typeface="Arial MT"/>
              </a:rPr>
              <a:t>e.</a:t>
            </a:r>
            <a:endParaRPr sz="2800">
              <a:latin typeface="Arial MT"/>
              <a:cs typeface="Arial MT"/>
            </a:endParaRPr>
          </a:p>
          <a:p>
            <a:pPr marL="412750" marR="65405">
              <a:lnSpc>
                <a:spcPct val="100000"/>
              </a:lnSpc>
              <a:spcBef>
                <a:spcPts val="675"/>
              </a:spcBef>
            </a:pPr>
            <a:r>
              <a:rPr sz="2800" spc="-480" dirty="0">
                <a:latin typeface="Arial MT"/>
                <a:cs typeface="Arial MT"/>
              </a:rPr>
              <a:t>W</a:t>
            </a:r>
            <a:r>
              <a:rPr sz="2800" spc="-280" dirty="0">
                <a:latin typeface="Arial MT"/>
                <a:cs typeface="Arial MT"/>
              </a:rPr>
              <a:t>hen</a:t>
            </a:r>
            <a:r>
              <a:rPr sz="2800" spc="-160" dirty="0">
                <a:latin typeface="Arial MT"/>
                <a:cs typeface="Arial MT"/>
              </a:rPr>
              <a:t> </a:t>
            </a:r>
            <a:r>
              <a:rPr sz="2800" spc="-145" dirty="0">
                <a:latin typeface="Arial MT"/>
                <a:cs typeface="Arial MT"/>
              </a:rPr>
              <a:t>t</a:t>
            </a:r>
            <a:r>
              <a:rPr sz="2800" spc="-215" dirty="0">
                <a:latin typeface="Arial MT"/>
                <a:cs typeface="Arial MT"/>
              </a:rPr>
              <a:t>his</a:t>
            </a:r>
            <a:r>
              <a:rPr sz="2800" spc="-140" dirty="0">
                <a:latin typeface="Arial MT"/>
                <a:cs typeface="Arial MT"/>
              </a:rPr>
              <a:t> </a:t>
            </a:r>
            <a:r>
              <a:rPr sz="2800" spc="-254" dirty="0">
                <a:latin typeface="Arial MT"/>
                <a:cs typeface="Arial MT"/>
              </a:rPr>
              <a:t>c</a:t>
            </a:r>
            <a:r>
              <a:rPr sz="2800" spc="-114" dirty="0">
                <a:latin typeface="Arial MT"/>
                <a:cs typeface="Arial MT"/>
              </a:rPr>
              <a:t>i</a:t>
            </a:r>
            <a:r>
              <a:rPr sz="2800" spc="-175" dirty="0">
                <a:latin typeface="Arial MT"/>
                <a:cs typeface="Arial MT"/>
              </a:rPr>
              <a:t>r</a:t>
            </a:r>
            <a:r>
              <a:rPr sz="2800" spc="-200" dirty="0">
                <a:latin typeface="Arial MT"/>
                <a:cs typeface="Arial MT"/>
              </a:rPr>
              <a:t>cuit</a:t>
            </a:r>
            <a:r>
              <a:rPr sz="2800" spc="-140" dirty="0">
                <a:latin typeface="Arial MT"/>
                <a:cs typeface="Arial MT"/>
              </a:rPr>
              <a:t> </a:t>
            </a:r>
            <a:r>
              <a:rPr sz="2800" spc="-185" dirty="0">
                <a:latin typeface="Arial MT"/>
                <a:cs typeface="Arial MT"/>
              </a:rPr>
              <a:t>is</a:t>
            </a:r>
            <a:r>
              <a:rPr sz="2800" spc="-140" dirty="0">
                <a:latin typeface="Arial MT"/>
                <a:cs typeface="Arial MT"/>
              </a:rPr>
              <a:t> </a:t>
            </a:r>
            <a:r>
              <a:rPr sz="2800" spc="-200" dirty="0">
                <a:latin typeface="Arial MT"/>
                <a:cs typeface="Arial MT"/>
              </a:rPr>
              <a:t>in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240" dirty="0">
                <a:latin typeface="Arial MT"/>
                <a:cs typeface="Arial MT"/>
              </a:rPr>
              <a:t>high</a:t>
            </a:r>
            <a:r>
              <a:rPr sz="2800" spc="-150" dirty="0">
                <a:latin typeface="Arial MT"/>
                <a:cs typeface="Arial MT"/>
              </a:rPr>
              <a:t> </a:t>
            </a:r>
            <a:r>
              <a:rPr sz="2800" spc="-275" dirty="0">
                <a:latin typeface="Arial MT"/>
                <a:cs typeface="Arial MT"/>
              </a:rPr>
              <a:t>impedance</a:t>
            </a:r>
            <a:r>
              <a:rPr sz="2800" spc="-160" dirty="0">
                <a:latin typeface="Arial MT"/>
                <a:cs typeface="Arial MT"/>
              </a:rPr>
              <a:t> </a:t>
            </a:r>
            <a:r>
              <a:rPr sz="2800" spc="-315" dirty="0">
                <a:latin typeface="Arial MT"/>
                <a:cs typeface="Arial MT"/>
              </a:rPr>
              <a:t>mode</a:t>
            </a:r>
            <a:r>
              <a:rPr sz="2800" spc="-150" dirty="0">
                <a:latin typeface="Arial MT"/>
                <a:cs typeface="Arial MT"/>
              </a:rPr>
              <a:t> </a:t>
            </a:r>
            <a:r>
              <a:rPr sz="2800" spc="-130" dirty="0">
                <a:latin typeface="Arial MT"/>
                <a:cs typeface="Arial MT"/>
              </a:rPr>
              <a:t>it</a:t>
            </a:r>
            <a:r>
              <a:rPr sz="2800" spc="-140" dirty="0">
                <a:latin typeface="Arial MT"/>
                <a:cs typeface="Arial MT"/>
              </a:rPr>
              <a:t> </a:t>
            </a:r>
            <a:r>
              <a:rPr sz="2800" spc="-235" dirty="0">
                <a:latin typeface="Arial MT"/>
                <a:cs typeface="Arial MT"/>
              </a:rPr>
              <a:t>look</a:t>
            </a:r>
            <a:r>
              <a:rPr sz="2800" spc="-180" dirty="0">
                <a:latin typeface="Arial MT"/>
                <a:cs typeface="Arial MT"/>
              </a:rPr>
              <a:t>s  </a:t>
            </a:r>
            <a:r>
              <a:rPr sz="2800" spc="-270" dirty="0">
                <a:latin typeface="Arial MT"/>
                <a:cs typeface="Arial MT"/>
              </a:rPr>
              <a:t>as</a:t>
            </a:r>
            <a:r>
              <a:rPr sz="2800" spc="-155" dirty="0">
                <a:latin typeface="Arial MT"/>
                <a:cs typeface="Arial MT"/>
              </a:rPr>
              <a:t> </a:t>
            </a:r>
            <a:r>
              <a:rPr sz="2800" spc="-130" dirty="0">
                <a:latin typeface="Arial MT"/>
                <a:cs typeface="Arial MT"/>
              </a:rPr>
              <a:t>if</a:t>
            </a:r>
            <a:r>
              <a:rPr sz="2800" spc="-140" dirty="0">
                <a:latin typeface="Arial MT"/>
                <a:cs typeface="Arial MT"/>
              </a:rPr>
              <a:t> </a:t>
            </a:r>
            <a:r>
              <a:rPr sz="2800" spc="-130" dirty="0">
                <a:latin typeface="Arial MT"/>
                <a:cs typeface="Arial MT"/>
              </a:rPr>
              <a:t>it</a:t>
            </a:r>
            <a:r>
              <a:rPr sz="2800" spc="-135" dirty="0">
                <a:latin typeface="Arial MT"/>
                <a:cs typeface="Arial MT"/>
              </a:rPr>
              <a:t> </a:t>
            </a:r>
            <a:r>
              <a:rPr sz="2800" spc="-185" dirty="0">
                <a:latin typeface="Arial MT"/>
                <a:cs typeface="Arial MT"/>
              </a:rPr>
              <a:t>is</a:t>
            </a:r>
            <a:r>
              <a:rPr sz="2800" spc="-135" dirty="0">
                <a:latin typeface="Arial MT"/>
                <a:cs typeface="Arial MT"/>
              </a:rPr>
              <a:t> </a:t>
            </a:r>
            <a:r>
              <a:rPr sz="2800" spc="-250" dirty="0">
                <a:latin typeface="Arial MT"/>
                <a:cs typeface="Arial MT"/>
              </a:rPr>
              <a:t>disconnected</a:t>
            </a:r>
            <a:r>
              <a:rPr sz="2800" spc="-165" dirty="0">
                <a:latin typeface="Arial MT"/>
                <a:cs typeface="Arial MT"/>
              </a:rPr>
              <a:t> </a:t>
            </a:r>
            <a:r>
              <a:rPr sz="2800" spc="-254" dirty="0">
                <a:latin typeface="Arial MT"/>
                <a:cs typeface="Arial MT"/>
              </a:rPr>
              <a:t>from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235" dirty="0">
                <a:latin typeface="Arial MT"/>
                <a:cs typeface="Arial MT"/>
              </a:rPr>
              <a:t>the</a:t>
            </a:r>
            <a:r>
              <a:rPr sz="2800" spc="-150" dirty="0">
                <a:latin typeface="Arial MT"/>
                <a:cs typeface="Arial MT"/>
              </a:rPr>
              <a:t> </a:t>
            </a:r>
            <a:r>
              <a:rPr sz="2800" spc="-235" dirty="0">
                <a:latin typeface="Arial MT"/>
                <a:cs typeface="Arial MT"/>
              </a:rPr>
              <a:t>output</a:t>
            </a:r>
            <a:r>
              <a:rPr sz="2800" spc="-150" dirty="0">
                <a:latin typeface="Arial MT"/>
                <a:cs typeface="Arial MT"/>
              </a:rPr>
              <a:t> </a:t>
            </a:r>
            <a:r>
              <a:rPr sz="2800" spc="-235" dirty="0">
                <a:latin typeface="Arial MT"/>
                <a:cs typeface="Arial MT"/>
              </a:rPr>
              <a:t>completely.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166937" y="5202237"/>
            <a:ext cx="1081405" cy="652780"/>
            <a:chOff x="2166937" y="5202237"/>
            <a:chExt cx="1081405" cy="652780"/>
          </a:xfrm>
        </p:grpSpPr>
        <p:sp>
          <p:nvSpPr>
            <p:cNvPr id="11" name="object 11"/>
            <p:cNvSpPr/>
            <p:nvPr/>
          </p:nvSpPr>
          <p:spPr>
            <a:xfrm>
              <a:off x="2173287" y="5208587"/>
              <a:ext cx="732155" cy="640080"/>
            </a:xfrm>
            <a:custGeom>
              <a:avLst/>
              <a:gdLst/>
              <a:ahLst/>
              <a:cxnLst/>
              <a:rect l="l" t="t" r="r" b="b"/>
              <a:pathLst>
                <a:path w="732155" h="640079">
                  <a:moveTo>
                    <a:pt x="731837" y="0"/>
                  </a:moveTo>
                  <a:lnTo>
                    <a:pt x="0" y="0"/>
                  </a:lnTo>
                  <a:lnTo>
                    <a:pt x="0" y="639762"/>
                  </a:lnTo>
                  <a:lnTo>
                    <a:pt x="731837" y="639762"/>
                  </a:lnTo>
                  <a:lnTo>
                    <a:pt x="731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173287" y="5208587"/>
              <a:ext cx="732155" cy="640080"/>
            </a:xfrm>
            <a:custGeom>
              <a:avLst/>
              <a:gdLst/>
              <a:ahLst/>
              <a:cxnLst/>
              <a:rect l="l" t="t" r="r" b="b"/>
              <a:pathLst>
                <a:path w="732155" h="640079">
                  <a:moveTo>
                    <a:pt x="0" y="0"/>
                  </a:moveTo>
                  <a:lnTo>
                    <a:pt x="731837" y="0"/>
                  </a:lnTo>
                  <a:lnTo>
                    <a:pt x="731837" y="639762"/>
                  </a:lnTo>
                  <a:lnTo>
                    <a:pt x="0" y="639762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541587" y="5521325"/>
              <a:ext cx="700405" cy="5080"/>
            </a:xfrm>
            <a:custGeom>
              <a:avLst/>
              <a:gdLst/>
              <a:ahLst/>
              <a:cxnLst/>
              <a:rect l="l" t="t" r="r" b="b"/>
              <a:pathLst>
                <a:path w="700405" h="5079">
                  <a:moveTo>
                    <a:pt x="0" y="0"/>
                  </a:moveTo>
                  <a:lnTo>
                    <a:pt x="700087" y="4762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541587" y="5527675"/>
              <a:ext cx="0" cy="90805"/>
            </a:xfrm>
            <a:custGeom>
              <a:avLst/>
              <a:gdLst/>
              <a:ahLst/>
              <a:cxnLst/>
              <a:rect l="l" t="t" r="r" b="b"/>
              <a:pathLst>
                <a:path h="90804">
                  <a:moveTo>
                    <a:pt x="0" y="0"/>
                  </a:moveTo>
                  <a:lnTo>
                    <a:pt x="0" y="9048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436812" y="5630863"/>
              <a:ext cx="182880" cy="0"/>
            </a:xfrm>
            <a:custGeom>
              <a:avLst/>
              <a:gdLst/>
              <a:ahLst/>
              <a:cxnLst/>
              <a:rect l="l" t="t" r="r" b="b"/>
              <a:pathLst>
                <a:path w="182880">
                  <a:moveTo>
                    <a:pt x="0" y="0"/>
                  </a:moveTo>
                  <a:lnTo>
                    <a:pt x="18256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495550" y="5684838"/>
              <a:ext cx="92075" cy="0"/>
            </a:xfrm>
            <a:custGeom>
              <a:avLst/>
              <a:gdLst/>
              <a:ahLst/>
              <a:cxnLst/>
              <a:rect l="l" t="t" r="r" b="b"/>
              <a:pathLst>
                <a:path w="92075">
                  <a:moveTo>
                    <a:pt x="92075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4208462" y="5202237"/>
            <a:ext cx="939800" cy="652780"/>
            <a:chOff x="4208462" y="5202237"/>
            <a:chExt cx="939800" cy="652780"/>
          </a:xfrm>
        </p:grpSpPr>
        <p:sp>
          <p:nvSpPr>
            <p:cNvPr id="18" name="object 18"/>
            <p:cNvSpPr/>
            <p:nvPr/>
          </p:nvSpPr>
          <p:spPr>
            <a:xfrm>
              <a:off x="4214812" y="5208587"/>
              <a:ext cx="732155" cy="640080"/>
            </a:xfrm>
            <a:custGeom>
              <a:avLst/>
              <a:gdLst/>
              <a:ahLst/>
              <a:cxnLst/>
              <a:rect l="l" t="t" r="r" b="b"/>
              <a:pathLst>
                <a:path w="732154" h="640079">
                  <a:moveTo>
                    <a:pt x="731837" y="0"/>
                  </a:moveTo>
                  <a:lnTo>
                    <a:pt x="0" y="0"/>
                  </a:lnTo>
                  <a:lnTo>
                    <a:pt x="0" y="639762"/>
                  </a:lnTo>
                  <a:lnTo>
                    <a:pt x="731837" y="639762"/>
                  </a:lnTo>
                  <a:lnTo>
                    <a:pt x="731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214812" y="5208587"/>
              <a:ext cx="732155" cy="640080"/>
            </a:xfrm>
            <a:custGeom>
              <a:avLst/>
              <a:gdLst/>
              <a:ahLst/>
              <a:cxnLst/>
              <a:rect l="l" t="t" r="r" b="b"/>
              <a:pathLst>
                <a:path w="732154" h="640079">
                  <a:moveTo>
                    <a:pt x="0" y="0"/>
                  </a:moveTo>
                  <a:lnTo>
                    <a:pt x="731837" y="0"/>
                  </a:lnTo>
                  <a:lnTo>
                    <a:pt x="731837" y="639762"/>
                  </a:lnTo>
                  <a:lnTo>
                    <a:pt x="0" y="639762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575175" y="5516563"/>
              <a:ext cx="567055" cy="9525"/>
            </a:xfrm>
            <a:custGeom>
              <a:avLst/>
              <a:gdLst/>
              <a:ahLst/>
              <a:cxnLst/>
              <a:rect l="l" t="t" r="r" b="b"/>
              <a:pathLst>
                <a:path w="567054" h="9525">
                  <a:moveTo>
                    <a:pt x="0" y="9525"/>
                  </a:moveTo>
                  <a:lnTo>
                    <a:pt x="56673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68825" y="5400662"/>
              <a:ext cx="2540" cy="121285"/>
            </a:xfrm>
            <a:custGeom>
              <a:avLst/>
              <a:gdLst/>
              <a:ahLst/>
              <a:cxnLst/>
              <a:rect l="l" t="t" r="r" b="b"/>
              <a:pathLst>
                <a:path w="2539" h="121285">
                  <a:moveTo>
                    <a:pt x="1041" y="-6350"/>
                  </a:moveTo>
                  <a:lnTo>
                    <a:pt x="1041" y="127012"/>
                  </a:lnTo>
                </a:path>
              </a:pathLst>
            </a:custGeom>
            <a:ln w="147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32588" y="5337178"/>
              <a:ext cx="76200" cy="77470"/>
            </a:xfrm>
            <a:custGeom>
              <a:avLst/>
              <a:gdLst/>
              <a:ahLst/>
              <a:cxnLst/>
              <a:rect l="l" t="t" r="r" b="b"/>
              <a:pathLst>
                <a:path w="76200" h="77470">
                  <a:moveTo>
                    <a:pt x="39408" y="0"/>
                  </a:moveTo>
                  <a:lnTo>
                    <a:pt x="0" y="75526"/>
                  </a:lnTo>
                  <a:lnTo>
                    <a:pt x="76187" y="76847"/>
                  </a:lnTo>
                  <a:lnTo>
                    <a:pt x="394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6345237" y="5202237"/>
            <a:ext cx="1068705" cy="652780"/>
            <a:chOff x="6345237" y="5202237"/>
            <a:chExt cx="1068705" cy="652780"/>
          </a:xfrm>
        </p:grpSpPr>
        <p:sp>
          <p:nvSpPr>
            <p:cNvPr id="24" name="object 24"/>
            <p:cNvSpPr/>
            <p:nvPr/>
          </p:nvSpPr>
          <p:spPr>
            <a:xfrm>
              <a:off x="6351587" y="5208587"/>
              <a:ext cx="732155" cy="640080"/>
            </a:xfrm>
            <a:custGeom>
              <a:avLst/>
              <a:gdLst/>
              <a:ahLst/>
              <a:cxnLst/>
              <a:rect l="l" t="t" r="r" b="b"/>
              <a:pathLst>
                <a:path w="732154" h="640079">
                  <a:moveTo>
                    <a:pt x="731837" y="0"/>
                  </a:moveTo>
                  <a:lnTo>
                    <a:pt x="0" y="0"/>
                  </a:lnTo>
                  <a:lnTo>
                    <a:pt x="0" y="639762"/>
                  </a:lnTo>
                  <a:lnTo>
                    <a:pt x="731837" y="639762"/>
                  </a:lnTo>
                  <a:lnTo>
                    <a:pt x="731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351587" y="5208587"/>
              <a:ext cx="732155" cy="640080"/>
            </a:xfrm>
            <a:custGeom>
              <a:avLst/>
              <a:gdLst/>
              <a:ahLst/>
              <a:cxnLst/>
              <a:rect l="l" t="t" r="r" b="b"/>
              <a:pathLst>
                <a:path w="732154" h="640079">
                  <a:moveTo>
                    <a:pt x="0" y="0"/>
                  </a:moveTo>
                  <a:lnTo>
                    <a:pt x="731837" y="0"/>
                  </a:lnTo>
                  <a:lnTo>
                    <a:pt x="731837" y="639762"/>
                  </a:lnTo>
                  <a:lnTo>
                    <a:pt x="0" y="639762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767513" y="5521325"/>
              <a:ext cx="640080" cy="5080"/>
            </a:xfrm>
            <a:custGeom>
              <a:avLst/>
              <a:gdLst/>
              <a:ahLst/>
              <a:cxnLst/>
              <a:rect l="l" t="t" r="r" b="b"/>
              <a:pathLst>
                <a:path w="640079" h="5079">
                  <a:moveTo>
                    <a:pt x="0" y="0"/>
                  </a:moveTo>
                  <a:lnTo>
                    <a:pt x="639762" y="4762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789112" y="5932360"/>
            <a:ext cx="146431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 MT"/>
                <a:cs typeface="Arial MT"/>
              </a:rPr>
              <a:t>The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Output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is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Low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237981" y="6564531"/>
            <a:ext cx="16510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r>
              <a:rPr sz="1400" spc="-5" dirty="0">
                <a:solidFill>
                  <a:srgbClr val="EBEBEB"/>
                </a:solidFill>
                <a:latin typeface="Times New Roman"/>
                <a:cs typeface="Times New Roman"/>
              </a:rPr>
              <a:t>3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840123" y="5932360"/>
            <a:ext cx="150304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 MT"/>
                <a:cs typeface="Arial MT"/>
              </a:rPr>
              <a:t>The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Output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is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High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063532" y="5932360"/>
            <a:ext cx="13195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 MT"/>
                <a:cs typeface="Arial MT"/>
              </a:rPr>
              <a:t>High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Impedance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6350" y="0"/>
            <a:ext cx="9156700" cy="6870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515938" cy="68579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263381" y="6545198"/>
            <a:ext cx="1143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solidFill>
                  <a:srgbClr val="EBEBEB"/>
                </a:solidFill>
                <a:latin typeface="Times New Roman"/>
                <a:cs typeface="Times New Roman"/>
              </a:rPr>
              <a:t>4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64540" y="1010665"/>
            <a:ext cx="4050029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9" dirty="0">
                <a:solidFill>
                  <a:srgbClr val="FFFFCC"/>
                </a:solidFill>
                <a:latin typeface="Arial MT"/>
                <a:cs typeface="Arial MT"/>
              </a:rPr>
              <a:t>The</a:t>
            </a:r>
            <a:r>
              <a:rPr spc="-220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300" dirty="0">
                <a:solidFill>
                  <a:srgbClr val="FFFFCC"/>
                </a:solidFill>
                <a:latin typeface="Arial MT"/>
                <a:cs typeface="Arial MT"/>
              </a:rPr>
              <a:t>Tri-</a:t>
            </a:r>
            <a:r>
              <a:rPr spc="-375" dirty="0">
                <a:solidFill>
                  <a:srgbClr val="FFFFCC"/>
                </a:solidFill>
                <a:latin typeface="Arial MT"/>
                <a:cs typeface="Arial MT"/>
              </a:rPr>
              <a:t>State</a:t>
            </a:r>
            <a:r>
              <a:rPr spc="-210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355" dirty="0">
                <a:solidFill>
                  <a:srgbClr val="FFFFCC"/>
                </a:solidFill>
                <a:latin typeface="Arial MT"/>
                <a:cs typeface="Arial MT"/>
              </a:rPr>
              <a:t>Buffer</a:t>
            </a: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7239" y="2197608"/>
            <a:ext cx="215645" cy="22707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33677" y="2762250"/>
            <a:ext cx="177545" cy="18668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33677" y="3701033"/>
            <a:ext cx="177545" cy="18668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07439" y="1906452"/>
            <a:ext cx="6967855" cy="3674745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3200" spc="-275" dirty="0">
                <a:latin typeface="Arial MT"/>
                <a:cs typeface="Arial MT"/>
              </a:rPr>
              <a:t>This</a:t>
            </a:r>
            <a:r>
              <a:rPr sz="3200" spc="-160" dirty="0">
                <a:latin typeface="Arial MT"/>
                <a:cs typeface="Arial MT"/>
              </a:rPr>
              <a:t> </a:t>
            </a:r>
            <a:r>
              <a:rPr sz="3200" spc="-220" dirty="0">
                <a:latin typeface="Arial MT"/>
                <a:cs typeface="Arial MT"/>
              </a:rPr>
              <a:t>circuit</a:t>
            </a:r>
            <a:r>
              <a:rPr sz="3200" spc="-150" dirty="0">
                <a:latin typeface="Arial MT"/>
                <a:cs typeface="Arial MT"/>
              </a:rPr>
              <a:t> </a:t>
            </a:r>
            <a:r>
              <a:rPr sz="3200" spc="-315" dirty="0">
                <a:latin typeface="Arial MT"/>
                <a:cs typeface="Arial MT"/>
              </a:rPr>
              <a:t>has</a:t>
            </a:r>
            <a:r>
              <a:rPr sz="3200" spc="-150" dirty="0">
                <a:latin typeface="Arial MT"/>
                <a:cs typeface="Arial MT"/>
              </a:rPr>
              <a:t> </a:t>
            </a:r>
            <a:r>
              <a:rPr sz="3200" spc="-305" dirty="0">
                <a:latin typeface="Arial MT"/>
                <a:cs typeface="Arial MT"/>
              </a:rPr>
              <a:t>two</a:t>
            </a:r>
            <a:r>
              <a:rPr sz="3200" spc="-160" dirty="0">
                <a:latin typeface="Arial MT"/>
                <a:cs typeface="Arial MT"/>
              </a:rPr>
              <a:t> </a:t>
            </a:r>
            <a:r>
              <a:rPr sz="3200" spc="-260" dirty="0">
                <a:latin typeface="Arial MT"/>
                <a:cs typeface="Arial MT"/>
              </a:rPr>
              <a:t>inputs</a:t>
            </a:r>
            <a:r>
              <a:rPr sz="3200" spc="-150" dirty="0">
                <a:latin typeface="Arial MT"/>
                <a:cs typeface="Arial MT"/>
              </a:rPr>
              <a:t> </a:t>
            </a:r>
            <a:r>
              <a:rPr sz="3200" spc="-325" dirty="0">
                <a:latin typeface="Arial MT"/>
                <a:cs typeface="Arial MT"/>
              </a:rPr>
              <a:t>and</a:t>
            </a:r>
            <a:r>
              <a:rPr sz="3200" spc="-155" dirty="0">
                <a:latin typeface="Arial MT"/>
                <a:cs typeface="Arial MT"/>
              </a:rPr>
              <a:t> </a:t>
            </a:r>
            <a:r>
              <a:rPr sz="3200" spc="-325" dirty="0">
                <a:latin typeface="Arial MT"/>
                <a:cs typeface="Arial MT"/>
              </a:rPr>
              <a:t>one</a:t>
            </a:r>
            <a:r>
              <a:rPr sz="3200" spc="-155" dirty="0">
                <a:latin typeface="Arial MT"/>
                <a:cs typeface="Arial MT"/>
              </a:rPr>
              <a:t> </a:t>
            </a:r>
            <a:r>
              <a:rPr sz="3200" spc="-254" dirty="0">
                <a:latin typeface="Arial MT"/>
                <a:cs typeface="Arial MT"/>
              </a:rPr>
              <a:t>output.</a:t>
            </a:r>
            <a:endParaRPr sz="3200">
              <a:latin typeface="Arial MT"/>
              <a:cs typeface="Arial MT"/>
            </a:endParaRPr>
          </a:p>
          <a:p>
            <a:pPr marL="412750" marR="5080">
              <a:lnSpc>
                <a:spcPct val="100000"/>
              </a:lnSpc>
              <a:spcBef>
                <a:spcPts val="680"/>
              </a:spcBef>
            </a:pPr>
            <a:r>
              <a:rPr sz="2800" spc="-290" dirty="0">
                <a:latin typeface="Arial MT"/>
                <a:cs typeface="Arial MT"/>
              </a:rPr>
              <a:t>The</a:t>
            </a:r>
            <a:r>
              <a:rPr sz="2800" spc="-155" dirty="0">
                <a:latin typeface="Arial MT"/>
                <a:cs typeface="Arial MT"/>
              </a:rPr>
              <a:t> </a:t>
            </a:r>
            <a:r>
              <a:rPr sz="2800" spc="-145" dirty="0">
                <a:latin typeface="Arial MT"/>
                <a:cs typeface="Arial MT"/>
              </a:rPr>
              <a:t>f</a:t>
            </a:r>
            <a:r>
              <a:rPr sz="2800" spc="-114" dirty="0">
                <a:latin typeface="Arial MT"/>
                <a:cs typeface="Arial MT"/>
              </a:rPr>
              <a:t>i</a:t>
            </a:r>
            <a:r>
              <a:rPr sz="2800" spc="-175" dirty="0">
                <a:latin typeface="Arial MT"/>
                <a:cs typeface="Arial MT"/>
              </a:rPr>
              <a:t>r</a:t>
            </a:r>
            <a:r>
              <a:rPr sz="2800" spc="-254" dirty="0">
                <a:latin typeface="Arial MT"/>
                <a:cs typeface="Arial MT"/>
              </a:rPr>
              <a:t>s</a:t>
            </a:r>
            <a:r>
              <a:rPr sz="2800" spc="-140" dirty="0">
                <a:latin typeface="Arial MT"/>
                <a:cs typeface="Arial MT"/>
              </a:rPr>
              <a:t>t </a:t>
            </a:r>
            <a:r>
              <a:rPr sz="2800" spc="-220" dirty="0">
                <a:latin typeface="Arial MT"/>
                <a:cs typeface="Arial MT"/>
              </a:rPr>
              <a:t>input</a:t>
            </a:r>
            <a:r>
              <a:rPr sz="2800" spc="-155" dirty="0">
                <a:latin typeface="Arial MT"/>
                <a:cs typeface="Arial MT"/>
              </a:rPr>
              <a:t> </a:t>
            </a:r>
            <a:r>
              <a:rPr sz="2800" spc="-275" dirty="0">
                <a:latin typeface="Arial MT"/>
                <a:cs typeface="Arial MT"/>
              </a:rPr>
              <a:t>behaves</a:t>
            </a:r>
            <a:r>
              <a:rPr sz="2800" spc="-160" dirty="0">
                <a:latin typeface="Arial MT"/>
                <a:cs typeface="Arial MT"/>
              </a:rPr>
              <a:t> lik</a:t>
            </a:r>
            <a:r>
              <a:rPr sz="2800" spc="-280" dirty="0">
                <a:latin typeface="Arial MT"/>
                <a:cs typeface="Arial MT"/>
              </a:rPr>
              <a:t>e</a:t>
            </a:r>
            <a:r>
              <a:rPr sz="2800" spc="-145" dirty="0">
                <a:latin typeface="Arial MT"/>
                <a:cs typeface="Arial MT"/>
              </a:rPr>
              <a:t> t</a:t>
            </a:r>
            <a:r>
              <a:rPr sz="2800" spc="-280" dirty="0">
                <a:latin typeface="Arial MT"/>
                <a:cs typeface="Arial MT"/>
              </a:rPr>
              <a:t>he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280" dirty="0">
                <a:latin typeface="Arial MT"/>
                <a:cs typeface="Arial MT"/>
              </a:rPr>
              <a:t>no</a:t>
            </a:r>
            <a:r>
              <a:rPr sz="2800" spc="-175" dirty="0">
                <a:latin typeface="Arial MT"/>
                <a:cs typeface="Arial MT"/>
              </a:rPr>
              <a:t>r</a:t>
            </a:r>
            <a:r>
              <a:rPr sz="2800" spc="-270" dirty="0">
                <a:latin typeface="Arial MT"/>
                <a:cs typeface="Arial MT"/>
              </a:rPr>
              <a:t>mal</a:t>
            </a:r>
            <a:r>
              <a:rPr sz="2800" spc="-150" dirty="0">
                <a:latin typeface="Arial MT"/>
                <a:cs typeface="Arial MT"/>
              </a:rPr>
              <a:t> </a:t>
            </a:r>
            <a:r>
              <a:rPr sz="2800" spc="-220" dirty="0">
                <a:latin typeface="Arial MT"/>
                <a:cs typeface="Arial MT"/>
              </a:rPr>
              <a:t>input</a:t>
            </a:r>
            <a:r>
              <a:rPr sz="2800" spc="-155" dirty="0">
                <a:latin typeface="Arial MT"/>
                <a:cs typeface="Arial MT"/>
              </a:rPr>
              <a:t> </a:t>
            </a:r>
            <a:r>
              <a:rPr sz="2800" spc="-145" dirty="0">
                <a:latin typeface="Arial MT"/>
                <a:cs typeface="Arial MT"/>
              </a:rPr>
              <a:t>f</a:t>
            </a:r>
            <a:r>
              <a:rPr sz="2800" spc="-225" dirty="0">
                <a:latin typeface="Arial MT"/>
                <a:cs typeface="Arial MT"/>
              </a:rPr>
              <a:t>or</a:t>
            </a:r>
            <a:r>
              <a:rPr sz="2800" spc="-145" dirty="0">
                <a:latin typeface="Arial MT"/>
                <a:cs typeface="Arial MT"/>
              </a:rPr>
              <a:t> t</a:t>
            </a:r>
            <a:r>
              <a:rPr sz="2800" spc="-210" dirty="0">
                <a:latin typeface="Arial MT"/>
                <a:cs typeface="Arial MT"/>
              </a:rPr>
              <a:t>he  </a:t>
            </a:r>
            <a:r>
              <a:rPr sz="2800" spc="-185" dirty="0">
                <a:latin typeface="Arial MT"/>
                <a:cs typeface="Arial MT"/>
              </a:rPr>
              <a:t>circuit.</a:t>
            </a:r>
            <a:endParaRPr sz="2800">
              <a:latin typeface="Arial MT"/>
              <a:cs typeface="Arial MT"/>
            </a:endParaRPr>
          </a:p>
          <a:p>
            <a:pPr marL="412750">
              <a:lnSpc>
                <a:spcPct val="100000"/>
              </a:lnSpc>
              <a:spcBef>
                <a:spcPts val="670"/>
              </a:spcBef>
            </a:pPr>
            <a:r>
              <a:rPr sz="2800" spc="-290" dirty="0">
                <a:latin typeface="Arial MT"/>
                <a:cs typeface="Arial MT"/>
              </a:rPr>
              <a:t>The</a:t>
            </a:r>
            <a:r>
              <a:rPr sz="2800" spc="-155" dirty="0">
                <a:latin typeface="Arial MT"/>
                <a:cs typeface="Arial MT"/>
              </a:rPr>
              <a:t> </a:t>
            </a:r>
            <a:r>
              <a:rPr sz="2800" spc="-270" dirty="0">
                <a:latin typeface="Arial MT"/>
                <a:cs typeface="Arial MT"/>
              </a:rPr>
              <a:t>second</a:t>
            </a:r>
            <a:r>
              <a:rPr sz="2800" spc="-165" dirty="0">
                <a:latin typeface="Arial MT"/>
                <a:cs typeface="Arial MT"/>
              </a:rPr>
              <a:t> </a:t>
            </a:r>
            <a:r>
              <a:rPr sz="2800" spc="-220" dirty="0">
                <a:latin typeface="Arial MT"/>
                <a:cs typeface="Arial MT"/>
              </a:rPr>
              <a:t>input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185" dirty="0">
                <a:latin typeface="Arial MT"/>
                <a:cs typeface="Arial MT"/>
              </a:rPr>
              <a:t>is</a:t>
            </a:r>
            <a:r>
              <a:rPr sz="2800" spc="-140" dirty="0">
                <a:latin typeface="Arial MT"/>
                <a:cs typeface="Arial MT"/>
              </a:rPr>
              <a:t> </a:t>
            </a:r>
            <a:r>
              <a:rPr sz="2800" spc="-280" dirty="0">
                <a:latin typeface="Arial MT"/>
                <a:cs typeface="Arial MT"/>
              </a:rPr>
              <a:t>an</a:t>
            </a:r>
            <a:r>
              <a:rPr sz="2800" spc="-150" dirty="0">
                <a:latin typeface="Arial MT"/>
                <a:cs typeface="Arial MT"/>
              </a:rPr>
              <a:t> </a:t>
            </a:r>
            <a:r>
              <a:rPr sz="2800" spc="-170" dirty="0">
                <a:latin typeface="Arial MT"/>
                <a:cs typeface="Arial MT"/>
              </a:rPr>
              <a:t>“</a:t>
            </a:r>
            <a:r>
              <a:rPr sz="2800" b="1" spc="-295" dirty="0">
                <a:latin typeface="Arial"/>
                <a:cs typeface="Arial"/>
              </a:rPr>
              <a:t>enab</a:t>
            </a:r>
            <a:r>
              <a:rPr sz="2800" b="1" spc="-145" dirty="0">
                <a:latin typeface="Arial"/>
                <a:cs typeface="Arial"/>
              </a:rPr>
              <a:t>l</a:t>
            </a:r>
            <a:r>
              <a:rPr sz="2800" b="1" spc="-280" dirty="0">
                <a:latin typeface="Arial"/>
                <a:cs typeface="Arial"/>
              </a:rPr>
              <a:t>e</a:t>
            </a:r>
            <a:r>
              <a:rPr sz="2800" spc="-160" dirty="0">
                <a:latin typeface="Arial MT"/>
                <a:cs typeface="Arial MT"/>
              </a:rPr>
              <a:t>”.</a:t>
            </a:r>
            <a:endParaRPr sz="2800">
              <a:latin typeface="Arial MT"/>
              <a:cs typeface="Arial MT"/>
            </a:endParaRPr>
          </a:p>
          <a:p>
            <a:pPr marL="812165" marR="587375" indent="-228600">
              <a:lnSpc>
                <a:spcPct val="100000"/>
              </a:lnSpc>
              <a:spcBef>
                <a:spcPts val="590"/>
              </a:spcBef>
              <a:buClr>
                <a:srgbClr val="CCFFCC"/>
              </a:buClr>
              <a:buSzPct val="60416"/>
              <a:buFont typeface="Wingdings"/>
              <a:buChar char=""/>
              <a:tabLst>
                <a:tab pos="812800" algn="l"/>
              </a:tabLst>
            </a:pPr>
            <a:r>
              <a:rPr sz="2400" spc="-125" dirty="0">
                <a:latin typeface="Arial MT"/>
                <a:cs typeface="Arial MT"/>
              </a:rPr>
              <a:t>If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spc="-110" dirty="0">
                <a:latin typeface="Arial MT"/>
                <a:cs typeface="Arial MT"/>
              </a:rPr>
              <a:t>it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160" dirty="0">
                <a:latin typeface="Arial MT"/>
                <a:cs typeface="Arial MT"/>
              </a:rPr>
              <a:t>is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195" dirty="0">
                <a:latin typeface="Arial MT"/>
                <a:cs typeface="Arial MT"/>
              </a:rPr>
              <a:t>set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195" dirty="0">
                <a:latin typeface="Arial MT"/>
                <a:cs typeface="Arial MT"/>
              </a:rPr>
              <a:t>high,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204" dirty="0">
                <a:latin typeface="Arial MT"/>
                <a:cs typeface="Arial MT"/>
              </a:rPr>
              <a:t>the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204" dirty="0">
                <a:latin typeface="Arial MT"/>
                <a:cs typeface="Arial MT"/>
              </a:rPr>
              <a:t>output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95" dirty="0">
                <a:latin typeface="Arial MT"/>
                <a:cs typeface="Arial MT"/>
              </a:rPr>
              <a:t>follows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204" dirty="0">
                <a:latin typeface="Arial MT"/>
                <a:cs typeface="Arial MT"/>
              </a:rPr>
              <a:t>the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215" dirty="0">
                <a:latin typeface="Arial MT"/>
                <a:cs typeface="Arial MT"/>
              </a:rPr>
              <a:t>proper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165" dirty="0">
                <a:latin typeface="Arial MT"/>
                <a:cs typeface="Arial MT"/>
              </a:rPr>
              <a:t>circuit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200" dirty="0">
                <a:latin typeface="Arial MT"/>
                <a:cs typeface="Arial MT"/>
              </a:rPr>
              <a:t>behavior.</a:t>
            </a:r>
            <a:endParaRPr sz="2400">
              <a:latin typeface="Arial MT"/>
              <a:cs typeface="Arial MT"/>
            </a:endParaRPr>
          </a:p>
          <a:p>
            <a:pPr marL="812165" marR="111760" indent="-228600">
              <a:lnSpc>
                <a:spcPct val="100000"/>
              </a:lnSpc>
              <a:spcBef>
                <a:spcPts val="575"/>
              </a:spcBef>
              <a:buClr>
                <a:srgbClr val="CCFFCC"/>
              </a:buClr>
              <a:buSzPct val="60416"/>
              <a:buFont typeface="Wingdings"/>
              <a:buChar char=""/>
              <a:tabLst>
                <a:tab pos="812800" algn="l"/>
              </a:tabLst>
            </a:pPr>
            <a:r>
              <a:rPr sz="2400" spc="-125" dirty="0">
                <a:latin typeface="Arial MT"/>
                <a:cs typeface="Arial MT"/>
              </a:rPr>
              <a:t>I</a:t>
            </a:r>
            <a:r>
              <a:rPr sz="2400" spc="-120" dirty="0">
                <a:latin typeface="Arial MT"/>
                <a:cs typeface="Arial MT"/>
              </a:rPr>
              <a:t>f </a:t>
            </a:r>
            <a:r>
              <a:rPr sz="2400" spc="-110" dirty="0">
                <a:latin typeface="Arial MT"/>
                <a:cs typeface="Arial MT"/>
              </a:rPr>
              <a:t>it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spc="-160" dirty="0">
                <a:latin typeface="Arial MT"/>
                <a:cs typeface="Arial MT"/>
              </a:rPr>
              <a:t>is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220" dirty="0">
                <a:latin typeface="Arial MT"/>
                <a:cs typeface="Arial MT"/>
              </a:rPr>
              <a:t>s</a:t>
            </a:r>
            <a:r>
              <a:rPr sz="2400" spc="-250" dirty="0">
                <a:latin typeface="Arial MT"/>
                <a:cs typeface="Arial MT"/>
              </a:rPr>
              <a:t>e</a:t>
            </a:r>
            <a:r>
              <a:rPr sz="2400" spc="-120" dirty="0">
                <a:latin typeface="Arial MT"/>
                <a:cs typeface="Arial MT"/>
              </a:rPr>
              <a:t>t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00" dirty="0">
                <a:latin typeface="Arial MT"/>
                <a:cs typeface="Arial MT"/>
              </a:rPr>
              <a:t>l</a:t>
            </a:r>
            <a:r>
              <a:rPr sz="2400" spc="-250" dirty="0">
                <a:latin typeface="Arial MT"/>
                <a:cs typeface="Arial MT"/>
              </a:rPr>
              <a:t>o</a:t>
            </a:r>
            <a:r>
              <a:rPr sz="2400" spc="-220" dirty="0">
                <a:latin typeface="Arial MT"/>
                <a:cs typeface="Arial MT"/>
              </a:rPr>
              <a:t>w,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125" dirty="0">
                <a:latin typeface="Arial MT"/>
                <a:cs typeface="Arial MT"/>
              </a:rPr>
              <a:t>t</a:t>
            </a:r>
            <a:r>
              <a:rPr sz="2400" spc="-250" dirty="0">
                <a:latin typeface="Arial MT"/>
                <a:cs typeface="Arial MT"/>
              </a:rPr>
              <a:t>h</a:t>
            </a:r>
            <a:r>
              <a:rPr sz="2400" spc="-245" dirty="0">
                <a:latin typeface="Arial MT"/>
                <a:cs typeface="Arial MT"/>
              </a:rPr>
              <a:t>e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250" dirty="0">
                <a:latin typeface="Arial MT"/>
                <a:cs typeface="Arial MT"/>
              </a:rPr>
              <a:t>ou</a:t>
            </a:r>
            <a:r>
              <a:rPr sz="2400" spc="-125" dirty="0">
                <a:latin typeface="Arial MT"/>
                <a:cs typeface="Arial MT"/>
              </a:rPr>
              <a:t>t</a:t>
            </a:r>
            <a:r>
              <a:rPr sz="2400" spc="-245" dirty="0">
                <a:latin typeface="Arial MT"/>
                <a:cs typeface="Arial MT"/>
              </a:rPr>
              <a:t>pu</a:t>
            </a:r>
            <a:r>
              <a:rPr sz="2400" spc="-120" dirty="0">
                <a:latin typeface="Arial MT"/>
                <a:cs typeface="Arial MT"/>
              </a:rPr>
              <a:t>t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0" dirty="0">
                <a:latin typeface="Arial MT"/>
                <a:cs typeface="Arial MT"/>
              </a:rPr>
              <a:t>l</a:t>
            </a:r>
            <a:r>
              <a:rPr sz="2400" spc="-250" dirty="0">
                <a:latin typeface="Arial MT"/>
                <a:cs typeface="Arial MT"/>
              </a:rPr>
              <a:t>oo</a:t>
            </a:r>
            <a:r>
              <a:rPr sz="2400" spc="-220" dirty="0">
                <a:latin typeface="Arial MT"/>
                <a:cs typeface="Arial MT"/>
              </a:rPr>
              <a:t>ks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65" dirty="0">
                <a:latin typeface="Arial MT"/>
                <a:cs typeface="Arial MT"/>
              </a:rPr>
              <a:t>like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245" dirty="0">
                <a:latin typeface="Arial MT"/>
                <a:cs typeface="Arial MT"/>
              </a:rPr>
              <a:t>a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204" dirty="0">
                <a:latin typeface="Arial MT"/>
                <a:cs typeface="Arial MT"/>
              </a:rPr>
              <a:t>wi</a:t>
            </a:r>
            <a:r>
              <a:rPr sz="2400" spc="-150" dirty="0">
                <a:latin typeface="Arial MT"/>
                <a:cs typeface="Arial MT"/>
              </a:rPr>
              <a:t>r</a:t>
            </a:r>
            <a:r>
              <a:rPr sz="2400" spc="-245" dirty="0">
                <a:latin typeface="Arial MT"/>
                <a:cs typeface="Arial MT"/>
              </a:rPr>
              <a:t>e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220" dirty="0">
                <a:latin typeface="Arial MT"/>
                <a:cs typeface="Arial MT"/>
              </a:rPr>
              <a:t>c</a:t>
            </a:r>
            <a:r>
              <a:rPr sz="2400" spc="-250" dirty="0">
                <a:latin typeface="Arial MT"/>
                <a:cs typeface="Arial MT"/>
              </a:rPr>
              <a:t>on</a:t>
            </a:r>
            <a:r>
              <a:rPr sz="2400" spc="-235" dirty="0">
                <a:latin typeface="Arial MT"/>
                <a:cs typeface="Arial MT"/>
              </a:rPr>
              <a:t>nec</a:t>
            </a:r>
            <a:r>
              <a:rPr sz="2400" spc="-120" dirty="0">
                <a:latin typeface="Arial MT"/>
                <a:cs typeface="Arial MT"/>
              </a:rPr>
              <a:t>t</a:t>
            </a:r>
            <a:r>
              <a:rPr sz="2400" spc="-245" dirty="0">
                <a:latin typeface="Arial MT"/>
                <a:cs typeface="Arial MT"/>
              </a:rPr>
              <a:t>ed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125" dirty="0">
                <a:latin typeface="Arial MT"/>
                <a:cs typeface="Arial MT"/>
              </a:rPr>
              <a:t>t</a:t>
            </a:r>
            <a:r>
              <a:rPr sz="2400" spc="-165" dirty="0">
                <a:latin typeface="Arial MT"/>
                <a:cs typeface="Arial MT"/>
              </a:rPr>
              <a:t>o  </a:t>
            </a:r>
            <a:r>
              <a:rPr sz="2400" spc="-195" dirty="0">
                <a:latin typeface="Arial MT"/>
                <a:cs typeface="Arial MT"/>
              </a:rPr>
              <a:t>nothing.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214562" y="5365750"/>
            <a:ext cx="1574800" cy="908050"/>
            <a:chOff x="2214562" y="5365750"/>
            <a:chExt cx="1574800" cy="908050"/>
          </a:xfrm>
        </p:grpSpPr>
        <p:sp>
          <p:nvSpPr>
            <p:cNvPr id="11" name="object 11"/>
            <p:cNvSpPr/>
            <p:nvPr/>
          </p:nvSpPr>
          <p:spPr>
            <a:xfrm>
              <a:off x="2824162" y="5372100"/>
              <a:ext cx="533400" cy="736600"/>
            </a:xfrm>
            <a:custGeom>
              <a:avLst/>
              <a:gdLst/>
              <a:ahLst/>
              <a:cxnLst/>
              <a:rect l="l" t="t" r="r" b="b"/>
              <a:pathLst>
                <a:path w="533400" h="736600">
                  <a:moveTo>
                    <a:pt x="0" y="0"/>
                  </a:moveTo>
                  <a:lnTo>
                    <a:pt x="533400" y="368300"/>
                  </a:lnTo>
                  <a:lnTo>
                    <a:pt x="0" y="7366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214562" y="5740400"/>
              <a:ext cx="609600" cy="0"/>
            </a:xfrm>
            <a:custGeom>
              <a:avLst/>
              <a:gdLst/>
              <a:ahLst/>
              <a:cxnLst/>
              <a:rect l="l" t="t" r="r" b="b"/>
              <a:pathLst>
                <a:path w="609600">
                  <a:moveTo>
                    <a:pt x="6096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357562" y="5740400"/>
              <a:ext cx="431800" cy="0"/>
            </a:xfrm>
            <a:custGeom>
              <a:avLst/>
              <a:gdLst/>
              <a:ahLst/>
              <a:cxnLst/>
              <a:rect l="l" t="t" r="r" b="b"/>
              <a:pathLst>
                <a:path w="431800">
                  <a:moveTo>
                    <a:pt x="0" y="0"/>
                  </a:moveTo>
                  <a:lnTo>
                    <a:pt x="4318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103562" y="5905500"/>
              <a:ext cx="0" cy="368300"/>
            </a:xfrm>
            <a:custGeom>
              <a:avLst/>
              <a:gdLst/>
              <a:ahLst/>
              <a:cxnLst/>
              <a:rect l="l" t="t" r="r" b="b"/>
              <a:pathLst>
                <a:path h="368300">
                  <a:moveTo>
                    <a:pt x="0" y="0"/>
                  </a:moveTo>
                  <a:lnTo>
                    <a:pt x="0" y="3683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617027" y="5619654"/>
            <a:ext cx="285877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310765" algn="l"/>
              </a:tabLst>
            </a:pPr>
            <a:r>
              <a:rPr sz="2100" spc="-7" baseline="1984" dirty="0">
                <a:latin typeface="Arial MT"/>
                <a:cs typeface="Arial MT"/>
              </a:rPr>
              <a:t>Input	</a:t>
            </a:r>
            <a:r>
              <a:rPr sz="1400" spc="-5" dirty="0">
                <a:latin typeface="Arial MT"/>
                <a:cs typeface="Arial MT"/>
              </a:rPr>
              <a:t>Output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812977" y="6446663"/>
            <a:ext cx="57912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 MT"/>
                <a:cs typeface="Arial MT"/>
              </a:rPr>
              <a:t>E</a:t>
            </a:r>
            <a:r>
              <a:rPr sz="1400" spc="-5" dirty="0">
                <a:latin typeface="Arial MT"/>
                <a:cs typeface="Arial MT"/>
              </a:rPr>
              <a:t>nable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684964" y="5365750"/>
            <a:ext cx="1574800" cy="913130"/>
            <a:chOff x="6684964" y="5365750"/>
            <a:chExt cx="1574800" cy="913130"/>
          </a:xfrm>
        </p:grpSpPr>
        <p:sp>
          <p:nvSpPr>
            <p:cNvPr id="18" name="object 18"/>
            <p:cNvSpPr/>
            <p:nvPr/>
          </p:nvSpPr>
          <p:spPr>
            <a:xfrm>
              <a:off x="7294564" y="5372100"/>
              <a:ext cx="533400" cy="736600"/>
            </a:xfrm>
            <a:custGeom>
              <a:avLst/>
              <a:gdLst/>
              <a:ahLst/>
              <a:cxnLst/>
              <a:rect l="l" t="t" r="r" b="b"/>
              <a:pathLst>
                <a:path w="533400" h="736600">
                  <a:moveTo>
                    <a:pt x="0" y="0"/>
                  </a:moveTo>
                  <a:lnTo>
                    <a:pt x="533400" y="368300"/>
                  </a:lnTo>
                  <a:lnTo>
                    <a:pt x="0" y="7366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684964" y="5740400"/>
              <a:ext cx="609600" cy="0"/>
            </a:xfrm>
            <a:custGeom>
              <a:avLst/>
              <a:gdLst/>
              <a:ahLst/>
              <a:cxnLst/>
              <a:rect l="l" t="t" r="r" b="b"/>
              <a:pathLst>
                <a:path w="609600">
                  <a:moveTo>
                    <a:pt x="6096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827964" y="5740400"/>
              <a:ext cx="431800" cy="0"/>
            </a:xfrm>
            <a:custGeom>
              <a:avLst/>
              <a:gdLst/>
              <a:ahLst/>
              <a:cxnLst/>
              <a:rect l="l" t="t" r="r" b="b"/>
              <a:pathLst>
                <a:path w="431800">
                  <a:moveTo>
                    <a:pt x="0" y="0"/>
                  </a:moveTo>
                  <a:lnTo>
                    <a:pt x="4318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575550" y="5994400"/>
              <a:ext cx="1905" cy="278130"/>
            </a:xfrm>
            <a:custGeom>
              <a:avLst/>
              <a:gdLst/>
              <a:ahLst/>
              <a:cxnLst/>
              <a:rect l="l" t="t" r="r" b="b"/>
              <a:pathLst>
                <a:path w="1904" h="278129">
                  <a:moveTo>
                    <a:pt x="0" y="0"/>
                  </a:moveTo>
                  <a:lnTo>
                    <a:pt x="1587" y="277812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26339" y="5905494"/>
              <a:ext cx="85725" cy="87325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6087427" y="5614860"/>
            <a:ext cx="42227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 MT"/>
                <a:cs typeface="Arial MT"/>
              </a:rPr>
              <a:t>Input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373509" y="5619654"/>
            <a:ext cx="56007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 MT"/>
                <a:cs typeface="Arial MT"/>
              </a:rPr>
              <a:t>O</a:t>
            </a:r>
            <a:r>
              <a:rPr sz="1400" spc="-5" dirty="0">
                <a:latin typeface="Arial MT"/>
                <a:cs typeface="Arial MT"/>
              </a:rPr>
              <a:t>utput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284442" y="6446663"/>
            <a:ext cx="57912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 MT"/>
                <a:cs typeface="Arial MT"/>
              </a:rPr>
              <a:t>E</a:t>
            </a:r>
            <a:r>
              <a:rPr sz="1400" spc="-5" dirty="0">
                <a:latin typeface="Arial MT"/>
                <a:cs typeface="Arial MT"/>
              </a:rPr>
              <a:t>nable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269164" y="6438900"/>
            <a:ext cx="571500" cy="0"/>
          </a:xfrm>
          <a:custGeom>
            <a:avLst/>
            <a:gdLst/>
            <a:ahLst/>
            <a:cxnLst/>
            <a:rect l="l" t="t" r="r" b="b"/>
            <a:pathLst>
              <a:path w="571500">
                <a:moveTo>
                  <a:pt x="0" y="0"/>
                </a:moveTo>
                <a:lnTo>
                  <a:pt x="5715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5122227" y="5549836"/>
            <a:ext cx="368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OR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6350" y="0"/>
            <a:ext cx="9156700" cy="6870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515938" cy="68579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28039" y="401065"/>
            <a:ext cx="565340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9" dirty="0">
                <a:solidFill>
                  <a:srgbClr val="FFFFCC"/>
                </a:solidFill>
                <a:latin typeface="Arial MT"/>
                <a:cs typeface="Arial MT"/>
              </a:rPr>
              <a:t>The</a:t>
            </a:r>
            <a:r>
              <a:rPr spc="-220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459" dirty="0">
                <a:solidFill>
                  <a:srgbClr val="FFFFCC"/>
                </a:solidFill>
                <a:latin typeface="Arial MT"/>
                <a:cs typeface="Arial MT"/>
              </a:rPr>
              <a:t>Bas</a:t>
            </a:r>
            <a:r>
              <a:rPr spc="-180" dirty="0">
                <a:solidFill>
                  <a:srgbClr val="FFFFCC"/>
                </a:solidFill>
                <a:latin typeface="Arial MT"/>
                <a:cs typeface="Arial MT"/>
              </a:rPr>
              <a:t>i</a:t>
            </a:r>
            <a:r>
              <a:rPr spc="-400" dirty="0">
                <a:solidFill>
                  <a:srgbClr val="FFFFCC"/>
                </a:solidFill>
                <a:latin typeface="Arial MT"/>
                <a:cs typeface="Arial MT"/>
              </a:rPr>
              <a:t>c</a:t>
            </a:r>
            <a:r>
              <a:rPr spc="-220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480" dirty="0">
                <a:solidFill>
                  <a:srgbClr val="FFFFCC"/>
                </a:solidFill>
                <a:latin typeface="Arial MT"/>
                <a:cs typeface="Arial MT"/>
              </a:rPr>
              <a:t>Memory</a:t>
            </a:r>
            <a:r>
              <a:rPr spc="-225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355" dirty="0">
                <a:solidFill>
                  <a:srgbClr val="FFFFCC"/>
                </a:solidFill>
                <a:latin typeface="Arial MT"/>
                <a:cs typeface="Arial MT"/>
              </a:rPr>
              <a:t>El</a:t>
            </a:r>
            <a:r>
              <a:rPr spc="-445" dirty="0">
                <a:solidFill>
                  <a:srgbClr val="FFFFCC"/>
                </a:solidFill>
                <a:latin typeface="Arial MT"/>
                <a:cs typeface="Arial MT"/>
              </a:rPr>
              <a:t>ement</a:t>
            </a: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6428" y="1321308"/>
            <a:ext cx="215645" cy="22707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6428" y="2394203"/>
            <a:ext cx="215645" cy="22707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56627" y="1128775"/>
            <a:ext cx="7180580" cy="25615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765175">
              <a:lnSpc>
                <a:spcPct val="100000"/>
              </a:lnSpc>
              <a:spcBef>
                <a:spcPts val="95"/>
              </a:spcBef>
            </a:pPr>
            <a:r>
              <a:rPr sz="3200" spc="-335" dirty="0">
                <a:latin typeface="Arial MT"/>
                <a:cs typeface="Arial MT"/>
              </a:rPr>
              <a:t>The</a:t>
            </a:r>
            <a:r>
              <a:rPr sz="3200" spc="-165" dirty="0">
                <a:latin typeface="Arial MT"/>
                <a:cs typeface="Arial MT"/>
              </a:rPr>
              <a:t> </a:t>
            </a:r>
            <a:r>
              <a:rPr sz="3200" spc="-315" dirty="0">
                <a:latin typeface="Arial MT"/>
                <a:cs typeface="Arial MT"/>
              </a:rPr>
              <a:t>bas</a:t>
            </a:r>
            <a:r>
              <a:rPr sz="3200" spc="-210" dirty="0">
                <a:latin typeface="Arial MT"/>
                <a:cs typeface="Arial MT"/>
              </a:rPr>
              <a:t>ic</a:t>
            </a:r>
            <a:r>
              <a:rPr sz="3200" spc="-150" dirty="0">
                <a:latin typeface="Arial MT"/>
                <a:cs typeface="Arial MT"/>
              </a:rPr>
              <a:t> </a:t>
            </a:r>
            <a:r>
              <a:rPr sz="3200" spc="-405" dirty="0">
                <a:latin typeface="Arial MT"/>
                <a:cs typeface="Arial MT"/>
              </a:rPr>
              <a:t>memo</a:t>
            </a:r>
            <a:r>
              <a:rPr sz="3200" spc="-200" dirty="0">
                <a:latin typeface="Arial MT"/>
                <a:cs typeface="Arial MT"/>
              </a:rPr>
              <a:t>r</a:t>
            </a:r>
            <a:r>
              <a:rPr sz="3200" spc="-290" dirty="0">
                <a:latin typeface="Arial MT"/>
                <a:cs typeface="Arial MT"/>
              </a:rPr>
              <a:t>y</a:t>
            </a:r>
            <a:r>
              <a:rPr sz="3200" spc="-145" dirty="0">
                <a:latin typeface="Arial MT"/>
                <a:cs typeface="Arial MT"/>
              </a:rPr>
              <a:t> </a:t>
            </a:r>
            <a:r>
              <a:rPr sz="3200" spc="-295" dirty="0">
                <a:latin typeface="Arial MT"/>
                <a:cs typeface="Arial MT"/>
              </a:rPr>
              <a:t>element</a:t>
            </a:r>
            <a:r>
              <a:rPr sz="3200" spc="-145" dirty="0">
                <a:latin typeface="Arial MT"/>
                <a:cs typeface="Arial MT"/>
              </a:rPr>
              <a:t> </a:t>
            </a:r>
            <a:r>
              <a:rPr sz="3200" spc="-210" dirty="0">
                <a:latin typeface="Arial MT"/>
                <a:cs typeface="Arial MT"/>
              </a:rPr>
              <a:t>is</a:t>
            </a:r>
            <a:r>
              <a:rPr sz="3200" spc="-155" dirty="0">
                <a:latin typeface="Arial MT"/>
                <a:cs typeface="Arial MT"/>
              </a:rPr>
              <a:t> </a:t>
            </a:r>
            <a:r>
              <a:rPr sz="3200" spc="-290" dirty="0">
                <a:latin typeface="Arial MT"/>
                <a:cs typeface="Arial MT"/>
              </a:rPr>
              <a:t>s</a:t>
            </a:r>
            <a:r>
              <a:rPr sz="3200" spc="-235" dirty="0">
                <a:latin typeface="Arial MT"/>
                <a:cs typeface="Arial MT"/>
              </a:rPr>
              <a:t>imilar</a:t>
            </a:r>
            <a:r>
              <a:rPr sz="3200" spc="-145" dirty="0">
                <a:latin typeface="Arial MT"/>
                <a:cs typeface="Arial MT"/>
              </a:rPr>
              <a:t> </a:t>
            </a:r>
            <a:r>
              <a:rPr sz="3200" spc="-160" dirty="0">
                <a:latin typeface="Arial MT"/>
                <a:cs typeface="Arial MT"/>
              </a:rPr>
              <a:t>t</a:t>
            </a:r>
            <a:r>
              <a:rPr sz="3200" spc="-325" dirty="0">
                <a:latin typeface="Arial MT"/>
                <a:cs typeface="Arial MT"/>
              </a:rPr>
              <a:t>o</a:t>
            </a:r>
            <a:r>
              <a:rPr sz="3200" spc="-170" dirty="0">
                <a:latin typeface="Arial MT"/>
                <a:cs typeface="Arial MT"/>
              </a:rPr>
              <a:t> </a:t>
            </a:r>
            <a:r>
              <a:rPr sz="3200" spc="-325" dirty="0">
                <a:latin typeface="Arial MT"/>
                <a:cs typeface="Arial MT"/>
              </a:rPr>
              <a:t>a</a:t>
            </a:r>
            <a:r>
              <a:rPr sz="3200" spc="-160" dirty="0">
                <a:latin typeface="Arial MT"/>
                <a:cs typeface="Arial MT"/>
              </a:rPr>
              <a:t> </a:t>
            </a:r>
            <a:r>
              <a:rPr sz="3200" spc="-250" dirty="0">
                <a:latin typeface="Arial MT"/>
                <a:cs typeface="Arial MT"/>
              </a:rPr>
              <a:t>D  </a:t>
            </a:r>
            <a:r>
              <a:rPr sz="3200" spc="-235" dirty="0">
                <a:latin typeface="Arial MT"/>
                <a:cs typeface="Arial MT"/>
              </a:rPr>
              <a:t>latch.</a:t>
            </a:r>
            <a:endParaRPr sz="32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770"/>
              </a:spcBef>
            </a:pPr>
            <a:r>
              <a:rPr sz="3200" spc="-275" dirty="0">
                <a:solidFill>
                  <a:srgbClr val="EBEBEB"/>
                </a:solidFill>
                <a:latin typeface="Arial MT"/>
                <a:cs typeface="Arial MT"/>
              </a:rPr>
              <a:t>This</a:t>
            </a:r>
            <a:r>
              <a:rPr sz="3200" spc="-16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3200" spc="-245" dirty="0">
                <a:solidFill>
                  <a:srgbClr val="EBEBEB"/>
                </a:solidFill>
                <a:latin typeface="Arial MT"/>
                <a:cs typeface="Arial MT"/>
              </a:rPr>
              <a:t>latch</a:t>
            </a:r>
            <a:r>
              <a:rPr sz="3200" spc="-15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3200" spc="-315" dirty="0">
                <a:solidFill>
                  <a:srgbClr val="EBEBEB"/>
                </a:solidFill>
                <a:latin typeface="Arial MT"/>
                <a:cs typeface="Arial MT"/>
              </a:rPr>
              <a:t>has</a:t>
            </a:r>
            <a:r>
              <a:rPr sz="3200" spc="-15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3200" spc="-325" dirty="0">
                <a:solidFill>
                  <a:srgbClr val="EBEBEB"/>
                </a:solidFill>
                <a:latin typeface="Arial MT"/>
                <a:cs typeface="Arial MT"/>
              </a:rPr>
              <a:t>an</a:t>
            </a:r>
            <a:r>
              <a:rPr sz="3200" spc="-15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3200" spc="-254" dirty="0">
                <a:solidFill>
                  <a:srgbClr val="EBEBEB"/>
                </a:solidFill>
                <a:latin typeface="Arial MT"/>
                <a:cs typeface="Arial MT"/>
              </a:rPr>
              <a:t>input</a:t>
            </a:r>
            <a:r>
              <a:rPr sz="32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3200" spc="-320" dirty="0">
                <a:solidFill>
                  <a:srgbClr val="EBEBEB"/>
                </a:solidFill>
                <a:latin typeface="Arial MT"/>
                <a:cs typeface="Arial MT"/>
              </a:rPr>
              <a:t>where</a:t>
            </a:r>
            <a:r>
              <a:rPr sz="32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3200" spc="-270" dirty="0">
                <a:solidFill>
                  <a:srgbClr val="EBEBEB"/>
                </a:solidFill>
                <a:latin typeface="Arial MT"/>
                <a:cs typeface="Arial MT"/>
              </a:rPr>
              <a:t>the</a:t>
            </a:r>
            <a:r>
              <a:rPr sz="3200" spc="-16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3200" spc="-285" dirty="0">
                <a:solidFill>
                  <a:srgbClr val="EBEBEB"/>
                </a:solidFill>
                <a:latin typeface="Arial MT"/>
                <a:cs typeface="Arial MT"/>
              </a:rPr>
              <a:t>data</a:t>
            </a:r>
            <a:r>
              <a:rPr sz="3200" spc="-16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3200" spc="-345" dirty="0">
                <a:solidFill>
                  <a:srgbClr val="EBEBEB"/>
                </a:solidFill>
                <a:latin typeface="Arial MT"/>
                <a:cs typeface="Arial MT"/>
              </a:rPr>
              <a:t>comes</a:t>
            </a:r>
            <a:r>
              <a:rPr sz="3200" spc="-15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3200" spc="-204" dirty="0">
                <a:solidFill>
                  <a:srgbClr val="EBEBEB"/>
                </a:solidFill>
                <a:latin typeface="Arial MT"/>
                <a:cs typeface="Arial MT"/>
              </a:rPr>
              <a:t>in. </a:t>
            </a:r>
            <a:r>
              <a:rPr sz="3200" spc="-87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3200" spc="-160" dirty="0">
                <a:solidFill>
                  <a:srgbClr val="EBEBEB"/>
                </a:solidFill>
                <a:latin typeface="Arial MT"/>
                <a:cs typeface="Arial MT"/>
              </a:rPr>
              <a:t>It </a:t>
            </a:r>
            <a:r>
              <a:rPr sz="3200" spc="-315" dirty="0">
                <a:solidFill>
                  <a:srgbClr val="EBEBEB"/>
                </a:solidFill>
                <a:latin typeface="Arial MT"/>
                <a:cs typeface="Arial MT"/>
              </a:rPr>
              <a:t>has </a:t>
            </a:r>
            <a:r>
              <a:rPr sz="3200" spc="-325" dirty="0">
                <a:solidFill>
                  <a:srgbClr val="EBEBEB"/>
                </a:solidFill>
                <a:latin typeface="Arial MT"/>
                <a:cs typeface="Arial MT"/>
              </a:rPr>
              <a:t>an </a:t>
            </a:r>
            <a:r>
              <a:rPr sz="3200" spc="-290" dirty="0">
                <a:solidFill>
                  <a:srgbClr val="EBEBEB"/>
                </a:solidFill>
                <a:latin typeface="Arial MT"/>
                <a:cs typeface="Arial MT"/>
              </a:rPr>
              <a:t>enable </a:t>
            </a:r>
            <a:r>
              <a:rPr sz="3200" spc="-254" dirty="0">
                <a:solidFill>
                  <a:srgbClr val="EBEBEB"/>
                </a:solidFill>
                <a:latin typeface="Arial MT"/>
                <a:cs typeface="Arial MT"/>
              </a:rPr>
              <a:t>input </a:t>
            </a:r>
            <a:r>
              <a:rPr sz="3200" spc="-325" dirty="0">
                <a:solidFill>
                  <a:srgbClr val="EBEBEB"/>
                </a:solidFill>
                <a:latin typeface="Arial MT"/>
                <a:cs typeface="Arial MT"/>
              </a:rPr>
              <a:t>and</a:t>
            </a:r>
            <a:r>
              <a:rPr sz="3200" spc="-32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3200" spc="-325" dirty="0">
                <a:solidFill>
                  <a:srgbClr val="EBEBEB"/>
                </a:solidFill>
                <a:latin typeface="Arial MT"/>
                <a:cs typeface="Arial MT"/>
              </a:rPr>
              <a:t>an</a:t>
            </a:r>
            <a:r>
              <a:rPr sz="3200" spc="-32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3200" spc="-270" dirty="0">
                <a:solidFill>
                  <a:srgbClr val="EBEBEB"/>
                </a:solidFill>
                <a:latin typeface="Arial MT"/>
                <a:cs typeface="Arial MT"/>
              </a:rPr>
              <a:t>output </a:t>
            </a:r>
            <a:r>
              <a:rPr sz="3200" spc="-325" dirty="0">
                <a:solidFill>
                  <a:srgbClr val="EBEBEB"/>
                </a:solidFill>
                <a:latin typeface="Arial MT"/>
                <a:cs typeface="Arial MT"/>
              </a:rPr>
              <a:t>on</a:t>
            </a:r>
            <a:r>
              <a:rPr sz="3200" spc="-32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3200" spc="-300" dirty="0">
                <a:solidFill>
                  <a:srgbClr val="EBEBEB"/>
                </a:solidFill>
                <a:latin typeface="Arial MT"/>
                <a:cs typeface="Arial MT"/>
              </a:rPr>
              <a:t>which </a:t>
            </a:r>
            <a:r>
              <a:rPr sz="3200" spc="-29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3200" spc="-270" dirty="0">
                <a:solidFill>
                  <a:srgbClr val="EBEBEB"/>
                </a:solidFill>
                <a:latin typeface="Arial MT"/>
                <a:cs typeface="Arial MT"/>
              </a:rPr>
              <a:t>dat</a:t>
            </a:r>
            <a:r>
              <a:rPr sz="3200" spc="-325" dirty="0">
                <a:solidFill>
                  <a:srgbClr val="EBEBEB"/>
                </a:solidFill>
                <a:latin typeface="Arial MT"/>
                <a:cs typeface="Arial MT"/>
              </a:rPr>
              <a:t>a</a:t>
            </a:r>
            <a:r>
              <a:rPr sz="3200" spc="-16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3200" spc="-345" dirty="0">
                <a:solidFill>
                  <a:srgbClr val="EBEBEB"/>
                </a:solidFill>
                <a:latin typeface="Arial MT"/>
                <a:cs typeface="Arial MT"/>
              </a:rPr>
              <a:t>comes</a:t>
            </a:r>
            <a:r>
              <a:rPr sz="3200" spc="-15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3200" spc="-270" dirty="0">
                <a:solidFill>
                  <a:srgbClr val="EBEBEB"/>
                </a:solidFill>
                <a:latin typeface="Arial MT"/>
                <a:cs typeface="Arial MT"/>
              </a:rPr>
              <a:t>out</a:t>
            </a:r>
            <a:r>
              <a:rPr sz="3200" spc="-160" dirty="0">
                <a:solidFill>
                  <a:srgbClr val="EBEBEB"/>
                </a:solidFill>
                <a:latin typeface="Arial MT"/>
                <a:cs typeface="Arial MT"/>
              </a:rPr>
              <a:t>.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237981" y="6564531"/>
            <a:ext cx="16510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r>
              <a:rPr sz="1400" spc="-5" dirty="0">
                <a:solidFill>
                  <a:srgbClr val="EBEBEB"/>
                </a:solidFill>
                <a:latin typeface="Times New Roman"/>
                <a:cs typeface="Times New Roman"/>
              </a:rPr>
              <a:t>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25164" y="3659060"/>
            <a:ext cx="30226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 MT"/>
                <a:cs typeface="Arial MT"/>
              </a:rPr>
              <a:t>D</a:t>
            </a:r>
            <a:r>
              <a:rPr sz="1400" spc="-5" dirty="0">
                <a:latin typeface="Arial MT"/>
                <a:cs typeface="Arial MT"/>
              </a:rPr>
              <a:t>at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98463" y="3659060"/>
            <a:ext cx="98298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 MT"/>
                <a:cs typeface="Arial MT"/>
              </a:rPr>
              <a:t>Data</a:t>
            </a:r>
            <a:r>
              <a:rPr sz="1400" spc="-7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Output</a:t>
            </a:r>
            <a:endParaRPr sz="1400">
              <a:latin typeface="Arial MT"/>
              <a:cs typeface="Arial MT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3505200" y="3613150"/>
          <a:ext cx="2514600" cy="172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1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4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Input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52069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75260">
                        <a:lnSpc>
                          <a:spcPct val="100000"/>
                        </a:lnSpc>
                        <a:tabLst>
                          <a:tab pos="949960" algn="l"/>
                        </a:tabLst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D	</a:t>
                      </a:r>
                      <a:r>
                        <a:rPr sz="2100" spc="-7" baseline="-3968" dirty="0">
                          <a:latin typeface="Arial MT"/>
                          <a:cs typeface="Arial MT"/>
                        </a:rPr>
                        <a:t>Q</a:t>
                      </a:r>
                      <a:endParaRPr sz="2100" baseline="-3968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42240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EN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5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2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Enable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6350" y="0"/>
            <a:ext cx="9156700" cy="6870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515938" cy="68579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64540" y="1010665"/>
            <a:ext cx="565340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9" dirty="0">
                <a:solidFill>
                  <a:srgbClr val="FFFFCC"/>
                </a:solidFill>
                <a:latin typeface="Arial MT"/>
                <a:cs typeface="Arial MT"/>
              </a:rPr>
              <a:t>The</a:t>
            </a:r>
            <a:r>
              <a:rPr spc="-220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459" dirty="0">
                <a:solidFill>
                  <a:srgbClr val="FFFFCC"/>
                </a:solidFill>
                <a:latin typeface="Arial MT"/>
                <a:cs typeface="Arial MT"/>
              </a:rPr>
              <a:t>Bas</a:t>
            </a:r>
            <a:r>
              <a:rPr spc="-180" dirty="0">
                <a:solidFill>
                  <a:srgbClr val="FFFFCC"/>
                </a:solidFill>
                <a:latin typeface="Arial MT"/>
                <a:cs typeface="Arial MT"/>
              </a:rPr>
              <a:t>i</a:t>
            </a:r>
            <a:r>
              <a:rPr spc="-400" dirty="0">
                <a:solidFill>
                  <a:srgbClr val="FFFFCC"/>
                </a:solidFill>
                <a:latin typeface="Arial MT"/>
                <a:cs typeface="Arial MT"/>
              </a:rPr>
              <a:t>c</a:t>
            </a:r>
            <a:r>
              <a:rPr spc="-220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480" dirty="0">
                <a:solidFill>
                  <a:srgbClr val="FFFFCC"/>
                </a:solidFill>
                <a:latin typeface="Arial MT"/>
                <a:cs typeface="Arial MT"/>
              </a:rPr>
              <a:t>Memory</a:t>
            </a:r>
            <a:r>
              <a:rPr spc="-225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355" dirty="0">
                <a:solidFill>
                  <a:srgbClr val="FFFFCC"/>
                </a:solidFill>
                <a:latin typeface="Arial MT"/>
                <a:cs typeface="Arial MT"/>
              </a:rPr>
              <a:t>El</a:t>
            </a:r>
            <a:r>
              <a:rPr spc="-445" dirty="0">
                <a:solidFill>
                  <a:srgbClr val="FFFFCC"/>
                </a:solidFill>
                <a:latin typeface="Arial MT"/>
                <a:cs typeface="Arial MT"/>
              </a:rPr>
              <a:t>ement</a:t>
            </a: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7239" y="2197608"/>
            <a:ext cx="215645" cy="22707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33677" y="2762250"/>
            <a:ext cx="177545" cy="18668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33677" y="3701033"/>
            <a:ext cx="177545" cy="18668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07439" y="1906452"/>
            <a:ext cx="7195820" cy="249047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3200" spc="-425" dirty="0">
                <a:latin typeface="Arial MT"/>
                <a:cs typeface="Arial MT"/>
              </a:rPr>
              <a:t>H</a:t>
            </a:r>
            <a:r>
              <a:rPr sz="3200" spc="-325" dirty="0">
                <a:latin typeface="Arial MT"/>
                <a:cs typeface="Arial MT"/>
              </a:rPr>
              <a:t>o</a:t>
            </a:r>
            <a:r>
              <a:rPr sz="3200" spc="-425" dirty="0">
                <a:latin typeface="Arial MT"/>
                <a:cs typeface="Arial MT"/>
              </a:rPr>
              <a:t>w</a:t>
            </a:r>
            <a:r>
              <a:rPr sz="3200" spc="-310" dirty="0">
                <a:latin typeface="Arial MT"/>
                <a:cs typeface="Arial MT"/>
              </a:rPr>
              <a:t>ev</a:t>
            </a:r>
            <a:r>
              <a:rPr sz="3200" spc="-320" dirty="0">
                <a:latin typeface="Arial MT"/>
                <a:cs typeface="Arial MT"/>
              </a:rPr>
              <a:t>e</a:t>
            </a:r>
            <a:r>
              <a:rPr sz="3200" spc="-200" dirty="0">
                <a:latin typeface="Arial MT"/>
                <a:cs typeface="Arial MT"/>
              </a:rPr>
              <a:t>r</a:t>
            </a:r>
            <a:r>
              <a:rPr sz="3200" spc="-160" dirty="0">
                <a:latin typeface="Arial MT"/>
                <a:cs typeface="Arial MT"/>
              </a:rPr>
              <a:t>,</a:t>
            </a:r>
            <a:r>
              <a:rPr sz="3200" spc="-145" dirty="0">
                <a:latin typeface="Arial MT"/>
                <a:cs typeface="Arial MT"/>
              </a:rPr>
              <a:t> </a:t>
            </a:r>
            <a:r>
              <a:rPr sz="3200" spc="-160" dirty="0">
                <a:latin typeface="Arial MT"/>
                <a:cs typeface="Arial MT"/>
              </a:rPr>
              <a:t>t</a:t>
            </a:r>
            <a:r>
              <a:rPr sz="3200" spc="-250" dirty="0">
                <a:latin typeface="Arial MT"/>
                <a:cs typeface="Arial MT"/>
              </a:rPr>
              <a:t>his</a:t>
            </a:r>
            <a:r>
              <a:rPr sz="3200" spc="-160" dirty="0">
                <a:latin typeface="Arial MT"/>
                <a:cs typeface="Arial MT"/>
              </a:rPr>
              <a:t> </a:t>
            </a:r>
            <a:r>
              <a:rPr sz="3200" spc="-210" dirty="0">
                <a:latin typeface="Arial MT"/>
                <a:cs typeface="Arial MT"/>
              </a:rPr>
              <a:t>is</a:t>
            </a:r>
            <a:r>
              <a:rPr sz="3200" spc="-160" dirty="0">
                <a:latin typeface="Arial MT"/>
                <a:cs typeface="Arial MT"/>
              </a:rPr>
              <a:t> </a:t>
            </a:r>
            <a:r>
              <a:rPr sz="3200" spc="-270" dirty="0">
                <a:latin typeface="Arial MT"/>
                <a:cs typeface="Arial MT"/>
              </a:rPr>
              <a:t>not</a:t>
            </a:r>
            <a:r>
              <a:rPr sz="3200" spc="-155" dirty="0">
                <a:latin typeface="Arial MT"/>
                <a:cs typeface="Arial MT"/>
              </a:rPr>
              <a:t> </a:t>
            </a:r>
            <a:r>
              <a:rPr sz="3200" spc="-290" dirty="0">
                <a:latin typeface="Arial MT"/>
                <a:cs typeface="Arial MT"/>
              </a:rPr>
              <a:t>s</a:t>
            </a:r>
            <a:r>
              <a:rPr sz="3200" spc="-245" dirty="0">
                <a:latin typeface="Arial MT"/>
                <a:cs typeface="Arial MT"/>
              </a:rPr>
              <a:t>afe.</a:t>
            </a:r>
            <a:endParaRPr sz="3200">
              <a:latin typeface="Arial MT"/>
              <a:cs typeface="Arial MT"/>
            </a:endParaRPr>
          </a:p>
          <a:p>
            <a:pPr marL="412750" marR="5080">
              <a:lnSpc>
                <a:spcPct val="100000"/>
              </a:lnSpc>
              <a:spcBef>
                <a:spcPts val="680"/>
              </a:spcBef>
            </a:pPr>
            <a:r>
              <a:rPr sz="2800" spc="-370" dirty="0">
                <a:latin typeface="Arial MT"/>
                <a:cs typeface="Arial MT"/>
              </a:rPr>
              <a:t>D</a:t>
            </a:r>
            <a:r>
              <a:rPr sz="2800" spc="-280" dirty="0">
                <a:latin typeface="Arial MT"/>
                <a:cs typeface="Arial MT"/>
              </a:rPr>
              <a:t>a</a:t>
            </a:r>
            <a:r>
              <a:rPr sz="2800" spc="-145" dirty="0">
                <a:latin typeface="Arial MT"/>
                <a:cs typeface="Arial MT"/>
              </a:rPr>
              <a:t>t</a:t>
            </a:r>
            <a:r>
              <a:rPr sz="2800" spc="-280" dirty="0">
                <a:latin typeface="Arial MT"/>
                <a:cs typeface="Arial MT"/>
              </a:rPr>
              <a:t>a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185" dirty="0">
                <a:latin typeface="Arial MT"/>
                <a:cs typeface="Arial MT"/>
              </a:rPr>
              <a:t>is</a:t>
            </a:r>
            <a:r>
              <a:rPr sz="2800" spc="-140" dirty="0">
                <a:latin typeface="Arial MT"/>
                <a:cs typeface="Arial MT"/>
              </a:rPr>
              <a:t> </a:t>
            </a:r>
            <a:r>
              <a:rPr sz="2800" spc="-200" dirty="0">
                <a:latin typeface="Arial MT"/>
                <a:cs typeface="Arial MT"/>
              </a:rPr>
              <a:t>al</a:t>
            </a:r>
            <a:r>
              <a:rPr sz="2800" spc="-370" dirty="0">
                <a:latin typeface="Arial MT"/>
                <a:cs typeface="Arial MT"/>
              </a:rPr>
              <a:t>w</a:t>
            </a:r>
            <a:r>
              <a:rPr sz="2800" spc="-265" dirty="0">
                <a:latin typeface="Arial MT"/>
                <a:cs typeface="Arial MT"/>
              </a:rPr>
              <a:t>ays</a:t>
            </a:r>
            <a:r>
              <a:rPr sz="2800" spc="-140" dirty="0">
                <a:latin typeface="Arial MT"/>
                <a:cs typeface="Arial MT"/>
              </a:rPr>
              <a:t> </a:t>
            </a:r>
            <a:r>
              <a:rPr sz="2800" spc="-280" dirty="0">
                <a:latin typeface="Arial MT"/>
                <a:cs typeface="Arial MT"/>
              </a:rPr>
              <a:t>p</a:t>
            </a:r>
            <a:r>
              <a:rPr sz="2800" spc="-175" dirty="0">
                <a:latin typeface="Arial MT"/>
                <a:cs typeface="Arial MT"/>
              </a:rPr>
              <a:t>r</a:t>
            </a:r>
            <a:r>
              <a:rPr sz="2800" spc="-270" dirty="0">
                <a:latin typeface="Arial MT"/>
                <a:cs typeface="Arial MT"/>
              </a:rPr>
              <a:t>es</a:t>
            </a:r>
            <a:r>
              <a:rPr sz="2800" spc="-235" dirty="0">
                <a:latin typeface="Arial MT"/>
                <a:cs typeface="Arial MT"/>
              </a:rPr>
              <a:t>ent</a:t>
            </a:r>
            <a:r>
              <a:rPr sz="2800" spc="-160" dirty="0">
                <a:latin typeface="Arial MT"/>
                <a:cs typeface="Arial MT"/>
              </a:rPr>
              <a:t> </a:t>
            </a:r>
            <a:r>
              <a:rPr sz="2800" spc="-280" dirty="0">
                <a:latin typeface="Arial MT"/>
                <a:cs typeface="Arial MT"/>
              </a:rPr>
              <a:t>on</a:t>
            </a:r>
            <a:r>
              <a:rPr sz="2800" spc="-145" dirty="0">
                <a:latin typeface="Arial MT"/>
                <a:cs typeface="Arial MT"/>
              </a:rPr>
              <a:t> t</a:t>
            </a:r>
            <a:r>
              <a:rPr sz="2800" spc="-280" dirty="0">
                <a:latin typeface="Arial MT"/>
                <a:cs typeface="Arial MT"/>
              </a:rPr>
              <a:t>he</a:t>
            </a:r>
            <a:r>
              <a:rPr sz="2800" spc="-150" dirty="0">
                <a:latin typeface="Arial MT"/>
                <a:cs typeface="Arial MT"/>
              </a:rPr>
              <a:t> </a:t>
            </a:r>
            <a:r>
              <a:rPr sz="2800" spc="-220" dirty="0">
                <a:latin typeface="Arial MT"/>
                <a:cs typeface="Arial MT"/>
              </a:rPr>
              <a:t>input</a:t>
            </a:r>
            <a:r>
              <a:rPr sz="2800" spc="-155" dirty="0">
                <a:latin typeface="Arial MT"/>
                <a:cs typeface="Arial MT"/>
              </a:rPr>
              <a:t> </a:t>
            </a:r>
            <a:r>
              <a:rPr sz="2800" spc="-280" dirty="0">
                <a:latin typeface="Arial MT"/>
                <a:cs typeface="Arial MT"/>
              </a:rPr>
              <a:t>and</a:t>
            </a:r>
            <a:r>
              <a:rPr sz="2800" spc="-150" dirty="0">
                <a:latin typeface="Arial MT"/>
                <a:cs typeface="Arial MT"/>
              </a:rPr>
              <a:t> </a:t>
            </a:r>
            <a:r>
              <a:rPr sz="2800" spc="-145" dirty="0">
                <a:latin typeface="Arial MT"/>
                <a:cs typeface="Arial MT"/>
              </a:rPr>
              <a:t>t</a:t>
            </a:r>
            <a:r>
              <a:rPr sz="2800" spc="-280" dirty="0">
                <a:latin typeface="Arial MT"/>
                <a:cs typeface="Arial MT"/>
              </a:rPr>
              <a:t>he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280" dirty="0">
                <a:latin typeface="Arial MT"/>
                <a:cs typeface="Arial MT"/>
              </a:rPr>
              <a:t>ou</a:t>
            </a:r>
            <a:r>
              <a:rPr sz="2800" spc="-145" dirty="0">
                <a:latin typeface="Arial MT"/>
                <a:cs typeface="Arial MT"/>
              </a:rPr>
              <a:t>t</a:t>
            </a:r>
            <a:r>
              <a:rPr sz="2800" spc="-235" dirty="0">
                <a:latin typeface="Arial MT"/>
                <a:cs typeface="Arial MT"/>
              </a:rPr>
              <a:t>put</a:t>
            </a:r>
            <a:r>
              <a:rPr sz="2800" spc="-160" dirty="0">
                <a:latin typeface="Arial MT"/>
                <a:cs typeface="Arial MT"/>
              </a:rPr>
              <a:t> </a:t>
            </a:r>
            <a:r>
              <a:rPr sz="2800" spc="-175" dirty="0">
                <a:latin typeface="Arial MT"/>
                <a:cs typeface="Arial MT"/>
              </a:rPr>
              <a:t>is  al</a:t>
            </a:r>
            <a:r>
              <a:rPr sz="2800" spc="-370" dirty="0">
                <a:latin typeface="Arial MT"/>
                <a:cs typeface="Arial MT"/>
              </a:rPr>
              <a:t>w</a:t>
            </a:r>
            <a:r>
              <a:rPr sz="2800" spc="-265" dirty="0">
                <a:latin typeface="Arial MT"/>
                <a:cs typeface="Arial MT"/>
              </a:rPr>
              <a:t>ays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254" dirty="0">
                <a:latin typeface="Arial MT"/>
                <a:cs typeface="Arial MT"/>
              </a:rPr>
              <a:t>s</a:t>
            </a:r>
            <a:r>
              <a:rPr sz="2800" spc="-210" dirty="0">
                <a:latin typeface="Arial MT"/>
                <a:cs typeface="Arial MT"/>
              </a:rPr>
              <a:t>et</a:t>
            </a:r>
            <a:r>
              <a:rPr sz="2800" spc="-145" dirty="0">
                <a:latin typeface="Arial MT"/>
                <a:cs typeface="Arial MT"/>
              </a:rPr>
              <a:t> t</a:t>
            </a:r>
            <a:r>
              <a:rPr sz="2800" spc="-280" dirty="0">
                <a:latin typeface="Arial MT"/>
                <a:cs typeface="Arial MT"/>
              </a:rPr>
              <a:t>o</a:t>
            </a:r>
            <a:r>
              <a:rPr sz="2800" spc="-145" dirty="0">
                <a:latin typeface="Arial MT"/>
                <a:cs typeface="Arial MT"/>
              </a:rPr>
              <a:t> t</a:t>
            </a:r>
            <a:r>
              <a:rPr sz="2800" spc="-280" dirty="0">
                <a:latin typeface="Arial MT"/>
                <a:cs typeface="Arial MT"/>
              </a:rPr>
              <a:t>he</a:t>
            </a:r>
            <a:r>
              <a:rPr sz="2800" spc="-150" dirty="0">
                <a:latin typeface="Arial MT"/>
                <a:cs typeface="Arial MT"/>
              </a:rPr>
              <a:t> </a:t>
            </a:r>
            <a:r>
              <a:rPr sz="2800" spc="-270" dirty="0">
                <a:latin typeface="Arial MT"/>
                <a:cs typeface="Arial MT"/>
              </a:rPr>
              <a:t>con</a:t>
            </a:r>
            <a:r>
              <a:rPr sz="2800" spc="-145" dirty="0">
                <a:latin typeface="Arial MT"/>
                <a:cs typeface="Arial MT"/>
              </a:rPr>
              <a:t>t</a:t>
            </a:r>
            <a:r>
              <a:rPr sz="2800" spc="-280" dirty="0">
                <a:latin typeface="Arial MT"/>
                <a:cs typeface="Arial MT"/>
              </a:rPr>
              <a:t>en</a:t>
            </a:r>
            <a:r>
              <a:rPr sz="2800" spc="-145" dirty="0">
                <a:latin typeface="Arial MT"/>
                <a:cs typeface="Arial MT"/>
              </a:rPr>
              <a:t>t</a:t>
            </a:r>
            <a:r>
              <a:rPr sz="2800" spc="-254" dirty="0">
                <a:latin typeface="Arial MT"/>
                <a:cs typeface="Arial MT"/>
              </a:rPr>
              <a:t>s</a:t>
            </a:r>
            <a:r>
              <a:rPr sz="2800" spc="-155" dirty="0">
                <a:latin typeface="Arial MT"/>
                <a:cs typeface="Arial MT"/>
              </a:rPr>
              <a:t> </a:t>
            </a:r>
            <a:r>
              <a:rPr sz="2800" spc="-210" dirty="0">
                <a:latin typeface="Arial MT"/>
                <a:cs typeface="Arial MT"/>
              </a:rPr>
              <a:t>of</a:t>
            </a:r>
            <a:r>
              <a:rPr sz="2800" spc="-145" dirty="0">
                <a:latin typeface="Arial MT"/>
                <a:cs typeface="Arial MT"/>
              </a:rPr>
              <a:t> t</a:t>
            </a:r>
            <a:r>
              <a:rPr sz="2800" spc="-280" dirty="0">
                <a:latin typeface="Arial MT"/>
                <a:cs typeface="Arial MT"/>
              </a:rPr>
              <a:t>he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200" dirty="0">
                <a:latin typeface="Arial MT"/>
                <a:cs typeface="Arial MT"/>
              </a:rPr>
              <a:t>la</a:t>
            </a:r>
            <a:r>
              <a:rPr sz="2800" spc="-145" dirty="0">
                <a:latin typeface="Arial MT"/>
                <a:cs typeface="Arial MT"/>
              </a:rPr>
              <a:t>t</a:t>
            </a:r>
            <a:r>
              <a:rPr sz="2800" spc="-254" dirty="0">
                <a:latin typeface="Arial MT"/>
                <a:cs typeface="Arial MT"/>
              </a:rPr>
              <a:t>c</a:t>
            </a:r>
            <a:r>
              <a:rPr sz="2800" spc="-210" dirty="0">
                <a:latin typeface="Arial MT"/>
                <a:cs typeface="Arial MT"/>
              </a:rPr>
              <a:t>h.</a:t>
            </a:r>
            <a:endParaRPr sz="2800">
              <a:latin typeface="Arial MT"/>
              <a:cs typeface="Arial MT"/>
            </a:endParaRPr>
          </a:p>
          <a:p>
            <a:pPr marL="412750" marR="102870">
              <a:lnSpc>
                <a:spcPct val="100000"/>
              </a:lnSpc>
              <a:spcBef>
                <a:spcPts val="670"/>
              </a:spcBef>
            </a:pPr>
            <a:r>
              <a:rPr sz="2800" spc="-295" dirty="0">
                <a:latin typeface="Arial MT"/>
                <a:cs typeface="Arial MT"/>
              </a:rPr>
              <a:t>To</a:t>
            </a:r>
            <a:r>
              <a:rPr sz="2800" spc="-155" dirty="0">
                <a:latin typeface="Arial MT"/>
                <a:cs typeface="Arial MT"/>
              </a:rPr>
              <a:t> </a:t>
            </a:r>
            <a:r>
              <a:rPr sz="2800" spc="-245" dirty="0">
                <a:latin typeface="Arial MT"/>
                <a:cs typeface="Arial MT"/>
              </a:rPr>
              <a:t>avoid</a:t>
            </a:r>
            <a:r>
              <a:rPr sz="2800" spc="-150" dirty="0">
                <a:latin typeface="Arial MT"/>
                <a:cs typeface="Arial MT"/>
              </a:rPr>
              <a:t> </a:t>
            </a:r>
            <a:r>
              <a:rPr sz="2800" spc="-190" dirty="0">
                <a:latin typeface="Arial MT"/>
                <a:cs typeface="Arial MT"/>
              </a:rPr>
              <a:t>this,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190" dirty="0">
                <a:latin typeface="Arial MT"/>
                <a:cs typeface="Arial MT"/>
              </a:rPr>
              <a:t>tri-state</a:t>
            </a:r>
            <a:r>
              <a:rPr sz="2800" spc="-140" dirty="0">
                <a:latin typeface="Arial MT"/>
                <a:cs typeface="Arial MT"/>
              </a:rPr>
              <a:t> </a:t>
            </a:r>
            <a:r>
              <a:rPr sz="2800" spc="-225" dirty="0">
                <a:latin typeface="Arial MT"/>
                <a:cs typeface="Arial MT"/>
              </a:rPr>
              <a:t>buffers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245" dirty="0">
                <a:latin typeface="Arial MT"/>
                <a:cs typeface="Arial MT"/>
              </a:rPr>
              <a:t>are</a:t>
            </a:r>
            <a:r>
              <a:rPr sz="2800" spc="-150" dirty="0">
                <a:latin typeface="Arial MT"/>
                <a:cs typeface="Arial MT"/>
              </a:rPr>
              <a:t> </a:t>
            </a:r>
            <a:r>
              <a:rPr sz="2800" spc="-280" dirty="0">
                <a:latin typeface="Arial MT"/>
                <a:cs typeface="Arial MT"/>
              </a:rPr>
              <a:t>added</a:t>
            </a:r>
            <a:r>
              <a:rPr sz="2800" spc="-155" dirty="0">
                <a:latin typeface="Arial MT"/>
                <a:cs typeface="Arial MT"/>
              </a:rPr>
              <a:t> </a:t>
            </a:r>
            <a:r>
              <a:rPr sz="2800" spc="-210" dirty="0">
                <a:latin typeface="Arial MT"/>
                <a:cs typeface="Arial MT"/>
              </a:rPr>
              <a:t>at</a:t>
            </a:r>
            <a:r>
              <a:rPr sz="2800" spc="-140" dirty="0">
                <a:latin typeface="Arial MT"/>
                <a:cs typeface="Arial MT"/>
              </a:rPr>
              <a:t> </a:t>
            </a:r>
            <a:r>
              <a:rPr sz="2800" spc="-235" dirty="0">
                <a:latin typeface="Arial MT"/>
                <a:cs typeface="Arial MT"/>
              </a:rPr>
              <a:t>the</a:t>
            </a:r>
            <a:r>
              <a:rPr sz="2800" spc="-150" dirty="0">
                <a:latin typeface="Arial MT"/>
                <a:cs typeface="Arial MT"/>
              </a:rPr>
              <a:t> </a:t>
            </a:r>
            <a:r>
              <a:rPr sz="2800" spc="-220" dirty="0">
                <a:latin typeface="Arial MT"/>
                <a:cs typeface="Arial MT"/>
              </a:rPr>
              <a:t>input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spc="-280" dirty="0">
                <a:latin typeface="Arial MT"/>
                <a:cs typeface="Arial MT"/>
              </a:rPr>
              <a:t>and</a:t>
            </a:r>
            <a:r>
              <a:rPr sz="2800" spc="-155" dirty="0">
                <a:latin typeface="Arial MT"/>
                <a:cs typeface="Arial MT"/>
              </a:rPr>
              <a:t> </a:t>
            </a:r>
            <a:r>
              <a:rPr sz="2800" spc="-280" dirty="0">
                <a:latin typeface="Arial MT"/>
                <a:cs typeface="Arial MT"/>
              </a:rPr>
              <a:t>ou</a:t>
            </a:r>
            <a:r>
              <a:rPr sz="2800" spc="-145" dirty="0">
                <a:latin typeface="Arial MT"/>
                <a:cs typeface="Arial MT"/>
              </a:rPr>
              <a:t>t</a:t>
            </a:r>
            <a:r>
              <a:rPr sz="2800" spc="-235" dirty="0">
                <a:latin typeface="Arial MT"/>
                <a:cs typeface="Arial MT"/>
              </a:rPr>
              <a:t>put</a:t>
            </a:r>
            <a:r>
              <a:rPr sz="2800" spc="-155" dirty="0">
                <a:latin typeface="Arial MT"/>
                <a:cs typeface="Arial MT"/>
              </a:rPr>
              <a:t> </a:t>
            </a:r>
            <a:r>
              <a:rPr sz="2800" spc="-210" dirty="0">
                <a:latin typeface="Arial MT"/>
                <a:cs typeface="Arial MT"/>
              </a:rPr>
              <a:t>of</a:t>
            </a:r>
            <a:r>
              <a:rPr sz="2800" spc="-145" dirty="0">
                <a:latin typeface="Arial MT"/>
                <a:cs typeface="Arial MT"/>
              </a:rPr>
              <a:t> t</a:t>
            </a:r>
            <a:r>
              <a:rPr sz="2800" spc="-280" dirty="0">
                <a:latin typeface="Arial MT"/>
                <a:cs typeface="Arial MT"/>
              </a:rPr>
              <a:t>he</a:t>
            </a:r>
            <a:r>
              <a:rPr sz="2800" spc="-150" dirty="0">
                <a:latin typeface="Arial MT"/>
                <a:cs typeface="Arial MT"/>
              </a:rPr>
              <a:t> </a:t>
            </a:r>
            <a:r>
              <a:rPr sz="2800" spc="-200" dirty="0">
                <a:latin typeface="Arial MT"/>
                <a:cs typeface="Arial MT"/>
              </a:rPr>
              <a:t>la</a:t>
            </a:r>
            <a:r>
              <a:rPr sz="2800" spc="-145" dirty="0">
                <a:latin typeface="Arial MT"/>
                <a:cs typeface="Arial MT"/>
              </a:rPr>
              <a:t>t</a:t>
            </a:r>
            <a:r>
              <a:rPr sz="2800" spc="-254" dirty="0">
                <a:latin typeface="Arial MT"/>
                <a:cs typeface="Arial MT"/>
              </a:rPr>
              <a:t>c</a:t>
            </a:r>
            <a:r>
              <a:rPr sz="2800" spc="-210" dirty="0">
                <a:latin typeface="Arial MT"/>
                <a:cs typeface="Arial MT"/>
              </a:rPr>
              <a:t>h.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525962" y="4645025"/>
            <a:ext cx="1233805" cy="1714500"/>
          </a:xfrm>
          <a:custGeom>
            <a:avLst/>
            <a:gdLst/>
            <a:ahLst/>
            <a:cxnLst/>
            <a:rect l="l" t="t" r="r" b="b"/>
            <a:pathLst>
              <a:path w="1233804" h="1714500">
                <a:moveTo>
                  <a:pt x="0" y="0"/>
                </a:moveTo>
                <a:lnTo>
                  <a:pt x="1233487" y="0"/>
                </a:lnTo>
                <a:lnTo>
                  <a:pt x="1233487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476240" y="4854447"/>
            <a:ext cx="1511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 MT"/>
                <a:cs typeface="Arial MT"/>
              </a:rPr>
              <a:t>Q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01606" y="4841664"/>
            <a:ext cx="14097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 MT"/>
                <a:cs typeface="Arial MT"/>
              </a:rPr>
              <a:t>D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846512" y="4956175"/>
            <a:ext cx="3748404" cy="1054100"/>
            <a:chOff x="3846512" y="4956175"/>
            <a:chExt cx="3748404" cy="1054100"/>
          </a:xfrm>
        </p:grpSpPr>
        <p:sp>
          <p:nvSpPr>
            <p:cNvPr id="13" name="object 13"/>
            <p:cNvSpPr/>
            <p:nvPr/>
          </p:nvSpPr>
          <p:spPr>
            <a:xfrm>
              <a:off x="3852862" y="4962525"/>
              <a:ext cx="673100" cy="0"/>
            </a:xfrm>
            <a:custGeom>
              <a:avLst/>
              <a:gdLst/>
              <a:ahLst/>
              <a:cxnLst/>
              <a:rect l="l" t="t" r="r" b="b"/>
              <a:pathLst>
                <a:path w="673100">
                  <a:moveTo>
                    <a:pt x="6731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52862" y="6003925"/>
              <a:ext cx="673100" cy="0"/>
            </a:xfrm>
            <a:custGeom>
              <a:avLst/>
              <a:gdLst/>
              <a:ahLst/>
              <a:cxnLst/>
              <a:rect l="l" t="t" r="r" b="b"/>
              <a:pathLst>
                <a:path w="673100">
                  <a:moveTo>
                    <a:pt x="6731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978650" y="4975225"/>
              <a:ext cx="609600" cy="0"/>
            </a:xfrm>
            <a:custGeom>
              <a:avLst/>
              <a:gdLst/>
              <a:ahLst/>
              <a:cxnLst/>
              <a:rect l="l" t="t" r="r" b="b"/>
              <a:pathLst>
                <a:path w="609600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544127" y="4684585"/>
            <a:ext cx="556958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598670" algn="l"/>
              </a:tabLst>
            </a:pPr>
            <a:r>
              <a:rPr sz="1400" spc="-5" dirty="0">
                <a:latin typeface="Arial MT"/>
                <a:cs typeface="Arial MT"/>
              </a:rPr>
              <a:t>Data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Input	Data</a:t>
            </a:r>
            <a:r>
              <a:rPr sz="1400" spc="-6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Output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828495" y="5713286"/>
            <a:ext cx="1100455" cy="4051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495"/>
              </a:lnSpc>
              <a:spcBef>
                <a:spcPts val="95"/>
              </a:spcBef>
            </a:pPr>
            <a:r>
              <a:rPr sz="1400" spc="-5" dirty="0">
                <a:latin typeface="Arial MT"/>
                <a:cs typeface="Arial MT"/>
              </a:rPr>
              <a:t>Enable</a:t>
            </a:r>
            <a:endParaRPr sz="1400">
              <a:latin typeface="Arial MT"/>
              <a:cs typeface="Arial MT"/>
            </a:endParaRPr>
          </a:p>
          <a:p>
            <a:pPr marR="5080" algn="r">
              <a:lnSpc>
                <a:spcPts val="1495"/>
              </a:lnSpc>
            </a:pPr>
            <a:r>
              <a:rPr sz="1400" spc="-10" dirty="0">
                <a:latin typeface="Arial MT"/>
                <a:cs typeface="Arial MT"/>
              </a:rPr>
              <a:t>EN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727325" y="4803775"/>
            <a:ext cx="4270375" cy="476250"/>
            <a:chOff x="2727325" y="4803775"/>
            <a:chExt cx="4270375" cy="476250"/>
          </a:xfrm>
        </p:grpSpPr>
        <p:sp>
          <p:nvSpPr>
            <p:cNvPr id="19" name="object 19"/>
            <p:cNvSpPr/>
            <p:nvPr/>
          </p:nvSpPr>
          <p:spPr>
            <a:xfrm>
              <a:off x="3606800" y="4810125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0" y="0"/>
                  </a:moveTo>
                  <a:lnTo>
                    <a:pt x="266700" y="1524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714750" y="5032369"/>
              <a:ext cx="76200" cy="74930"/>
            </a:xfrm>
            <a:custGeom>
              <a:avLst/>
              <a:gdLst/>
              <a:ahLst/>
              <a:cxnLst/>
              <a:rect l="l" t="t" r="r" b="b"/>
              <a:pathLst>
                <a:path w="76200" h="74929">
                  <a:moveTo>
                    <a:pt x="0" y="37312"/>
                  </a:moveTo>
                  <a:lnTo>
                    <a:pt x="2993" y="22792"/>
                  </a:lnTo>
                  <a:lnTo>
                    <a:pt x="11158" y="10931"/>
                  </a:lnTo>
                  <a:lnTo>
                    <a:pt x="23268" y="2933"/>
                  </a:lnTo>
                  <a:lnTo>
                    <a:pt x="38100" y="0"/>
                  </a:lnTo>
                  <a:lnTo>
                    <a:pt x="52931" y="2933"/>
                  </a:lnTo>
                  <a:lnTo>
                    <a:pt x="65041" y="10931"/>
                  </a:lnTo>
                  <a:lnTo>
                    <a:pt x="73206" y="22792"/>
                  </a:lnTo>
                  <a:lnTo>
                    <a:pt x="76200" y="37312"/>
                  </a:lnTo>
                  <a:lnTo>
                    <a:pt x="73206" y="51833"/>
                  </a:lnTo>
                  <a:lnTo>
                    <a:pt x="65041" y="63693"/>
                  </a:lnTo>
                  <a:lnTo>
                    <a:pt x="52931" y="71691"/>
                  </a:lnTo>
                  <a:lnTo>
                    <a:pt x="38100" y="74625"/>
                  </a:lnTo>
                  <a:lnTo>
                    <a:pt x="23268" y="71691"/>
                  </a:lnTo>
                  <a:lnTo>
                    <a:pt x="11158" y="63693"/>
                  </a:lnTo>
                  <a:lnTo>
                    <a:pt x="2993" y="51833"/>
                  </a:lnTo>
                  <a:lnTo>
                    <a:pt x="0" y="37312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751262" y="5108575"/>
              <a:ext cx="0" cy="158750"/>
            </a:xfrm>
            <a:custGeom>
              <a:avLst/>
              <a:gdLst/>
              <a:ahLst/>
              <a:cxnLst/>
              <a:rect l="l" t="t" r="r" b="b"/>
              <a:pathLst>
                <a:path h="158750">
                  <a:moveTo>
                    <a:pt x="0" y="0"/>
                  </a:moveTo>
                  <a:lnTo>
                    <a:pt x="0" y="15875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130550" y="5267325"/>
              <a:ext cx="621030" cy="0"/>
            </a:xfrm>
            <a:custGeom>
              <a:avLst/>
              <a:gdLst/>
              <a:ahLst/>
              <a:cxnLst/>
              <a:rect l="l" t="t" r="r" b="b"/>
              <a:pathLst>
                <a:path w="621029">
                  <a:moveTo>
                    <a:pt x="620712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733675" y="4964112"/>
              <a:ext cx="865505" cy="5080"/>
            </a:xfrm>
            <a:custGeom>
              <a:avLst/>
              <a:gdLst/>
              <a:ahLst/>
              <a:cxnLst/>
              <a:rect l="l" t="t" r="r" b="b"/>
              <a:pathLst>
                <a:path w="865504" h="5079">
                  <a:moveTo>
                    <a:pt x="865187" y="4762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723063" y="4816475"/>
              <a:ext cx="268605" cy="304800"/>
            </a:xfrm>
            <a:custGeom>
              <a:avLst/>
              <a:gdLst/>
              <a:ahLst/>
              <a:cxnLst/>
              <a:rect l="l" t="t" r="r" b="b"/>
              <a:pathLst>
                <a:path w="268604" h="304800">
                  <a:moveTo>
                    <a:pt x="0" y="0"/>
                  </a:moveTo>
                  <a:lnTo>
                    <a:pt x="268287" y="1524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832600" y="5038719"/>
              <a:ext cx="76200" cy="74930"/>
            </a:xfrm>
            <a:custGeom>
              <a:avLst/>
              <a:gdLst/>
              <a:ahLst/>
              <a:cxnLst/>
              <a:rect l="l" t="t" r="r" b="b"/>
              <a:pathLst>
                <a:path w="76200" h="74929">
                  <a:moveTo>
                    <a:pt x="0" y="37312"/>
                  </a:moveTo>
                  <a:lnTo>
                    <a:pt x="2993" y="22792"/>
                  </a:lnTo>
                  <a:lnTo>
                    <a:pt x="11158" y="10931"/>
                  </a:lnTo>
                  <a:lnTo>
                    <a:pt x="23268" y="2933"/>
                  </a:lnTo>
                  <a:lnTo>
                    <a:pt x="38100" y="0"/>
                  </a:lnTo>
                  <a:lnTo>
                    <a:pt x="52931" y="2933"/>
                  </a:lnTo>
                  <a:lnTo>
                    <a:pt x="65041" y="10931"/>
                  </a:lnTo>
                  <a:lnTo>
                    <a:pt x="73206" y="22792"/>
                  </a:lnTo>
                  <a:lnTo>
                    <a:pt x="76200" y="37312"/>
                  </a:lnTo>
                  <a:lnTo>
                    <a:pt x="73206" y="51833"/>
                  </a:lnTo>
                  <a:lnTo>
                    <a:pt x="65041" y="63693"/>
                  </a:lnTo>
                  <a:lnTo>
                    <a:pt x="52931" y="71691"/>
                  </a:lnTo>
                  <a:lnTo>
                    <a:pt x="38100" y="74625"/>
                  </a:lnTo>
                  <a:lnTo>
                    <a:pt x="23268" y="71691"/>
                  </a:lnTo>
                  <a:lnTo>
                    <a:pt x="11158" y="63693"/>
                  </a:lnTo>
                  <a:lnTo>
                    <a:pt x="2993" y="51833"/>
                  </a:lnTo>
                  <a:lnTo>
                    <a:pt x="0" y="37312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869113" y="5114925"/>
              <a:ext cx="1905" cy="158750"/>
            </a:xfrm>
            <a:custGeom>
              <a:avLst/>
              <a:gdLst/>
              <a:ahLst/>
              <a:cxnLst/>
              <a:rect l="l" t="t" r="r" b="b"/>
              <a:pathLst>
                <a:path w="1904" h="158750">
                  <a:moveTo>
                    <a:pt x="0" y="0"/>
                  </a:moveTo>
                  <a:lnTo>
                    <a:pt x="1587" y="15875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305551" y="5265737"/>
              <a:ext cx="563880" cy="8255"/>
            </a:xfrm>
            <a:custGeom>
              <a:avLst/>
              <a:gdLst/>
              <a:ahLst/>
              <a:cxnLst/>
              <a:rect l="l" t="t" r="r" b="b"/>
              <a:pathLst>
                <a:path w="563879" h="8254">
                  <a:moveTo>
                    <a:pt x="563562" y="7937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751512" y="4975225"/>
              <a:ext cx="967105" cy="0"/>
            </a:xfrm>
            <a:custGeom>
              <a:avLst/>
              <a:gdLst/>
              <a:ahLst/>
              <a:cxnLst/>
              <a:rect l="l" t="t" r="r" b="b"/>
              <a:pathLst>
                <a:path w="967104">
                  <a:moveTo>
                    <a:pt x="966787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090227" y="5344985"/>
            <a:ext cx="32131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 MT"/>
                <a:cs typeface="Arial MT"/>
              </a:rPr>
              <a:t>WR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290671" y="5357768"/>
            <a:ext cx="28194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 MT"/>
                <a:cs typeface="Arial MT"/>
              </a:rPr>
              <a:t>RD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065462" y="5337175"/>
            <a:ext cx="3481704" cy="38100"/>
            <a:chOff x="3065462" y="5337175"/>
            <a:chExt cx="3481704" cy="38100"/>
          </a:xfrm>
        </p:grpSpPr>
        <p:sp>
          <p:nvSpPr>
            <p:cNvPr id="32" name="object 32"/>
            <p:cNvSpPr/>
            <p:nvPr/>
          </p:nvSpPr>
          <p:spPr>
            <a:xfrm>
              <a:off x="3065462" y="5343525"/>
              <a:ext cx="330200" cy="0"/>
            </a:xfrm>
            <a:custGeom>
              <a:avLst/>
              <a:gdLst/>
              <a:ahLst/>
              <a:cxnLst/>
              <a:rect l="l" t="t" r="r" b="b"/>
              <a:pathLst>
                <a:path w="330200">
                  <a:moveTo>
                    <a:pt x="0" y="0"/>
                  </a:moveTo>
                  <a:lnTo>
                    <a:pt x="3302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292850" y="5368925"/>
              <a:ext cx="254000" cy="0"/>
            </a:xfrm>
            <a:custGeom>
              <a:avLst/>
              <a:gdLst/>
              <a:ahLst/>
              <a:cxnLst/>
              <a:rect l="l" t="t" r="r" b="b"/>
              <a:pathLst>
                <a:path w="254000">
                  <a:moveTo>
                    <a:pt x="0" y="0"/>
                  </a:moveTo>
                  <a:lnTo>
                    <a:pt x="2540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8237981" y="6564531"/>
            <a:ext cx="16510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r>
              <a:rPr sz="1400" spc="-5" dirty="0">
                <a:solidFill>
                  <a:srgbClr val="EBEBEB"/>
                </a:solidFill>
                <a:latin typeface="Times New Roman"/>
                <a:cs typeface="Times New Roman"/>
              </a:rPr>
              <a:t>6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6350" y="0"/>
            <a:ext cx="9156700" cy="6870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515938" cy="68579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64540" y="1010665"/>
            <a:ext cx="565340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9" dirty="0">
                <a:solidFill>
                  <a:srgbClr val="FFFFCC"/>
                </a:solidFill>
                <a:latin typeface="Arial MT"/>
                <a:cs typeface="Arial MT"/>
              </a:rPr>
              <a:t>The</a:t>
            </a:r>
            <a:r>
              <a:rPr spc="-220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459" dirty="0">
                <a:solidFill>
                  <a:srgbClr val="FFFFCC"/>
                </a:solidFill>
                <a:latin typeface="Arial MT"/>
                <a:cs typeface="Arial MT"/>
              </a:rPr>
              <a:t>Bas</a:t>
            </a:r>
            <a:r>
              <a:rPr spc="-180" dirty="0">
                <a:solidFill>
                  <a:srgbClr val="FFFFCC"/>
                </a:solidFill>
                <a:latin typeface="Arial MT"/>
                <a:cs typeface="Arial MT"/>
              </a:rPr>
              <a:t>i</a:t>
            </a:r>
            <a:r>
              <a:rPr spc="-400" dirty="0">
                <a:solidFill>
                  <a:srgbClr val="FFFFCC"/>
                </a:solidFill>
                <a:latin typeface="Arial MT"/>
                <a:cs typeface="Arial MT"/>
              </a:rPr>
              <a:t>c</a:t>
            </a:r>
            <a:r>
              <a:rPr spc="-220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480" dirty="0">
                <a:solidFill>
                  <a:srgbClr val="FFFFCC"/>
                </a:solidFill>
                <a:latin typeface="Arial MT"/>
                <a:cs typeface="Arial MT"/>
              </a:rPr>
              <a:t>Memory</a:t>
            </a:r>
            <a:r>
              <a:rPr spc="-225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355" dirty="0">
                <a:solidFill>
                  <a:srgbClr val="FFFFCC"/>
                </a:solidFill>
                <a:latin typeface="Arial MT"/>
                <a:cs typeface="Arial MT"/>
              </a:rPr>
              <a:t>El</a:t>
            </a:r>
            <a:r>
              <a:rPr spc="-445" dirty="0">
                <a:solidFill>
                  <a:srgbClr val="FFFFCC"/>
                </a:solidFill>
                <a:latin typeface="Arial MT"/>
                <a:cs typeface="Arial MT"/>
              </a:rPr>
              <a:t>ement</a:t>
            </a: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7239" y="2197608"/>
            <a:ext cx="215645" cy="22707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33677" y="2762250"/>
            <a:ext cx="177545" cy="18668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33677" y="3701033"/>
            <a:ext cx="177545" cy="18668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33677" y="4213097"/>
            <a:ext cx="177545" cy="18668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7239" y="5172455"/>
            <a:ext cx="215645" cy="22707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107439" y="1906452"/>
            <a:ext cx="7132320" cy="407416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3200" spc="-335" dirty="0">
                <a:latin typeface="Arial MT"/>
                <a:cs typeface="Arial MT"/>
              </a:rPr>
              <a:t>The</a:t>
            </a:r>
            <a:r>
              <a:rPr sz="3200" spc="-165" dirty="0">
                <a:latin typeface="Arial MT"/>
                <a:cs typeface="Arial MT"/>
              </a:rPr>
              <a:t> </a:t>
            </a:r>
            <a:r>
              <a:rPr sz="3200" spc="-545" dirty="0">
                <a:latin typeface="Arial MT"/>
                <a:cs typeface="Arial MT"/>
              </a:rPr>
              <a:t>W</a:t>
            </a:r>
            <a:r>
              <a:rPr sz="3200" spc="-420" dirty="0">
                <a:latin typeface="Arial MT"/>
                <a:cs typeface="Arial MT"/>
              </a:rPr>
              <a:t>R</a:t>
            </a:r>
            <a:r>
              <a:rPr sz="3200" spc="-160" dirty="0">
                <a:latin typeface="Arial MT"/>
                <a:cs typeface="Arial MT"/>
              </a:rPr>
              <a:t> </a:t>
            </a:r>
            <a:r>
              <a:rPr sz="3200" spc="-290" dirty="0">
                <a:latin typeface="Arial MT"/>
                <a:cs typeface="Arial MT"/>
              </a:rPr>
              <a:t>s</a:t>
            </a:r>
            <a:r>
              <a:rPr sz="3200" spc="-245" dirty="0">
                <a:latin typeface="Arial MT"/>
                <a:cs typeface="Arial MT"/>
              </a:rPr>
              <a:t>ignal</a:t>
            </a:r>
            <a:r>
              <a:rPr sz="3200" spc="-140" dirty="0">
                <a:latin typeface="Arial MT"/>
                <a:cs typeface="Arial MT"/>
              </a:rPr>
              <a:t> </a:t>
            </a:r>
            <a:r>
              <a:rPr sz="3200" spc="-275" dirty="0">
                <a:latin typeface="Arial MT"/>
                <a:cs typeface="Arial MT"/>
              </a:rPr>
              <a:t>cont</a:t>
            </a:r>
            <a:r>
              <a:rPr sz="3200" spc="-200" dirty="0">
                <a:latin typeface="Arial MT"/>
                <a:cs typeface="Arial MT"/>
              </a:rPr>
              <a:t>r</a:t>
            </a:r>
            <a:r>
              <a:rPr sz="3200" spc="-250" dirty="0">
                <a:latin typeface="Arial MT"/>
                <a:cs typeface="Arial MT"/>
              </a:rPr>
              <a:t>ols</a:t>
            </a:r>
            <a:r>
              <a:rPr sz="3200" spc="-150" dirty="0">
                <a:latin typeface="Arial MT"/>
                <a:cs typeface="Arial MT"/>
              </a:rPr>
              <a:t> </a:t>
            </a:r>
            <a:r>
              <a:rPr sz="3200" spc="-160" dirty="0">
                <a:latin typeface="Arial MT"/>
                <a:cs typeface="Arial MT"/>
              </a:rPr>
              <a:t>t</a:t>
            </a:r>
            <a:r>
              <a:rPr sz="3200" spc="-325" dirty="0">
                <a:latin typeface="Arial MT"/>
                <a:cs typeface="Arial MT"/>
              </a:rPr>
              <a:t>he</a:t>
            </a:r>
            <a:r>
              <a:rPr sz="3200" spc="-165" dirty="0">
                <a:latin typeface="Arial MT"/>
                <a:cs typeface="Arial MT"/>
              </a:rPr>
              <a:t> </a:t>
            </a:r>
            <a:r>
              <a:rPr sz="3200" spc="-254" dirty="0">
                <a:latin typeface="Arial MT"/>
                <a:cs typeface="Arial MT"/>
              </a:rPr>
              <a:t>input</a:t>
            </a:r>
            <a:r>
              <a:rPr sz="3200" spc="-150" dirty="0">
                <a:latin typeface="Arial MT"/>
                <a:cs typeface="Arial MT"/>
              </a:rPr>
              <a:t> </a:t>
            </a:r>
            <a:r>
              <a:rPr sz="3200" spc="-270" dirty="0">
                <a:latin typeface="Arial MT"/>
                <a:cs typeface="Arial MT"/>
              </a:rPr>
              <a:t>buf</a:t>
            </a:r>
            <a:r>
              <a:rPr sz="3200" spc="-160" dirty="0">
                <a:latin typeface="Arial MT"/>
                <a:cs typeface="Arial MT"/>
              </a:rPr>
              <a:t>f</a:t>
            </a:r>
            <a:r>
              <a:rPr sz="3200" spc="-325" dirty="0">
                <a:latin typeface="Arial MT"/>
                <a:cs typeface="Arial MT"/>
              </a:rPr>
              <a:t>e</a:t>
            </a:r>
            <a:r>
              <a:rPr sz="3200" spc="-200" dirty="0">
                <a:latin typeface="Arial MT"/>
                <a:cs typeface="Arial MT"/>
              </a:rPr>
              <a:t>r</a:t>
            </a:r>
            <a:r>
              <a:rPr sz="3200" spc="-160" dirty="0">
                <a:latin typeface="Arial MT"/>
                <a:cs typeface="Arial MT"/>
              </a:rPr>
              <a:t>.</a:t>
            </a:r>
            <a:endParaRPr sz="3200">
              <a:latin typeface="Arial MT"/>
              <a:cs typeface="Arial MT"/>
            </a:endParaRPr>
          </a:p>
          <a:p>
            <a:pPr marL="412750" marR="378460">
              <a:lnSpc>
                <a:spcPct val="100000"/>
              </a:lnSpc>
              <a:spcBef>
                <a:spcPts val="680"/>
              </a:spcBef>
            </a:pPr>
            <a:r>
              <a:rPr sz="2800" spc="-290" dirty="0">
                <a:latin typeface="Arial MT"/>
                <a:cs typeface="Arial MT"/>
              </a:rPr>
              <a:t>The</a:t>
            </a:r>
            <a:r>
              <a:rPr sz="2800" spc="-155" dirty="0">
                <a:latin typeface="Arial MT"/>
                <a:cs typeface="Arial MT"/>
              </a:rPr>
              <a:t> </a:t>
            </a:r>
            <a:r>
              <a:rPr sz="2800" spc="-245" dirty="0">
                <a:latin typeface="Arial MT"/>
                <a:cs typeface="Arial MT"/>
              </a:rPr>
              <a:t>bar</a:t>
            </a:r>
            <a:r>
              <a:rPr sz="2800" spc="-155" dirty="0">
                <a:latin typeface="Arial MT"/>
                <a:cs typeface="Arial MT"/>
              </a:rPr>
              <a:t> </a:t>
            </a:r>
            <a:r>
              <a:rPr sz="2800" spc="-245" dirty="0">
                <a:latin typeface="Arial MT"/>
                <a:cs typeface="Arial MT"/>
              </a:rPr>
              <a:t>over</a:t>
            </a:r>
            <a:r>
              <a:rPr sz="2800" spc="-155" dirty="0">
                <a:latin typeface="Arial MT"/>
                <a:cs typeface="Arial MT"/>
              </a:rPr>
              <a:t> </a:t>
            </a:r>
            <a:r>
              <a:rPr sz="2800" spc="-480" dirty="0">
                <a:latin typeface="Arial MT"/>
                <a:cs typeface="Arial MT"/>
              </a:rPr>
              <a:t>W</a:t>
            </a:r>
            <a:r>
              <a:rPr sz="2800" spc="-365" dirty="0">
                <a:latin typeface="Arial MT"/>
                <a:cs typeface="Arial MT"/>
              </a:rPr>
              <a:t>R</a:t>
            </a:r>
            <a:r>
              <a:rPr sz="2800" spc="-140" dirty="0">
                <a:latin typeface="Arial MT"/>
                <a:cs typeface="Arial MT"/>
              </a:rPr>
              <a:t> </a:t>
            </a:r>
            <a:r>
              <a:rPr sz="2800" spc="-305" dirty="0">
                <a:latin typeface="Arial MT"/>
                <a:cs typeface="Arial MT"/>
              </a:rPr>
              <a:t>means</a:t>
            </a:r>
            <a:r>
              <a:rPr sz="2800" spc="-155" dirty="0">
                <a:latin typeface="Arial MT"/>
                <a:cs typeface="Arial MT"/>
              </a:rPr>
              <a:t> </a:t>
            </a:r>
            <a:r>
              <a:rPr sz="2800" spc="-145" dirty="0">
                <a:latin typeface="Arial MT"/>
                <a:cs typeface="Arial MT"/>
              </a:rPr>
              <a:t>t</a:t>
            </a:r>
            <a:r>
              <a:rPr sz="2800" spc="-235" dirty="0">
                <a:latin typeface="Arial MT"/>
                <a:cs typeface="Arial MT"/>
              </a:rPr>
              <a:t>hat</a:t>
            </a:r>
            <a:r>
              <a:rPr sz="2800" spc="-145" dirty="0">
                <a:latin typeface="Arial MT"/>
                <a:cs typeface="Arial MT"/>
              </a:rPr>
              <a:t> t</a:t>
            </a:r>
            <a:r>
              <a:rPr sz="2800" spc="-215" dirty="0">
                <a:latin typeface="Arial MT"/>
                <a:cs typeface="Arial MT"/>
              </a:rPr>
              <a:t>his</a:t>
            </a:r>
            <a:r>
              <a:rPr sz="2800" spc="-140" dirty="0">
                <a:latin typeface="Arial MT"/>
                <a:cs typeface="Arial MT"/>
              </a:rPr>
              <a:t> </a:t>
            </a:r>
            <a:r>
              <a:rPr sz="2800" spc="-185" dirty="0">
                <a:latin typeface="Arial MT"/>
                <a:cs typeface="Arial MT"/>
              </a:rPr>
              <a:t>is</a:t>
            </a:r>
            <a:r>
              <a:rPr sz="2800" spc="-140" dirty="0">
                <a:latin typeface="Arial MT"/>
                <a:cs typeface="Arial MT"/>
              </a:rPr>
              <a:t> </a:t>
            </a:r>
            <a:r>
              <a:rPr sz="2800" spc="-280" dirty="0">
                <a:latin typeface="Arial MT"/>
                <a:cs typeface="Arial MT"/>
              </a:rPr>
              <a:t>an</a:t>
            </a:r>
            <a:r>
              <a:rPr sz="2800" spc="-150" dirty="0">
                <a:latin typeface="Arial MT"/>
                <a:cs typeface="Arial MT"/>
              </a:rPr>
              <a:t> </a:t>
            </a:r>
            <a:r>
              <a:rPr sz="2800" spc="-270" dirty="0">
                <a:latin typeface="Arial MT"/>
                <a:cs typeface="Arial MT"/>
              </a:rPr>
              <a:t>ac</a:t>
            </a:r>
            <a:r>
              <a:rPr sz="2800" spc="-145" dirty="0">
                <a:latin typeface="Arial MT"/>
                <a:cs typeface="Arial MT"/>
              </a:rPr>
              <a:t>t</a:t>
            </a:r>
            <a:r>
              <a:rPr sz="2800" spc="-185" dirty="0">
                <a:latin typeface="Arial MT"/>
                <a:cs typeface="Arial MT"/>
              </a:rPr>
              <a:t>iv</a:t>
            </a:r>
            <a:r>
              <a:rPr sz="2800" spc="-280" dirty="0">
                <a:latin typeface="Arial MT"/>
                <a:cs typeface="Arial MT"/>
              </a:rPr>
              <a:t>e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210" dirty="0">
                <a:latin typeface="Arial MT"/>
                <a:cs typeface="Arial MT"/>
              </a:rPr>
              <a:t>low  signal.</a:t>
            </a:r>
            <a:endParaRPr sz="2800">
              <a:latin typeface="Arial MT"/>
              <a:cs typeface="Arial MT"/>
            </a:endParaRPr>
          </a:p>
          <a:p>
            <a:pPr marL="412750">
              <a:lnSpc>
                <a:spcPct val="100000"/>
              </a:lnSpc>
              <a:spcBef>
                <a:spcPts val="670"/>
              </a:spcBef>
            </a:pPr>
            <a:r>
              <a:rPr sz="2800" spc="-254" dirty="0">
                <a:latin typeface="Arial MT"/>
                <a:cs typeface="Arial MT"/>
              </a:rPr>
              <a:t>So,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130" dirty="0">
                <a:latin typeface="Arial MT"/>
                <a:cs typeface="Arial MT"/>
              </a:rPr>
              <a:t>if</a:t>
            </a:r>
            <a:r>
              <a:rPr sz="2800" spc="-140" dirty="0">
                <a:latin typeface="Arial MT"/>
                <a:cs typeface="Arial MT"/>
              </a:rPr>
              <a:t> </a:t>
            </a:r>
            <a:r>
              <a:rPr sz="2800" spc="-425" dirty="0">
                <a:latin typeface="Arial MT"/>
                <a:cs typeface="Arial MT"/>
              </a:rPr>
              <a:t>WR</a:t>
            </a:r>
            <a:r>
              <a:rPr sz="2800" spc="-135" dirty="0">
                <a:latin typeface="Arial MT"/>
                <a:cs typeface="Arial MT"/>
              </a:rPr>
              <a:t> </a:t>
            </a:r>
            <a:r>
              <a:rPr sz="2800" spc="-185" dirty="0">
                <a:latin typeface="Arial MT"/>
                <a:cs typeface="Arial MT"/>
              </a:rPr>
              <a:t>is</a:t>
            </a:r>
            <a:r>
              <a:rPr sz="2800" spc="-140" dirty="0">
                <a:latin typeface="Arial MT"/>
                <a:cs typeface="Arial MT"/>
              </a:rPr>
              <a:t> </a:t>
            </a:r>
            <a:r>
              <a:rPr sz="2800" spc="-280" dirty="0">
                <a:latin typeface="Arial MT"/>
                <a:cs typeface="Arial MT"/>
              </a:rPr>
              <a:t>0</a:t>
            </a:r>
            <a:r>
              <a:rPr sz="2800" spc="-140" dirty="0">
                <a:latin typeface="Arial MT"/>
                <a:cs typeface="Arial MT"/>
              </a:rPr>
              <a:t> </a:t>
            </a:r>
            <a:r>
              <a:rPr sz="2800" spc="-235" dirty="0">
                <a:latin typeface="Arial MT"/>
                <a:cs typeface="Arial MT"/>
              </a:rPr>
              <a:t>the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220" dirty="0">
                <a:latin typeface="Arial MT"/>
                <a:cs typeface="Arial MT"/>
              </a:rPr>
              <a:t>input</a:t>
            </a:r>
            <a:r>
              <a:rPr sz="2800" spc="-155" dirty="0">
                <a:latin typeface="Arial MT"/>
                <a:cs typeface="Arial MT"/>
              </a:rPr>
              <a:t> </a:t>
            </a:r>
            <a:r>
              <a:rPr sz="2800" spc="-250" dirty="0">
                <a:latin typeface="Arial MT"/>
                <a:cs typeface="Arial MT"/>
              </a:rPr>
              <a:t>data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260" dirty="0">
                <a:latin typeface="Arial MT"/>
                <a:cs typeface="Arial MT"/>
              </a:rPr>
              <a:t>reaches</a:t>
            </a:r>
            <a:r>
              <a:rPr sz="2800" spc="-155" dirty="0">
                <a:latin typeface="Arial MT"/>
                <a:cs typeface="Arial MT"/>
              </a:rPr>
              <a:t> </a:t>
            </a:r>
            <a:r>
              <a:rPr sz="2800" spc="-235" dirty="0">
                <a:latin typeface="Arial MT"/>
                <a:cs typeface="Arial MT"/>
              </a:rPr>
              <a:t>the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215" dirty="0">
                <a:latin typeface="Arial MT"/>
                <a:cs typeface="Arial MT"/>
              </a:rPr>
              <a:t>latch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210" dirty="0">
                <a:latin typeface="Arial MT"/>
                <a:cs typeface="Arial MT"/>
              </a:rPr>
              <a:t>input.</a:t>
            </a:r>
            <a:endParaRPr sz="2800">
              <a:latin typeface="Arial MT"/>
              <a:cs typeface="Arial MT"/>
            </a:endParaRPr>
          </a:p>
          <a:p>
            <a:pPr marL="412750" marR="604520">
              <a:lnSpc>
                <a:spcPct val="100000"/>
              </a:lnSpc>
              <a:spcBef>
                <a:spcPts val="675"/>
              </a:spcBef>
            </a:pPr>
            <a:r>
              <a:rPr sz="2800" spc="-145" dirty="0">
                <a:latin typeface="Arial MT"/>
                <a:cs typeface="Arial MT"/>
              </a:rPr>
              <a:t>I</a:t>
            </a:r>
            <a:r>
              <a:rPr sz="2800" spc="-140" dirty="0">
                <a:latin typeface="Arial MT"/>
                <a:cs typeface="Arial MT"/>
              </a:rPr>
              <a:t>f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480" dirty="0">
                <a:latin typeface="Arial MT"/>
                <a:cs typeface="Arial MT"/>
              </a:rPr>
              <a:t>W</a:t>
            </a:r>
            <a:r>
              <a:rPr sz="2800" spc="-365" dirty="0">
                <a:latin typeface="Arial MT"/>
                <a:cs typeface="Arial MT"/>
              </a:rPr>
              <a:t>R</a:t>
            </a:r>
            <a:r>
              <a:rPr sz="2800" spc="-140" dirty="0">
                <a:latin typeface="Arial MT"/>
                <a:cs typeface="Arial MT"/>
              </a:rPr>
              <a:t> </a:t>
            </a:r>
            <a:r>
              <a:rPr sz="2800" spc="-114" dirty="0">
                <a:latin typeface="Arial MT"/>
                <a:cs typeface="Arial MT"/>
              </a:rPr>
              <a:t>i</a:t>
            </a:r>
            <a:r>
              <a:rPr sz="2800" spc="-254" dirty="0">
                <a:latin typeface="Arial MT"/>
                <a:cs typeface="Arial MT"/>
              </a:rPr>
              <a:t>s</a:t>
            </a:r>
            <a:r>
              <a:rPr sz="2800" spc="-140" dirty="0">
                <a:latin typeface="Arial MT"/>
                <a:cs typeface="Arial MT"/>
              </a:rPr>
              <a:t> </a:t>
            </a:r>
            <a:r>
              <a:rPr sz="2800" spc="-280" dirty="0">
                <a:latin typeface="Arial MT"/>
                <a:cs typeface="Arial MT"/>
              </a:rPr>
              <a:t>1</a:t>
            </a:r>
            <a:r>
              <a:rPr sz="2800" spc="-145" dirty="0">
                <a:latin typeface="Arial MT"/>
                <a:cs typeface="Arial MT"/>
              </a:rPr>
              <a:t> t</a:t>
            </a:r>
            <a:r>
              <a:rPr sz="2800" spc="-280" dirty="0">
                <a:latin typeface="Arial MT"/>
                <a:cs typeface="Arial MT"/>
              </a:rPr>
              <a:t>he</a:t>
            </a:r>
            <a:r>
              <a:rPr sz="2800" spc="-150" dirty="0">
                <a:latin typeface="Arial MT"/>
                <a:cs typeface="Arial MT"/>
              </a:rPr>
              <a:t> </a:t>
            </a:r>
            <a:r>
              <a:rPr sz="2800" spc="-220" dirty="0">
                <a:latin typeface="Arial MT"/>
                <a:cs typeface="Arial MT"/>
              </a:rPr>
              <a:t>input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210" dirty="0">
                <a:latin typeface="Arial MT"/>
                <a:cs typeface="Arial MT"/>
              </a:rPr>
              <a:t>of</a:t>
            </a:r>
            <a:r>
              <a:rPr sz="2800" spc="-145" dirty="0">
                <a:latin typeface="Arial MT"/>
                <a:cs typeface="Arial MT"/>
              </a:rPr>
              <a:t> t</a:t>
            </a:r>
            <a:r>
              <a:rPr sz="2800" spc="-280" dirty="0">
                <a:latin typeface="Arial MT"/>
                <a:cs typeface="Arial MT"/>
              </a:rPr>
              <a:t>he</a:t>
            </a:r>
            <a:r>
              <a:rPr sz="2800" spc="-150" dirty="0">
                <a:latin typeface="Arial MT"/>
                <a:cs typeface="Arial MT"/>
              </a:rPr>
              <a:t> </a:t>
            </a:r>
            <a:r>
              <a:rPr sz="2800" spc="-200" dirty="0">
                <a:latin typeface="Arial MT"/>
                <a:cs typeface="Arial MT"/>
              </a:rPr>
              <a:t>la</a:t>
            </a:r>
            <a:r>
              <a:rPr sz="2800" spc="-145" dirty="0">
                <a:latin typeface="Arial MT"/>
                <a:cs typeface="Arial MT"/>
              </a:rPr>
              <a:t>t</a:t>
            </a:r>
            <a:r>
              <a:rPr sz="2800" spc="-270" dirty="0">
                <a:latin typeface="Arial MT"/>
                <a:cs typeface="Arial MT"/>
              </a:rPr>
              <a:t>ch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235" dirty="0">
                <a:latin typeface="Arial MT"/>
                <a:cs typeface="Arial MT"/>
              </a:rPr>
              <a:t>look</a:t>
            </a:r>
            <a:r>
              <a:rPr sz="2800" spc="-254" dirty="0">
                <a:latin typeface="Arial MT"/>
                <a:cs typeface="Arial MT"/>
              </a:rPr>
              <a:t>s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160" dirty="0">
                <a:latin typeface="Arial MT"/>
                <a:cs typeface="Arial MT"/>
              </a:rPr>
              <a:t>lik</a:t>
            </a:r>
            <a:r>
              <a:rPr sz="2800" spc="-280" dirty="0">
                <a:latin typeface="Arial MT"/>
                <a:cs typeface="Arial MT"/>
              </a:rPr>
              <a:t>e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280" dirty="0">
                <a:latin typeface="Arial MT"/>
                <a:cs typeface="Arial MT"/>
              </a:rPr>
              <a:t>a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370" dirty="0">
                <a:latin typeface="Arial MT"/>
                <a:cs typeface="Arial MT"/>
              </a:rPr>
              <a:t>w</a:t>
            </a:r>
            <a:r>
              <a:rPr sz="2800" spc="-114" dirty="0">
                <a:latin typeface="Arial MT"/>
                <a:cs typeface="Arial MT"/>
              </a:rPr>
              <a:t>i</a:t>
            </a:r>
            <a:r>
              <a:rPr sz="2800" spc="-175" dirty="0">
                <a:latin typeface="Arial MT"/>
                <a:cs typeface="Arial MT"/>
              </a:rPr>
              <a:t>r</a:t>
            </a:r>
            <a:r>
              <a:rPr sz="2800" spc="-245" dirty="0">
                <a:latin typeface="Arial MT"/>
                <a:cs typeface="Arial MT"/>
              </a:rPr>
              <a:t>e  connec</a:t>
            </a:r>
            <a:r>
              <a:rPr sz="2800" spc="-145" dirty="0">
                <a:latin typeface="Arial MT"/>
                <a:cs typeface="Arial MT"/>
              </a:rPr>
              <a:t>t</a:t>
            </a:r>
            <a:r>
              <a:rPr sz="2800" spc="-280" dirty="0">
                <a:latin typeface="Arial MT"/>
                <a:cs typeface="Arial MT"/>
              </a:rPr>
              <a:t>ed</a:t>
            </a:r>
            <a:r>
              <a:rPr sz="2800" spc="-170" dirty="0">
                <a:latin typeface="Arial MT"/>
                <a:cs typeface="Arial MT"/>
              </a:rPr>
              <a:t> </a:t>
            </a:r>
            <a:r>
              <a:rPr sz="2800" spc="-145" dirty="0">
                <a:latin typeface="Arial MT"/>
                <a:cs typeface="Arial MT"/>
              </a:rPr>
              <a:t>t</a:t>
            </a:r>
            <a:r>
              <a:rPr sz="2800" spc="-280" dirty="0">
                <a:latin typeface="Arial MT"/>
                <a:cs typeface="Arial MT"/>
              </a:rPr>
              <a:t>o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280" dirty="0">
                <a:latin typeface="Arial MT"/>
                <a:cs typeface="Arial MT"/>
              </a:rPr>
              <a:t>no</a:t>
            </a:r>
            <a:r>
              <a:rPr sz="2800" spc="-145" dirty="0">
                <a:latin typeface="Arial MT"/>
                <a:cs typeface="Arial MT"/>
              </a:rPr>
              <a:t>t</a:t>
            </a:r>
            <a:r>
              <a:rPr sz="2800" spc="-220" dirty="0">
                <a:latin typeface="Arial MT"/>
                <a:cs typeface="Arial MT"/>
              </a:rPr>
              <a:t>hing.</a:t>
            </a:r>
            <a:endParaRPr sz="2800">
              <a:latin typeface="Arial MT"/>
              <a:cs typeface="Arial MT"/>
            </a:endParaRPr>
          </a:p>
          <a:p>
            <a:pPr marL="12700" marR="476884">
              <a:lnSpc>
                <a:spcPct val="100000"/>
              </a:lnSpc>
              <a:spcBef>
                <a:spcPts val="755"/>
              </a:spcBef>
            </a:pPr>
            <a:r>
              <a:rPr sz="3200" spc="-335" dirty="0">
                <a:latin typeface="Arial MT"/>
                <a:cs typeface="Arial MT"/>
              </a:rPr>
              <a:t>The</a:t>
            </a:r>
            <a:r>
              <a:rPr sz="3200" spc="-165" dirty="0">
                <a:latin typeface="Arial MT"/>
                <a:cs typeface="Arial MT"/>
              </a:rPr>
              <a:t> </a:t>
            </a:r>
            <a:r>
              <a:rPr sz="3200" spc="-425" dirty="0">
                <a:latin typeface="Arial MT"/>
                <a:cs typeface="Arial MT"/>
              </a:rPr>
              <a:t>R</a:t>
            </a:r>
            <a:r>
              <a:rPr sz="3200" spc="-420" dirty="0">
                <a:latin typeface="Arial MT"/>
                <a:cs typeface="Arial MT"/>
              </a:rPr>
              <a:t>D</a:t>
            </a:r>
            <a:r>
              <a:rPr sz="3200" spc="-150" dirty="0">
                <a:latin typeface="Arial MT"/>
                <a:cs typeface="Arial MT"/>
              </a:rPr>
              <a:t> </a:t>
            </a:r>
            <a:r>
              <a:rPr sz="3200" spc="-290" dirty="0">
                <a:latin typeface="Arial MT"/>
                <a:cs typeface="Arial MT"/>
              </a:rPr>
              <a:t>s</a:t>
            </a:r>
            <a:r>
              <a:rPr sz="3200" spc="-245" dirty="0">
                <a:latin typeface="Arial MT"/>
                <a:cs typeface="Arial MT"/>
              </a:rPr>
              <a:t>ignal</a:t>
            </a:r>
            <a:r>
              <a:rPr sz="3200" spc="-145" dirty="0">
                <a:latin typeface="Arial MT"/>
                <a:cs typeface="Arial MT"/>
              </a:rPr>
              <a:t> </a:t>
            </a:r>
            <a:r>
              <a:rPr sz="3200" spc="-275" dirty="0">
                <a:latin typeface="Arial MT"/>
                <a:cs typeface="Arial MT"/>
              </a:rPr>
              <a:t>cont</a:t>
            </a:r>
            <a:r>
              <a:rPr sz="3200" spc="-200" dirty="0">
                <a:latin typeface="Arial MT"/>
                <a:cs typeface="Arial MT"/>
              </a:rPr>
              <a:t>r</a:t>
            </a:r>
            <a:r>
              <a:rPr sz="3200" spc="-250" dirty="0">
                <a:latin typeface="Arial MT"/>
                <a:cs typeface="Arial MT"/>
              </a:rPr>
              <a:t>ols</a:t>
            </a:r>
            <a:r>
              <a:rPr sz="3200" spc="-150" dirty="0">
                <a:latin typeface="Arial MT"/>
                <a:cs typeface="Arial MT"/>
              </a:rPr>
              <a:t> </a:t>
            </a:r>
            <a:r>
              <a:rPr sz="3200" spc="-160" dirty="0">
                <a:latin typeface="Arial MT"/>
                <a:cs typeface="Arial MT"/>
              </a:rPr>
              <a:t>t</a:t>
            </a:r>
            <a:r>
              <a:rPr sz="3200" spc="-325" dirty="0">
                <a:latin typeface="Arial MT"/>
                <a:cs typeface="Arial MT"/>
              </a:rPr>
              <a:t>he</a:t>
            </a:r>
            <a:r>
              <a:rPr sz="3200" spc="-165" dirty="0">
                <a:latin typeface="Arial MT"/>
                <a:cs typeface="Arial MT"/>
              </a:rPr>
              <a:t> </a:t>
            </a:r>
            <a:r>
              <a:rPr sz="3200" spc="-270" dirty="0">
                <a:latin typeface="Arial MT"/>
                <a:cs typeface="Arial MT"/>
              </a:rPr>
              <a:t>output</a:t>
            </a:r>
            <a:r>
              <a:rPr sz="3200" spc="-155" dirty="0">
                <a:latin typeface="Arial MT"/>
                <a:cs typeface="Arial MT"/>
              </a:rPr>
              <a:t> </a:t>
            </a:r>
            <a:r>
              <a:rPr sz="3200" spc="-229" dirty="0">
                <a:latin typeface="Arial MT"/>
                <a:cs typeface="Arial MT"/>
              </a:rPr>
              <a:t>in</a:t>
            </a:r>
            <a:r>
              <a:rPr sz="3200" spc="-160" dirty="0">
                <a:latin typeface="Arial MT"/>
                <a:cs typeface="Arial MT"/>
              </a:rPr>
              <a:t> </a:t>
            </a:r>
            <a:r>
              <a:rPr sz="3200" spc="-325" dirty="0">
                <a:latin typeface="Arial MT"/>
                <a:cs typeface="Arial MT"/>
              </a:rPr>
              <a:t>a</a:t>
            </a:r>
            <a:r>
              <a:rPr sz="3200" spc="-160" dirty="0">
                <a:latin typeface="Arial MT"/>
                <a:cs typeface="Arial MT"/>
              </a:rPr>
              <a:t> </a:t>
            </a:r>
            <a:r>
              <a:rPr sz="3200" spc="-290" dirty="0">
                <a:latin typeface="Arial MT"/>
                <a:cs typeface="Arial MT"/>
              </a:rPr>
              <a:t>s</a:t>
            </a:r>
            <a:r>
              <a:rPr sz="3200" spc="-215" dirty="0">
                <a:latin typeface="Arial MT"/>
                <a:cs typeface="Arial MT"/>
              </a:rPr>
              <a:t>imilar  </a:t>
            </a:r>
            <a:r>
              <a:rPr sz="3200" spc="-305" dirty="0">
                <a:latin typeface="Arial MT"/>
                <a:cs typeface="Arial MT"/>
              </a:rPr>
              <a:t>manner.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237981" y="6564531"/>
            <a:ext cx="16510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r>
              <a:rPr sz="1400" spc="-5" dirty="0">
                <a:solidFill>
                  <a:srgbClr val="EBEBEB"/>
                </a:solidFill>
                <a:latin typeface="Times New Roman"/>
                <a:cs typeface="Times New Roman"/>
              </a:rPr>
              <a:t>7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6350" y="0"/>
            <a:ext cx="9156700" cy="6870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515938" cy="68579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64540" y="1010665"/>
            <a:ext cx="425069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30" dirty="0">
                <a:solidFill>
                  <a:srgbClr val="FFFFCC"/>
                </a:solidFill>
                <a:latin typeface="Arial MT"/>
                <a:cs typeface="Arial MT"/>
              </a:rPr>
              <a:t>A</a:t>
            </a:r>
            <a:r>
              <a:rPr spc="-220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480" dirty="0">
                <a:solidFill>
                  <a:srgbClr val="FFFFCC"/>
                </a:solidFill>
                <a:latin typeface="Arial MT"/>
                <a:cs typeface="Arial MT"/>
              </a:rPr>
              <a:t>Memory</a:t>
            </a:r>
            <a:r>
              <a:rPr spc="-225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380" dirty="0">
                <a:solidFill>
                  <a:srgbClr val="FFFFCC"/>
                </a:solidFill>
                <a:latin typeface="Arial MT"/>
                <a:cs typeface="Arial MT"/>
              </a:rPr>
              <a:t>“Regi</a:t>
            </a:r>
            <a:r>
              <a:rPr spc="-320" dirty="0">
                <a:solidFill>
                  <a:srgbClr val="FFFFCC"/>
                </a:solidFill>
                <a:latin typeface="Arial MT"/>
                <a:cs typeface="Arial MT"/>
              </a:rPr>
              <a:t>ster”</a:t>
            </a: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7239" y="2197608"/>
            <a:ext cx="215645" cy="227076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060451" y="5492750"/>
            <a:ext cx="6240780" cy="3175"/>
          </a:xfrm>
          <a:custGeom>
            <a:avLst/>
            <a:gdLst/>
            <a:ahLst/>
            <a:cxnLst/>
            <a:rect l="l" t="t" r="r" b="b"/>
            <a:pathLst>
              <a:path w="6240780" h="3175">
                <a:moveTo>
                  <a:pt x="6240462" y="3175"/>
                </a:moveTo>
                <a:lnTo>
                  <a:pt x="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50239" y="5821184"/>
            <a:ext cx="2451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 MT"/>
                <a:cs typeface="Arial MT"/>
              </a:rPr>
              <a:t>RD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06450" y="4146550"/>
            <a:ext cx="330200" cy="0"/>
          </a:xfrm>
          <a:custGeom>
            <a:avLst/>
            <a:gdLst/>
            <a:ahLst/>
            <a:cxnLst/>
            <a:rect l="l" t="t" r="r" b="b"/>
            <a:pathLst>
              <a:path w="330200">
                <a:moveTo>
                  <a:pt x="0" y="0"/>
                </a:moveTo>
                <a:lnTo>
                  <a:pt x="3302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50912" y="5810250"/>
            <a:ext cx="254000" cy="0"/>
          </a:xfrm>
          <a:custGeom>
            <a:avLst/>
            <a:gdLst/>
            <a:ahLst/>
            <a:cxnLst/>
            <a:rect l="l" t="t" r="r" b="b"/>
            <a:pathLst>
              <a:path w="254000">
                <a:moveTo>
                  <a:pt x="0" y="0"/>
                </a:moveTo>
                <a:lnTo>
                  <a:pt x="2540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029652" y="5308472"/>
            <a:ext cx="23685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 MT"/>
                <a:cs typeface="Arial MT"/>
              </a:rPr>
              <a:t>EN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835150" y="4298950"/>
            <a:ext cx="581025" cy="1049655"/>
            <a:chOff x="1835150" y="4298950"/>
            <a:chExt cx="581025" cy="1049655"/>
          </a:xfrm>
        </p:grpSpPr>
        <p:sp>
          <p:nvSpPr>
            <p:cNvPr id="12" name="object 12"/>
            <p:cNvSpPr/>
            <p:nvPr/>
          </p:nvSpPr>
          <p:spPr>
            <a:xfrm>
              <a:off x="1841500" y="4305300"/>
              <a:ext cx="568325" cy="1036955"/>
            </a:xfrm>
            <a:custGeom>
              <a:avLst/>
              <a:gdLst/>
              <a:ahLst/>
              <a:cxnLst/>
              <a:rect l="l" t="t" r="r" b="b"/>
              <a:pathLst>
                <a:path w="568325" h="1036954">
                  <a:moveTo>
                    <a:pt x="568325" y="0"/>
                  </a:moveTo>
                  <a:lnTo>
                    <a:pt x="0" y="0"/>
                  </a:lnTo>
                  <a:lnTo>
                    <a:pt x="0" y="1036637"/>
                  </a:lnTo>
                  <a:lnTo>
                    <a:pt x="568325" y="1036637"/>
                  </a:lnTo>
                  <a:lnTo>
                    <a:pt x="568325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841500" y="4305300"/>
              <a:ext cx="568325" cy="1036955"/>
            </a:xfrm>
            <a:custGeom>
              <a:avLst/>
              <a:gdLst/>
              <a:ahLst/>
              <a:cxnLst/>
              <a:rect l="l" t="t" r="r" b="b"/>
              <a:pathLst>
                <a:path w="568325" h="1036954">
                  <a:moveTo>
                    <a:pt x="0" y="0"/>
                  </a:moveTo>
                  <a:lnTo>
                    <a:pt x="568325" y="0"/>
                  </a:lnTo>
                  <a:lnTo>
                    <a:pt x="568325" y="1036637"/>
                  </a:lnTo>
                  <a:lnTo>
                    <a:pt x="0" y="1036637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221864" y="4679822"/>
            <a:ext cx="1638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 MT"/>
                <a:cs typeface="Arial MT"/>
              </a:rPr>
              <a:t>Q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79023" y="4341597"/>
            <a:ext cx="15367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 MT"/>
                <a:cs typeface="Arial MT"/>
              </a:rPr>
              <a:t>D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83817" y="5090841"/>
            <a:ext cx="27178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 MT"/>
                <a:cs typeface="Arial MT"/>
              </a:rPr>
              <a:t>EN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922338" y="3787775"/>
            <a:ext cx="6311900" cy="2287905"/>
            <a:chOff x="922338" y="3787775"/>
            <a:chExt cx="6311900" cy="2287905"/>
          </a:xfrm>
        </p:grpSpPr>
        <p:sp>
          <p:nvSpPr>
            <p:cNvPr id="18" name="object 18"/>
            <p:cNvSpPr/>
            <p:nvPr/>
          </p:nvSpPr>
          <p:spPr>
            <a:xfrm>
              <a:off x="1660525" y="4462462"/>
              <a:ext cx="174625" cy="0"/>
            </a:xfrm>
            <a:custGeom>
              <a:avLst/>
              <a:gdLst/>
              <a:ahLst/>
              <a:cxnLst/>
              <a:rect l="l" t="t" r="r" b="b"/>
              <a:pathLst>
                <a:path w="174625">
                  <a:moveTo>
                    <a:pt x="174625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620837" y="5214937"/>
              <a:ext cx="224154" cy="0"/>
            </a:xfrm>
            <a:custGeom>
              <a:avLst/>
              <a:gdLst/>
              <a:ahLst/>
              <a:cxnLst/>
              <a:rect l="l" t="t" r="r" b="b"/>
              <a:pathLst>
                <a:path w="224155">
                  <a:moveTo>
                    <a:pt x="223837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404937" y="4310062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0" y="0"/>
                  </a:moveTo>
                  <a:lnTo>
                    <a:pt x="0" y="304800"/>
                  </a:lnTo>
                  <a:lnTo>
                    <a:pt x="266700" y="152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404937" y="4310062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0" y="0"/>
                  </a:moveTo>
                  <a:lnTo>
                    <a:pt x="266700" y="1524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514475" y="4311644"/>
              <a:ext cx="74930" cy="74930"/>
            </a:xfrm>
            <a:custGeom>
              <a:avLst/>
              <a:gdLst/>
              <a:ahLst/>
              <a:cxnLst/>
              <a:rect l="l" t="t" r="r" b="b"/>
              <a:pathLst>
                <a:path w="74930" h="74929">
                  <a:moveTo>
                    <a:pt x="0" y="37312"/>
                  </a:moveTo>
                  <a:lnTo>
                    <a:pt x="2931" y="22792"/>
                  </a:lnTo>
                  <a:lnTo>
                    <a:pt x="10926" y="10931"/>
                  </a:lnTo>
                  <a:lnTo>
                    <a:pt x="22786" y="2933"/>
                  </a:lnTo>
                  <a:lnTo>
                    <a:pt x="37312" y="0"/>
                  </a:lnTo>
                  <a:lnTo>
                    <a:pt x="51831" y="2933"/>
                  </a:lnTo>
                  <a:lnTo>
                    <a:pt x="63687" y="10931"/>
                  </a:lnTo>
                  <a:lnTo>
                    <a:pt x="71681" y="22792"/>
                  </a:lnTo>
                  <a:lnTo>
                    <a:pt x="74612" y="37312"/>
                  </a:lnTo>
                  <a:lnTo>
                    <a:pt x="71681" y="51833"/>
                  </a:lnTo>
                  <a:lnTo>
                    <a:pt x="63687" y="63693"/>
                  </a:lnTo>
                  <a:lnTo>
                    <a:pt x="51831" y="71691"/>
                  </a:lnTo>
                  <a:lnTo>
                    <a:pt x="37312" y="74625"/>
                  </a:lnTo>
                  <a:lnTo>
                    <a:pt x="22786" y="71691"/>
                  </a:lnTo>
                  <a:lnTo>
                    <a:pt x="10926" y="63693"/>
                  </a:lnTo>
                  <a:lnTo>
                    <a:pt x="2931" y="51833"/>
                  </a:lnTo>
                  <a:lnTo>
                    <a:pt x="0" y="37312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550987" y="4075112"/>
              <a:ext cx="0" cy="243204"/>
            </a:xfrm>
            <a:custGeom>
              <a:avLst/>
              <a:gdLst/>
              <a:ahLst/>
              <a:cxnLst/>
              <a:rect l="l" t="t" r="r" b="b"/>
              <a:pathLst>
                <a:path h="243204">
                  <a:moveTo>
                    <a:pt x="0" y="0"/>
                  </a:moveTo>
                  <a:lnTo>
                    <a:pt x="0" y="24288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28688" y="4067175"/>
              <a:ext cx="6299200" cy="0"/>
            </a:xfrm>
            <a:custGeom>
              <a:avLst/>
              <a:gdLst/>
              <a:ahLst/>
              <a:cxnLst/>
              <a:rect l="l" t="t" r="r" b="b"/>
              <a:pathLst>
                <a:path w="6299200">
                  <a:moveTo>
                    <a:pt x="62992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574924" y="4633912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0" y="0"/>
                  </a:moveTo>
                  <a:lnTo>
                    <a:pt x="0" y="304800"/>
                  </a:lnTo>
                  <a:lnTo>
                    <a:pt x="266700" y="152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574924" y="4633912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0" y="0"/>
                  </a:moveTo>
                  <a:lnTo>
                    <a:pt x="266700" y="1524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78112" y="4849806"/>
              <a:ext cx="87312" cy="87312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2719387" y="4932362"/>
              <a:ext cx="1905" cy="790575"/>
            </a:xfrm>
            <a:custGeom>
              <a:avLst/>
              <a:gdLst/>
              <a:ahLst/>
              <a:cxnLst/>
              <a:rect l="l" t="t" r="r" b="b"/>
              <a:pathLst>
                <a:path w="1905" h="790575">
                  <a:moveTo>
                    <a:pt x="1587" y="0"/>
                  </a:moveTo>
                  <a:lnTo>
                    <a:pt x="0" y="79057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835274" y="4789487"/>
              <a:ext cx="228600" cy="0"/>
            </a:xfrm>
            <a:custGeom>
              <a:avLst/>
              <a:gdLst/>
              <a:ahLst/>
              <a:cxnLst/>
              <a:rect l="l" t="t" r="r" b="b"/>
              <a:pathLst>
                <a:path w="228600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406650" y="4795837"/>
              <a:ext cx="170180" cy="0"/>
            </a:xfrm>
            <a:custGeom>
              <a:avLst/>
              <a:gdLst/>
              <a:ahLst/>
              <a:cxnLst/>
              <a:rect l="l" t="t" r="r" b="b"/>
              <a:pathLst>
                <a:path w="170180">
                  <a:moveTo>
                    <a:pt x="169862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217612" y="4471987"/>
              <a:ext cx="190500" cy="0"/>
            </a:xfrm>
            <a:custGeom>
              <a:avLst/>
              <a:gdLst/>
              <a:ahLst/>
              <a:cxnLst/>
              <a:rect l="l" t="t" r="r" b="b"/>
              <a:pathLst>
                <a:path w="190500">
                  <a:moveTo>
                    <a:pt x="1905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225550" y="3794125"/>
              <a:ext cx="0" cy="678180"/>
            </a:xfrm>
            <a:custGeom>
              <a:avLst/>
              <a:gdLst/>
              <a:ahLst/>
              <a:cxnLst/>
              <a:rect l="l" t="t" r="r" b="b"/>
              <a:pathLst>
                <a:path h="678179">
                  <a:moveTo>
                    <a:pt x="0" y="677862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055937" y="4789487"/>
              <a:ext cx="0" cy="1279525"/>
            </a:xfrm>
            <a:custGeom>
              <a:avLst/>
              <a:gdLst/>
              <a:ahLst/>
              <a:cxnLst/>
              <a:rect l="l" t="t" r="r" b="b"/>
              <a:pathLst>
                <a:path h="1279525">
                  <a:moveTo>
                    <a:pt x="0" y="0"/>
                  </a:moveTo>
                  <a:lnTo>
                    <a:pt x="0" y="127952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627187" y="5216525"/>
              <a:ext cx="0" cy="274955"/>
            </a:xfrm>
            <a:custGeom>
              <a:avLst/>
              <a:gdLst/>
              <a:ahLst/>
              <a:cxnLst/>
              <a:rect l="l" t="t" r="r" b="b"/>
              <a:pathLst>
                <a:path h="274954">
                  <a:moveTo>
                    <a:pt x="0" y="0"/>
                  </a:moveTo>
                  <a:lnTo>
                    <a:pt x="0" y="27463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735387" y="4305300"/>
              <a:ext cx="568325" cy="1036955"/>
            </a:xfrm>
            <a:custGeom>
              <a:avLst/>
              <a:gdLst/>
              <a:ahLst/>
              <a:cxnLst/>
              <a:rect l="l" t="t" r="r" b="b"/>
              <a:pathLst>
                <a:path w="568325" h="1036954">
                  <a:moveTo>
                    <a:pt x="568325" y="0"/>
                  </a:moveTo>
                  <a:lnTo>
                    <a:pt x="0" y="0"/>
                  </a:lnTo>
                  <a:lnTo>
                    <a:pt x="0" y="1036637"/>
                  </a:lnTo>
                  <a:lnTo>
                    <a:pt x="568325" y="1036637"/>
                  </a:lnTo>
                  <a:lnTo>
                    <a:pt x="568325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735387" y="4305300"/>
              <a:ext cx="568325" cy="1036955"/>
            </a:xfrm>
            <a:custGeom>
              <a:avLst/>
              <a:gdLst/>
              <a:ahLst/>
              <a:cxnLst/>
              <a:rect l="l" t="t" r="r" b="b"/>
              <a:pathLst>
                <a:path w="568325" h="1036954">
                  <a:moveTo>
                    <a:pt x="0" y="0"/>
                  </a:moveTo>
                  <a:lnTo>
                    <a:pt x="568325" y="0"/>
                  </a:lnTo>
                  <a:lnTo>
                    <a:pt x="568325" y="1036637"/>
                  </a:lnTo>
                  <a:lnTo>
                    <a:pt x="0" y="1036637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4115752" y="4679822"/>
            <a:ext cx="1638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 MT"/>
                <a:cs typeface="Arial MT"/>
              </a:rPr>
              <a:t>Q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772911" y="4341597"/>
            <a:ext cx="15367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 MT"/>
                <a:cs typeface="Arial MT"/>
              </a:rPr>
              <a:t>D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777705" y="5090841"/>
            <a:ext cx="27178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 MT"/>
                <a:cs typeface="Arial MT"/>
              </a:rPr>
              <a:t>EN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3105150" y="3787775"/>
            <a:ext cx="3110230" cy="2287905"/>
            <a:chOff x="3105150" y="3787775"/>
            <a:chExt cx="3110230" cy="2287905"/>
          </a:xfrm>
        </p:grpSpPr>
        <p:sp>
          <p:nvSpPr>
            <p:cNvPr id="41" name="object 41"/>
            <p:cNvSpPr/>
            <p:nvPr/>
          </p:nvSpPr>
          <p:spPr>
            <a:xfrm>
              <a:off x="3554412" y="4462462"/>
              <a:ext cx="174625" cy="0"/>
            </a:xfrm>
            <a:custGeom>
              <a:avLst/>
              <a:gdLst/>
              <a:ahLst/>
              <a:cxnLst/>
              <a:rect l="l" t="t" r="r" b="b"/>
              <a:pathLst>
                <a:path w="174625">
                  <a:moveTo>
                    <a:pt x="174625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514725" y="5214937"/>
              <a:ext cx="224154" cy="0"/>
            </a:xfrm>
            <a:custGeom>
              <a:avLst/>
              <a:gdLst/>
              <a:ahLst/>
              <a:cxnLst/>
              <a:rect l="l" t="t" r="r" b="b"/>
              <a:pathLst>
                <a:path w="224154">
                  <a:moveTo>
                    <a:pt x="223837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298825" y="4310062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0" y="0"/>
                  </a:moveTo>
                  <a:lnTo>
                    <a:pt x="0" y="304800"/>
                  </a:lnTo>
                  <a:lnTo>
                    <a:pt x="266700" y="152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298825" y="4310062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0" y="0"/>
                  </a:moveTo>
                  <a:lnTo>
                    <a:pt x="266700" y="1524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08362" y="4311644"/>
              <a:ext cx="74930" cy="74930"/>
            </a:xfrm>
            <a:custGeom>
              <a:avLst/>
              <a:gdLst/>
              <a:ahLst/>
              <a:cxnLst/>
              <a:rect l="l" t="t" r="r" b="b"/>
              <a:pathLst>
                <a:path w="74929" h="74929">
                  <a:moveTo>
                    <a:pt x="0" y="37312"/>
                  </a:moveTo>
                  <a:lnTo>
                    <a:pt x="2931" y="22792"/>
                  </a:lnTo>
                  <a:lnTo>
                    <a:pt x="10926" y="10931"/>
                  </a:lnTo>
                  <a:lnTo>
                    <a:pt x="22786" y="2933"/>
                  </a:lnTo>
                  <a:lnTo>
                    <a:pt x="37312" y="0"/>
                  </a:lnTo>
                  <a:lnTo>
                    <a:pt x="51831" y="2933"/>
                  </a:lnTo>
                  <a:lnTo>
                    <a:pt x="63687" y="10931"/>
                  </a:lnTo>
                  <a:lnTo>
                    <a:pt x="71681" y="22792"/>
                  </a:lnTo>
                  <a:lnTo>
                    <a:pt x="74612" y="37312"/>
                  </a:lnTo>
                  <a:lnTo>
                    <a:pt x="71681" y="51833"/>
                  </a:lnTo>
                  <a:lnTo>
                    <a:pt x="63687" y="63693"/>
                  </a:lnTo>
                  <a:lnTo>
                    <a:pt x="51831" y="71691"/>
                  </a:lnTo>
                  <a:lnTo>
                    <a:pt x="37312" y="74625"/>
                  </a:lnTo>
                  <a:lnTo>
                    <a:pt x="22786" y="71691"/>
                  </a:lnTo>
                  <a:lnTo>
                    <a:pt x="10926" y="63693"/>
                  </a:lnTo>
                  <a:lnTo>
                    <a:pt x="2931" y="51833"/>
                  </a:lnTo>
                  <a:lnTo>
                    <a:pt x="0" y="37312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44875" y="4075112"/>
              <a:ext cx="0" cy="243204"/>
            </a:xfrm>
            <a:custGeom>
              <a:avLst/>
              <a:gdLst/>
              <a:ahLst/>
              <a:cxnLst/>
              <a:rect l="l" t="t" r="r" b="b"/>
              <a:pathLst>
                <a:path h="243204">
                  <a:moveTo>
                    <a:pt x="0" y="0"/>
                  </a:moveTo>
                  <a:lnTo>
                    <a:pt x="0" y="24288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468812" y="4633912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0" y="0"/>
                  </a:moveTo>
                  <a:lnTo>
                    <a:pt x="0" y="304800"/>
                  </a:lnTo>
                  <a:lnTo>
                    <a:pt x="266700" y="152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468812" y="4633912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0" y="0"/>
                  </a:moveTo>
                  <a:lnTo>
                    <a:pt x="266700" y="1524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72000" y="4849806"/>
              <a:ext cx="87312" cy="87312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4613275" y="4932362"/>
              <a:ext cx="1905" cy="790575"/>
            </a:xfrm>
            <a:custGeom>
              <a:avLst/>
              <a:gdLst/>
              <a:ahLst/>
              <a:cxnLst/>
              <a:rect l="l" t="t" r="r" b="b"/>
              <a:pathLst>
                <a:path w="1904" h="790575">
                  <a:moveTo>
                    <a:pt x="1587" y="0"/>
                  </a:moveTo>
                  <a:lnTo>
                    <a:pt x="0" y="79057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729162" y="4789487"/>
              <a:ext cx="228600" cy="0"/>
            </a:xfrm>
            <a:custGeom>
              <a:avLst/>
              <a:gdLst/>
              <a:ahLst/>
              <a:cxnLst/>
              <a:rect l="l" t="t" r="r" b="b"/>
              <a:pathLst>
                <a:path w="228600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300537" y="4795837"/>
              <a:ext cx="170180" cy="0"/>
            </a:xfrm>
            <a:custGeom>
              <a:avLst/>
              <a:gdLst/>
              <a:ahLst/>
              <a:cxnLst/>
              <a:rect l="l" t="t" r="r" b="b"/>
              <a:pathLst>
                <a:path w="170179">
                  <a:moveTo>
                    <a:pt x="169862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111500" y="4471987"/>
              <a:ext cx="190500" cy="0"/>
            </a:xfrm>
            <a:custGeom>
              <a:avLst/>
              <a:gdLst/>
              <a:ahLst/>
              <a:cxnLst/>
              <a:rect l="l" t="t" r="r" b="b"/>
              <a:pathLst>
                <a:path w="190500">
                  <a:moveTo>
                    <a:pt x="1905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119437" y="3794125"/>
              <a:ext cx="0" cy="678180"/>
            </a:xfrm>
            <a:custGeom>
              <a:avLst/>
              <a:gdLst/>
              <a:ahLst/>
              <a:cxnLst/>
              <a:rect l="l" t="t" r="r" b="b"/>
              <a:pathLst>
                <a:path h="678179">
                  <a:moveTo>
                    <a:pt x="0" y="677862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949825" y="4789487"/>
              <a:ext cx="0" cy="1279525"/>
            </a:xfrm>
            <a:custGeom>
              <a:avLst/>
              <a:gdLst/>
              <a:ahLst/>
              <a:cxnLst/>
              <a:rect l="l" t="t" r="r" b="b"/>
              <a:pathLst>
                <a:path h="1279525">
                  <a:moveTo>
                    <a:pt x="0" y="0"/>
                  </a:moveTo>
                  <a:lnTo>
                    <a:pt x="0" y="127952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521075" y="5216525"/>
              <a:ext cx="0" cy="274955"/>
            </a:xfrm>
            <a:custGeom>
              <a:avLst/>
              <a:gdLst/>
              <a:ahLst/>
              <a:cxnLst/>
              <a:rect l="l" t="t" r="r" b="b"/>
              <a:pathLst>
                <a:path h="274954">
                  <a:moveTo>
                    <a:pt x="0" y="0"/>
                  </a:moveTo>
                  <a:lnTo>
                    <a:pt x="0" y="27463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640387" y="4305300"/>
              <a:ext cx="568325" cy="1036955"/>
            </a:xfrm>
            <a:custGeom>
              <a:avLst/>
              <a:gdLst/>
              <a:ahLst/>
              <a:cxnLst/>
              <a:rect l="l" t="t" r="r" b="b"/>
              <a:pathLst>
                <a:path w="568325" h="1036954">
                  <a:moveTo>
                    <a:pt x="568325" y="0"/>
                  </a:moveTo>
                  <a:lnTo>
                    <a:pt x="0" y="0"/>
                  </a:lnTo>
                  <a:lnTo>
                    <a:pt x="0" y="1036637"/>
                  </a:lnTo>
                  <a:lnTo>
                    <a:pt x="568325" y="1036637"/>
                  </a:lnTo>
                  <a:lnTo>
                    <a:pt x="568325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640387" y="4305300"/>
              <a:ext cx="568325" cy="1036955"/>
            </a:xfrm>
            <a:custGeom>
              <a:avLst/>
              <a:gdLst/>
              <a:ahLst/>
              <a:cxnLst/>
              <a:rect l="l" t="t" r="r" b="b"/>
              <a:pathLst>
                <a:path w="568325" h="1036954">
                  <a:moveTo>
                    <a:pt x="0" y="0"/>
                  </a:moveTo>
                  <a:lnTo>
                    <a:pt x="568325" y="0"/>
                  </a:lnTo>
                  <a:lnTo>
                    <a:pt x="568325" y="1036637"/>
                  </a:lnTo>
                  <a:lnTo>
                    <a:pt x="0" y="1036637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6020752" y="4679822"/>
            <a:ext cx="1638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 MT"/>
                <a:cs typeface="Arial MT"/>
              </a:rPr>
              <a:t>Q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5677911" y="4341597"/>
            <a:ext cx="15367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 MT"/>
                <a:cs typeface="Arial MT"/>
              </a:rPr>
              <a:t>D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682705" y="5090841"/>
            <a:ext cx="27178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 MT"/>
                <a:cs typeface="Arial MT"/>
              </a:rPr>
              <a:t>EN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5010150" y="3787775"/>
            <a:ext cx="3084830" cy="2287905"/>
            <a:chOff x="5010150" y="3787775"/>
            <a:chExt cx="3084830" cy="2287905"/>
          </a:xfrm>
        </p:grpSpPr>
        <p:sp>
          <p:nvSpPr>
            <p:cNvPr id="63" name="object 63"/>
            <p:cNvSpPr/>
            <p:nvPr/>
          </p:nvSpPr>
          <p:spPr>
            <a:xfrm>
              <a:off x="5459413" y="4462462"/>
              <a:ext cx="174625" cy="0"/>
            </a:xfrm>
            <a:custGeom>
              <a:avLst/>
              <a:gdLst/>
              <a:ahLst/>
              <a:cxnLst/>
              <a:rect l="l" t="t" r="r" b="b"/>
              <a:pathLst>
                <a:path w="174625">
                  <a:moveTo>
                    <a:pt x="174625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419726" y="5214937"/>
              <a:ext cx="224154" cy="0"/>
            </a:xfrm>
            <a:custGeom>
              <a:avLst/>
              <a:gdLst/>
              <a:ahLst/>
              <a:cxnLst/>
              <a:rect l="l" t="t" r="r" b="b"/>
              <a:pathLst>
                <a:path w="224154">
                  <a:moveTo>
                    <a:pt x="223837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5203825" y="4310062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0" y="0"/>
                  </a:moveTo>
                  <a:lnTo>
                    <a:pt x="0" y="304800"/>
                  </a:lnTo>
                  <a:lnTo>
                    <a:pt x="266700" y="152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5203825" y="4310062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0" y="0"/>
                  </a:moveTo>
                  <a:lnTo>
                    <a:pt x="266700" y="1524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313362" y="4311644"/>
              <a:ext cx="74930" cy="74930"/>
            </a:xfrm>
            <a:custGeom>
              <a:avLst/>
              <a:gdLst/>
              <a:ahLst/>
              <a:cxnLst/>
              <a:rect l="l" t="t" r="r" b="b"/>
              <a:pathLst>
                <a:path w="74929" h="74929">
                  <a:moveTo>
                    <a:pt x="0" y="37312"/>
                  </a:moveTo>
                  <a:lnTo>
                    <a:pt x="2931" y="22792"/>
                  </a:lnTo>
                  <a:lnTo>
                    <a:pt x="10926" y="10931"/>
                  </a:lnTo>
                  <a:lnTo>
                    <a:pt x="22786" y="2933"/>
                  </a:lnTo>
                  <a:lnTo>
                    <a:pt x="37312" y="0"/>
                  </a:lnTo>
                  <a:lnTo>
                    <a:pt x="51831" y="2933"/>
                  </a:lnTo>
                  <a:lnTo>
                    <a:pt x="63687" y="10931"/>
                  </a:lnTo>
                  <a:lnTo>
                    <a:pt x="71681" y="22792"/>
                  </a:lnTo>
                  <a:lnTo>
                    <a:pt x="74612" y="37312"/>
                  </a:lnTo>
                  <a:lnTo>
                    <a:pt x="71681" y="51833"/>
                  </a:lnTo>
                  <a:lnTo>
                    <a:pt x="63687" y="63693"/>
                  </a:lnTo>
                  <a:lnTo>
                    <a:pt x="51831" y="71691"/>
                  </a:lnTo>
                  <a:lnTo>
                    <a:pt x="37312" y="74625"/>
                  </a:lnTo>
                  <a:lnTo>
                    <a:pt x="22786" y="71691"/>
                  </a:lnTo>
                  <a:lnTo>
                    <a:pt x="10926" y="63693"/>
                  </a:lnTo>
                  <a:lnTo>
                    <a:pt x="2931" y="51833"/>
                  </a:lnTo>
                  <a:lnTo>
                    <a:pt x="0" y="37312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349875" y="4075112"/>
              <a:ext cx="0" cy="243204"/>
            </a:xfrm>
            <a:custGeom>
              <a:avLst/>
              <a:gdLst/>
              <a:ahLst/>
              <a:cxnLst/>
              <a:rect l="l" t="t" r="r" b="b"/>
              <a:pathLst>
                <a:path h="243204">
                  <a:moveTo>
                    <a:pt x="0" y="0"/>
                  </a:moveTo>
                  <a:lnTo>
                    <a:pt x="0" y="24288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6373813" y="4633912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0" y="0"/>
                  </a:moveTo>
                  <a:lnTo>
                    <a:pt x="0" y="304800"/>
                  </a:lnTo>
                  <a:lnTo>
                    <a:pt x="266700" y="152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6373813" y="4633912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0" y="0"/>
                  </a:moveTo>
                  <a:lnTo>
                    <a:pt x="266700" y="1524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77000" y="4849806"/>
              <a:ext cx="87312" cy="87312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6518276" y="4932362"/>
              <a:ext cx="1905" cy="790575"/>
            </a:xfrm>
            <a:custGeom>
              <a:avLst/>
              <a:gdLst/>
              <a:ahLst/>
              <a:cxnLst/>
              <a:rect l="l" t="t" r="r" b="b"/>
              <a:pathLst>
                <a:path w="1904" h="790575">
                  <a:moveTo>
                    <a:pt x="1587" y="0"/>
                  </a:moveTo>
                  <a:lnTo>
                    <a:pt x="0" y="79057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6634163" y="4789487"/>
              <a:ext cx="228600" cy="0"/>
            </a:xfrm>
            <a:custGeom>
              <a:avLst/>
              <a:gdLst/>
              <a:ahLst/>
              <a:cxnLst/>
              <a:rect l="l" t="t" r="r" b="b"/>
              <a:pathLst>
                <a:path w="228600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6205537" y="4795837"/>
              <a:ext cx="170180" cy="0"/>
            </a:xfrm>
            <a:custGeom>
              <a:avLst/>
              <a:gdLst/>
              <a:ahLst/>
              <a:cxnLst/>
              <a:rect l="l" t="t" r="r" b="b"/>
              <a:pathLst>
                <a:path w="170179">
                  <a:moveTo>
                    <a:pt x="169862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5016500" y="4471987"/>
              <a:ext cx="190500" cy="0"/>
            </a:xfrm>
            <a:custGeom>
              <a:avLst/>
              <a:gdLst/>
              <a:ahLst/>
              <a:cxnLst/>
              <a:rect l="l" t="t" r="r" b="b"/>
              <a:pathLst>
                <a:path w="190500">
                  <a:moveTo>
                    <a:pt x="1905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024437" y="3794125"/>
              <a:ext cx="0" cy="678180"/>
            </a:xfrm>
            <a:custGeom>
              <a:avLst/>
              <a:gdLst/>
              <a:ahLst/>
              <a:cxnLst/>
              <a:rect l="l" t="t" r="r" b="b"/>
              <a:pathLst>
                <a:path h="678179">
                  <a:moveTo>
                    <a:pt x="0" y="677862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6854825" y="4789487"/>
              <a:ext cx="0" cy="1279525"/>
            </a:xfrm>
            <a:custGeom>
              <a:avLst/>
              <a:gdLst/>
              <a:ahLst/>
              <a:cxnLst/>
              <a:rect l="l" t="t" r="r" b="b"/>
              <a:pathLst>
                <a:path h="1279525">
                  <a:moveTo>
                    <a:pt x="0" y="0"/>
                  </a:moveTo>
                  <a:lnTo>
                    <a:pt x="0" y="127952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426075" y="5216525"/>
              <a:ext cx="0" cy="274955"/>
            </a:xfrm>
            <a:custGeom>
              <a:avLst/>
              <a:gdLst/>
              <a:ahLst/>
              <a:cxnLst/>
              <a:rect l="l" t="t" r="r" b="b"/>
              <a:pathLst>
                <a:path h="274954">
                  <a:moveTo>
                    <a:pt x="0" y="0"/>
                  </a:moveTo>
                  <a:lnTo>
                    <a:pt x="0" y="27463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7519987" y="4305300"/>
              <a:ext cx="568325" cy="1036955"/>
            </a:xfrm>
            <a:custGeom>
              <a:avLst/>
              <a:gdLst/>
              <a:ahLst/>
              <a:cxnLst/>
              <a:rect l="l" t="t" r="r" b="b"/>
              <a:pathLst>
                <a:path w="568325" h="1036954">
                  <a:moveTo>
                    <a:pt x="568325" y="0"/>
                  </a:moveTo>
                  <a:lnTo>
                    <a:pt x="0" y="0"/>
                  </a:lnTo>
                  <a:lnTo>
                    <a:pt x="0" y="1036637"/>
                  </a:lnTo>
                  <a:lnTo>
                    <a:pt x="568325" y="1036637"/>
                  </a:lnTo>
                  <a:lnTo>
                    <a:pt x="568325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7519987" y="4305300"/>
              <a:ext cx="568325" cy="1036955"/>
            </a:xfrm>
            <a:custGeom>
              <a:avLst/>
              <a:gdLst/>
              <a:ahLst/>
              <a:cxnLst/>
              <a:rect l="l" t="t" r="r" b="b"/>
              <a:pathLst>
                <a:path w="568325" h="1036954">
                  <a:moveTo>
                    <a:pt x="0" y="0"/>
                  </a:moveTo>
                  <a:lnTo>
                    <a:pt x="568325" y="0"/>
                  </a:lnTo>
                  <a:lnTo>
                    <a:pt x="568325" y="1036637"/>
                  </a:lnTo>
                  <a:lnTo>
                    <a:pt x="0" y="1036637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81"/>
          <p:cNvSpPr txBox="1"/>
          <p:nvPr/>
        </p:nvSpPr>
        <p:spPr>
          <a:xfrm>
            <a:off x="7900352" y="4679822"/>
            <a:ext cx="1638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 MT"/>
                <a:cs typeface="Arial MT"/>
              </a:rPr>
              <a:t>Q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7557510" y="4341597"/>
            <a:ext cx="15367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 MT"/>
                <a:cs typeface="Arial MT"/>
              </a:rPr>
              <a:t>D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7562305" y="5090841"/>
            <a:ext cx="27178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 MT"/>
                <a:cs typeface="Arial MT"/>
              </a:rPr>
              <a:t>EN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84" name="object 84"/>
          <p:cNvGrpSpPr/>
          <p:nvPr/>
        </p:nvGrpSpPr>
        <p:grpSpPr>
          <a:xfrm>
            <a:off x="971550" y="3794125"/>
            <a:ext cx="7771130" cy="2275205"/>
            <a:chOff x="971550" y="3794125"/>
            <a:chExt cx="7771130" cy="2275205"/>
          </a:xfrm>
        </p:grpSpPr>
        <p:sp>
          <p:nvSpPr>
            <p:cNvPr id="85" name="object 85"/>
            <p:cNvSpPr/>
            <p:nvPr/>
          </p:nvSpPr>
          <p:spPr>
            <a:xfrm>
              <a:off x="7339013" y="4462462"/>
              <a:ext cx="174625" cy="0"/>
            </a:xfrm>
            <a:custGeom>
              <a:avLst/>
              <a:gdLst/>
              <a:ahLst/>
              <a:cxnLst/>
              <a:rect l="l" t="t" r="r" b="b"/>
              <a:pathLst>
                <a:path w="174625">
                  <a:moveTo>
                    <a:pt x="174625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299326" y="5214937"/>
              <a:ext cx="224154" cy="0"/>
            </a:xfrm>
            <a:custGeom>
              <a:avLst/>
              <a:gdLst/>
              <a:ahLst/>
              <a:cxnLst/>
              <a:rect l="l" t="t" r="r" b="b"/>
              <a:pathLst>
                <a:path w="224154">
                  <a:moveTo>
                    <a:pt x="223837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7083425" y="4310062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0" y="0"/>
                  </a:moveTo>
                  <a:lnTo>
                    <a:pt x="0" y="304800"/>
                  </a:lnTo>
                  <a:lnTo>
                    <a:pt x="266700" y="152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7083425" y="4310062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0" y="0"/>
                  </a:moveTo>
                  <a:lnTo>
                    <a:pt x="266700" y="1524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7192963" y="4311644"/>
              <a:ext cx="74930" cy="74930"/>
            </a:xfrm>
            <a:custGeom>
              <a:avLst/>
              <a:gdLst/>
              <a:ahLst/>
              <a:cxnLst/>
              <a:rect l="l" t="t" r="r" b="b"/>
              <a:pathLst>
                <a:path w="74929" h="74929">
                  <a:moveTo>
                    <a:pt x="0" y="37312"/>
                  </a:moveTo>
                  <a:lnTo>
                    <a:pt x="2931" y="22792"/>
                  </a:lnTo>
                  <a:lnTo>
                    <a:pt x="10925" y="10931"/>
                  </a:lnTo>
                  <a:lnTo>
                    <a:pt x="22781" y="2933"/>
                  </a:lnTo>
                  <a:lnTo>
                    <a:pt x="37299" y="0"/>
                  </a:lnTo>
                  <a:lnTo>
                    <a:pt x="51825" y="2933"/>
                  </a:lnTo>
                  <a:lnTo>
                    <a:pt x="63685" y="10931"/>
                  </a:lnTo>
                  <a:lnTo>
                    <a:pt x="71680" y="22792"/>
                  </a:lnTo>
                  <a:lnTo>
                    <a:pt x="74612" y="37312"/>
                  </a:lnTo>
                  <a:lnTo>
                    <a:pt x="71680" y="51833"/>
                  </a:lnTo>
                  <a:lnTo>
                    <a:pt x="63685" y="63693"/>
                  </a:lnTo>
                  <a:lnTo>
                    <a:pt x="51825" y="71691"/>
                  </a:lnTo>
                  <a:lnTo>
                    <a:pt x="37299" y="74625"/>
                  </a:lnTo>
                  <a:lnTo>
                    <a:pt x="22781" y="71691"/>
                  </a:lnTo>
                  <a:lnTo>
                    <a:pt x="10925" y="63693"/>
                  </a:lnTo>
                  <a:lnTo>
                    <a:pt x="2931" y="51833"/>
                  </a:lnTo>
                  <a:lnTo>
                    <a:pt x="0" y="37312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7229475" y="4075112"/>
              <a:ext cx="0" cy="243204"/>
            </a:xfrm>
            <a:custGeom>
              <a:avLst/>
              <a:gdLst/>
              <a:ahLst/>
              <a:cxnLst/>
              <a:rect l="l" t="t" r="r" b="b"/>
              <a:pathLst>
                <a:path h="243204">
                  <a:moveTo>
                    <a:pt x="0" y="0"/>
                  </a:moveTo>
                  <a:lnTo>
                    <a:pt x="0" y="24288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8253414" y="4633912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0" y="0"/>
                  </a:moveTo>
                  <a:lnTo>
                    <a:pt x="0" y="304800"/>
                  </a:lnTo>
                  <a:lnTo>
                    <a:pt x="266700" y="152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8253414" y="4633912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0" y="0"/>
                  </a:moveTo>
                  <a:lnTo>
                    <a:pt x="266700" y="1524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3" name="object 9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56600" y="4849806"/>
              <a:ext cx="87312" cy="87312"/>
            </a:xfrm>
            <a:prstGeom prst="rect">
              <a:avLst/>
            </a:prstGeom>
          </p:spPr>
        </p:pic>
        <p:sp>
          <p:nvSpPr>
            <p:cNvPr id="94" name="object 94"/>
            <p:cNvSpPr/>
            <p:nvPr/>
          </p:nvSpPr>
          <p:spPr>
            <a:xfrm>
              <a:off x="8397876" y="4932362"/>
              <a:ext cx="1905" cy="790575"/>
            </a:xfrm>
            <a:custGeom>
              <a:avLst/>
              <a:gdLst/>
              <a:ahLst/>
              <a:cxnLst/>
              <a:rect l="l" t="t" r="r" b="b"/>
              <a:pathLst>
                <a:path w="1904" h="790575">
                  <a:moveTo>
                    <a:pt x="1587" y="0"/>
                  </a:moveTo>
                  <a:lnTo>
                    <a:pt x="0" y="79057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8513764" y="4789487"/>
              <a:ext cx="228600" cy="0"/>
            </a:xfrm>
            <a:custGeom>
              <a:avLst/>
              <a:gdLst/>
              <a:ahLst/>
              <a:cxnLst/>
              <a:rect l="l" t="t" r="r" b="b"/>
              <a:pathLst>
                <a:path w="228600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8085137" y="4795837"/>
              <a:ext cx="170180" cy="0"/>
            </a:xfrm>
            <a:custGeom>
              <a:avLst/>
              <a:gdLst/>
              <a:ahLst/>
              <a:cxnLst/>
              <a:rect l="l" t="t" r="r" b="b"/>
              <a:pathLst>
                <a:path w="170179">
                  <a:moveTo>
                    <a:pt x="169862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6896100" y="4471987"/>
              <a:ext cx="190500" cy="0"/>
            </a:xfrm>
            <a:custGeom>
              <a:avLst/>
              <a:gdLst/>
              <a:ahLst/>
              <a:cxnLst/>
              <a:rect l="l" t="t" r="r" b="b"/>
              <a:pathLst>
                <a:path w="190500">
                  <a:moveTo>
                    <a:pt x="1905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904038" y="3794125"/>
              <a:ext cx="0" cy="678180"/>
            </a:xfrm>
            <a:custGeom>
              <a:avLst/>
              <a:gdLst/>
              <a:ahLst/>
              <a:cxnLst/>
              <a:rect l="l" t="t" r="r" b="b"/>
              <a:pathLst>
                <a:path h="678179">
                  <a:moveTo>
                    <a:pt x="0" y="677862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8734425" y="4789487"/>
              <a:ext cx="0" cy="1279525"/>
            </a:xfrm>
            <a:custGeom>
              <a:avLst/>
              <a:gdLst/>
              <a:ahLst/>
              <a:cxnLst/>
              <a:rect l="l" t="t" r="r" b="b"/>
              <a:pathLst>
                <a:path h="1279525">
                  <a:moveTo>
                    <a:pt x="0" y="0"/>
                  </a:moveTo>
                  <a:lnTo>
                    <a:pt x="0" y="127952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7305675" y="5216525"/>
              <a:ext cx="0" cy="274955"/>
            </a:xfrm>
            <a:custGeom>
              <a:avLst/>
              <a:gdLst/>
              <a:ahLst/>
              <a:cxnLst/>
              <a:rect l="l" t="t" r="r" b="b"/>
              <a:pathLst>
                <a:path h="274954">
                  <a:moveTo>
                    <a:pt x="0" y="0"/>
                  </a:moveTo>
                  <a:lnTo>
                    <a:pt x="0" y="27463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971550" y="5715000"/>
              <a:ext cx="7423150" cy="0"/>
            </a:xfrm>
            <a:custGeom>
              <a:avLst/>
              <a:gdLst/>
              <a:ahLst/>
              <a:cxnLst/>
              <a:rect l="l" t="t" r="r" b="b"/>
              <a:pathLst>
                <a:path w="7423150">
                  <a:moveTo>
                    <a:pt x="742315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2" name="object 102"/>
          <p:cNvSpPr txBox="1"/>
          <p:nvPr/>
        </p:nvSpPr>
        <p:spPr>
          <a:xfrm>
            <a:off x="818514" y="2005075"/>
            <a:ext cx="7102475" cy="23736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0990" marR="30480">
              <a:lnSpc>
                <a:spcPct val="100000"/>
              </a:lnSpc>
              <a:spcBef>
                <a:spcPts val="95"/>
              </a:spcBef>
            </a:pPr>
            <a:r>
              <a:rPr sz="3200" spc="-160" dirty="0">
                <a:latin typeface="Arial MT"/>
                <a:cs typeface="Arial MT"/>
              </a:rPr>
              <a:t>If</a:t>
            </a:r>
            <a:r>
              <a:rPr sz="3200" spc="-180" dirty="0">
                <a:latin typeface="Arial MT"/>
                <a:cs typeface="Arial MT"/>
              </a:rPr>
              <a:t> </a:t>
            </a:r>
            <a:r>
              <a:rPr sz="3200" spc="-425" dirty="0">
                <a:latin typeface="Arial MT"/>
                <a:cs typeface="Arial MT"/>
              </a:rPr>
              <a:t>w</a:t>
            </a:r>
            <a:r>
              <a:rPr sz="3200" spc="-325" dirty="0">
                <a:latin typeface="Arial MT"/>
                <a:cs typeface="Arial MT"/>
              </a:rPr>
              <a:t>e</a:t>
            </a:r>
            <a:r>
              <a:rPr sz="3200" spc="-155" dirty="0">
                <a:latin typeface="Arial MT"/>
                <a:cs typeface="Arial MT"/>
              </a:rPr>
              <a:t> </a:t>
            </a:r>
            <a:r>
              <a:rPr sz="3200" spc="-160" dirty="0">
                <a:latin typeface="Arial MT"/>
                <a:cs typeface="Arial MT"/>
              </a:rPr>
              <a:t>t</a:t>
            </a:r>
            <a:r>
              <a:rPr sz="3200" spc="-315" dirty="0">
                <a:latin typeface="Arial MT"/>
                <a:cs typeface="Arial MT"/>
              </a:rPr>
              <a:t>ake</a:t>
            </a:r>
            <a:r>
              <a:rPr sz="3200" spc="-165" dirty="0">
                <a:latin typeface="Arial MT"/>
                <a:cs typeface="Arial MT"/>
              </a:rPr>
              <a:t> </a:t>
            </a:r>
            <a:r>
              <a:rPr sz="3200" spc="-160" dirty="0">
                <a:latin typeface="Arial MT"/>
                <a:cs typeface="Arial MT"/>
              </a:rPr>
              <a:t>f</a:t>
            </a:r>
            <a:r>
              <a:rPr sz="3200" spc="-280" dirty="0">
                <a:latin typeface="Arial MT"/>
                <a:cs typeface="Arial MT"/>
              </a:rPr>
              <a:t>our</a:t>
            </a:r>
            <a:r>
              <a:rPr sz="3200" spc="-160" dirty="0">
                <a:latin typeface="Arial MT"/>
                <a:cs typeface="Arial MT"/>
              </a:rPr>
              <a:t> </a:t>
            </a:r>
            <a:r>
              <a:rPr sz="3200" spc="-245" dirty="0">
                <a:latin typeface="Arial MT"/>
                <a:cs typeface="Arial MT"/>
              </a:rPr>
              <a:t>of</a:t>
            </a:r>
            <a:r>
              <a:rPr sz="3200" spc="-170" dirty="0">
                <a:latin typeface="Arial MT"/>
                <a:cs typeface="Arial MT"/>
              </a:rPr>
              <a:t> </a:t>
            </a:r>
            <a:r>
              <a:rPr sz="3200" spc="-160" dirty="0">
                <a:latin typeface="Arial MT"/>
                <a:cs typeface="Arial MT"/>
              </a:rPr>
              <a:t>t</a:t>
            </a:r>
            <a:r>
              <a:rPr sz="3200" spc="-315" dirty="0">
                <a:latin typeface="Arial MT"/>
                <a:cs typeface="Arial MT"/>
              </a:rPr>
              <a:t>hese</a:t>
            </a:r>
            <a:r>
              <a:rPr sz="3200" spc="-160" dirty="0">
                <a:latin typeface="Arial MT"/>
                <a:cs typeface="Arial MT"/>
              </a:rPr>
              <a:t> </a:t>
            </a:r>
            <a:r>
              <a:rPr sz="3200" spc="-265" dirty="0">
                <a:latin typeface="Arial MT"/>
                <a:cs typeface="Arial MT"/>
              </a:rPr>
              <a:t>latches</a:t>
            </a:r>
            <a:r>
              <a:rPr sz="3200" spc="-155" dirty="0">
                <a:latin typeface="Arial MT"/>
                <a:cs typeface="Arial MT"/>
              </a:rPr>
              <a:t> </a:t>
            </a:r>
            <a:r>
              <a:rPr sz="3200" spc="-325" dirty="0">
                <a:latin typeface="Arial MT"/>
                <a:cs typeface="Arial MT"/>
              </a:rPr>
              <a:t>and</a:t>
            </a:r>
            <a:r>
              <a:rPr sz="3200" spc="-155" dirty="0">
                <a:latin typeface="Arial MT"/>
                <a:cs typeface="Arial MT"/>
              </a:rPr>
              <a:t> </a:t>
            </a:r>
            <a:r>
              <a:rPr sz="3200" spc="-315" dirty="0">
                <a:latin typeface="Arial MT"/>
                <a:cs typeface="Arial MT"/>
              </a:rPr>
              <a:t>connec</a:t>
            </a:r>
            <a:r>
              <a:rPr sz="3200" spc="-160" dirty="0">
                <a:latin typeface="Arial MT"/>
                <a:cs typeface="Arial MT"/>
              </a:rPr>
              <a:t>t  t</a:t>
            </a:r>
            <a:r>
              <a:rPr sz="3200" spc="-375" dirty="0">
                <a:latin typeface="Arial MT"/>
                <a:cs typeface="Arial MT"/>
              </a:rPr>
              <a:t>hem</a:t>
            </a:r>
            <a:r>
              <a:rPr sz="3200" spc="-165" dirty="0">
                <a:latin typeface="Arial MT"/>
                <a:cs typeface="Arial MT"/>
              </a:rPr>
              <a:t> </a:t>
            </a:r>
            <a:r>
              <a:rPr sz="3200" spc="-160" dirty="0">
                <a:latin typeface="Arial MT"/>
                <a:cs typeface="Arial MT"/>
              </a:rPr>
              <a:t>t</a:t>
            </a:r>
            <a:r>
              <a:rPr sz="3200" spc="-285" dirty="0">
                <a:latin typeface="Arial MT"/>
                <a:cs typeface="Arial MT"/>
              </a:rPr>
              <a:t>oget</a:t>
            </a:r>
            <a:r>
              <a:rPr sz="3200" spc="-325" dirty="0">
                <a:latin typeface="Arial MT"/>
                <a:cs typeface="Arial MT"/>
              </a:rPr>
              <a:t>he</a:t>
            </a:r>
            <a:r>
              <a:rPr sz="3200" spc="-200" dirty="0">
                <a:latin typeface="Arial MT"/>
                <a:cs typeface="Arial MT"/>
              </a:rPr>
              <a:t>r</a:t>
            </a:r>
            <a:r>
              <a:rPr sz="3200" spc="-160" dirty="0">
                <a:latin typeface="Arial MT"/>
                <a:cs typeface="Arial MT"/>
              </a:rPr>
              <a:t>,</a:t>
            </a:r>
            <a:r>
              <a:rPr sz="3200" spc="-155" dirty="0">
                <a:latin typeface="Arial MT"/>
                <a:cs typeface="Arial MT"/>
              </a:rPr>
              <a:t> </a:t>
            </a:r>
            <a:r>
              <a:rPr sz="3200" spc="-425" dirty="0">
                <a:latin typeface="Arial MT"/>
                <a:cs typeface="Arial MT"/>
              </a:rPr>
              <a:t>w</a:t>
            </a:r>
            <a:r>
              <a:rPr sz="3200" spc="-325" dirty="0">
                <a:latin typeface="Arial MT"/>
                <a:cs typeface="Arial MT"/>
              </a:rPr>
              <a:t>e</a:t>
            </a:r>
            <a:r>
              <a:rPr sz="3200" spc="-155" dirty="0">
                <a:latin typeface="Arial MT"/>
                <a:cs typeface="Arial MT"/>
              </a:rPr>
              <a:t> </a:t>
            </a:r>
            <a:r>
              <a:rPr sz="3200" spc="-425" dirty="0">
                <a:latin typeface="Arial MT"/>
                <a:cs typeface="Arial MT"/>
              </a:rPr>
              <a:t>w</a:t>
            </a:r>
            <a:r>
              <a:rPr sz="3200" spc="-325" dirty="0">
                <a:latin typeface="Arial MT"/>
                <a:cs typeface="Arial MT"/>
              </a:rPr>
              <a:t>ou</a:t>
            </a:r>
            <a:r>
              <a:rPr sz="3200" spc="-125" dirty="0">
                <a:latin typeface="Arial MT"/>
                <a:cs typeface="Arial MT"/>
              </a:rPr>
              <a:t>l</a:t>
            </a:r>
            <a:r>
              <a:rPr sz="3200" spc="-325" dirty="0">
                <a:latin typeface="Arial MT"/>
                <a:cs typeface="Arial MT"/>
              </a:rPr>
              <a:t>d</a:t>
            </a:r>
            <a:r>
              <a:rPr sz="3200" spc="-145" dirty="0">
                <a:latin typeface="Arial MT"/>
                <a:cs typeface="Arial MT"/>
              </a:rPr>
              <a:t> </a:t>
            </a:r>
            <a:r>
              <a:rPr sz="3200" spc="-315" dirty="0">
                <a:latin typeface="Arial MT"/>
                <a:cs typeface="Arial MT"/>
              </a:rPr>
              <a:t>have</a:t>
            </a:r>
            <a:r>
              <a:rPr sz="3200" spc="-160" dirty="0">
                <a:latin typeface="Arial MT"/>
                <a:cs typeface="Arial MT"/>
              </a:rPr>
              <a:t> </a:t>
            </a:r>
            <a:r>
              <a:rPr sz="3200" spc="-325" dirty="0">
                <a:latin typeface="Arial MT"/>
                <a:cs typeface="Arial MT"/>
              </a:rPr>
              <a:t>a</a:t>
            </a:r>
            <a:r>
              <a:rPr sz="3200" spc="-160" dirty="0">
                <a:latin typeface="Arial MT"/>
                <a:cs typeface="Arial MT"/>
              </a:rPr>
              <a:t> </a:t>
            </a:r>
            <a:r>
              <a:rPr sz="3200" spc="-325" dirty="0">
                <a:latin typeface="Arial MT"/>
                <a:cs typeface="Arial MT"/>
              </a:rPr>
              <a:t>4</a:t>
            </a:r>
            <a:r>
              <a:rPr sz="3200" spc="-204" dirty="0">
                <a:latin typeface="Arial MT"/>
                <a:cs typeface="Arial MT"/>
              </a:rPr>
              <a:t>-bit</a:t>
            </a:r>
            <a:r>
              <a:rPr sz="3200" spc="-150" dirty="0">
                <a:latin typeface="Arial MT"/>
                <a:cs typeface="Arial MT"/>
              </a:rPr>
              <a:t> </a:t>
            </a:r>
            <a:r>
              <a:rPr sz="3200" spc="-405" dirty="0">
                <a:latin typeface="Arial MT"/>
                <a:cs typeface="Arial MT"/>
              </a:rPr>
              <a:t>memo</a:t>
            </a:r>
            <a:r>
              <a:rPr sz="3200" spc="-200" dirty="0">
                <a:latin typeface="Arial MT"/>
                <a:cs typeface="Arial MT"/>
              </a:rPr>
              <a:t>r</a:t>
            </a:r>
            <a:r>
              <a:rPr sz="3200" spc="-204" dirty="0">
                <a:latin typeface="Arial MT"/>
                <a:cs typeface="Arial MT"/>
              </a:rPr>
              <a:t>y  </a:t>
            </a:r>
            <a:r>
              <a:rPr sz="3200" spc="-245" dirty="0">
                <a:latin typeface="Arial MT"/>
                <a:cs typeface="Arial MT"/>
              </a:rPr>
              <a:t>register</a:t>
            </a:r>
            <a:endParaRPr sz="3200">
              <a:latin typeface="Arial MT"/>
              <a:cs typeface="Arial MT"/>
            </a:endParaRPr>
          </a:p>
          <a:p>
            <a:pPr marL="454025">
              <a:lnSpc>
                <a:spcPct val="100000"/>
              </a:lnSpc>
              <a:spcBef>
                <a:spcPts val="2245"/>
              </a:spcBef>
              <a:tabLst>
                <a:tab pos="2369820" algn="l"/>
                <a:tab pos="4274820" algn="l"/>
                <a:tab pos="6168390" algn="l"/>
              </a:tabLst>
            </a:pPr>
            <a:r>
              <a:rPr sz="1200" spc="-5" dirty="0">
                <a:latin typeface="Arial MT"/>
                <a:cs typeface="Arial MT"/>
              </a:rPr>
              <a:t>I</a:t>
            </a:r>
            <a:r>
              <a:rPr sz="1200" spc="-7" baseline="-20833" dirty="0">
                <a:latin typeface="Arial MT"/>
                <a:cs typeface="Arial MT"/>
              </a:rPr>
              <a:t>0	</a:t>
            </a:r>
            <a:r>
              <a:rPr sz="1200" spc="-5" dirty="0">
                <a:latin typeface="Arial MT"/>
                <a:cs typeface="Arial MT"/>
              </a:rPr>
              <a:t>I</a:t>
            </a:r>
            <a:r>
              <a:rPr sz="1200" spc="-7" baseline="-20833" dirty="0">
                <a:latin typeface="Arial MT"/>
                <a:cs typeface="Arial MT"/>
              </a:rPr>
              <a:t>1	</a:t>
            </a:r>
            <a:r>
              <a:rPr sz="1200" spc="-5" dirty="0">
                <a:latin typeface="Arial MT"/>
                <a:cs typeface="Arial MT"/>
              </a:rPr>
              <a:t>I</a:t>
            </a:r>
            <a:r>
              <a:rPr sz="1200" spc="-7" baseline="-20833" dirty="0">
                <a:latin typeface="Arial MT"/>
                <a:cs typeface="Arial MT"/>
              </a:rPr>
              <a:t>2	</a:t>
            </a:r>
            <a:r>
              <a:rPr sz="1200" spc="-5" dirty="0">
                <a:latin typeface="Arial MT"/>
                <a:cs typeface="Arial MT"/>
              </a:rPr>
              <a:t>I</a:t>
            </a:r>
            <a:r>
              <a:rPr sz="1200" spc="-7" baseline="-20833" dirty="0">
                <a:latin typeface="Arial MT"/>
                <a:cs typeface="Arial MT"/>
              </a:rPr>
              <a:t>3</a:t>
            </a:r>
            <a:endParaRPr sz="1200" baseline="-20833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00">
              <a:latin typeface="Arial MT"/>
              <a:cs typeface="Arial MT"/>
            </a:endParaRPr>
          </a:p>
          <a:p>
            <a:pPr marL="25400">
              <a:lnSpc>
                <a:spcPct val="100000"/>
              </a:lnSpc>
            </a:pPr>
            <a:r>
              <a:rPr sz="1200" dirty="0">
                <a:latin typeface="Arial MT"/>
                <a:cs typeface="Arial MT"/>
              </a:rPr>
              <a:t>WR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8237981" y="6564531"/>
            <a:ext cx="16510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r>
              <a:rPr sz="1400" spc="-5" dirty="0">
                <a:solidFill>
                  <a:srgbClr val="EBEBEB"/>
                </a:solidFill>
                <a:latin typeface="Times New Roman"/>
                <a:cs typeface="Times New Roman"/>
              </a:rPr>
              <a:t>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2794952" y="5854572"/>
            <a:ext cx="2514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O</a:t>
            </a:r>
            <a:r>
              <a:rPr sz="1200" spc="-7" baseline="-20833" dirty="0">
                <a:latin typeface="Arial MT"/>
                <a:cs typeface="Arial MT"/>
              </a:rPr>
              <a:t>0</a:t>
            </a:r>
            <a:endParaRPr sz="1200" baseline="-20833">
              <a:latin typeface="Arial MT"/>
              <a:cs typeface="Arial MT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4711065" y="5854572"/>
            <a:ext cx="2514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O</a:t>
            </a:r>
            <a:r>
              <a:rPr sz="1200" spc="-7" baseline="-20833" dirty="0">
                <a:latin typeface="Arial MT"/>
                <a:cs typeface="Arial MT"/>
              </a:rPr>
              <a:t>1</a:t>
            </a:r>
            <a:endParaRPr sz="1200" baseline="-20833">
              <a:latin typeface="Arial MT"/>
              <a:cs typeface="Arial MT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6593840" y="5854572"/>
            <a:ext cx="2514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O</a:t>
            </a:r>
            <a:r>
              <a:rPr sz="1200" spc="-7" baseline="-20833" dirty="0">
                <a:latin typeface="Arial MT"/>
                <a:cs typeface="Arial MT"/>
              </a:rPr>
              <a:t>2</a:t>
            </a:r>
            <a:endParaRPr sz="1200" baseline="-20833">
              <a:latin typeface="Arial MT"/>
              <a:cs typeface="Arial MT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8487728" y="5854572"/>
            <a:ext cx="2514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O</a:t>
            </a:r>
            <a:r>
              <a:rPr sz="1200" spc="-7" baseline="-20833" dirty="0">
                <a:latin typeface="Arial MT"/>
                <a:cs typeface="Arial MT"/>
              </a:rPr>
              <a:t>3</a:t>
            </a:r>
            <a:endParaRPr sz="1200" baseline="-20833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6350" y="0"/>
            <a:ext cx="9156700" cy="6870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515938" cy="68579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263381" y="6545198"/>
            <a:ext cx="1143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solidFill>
                  <a:srgbClr val="EBEBEB"/>
                </a:solidFill>
                <a:latin typeface="Times New Roman"/>
                <a:cs typeface="Times New Roman"/>
              </a:rPr>
              <a:t>9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64540" y="1010665"/>
            <a:ext cx="580834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30" dirty="0">
                <a:solidFill>
                  <a:srgbClr val="FFFFCC"/>
                </a:solidFill>
                <a:latin typeface="Arial MT"/>
                <a:cs typeface="Arial MT"/>
              </a:rPr>
              <a:t>A</a:t>
            </a:r>
            <a:r>
              <a:rPr spc="-220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409" dirty="0">
                <a:solidFill>
                  <a:srgbClr val="FFFFCC"/>
                </a:solidFill>
                <a:latin typeface="Arial MT"/>
                <a:cs typeface="Arial MT"/>
              </a:rPr>
              <a:t>group</a:t>
            </a:r>
            <a:r>
              <a:rPr spc="-200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335" dirty="0">
                <a:solidFill>
                  <a:srgbClr val="FFFFCC"/>
                </a:solidFill>
                <a:latin typeface="Arial MT"/>
                <a:cs typeface="Arial MT"/>
              </a:rPr>
              <a:t>of</a:t>
            </a:r>
            <a:r>
              <a:rPr spc="-220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480" dirty="0">
                <a:solidFill>
                  <a:srgbClr val="FFFFCC"/>
                </a:solidFill>
                <a:latin typeface="Arial MT"/>
                <a:cs typeface="Arial MT"/>
              </a:rPr>
              <a:t>memory</a:t>
            </a:r>
            <a:r>
              <a:rPr spc="-225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335" dirty="0">
                <a:solidFill>
                  <a:srgbClr val="FFFFCC"/>
                </a:solidFill>
                <a:latin typeface="Arial MT"/>
                <a:cs typeface="Arial MT"/>
              </a:rPr>
              <a:t>regi</a:t>
            </a:r>
            <a:r>
              <a:rPr spc="-345" dirty="0">
                <a:solidFill>
                  <a:srgbClr val="FFFFCC"/>
                </a:solidFill>
                <a:latin typeface="Arial MT"/>
                <a:cs typeface="Arial MT"/>
              </a:rPr>
              <a:t>sters</a:t>
            </a: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4439" y="3922014"/>
            <a:ext cx="152400" cy="16002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507489" y="3763009"/>
            <a:ext cx="276479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254" dirty="0">
                <a:solidFill>
                  <a:srgbClr val="EBEBEB"/>
                </a:solidFill>
                <a:latin typeface="Arial MT"/>
                <a:cs typeface="Arial MT"/>
              </a:rPr>
              <a:t>Ex</a:t>
            </a:r>
            <a:r>
              <a:rPr sz="2400" spc="-250" dirty="0">
                <a:solidFill>
                  <a:srgbClr val="EBEBEB"/>
                </a:solidFill>
                <a:latin typeface="Arial MT"/>
                <a:cs typeface="Arial MT"/>
              </a:rPr>
              <a:t>pa</a:t>
            </a:r>
            <a:r>
              <a:rPr sz="2400" spc="-245" dirty="0">
                <a:solidFill>
                  <a:srgbClr val="EBEBEB"/>
                </a:solidFill>
                <a:latin typeface="Arial MT"/>
                <a:cs typeface="Arial MT"/>
              </a:rPr>
              <a:t>n</a:t>
            </a:r>
            <a:r>
              <a:rPr sz="2400" spc="-250" dirty="0">
                <a:solidFill>
                  <a:srgbClr val="EBEBEB"/>
                </a:solidFill>
                <a:latin typeface="Arial MT"/>
                <a:cs typeface="Arial MT"/>
              </a:rPr>
              <a:t>d</a:t>
            </a:r>
            <a:r>
              <a:rPr sz="2400" spc="-95" dirty="0">
                <a:solidFill>
                  <a:srgbClr val="EBEBEB"/>
                </a:solidFill>
                <a:latin typeface="Arial MT"/>
                <a:cs typeface="Arial MT"/>
              </a:rPr>
              <a:t>i</a:t>
            </a:r>
            <a:r>
              <a:rPr sz="2400" spc="-245" dirty="0">
                <a:solidFill>
                  <a:srgbClr val="EBEBEB"/>
                </a:solidFill>
                <a:latin typeface="Arial MT"/>
                <a:cs typeface="Arial MT"/>
              </a:rPr>
              <a:t>ng</a:t>
            </a:r>
            <a:r>
              <a:rPr sz="2400" spc="-9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400" spc="-250" dirty="0">
                <a:solidFill>
                  <a:srgbClr val="EBEBEB"/>
                </a:solidFill>
                <a:latin typeface="Arial MT"/>
                <a:cs typeface="Arial MT"/>
              </a:rPr>
              <a:t>o</a:t>
            </a:r>
            <a:r>
              <a:rPr sz="2400" spc="-245" dirty="0">
                <a:solidFill>
                  <a:srgbClr val="EBEBEB"/>
                </a:solidFill>
                <a:latin typeface="Arial MT"/>
                <a:cs typeface="Arial MT"/>
              </a:rPr>
              <a:t>n</a:t>
            </a:r>
            <a:r>
              <a:rPr sz="2400" spc="-11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400" spc="-190" dirty="0">
                <a:solidFill>
                  <a:srgbClr val="EBEBEB"/>
                </a:solidFill>
                <a:latin typeface="Arial MT"/>
                <a:cs typeface="Arial MT"/>
              </a:rPr>
              <a:t>th</a:t>
            </a:r>
            <a:r>
              <a:rPr sz="2400" spc="-165" dirty="0">
                <a:solidFill>
                  <a:srgbClr val="EBEBEB"/>
                </a:solidFill>
                <a:latin typeface="Arial MT"/>
                <a:cs typeface="Arial MT"/>
              </a:rPr>
              <a:t>is  sc</a:t>
            </a:r>
            <a:r>
              <a:rPr sz="2400" spc="-290" dirty="0">
                <a:solidFill>
                  <a:srgbClr val="EBEBEB"/>
                </a:solidFill>
                <a:latin typeface="Arial MT"/>
                <a:cs typeface="Arial MT"/>
              </a:rPr>
              <a:t>hem</a:t>
            </a:r>
            <a:r>
              <a:rPr sz="2400" spc="-245" dirty="0">
                <a:solidFill>
                  <a:srgbClr val="EBEBEB"/>
                </a:solidFill>
                <a:latin typeface="Arial MT"/>
                <a:cs typeface="Arial MT"/>
              </a:rPr>
              <a:t>e</a:t>
            </a:r>
            <a:r>
              <a:rPr sz="2400" spc="-9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400" spc="-120" dirty="0">
                <a:solidFill>
                  <a:srgbClr val="EBEBEB"/>
                </a:solidFill>
                <a:latin typeface="Arial MT"/>
                <a:cs typeface="Arial MT"/>
              </a:rPr>
              <a:t>t</a:t>
            </a:r>
            <a:r>
              <a:rPr sz="2400" spc="-245" dirty="0">
                <a:solidFill>
                  <a:srgbClr val="EBEBEB"/>
                </a:solidFill>
                <a:latin typeface="Arial MT"/>
                <a:cs typeface="Arial MT"/>
              </a:rPr>
              <a:t>o</a:t>
            </a:r>
            <a:r>
              <a:rPr sz="2400" spc="-114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400" spc="-250" dirty="0">
                <a:solidFill>
                  <a:srgbClr val="EBEBEB"/>
                </a:solidFill>
                <a:latin typeface="Arial MT"/>
                <a:cs typeface="Arial MT"/>
              </a:rPr>
              <a:t>ad</a:t>
            </a:r>
            <a:r>
              <a:rPr sz="2400" spc="-245" dirty="0">
                <a:solidFill>
                  <a:srgbClr val="EBEBEB"/>
                </a:solidFill>
                <a:latin typeface="Arial MT"/>
                <a:cs typeface="Arial MT"/>
              </a:rPr>
              <a:t>d</a:t>
            </a:r>
            <a:r>
              <a:rPr sz="2400" spc="-9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400" spc="-240" dirty="0">
                <a:solidFill>
                  <a:srgbClr val="EBEBEB"/>
                </a:solidFill>
                <a:latin typeface="Arial MT"/>
                <a:cs typeface="Arial MT"/>
              </a:rPr>
              <a:t>more  memor</a:t>
            </a:r>
            <a:r>
              <a:rPr sz="2400" spc="-220" dirty="0">
                <a:solidFill>
                  <a:srgbClr val="EBEBEB"/>
                </a:solidFill>
                <a:latin typeface="Arial MT"/>
                <a:cs typeface="Arial MT"/>
              </a:rPr>
              <a:t>y</a:t>
            </a:r>
            <a:r>
              <a:rPr sz="2400" spc="-11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400" spc="-215" dirty="0">
                <a:solidFill>
                  <a:srgbClr val="EBEBEB"/>
                </a:solidFill>
                <a:latin typeface="Arial MT"/>
                <a:cs typeface="Arial MT"/>
              </a:rPr>
              <a:t>reg</a:t>
            </a:r>
            <a:r>
              <a:rPr sz="2400" spc="-100" dirty="0">
                <a:solidFill>
                  <a:srgbClr val="EBEBEB"/>
                </a:solidFill>
                <a:latin typeface="Arial MT"/>
                <a:cs typeface="Arial MT"/>
              </a:rPr>
              <a:t>i</a:t>
            </a:r>
            <a:r>
              <a:rPr sz="2400" spc="-220" dirty="0">
                <a:solidFill>
                  <a:srgbClr val="EBEBEB"/>
                </a:solidFill>
                <a:latin typeface="Arial MT"/>
                <a:cs typeface="Arial MT"/>
              </a:rPr>
              <a:t>s</a:t>
            </a:r>
            <a:r>
              <a:rPr sz="2400" spc="-120" dirty="0">
                <a:solidFill>
                  <a:srgbClr val="EBEBEB"/>
                </a:solidFill>
                <a:latin typeface="Arial MT"/>
                <a:cs typeface="Arial MT"/>
              </a:rPr>
              <a:t>t</a:t>
            </a:r>
            <a:r>
              <a:rPr sz="2400" spc="-200" dirty="0">
                <a:solidFill>
                  <a:srgbClr val="EBEBEB"/>
                </a:solidFill>
                <a:latin typeface="Arial MT"/>
                <a:cs typeface="Arial MT"/>
              </a:rPr>
              <a:t>er</a:t>
            </a:r>
            <a:r>
              <a:rPr sz="2400" spc="-220" dirty="0">
                <a:solidFill>
                  <a:srgbClr val="EBEBEB"/>
                </a:solidFill>
                <a:latin typeface="Arial MT"/>
                <a:cs typeface="Arial MT"/>
              </a:rPr>
              <a:t>s</a:t>
            </a:r>
            <a:r>
              <a:rPr sz="2400" spc="-10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400" spc="-315" dirty="0">
                <a:solidFill>
                  <a:srgbClr val="EBEBEB"/>
                </a:solidFill>
                <a:latin typeface="Arial MT"/>
                <a:cs typeface="Arial MT"/>
              </a:rPr>
              <a:t>w</a:t>
            </a:r>
            <a:r>
              <a:rPr sz="2400" spc="-245" dirty="0">
                <a:solidFill>
                  <a:srgbClr val="EBEBEB"/>
                </a:solidFill>
                <a:latin typeface="Arial MT"/>
                <a:cs typeface="Arial MT"/>
              </a:rPr>
              <a:t>e</a:t>
            </a:r>
            <a:r>
              <a:rPr sz="2400" spc="-11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400" spc="-180" dirty="0">
                <a:solidFill>
                  <a:srgbClr val="EBEBEB"/>
                </a:solidFill>
                <a:latin typeface="Arial MT"/>
                <a:cs typeface="Arial MT"/>
              </a:rPr>
              <a:t>get  th</a:t>
            </a:r>
            <a:r>
              <a:rPr sz="2400" spc="-245" dirty="0">
                <a:solidFill>
                  <a:srgbClr val="EBEBEB"/>
                </a:solidFill>
                <a:latin typeface="Arial MT"/>
                <a:cs typeface="Arial MT"/>
              </a:rPr>
              <a:t>e</a:t>
            </a:r>
            <a:r>
              <a:rPr sz="2400" spc="-11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400" spc="-250" dirty="0">
                <a:solidFill>
                  <a:srgbClr val="EBEBEB"/>
                </a:solidFill>
                <a:latin typeface="Arial MT"/>
                <a:cs typeface="Arial MT"/>
              </a:rPr>
              <a:t>d</a:t>
            </a:r>
            <a:r>
              <a:rPr sz="2400" spc="-100" dirty="0">
                <a:solidFill>
                  <a:srgbClr val="EBEBEB"/>
                </a:solidFill>
                <a:latin typeface="Arial MT"/>
                <a:cs typeface="Arial MT"/>
              </a:rPr>
              <a:t>i</a:t>
            </a:r>
            <a:r>
              <a:rPr sz="2400" spc="-250" dirty="0">
                <a:solidFill>
                  <a:srgbClr val="EBEBEB"/>
                </a:solidFill>
                <a:latin typeface="Arial MT"/>
                <a:cs typeface="Arial MT"/>
              </a:rPr>
              <a:t>ag</a:t>
            </a:r>
            <a:r>
              <a:rPr sz="2400" spc="-145" dirty="0">
                <a:solidFill>
                  <a:srgbClr val="EBEBEB"/>
                </a:solidFill>
                <a:latin typeface="Arial MT"/>
                <a:cs typeface="Arial MT"/>
              </a:rPr>
              <a:t>r</a:t>
            </a:r>
            <a:r>
              <a:rPr sz="2400" spc="-250" dirty="0">
                <a:solidFill>
                  <a:srgbClr val="EBEBEB"/>
                </a:solidFill>
                <a:latin typeface="Arial MT"/>
                <a:cs typeface="Arial MT"/>
              </a:rPr>
              <a:t>a</a:t>
            </a:r>
            <a:r>
              <a:rPr sz="2400" spc="-365" dirty="0">
                <a:solidFill>
                  <a:srgbClr val="EBEBEB"/>
                </a:solidFill>
                <a:latin typeface="Arial MT"/>
                <a:cs typeface="Arial MT"/>
              </a:rPr>
              <a:t>m</a:t>
            </a:r>
            <a:r>
              <a:rPr sz="2400" spc="-10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400" spc="-125" dirty="0">
                <a:solidFill>
                  <a:srgbClr val="EBEBEB"/>
                </a:solidFill>
                <a:latin typeface="Arial MT"/>
                <a:cs typeface="Arial MT"/>
              </a:rPr>
              <a:t>t</a:t>
            </a:r>
            <a:r>
              <a:rPr sz="2400" spc="-240" dirty="0">
                <a:solidFill>
                  <a:srgbClr val="EBEBEB"/>
                </a:solidFill>
                <a:latin typeface="Arial MT"/>
                <a:cs typeface="Arial MT"/>
              </a:rPr>
              <a:t>o</a:t>
            </a:r>
            <a:r>
              <a:rPr sz="2400" spc="-11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400" spc="-190" dirty="0">
                <a:solidFill>
                  <a:srgbClr val="EBEBEB"/>
                </a:solidFill>
                <a:latin typeface="Arial MT"/>
                <a:cs typeface="Arial MT"/>
              </a:rPr>
              <a:t>th</a:t>
            </a:r>
            <a:r>
              <a:rPr sz="2400" spc="-245" dirty="0">
                <a:solidFill>
                  <a:srgbClr val="EBEBEB"/>
                </a:solidFill>
                <a:latin typeface="Arial MT"/>
                <a:cs typeface="Arial MT"/>
              </a:rPr>
              <a:t>e</a:t>
            </a:r>
            <a:r>
              <a:rPr sz="2400" spc="-10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400" spc="-145" dirty="0">
                <a:solidFill>
                  <a:srgbClr val="EBEBEB"/>
                </a:solidFill>
                <a:latin typeface="Arial MT"/>
                <a:cs typeface="Arial MT"/>
              </a:rPr>
              <a:t>r</a:t>
            </a:r>
            <a:r>
              <a:rPr sz="2400" spc="-100" dirty="0">
                <a:solidFill>
                  <a:srgbClr val="EBEBEB"/>
                </a:solidFill>
                <a:latin typeface="Arial MT"/>
                <a:cs typeface="Arial MT"/>
              </a:rPr>
              <a:t>i</a:t>
            </a:r>
            <a:r>
              <a:rPr sz="2400" spc="-185" dirty="0">
                <a:solidFill>
                  <a:srgbClr val="EBEBEB"/>
                </a:solidFill>
                <a:latin typeface="Arial MT"/>
                <a:cs typeface="Arial MT"/>
              </a:rPr>
              <a:t>ght.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86343" y="2518527"/>
            <a:ext cx="290830" cy="407670"/>
          </a:xfrm>
          <a:prstGeom prst="rect">
            <a:avLst/>
          </a:prstGeom>
          <a:solidFill>
            <a:srgbClr val="FFFFFF"/>
          </a:solidFill>
          <a:ln w="6222">
            <a:solidFill>
              <a:srgbClr val="000000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26670">
              <a:lnSpc>
                <a:spcPct val="100000"/>
              </a:lnSpc>
              <a:spcBef>
                <a:spcPts val="260"/>
              </a:spcBef>
            </a:pPr>
            <a:r>
              <a:rPr sz="650" spc="20" dirty="0">
                <a:latin typeface="Arial MT"/>
                <a:cs typeface="Arial MT"/>
              </a:rPr>
              <a:t>D    </a:t>
            </a:r>
            <a:r>
              <a:rPr sz="650" spc="35" dirty="0">
                <a:latin typeface="Arial MT"/>
                <a:cs typeface="Arial MT"/>
              </a:rPr>
              <a:t> </a:t>
            </a:r>
            <a:r>
              <a:rPr sz="975" spc="30" baseline="4273" dirty="0">
                <a:latin typeface="Arial MT"/>
                <a:cs typeface="Arial MT"/>
              </a:rPr>
              <a:t>Q</a:t>
            </a:r>
            <a:endParaRPr sz="975" baseline="4273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Arial MT"/>
              <a:cs typeface="Arial MT"/>
            </a:endParaRPr>
          </a:p>
          <a:p>
            <a:pPr marL="31750">
              <a:lnSpc>
                <a:spcPct val="100000"/>
              </a:lnSpc>
            </a:pPr>
            <a:r>
              <a:rPr sz="650" spc="10" dirty="0">
                <a:latin typeface="Arial MT"/>
                <a:cs typeface="Arial MT"/>
              </a:rPr>
              <a:t>EN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79760" y="2518527"/>
            <a:ext cx="290830" cy="411480"/>
          </a:xfrm>
          <a:prstGeom prst="rect">
            <a:avLst/>
          </a:prstGeom>
          <a:solidFill>
            <a:srgbClr val="FFFFFF"/>
          </a:solidFill>
          <a:ln w="6222">
            <a:solidFill>
              <a:srgbClr val="00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300"/>
              </a:spcBef>
            </a:pPr>
            <a:r>
              <a:rPr sz="650" spc="20" dirty="0">
                <a:latin typeface="Arial MT"/>
                <a:cs typeface="Arial MT"/>
              </a:rPr>
              <a:t>D    </a:t>
            </a:r>
            <a:r>
              <a:rPr sz="650" spc="35" dirty="0">
                <a:latin typeface="Arial MT"/>
                <a:cs typeface="Arial MT"/>
              </a:rPr>
              <a:t> </a:t>
            </a:r>
            <a:r>
              <a:rPr sz="975" spc="30" baseline="4273" dirty="0">
                <a:latin typeface="Arial MT"/>
                <a:cs typeface="Arial MT"/>
              </a:rPr>
              <a:t>Q</a:t>
            </a:r>
            <a:endParaRPr sz="975" baseline="4273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Arial MT"/>
              <a:cs typeface="Arial MT"/>
            </a:endParaRPr>
          </a:p>
          <a:p>
            <a:pPr marL="31750">
              <a:lnSpc>
                <a:spcPct val="100000"/>
              </a:lnSpc>
            </a:pPr>
            <a:r>
              <a:rPr sz="650" spc="10" dirty="0">
                <a:latin typeface="Arial MT"/>
                <a:cs typeface="Arial MT"/>
              </a:rPr>
              <a:t>EN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73177" y="2518527"/>
            <a:ext cx="290830" cy="416559"/>
          </a:xfrm>
          <a:prstGeom prst="rect">
            <a:avLst/>
          </a:prstGeom>
          <a:solidFill>
            <a:srgbClr val="FFFFFF"/>
          </a:solidFill>
          <a:ln w="6222">
            <a:solidFill>
              <a:srgbClr val="000000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345"/>
              </a:spcBef>
            </a:pPr>
            <a:r>
              <a:rPr sz="650" spc="20" dirty="0">
                <a:latin typeface="Arial MT"/>
                <a:cs typeface="Arial MT"/>
              </a:rPr>
              <a:t>D    </a:t>
            </a:r>
            <a:r>
              <a:rPr sz="650" spc="35" dirty="0">
                <a:latin typeface="Arial MT"/>
                <a:cs typeface="Arial MT"/>
              </a:rPr>
              <a:t> </a:t>
            </a:r>
            <a:r>
              <a:rPr sz="975" spc="30" baseline="4273" dirty="0">
                <a:latin typeface="Arial MT"/>
                <a:cs typeface="Arial MT"/>
              </a:rPr>
              <a:t>Q</a:t>
            </a:r>
            <a:endParaRPr sz="975" baseline="4273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Arial MT"/>
              <a:cs typeface="Arial MT"/>
            </a:endParaRPr>
          </a:p>
          <a:p>
            <a:pPr marL="31750">
              <a:lnSpc>
                <a:spcPct val="100000"/>
              </a:lnSpc>
            </a:pPr>
            <a:r>
              <a:rPr sz="650" spc="10" dirty="0">
                <a:latin typeface="Arial MT"/>
                <a:cs typeface="Arial MT"/>
              </a:rPr>
              <a:t>EN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266593" y="2518527"/>
            <a:ext cx="290830" cy="416559"/>
          </a:xfrm>
          <a:prstGeom prst="rect">
            <a:avLst/>
          </a:prstGeom>
          <a:solidFill>
            <a:srgbClr val="FFFFFF"/>
          </a:solidFill>
          <a:ln w="6222">
            <a:solidFill>
              <a:srgbClr val="000000"/>
            </a:solidFill>
          </a:ln>
        </p:spPr>
        <p:txBody>
          <a:bodyPr vert="horz" wrap="square" lIns="0" tIns="48895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385"/>
              </a:spcBef>
            </a:pPr>
            <a:r>
              <a:rPr sz="650" spc="20" dirty="0">
                <a:latin typeface="Arial MT"/>
                <a:cs typeface="Arial MT"/>
              </a:rPr>
              <a:t>D    </a:t>
            </a:r>
            <a:r>
              <a:rPr sz="650" spc="35" dirty="0">
                <a:latin typeface="Arial MT"/>
                <a:cs typeface="Arial MT"/>
              </a:rPr>
              <a:t> </a:t>
            </a:r>
            <a:r>
              <a:rPr sz="975" spc="30" baseline="4273" dirty="0">
                <a:latin typeface="Arial MT"/>
                <a:cs typeface="Arial MT"/>
              </a:rPr>
              <a:t>Q</a:t>
            </a:r>
            <a:endParaRPr sz="975" baseline="4273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Arial MT"/>
              <a:cs typeface="Arial MT"/>
            </a:endParaRPr>
          </a:p>
          <a:p>
            <a:pPr marL="31750">
              <a:lnSpc>
                <a:spcPct val="100000"/>
              </a:lnSpc>
            </a:pPr>
            <a:r>
              <a:rPr sz="650" spc="10" dirty="0">
                <a:latin typeface="Arial MT"/>
                <a:cs typeface="Arial MT"/>
              </a:rPr>
              <a:t>EN</a:t>
            </a:r>
            <a:endParaRPr sz="65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426819" y="2043239"/>
            <a:ext cx="2843530" cy="3336925"/>
            <a:chOff x="5426819" y="2043239"/>
            <a:chExt cx="2843530" cy="3336925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70606" y="2162530"/>
              <a:ext cx="177350" cy="14618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756689" y="2601079"/>
              <a:ext cx="130175" cy="1270"/>
            </a:xfrm>
            <a:custGeom>
              <a:avLst/>
              <a:gdLst/>
              <a:ahLst/>
              <a:cxnLst/>
              <a:rect l="l" t="t" r="r" b="b"/>
              <a:pathLst>
                <a:path w="130175" h="1269">
                  <a:moveTo>
                    <a:pt x="129643" y="0"/>
                  </a:moveTo>
                  <a:lnTo>
                    <a:pt x="0" y="1036"/>
                  </a:lnTo>
                </a:path>
              </a:pathLst>
            </a:custGeom>
            <a:ln w="62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756689" y="2300419"/>
              <a:ext cx="0" cy="3058795"/>
            </a:xfrm>
            <a:custGeom>
              <a:avLst/>
              <a:gdLst/>
              <a:ahLst/>
              <a:cxnLst/>
              <a:rect l="l" t="t" r="r" b="b"/>
              <a:pathLst>
                <a:path h="3058795">
                  <a:moveTo>
                    <a:pt x="0" y="3058436"/>
                  </a:moveTo>
                  <a:lnTo>
                    <a:pt x="0" y="0"/>
                  </a:lnTo>
                </a:path>
              </a:pathLst>
            </a:custGeom>
            <a:ln w="62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756689" y="2046414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119227"/>
                  </a:moveTo>
                  <a:lnTo>
                    <a:pt x="0" y="0"/>
                  </a:lnTo>
                </a:path>
              </a:pathLst>
            </a:custGeom>
            <a:ln w="62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58838" y="2167714"/>
              <a:ext cx="177350" cy="14618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544921" y="2606263"/>
              <a:ext cx="130175" cy="1270"/>
            </a:xfrm>
            <a:custGeom>
              <a:avLst/>
              <a:gdLst/>
              <a:ahLst/>
              <a:cxnLst/>
              <a:rect l="l" t="t" r="r" b="b"/>
              <a:pathLst>
                <a:path w="130175" h="1269">
                  <a:moveTo>
                    <a:pt x="129643" y="0"/>
                  </a:moveTo>
                  <a:lnTo>
                    <a:pt x="0" y="1036"/>
                  </a:lnTo>
                </a:path>
              </a:pathLst>
            </a:custGeom>
            <a:ln w="62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544921" y="2305603"/>
              <a:ext cx="0" cy="3052445"/>
            </a:xfrm>
            <a:custGeom>
              <a:avLst/>
              <a:gdLst/>
              <a:ahLst/>
              <a:cxnLst/>
              <a:rect l="l" t="t" r="r" b="b"/>
              <a:pathLst>
                <a:path h="3052445">
                  <a:moveTo>
                    <a:pt x="0" y="3052215"/>
                  </a:moveTo>
                  <a:lnTo>
                    <a:pt x="0" y="0"/>
                  </a:lnTo>
                </a:path>
              </a:pathLst>
            </a:custGeom>
            <a:ln w="62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544922" y="205159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119227"/>
                  </a:moveTo>
                  <a:lnTo>
                    <a:pt x="0" y="0"/>
                  </a:lnTo>
                </a:path>
              </a:pathLst>
            </a:custGeom>
            <a:ln w="62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47070" y="2172898"/>
              <a:ext cx="177350" cy="146183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7333153" y="2611447"/>
              <a:ext cx="130175" cy="1270"/>
            </a:xfrm>
            <a:custGeom>
              <a:avLst/>
              <a:gdLst/>
              <a:ahLst/>
              <a:cxnLst/>
              <a:rect l="l" t="t" r="r" b="b"/>
              <a:pathLst>
                <a:path w="130175" h="1269">
                  <a:moveTo>
                    <a:pt x="129643" y="0"/>
                  </a:moveTo>
                  <a:lnTo>
                    <a:pt x="0" y="1036"/>
                  </a:lnTo>
                </a:path>
              </a:pathLst>
            </a:custGeom>
            <a:ln w="62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333153" y="2311824"/>
              <a:ext cx="0" cy="3065145"/>
            </a:xfrm>
            <a:custGeom>
              <a:avLst/>
              <a:gdLst/>
              <a:ahLst/>
              <a:cxnLst/>
              <a:rect l="l" t="t" r="r" b="b"/>
              <a:pathLst>
                <a:path h="3065145">
                  <a:moveTo>
                    <a:pt x="0" y="3064657"/>
                  </a:moveTo>
                  <a:lnTo>
                    <a:pt x="0" y="0"/>
                  </a:lnTo>
                </a:path>
              </a:pathLst>
            </a:custGeom>
            <a:ln w="62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333154" y="2056781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119227"/>
                  </a:moveTo>
                  <a:lnTo>
                    <a:pt x="0" y="0"/>
                  </a:lnTo>
                </a:path>
              </a:pathLst>
            </a:custGeom>
            <a:ln w="62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35302" y="2178081"/>
              <a:ext cx="177350" cy="146183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8121385" y="2616631"/>
              <a:ext cx="130175" cy="1270"/>
            </a:xfrm>
            <a:custGeom>
              <a:avLst/>
              <a:gdLst/>
              <a:ahLst/>
              <a:cxnLst/>
              <a:rect l="l" t="t" r="r" b="b"/>
              <a:pathLst>
                <a:path w="130175" h="1269">
                  <a:moveTo>
                    <a:pt x="129643" y="0"/>
                  </a:moveTo>
                  <a:lnTo>
                    <a:pt x="0" y="1036"/>
                  </a:lnTo>
                </a:path>
              </a:pathLst>
            </a:custGeom>
            <a:ln w="62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121385" y="2315971"/>
              <a:ext cx="0" cy="3058795"/>
            </a:xfrm>
            <a:custGeom>
              <a:avLst/>
              <a:gdLst/>
              <a:ahLst/>
              <a:cxnLst/>
              <a:rect l="l" t="t" r="r" b="b"/>
              <a:pathLst>
                <a:path h="3058795">
                  <a:moveTo>
                    <a:pt x="0" y="3058436"/>
                  </a:moveTo>
                  <a:lnTo>
                    <a:pt x="0" y="0"/>
                  </a:lnTo>
                </a:path>
              </a:pathLst>
            </a:custGeom>
            <a:ln w="62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121386" y="2061965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119227"/>
                  </a:moveTo>
                  <a:lnTo>
                    <a:pt x="0" y="0"/>
                  </a:lnTo>
                </a:path>
              </a:pathLst>
            </a:custGeom>
            <a:ln w="62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429994" y="3083172"/>
              <a:ext cx="2769235" cy="1270"/>
            </a:xfrm>
            <a:custGeom>
              <a:avLst/>
              <a:gdLst/>
              <a:ahLst/>
              <a:cxnLst/>
              <a:rect l="l" t="t" r="r" b="b"/>
              <a:pathLst>
                <a:path w="2769234" h="1269">
                  <a:moveTo>
                    <a:pt x="0" y="0"/>
                  </a:moveTo>
                  <a:lnTo>
                    <a:pt x="2769178" y="1036"/>
                  </a:lnTo>
                </a:path>
              </a:pathLst>
            </a:custGeom>
            <a:ln w="62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193987" y="2870636"/>
              <a:ext cx="73025" cy="1270"/>
            </a:xfrm>
            <a:custGeom>
              <a:avLst/>
              <a:gdLst/>
              <a:ahLst/>
              <a:cxnLst/>
              <a:rect l="l" t="t" r="r" b="b"/>
              <a:pathLst>
                <a:path w="73025" h="1269">
                  <a:moveTo>
                    <a:pt x="72600" y="0"/>
                  </a:moveTo>
                  <a:lnTo>
                    <a:pt x="0" y="1036"/>
                  </a:lnTo>
                </a:path>
              </a:pathLst>
            </a:custGeom>
            <a:ln w="62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193987" y="2870636"/>
              <a:ext cx="0" cy="207645"/>
            </a:xfrm>
            <a:custGeom>
              <a:avLst/>
              <a:gdLst/>
              <a:ahLst/>
              <a:cxnLst/>
              <a:rect l="l" t="t" r="r" b="b"/>
              <a:pathLst>
                <a:path h="207644">
                  <a:moveTo>
                    <a:pt x="0" y="0"/>
                  </a:moveTo>
                  <a:lnTo>
                    <a:pt x="0" y="207351"/>
                  </a:lnTo>
                </a:path>
              </a:pathLst>
            </a:custGeom>
            <a:ln w="62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390200" y="2860269"/>
              <a:ext cx="73025" cy="1270"/>
            </a:xfrm>
            <a:custGeom>
              <a:avLst/>
              <a:gdLst/>
              <a:ahLst/>
              <a:cxnLst/>
              <a:rect l="l" t="t" r="r" b="b"/>
              <a:pathLst>
                <a:path w="73025" h="1269">
                  <a:moveTo>
                    <a:pt x="72600" y="0"/>
                  </a:moveTo>
                  <a:lnTo>
                    <a:pt x="0" y="1036"/>
                  </a:lnTo>
                </a:path>
              </a:pathLst>
            </a:custGeom>
            <a:ln w="62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390200" y="2860269"/>
              <a:ext cx="0" cy="228600"/>
            </a:xfrm>
            <a:custGeom>
              <a:avLst/>
              <a:gdLst/>
              <a:ahLst/>
              <a:cxnLst/>
              <a:rect l="l" t="t" r="r" b="b"/>
              <a:pathLst>
                <a:path h="228600">
                  <a:moveTo>
                    <a:pt x="0" y="0"/>
                  </a:moveTo>
                  <a:lnTo>
                    <a:pt x="0" y="228086"/>
                  </a:lnTo>
                </a:path>
              </a:pathLst>
            </a:custGeom>
            <a:ln w="62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601970" y="2855085"/>
              <a:ext cx="73025" cy="1270"/>
            </a:xfrm>
            <a:custGeom>
              <a:avLst/>
              <a:gdLst/>
              <a:ahLst/>
              <a:cxnLst/>
              <a:rect l="l" t="t" r="r" b="b"/>
              <a:pathLst>
                <a:path w="73025" h="1269">
                  <a:moveTo>
                    <a:pt x="72600" y="0"/>
                  </a:moveTo>
                  <a:lnTo>
                    <a:pt x="0" y="1036"/>
                  </a:lnTo>
                </a:path>
              </a:pathLst>
            </a:custGeom>
            <a:ln w="62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601970" y="2855085"/>
              <a:ext cx="0" cy="228600"/>
            </a:xfrm>
            <a:custGeom>
              <a:avLst/>
              <a:gdLst/>
              <a:ahLst/>
              <a:cxnLst/>
              <a:rect l="l" t="t" r="r" b="b"/>
              <a:pathLst>
                <a:path h="228600">
                  <a:moveTo>
                    <a:pt x="0" y="0"/>
                  </a:moveTo>
                  <a:lnTo>
                    <a:pt x="0" y="228086"/>
                  </a:lnTo>
                </a:path>
              </a:pathLst>
            </a:custGeom>
            <a:ln w="62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808554" y="2855085"/>
              <a:ext cx="73025" cy="1270"/>
            </a:xfrm>
            <a:custGeom>
              <a:avLst/>
              <a:gdLst/>
              <a:ahLst/>
              <a:cxnLst/>
              <a:rect l="l" t="t" r="r" b="b"/>
              <a:pathLst>
                <a:path w="73025" h="1269">
                  <a:moveTo>
                    <a:pt x="72600" y="0"/>
                  </a:moveTo>
                  <a:lnTo>
                    <a:pt x="0" y="1036"/>
                  </a:lnTo>
                </a:path>
              </a:pathLst>
            </a:custGeom>
            <a:ln w="62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808555" y="2855085"/>
              <a:ext cx="0" cy="228600"/>
            </a:xfrm>
            <a:custGeom>
              <a:avLst/>
              <a:gdLst/>
              <a:ahLst/>
              <a:cxnLst/>
              <a:rect l="l" t="t" r="r" b="b"/>
              <a:pathLst>
                <a:path h="228600">
                  <a:moveTo>
                    <a:pt x="0" y="0"/>
                  </a:moveTo>
                  <a:lnTo>
                    <a:pt x="0" y="228086"/>
                  </a:lnTo>
                </a:path>
              </a:pathLst>
            </a:custGeom>
            <a:ln w="62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5886343" y="3434114"/>
            <a:ext cx="290830" cy="409575"/>
          </a:xfrm>
          <a:prstGeom prst="rect">
            <a:avLst/>
          </a:prstGeom>
          <a:solidFill>
            <a:srgbClr val="FFFFFF"/>
          </a:solidFill>
          <a:ln w="6222">
            <a:solidFill>
              <a:srgbClr val="000000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26670">
              <a:lnSpc>
                <a:spcPct val="100000"/>
              </a:lnSpc>
              <a:spcBef>
                <a:spcPts val="275"/>
              </a:spcBef>
            </a:pPr>
            <a:r>
              <a:rPr sz="650" spc="20" dirty="0">
                <a:latin typeface="Arial MT"/>
                <a:cs typeface="Arial MT"/>
              </a:rPr>
              <a:t>D    </a:t>
            </a:r>
            <a:r>
              <a:rPr sz="650" spc="35" dirty="0">
                <a:latin typeface="Arial MT"/>
                <a:cs typeface="Arial MT"/>
              </a:rPr>
              <a:t> </a:t>
            </a:r>
            <a:r>
              <a:rPr sz="975" spc="30" baseline="4273" dirty="0">
                <a:latin typeface="Arial MT"/>
                <a:cs typeface="Arial MT"/>
              </a:rPr>
              <a:t>Q</a:t>
            </a:r>
            <a:endParaRPr sz="975" baseline="4273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Arial MT"/>
              <a:cs typeface="Arial MT"/>
            </a:endParaRPr>
          </a:p>
          <a:p>
            <a:pPr marL="31750">
              <a:lnSpc>
                <a:spcPct val="100000"/>
              </a:lnSpc>
            </a:pPr>
            <a:r>
              <a:rPr sz="650" spc="10" dirty="0">
                <a:latin typeface="Arial MT"/>
                <a:cs typeface="Arial MT"/>
              </a:rPr>
              <a:t>EN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679760" y="3438002"/>
            <a:ext cx="290830" cy="409575"/>
          </a:xfrm>
          <a:prstGeom prst="rect">
            <a:avLst/>
          </a:prstGeom>
          <a:solidFill>
            <a:srgbClr val="FFFFFF"/>
          </a:solidFill>
          <a:ln w="6222">
            <a:solidFill>
              <a:srgbClr val="000000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26670">
              <a:lnSpc>
                <a:spcPct val="100000"/>
              </a:lnSpc>
              <a:spcBef>
                <a:spcPts val="285"/>
              </a:spcBef>
            </a:pPr>
            <a:r>
              <a:rPr sz="650" spc="20" dirty="0">
                <a:latin typeface="Arial MT"/>
                <a:cs typeface="Arial MT"/>
              </a:rPr>
              <a:t>D    </a:t>
            </a:r>
            <a:r>
              <a:rPr sz="650" spc="35" dirty="0">
                <a:latin typeface="Arial MT"/>
                <a:cs typeface="Arial MT"/>
              </a:rPr>
              <a:t> </a:t>
            </a:r>
            <a:r>
              <a:rPr sz="975" spc="30" baseline="4273" dirty="0">
                <a:latin typeface="Arial MT"/>
                <a:cs typeface="Arial MT"/>
              </a:rPr>
              <a:t>Q</a:t>
            </a:r>
            <a:endParaRPr sz="975" baseline="4273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Arial MT"/>
              <a:cs typeface="Arial MT"/>
            </a:endParaRPr>
          </a:p>
          <a:p>
            <a:pPr marL="31750">
              <a:lnSpc>
                <a:spcPct val="100000"/>
              </a:lnSpc>
            </a:pPr>
            <a:r>
              <a:rPr sz="650" spc="10" dirty="0">
                <a:latin typeface="Arial MT"/>
                <a:cs typeface="Arial MT"/>
              </a:rPr>
              <a:t>EN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473177" y="3442538"/>
            <a:ext cx="290830" cy="409575"/>
          </a:xfrm>
          <a:prstGeom prst="rect">
            <a:avLst/>
          </a:prstGeom>
          <a:solidFill>
            <a:srgbClr val="FFFFFF"/>
          </a:solidFill>
          <a:ln w="6222">
            <a:solidFill>
              <a:srgbClr val="000000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290"/>
              </a:spcBef>
            </a:pPr>
            <a:r>
              <a:rPr sz="650" spc="20" dirty="0">
                <a:latin typeface="Arial MT"/>
                <a:cs typeface="Arial MT"/>
              </a:rPr>
              <a:t>D    </a:t>
            </a:r>
            <a:r>
              <a:rPr sz="650" spc="35" dirty="0">
                <a:latin typeface="Arial MT"/>
                <a:cs typeface="Arial MT"/>
              </a:rPr>
              <a:t> </a:t>
            </a:r>
            <a:r>
              <a:rPr sz="975" spc="30" baseline="4273" dirty="0">
                <a:latin typeface="Arial MT"/>
                <a:cs typeface="Arial MT"/>
              </a:rPr>
              <a:t>Q</a:t>
            </a:r>
            <a:endParaRPr sz="975" baseline="4273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Arial MT"/>
              <a:cs typeface="Arial MT"/>
            </a:endParaRPr>
          </a:p>
          <a:p>
            <a:pPr marL="31750">
              <a:lnSpc>
                <a:spcPct val="100000"/>
              </a:lnSpc>
            </a:pPr>
            <a:r>
              <a:rPr sz="650" spc="10" dirty="0">
                <a:latin typeface="Arial MT"/>
                <a:cs typeface="Arial MT"/>
              </a:rPr>
              <a:t>EN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266593" y="3442538"/>
            <a:ext cx="290830" cy="409575"/>
          </a:xfrm>
          <a:prstGeom prst="rect">
            <a:avLst/>
          </a:prstGeom>
          <a:solidFill>
            <a:srgbClr val="FFFFFF"/>
          </a:solidFill>
          <a:ln w="6222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330"/>
              </a:spcBef>
            </a:pPr>
            <a:r>
              <a:rPr sz="650" spc="20" dirty="0">
                <a:latin typeface="Arial MT"/>
                <a:cs typeface="Arial MT"/>
              </a:rPr>
              <a:t>D    </a:t>
            </a:r>
            <a:r>
              <a:rPr sz="650" spc="35" dirty="0">
                <a:latin typeface="Arial MT"/>
                <a:cs typeface="Arial MT"/>
              </a:rPr>
              <a:t> </a:t>
            </a:r>
            <a:r>
              <a:rPr sz="975" spc="30" baseline="4273" dirty="0">
                <a:latin typeface="Arial MT"/>
                <a:cs typeface="Arial MT"/>
              </a:rPr>
              <a:t>Q</a:t>
            </a:r>
            <a:endParaRPr sz="975" baseline="4273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Arial MT"/>
              <a:cs typeface="Arial MT"/>
            </a:endParaRPr>
          </a:p>
          <a:p>
            <a:pPr marL="31750">
              <a:lnSpc>
                <a:spcPct val="100000"/>
              </a:lnSpc>
            </a:pPr>
            <a:r>
              <a:rPr sz="650" spc="10" dirty="0">
                <a:latin typeface="Arial MT"/>
                <a:cs typeface="Arial MT"/>
              </a:rPr>
              <a:t>EN</a:t>
            </a:r>
            <a:endParaRPr sz="650">
              <a:latin typeface="Arial MT"/>
              <a:cs typeface="Arial MT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5426825" y="3515435"/>
            <a:ext cx="2843530" cy="494030"/>
            <a:chOff x="5426825" y="3515435"/>
            <a:chExt cx="2843530" cy="494030"/>
          </a:xfrm>
        </p:grpSpPr>
        <p:sp>
          <p:nvSpPr>
            <p:cNvPr id="43" name="object 43"/>
            <p:cNvSpPr/>
            <p:nvPr/>
          </p:nvSpPr>
          <p:spPr>
            <a:xfrm>
              <a:off x="5756699" y="3518610"/>
              <a:ext cx="130175" cy="1270"/>
            </a:xfrm>
            <a:custGeom>
              <a:avLst/>
              <a:gdLst/>
              <a:ahLst/>
              <a:cxnLst/>
              <a:rect l="l" t="t" r="r" b="b"/>
              <a:pathLst>
                <a:path w="130175" h="1270">
                  <a:moveTo>
                    <a:pt x="129643" y="0"/>
                  </a:moveTo>
                  <a:lnTo>
                    <a:pt x="0" y="1036"/>
                  </a:lnTo>
                </a:path>
              </a:pathLst>
            </a:custGeom>
            <a:ln w="62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544930" y="3523794"/>
              <a:ext cx="130175" cy="1270"/>
            </a:xfrm>
            <a:custGeom>
              <a:avLst/>
              <a:gdLst/>
              <a:ahLst/>
              <a:cxnLst/>
              <a:rect l="l" t="t" r="r" b="b"/>
              <a:pathLst>
                <a:path w="130175" h="1270">
                  <a:moveTo>
                    <a:pt x="129643" y="0"/>
                  </a:moveTo>
                  <a:lnTo>
                    <a:pt x="0" y="1036"/>
                  </a:lnTo>
                </a:path>
              </a:pathLst>
            </a:custGeom>
            <a:ln w="62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333161" y="3528978"/>
              <a:ext cx="130175" cy="1270"/>
            </a:xfrm>
            <a:custGeom>
              <a:avLst/>
              <a:gdLst/>
              <a:ahLst/>
              <a:cxnLst/>
              <a:rect l="l" t="t" r="r" b="b"/>
              <a:pathLst>
                <a:path w="130175" h="1270">
                  <a:moveTo>
                    <a:pt x="129643" y="0"/>
                  </a:moveTo>
                  <a:lnTo>
                    <a:pt x="0" y="1036"/>
                  </a:lnTo>
                </a:path>
              </a:pathLst>
            </a:custGeom>
            <a:ln w="62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121392" y="3534161"/>
              <a:ext cx="130175" cy="1270"/>
            </a:xfrm>
            <a:custGeom>
              <a:avLst/>
              <a:gdLst/>
              <a:ahLst/>
              <a:cxnLst/>
              <a:rect l="l" t="t" r="r" b="b"/>
              <a:pathLst>
                <a:path w="130175" h="1270">
                  <a:moveTo>
                    <a:pt x="129643" y="0"/>
                  </a:moveTo>
                  <a:lnTo>
                    <a:pt x="0" y="1036"/>
                  </a:lnTo>
                </a:path>
              </a:pathLst>
            </a:custGeom>
            <a:ln w="62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430000" y="4000702"/>
              <a:ext cx="2769235" cy="1270"/>
            </a:xfrm>
            <a:custGeom>
              <a:avLst/>
              <a:gdLst/>
              <a:ahLst/>
              <a:cxnLst/>
              <a:rect l="l" t="t" r="r" b="b"/>
              <a:pathLst>
                <a:path w="2769234" h="1270">
                  <a:moveTo>
                    <a:pt x="0" y="0"/>
                  </a:moveTo>
                  <a:lnTo>
                    <a:pt x="2769178" y="1036"/>
                  </a:lnTo>
                </a:path>
              </a:pathLst>
            </a:custGeom>
            <a:ln w="62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193993" y="3788167"/>
              <a:ext cx="73025" cy="1270"/>
            </a:xfrm>
            <a:custGeom>
              <a:avLst/>
              <a:gdLst/>
              <a:ahLst/>
              <a:cxnLst/>
              <a:rect l="l" t="t" r="r" b="b"/>
              <a:pathLst>
                <a:path w="73025" h="1270">
                  <a:moveTo>
                    <a:pt x="72600" y="0"/>
                  </a:moveTo>
                  <a:lnTo>
                    <a:pt x="0" y="1036"/>
                  </a:lnTo>
                </a:path>
              </a:pathLst>
            </a:custGeom>
            <a:ln w="62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8193994" y="3788167"/>
              <a:ext cx="0" cy="207645"/>
            </a:xfrm>
            <a:custGeom>
              <a:avLst/>
              <a:gdLst/>
              <a:ahLst/>
              <a:cxnLst/>
              <a:rect l="l" t="t" r="r" b="b"/>
              <a:pathLst>
                <a:path h="207645">
                  <a:moveTo>
                    <a:pt x="0" y="0"/>
                  </a:moveTo>
                  <a:lnTo>
                    <a:pt x="0" y="207351"/>
                  </a:lnTo>
                </a:path>
              </a:pathLst>
            </a:custGeom>
            <a:ln w="62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390206" y="3777799"/>
              <a:ext cx="73025" cy="1270"/>
            </a:xfrm>
            <a:custGeom>
              <a:avLst/>
              <a:gdLst/>
              <a:ahLst/>
              <a:cxnLst/>
              <a:rect l="l" t="t" r="r" b="b"/>
              <a:pathLst>
                <a:path w="73025" h="1270">
                  <a:moveTo>
                    <a:pt x="72600" y="0"/>
                  </a:moveTo>
                  <a:lnTo>
                    <a:pt x="0" y="1036"/>
                  </a:lnTo>
                </a:path>
              </a:pathLst>
            </a:custGeom>
            <a:ln w="62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390207" y="3777799"/>
              <a:ext cx="0" cy="228600"/>
            </a:xfrm>
            <a:custGeom>
              <a:avLst/>
              <a:gdLst/>
              <a:ahLst/>
              <a:cxnLst/>
              <a:rect l="l" t="t" r="r" b="b"/>
              <a:pathLst>
                <a:path h="228600">
                  <a:moveTo>
                    <a:pt x="0" y="0"/>
                  </a:moveTo>
                  <a:lnTo>
                    <a:pt x="0" y="228086"/>
                  </a:lnTo>
                </a:path>
              </a:pathLst>
            </a:custGeom>
            <a:ln w="62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601977" y="3772616"/>
              <a:ext cx="73025" cy="1270"/>
            </a:xfrm>
            <a:custGeom>
              <a:avLst/>
              <a:gdLst/>
              <a:ahLst/>
              <a:cxnLst/>
              <a:rect l="l" t="t" r="r" b="b"/>
              <a:pathLst>
                <a:path w="73025" h="1270">
                  <a:moveTo>
                    <a:pt x="72600" y="0"/>
                  </a:moveTo>
                  <a:lnTo>
                    <a:pt x="0" y="1036"/>
                  </a:lnTo>
                </a:path>
              </a:pathLst>
            </a:custGeom>
            <a:ln w="62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601977" y="3772616"/>
              <a:ext cx="0" cy="228600"/>
            </a:xfrm>
            <a:custGeom>
              <a:avLst/>
              <a:gdLst/>
              <a:ahLst/>
              <a:cxnLst/>
              <a:rect l="l" t="t" r="r" b="b"/>
              <a:pathLst>
                <a:path h="228600">
                  <a:moveTo>
                    <a:pt x="0" y="0"/>
                  </a:moveTo>
                  <a:lnTo>
                    <a:pt x="0" y="228086"/>
                  </a:lnTo>
                </a:path>
              </a:pathLst>
            </a:custGeom>
            <a:ln w="62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808561" y="3772616"/>
              <a:ext cx="73025" cy="1270"/>
            </a:xfrm>
            <a:custGeom>
              <a:avLst/>
              <a:gdLst/>
              <a:ahLst/>
              <a:cxnLst/>
              <a:rect l="l" t="t" r="r" b="b"/>
              <a:pathLst>
                <a:path w="73025" h="1270">
                  <a:moveTo>
                    <a:pt x="72600" y="0"/>
                  </a:moveTo>
                  <a:lnTo>
                    <a:pt x="0" y="1036"/>
                  </a:lnTo>
                </a:path>
              </a:pathLst>
            </a:custGeom>
            <a:ln w="62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808561" y="3772616"/>
              <a:ext cx="0" cy="228600"/>
            </a:xfrm>
            <a:custGeom>
              <a:avLst/>
              <a:gdLst/>
              <a:ahLst/>
              <a:cxnLst/>
              <a:rect l="l" t="t" r="r" b="b"/>
              <a:pathLst>
                <a:path h="228600">
                  <a:moveTo>
                    <a:pt x="0" y="0"/>
                  </a:moveTo>
                  <a:lnTo>
                    <a:pt x="0" y="228086"/>
                  </a:lnTo>
                </a:path>
              </a:pathLst>
            </a:custGeom>
            <a:ln w="62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5886343" y="4351645"/>
            <a:ext cx="290830" cy="409575"/>
          </a:xfrm>
          <a:prstGeom prst="rect">
            <a:avLst/>
          </a:prstGeom>
          <a:solidFill>
            <a:srgbClr val="FFFFFF"/>
          </a:solidFill>
          <a:ln w="6222">
            <a:solidFill>
              <a:srgbClr val="000000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26670">
              <a:lnSpc>
                <a:spcPct val="100000"/>
              </a:lnSpc>
              <a:spcBef>
                <a:spcPts val="275"/>
              </a:spcBef>
            </a:pPr>
            <a:r>
              <a:rPr sz="650" spc="20" dirty="0">
                <a:latin typeface="Arial MT"/>
                <a:cs typeface="Arial MT"/>
              </a:rPr>
              <a:t>D    </a:t>
            </a:r>
            <a:r>
              <a:rPr sz="650" spc="35" dirty="0">
                <a:latin typeface="Arial MT"/>
                <a:cs typeface="Arial MT"/>
              </a:rPr>
              <a:t> </a:t>
            </a:r>
            <a:r>
              <a:rPr sz="975" spc="30" baseline="4273" dirty="0">
                <a:latin typeface="Arial MT"/>
                <a:cs typeface="Arial MT"/>
              </a:rPr>
              <a:t>Q</a:t>
            </a:r>
            <a:endParaRPr sz="975" baseline="4273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Arial MT"/>
              <a:cs typeface="Arial MT"/>
            </a:endParaRPr>
          </a:p>
          <a:p>
            <a:pPr marL="31750">
              <a:lnSpc>
                <a:spcPct val="100000"/>
              </a:lnSpc>
              <a:spcBef>
                <a:spcPts val="5"/>
              </a:spcBef>
            </a:pPr>
            <a:r>
              <a:rPr sz="650" spc="10" dirty="0">
                <a:latin typeface="Arial MT"/>
                <a:cs typeface="Arial MT"/>
              </a:rPr>
              <a:t>EN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679760" y="4355533"/>
            <a:ext cx="290830" cy="409575"/>
          </a:xfrm>
          <a:prstGeom prst="rect">
            <a:avLst/>
          </a:prstGeom>
          <a:solidFill>
            <a:srgbClr val="FFFFFF"/>
          </a:solidFill>
          <a:ln w="6222">
            <a:solidFill>
              <a:srgbClr val="000000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26670">
              <a:lnSpc>
                <a:spcPct val="100000"/>
              </a:lnSpc>
              <a:spcBef>
                <a:spcPts val="285"/>
              </a:spcBef>
            </a:pPr>
            <a:r>
              <a:rPr sz="650" spc="20" dirty="0">
                <a:latin typeface="Arial MT"/>
                <a:cs typeface="Arial MT"/>
              </a:rPr>
              <a:t>D    </a:t>
            </a:r>
            <a:r>
              <a:rPr sz="650" spc="35" dirty="0">
                <a:latin typeface="Arial MT"/>
                <a:cs typeface="Arial MT"/>
              </a:rPr>
              <a:t> </a:t>
            </a:r>
            <a:r>
              <a:rPr sz="975" spc="30" baseline="4273" dirty="0">
                <a:latin typeface="Arial MT"/>
                <a:cs typeface="Arial MT"/>
              </a:rPr>
              <a:t>Q</a:t>
            </a:r>
            <a:endParaRPr sz="975" baseline="4273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Arial MT"/>
              <a:cs typeface="Arial MT"/>
            </a:endParaRPr>
          </a:p>
          <a:p>
            <a:pPr marL="31750">
              <a:lnSpc>
                <a:spcPct val="100000"/>
              </a:lnSpc>
            </a:pPr>
            <a:r>
              <a:rPr sz="650" spc="10" dirty="0">
                <a:latin typeface="Arial MT"/>
                <a:cs typeface="Arial MT"/>
              </a:rPr>
              <a:t>EN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473177" y="4360069"/>
            <a:ext cx="290830" cy="409575"/>
          </a:xfrm>
          <a:prstGeom prst="rect">
            <a:avLst/>
          </a:prstGeom>
          <a:solidFill>
            <a:srgbClr val="FFFFFF"/>
          </a:solidFill>
          <a:ln w="6222">
            <a:solidFill>
              <a:srgbClr val="000000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290"/>
              </a:spcBef>
            </a:pPr>
            <a:r>
              <a:rPr sz="650" spc="20" dirty="0">
                <a:latin typeface="Arial MT"/>
                <a:cs typeface="Arial MT"/>
              </a:rPr>
              <a:t>D    </a:t>
            </a:r>
            <a:r>
              <a:rPr sz="650" spc="35" dirty="0">
                <a:latin typeface="Arial MT"/>
                <a:cs typeface="Arial MT"/>
              </a:rPr>
              <a:t> </a:t>
            </a:r>
            <a:r>
              <a:rPr sz="975" spc="30" baseline="4273" dirty="0">
                <a:latin typeface="Arial MT"/>
                <a:cs typeface="Arial MT"/>
              </a:rPr>
              <a:t>Q</a:t>
            </a:r>
            <a:endParaRPr sz="975" baseline="4273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Arial MT"/>
              <a:cs typeface="Arial MT"/>
            </a:endParaRPr>
          </a:p>
          <a:p>
            <a:pPr marL="31750">
              <a:lnSpc>
                <a:spcPct val="100000"/>
              </a:lnSpc>
            </a:pPr>
            <a:r>
              <a:rPr sz="650" spc="10" dirty="0">
                <a:latin typeface="Arial MT"/>
                <a:cs typeface="Arial MT"/>
              </a:rPr>
              <a:t>EN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8266593" y="4360069"/>
            <a:ext cx="290830" cy="409575"/>
          </a:xfrm>
          <a:prstGeom prst="rect">
            <a:avLst/>
          </a:prstGeom>
          <a:solidFill>
            <a:srgbClr val="FFFFFF"/>
          </a:solidFill>
          <a:ln w="6222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330"/>
              </a:spcBef>
            </a:pPr>
            <a:r>
              <a:rPr sz="650" spc="20" dirty="0">
                <a:latin typeface="Arial MT"/>
                <a:cs typeface="Arial MT"/>
              </a:rPr>
              <a:t>D    </a:t>
            </a:r>
            <a:r>
              <a:rPr sz="650" spc="35" dirty="0">
                <a:latin typeface="Arial MT"/>
                <a:cs typeface="Arial MT"/>
              </a:rPr>
              <a:t> </a:t>
            </a:r>
            <a:r>
              <a:rPr sz="975" spc="30" baseline="4273" dirty="0">
                <a:latin typeface="Arial MT"/>
                <a:cs typeface="Arial MT"/>
              </a:rPr>
              <a:t>Q</a:t>
            </a:r>
            <a:endParaRPr sz="975" baseline="4273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Arial MT"/>
              <a:cs typeface="Arial MT"/>
            </a:endParaRPr>
          </a:p>
          <a:p>
            <a:pPr marL="31750">
              <a:lnSpc>
                <a:spcPct val="100000"/>
              </a:lnSpc>
            </a:pPr>
            <a:r>
              <a:rPr sz="650" spc="10" dirty="0">
                <a:latin typeface="Arial MT"/>
                <a:cs typeface="Arial MT"/>
              </a:rPr>
              <a:t>EN</a:t>
            </a:r>
            <a:endParaRPr sz="650">
              <a:latin typeface="Arial MT"/>
              <a:cs typeface="Arial MT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5426832" y="4432966"/>
            <a:ext cx="2843530" cy="494030"/>
            <a:chOff x="5426832" y="4432966"/>
            <a:chExt cx="2843530" cy="494030"/>
          </a:xfrm>
        </p:grpSpPr>
        <p:sp>
          <p:nvSpPr>
            <p:cNvPr id="61" name="object 61"/>
            <p:cNvSpPr/>
            <p:nvPr/>
          </p:nvSpPr>
          <p:spPr>
            <a:xfrm>
              <a:off x="5756706" y="4436141"/>
              <a:ext cx="130175" cy="1270"/>
            </a:xfrm>
            <a:custGeom>
              <a:avLst/>
              <a:gdLst/>
              <a:ahLst/>
              <a:cxnLst/>
              <a:rect l="l" t="t" r="r" b="b"/>
              <a:pathLst>
                <a:path w="130175" h="1270">
                  <a:moveTo>
                    <a:pt x="129643" y="0"/>
                  </a:moveTo>
                  <a:lnTo>
                    <a:pt x="0" y="1036"/>
                  </a:lnTo>
                </a:path>
              </a:pathLst>
            </a:custGeom>
            <a:ln w="62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6544937" y="4441325"/>
              <a:ext cx="130175" cy="1270"/>
            </a:xfrm>
            <a:custGeom>
              <a:avLst/>
              <a:gdLst/>
              <a:ahLst/>
              <a:cxnLst/>
              <a:rect l="l" t="t" r="r" b="b"/>
              <a:pathLst>
                <a:path w="130175" h="1270">
                  <a:moveTo>
                    <a:pt x="129643" y="0"/>
                  </a:moveTo>
                  <a:lnTo>
                    <a:pt x="0" y="1036"/>
                  </a:lnTo>
                </a:path>
              </a:pathLst>
            </a:custGeom>
            <a:ln w="62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7333168" y="4446509"/>
              <a:ext cx="130175" cy="1270"/>
            </a:xfrm>
            <a:custGeom>
              <a:avLst/>
              <a:gdLst/>
              <a:ahLst/>
              <a:cxnLst/>
              <a:rect l="l" t="t" r="r" b="b"/>
              <a:pathLst>
                <a:path w="130175" h="1270">
                  <a:moveTo>
                    <a:pt x="129643" y="0"/>
                  </a:moveTo>
                  <a:lnTo>
                    <a:pt x="0" y="1036"/>
                  </a:lnTo>
                </a:path>
              </a:pathLst>
            </a:custGeom>
            <a:ln w="62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8121399" y="4451692"/>
              <a:ext cx="130175" cy="1270"/>
            </a:xfrm>
            <a:custGeom>
              <a:avLst/>
              <a:gdLst/>
              <a:ahLst/>
              <a:cxnLst/>
              <a:rect l="l" t="t" r="r" b="b"/>
              <a:pathLst>
                <a:path w="130175" h="1270">
                  <a:moveTo>
                    <a:pt x="129643" y="0"/>
                  </a:moveTo>
                  <a:lnTo>
                    <a:pt x="0" y="1036"/>
                  </a:lnTo>
                </a:path>
              </a:pathLst>
            </a:custGeom>
            <a:ln w="62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5430007" y="4918234"/>
              <a:ext cx="2769235" cy="1270"/>
            </a:xfrm>
            <a:custGeom>
              <a:avLst/>
              <a:gdLst/>
              <a:ahLst/>
              <a:cxnLst/>
              <a:rect l="l" t="t" r="r" b="b"/>
              <a:pathLst>
                <a:path w="2769234" h="1270">
                  <a:moveTo>
                    <a:pt x="0" y="0"/>
                  </a:moveTo>
                  <a:lnTo>
                    <a:pt x="2769178" y="1036"/>
                  </a:lnTo>
                </a:path>
              </a:pathLst>
            </a:custGeom>
            <a:ln w="62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8194000" y="4705698"/>
              <a:ext cx="73025" cy="1270"/>
            </a:xfrm>
            <a:custGeom>
              <a:avLst/>
              <a:gdLst/>
              <a:ahLst/>
              <a:cxnLst/>
              <a:rect l="l" t="t" r="r" b="b"/>
              <a:pathLst>
                <a:path w="73025" h="1270">
                  <a:moveTo>
                    <a:pt x="72600" y="0"/>
                  </a:moveTo>
                  <a:lnTo>
                    <a:pt x="0" y="1036"/>
                  </a:lnTo>
                </a:path>
              </a:pathLst>
            </a:custGeom>
            <a:ln w="62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8194000" y="4705698"/>
              <a:ext cx="0" cy="207645"/>
            </a:xfrm>
            <a:custGeom>
              <a:avLst/>
              <a:gdLst/>
              <a:ahLst/>
              <a:cxnLst/>
              <a:rect l="l" t="t" r="r" b="b"/>
              <a:pathLst>
                <a:path h="207645">
                  <a:moveTo>
                    <a:pt x="0" y="0"/>
                  </a:moveTo>
                  <a:lnTo>
                    <a:pt x="0" y="207351"/>
                  </a:lnTo>
                </a:path>
              </a:pathLst>
            </a:custGeom>
            <a:ln w="62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390213" y="4695331"/>
              <a:ext cx="73025" cy="1270"/>
            </a:xfrm>
            <a:custGeom>
              <a:avLst/>
              <a:gdLst/>
              <a:ahLst/>
              <a:cxnLst/>
              <a:rect l="l" t="t" r="r" b="b"/>
              <a:pathLst>
                <a:path w="73025" h="1270">
                  <a:moveTo>
                    <a:pt x="72600" y="0"/>
                  </a:moveTo>
                  <a:lnTo>
                    <a:pt x="0" y="1036"/>
                  </a:lnTo>
                </a:path>
              </a:pathLst>
            </a:custGeom>
            <a:ln w="62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7390213" y="4695331"/>
              <a:ext cx="0" cy="228600"/>
            </a:xfrm>
            <a:custGeom>
              <a:avLst/>
              <a:gdLst/>
              <a:ahLst/>
              <a:cxnLst/>
              <a:rect l="l" t="t" r="r" b="b"/>
              <a:pathLst>
                <a:path h="228600">
                  <a:moveTo>
                    <a:pt x="0" y="0"/>
                  </a:moveTo>
                  <a:lnTo>
                    <a:pt x="0" y="228086"/>
                  </a:lnTo>
                </a:path>
              </a:pathLst>
            </a:custGeom>
            <a:ln w="62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6601983" y="4690147"/>
              <a:ext cx="73025" cy="1270"/>
            </a:xfrm>
            <a:custGeom>
              <a:avLst/>
              <a:gdLst/>
              <a:ahLst/>
              <a:cxnLst/>
              <a:rect l="l" t="t" r="r" b="b"/>
              <a:pathLst>
                <a:path w="73025" h="1270">
                  <a:moveTo>
                    <a:pt x="72600" y="0"/>
                  </a:moveTo>
                  <a:lnTo>
                    <a:pt x="0" y="1036"/>
                  </a:lnTo>
                </a:path>
              </a:pathLst>
            </a:custGeom>
            <a:ln w="62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6601984" y="4690147"/>
              <a:ext cx="0" cy="228600"/>
            </a:xfrm>
            <a:custGeom>
              <a:avLst/>
              <a:gdLst/>
              <a:ahLst/>
              <a:cxnLst/>
              <a:rect l="l" t="t" r="r" b="b"/>
              <a:pathLst>
                <a:path h="228600">
                  <a:moveTo>
                    <a:pt x="0" y="0"/>
                  </a:moveTo>
                  <a:lnTo>
                    <a:pt x="0" y="228086"/>
                  </a:lnTo>
                </a:path>
              </a:pathLst>
            </a:custGeom>
            <a:ln w="62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5808568" y="4690147"/>
              <a:ext cx="73025" cy="1270"/>
            </a:xfrm>
            <a:custGeom>
              <a:avLst/>
              <a:gdLst/>
              <a:ahLst/>
              <a:cxnLst/>
              <a:rect l="l" t="t" r="r" b="b"/>
              <a:pathLst>
                <a:path w="73025" h="1270">
                  <a:moveTo>
                    <a:pt x="72600" y="0"/>
                  </a:moveTo>
                  <a:lnTo>
                    <a:pt x="0" y="1036"/>
                  </a:lnTo>
                </a:path>
              </a:pathLst>
            </a:custGeom>
            <a:ln w="62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5808568" y="4690147"/>
              <a:ext cx="0" cy="228600"/>
            </a:xfrm>
            <a:custGeom>
              <a:avLst/>
              <a:gdLst/>
              <a:ahLst/>
              <a:cxnLst/>
              <a:rect l="l" t="t" r="r" b="b"/>
              <a:pathLst>
                <a:path h="228600">
                  <a:moveTo>
                    <a:pt x="0" y="0"/>
                  </a:moveTo>
                  <a:lnTo>
                    <a:pt x="0" y="228086"/>
                  </a:lnTo>
                </a:path>
              </a:pathLst>
            </a:custGeom>
            <a:ln w="62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5886343" y="5269176"/>
            <a:ext cx="290830" cy="409575"/>
          </a:xfrm>
          <a:prstGeom prst="rect">
            <a:avLst/>
          </a:prstGeom>
          <a:solidFill>
            <a:srgbClr val="FFFFFF"/>
          </a:solidFill>
          <a:ln w="6222">
            <a:solidFill>
              <a:srgbClr val="000000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26670">
              <a:lnSpc>
                <a:spcPct val="100000"/>
              </a:lnSpc>
              <a:spcBef>
                <a:spcPts val="275"/>
              </a:spcBef>
            </a:pPr>
            <a:r>
              <a:rPr sz="650" spc="20" dirty="0">
                <a:latin typeface="Arial MT"/>
                <a:cs typeface="Arial MT"/>
              </a:rPr>
              <a:t>D    </a:t>
            </a:r>
            <a:r>
              <a:rPr sz="650" spc="35" dirty="0">
                <a:latin typeface="Arial MT"/>
                <a:cs typeface="Arial MT"/>
              </a:rPr>
              <a:t> </a:t>
            </a:r>
            <a:r>
              <a:rPr sz="975" spc="30" baseline="4273" dirty="0">
                <a:latin typeface="Arial MT"/>
                <a:cs typeface="Arial MT"/>
              </a:rPr>
              <a:t>Q</a:t>
            </a:r>
            <a:endParaRPr sz="975" baseline="4273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Arial MT"/>
              <a:cs typeface="Arial MT"/>
            </a:endParaRPr>
          </a:p>
          <a:p>
            <a:pPr marL="31750">
              <a:lnSpc>
                <a:spcPct val="100000"/>
              </a:lnSpc>
              <a:spcBef>
                <a:spcPts val="5"/>
              </a:spcBef>
            </a:pPr>
            <a:r>
              <a:rPr sz="650" spc="10" dirty="0">
                <a:latin typeface="Arial MT"/>
                <a:cs typeface="Arial MT"/>
              </a:rPr>
              <a:t>EN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6679760" y="5273064"/>
            <a:ext cx="290830" cy="409575"/>
          </a:xfrm>
          <a:prstGeom prst="rect">
            <a:avLst/>
          </a:prstGeom>
          <a:solidFill>
            <a:srgbClr val="FFFFFF"/>
          </a:solidFill>
          <a:ln w="6222">
            <a:solidFill>
              <a:srgbClr val="000000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26670">
              <a:lnSpc>
                <a:spcPct val="100000"/>
              </a:lnSpc>
              <a:spcBef>
                <a:spcPts val="285"/>
              </a:spcBef>
            </a:pPr>
            <a:r>
              <a:rPr sz="650" spc="20" dirty="0">
                <a:latin typeface="Arial MT"/>
                <a:cs typeface="Arial MT"/>
              </a:rPr>
              <a:t>D    </a:t>
            </a:r>
            <a:r>
              <a:rPr sz="650" spc="35" dirty="0">
                <a:latin typeface="Arial MT"/>
                <a:cs typeface="Arial MT"/>
              </a:rPr>
              <a:t> </a:t>
            </a:r>
            <a:r>
              <a:rPr sz="975" spc="30" baseline="4273" dirty="0">
                <a:latin typeface="Arial MT"/>
                <a:cs typeface="Arial MT"/>
              </a:rPr>
              <a:t>Q</a:t>
            </a:r>
            <a:endParaRPr sz="975" baseline="4273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Arial MT"/>
              <a:cs typeface="Arial MT"/>
            </a:endParaRPr>
          </a:p>
          <a:p>
            <a:pPr marL="31750">
              <a:lnSpc>
                <a:spcPct val="100000"/>
              </a:lnSpc>
              <a:spcBef>
                <a:spcPts val="5"/>
              </a:spcBef>
            </a:pPr>
            <a:r>
              <a:rPr sz="650" spc="10" dirty="0">
                <a:latin typeface="Arial MT"/>
                <a:cs typeface="Arial MT"/>
              </a:rPr>
              <a:t>EN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7473177" y="5277600"/>
            <a:ext cx="290830" cy="409575"/>
          </a:xfrm>
          <a:prstGeom prst="rect">
            <a:avLst/>
          </a:prstGeom>
          <a:solidFill>
            <a:srgbClr val="FFFFFF"/>
          </a:solidFill>
          <a:ln w="6222">
            <a:solidFill>
              <a:srgbClr val="000000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290"/>
              </a:spcBef>
            </a:pPr>
            <a:r>
              <a:rPr sz="650" spc="20" dirty="0">
                <a:latin typeface="Arial MT"/>
                <a:cs typeface="Arial MT"/>
              </a:rPr>
              <a:t>D    </a:t>
            </a:r>
            <a:r>
              <a:rPr sz="650" spc="35" dirty="0">
                <a:latin typeface="Arial MT"/>
                <a:cs typeface="Arial MT"/>
              </a:rPr>
              <a:t> </a:t>
            </a:r>
            <a:r>
              <a:rPr sz="975" spc="30" baseline="4273" dirty="0">
                <a:latin typeface="Arial MT"/>
                <a:cs typeface="Arial MT"/>
              </a:rPr>
              <a:t>Q</a:t>
            </a:r>
            <a:endParaRPr sz="975" baseline="4273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Arial MT"/>
              <a:cs typeface="Arial MT"/>
            </a:endParaRPr>
          </a:p>
          <a:p>
            <a:pPr marL="31750">
              <a:lnSpc>
                <a:spcPct val="100000"/>
              </a:lnSpc>
              <a:spcBef>
                <a:spcPts val="5"/>
              </a:spcBef>
            </a:pPr>
            <a:r>
              <a:rPr sz="650" spc="10" dirty="0">
                <a:latin typeface="Arial MT"/>
                <a:cs typeface="Arial MT"/>
              </a:rPr>
              <a:t>EN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8266593" y="5277600"/>
            <a:ext cx="290830" cy="409575"/>
          </a:xfrm>
          <a:prstGeom prst="rect">
            <a:avLst/>
          </a:prstGeom>
          <a:solidFill>
            <a:srgbClr val="FFFFFF"/>
          </a:solidFill>
          <a:ln w="6222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330"/>
              </a:spcBef>
            </a:pPr>
            <a:r>
              <a:rPr sz="650" spc="20" dirty="0">
                <a:latin typeface="Arial MT"/>
                <a:cs typeface="Arial MT"/>
              </a:rPr>
              <a:t>D    </a:t>
            </a:r>
            <a:r>
              <a:rPr sz="650" spc="35" dirty="0">
                <a:latin typeface="Arial MT"/>
                <a:cs typeface="Arial MT"/>
              </a:rPr>
              <a:t> </a:t>
            </a:r>
            <a:r>
              <a:rPr sz="975" spc="30" baseline="4273" dirty="0">
                <a:latin typeface="Arial MT"/>
                <a:cs typeface="Arial MT"/>
              </a:rPr>
              <a:t>Q</a:t>
            </a:r>
            <a:endParaRPr sz="975" baseline="4273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Arial MT"/>
              <a:cs typeface="Arial MT"/>
            </a:endParaRPr>
          </a:p>
          <a:p>
            <a:pPr marL="31750">
              <a:lnSpc>
                <a:spcPct val="100000"/>
              </a:lnSpc>
            </a:pPr>
            <a:r>
              <a:rPr sz="650" spc="10" dirty="0">
                <a:latin typeface="Arial MT"/>
                <a:cs typeface="Arial MT"/>
              </a:rPr>
              <a:t>EN</a:t>
            </a:r>
            <a:endParaRPr sz="650">
              <a:latin typeface="Arial MT"/>
              <a:cs typeface="Arial MT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5426838" y="2584426"/>
            <a:ext cx="3315335" cy="4063365"/>
            <a:chOff x="5426838" y="2584426"/>
            <a:chExt cx="3315335" cy="4063365"/>
          </a:xfrm>
        </p:grpSpPr>
        <p:sp>
          <p:nvSpPr>
            <p:cNvPr id="79" name="object 79"/>
            <p:cNvSpPr/>
            <p:nvPr/>
          </p:nvSpPr>
          <p:spPr>
            <a:xfrm>
              <a:off x="5756713" y="5353672"/>
              <a:ext cx="130175" cy="1270"/>
            </a:xfrm>
            <a:custGeom>
              <a:avLst/>
              <a:gdLst/>
              <a:ahLst/>
              <a:cxnLst/>
              <a:rect l="l" t="t" r="r" b="b"/>
              <a:pathLst>
                <a:path w="130175" h="1270">
                  <a:moveTo>
                    <a:pt x="129643" y="0"/>
                  </a:moveTo>
                  <a:lnTo>
                    <a:pt x="0" y="1036"/>
                  </a:lnTo>
                </a:path>
              </a:pathLst>
            </a:custGeom>
            <a:ln w="62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544944" y="5358856"/>
              <a:ext cx="130175" cy="1270"/>
            </a:xfrm>
            <a:custGeom>
              <a:avLst/>
              <a:gdLst/>
              <a:ahLst/>
              <a:cxnLst/>
              <a:rect l="l" t="t" r="r" b="b"/>
              <a:pathLst>
                <a:path w="130175" h="1270">
                  <a:moveTo>
                    <a:pt x="129643" y="0"/>
                  </a:moveTo>
                  <a:lnTo>
                    <a:pt x="0" y="1036"/>
                  </a:lnTo>
                </a:path>
              </a:pathLst>
            </a:custGeom>
            <a:ln w="62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7333175" y="5364040"/>
              <a:ext cx="130175" cy="1270"/>
            </a:xfrm>
            <a:custGeom>
              <a:avLst/>
              <a:gdLst/>
              <a:ahLst/>
              <a:cxnLst/>
              <a:rect l="l" t="t" r="r" b="b"/>
              <a:pathLst>
                <a:path w="130175" h="1270">
                  <a:moveTo>
                    <a:pt x="129643" y="0"/>
                  </a:moveTo>
                  <a:lnTo>
                    <a:pt x="0" y="1036"/>
                  </a:lnTo>
                </a:path>
              </a:pathLst>
            </a:custGeom>
            <a:ln w="62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8121406" y="5369223"/>
              <a:ext cx="130175" cy="1270"/>
            </a:xfrm>
            <a:custGeom>
              <a:avLst/>
              <a:gdLst/>
              <a:ahLst/>
              <a:cxnLst/>
              <a:rect l="l" t="t" r="r" b="b"/>
              <a:pathLst>
                <a:path w="130175" h="1270">
                  <a:moveTo>
                    <a:pt x="129643" y="0"/>
                  </a:moveTo>
                  <a:lnTo>
                    <a:pt x="0" y="1036"/>
                  </a:lnTo>
                </a:path>
              </a:pathLst>
            </a:custGeom>
            <a:ln w="62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179873" y="2587601"/>
              <a:ext cx="90805" cy="0"/>
            </a:xfrm>
            <a:custGeom>
              <a:avLst/>
              <a:gdLst/>
              <a:ahLst/>
              <a:cxnLst/>
              <a:rect l="l" t="t" r="r" b="b"/>
              <a:pathLst>
                <a:path w="90804">
                  <a:moveTo>
                    <a:pt x="0" y="0"/>
                  </a:moveTo>
                  <a:lnTo>
                    <a:pt x="90231" y="0"/>
                  </a:lnTo>
                </a:path>
              </a:pathLst>
            </a:custGeom>
            <a:ln w="62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5430013" y="5835765"/>
              <a:ext cx="2769235" cy="1270"/>
            </a:xfrm>
            <a:custGeom>
              <a:avLst/>
              <a:gdLst/>
              <a:ahLst/>
              <a:cxnLst/>
              <a:rect l="l" t="t" r="r" b="b"/>
              <a:pathLst>
                <a:path w="2769234" h="1270">
                  <a:moveTo>
                    <a:pt x="0" y="0"/>
                  </a:moveTo>
                  <a:lnTo>
                    <a:pt x="2769178" y="1036"/>
                  </a:lnTo>
                </a:path>
              </a:pathLst>
            </a:custGeom>
            <a:ln w="62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8194007" y="5623229"/>
              <a:ext cx="73025" cy="1270"/>
            </a:xfrm>
            <a:custGeom>
              <a:avLst/>
              <a:gdLst/>
              <a:ahLst/>
              <a:cxnLst/>
              <a:rect l="l" t="t" r="r" b="b"/>
              <a:pathLst>
                <a:path w="73025" h="1270">
                  <a:moveTo>
                    <a:pt x="72600" y="0"/>
                  </a:moveTo>
                  <a:lnTo>
                    <a:pt x="0" y="1036"/>
                  </a:lnTo>
                </a:path>
              </a:pathLst>
            </a:custGeom>
            <a:ln w="62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8194007" y="5623229"/>
              <a:ext cx="0" cy="207645"/>
            </a:xfrm>
            <a:custGeom>
              <a:avLst/>
              <a:gdLst/>
              <a:ahLst/>
              <a:cxnLst/>
              <a:rect l="l" t="t" r="r" b="b"/>
              <a:pathLst>
                <a:path h="207645">
                  <a:moveTo>
                    <a:pt x="0" y="0"/>
                  </a:moveTo>
                  <a:lnTo>
                    <a:pt x="0" y="207351"/>
                  </a:lnTo>
                </a:path>
              </a:pathLst>
            </a:custGeom>
            <a:ln w="62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7390220" y="5612862"/>
              <a:ext cx="73025" cy="1270"/>
            </a:xfrm>
            <a:custGeom>
              <a:avLst/>
              <a:gdLst/>
              <a:ahLst/>
              <a:cxnLst/>
              <a:rect l="l" t="t" r="r" b="b"/>
              <a:pathLst>
                <a:path w="73025" h="1270">
                  <a:moveTo>
                    <a:pt x="72600" y="0"/>
                  </a:moveTo>
                  <a:lnTo>
                    <a:pt x="0" y="1036"/>
                  </a:lnTo>
                </a:path>
              </a:pathLst>
            </a:custGeom>
            <a:ln w="62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7390220" y="5612862"/>
              <a:ext cx="0" cy="228600"/>
            </a:xfrm>
            <a:custGeom>
              <a:avLst/>
              <a:gdLst/>
              <a:ahLst/>
              <a:cxnLst/>
              <a:rect l="l" t="t" r="r" b="b"/>
              <a:pathLst>
                <a:path h="228600">
                  <a:moveTo>
                    <a:pt x="0" y="0"/>
                  </a:moveTo>
                  <a:lnTo>
                    <a:pt x="0" y="228086"/>
                  </a:lnTo>
                </a:path>
              </a:pathLst>
            </a:custGeom>
            <a:ln w="62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6601990" y="5607678"/>
              <a:ext cx="73025" cy="1270"/>
            </a:xfrm>
            <a:custGeom>
              <a:avLst/>
              <a:gdLst/>
              <a:ahLst/>
              <a:cxnLst/>
              <a:rect l="l" t="t" r="r" b="b"/>
              <a:pathLst>
                <a:path w="73025" h="1270">
                  <a:moveTo>
                    <a:pt x="72600" y="0"/>
                  </a:moveTo>
                  <a:lnTo>
                    <a:pt x="0" y="1036"/>
                  </a:lnTo>
                </a:path>
              </a:pathLst>
            </a:custGeom>
            <a:ln w="62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6601990" y="5607678"/>
              <a:ext cx="0" cy="228600"/>
            </a:xfrm>
            <a:custGeom>
              <a:avLst/>
              <a:gdLst/>
              <a:ahLst/>
              <a:cxnLst/>
              <a:rect l="l" t="t" r="r" b="b"/>
              <a:pathLst>
                <a:path h="228600">
                  <a:moveTo>
                    <a:pt x="0" y="0"/>
                  </a:moveTo>
                  <a:lnTo>
                    <a:pt x="0" y="228086"/>
                  </a:lnTo>
                </a:path>
              </a:pathLst>
            </a:custGeom>
            <a:ln w="62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5808574" y="5607678"/>
              <a:ext cx="73025" cy="1270"/>
            </a:xfrm>
            <a:custGeom>
              <a:avLst/>
              <a:gdLst/>
              <a:ahLst/>
              <a:cxnLst/>
              <a:rect l="l" t="t" r="r" b="b"/>
              <a:pathLst>
                <a:path w="73025" h="1270">
                  <a:moveTo>
                    <a:pt x="72600" y="0"/>
                  </a:moveTo>
                  <a:lnTo>
                    <a:pt x="0" y="1036"/>
                  </a:lnTo>
                </a:path>
              </a:pathLst>
            </a:custGeom>
            <a:ln w="62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5808575" y="5607678"/>
              <a:ext cx="0" cy="228600"/>
            </a:xfrm>
            <a:custGeom>
              <a:avLst/>
              <a:gdLst/>
              <a:ahLst/>
              <a:cxnLst/>
              <a:rect l="l" t="t" r="r" b="b"/>
              <a:pathLst>
                <a:path h="228600">
                  <a:moveTo>
                    <a:pt x="0" y="0"/>
                  </a:moveTo>
                  <a:lnTo>
                    <a:pt x="0" y="228086"/>
                  </a:lnTo>
                </a:path>
              </a:pathLst>
            </a:custGeom>
            <a:ln w="62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6270105" y="2587601"/>
              <a:ext cx="0" cy="3646804"/>
            </a:xfrm>
            <a:custGeom>
              <a:avLst/>
              <a:gdLst/>
              <a:ahLst/>
              <a:cxnLst/>
              <a:rect l="l" t="t" r="r" b="b"/>
              <a:pathLst>
                <a:path h="3646804">
                  <a:moveTo>
                    <a:pt x="0" y="0"/>
                  </a:moveTo>
                  <a:lnTo>
                    <a:pt x="0" y="3646278"/>
                  </a:lnTo>
                </a:path>
              </a:pathLst>
            </a:custGeom>
            <a:ln w="62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6975364" y="2608336"/>
              <a:ext cx="89535" cy="0"/>
            </a:xfrm>
            <a:custGeom>
              <a:avLst/>
              <a:gdLst/>
              <a:ahLst/>
              <a:cxnLst/>
              <a:rect l="l" t="t" r="r" b="b"/>
              <a:pathLst>
                <a:path w="89534">
                  <a:moveTo>
                    <a:pt x="0" y="0"/>
                  </a:moveTo>
                  <a:lnTo>
                    <a:pt x="89194" y="0"/>
                  </a:lnTo>
                </a:path>
              </a:pathLst>
            </a:custGeom>
            <a:ln w="62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7064559" y="2608336"/>
              <a:ext cx="0" cy="3625850"/>
            </a:xfrm>
            <a:custGeom>
              <a:avLst/>
              <a:gdLst/>
              <a:ahLst/>
              <a:cxnLst/>
              <a:rect l="l" t="t" r="r" b="b"/>
              <a:pathLst>
                <a:path h="3625850">
                  <a:moveTo>
                    <a:pt x="0" y="0"/>
                  </a:moveTo>
                  <a:lnTo>
                    <a:pt x="0" y="3625543"/>
                  </a:lnTo>
                </a:path>
              </a:pathLst>
            </a:custGeom>
            <a:ln w="62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7769819" y="2629072"/>
              <a:ext cx="90805" cy="0"/>
            </a:xfrm>
            <a:custGeom>
              <a:avLst/>
              <a:gdLst/>
              <a:ahLst/>
              <a:cxnLst/>
              <a:rect l="l" t="t" r="r" b="b"/>
              <a:pathLst>
                <a:path w="90804">
                  <a:moveTo>
                    <a:pt x="0" y="0"/>
                  </a:moveTo>
                  <a:lnTo>
                    <a:pt x="90231" y="0"/>
                  </a:lnTo>
                </a:path>
              </a:pathLst>
            </a:custGeom>
            <a:ln w="62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7860051" y="2629072"/>
              <a:ext cx="0" cy="3610610"/>
            </a:xfrm>
            <a:custGeom>
              <a:avLst/>
              <a:gdLst/>
              <a:ahLst/>
              <a:cxnLst/>
              <a:rect l="l" t="t" r="r" b="b"/>
              <a:pathLst>
                <a:path h="3610610">
                  <a:moveTo>
                    <a:pt x="0" y="0"/>
                  </a:moveTo>
                  <a:lnTo>
                    <a:pt x="0" y="3609991"/>
                  </a:lnTo>
                </a:path>
              </a:pathLst>
            </a:custGeom>
            <a:ln w="62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176766" y="3513426"/>
              <a:ext cx="93345" cy="1270"/>
            </a:xfrm>
            <a:custGeom>
              <a:avLst/>
              <a:gdLst/>
              <a:ahLst/>
              <a:cxnLst/>
              <a:rect l="l" t="t" r="r" b="b"/>
              <a:pathLst>
                <a:path w="93345" h="1270">
                  <a:moveTo>
                    <a:pt x="0" y="0"/>
                  </a:moveTo>
                  <a:lnTo>
                    <a:pt x="93343" y="1036"/>
                  </a:lnTo>
                </a:path>
              </a:pathLst>
            </a:custGeom>
            <a:ln w="62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975369" y="3508242"/>
              <a:ext cx="93345" cy="1270"/>
            </a:xfrm>
            <a:custGeom>
              <a:avLst/>
              <a:gdLst/>
              <a:ahLst/>
              <a:cxnLst/>
              <a:rect l="l" t="t" r="r" b="b"/>
              <a:pathLst>
                <a:path w="93345" h="1270">
                  <a:moveTo>
                    <a:pt x="0" y="0"/>
                  </a:moveTo>
                  <a:lnTo>
                    <a:pt x="93343" y="1036"/>
                  </a:lnTo>
                </a:path>
              </a:pathLst>
            </a:custGeom>
            <a:ln w="62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7773971" y="3503059"/>
              <a:ext cx="93345" cy="1270"/>
            </a:xfrm>
            <a:custGeom>
              <a:avLst/>
              <a:gdLst/>
              <a:ahLst/>
              <a:cxnLst/>
              <a:rect l="l" t="t" r="r" b="b"/>
              <a:pathLst>
                <a:path w="93345" h="1270">
                  <a:moveTo>
                    <a:pt x="0" y="0"/>
                  </a:moveTo>
                  <a:lnTo>
                    <a:pt x="93343" y="1036"/>
                  </a:lnTo>
                </a:path>
              </a:pathLst>
            </a:custGeom>
            <a:ln w="62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176768" y="4436141"/>
              <a:ext cx="93345" cy="1270"/>
            </a:xfrm>
            <a:custGeom>
              <a:avLst/>
              <a:gdLst/>
              <a:ahLst/>
              <a:cxnLst/>
              <a:rect l="l" t="t" r="r" b="b"/>
              <a:pathLst>
                <a:path w="93345" h="1270">
                  <a:moveTo>
                    <a:pt x="0" y="0"/>
                  </a:moveTo>
                  <a:lnTo>
                    <a:pt x="93343" y="1036"/>
                  </a:lnTo>
                </a:path>
              </a:pathLst>
            </a:custGeom>
            <a:ln w="62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975370" y="4430957"/>
              <a:ext cx="93345" cy="1270"/>
            </a:xfrm>
            <a:custGeom>
              <a:avLst/>
              <a:gdLst/>
              <a:ahLst/>
              <a:cxnLst/>
              <a:rect l="l" t="t" r="r" b="b"/>
              <a:pathLst>
                <a:path w="93345" h="1270">
                  <a:moveTo>
                    <a:pt x="0" y="0"/>
                  </a:moveTo>
                  <a:lnTo>
                    <a:pt x="93343" y="1036"/>
                  </a:lnTo>
                </a:path>
              </a:pathLst>
            </a:custGeom>
            <a:ln w="62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773973" y="4425774"/>
              <a:ext cx="93345" cy="1270"/>
            </a:xfrm>
            <a:custGeom>
              <a:avLst/>
              <a:gdLst/>
              <a:ahLst/>
              <a:cxnLst/>
              <a:rect l="l" t="t" r="r" b="b"/>
              <a:pathLst>
                <a:path w="93345" h="1270">
                  <a:moveTo>
                    <a:pt x="0" y="0"/>
                  </a:moveTo>
                  <a:lnTo>
                    <a:pt x="93343" y="1036"/>
                  </a:lnTo>
                </a:path>
              </a:pathLst>
            </a:custGeom>
            <a:ln w="62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6176769" y="5358856"/>
              <a:ext cx="93345" cy="1270"/>
            </a:xfrm>
            <a:custGeom>
              <a:avLst/>
              <a:gdLst/>
              <a:ahLst/>
              <a:cxnLst/>
              <a:rect l="l" t="t" r="r" b="b"/>
              <a:pathLst>
                <a:path w="93345" h="1270">
                  <a:moveTo>
                    <a:pt x="0" y="0"/>
                  </a:moveTo>
                  <a:lnTo>
                    <a:pt x="93343" y="1036"/>
                  </a:lnTo>
                </a:path>
              </a:pathLst>
            </a:custGeom>
            <a:ln w="62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6975372" y="5353672"/>
              <a:ext cx="93345" cy="1270"/>
            </a:xfrm>
            <a:custGeom>
              <a:avLst/>
              <a:gdLst/>
              <a:ahLst/>
              <a:cxnLst/>
              <a:rect l="l" t="t" r="r" b="b"/>
              <a:pathLst>
                <a:path w="93345" h="1270">
                  <a:moveTo>
                    <a:pt x="0" y="0"/>
                  </a:moveTo>
                  <a:lnTo>
                    <a:pt x="93343" y="1036"/>
                  </a:lnTo>
                </a:path>
              </a:pathLst>
            </a:custGeom>
            <a:ln w="62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7773974" y="5348488"/>
              <a:ext cx="93345" cy="1270"/>
            </a:xfrm>
            <a:custGeom>
              <a:avLst/>
              <a:gdLst/>
              <a:ahLst/>
              <a:cxnLst/>
              <a:rect l="l" t="t" r="r" b="b"/>
              <a:pathLst>
                <a:path w="93345" h="1270">
                  <a:moveTo>
                    <a:pt x="0" y="0"/>
                  </a:moveTo>
                  <a:lnTo>
                    <a:pt x="93343" y="1036"/>
                  </a:lnTo>
                </a:path>
              </a:pathLst>
            </a:custGeom>
            <a:ln w="62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6264922" y="6369695"/>
              <a:ext cx="0" cy="248920"/>
            </a:xfrm>
            <a:custGeom>
              <a:avLst/>
              <a:gdLst/>
              <a:ahLst/>
              <a:cxnLst/>
              <a:rect l="l" t="t" r="r" b="b"/>
              <a:pathLst>
                <a:path h="248920">
                  <a:moveTo>
                    <a:pt x="0" y="0"/>
                  </a:moveTo>
                  <a:lnTo>
                    <a:pt x="0" y="248821"/>
                  </a:lnTo>
                </a:path>
              </a:pathLst>
            </a:custGeom>
            <a:ln w="62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6181957" y="6229733"/>
              <a:ext cx="171450" cy="140335"/>
            </a:xfrm>
            <a:custGeom>
              <a:avLst/>
              <a:gdLst/>
              <a:ahLst/>
              <a:cxnLst/>
              <a:rect l="l" t="t" r="r" b="b"/>
              <a:pathLst>
                <a:path w="171450" h="140335">
                  <a:moveTo>
                    <a:pt x="85045" y="139962"/>
                  </a:moveTo>
                  <a:lnTo>
                    <a:pt x="0" y="0"/>
                  </a:lnTo>
                  <a:lnTo>
                    <a:pt x="171129" y="0"/>
                  </a:lnTo>
                  <a:lnTo>
                    <a:pt x="85045" y="13996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6181957" y="6229733"/>
              <a:ext cx="171450" cy="140335"/>
            </a:xfrm>
            <a:custGeom>
              <a:avLst/>
              <a:gdLst/>
              <a:ahLst/>
              <a:cxnLst/>
              <a:rect l="l" t="t" r="r" b="b"/>
              <a:pathLst>
                <a:path w="171450" h="140335">
                  <a:moveTo>
                    <a:pt x="85045" y="139962"/>
                  </a:moveTo>
                  <a:lnTo>
                    <a:pt x="0" y="0"/>
                  </a:lnTo>
                  <a:lnTo>
                    <a:pt x="171129" y="0"/>
                  </a:lnTo>
                  <a:lnTo>
                    <a:pt x="85045" y="139962"/>
                  </a:lnTo>
                  <a:close/>
                </a:path>
              </a:pathLst>
            </a:custGeom>
            <a:ln w="62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7064562" y="6382136"/>
              <a:ext cx="0" cy="248920"/>
            </a:xfrm>
            <a:custGeom>
              <a:avLst/>
              <a:gdLst/>
              <a:ahLst/>
              <a:cxnLst/>
              <a:rect l="l" t="t" r="r" b="b"/>
              <a:pathLst>
                <a:path h="248920">
                  <a:moveTo>
                    <a:pt x="0" y="0"/>
                  </a:moveTo>
                  <a:lnTo>
                    <a:pt x="0" y="248821"/>
                  </a:lnTo>
                </a:path>
              </a:pathLst>
            </a:custGeom>
            <a:ln w="62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6980559" y="6234917"/>
              <a:ext cx="171450" cy="140335"/>
            </a:xfrm>
            <a:custGeom>
              <a:avLst/>
              <a:gdLst/>
              <a:ahLst/>
              <a:cxnLst/>
              <a:rect l="l" t="t" r="r" b="b"/>
              <a:pathLst>
                <a:path w="171450" h="140335">
                  <a:moveTo>
                    <a:pt x="85045" y="139962"/>
                  </a:moveTo>
                  <a:lnTo>
                    <a:pt x="0" y="0"/>
                  </a:lnTo>
                  <a:lnTo>
                    <a:pt x="171129" y="0"/>
                  </a:lnTo>
                  <a:lnTo>
                    <a:pt x="85045" y="13996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6980559" y="6234917"/>
              <a:ext cx="171450" cy="140335"/>
            </a:xfrm>
            <a:custGeom>
              <a:avLst/>
              <a:gdLst/>
              <a:ahLst/>
              <a:cxnLst/>
              <a:rect l="l" t="t" r="r" b="b"/>
              <a:pathLst>
                <a:path w="171450" h="140335">
                  <a:moveTo>
                    <a:pt x="85045" y="139962"/>
                  </a:moveTo>
                  <a:lnTo>
                    <a:pt x="0" y="0"/>
                  </a:lnTo>
                  <a:lnTo>
                    <a:pt x="171129" y="0"/>
                  </a:lnTo>
                  <a:lnTo>
                    <a:pt x="85045" y="139962"/>
                  </a:lnTo>
                  <a:close/>
                </a:path>
              </a:pathLst>
            </a:custGeom>
            <a:ln w="62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7860053" y="6385246"/>
              <a:ext cx="0" cy="248920"/>
            </a:xfrm>
            <a:custGeom>
              <a:avLst/>
              <a:gdLst/>
              <a:ahLst/>
              <a:cxnLst/>
              <a:rect l="l" t="t" r="r" b="b"/>
              <a:pathLst>
                <a:path h="248920">
                  <a:moveTo>
                    <a:pt x="0" y="0"/>
                  </a:moveTo>
                  <a:lnTo>
                    <a:pt x="0" y="248821"/>
                  </a:lnTo>
                </a:path>
              </a:pathLst>
            </a:custGeom>
            <a:ln w="62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7779161" y="6240099"/>
              <a:ext cx="171450" cy="140335"/>
            </a:xfrm>
            <a:custGeom>
              <a:avLst/>
              <a:gdLst/>
              <a:ahLst/>
              <a:cxnLst/>
              <a:rect l="l" t="t" r="r" b="b"/>
              <a:pathLst>
                <a:path w="171450" h="140335">
                  <a:moveTo>
                    <a:pt x="85046" y="139962"/>
                  </a:moveTo>
                  <a:lnTo>
                    <a:pt x="0" y="0"/>
                  </a:lnTo>
                  <a:lnTo>
                    <a:pt x="171130" y="0"/>
                  </a:lnTo>
                  <a:lnTo>
                    <a:pt x="85046" y="13996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7779161" y="6240100"/>
              <a:ext cx="171450" cy="140335"/>
            </a:xfrm>
            <a:custGeom>
              <a:avLst/>
              <a:gdLst/>
              <a:ahLst/>
              <a:cxnLst/>
              <a:rect l="l" t="t" r="r" b="b"/>
              <a:pathLst>
                <a:path w="171450" h="140335">
                  <a:moveTo>
                    <a:pt x="85045" y="139962"/>
                  </a:moveTo>
                  <a:lnTo>
                    <a:pt x="0" y="0"/>
                  </a:lnTo>
                  <a:lnTo>
                    <a:pt x="171129" y="0"/>
                  </a:lnTo>
                  <a:lnTo>
                    <a:pt x="85045" y="139962"/>
                  </a:lnTo>
                  <a:close/>
                </a:path>
              </a:pathLst>
            </a:custGeom>
            <a:ln w="62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8565310" y="2649807"/>
              <a:ext cx="90805" cy="0"/>
            </a:xfrm>
            <a:custGeom>
              <a:avLst/>
              <a:gdLst/>
              <a:ahLst/>
              <a:cxnLst/>
              <a:rect l="l" t="t" r="r" b="b"/>
              <a:pathLst>
                <a:path w="90804">
                  <a:moveTo>
                    <a:pt x="0" y="0"/>
                  </a:moveTo>
                  <a:lnTo>
                    <a:pt x="90231" y="0"/>
                  </a:lnTo>
                </a:path>
              </a:pathLst>
            </a:custGeom>
            <a:ln w="62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8655542" y="2649807"/>
              <a:ext cx="0" cy="3594735"/>
            </a:xfrm>
            <a:custGeom>
              <a:avLst/>
              <a:gdLst/>
              <a:ahLst/>
              <a:cxnLst/>
              <a:rect l="l" t="t" r="r" b="b"/>
              <a:pathLst>
                <a:path h="3594735">
                  <a:moveTo>
                    <a:pt x="0" y="0"/>
                  </a:moveTo>
                  <a:lnTo>
                    <a:pt x="0" y="3594440"/>
                  </a:lnTo>
                </a:path>
              </a:pathLst>
            </a:custGeom>
            <a:ln w="62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8557016" y="3513426"/>
              <a:ext cx="93345" cy="1270"/>
            </a:xfrm>
            <a:custGeom>
              <a:avLst/>
              <a:gdLst/>
              <a:ahLst/>
              <a:cxnLst/>
              <a:rect l="l" t="t" r="r" b="b"/>
              <a:pathLst>
                <a:path w="93345" h="1270">
                  <a:moveTo>
                    <a:pt x="0" y="0"/>
                  </a:moveTo>
                  <a:lnTo>
                    <a:pt x="93343" y="1036"/>
                  </a:lnTo>
                </a:path>
              </a:pathLst>
            </a:custGeom>
            <a:ln w="62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8557018" y="4436141"/>
              <a:ext cx="93345" cy="1270"/>
            </a:xfrm>
            <a:custGeom>
              <a:avLst/>
              <a:gdLst/>
              <a:ahLst/>
              <a:cxnLst/>
              <a:rect l="l" t="t" r="r" b="b"/>
              <a:pathLst>
                <a:path w="93345" h="1270">
                  <a:moveTo>
                    <a:pt x="0" y="0"/>
                  </a:moveTo>
                  <a:lnTo>
                    <a:pt x="93343" y="1036"/>
                  </a:lnTo>
                </a:path>
              </a:pathLst>
            </a:custGeom>
            <a:ln w="62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8557019" y="5358856"/>
              <a:ext cx="93345" cy="1270"/>
            </a:xfrm>
            <a:custGeom>
              <a:avLst/>
              <a:gdLst/>
              <a:ahLst/>
              <a:cxnLst/>
              <a:rect l="l" t="t" r="r" b="b"/>
              <a:pathLst>
                <a:path w="93345" h="1270">
                  <a:moveTo>
                    <a:pt x="0" y="0"/>
                  </a:moveTo>
                  <a:lnTo>
                    <a:pt x="93343" y="1036"/>
                  </a:lnTo>
                </a:path>
              </a:pathLst>
            </a:custGeom>
            <a:ln w="62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8650358" y="6395614"/>
              <a:ext cx="0" cy="248920"/>
            </a:xfrm>
            <a:custGeom>
              <a:avLst/>
              <a:gdLst/>
              <a:ahLst/>
              <a:cxnLst/>
              <a:rect l="l" t="t" r="r" b="b"/>
              <a:pathLst>
                <a:path h="248920">
                  <a:moveTo>
                    <a:pt x="0" y="0"/>
                  </a:moveTo>
                  <a:lnTo>
                    <a:pt x="0" y="248821"/>
                  </a:lnTo>
                </a:path>
              </a:pathLst>
            </a:custGeom>
            <a:ln w="62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8567391" y="6245283"/>
              <a:ext cx="171450" cy="140335"/>
            </a:xfrm>
            <a:custGeom>
              <a:avLst/>
              <a:gdLst/>
              <a:ahLst/>
              <a:cxnLst/>
              <a:rect l="l" t="t" r="r" b="b"/>
              <a:pathLst>
                <a:path w="171450" h="140335">
                  <a:moveTo>
                    <a:pt x="85046" y="139962"/>
                  </a:moveTo>
                  <a:lnTo>
                    <a:pt x="0" y="0"/>
                  </a:lnTo>
                  <a:lnTo>
                    <a:pt x="171130" y="0"/>
                  </a:lnTo>
                  <a:lnTo>
                    <a:pt x="85046" y="13996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8567392" y="6245284"/>
              <a:ext cx="171450" cy="140335"/>
            </a:xfrm>
            <a:custGeom>
              <a:avLst/>
              <a:gdLst/>
              <a:ahLst/>
              <a:cxnLst/>
              <a:rect l="l" t="t" r="r" b="b"/>
              <a:pathLst>
                <a:path w="171450" h="140335">
                  <a:moveTo>
                    <a:pt x="85045" y="139962"/>
                  </a:moveTo>
                  <a:lnTo>
                    <a:pt x="0" y="0"/>
                  </a:lnTo>
                  <a:lnTo>
                    <a:pt x="171129" y="0"/>
                  </a:lnTo>
                  <a:lnTo>
                    <a:pt x="85045" y="139962"/>
                  </a:lnTo>
                  <a:close/>
                </a:path>
              </a:pathLst>
            </a:custGeom>
            <a:ln w="62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4" name="object 124"/>
          <p:cNvSpPr txBox="1"/>
          <p:nvPr/>
        </p:nvSpPr>
        <p:spPr>
          <a:xfrm>
            <a:off x="5697113" y="1905373"/>
            <a:ext cx="112395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75" spc="30" baseline="4273" dirty="0">
                <a:latin typeface="Arial MT"/>
                <a:cs typeface="Arial MT"/>
              </a:rPr>
              <a:t>D</a:t>
            </a:r>
            <a:r>
              <a:rPr sz="350" spc="-5" dirty="0">
                <a:latin typeface="Arial MT"/>
                <a:cs typeface="Arial MT"/>
              </a:rPr>
              <a:t>0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6490494" y="1910556"/>
            <a:ext cx="112395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75" spc="30" baseline="4273" dirty="0">
                <a:latin typeface="Arial MT"/>
                <a:cs typeface="Arial MT"/>
              </a:rPr>
              <a:t>D</a:t>
            </a:r>
            <a:r>
              <a:rPr sz="350" spc="-5" dirty="0">
                <a:latin typeface="Arial MT"/>
                <a:cs typeface="Arial MT"/>
              </a:rPr>
              <a:t>1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7283877" y="1915740"/>
            <a:ext cx="112395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75" spc="30" baseline="4273" dirty="0">
                <a:latin typeface="Arial MT"/>
                <a:cs typeface="Arial MT"/>
              </a:rPr>
              <a:t>D</a:t>
            </a:r>
            <a:r>
              <a:rPr sz="350" spc="-5" dirty="0">
                <a:latin typeface="Arial MT"/>
                <a:cs typeface="Arial MT"/>
              </a:rPr>
              <a:t>2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8077259" y="1920923"/>
            <a:ext cx="112395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75" spc="30" baseline="4273" dirty="0">
                <a:latin typeface="Arial MT"/>
                <a:cs typeface="Arial MT"/>
              </a:rPr>
              <a:t>D</a:t>
            </a:r>
            <a:r>
              <a:rPr sz="350" spc="-5" dirty="0">
                <a:latin typeface="Arial MT"/>
                <a:cs typeface="Arial MT"/>
              </a:rPr>
              <a:t>3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6200106" y="6689800"/>
            <a:ext cx="112395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75" spc="30" baseline="4273" dirty="0">
                <a:latin typeface="Arial MT"/>
                <a:cs typeface="Arial MT"/>
              </a:rPr>
              <a:t>D</a:t>
            </a:r>
            <a:r>
              <a:rPr sz="350" spc="-5" dirty="0">
                <a:latin typeface="Arial MT"/>
                <a:cs typeface="Arial MT"/>
              </a:rPr>
              <a:t>0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6993490" y="6694985"/>
            <a:ext cx="112395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75" spc="30" baseline="4273" dirty="0">
                <a:latin typeface="Arial MT"/>
                <a:cs typeface="Arial MT"/>
              </a:rPr>
              <a:t>D</a:t>
            </a:r>
            <a:r>
              <a:rPr sz="350" spc="-5" dirty="0">
                <a:latin typeface="Arial MT"/>
                <a:cs typeface="Arial MT"/>
              </a:rPr>
              <a:t>1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7786871" y="6700168"/>
            <a:ext cx="112395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75" spc="30" baseline="4273" dirty="0">
                <a:latin typeface="Arial MT"/>
                <a:cs typeface="Arial MT"/>
              </a:rPr>
              <a:t>D</a:t>
            </a:r>
            <a:r>
              <a:rPr sz="350" spc="-5" dirty="0">
                <a:latin typeface="Arial MT"/>
                <a:cs typeface="Arial MT"/>
              </a:rPr>
              <a:t>2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8580253" y="6705352"/>
            <a:ext cx="112395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75" spc="30" baseline="4273" dirty="0">
                <a:latin typeface="Arial MT"/>
                <a:cs typeface="Arial MT"/>
              </a:rPr>
              <a:t>D</a:t>
            </a:r>
            <a:r>
              <a:rPr sz="350" spc="-5" dirty="0">
                <a:latin typeface="Arial MT"/>
                <a:cs typeface="Arial MT"/>
              </a:rPr>
              <a:t>3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7924113" y="2185285"/>
            <a:ext cx="170180" cy="1187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   </a:t>
            </a:r>
            <a:r>
              <a:rPr sz="600" u="sng" spc="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600" spc="5" dirty="0">
                <a:latin typeface="Arial MT"/>
                <a:cs typeface="Arial MT"/>
              </a:rPr>
              <a:t>o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7132768" y="2176992"/>
            <a:ext cx="173355" cy="1187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   </a:t>
            </a:r>
            <a:r>
              <a:rPr sz="600" u="sng" spc="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600" spc="5" dirty="0">
                <a:latin typeface="Arial MT"/>
                <a:cs typeface="Arial MT"/>
              </a:rPr>
              <a:t>o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6342466" y="2169735"/>
            <a:ext cx="175260" cy="1187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   </a:t>
            </a:r>
            <a:r>
              <a:rPr sz="600" u="sng" spc="6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600" spc="5" dirty="0">
                <a:latin typeface="Arial MT"/>
                <a:cs typeface="Arial MT"/>
              </a:rPr>
              <a:t>o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35" name="object 135"/>
          <p:cNvSpPr txBox="1"/>
          <p:nvPr/>
        </p:nvSpPr>
        <p:spPr>
          <a:xfrm>
            <a:off x="5660814" y="2161441"/>
            <a:ext cx="69215" cy="1187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00" spc="5" dirty="0">
                <a:latin typeface="Arial MT"/>
                <a:cs typeface="Arial MT"/>
              </a:rPr>
              <a:t>o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36" name="object 136"/>
          <p:cNvGrpSpPr/>
          <p:nvPr/>
        </p:nvGrpSpPr>
        <p:grpSpPr>
          <a:xfrm>
            <a:off x="5271282" y="2229855"/>
            <a:ext cx="2672080" cy="177800"/>
            <a:chOff x="5271282" y="2229855"/>
            <a:chExt cx="2672080" cy="177800"/>
          </a:xfrm>
        </p:grpSpPr>
        <p:sp>
          <p:nvSpPr>
            <p:cNvPr id="137" name="object 137"/>
            <p:cNvSpPr/>
            <p:nvPr/>
          </p:nvSpPr>
          <p:spPr>
            <a:xfrm>
              <a:off x="5572117" y="2233030"/>
              <a:ext cx="102235" cy="1270"/>
            </a:xfrm>
            <a:custGeom>
              <a:avLst/>
              <a:gdLst/>
              <a:ahLst/>
              <a:cxnLst/>
              <a:rect l="l" t="t" r="r" b="b"/>
              <a:pathLst>
                <a:path w="102235" h="1269">
                  <a:moveTo>
                    <a:pt x="101640" y="0"/>
                  </a:moveTo>
                  <a:lnTo>
                    <a:pt x="0" y="1036"/>
                  </a:lnTo>
                </a:path>
              </a:pathLst>
            </a:custGeom>
            <a:ln w="62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5274457" y="2393728"/>
              <a:ext cx="2665730" cy="1270"/>
            </a:xfrm>
            <a:custGeom>
              <a:avLst/>
              <a:gdLst/>
              <a:ahLst/>
              <a:cxnLst/>
              <a:rect l="l" t="t" r="r" b="b"/>
              <a:pathLst>
                <a:path w="2665729" h="1269">
                  <a:moveTo>
                    <a:pt x="2665463" y="0"/>
                  </a:moveTo>
                  <a:lnTo>
                    <a:pt x="0" y="1036"/>
                  </a:lnTo>
                </a:path>
              </a:pathLst>
            </a:custGeom>
            <a:ln w="62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5575229" y="2238214"/>
              <a:ext cx="0" cy="155575"/>
            </a:xfrm>
            <a:custGeom>
              <a:avLst/>
              <a:gdLst/>
              <a:ahLst/>
              <a:cxnLst/>
              <a:rect l="l" t="t" r="r" b="b"/>
              <a:pathLst>
                <a:path h="155575">
                  <a:moveTo>
                    <a:pt x="0" y="0"/>
                  </a:moveTo>
                  <a:lnTo>
                    <a:pt x="0" y="155513"/>
                  </a:lnTo>
                </a:path>
              </a:pathLst>
            </a:custGeom>
            <a:ln w="62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6358274" y="2248581"/>
              <a:ext cx="0" cy="155575"/>
            </a:xfrm>
            <a:custGeom>
              <a:avLst/>
              <a:gdLst/>
              <a:ahLst/>
              <a:cxnLst/>
              <a:rect l="l" t="t" r="r" b="b"/>
              <a:pathLst>
                <a:path h="155575">
                  <a:moveTo>
                    <a:pt x="0" y="0"/>
                  </a:moveTo>
                  <a:lnTo>
                    <a:pt x="0" y="155513"/>
                  </a:lnTo>
                </a:path>
              </a:pathLst>
            </a:custGeom>
            <a:ln w="62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7156877" y="2248581"/>
              <a:ext cx="0" cy="155575"/>
            </a:xfrm>
            <a:custGeom>
              <a:avLst/>
              <a:gdLst/>
              <a:ahLst/>
              <a:cxnLst/>
              <a:rect l="l" t="t" r="r" b="b"/>
              <a:pathLst>
                <a:path h="155575">
                  <a:moveTo>
                    <a:pt x="0" y="0"/>
                  </a:moveTo>
                  <a:lnTo>
                    <a:pt x="0" y="155513"/>
                  </a:lnTo>
                </a:path>
              </a:pathLst>
            </a:custGeom>
            <a:ln w="62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7939922" y="2258949"/>
              <a:ext cx="0" cy="135255"/>
            </a:xfrm>
            <a:custGeom>
              <a:avLst/>
              <a:gdLst/>
              <a:ahLst/>
              <a:cxnLst/>
              <a:rect l="l" t="t" r="r" b="b"/>
              <a:pathLst>
                <a:path h="135255">
                  <a:moveTo>
                    <a:pt x="0" y="0"/>
                  </a:moveTo>
                  <a:lnTo>
                    <a:pt x="0" y="134778"/>
                  </a:lnTo>
                </a:path>
              </a:pathLst>
            </a:custGeom>
            <a:ln w="62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3" name="object 143"/>
          <p:cNvSpPr txBox="1"/>
          <p:nvPr/>
        </p:nvSpPr>
        <p:spPr>
          <a:xfrm>
            <a:off x="8559515" y="6249198"/>
            <a:ext cx="69215" cy="1187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00" spc="5" dirty="0">
                <a:latin typeface="Arial MT"/>
                <a:cs typeface="Arial MT"/>
              </a:rPr>
              <a:t>o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4" name="object 144"/>
          <p:cNvSpPr txBox="1"/>
          <p:nvPr/>
        </p:nvSpPr>
        <p:spPr>
          <a:xfrm>
            <a:off x="7771317" y="6240905"/>
            <a:ext cx="69215" cy="1187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00" spc="5" dirty="0">
                <a:latin typeface="Arial MT"/>
                <a:cs typeface="Arial MT"/>
              </a:rPr>
              <a:t>o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5" name="object 145"/>
          <p:cNvSpPr/>
          <p:nvPr/>
        </p:nvSpPr>
        <p:spPr>
          <a:xfrm>
            <a:off x="7682711" y="6312673"/>
            <a:ext cx="102235" cy="1270"/>
          </a:xfrm>
          <a:custGeom>
            <a:avLst/>
            <a:gdLst/>
            <a:ahLst/>
            <a:cxnLst/>
            <a:rect l="l" t="t" r="r" b="b"/>
            <a:pathLst>
              <a:path w="102234" h="1270">
                <a:moveTo>
                  <a:pt x="101640" y="0"/>
                </a:moveTo>
                <a:lnTo>
                  <a:pt x="0" y="1036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 txBox="1"/>
          <p:nvPr/>
        </p:nvSpPr>
        <p:spPr>
          <a:xfrm>
            <a:off x="6972751" y="6238831"/>
            <a:ext cx="69215" cy="1187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00" spc="5" dirty="0">
                <a:latin typeface="Arial MT"/>
                <a:cs typeface="Arial MT"/>
              </a:rPr>
              <a:t>o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7" name="object 147"/>
          <p:cNvSpPr txBox="1"/>
          <p:nvPr/>
        </p:nvSpPr>
        <p:spPr>
          <a:xfrm>
            <a:off x="6174182" y="6230538"/>
            <a:ext cx="69215" cy="1187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00" spc="5" dirty="0">
                <a:latin typeface="Arial MT"/>
                <a:cs typeface="Arial MT"/>
              </a:rPr>
              <a:t>o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48" name="object 148"/>
          <p:cNvGrpSpPr/>
          <p:nvPr/>
        </p:nvGrpSpPr>
        <p:grpSpPr>
          <a:xfrm>
            <a:off x="5805415" y="6299131"/>
            <a:ext cx="2775585" cy="177800"/>
            <a:chOff x="5805415" y="6299131"/>
            <a:chExt cx="2775585" cy="177800"/>
          </a:xfrm>
        </p:grpSpPr>
        <p:sp>
          <p:nvSpPr>
            <p:cNvPr id="149" name="object 149"/>
            <p:cNvSpPr/>
            <p:nvPr/>
          </p:nvSpPr>
          <p:spPr>
            <a:xfrm>
              <a:off x="6085508" y="6302306"/>
              <a:ext cx="102235" cy="1270"/>
            </a:xfrm>
            <a:custGeom>
              <a:avLst/>
              <a:gdLst/>
              <a:ahLst/>
              <a:cxnLst/>
              <a:rect l="l" t="t" r="r" b="b"/>
              <a:pathLst>
                <a:path w="102235" h="1270">
                  <a:moveTo>
                    <a:pt x="101640" y="0"/>
                  </a:moveTo>
                  <a:lnTo>
                    <a:pt x="0" y="1036"/>
                  </a:lnTo>
                </a:path>
              </a:pathLst>
            </a:custGeom>
            <a:ln w="62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5808590" y="6457820"/>
              <a:ext cx="2665730" cy="1270"/>
            </a:xfrm>
            <a:custGeom>
              <a:avLst/>
              <a:gdLst/>
              <a:ahLst/>
              <a:cxnLst/>
              <a:rect l="l" t="t" r="r" b="b"/>
              <a:pathLst>
                <a:path w="2665729" h="1270">
                  <a:moveTo>
                    <a:pt x="2665463" y="0"/>
                  </a:moveTo>
                  <a:lnTo>
                    <a:pt x="0" y="1036"/>
                  </a:lnTo>
                </a:path>
              </a:pathLst>
            </a:custGeom>
            <a:ln w="62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6088620" y="6307490"/>
              <a:ext cx="0" cy="155575"/>
            </a:xfrm>
            <a:custGeom>
              <a:avLst/>
              <a:gdLst/>
              <a:ahLst/>
              <a:cxnLst/>
              <a:rect l="l" t="t" r="r" b="b"/>
              <a:pathLst>
                <a:path h="155575">
                  <a:moveTo>
                    <a:pt x="0" y="0"/>
                  </a:moveTo>
                  <a:lnTo>
                    <a:pt x="0" y="155513"/>
                  </a:lnTo>
                </a:path>
              </a:pathLst>
            </a:custGeom>
            <a:ln w="62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6882037" y="6317857"/>
              <a:ext cx="0" cy="155575"/>
            </a:xfrm>
            <a:custGeom>
              <a:avLst/>
              <a:gdLst/>
              <a:ahLst/>
              <a:cxnLst/>
              <a:rect l="l" t="t" r="r" b="b"/>
              <a:pathLst>
                <a:path h="155575">
                  <a:moveTo>
                    <a:pt x="0" y="0"/>
                  </a:moveTo>
                  <a:lnTo>
                    <a:pt x="0" y="155513"/>
                  </a:lnTo>
                </a:path>
              </a:pathLst>
            </a:custGeom>
            <a:ln w="62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7691011" y="6312673"/>
              <a:ext cx="0" cy="155575"/>
            </a:xfrm>
            <a:custGeom>
              <a:avLst/>
              <a:gdLst/>
              <a:ahLst/>
              <a:cxnLst/>
              <a:rect l="l" t="t" r="r" b="b"/>
              <a:pathLst>
                <a:path h="155575">
                  <a:moveTo>
                    <a:pt x="0" y="0"/>
                  </a:moveTo>
                  <a:lnTo>
                    <a:pt x="0" y="155513"/>
                  </a:lnTo>
                </a:path>
              </a:pathLst>
            </a:custGeom>
            <a:ln w="62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8474056" y="6323041"/>
              <a:ext cx="0" cy="135255"/>
            </a:xfrm>
            <a:custGeom>
              <a:avLst/>
              <a:gdLst/>
              <a:ahLst/>
              <a:cxnLst/>
              <a:rect l="l" t="t" r="r" b="b"/>
              <a:pathLst>
                <a:path h="135254">
                  <a:moveTo>
                    <a:pt x="0" y="0"/>
                  </a:moveTo>
                  <a:lnTo>
                    <a:pt x="0" y="134778"/>
                  </a:lnTo>
                </a:path>
              </a:pathLst>
            </a:custGeom>
            <a:ln w="62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8474056" y="6323041"/>
              <a:ext cx="104139" cy="1270"/>
            </a:xfrm>
            <a:custGeom>
              <a:avLst/>
              <a:gdLst/>
              <a:ahLst/>
              <a:cxnLst/>
              <a:rect l="l" t="t" r="r" b="b"/>
              <a:pathLst>
                <a:path w="104140" h="1270">
                  <a:moveTo>
                    <a:pt x="103714" y="0"/>
                  </a:moveTo>
                  <a:lnTo>
                    <a:pt x="0" y="1036"/>
                  </a:lnTo>
                </a:path>
              </a:pathLst>
            </a:custGeom>
            <a:ln w="62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6882038" y="6312673"/>
              <a:ext cx="109220" cy="1270"/>
            </a:xfrm>
            <a:custGeom>
              <a:avLst/>
              <a:gdLst/>
              <a:ahLst/>
              <a:cxnLst/>
              <a:rect l="l" t="t" r="r" b="b"/>
              <a:pathLst>
                <a:path w="109220" h="1270">
                  <a:moveTo>
                    <a:pt x="0" y="0"/>
                  </a:moveTo>
                  <a:lnTo>
                    <a:pt x="108900" y="1036"/>
                  </a:lnTo>
                </a:path>
              </a:pathLst>
            </a:custGeom>
            <a:ln w="62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7" name="object 157"/>
          <p:cNvSpPr txBox="1"/>
          <p:nvPr/>
        </p:nvSpPr>
        <p:spPr>
          <a:xfrm>
            <a:off x="5694254" y="6230538"/>
            <a:ext cx="187325" cy="1187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73990" algn="l"/>
              </a:tabLst>
            </a:pPr>
            <a:r>
              <a:rPr sz="6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	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8" name="object 158"/>
          <p:cNvSpPr txBox="1"/>
          <p:nvPr/>
        </p:nvSpPr>
        <p:spPr>
          <a:xfrm>
            <a:off x="5220053" y="2234011"/>
            <a:ext cx="174625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40" dirty="0">
                <a:latin typeface="Arial MT"/>
                <a:cs typeface="Arial MT"/>
              </a:rPr>
              <a:t>WR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159" name="object 159"/>
          <p:cNvSpPr/>
          <p:nvPr/>
        </p:nvSpPr>
        <p:spPr>
          <a:xfrm>
            <a:off x="5227792" y="2222662"/>
            <a:ext cx="155575" cy="1270"/>
          </a:xfrm>
          <a:custGeom>
            <a:avLst/>
            <a:gdLst/>
            <a:ahLst/>
            <a:cxnLst/>
            <a:rect l="l" t="t" r="r" b="b"/>
            <a:pathLst>
              <a:path w="155575" h="1269">
                <a:moveTo>
                  <a:pt x="0" y="0"/>
                </a:moveTo>
                <a:lnTo>
                  <a:pt x="155571" y="1036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60"/>
          <p:cNvSpPr txBox="1"/>
          <p:nvPr/>
        </p:nvSpPr>
        <p:spPr>
          <a:xfrm>
            <a:off x="5702306" y="6323841"/>
            <a:ext cx="150495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20" dirty="0">
                <a:latin typeface="Arial MT"/>
                <a:cs typeface="Arial MT"/>
              </a:rPr>
              <a:t>RD</a:t>
            </a:r>
            <a:endParaRPr sz="6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6350" y="0"/>
            <a:ext cx="9156700" cy="6870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515938" cy="68579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64540" y="1010665"/>
            <a:ext cx="614362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65" dirty="0">
                <a:solidFill>
                  <a:srgbClr val="FFFFCC"/>
                </a:solidFill>
                <a:latin typeface="Arial MT"/>
                <a:cs typeface="Arial MT"/>
              </a:rPr>
              <a:t>Ex</a:t>
            </a:r>
            <a:r>
              <a:rPr spc="-335" dirty="0">
                <a:solidFill>
                  <a:srgbClr val="FFFFCC"/>
                </a:solidFill>
                <a:latin typeface="Arial MT"/>
                <a:cs typeface="Arial MT"/>
              </a:rPr>
              <a:t>ternal</a:t>
            </a:r>
            <a:r>
              <a:rPr spc="-180" dirty="0">
                <a:solidFill>
                  <a:srgbClr val="FFFFCC"/>
                </a:solidFill>
                <a:latin typeface="Arial MT"/>
                <a:cs typeface="Arial MT"/>
              </a:rPr>
              <a:t>l</a:t>
            </a:r>
            <a:r>
              <a:rPr spc="-400" dirty="0">
                <a:solidFill>
                  <a:srgbClr val="FFFFCC"/>
                </a:solidFill>
                <a:latin typeface="Arial MT"/>
                <a:cs typeface="Arial MT"/>
              </a:rPr>
              <a:t>y</a:t>
            </a:r>
            <a:r>
              <a:rPr spc="-220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310" dirty="0">
                <a:solidFill>
                  <a:srgbClr val="FFFFCC"/>
                </a:solidFill>
                <a:latin typeface="Arial MT"/>
                <a:cs typeface="Arial MT"/>
              </a:rPr>
              <a:t>Initiated</a:t>
            </a:r>
            <a:r>
              <a:rPr spc="-204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405" dirty="0">
                <a:solidFill>
                  <a:srgbClr val="FFFFCC"/>
                </a:solidFill>
                <a:latin typeface="Arial MT"/>
                <a:cs typeface="Arial MT"/>
              </a:rPr>
              <a:t>Operat</a:t>
            </a:r>
            <a:r>
              <a:rPr spc="-175" dirty="0">
                <a:solidFill>
                  <a:srgbClr val="FFFFCC"/>
                </a:solidFill>
                <a:latin typeface="Arial MT"/>
                <a:cs typeface="Arial MT"/>
              </a:rPr>
              <a:t>i</a:t>
            </a:r>
            <a:r>
              <a:rPr spc="-430" dirty="0">
                <a:solidFill>
                  <a:srgbClr val="FFFFCC"/>
                </a:solidFill>
                <a:latin typeface="Arial MT"/>
                <a:cs typeface="Arial MT"/>
              </a:rPr>
              <a:t>ons</a:t>
            </a: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7239" y="2177796"/>
            <a:ext cx="189738" cy="19888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34439" y="3092957"/>
            <a:ext cx="152400" cy="16002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34439" y="3897629"/>
            <a:ext cx="152400" cy="16002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07439" y="2005837"/>
            <a:ext cx="7117715" cy="3771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22985">
              <a:lnSpc>
                <a:spcPct val="100000"/>
              </a:lnSpc>
              <a:spcBef>
                <a:spcPts val="100"/>
              </a:spcBef>
            </a:pPr>
            <a:r>
              <a:rPr sz="2800" spc="-340" dirty="0">
                <a:latin typeface="Arial MT"/>
                <a:cs typeface="Arial MT"/>
              </a:rPr>
              <a:t>E</a:t>
            </a:r>
            <a:r>
              <a:rPr sz="2800" spc="-254" dirty="0">
                <a:latin typeface="Arial MT"/>
                <a:cs typeface="Arial MT"/>
              </a:rPr>
              <a:t>x</a:t>
            </a:r>
            <a:r>
              <a:rPr sz="2800" spc="-145" dirty="0">
                <a:latin typeface="Arial MT"/>
                <a:cs typeface="Arial MT"/>
              </a:rPr>
              <a:t>t</a:t>
            </a:r>
            <a:r>
              <a:rPr sz="2800" spc="-280" dirty="0">
                <a:latin typeface="Arial MT"/>
                <a:cs typeface="Arial MT"/>
              </a:rPr>
              <a:t>e</a:t>
            </a:r>
            <a:r>
              <a:rPr sz="2800" spc="-175" dirty="0">
                <a:latin typeface="Arial MT"/>
                <a:cs typeface="Arial MT"/>
              </a:rPr>
              <a:t>r</a:t>
            </a:r>
            <a:r>
              <a:rPr sz="2800" spc="-225" dirty="0">
                <a:latin typeface="Arial MT"/>
                <a:cs typeface="Arial MT"/>
              </a:rPr>
              <a:t>nal</a:t>
            </a:r>
            <a:r>
              <a:rPr sz="2800" spc="-150" dirty="0">
                <a:latin typeface="Arial MT"/>
                <a:cs typeface="Arial MT"/>
              </a:rPr>
              <a:t> </a:t>
            </a:r>
            <a:r>
              <a:rPr sz="2800" spc="-275" dirty="0">
                <a:latin typeface="Arial MT"/>
                <a:cs typeface="Arial MT"/>
              </a:rPr>
              <a:t>dev</a:t>
            </a:r>
            <a:r>
              <a:rPr sz="2800" spc="-185" dirty="0">
                <a:latin typeface="Arial MT"/>
                <a:cs typeface="Arial MT"/>
              </a:rPr>
              <a:t>ic</a:t>
            </a:r>
            <a:r>
              <a:rPr sz="2800" spc="-270" dirty="0">
                <a:latin typeface="Arial MT"/>
                <a:cs typeface="Arial MT"/>
              </a:rPr>
              <a:t>es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270" dirty="0">
                <a:latin typeface="Arial MT"/>
                <a:cs typeface="Arial MT"/>
              </a:rPr>
              <a:t>can</a:t>
            </a:r>
            <a:r>
              <a:rPr sz="2800" spc="-150" dirty="0">
                <a:latin typeface="Arial MT"/>
                <a:cs typeface="Arial MT"/>
              </a:rPr>
              <a:t> </a:t>
            </a:r>
            <a:r>
              <a:rPr sz="2800" spc="-170" dirty="0">
                <a:latin typeface="Arial MT"/>
                <a:cs typeface="Arial MT"/>
              </a:rPr>
              <a:t>ini</a:t>
            </a:r>
            <a:r>
              <a:rPr sz="2800" spc="-145" dirty="0">
                <a:latin typeface="Arial MT"/>
                <a:cs typeface="Arial MT"/>
              </a:rPr>
              <a:t>t</a:t>
            </a:r>
            <a:r>
              <a:rPr sz="2800" spc="-200" dirty="0">
                <a:latin typeface="Arial MT"/>
                <a:cs typeface="Arial MT"/>
              </a:rPr>
              <a:t>ia</a:t>
            </a:r>
            <a:r>
              <a:rPr sz="2800" spc="-145" dirty="0">
                <a:latin typeface="Arial MT"/>
                <a:cs typeface="Arial MT"/>
              </a:rPr>
              <a:t>t</a:t>
            </a:r>
            <a:r>
              <a:rPr sz="2800" spc="-280" dirty="0">
                <a:latin typeface="Arial MT"/>
                <a:cs typeface="Arial MT"/>
              </a:rPr>
              <a:t>e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175" dirty="0">
                <a:latin typeface="Arial MT"/>
                <a:cs typeface="Arial MT"/>
              </a:rPr>
              <a:t>(</a:t>
            </a:r>
            <a:r>
              <a:rPr sz="2800" spc="-254" dirty="0">
                <a:latin typeface="Arial MT"/>
                <a:cs typeface="Arial MT"/>
              </a:rPr>
              <a:t>s</a:t>
            </a:r>
            <a:r>
              <a:rPr sz="2800" spc="-145" dirty="0">
                <a:latin typeface="Arial MT"/>
                <a:cs typeface="Arial MT"/>
              </a:rPr>
              <a:t>t</a:t>
            </a:r>
            <a:r>
              <a:rPr sz="2800" spc="-280" dirty="0">
                <a:latin typeface="Arial MT"/>
                <a:cs typeface="Arial MT"/>
              </a:rPr>
              <a:t>a</a:t>
            </a:r>
            <a:r>
              <a:rPr sz="2800" spc="-175" dirty="0">
                <a:latin typeface="Arial MT"/>
                <a:cs typeface="Arial MT"/>
              </a:rPr>
              <a:t>r</a:t>
            </a:r>
            <a:r>
              <a:rPr sz="2800" spc="-145" dirty="0">
                <a:latin typeface="Arial MT"/>
                <a:cs typeface="Arial MT"/>
              </a:rPr>
              <a:t>t</a:t>
            </a:r>
            <a:r>
              <a:rPr sz="2800" spc="-170" dirty="0">
                <a:latin typeface="Arial MT"/>
                <a:cs typeface="Arial MT"/>
              </a:rPr>
              <a:t>)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280" dirty="0">
                <a:latin typeface="Arial MT"/>
                <a:cs typeface="Arial MT"/>
              </a:rPr>
              <a:t>one</a:t>
            </a:r>
            <a:r>
              <a:rPr sz="2800" spc="-150" dirty="0">
                <a:latin typeface="Arial MT"/>
                <a:cs typeface="Arial MT"/>
              </a:rPr>
              <a:t> </a:t>
            </a:r>
            <a:r>
              <a:rPr sz="2800" spc="-210" dirty="0">
                <a:latin typeface="Arial MT"/>
                <a:cs typeface="Arial MT"/>
              </a:rPr>
              <a:t>of</a:t>
            </a:r>
            <a:r>
              <a:rPr sz="2800" spc="-145" dirty="0">
                <a:latin typeface="Arial MT"/>
                <a:cs typeface="Arial MT"/>
              </a:rPr>
              <a:t> t</a:t>
            </a:r>
            <a:r>
              <a:rPr sz="2800" spc="-280" dirty="0">
                <a:latin typeface="Arial MT"/>
                <a:cs typeface="Arial MT"/>
              </a:rPr>
              <a:t>he</a:t>
            </a:r>
            <a:r>
              <a:rPr sz="2800" spc="-150" dirty="0">
                <a:latin typeface="Arial MT"/>
                <a:cs typeface="Arial MT"/>
              </a:rPr>
              <a:t> </a:t>
            </a:r>
            <a:r>
              <a:rPr sz="2800" spc="-190" dirty="0">
                <a:latin typeface="Arial MT"/>
                <a:cs typeface="Arial MT"/>
              </a:rPr>
              <a:t>4  </a:t>
            </a:r>
            <a:r>
              <a:rPr sz="2800" spc="-145" dirty="0">
                <a:latin typeface="Arial MT"/>
                <a:cs typeface="Arial MT"/>
              </a:rPr>
              <a:t>f</a:t>
            </a:r>
            <a:r>
              <a:rPr sz="2800" spc="-200" dirty="0">
                <a:latin typeface="Arial MT"/>
                <a:cs typeface="Arial MT"/>
              </a:rPr>
              <a:t>ollo</a:t>
            </a:r>
            <a:r>
              <a:rPr sz="2800" spc="-370" dirty="0">
                <a:latin typeface="Arial MT"/>
                <a:cs typeface="Arial MT"/>
              </a:rPr>
              <a:t>w</a:t>
            </a:r>
            <a:r>
              <a:rPr sz="2800" spc="-225" dirty="0">
                <a:latin typeface="Arial MT"/>
                <a:cs typeface="Arial MT"/>
              </a:rPr>
              <a:t>ing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280" dirty="0">
                <a:latin typeface="Arial MT"/>
                <a:cs typeface="Arial MT"/>
              </a:rPr>
              <a:t>ope</a:t>
            </a:r>
            <a:r>
              <a:rPr sz="2800" spc="-175" dirty="0">
                <a:latin typeface="Arial MT"/>
                <a:cs typeface="Arial MT"/>
              </a:rPr>
              <a:t>r</a:t>
            </a:r>
            <a:r>
              <a:rPr sz="2800" spc="-280" dirty="0">
                <a:latin typeface="Arial MT"/>
                <a:cs typeface="Arial MT"/>
              </a:rPr>
              <a:t>a</a:t>
            </a:r>
            <a:r>
              <a:rPr sz="2800" spc="-145" dirty="0">
                <a:latin typeface="Arial MT"/>
                <a:cs typeface="Arial MT"/>
              </a:rPr>
              <a:t>t</a:t>
            </a:r>
            <a:r>
              <a:rPr sz="2800" spc="-235" dirty="0">
                <a:latin typeface="Arial MT"/>
                <a:cs typeface="Arial MT"/>
              </a:rPr>
              <a:t>ions</a:t>
            </a:r>
            <a:r>
              <a:rPr sz="2800" spc="-140" dirty="0">
                <a:latin typeface="Arial MT"/>
                <a:cs typeface="Arial MT"/>
              </a:rPr>
              <a:t>:</a:t>
            </a:r>
            <a:endParaRPr sz="2800">
              <a:latin typeface="Arial MT"/>
              <a:cs typeface="Arial MT"/>
            </a:endParaRPr>
          </a:p>
          <a:p>
            <a:pPr marL="412750">
              <a:lnSpc>
                <a:spcPct val="100000"/>
              </a:lnSpc>
              <a:spcBef>
                <a:spcPts val="585"/>
              </a:spcBef>
            </a:pPr>
            <a:r>
              <a:rPr sz="2400" b="1" spc="-240" dirty="0">
                <a:latin typeface="Arial"/>
                <a:cs typeface="Arial"/>
              </a:rPr>
              <a:t>Reset</a:t>
            </a:r>
            <a:endParaRPr sz="2400">
              <a:latin typeface="Arial"/>
              <a:cs typeface="Arial"/>
            </a:endParaRPr>
          </a:p>
          <a:p>
            <a:pPr marL="812800" indent="-229235">
              <a:lnSpc>
                <a:spcPct val="100000"/>
              </a:lnSpc>
              <a:spcBef>
                <a:spcPts val="490"/>
              </a:spcBef>
              <a:buClr>
                <a:srgbClr val="CCFFCC"/>
              </a:buClr>
              <a:buSzPct val="60000"/>
              <a:buFont typeface="Wingdings"/>
              <a:buChar char=""/>
              <a:tabLst>
                <a:tab pos="812800" algn="l"/>
              </a:tabLst>
            </a:pPr>
            <a:r>
              <a:rPr sz="2000" spc="-140" dirty="0">
                <a:latin typeface="Arial MT"/>
                <a:cs typeface="Arial MT"/>
              </a:rPr>
              <a:t>All</a:t>
            </a:r>
            <a:r>
              <a:rPr sz="2000" spc="-114" dirty="0">
                <a:latin typeface="Arial MT"/>
                <a:cs typeface="Arial MT"/>
              </a:rPr>
              <a:t> </a:t>
            </a:r>
            <a:r>
              <a:rPr sz="2000" spc="-170" dirty="0">
                <a:latin typeface="Arial MT"/>
                <a:cs typeface="Arial MT"/>
              </a:rPr>
              <a:t>operations</a:t>
            </a:r>
            <a:r>
              <a:rPr sz="2000" spc="-100" dirty="0">
                <a:latin typeface="Arial MT"/>
                <a:cs typeface="Arial MT"/>
              </a:rPr>
              <a:t> </a:t>
            </a:r>
            <a:r>
              <a:rPr sz="2000" spc="-175" dirty="0">
                <a:latin typeface="Arial MT"/>
                <a:cs typeface="Arial MT"/>
              </a:rPr>
              <a:t>are</a:t>
            </a:r>
            <a:r>
              <a:rPr sz="2000" spc="-100" dirty="0">
                <a:latin typeface="Arial MT"/>
                <a:cs typeface="Arial MT"/>
              </a:rPr>
              <a:t> </a:t>
            </a:r>
            <a:r>
              <a:rPr sz="2000" spc="-185" dirty="0">
                <a:latin typeface="Arial MT"/>
                <a:cs typeface="Arial MT"/>
              </a:rPr>
              <a:t>stopped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spc="-204" dirty="0">
                <a:latin typeface="Arial MT"/>
                <a:cs typeface="Arial MT"/>
              </a:rPr>
              <a:t>and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spc="-170" dirty="0">
                <a:latin typeface="Arial MT"/>
                <a:cs typeface="Arial MT"/>
              </a:rPr>
              <a:t>the</a:t>
            </a:r>
            <a:r>
              <a:rPr sz="2000" spc="-114" dirty="0">
                <a:latin typeface="Arial MT"/>
                <a:cs typeface="Arial MT"/>
              </a:rPr>
              <a:t> </a:t>
            </a:r>
            <a:r>
              <a:rPr sz="2000" spc="-195" dirty="0">
                <a:latin typeface="Arial MT"/>
                <a:cs typeface="Arial MT"/>
              </a:rPr>
              <a:t>program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spc="-175" dirty="0">
                <a:latin typeface="Arial MT"/>
                <a:cs typeface="Arial MT"/>
              </a:rPr>
              <a:t>counter</a:t>
            </a:r>
            <a:r>
              <a:rPr sz="2000" spc="-100" dirty="0">
                <a:latin typeface="Arial MT"/>
                <a:cs typeface="Arial MT"/>
              </a:rPr>
              <a:t> </a:t>
            </a:r>
            <a:r>
              <a:rPr sz="2000" spc="-135" dirty="0">
                <a:latin typeface="Arial MT"/>
                <a:cs typeface="Arial MT"/>
              </a:rPr>
              <a:t>is</a:t>
            </a:r>
            <a:r>
              <a:rPr sz="2000" spc="-100" dirty="0">
                <a:latin typeface="Arial MT"/>
                <a:cs typeface="Arial MT"/>
              </a:rPr>
              <a:t> </a:t>
            </a:r>
            <a:r>
              <a:rPr sz="2000" spc="-165" dirty="0">
                <a:latin typeface="Arial MT"/>
                <a:cs typeface="Arial MT"/>
              </a:rPr>
              <a:t>reset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spc="-155" dirty="0">
                <a:latin typeface="Arial MT"/>
                <a:cs typeface="Arial MT"/>
              </a:rPr>
              <a:t>to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spc="-185" dirty="0">
                <a:latin typeface="Arial MT"/>
                <a:cs typeface="Arial MT"/>
              </a:rPr>
              <a:t>0000.</a:t>
            </a:r>
            <a:endParaRPr sz="2000">
              <a:latin typeface="Arial MT"/>
              <a:cs typeface="Arial MT"/>
            </a:endParaRPr>
          </a:p>
          <a:p>
            <a:pPr marL="412750">
              <a:lnSpc>
                <a:spcPct val="100000"/>
              </a:lnSpc>
              <a:spcBef>
                <a:spcPts val="570"/>
              </a:spcBef>
            </a:pPr>
            <a:r>
              <a:rPr sz="2400" b="1" spc="-204" dirty="0">
                <a:latin typeface="Arial"/>
                <a:cs typeface="Arial"/>
              </a:rPr>
              <a:t>Interrupt</a:t>
            </a:r>
            <a:endParaRPr sz="2400">
              <a:latin typeface="Arial"/>
              <a:cs typeface="Arial"/>
            </a:endParaRPr>
          </a:p>
          <a:p>
            <a:pPr marL="812165" marR="768985" indent="-228600" algn="just">
              <a:lnSpc>
                <a:spcPct val="100000"/>
              </a:lnSpc>
              <a:spcBef>
                <a:spcPts val="489"/>
              </a:spcBef>
              <a:buClr>
                <a:srgbClr val="CCFFCC"/>
              </a:buClr>
              <a:buSzPct val="60000"/>
              <a:buFont typeface="Wingdings"/>
              <a:buChar char=""/>
              <a:tabLst>
                <a:tab pos="812800" algn="l"/>
              </a:tabLst>
            </a:pPr>
            <a:r>
              <a:rPr sz="2000" spc="-210" dirty="0">
                <a:latin typeface="Arial MT"/>
                <a:cs typeface="Arial MT"/>
              </a:rPr>
              <a:t>The </a:t>
            </a:r>
            <a:r>
              <a:rPr sz="2000" spc="-175" dirty="0">
                <a:latin typeface="Arial MT"/>
                <a:cs typeface="Arial MT"/>
              </a:rPr>
              <a:t>microprocessor’s </a:t>
            </a:r>
            <a:r>
              <a:rPr sz="2000" spc="-170" dirty="0">
                <a:latin typeface="Arial MT"/>
                <a:cs typeface="Arial MT"/>
              </a:rPr>
              <a:t>operations </a:t>
            </a:r>
            <a:r>
              <a:rPr sz="2000" spc="-175" dirty="0">
                <a:latin typeface="Arial MT"/>
                <a:cs typeface="Arial MT"/>
              </a:rPr>
              <a:t>are </a:t>
            </a:r>
            <a:r>
              <a:rPr sz="2000" spc="-160" dirty="0">
                <a:latin typeface="Arial MT"/>
                <a:cs typeface="Arial MT"/>
              </a:rPr>
              <a:t>interrupted </a:t>
            </a:r>
            <a:r>
              <a:rPr sz="2000" spc="-204" dirty="0">
                <a:latin typeface="Arial MT"/>
                <a:cs typeface="Arial MT"/>
              </a:rPr>
              <a:t>and </a:t>
            </a:r>
            <a:r>
              <a:rPr sz="2000" spc="-170" dirty="0">
                <a:latin typeface="Arial MT"/>
                <a:cs typeface="Arial MT"/>
              </a:rPr>
              <a:t>the </a:t>
            </a:r>
            <a:r>
              <a:rPr sz="2000" spc="-165" dirty="0">
                <a:latin typeface="Arial MT"/>
                <a:cs typeface="Arial MT"/>
              </a:rPr>
              <a:t> </a:t>
            </a:r>
            <a:r>
              <a:rPr sz="2000" spc="-180" dirty="0">
                <a:latin typeface="Arial MT"/>
                <a:cs typeface="Arial MT"/>
              </a:rPr>
              <a:t>microprocessor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spc="-185" dirty="0">
                <a:latin typeface="Arial MT"/>
                <a:cs typeface="Arial MT"/>
              </a:rPr>
              <a:t>executes</a:t>
            </a:r>
            <a:r>
              <a:rPr sz="2000" spc="-90" dirty="0">
                <a:latin typeface="Arial MT"/>
                <a:cs typeface="Arial MT"/>
              </a:rPr>
              <a:t> </a:t>
            </a:r>
            <a:r>
              <a:rPr sz="2000" spc="-195" dirty="0">
                <a:latin typeface="Arial MT"/>
                <a:cs typeface="Arial MT"/>
              </a:rPr>
              <a:t>what</a:t>
            </a:r>
            <a:r>
              <a:rPr sz="2000" spc="-100" dirty="0">
                <a:latin typeface="Arial MT"/>
                <a:cs typeface="Arial MT"/>
              </a:rPr>
              <a:t> </a:t>
            </a:r>
            <a:r>
              <a:rPr sz="2000" spc="-135" dirty="0">
                <a:latin typeface="Arial MT"/>
                <a:cs typeface="Arial MT"/>
              </a:rPr>
              <a:t>is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spc="-160" dirty="0">
                <a:latin typeface="Arial MT"/>
                <a:cs typeface="Arial MT"/>
              </a:rPr>
              <a:t>called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spc="-204" dirty="0">
                <a:latin typeface="Arial MT"/>
                <a:cs typeface="Arial MT"/>
              </a:rPr>
              <a:t>a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spc="-175" dirty="0">
                <a:latin typeface="Arial MT"/>
                <a:cs typeface="Arial MT"/>
              </a:rPr>
              <a:t>“</a:t>
            </a:r>
            <a:r>
              <a:rPr sz="2000" b="1" spc="-175" dirty="0">
                <a:latin typeface="Arial"/>
                <a:cs typeface="Arial"/>
              </a:rPr>
              <a:t>service</a:t>
            </a:r>
            <a:r>
              <a:rPr sz="2000" b="1" spc="-95" dirty="0">
                <a:latin typeface="Arial"/>
                <a:cs typeface="Arial"/>
              </a:rPr>
              <a:t> </a:t>
            </a:r>
            <a:r>
              <a:rPr sz="2000" b="1" spc="-165" dirty="0">
                <a:latin typeface="Arial"/>
                <a:cs typeface="Arial"/>
              </a:rPr>
              <a:t>routine</a:t>
            </a:r>
            <a:r>
              <a:rPr sz="2000" spc="-165" dirty="0">
                <a:latin typeface="Arial MT"/>
                <a:cs typeface="Arial MT"/>
              </a:rPr>
              <a:t>”.</a:t>
            </a:r>
            <a:endParaRPr sz="2000">
              <a:latin typeface="Arial MT"/>
              <a:cs typeface="Arial MT"/>
            </a:endParaRPr>
          </a:p>
          <a:p>
            <a:pPr marL="812165" marR="793750" indent="-228600" algn="just">
              <a:lnSpc>
                <a:spcPct val="100000"/>
              </a:lnSpc>
              <a:spcBef>
                <a:spcPts val="480"/>
              </a:spcBef>
              <a:buClr>
                <a:srgbClr val="CCFFCC"/>
              </a:buClr>
              <a:buSzPct val="60000"/>
              <a:buFont typeface="Wingdings"/>
              <a:buChar char=""/>
              <a:tabLst>
                <a:tab pos="812800" algn="l"/>
              </a:tabLst>
            </a:pPr>
            <a:r>
              <a:rPr sz="2000" spc="-175" dirty="0">
                <a:latin typeface="Arial MT"/>
                <a:cs typeface="Arial MT"/>
              </a:rPr>
              <a:t>This </a:t>
            </a:r>
            <a:r>
              <a:rPr sz="2000" spc="-160" dirty="0">
                <a:latin typeface="Arial MT"/>
                <a:cs typeface="Arial MT"/>
              </a:rPr>
              <a:t>routine </a:t>
            </a:r>
            <a:r>
              <a:rPr sz="2000" spc="-170" dirty="0">
                <a:latin typeface="Arial MT"/>
                <a:cs typeface="Arial MT"/>
              </a:rPr>
              <a:t>“handles” the </a:t>
            </a:r>
            <a:r>
              <a:rPr sz="2000" spc="-145" dirty="0">
                <a:latin typeface="Arial MT"/>
                <a:cs typeface="Arial MT"/>
              </a:rPr>
              <a:t>interrupt, </a:t>
            </a:r>
            <a:r>
              <a:rPr sz="2000" spc="-175" dirty="0">
                <a:latin typeface="Arial MT"/>
                <a:cs typeface="Arial MT"/>
              </a:rPr>
              <a:t>(perform </a:t>
            </a:r>
            <a:r>
              <a:rPr sz="2000" spc="-170" dirty="0">
                <a:latin typeface="Arial MT"/>
                <a:cs typeface="Arial MT"/>
              </a:rPr>
              <a:t>the </a:t>
            </a:r>
            <a:r>
              <a:rPr sz="2000" spc="-185" dirty="0">
                <a:latin typeface="Arial MT"/>
                <a:cs typeface="Arial MT"/>
              </a:rPr>
              <a:t>necessary </a:t>
            </a:r>
            <a:r>
              <a:rPr sz="2000" spc="-180" dirty="0">
                <a:latin typeface="Arial MT"/>
                <a:cs typeface="Arial MT"/>
              </a:rPr>
              <a:t> </a:t>
            </a:r>
            <a:r>
              <a:rPr sz="2000" spc="-160" dirty="0">
                <a:latin typeface="Arial MT"/>
                <a:cs typeface="Arial MT"/>
              </a:rPr>
              <a:t>operations). </a:t>
            </a:r>
            <a:r>
              <a:rPr sz="2000" spc="-210" dirty="0">
                <a:latin typeface="Arial MT"/>
                <a:cs typeface="Arial MT"/>
              </a:rPr>
              <a:t>Then </a:t>
            </a:r>
            <a:r>
              <a:rPr sz="2000" spc="-170" dirty="0">
                <a:latin typeface="Arial MT"/>
                <a:cs typeface="Arial MT"/>
              </a:rPr>
              <a:t>the </a:t>
            </a:r>
            <a:r>
              <a:rPr sz="2000" spc="-180" dirty="0">
                <a:latin typeface="Arial MT"/>
                <a:cs typeface="Arial MT"/>
              </a:rPr>
              <a:t>microprocessor </a:t>
            </a:r>
            <a:r>
              <a:rPr sz="2000" spc="-165" dirty="0">
                <a:latin typeface="Arial MT"/>
                <a:cs typeface="Arial MT"/>
              </a:rPr>
              <a:t>returns </a:t>
            </a:r>
            <a:r>
              <a:rPr sz="2000" spc="-155" dirty="0">
                <a:latin typeface="Arial MT"/>
                <a:cs typeface="Arial MT"/>
              </a:rPr>
              <a:t>to </a:t>
            </a:r>
            <a:r>
              <a:rPr sz="2000" spc="-125" dirty="0">
                <a:latin typeface="Arial MT"/>
                <a:cs typeface="Arial MT"/>
              </a:rPr>
              <a:t>its </a:t>
            </a:r>
            <a:r>
              <a:rPr sz="2000" spc="-175" dirty="0">
                <a:latin typeface="Arial MT"/>
                <a:cs typeface="Arial MT"/>
              </a:rPr>
              <a:t>previous </a:t>
            </a:r>
            <a:r>
              <a:rPr sz="2000" spc="-170" dirty="0">
                <a:latin typeface="Arial MT"/>
                <a:cs typeface="Arial MT"/>
              </a:rPr>
              <a:t> operations</a:t>
            </a:r>
            <a:r>
              <a:rPr sz="2000" spc="-114" dirty="0">
                <a:latin typeface="Arial MT"/>
                <a:cs typeface="Arial MT"/>
              </a:rPr>
              <a:t> </a:t>
            </a:r>
            <a:r>
              <a:rPr sz="2000" spc="-204" dirty="0">
                <a:latin typeface="Arial MT"/>
                <a:cs typeface="Arial MT"/>
              </a:rPr>
              <a:t>and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spc="-175" dirty="0">
                <a:latin typeface="Arial MT"/>
                <a:cs typeface="Arial MT"/>
              </a:rPr>
              <a:t>continues</a:t>
            </a:r>
            <a:r>
              <a:rPr sz="2000" spc="-105" dirty="0">
                <a:latin typeface="Arial MT"/>
                <a:cs typeface="Arial MT"/>
              </a:rPr>
              <a:t>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r>
              <a:rPr spc="-5" dirty="0"/>
              <a:t>10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6350" y="0"/>
            <a:ext cx="9156700" cy="6870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515938" cy="68579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64540" y="1010665"/>
            <a:ext cx="598678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30" dirty="0">
                <a:solidFill>
                  <a:srgbClr val="FFFFCC"/>
                </a:solidFill>
                <a:latin typeface="Arial MT"/>
                <a:cs typeface="Arial MT"/>
              </a:rPr>
              <a:t>A</a:t>
            </a:r>
            <a:r>
              <a:rPr spc="-220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409" dirty="0">
                <a:solidFill>
                  <a:srgbClr val="FFFFCC"/>
                </a:solidFill>
                <a:latin typeface="Arial MT"/>
                <a:cs typeface="Arial MT"/>
              </a:rPr>
              <a:t>group</a:t>
            </a:r>
            <a:r>
              <a:rPr spc="-200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335" dirty="0">
                <a:solidFill>
                  <a:srgbClr val="FFFFCC"/>
                </a:solidFill>
                <a:latin typeface="Arial MT"/>
                <a:cs typeface="Arial MT"/>
              </a:rPr>
              <a:t>of</a:t>
            </a:r>
            <a:r>
              <a:rPr spc="-220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480" dirty="0">
                <a:solidFill>
                  <a:srgbClr val="FFFFCC"/>
                </a:solidFill>
                <a:latin typeface="Arial MT"/>
                <a:cs typeface="Arial MT"/>
              </a:rPr>
              <a:t>Memory</a:t>
            </a:r>
            <a:r>
              <a:rPr spc="-225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409" dirty="0">
                <a:solidFill>
                  <a:srgbClr val="FFFFCC"/>
                </a:solidFill>
                <a:latin typeface="Arial MT"/>
                <a:cs typeface="Arial MT"/>
              </a:rPr>
              <a:t>Regi</a:t>
            </a:r>
            <a:r>
              <a:rPr spc="-345" dirty="0">
                <a:solidFill>
                  <a:srgbClr val="FFFFCC"/>
                </a:solidFill>
                <a:latin typeface="Arial MT"/>
                <a:cs typeface="Arial MT"/>
              </a:rPr>
              <a:t>sters</a:t>
            </a: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3677" y="2189226"/>
            <a:ext cx="177545" cy="186689"/>
          </a:xfrm>
          <a:prstGeom prst="rect">
            <a:avLst/>
          </a:prstGeom>
        </p:spPr>
      </p:pic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508625" y="3143250"/>
          <a:ext cx="2122805" cy="2932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5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38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84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85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305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716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5">
                  <a:txBody>
                    <a:bodyPr/>
                    <a:lstStyle/>
                    <a:p>
                      <a:pPr marL="3968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spc="-5" dirty="0">
                          <a:latin typeface="Arial MT"/>
                          <a:cs typeface="Arial MT"/>
                        </a:rPr>
                        <a:t>Input</a:t>
                      </a:r>
                      <a:r>
                        <a:rPr sz="12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Buffers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CC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4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5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CC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92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5">
                  <a:txBody>
                    <a:bodyPr/>
                    <a:lstStyle/>
                    <a:p>
                      <a:pPr marL="29337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200" spc="-5" dirty="0">
                          <a:latin typeface="Arial MT"/>
                          <a:cs typeface="Arial MT"/>
                        </a:rPr>
                        <a:t>Memory</a:t>
                      </a:r>
                      <a:r>
                        <a:rPr sz="12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Reg.</a:t>
                      </a:r>
                      <a:r>
                        <a:rPr sz="12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562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5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5">
                  <a:txBody>
                    <a:bodyPr/>
                    <a:lstStyle/>
                    <a:p>
                      <a:pPr marL="29337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200" spc="-5" dirty="0">
                          <a:latin typeface="Arial MT"/>
                          <a:cs typeface="Arial MT"/>
                        </a:rPr>
                        <a:t>Memory</a:t>
                      </a:r>
                      <a:r>
                        <a:rPr sz="12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Reg.</a:t>
                      </a:r>
                      <a:r>
                        <a:rPr sz="12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1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806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562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5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06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27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5">
                  <a:txBody>
                    <a:bodyPr/>
                    <a:lstStyle/>
                    <a:p>
                      <a:pPr marL="29337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200" spc="-5" dirty="0">
                          <a:latin typeface="Arial MT"/>
                          <a:cs typeface="Arial MT"/>
                        </a:rPr>
                        <a:t>Memory</a:t>
                      </a:r>
                      <a:r>
                        <a:rPr sz="12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Reg.</a:t>
                      </a:r>
                      <a:r>
                        <a:rPr sz="12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2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875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5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774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5">
                  <a:txBody>
                    <a:bodyPr/>
                    <a:lstStyle/>
                    <a:p>
                      <a:pPr marL="29337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200" spc="-5" dirty="0">
                          <a:latin typeface="Arial MT"/>
                          <a:cs typeface="Arial MT"/>
                        </a:rPr>
                        <a:t>Memory</a:t>
                      </a:r>
                      <a:r>
                        <a:rPr sz="12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Reg.</a:t>
                      </a:r>
                      <a:r>
                        <a:rPr sz="12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3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692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73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5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92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3512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256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5">
                  <a:txBody>
                    <a:bodyPr/>
                    <a:lstStyle/>
                    <a:p>
                      <a:pPr marL="33718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-5" dirty="0">
                          <a:latin typeface="Arial MT"/>
                          <a:cs typeface="Arial MT"/>
                        </a:rPr>
                        <a:t>Output</a:t>
                      </a:r>
                      <a:r>
                        <a:rPr sz="12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Buffers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9207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5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5276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1494789" y="2005837"/>
            <a:ext cx="6659245" cy="1074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 marR="17780">
              <a:lnSpc>
                <a:spcPct val="100000"/>
              </a:lnSpc>
              <a:spcBef>
                <a:spcPts val="100"/>
              </a:spcBef>
            </a:pP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If </a:t>
            </a:r>
            <a:r>
              <a:rPr sz="2800" spc="-325" dirty="0">
                <a:solidFill>
                  <a:srgbClr val="EBEBEB"/>
                </a:solidFill>
                <a:latin typeface="Arial MT"/>
                <a:cs typeface="Arial MT"/>
              </a:rPr>
              <a:t>we</a:t>
            </a:r>
            <a:r>
              <a:rPr sz="2800" spc="-14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40" dirty="0">
                <a:solidFill>
                  <a:srgbClr val="EBEBEB"/>
                </a:solidFill>
                <a:latin typeface="Arial MT"/>
                <a:cs typeface="Arial MT"/>
              </a:rPr>
              <a:t>represent</a:t>
            </a:r>
            <a:r>
              <a:rPr sz="2800" spc="-16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75" dirty="0">
                <a:solidFill>
                  <a:srgbClr val="EBEBEB"/>
                </a:solidFill>
                <a:latin typeface="Arial MT"/>
                <a:cs typeface="Arial MT"/>
              </a:rPr>
              <a:t>each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305" dirty="0">
                <a:solidFill>
                  <a:srgbClr val="EBEBEB"/>
                </a:solidFill>
                <a:latin typeface="Arial MT"/>
                <a:cs typeface="Arial MT"/>
              </a:rPr>
              <a:t>memory</a:t>
            </a:r>
            <a:r>
              <a:rPr sz="2800" spc="-15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20" dirty="0">
                <a:solidFill>
                  <a:srgbClr val="EBEBEB"/>
                </a:solidFill>
                <a:latin typeface="Arial MT"/>
                <a:cs typeface="Arial MT"/>
              </a:rPr>
              <a:t>location</a:t>
            </a:r>
            <a:r>
              <a:rPr sz="2800" spc="-15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25" dirty="0">
                <a:solidFill>
                  <a:srgbClr val="EBEBEB"/>
                </a:solidFill>
                <a:latin typeface="Arial MT"/>
                <a:cs typeface="Arial MT"/>
              </a:rPr>
              <a:t>(Register)</a:t>
            </a:r>
            <a:r>
              <a:rPr sz="2800" spc="-13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70" dirty="0">
                <a:solidFill>
                  <a:srgbClr val="EBEBEB"/>
                </a:solidFill>
                <a:latin typeface="Arial MT"/>
                <a:cs typeface="Arial MT"/>
              </a:rPr>
              <a:t>as </a:t>
            </a:r>
            <a:r>
              <a:rPr sz="2800" spc="-76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a</a:t>
            </a:r>
            <a:r>
              <a:rPr sz="2800" spc="-15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35" dirty="0">
                <a:solidFill>
                  <a:srgbClr val="EBEBEB"/>
                </a:solidFill>
                <a:latin typeface="Arial MT"/>
                <a:cs typeface="Arial MT"/>
              </a:rPr>
              <a:t>bloc</a:t>
            </a:r>
            <a:r>
              <a:rPr sz="2800" spc="-254" dirty="0">
                <a:solidFill>
                  <a:srgbClr val="EBEBEB"/>
                </a:solidFill>
                <a:latin typeface="Arial MT"/>
                <a:cs typeface="Arial MT"/>
              </a:rPr>
              <a:t>k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370" dirty="0">
                <a:solidFill>
                  <a:srgbClr val="EBEBEB"/>
                </a:solidFill>
                <a:latin typeface="Arial MT"/>
                <a:cs typeface="Arial MT"/>
              </a:rPr>
              <a:t>w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e</a:t>
            </a:r>
            <a:r>
              <a:rPr sz="2800" spc="-14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35" dirty="0">
                <a:solidFill>
                  <a:srgbClr val="EBEBEB"/>
                </a:solidFill>
                <a:latin typeface="Arial MT"/>
                <a:cs typeface="Arial MT"/>
              </a:rPr>
              <a:t>get</a:t>
            </a:r>
            <a:r>
              <a:rPr sz="2800" spc="-15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t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he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f</a:t>
            </a:r>
            <a:r>
              <a:rPr sz="2800" spc="-200" dirty="0">
                <a:solidFill>
                  <a:srgbClr val="EBEBEB"/>
                </a:solidFill>
                <a:latin typeface="Arial MT"/>
                <a:cs typeface="Arial MT"/>
              </a:rPr>
              <a:t>ollo</a:t>
            </a:r>
            <a:r>
              <a:rPr sz="2800" spc="-370" dirty="0">
                <a:solidFill>
                  <a:srgbClr val="EBEBEB"/>
                </a:solidFill>
                <a:latin typeface="Arial MT"/>
                <a:cs typeface="Arial MT"/>
              </a:rPr>
              <a:t>w</a:t>
            </a:r>
            <a:r>
              <a:rPr sz="2800" spc="-225" dirty="0">
                <a:solidFill>
                  <a:srgbClr val="EBEBEB"/>
                </a:solidFill>
                <a:latin typeface="Arial MT"/>
                <a:cs typeface="Arial MT"/>
              </a:rPr>
              <a:t>ing</a:t>
            </a:r>
            <a:endParaRPr sz="2800">
              <a:latin typeface="Arial MT"/>
              <a:cs typeface="Arial MT"/>
            </a:endParaRPr>
          </a:p>
          <a:p>
            <a:pPr marR="629285" algn="r">
              <a:lnSpc>
                <a:spcPts val="1535"/>
              </a:lnSpc>
              <a:tabLst>
                <a:tab pos="456565" algn="l"/>
                <a:tab pos="901065" algn="l"/>
                <a:tab pos="1320165" algn="l"/>
              </a:tabLst>
            </a:pPr>
            <a:r>
              <a:rPr sz="1400" spc="5" dirty="0">
                <a:latin typeface="Arial MT"/>
                <a:cs typeface="Arial MT"/>
              </a:rPr>
              <a:t>I</a:t>
            </a:r>
            <a:r>
              <a:rPr sz="1350" spc="7" baseline="-21604" dirty="0">
                <a:latin typeface="Arial MT"/>
                <a:cs typeface="Arial MT"/>
              </a:rPr>
              <a:t>0	</a:t>
            </a:r>
            <a:r>
              <a:rPr sz="1400" spc="5" dirty="0">
                <a:latin typeface="Arial MT"/>
                <a:cs typeface="Arial MT"/>
              </a:rPr>
              <a:t>I</a:t>
            </a:r>
            <a:r>
              <a:rPr sz="1350" spc="7" baseline="-21604" dirty="0">
                <a:latin typeface="Arial MT"/>
                <a:cs typeface="Arial MT"/>
              </a:rPr>
              <a:t>1	</a:t>
            </a:r>
            <a:r>
              <a:rPr sz="1400" spc="5" dirty="0">
                <a:latin typeface="Arial MT"/>
                <a:cs typeface="Arial MT"/>
              </a:rPr>
              <a:t>I</a:t>
            </a:r>
            <a:r>
              <a:rPr sz="1350" spc="7" baseline="-21604" dirty="0">
                <a:latin typeface="Arial MT"/>
                <a:cs typeface="Arial MT"/>
              </a:rPr>
              <a:t>2	</a:t>
            </a:r>
            <a:r>
              <a:rPr sz="1400" spc="5" dirty="0">
                <a:latin typeface="Arial MT"/>
                <a:cs typeface="Arial MT"/>
              </a:rPr>
              <a:t>I</a:t>
            </a:r>
            <a:r>
              <a:rPr sz="1350" spc="7" baseline="-21604" dirty="0">
                <a:latin typeface="Arial MT"/>
                <a:cs typeface="Arial MT"/>
              </a:rPr>
              <a:t>3</a:t>
            </a:r>
            <a:endParaRPr sz="1350" baseline="-21604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26710" y="3425697"/>
            <a:ext cx="2728595" cy="2956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 MT"/>
                <a:cs typeface="Arial MT"/>
              </a:rPr>
              <a:t>WR</a:t>
            </a:r>
            <a:endParaRPr sz="1400">
              <a:latin typeface="Arial MT"/>
              <a:cs typeface="Arial MT"/>
            </a:endParaRPr>
          </a:p>
          <a:p>
            <a:pPr marL="76200" marR="2331720" algn="just">
              <a:lnSpc>
                <a:spcPct val="172600"/>
              </a:lnSpc>
              <a:spcBef>
                <a:spcPts val="900"/>
              </a:spcBef>
            </a:pPr>
            <a:r>
              <a:rPr sz="1400" spc="-10" dirty="0">
                <a:latin typeface="Arial MT"/>
                <a:cs typeface="Arial MT"/>
              </a:rPr>
              <a:t>EN</a:t>
            </a:r>
            <a:r>
              <a:rPr sz="1350" spc="15" baseline="-21604" dirty="0">
                <a:latin typeface="Arial MT"/>
                <a:cs typeface="Arial MT"/>
              </a:rPr>
              <a:t>0  </a:t>
            </a:r>
            <a:r>
              <a:rPr sz="1400" spc="-10" dirty="0">
                <a:latin typeface="Arial MT"/>
                <a:cs typeface="Arial MT"/>
              </a:rPr>
              <a:t>EN</a:t>
            </a:r>
            <a:r>
              <a:rPr sz="1350" spc="15" baseline="-21604" dirty="0">
                <a:latin typeface="Arial MT"/>
                <a:cs typeface="Arial MT"/>
              </a:rPr>
              <a:t>1  </a:t>
            </a:r>
            <a:r>
              <a:rPr sz="1400" spc="-10" dirty="0">
                <a:latin typeface="Arial MT"/>
                <a:cs typeface="Arial MT"/>
              </a:rPr>
              <a:t>EN</a:t>
            </a:r>
            <a:r>
              <a:rPr sz="1350" spc="15" baseline="-21604" dirty="0">
                <a:latin typeface="Arial MT"/>
                <a:cs typeface="Arial MT"/>
              </a:rPr>
              <a:t>2  </a:t>
            </a:r>
            <a:r>
              <a:rPr sz="1400" spc="-10" dirty="0">
                <a:latin typeface="Arial MT"/>
                <a:cs typeface="Arial MT"/>
              </a:rPr>
              <a:t>EN</a:t>
            </a:r>
            <a:r>
              <a:rPr sz="1350" spc="22" baseline="-21604" dirty="0">
                <a:latin typeface="Arial MT"/>
                <a:cs typeface="Arial MT"/>
              </a:rPr>
              <a:t>3</a:t>
            </a:r>
            <a:endParaRPr sz="1350" baseline="-21604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350">
              <a:latin typeface="Arial MT"/>
              <a:cs typeface="Arial MT"/>
            </a:endParaRPr>
          </a:p>
          <a:p>
            <a:pPr marL="104139">
              <a:lnSpc>
                <a:spcPct val="100000"/>
              </a:lnSpc>
            </a:pPr>
            <a:r>
              <a:rPr sz="1400" spc="-10" dirty="0">
                <a:latin typeface="Arial MT"/>
                <a:cs typeface="Arial MT"/>
              </a:rPr>
              <a:t>RD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500">
              <a:latin typeface="Arial MT"/>
              <a:cs typeface="Arial MT"/>
            </a:endParaRPr>
          </a:p>
          <a:p>
            <a:pPr marL="1113790">
              <a:lnSpc>
                <a:spcPct val="100000"/>
              </a:lnSpc>
              <a:spcBef>
                <a:spcPts val="1095"/>
              </a:spcBef>
              <a:tabLst>
                <a:tab pos="1571625" algn="l"/>
                <a:tab pos="2015489" algn="l"/>
                <a:tab pos="2435225" algn="l"/>
              </a:tabLst>
            </a:pPr>
            <a:r>
              <a:rPr sz="1400" spc="5" dirty="0">
                <a:latin typeface="Arial MT"/>
                <a:cs typeface="Arial MT"/>
              </a:rPr>
              <a:t>O</a:t>
            </a:r>
            <a:r>
              <a:rPr sz="1350" spc="7" baseline="-21604" dirty="0">
                <a:latin typeface="Arial MT"/>
                <a:cs typeface="Arial MT"/>
              </a:rPr>
              <a:t>0	</a:t>
            </a:r>
            <a:r>
              <a:rPr sz="1400" spc="5" dirty="0">
                <a:latin typeface="Arial MT"/>
                <a:cs typeface="Arial MT"/>
              </a:rPr>
              <a:t>O</a:t>
            </a:r>
            <a:r>
              <a:rPr sz="1350" spc="7" baseline="-21604" dirty="0">
                <a:latin typeface="Arial MT"/>
                <a:cs typeface="Arial MT"/>
              </a:rPr>
              <a:t>1	</a:t>
            </a:r>
            <a:r>
              <a:rPr sz="1400" spc="5" dirty="0">
                <a:latin typeface="Arial MT"/>
                <a:cs typeface="Arial MT"/>
              </a:rPr>
              <a:t>O</a:t>
            </a:r>
            <a:r>
              <a:rPr sz="1350" spc="7" baseline="-21604" dirty="0">
                <a:latin typeface="Arial MT"/>
                <a:cs typeface="Arial MT"/>
              </a:rPr>
              <a:t>2	</a:t>
            </a:r>
            <a:r>
              <a:rPr sz="1400" spc="5" dirty="0">
                <a:latin typeface="Arial MT"/>
                <a:cs typeface="Arial MT"/>
              </a:rPr>
              <a:t>O</a:t>
            </a:r>
            <a:r>
              <a:rPr sz="1350" spc="7" baseline="-21604" dirty="0">
                <a:latin typeface="Arial MT"/>
                <a:cs typeface="Arial MT"/>
              </a:rPr>
              <a:t>3</a:t>
            </a:r>
            <a:endParaRPr sz="1350" baseline="-21604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006975" y="3419475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>
                <a:moveTo>
                  <a:pt x="0" y="0"/>
                </a:moveTo>
                <a:lnTo>
                  <a:pt x="3048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006975" y="5553075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>
                <a:moveTo>
                  <a:pt x="0" y="0"/>
                </a:moveTo>
                <a:lnTo>
                  <a:pt x="3048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r>
              <a:rPr spc="-5" dirty="0"/>
              <a:t>11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6350" y="0"/>
            <a:ext cx="9156700" cy="6870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515938" cy="68579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64540" y="1010665"/>
            <a:ext cx="611378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9" dirty="0">
                <a:solidFill>
                  <a:srgbClr val="FFFFCC"/>
                </a:solidFill>
                <a:latin typeface="Arial MT"/>
                <a:cs typeface="Arial MT"/>
              </a:rPr>
              <a:t>The</a:t>
            </a:r>
            <a:r>
              <a:rPr spc="-220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475" dirty="0">
                <a:solidFill>
                  <a:srgbClr val="FFFFCC"/>
                </a:solidFill>
                <a:latin typeface="Arial MT"/>
                <a:cs typeface="Arial MT"/>
              </a:rPr>
              <a:t>Des</a:t>
            </a:r>
            <a:r>
              <a:rPr spc="-180" dirty="0">
                <a:solidFill>
                  <a:srgbClr val="FFFFCC"/>
                </a:solidFill>
                <a:latin typeface="Arial MT"/>
                <a:cs typeface="Arial MT"/>
              </a:rPr>
              <a:t>i</a:t>
            </a:r>
            <a:r>
              <a:rPr spc="-445" dirty="0">
                <a:solidFill>
                  <a:srgbClr val="FFFFCC"/>
                </a:solidFill>
                <a:latin typeface="Arial MT"/>
                <a:cs typeface="Arial MT"/>
              </a:rPr>
              <a:t>gn</a:t>
            </a:r>
            <a:r>
              <a:rPr spc="-210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335" dirty="0">
                <a:solidFill>
                  <a:srgbClr val="FFFFCC"/>
                </a:solidFill>
                <a:latin typeface="Arial MT"/>
                <a:cs typeface="Arial MT"/>
              </a:rPr>
              <a:t>of</a:t>
            </a:r>
            <a:r>
              <a:rPr spc="-220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445" dirty="0">
                <a:solidFill>
                  <a:srgbClr val="FFFFCC"/>
                </a:solidFill>
                <a:latin typeface="Arial MT"/>
                <a:cs typeface="Arial MT"/>
              </a:rPr>
              <a:t>a</a:t>
            </a:r>
            <a:r>
              <a:rPr spc="-220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480" dirty="0">
                <a:solidFill>
                  <a:srgbClr val="FFFFCC"/>
                </a:solidFill>
                <a:latin typeface="Arial MT"/>
                <a:cs typeface="Arial MT"/>
              </a:rPr>
              <a:t>Memory</a:t>
            </a:r>
            <a:r>
              <a:rPr spc="-225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400" dirty="0">
                <a:solidFill>
                  <a:srgbClr val="FFFFCC"/>
                </a:solidFill>
                <a:latin typeface="Arial MT"/>
                <a:cs typeface="Arial MT"/>
              </a:rPr>
              <a:t>Chi</a:t>
            </a:r>
            <a:r>
              <a:rPr spc="-445" dirty="0">
                <a:solidFill>
                  <a:srgbClr val="FFFFCC"/>
                </a:solidFill>
                <a:latin typeface="Arial MT"/>
                <a:cs typeface="Arial MT"/>
              </a:rPr>
              <a:t>p</a:t>
            </a: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7239" y="2177796"/>
            <a:ext cx="189738" cy="19888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7239" y="4482083"/>
            <a:ext cx="189738" cy="19888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107439" y="2005837"/>
            <a:ext cx="7040245" cy="40373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82245">
              <a:lnSpc>
                <a:spcPct val="100000"/>
              </a:lnSpc>
              <a:spcBef>
                <a:spcPts val="100"/>
              </a:spcBef>
            </a:pPr>
            <a:r>
              <a:rPr sz="2800" spc="-370" dirty="0">
                <a:solidFill>
                  <a:srgbClr val="EBEBEB"/>
                </a:solidFill>
                <a:latin typeface="Arial MT"/>
                <a:cs typeface="Arial MT"/>
              </a:rPr>
              <a:t>U</a:t>
            </a:r>
            <a:r>
              <a:rPr sz="2800" spc="-254" dirty="0">
                <a:solidFill>
                  <a:srgbClr val="EBEBEB"/>
                </a:solidFill>
                <a:latin typeface="Arial MT"/>
                <a:cs typeface="Arial MT"/>
              </a:rPr>
              <a:t>s</a:t>
            </a:r>
            <a:r>
              <a:rPr sz="2800" spc="-225" dirty="0">
                <a:solidFill>
                  <a:srgbClr val="EBEBEB"/>
                </a:solidFill>
                <a:latin typeface="Arial MT"/>
                <a:cs typeface="Arial MT"/>
              </a:rPr>
              <a:t>ing</a:t>
            </a:r>
            <a:r>
              <a:rPr sz="2800" spc="-15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t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he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370" dirty="0">
                <a:solidFill>
                  <a:srgbClr val="EBEBEB"/>
                </a:solidFill>
                <a:latin typeface="Arial MT"/>
                <a:cs typeface="Arial MT"/>
              </a:rPr>
              <a:t>R</a:t>
            </a:r>
            <a:r>
              <a:rPr sz="2800" spc="-365" dirty="0">
                <a:solidFill>
                  <a:srgbClr val="EBEBEB"/>
                </a:solidFill>
                <a:latin typeface="Arial MT"/>
                <a:cs typeface="Arial MT"/>
              </a:rPr>
              <a:t>D</a:t>
            </a:r>
            <a:r>
              <a:rPr sz="2800" spc="-13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and</a:t>
            </a:r>
            <a:r>
              <a:rPr sz="2800" spc="-15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480" dirty="0">
                <a:solidFill>
                  <a:srgbClr val="EBEBEB"/>
                </a:solidFill>
                <a:latin typeface="Arial MT"/>
                <a:cs typeface="Arial MT"/>
              </a:rPr>
              <a:t>W</a:t>
            </a:r>
            <a:r>
              <a:rPr sz="2800" spc="-365" dirty="0">
                <a:solidFill>
                  <a:srgbClr val="EBEBEB"/>
                </a:solidFill>
                <a:latin typeface="Arial MT"/>
                <a:cs typeface="Arial MT"/>
              </a:rPr>
              <a:t>R</a:t>
            </a:r>
            <a:r>
              <a:rPr sz="2800" spc="-14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70" dirty="0">
                <a:solidFill>
                  <a:srgbClr val="EBEBEB"/>
                </a:solidFill>
                <a:latin typeface="Arial MT"/>
                <a:cs typeface="Arial MT"/>
              </a:rPr>
              <a:t>con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t</a:t>
            </a:r>
            <a:r>
              <a:rPr sz="2800" spc="-175" dirty="0">
                <a:solidFill>
                  <a:srgbClr val="EBEBEB"/>
                </a:solidFill>
                <a:latin typeface="Arial MT"/>
                <a:cs typeface="Arial MT"/>
              </a:rPr>
              <a:t>r</a:t>
            </a:r>
            <a:r>
              <a:rPr sz="2800" spc="-215" dirty="0">
                <a:solidFill>
                  <a:srgbClr val="EBEBEB"/>
                </a:solidFill>
                <a:latin typeface="Arial MT"/>
                <a:cs typeface="Arial MT"/>
              </a:rPr>
              <a:t>ols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370" dirty="0">
                <a:solidFill>
                  <a:srgbClr val="EBEBEB"/>
                </a:solidFill>
                <a:latin typeface="Arial MT"/>
                <a:cs typeface="Arial MT"/>
              </a:rPr>
              <a:t>w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e</a:t>
            </a:r>
            <a:r>
              <a:rPr sz="2800" spc="-14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70" dirty="0">
                <a:solidFill>
                  <a:srgbClr val="EBEBEB"/>
                </a:solidFill>
                <a:latin typeface="Arial MT"/>
                <a:cs typeface="Arial MT"/>
              </a:rPr>
              <a:t>can</a:t>
            </a:r>
            <a:r>
              <a:rPr sz="2800" spc="-15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de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t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e</a:t>
            </a:r>
            <a:r>
              <a:rPr sz="2800" spc="-175" dirty="0">
                <a:solidFill>
                  <a:srgbClr val="EBEBEB"/>
                </a:solidFill>
                <a:latin typeface="Arial MT"/>
                <a:cs typeface="Arial MT"/>
              </a:rPr>
              <a:t>r</a:t>
            </a:r>
            <a:r>
              <a:rPr sz="2800" spc="-275" dirty="0">
                <a:solidFill>
                  <a:srgbClr val="EBEBEB"/>
                </a:solidFill>
                <a:latin typeface="Arial MT"/>
                <a:cs typeface="Arial MT"/>
              </a:rPr>
              <a:t>mine</a:t>
            </a:r>
            <a:r>
              <a:rPr sz="2800" spc="-15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t</a:t>
            </a:r>
            <a:r>
              <a:rPr sz="2800" spc="-210" dirty="0">
                <a:solidFill>
                  <a:srgbClr val="EBEBEB"/>
                </a:solidFill>
                <a:latin typeface="Arial MT"/>
                <a:cs typeface="Arial MT"/>
              </a:rPr>
              <a:t>he  </a:t>
            </a:r>
            <a:r>
              <a:rPr sz="2800" spc="-200" dirty="0">
                <a:solidFill>
                  <a:srgbClr val="EBEBEB"/>
                </a:solidFill>
                <a:latin typeface="Arial MT"/>
                <a:cs typeface="Arial MT"/>
              </a:rPr>
              <a:t>di</a:t>
            </a:r>
            <a:r>
              <a:rPr sz="2800" spc="-175" dirty="0">
                <a:solidFill>
                  <a:srgbClr val="EBEBEB"/>
                </a:solidFill>
                <a:latin typeface="Arial MT"/>
                <a:cs typeface="Arial MT"/>
              </a:rPr>
              <a:t>r</a:t>
            </a:r>
            <a:r>
              <a:rPr sz="2800" spc="-270" dirty="0">
                <a:solidFill>
                  <a:srgbClr val="EBEBEB"/>
                </a:solidFill>
                <a:latin typeface="Arial MT"/>
                <a:cs typeface="Arial MT"/>
              </a:rPr>
              <a:t>ec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t</a:t>
            </a:r>
            <a:r>
              <a:rPr sz="2800" spc="-225" dirty="0">
                <a:solidFill>
                  <a:srgbClr val="EBEBEB"/>
                </a:solidFill>
                <a:latin typeface="Arial MT"/>
                <a:cs typeface="Arial MT"/>
              </a:rPr>
              <a:t>ion</a:t>
            </a:r>
            <a:r>
              <a:rPr sz="2800" spc="-15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10" dirty="0">
                <a:solidFill>
                  <a:srgbClr val="EBEBEB"/>
                </a:solidFill>
                <a:latin typeface="Arial MT"/>
                <a:cs typeface="Arial MT"/>
              </a:rPr>
              <a:t>of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f</a:t>
            </a:r>
            <a:r>
              <a:rPr sz="2800" spc="-254" dirty="0">
                <a:solidFill>
                  <a:srgbClr val="EBEBEB"/>
                </a:solidFill>
                <a:latin typeface="Arial MT"/>
                <a:cs typeface="Arial MT"/>
              </a:rPr>
              <a:t>low</a:t>
            </a:r>
            <a:r>
              <a:rPr sz="2800" spc="-13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00" dirty="0">
                <a:solidFill>
                  <a:srgbClr val="EBEBEB"/>
                </a:solidFill>
                <a:latin typeface="Arial MT"/>
                <a:cs typeface="Arial MT"/>
              </a:rPr>
              <a:t>ei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t</a:t>
            </a:r>
            <a:r>
              <a:rPr sz="2800" spc="-245" dirty="0">
                <a:solidFill>
                  <a:srgbClr val="EBEBEB"/>
                </a:solidFill>
                <a:latin typeface="Arial MT"/>
                <a:cs typeface="Arial MT"/>
              </a:rPr>
              <a:t>her</a:t>
            </a:r>
            <a:r>
              <a:rPr sz="2800" spc="-15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00" dirty="0">
                <a:solidFill>
                  <a:srgbClr val="EBEBEB"/>
                </a:solidFill>
                <a:latin typeface="Arial MT"/>
                <a:cs typeface="Arial MT"/>
              </a:rPr>
              <a:t>in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t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o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25" dirty="0">
                <a:solidFill>
                  <a:srgbClr val="EBEBEB"/>
                </a:solidFill>
                <a:latin typeface="Arial MT"/>
                <a:cs typeface="Arial MT"/>
              </a:rPr>
              <a:t>or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35" dirty="0">
                <a:solidFill>
                  <a:srgbClr val="EBEBEB"/>
                </a:solidFill>
                <a:latin typeface="Arial MT"/>
                <a:cs typeface="Arial MT"/>
              </a:rPr>
              <a:t>out</a:t>
            </a:r>
            <a:r>
              <a:rPr sz="2800" spc="-15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10" dirty="0">
                <a:solidFill>
                  <a:srgbClr val="EBEBEB"/>
                </a:solidFill>
                <a:latin typeface="Arial MT"/>
                <a:cs typeface="Arial MT"/>
              </a:rPr>
              <a:t>of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350" dirty="0">
                <a:solidFill>
                  <a:srgbClr val="EBEBEB"/>
                </a:solidFill>
                <a:latin typeface="Arial MT"/>
                <a:cs typeface="Arial MT"/>
              </a:rPr>
              <a:t>memo</a:t>
            </a:r>
            <a:r>
              <a:rPr sz="2800" spc="-175" dirty="0">
                <a:solidFill>
                  <a:srgbClr val="EBEBEB"/>
                </a:solidFill>
                <a:latin typeface="Arial MT"/>
                <a:cs typeface="Arial MT"/>
              </a:rPr>
              <a:t>r</a:t>
            </a:r>
            <a:r>
              <a:rPr sz="2800" spc="-254" dirty="0">
                <a:solidFill>
                  <a:srgbClr val="EBEBEB"/>
                </a:solidFill>
                <a:latin typeface="Arial MT"/>
                <a:cs typeface="Arial MT"/>
              </a:rPr>
              <a:t>y</a:t>
            </a:r>
            <a:r>
              <a:rPr sz="2800" spc="-140" dirty="0">
                <a:solidFill>
                  <a:srgbClr val="EBEBEB"/>
                </a:solidFill>
                <a:latin typeface="Arial MT"/>
                <a:cs typeface="Arial MT"/>
              </a:rPr>
              <a:t>.</a:t>
            </a:r>
            <a:r>
              <a:rPr sz="2800" spc="-15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40" dirty="0">
                <a:solidFill>
                  <a:srgbClr val="EBEBEB"/>
                </a:solidFill>
                <a:latin typeface="Arial MT"/>
                <a:cs typeface="Arial MT"/>
              </a:rPr>
              <a:t>Then  </a:t>
            </a:r>
            <a:r>
              <a:rPr sz="2800" spc="-245" dirty="0">
                <a:solidFill>
                  <a:srgbClr val="EBEBEB"/>
                </a:solidFill>
                <a:latin typeface="Arial MT"/>
                <a:cs typeface="Arial MT"/>
              </a:rPr>
              <a:t>using</a:t>
            </a:r>
            <a:r>
              <a:rPr sz="2800" spc="-15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35" dirty="0">
                <a:solidFill>
                  <a:srgbClr val="EBEBEB"/>
                </a:solidFill>
                <a:latin typeface="Arial MT"/>
                <a:cs typeface="Arial MT"/>
              </a:rPr>
              <a:t>the</a:t>
            </a:r>
            <a:r>
              <a:rPr sz="2800" spc="-15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35" dirty="0">
                <a:solidFill>
                  <a:srgbClr val="EBEBEB"/>
                </a:solidFill>
                <a:latin typeface="Arial MT"/>
                <a:cs typeface="Arial MT"/>
              </a:rPr>
              <a:t>appropriate</a:t>
            </a:r>
            <a:r>
              <a:rPr sz="2800" spc="-15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65" dirty="0">
                <a:solidFill>
                  <a:srgbClr val="EBEBEB"/>
                </a:solidFill>
                <a:latin typeface="Arial MT"/>
                <a:cs typeface="Arial MT"/>
              </a:rPr>
              <a:t>Enable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20" dirty="0">
                <a:solidFill>
                  <a:srgbClr val="EBEBEB"/>
                </a:solidFill>
                <a:latin typeface="Arial MT"/>
                <a:cs typeface="Arial MT"/>
              </a:rPr>
              <a:t>input</a:t>
            </a:r>
            <a:r>
              <a:rPr sz="2800" spc="-15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325" dirty="0">
                <a:solidFill>
                  <a:srgbClr val="EBEBEB"/>
                </a:solidFill>
                <a:latin typeface="Arial MT"/>
                <a:cs typeface="Arial MT"/>
              </a:rPr>
              <a:t>we</a:t>
            </a:r>
            <a:r>
              <a:rPr sz="2800" spc="-14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54" dirty="0">
                <a:solidFill>
                  <a:srgbClr val="EBEBEB"/>
                </a:solidFill>
                <a:latin typeface="Arial MT"/>
                <a:cs typeface="Arial MT"/>
              </a:rPr>
              <a:t>enable</a:t>
            </a:r>
            <a:r>
              <a:rPr sz="2800" spc="-15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an </a:t>
            </a:r>
            <a:r>
              <a:rPr sz="2800" spc="-27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10" dirty="0">
                <a:solidFill>
                  <a:srgbClr val="EBEBEB"/>
                </a:solidFill>
                <a:latin typeface="Arial MT"/>
                <a:cs typeface="Arial MT"/>
              </a:rPr>
              <a:t>individual</a:t>
            </a:r>
            <a:r>
              <a:rPr sz="2800" spc="-15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350" dirty="0">
                <a:solidFill>
                  <a:srgbClr val="EBEBEB"/>
                </a:solidFill>
                <a:latin typeface="Arial MT"/>
                <a:cs typeface="Arial MT"/>
              </a:rPr>
              <a:t>memo</a:t>
            </a:r>
            <a:r>
              <a:rPr sz="2800" spc="-175" dirty="0">
                <a:solidFill>
                  <a:srgbClr val="EBEBEB"/>
                </a:solidFill>
                <a:latin typeface="Arial MT"/>
                <a:cs typeface="Arial MT"/>
              </a:rPr>
              <a:t>r</a:t>
            </a:r>
            <a:r>
              <a:rPr sz="2800" spc="-254" dirty="0">
                <a:solidFill>
                  <a:srgbClr val="EBEBEB"/>
                </a:solidFill>
                <a:latin typeface="Arial MT"/>
                <a:cs typeface="Arial MT"/>
              </a:rPr>
              <a:t>y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175" dirty="0">
                <a:solidFill>
                  <a:srgbClr val="EBEBEB"/>
                </a:solidFill>
                <a:latin typeface="Arial MT"/>
                <a:cs typeface="Arial MT"/>
              </a:rPr>
              <a:t>r</a:t>
            </a:r>
            <a:r>
              <a:rPr sz="2800" spc="-235" dirty="0">
                <a:solidFill>
                  <a:srgbClr val="EBEBEB"/>
                </a:solidFill>
                <a:latin typeface="Arial MT"/>
                <a:cs typeface="Arial MT"/>
              </a:rPr>
              <a:t>egis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t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e</a:t>
            </a:r>
            <a:r>
              <a:rPr sz="2800" spc="-175" dirty="0">
                <a:solidFill>
                  <a:srgbClr val="EBEBEB"/>
                </a:solidFill>
                <a:latin typeface="Arial MT"/>
                <a:cs typeface="Arial MT"/>
              </a:rPr>
              <a:t>r</a:t>
            </a:r>
            <a:r>
              <a:rPr sz="2800" spc="-140" dirty="0">
                <a:solidFill>
                  <a:srgbClr val="EBEBEB"/>
                </a:solidFill>
                <a:latin typeface="Arial MT"/>
                <a:cs typeface="Arial MT"/>
              </a:rPr>
              <a:t>.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405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2800" spc="-480" dirty="0">
                <a:solidFill>
                  <a:srgbClr val="EBEBEB"/>
                </a:solidFill>
                <a:latin typeface="Arial MT"/>
                <a:cs typeface="Arial MT"/>
              </a:rPr>
              <a:t>W</a:t>
            </a:r>
            <a:r>
              <a:rPr sz="2800" spc="-235" dirty="0">
                <a:solidFill>
                  <a:srgbClr val="EBEBEB"/>
                </a:solidFill>
                <a:latin typeface="Arial MT"/>
                <a:cs typeface="Arial MT"/>
              </a:rPr>
              <a:t>hat</a:t>
            </a:r>
            <a:r>
              <a:rPr sz="2800" spc="-16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370" dirty="0">
                <a:solidFill>
                  <a:srgbClr val="EBEBEB"/>
                </a:solidFill>
                <a:latin typeface="Arial MT"/>
                <a:cs typeface="Arial MT"/>
              </a:rPr>
              <a:t>w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e</a:t>
            </a:r>
            <a:r>
              <a:rPr sz="2800" spc="-14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75" dirty="0">
                <a:solidFill>
                  <a:srgbClr val="EBEBEB"/>
                </a:solidFill>
                <a:latin typeface="Arial MT"/>
                <a:cs typeface="Arial MT"/>
              </a:rPr>
              <a:t>have</a:t>
            </a:r>
            <a:r>
              <a:rPr sz="2800" spc="-15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15" dirty="0">
                <a:solidFill>
                  <a:srgbClr val="EBEBEB"/>
                </a:solidFill>
                <a:latin typeface="Arial MT"/>
                <a:cs typeface="Arial MT"/>
              </a:rPr>
              <a:t>jus</a:t>
            </a:r>
            <a:r>
              <a:rPr sz="2800" spc="-140" dirty="0">
                <a:solidFill>
                  <a:srgbClr val="EBEBEB"/>
                </a:solidFill>
                <a:latin typeface="Arial MT"/>
                <a:cs typeface="Arial MT"/>
              </a:rPr>
              <a:t>t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54" dirty="0">
                <a:solidFill>
                  <a:srgbClr val="EBEBEB"/>
                </a:solidFill>
                <a:latin typeface="Arial MT"/>
                <a:cs typeface="Arial MT"/>
              </a:rPr>
              <a:t>designed</a:t>
            </a:r>
            <a:r>
              <a:rPr sz="2800" spc="-15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185" dirty="0">
                <a:solidFill>
                  <a:srgbClr val="EBEBEB"/>
                </a:solidFill>
                <a:latin typeface="Arial MT"/>
                <a:cs typeface="Arial MT"/>
              </a:rPr>
              <a:t>is</a:t>
            </a:r>
            <a:r>
              <a:rPr sz="2800" spc="-14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a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350" dirty="0">
                <a:solidFill>
                  <a:srgbClr val="EBEBEB"/>
                </a:solidFill>
                <a:latin typeface="Arial MT"/>
                <a:cs typeface="Arial MT"/>
              </a:rPr>
              <a:t>memo</a:t>
            </a:r>
            <a:r>
              <a:rPr sz="2800" spc="-175" dirty="0">
                <a:solidFill>
                  <a:srgbClr val="EBEBEB"/>
                </a:solidFill>
                <a:latin typeface="Arial MT"/>
                <a:cs typeface="Arial MT"/>
              </a:rPr>
              <a:t>r</a:t>
            </a:r>
            <a:r>
              <a:rPr sz="2800" spc="-254" dirty="0">
                <a:solidFill>
                  <a:srgbClr val="EBEBEB"/>
                </a:solidFill>
                <a:latin typeface="Arial MT"/>
                <a:cs typeface="Arial MT"/>
              </a:rPr>
              <a:t>y</a:t>
            </a:r>
            <a:r>
              <a:rPr sz="2800" spc="-15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370" dirty="0">
                <a:solidFill>
                  <a:srgbClr val="EBEBEB"/>
                </a:solidFill>
                <a:latin typeface="Arial MT"/>
                <a:cs typeface="Arial MT"/>
              </a:rPr>
              <a:t>w</a:t>
            </a:r>
            <a:r>
              <a:rPr sz="2800" spc="-114" dirty="0">
                <a:solidFill>
                  <a:srgbClr val="EBEBEB"/>
                </a:solidFill>
                <a:latin typeface="Arial MT"/>
                <a:cs typeface="Arial MT"/>
              </a:rPr>
              <a:t>i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t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h</a:t>
            </a:r>
            <a:r>
              <a:rPr sz="2800" spc="-13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190" dirty="0">
                <a:solidFill>
                  <a:srgbClr val="EBEBEB"/>
                </a:solidFill>
                <a:latin typeface="Arial MT"/>
                <a:cs typeface="Arial MT"/>
              </a:rPr>
              <a:t>4  </a:t>
            </a:r>
            <a:r>
              <a:rPr sz="2800" spc="-225" dirty="0">
                <a:solidFill>
                  <a:srgbClr val="EBEBEB"/>
                </a:solidFill>
                <a:latin typeface="Arial MT"/>
                <a:cs typeface="Arial MT"/>
              </a:rPr>
              <a:t>locations</a:t>
            </a:r>
            <a:r>
              <a:rPr sz="2800" spc="-15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and</a:t>
            </a:r>
            <a:r>
              <a:rPr sz="2800" spc="-15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75" dirty="0">
                <a:solidFill>
                  <a:srgbClr val="EBEBEB"/>
                </a:solidFill>
                <a:latin typeface="Arial MT"/>
                <a:cs typeface="Arial MT"/>
              </a:rPr>
              <a:t>each</a:t>
            </a:r>
            <a:r>
              <a:rPr sz="2800" spc="-14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20" dirty="0">
                <a:solidFill>
                  <a:srgbClr val="EBEBEB"/>
                </a:solidFill>
                <a:latin typeface="Arial MT"/>
                <a:cs typeface="Arial MT"/>
              </a:rPr>
              <a:t>location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75" dirty="0">
                <a:solidFill>
                  <a:srgbClr val="EBEBEB"/>
                </a:solidFill>
                <a:latin typeface="Arial MT"/>
                <a:cs typeface="Arial MT"/>
              </a:rPr>
              <a:t>has</a:t>
            </a:r>
            <a:r>
              <a:rPr sz="2800" spc="-13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4</a:t>
            </a:r>
            <a:r>
              <a:rPr sz="2800" spc="-14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60" dirty="0">
                <a:solidFill>
                  <a:srgbClr val="EBEBEB"/>
                </a:solidFill>
                <a:latin typeface="Arial MT"/>
                <a:cs typeface="Arial MT"/>
              </a:rPr>
              <a:t>elements</a:t>
            </a:r>
            <a:r>
              <a:rPr sz="2800" spc="-15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185" dirty="0">
                <a:solidFill>
                  <a:srgbClr val="EBEBEB"/>
                </a:solidFill>
                <a:latin typeface="Arial MT"/>
                <a:cs typeface="Arial MT"/>
              </a:rPr>
              <a:t>(bits).</a:t>
            </a:r>
            <a:r>
              <a:rPr sz="2800" spc="-13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40" dirty="0">
                <a:solidFill>
                  <a:srgbClr val="EBEBEB"/>
                </a:solidFill>
                <a:latin typeface="Arial MT"/>
                <a:cs typeface="Arial MT"/>
              </a:rPr>
              <a:t>This </a:t>
            </a:r>
            <a:r>
              <a:rPr sz="2800" spc="-76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350" dirty="0">
                <a:solidFill>
                  <a:srgbClr val="EBEBEB"/>
                </a:solidFill>
                <a:latin typeface="Arial MT"/>
                <a:cs typeface="Arial MT"/>
              </a:rPr>
              <a:t>memo</a:t>
            </a:r>
            <a:r>
              <a:rPr sz="2800" spc="-175" dirty="0">
                <a:solidFill>
                  <a:srgbClr val="EBEBEB"/>
                </a:solidFill>
                <a:latin typeface="Arial MT"/>
                <a:cs typeface="Arial MT"/>
              </a:rPr>
              <a:t>r</a:t>
            </a:r>
            <a:r>
              <a:rPr sz="2800" spc="-254" dirty="0">
                <a:solidFill>
                  <a:srgbClr val="EBEBEB"/>
                </a:solidFill>
                <a:latin typeface="Arial MT"/>
                <a:cs typeface="Arial MT"/>
              </a:rPr>
              <a:t>y</a:t>
            </a:r>
            <a:r>
              <a:rPr sz="2800" spc="-15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370" dirty="0">
                <a:solidFill>
                  <a:srgbClr val="EBEBEB"/>
                </a:solidFill>
                <a:latin typeface="Arial MT"/>
                <a:cs typeface="Arial MT"/>
              </a:rPr>
              <a:t>w</a:t>
            </a:r>
            <a:r>
              <a:rPr sz="2800" spc="-240" dirty="0">
                <a:solidFill>
                  <a:srgbClr val="EBEBEB"/>
                </a:solidFill>
                <a:latin typeface="Arial MT"/>
                <a:cs typeface="Arial MT"/>
              </a:rPr>
              <a:t>ould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be</a:t>
            </a:r>
            <a:r>
              <a:rPr sz="2800" spc="-15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54" dirty="0">
                <a:solidFill>
                  <a:srgbClr val="EBEBEB"/>
                </a:solidFill>
                <a:latin typeface="Arial MT"/>
                <a:cs typeface="Arial MT"/>
              </a:rPr>
              <a:t>c</a:t>
            </a:r>
            <a:r>
              <a:rPr sz="2800" spc="-215" dirty="0">
                <a:solidFill>
                  <a:srgbClr val="EBEBEB"/>
                </a:solidFill>
                <a:latin typeface="Arial MT"/>
                <a:cs typeface="Arial MT"/>
              </a:rPr>
              <a:t>alled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4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335" dirty="0">
                <a:solidFill>
                  <a:srgbClr val="EBEBEB"/>
                </a:solidFill>
                <a:latin typeface="Arial MT"/>
                <a:cs typeface="Arial MT"/>
              </a:rPr>
              <a:t>X</a:t>
            </a:r>
            <a:r>
              <a:rPr sz="2800" spc="-13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4</a:t>
            </a:r>
            <a:r>
              <a:rPr sz="2800" spc="-15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[</a:t>
            </a:r>
            <a:r>
              <a:rPr sz="2800" spc="-370" dirty="0">
                <a:solidFill>
                  <a:srgbClr val="EBEBEB"/>
                </a:solidFill>
                <a:latin typeface="Arial MT"/>
                <a:cs typeface="Arial MT"/>
              </a:rPr>
              <a:t>N</a:t>
            </a:r>
            <a:r>
              <a:rPr sz="2800" spc="-285" dirty="0">
                <a:solidFill>
                  <a:srgbClr val="EBEBEB"/>
                </a:solidFill>
                <a:latin typeface="Arial MT"/>
                <a:cs typeface="Arial MT"/>
              </a:rPr>
              <a:t>umber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10" dirty="0">
                <a:solidFill>
                  <a:srgbClr val="EBEBEB"/>
                </a:solidFill>
                <a:latin typeface="Arial MT"/>
                <a:cs typeface="Arial MT"/>
              </a:rPr>
              <a:t>of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15" dirty="0">
                <a:solidFill>
                  <a:srgbClr val="EBEBEB"/>
                </a:solidFill>
                <a:latin typeface="Arial MT"/>
                <a:cs typeface="Arial MT"/>
              </a:rPr>
              <a:t>loc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a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t</a:t>
            </a:r>
            <a:r>
              <a:rPr sz="2800" spc="-225" dirty="0">
                <a:solidFill>
                  <a:srgbClr val="EBEBEB"/>
                </a:solidFill>
                <a:latin typeface="Arial MT"/>
                <a:cs typeface="Arial MT"/>
              </a:rPr>
              <a:t>ion</a:t>
            </a:r>
            <a:r>
              <a:rPr sz="2800" spc="-15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04" dirty="0">
                <a:solidFill>
                  <a:srgbClr val="EBEBEB"/>
                </a:solidFill>
                <a:latin typeface="Arial MT"/>
                <a:cs typeface="Arial MT"/>
              </a:rPr>
              <a:t>X  </a:t>
            </a:r>
            <a:r>
              <a:rPr sz="2800" spc="-285" dirty="0">
                <a:solidFill>
                  <a:srgbClr val="EBEBEB"/>
                </a:solidFill>
                <a:latin typeface="Arial MT"/>
                <a:cs typeface="Arial MT"/>
              </a:rPr>
              <a:t>number</a:t>
            </a:r>
            <a:r>
              <a:rPr sz="2800" spc="-16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10" dirty="0">
                <a:solidFill>
                  <a:srgbClr val="EBEBEB"/>
                </a:solidFill>
                <a:latin typeface="Arial MT"/>
                <a:cs typeface="Arial MT"/>
              </a:rPr>
              <a:t>of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00" dirty="0">
                <a:solidFill>
                  <a:srgbClr val="EBEBEB"/>
                </a:solidFill>
                <a:latin typeface="Arial MT"/>
                <a:cs typeface="Arial MT"/>
              </a:rPr>
              <a:t>bi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t</a:t>
            </a:r>
            <a:r>
              <a:rPr sz="2800" spc="-254" dirty="0">
                <a:solidFill>
                  <a:srgbClr val="EBEBEB"/>
                </a:solidFill>
                <a:latin typeface="Arial MT"/>
                <a:cs typeface="Arial MT"/>
              </a:rPr>
              <a:t>s</a:t>
            </a:r>
            <a:r>
              <a:rPr sz="2800" spc="-14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45" dirty="0">
                <a:solidFill>
                  <a:srgbClr val="EBEBEB"/>
                </a:solidFill>
                <a:latin typeface="Arial MT"/>
                <a:cs typeface="Arial MT"/>
              </a:rPr>
              <a:t>per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15" dirty="0">
                <a:solidFill>
                  <a:srgbClr val="EBEBEB"/>
                </a:solidFill>
                <a:latin typeface="Arial MT"/>
                <a:cs typeface="Arial MT"/>
              </a:rPr>
              <a:t>loc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a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t</a:t>
            </a:r>
            <a:r>
              <a:rPr sz="2800" spc="-225" dirty="0">
                <a:solidFill>
                  <a:srgbClr val="EBEBEB"/>
                </a:solidFill>
                <a:latin typeface="Arial MT"/>
                <a:cs typeface="Arial MT"/>
              </a:rPr>
              <a:t>ion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]</a:t>
            </a:r>
            <a:r>
              <a:rPr sz="2800" spc="-140" dirty="0">
                <a:solidFill>
                  <a:srgbClr val="EBEBEB"/>
                </a:solidFill>
                <a:latin typeface="Arial MT"/>
                <a:cs typeface="Arial MT"/>
              </a:rPr>
              <a:t>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r>
              <a:rPr spc="-5" dirty="0"/>
              <a:t>12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6350" y="0"/>
            <a:ext cx="9156700" cy="6870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515938" cy="68579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64540" y="1010665"/>
            <a:ext cx="3748404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9" dirty="0">
                <a:solidFill>
                  <a:srgbClr val="FFFFCC"/>
                </a:solidFill>
                <a:latin typeface="Arial MT"/>
                <a:cs typeface="Arial MT"/>
              </a:rPr>
              <a:t>The</a:t>
            </a:r>
            <a:r>
              <a:rPr spc="-220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465" dirty="0">
                <a:solidFill>
                  <a:srgbClr val="FFFFCC"/>
                </a:solidFill>
                <a:latin typeface="Arial MT"/>
                <a:cs typeface="Arial MT"/>
              </a:rPr>
              <a:t>Enab</a:t>
            </a:r>
            <a:r>
              <a:rPr spc="-180" dirty="0">
                <a:solidFill>
                  <a:srgbClr val="FFFFCC"/>
                </a:solidFill>
                <a:latin typeface="Arial MT"/>
                <a:cs typeface="Arial MT"/>
              </a:rPr>
              <a:t>l</a:t>
            </a:r>
            <a:r>
              <a:rPr spc="-445" dirty="0">
                <a:solidFill>
                  <a:srgbClr val="FFFFCC"/>
                </a:solidFill>
                <a:latin typeface="Arial MT"/>
                <a:cs typeface="Arial MT"/>
              </a:rPr>
              <a:t>e</a:t>
            </a:r>
            <a:r>
              <a:rPr spc="-200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365" dirty="0">
                <a:solidFill>
                  <a:srgbClr val="FFFFCC"/>
                </a:solidFill>
                <a:latin typeface="Arial MT"/>
                <a:cs typeface="Arial MT"/>
              </a:rPr>
              <a:t>Inputs</a:t>
            </a: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7239" y="2197608"/>
            <a:ext cx="215645" cy="22707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33677" y="2762250"/>
            <a:ext cx="177545" cy="18668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33677" y="4554473"/>
            <a:ext cx="177545" cy="18668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07439" y="1906452"/>
            <a:ext cx="7051040" cy="334391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3200" spc="-425" dirty="0">
                <a:solidFill>
                  <a:srgbClr val="EBEBEB"/>
                </a:solidFill>
                <a:latin typeface="Arial MT"/>
                <a:cs typeface="Arial MT"/>
              </a:rPr>
              <a:t>H</a:t>
            </a:r>
            <a:r>
              <a:rPr sz="3200" spc="-370" dirty="0">
                <a:solidFill>
                  <a:srgbClr val="EBEBEB"/>
                </a:solidFill>
                <a:latin typeface="Arial MT"/>
                <a:cs typeface="Arial MT"/>
              </a:rPr>
              <a:t>ow</a:t>
            </a:r>
            <a:r>
              <a:rPr sz="3200" spc="-15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3200" spc="-325" dirty="0">
                <a:solidFill>
                  <a:srgbClr val="EBEBEB"/>
                </a:solidFill>
                <a:latin typeface="Arial MT"/>
                <a:cs typeface="Arial MT"/>
              </a:rPr>
              <a:t>do</a:t>
            </a:r>
            <a:r>
              <a:rPr sz="3200" spc="-16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3200" spc="-425" dirty="0">
                <a:solidFill>
                  <a:srgbClr val="EBEBEB"/>
                </a:solidFill>
                <a:latin typeface="Arial MT"/>
                <a:cs typeface="Arial MT"/>
              </a:rPr>
              <a:t>w</a:t>
            </a:r>
            <a:r>
              <a:rPr sz="3200" spc="-325" dirty="0">
                <a:solidFill>
                  <a:srgbClr val="EBEBEB"/>
                </a:solidFill>
                <a:latin typeface="Arial MT"/>
                <a:cs typeface="Arial MT"/>
              </a:rPr>
              <a:t>e</a:t>
            </a:r>
            <a:r>
              <a:rPr sz="32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3200" spc="-325" dirty="0">
                <a:solidFill>
                  <a:srgbClr val="EBEBEB"/>
                </a:solidFill>
                <a:latin typeface="Arial MT"/>
                <a:cs typeface="Arial MT"/>
              </a:rPr>
              <a:t>p</a:t>
            </a:r>
            <a:r>
              <a:rPr sz="3200" spc="-200" dirty="0">
                <a:solidFill>
                  <a:srgbClr val="EBEBEB"/>
                </a:solidFill>
                <a:latin typeface="Arial MT"/>
                <a:cs typeface="Arial MT"/>
              </a:rPr>
              <a:t>r</a:t>
            </a:r>
            <a:r>
              <a:rPr sz="3200" spc="-315" dirty="0">
                <a:solidFill>
                  <a:srgbClr val="EBEBEB"/>
                </a:solidFill>
                <a:latin typeface="Arial MT"/>
                <a:cs typeface="Arial MT"/>
              </a:rPr>
              <a:t>oduce</a:t>
            </a:r>
            <a:r>
              <a:rPr sz="32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3200" spc="-160" dirty="0">
                <a:solidFill>
                  <a:srgbClr val="EBEBEB"/>
                </a:solidFill>
                <a:latin typeface="Arial MT"/>
                <a:cs typeface="Arial MT"/>
              </a:rPr>
              <a:t>t</a:t>
            </a:r>
            <a:r>
              <a:rPr sz="3200" spc="-315" dirty="0">
                <a:solidFill>
                  <a:srgbClr val="EBEBEB"/>
                </a:solidFill>
                <a:latin typeface="Arial MT"/>
                <a:cs typeface="Arial MT"/>
              </a:rPr>
              <a:t>hese</a:t>
            </a:r>
            <a:r>
              <a:rPr sz="3200" spc="-16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3200" spc="-325" dirty="0">
                <a:solidFill>
                  <a:srgbClr val="EBEBEB"/>
                </a:solidFill>
                <a:latin typeface="Arial MT"/>
                <a:cs typeface="Arial MT"/>
              </a:rPr>
              <a:t>enab</a:t>
            </a:r>
            <a:r>
              <a:rPr sz="3200" spc="-125" dirty="0">
                <a:solidFill>
                  <a:srgbClr val="EBEBEB"/>
                </a:solidFill>
                <a:latin typeface="Arial MT"/>
                <a:cs typeface="Arial MT"/>
              </a:rPr>
              <a:t>l</a:t>
            </a:r>
            <a:r>
              <a:rPr sz="3200" spc="-325" dirty="0">
                <a:solidFill>
                  <a:srgbClr val="EBEBEB"/>
                </a:solidFill>
                <a:latin typeface="Arial MT"/>
                <a:cs typeface="Arial MT"/>
              </a:rPr>
              <a:t>e</a:t>
            </a:r>
            <a:r>
              <a:rPr sz="32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3200" spc="-245" dirty="0">
                <a:solidFill>
                  <a:srgbClr val="EBEBEB"/>
                </a:solidFill>
                <a:latin typeface="Arial MT"/>
                <a:cs typeface="Arial MT"/>
              </a:rPr>
              <a:t>line?</a:t>
            </a:r>
            <a:endParaRPr sz="3200">
              <a:latin typeface="Arial MT"/>
              <a:cs typeface="Arial MT"/>
            </a:endParaRPr>
          </a:p>
          <a:p>
            <a:pPr marL="412750" marR="5080">
              <a:lnSpc>
                <a:spcPct val="100000"/>
              </a:lnSpc>
              <a:spcBef>
                <a:spcPts val="680"/>
              </a:spcBef>
            </a:pPr>
            <a:r>
              <a:rPr sz="2800" spc="-340" dirty="0">
                <a:solidFill>
                  <a:srgbClr val="EBEBEB"/>
                </a:solidFill>
                <a:latin typeface="Arial MT"/>
                <a:cs typeface="Arial MT"/>
              </a:rPr>
              <a:t>S</a:t>
            </a:r>
            <a:r>
              <a:rPr sz="2800" spc="-235" dirty="0">
                <a:solidFill>
                  <a:srgbClr val="EBEBEB"/>
                </a:solidFill>
                <a:latin typeface="Arial MT"/>
                <a:cs typeface="Arial MT"/>
              </a:rPr>
              <a:t>ince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370" dirty="0">
                <a:solidFill>
                  <a:srgbClr val="EBEBEB"/>
                </a:solidFill>
                <a:latin typeface="Arial MT"/>
                <a:cs typeface="Arial MT"/>
              </a:rPr>
              <a:t>w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e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70" dirty="0">
                <a:solidFill>
                  <a:srgbClr val="EBEBEB"/>
                </a:solidFill>
                <a:latin typeface="Arial MT"/>
                <a:cs typeface="Arial MT"/>
              </a:rPr>
              <a:t>can</a:t>
            </a:r>
            <a:r>
              <a:rPr sz="2800" spc="-15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54" dirty="0">
                <a:solidFill>
                  <a:srgbClr val="EBEBEB"/>
                </a:solidFill>
                <a:latin typeface="Arial MT"/>
                <a:cs typeface="Arial MT"/>
              </a:rPr>
              <a:t>never</a:t>
            </a:r>
            <a:r>
              <a:rPr sz="2800" spc="-15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75" dirty="0">
                <a:solidFill>
                  <a:srgbClr val="EBEBEB"/>
                </a:solidFill>
                <a:latin typeface="Arial MT"/>
                <a:cs typeface="Arial MT"/>
              </a:rPr>
              <a:t>have</a:t>
            </a:r>
            <a:r>
              <a:rPr sz="2800" spc="-15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350" dirty="0">
                <a:solidFill>
                  <a:srgbClr val="EBEBEB"/>
                </a:solidFill>
                <a:latin typeface="Arial MT"/>
                <a:cs typeface="Arial MT"/>
              </a:rPr>
              <a:t>mo</a:t>
            </a:r>
            <a:r>
              <a:rPr sz="2800" spc="-175" dirty="0">
                <a:solidFill>
                  <a:srgbClr val="EBEBEB"/>
                </a:solidFill>
                <a:latin typeface="Arial MT"/>
                <a:cs typeface="Arial MT"/>
              </a:rPr>
              <a:t>r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e</a:t>
            </a:r>
            <a:r>
              <a:rPr sz="2800" spc="-15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t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han</a:t>
            </a:r>
            <a:r>
              <a:rPr sz="2800" spc="-15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one</a:t>
            </a:r>
            <a:r>
              <a:rPr sz="2800" spc="-15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10" dirty="0">
                <a:solidFill>
                  <a:srgbClr val="EBEBEB"/>
                </a:solidFill>
                <a:latin typeface="Arial MT"/>
                <a:cs typeface="Arial MT"/>
              </a:rPr>
              <a:t>of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t</a:t>
            </a:r>
            <a:r>
              <a:rPr sz="2800" spc="-245" dirty="0">
                <a:solidFill>
                  <a:srgbClr val="EBEBEB"/>
                </a:solidFill>
                <a:latin typeface="Arial MT"/>
                <a:cs typeface="Arial MT"/>
              </a:rPr>
              <a:t>hese  enables</a:t>
            </a:r>
            <a:r>
              <a:rPr sz="2800" spc="-16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70" dirty="0">
                <a:solidFill>
                  <a:srgbClr val="EBEBEB"/>
                </a:solidFill>
                <a:latin typeface="Arial MT"/>
                <a:cs typeface="Arial MT"/>
              </a:rPr>
              <a:t>ac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t</a:t>
            </a:r>
            <a:r>
              <a:rPr sz="2800" spc="-185" dirty="0">
                <a:solidFill>
                  <a:srgbClr val="EBEBEB"/>
                </a:solidFill>
                <a:latin typeface="Arial MT"/>
                <a:cs typeface="Arial MT"/>
              </a:rPr>
              <a:t>iv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e</a:t>
            </a:r>
            <a:r>
              <a:rPr sz="2800" spc="-15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10" dirty="0">
                <a:solidFill>
                  <a:srgbClr val="EBEBEB"/>
                </a:solidFill>
                <a:latin typeface="Arial MT"/>
                <a:cs typeface="Arial MT"/>
              </a:rPr>
              <a:t>at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t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he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310" dirty="0">
                <a:solidFill>
                  <a:srgbClr val="EBEBEB"/>
                </a:solidFill>
                <a:latin typeface="Arial MT"/>
                <a:cs typeface="Arial MT"/>
              </a:rPr>
              <a:t>same</a:t>
            </a:r>
            <a:r>
              <a:rPr sz="2800" spc="-15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t</a:t>
            </a:r>
            <a:r>
              <a:rPr sz="2800" spc="-240" dirty="0">
                <a:solidFill>
                  <a:srgbClr val="EBEBEB"/>
                </a:solidFill>
                <a:latin typeface="Arial MT"/>
                <a:cs typeface="Arial MT"/>
              </a:rPr>
              <a:t>ime,</a:t>
            </a:r>
            <a:r>
              <a:rPr sz="2800" spc="-14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370" dirty="0">
                <a:solidFill>
                  <a:srgbClr val="EBEBEB"/>
                </a:solidFill>
                <a:latin typeface="Arial MT"/>
                <a:cs typeface="Arial MT"/>
              </a:rPr>
              <a:t>w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e</a:t>
            </a:r>
            <a:r>
              <a:rPr sz="2800" spc="-14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70" dirty="0">
                <a:solidFill>
                  <a:srgbClr val="EBEBEB"/>
                </a:solidFill>
                <a:latin typeface="Arial MT"/>
                <a:cs typeface="Arial MT"/>
              </a:rPr>
              <a:t>can</a:t>
            </a:r>
            <a:r>
              <a:rPr sz="2800" spc="-15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75" dirty="0">
                <a:solidFill>
                  <a:srgbClr val="EBEBEB"/>
                </a:solidFill>
                <a:latin typeface="Arial MT"/>
                <a:cs typeface="Arial MT"/>
              </a:rPr>
              <a:t>have</a:t>
            </a:r>
            <a:r>
              <a:rPr sz="2800" spc="-15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t</a:t>
            </a:r>
            <a:r>
              <a:rPr sz="2800" spc="-254" dirty="0">
                <a:solidFill>
                  <a:srgbClr val="EBEBEB"/>
                </a:solidFill>
                <a:latin typeface="Arial MT"/>
                <a:cs typeface="Arial MT"/>
              </a:rPr>
              <a:t>hem  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encoded</a:t>
            </a:r>
            <a:r>
              <a:rPr sz="2800" spc="-17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15" dirty="0">
                <a:solidFill>
                  <a:srgbClr val="EBEBEB"/>
                </a:solidFill>
                <a:latin typeface="Arial MT"/>
                <a:cs typeface="Arial MT"/>
              </a:rPr>
              <a:t>to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60" dirty="0">
                <a:solidFill>
                  <a:srgbClr val="EBEBEB"/>
                </a:solidFill>
                <a:latin typeface="Arial MT"/>
                <a:cs typeface="Arial MT"/>
              </a:rPr>
              <a:t>reduce</a:t>
            </a:r>
            <a:r>
              <a:rPr sz="2800" spc="-15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35" dirty="0">
                <a:solidFill>
                  <a:srgbClr val="EBEBEB"/>
                </a:solidFill>
                <a:latin typeface="Arial MT"/>
                <a:cs typeface="Arial MT"/>
              </a:rPr>
              <a:t>the</a:t>
            </a:r>
            <a:r>
              <a:rPr sz="2800" spc="-15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85" dirty="0">
                <a:solidFill>
                  <a:srgbClr val="EBEBEB"/>
                </a:solidFill>
                <a:latin typeface="Arial MT"/>
                <a:cs typeface="Arial MT"/>
              </a:rPr>
              <a:t>number</a:t>
            </a:r>
            <a:r>
              <a:rPr sz="2800" spc="-15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10" dirty="0">
                <a:solidFill>
                  <a:srgbClr val="EBEBEB"/>
                </a:solidFill>
                <a:latin typeface="Arial MT"/>
                <a:cs typeface="Arial MT"/>
              </a:rPr>
              <a:t>of</a:t>
            </a:r>
            <a:r>
              <a:rPr sz="2800" spc="-14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10" dirty="0">
                <a:solidFill>
                  <a:srgbClr val="EBEBEB"/>
                </a:solidFill>
                <a:latin typeface="Arial MT"/>
                <a:cs typeface="Arial MT"/>
              </a:rPr>
              <a:t>lines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75" dirty="0">
                <a:solidFill>
                  <a:srgbClr val="EBEBEB"/>
                </a:solidFill>
                <a:latin typeface="Arial MT"/>
                <a:cs typeface="Arial MT"/>
              </a:rPr>
              <a:t>coming</a:t>
            </a:r>
            <a:r>
              <a:rPr sz="2800" spc="-15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04" dirty="0">
                <a:solidFill>
                  <a:srgbClr val="EBEBEB"/>
                </a:solidFill>
                <a:latin typeface="Arial MT"/>
                <a:cs typeface="Arial MT"/>
              </a:rPr>
              <a:t>into </a:t>
            </a:r>
            <a:r>
              <a:rPr sz="2800" spc="-20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t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he</a:t>
            </a:r>
            <a:r>
              <a:rPr sz="2800" spc="-15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15" dirty="0">
                <a:solidFill>
                  <a:srgbClr val="EBEBEB"/>
                </a:solidFill>
                <a:latin typeface="Arial MT"/>
                <a:cs typeface="Arial MT"/>
              </a:rPr>
              <a:t>chip.</a:t>
            </a:r>
            <a:endParaRPr sz="2800">
              <a:latin typeface="Arial MT"/>
              <a:cs typeface="Arial MT"/>
            </a:endParaRPr>
          </a:p>
          <a:p>
            <a:pPr marL="412750" marR="734695">
              <a:lnSpc>
                <a:spcPct val="100000"/>
              </a:lnSpc>
              <a:spcBef>
                <a:spcPts val="670"/>
              </a:spcBef>
            </a:pP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These</a:t>
            </a:r>
            <a:r>
              <a:rPr sz="2800" spc="-16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encoded</a:t>
            </a:r>
            <a:r>
              <a:rPr sz="2800" spc="-16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10" dirty="0">
                <a:solidFill>
                  <a:srgbClr val="EBEBEB"/>
                </a:solidFill>
                <a:latin typeface="Arial MT"/>
                <a:cs typeface="Arial MT"/>
              </a:rPr>
              <a:t>lines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45" dirty="0">
                <a:solidFill>
                  <a:srgbClr val="EBEBEB"/>
                </a:solidFill>
                <a:latin typeface="Arial MT"/>
                <a:cs typeface="Arial MT"/>
              </a:rPr>
              <a:t>are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35" dirty="0">
                <a:solidFill>
                  <a:srgbClr val="EBEBEB"/>
                </a:solidFill>
                <a:latin typeface="Arial MT"/>
                <a:cs typeface="Arial MT"/>
              </a:rPr>
              <a:t>the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60" dirty="0">
                <a:solidFill>
                  <a:srgbClr val="EBEBEB"/>
                </a:solidFill>
                <a:latin typeface="Arial MT"/>
                <a:cs typeface="Arial MT"/>
              </a:rPr>
              <a:t>address</a:t>
            </a:r>
            <a:r>
              <a:rPr sz="2800" spc="-15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10" dirty="0">
                <a:solidFill>
                  <a:srgbClr val="EBEBEB"/>
                </a:solidFill>
                <a:latin typeface="Arial MT"/>
                <a:cs typeface="Arial MT"/>
              </a:rPr>
              <a:t>lines</a:t>
            </a:r>
            <a:r>
              <a:rPr sz="2800" spc="-14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00" dirty="0">
                <a:solidFill>
                  <a:srgbClr val="EBEBEB"/>
                </a:solidFill>
                <a:latin typeface="Arial MT"/>
                <a:cs typeface="Arial MT"/>
              </a:rPr>
              <a:t>for </a:t>
            </a:r>
            <a:r>
              <a:rPr sz="2800" spc="-76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memory.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r>
              <a:rPr spc="-5" dirty="0"/>
              <a:t>13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6350" y="0"/>
            <a:ext cx="9156700" cy="6870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515938" cy="68579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64540" y="1010665"/>
            <a:ext cx="611378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9" dirty="0">
                <a:solidFill>
                  <a:srgbClr val="FFFFCC"/>
                </a:solidFill>
                <a:latin typeface="Arial MT"/>
                <a:cs typeface="Arial MT"/>
              </a:rPr>
              <a:t>The</a:t>
            </a:r>
            <a:r>
              <a:rPr spc="-220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475" dirty="0">
                <a:solidFill>
                  <a:srgbClr val="FFFFCC"/>
                </a:solidFill>
                <a:latin typeface="Arial MT"/>
                <a:cs typeface="Arial MT"/>
              </a:rPr>
              <a:t>Des</a:t>
            </a:r>
            <a:r>
              <a:rPr spc="-180" dirty="0">
                <a:solidFill>
                  <a:srgbClr val="FFFFCC"/>
                </a:solidFill>
                <a:latin typeface="Arial MT"/>
                <a:cs typeface="Arial MT"/>
              </a:rPr>
              <a:t>i</a:t>
            </a:r>
            <a:r>
              <a:rPr spc="-445" dirty="0">
                <a:solidFill>
                  <a:srgbClr val="FFFFCC"/>
                </a:solidFill>
                <a:latin typeface="Arial MT"/>
                <a:cs typeface="Arial MT"/>
              </a:rPr>
              <a:t>gn</a:t>
            </a:r>
            <a:r>
              <a:rPr spc="-210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335" dirty="0">
                <a:solidFill>
                  <a:srgbClr val="FFFFCC"/>
                </a:solidFill>
                <a:latin typeface="Arial MT"/>
                <a:cs typeface="Arial MT"/>
              </a:rPr>
              <a:t>of</a:t>
            </a:r>
            <a:r>
              <a:rPr spc="-220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445" dirty="0">
                <a:solidFill>
                  <a:srgbClr val="FFFFCC"/>
                </a:solidFill>
                <a:latin typeface="Arial MT"/>
                <a:cs typeface="Arial MT"/>
              </a:rPr>
              <a:t>a</a:t>
            </a:r>
            <a:r>
              <a:rPr spc="-220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480" dirty="0">
                <a:solidFill>
                  <a:srgbClr val="FFFFCC"/>
                </a:solidFill>
                <a:latin typeface="Arial MT"/>
                <a:cs typeface="Arial MT"/>
              </a:rPr>
              <a:t>Memory</a:t>
            </a:r>
            <a:r>
              <a:rPr spc="-225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400" dirty="0">
                <a:solidFill>
                  <a:srgbClr val="FFFFCC"/>
                </a:solidFill>
                <a:latin typeface="Arial MT"/>
                <a:cs typeface="Arial MT"/>
              </a:rPr>
              <a:t>Chi</a:t>
            </a:r>
            <a:r>
              <a:rPr spc="-445" dirty="0">
                <a:solidFill>
                  <a:srgbClr val="FFFFCC"/>
                </a:solidFill>
                <a:latin typeface="Arial MT"/>
                <a:cs typeface="Arial MT"/>
              </a:rPr>
              <a:t>p</a:t>
            </a: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3677" y="2189226"/>
            <a:ext cx="177545" cy="18668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507489" y="2005837"/>
            <a:ext cx="634492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340" dirty="0">
                <a:solidFill>
                  <a:srgbClr val="EBEBEB"/>
                </a:solidFill>
                <a:latin typeface="Arial MT"/>
                <a:cs typeface="Arial MT"/>
              </a:rPr>
              <a:t>S</a:t>
            </a:r>
            <a:r>
              <a:rPr sz="2800" spc="-210" dirty="0">
                <a:solidFill>
                  <a:srgbClr val="EBEBEB"/>
                </a:solidFill>
                <a:latin typeface="Arial MT"/>
                <a:cs typeface="Arial MT"/>
              </a:rPr>
              <a:t>o,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t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he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p</a:t>
            </a:r>
            <a:r>
              <a:rPr sz="2800" spc="-175" dirty="0">
                <a:solidFill>
                  <a:srgbClr val="EBEBEB"/>
                </a:solidFill>
                <a:latin typeface="Arial MT"/>
                <a:cs typeface="Arial MT"/>
              </a:rPr>
              <a:t>r</a:t>
            </a:r>
            <a:r>
              <a:rPr sz="2800" spc="-245" dirty="0">
                <a:solidFill>
                  <a:srgbClr val="EBEBEB"/>
                </a:solidFill>
                <a:latin typeface="Arial MT"/>
                <a:cs typeface="Arial MT"/>
              </a:rPr>
              <a:t>evious</a:t>
            </a:r>
            <a:r>
              <a:rPr sz="2800" spc="-15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40" dirty="0">
                <a:solidFill>
                  <a:srgbClr val="EBEBEB"/>
                </a:solidFill>
                <a:latin typeface="Arial MT"/>
                <a:cs typeface="Arial MT"/>
              </a:rPr>
              <a:t>diag</a:t>
            </a:r>
            <a:r>
              <a:rPr sz="2800" spc="-175" dirty="0">
                <a:solidFill>
                  <a:srgbClr val="EBEBEB"/>
                </a:solidFill>
                <a:latin typeface="Arial MT"/>
                <a:cs typeface="Arial MT"/>
              </a:rPr>
              <a:t>r</a:t>
            </a:r>
            <a:r>
              <a:rPr sz="2800" spc="-350" dirty="0">
                <a:solidFill>
                  <a:srgbClr val="EBEBEB"/>
                </a:solidFill>
                <a:latin typeface="Arial MT"/>
                <a:cs typeface="Arial MT"/>
              </a:rPr>
              <a:t>am</a:t>
            </a:r>
            <a:r>
              <a:rPr sz="2800" spc="-15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370" dirty="0">
                <a:solidFill>
                  <a:srgbClr val="EBEBEB"/>
                </a:solidFill>
                <a:latin typeface="Arial MT"/>
                <a:cs typeface="Arial MT"/>
              </a:rPr>
              <a:t>w</a:t>
            </a:r>
            <a:r>
              <a:rPr sz="2800" spc="-240" dirty="0">
                <a:solidFill>
                  <a:srgbClr val="EBEBEB"/>
                </a:solidFill>
                <a:latin typeface="Arial MT"/>
                <a:cs typeface="Arial MT"/>
              </a:rPr>
              <a:t>ould</a:t>
            </a:r>
            <a:r>
              <a:rPr sz="2800" spc="-14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310" dirty="0">
                <a:solidFill>
                  <a:srgbClr val="EBEBEB"/>
                </a:solidFill>
                <a:latin typeface="Arial MT"/>
                <a:cs typeface="Arial MT"/>
              </a:rPr>
              <a:t>now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35" dirty="0">
                <a:solidFill>
                  <a:srgbClr val="EBEBEB"/>
                </a:solidFill>
                <a:latin typeface="Arial MT"/>
                <a:cs typeface="Arial MT"/>
              </a:rPr>
              <a:t>look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160" dirty="0">
                <a:solidFill>
                  <a:srgbClr val="EBEBEB"/>
                </a:solidFill>
                <a:latin typeface="Arial MT"/>
                <a:cs typeface="Arial MT"/>
              </a:rPr>
              <a:t>lik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e</a:t>
            </a:r>
            <a:r>
              <a:rPr sz="2800" spc="-14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t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he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07489" y="2432506"/>
            <a:ext cx="124142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15" dirty="0">
                <a:solidFill>
                  <a:srgbClr val="EBEBEB"/>
                </a:solidFill>
                <a:latin typeface="Arial MT"/>
                <a:cs typeface="Arial MT"/>
              </a:rPr>
              <a:t>following: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122737" y="3021012"/>
            <a:ext cx="2933700" cy="2705100"/>
            <a:chOff x="4122737" y="3021012"/>
            <a:chExt cx="2933700" cy="2705100"/>
          </a:xfrm>
        </p:grpSpPr>
        <p:sp>
          <p:nvSpPr>
            <p:cNvPr id="9" name="object 9"/>
            <p:cNvSpPr/>
            <p:nvPr/>
          </p:nvSpPr>
          <p:spPr>
            <a:xfrm>
              <a:off x="4129087" y="3027362"/>
              <a:ext cx="2921000" cy="2692400"/>
            </a:xfrm>
            <a:custGeom>
              <a:avLst/>
              <a:gdLst/>
              <a:ahLst/>
              <a:cxnLst/>
              <a:rect l="l" t="t" r="r" b="b"/>
              <a:pathLst>
                <a:path w="2921000" h="2692400">
                  <a:moveTo>
                    <a:pt x="2921000" y="0"/>
                  </a:moveTo>
                  <a:lnTo>
                    <a:pt x="0" y="0"/>
                  </a:lnTo>
                  <a:lnTo>
                    <a:pt x="0" y="2692400"/>
                  </a:lnTo>
                  <a:lnTo>
                    <a:pt x="2921000" y="2692400"/>
                  </a:lnTo>
                  <a:lnTo>
                    <a:pt x="2921000" y="0"/>
                  </a:lnTo>
                  <a:close/>
                </a:path>
              </a:pathLst>
            </a:custGeom>
            <a:solidFill>
              <a:srgbClr val="CC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129087" y="3027362"/>
              <a:ext cx="2921000" cy="2692400"/>
            </a:xfrm>
            <a:custGeom>
              <a:avLst/>
              <a:gdLst/>
              <a:ahLst/>
              <a:cxnLst/>
              <a:rect l="l" t="t" r="r" b="b"/>
              <a:pathLst>
                <a:path w="2921000" h="2692400">
                  <a:moveTo>
                    <a:pt x="0" y="0"/>
                  </a:moveTo>
                  <a:lnTo>
                    <a:pt x="2921000" y="0"/>
                  </a:lnTo>
                  <a:lnTo>
                    <a:pt x="2921000" y="2692400"/>
                  </a:lnTo>
                  <a:lnTo>
                    <a:pt x="0" y="26924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224462" y="3638550"/>
              <a:ext cx="1644650" cy="1482725"/>
            </a:xfrm>
            <a:custGeom>
              <a:avLst/>
              <a:gdLst/>
              <a:ahLst/>
              <a:cxnLst/>
              <a:rect l="l" t="t" r="r" b="b"/>
              <a:pathLst>
                <a:path w="1644650" h="1482725">
                  <a:moveTo>
                    <a:pt x="1644650" y="0"/>
                  </a:moveTo>
                  <a:lnTo>
                    <a:pt x="0" y="0"/>
                  </a:lnTo>
                  <a:lnTo>
                    <a:pt x="0" y="1482725"/>
                  </a:lnTo>
                  <a:lnTo>
                    <a:pt x="1644650" y="1482725"/>
                  </a:lnTo>
                  <a:lnTo>
                    <a:pt x="164465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224462" y="3638550"/>
              <a:ext cx="1644650" cy="1482725"/>
            </a:xfrm>
            <a:custGeom>
              <a:avLst/>
              <a:gdLst/>
              <a:ahLst/>
              <a:cxnLst/>
              <a:rect l="l" t="t" r="r" b="b"/>
              <a:pathLst>
                <a:path w="1644650" h="1482725">
                  <a:moveTo>
                    <a:pt x="0" y="0"/>
                  </a:moveTo>
                  <a:lnTo>
                    <a:pt x="1644650" y="0"/>
                  </a:lnTo>
                  <a:lnTo>
                    <a:pt x="1644650" y="1482725"/>
                  </a:lnTo>
                  <a:lnTo>
                    <a:pt x="0" y="148272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232929" y="3201987"/>
            <a:ext cx="1645920" cy="274955"/>
          </a:xfrm>
          <a:prstGeom prst="rect">
            <a:avLst/>
          </a:prstGeom>
          <a:solidFill>
            <a:srgbClr val="99FFCC"/>
          </a:solidFill>
          <a:ln w="12700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396875">
              <a:lnSpc>
                <a:spcPct val="100000"/>
              </a:lnSpc>
              <a:spcBef>
                <a:spcPts val="325"/>
              </a:spcBef>
            </a:pPr>
            <a:r>
              <a:rPr sz="1200" spc="-5" dirty="0">
                <a:latin typeface="Arial MT"/>
                <a:cs typeface="Arial MT"/>
              </a:rPr>
              <a:t>Input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Buffers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232929" y="5284787"/>
            <a:ext cx="1645920" cy="274955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337185">
              <a:lnSpc>
                <a:spcPct val="100000"/>
              </a:lnSpc>
              <a:spcBef>
                <a:spcPts val="320"/>
              </a:spcBef>
            </a:pPr>
            <a:r>
              <a:rPr sz="1200" spc="-5" dirty="0">
                <a:latin typeface="Arial MT"/>
                <a:cs typeface="Arial MT"/>
              </a:rPr>
              <a:t>Output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Buffers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922712" y="2922588"/>
            <a:ext cx="2838450" cy="2938780"/>
            <a:chOff x="3922712" y="2922588"/>
            <a:chExt cx="2838450" cy="2938780"/>
          </a:xfrm>
        </p:grpSpPr>
        <p:sp>
          <p:nvSpPr>
            <p:cNvPr id="16" name="object 16"/>
            <p:cNvSpPr/>
            <p:nvPr/>
          </p:nvSpPr>
          <p:spPr>
            <a:xfrm>
              <a:off x="3941762" y="3359150"/>
              <a:ext cx="1295400" cy="0"/>
            </a:xfrm>
            <a:custGeom>
              <a:avLst/>
              <a:gdLst/>
              <a:ahLst/>
              <a:cxnLst/>
              <a:rect l="l" t="t" r="r" b="b"/>
              <a:pathLst>
                <a:path w="1295400">
                  <a:moveTo>
                    <a:pt x="12954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983162" y="3822700"/>
              <a:ext cx="254000" cy="0"/>
            </a:xfrm>
            <a:custGeom>
              <a:avLst/>
              <a:gdLst/>
              <a:ahLst/>
              <a:cxnLst/>
              <a:rect l="l" t="t" r="r" b="b"/>
              <a:pathLst>
                <a:path w="254000">
                  <a:moveTo>
                    <a:pt x="2540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929062" y="5467350"/>
              <a:ext cx="1308100" cy="0"/>
            </a:xfrm>
            <a:custGeom>
              <a:avLst/>
              <a:gdLst/>
              <a:ahLst/>
              <a:cxnLst/>
              <a:rect l="l" t="t" r="r" b="b"/>
              <a:pathLst>
                <a:path w="1308100">
                  <a:moveTo>
                    <a:pt x="13081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421312" y="2928938"/>
              <a:ext cx="0" cy="273050"/>
            </a:xfrm>
            <a:custGeom>
              <a:avLst/>
              <a:gdLst/>
              <a:ahLst/>
              <a:cxnLst/>
              <a:rect l="l" t="t" r="r" b="b"/>
              <a:pathLst>
                <a:path h="273050">
                  <a:moveTo>
                    <a:pt x="0" y="27305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865813" y="2928938"/>
              <a:ext cx="0" cy="273050"/>
            </a:xfrm>
            <a:custGeom>
              <a:avLst/>
              <a:gdLst/>
              <a:ahLst/>
              <a:cxnLst/>
              <a:rect l="l" t="t" r="r" b="b"/>
              <a:pathLst>
                <a:path h="273050">
                  <a:moveTo>
                    <a:pt x="0" y="27305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335713" y="2928938"/>
              <a:ext cx="0" cy="273050"/>
            </a:xfrm>
            <a:custGeom>
              <a:avLst/>
              <a:gdLst/>
              <a:ahLst/>
              <a:cxnLst/>
              <a:rect l="l" t="t" r="r" b="b"/>
              <a:pathLst>
                <a:path h="273050">
                  <a:moveTo>
                    <a:pt x="0" y="27305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754813" y="2928938"/>
              <a:ext cx="0" cy="273050"/>
            </a:xfrm>
            <a:custGeom>
              <a:avLst/>
              <a:gdLst/>
              <a:ahLst/>
              <a:cxnLst/>
              <a:rect l="l" t="t" r="r" b="b"/>
              <a:pathLst>
                <a:path h="273050">
                  <a:moveTo>
                    <a:pt x="0" y="27305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421312" y="5580062"/>
              <a:ext cx="0" cy="274955"/>
            </a:xfrm>
            <a:custGeom>
              <a:avLst/>
              <a:gdLst/>
              <a:ahLst/>
              <a:cxnLst/>
              <a:rect l="l" t="t" r="r" b="b"/>
              <a:pathLst>
                <a:path h="274954">
                  <a:moveTo>
                    <a:pt x="0" y="274637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865813" y="5580062"/>
              <a:ext cx="0" cy="274955"/>
            </a:xfrm>
            <a:custGeom>
              <a:avLst/>
              <a:gdLst/>
              <a:ahLst/>
              <a:cxnLst/>
              <a:rect l="l" t="t" r="r" b="b"/>
              <a:pathLst>
                <a:path h="274954">
                  <a:moveTo>
                    <a:pt x="0" y="274637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335713" y="5580062"/>
              <a:ext cx="0" cy="274955"/>
            </a:xfrm>
            <a:custGeom>
              <a:avLst/>
              <a:gdLst/>
              <a:ahLst/>
              <a:cxnLst/>
              <a:rect l="l" t="t" r="r" b="b"/>
              <a:pathLst>
                <a:path h="274954">
                  <a:moveTo>
                    <a:pt x="0" y="274637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754813" y="5580062"/>
              <a:ext cx="0" cy="274955"/>
            </a:xfrm>
            <a:custGeom>
              <a:avLst/>
              <a:gdLst/>
              <a:ahLst/>
              <a:cxnLst/>
              <a:rect l="l" t="t" r="r" b="b"/>
              <a:pathLst>
                <a:path h="274954">
                  <a:moveTo>
                    <a:pt x="0" y="274637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421312" y="3470275"/>
              <a:ext cx="0" cy="160655"/>
            </a:xfrm>
            <a:custGeom>
              <a:avLst/>
              <a:gdLst/>
              <a:ahLst/>
              <a:cxnLst/>
              <a:rect l="l" t="t" r="r" b="b"/>
              <a:pathLst>
                <a:path h="160654">
                  <a:moveTo>
                    <a:pt x="0" y="0"/>
                  </a:moveTo>
                  <a:lnTo>
                    <a:pt x="0" y="16033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865813" y="3489325"/>
              <a:ext cx="0" cy="141605"/>
            </a:xfrm>
            <a:custGeom>
              <a:avLst/>
              <a:gdLst/>
              <a:ahLst/>
              <a:cxnLst/>
              <a:rect l="l" t="t" r="r" b="b"/>
              <a:pathLst>
                <a:path h="141604">
                  <a:moveTo>
                    <a:pt x="0" y="0"/>
                  </a:moveTo>
                  <a:lnTo>
                    <a:pt x="0" y="14128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335713" y="3476625"/>
              <a:ext cx="0" cy="167005"/>
            </a:xfrm>
            <a:custGeom>
              <a:avLst/>
              <a:gdLst/>
              <a:ahLst/>
              <a:cxnLst/>
              <a:rect l="l" t="t" r="r" b="b"/>
              <a:pathLst>
                <a:path h="167004">
                  <a:moveTo>
                    <a:pt x="0" y="0"/>
                  </a:moveTo>
                  <a:lnTo>
                    <a:pt x="0" y="16668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754813" y="3475037"/>
              <a:ext cx="0" cy="168275"/>
            </a:xfrm>
            <a:custGeom>
              <a:avLst/>
              <a:gdLst/>
              <a:ahLst/>
              <a:cxnLst/>
              <a:rect l="l" t="t" r="r" b="b"/>
              <a:pathLst>
                <a:path h="168275">
                  <a:moveTo>
                    <a:pt x="0" y="0"/>
                  </a:moveTo>
                  <a:lnTo>
                    <a:pt x="0" y="16827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5232929" y="3637756"/>
            <a:ext cx="1645920" cy="367665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</a:ln>
        </p:spPr>
        <p:txBody>
          <a:bodyPr vert="horz" wrap="square" lIns="0" tIns="84455" rIns="0" bIns="0" rtlCol="0">
            <a:spAutoFit/>
          </a:bodyPr>
          <a:lstStyle/>
          <a:p>
            <a:pPr marL="293370">
              <a:lnSpc>
                <a:spcPct val="100000"/>
              </a:lnSpc>
              <a:spcBef>
                <a:spcPts val="665"/>
              </a:spcBef>
            </a:pPr>
            <a:r>
              <a:rPr sz="1200" spc="-5" dirty="0">
                <a:latin typeface="Arial MT"/>
                <a:cs typeface="Arial MT"/>
              </a:rPr>
              <a:t>Memory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Reg.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0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232929" y="4005262"/>
            <a:ext cx="1645920" cy="36703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</a:ln>
        </p:spPr>
        <p:txBody>
          <a:bodyPr vert="horz" wrap="square" lIns="0" tIns="80645" rIns="0" bIns="0" rtlCol="0">
            <a:spAutoFit/>
          </a:bodyPr>
          <a:lstStyle/>
          <a:p>
            <a:pPr marL="293370">
              <a:lnSpc>
                <a:spcPct val="100000"/>
              </a:lnSpc>
              <a:spcBef>
                <a:spcPts val="635"/>
              </a:spcBef>
            </a:pPr>
            <a:r>
              <a:rPr sz="1200" spc="-5" dirty="0">
                <a:latin typeface="Arial MT"/>
                <a:cs typeface="Arial MT"/>
              </a:rPr>
              <a:t>Memory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Reg.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232929" y="4371975"/>
            <a:ext cx="1645920" cy="36068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</a:ln>
        </p:spPr>
        <p:txBody>
          <a:bodyPr vert="horz" wrap="square" lIns="0" tIns="77470" rIns="0" bIns="0" rtlCol="0">
            <a:spAutoFit/>
          </a:bodyPr>
          <a:lstStyle/>
          <a:p>
            <a:pPr marL="293370">
              <a:lnSpc>
                <a:spcPct val="100000"/>
              </a:lnSpc>
              <a:spcBef>
                <a:spcPts val="610"/>
              </a:spcBef>
            </a:pPr>
            <a:r>
              <a:rPr sz="1200" spc="-5" dirty="0">
                <a:latin typeface="Arial MT"/>
                <a:cs typeface="Arial MT"/>
              </a:rPr>
              <a:t>Memory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Reg.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232929" y="4732347"/>
            <a:ext cx="1645920" cy="38989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</a:ln>
        </p:spPr>
        <p:txBody>
          <a:bodyPr vert="horz" wrap="square" lIns="0" tIns="80645" rIns="0" bIns="0" rtlCol="0">
            <a:spAutoFit/>
          </a:bodyPr>
          <a:lstStyle/>
          <a:p>
            <a:pPr marL="293370">
              <a:lnSpc>
                <a:spcPct val="100000"/>
              </a:lnSpc>
              <a:spcBef>
                <a:spcPts val="635"/>
              </a:spcBef>
            </a:pPr>
            <a:r>
              <a:rPr sz="1200" spc="-5" dirty="0">
                <a:latin typeface="Arial MT"/>
                <a:cs typeface="Arial MT"/>
              </a:rPr>
              <a:t>Memory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Reg.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3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275137" y="3630612"/>
            <a:ext cx="2486025" cy="1670050"/>
            <a:chOff x="4275137" y="3630612"/>
            <a:chExt cx="2486025" cy="1670050"/>
          </a:xfrm>
        </p:grpSpPr>
        <p:sp>
          <p:nvSpPr>
            <p:cNvPr id="36" name="object 36"/>
            <p:cNvSpPr/>
            <p:nvPr/>
          </p:nvSpPr>
          <p:spPr>
            <a:xfrm>
              <a:off x="5421312" y="5121275"/>
              <a:ext cx="0" cy="160655"/>
            </a:xfrm>
            <a:custGeom>
              <a:avLst/>
              <a:gdLst/>
              <a:ahLst/>
              <a:cxnLst/>
              <a:rect l="l" t="t" r="r" b="b"/>
              <a:pathLst>
                <a:path h="160654">
                  <a:moveTo>
                    <a:pt x="0" y="0"/>
                  </a:moveTo>
                  <a:lnTo>
                    <a:pt x="0" y="16033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865813" y="5140325"/>
              <a:ext cx="0" cy="141605"/>
            </a:xfrm>
            <a:custGeom>
              <a:avLst/>
              <a:gdLst/>
              <a:ahLst/>
              <a:cxnLst/>
              <a:rect l="l" t="t" r="r" b="b"/>
              <a:pathLst>
                <a:path h="141604">
                  <a:moveTo>
                    <a:pt x="0" y="0"/>
                  </a:moveTo>
                  <a:lnTo>
                    <a:pt x="0" y="14128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335713" y="5127625"/>
              <a:ext cx="0" cy="167005"/>
            </a:xfrm>
            <a:custGeom>
              <a:avLst/>
              <a:gdLst/>
              <a:ahLst/>
              <a:cxnLst/>
              <a:rect l="l" t="t" r="r" b="b"/>
              <a:pathLst>
                <a:path h="167004">
                  <a:moveTo>
                    <a:pt x="0" y="0"/>
                  </a:moveTo>
                  <a:lnTo>
                    <a:pt x="0" y="16668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754813" y="5126037"/>
              <a:ext cx="0" cy="168275"/>
            </a:xfrm>
            <a:custGeom>
              <a:avLst/>
              <a:gdLst/>
              <a:ahLst/>
              <a:cxnLst/>
              <a:rect l="l" t="t" r="r" b="b"/>
              <a:pathLst>
                <a:path h="168275">
                  <a:moveTo>
                    <a:pt x="0" y="0"/>
                  </a:moveTo>
                  <a:lnTo>
                    <a:pt x="0" y="16827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281487" y="3636962"/>
              <a:ext cx="685800" cy="1485900"/>
            </a:xfrm>
            <a:custGeom>
              <a:avLst/>
              <a:gdLst/>
              <a:ahLst/>
              <a:cxnLst/>
              <a:rect l="l" t="t" r="r" b="b"/>
              <a:pathLst>
                <a:path w="685800" h="1485900">
                  <a:moveTo>
                    <a:pt x="685800" y="0"/>
                  </a:moveTo>
                  <a:lnTo>
                    <a:pt x="0" y="0"/>
                  </a:lnTo>
                  <a:lnTo>
                    <a:pt x="0" y="1485900"/>
                  </a:lnTo>
                  <a:lnTo>
                    <a:pt x="685800" y="14859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FF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281487" y="3636962"/>
              <a:ext cx="685800" cy="1485900"/>
            </a:xfrm>
            <a:custGeom>
              <a:avLst/>
              <a:gdLst/>
              <a:ahLst/>
              <a:cxnLst/>
              <a:rect l="l" t="t" r="r" b="b"/>
              <a:pathLst>
                <a:path w="685800" h="1485900">
                  <a:moveTo>
                    <a:pt x="0" y="0"/>
                  </a:moveTo>
                  <a:lnTo>
                    <a:pt x="685800" y="0"/>
                  </a:lnTo>
                  <a:lnTo>
                    <a:pt x="685800" y="1485900"/>
                  </a:lnTo>
                  <a:lnTo>
                    <a:pt x="0" y="14859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5280977" y="2627185"/>
            <a:ext cx="157670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95"/>
              </a:spcBef>
              <a:tabLst>
                <a:tab pos="520065" algn="l"/>
                <a:tab pos="989965" algn="l"/>
                <a:tab pos="1409065" algn="l"/>
              </a:tabLst>
            </a:pPr>
            <a:r>
              <a:rPr sz="1400" spc="5" dirty="0">
                <a:latin typeface="Arial MT"/>
                <a:cs typeface="Arial MT"/>
              </a:rPr>
              <a:t>I</a:t>
            </a:r>
            <a:r>
              <a:rPr sz="1350" spc="7" baseline="-21604" dirty="0">
                <a:latin typeface="Arial MT"/>
                <a:cs typeface="Arial MT"/>
              </a:rPr>
              <a:t>0	</a:t>
            </a:r>
            <a:r>
              <a:rPr sz="1400" spc="5" dirty="0">
                <a:latin typeface="Arial MT"/>
                <a:cs typeface="Arial MT"/>
              </a:rPr>
              <a:t>I</a:t>
            </a:r>
            <a:r>
              <a:rPr sz="1350" spc="7" baseline="-21604" dirty="0">
                <a:latin typeface="Arial MT"/>
                <a:cs typeface="Arial MT"/>
              </a:rPr>
              <a:t>1	</a:t>
            </a:r>
            <a:r>
              <a:rPr sz="1400" spc="5" dirty="0">
                <a:latin typeface="Arial MT"/>
                <a:cs typeface="Arial MT"/>
              </a:rPr>
              <a:t>I</a:t>
            </a:r>
            <a:r>
              <a:rPr sz="1350" spc="7" baseline="-21604" dirty="0">
                <a:latin typeface="Arial MT"/>
                <a:cs typeface="Arial MT"/>
              </a:rPr>
              <a:t>2	</a:t>
            </a:r>
            <a:r>
              <a:rPr sz="1400" spc="5" dirty="0">
                <a:latin typeface="Arial MT"/>
                <a:cs typeface="Arial MT"/>
              </a:rPr>
              <a:t>I</a:t>
            </a:r>
            <a:r>
              <a:rPr sz="1350" spc="7" baseline="-21604" dirty="0">
                <a:latin typeface="Arial MT"/>
                <a:cs typeface="Arial MT"/>
              </a:rPr>
              <a:t>3</a:t>
            </a:r>
            <a:endParaRPr sz="1350" baseline="-21604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267928" y="5929185"/>
            <a:ext cx="166497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495300" algn="l"/>
                <a:tab pos="964565" algn="l"/>
                <a:tab pos="1384300" algn="l"/>
              </a:tabLst>
            </a:pPr>
            <a:r>
              <a:rPr sz="1400" spc="5" dirty="0">
                <a:latin typeface="Arial MT"/>
                <a:cs typeface="Arial MT"/>
              </a:rPr>
              <a:t>O</a:t>
            </a:r>
            <a:r>
              <a:rPr sz="1350" spc="7" baseline="-21604" dirty="0">
                <a:latin typeface="Arial MT"/>
                <a:cs typeface="Arial MT"/>
              </a:rPr>
              <a:t>0	</a:t>
            </a:r>
            <a:r>
              <a:rPr sz="1400" spc="5" dirty="0">
                <a:latin typeface="Arial MT"/>
                <a:cs typeface="Arial MT"/>
              </a:rPr>
              <a:t>O</a:t>
            </a:r>
            <a:r>
              <a:rPr sz="1350" spc="7" baseline="-21604" dirty="0">
                <a:latin typeface="Arial MT"/>
                <a:cs typeface="Arial MT"/>
              </a:rPr>
              <a:t>1	</a:t>
            </a:r>
            <a:r>
              <a:rPr sz="1400" spc="5" dirty="0">
                <a:latin typeface="Arial MT"/>
                <a:cs typeface="Arial MT"/>
              </a:rPr>
              <a:t>O</a:t>
            </a:r>
            <a:r>
              <a:rPr sz="1350" spc="7" baseline="-21604" dirty="0">
                <a:latin typeface="Arial MT"/>
                <a:cs typeface="Arial MT"/>
              </a:rPr>
              <a:t>2	</a:t>
            </a:r>
            <a:r>
              <a:rPr sz="1400" spc="5" dirty="0">
                <a:latin typeface="Arial MT"/>
                <a:cs typeface="Arial MT"/>
              </a:rPr>
              <a:t>O</a:t>
            </a:r>
            <a:r>
              <a:rPr sz="1350" spc="7" baseline="-21604" dirty="0">
                <a:latin typeface="Arial MT"/>
                <a:cs typeface="Arial MT"/>
              </a:rPr>
              <a:t>3</a:t>
            </a:r>
            <a:endParaRPr sz="1350" baseline="-21604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515899" y="3211385"/>
            <a:ext cx="32131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 MT"/>
                <a:cs typeface="Arial MT"/>
              </a:rPr>
              <a:t>WR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3524250" y="3205163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>
                <a:moveTo>
                  <a:pt x="0" y="0"/>
                </a:moveTo>
                <a:lnTo>
                  <a:pt x="3048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3535679" y="5357685"/>
            <a:ext cx="28194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 MT"/>
                <a:cs typeface="Arial MT"/>
              </a:rPr>
              <a:t>RD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3524250" y="5338762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>
                <a:moveTo>
                  <a:pt x="0" y="0"/>
                </a:moveTo>
                <a:lnTo>
                  <a:pt x="3048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4433252" y="4265953"/>
            <a:ext cx="7239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 MT"/>
                <a:cs typeface="Arial MT"/>
              </a:rPr>
              <a:t>r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287837" y="3644106"/>
            <a:ext cx="673100" cy="201295"/>
          </a:xfrm>
          <a:prstGeom prst="rect">
            <a:avLst/>
          </a:prstGeom>
          <a:solidFill>
            <a:srgbClr val="FFCCFF"/>
          </a:solidFill>
        </p:spPr>
        <p:txBody>
          <a:bodyPr vert="horz" wrap="square" lIns="0" tIns="0" rIns="0" bIns="0" rtlCol="0">
            <a:spAutoFit/>
          </a:bodyPr>
          <a:lstStyle/>
          <a:p>
            <a:pPr marL="144780">
              <a:lnSpc>
                <a:spcPts val="1585"/>
              </a:lnSpc>
              <a:tabLst>
                <a:tab pos="474980" algn="l"/>
              </a:tabLst>
            </a:pPr>
            <a:r>
              <a:rPr sz="1400" spc="-5" dirty="0">
                <a:latin typeface="Arial MT"/>
                <a:cs typeface="Arial MT"/>
              </a:rPr>
              <a:t>A	</a:t>
            </a:r>
            <a:r>
              <a:rPr sz="2100" spc="-7" baseline="-3968" dirty="0">
                <a:latin typeface="Arial MT"/>
                <a:cs typeface="Arial MT"/>
              </a:rPr>
              <a:t>D</a:t>
            </a:r>
            <a:endParaRPr sz="2100" baseline="-3968">
              <a:latin typeface="Arial MT"/>
              <a:cs typeface="Arial MT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287837" y="3845151"/>
            <a:ext cx="673100" cy="236220"/>
          </a:xfrm>
          <a:prstGeom prst="rect">
            <a:avLst/>
          </a:prstGeom>
          <a:solidFill>
            <a:srgbClr val="FFCCFF"/>
          </a:solidFill>
        </p:spPr>
        <p:txBody>
          <a:bodyPr vert="horz" wrap="square" lIns="0" tIns="6350" rIns="0" bIns="0" rtlCol="0">
            <a:spAutoFit/>
          </a:bodyPr>
          <a:lstStyle/>
          <a:p>
            <a:pPr marL="144780">
              <a:lnSpc>
                <a:spcPct val="100000"/>
              </a:lnSpc>
              <a:spcBef>
                <a:spcPts val="50"/>
              </a:spcBef>
              <a:tabLst>
                <a:tab pos="474980" algn="l"/>
              </a:tabLst>
            </a:pPr>
            <a:r>
              <a:rPr sz="1400" spc="-5" dirty="0">
                <a:latin typeface="Arial MT"/>
                <a:cs typeface="Arial MT"/>
              </a:rPr>
              <a:t>d	</a:t>
            </a:r>
            <a:r>
              <a:rPr sz="2100" spc="-7" baseline="-3968" dirty="0">
                <a:latin typeface="Arial MT"/>
                <a:cs typeface="Arial MT"/>
              </a:rPr>
              <a:t>e</a:t>
            </a:r>
            <a:endParaRPr sz="2100" baseline="-3968">
              <a:latin typeface="Arial MT"/>
              <a:cs typeface="Arial M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287837" y="4081013"/>
            <a:ext cx="673100" cy="213995"/>
          </a:xfrm>
          <a:prstGeom prst="rect">
            <a:avLst/>
          </a:prstGeom>
          <a:solidFill>
            <a:srgbClr val="FFCCFF"/>
          </a:solidFill>
        </p:spPr>
        <p:txBody>
          <a:bodyPr vert="horz" wrap="square" lIns="0" tIns="0" rIns="0" bIns="0" rtlCol="0">
            <a:spAutoFit/>
          </a:bodyPr>
          <a:lstStyle/>
          <a:p>
            <a:pPr marL="144780">
              <a:lnSpc>
                <a:spcPts val="1555"/>
              </a:lnSpc>
              <a:tabLst>
                <a:tab pos="474980" algn="l"/>
              </a:tabLst>
            </a:pPr>
            <a:r>
              <a:rPr sz="1400" spc="-5" dirty="0">
                <a:latin typeface="Arial MT"/>
                <a:cs typeface="Arial MT"/>
              </a:rPr>
              <a:t>d	</a:t>
            </a:r>
            <a:r>
              <a:rPr sz="2100" spc="-7" baseline="-3968" dirty="0">
                <a:latin typeface="Arial MT"/>
                <a:cs typeface="Arial MT"/>
              </a:rPr>
              <a:t>c</a:t>
            </a:r>
            <a:endParaRPr sz="2100" baseline="-3968">
              <a:latin typeface="Arial MT"/>
              <a:cs typeface="Arial M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763487" y="4278914"/>
            <a:ext cx="11176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 MT"/>
                <a:cs typeface="Arial MT"/>
              </a:rPr>
              <a:t>o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287837" y="4533900"/>
            <a:ext cx="673100" cy="198755"/>
          </a:xfrm>
          <a:prstGeom prst="rect">
            <a:avLst/>
          </a:prstGeom>
          <a:solidFill>
            <a:srgbClr val="FFCCFF"/>
          </a:solidFill>
        </p:spPr>
        <p:txBody>
          <a:bodyPr vert="horz" wrap="square" lIns="0" tIns="0" rIns="0" bIns="0" rtlCol="0">
            <a:spAutoFit/>
          </a:bodyPr>
          <a:lstStyle/>
          <a:p>
            <a:pPr marL="144780">
              <a:lnSpc>
                <a:spcPts val="1350"/>
              </a:lnSpc>
              <a:tabLst>
                <a:tab pos="474980" algn="l"/>
              </a:tabLst>
            </a:pPr>
            <a:r>
              <a:rPr sz="1400" spc="-5" dirty="0">
                <a:latin typeface="Arial MT"/>
                <a:cs typeface="Arial MT"/>
              </a:rPr>
              <a:t>e	</a:t>
            </a:r>
            <a:r>
              <a:rPr sz="2100" spc="-7" baseline="-3968" dirty="0">
                <a:latin typeface="Arial MT"/>
                <a:cs typeface="Arial MT"/>
              </a:rPr>
              <a:t>d</a:t>
            </a:r>
            <a:endParaRPr sz="2100" baseline="-3968">
              <a:latin typeface="Arial MT"/>
              <a:cs typeface="Arial M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287837" y="4732347"/>
            <a:ext cx="673100" cy="180340"/>
          </a:xfrm>
          <a:prstGeom prst="rect">
            <a:avLst/>
          </a:prstGeom>
          <a:solidFill>
            <a:srgbClr val="FFCCFF"/>
          </a:solidFill>
        </p:spPr>
        <p:txBody>
          <a:bodyPr vert="horz" wrap="square" lIns="0" tIns="0" rIns="0" bIns="0" rtlCol="0">
            <a:spAutoFit/>
          </a:bodyPr>
          <a:lstStyle/>
          <a:p>
            <a:pPr marL="144780">
              <a:lnSpc>
                <a:spcPts val="1415"/>
              </a:lnSpc>
              <a:tabLst>
                <a:tab pos="474980" algn="l"/>
              </a:tabLst>
            </a:pPr>
            <a:r>
              <a:rPr sz="1400" spc="-5" dirty="0">
                <a:latin typeface="Arial MT"/>
                <a:cs typeface="Arial MT"/>
              </a:rPr>
              <a:t>s	</a:t>
            </a:r>
            <a:r>
              <a:rPr sz="2100" spc="-7" baseline="-3968" dirty="0">
                <a:latin typeface="Arial MT"/>
                <a:cs typeface="Arial MT"/>
              </a:rPr>
              <a:t>e</a:t>
            </a:r>
            <a:endParaRPr sz="2100" baseline="-3968">
              <a:latin typeface="Arial MT"/>
              <a:cs typeface="Arial M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287837" y="4912077"/>
            <a:ext cx="673100" cy="203835"/>
          </a:xfrm>
          <a:prstGeom prst="rect">
            <a:avLst/>
          </a:prstGeom>
          <a:solidFill>
            <a:srgbClr val="FFCCFF"/>
          </a:solidFill>
        </p:spPr>
        <p:txBody>
          <a:bodyPr vert="horz" wrap="square" lIns="0" tIns="6350" rIns="0" bIns="0" rtlCol="0">
            <a:spAutoFit/>
          </a:bodyPr>
          <a:lstStyle/>
          <a:p>
            <a:pPr marL="144780">
              <a:lnSpc>
                <a:spcPts val="1550"/>
              </a:lnSpc>
              <a:spcBef>
                <a:spcPts val="50"/>
              </a:spcBef>
              <a:tabLst>
                <a:tab pos="474980" algn="l"/>
              </a:tabLst>
            </a:pPr>
            <a:r>
              <a:rPr sz="1400" spc="-5" dirty="0">
                <a:latin typeface="Arial MT"/>
                <a:cs typeface="Arial MT"/>
              </a:rPr>
              <a:t>s	</a:t>
            </a:r>
            <a:r>
              <a:rPr sz="2100" spc="-7" baseline="-3968" dirty="0">
                <a:latin typeface="Arial MT"/>
                <a:cs typeface="Arial MT"/>
              </a:rPr>
              <a:t>r</a:t>
            </a:r>
            <a:endParaRPr sz="2100" baseline="-3968">
              <a:latin typeface="Arial MT"/>
              <a:cs typeface="Arial MT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3925887" y="4125912"/>
            <a:ext cx="1298575" cy="770255"/>
            <a:chOff x="3925887" y="4125912"/>
            <a:chExt cx="1298575" cy="770255"/>
          </a:xfrm>
        </p:grpSpPr>
        <p:sp>
          <p:nvSpPr>
            <p:cNvPr id="57" name="object 57"/>
            <p:cNvSpPr/>
            <p:nvPr/>
          </p:nvSpPr>
          <p:spPr>
            <a:xfrm>
              <a:off x="3938587" y="4132262"/>
              <a:ext cx="342900" cy="0"/>
            </a:xfrm>
            <a:custGeom>
              <a:avLst/>
              <a:gdLst/>
              <a:ahLst/>
              <a:cxnLst/>
              <a:rect l="l" t="t" r="r" b="b"/>
              <a:pathLst>
                <a:path w="342900">
                  <a:moveTo>
                    <a:pt x="3429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925887" y="4652962"/>
              <a:ext cx="355600" cy="0"/>
            </a:xfrm>
            <a:custGeom>
              <a:avLst/>
              <a:gdLst/>
              <a:ahLst/>
              <a:cxnLst/>
              <a:rect l="l" t="t" r="r" b="b"/>
              <a:pathLst>
                <a:path w="355600">
                  <a:moveTo>
                    <a:pt x="3556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970462" y="4178300"/>
              <a:ext cx="254000" cy="0"/>
            </a:xfrm>
            <a:custGeom>
              <a:avLst/>
              <a:gdLst/>
              <a:ahLst/>
              <a:cxnLst/>
              <a:rect l="l" t="t" r="r" b="b"/>
              <a:pathLst>
                <a:path w="254000">
                  <a:moveTo>
                    <a:pt x="2540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957762" y="4533900"/>
              <a:ext cx="254000" cy="0"/>
            </a:xfrm>
            <a:custGeom>
              <a:avLst/>
              <a:gdLst/>
              <a:ahLst/>
              <a:cxnLst/>
              <a:rect l="l" t="t" r="r" b="b"/>
              <a:pathLst>
                <a:path w="254000">
                  <a:moveTo>
                    <a:pt x="2540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945062" y="4889500"/>
              <a:ext cx="254000" cy="0"/>
            </a:xfrm>
            <a:custGeom>
              <a:avLst/>
              <a:gdLst/>
              <a:ahLst/>
              <a:cxnLst/>
              <a:rect l="l" t="t" r="r" b="b"/>
              <a:pathLst>
                <a:path w="254000">
                  <a:moveTo>
                    <a:pt x="2540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3633152" y="3994022"/>
            <a:ext cx="26098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400" spc="5" dirty="0">
                <a:latin typeface="Arial MT"/>
                <a:cs typeface="Arial MT"/>
              </a:rPr>
              <a:t>A</a:t>
            </a:r>
            <a:r>
              <a:rPr sz="1350" spc="7" baseline="-21604" dirty="0">
                <a:latin typeface="Arial MT"/>
                <a:cs typeface="Arial MT"/>
              </a:rPr>
              <a:t>1</a:t>
            </a:r>
            <a:endParaRPr sz="1350" baseline="-21604">
              <a:latin typeface="Arial MT"/>
              <a:cs typeface="Arial MT"/>
            </a:endParaRPr>
          </a:p>
        </p:txBody>
      </p:sp>
      <p:sp>
        <p:nvSpPr>
          <p:cNvPr id="65" name="object 6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r>
              <a:rPr spc="-5" dirty="0"/>
              <a:t>14</a:t>
            </a:r>
          </a:p>
        </p:txBody>
      </p:sp>
      <p:sp>
        <p:nvSpPr>
          <p:cNvPr id="63" name="object 63"/>
          <p:cNvSpPr txBox="1"/>
          <p:nvPr/>
        </p:nvSpPr>
        <p:spPr>
          <a:xfrm>
            <a:off x="3658552" y="4514722"/>
            <a:ext cx="14414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 MT"/>
                <a:cs typeface="Arial MT"/>
              </a:rPr>
              <a:t>A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3776662" y="4616830"/>
            <a:ext cx="92075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5" dirty="0">
                <a:latin typeface="Arial MT"/>
                <a:cs typeface="Arial MT"/>
              </a:rPr>
              <a:t>0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6350" y="0"/>
            <a:ext cx="9156700" cy="6870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515938" cy="68579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64540" y="1010665"/>
            <a:ext cx="611378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9" dirty="0">
                <a:solidFill>
                  <a:srgbClr val="FFFFCC"/>
                </a:solidFill>
                <a:latin typeface="Arial MT"/>
                <a:cs typeface="Arial MT"/>
              </a:rPr>
              <a:t>The</a:t>
            </a:r>
            <a:r>
              <a:rPr spc="-220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475" dirty="0">
                <a:solidFill>
                  <a:srgbClr val="FFFFCC"/>
                </a:solidFill>
                <a:latin typeface="Arial MT"/>
                <a:cs typeface="Arial MT"/>
              </a:rPr>
              <a:t>Des</a:t>
            </a:r>
            <a:r>
              <a:rPr spc="-180" dirty="0">
                <a:solidFill>
                  <a:srgbClr val="FFFFCC"/>
                </a:solidFill>
                <a:latin typeface="Arial MT"/>
                <a:cs typeface="Arial MT"/>
              </a:rPr>
              <a:t>i</a:t>
            </a:r>
            <a:r>
              <a:rPr spc="-445" dirty="0">
                <a:solidFill>
                  <a:srgbClr val="FFFFCC"/>
                </a:solidFill>
                <a:latin typeface="Arial MT"/>
                <a:cs typeface="Arial MT"/>
              </a:rPr>
              <a:t>gn</a:t>
            </a:r>
            <a:r>
              <a:rPr spc="-210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335" dirty="0">
                <a:solidFill>
                  <a:srgbClr val="FFFFCC"/>
                </a:solidFill>
                <a:latin typeface="Arial MT"/>
                <a:cs typeface="Arial MT"/>
              </a:rPr>
              <a:t>of</a:t>
            </a:r>
            <a:r>
              <a:rPr spc="-220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445" dirty="0">
                <a:solidFill>
                  <a:srgbClr val="FFFFCC"/>
                </a:solidFill>
                <a:latin typeface="Arial MT"/>
                <a:cs typeface="Arial MT"/>
              </a:rPr>
              <a:t>a</a:t>
            </a:r>
            <a:r>
              <a:rPr spc="-220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480" dirty="0">
                <a:solidFill>
                  <a:srgbClr val="FFFFCC"/>
                </a:solidFill>
                <a:latin typeface="Arial MT"/>
                <a:cs typeface="Arial MT"/>
              </a:rPr>
              <a:t>Memory</a:t>
            </a:r>
            <a:r>
              <a:rPr spc="-225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400" dirty="0">
                <a:solidFill>
                  <a:srgbClr val="FFFFCC"/>
                </a:solidFill>
                <a:latin typeface="Arial MT"/>
                <a:cs typeface="Arial MT"/>
              </a:rPr>
              <a:t>Chi</a:t>
            </a:r>
            <a:r>
              <a:rPr spc="-445" dirty="0">
                <a:solidFill>
                  <a:srgbClr val="FFFFCC"/>
                </a:solidFill>
                <a:latin typeface="Arial MT"/>
                <a:cs typeface="Arial MT"/>
              </a:rPr>
              <a:t>p</a:t>
            </a: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7239" y="2197608"/>
            <a:ext cx="215645" cy="22707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07439" y="2005075"/>
            <a:ext cx="7252334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3200" spc="-295" dirty="0">
                <a:solidFill>
                  <a:srgbClr val="EBEBEB"/>
                </a:solidFill>
                <a:latin typeface="Arial MT"/>
                <a:cs typeface="Arial MT"/>
              </a:rPr>
              <a:t>Since</a:t>
            </a:r>
            <a:r>
              <a:rPr sz="3200" spc="-15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3200" spc="-375" dirty="0">
                <a:solidFill>
                  <a:srgbClr val="EBEBEB"/>
                </a:solidFill>
                <a:latin typeface="Arial MT"/>
                <a:cs typeface="Arial MT"/>
              </a:rPr>
              <a:t>we</a:t>
            </a:r>
            <a:r>
              <a:rPr sz="3200" spc="-15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3200" spc="-315" dirty="0">
                <a:solidFill>
                  <a:srgbClr val="EBEBEB"/>
                </a:solidFill>
                <a:latin typeface="Arial MT"/>
                <a:cs typeface="Arial MT"/>
              </a:rPr>
              <a:t>have</a:t>
            </a:r>
            <a:r>
              <a:rPr sz="3200" spc="-15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3200" spc="-220" dirty="0">
                <a:solidFill>
                  <a:srgbClr val="EBEBEB"/>
                </a:solidFill>
                <a:latin typeface="Arial MT"/>
                <a:cs typeface="Arial MT"/>
              </a:rPr>
              <a:t>tri-state</a:t>
            </a:r>
            <a:r>
              <a:rPr sz="3200" spc="-16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3200" spc="-254" dirty="0">
                <a:solidFill>
                  <a:srgbClr val="EBEBEB"/>
                </a:solidFill>
                <a:latin typeface="Arial MT"/>
                <a:cs typeface="Arial MT"/>
              </a:rPr>
              <a:t>buffers</a:t>
            </a:r>
            <a:r>
              <a:rPr sz="3200" spc="-15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3200" spc="-325" dirty="0">
                <a:solidFill>
                  <a:srgbClr val="EBEBEB"/>
                </a:solidFill>
                <a:latin typeface="Arial MT"/>
                <a:cs typeface="Arial MT"/>
              </a:rPr>
              <a:t>on</a:t>
            </a:r>
            <a:r>
              <a:rPr sz="3200" spc="-15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3200" spc="-285" dirty="0">
                <a:solidFill>
                  <a:srgbClr val="EBEBEB"/>
                </a:solidFill>
                <a:latin typeface="Arial MT"/>
                <a:cs typeface="Arial MT"/>
              </a:rPr>
              <a:t>both</a:t>
            </a:r>
            <a:r>
              <a:rPr sz="3200" spc="-15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3200" spc="-270" dirty="0">
                <a:solidFill>
                  <a:srgbClr val="EBEBEB"/>
                </a:solidFill>
                <a:latin typeface="Arial MT"/>
                <a:cs typeface="Arial MT"/>
              </a:rPr>
              <a:t>the</a:t>
            </a:r>
            <a:r>
              <a:rPr sz="3200" spc="-16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3200" spc="-260" dirty="0">
                <a:solidFill>
                  <a:srgbClr val="EBEBEB"/>
                </a:solidFill>
                <a:latin typeface="Arial MT"/>
                <a:cs typeface="Arial MT"/>
              </a:rPr>
              <a:t>inputs </a:t>
            </a:r>
            <a:r>
              <a:rPr sz="3200" spc="-869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3200" spc="-325" dirty="0">
                <a:solidFill>
                  <a:srgbClr val="EBEBEB"/>
                </a:solidFill>
                <a:latin typeface="Arial MT"/>
                <a:cs typeface="Arial MT"/>
              </a:rPr>
              <a:t>and</a:t>
            </a:r>
            <a:r>
              <a:rPr sz="3200" spc="-16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3200" spc="-275" dirty="0">
                <a:solidFill>
                  <a:srgbClr val="EBEBEB"/>
                </a:solidFill>
                <a:latin typeface="Arial MT"/>
                <a:cs typeface="Arial MT"/>
              </a:rPr>
              <a:t>outputs</a:t>
            </a:r>
            <a:r>
              <a:rPr sz="3200" spc="-16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3200" spc="-245" dirty="0">
                <a:solidFill>
                  <a:srgbClr val="EBEBEB"/>
                </a:solidFill>
                <a:latin typeface="Arial MT"/>
                <a:cs typeface="Arial MT"/>
              </a:rPr>
              <a:t>of</a:t>
            </a:r>
            <a:r>
              <a:rPr sz="3200" spc="-15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3200" spc="-270" dirty="0">
                <a:solidFill>
                  <a:srgbClr val="EBEBEB"/>
                </a:solidFill>
                <a:latin typeface="Arial MT"/>
                <a:cs typeface="Arial MT"/>
              </a:rPr>
              <a:t>the</a:t>
            </a:r>
            <a:r>
              <a:rPr sz="3200" spc="-16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3200" spc="-185" dirty="0">
                <a:solidFill>
                  <a:srgbClr val="EBEBEB"/>
                </a:solidFill>
                <a:latin typeface="Arial MT"/>
                <a:cs typeface="Arial MT"/>
              </a:rPr>
              <a:t>flip</a:t>
            </a:r>
            <a:r>
              <a:rPr sz="3200" spc="-15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3200" spc="-235" dirty="0">
                <a:solidFill>
                  <a:srgbClr val="EBEBEB"/>
                </a:solidFill>
                <a:latin typeface="Arial MT"/>
                <a:cs typeface="Arial MT"/>
              </a:rPr>
              <a:t>flops,</a:t>
            </a:r>
            <a:r>
              <a:rPr sz="3200" spc="-16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3200" spc="-375" dirty="0">
                <a:solidFill>
                  <a:srgbClr val="EBEBEB"/>
                </a:solidFill>
                <a:latin typeface="Arial MT"/>
                <a:cs typeface="Arial MT"/>
              </a:rPr>
              <a:t>we</a:t>
            </a:r>
            <a:r>
              <a:rPr sz="3200" spc="-15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3200" spc="-315" dirty="0">
                <a:solidFill>
                  <a:srgbClr val="EBEBEB"/>
                </a:solidFill>
                <a:latin typeface="Arial MT"/>
                <a:cs typeface="Arial MT"/>
              </a:rPr>
              <a:t>can</a:t>
            </a:r>
            <a:r>
              <a:rPr sz="3200" spc="-15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3200" spc="-245" dirty="0">
                <a:solidFill>
                  <a:srgbClr val="EBEBEB"/>
                </a:solidFill>
                <a:latin typeface="Arial MT"/>
                <a:cs typeface="Arial MT"/>
              </a:rPr>
              <a:t>actually</a:t>
            </a:r>
            <a:r>
              <a:rPr sz="3200" spc="-15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3200" spc="-315" dirty="0">
                <a:solidFill>
                  <a:srgbClr val="EBEBEB"/>
                </a:solidFill>
                <a:latin typeface="Arial MT"/>
                <a:cs typeface="Arial MT"/>
              </a:rPr>
              <a:t>use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07439" y="2980638"/>
            <a:ext cx="21082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325" dirty="0">
                <a:solidFill>
                  <a:srgbClr val="EBEBEB"/>
                </a:solidFill>
                <a:latin typeface="Arial MT"/>
                <a:cs typeface="Arial MT"/>
              </a:rPr>
              <a:t>o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05342" y="3031811"/>
            <a:ext cx="3616960" cy="9664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35"/>
              </a:lnSpc>
            </a:pPr>
            <a:r>
              <a:rPr sz="3200" spc="-325" dirty="0">
                <a:solidFill>
                  <a:srgbClr val="EBEBEB"/>
                </a:solidFill>
                <a:latin typeface="Arial MT"/>
                <a:cs typeface="Arial MT"/>
              </a:rPr>
              <a:t>ne</a:t>
            </a:r>
            <a:r>
              <a:rPr sz="3200" spc="-16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3200" spc="-290" dirty="0">
                <a:solidFill>
                  <a:srgbClr val="EBEBEB"/>
                </a:solidFill>
                <a:latin typeface="Arial MT"/>
                <a:cs typeface="Arial MT"/>
              </a:rPr>
              <a:t>s</a:t>
            </a:r>
            <a:r>
              <a:rPr sz="3200" spc="-245" dirty="0">
                <a:solidFill>
                  <a:srgbClr val="EBEBEB"/>
                </a:solidFill>
                <a:latin typeface="Arial MT"/>
                <a:cs typeface="Arial MT"/>
              </a:rPr>
              <a:t>et</a:t>
            </a:r>
            <a:r>
              <a:rPr sz="3200" spc="-17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3200" spc="-245" dirty="0">
                <a:solidFill>
                  <a:srgbClr val="EBEBEB"/>
                </a:solidFill>
                <a:latin typeface="Arial MT"/>
                <a:cs typeface="Arial MT"/>
              </a:rPr>
              <a:t>of</a:t>
            </a:r>
            <a:r>
              <a:rPr sz="3200" spc="-16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3200" spc="-270" dirty="0">
                <a:solidFill>
                  <a:srgbClr val="EBEBEB"/>
                </a:solidFill>
                <a:latin typeface="Arial MT"/>
                <a:cs typeface="Arial MT"/>
              </a:rPr>
              <a:t>pins</a:t>
            </a:r>
            <a:r>
              <a:rPr sz="3200" spc="-15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3200" spc="-270" dirty="0">
                <a:solidFill>
                  <a:srgbClr val="EBEBEB"/>
                </a:solidFill>
                <a:latin typeface="Arial MT"/>
                <a:cs typeface="Arial MT"/>
              </a:rPr>
              <a:t>only</a:t>
            </a:r>
            <a:r>
              <a:rPr sz="3200" spc="-160" dirty="0">
                <a:solidFill>
                  <a:srgbClr val="EBEBEB"/>
                </a:solidFill>
                <a:latin typeface="Arial MT"/>
                <a:cs typeface="Arial MT"/>
              </a:rPr>
              <a:t>.</a:t>
            </a:r>
            <a:endParaRPr sz="3200">
              <a:latin typeface="Arial MT"/>
              <a:cs typeface="Arial MT"/>
            </a:endParaRPr>
          </a:p>
          <a:p>
            <a:pPr marL="214629">
              <a:lnSpc>
                <a:spcPct val="100000"/>
              </a:lnSpc>
              <a:spcBef>
                <a:spcPts val="680"/>
              </a:spcBef>
            </a:pPr>
            <a:r>
              <a:rPr sz="2800" spc="-290" dirty="0">
                <a:solidFill>
                  <a:srgbClr val="EBEBEB"/>
                </a:solidFill>
                <a:latin typeface="Arial MT"/>
                <a:cs typeface="Arial MT"/>
              </a:rPr>
              <a:t>The</a:t>
            </a:r>
            <a:r>
              <a:rPr sz="2800" spc="-15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54" dirty="0">
                <a:solidFill>
                  <a:srgbClr val="EBEBEB"/>
                </a:solidFill>
                <a:latin typeface="Arial MT"/>
                <a:cs typeface="Arial MT"/>
              </a:rPr>
              <a:t>c</a:t>
            </a:r>
            <a:r>
              <a:rPr sz="2800" spc="-225" dirty="0">
                <a:solidFill>
                  <a:srgbClr val="EBEBEB"/>
                </a:solidFill>
                <a:latin typeface="Arial MT"/>
                <a:cs typeface="Arial MT"/>
              </a:rPr>
              <a:t>hip</a:t>
            </a:r>
            <a:r>
              <a:rPr sz="2800" spc="-15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370" dirty="0">
                <a:solidFill>
                  <a:srgbClr val="EBEBEB"/>
                </a:solidFill>
                <a:latin typeface="Arial MT"/>
                <a:cs typeface="Arial MT"/>
              </a:rPr>
              <a:t>w</a:t>
            </a:r>
            <a:r>
              <a:rPr sz="2800" spc="-240" dirty="0">
                <a:solidFill>
                  <a:srgbClr val="EBEBEB"/>
                </a:solidFill>
                <a:latin typeface="Arial MT"/>
                <a:cs typeface="Arial MT"/>
              </a:rPr>
              <a:t>ould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310" dirty="0">
                <a:solidFill>
                  <a:srgbClr val="EBEBEB"/>
                </a:solidFill>
                <a:latin typeface="Arial MT"/>
                <a:cs typeface="Arial MT"/>
              </a:rPr>
              <a:t>now</a:t>
            </a:r>
            <a:r>
              <a:rPr sz="2800" spc="-14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35" dirty="0">
                <a:solidFill>
                  <a:srgbClr val="EBEBEB"/>
                </a:solidFill>
                <a:latin typeface="Arial MT"/>
                <a:cs typeface="Arial MT"/>
              </a:rPr>
              <a:t>look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114" dirty="0">
                <a:solidFill>
                  <a:srgbClr val="EBEBEB"/>
                </a:solidFill>
                <a:latin typeface="Arial MT"/>
                <a:cs typeface="Arial MT"/>
              </a:rPr>
              <a:t>li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33677" y="3737609"/>
            <a:ext cx="177545" cy="186689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1260475" y="3041650"/>
            <a:ext cx="3657600" cy="2755900"/>
            <a:chOff x="1260475" y="3041650"/>
            <a:chExt cx="3657600" cy="2755900"/>
          </a:xfrm>
        </p:grpSpPr>
        <p:sp>
          <p:nvSpPr>
            <p:cNvPr id="11" name="object 11"/>
            <p:cNvSpPr/>
            <p:nvPr/>
          </p:nvSpPr>
          <p:spPr>
            <a:xfrm>
              <a:off x="1266825" y="3048000"/>
              <a:ext cx="3644900" cy="2743200"/>
            </a:xfrm>
            <a:custGeom>
              <a:avLst/>
              <a:gdLst/>
              <a:ahLst/>
              <a:cxnLst/>
              <a:rect l="l" t="t" r="r" b="b"/>
              <a:pathLst>
                <a:path w="3644900" h="2743200">
                  <a:moveTo>
                    <a:pt x="3644900" y="0"/>
                  </a:moveTo>
                  <a:lnTo>
                    <a:pt x="0" y="0"/>
                  </a:lnTo>
                  <a:lnTo>
                    <a:pt x="0" y="2743200"/>
                  </a:lnTo>
                  <a:lnTo>
                    <a:pt x="3644900" y="2743200"/>
                  </a:lnTo>
                  <a:lnTo>
                    <a:pt x="3644900" y="0"/>
                  </a:lnTo>
                  <a:close/>
                </a:path>
              </a:pathLst>
            </a:custGeom>
            <a:solidFill>
              <a:srgbClr val="CC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66825" y="3048000"/>
              <a:ext cx="3644900" cy="2743200"/>
            </a:xfrm>
            <a:custGeom>
              <a:avLst/>
              <a:gdLst/>
              <a:ahLst/>
              <a:cxnLst/>
              <a:rect l="l" t="t" r="r" b="b"/>
              <a:pathLst>
                <a:path w="3644900" h="2743200">
                  <a:moveTo>
                    <a:pt x="0" y="0"/>
                  </a:moveTo>
                  <a:lnTo>
                    <a:pt x="3644900" y="0"/>
                  </a:lnTo>
                  <a:lnTo>
                    <a:pt x="3644900" y="2743200"/>
                  </a:lnTo>
                  <a:lnTo>
                    <a:pt x="0" y="27432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362200" y="3659187"/>
              <a:ext cx="1644650" cy="1482725"/>
            </a:xfrm>
            <a:custGeom>
              <a:avLst/>
              <a:gdLst/>
              <a:ahLst/>
              <a:cxnLst/>
              <a:rect l="l" t="t" r="r" b="b"/>
              <a:pathLst>
                <a:path w="1644650" h="1482725">
                  <a:moveTo>
                    <a:pt x="1644650" y="0"/>
                  </a:moveTo>
                  <a:lnTo>
                    <a:pt x="0" y="0"/>
                  </a:lnTo>
                  <a:lnTo>
                    <a:pt x="0" y="1482725"/>
                  </a:lnTo>
                  <a:lnTo>
                    <a:pt x="1644650" y="1482725"/>
                  </a:lnTo>
                  <a:lnTo>
                    <a:pt x="164465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362200" y="3659187"/>
              <a:ext cx="1644650" cy="1482725"/>
            </a:xfrm>
            <a:custGeom>
              <a:avLst/>
              <a:gdLst/>
              <a:ahLst/>
              <a:cxnLst/>
              <a:rect l="l" t="t" r="r" b="b"/>
              <a:pathLst>
                <a:path w="1644650" h="1482725">
                  <a:moveTo>
                    <a:pt x="0" y="0"/>
                  </a:moveTo>
                  <a:lnTo>
                    <a:pt x="1644650" y="0"/>
                  </a:lnTo>
                  <a:lnTo>
                    <a:pt x="1644650" y="1482725"/>
                  </a:lnTo>
                  <a:lnTo>
                    <a:pt x="0" y="148272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374900" y="3222625"/>
              <a:ext cx="1646555" cy="274955"/>
            </a:xfrm>
            <a:custGeom>
              <a:avLst/>
              <a:gdLst/>
              <a:ahLst/>
              <a:cxnLst/>
              <a:rect l="l" t="t" r="r" b="b"/>
              <a:pathLst>
                <a:path w="1646554" h="274954">
                  <a:moveTo>
                    <a:pt x="1646237" y="0"/>
                  </a:moveTo>
                  <a:lnTo>
                    <a:pt x="0" y="0"/>
                  </a:lnTo>
                  <a:lnTo>
                    <a:pt x="0" y="274637"/>
                  </a:lnTo>
                  <a:lnTo>
                    <a:pt x="1646237" y="274637"/>
                  </a:lnTo>
                  <a:lnTo>
                    <a:pt x="1646237" y="0"/>
                  </a:lnTo>
                  <a:close/>
                </a:path>
              </a:pathLst>
            </a:custGeom>
            <a:solidFill>
              <a:srgbClr val="99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374900" y="3222625"/>
              <a:ext cx="1646555" cy="274955"/>
            </a:xfrm>
            <a:custGeom>
              <a:avLst/>
              <a:gdLst/>
              <a:ahLst/>
              <a:cxnLst/>
              <a:rect l="l" t="t" r="r" b="b"/>
              <a:pathLst>
                <a:path w="1646554" h="274954">
                  <a:moveTo>
                    <a:pt x="0" y="0"/>
                  </a:moveTo>
                  <a:lnTo>
                    <a:pt x="1646237" y="0"/>
                  </a:lnTo>
                  <a:lnTo>
                    <a:pt x="1646237" y="274637"/>
                  </a:lnTo>
                  <a:lnTo>
                    <a:pt x="0" y="274637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755138" y="3251072"/>
            <a:ext cx="8858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Input</a:t>
            </a:r>
            <a:r>
              <a:rPr sz="1200" spc="-5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Buffers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368550" y="5299075"/>
            <a:ext cx="1659255" cy="287655"/>
            <a:chOff x="2368550" y="5299075"/>
            <a:chExt cx="1659255" cy="287655"/>
          </a:xfrm>
        </p:grpSpPr>
        <p:sp>
          <p:nvSpPr>
            <p:cNvPr id="19" name="object 19"/>
            <p:cNvSpPr/>
            <p:nvPr/>
          </p:nvSpPr>
          <p:spPr>
            <a:xfrm>
              <a:off x="2374900" y="5305425"/>
              <a:ext cx="1646555" cy="274955"/>
            </a:xfrm>
            <a:custGeom>
              <a:avLst/>
              <a:gdLst/>
              <a:ahLst/>
              <a:cxnLst/>
              <a:rect l="l" t="t" r="r" b="b"/>
              <a:pathLst>
                <a:path w="1646554" h="274954">
                  <a:moveTo>
                    <a:pt x="1646237" y="0"/>
                  </a:moveTo>
                  <a:lnTo>
                    <a:pt x="0" y="0"/>
                  </a:lnTo>
                  <a:lnTo>
                    <a:pt x="0" y="274637"/>
                  </a:lnTo>
                  <a:lnTo>
                    <a:pt x="1646237" y="274637"/>
                  </a:lnTo>
                  <a:lnTo>
                    <a:pt x="1646237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374900" y="5305425"/>
              <a:ext cx="1646555" cy="274955"/>
            </a:xfrm>
            <a:custGeom>
              <a:avLst/>
              <a:gdLst/>
              <a:ahLst/>
              <a:cxnLst/>
              <a:rect l="l" t="t" r="r" b="b"/>
              <a:pathLst>
                <a:path w="1646554" h="274954">
                  <a:moveTo>
                    <a:pt x="0" y="0"/>
                  </a:moveTo>
                  <a:lnTo>
                    <a:pt x="1646237" y="0"/>
                  </a:lnTo>
                  <a:lnTo>
                    <a:pt x="1646237" y="274637"/>
                  </a:lnTo>
                  <a:lnTo>
                    <a:pt x="0" y="274637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695670" y="5333872"/>
            <a:ext cx="100456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Output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Buffers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060450" y="3373437"/>
            <a:ext cx="2967355" cy="2120900"/>
            <a:chOff x="1060450" y="3373437"/>
            <a:chExt cx="2967355" cy="2120900"/>
          </a:xfrm>
        </p:grpSpPr>
        <p:sp>
          <p:nvSpPr>
            <p:cNvPr id="23" name="object 23"/>
            <p:cNvSpPr/>
            <p:nvPr/>
          </p:nvSpPr>
          <p:spPr>
            <a:xfrm>
              <a:off x="2374900" y="4025900"/>
              <a:ext cx="1646555" cy="0"/>
            </a:xfrm>
            <a:custGeom>
              <a:avLst/>
              <a:gdLst/>
              <a:ahLst/>
              <a:cxnLst/>
              <a:rect l="l" t="t" r="r" b="b"/>
              <a:pathLst>
                <a:path w="1646554">
                  <a:moveTo>
                    <a:pt x="0" y="0"/>
                  </a:moveTo>
                  <a:lnTo>
                    <a:pt x="164623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374900" y="4392612"/>
              <a:ext cx="1646555" cy="0"/>
            </a:xfrm>
            <a:custGeom>
              <a:avLst/>
              <a:gdLst/>
              <a:ahLst/>
              <a:cxnLst/>
              <a:rect l="l" t="t" r="r" b="b"/>
              <a:pathLst>
                <a:path w="1646554">
                  <a:moveTo>
                    <a:pt x="0" y="0"/>
                  </a:moveTo>
                  <a:lnTo>
                    <a:pt x="164623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374900" y="4764087"/>
              <a:ext cx="1646555" cy="0"/>
            </a:xfrm>
            <a:custGeom>
              <a:avLst/>
              <a:gdLst/>
              <a:ahLst/>
              <a:cxnLst/>
              <a:rect l="l" t="t" r="r" b="b"/>
              <a:pathLst>
                <a:path w="1646554">
                  <a:moveTo>
                    <a:pt x="0" y="0"/>
                  </a:moveTo>
                  <a:lnTo>
                    <a:pt x="164623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079500" y="3379787"/>
              <a:ext cx="1295400" cy="0"/>
            </a:xfrm>
            <a:custGeom>
              <a:avLst/>
              <a:gdLst/>
              <a:ahLst/>
              <a:cxnLst/>
              <a:rect l="l" t="t" r="r" b="b"/>
              <a:pathLst>
                <a:path w="1295400">
                  <a:moveTo>
                    <a:pt x="12954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120900" y="3843337"/>
              <a:ext cx="254000" cy="0"/>
            </a:xfrm>
            <a:custGeom>
              <a:avLst/>
              <a:gdLst/>
              <a:ahLst/>
              <a:cxnLst/>
              <a:rect l="l" t="t" r="r" b="b"/>
              <a:pathLst>
                <a:path w="254000">
                  <a:moveTo>
                    <a:pt x="2540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066800" y="5487987"/>
              <a:ext cx="1308100" cy="0"/>
            </a:xfrm>
            <a:custGeom>
              <a:avLst/>
              <a:gdLst/>
              <a:ahLst/>
              <a:cxnLst/>
              <a:rect l="l" t="t" r="r" b="b"/>
              <a:pathLst>
                <a:path w="1308100">
                  <a:moveTo>
                    <a:pt x="13081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479675" y="3490912"/>
              <a:ext cx="0" cy="160655"/>
            </a:xfrm>
            <a:custGeom>
              <a:avLst/>
              <a:gdLst/>
              <a:ahLst/>
              <a:cxnLst/>
              <a:rect l="l" t="t" r="r" b="b"/>
              <a:pathLst>
                <a:path h="160654">
                  <a:moveTo>
                    <a:pt x="0" y="0"/>
                  </a:moveTo>
                  <a:lnTo>
                    <a:pt x="0" y="16033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949575" y="3509962"/>
              <a:ext cx="0" cy="141605"/>
            </a:xfrm>
            <a:custGeom>
              <a:avLst/>
              <a:gdLst/>
              <a:ahLst/>
              <a:cxnLst/>
              <a:rect l="l" t="t" r="r" b="b"/>
              <a:pathLst>
                <a:path h="141604">
                  <a:moveTo>
                    <a:pt x="0" y="0"/>
                  </a:moveTo>
                  <a:lnTo>
                    <a:pt x="0" y="14128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381375" y="3497262"/>
              <a:ext cx="0" cy="167005"/>
            </a:xfrm>
            <a:custGeom>
              <a:avLst/>
              <a:gdLst/>
              <a:ahLst/>
              <a:cxnLst/>
              <a:rect l="l" t="t" r="r" b="b"/>
              <a:pathLst>
                <a:path h="167004">
                  <a:moveTo>
                    <a:pt x="0" y="0"/>
                  </a:moveTo>
                  <a:lnTo>
                    <a:pt x="0" y="16668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838575" y="3495675"/>
              <a:ext cx="0" cy="168275"/>
            </a:xfrm>
            <a:custGeom>
              <a:avLst/>
              <a:gdLst/>
              <a:ahLst/>
              <a:cxnLst/>
              <a:rect l="l" t="t" r="r" b="b"/>
              <a:pathLst>
                <a:path h="168275">
                  <a:moveTo>
                    <a:pt x="0" y="0"/>
                  </a:moveTo>
                  <a:lnTo>
                    <a:pt x="0" y="16827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479675" y="5141912"/>
              <a:ext cx="0" cy="160655"/>
            </a:xfrm>
            <a:custGeom>
              <a:avLst/>
              <a:gdLst/>
              <a:ahLst/>
              <a:cxnLst/>
              <a:rect l="l" t="t" r="r" b="b"/>
              <a:pathLst>
                <a:path h="160654">
                  <a:moveTo>
                    <a:pt x="0" y="0"/>
                  </a:moveTo>
                  <a:lnTo>
                    <a:pt x="0" y="16033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949575" y="5160962"/>
              <a:ext cx="0" cy="141605"/>
            </a:xfrm>
            <a:custGeom>
              <a:avLst/>
              <a:gdLst/>
              <a:ahLst/>
              <a:cxnLst/>
              <a:rect l="l" t="t" r="r" b="b"/>
              <a:pathLst>
                <a:path h="141604">
                  <a:moveTo>
                    <a:pt x="0" y="0"/>
                  </a:moveTo>
                  <a:lnTo>
                    <a:pt x="0" y="14128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381375" y="5148262"/>
              <a:ext cx="0" cy="167005"/>
            </a:xfrm>
            <a:custGeom>
              <a:avLst/>
              <a:gdLst/>
              <a:ahLst/>
              <a:cxnLst/>
              <a:rect l="l" t="t" r="r" b="b"/>
              <a:pathLst>
                <a:path h="167004">
                  <a:moveTo>
                    <a:pt x="0" y="0"/>
                  </a:moveTo>
                  <a:lnTo>
                    <a:pt x="0" y="16668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838575" y="5146675"/>
              <a:ext cx="0" cy="168275"/>
            </a:xfrm>
            <a:custGeom>
              <a:avLst/>
              <a:gdLst/>
              <a:ahLst/>
              <a:cxnLst/>
              <a:rect l="l" t="t" r="r" b="b"/>
              <a:pathLst>
                <a:path h="168275">
                  <a:moveTo>
                    <a:pt x="0" y="0"/>
                  </a:moveTo>
                  <a:lnTo>
                    <a:pt x="0" y="16827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419225" y="3657600"/>
              <a:ext cx="685800" cy="1485900"/>
            </a:xfrm>
            <a:custGeom>
              <a:avLst/>
              <a:gdLst/>
              <a:ahLst/>
              <a:cxnLst/>
              <a:rect l="l" t="t" r="r" b="b"/>
              <a:pathLst>
                <a:path w="685800" h="1485900">
                  <a:moveTo>
                    <a:pt x="685800" y="0"/>
                  </a:moveTo>
                  <a:lnTo>
                    <a:pt x="0" y="0"/>
                  </a:lnTo>
                  <a:lnTo>
                    <a:pt x="0" y="1485900"/>
                  </a:lnTo>
                  <a:lnTo>
                    <a:pt x="685800" y="14859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FF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419225" y="3657600"/>
              <a:ext cx="685800" cy="1485900"/>
            </a:xfrm>
            <a:custGeom>
              <a:avLst/>
              <a:gdLst/>
              <a:ahLst/>
              <a:cxnLst/>
              <a:rect l="l" t="t" r="r" b="b"/>
              <a:pathLst>
                <a:path w="685800" h="1485900">
                  <a:moveTo>
                    <a:pt x="0" y="0"/>
                  </a:moveTo>
                  <a:lnTo>
                    <a:pt x="685800" y="0"/>
                  </a:lnTo>
                  <a:lnTo>
                    <a:pt x="685800" y="1485900"/>
                  </a:lnTo>
                  <a:lnTo>
                    <a:pt x="0" y="14859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2651505" y="3730497"/>
            <a:ext cx="10655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Memory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Reg.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0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651505" y="4093971"/>
            <a:ext cx="10655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Memory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Reg.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651505" y="4457445"/>
            <a:ext cx="10655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Memory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Reg.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651505" y="4820920"/>
            <a:ext cx="10655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Memory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Reg.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3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53637" y="3232023"/>
            <a:ext cx="32131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 MT"/>
                <a:cs typeface="Arial MT"/>
              </a:rPr>
              <a:t>WR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661987" y="3225800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>
                <a:moveTo>
                  <a:pt x="0" y="0"/>
                </a:moveTo>
                <a:lnTo>
                  <a:pt x="3048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673417" y="5378322"/>
            <a:ext cx="28194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 MT"/>
                <a:cs typeface="Arial MT"/>
              </a:rPr>
              <a:t>RD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661987" y="5359400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>
                <a:moveTo>
                  <a:pt x="0" y="0"/>
                </a:moveTo>
                <a:lnTo>
                  <a:pt x="3048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1558289" y="3646360"/>
            <a:ext cx="14414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 MT"/>
                <a:cs typeface="Arial MT"/>
              </a:rPr>
              <a:t>A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558289" y="3859770"/>
            <a:ext cx="12446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 MT"/>
                <a:cs typeface="Arial MT"/>
              </a:rPr>
              <a:t>d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558289" y="4073181"/>
            <a:ext cx="12446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 MT"/>
                <a:cs typeface="Arial MT"/>
              </a:rPr>
              <a:t>d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558289" y="4286591"/>
            <a:ext cx="8509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 MT"/>
                <a:cs typeface="Arial MT"/>
              </a:rPr>
              <a:t>r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558289" y="4500001"/>
            <a:ext cx="12446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 MT"/>
                <a:cs typeface="Arial MT"/>
              </a:rPr>
              <a:t>e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558289" y="4713411"/>
            <a:ext cx="1143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 MT"/>
                <a:cs typeface="Arial MT"/>
              </a:rPr>
              <a:t>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558289" y="4926822"/>
            <a:ext cx="1143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 MT"/>
                <a:cs typeface="Arial MT"/>
              </a:rPr>
              <a:t>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888525" y="3659321"/>
            <a:ext cx="15367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 MT"/>
                <a:cs typeface="Arial MT"/>
              </a:rPr>
              <a:t>D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888525" y="3872731"/>
            <a:ext cx="12446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 MT"/>
                <a:cs typeface="Arial MT"/>
              </a:rPr>
              <a:t>e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888525" y="4086142"/>
            <a:ext cx="1143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 MT"/>
                <a:cs typeface="Arial MT"/>
              </a:rPr>
              <a:t>c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888525" y="4299552"/>
            <a:ext cx="12446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 MT"/>
                <a:cs typeface="Arial MT"/>
              </a:rPr>
              <a:t>o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888525" y="4512962"/>
            <a:ext cx="12446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 MT"/>
                <a:cs typeface="Arial MT"/>
              </a:rPr>
              <a:t>d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888525" y="4726372"/>
            <a:ext cx="12446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 MT"/>
                <a:cs typeface="Arial MT"/>
              </a:rPr>
              <a:t>e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888525" y="4939782"/>
            <a:ext cx="8509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 MT"/>
                <a:cs typeface="Arial MT"/>
              </a:rPr>
              <a:t>r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1063625" y="3079750"/>
            <a:ext cx="4032250" cy="2654300"/>
            <a:chOff x="1063625" y="3079750"/>
            <a:chExt cx="4032250" cy="2654300"/>
          </a:xfrm>
        </p:grpSpPr>
        <p:sp>
          <p:nvSpPr>
            <p:cNvPr id="62" name="object 62"/>
            <p:cNvSpPr/>
            <p:nvPr/>
          </p:nvSpPr>
          <p:spPr>
            <a:xfrm>
              <a:off x="1076325" y="4152900"/>
              <a:ext cx="342900" cy="0"/>
            </a:xfrm>
            <a:custGeom>
              <a:avLst/>
              <a:gdLst/>
              <a:ahLst/>
              <a:cxnLst/>
              <a:rect l="l" t="t" r="r" b="b"/>
              <a:pathLst>
                <a:path w="342900">
                  <a:moveTo>
                    <a:pt x="3429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063625" y="4673600"/>
              <a:ext cx="355600" cy="0"/>
            </a:xfrm>
            <a:custGeom>
              <a:avLst/>
              <a:gdLst/>
              <a:ahLst/>
              <a:cxnLst/>
              <a:rect l="l" t="t" r="r" b="b"/>
              <a:pathLst>
                <a:path w="355600">
                  <a:moveTo>
                    <a:pt x="3556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2108200" y="4198937"/>
              <a:ext cx="254000" cy="0"/>
            </a:xfrm>
            <a:custGeom>
              <a:avLst/>
              <a:gdLst/>
              <a:ahLst/>
              <a:cxnLst/>
              <a:rect l="l" t="t" r="r" b="b"/>
              <a:pathLst>
                <a:path w="254000">
                  <a:moveTo>
                    <a:pt x="2540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2095500" y="4554537"/>
              <a:ext cx="254000" cy="0"/>
            </a:xfrm>
            <a:custGeom>
              <a:avLst/>
              <a:gdLst/>
              <a:ahLst/>
              <a:cxnLst/>
              <a:rect l="l" t="t" r="r" b="b"/>
              <a:pathLst>
                <a:path w="254000">
                  <a:moveTo>
                    <a:pt x="2540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2082800" y="4910137"/>
              <a:ext cx="254000" cy="0"/>
            </a:xfrm>
            <a:custGeom>
              <a:avLst/>
              <a:gdLst/>
              <a:ahLst/>
              <a:cxnLst/>
              <a:rect l="l" t="t" r="r" b="b"/>
              <a:pathLst>
                <a:path w="254000">
                  <a:moveTo>
                    <a:pt x="2540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2460625" y="3086100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7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2460625" y="3086100"/>
              <a:ext cx="2273300" cy="0"/>
            </a:xfrm>
            <a:custGeom>
              <a:avLst/>
              <a:gdLst/>
              <a:ahLst/>
              <a:cxnLst/>
              <a:rect l="l" t="t" r="r" b="b"/>
              <a:pathLst>
                <a:path w="2273300">
                  <a:moveTo>
                    <a:pt x="0" y="0"/>
                  </a:moveTo>
                  <a:lnTo>
                    <a:pt x="22733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733925" y="3086100"/>
              <a:ext cx="0" cy="2635250"/>
            </a:xfrm>
            <a:custGeom>
              <a:avLst/>
              <a:gdLst/>
              <a:ahLst/>
              <a:cxnLst/>
              <a:rect l="l" t="t" r="r" b="b"/>
              <a:pathLst>
                <a:path h="2635250">
                  <a:moveTo>
                    <a:pt x="0" y="0"/>
                  </a:moveTo>
                  <a:lnTo>
                    <a:pt x="0" y="263525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727575" y="3835400"/>
              <a:ext cx="342900" cy="0"/>
            </a:xfrm>
            <a:custGeom>
              <a:avLst/>
              <a:gdLst/>
              <a:ahLst/>
              <a:cxnLst/>
              <a:rect l="l" t="t" r="r" b="b"/>
              <a:pathLst>
                <a:path w="342900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2943225" y="3124200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1016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2943225" y="3124200"/>
              <a:ext cx="1631950" cy="0"/>
            </a:xfrm>
            <a:custGeom>
              <a:avLst/>
              <a:gdLst/>
              <a:ahLst/>
              <a:cxnLst/>
              <a:rect l="l" t="t" r="r" b="b"/>
              <a:pathLst>
                <a:path w="1631950">
                  <a:moveTo>
                    <a:pt x="0" y="0"/>
                  </a:moveTo>
                  <a:lnTo>
                    <a:pt x="163195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575175" y="3124200"/>
              <a:ext cx="0" cy="2565400"/>
            </a:xfrm>
            <a:custGeom>
              <a:avLst/>
              <a:gdLst/>
              <a:ahLst/>
              <a:cxnLst/>
              <a:rect l="l" t="t" r="r" b="b"/>
              <a:pathLst>
                <a:path h="2565400">
                  <a:moveTo>
                    <a:pt x="0" y="0"/>
                  </a:moveTo>
                  <a:lnTo>
                    <a:pt x="0" y="25654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581525" y="4203700"/>
              <a:ext cx="495300" cy="0"/>
            </a:xfrm>
            <a:custGeom>
              <a:avLst/>
              <a:gdLst/>
              <a:ahLst/>
              <a:cxnLst/>
              <a:rect l="l" t="t" r="r" b="b"/>
              <a:pathLst>
                <a:path w="495300">
                  <a:moveTo>
                    <a:pt x="0" y="0"/>
                  </a:moveTo>
                  <a:lnTo>
                    <a:pt x="4953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3381375" y="3162300"/>
              <a:ext cx="0" cy="57150"/>
            </a:xfrm>
            <a:custGeom>
              <a:avLst/>
              <a:gdLst/>
              <a:ahLst/>
              <a:cxnLst/>
              <a:rect l="l" t="t" r="r" b="b"/>
              <a:pathLst>
                <a:path h="57150">
                  <a:moveTo>
                    <a:pt x="0" y="5715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3381375" y="3155950"/>
              <a:ext cx="1009650" cy="0"/>
            </a:xfrm>
            <a:custGeom>
              <a:avLst/>
              <a:gdLst/>
              <a:ahLst/>
              <a:cxnLst/>
              <a:rect l="l" t="t" r="r" b="b"/>
              <a:pathLst>
                <a:path w="1009650">
                  <a:moveTo>
                    <a:pt x="0" y="0"/>
                  </a:moveTo>
                  <a:lnTo>
                    <a:pt x="100965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4391025" y="3155950"/>
              <a:ext cx="0" cy="2495550"/>
            </a:xfrm>
            <a:custGeom>
              <a:avLst/>
              <a:gdLst/>
              <a:ahLst/>
              <a:cxnLst/>
              <a:rect l="l" t="t" r="r" b="b"/>
              <a:pathLst>
                <a:path h="2495550">
                  <a:moveTo>
                    <a:pt x="0" y="0"/>
                  </a:moveTo>
                  <a:lnTo>
                    <a:pt x="0" y="249555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4391025" y="4565650"/>
              <a:ext cx="704850" cy="0"/>
            </a:xfrm>
            <a:custGeom>
              <a:avLst/>
              <a:gdLst/>
              <a:ahLst/>
              <a:cxnLst/>
              <a:rect l="l" t="t" r="r" b="b"/>
              <a:pathLst>
                <a:path w="704850">
                  <a:moveTo>
                    <a:pt x="0" y="0"/>
                  </a:moveTo>
                  <a:lnTo>
                    <a:pt x="70485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3838575" y="3187700"/>
              <a:ext cx="0" cy="38100"/>
            </a:xfrm>
            <a:custGeom>
              <a:avLst/>
              <a:gdLst/>
              <a:ahLst/>
              <a:cxnLst/>
              <a:rect l="l" t="t" r="r" b="b"/>
              <a:pathLst>
                <a:path h="38100">
                  <a:moveTo>
                    <a:pt x="0" y="381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3838575" y="3187700"/>
              <a:ext cx="355600" cy="0"/>
            </a:xfrm>
            <a:custGeom>
              <a:avLst/>
              <a:gdLst/>
              <a:ahLst/>
              <a:cxnLst/>
              <a:rect l="l" t="t" r="r" b="b"/>
              <a:pathLst>
                <a:path w="355600">
                  <a:moveTo>
                    <a:pt x="0" y="0"/>
                  </a:moveTo>
                  <a:lnTo>
                    <a:pt x="3556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4194175" y="3187700"/>
              <a:ext cx="0" cy="2425700"/>
            </a:xfrm>
            <a:custGeom>
              <a:avLst/>
              <a:gdLst/>
              <a:ahLst/>
              <a:cxnLst/>
              <a:rect l="l" t="t" r="r" b="b"/>
              <a:pathLst>
                <a:path h="2425700">
                  <a:moveTo>
                    <a:pt x="0" y="0"/>
                  </a:moveTo>
                  <a:lnTo>
                    <a:pt x="0" y="24257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4187825" y="4965700"/>
              <a:ext cx="901700" cy="0"/>
            </a:xfrm>
            <a:custGeom>
              <a:avLst/>
              <a:gdLst/>
              <a:ahLst/>
              <a:cxnLst/>
              <a:rect l="l" t="t" r="r" b="b"/>
              <a:pathLst>
                <a:path w="901700">
                  <a:moveTo>
                    <a:pt x="0" y="0"/>
                  </a:moveTo>
                  <a:lnTo>
                    <a:pt x="9017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2460625" y="5588000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0"/>
                  </a:moveTo>
                  <a:lnTo>
                    <a:pt x="0" y="1397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2460625" y="5727700"/>
              <a:ext cx="2273300" cy="0"/>
            </a:xfrm>
            <a:custGeom>
              <a:avLst/>
              <a:gdLst/>
              <a:ahLst/>
              <a:cxnLst/>
              <a:rect l="l" t="t" r="r" b="b"/>
              <a:pathLst>
                <a:path w="2273300">
                  <a:moveTo>
                    <a:pt x="0" y="0"/>
                  </a:moveTo>
                  <a:lnTo>
                    <a:pt x="22733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2943225" y="5588000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0"/>
                  </a:moveTo>
                  <a:lnTo>
                    <a:pt x="0" y="1016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2943225" y="5689600"/>
              <a:ext cx="1631950" cy="0"/>
            </a:xfrm>
            <a:custGeom>
              <a:avLst/>
              <a:gdLst/>
              <a:ahLst/>
              <a:cxnLst/>
              <a:rect l="l" t="t" r="r" b="b"/>
              <a:pathLst>
                <a:path w="1631950">
                  <a:moveTo>
                    <a:pt x="0" y="0"/>
                  </a:moveTo>
                  <a:lnTo>
                    <a:pt x="163195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3381375" y="5594350"/>
              <a:ext cx="0" cy="57150"/>
            </a:xfrm>
            <a:custGeom>
              <a:avLst/>
              <a:gdLst/>
              <a:ahLst/>
              <a:cxnLst/>
              <a:rect l="l" t="t" r="r" b="b"/>
              <a:pathLst>
                <a:path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3381375" y="5657850"/>
              <a:ext cx="1009650" cy="0"/>
            </a:xfrm>
            <a:custGeom>
              <a:avLst/>
              <a:gdLst/>
              <a:ahLst/>
              <a:cxnLst/>
              <a:rect l="l" t="t" r="r" b="b"/>
              <a:pathLst>
                <a:path w="1009650">
                  <a:moveTo>
                    <a:pt x="0" y="0"/>
                  </a:moveTo>
                  <a:lnTo>
                    <a:pt x="100965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838575" y="5588000"/>
              <a:ext cx="0" cy="38100"/>
            </a:xfrm>
            <a:custGeom>
              <a:avLst/>
              <a:gdLst/>
              <a:ahLst/>
              <a:cxnLst/>
              <a:rect l="l" t="t" r="r" b="b"/>
              <a:pathLst>
                <a:path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838575" y="5626100"/>
              <a:ext cx="355600" cy="0"/>
            </a:xfrm>
            <a:custGeom>
              <a:avLst/>
              <a:gdLst/>
              <a:ahLst/>
              <a:cxnLst/>
              <a:rect l="l" t="t" r="r" b="b"/>
              <a:pathLst>
                <a:path w="355600">
                  <a:moveTo>
                    <a:pt x="0" y="0"/>
                  </a:moveTo>
                  <a:lnTo>
                    <a:pt x="3556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1" name="object 91"/>
          <p:cNvSpPr txBox="1"/>
          <p:nvPr/>
        </p:nvSpPr>
        <p:spPr>
          <a:xfrm>
            <a:off x="770890" y="4014660"/>
            <a:ext cx="26098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400" spc="5" dirty="0">
                <a:latin typeface="Arial MT"/>
                <a:cs typeface="Arial MT"/>
              </a:rPr>
              <a:t>A</a:t>
            </a:r>
            <a:r>
              <a:rPr sz="1350" spc="7" baseline="-21604" dirty="0">
                <a:latin typeface="Arial MT"/>
                <a:cs typeface="Arial MT"/>
              </a:rPr>
              <a:t>1</a:t>
            </a:r>
            <a:endParaRPr sz="1350" baseline="-21604">
              <a:latin typeface="Arial MT"/>
              <a:cs typeface="Arial MT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796290" y="4535360"/>
            <a:ext cx="14414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 MT"/>
                <a:cs typeface="Arial MT"/>
              </a:rPr>
              <a:t>A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914400" y="4637468"/>
            <a:ext cx="92075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5" dirty="0">
                <a:latin typeface="Arial MT"/>
                <a:cs typeface="Arial MT"/>
              </a:rPr>
              <a:t>0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4884054" y="3554222"/>
            <a:ext cx="1000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800" spc="-254" dirty="0">
                <a:solidFill>
                  <a:srgbClr val="EBEBEB"/>
                </a:solidFill>
                <a:latin typeface="Arial MT"/>
                <a:cs typeface="Arial MT"/>
              </a:rPr>
              <a:t>k</a:t>
            </a:r>
            <a:r>
              <a:rPr sz="2800" spc="-500" dirty="0">
                <a:solidFill>
                  <a:srgbClr val="EBEBEB"/>
                </a:solidFill>
                <a:latin typeface="Arial MT"/>
                <a:cs typeface="Arial MT"/>
              </a:rPr>
              <a:t>e</a:t>
            </a:r>
            <a:r>
              <a:rPr sz="2100" spc="-247" baseline="19841" dirty="0">
                <a:latin typeface="Arial MT"/>
                <a:cs typeface="Arial MT"/>
              </a:rPr>
              <a:t>D</a:t>
            </a:r>
            <a:r>
              <a:rPr sz="2800" spc="-625" dirty="0">
                <a:solidFill>
                  <a:srgbClr val="EBEBEB"/>
                </a:solidFill>
                <a:latin typeface="Arial MT"/>
                <a:cs typeface="Arial MT"/>
              </a:rPr>
              <a:t>t</a:t>
            </a:r>
            <a:r>
              <a:rPr sz="1350" spc="-37" baseline="9259" dirty="0">
                <a:latin typeface="Arial MT"/>
                <a:cs typeface="Arial MT"/>
              </a:rPr>
              <a:t>0</a:t>
            </a:r>
            <a:r>
              <a:rPr sz="2800" spc="-215" dirty="0">
                <a:solidFill>
                  <a:srgbClr val="EBEBEB"/>
                </a:solidFill>
                <a:latin typeface="Arial MT"/>
                <a:cs typeface="Arial MT"/>
              </a:rPr>
              <a:t>his</a:t>
            </a:r>
            <a:r>
              <a:rPr sz="2800" spc="-140" dirty="0">
                <a:solidFill>
                  <a:srgbClr val="EBEBEB"/>
                </a:solidFill>
                <a:latin typeface="Arial MT"/>
                <a:cs typeface="Arial MT"/>
              </a:rPr>
              <a:t>: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5165090" y="4078160"/>
            <a:ext cx="270510" cy="645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400" spc="5" dirty="0">
                <a:latin typeface="Arial MT"/>
                <a:cs typeface="Arial MT"/>
              </a:rPr>
              <a:t>D</a:t>
            </a:r>
            <a:r>
              <a:rPr sz="1350" spc="7" baseline="-21604" dirty="0">
                <a:latin typeface="Arial MT"/>
                <a:cs typeface="Arial MT"/>
              </a:rPr>
              <a:t>1</a:t>
            </a:r>
            <a:endParaRPr sz="1350" baseline="-21604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1520"/>
              </a:spcBef>
            </a:pPr>
            <a:r>
              <a:rPr sz="1400" spc="5" dirty="0">
                <a:latin typeface="Arial MT"/>
                <a:cs typeface="Arial MT"/>
              </a:rPr>
              <a:t>D</a:t>
            </a:r>
            <a:r>
              <a:rPr sz="1350" spc="7" baseline="-21604" dirty="0">
                <a:latin typeface="Arial MT"/>
                <a:cs typeface="Arial MT"/>
              </a:rPr>
              <a:t>2</a:t>
            </a:r>
            <a:endParaRPr sz="1350" baseline="-21604">
              <a:latin typeface="Arial MT"/>
              <a:cs typeface="Arial MT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5190490" y="4890960"/>
            <a:ext cx="15367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 MT"/>
                <a:cs typeface="Arial MT"/>
              </a:rPr>
              <a:t>D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5318505" y="4993068"/>
            <a:ext cx="92075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5" dirty="0">
                <a:latin typeface="Arial MT"/>
                <a:cs typeface="Arial MT"/>
              </a:rPr>
              <a:t>3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98" name="object 98"/>
          <p:cNvGrpSpPr/>
          <p:nvPr/>
        </p:nvGrpSpPr>
        <p:grpSpPr>
          <a:xfrm>
            <a:off x="6486525" y="3524250"/>
            <a:ext cx="1511300" cy="1924050"/>
            <a:chOff x="6486525" y="3524250"/>
            <a:chExt cx="1511300" cy="1924050"/>
          </a:xfrm>
        </p:grpSpPr>
        <p:sp>
          <p:nvSpPr>
            <p:cNvPr id="99" name="object 99"/>
            <p:cNvSpPr/>
            <p:nvPr/>
          </p:nvSpPr>
          <p:spPr>
            <a:xfrm>
              <a:off x="6727825" y="3530600"/>
              <a:ext cx="1003300" cy="1676400"/>
            </a:xfrm>
            <a:custGeom>
              <a:avLst/>
              <a:gdLst/>
              <a:ahLst/>
              <a:cxnLst/>
              <a:rect l="l" t="t" r="r" b="b"/>
              <a:pathLst>
                <a:path w="1003300" h="1676400">
                  <a:moveTo>
                    <a:pt x="1003300" y="0"/>
                  </a:moveTo>
                  <a:lnTo>
                    <a:pt x="0" y="0"/>
                  </a:lnTo>
                  <a:lnTo>
                    <a:pt x="0" y="1676400"/>
                  </a:lnTo>
                  <a:lnTo>
                    <a:pt x="1003300" y="1676400"/>
                  </a:lnTo>
                  <a:lnTo>
                    <a:pt x="1003300" y="0"/>
                  </a:lnTo>
                  <a:close/>
                </a:path>
              </a:pathLst>
            </a:custGeom>
            <a:solidFill>
              <a:srgbClr val="66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727825" y="3530600"/>
              <a:ext cx="1003300" cy="1676400"/>
            </a:xfrm>
            <a:custGeom>
              <a:avLst/>
              <a:gdLst/>
              <a:ahLst/>
              <a:cxnLst/>
              <a:rect l="l" t="t" r="r" b="b"/>
              <a:pathLst>
                <a:path w="1003300" h="1676400">
                  <a:moveTo>
                    <a:pt x="0" y="0"/>
                  </a:moveTo>
                  <a:lnTo>
                    <a:pt x="1003300" y="0"/>
                  </a:lnTo>
                  <a:lnTo>
                    <a:pt x="1003300" y="1676400"/>
                  </a:lnTo>
                  <a:lnTo>
                    <a:pt x="0" y="16764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7737475" y="3835400"/>
              <a:ext cx="241300" cy="0"/>
            </a:xfrm>
            <a:custGeom>
              <a:avLst/>
              <a:gdLst/>
              <a:ahLst/>
              <a:cxnLst/>
              <a:rect l="l" t="t" r="r" b="b"/>
              <a:pathLst>
                <a:path w="241300">
                  <a:moveTo>
                    <a:pt x="0" y="0"/>
                  </a:moveTo>
                  <a:lnTo>
                    <a:pt x="2413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7731125" y="4203700"/>
              <a:ext cx="254000" cy="0"/>
            </a:xfrm>
            <a:custGeom>
              <a:avLst/>
              <a:gdLst/>
              <a:ahLst/>
              <a:cxnLst/>
              <a:rect l="l" t="t" r="r" b="b"/>
              <a:pathLst>
                <a:path w="254000">
                  <a:moveTo>
                    <a:pt x="0" y="0"/>
                  </a:moveTo>
                  <a:lnTo>
                    <a:pt x="2540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731125" y="4965700"/>
              <a:ext cx="266700" cy="0"/>
            </a:xfrm>
            <a:custGeom>
              <a:avLst/>
              <a:gdLst/>
              <a:ahLst/>
              <a:cxnLst/>
              <a:rect l="l" t="t" r="r" b="b"/>
              <a:pathLst>
                <a:path w="266700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731125" y="4610100"/>
              <a:ext cx="254000" cy="0"/>
            </a:xfrm>
            <a:custGeom>
              <a:avLst/>
              <a:gdLst/>
              <a:ahLst/>
              <a:cxnLst/>
              <a:rect l="l" t="t" r="r" b="b"/>
              <a:pathLst>
                <a:path w="254000">
                  <a:moveTo>
                    <a:pt x="0" y="0"/>
                  </a:moveTo>
                  <a:lnTo>
                    <a:pt x="2540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6499225" y="4152900"/>
              <a:ext cx="241300" cy="0"/>
            </a:xfrm>
            <a:custGeom>
              <a:avLst/>
              <a:gdLst/>
              <a:ahLst/>
              <a:cxnLst/>
              <a:rect l="l" t="t" r="r" b="b"/>
              <a:pathLst>
                <a:path w="241300">
                  <a:moveTo>
                    <a:pt x="2413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6486525" y="4673600"/>
              <a:ext cx="241300" cy="0"/>
            </a:xfrm>
            <a:custGeom>
              <a:avLst/>
              <a:gdLst/>
              <a:ahLst/>
              <a:cxnLst/>
              <a:rect l="l" t="t" r="r" b="b"/>
              <a:pathLst>
                <a:path w="241300">
                  <a:moveTo>
                    <a:pt x="2413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6915150" y="5210169"/>
              <a:ext cx="74930" cy="74930"/>
            </a:xfrm>
            <a:custGeom>
              <a:avLst/>
              <a:gdLst/>
              <a:ahLst/>
              <a:cxnLst/>
              <a:rect l="l" t="t" r="r" b="b"/>
              <a:pathLst>
                <a:path w="74929" h="74929">
                  <a:moveTo>
                    <a:pt x="0" y="37312"/>
                  </a:moveTo>
                  <a:lnTo>
                    <a:pt x="2931" y="22792"/>
                  </a:lnTo>
                  <a:lnTo>
                    <a:pt x="10926" y="10931"/>
                  </a:lnTo>
                  <a:lnTo>
                    <a:pt x="22786" y="2933"/>
                  </a:lnTo>
                  <a:lnTo>
                    <a:pt x="37312" y="0"/>
                  </a:lnTo>
                  <a:lnTo>
                    <a:pt x="51831" y="2933"/>
                  </a:lnTo>
                  <a:lnTo>
                    <a:pt x="63687" y="10931"/>
                  </a:lnTo>
                  <a:lnTo>
                    <a:pt x="71681" y="22792"/>
                  </a:lnTo>
                  <a:lnTo>
                    <a:pt x="74612" y="37312"/>
                  </a:lnTo>
                  <a:lnTo>
                    <a:pt x="71681" y="51833"/>
                  </a:lnTo>
                  <a:lnTo>
                    <a:pt x="63687" y="63693"/>
                  </a:lnTo>
                  <a:lnTo>
                    <a:pt x="51831" y="71691"/>
                  </a:lnTo>
                  <a:lnTo>
                    <a:pt x="37312" y="74625"/>
                  </a:lnTo>
                  <a:lnTo>
                    <a:pt x="22786" y="71691"/>
                  </a:lnTo>
                  <a:lnTo>
                    <a:pt x="10926" y="63693"/>
                  </a:lnTo>
                  <a:lnTo>
                    <a:pt x="2931" y="51833"/>
                  </a:lnTo>
                  <a:lnTo>
                    <a:pt x="0" y="37312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7426325" y="5210169"/>
              <a:ext cx="74930" cy="74930"/>
            </a:xfrm>
            <a:custGeom>
              <a:avLst/>
              <a:gdLst/>
              <a:ahLst/>
              <a:cxnLst/>
              <a:rect l="l" t="t" r="r" b="b"/>
              <a:pathLst>
                <a:path w="74929" h="74929">
                  <a:moveTo>
                    <a:pt x="0" y="37312"/>
                  </a:moveTo>
                  <a:lnTo>
                    <a:pt x="2931" y="22792"/>
                  </a:lnTo>
                  <a:lnTo>
                    <a:pt x="10926" y="10931"/>
                  </a:lnTo>
                  <a:lnTo>
                    <a:pt x="22786" y="2933"/>
                  </a:lnTo>
                  <a:lnTo>
                    <a:pt x="37312" y="0"/>
                  </a:lnTo>
                  <a:lnTo>
                    <a:pt x="51831" y="2933"/>
                  </a:lnTo>
                  <a:lnTo>
                    <a:pt x="63687" y="10931"/>
                  </a:lnTo>
                  <a:lnTo>
                    <a:pt x="71681" y="22792"/>
                  </a:lnTo>
                  <a:lnTo>
                    <a:pt x="74612" y="37312"/>
                  </a:lnTo>
                  <a:lnTo>
                    <a:pt x="71681" y="51833"/>
                  </a:lnTo>
                  <a:lnTo>
                    <a:pt x="63687" y="63693"/>
                  </a:lnTo>
                  <a:lnTo>
                    <a:pt x="51831" y="71691"/>
                  </a:lnTo>
                  <a:lnTo>
                    <a:pt x="37312" y="74625"/>
                  </a:lnTo>
                  <a:lnTo>
                    <a:pt x="22786" y="71691"/>
                  </a:lnTo>
                  <a:lnTo>
                    <a:pt x="10926" y="63693"/>
                  </a:lnTo>
                  <a:lnTo>
                    <a:pt x="2931" y="51833"/>
                  </a:lnTo>
                  <a:lnTo>
                    <a:pt x="0" y="37312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6956425" y="5283200"/>
              <a:ext cx="0" cy="165100"/>
            </a:xfrm>
            <a:custGeom>
              <a:avLst/>
              <a:gdLst/>
              <a:ahLst/>
              <a:cxnLst/>
              <a:rect l="l" t="t" r="r" b="b"/>
              <a:pathLst>
                <a:path h="165100">
                  <a:moveTo>
                    <a:pt x="0" y="0"/>
                  </a:moveTo>
                  <a:lnTo>
                    <a:pt x="0" y="1651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7464425" y="5283200"/>
              <a:ext cx="0" cy="165100"/>
            </a:xfrm>
            <a:custGeom>
              <a:avLst/>
              <a:gdLst/>
              <a:ahLst/>
              <a:cxnLst/>
              <a:rect l="l" t="t" r="r" b="b"/>
              <a:pathLst>
                <a:path h="165100">
                  <a:moveTo>
                    <a:pt x="0" y="0"/>
                  </a:moveTo>
                  <a:lnTo>
                    <a:pt x="0" y="1651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1" name="object 111"/>
          <p:cNvSpPr txBox="1"/>
          <p:nvPr/>
        </p:nvSpPr>
        <p:spPr>
          <a:xfrm>
            <a:off x="8073390" y="3671760"/>
            <a:ext cx="270510" cy="1051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400" spc="5" dirty="0">
                <a:latin typeface="Arial MT"/>
                <a:cs typeface="Arial MT"/>
              </a:rPr>
              <a:t>D</a:t>
            </a:r>
            <a:r>
              <a:rPr sz="1350" spc="7" baseline="-21604" dirty="0">
                <a:latin typeface="Arial MT"/>
                <a:cs typeface="Arial MT"/>
              </a:rPr>
              <a:t>0</a:t>
            </a:r>
            <a:endParaRPr sz="1350" baseline="-21604">
              <a:latin typeface="Arial MT"/>
              <a:cs typeface="Arial MT"/>
            </a:endParaRPr>
          </a:p>
          <a:p>
            <a:pPr marL="38100" marR="30480">
              <a:lnSpc>
                <a:spcPct val="190500"/>
              </a:lnSpc>
            </a:pPr>
            <a:r>
              <a:rPr sz="1400" spc="-10" dirty="0">
                <a:latin typeface="Arial MT"/>
                <a:cs typeface="Arial MT"/>
              </a:rPr>
              <a:t>D</a:t>
            </a:r>
            <a:r>
              <a:rPr sz="1350" spc="15" baseline="-21604" dirty="0">
                <a:latin typeface="Arial MT"/>
                <a:cs typeface="Arial MT"/>
              </a:rPr>
              <a:t>1  </a:t>
            </a:r>
            <a:r>
              <a:rPr sz="1400" spc="-10" dirty="0">
                <a:latin typeface="Arial MT"/>
                <a:cs typeface="Arial MT"/>
              </a:rPr>
              <a:t>D</a:t>
            </a:r>
            <a:r>
              <a:rPr sz="1350" spc="22" baseline="-21604" dirty="0">
                <a:latin typeface="Arial MT"/>
                <a:cs typeface="Arial MT"/>
              </a:rPr>
              <a:t>2</a:t>
            </a:r>
            <a:endParaRPr sz="1350" baseline="-21604">
              <a:latin typeface="Arial MT"/>
              <a:cs typeface="Arial MT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8098790" y="4890960"/>
            <a:ext cx="15367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 MT"/>
                <a:cs typeface="Arial MT"/>
              </a:rPr>
              <a:t>D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8226806" y="4993068"/>
            <a:ext cx="92075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5" dirty="0">
                <a:latin typeface="Arial MT"/>
                <a:cs typeface="Arial MT"/>
              </a:rPr>
              <a:t>3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6193790" y="4014660"/>
            <a:ext cx="26098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400" spc="5" dirty="0">
                <a:latin typeface="Arial MT"/>
                <a:cs typeface="Arial MT"/>
              </a:rPr>
              <a:t>A</a:t>
            </a:r>
            <a:r>
              <a:rPr sz="1350" spc="7" baseline="-21604" dirty="0">
                <a:latin typeface="Arial MT"/>
                <a:cs typeface="Arial MT"/>
              </a:rPr>
              <a:t>1</a:t>
            </a:r>
            <a:endParaRPr sz="1350" baseline="-21604">
              <a:latin typeface="Arial MT"/>
              <a:cs typeface="Arial MT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6219190" y="4535360"/>
            <a:ext cx="14414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 MT"/>
                <a:cs typeface="Arial MT"/>
              </a:rPr>
              <a:t>A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6337300" y="4637468"/>
            <a:ext cx="92075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5" dirty="0">
                <a:latin typeface="Arial MT"/>
                <a:cs typeface="Arial MT"/>
              </a:rPr>
              <a:t>0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17" name="object 117"/>
          <p:cNvSpPr/>
          <p:nvPr/>
        </p:nvSpPr>
        <p:spPr>
          <a:xfrm>
            <a:off x="6796089" y="5524500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>
                <a:moveTo>
                  <a:pt x="0" y="0"/>
                </a:moveTo>
                <a:lnTo>
                  <a:pt x="3048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 txBox="1"/>
          <p:nvPr/>
        </p:nvSpPr>
        <p:spPr>
          <a:xfrm>
            <a:off x="6807517" y="5543422"/>
            <a:ext cx="83502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25780" algn="l"/>
              </a:tabLst>
            </a:pPr>
            <a:r>
              <a:rPr sz="1400" spc="-10" dirty="0">
                <a:latin typeface="Arial MT"/>
                <a:cs typeface="Arial MT"/>
              </a:rPr>
              <a:t>R</a:t>
            </a:r>
            <a:r>
              <a:rPr sz="1400" spc="-5" dirty="0">
                <a:latin typeface="Arial MT"/>
                <a:cs typeface="Arial MT"/>
              </a:rPr>
              <a:t>D</a:t>
            </a:r>
            <a:r>
              <a:rPr sz="1400" dirty="0">
                <a:latin typeface="Arial MT"/>
                <a:cs typeface="Arial MT"/>
              </a:rPr>
              <a:t>	</a:t>
            </a:r>
            <a:r>
              <a:rPr sz="1400" spc="-5" dirty="0">
                <a:latin typeface="Arial MT"/>
                <a:cs typeface="Arial MT"/>
              </a:rPr>
              <a:t>WR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19" name="object 119"/>
          <p:cNvSpPr/>
          <p:nvPr/>
        </p:nvSpPr>
        <p:spPr>
          <a:xfrm>
            <a:off x="7329489" y="5537200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>
                <a:moveTo>
                  <a:pt x="0" y="0"/>
                </a:moveTo>
                <a:lnTo>
                  <a:pt x="3048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r>
              <a:rPr spc="-5" dirty="0"/>
              <a:t>15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6350" y="0"/>
            <a:ext cx="9156700" cy="6870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515938" cy="68579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64540" y="1010665"/>
            <a:ext cx="6649084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9" dirty="0">
                <a:solidFill>
                  <a:srgbClr val="FFFFCC"/>
                </a:solidFill>
                <a:latin typeface="Arial MT"/>
                <a:cs typeface="Arial MT"/>
              </a:rPr>
              <a:t>The</a:t>
            </a:r>
            <a:r>
              <a:rPr spc="-220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380" dirty="0">
                <a:solidFill>
                  <a:srgbClr val="FFFFCC"/>
                </a:solidFill>
                <a:latin typeface="Arial MT"/>
                <a:cs typeface="Arial MT"/>
              </a:rPr>
              <a:t>steps</a:t>
            </a:r>
            <a:r>
              <a:rPr spc="-220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335" dirty="0">
                <a:solidFill>
                  <a:srgbClr val="FFFFCC"/>
                </a:solidFill>
                <a:latin typeface="Arial MT"/>
                <a:cs typeface="Arial MT"/>
              </a:rPr>
              <a:t>of</a:t>
            </a:r>
            <a:r>
              <a:rPr spc="-220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340" dirty="0">
                <a:solidFill>
                  <a:srgbClr val="FFFFCC"/>
                </a:solidFill>
                <a:latin typeface="Arial MT"/>
                <a:cs typeface="Arial MT"/>
              </a:rPr>
              <a:t>wri</a:t>
            </a:r>
            <a:r>
              <a:rPr spc="-320" dirty="0">
                <a:solidFill>
                  <a:srgbClr val="FFFFCC"/>
                </a:solidFill>
                <a:latin typeface="Arial MT"/>
                <a:cs typeface="Arial MT"/>
              </a:rPr>
              <a:t>ting</a:t>
            </a:r>
            <a:r>
              <a:rPr spc="-220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180" dirty="0">
                <a:solidFill>
                  <a:srgbClr val="FFFFCC"/>
                </a:solidFill>
                <a:latin typeface="Arial MT"/>
                <a:cs typeface="Arial MT"/>
              </a:rPr>
              <a:t>i</a:t>
            </a:r>
            <a:r>
              <a:rPr spc="-370" dirty="0">
                <a:solidFill>
                  <a:srgbClr val="FFFFCC"/>
                </a:solidFill>
                <a:latin typeface="Arial MT"/>
                <a:cs typeface="Arial MT"/>
              </a:rPr>
              <a:t>nto</a:t>
            </a:r>
            <a:r>
              <a:rPr spc="-215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480" dirty="0">
                <a:solidFill>
                  <a:srgbClr val="FFFFCC"/>
                </a:solidFill>
                <a:latin typeface="Arial MT"/>
                <a:cs typeface="Arial MT"/>
              </a:rPr>
              <a:t>Memory</a:t>
            </a: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7239" y="2148840"/>
            <a:ext cx="215645" cy="22783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33677" y="3109722"/>
            <a:ext cx="177545" cy="18668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33677" y="3963161"/>
            <a:ext cx="177545" cy="18668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33677" y="5200650"/>
            <a:ext cx="177545" cy="18668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07439" y="1956307"/>
            <a:ext cx="7244080" cy="3897629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 marR="122555">
              <a:lnSpc>
                <a:spcPts val="3460"/>
              </a:lnSpc>
              <a:spcBef>
                <a:spcPts val="530"/>
              </a:spcBef>
            </a:pPr>
            <a:r>
              <a:rPr sz="3200" spc="-340" dirty="0">
                <a:solidFill>
                  <a:srgbClr val="EBEBEB"/>
                </a:solidFill>
                <a:latin typeface="Arial MT"/>
                <a:cs typeface="Arial MT"/>
              </a:rPr>
              <a:t>What</a:t>
            </a:r>
            <a:r>
              <a:rPr sz="3200" spc="-17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3200" spc="-320" dirty="0">
                <a:solidFill>
                  <a:srgbClr val="EBEBEB"/>
                </a:solidFill>
                <a:latin typeface="Arial MT"/>
                <a:cs typeface="Arial MT"/>
              </a:rPr>
              <a:t>happens</a:t>
            </a:r>
            <a:r>
              <a:rPr sz="3200" spc="-14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3200" spc="-425" dirty="0">
                <a:solidFill>
                  <a:srgbClr val="EBEBEB"/>
                </a:solidFill>
                <a:latin typeface="Arial MT"/>
                <a:cs typeface="Arial MT"/>
              </a:rPr>
              <a:t>w</a:t>
            </a:r>
            <a:r>
              <a:rPr sz="3200" spc="-325" dirty="0">
                <a:solidFill>
                  <a:srgbClr val="EBEBEB"/>
                </a:solidFill>
                <a:latin typeface="Arial MT"/>
                <a:cs typeface="Arial MT"/>
              </a:rPr>
              <a:t>hen</a:t>
            </a:r>
            <a:r>
              <a:rPr sz="32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3200" spc="-160" dirty="0">
                <a:solidFill>
                  <a:srgbClr val="EBEBEB"/>
                </a:solidFill>
                <a:latin typeface="Arial MT"/>
                <a:cs typeface="Arial MT"/>
              </a:rPr>
              <a:t>t</a:t>
            </a:r>
            <a:r>
              <a:rPr sz="3200" spc="-325" dirty="0">
                <a:solidFill>
                  <a:srgbClr val="EBEBEB"/>
                </a:solidFill>
                <a:latin typeface="Arial MT"/>
                <a:cs typeface="Arial MT"/>
              </a:rPr>
              <a:t>he</a:t>
            </a:r>
            <a:r>
              <a:rPr sz="3200" spc="-16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3200" spc="-325" dirty="0">
                <a:solidFill>
                  <a:srgbClr val="EBEBEB"/>
                </a:solidFill>
                <a:latin typeface="Arial MT"/>
                <a:cs typeface="Arial MT"/>
              </a:rPr>
              <a:t>p</a:t>
            </a:r>
            <a:r>
              <a:rPr sz="3200" spc="-200" dirty="0">
                <a:solidFill>
                  <a:srgbClr val="EBEBEB"/>
                </a:solidFill>
                <a:latin typeface="Arial MT"/>
                <a:cs typeface="Arial MT"/>
              </a:rPr>
              <a:t>r</a:t>
            </a:r>
            <a:r>
              <a:rPr sz="3200" spc="-325" dirty="0">
                <a:solidFill>
                  <a:srgbClr val="EBEBEB"/>
                </a:solidFill>
                <a:latin typeface="Arial MT"/>
                <a:cs typeface="Arial MT"/>
              </a:rPr>
              <a:t>og</a:t>
            </a:r>
            <a:r>
              <a:rPr sz="3200" spc="-200" dirty="0">
                <a:solidFill>
                  <a:srgbClr val="EBEBEB"/>
                </a:solidFill>
                <a:latin typeface="Arial MT"/>
                <a:cs typeface="Arial MT"/>
              </a:rPr>
              <a:t>r</a:t>
            </a:r>
            <a:r>
              <a:rPr sz="3200" spc="-400" dirty="0">
                <a:solidFill>
                  <a:srgbClr val="EBEBEB"/>
                </a:solidFill>
                <a:latin typeface="Arial MT"/>
                <a:cs typeface="Arial MT"/>
              </a:rPr>
              <a:t>am</a:t>
            </a:r>
            <a:r>
              <a:rPr sz="3200" spc="-484" dirty="0">
                <a:solidFill>
                  <a:srgbClr val="EBEBEB"/>
                </a:solidFill>
                <a:latin typeface="Arial MT"/>
                <a:cs typeface="Arial MT"/>
              </a:rPr>
              <a:t>m</a:t>
            </a:r>
            <a:r>
              <a:rPr sz="3200" spc="-320" dirty="0">
                <a:solidFill>
                  <a:srgbClr val="EBEBEB"/>
                </a:solidFill>
                <a:latin typeface="Arial MT"/>
                <a:cs typeface="Arial MT"/>
              </a:rPr>
              <a:t>e</a:t>
            </a:r>
            <a:r>
              <a:rPr sz="3200" spc="-195" dirty="0">
                <a:solidFill>
                  <a:srgbClr val="EBEBEB"/>
                </a:solidFill>
                <a:latin typeface="Arial MT"/>
                <a:cs typeface="Arial MT"/>
              </a:rPr>
              <a:t>r</a:t>
            </a:r>
            <a:r>
              <a:rPr sz="32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3200" spc="-210" dirty="0">
                <a:solidFill>
                  <a:srgbClr val="EBEBEB"/>
                </a:solidFill>
                <a:latin typeface="Arial MT"/>
                <a:cs typeface="Arial MT"/>
              </a:rPr>
              <a:t>is</a:t>
            </a:r>
            <a:r>
              <a:rPr sz="3200" spc="-305" dirty="0">
                <a:solidFill>
                  <a:srgbClr val="EBEBEB"/>
                </a:solidFill>
                <a:latin typeface="Arial MT"/>
                <a:cs typeface="Arial MT"/>
              </a:rPr>
              <a:t>sues</a:t>
            </a:r>
            <a:r>
              <a:rPr sz="3200" spc="-15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3200" spc="-160" dirty="0">
                <a:solidFill>
                  <a:srgbClr val="EBEBEB"/>
                </a:solidFill>
                <a:latin typeface="Arial MT"/>
                <a:cs typeface="Arial MT"/>
              </a:rPr>
              <a:t>t</a:t>
            </a:r>
            <a:r>
              <a:rPr sz="3200" spc="-245" dirty="0">
                <a:solidFill>
                  <a:srgbClr val="EBEBEB"/>
                </a:solidFill>
                <a:latin typeface="Arial MT"/>
                <a:cs typeface="Arial MT"/>
              </a:rPr>
              <a:t>he  </a:t>
            </a:r>
            <a:r>
              <a:rPr sz="3200" spc="-395" dirty="0">
                <a:solidFill>
                  <a:srgbClr val="EBEBEB"/>
                </a:solidFill>
                <a:latin typeface="Arial MT"/>
                <a:cs typeface="Arial MT"/>
              </a:rPr>
              <a:t>S</a:t>
            </a:r>
            <a:r>
              <a:rPr sz="3200" spc="-370" dirty="0">
                <a:solidFill>
                  <a:srgbClr val="EBEBEB"/>
                </a:solidFill>
                <a:latin typeface="Arial MT"/>
                <a:cs typeface="Arial MT"/>
              </a:rPr>
              <a:t>TA</a:t>
            </a:r>
            <a:r>
              <a:rPr sz="3200" spc="-17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3200" spc="-250" dirty="0">
                <a:solidFill>
                  <a:srgbClr val="EBEBEB"/>
                </a:solidFill>
                <a:latin typeface="Arial MT"/>
                <a:cs typeface="Arial MT"/>
              </a:rPr>
              <a:t>ins</a:t>
            </a:r>
            <a:r>
              <a:rPr sz="3200" spc="-160" dirty="0">
                <a:solidFill>
                  <a:srgbClr val="EBEBEB"/>
                </a:solidFill>
                <a:latin typeface="Arial MT"/>
                <a:cs typeface="Arial MT"/>
              </a:rPr>
              <a:t>t</a:t>
            </a:r>
            <a:r>
              <a:rPr sz="3200" spc="-200" dirty="0">
                <a:solidFill>
                  <a:srgbClr val="EBEBEB"/>
                </a:solidFill>
                <a:latin typeface="Arial MT"/>
                <a:cs typeface="Arial MT"/>
              </a:rPr>
              <a:t>r</a:t>
            </a:r>
            <a:r>
              <a:rPr sz="3200" spc="-310" dirty="0">
                <a:solidFill>
                  <a:srgbClr val="EBEBEB"/>
                </a:solidFill>
                <a:latin typeface="Arial MT"/>
                <a:cs typeface="Arial MT"/>
              </a:rPr>
              <a:t>uc</a:t>
            </a:r>
            <a:r>
              <a:rPr sz="3200" spc="-160" dirty="0">
                <a:solidFill>
                  <a:srgbClr val="EBEBEB"/>
                </a:solidFill>
                <a:latin typeface="Arial MT"/>
                <a:cs typeface="Arial MT"/>
              </a:rPr>
              <a:t>t</a:t>
            </a:r>
            <a:r>
              <a:rPr sz="3200" spc="-275" dirty="0">
                <a:solidFill>
                  <a:srgbClr val="EBEBEB"/>
                </a:solidFill>
                <a:latin typeface="Arial MT"/>
                <a:cs typeface="Arial MT"/>
              </a:rPr>
              <a:t>ion?</a:t>
            </a:r>
            <a:endParaRPr sz="3200">
              <a:latin typeface="Arial MT"/>
              <a:cs typeface="Arial MT"/>
            </a:endParaRPr>
          </a:p>
          <a:p>
            <a:pPr marL="412750" marR="377825">
              <a:lnSpc>
                <a:spcPts val="3020"/>
              </a:lnSpc>
              <a:spcBef>
                <a:spcPts val="675"/>
              </a:spcBef>
            </a:pPr>
            <a:r>
              <a:rPr sz="2800" spc="-290" dirty="0">
                <a:solidFill>
                  <a:srgbClr val="EBEBEB"/>
                </a:solidFill>
                <a:latin typeface="Arial MT"/>
                <a:cs typeface="Arial MT"/>
              </a:rPr>
              <a:t>The</a:t>
            </a:r>
            <a:r>
              <a:rPr sz="2800" spc="-15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50" dirty="0">
                <a:solidFill>
                  <a:srgbClr val="EBEBEB"/>
                </a:solidFill>
                <a:latin typeface="Arial MT"/>
                <a:cs typeface="Arial MT"/>
              </a:rPr>
              <a:t>microprocessor</a:t>
            </a:r>
            <a:r>
              <a:rPr sz="2800" spc="-17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65" dirty="0">
                <a:solidFill>
                  <a:srgbClr val="EBEBEB"/>
                </a:solidFill>
                <a:latin typeface="Arial MT"/>
                <a:cs typeface="Arial MT"/>
              </a:rPr>
              <a:t>would</a:t>
            </a:r>
            <a:r>
              <a:rPr sz="2800" spc="-14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20" dirty="0">
                <a:solidFill>
                  <a:srgbClr val="EBEBEB"/>
                </a:solidFill>
                <a:latin typeface="Arial MT"/>
                <a:cs typeface="Arial MT"/>
              </a:rPr>
              <a:t>turn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b="1" spc="-310" dirty="0">
                <a:solidFill>
                  <a:srgbClr val="990000"/>
                </a:solidFill>
                <a:latin typeface="Arial"/>
                <a:cs typeface="Arial"/>
              </a:rPr>
              <a:t>on</a:t>
            </a:r>
            <a:r>
              <a:rPr sz="2800" b="1" spc="-15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800" spc="-235" dirty="0">
                <a:solidFill>
                  <a:srgbClr val="EBEBEB"/>
                </a:solidFill>
                <a:latin typeface="Arial MT"/>
                <a:cs typeface="Arial MT"/>
              </a:rPr>
              <a:t>the</a:t>
            </a:r>
            <a:r>
              <a:rPr sz="2800" spc="-14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425" dirty="0">
                <a:solidFill>
                  <a:srgbClr val="EBEBEB"/>
                </a:solidFill>
                <a:latin typeface="Arial MT"/>
                <a:cs typeface="Arial MT"/>
              </a:rPr>
              <a:t>WR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20" dirty="0">
                <a:solidFill>
                  <a:srgbClr val="EBEBEB"/>
                </a:solidFill>
                <a:latin typeface="Arial MT"/>
                <a:cs typeface="Arial MT"/>
              </a:rPr>
              <a:t>control </a:t>
            </a:r>
            <a:r>
              <a:rPr sz="2800" spc="-76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330" dirty="0">
                <a:solidFill>
                  <a:srgbClr val="EBEBEB"/>
                </a:solidFill>
                <a:latin typeface="Arial MT"/>
                <a:cs typeface="Arial MT"/>
              </a:rPr>
              <a:t>(W</a:t>
            </a:r>
            <a:r>
              <a:rPr sz="2800" spc="-365" dirty="0">
                <a:solidFill>
                  <a:srgbClr val="EBEBEB"/>
                </a:solidFill>
                <a:latin typeface="Arial MT"/>
                <a:cs typeface="Arial MT"/>
              </a:rPr>
              <a:t>R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95" dirty="0">
                <a:solidFill>
                  <a:srgbClr val="EBEBEB"/>
                </a:solidFill>
                <a:latin typeface="Arial MT"/>
                <a:cs typeface="Arial MT"/>
              </a:rPr>
              <a:t>=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0</a:t>
            </a:r>
            <a:r>
              <a:rPr sz="2800" spc="-170" dirty="0">
                <a:solidFill>
                  <a:srgbClr val="EBEBEB"/>
                </a:solidFill>
                <a:latin typeface="Arial MT"/>
                <a:cs typeface="Arial MT"/>
              </a:rPr>
              <a:t>)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and</a:t>
            </a:r>
            <a:r>
              <a:rPr sz="2800" spc="-15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t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u</a:t>
            </a:r>
            <a:r>
              <a:rPr sz="2800" spc="-175" dirty="0">
                <a:solidFill>
                  <a:srgbClr val="EBEBEB"/>
                </a:solidFill>
                <a:latin typeface="Arial MT"/>
                <a:cs typeface="Arial MT"/>
              </a:rPr>
              <a:t>r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n</a:t>
            </a:r>
            <a:r>
              <a:rPr sz="2800" spc="-15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b="1" spc="-310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r>
              <a:rPr sz="2800" b="1" spc="-175" dirty="0">
                <a:solidFill>
                  <a:srgbClr val="990000"/>
                </a:solidFill>
                <a:latin typeface="Arial"/>
                <a:cs typeface="Arial"/>
              </a:rPr>
              <a:t>f</a:t>
            </a:r>
            <a:r>
              <a:rPr sz="2800" b="1" spc="-170" dirty="0">
                <a:solidFill>
                  <a:srgbClr val="990000"/>
                </a:solidFill>
                <a:latin typeface="Arial"/>
                <a:cs typeface="Arial"/>
              </a:rPr>
              <a:t>f</a:t>
            </a:r>
            <a:r>
              <a:rPr sz="2800" b="1" spc="-14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t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he</a:t>
            </a:r>
            <a:r>
              <a:rPr sz="2800" spc="-15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370" dirty="0">
                <a:solidFill>
                  <a:srgbClr val="EBEBEB"/>
                </a:solidFill>
                <a:latin typeface="Arial MT"/>
                <a:cs typeface="Arial MT"/>
              </a:rPr>
              <a:t>R</a:t>
            </a:r>
            <a:r>
              <a:rPr sz="2800" spc="-365" dirty="0">
                <a:solidFill>
                  <a:srgbClr val="EBEBEB"/>
                </a:solidFill>
                <a:latin typeface="Arial MT"/>
                <a:cs typeface="Arial MT"/>
              </a:rPr>
              <a:t>D</a:t>
            </a:r>
            <a:r>
              <a:rPr sz="2800" spc="-13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70" dirty="0">
                <a:solidFill>
                  <a:srgbClr val="EBEBEB"/>
                </a:solidFill>
                <a:latin typeface="Arial MT"/>
                <a:cs typeface="Arial MT"/>
              </a:rPr>
              <a:t>con</a:t>
            </a:r>
            <a:r>
              <a:rPr sz="2800" spc="-160" dirty="0">
                <a:solidFill>
                  <a:srgbClr val="EBEBEB"/>
                </a:solidFill>
                <a:latin typeface="Arial MT"/>
                <a:cs typeface="Arial MT"/>
              </a:rPr>
              <a:t>tr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o</a:t>
            </a:r>
            <a:r>
              <a:rPr sz="2800" spc="-114" dirty="0">
                <a:solidFill>
                  <a:srgbClr val="EBEBEB"/>
                </a:solidFill>
                <a:latin typeface="Arial MT"/>
                <a:cs typeface="Arial MT"/>
              </a:rPr>
              <a:t>l</a:t>
            </a:r>
            <a:r>
              <a:rPr sz="2800" spc="-15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75" dirty="0">
                <a:solidFill>
                  <a:srgbClr val="EBEBEB"/>
                </a:solidFill>
                <a:latin typeface="Arial MT"/>
                <a:cs typeface="Arial MT"/>
              </a:rPr>
              <a:t>(R</a:t>
            </a:r>
            <a:r>
              <a:rPr sz="2800" spc="-365" dirty="0">
                <a:solidFill>
                  <a:srgbClr val="EBEBEB"/>
                </a:solidFill>
                <a:latin typeface="Arial MT"/>
                <a:cs typeface="Arial MT"/>
              </a:rPr>
              <a:t>D</a:t>
            </a:r>
            <a:r>
              <a:rPr sz="2800" spc="-13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95" dirty="0">
                <a:solidFill>
                  <a:srgbClr val="EBEBEB"/>
                </a:solidFill>
                <a:latin typeface="Arial MT"/>
                <a:cs typeface="Arial MT"/>
              </a:rPr>
              <a:t>=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1</a:t>
            </a:r>
            <a:r>
              <a:rPr sz="2800" spc="-160" dirty="0">
                <a:solidFill>
                  <a:srgbClr val="EBEBEB"/>
                </a:solidFill>
                <a:latin typeface="Arial MT"/>
                <a:cs typeface="Arial MT"/>
              </a:rPr>
              <a:t>).</a:t>
            </a:r>
            <a:endParaRPr sz="2800">
              <a:latin typeface="Arial MT"/>
              <a:cs typeface="Arial MT"/>
            </a:endParaRPr>
          </a:p>
          <a:p>
            <a:pPr marL="412750" marR="5080">
              <a:lnSpc>
                <a:spcPts val="3020"/>
              </a:lnSpc>
              <a:spcBef>
                <a:spcPts val="680"/>
              </a:spcBef>
            </a:pPr>
            <a:r>
              <a:rPr sz="2800" spc="-290" dirty="0">
                <a:solidFill>
                  <a:srgbClr val="EBEBEB"/>
                </a:solidFill>
                <a:latin typeface="Arial MT"/>
                <a:cs typeface="Arial MT"/>
              </a:rPr>
              <a:t>The</a:t>
            </a:r>
            <a:r>
              <a:rPr sz="2800" spc="-15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60" dirty="0">
                <a:solidFill>
                  <a:srgbClr val="EBEBEB"/>
                </a:solidFill>
                <a:latin typeface="Arial MT"/>
                <a:cs typeface="Arial MT"/>
              </a:rPr>
              <a:t>address</a:t>
            </a:r>
            <a:r>
              <a:rPr sz="2800" spc="-16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185" dirty="0">
                <a:solidFill>
                  <a:srgbClr val="EBEBEB"/>
                </a:solidFill>
                <a:latin typeface="Arial MT"/>
                <a:cs typeface="Arial MT"/>
              </a:rPr>
              <a:t>is</a:t>
            </a:r>
            <a:r>
              <a:rPr sz="2800" spc="-13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35" dirty="0">
                <a:solidFill>
                  <a:srgbClr val="EBEBEB"/>
                </a:solidFill>
                <a:latin typeface="Arial MT"/>
                <a:cs typeface="Arial MT"/>
              </a:rPr>
              <a:t>applied</a:t>
            </a:r>
            <a:r>
              <a:rPr sz="2800" spc="-15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15" dirty="0">
                <a:solidFill>
                  <a:srgbClr val="EBEBEB"/>
                </a:solidFill>
                <a:latin typeface="Arial MT"/>
                <a:cs typeface="Arial MT"/>
              </a:rPr>
              <a:t>to</a:t>
            </a:r>
            <a:r>
              <a:rPr sz="2800" spc="-14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35" dirty="0">
                <a:solidFill>
                  <a:srgbClr val="EBEBEB"/>
                </a:solidFill>
                <a:latin typeface="Arial MT"/>
                <a:cs typeface="Arial MT"/>
              </a:rPr>
              <a:t>the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60" dirty="0">
                <a:solidFill>
                  <a:srgbClr val="EBEBEB"/>
                </a:solidFill>
                <a:latin typeface="Arial MT"/>
                <a:cs typeface="Arial MT"/>
              </a:rPr>
              <a:t>address</a:t>
            </a:r>
            <a:r>
              <a:rPr sz="2800" spc="-16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60" dirty="0">
                <a:solidFill>
                  <a:srgbClr val="EBEBEB"/>
                </a:solidFill>
                <a:latin typeface="Arial MT"/>
                <a:cs typeface="Arial MT"/>
              </a:rPr>
              <a:t>decoder</a:t>
            </a:r>
            <a:r>
              <a:rPr sz="2800" spc="-16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60" dirty="0">
                <a:solidFill>
                  <a:srgbClr val="EBEBEB"/>
                </a:solidFill>
                <a:latin typeface="Arial MT"/>
                <a:cs typeface="Arial MT"/>
              </a:rPr>
              <a:t>which </a:t>
            </a:r>
            <a:r>
              <a:rPr sz="2800" spc="-76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gene</a:t>
            </a:r>
            <a:r>
              <a:rPr sz="2800" spc="-175" dirty="0">
                <a:solidFill>
                  <a:srgbClr val="EBEBEB"/>
                </a:solidFill>
                <a:latin typeface="Arial MT"/>
                <a:cs typeface="Arial MT"/>
              </a:rPr>
              <a:t>r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a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t</a:t>
            </a:r>
            <a:r>
              <a:rPr sz="2800" spc="-270" dirty="0">
                <a:solidFill>
                  <a:srgbClr val="EBEBEB"/>
                </a:solidFill>
                <a:latin typeface="Arial MT"/>
                <a:cs typeface="Arial MT"/>
              </a:rPr>
              <a:t>es</a:t>
            </a:r>
            <a:r>
              <a:rPr sz="2800" spc="-16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a</a:t>
            </a:r>
            <a:r>
              <a:rPr sz="2800" spc="-14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b="1" spc="-280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2800" b="1" spc="-145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2800" b="1" spc="-310" dirty="0">
                <a:solidFill>
                  <a:srgbClr val="990000"/>
                </a:solidFill>
                <a:latin typeface="Arial"/>
                <a:cs typeface="Arial"/>
              </a:rPr>
              <a:t>ng</a:t>
            </a:r>
            <a:r>
              <a:rPr sz="2800" b="1" spc="-145" dirty="0">
                <a:solidFill>
                  <a:srgbClr val="990000"/>
                </a:solidFill>
                <a:latin typeface="Arial"/>
                <a:cs typeface="Arial"/>
              </a:rPr>
              <a:t>l</a:t>
            </a:r>
            <a:r>
              <a:rPr sz="2800" b="1" spc="-280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800" b="1" spc="-15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800" spc="-340" dirty="0">
                <a:solidFill>
                  <a:srgbClr val="EBEBEB"/>
                </a:solidFill>
                <a:latin typeface="Arial MT"/>
                <a:cs typeface="Arial MT"/>
              </a:rPr>
              <a:t>E</a:t>
            </a:r>
            <a:r>
              <a:rPr sz="2800" spc="-250" dirty="0">
                <a:solidFill>
                  <a:srgbClr val="EBEBEB"/>
                </a:solidFill>
                <a:latin typeface="Arial MT"/>
                <a:cs typeface="Arial MT"/>
              </a:rPr>
              <a:t>nable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54" dirty="0">
                <a:solidFill>
                  <a:srgbClr val="EBEBEB"/>
                </a:solidFill>
                <a:latin typeface="Arial MT"/>
                <a:cs typeface="Arial MT"/>
              </a:rPr>
              <a:t>s</a:t>
            </a:r>
            <a:r>
              <a:rPr sz="2800" spc="-215" dirty="0">
                <a:solidFill>
                  <a:srgbClr val="EBEBEB"/>
                </a:solidFill>
                <a:latin typeface="Arial MT"/>
                <a:cs typeface="Arial MT"/>
              </a:rPr>
              <a:t>ignal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t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o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t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u</a:t>
            </a:r>
            <a:r>
              <a:rPr sz="2800" spc="-175" dirty="0">
                <a:solidFill>
                  <a:srgbClr val="EBEBEB"/>
                </a:solidFill>
                <a:latin typeface="Arial MT"/>
                <a:cs typeface="Arial MT"/>
              </a:rPr>
              <a:t>r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n</a:t>
            </a:r>
            <a:r>
              <a:rPr sz="2800" spc="-15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on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b="1" spc="-310" dirty="0">
                <a:solidFill>
                  <a:srgbClr val="990000"/>
                </a:solidFill>
                <a:latin typeface="Arial"/>
                <a:cs typeface="Arial"/>
              </a:rPr>
              <a:t>on</a:t>
            </a:r>
            <a:r>
              <a:rPr sz="2800" b="1" spc="-145" dirty="0">
                <a:solidFill>
                  <a:srgbClr val="990000"/>
                </a:solidFill>
                <a:latin typeface="Arial"/>
                <a:cs typeface="Arial"/>
              </a:rPr>
              <a:t>l</a:t>
            </a:r>
            <a:r>
              <a:rPr sz="2800" b="1" spc="-190" dirty="0">
                <a:solidFill>
                  <a:srgbClr val="990000"/>
                </a:solidFill>
                <a:latin typeface="Arial"/>
                <a:cs typeface="Arial"/>
              </a:rPr>
              <a:t>y  </a:t>
            </a:r>
            <a:r>
              <a:rPr sz="2800" b="1" spc="-300" dirty="0">
                <a:solidFill>
                  <a:srgbClr val="990000"/>
                </a:solidFill>
                <a:latin typeface="Arial"/>
                <a:cs typeface="Arial"/>
              </a:rPr>
              <a:t>one</a:t>
            </a:r>
            <a:r>
              <a:rPr sz="2800" b="1" spc="-16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800" spc="-210" dirty="0">
                <a:solidFill>
                  <a:srgbClr val="EBEBEB"/>
                </a:solidFill>
                <a:latin typeface="Arial MT"/>
                <a:cs typeface="Arial MT"/>
              </a:rPr>
              <a:t>of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t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he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350" dirty="0">
                <a:solidFill>
                  <a:srgbClr val="EBEBEB"/>
                </a:solidFill>
                <a:latin typeface="Arial MT"/>
                <a:cs typeface="Arial MT"/>
              </a:rPr>
              <a:t>memo</a:t>
            </a:r>
            <a:r>
              <a:rPr sz="2800" spc="-175" dirty="0">
                <a:solidFill>
                  <a:srgbClr val="EBEBEB"/>
                </a:solidFill>
                <a:latin typeface="Arial MT"/>
                <a:cs typeface="Arial MT"/>
              </a:rPr>
              <a:t>r</a:t>
            </a:r>
            <a:r>
              <a:rPr sz="2800" spc="-254" dirty="0">
                <a:solidFill>
                  <a:srgbClr val="EBEBEB"/>
                </a:solidFill>
                <a:latin typeface="Arial MT"/>
                <a:cs typeface="Arial MT"/>
              </a:rPr>
              <a:t>y</a:t>
            </a:r>
            <a:r>
              <a:rPr sz="2800" spc="-15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175" dirty="0">
                <a:solidFill>
                  <a:srgbClr val="EBEBEB"/>
                </a:solidFill>
                <a:latin typeface="Arial MT"/>
                <a:cs typeface="Arial MT"/>
              </a:rPr>
              <a:t>r</a:t>
            </a:r>
            <a:r>
              <a:rPr sz="2800" spc="-235" dirty="0">
                <a:solidFill>
                  <a:srgbClr val="EBEBEB"/>
                </a:solidFill>
                <a:latin typeface="Arial MT"/>
                <a:cs typeface="Arial MT"/>
              </a:rPr>
              <a:t>egis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t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e</a:t>
            </a:r>
            <a:r>
              <a:rPr sz="2800" spc="-175" dirty="0">
                <a:solidFill>
                  <a:srgbClr val="EBEBEB"/>
                </a:solidFill>
                <a:latin typeface="Arial MT"/>
                <a:cs typeface="Arial MT"/>
              </a:rPr>
              <a:t>r</a:t>
            </a:r>
            <a:r>
              <a:rPr sz="2800" spc="-254" dirty="0">
                <a:solidFill>
                  <a:srgbClr val="EBEBEB"/>
                </a:solidFill>
                <a:latin typeface="Arial MT"/>
                <a:cs typeface="Arial MT"/>
              </a:rPr>
              <a:t>s</a:t>
            </a:r>
            <a:r>
              <a:rPr sz="2800" spc="-140" dirty="0">
                <a:solidFill>
                  <a:srgbClr val="EBEBEB"/>
                </a:solidFill>
                <a:latin typeface="Arial MT"/>
                <a:cs typeface="Arial MT"/>
              </a:rPr>
              <a:t>.</a:t>
            </a:r>
            <a:endParaRPr sz="2800">
              <a:latin typeface="Arial MT"/>
              <a:cs typeface="Arial MT"/>
            </a:endParaRPr>
          </a:p>
          <a:p>
            <a:pPr marL="412750" marR="409575">
              <a:lnSpc>
                <a:spcPts val="3020"/>
              </a:lnSpc>
              <a:spcBef>
                <a:spcPts val="680"/>
              </a:spcBef>
            </a:pPr>
            <a:r>
              <a:rPr sz="2800" spc="-290" dirty="0">
                <a:solidFill>
                  <a:srgbClr val="EBEBEB"/>
                </a:solidFill>
                <a:latin typeface="Arial MT"/>
                <a:cs typeface="Arial MT"/>
              </a:rPr>
              <a:t>The</a:t>
            </a:r>
            <a:r>
              <a:rPr sz="2800" spc="-15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50" dirty="0">
                <a:solidFill>
                  <a:srgbClr val="EBEBEB"/>
                </a:solidFill>
                <a:latin typeface="Arial MT"/>
                <a:cs typeface="Arial MT"/>
              </a:rPr>
              <a:t>data</a:t>
            </a:r>
            <a:r>
              <a:rPr sz="2800" spc="-15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185" dirty="0">
                <a:solidFill>
                  <a:srgbClr val="EBEBEB"/>
                </a:solidFill>
                <a:latin typeface="Arial MT"/>
                <a:cs typeface="Arial MT"/>
              </a:rPr>
              <a:t>is</a:t>
            </a:r>
            <a:r>
              <a:rPr sz="2800" spc="-13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50" dirty="0">
                <a:solidFill>
                  <a:srgbClr val="EBEBEB"/>
                </a:solidFill>
                <a:latin typeface="Arial MT"/>
                <a:cs typeface="Arial MT"/>
              </a:rPr>
              <a:t>then</a:t>
            </a:r>
            <a:r>
              <a:rPr sz="2800" spc="-15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35" dirty="0">
                <a:solidFill>
                  <a:srgbClr val="EBEBEB"/>
                </a:solidFill>
                <a:latin typeface="Arial MT"/>
                <a:cs typeface="Arial MT"/>
              </a:rPr>
              <a:t>applied</a:t>
            </a:r>
            <a:r>
              <a:rPr sz="2800" spc="-15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on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35" dirty="0">
                <a:solidFill>
                  <a:srgbClr val="EBEBEB"/>
                </a:solidFill>
                <a:latin typeface="Arial MT"/>
                <a:cs typeface="Arial MT"/>
              </a:rPr>
              <a:t>the</a:t>
            </a:r>
            <a:r>
              <a:rPr sz="2800" spc="-15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50" dirty="0">
                <a:solidFill>
                  <a:srgbClr val="EBEBEB"/>
                </a:solidFill>
                <a:latin typeface="Arial MT"/>
                <a:cs typeface="Arial MT"/>
              </a:rPr>
              <a:t>data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10" dirty="0">
                <a:solidFill>
                  <a:srgbClr val="EBEBEB"/>
                </a:solidFill>
                <a:latin typeface="Arial MT"/>
                <a:cs typeface="Arial MT"/>
              </a:rPr>
              <a:t>lines</a:t>
            </a:r>
            <a:r>
              <a:rPr sz="2800" spc="-14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and</a:t>
            </a:r>
            <a:r>
              <a:rPr sz="2800" spc="-15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130" dirty="0">
                <a:solidFill>
                  <a:srgbClr val="EBEBEB"/>
                </a:solidFill>
                <a:latin typeface="Arial MT"/>
                <a:cs typeface="Arial MT"/>
              </a:rPr>
              <a:t>it</a:t>
            </a:r>
            <a:r>
              <a:rPr sz="2800" spc="-13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185" dirty="0">
                <a:solidFill>
                  <a:srgbClr val="EBEBEB"/>
                </a:solidFill>
                <a:latin typeface="Arial MT"/>
                <a:cs typeface="Arial MT"/>
              </a:rPr>
              <a:t>is </a:t>
            </a:r>
            <a:r>
              <a:rPr sz="2800" spc="-76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54" dirty="0">
                <a:solidFill>
                  <a:srgbClr val="EBEBEB"/>
                </a:solidFill>
                <a:latin typeface="Arial MT"/>
                <a:cs typeface="Arial MT"/>
              </a:rPr>
              <a:t>s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t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o</a:t>
            </a:r>
            <a:r>
              <a:rPr sz="2800" spc="-175" dirty="0">
                <a:solidFill>
                  <a:srgbClr val="EBEBEB"/>
                </a:solidFill>
                <a:latin typeface="Arial MT"/>
                <a:cs typeface="Arial MT"/>
              </a:rPr>
              <a:t>r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ed</a:t>
            </a:r>
            <a:r>
              <a:rPr sz="2800" spc="-15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00" dirty="0">
                <a:solidFill>
                  <a:srgbClr val="EBEBEB"/>
                </a:solidFill>
                <a:latin typeface="Arial MT"/>
                <a:cs typeface="Arial MT"/>
              </a:rPr>
              <a:t>in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t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o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t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he</a:t>
            </a:r>
            <a:r>
              <a:rPr sz="2800" spc="-15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60" dirty="0">
                <a:solidFill>
                  <a:srgbClr val="EBEBEB"/>
                </a:solidFill>
                <a:latin typeface="Arial MT"/>
                <a:cs typeface="Arial MT"/>
              </a:rPr>
              <a:t>enabled</a:t>
            </a:r>
            <a:r>
              <a:rPr sz="2800" spc="-15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175" dirty="0">
                <a:solidFill>
                  <a:srgbClr val="EBEBEB"/>
                </a:solidFill>
                <a:latin typeface="Arial MT"/>
                <a:cs typeface="Arial MT"/>
              </a:rPr>
              <a:t>r</a:t>
            </a:r>
            <a:r>
              <a:rPr sz="2800" spc="-235" dirty="0">
                <a:solidFill>
                  <a:srgbClr val="EBEBEB"/>
                </a:solidFill>
                <a:latin typeface="Arial MT"/>
                <a:cs typeface="Arial MT"/>
              </a:rPr>
              <a:t>egis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t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e</a:t>
            </a:r>
            <a:r>
              <a:rPr sz="2800" spc="-175" dirty="0">
                <a:solidFill>
                  <a:srgbClr val="EBEBEB"/>
                </a:solidFill>
                <a:latin typeface="Arial MT"/>
                <a:cs typeface="Arial MT"/>
              </a:rPr>
              <a:t>r</a:t>
            </a:r>
            <a:r>
              <a:rPr sz="2800" spc="-140" dirty="0">
                <a:solidFill>
                  <a:srgbClr val="EBEBEB"/>
                </a:solidFill>
                <a:latin typeface="Arial MT"/>
                <a:cs typeface="Arial MT"/>
              </a:rPr>
              <a:t>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r>
              <a:rPr spc="-5" dirty="0"/>
              <a:t>16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6350" y="0"/>
            <a:ext cx="9156700" cy="6870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515938" cy="68579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174228" y="6545198"/>
            <a:ext cx="20383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solidFill>
                  <a:srgbClr val="EBEBEB"/>
                </a:solidFill>
                <a:latin typeface="Times New Roman"/>
                <a:cs typeface="Times New Roman"/>
              </a:rPr>
              <a:t>17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64540" y="1010665"/>
            <a:ext cx="471043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80" dirty="0">
                <a:solidFill>
                  <a:srgbClr val="FFFFCC"/>
                </a:solidFill>
                <a:latin typeface="Arial MT"/>
                <a:cs typeface="Arial MT"/>
              </a:rPr>
              <a:t>Di</a:t>
            </a:r>
            <a:r>
              <a:rPr spc="-490" dirty="0">
                <a:solidFill>
                  <a:srgbClr val="FFFFCC"/>
                </a:solidFill>
                <a:latin typeface="Arial MT"/>
                <a:cs typeface="Arial MT"/>
              </a:rPr>
              <a:t>mens</a:t>
            </a:r>
            <a:r>
              <a:rPr spc="-180" dirty="0">
                <a:solidFill>
                  <a:srgbClr val="FFFFCC"/>
                </a:solidFill>
                <a:latin typeface="Arial MT"/>
                <a:cs typeface="Arial MT"/>
              </a:rPr>
              <a:t>i</a:t>
            </a:r>
            <a:r>
              <a:rPr spc="-430" dirty="0">
                <a:solidFill>
                  <a:srgbClr val="FFFFCC"/>
                </a:solidFill>
                <a:latin typeface="Arial MT"/>
                <a:cs typeface="Arial MT"/>
              </a:rPr>
              <a:t>ons</a:t>
            </a:r>
            <a:r>
              <a:rPr spc="-225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335" dirty="0">
                <a:solidFill>
                  <a:srgbClr val="FFFFCC"/>
                </a:solidFill>
                <a:latin typeface="Arial MT"/>
                <a:cs typeface="Arial MT"/>
              </a:rPr>
              <a:t>of</a:t>
            </a:r>
            <a:r>
              <a:rPr spc="-220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480" dirty="0">
                <a:solidFill>
                  <a:srgbClr val="FFFFCC"/>
                </a:solidFill>
                <a:latin typeface="Arial MT"/>
                <a:cs typeface="Arial MT"/>
              </a:rPr>
              <a:t>Memory</a:t>
            </a: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7239" y="2135123"/>
            <a:ext cx="189738" cy="19888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107439" y="1963166"/>
            <a:ext cx="7202170" cy="151003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484"/>
              </a:spcBef>
            </a:pPr>
            <a:r>
              <a:rPr sz="2800" spc="-350" dirty="0">
                <a:solidFill>
                  <a:srgbClr val="EBEBEB"/>
                </a:solidFill>
                <a:latin typeface="Arial MT"/>
                <a:cs typeface="Arial MT"/>
              </a:rPr>
              <a:t>Memo</a:t>
            </a:r>
            <a:r>
              <a:rPr sz="2800" spc="-175" dirty="0">
                <a:solidFill>
                  <a:srgbClr val="EBEBEB"/>
                </a:solidFill>
                <a:latin typeface="Arial MT"/>
                <a:cs typeface="Arial MT"/>
              </a:rPr>
              <a:t>r</a:t>
            </a:r>
            <a:r>
              <a:rPr sz="2800" spc="-254" dirty="0">
                <a:solidFill>
                  <a:srgbClr val="EBEBEB"/>
                </a:solidFill>
                <a:latin typeface="Arial MT"/>
                <a:cs typeface="Arial MT"/>
              </a:rPr>
              <a:t>y</a:t>
            </a:r>
            <a:r>
              <a:rPr sz="2800" spc="-15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185" dirty="0">
                <a:solidFill>
                  <a:srgbClr val="EBEBEB"/>
                </a:solidFill>
                <a:latin typeface="Arial MT"/>
                <a:cs typeface="Arial MT"/>
              </a:rPr>
              <a:t>is</a:t>
            </a:r>
            <a:r>
              <a:rPr sz="2800" spc="-14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70" dirty="0">
                <a:solidFill>
                  <a:srgbClr val="EBEBEB"/>
                </a:solidFill>
                <a:latin typeface="Arial MT"/>
                <a:cs typeface="Arial MT"/>
              </a:rPr>
              <a:t>us</a:t>
            </a:r>
            <a:r>
              <a:rPr sz="2800" spc="-210" dirty="0">
                <a:solidFill>
                  <a:srgbClr val="EBEBEB"/>
                </a:solidFill>
                <a:latin typeface="Arial MT"/>
                <a:cs typeface="Arial MT"/>
              </a:rPr>
              <a:t>ually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305" dirty="0">
                <a:solidFill>
                  <a:srgbClr val="EBEBEB"/>
                </a:solidFill>
                <a:latin typeface="Arial MT"/>
                <a:cs typeface="Arial MT"/>
              </a:rPr>
              <a:t>measu</a:t>
            </a:r>
            <a:r>
              <a:rPr sz="2800" spc="-175" dirty="0">
                <a:solidFill>
                  <a:srgbClr val="EBEBEB"/>
                </a:solidFill>
                <a:latin typeface="Arial MT"/>
                <a:cs typeface="Arial MT"/>
              </a:rPr>
              <a:t>r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ed</a:t>
            </a:r>
            <a:r>
              <a:rPr sz="2800" spc="-16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70" dirty="0">
                <a:solidFill>
                  <a:srgbClr val="EBEBEB"/>
                </a:solidFill>
                <a:latin typeface="Arial MT"/>
                <a:cs typeface="Arial MT"/>
              </a:rPr>
              <a:t>by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t</a:t>
            </a:r>
            <a:r>
              <a:rPr sz="2800" spc="-370" dirty="0">
                <a:solidFill>
                  <a:srgbClr val="EBEBEB"/>
                </a:solidFill>
                <a:latin typeface="Arial MT"/>
                <a:cs typeface="Arial MT"/>
              </a:rPr>
              <a:t>w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o</a:t>
            </a:r>
            <a:r>
              <a:rPr sz="2800" spc="-13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310" dirty="0">
                <a:solidFill>
                  <a:srgbClr val="EBEBEB"/>
                </a:solidFill>
                <a:latin typeface="Arial MT"/>
                <a:cs typeface="Arial MT"/>
              </a:rPr>
              <a:t>numbe</a:t>
            </a:r>
            <a:r>
              <a:rPr sz="2800" spc="-175" dirty="0">
                <a:solidFill>
                  <a:srgbClr val="EBEBEB"/>
                </a:solidFill>
                <a:latin typeface="Arial MT"/>
                <a:cs typeface="Arial MT"/>
              </a:rPr>
              <a:t>r</a:t>
            </a:r>
            <a:r>
              <a:rPr sz="2800" spc="-254" dirty="0">
                <a:solidFill>
                  <a:srgbClr val="EBEBEB"/>
                </a:solidFill>
                <a:latin typeface="Arial MT"/>
                <a:cs typeface="Arial MT"/>
              </a:rPr>
              <a:t>s</a:t>
            </a:r>
            <a:r>
              <a:rPr sz="2800" spc="-140" dirty="0">
                <a:solidFill>
                  <a:srgbClr val="EBEBEB"/>
                </a:solidFill>
                <a:latin typeface="Arial MT"/>
                <a:cs typeface="Arial MT"/>
              </a:rPr>
              <a:t>:</a:t>
            </a:r>
            <a:r>
              <a:rPr sz="2800" spc="-16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114" dirty="0">
                <a:solidFill>
                  <a:srgbClr val="EBEBEB"/>
                </a:solidFill>
                <a:latin typeface="Arial MT"/>
                <a:cs typeface="Arial MT"/>
              </a:rPr>
              <a:t>i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t</a:t>
            </a:r>
            <a:r>
              <a:rPr sz="2800" spc="-254" dirty="0">
                <a:solidFill>
                  <a:srgbClr val="EBEBEB"/>
                </a:solidFill>
                <a:latin typeface="Arial MT"/>
                <a:cs typeface="Arial MT"/>
              </a:rPr>
              <a:t>s</a:t>
            </a:r>
            <a:r>
              <a:rPr sz="2800" spc="-14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40" dirty="0">
                <a:solidFill>
                  <a:srgbClr val="EBEBEB"/>
                </a:solidFill>
                <a:latin typeface="Arial MT"/>
                <a:cs typeface="Arial MT"/>
              </a:rPr>
              <a:t>leng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t</a:t>
            </a:r>
            <a:r>
              <a:rPr sz="2800" spc="-235" dirty="0">
                <a:solidFill>
                  <a:srgbClr val="EBEBEB"/>
                </a:solidFill>
                <a:latin typeface="Arial MT"/>
                <a:cs typeface="Arial MT"/>
              </a:rPr>
              <a:t>h  and</a:t>
            </a:r>
            <a:r>
              <a:rPr sz="2800" spc="-15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114" dirty="0">
                <a:solidFill>
                  <a:srgbClr val="EBEBEB"/>
                </a:solidFill>
                <a:latin typeface="Arial MT"/>
                <a:cs typeface="Arial MT"/>
              </a:rPr>
              <a:t>i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t</a:t>
            </a:r>
            <a:r>
              <a:rPr sz="2800" spc="-254" dirty="0">
                <a:solidFill>
                  <a:srgbClr val="EBEBEB"/>
                </a:solidFill>
                <a:latin typeface="Arial MT"/>
                <a:cs typeface="Arial MT"/>
              </a:rPr>
              <a:t>s</a:t>
            </a:r>
            <a:r>
              <a:rPr sz="2800" spc="-14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370" dirty="0">
                <a:solidFill>
                  <a:srgbClr val="EBEBEB"/>
                </a:solidFill>
                <a:latin typeface="Arial MT"/>
                <a:cs typeface="Arial MT"/>
              </a:rPr>
              <a:t>w</a:t>
            </a:r>
            <a:r>
              <a:rPr sz="2800" spc="-200" dirty="0">
                <a:solidFill>
                  <a:srgbClr val="EBEBEB"/>
                </a:solidFill>
                <a:latin typeface="Arial MT"/>
                <a:cs typeface="Arial MT"/>
              </a:rPr>
              <a:t>id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t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h</a:t>
            </a:r>
            <a:r>
              <a:rPr sz="2800" spc="-14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175" dirty="0">
                <a:solidFill>
                  <a:srgbClr val="EBEBEB"/>
                </a:solidFill>
                <a:latin typeface="Arial MT"/>
                <a:cs typeface="Arial MT"/>
              </a:rPr>
              <a:t>(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Leng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t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h</a:t>
            </a:r>
            <a:r>
              <a:rPr sz="2800" spc="-15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335" dirty="0">
                <a:solidFill>
                  <a:srgbClr val="EBEBEB"/>
                </a:solidFill>
                <a:latin typeface="Arial MT"/>
                <a:cs typeface="Arial MT"/>
              </a:rPr>
              <a:t>X</a:t>
            </a:r>
            <a:r>
              <a:rPr sz="2800" spc="-13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480" dirty="0">
                <a:solidFill>
                  <a:srgbClr val="EBEBEB"/>
                </a:solidFill>
                <a:latin typeface="Arial MT"/>
                <a:cs typeface="Arial MT"/>
              </a:rPr>
              <a:t>W</a:t>
            </a:r>
            <a:r>
              <a:rPr sz="2800" spc="-200" dirty="0">
                <a:solidFill>
                  <a:srgbClr val="EBEBEB"/>
                </a:solidFill>
                <a:latin typeface="Arial MT"/>
                <a:cs typeface="Arial MT"/>
              </a:rPr>
              <a:t>id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t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h</a:t>
            </a:r>
            <a:r>
              <a:rPr sz="2800" spc="-175" dirty="0">
                <a:solidFill>
                  <a:srgbClr val="EBEBEB"/>
                </a:solidFill>
                <a:latin typeface="Arial MT"/>
                <a:cs typeface="Arial MT"/>
              </a:rPr>
              <a:t>)</a:t>
            </a:r>
            <a:r>
              <a:rPr sz="2800" spc="-140" dirty="0">
                <a:solidFill>
                  <a:srgbClr val="EBEBEB"/>
                </a:solidFill>
                <a:latin typeface="Arial MT"/>
                <a:cs typeface="Arial MT"/>
              </a:rPr>
              <a:t>.</a:t>
            </a:r>
            <a:endParaRPr sz="2800">
              <a:latin typeface="Arial MT"/>
              <a:cs typeface="Arial MT"/>
            </a:endParaRPr>
          </a:p>
          <a:p>
            <a:pPr marL="812800" indent="-229235">
              <a:lnSpc>
                <a:spcPct val="100000"/>
              </a:lnSpc>
              <a:spcBef>
                <a:spcPts val="220"/>
              </a:spcBef>
              <a:buClr>
                <a:srgbClr val="CCFFCC"/>
              </a:buClr>
              <a:buSzPct val="60000"/>
              <a:buFont typeface="Wingdings"/>
              <a:buChar char=""/>
              <a:tabLst>
                <a:tab pos="812800" algn="l"/>
              </a:tabLst>
            </a:pPr>
            <a:r>
              <a:rPr sz="2000" spc="-210" dirty="0">
                <a:solidFill>
                  <a:srgbClr val="EBEBEB"/>
                </a:solidFill>
                <a:latin typeface="Arial MT"/>
                <a:cs typeface="Arial MT"/>
              </a:rPr>
              <a:t>The</a:t>
            </a:r>
            <a:r>
              <a:rPr sz="2000" spc="-114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000" spc="-165" dirty="0">
                <a:solidFill>
                  <a:srgbClr val="EBEBEB"/>
                </a:solidFill>
                <a:latin typeface="Arial MT"/>
                <a:cs typeface="Arial MT"/>
              </a:rPr>
              <a:t>length</a:t>
            </a:r>
            <a:r>
              <a:rPr sz="2000" spc="-114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000" spc="-135" dirty="0">
                <a:solidFill>
                  <a:srgbClr val="EBEBEB"/>
                </a:solidFill>
                <a:latin typeface="Arial MT"/>
                <a:cs typeface="Arial MT"/>
              </a:rPr>
              <a:t>is</a:t>
            </a:r>
            <a:r>
              <a:rPr sz="2000" spc="-10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000" spc="-170" dirty="0">
                <a:solidFill>
                  <a:srgbClr val="EBEBEB"/>
                </a:solidFill>
                <a:latin typeface="Arial MT"/>
                <a:cs typeface="Arial MT"/>
              </a:rPr>
              <a:t>the</a:t>
            </a:r>
            <a:r>
              <a:rPr sz="2000" spc="-114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000" spc="-140" dirty="0">
                <a:solidFill>
                  <a:srgbClr val="EBEBEB"/>
                </a:solidFill>
                <a:latin typeface="Arial MT"/>
                <a:cs typeface="Arial MT"/>
              </a:rPr>
              <a:t>total</a:t>
            </a:r>
            <a:r>
              <a:rPr sz="2000" spc="-12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000" spc="-210" dirty="0">
                <a:solidFill>
                  <a:srgbClr val="EBEBEB"/>
                </a:solidFill>
                <a:latin typeface="Arial MT"/>
                <a:cs typeface="Arial MT"/>
              </a:rPr>
              <a:t>number</a:t>
            </a:r>
            <a:r>
              <a:rPr sz="2000" spc="-10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000" spc="-155" dirty="0">
                <a:solidFill>
                  <a:srgbClr val="EBEBEB"/>
                </a:solidFill>
                <a:latin typeface="Arial MT"/>
                <a:cs typeface="Arial MT"/>
              </a:rPr>
              <a:t>of</a:t>
            </a:r>
            <a:r>
              <a:rPr sz="2000" spc="-114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000" spc="-155" dirty="0">
                <a:solidFill>
                  <a:srgbClr val="EBEBEB"/>
                </a:solidFill>
                <a:latin typeface="Arial MT"/>
                <a:cs typeface="Arial MT"/>
              </a:rPr>
              <a:t>locations.</a:t>
            </a:r>
            <a:endParaRPr sz="2000">
              <a:latin typeface="Arial MT"/>
              <a:cs typeface="Arial MT"/>
            </a:endParaRPr>
          </a:p>
          <a:p>
            <a:pPr marL="812800" indent="-229235">
              <a:lnSpc>
                <a:spcPct val="100000"/>
              </a:lnSpc>
              <a:spcBef>
                <a:spcPts val="240"/>
              </a:spcBef>
              <a:buClr>
                <a:srgbClr val="CCFFCC"/>
              </a:buClr>
              <a:buSzPct val="60000"/>
              <a:buFont typeface="Wingdings"/>
              <a:buChar char=""/>
              <a:tabLst>
                <a:tab pos="812800" algn="l"/>
              </a:tabLst>
            </a:pPr>
            <a:r>
              <a:rPr sz="2000" spc="-210" dirty="0">
                <a:solidFill>
                  <a:srgbClr val="EBEBEB"/>
                </a:solidFill>
                <a:latin typeface="Arial MT"/>
                <a:cs typeface="Arial MT"/>
              </a:rPr>
              <a:t>The</a:t>
            </a:r>
            <a:r>
              <a:rPr sz="2000" spc="-114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000" spc="-170" dirty="0">
                <a:solidFill>
                  <a:srgbClr val="EBEBEB"/>
                </a:solidFill>
                <a:latin typeface="Arial MT"/>
                <a:cs typeface="Arial MT"/>
              </a:rPr>
              <a:t>width</a:t>
            </a:r>
            <a:r>
              <a:rPr sz="2000" spc="-114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000" spc="-135" dirty="0">
                <a:solidFill>
                  <a:srgbClr val="EBEBEB"/>
                </a:solidFill>
                <a:latin typeface="Arial MT"/>
                <a:cs typeface="Arial MT"/>
              </a:rPr>
              <a:t>is</a:t>
            </a:r>
            <a:r>
              <a:rPr sz="2000" spc="-10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000" spc="-170" dirty="0">
                <a:solidFill>
                  <a:srgbClr val="EBEBEB"/>
                </a:solidFill>
                <a:latin typeface="Arial MT"/>
                <a:cs typeface="Arial MT"/>
              </a:rPr>
              <a:t>the</a:t>
            </a:r>
            <a:r>
              <a:rPr sz="2000" spc="-114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000" spc="-210" dirty="0">
                <a:solidFill>
                  <a:srgbClr val="EBEBEB"/>
                </a:solidFill>
                <a:latin typeface="Arial MT"/>
                <a:cs typeface="Arial MT"/>
              </a:rPr>
              <a:t>number</a:t>
            </a:r>
            <a:r>
              <a:rPr sz="2000" spc="-9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000" spc="-155" dirty="0">
                <a:solidFill>
                  <a:srgbClr val="EBEBEB"/>
                </a:solidFill>
                <a:latin typeface="Arial MT"/>
                <a:cs typeface="Arial MT"/>
              </a:rPr>
              <a:t>of</a:t>
            </a:r>
            <a:r>
              <a:rPr sz="2000" spc="-114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000" spc="-145" dirty="0">
                <a:solidFill>
                  <a:srgbClr val="EBEBEB"/>
                </a:solidFill>
                <a:latin typeface="Arial MT"/>
                <a:cs typeface="Arial MT"/>
              </a:rPr>
              <a:t>bits</a:t>
            </a:r>
            <a:r>
              <a:rPr sz="2000" spc="-11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000" spc="-145" dirty="0">
                <a:solidFill>
                  <a:srgbClr val="EBEBEB"/>
                </a:solidFill>
                <a:latin typeface="Arial MT"/>
                <a:cs typeface="Arial MT"/>
              </a:rPr>
              <a:t>in</a:t>
            </a:r>
            <a:r>
              <a:rPr sz="2000" spc="-114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000" spc="-200" dirty="0">
                <a:solidFill>
                  <a:srgbClr val="EBEBEB"/>
                </a:solidFill>
                <a:latin typeface="Arial MT"/>
                <a:cs typeface="Arial MT"/>
              </a:rPr>
              <a:t>each</a:t>
            </a:r>
            <a:r>
              <a:rPr sz="2000" spc="-10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000" spc="-150" dirty="0">
                <a:solidFill>
                  <a:srgbClr val="EBEBEB"/>
                </a:solidFill>
                <a:latin typeface="Arial MT"/>
                <a:cs typeface="Arial MT"/>
              </a:rPr>
              <a:t>location.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34439" y="3859529"/>
            <a:ext cx="152400" cy="16002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482089" y="3700526"/>
            <a:ext cx="6481445" cy="310769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8100" marR="179705">
              <a:lnSpc>
                <a:spcPts val="2590"/>
              </a:lnSpc>
              <a:spcBef>
                <a:spcPts val="425"/>
              </a:spcBef>
            </a:pPr>
            <a:r>
              <a:rPr sz="2400" spc="-254" dirty="0">
                <a:solidFill>
                  <a:srgbClr val="EBEBEB"/>
                </a:solidFill>
                <a:latin typeface="Arial MT"/>
                <a:cs typeface="Arial MT"/>
              </a:rPr>
              <a:t>The</a:t>
            </a:r>
            <a:r>
              <a:rPr sz="2400" spc="-11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400" spc="-200" dirty="0">
                <a:solidFill>
                  <a:srgbClr val="EBEBEB"/>
                </a:solidFill>
                <a:latin typeface="Arial MT"/>
                <a:cs typeface="Arial MT"/>
              </a:rPr>
              <a:t>length</a:t>
            </a:r>
            <a:r>
              <a:rPr sz="2400" spc="-9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400" spc="-165" dirty="0">
                <a:solidFill>
                  <a:srgbClr val="EBEBEB"/>
                </a:solidFill>
                <a:latin typeface="Arial MT"/>
                <a:cs typeface="Arial MT"/>
              </a:rPr>
              <a:t>(total</a:t>
            </a:r>
            <a:r>
              <a:rPr sz="2400" spc="-9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400" spc="-250" dirty="0">
                <a:solidFill>
                  <a:srgbClr val="EBEBEB"/>
                </a:solidFill>
                <a:latin typeface="Arial MT"/>
                <a:cs typeface="Arial MT"/>
              </a:rPr>
              <a:t>number</a:t>
            </a:r>
            <a:r>
              <a:rPr sz="2400" spc="-10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400" spc="-185" dirty="0">
                <a:solidFill>
                  <a:srgbClr val="EBEBEB"/>
                </a:solidFill>
                <a:latin typeface="Arial MT"/>
                <a:cs typeface="Arial MT"/>
              </a:rPr>
              <a:t>of</a:t>
            </a:r>
            <a:r>
              <a:rPr sz="2400" spc="-10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400" spc="-190" dirty="0">
                <a:solidFill>
                  <a:srgbClr val="EBEBEB"/>
                </a:solidFill>
                <a:latin typeface="Arial MT"/>
                <a:cs typeface="Arial MT"/>
              </a:rPr>
              <a:t>locations)</a:t>
            </a:r>
            <a:r>
              <a:rPr sz="2400" spc="-10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400" spc="-160" dirty="0">
                <a:solidFill>
                  <a:srgbClr val="EBEBEB"/>
                </a:solidFill>
                <a:latin typeface="Arial MT"/>
                <a:cs typeface="Arial MT"/>
              </a:rPr>
              <a:t>is</a:t>
            </a:r>
            <a:r>
              <a:rPr sz="2400" spc="-11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400" spc="-245" dirty="0">
                <a:solidFill>
                  <a:srgbClr val="EBEBEB"/>
                </a:solidFill>
                <a:latin typeface="Arial MT"/>
                <a:cs typeface="Arial MT"/>
              </a:rPr>
              <a:t>a</a:t>
            </a:r>
            <a:r>
              <a:rPr sz="2400" spc="-11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400" spc="-195" dirty="0">
                <a:solidFill>
                  <a:srgbClr val="EBEBEB"/>
                </a:solidFill>
                <a:latin typeface="Arial MT"/>
                <a:cs typeface="Arial MT"/>
              </a:rPr>
              <a:t>function</a:t>
            </a:r>
            <a:r>
              <a:rPr sz="2400" spc="-9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400" spc="-185" dirty="0">
                <a:solidFill>
                  <a:srgbClr val="EBEBEB"/>
                </a:solidFill>
                <a:latin typeface="Arial MT"/>
                <a:cs typeface="Arial MT"/>
              </a:rPr>
              <a:t>of</a:t>
            </a:r>
            <a:r>
              <a:rPr sz="2400" spc="-10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400" spc="-210" dirty="0">
                <a:solidFill>
                  <a:srgbClr val="EBEBEB"/>
                </a:solidFill>
                <a:latin typeface="Arial MT"/>
                <a:cs typeface="Arial MT"/>
              </a:rPr>
              <a:t>the </a:t>
            </a:r>
            <a:r>
              <a:rPr sz="2400" spc="-65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400" spc="-270" dirty="0">
                <a:solidFill>
                  <a:srgbClr val="EBEBEB"/>
                </a:solidFill>
                <a:latin typeface="Arial MT"/>
                <a:cs typeface="Arial MT"/>
              </a:rPr>
              <a:t>numbe</a:t>
            </a:r>
            <a:r>
              <a:rPr sz="2400" spc="-145" dirty="0">
                <a:solidFill>
                  <a:srgbClr val="EBEBEB"/>
                </a:solidFill>
                <a:latin typeface="Arial MT"/>
                <a:cs typeface="Arial MT"/>
              </a:rPr>
              <a:t>r</a:t>
            </a:r>
            <a:r>
              <a:rPr sz="2400" spc="-10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400" spc="-245" dirty="0">
                <a:solidFill>
                  <a:srgbClr val="EBEBEB"/>
                </a:solidFill>
                <a:latin typeface="Arial MT"/>
                <a:cs typeface="Arial MT"/>
              </a:rPr>
              <a:t>o</a:t>
            </a:r>
            <a:r>
              <a:rPr sz="2400" spc="-120" dirty="0">
                <a:solidFill>
                  <a:srgbClr val="EBEBEB"/>
                </a:solidFill>
                <a:latin typeface="Arial MT"/>
                <a:cs typeface="Arial MT"/>
              </a:rPr>
              <a:t>f</a:t>
            </a:r>
            <a:r>
              <a:rPr sz="2400" spc="-11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400" spc="-250" dirty="0">
                <a:solidFill>
                  <a:srgbClr val="EBEBEB"/>
                </a:solidFill>
                <a:latin typeface="Arial MT"/>
                <a:cs typeface="Arial MT"/>
              </a:rPr>
              <a:t>add</a:t>
            </a:r>
            <a:r>
              <a:rPr sz="2400" spc="-145" dirty="0">
                <a:solidFill>
                  <a:srgbClr val="EBEBEB"/>
                </a:solidFill>
                <a:latin typeface="Arial MT"/>
                <a:cs typeface="Arial MT"/>
              </a:rPr>
              <a:t>r</a:t>
            </a:r>
            <a:r>
              <a:rPr sz="2400" spc="-250" dirty="0">
                <a:solidFill>
                  <a:srgbClr val="EBEBEB"/>
                </a:solidFill>
                <a:latin typeface="Arial MT"/>
                <a:cs typeface="Arial MT"/>
              </a:rPr>
              <a:t>e</a:t>
            </a:r>
            <a:r>
              <a:rPr sz="2400" spc="-220" dirty="0">
                <a:solidFill>
                  <a:srgbClr val="EBEBEB"/>
                </a:solidFill>
                <a:latin typeface="Arial MT"/>
                <a:cs typeface="Arial MT"/>
              </a:rPr>
              <a:t>ss</a:t>
            </a:r>
            <a:r>
              <a:rPr sz="2400" spc="-100" dirty="0">
                <a:solidFill>
                  <a:srgbClr val="EBEBEB"/>
                </a:solidFill>
                <a:latin typeface="Arial MT"/>
                <a:cs typeface="Arial MT"/>
              </a:rPr>
              <a:t> li</a:t>
            </a:r>
            <a:r>
              <a:rPr sz="2400" spc="-250" dirty="0">
                <a:solidFill>
                  <a:srgbClr val="EBEBEB"/>
                </a:solidFill>
                <a:latin typeface="Arial MT"/>
                <a:cs typeface="Arial MT"/>
              </a:rPr>
              <a:t>ne</a:t>
            </a:r>
            <a:r>
              <a:rPr sz="2400" spc="-220" dirty="0">
                <a:solidFill>
                  <a:srgbClr val="EBEBEB"/>
                </a:solidFill>
                <a:latin typeface="Arial MT"/>
                <a:cs typeface="Arial MT"/>
              </a:rPr>
              <a:t>s</a:t>
            </a:r>
            <a:r>
              <a:rPr sz="2400" spc="-120" dirty="0">
                <a:solidFill>
                  <a:srgbClr val="EBEBEB"/>
                </a:solidFill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 marL="1104265">
              <a:lnSpc>
                <a:spcPct val="100000"/>
              </a:lnSpc>
              <a:spcBef>
                <a:spcPts val="229"/>
              </a:spcBef>
            </a:pPr>
            <a:r>
              <a:rPr sz="2200" spc="-220" dirty="0">
                <a:solidFill>
                  <a:srgbClr val="FF0000"/>
                </a:solidFill>
                <a:latin typeface="Arial MT"/>
                <a:cs typeface="Arial MT"/>
              </a:rPr>
              <a:t>#</a:t>
            </a:r>
            <a:r>
              <a:rPr sz="2200" spc="-1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spc="-225" dirty="0">
                <a:solidFill>
                  <a:srgbClr val="FF0000"/>
                </a:solidFill>
                <a:latin typeface="Arial MT"/>
                <a:cs typeface="Arial MT"/>
              </a:rPr>
              <a:t>o</a:t>
            </a:r>
            <a:r>
              <a:rPr sz="2200" spc="-110" dirty="0">
                <a:solidFill>
                  <a:srgbClr val="FF0000"/>
                </a:solidFill>
                <a:latin typeface="Arial MT"/>
                <a:cs typeface="Arial MT"/>
              </a:rPr>
              <a:t>f</a:t>
            </a:r>
            <a:r>
              <a:rPr sz="2200" spc="-1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spc="-330" dirty="0">
                <a:solidFill>
                  <a:srgbClr val="FF0000"/>
                </a:solidFill>
                <a:latin typeface="Arial MT"/>
                <a:cs typeface="Arial MT"/>
              </a:rPr>
              <a:t>m</a:t>
            </a:r>
            <a:r>
              <a:rPr sz="2200" spc="-225" dirty="0">
                <a:solidFill>
                  <a:srgbClr val="FF0000"/>
                </a:solidFill>
                <a:latin typeface="Arial MT"/>
                <a:cs typeface="Arial MT"/>
              </a:rPr>
              <a:t>e</a:t>
            </a:r>
            <a:r>
              <a:rPr sz="2200" spc="-330" dirty="0">
                <a:solidFill>
                  <a:srgbClr val="FF0000"/>
                </a:solidFill>
                <a:latin typeface="Arial MT"/>
                <a:cs typeface="Arial MT"/>
              </a:rPr>
              <a:t>m</a:t>
            </a:r>
            <a:r>
              <a:rPr sz="2200" spc="-185" dirty="0">
                <a:solidFill>
                  <a:srgbClr val="FF0000"/>
                </a:solidFill>
                <a:latin typeface="Arial MT"/>
                <a:cs typeface="Arial MT"/>
              </a:rPr>
              <a:t>or</a:t>
            </a:r>
            <a:r>
              <a:rPr sz="2200" spc="-200" dirty="0">
                <a:solidFill>
                  <a:srgbClr val="FF0000"/>
                </a:solidFill>
                <a:latin typeface="Arial MT"/>
                <a:cs typeface="Arial MT"/>
              </a:rPr>
              <a:t>y</a:t>
            </a:r>
            <a:r>
              <a:rPr sz="2200" spc="-1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spc="-90" dirty="0">
                <a:solidFill>
                  <a:srgbClr val="FF0000"/>
                </a:solidFill>
                <a:latin typeface="Arial MT"/>
                <a:cs typeface="Arial MT"/>
              </a:rPr>
              <a:t>l</a:t>
            </a:r>
            <a:r>
              <a:rPr sz="2200" spc="-225" dirty="0">
                <a:solidFill>
                  <a:srgbClr val="FF0000"/>
                </a:solidFill>
                <a:latin typeface="Arial MT"/>
                <a:cs typeface="Arial MT"/>
              </a:rPr>
              <a:t>o</a:t>
            </a:r>
            <a:r>
              <a:rPr sz="2200" spc="-200" dirty="0">
                <a:solidFill>
                  <a:srgbClr val="FF0000"/>
                </a:solidFill>
                <a:latin typeface="Arial MT"/>
                <a:cs typeface="Arial MT"/>
              </a:rPr>
              <a:t>c</a:t>
            </a:r>
            <a:r>
              <a:rPr sz="2200" spc="-225" dirty="0">
                <a:solidFill>
                  <a:srgbClr val="FF0000"/>
                </a:solidFill>
                <a:latin typeface="Arial MT"/>
                <a:cs typeface="Arial MT"/>
              </a:rPr>
              <a:t>a</a:t>
            </a:r>
            <a:r>
              <a:rPr sz="2200" spc="-110" dirty="0">
                <a:solidFill>
                  <a:srgbClr val="FF0000"/>
                </a:solidFill>
                <a:latin typeface="Arial MT"/>
                <a:cs typeface="Arial MT"/>
              </a:rPr>
              <a:t>t</a:t>
            </a:r>
            <a:r>
              <a:rPr sz="2200" spc="-90" dirty="0">
                <a:solidFill>
                  <a:srgbClr val="FF0000"/>
                </a:solidFill>
                <a:latin typeface="Arial MT"/>
                <a:cs typeface="Arial MT"/>
              </a:rPr>
              <a:t>i</a:t>
            </a:r>
            <a:r>
              <a:rPr sz="2200" spc="-225" dirty="0">
                <a:solidFill>
                  <a:srgbClr val="FF0000"/>
                </a:solidFill>
                <a:latin typeface="Arial MT"/>
                <a:cs typeface="Arial MT"/>
              </a:rPr>
              <a:t>on</a:t>
            </a:r>
            <a:r>
              <a:rPr sz="2200" spc="-200" dirty="0">
                <a:solidFill>
                  <a:srgbClr val="FF0000"/>
                </a:solidFill>
                <a:latin typeface="Arial MT"/>
                <a:cs typeface="Arial MT"/>
              </a:rPr>
              <a:t>s</a:t>
            </a:r>
            <a:r>
              <a:rPr sz="2200" spc="-1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spc="-229" dirty="0">
                <a:solidFill>
                  <a:srgbClr val="FF0000"/>
                </a:solidFill>
                <a:latin typeface="Arial MT"/>
                <a:cs typeface="Arial MT"/>
              </a:rPr>
              <a:t>=</a:t>
            </a:r>
            <a:r>
              <a:rPr sz="2200" spc="-11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spc="-225" dirty="0">
                <a:solidFill>
                  <a:srgbClr val="FF0000"/>
                </a:solidFill>
                <a:latin typeface="Arial MT"/>
                <a:cs typeface="Arial MT"/>
              </a:rPr>
              <a:t>2</a:t>
            </a:r>
            <a:r>
              <a:rPr sz="2175" spc="-127" baseline="24904" dirty="0">
                <a:solidFill>
                  <a:srgbClr val="FF0000"/>
                </a:solidFill>
                <a:latin typeface="Arial MT"/>
                <a:cs typeface="Arial MT"/>
              </a:rPr>
              <a:t>(</a:t>
            </a:r>
            <a:r>
              <a:rPr sz="2175" spc="-97" baseline="2490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175" spc="-209" baseline="24904" dirty="0">
                <a:solidFill>
                  <a:srgbClr val="FF0000"/>
                </a:solidFill>
                <a:latin typeface="Arial MT"/>
                <a:cs typeface="Arial MT"/>
              </a:rPr>
              <a:t>#</a:t>
            </a:r>
            <a:r>
              <a:rPr sz="2175" spc="-97" baseline="2490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175" spc="-217" baseline="24904" dirty="0">
                <a:solidFill>
                  <a:srgbClr val="FF0000"/>
                </a:solidFill>
                <a:latin typeface="Arial MT"/>
                <a:cs typeface="Arial MT"/>
              </a:rPr>
              <a:t>o</a:t>
            </a:r>
            <a:r>
              <a:rPr sz="2175" spc="-104" baseline="24904" dirty="0">
                <a:solidFill>
                  <a:srgbClr val="FF0000"/>
                </a:solidFill>
                <a:latin typeface="Arial MT"/>
                <a:cs typeface="Arial MT"/>
              </a:rPr>
              <a:t>f</a:t>
            </a:r>
            <a:r>
              <a:rPr sz="2175" spc="-82" baseline="2490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175" spc="-217" baseline="24904" dirty="0">
                <a:solidFill>
                  <a:srgbClr val="FF0000"/>
                </a:solidFill>
                <a:latin typeface="Arial MT"/>
                <a:cs typeface="Arial MT"/>
              </a:rPr>
              <a:t>a</a:t>
            </a:r>
            <a:r>
              <a:rPr sz="2175" spc="-209" baseline="24904" dirty="0">
                <a:solidFill>
                  <a:srgbClr val="FF0000"/>
                </a:solidFill>
                <a:latin typeface="Arial MT"/>
                <a:cs typeface="Arial MT"/>
              </a:rPr>
              <a:t>d</a:t>
            </a:r>
            <a:r>
              <a:rPr sz="2175" spc="-217" baseline="24904" dirty="0">
                <a:solidFill>
                  <a:srgbClr val="FF0000"/>
                </a:solidFill>
                <a:latin typeface="Arial MT"/>
                <a:cs typeface="Arial MT"/>
              </a:rPr>
              <a:t>d</a:t>
            </a:r>
            <a:r>
              <a:rPr sz="2175" spc="-120" baseline="24904" dirty="0">
                <a:solidFill>
                  <a:srgbClr val="FF0000"/>
                </a:solidFill>
                <a:latin typeface="Arial MT"/>
                <a:cs typeface="Arial MT"/>
              </a:rPr>
              <a:t>r</a:t>
            </a:r>
            <a:r>
              <a:rPr sz="2175" spc="-217" baseline="24904" dirty="0">
                <a:solidFill>
                  <a:srgbClr val="FF0000"/>
                </a:solidFill>
                <a:latin typeface="Arial MT"/>
                <a:cs typeface="Arial MT"/>
              </a:rPr>
              <a:t>e</a:t>
            </a:r>
            <a:r>
              <a:rPr sz="2175" spc="-187" baseline="24904" dirty="0">
                <a:solidFill>
                  <a:srgbClr val="FF0000"/>
                </a:solidFill>
                <a:latin typeface="Arial MT"/>
                <a:cs typeface="Arial MT"/>
              </a:rPr>
              <a:t>ss</a:t>
            </a:r>
            <a:r>
              <a:rPr sz="2175" spc="-67" baseline="2490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175" spc="-97" baseline="24904" dirty="0">
                <a:solidFill>
                  <a:srgbClr val="FF0000"/>
                </a:solidFill>
                <a:latin typeface="Arial MT"/>
                <a:cs typeface="Arial MT"/>
              </a:rPr>
              <a:t>li</a:t>
            </a:r>
            <a:r>
              <a:rPr sz="2175" spc="-217" baseline="24904" dirty="0">
                <a:solidFill>
                  <a:srgbClr val="FF0000"/>
                </a:solidFill>
                <a:latin typeface="Arial MT"/>
                <a:cs typeface="Arial MT"/>
              </a:rPr>
              <a:t>ne</a:t>
            </a:r>
            <a:r>
              <a:rPr sz="2175" spc="-187" baseline="24904" dirty="0">
                <a:solidFill>
                  <a:srgbClr val="FF0000"/>
                </a:solidFill>
                <a:latin typeface="Arial MT"/>
                <a:cs typeface="Arial MT"/>
              </a:rPr>
              <a:t>s</a:t>
            </a:r>
            <a:r>
              <a:rPr sz="2175" spc="-127" baseline="24904" dirty="0">
                <a:solidFill>
                  <a:srgbClr val="FF0000"/>
                </a:solidFill>
                <a:latin typeface="Arial MT"/>
                <a:cs typeface="Arial MT"/>
              </a:rPr>
              <a:t>)</a:t>
            </a:r>
            <a:endParaRPr sz="2175" baseline="24904">
              <a:latin typeface="Arial MT"/>
              <a:cs typeface="Arial MT"/>
            </a:endParaRPr>
          </a:p>
          <a:p>
            <a:pPr marL="438150" indent="-229235">
              <a:lnSpc>
                <a:spcPct val="100000"/>
              </a:lnSpc>
              <a:spcBef>
                <a:spcPts val="1570"/>
              </a:spcBef>
              <a:buClr>
                <a:srgbClr val="CCFFCC"/>
              </a:buClr>
              <a:buSzPct val="60000"/>
              <a:buFont typeface="Wingdings"/>
              <a:buChar char=""/>
              <a:tabLst>
                <a:tab pos="438150" algn="l"/>
              </a:tabLst>
            </a:pPr>
            <a:r>
              <a:rPr sz="2000" spc="-185" dirty="0">
                <a:latin typeface="Arial MT"/>
                <a:cs typeface="Arial MT"/>
              </a:rPr>
              <a:t>So,</a:t>
            </a:r>
            <a:r>
              <a:rPr sz="2000" spc="-114" dirty="0">
                <a:latin typeface="Arial MT"/>
                <a:cs typeface="Arial MT"/>
              </a:rPr>
              <a:t> </a:t>
            </a:r>
            <a:r>
              <a:rPr sz="2000" spc="-204" dirty="0">
                <a:latin typeface="Arial MT"/>
                <a:cs typeface="Arial MT"/>
              </a:rPr>
              <a:t>a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spc="-220" dirty="0">
                <a:latin typeface="Arial MT"/>
                <a:cs typeface="Arial MT"/>
              </a:rPr>
              <a:t>memory</a:t>
            </a:r>
            <a:r>
              <a:rPr sz="2000" spc="-100" dirty="0">
                <a:latin typeface="Arial MT"/>
                <a:cs typeface="Arial MT"/>
              </a:rPr>
              <a:t> </a:t>
            </a:r>
            <a:r>
              <a:rPr sz="2000" spc="-170" dirty="0">
                <a:latin typeface="Arial MT"/>
                <a:cs typeface="Arial MT"/>
              </a:rPr>
              <a:t>chip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spc="-165" dirty="0">
                <a:latin typeface="Arial MT"/>
                <a:cs typeface="Arial MT"/>
              </a:rPr>
              <a:t>with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spc="-204" dirty="0">
                <a:latin typeface="Arial MT"/>
                <a:cs typeface="Arial MT"/>
              </a:rPr>
              <a:t>10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spc="-185" dirty="0">
                <a:latin typeface="Arial MT"/>
                <a:cs typeface="Arial MT"/>
              </a:rPr>
              <a:t>address</a:t>
            </a:r>
            <a:r>
              <a:rPr sz="2000" spc="-90" dirty="0">
                <a:latin typeface="Arial MT"/>
                <a:cs typeface="Arial MT"/>
              </a:rPr>
              <a:t> </a:t>
            </a:r>
            <a:r>
              <a:rPr sz="2000" spc="-150" dirty="0">
                <a:latin typeface="Arial MT"/>
                <a:cs typeface="Arial MT"/>
              </a:rPr>
              <a:t>lines</a:t>
            </a:r>
            <a:r>
              <a:rPr sz="2000" spc="-114" dirty="0">
                <a:latin typeface="Arial MT"/>
                <a:cs typeface="Arial MT"/>
              </a:rPr>
              <a:t> </a:t>
            </a:r>
            <a:r>
              <a:rPr sz="2000" spc="-195" dirty="0">
                <a:latin typeface="Arial MT"/>
                <a:cs typeface="Arial MT"/>
              </a:rPr>
              <a:t>would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spc="-200" dirty="0">
                <a:latin typeface="Arial MT"/>
                <a:cs typeface="Arial MT"/>
              </a:rPr>
              <a:t>have</a:t>
            </a:r>
            <a:endParaRPr sz="2000">
              <a:latin typeface="Arial MT"/>
              <a:cs typeface="Arial MT"/>
            </a:endParaRPr>
          </a:p>
          <a:p>
            <a:pPr marL="1835150">
              <a:lnSpc>
                <a:spcPct val="100000"/>
              </a:lnSpc>
              <a:spcBef>
                <a:spcPts val="254"/>
              </a:spcBef>
            </a:pPr>
            <a:r>
              <a:rPr sz="2200" spc="-225" dirty="0">
                <a:solidFill>
                  <a:srgbClr val="990000"/>
                </a:solidFill>
                <a:latin typeface="Arial MT"/>
                <a:cs typeface="Arial MT"/>
              </a:rPr>
              <a:t>2</a:t>
            </a:r>
            <a:r>
              <a:rPr sz="2175" spc="-217" baseline="24904" dirty="0">
                <a:solidFill>
                  <a:srgbClr val="990000"/>
                </a:solidFill>
                <a:latin typeface="Arial MT"/>
                <a:cs typeface="Arial MT"/>
              </a:rPr>
              <a:t>1</a:t>
            </a:r>
            <a:r>
              <a:rPr sz="2175" spc="-209" baseline="24904" dirty="0">
                <a:solidFill>
                  <a:srgbClr val="990000"/>
                </a:solidFill>
                <a:latin typeface="Arial MT"/>
                <a:cs typeface="Arial MT"/>
              </a:rPr>
              <a:t>0</a:t>
            </a:r>
            <a:r>
              <a:rPr sz="2175" spc="-89" baseline="24904" dirty="0">
                <a:solidFill>
                  <a:srgbClr val="990000"/>
                </a:solidFill>
                <a:latin typeface="Arial MT"/>
                <a:cs typeface="Arial MT"/>
              </a:rPr>
              <a:t> </a:t>
            </a:r>
            <a:r>
              <a:rPr sz="2200" spc="-229" dirty="0">
                <a:solidFill>
                  <a:srgbClr val="990000"/>
                </a:solidFill>
                <a:latin typeface="Arial MT"/>
                <a:cs typeface="Arial MT"/>
              </a:rPr>
              <a:t>=</a:t>
            </a:r>
            <a:r>
              <a:rPr sz="2200" spc="-120" dirty="0">
                <a:solidFill>
                  <a:srgbClr val="990000"/>
                </a:solidFill>
                <a:latin typeface="Arial MT"/>
                <a:cs typeface="Arial MT"/>
              </a:rPr>
              <a:t> </a:t>
            </a:r>
            <a:r>
              <a:rPr sz="2200" spc="-225" dirty="0">
                <a:solidFill>
                  <a:srgbClr val="990000"/>
                </a:solidFill>
                <a:latin typeface="Arial MT"/>
                <a:cs typeface="Arial MT"/>
              </a:rPr>
              <a:t>102</a:t>
            </a:r>
            <a:r>
              <a:rPr sz="2200" spc="-220" dirty="0">
                <a:solidFill>
                  <a:srgbClr val="990000"/>
                </a:solidFill>
                <a:latin typeface="Arial MT"/>
                <a:cs typeface="Arial MT"/>
              </a:rPr>
              <a:t>4</a:t>
            </a:r>
            <a:r>
              <a:rPr sz="2200" spc="-125" dirty="0">
                <a:solidFill>
                  <a:srgbClr val="990000"/>
                </a:solidFill>
                <a:latin typeface="Arial MT"/>
                <a:cs typeface="Arial MT"/>
              </a:rPr>
              <a:t> </a:t>
            </a:r>
            <a:r>
              <a:rPr sz="2200" spc="-90" dirty="0">
                <a:solidFill>
                  <a:srgbClr val="990000"/>
                </a:solidFill>
                <a:latin typeface="Arial MT"/>
                <a:cs typeface="Arial MT"/>
              </a:rPr>
              <a:t>l</a:t>
            </a:r>
            <a:r>
              <a:rPr sz="2200" spc="-225" dirty="0">
                <a:solidFill>
                  <a:srgbClr val="990000"/>
                </a:solidFill>
                <a:latin typeface="Arial MT"/>
                <a:cs typeface="Arial MT"/>
              </a:rPr>
              <a:t>o</a:t>
            </a:r>
            <a:r>
              <a:rPr sz="2200" spc="-200" dirty="0">
                <a:solidFill>
                  <a:srgbClr val="990000"/>
                </a:solidFill>
                <a:latin typeface="Arial MT"/>
                <a:cs typeface="Arial MT"/>
              </a:rPr>
              <a:t>c</a:t>
            </a:r>
            <a:r>
              <a:rPr sz="2200" spc="-225" dirty="0">
                <a:solidFill>
                  <a:srgbClr val="990000"/>
                </a:solidFill>
                <a:latin typeface="Arial MT"/>
                <a:cs typeface="Arial MT"/>
              </a:rPr>
              <a:t>a</a:t>
            </a:r>
            <a:r>
              <a:rPr sz="2200" spc="-110" dirty="0">
                <a:solidFill>
                  <a:srgbClr val="990000"/>
                </a:solidFill>
                <a:latin typeface="Arial MT"/>
                <a:cs typeface="Arial MT"/>
              </a:rPr>
              <a:t>t</a:t>
            </a:r>
            <a:r>
              <a:rPr sz="2200" spc="-90" dirty="0">
                <a:solidFill>
                  <a:srgbClr val="990000"/>
                </a:solidFill>
                <a:latin typeface="Arial MT"/>
                <a:cs typeface="Arial MT"/>
              </a:rPr>
              <a:t>i</a:t>
            </a:r>
            <a:r>
              <a:rPr sz="2200" spc="-225" dirty="0">
                <a:solidFill>
                  <a:srgbClr val="990000"/>
                </a:solidFill>
                <a:latin typeface="Arial MT"/>
                <a:cs typeface="Arial MT"/>
              </a:rPr>
              <a:t>on</a:t>
            </a:r>
            <a:r>
              <a:rPr sz="2200" spc="-200" dirty="0">
                <a:solidFill>
                  <a:srgbClr val="990000"/>
                </a:solidFill>
                <a:latin typeface="Arial MT"/>
                <a:cs typeface="Arial MT"/>
              </a:rPr>
              <a:t>s</a:t>
            </a:r>
            <a:r>
              <a:rPr sz="2200" spc="-140" dirty="0">
                <a:solidFill>
                  <a:srgbClr val="990000"/>
                </a:solidFill>
                <a:latin typeface="Arial MT"/>
                <a:cs typeface="Arial MT"/>
              </a:rPr>
              <a:t> (</a:t>
            </a:r>
            <a:r>
              <a:rPr sz="2200" spc="-204" dirty="0">
                <a:solidFill>
                  <a:srgbClr val="990000"/>
                </a:solidFill>
                <a:latin typeface="Arial MT"/>
                <a:cs typeface="Arial MT"/>
              </a:rPr>
              <a:t>1K)</a:t>
            </a:r>
            <a:endParaRPr sz="2200">
              <a:latin typeface="Arial MT"/>
              <a:cs typeface="Arial MT"/>
            </a:endParaRPr>
          </a:p>
          <a:p>
            <a:pPr marL="437515" marR="30480" indent="-228600">
              <a:lnSpc>
                <a:spcPts val="2160"/>
              </a:lnSpc>
              <a:spcBef>
                <a:spcPts val="1839"/>
              </a:spcBef>
              <a:buClr>
                <a:srgbClr val="CCFFCC"/>
              </a:buClr>
              <a:buSzPct val="60000"/>
              <a:buFont typeface="Wingdings"/>
              <a:buChar char=""/>
              <a:tabLst>
                <a:tab pos="438150" algn="l"/>
              </a:tabLst>
            </a:pPr>
            <a:r>
              <a:rPr sz="2000" spc="-185" dirty="0">
                <a:latin typeface="Arial MT"/>
                <a:cs typeface="Arial MT"/>
              </a:rPr>
              <a:t>Looking</a:t>
            </a:r>
            <a:r>
              <a:rPr sz="2000" spc="-114" dirty="0">
                <a:latin typeface="Arial MT"/>
                <a:cs typeface="Arial MT"/>
              </a:rPr>
              <a:t> </a:t>
            </a:r>
            <a:r>
              <a:rPr sz="2000" spc="-155" dirty="0">
                <a:latin typeface="Arial MT"/>
                <a:cs typeface="Arial MT"/>
              </a:rPr>
              <a:t>at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spc="-95" dirty="0">
                <a:latin typeface="Arial MT"/>
                <a:cs typeface="Arial MT"/>
              </a:rPr>
              <a:t>it</a:t>
            </a:r>
            <a:r>
              <a:rPr sz="2000" spc="-114" dirty="0">
                <a:latin typeface="Arial MT"/>
                <a:cs typeface="Arial MT"/>
              </a:rPr>
              <a:t> </a:t>
            </a:r>
            <a:r>
              <a:rPr sz="2000" spc="-185" dirty="0">
                <a:latin typeface="Arial MT"/>
                <a:cs typeface="Arial MT"/>
              </a:rPr>
              <a:t>from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spc="-170" dirty="0">
                <a:latin typeface="Arial MT"/>
                <a:cs typeface="Arial MT"/>
              </a:rPr>
              <a:t>the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spc="-165" dirty="0">
                <a:latin typeface="Arial MT"/>
                <a:cs typeface="Arial MT"/>
              </a:rPr>
              <a:t>other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spc="-155" dirty="0">
                <a:latin typeface="Arial MT"/>
                <a:cs typeface="Arial MT"/>
              </a:rPr>
              <a:t>side,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spc="-204" dirty="0">
                <a:latin typeface="Arial MT"/>
                <a:cs typeface="Arial MT"/>
              </a:rPr>
              <a:t>a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spc="-220" dirty="0">
                <a:latin typeface="Arial MT"/>
                <a:cs typeface="Arial MT"/>
              </a:rPr>
              <a:t>memory</a:t>
            </a:r>
            <a:r>
              <a:rPr sz="2000" spc="-100" dirty="0">
                <a:latin typeface="Arial MT"/>
                <a:cs typeface="Arial MT"/>
              </a:rPr>
              <a:t> </a:t>
            </a:r>
            <a:r>
              <a:rPr sz="2000" spc="-170" dirty="0">
                <a:latin typeface="Arial MT"/>
                <a:cs typeface="Arial MT"/>
              </a:rPr>
              <a:t>chip</a:t>
            </a:r>
            <a:r>
              <a:rPr sz="2000" spc="-100" dirty="0">
                <a:latin typeface="Arial MT"/>
                <a:cs typeface="Arial MT"/>
              </a:rPr>
              <a:t> </a:t>
            </a:r>
            <a:r>
              <a:rPr sz="2000" spc="-165" dirty="0">
                <a:latin typeface="Arial MT"/>
                <a:cs typeface="Arial MT"/>
              </a:rPr>
              <a:t>with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spc="-225" dirty="0">
                <a:latin typeface="Arial MT"/>
                <a:cs typeface="Arial MT"/>
              </a:rPr>
              <a:t>4K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spc="-160" dirty="0">
                <a:latin typeface="Arial MT"/>
                <a:cs typeface="Arial MT"/>
              </a:rPr>
              <a:t>locations </a:t>
            </a:r>
            <a:r>
              <a:rPr sz="2000" spc="-540" dirty="0">
                <a:latin typeface="Arial MT"/>
                <a:cs typeface="Arial MT"/>
              </a:rPr>
              <a:t> </a:t>
            </a:r>
            <a:r>
              <a:rPr sz="2000" spc="-190" dirty="0">
                <a:latin typeface="Arial MT"/>
                <a:cs typeface="Arial MT"/>
              </a:rPr>
              <a:t>woul</a:t>
            </a:r>
            <a:r>
              <a:rPr sz="2000" spc="-204" dirty="0">
                <a:latin typeface="Arial MT"/>
                <a:cs typeface="Arial MT"/>
              </a:rPr>
              <a:t>d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spc="-204" dirty="0">
                <a:latin typeface="Arial MT"/>
                <a:cs typeface="Arial MT"/>
              </a:rPr>
              <a:t>need</a:t>
            </a:r>
            <a:endParaRPr sz="2000">
              <a:latin typeface="Arial MT"/>
              <a:cs typeface="Arial MT"/>
            </a:endParaRPr>
          </a:p>
          <a:p>
            <a:pPr marR="295910" algn="ctr">
              <a:lnSpc>
                <a:spcPct val="100000"/>
              </a:lnSpc>
              <a:spcBef>
                <a:spcPts val="225"/>
              </a:spcBef>
            </a:pPr>
            <a:r>
              <a:rPr sz="2200" spc="-225" dirty="0">
                <a:solidFill>
                  <a:srgbClr val="990000"/>
                </a:solidFill>
                <a:latin typeface="Arial MT"/>
                <a:cs typeface="Arial MT"/>
              </a:rPr>
              <a:t>Log</a:t>
            </a:r>
            <a:r>
              <a:rPr sz="2175" spc="-209" baseline="-21072" dirty="0">
                <a:solidFill>
                  <a:srgbClr val="990000"/>
                </a:solidFill>
                <a:latin typeface="Arial MT"/>
                <a:cs typeface="Arial MT"/>
              </a:rPr>
              <a:t>2</a:t>
            </a:r>
            <a:r>
              <a:rPr sz="2175" spc="135" baseline="-21072" dirty="0">
                <a:solidFill>
                  <a:srgbClr val="990000"/>
                </a:solidFill>
                <a:latin typeface="Arial MT"/>
                <a:cs typeface="Arial MT"/>
              </a:rPr>
              <a:t> </a:t>
            </a:r>
            <a:r>
              <a:rPr sz="2200" spc="-225" dirty="0">
                <a:solidFill>
                  <a:srgbClr val="990000"/>
                </a:solidFill>
                <a:latin typeface="Arial MT"/>
                <a:cs typeface="Arial MT"/>
              </a:rPr>
              <a:t>4096</a:t>
            </a:r>
            <a:r>
              <a:rPr sz="2200" spc="-229" dirty="0">
                <a:solidFill>
                  <a:srgbClr val="990000"/>
                </a:solidFill>
                <a:latin typeface="Arial MT"/>
                <a:cs typeface="Arial MT"/>
              </a:rPr>
              <a:t>=</a:t>
            </a:r>
            <a:r>
              <a:rPr sz="2200" spc="-225" dirty="0">
                <a:solidFill>
                  <a:srgbClr val="990000"/>
                </a:solidFill>
                <a:latin typeface="Arial MT"/>
                <a:cs typeface="Arial MT"/>
              </a:rPr>
              <a:t>1</a:t>
            </a:r>
            <a:r>
              <a:rPr sz="2200" spc="-220" dirty="0">
                <a:solidFill>
                  <a:srgbClr val="990000"/>
                </a:solidFill>
                <a:latin typeface="Arial MT"/>
                <a:cs typeface="Arial MT"/>
              </a:rPr>
              <a:t>2</a:t>
            </a:r>
            <a:r>
              <a:rPr sz="2200" spc="-135" dirty="0">
                <a:solidFill>
                  <a:srgbClr val="990000"/>
                </a:solidFill>
                <a:latin typeface="Arial MT"/>
                <a:cs typeface="Arial MT"/>
              </a:rPr>
              <a:t> </a:t>
            </a:r>
            <a:r>
              <a:rPr sz="2200" spc="-210" dirty="0">
                <a:solidFill>
                  <a:srgbClr val="990000"/>
                </a:solidFill>
                <a:latin typeface="Arial MT"/>
                <a:cs typeface="Arial MT"/>
              </a:rPr>
              <a:t>addre</a:t>
            </a:r>
            <a:r>
              <a:rPr sz="2200" spc="-200" dirty="0">
                <a:solidFill>
                  <a:srgbClr val="990000"/>
                </a:solidFill>
                <a:latin typeface="Arial MT"/>
                <a:cs typeface="Arial MT"/>
              </a:rPr>
              <a:t>ss</a:t>
            </a:r>
            <a:r>
              <a:rPr sz="2200" spc="-130" dirty="0">
                <a:solidFill>
                  <a:srgbClr val="990000"/>
                </a:solidFill>
                <a:latin typeface="Arial MT"/>
                <a:cs typeface="Arial MT"/>
              </a:rPr>
              <a:t> </a:t>
            </a:r>
            <a:r>
              <a:rPr sz="2200" spc="-90" dirty="0">
                <a:solidFill>
                  <a:srgbClr val="990000"/>
                </a:solidFill>
                <a:latin typeface="Arial MT"/>
                <a:cs typeface="Arial MT"/>
              </a:rPr>
              <a:t>li</a:t>
            </a:r>
            <a:r>
              <a:rPr sz="2200" spc="-220" dirty="0">
                <a:solidFill>
                  <a:srgbClr val="990000"/>
                </a:solidFill>
                <a:latin typeface="Arial MT"/>
                <a:cs typeface="Arial MT"/>
              </a:rPr>
              <a:t>nes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6350" y="0"/>
            <a:ext cx="9156700" cy="6870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515938" cy="68579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64540" y="1010665"/>
            <a:ext cx="463994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9" dirty="0">
                <a:solidFill>
                  <a:srgbClr val="FFFFCC"/>
                </a:solidFill>
                <a:latin typeface="Arial MT"/>
                <a:cs typeface="Arial MT"/>
              </a:rPr>
              <a:t>The</a:t>
            </a:r>
            <a:r>
              <a:rPr spc="-220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445" dirty="0">
                <a:solidFill>
                  <a:srgbClr val="FFFFCC"/>
                </a:solidFill>
                <a:latin typeface="Arial MT"/>
                <a:cs typeface="Arial MT"/>
              </a:rPr>
              <a:t>8085</a:t>
            </a:r>
            <a:r>
              <a:rPr spc="-195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445" dirty="0">
                <a:solidFill>
                  <a:srgbClr val="FFFFCC"/>
                </a:solidFill>
                <a:latin typeface="Arial MT"/>
                <a:cs typeface="Arial MT"/>
              </a:rPr>
              <a:t>and</a:t>
            </a:r>
            <a:r>
              <a:rPr spc="-204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480" dirty="0">
                <a:solidFill>
                  <a:srgbClr val="FFFFCC"/>
                </a:solidFill>
                <a:latin typeface="Arial MT"/>
                <a:cs typeface="Arial MT"/>
              </a:rPr>
              <a:t>Memory</a:t>
            </a: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7239" y="2177796"/>
            <a:ext cx="189738" cy="19888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34439" y="3605021"/>
            <a:ext cx="152400" cy="16002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7239" y="5237987"/>
            <a:ext cx="189738" cy="19888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082039" y="2005837"/>
            <a:ext cx="7116445" cy="3939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607695">
              <a:lnSpc>
                <a:spcPct val="100000"/>
              </a:lnSpc>
              <a:spcBef>
                <a:spcPts val="100"/>
              </a:spcBef>
            </a:pPr>
            <a:r>
              <a:rPr sz="2800" spc="-290" dirty="0">
                <a:latin typeface="Arial MT"/>
                <a:cs typeface="Arial MT"/>
              </a:rPr>
              <a:t>The</a:t>
            </a:r>
            <a:r>
              <a:rPr sz="2800" spc="-155" dirty="0">
                <a:latin typeface="Arial MT"/>
                <a:cs typeface="Arial MT"/>
              </a:rPr>
              <a:t> </a:t>
            </a:r>
            <a:r>
              <a:rPr sz="2800" spc="-280" dirty="0">
                <a:latin typeface="Arial MT"/>
                <a:cs typeface="Arial MT"/>
              </a:rPr>
              <a:t>8085</a:t>
            </a:r>
            <a:r>
              <a:rPr sz="2800" spc="-155" dirty="0">
                <a:latin typeface="Arial MT"/>
                <a:cs typeface="Arial MT"/>
              </a:rPr>
              <a:t> </a:t>
            </a:r>
            <a:r>
              <a:rPr sz="2800" spc="-275" dirty="0">
                <a:latin typeface="Arial MT"/>
                <a:cs typeface="Arial MT"/>
              </a:rPr>
              <a:t>has</a:t>
            </a:r>
            <a:r>
              <a:rPr sz="2800" spc="-140" dirty="0">
                <a:latin typeface="Arial MT"/>
                <a:cs typeface="Arial MT"/>
              </a:rPr>
              <a:t> </a:t>
            </a:r>
            <a:r>
              <a:rPr sz="2800" spc="-280" dirty="0">
                <a:latin typeface="Arial MT"/>
                <a:cs typeface="Arial MT"/>
              </a:rPr>
              <a:t>16</a:t>
            </a:r>
            <a:r>
              <a:rPr sz="2800" spc="-150" dirty="0">
                <a:latin typeface="Arial MT"/>
                <a:cs typeface="Arial MT"/>
              </a:rPr>
              <a:t> </a:t>
            </a:r>
            <a:r>
              <a:rPr sz="2800" spc="-260" dirty="0">
                <a:latin typeface="Arial MT"/>
                <a:cs typeface="Arial MT"/>
              </a:rPr>
              <a:t>address</a:t>
            </a:r>
            <a:r>
              <a:rPr sz="2800" spc="-155" dirty="0">
                <a:latin typeface="Arial MT"/>
                <a:cs typeface="Arial MT"/>
              </a:rPr>
              <a:t> </a:t>
            </a:r>
            <a:r>
              <a:rPr sz="2800" spc="-200" dirty="0">
                <a:latin typeface="Arial MT"/>
                <a:cs typeface="Arial MT"/>
              </a:rPr>
              <a:t>lines.</a:t>
            </a:r>
            <a:r>
              <a:rPr sz="2800" spc="-140" dirty="0">
                <a:latin typeface="Arial MT"/>
                <a:cs typeface="Arial MT"/>
              </a:rPr>
              <a:t> </a:t>
            </a:r>
            <a:r>
              <a:rPr sz="2800" spc="-254" dirty="0">
                <a:latin typeface="Arial MT"/>
                <a:cs typeface="Arial MT"/>
              </a:rPr>
              <a:t>That</a:t>
            </a:r>
            <a:r>
              <a:rPr sz="2800" spc="-155" dirty="0">
                <a:latin typeface="Arial MT"/>
                <a:cs typeface="Arial MT"/>
              </a:rPr>
              <a:t> </a:t>
            </a:r>
            <a:r>
              <a:rPr sz="2800" spc="-305" dirty="0">
                <a:latin typeface="Arial MT"/>
                <a:cs typeface="Arial MT"/>
              </a:rPr>
              <a:t>means</a:t>
            </a:r>
            <a:r>
              <a:rPr sz="2800" spc="-155" dirty="0">
                <a:latin typeface="Arial MT"/>
                <a:cs typeface="Arial MT"/>
              </a:rPr>
              <a:t> </a:t>
            </a:r>
            <a:r>
              <a:rPr sz="2800" spc="-130" dirty="0">
                <a:latin typeface="Arial MT"/>
                <a:cs typeface="Arial MT"/>
              </a:rPr>
              <a:t>it</a:t>
            </a:r>
            <a:r>
              <a:rPr sz="2800" spc="-135" dirty="0">
                <a:latin typeface="Arial MT"/>
                <a:cs typeface="Arial MT"/>
              </a:rPr>
              <a:t> </a:t>
            </a:r>
            <a:r>
              <a:rPr sz="2800" spc="-270" dirty="0">
                <a:latin typeface="Arial MT"/>
                <a:cs typeface="Arial MT"/>
              </a:rPr>
              <a:t>can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spc="-260" dirty="0">
                <a:latin typeface="Arial MT"/>
                <a:cs typeface="Arial MT"/>
              </a:rPr>
              <a:t>address</a:t>
            </a:r>
            <a:endParaRPr sz="2800">
              <a:latin typeface="Arial MT"/>
              <a:cs typeface="Arial MT"/>
            </a:endParaRPr>
          </a:p>
          <a:p>
            <a:pPr marL="609600">
              <a:lnSpc>
                <a:spcPct val="100000"/>
              </a:lnSpc>
              <a:spcBef>
                <a:spcPts val="670"/>
              </a:spcBef>
            </a:pPr>
            <a:r>
              <a:rPr sz="2800" spc="-280" dirty="0">
                <a:latin typeface="Arial MT"/>
                <a:cs typeface="Arial MT"/>
              </a:rPr>
              <a:t>2</a:t>
            </a:r>
            <a:r>
              <a:rPr sz="2775" spc="-270" baseline="25525" dirty="0">
                <a:latin typeface="Arial MT"/>
                <a:cs typeface="Arial MT"/>
              </a:rPr>
              <a:t>16</a:t>
            </a:r>
            <a:r>
              <a:rPr sz="2775" spc="-150" baseline="25525" dirty="0">
                <a:latin typeface="Arial MT"/>
                <a:cs typeface="Arial MT"/>
              </a:rPr>
              <a:t> </a:t>
            </a:r>
            <a:r>
              <a:rPr sz="2800" spc="-295" dirty="0">
                <a:latin typeface="Arial MT"/>
                <a:cs typeface="Arial MT"/>
              </a:rPr>
              <a:t>=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280" dirty="0">
                <a:latin typeface="Arial MT"/>
                <a:cs typeface="Arial MT"/>
              </a:rPr>
              <a:t>64</a:t>
            </a:r>
            <a:r>
              <a:rPr sz="2800" spc="-335" dirty="0">
                <a:latin typeface="Arial MT"/>
                <a:cs typeface="Arial MT"/>
              </a:rPr>
              <a:t>K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350" dirty="0">
                <a:latin typeface="Arial MT"/>
                <a:cs typeface="Arial MT"/>
              </a:rPr>
              <a:t>memo</a:t>
            </a:r>
            <a:r>
              <a:rPr sz="2800" spc="-175" dirty="0">
                <a:latin typeface="Arial MT"/>
                <a:cs typeface="Arial MT"/>
              </a:rPr>
              <a:t>r</a:t>
            </a:r>
            <a:r>
              <a:rPr sz="2800" spc="-254" dirty="0">
                <a:latin typeface="Arial MT"/>
                <a:cs typeface="Arial MT"/>
              </a:rPr>
              <a:t>y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215" dirty="0">
                <a:latin typeface="Arial MT"/>
                <a:cs typeface="Arial MT"/>
              </a:rPr>
              <a:t>loc</a:t>
            </a:r>
            <a:r>
              <a:rPr sz="2800" spc="-280" dirty="0">
                <a:latin typeface="Arial MT"/>
                <a:cs typeface="Arial MT"/>
              </a:rPr>
              <a:t>a</a:t>
            </a:r>
            <a:r>
              <a:rPr sz="2800" spc="-145" dirty="0">
                <a:latin typeface="Arial MT"/>
                <a:cs typeface="Arial MT"/>
              </a:rPr>
              <a:t>t</a:t>
            </a:r>
            <a:r>
              <a:rPr sz="2800" spc="-235" dirty="0">
                <a:latin typeface="Arial MT"/>
                <a:cs typeface="Arial MT"/>
              </a:rPr>
              <a:t>ions</a:t>
            </a:r>
            <a:r>
              <a:rPr sz="2800" spc="-140" dirty="0">
                <a:latin typeface="Arial MT"/>
                <a:cs typeface="Arial MT"/>
              </a:rPr>
              <a:t>.</a:t>
            </a:r>
            <a:endParaRPr sz="2800">
              <a:latin typeface="Arial MT"/>
              <a:cs typeface="Arial MT"/>
            </a:endParaRPr>
          </a:p>
          <a:p>
            <a:pPr marL="437515" marR="30480">
              <a:lnSpc>
                <a:spcPct val="100000"/>
              </a:lnSpc>
              <a:spcBef>
                <a:spcPts val="590"/>
              </a:spcBef>
            </a:pPr>
            <a:r>
              <a:rPr sz="2400" spc="-254" dirty="0">
                <a:latin typeface="Arial MT"/>
                <a:cs typeface="Arial MT"/>
              </a:rPr>
              <a:t>The</a:t>
            </a:r>
            <a:r>
              <a:rPr sz="2400" spc="-245" dirty="0">
                <a:latin typeface="Arial MT"/>
                <a:cs typeface="Arial MT"/>
              </a:rPr>
              <a:t>n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00" dirty="0">
                <a:latin typeface="Arial MT"/>
                <a:cs typeface="Arial MT"/>
              </a:rPr>
              <a:t>i</a:t>
            </a:r>
            <a:r>
              <a:rPr sz="2400" spc="-120" dirty="0">
                <a:latin typeface="Arial MT"/>
                <a:cs typeface="Arial MT"/>
              </a:rPr>
              <a:t>t </a:t>
            </a:r>
            <a:r>
              <a:rPr sz="2400" spc="-315" dirty="0">
                <a:latin typeface="Arial MT"/>
                <a:cs typeface="Arial MT"/>
              </a:rPr>
              <a:t>w</a:t>
            </a:r>
            <a:r>
              <a:rPr sz="2400" spc="-100" dirty="0">
                <a:latin typeface="Arial MT"/>
                <a:cs typeface="Arial MT"/>
              </a:rPr>
              <a:t>ill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250" dirty="0">
                <a:latin typeface="Arial MT"/>
                <a:cs typeface="Arial MT"/>
              </a:rPr>
              <a:t>ne</a:t>
            </a:r>
            <a:r>
              <a:rPr sz="2400" spc="-245" dirty="0">
                <a:latin typeface="Arial MT"/>
                <a:cs typeface="Arial MT"/>
              </a:rPr>
              <a:t>ed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245" dirty="0">
                <a:latin typeface="Arial MT"/>
                <a:cs typeface="Arial MT"/>
              </a:rPr>
              <a:t>1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275" dirty="0">
                <a:latin typeface="Arial MT"/>
                <a:cs typeface="Arial MT"/>
              </a:rPr>
              <a:t>memor</a:t>
            </a:r>
            <a:r>
              <a:rPr sz="2400" spc="-220" dirty="0">
                <a:latin typeface="Arial MT"/>
                <a:cs typeface="Arial MT"/>
              </a:rPr>
              <a:t>y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220" dirty="0">
                <a:latin typeface="Arial MT"/>
                <a:cs typeface="Arial MT"/>
              </a:rPr>
              <a:t>c</a:t>
            </a:r>
            <a:r>
              <a:rPr sz="2400" spc="-250" dirty="0">
                <a:latin typeface="Arial MT"/>
                <a:cs typeface="Arial MT"/>
              </a:rPr>
              <a:t>h</a:t>
            </a:r>
            <a:r>
              <a:rPr sz="2400" spc="-100" dirty="0">
                <a:latin typeface="Arial MT"/>
                <a:cs typeface="Arial MT"/>
              </a:rPr>
              <a:t>i</a:t>
            </a:r>
            <a:r>
              <a:rPr sz="2400" spc="-245" dirty="0">
                <a:latin typeface="Arial MT"/>
                <a:cs typeface="Arial MT"/>
              </a:rPr>
              <a:t>p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315" dirty="0">
                <a:latin typeface="Arial MT"/>
                <a:cs typeface="Arial MT"/>
              </a:rPr>
              <a:t>w</a:t>
            </a:r>
            <a:r>
              <a:rPr sz="2400" spc="-100" dirty="0">
                <a:latin typeface="Arial MT"/>
                <a:cs typeface="Arial MT"/>
              </a:rPr>
              <a:t>i</a:t>
            </a:r>
            <a:r>
              <a:rPr sz="2400" spc="-125" dirty="0">
                <a:latin typeface="Arial MT"/>
                <a:cs typeface="Arial MT"/>
              </a:rPr>
              <a:t>t</a:t>
            </a:r>
            <a:r>
              <a:rPr sz="2400" spc="-240" dirty="0">
                <a:latin typeface="Arial MT"/>
                <a:cs typeface="Arial MT"/>
              </a:rPr>
              <a:t>h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250" dirty="0">
                <a:latin typeface="Arial MT"/>
                <a:cs typeface="Arial MT"/>
              </a:rPr>
              <a:t>6</a:t>
            </a:r>
            <a:r>
              <a:rPr sz="2400" spc="-245" dirty="0">
                <a:latin typeface="Arial MT"/>
                <a:cs typeface="Arial MT"/>
              </a:rPr>
              <a:t>4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220" dirty="0">
                <a:latin typeface="Arial MT"/>
                <a:cs typeface="Arial MT"/>
              </a:rPr>
              <a:t>k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100" dirty="0">
                <a:latin typeface="Arial MT"/>
                <a:cs typeface="Arial MT"/>
              </a:rPr>
              <a:t>l</a:t>
            </a:r>
            <a:r>
              <a:rPr sz="2400" spc="-250" dirty="0">
                <a:latin typeface="Arial MT"/>
                <a:cs typeface="Arial MT"/>
              </a:rPr>
              <a:t>o</a:t>
            </a:r>
            <a:r>
              <a:rPr sz="2400" spc="-220" dirty="0">
                <a:latin typeface="Arial MT"/>
                <a:cs typeface="Arial MT"/>
              </a:rPr>
              <a:t>c</a:t>
            </a:r>
            <a:r>
              <a:rPr sz="2400" spc="-250" dirty="0">
                <a:latin typeface="Arial MT"/>
                <a:cs typeface="Arial MT"/>
              </a:rPr>
              <a:t>a</a:t>
            </a:r>
            <a:r>
              <a:rPr sz="2400" spc="-125" dirty="0">
                <a:latin typeface="Arial MT"/>
                <a:cs typeface="Arial MT"/>
              </a:rPr>
              <a:t>t</a:t>
            </a:r>
            <a:r>
              <a:rPr sz="2400" spc="-95" dirty="0">
                <a:latin typeface="Arial MT"/>
                <a:cs typeface="Arial MT"/>
              </a:rPr>
              <a:t>i</a:t>
            </a:r>
            <a:r>
              <a:rPr sz="2400" spc="-240" dirty="0">
                <a:latin typeface="Arial MT"/>
                <a:cs typeface="Arial MT"/>
              </a:rPr>
              <a:t>o</a:t>
            </a:r>
            <a:r>
              <a:rPr sz="2400" spc="-250" dirty="0">
                <a:latin typeface="Arial MT"/>
                <a:cs typeface="Arial MT"/>
              </a:rPr>
              <a:t>n</a:t>
            </a:r>
            <a:r>
              <a:rPr sz="2400" spc="-220" dirty="0">
                <a:latin typeface="Arial MT"/>
                <a:cs typeface="Arial MT"/>
              </a:rPr>
              <a:t>s</a:t>
            </a:r>
            <a:r>
              <a:rPr sz="2400" spc="-120" dirty="0">
                <a:latin typeface="Arial MT"/>
                <a:cs typeface="Arial MT"/>
              </a:rPr>
              <a:t>,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250" dirty="0">
                <a:latin typeface="Arial MT"/>
                <a:cs typeface="Arial MT"/>
              </a:rPr>
              <a:t>o</a:t>
            </a:r>
            <a:r>
              <a:rPr sz="2400" spc="-145" dirty="0">
                <a:latin typeface="Arial MT"/>
                <a:cs typeface="Arial MT"/>
              </a:rPr>
              <a:t>r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spc="-175" dirty="0">
                <a:latin typeface="Arial MT"/>
                <a:cs typeface="Arial MT"/>
              </a:rPr>
              <a:t>2  c</a:t>
            </a:r>
            <a:r>
              <a:rPr sz="2400" spc="-250" dirty="0">
                <a:latin typeface="Arial MT"/>
                <a:cs typeface="Arial MT"/>
              </a:rPr>
              <a:t>h</a:t>
            </a:r>
            <a:r>
              <a:rPr sz="2400" spc="-100" dirty="0">
                <a:latin typeface="Arial MT"/>
                <a:cs typeface="Arial MT"/>
              </a:rPr>
              <a:t>i</a:t>
            </a:r>
            <a:r>
              <a:rPr sz="2400" spc="-250" dirty="0">
                <a:latin typeface="Arial MT"/>
                <a:cs typeface="Arial MT"/>
              </a:rPr>
              <a:t>p</a:t>
            </a:r>
            <a:r>
              <a:rPr sz="2400" spc="-220" dirty="0">
                <a:latin typeface="Arial MT"/>
                <a:cs typeface="Arial MT"/>
              </a:rPr>
              <a:t>s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204" dirty="0">
                <a:latin typeface="Arial MT"/>
                <a:cs typeface="Arial MT"/>
              </a:rPr>
              <a:t>wi</a:t>
            </a:r>
            <a:r>
              <a:rPr sz="2400" spc="-130" dirty="0">
                <a:latin typeface="Arial MT"/>
                <a:cs typeface="Arial MT"/>
              </a:rPr>
              <a:t>t</a:t>
            </a:r>
            <a:r>
              <a:rPr sz="2400" spc="-245" dirty="0">
                <a:latin typeface="Arial MT"/>
                <a:cs typeface="Arial MT"/>
              </a:rPr>
              <a:t>h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250" dirty="0">
                <a:latin typeface="Arial MT"/>
                <a:cs typeface="Arial MT"/>
              </a:rPr>
              <a:t>3</a:t>
            </a:r>
            <a:r>
              <a:rPr sz="2400" spc="-245" dirty="0">
                <a:latin typeface="Arial MT"/>
                <a:cs typeface="Arial MT"/>
              </a:rPr>
              <a:t>2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290" dirty="0">
                <a:latin typeface="Arial MT"/>
                <a:cs typeface="Arial MT"/>
              </a:rPr>
              <a:t>K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spc="-100" dirty="0">
                <a:latin typeface="Arial MT"/>
                <a:cs typeface="Arial MT"/>
              </a:rPr>
              <a:t>i</a:t>
            </a:r>
            <a:r>
              <a:rPr sz="2400" spc="-245" dirty="0">
                <a:latin typeface="Arial MT"/>
                <a:cs typeface="Arial MT"/>
              </a:rPr>
              <a:t>n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250" dirty="0">
                <a:latin typeface="Arial MT"/>
                <a:cs typeface="Arial MT"/>
              </a:rPr>
              <a:t>ea</a:t>
            </a:r>
            <a:r>
              <a:rPr sz="2400" spc="-220" dirty="0">
                <a:latin typeface="Arial MT"/>
                <a:cs typeface="Arial MT"/>
              </a:rPr>
              <a:t>c</a:t>
            </a:r>
            <a:r>
              <a:rPr sz="2400" spc="-245" dirty="0">
                <a:latin typeface="Arial MT"/>
                <a:cs typeface="Arial MT"/>
              </a:rPr>
              <a:t>h</a:t>
            </a:r>
            <a:r>
              <a:rPr sz="2400" spc="-120" dirty="0">
                <a:latin typeface="Arial MT"/>
                <a:cs typeface="Arial MT"/>
              </a:rPr>
              <a:t>,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250" dirty="0">
                <a:latin typeface="Arial MT"/>
                <a:cs typeface="Arial MT"/>
              </a:rPr>
              <a:t>o</a:t>
            </a:r>
            <a:r>
              <a:rPr sz="2400" spc="-145" dirty="0">
                <a:latin typeface="Arial MT"/>
                <a:cs typeface="Arial MT"/>
              </a:rPr>
              <a:t>r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245" dirty="0">
                <a:latin typeface="Arial MT"/>
                <a:cs typeface="Arial MT"/>
              </a:rPr>
              <a:t>4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204" dirty="0">
                <a:latin typeface="Arial MT"/>
                <a:cs typeface="Arial MT"/>
              </a:rPr>
              <a:t>wi</a:t>
            </a:r>
            <a:r>
              <a:rPr sz="2400" spc="-130" dirty="0">
                <a:latin typeface="Arial MT"/>
                <a:cs typeface="Arial MT"/>
              </a:rPr>
              <a:t>t</a:t>
            </a:r>
            <a:r>
              <a:rPr sz="2400" spc="-245" dirty="0">
                <a:latin typeface="Arial MT"/>
                <a:cs typeface="Arial MT"/>
              </a:rPr>
              <a:t>h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250" dirty="0">
                <a:latin typeface="Arial MT"/>
                <a:cs typeface="Arial MT"/>
              </a:rPr>
              <a:t>1</a:t>
            </a:r>
            <a:r>
              <a:rPr sz="2400" spc="-245" dirty="0">
                <a:latin typeface="Arial MT"/>
                <a:cs typeface="Arial MT"/>
              </a:rPr>
              <a:t>6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290" dirty="0">
                <a:latin typeface="Arial MT"/>
                <a:cs typeface="Arial MT"/>
              </a:rPr>
              <a:t>K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spc="-250" dirty="0">
                <a:latin typeface="Arial MT"/>
                <a:cs typeface="Arial MT"/>
              </a:rPr>
              <a:t>ea</a:t>
            </a:r>
            <a:r>
              <a:rPr sz="2400" spc="-229" dirty="0">
                <a:latin typeface="Arial MT"/>
                <a:cs typeface="Arial MT"/>
              </a:rPr>
              <a:t>ch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250" dirty="0">
                <a:latin typeface="Arial MT"/>
                <a:cs typeface="Arial MT"/>
              </a:rPr>
              <a:t>o</a:t>
            </a:r>
            <a:r>
              <a:rPr sz="2400" spc="-145" dirty="0">
                <a:latin typeface="Arial MT"/>
                <a:cs typeface="Arial MT"/>
              </a:rPr>
              <a:t>r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250" dirty="0">
                <a:latin typeface="Arial MT"/>
                <a:cs typeface="Arial MT"/>
              </a:rPr>
              <a:t>1</a:t>
            </a:r>
            <a:r>
              <a:rPr sz="2400" spc="-245" dirty="0">
                <a:latin typeface="Arial MT"/>
                <a:cs typeface="Arial MT"/>
              </a:rPr>
              <a:t>6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245" dirty="0">
                <a:latin typeface="Arial MT"/>
                <a:cs typeface="Arial MT"/>
              </a:rPr>
              <a:t>o</a:t>
            </a:r>
            <a:r>
              <a:rPr sz="2400" spc="-120" dirty="0">
                <a:latin typeface="Arial MT"/>
                <a:cs typeface="Arial MT"/>
              </a:rPr>
              <a:t>f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190" dirty="0">
                <a:latin typeface="Arial MT"/>
                <a:cs typeface="Arial MT"/>
              </a:rPr>
              <a:t>th</a:t>
            </a:r>
            <a:r>
              <a:rPr sz="2400" spc="-245" dirty="0">
                <a:latin typeface="Arial MT"/>
                <a:cs typeface="Arial MT"/>
              </a:rPr>
              <a:t>e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245" dirty="0">
                <a:latin typeface="Arial MT"/>
                <a:cs typeface="Arial MT"/>
              </a:rPr>
              <a:t>4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180" dirty="0">
                <a:latin typeface="Arial MT"/>
                <a:cs typeface="Arial MT"/>
              </a:rPr>
              <a:t>K  </a:t>
            </a:r>
            <a:r>
              <a:rPr sz="2400" spc="-220" dirty="0">
                <a:latin typeface="Arial MT"/>
                <a:cs typeface="Arial MT"/>
              </a:rPr>
              <a:t>c</a:t>
            </a:r>
            <a:r>
              <a:rPr sz="2400" spc="-250" dirty="0">
                <a:latin typeface="Arial MT"/>
                <a:cs typeface="Arial MT"/>
              </a:rPr>
              <a:t>h</a:t>
            </a:r>
            <a:r>
              <a:rPr sz="2400" spc="-100" dirty="0">
                <a:latin typeface="Arial MT"/>
                <a:cs typeface="Arial MT"/>
              </a:rPr>
              <a:t>i</a:t>
            </a:r>
            <a:r>
              <a:rPr sz="2400" spc="-250" dirty="0">
                <a:latin typeface="Arial MT"/>
                <a:cs typeface="Arial MT"/>
              </a:rPr>
              <a:t>p</a:t>
            </a:r>
            <a:r>
              <a:rPr sz="2400" spc="-170" dirty="0">
                <a:latin typeface="Arial MT"/>
                <a:cs typeface="Arial MT"/>
              </a:rPr>
              <a:t>s,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250" dirty="0">
                <a:latin typeface="Arial MT"/>
                <a:cs typeface="Arial MT"/>
              </a:rPr>
              <a:t>e</a:t>
            </a:r>
            <a:r>
              <a:rPr sz="2400" spc="-125" dirty="0">
                <a:latin typeface="Arial MT"/>
                <a:cs typeface="Arial MT"/>
              </a:rPr>
              <a:t>t</a:t>
            </a:r>
            <a:r>
              <a:rPr sz="2400" spc="-170" dirty="0">
                <a:latin typeface="Arial MT"/>
                <a:cs typeface="Arial MT"/>
              </a:rPr>
              <a:t>c.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550">
              <a:latin typeface="Arial MT"/>
              <a:cs typeface="Arial MT"/>
            </a:endParaRPr>
          </a:p>
          <a:p>
            <a:pPr marL="38100" marR="330200">
              <a:lnSpc>
                <a:spcPct val="100000"/>
              </a:lnSpc>
            </a:pPr>
            <a:r>
              <a:rPr sz="2800" spc="-310" dirty="0">
                <a:latin typeface="Arial MT"/>
                <a:cs typeface="Arial MT"/>
              </a:rPr>
              <a:t>how</a:t>
            </a:r>
            <a:r>
              <a:rPr sz="2800" spc="-155" dirty="0">
                <a:latin typeface="Arial MT"/>
                <a:cs typeface="Arial MT"/>
              </a:rPr>
              <a:t> </a:t>
            </a:r>
            <a:r>
              <a:rPr sz="2800" spc="-265" dirty="0">
                <a:latin typeface="Arial MT"/>
                <a:cs typeface="Arial MT"/>
              </a:rPr>
              <a:t>would</a:t>
            </a:r>
            <a:r>
              <a:rPr sz="2800" spc="-140" dirty="0">
                <a:latin typeface="Arial MT"/>
                <a:cs typeface="Arial MT"/>
              </a:rPr>
              <a:t> </a:t>
            </a:r>
            <a:r>
              <a:rPr sz="2800" spc="-325" dirty="0">
                <a:latin typeface="Arial MT"/>
                <a:cs typeface="Arial MT"/>
              </a:rPr>
              <a:t>we</a:t>
            </a:r>
            <a:r>
              <a:rPr sz="2800" spc="-140" dirty="0">
                <a:latin typeface="Arial MT"/>
                <a:cs typeface="Arial MT"/>
              </a:rPr>
              <a:t> </a:t>
            </a:r>
            <a:r>
              <a:rPr sz="2800" spc="-275" dirty="0">
                <a:latin typeface="Arial MT"/>
                <a:cs typeface="Arial MT"/>
              </a:rPr>
              <a:t>use</a:t>
            </a:r>
            <a:r>
              <a:rPr sz="2800" spc="-150" dirty="0">
                <a:latin typeface="Arial MT"/>
                <a:cs typeface="Arial MT"/>
              </a:rPr>
              <a:t> </a:t>
            </a:r>
            <a:r>
              <a:rPr sz="2800" spc="-250" dirty="0">
                <a:latin typeface="Arial MT"/>
                <a:cs typeface="Arial MT"/>
              </a:rPr>
              <a:t>these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260" dirty="0">
                <a:latin typeface="Arial MT"/>
                <a:cs typeface="Arial MT"/>
              </a:rPr>
              <a:t>address</a:t>
            </a:r>
            <a:r>
              <a:rPr sz="2800" spc="-155" dirty="0">
                <a:latin typeface="Arial MT"/>
                <a:cs typeface="Arial MT"/>
              </a:rPr>
              <a:t> </a:t>
            </a:r>
            <a:r>
              <a:rPr sz="2800" spc="-210" dirty="0">
                <a:latin typeface="Arial MT"/>
                <a:cs typeface="Arial MT"/>
              </a:rPr>
              <a:t>lines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215" dirty="0">
                <a:latin typeface="Arial MT"/>
                <a:cs typeface="Arial MT"/>
              </a:rPr>
              <a:t>to</a:t>
            </a:r>
            <a:r>
              <a:rPr sz="2800" spc="-140" dirty="0">
                <a:latin typeface="Arial MT"/>
                <a:cs typeface="Arial MT"/>
              </a:rPr>
              <a:t> </a:t>
            </a:r>
            <a:r>
              <a:rPr sz="2800" spc="-220" dirty="0">
                <a:latin typeface="Arial MT"/>
                <a:cs typeface="Arial MT"/>
              </a:rPr>
              <a:t>control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235" dirty="0">
                <a:latin typeface="Arial MT"/>
                <a:cs typeface="Arial MT"/>
              </a:rPr>
              <a:t>the </a:t>
            </a:r>
            <a:r>
              <a:rPr sz="2800" spc="-760" dirty="0">
                <a:latin typeface="Arial MT"/>
                <a:cs typeface="Arial MT"/>
              </a:rPr>
              <a:t> </a:t>
            </a:r>
            <a:r>
              <a:rPr sz="2800" spc="-270" dirty="0">
                <a:latin typeface="Arial MT"/>
                <a:cs typeface="Arial MT"/>
              </a:rPr>
              <a:t>mul</a:t>
            </a:r>
            <a:r>
              <a:rPr sz="2800" spc="-145" dirty="0">
                <a:latin typeface="Arial MT"/>
                <a:cs typeface="Arial MT"/>
              </a:rPr>
              <a:t>t</a:t>
            </a:r>
            <a:r>
              <a:rPr sz="2800" spc="-200" dirty="0">
                <a:latin typeface="Arial MT"/>
                <a:cs typeface="Arial MT"/>
              </a:rPr>
              <a:t>iple</a:t>
            </a:r>
            <a:r>
              <a:rPr sz="2800" spc="-150" dirty="0">
                <a:latin typeface="Arial MT"/>
                <a:cs typeface="Arial MT"/>
              </a:rPr>
              <a:t> </a:t>
            </a:r>
            <a:r>
              <a:rPr sz="2800" spc="-254" dirty="0">
                <a:latin typeface="Arial MT"/>
                <a:cs typeface="Arial MT"/>
              </a:rPr>
              <a:t>c</a:t>
            </a:r>
            <a:r>
              <a:rPr sz="2800" spc="-245" dirty="0">
                <a:latin typeface="Arial MT"/>
                <a:cs typeface="Arial MT"/>
              </a:rPr>
              <a:t>hips?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r>
              <a:rPr spc="-5" dirty="0"/>
              <a:t>18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6350" y="0"/>
            <a:ext cx="9156700" cy="6870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515938" cy="68579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64540" y="1010665"/>
            <a:ext cx="236918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0" dirty="0">
                <a:solidFill>
                  <a:srgbClr val="FFFFCC"/>
                </a:solidFill>
                <a:latin typeface="Arial MT"/>
                <a:cs typeface="Arial MT"/>
              </a:rPr>
              <a:t>Chi</a:t>
            </a:r>
            <a:r>
              <a:rPr spc="-445" dirty="0">
                <a:solidFill>
                  <a:srgbClr val="FFFFCC"/>
                </a:solidFill>
                <a:latin typeface="Arial MT"/>
                <a:cs typeface="Arial MT"/>
              </a:rPr>
              <a:t>p</a:t>
            </a:r>
            <a:r>
              <a:rPr spc="-220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400" dirty="0">
                <a:solidFill>
                  <a:srgbClr val="FFFFCC"/>
                </a:solidFill>
                <a:latin typeface="Arial MT"/>
                <a:cs typeface="Arial MT"/>
              </a:rPr>
              <a:t>Selec</a:t>
            </a:r>
            <a:r>
              <a:rPr spc="-220" dirty="0">
                <a:solidFill>
                  <a:srgbClr val="FFFFCC"/>
                </a:solidFill>
                <a:latin typeface="Arial MT"/>
                <a:cs typeface="Arial MT"/>
              </a:rPr>
              <a:t>t</a:t>
            </a: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7239" y="2177796"/>
            <a:ext cx="189738" cy="19888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7239" y="4055363"/>
            <a:ext cx="189738" cy="19888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34439" y="5397245"/>
            <a:ext cx="152400" cy="16002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069339" y="2005837"/>
            <a:ext cx="7211059" cy="39897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604520">
              <a:lnSpc>
                <a:spcPct val="100000"/>
              </a:lnSpc>
              <a:spcBef>
                <a:spcPts val="100"/>
              </a:spcBef>
            </a:pPr>
            <a:r>
              <a:rPr sz="2800" spc="-370" dirty="0">
                <a:solidFill>
                  <a:srgbClr val="EBEBEB"/>
                </a:solidFill>
                <a:latin typeface="Arial MT"/>
                <a:cs typeface="Arial MT"/>
              </a:rPr>
              <a:t>U</a:t>
            </a:r>
            <a:r>
              <a:rPr sz="2800" spc="-254" dirty="0">
                <a:solidFill>
                  <a:srgbClr val="EBEBEB"/>
                </a:solidFill>
                <a:latin typeface="Arial MT"/>
                <a:cs typeface="Arial MT"/>
              </a:rPr>
              <a:t>s</a:t>
            </a:r>
            <a:r>
              <a:rPr sz="2800" spc="-210" dirty="0">
                <a:solidFill>
                  <a:srgbClr val="EBEBEB"/>
                </a:solidFill>
                <a:latin typeface="Arial MT"/>
                <a:cs typeface="Arial MT"/>
              </a:rPr>
              <a:t>ually</a:t>
            </a:r>
            <a:r>
              <a:rPr sz="2800" spc="-140" dirty="0">
                <a:solidFill>
                  <a:srgbClr val="EBEBEB"/>
                </a:solidFill>
                <a:latin typeface="Arial MT"/>
                <a:cs typeface="Arial MT"/>
              </a:rPr>
              <a:t>,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75" dirty="0">
                <a:solidFill>
                  <a:srgbClr val="EBEBEB"/>
                </a:solidFill>
                <a:latin typeface="Arial MT"/>
                <a:cs typeface="Arial MT"/>
              </a:rPr>
              <a:t>each</a:t>
            </a:r>
            <a:r>
              <a:rPr sz="2800" spc="-15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350" dirty="0">
                <a:solidFill>
                  <a:srgbClr val="EBEBEB"/>
                </a:solidFill>
                <a:latin typeface="Arial MT"/>
                <a:cs typeface="Arial MT"/>
              </a:rPr>
              <a:t>memo</a:t>
            </a:r>
            <a:r>
              <a:rPr sz="2800" spc="-175" dirty="0">
                <a:solidFill>
                  <a:srgbClr val="EBEBEB"/>
                </a:solidFill>
                <a:latin typeface="Arial MT"/>
                <a:cs typeface="Arial MT"/>
              </a:rPr>
              <a:t>r</a:t>
            </a:r>
            <a:r>
              <a:rPr sz="2800" spc="-254" dirty="0">
                <a:solidFill>
                  <a:srgbClr val="EBEBEB"/>
                </a:solidFill>
                <a:latin typeface="Arial MT"/>
                <a:cs typeface="Arial MT"/>
              </a:rPr>
              <a:t>y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54" dirty="0">
                <a:solidFill>
                  <a:srgbClr val="EBEBEB"/>
                </a:solidFill>
                <a:latin typeface="Arial MT"/>
                <a:cs typeface="Arial MT"/>
              </a:rPr>
              <a:t>c</a:t>
            </a:r>
            <a:r>
              <a:rPr sz="2800" spc="-225" dirty="0">
                <a:solidFill>
                  <a:srgbClr val="EBEBEB"/>
                </a:solidFill>
                <a:latin typeface="Arial MT"/>
                <a:cs typeface="Arial MT"/>
              </a:rPr>
              <a:t>hip</a:t>
            </a:r>
            <a:r>
              <a:rPr sz="2800" spc="-15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75" dirty="0">
                <a:solidFill>
                  <a:srgbClr val="EBEBEB"/>
                </a:solidFill>
                <a:latin typeface="Arial MT"/>
                <a:cs typeface="Arial MT"/>
              </a:rPr>
              <a:t>has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a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370" dirty="0">
                <a:solidFill>
                  <a:srgbClr val="EBEBEB"/>
                </a:solidFill>
                <a:latin typeface="Arial MT"/>
                <a:cs typeface="Arial MT"/>
              </a:rPr>
              <a:t>C</a:t>
            </a:r>
            <a:r>
              <a:rPr sz="2800" spc="-335" dirty="0">
                <a:solidFill>
                  <a:srgbClr val="EBEBEB"/>
                </a:solidFill>
                <a:latin typeface="Arial MT"/>
                <a:cs typeface="Arial MT"/>
              </a:rPr>
              <a:t>S</a:t>
            </a:r>
            <a:r>
              <a:rPr sz="2800" spc="-13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170" dirty="0">
                <a:solidFill>
                  <a:srgbClr val="EBEBEB"/>
                </a:solidFill>
                <a:latin typeface="Arial MT"/>
                <a:cs typeface="Arial MT"/>
              </a:rPr>
              <a:t>(</a:t>
            </a:r>
            <a:r>
              <a:rPr sz="2800" u="heavy" spc="-370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Arial MT"/>
                <a:cs typeface="Arial MT"/>
              </a:rPr>
              <a:t>C</a:t>
            </a:r>
            <a:r>
              <a:rPr sz="2800" spc="-225" dirty="0">
                <a:solidFill>
                  <a:srgbClr val="EBEBEB"/>
                </a:solidFill>
                <a:latin typeface="Arial MT"/>
                <a:cs typeface="Arial MT"/>
              </a:rPr>
              <a:t>hip</a:t>
            </a:r>
            <a:r>
              <a:rPr sz="2800" spc="-14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u="heavy" spc="-340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Arial MT"/>
                <a:cs typeface="Arial MT"/>
              </a:rPr>
              <a:t>S</a:t>
            </a:r>
            <a:r>
              <a:rPr sz="2800" spc="-235" dirty="0">
                <a:solidFill>
                  <a:srgbClr val="EBEBEB"/>
                </a:solidFill>
                <a:latin typeface="Arial MT"/>
                <a:cs typeface="Arial MT"/>
              </a:rPr>
              <a:t>elec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t</a:t>
            </a:r>
            <a:r>
              <a:rPr sz="2800" spc="-150" dirty="0">
                <a:solidFill>
                  <a:srgbClr val="EBEBEB"/>
                </a:solidFill>
                <a:latin typeface="Arial MT"/>
                <a:cs typeface="Arial MT"/>
              </a:rPr>
              <a:t>)  </a:t>
            </a:r>
            <a:r>
              <a:rPr sz="2800" spc="-210" dirty="0">
                <a:solidFill>
                  <a:srgbClr val="EBEBEB"/>
                </a:solidFill>
                <a:latin typeface="Arial MT"/>
                <a:cs typeface="Arial MT"/>
              </a:rPr>
              <a:t>input.</a:t>
            </a:r>
            <a:r>
              <a:rPr sz="2800" spc="-15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90" dirty="0">
                <a:solidFill>
                  <a:srgbClr val="EBEBEB"/>
                </a:solidFill>
                <a:latin typeface="Arial MT"/>
                <a:cs typeface="Arial MT"/>
              </a:rPr>
              <a:t>The</a:t>
            </a:r>
            <a:r>
              <a:rPr sz="2800" spc="-15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35" dirty="0">
                <a:solidFill>
                  <a:srgbClr val="EBEBEB"/>
                </a:solidFill>
                <a:latin typeface="Arial MT"/>
                <a:cs typeface="Arial MT"/>
              </a:rPr>
              <a:t>chip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180" dirty="0">
                <a:solidFill>
                  <a:srgbClr val="EBEBEB"/>
                </a:solidFill>
                <a:latin typeface="Arial MT"/>
                <a:cs typeface="Arial MT"/>
              </a:rPr>
              <a:t>will</a:t>
            </a:r>
            <a:r>
              <a:rPr sz="2800" spc="-13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35" dirty="0">
                <a:solidFill>
                  <a:srgbClr val="EBEBEB"/>
                </a:solidFill>
                <a:latin typeface="Arial MT"/>
                <a:cs typeface="Arial MT"/>
              </a:rPr>
              <a:t>only</a:t>
            </a:r>
            <a:r>
              <a:rPr sz="2800" spc="-13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70" dirty="0">
                <a:solidFill>
                  <a:srgbClr val="EBEBEB"/>
                </a:solidFill>
                <a:latin typeface="Arial MT"/>
                <a:cs typeface="Arial MT"/>
              </a:rPr>
              <a:t>work</a:t>
            </a:r>
            <a:r>
              <a:rPr sz="2800" spc="-14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130" dirty="0">
                <a:solidFill>
                  <a:srgbClr val="EBEBEB"/>
                </a:solidFill>
                <a:latin typeface="Arial MT"/>
                <a:cs typeface="Arial MT"/>
              </a:rPr>
              <a:t>if</a:t>
            </a:r>
            <a:r>
              <a:rPr sz="2800" spc="-14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an</a:t>
            </a:r>
            <a:r>
              <a:rPr sz="2800" spc="-15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20" dirty="0">
                <a:solidFill>
                  <a:srgbClr val="EBEBEB"/>
                </a:solidFill>
                <a:latin typeface="Arial MT"/>
                <a:cs typeface="Arial MT"/>
              </a:rPr>
              <a:t>active</a:t>
            </a:r>
            <a:r>
              <a:rPr sz="2800" spc="-14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20" dirty="0">
                <a:solidFill>
                  <a:srgbClr val="EBEBEB"/>
                </a:solidFill>
                <a:latin typeface="Arial MT"/>
                <a:cs typeface="Arial MT"/>
              </a:rPr>
              <a:t>signal</a:t>
            </a:r>
            <a:r>
              <a:rPr sz="2800" spc="-15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185" dirty="0">
                <a:solidFill>
                  <a:srgbClr val="EBEBEB"/>
                </a:solidFill>
                <a:latin typeface="Arial MT"/>
                <a:cs typeface="Arial MT"/>
              </a:rPr>
              <a:t>is </a:t>
            </a:r>
            <a:r>
              <a:rPr sz="2800" spc="-18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35" dirty="0">
                <a:solidFill>
                  <a:srgbClr val="EBEBEB"/>
                </a:solidFill>
                <a:latin typeface="Arial MT"/>
                <a:cs typeface="Arial MT"/>
              </a:rPr>
              <a:t>applied</a:t>
            </a:r>
            <a:r>
              <a:rPr sz="2800" spc="-15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on</a:t>
            </a:r>
            <a:r>
              <a:rPr sz="2800" spc="-15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t</a:t>
            </a:r>
            <a:r>
              <a:rPr sz="2800" spc="-235" dirty="0">
                <a:solidFill>
                  <a:srgbClr val="EBEBEB"/>
                </a:solidFill>
                <a:latin typeface="Arial MT"/>
                <a:cs typeface="Arial MT"/>
              </a:rPr>
              <a:t>hat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40" dirty="0">
                <a:solidFill>
                  <a:srgbClr val="EBEBEB"/>
                </a:solidFill>
                <a:latin typeface="Arial MT"/>
                <a:cs typeface="Arial MT"/>
              </a:rPr>
              <a:t>inpu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t</a:t>
            </a:r>
            <a:r>
              <a:rPr sz="2800" spc="-140" dirty="0">
                <a:solidFill>
                  <a:srgbClr val="EBEBEB"/>
                </a:solidFill>
                <a:latin typeface="Arial MT"/>
                <a:cs typeface="Arial MT"/>
              </a:rPr>
              <a:t>.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4050">
              <a:latin typeface="Arial MT"/>
              <a:cs typeface="Arial MT"/>
            </a:endParaRPr>
          </a:p>
          <a:p>
            <a:pPr marL="50800" marR="43180">
              <a:lnSpc>
                <a:spcPct val="100000"/>
              </a:lnSpc>
            </a:pPr>
            <a:r>
              <a:rPr sz="2800" spc="-295" dirty="0">
                <a:solidFill>
                  <a:srgbClr val="EBEBEB"/>
                </a:solidFill>
                <a:latin typeface="Arial MT"/>
                <a:cs typeface="Arial MT"/>
              </a:rPr>
              <a:t>To</a:t>
            </a:r>
            <a:r>
              <a:rPr sz="2800" spc="-15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29" dirty="0">
                <a:solidFill>
                  <a:srgbClr val="EBEBEB"/>
                </a:solidFill>
                <a:latin typeface="Arial MT"/>
                <a:cs typeface="Arial MT"/>
              </a:rPr>
              <a:t>allow</a:t>
            </a:r>
            <a:r>
              <a:rPr sz="2800" spc="-14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t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he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75" dirty="0">
                <a:solidFill>
                  <a:srgbClr val="EBEBEB"/>
                </a:solidFill>
                <a:latin typeface="Arial MT"/>
                <a:cs typeface="Arial MT"/>
              </a:rPr>
              <a:t>use</a:t>
            </a:r>
            <a:r>
              <a:rPr sz="2800" spc="-15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10" dirty="0">
                <a:solidFill>
                  <a:srgbClr val="EBEBEB"/>
                </a:solidFill>
                <a:latin typeface="Arial MT"/>
                <a:cs typeface="Arial MT"/>
              </a:rPr>
              <a:t>of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70" dirty="0">
                <a:solidFill>
                  <a:srgbClr val="EBEBEB"/>
                </a:solidFill>
                <a:latin typeface="Arial MT"/>
                <a:cs typeface="Arial MT"/>
              </a:rPr>
              <a:t>mul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t</a:t>
            </a:r>
            <a:r>
              <a:rPr sz="2800" spc="-200" dirty="0">
                <a:solidFill>
                  <a:srgbClr val="EBEBEB"/>
                </a:solidFill>
                <a:latin typeface="Arial MT"/>
                <a:cs typeface="Arial MT"/>
              </a:rPr>
              <a:t>iple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54" dirty="0">
                <a:solidFill>
                  <a:srgbClr val="EBEBEB"/>
                </a:solidFill>
                <a:latin typeface="Arial MT"/>
                <a:cs typeface="Arial MT"/>
              </a:rPr>
              <a:t>c</a:t>
            </a:r>
            <a:r>
              <a:rPr sz="2800" spc="-235" dirty="0">
                <a:solidFill>
                  <a:srgbClr val="EBEBEB"/>
                </a:solidFill>
                <a:latin typeface="Arial MT"/>
                <a:cs typeface="Arial MT"/>
              </a:rPr>
              <a:t>hips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00" dirty="0">
                <a:solidFill>
                  <a:srgbClr val="EBEBEB"/>
                </a:solidFill>
                <a:latin typeface="Arial MT"/>
                <a:cs typeface="Arial MT"/>
              </a:rPr>
              <a:t>in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t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he</a:t>
            </a:r>
            <a:r>
              <a:rPr sz="2800" spc="-15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310" dirty="0">
                <a:solidFill>
                  <a:srgbClr val="EBEBEB"/>
                </a:solidFill>
                <a:latin typeface="Arial MT"/>
                <a:cs typeface="Arial MT"/>
              </a:rPr>
              <a:t>make</a:t>
            </a:r>
            <a:r>
              <a:rPr sz="2800" spc="-15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up</a:t>
            </a:r>
            <a:r>
              <a:rPr sz="2800" spc="-15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175" dirty="0">
                <a:solidFill>
                  <a:srgbClr val="EBEBEB"/>
                </a:solidFill>
                <a:latin typeface="Arial MT"/>
                <a:cs typeface="Arial MT"/>
              </a:rPr>
              <a:t>of  </a:t>
            </a:r>
            <a:r>
              <a:rPr sz="2800" spc="-350" dirty="0">
                <a:solidFill>
                  <a:srgbClr val="EBEBEB"/>
                </a:solidFill>
                <a:latin typeface="Arial MT"/>
                <a:cs typeface="Arial MT"/>
              </a:rPr>
              <a:t>memo</a:t>
            </a:r>
            <a:r>
              <a:rPr sz="2800" spc="-175" dirty="0">
                <a:solidFill>
                  <a:srgbClr val="EBEBEB"/>
                </a:solidFill>
                <a:latin typeface="Arial MT"/>
                <a:cs typeface="Arial MT"/>
              </a:rPr>
              <a:t>r</a:t>
            </a:r>
            <a:r>
              <a:rPr sz="2800" spc="-254" dirty="0">
                <a:solidFill>
                  <a:srgbClr val="EBEBEB"/>
                </a:solidFill>
                <a:latin typeface="Arial MT"/>
                <a:cs typeface="Arial MT"/>
              </a:rPr>
              <a:t>y</a:t>
            </a:r>
            <a:r>
              <a:rPr sz="2800" spc="-140" dirty="0">
                <a:solidFill>
                  <a:srgbClr val="EBEBEB"/>
                </a:solidFill>
                <a:latin typeface="Arial MT"/>
                <a:cs typeface="Arial MT"/>
              </a:rPr>
              <a:t>,</a:t>
            </a:r>
            <a:r>
              <a:rPr sz="2800" spc="-16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370" dirty="0">
                <a:solidFill>
                  <a:srgbClr val="EBEBEB"/>
                </a:solidFill>
                <a:latin typeface="Arial MT"/>
                <a:cs typeface="Arial MT"/>
              </a:rPr>
              <a:t>w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e</a:t>
            </a:r>
            <a:r>
              <a:rPr sz="2800" spc="-14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need</a:t>
            </a:r>
            <a:r>
              <a:rPr sz="2800" spc="-15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t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o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75" dirty="0">
                <a:solidFill>
                  <a:srgbClr val="EBEBEB"/>
                </a:solidFill>
                <a:latin typeface="Arial MT"/>
                <a:cs typeface="Arial MT"/>
              </a:rPr>
              <a:t>use</a:t>
            </a:r>
            <a:r>
              <a:rPr sz="2800" spc="-15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a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85" dirty="0">
                <a:solidFill>
                  <a:srgbClr val="EBEBEB"/>
                </a:solidFill>
                <a:latin typeface="Arial MT"/>
                <a:cs typeface="Arial MT"/>
              </a:rPr>
              <a:t>number</a:t>
            </a:r>
            <a:r>
              <a:rPr sz="2800" spc="-16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10" dirty="0">
                <a:solidFill>
                  <a:srgbClr val="EBEBEB"/>
                </a:solidFill>
                <a:latin typeface="Arial MT"/>
                <a:cs typeface="Arial MT"/>
              </a:rPr>
              <a:t>of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t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he</a:t>
            </a:r>
            <a:r>
              <a:rPr sz="2800" spc="-15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add</a:t>
            </a:r>
            <a:r>
              <a:rPr sz="2800" spc="-175" dirty="0">
                <a:solidFill>
                  <a:srgbClr val="EBEBEB"/>
                </a:solidFill>
                <a:latin typeface="Arial MT"/>
                <a:cs typeface="Arial MT"/>
              </a:rPr>
              <a:t>r</a:t>
            </a:r>
            <a:r>
              <a:rPr sz="2800" spc="-265" dirty="0">
                <a:solidFill>
                  <a:srgbClr val="EBEBEB"/>
                </a:solidFill>
                <a:latin typeface="Arial MT"/>
                <a:cs typeface="Arial MT"/>
              </a:rPr>
              <a:t>ess</a:t>
            </a:r>
            <a:r>
              <a:rPr sz="2800" spc="-15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190" dirty="0">
                <a:solidFill>
                  <a:srgbClr val="EBEBEB"/>
                </a:solidFill>
                <a:latin typeface="Arial MT"/>
                <a:cs typeface="Arial MT"/>
              </a:rPr>
              <a:t>lines  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f</a:t>
            </a:r>
            <a:r>
              <a:rPr sz="2800" spc="-225" dirty="0">
                <a:solidFill>
                  <a:srgbClr val="EBEBEB"/>
                </a:solidFill>
                <a:latin typeface="Arial MT"/>
                <a:cs typeface="Arial MT"/>
              </a:rPr>
              <a:t>or</a:t>
            </a:r>
            <a:r>
              <a:rPr sz="2800" spc="-15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t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he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pu</a:t>
            </a:r>
            <a:r>
              <a:rPr sz="2800" spc="-175" dirty="0">
                <a:solidFill>
                  <a:srgbClr val="EBEBEB"/>
                </a:solidFill>
                <a:latin typeface="Arial MT"/>
                <a:cs typeface="Arial MT"/>
              </a:rPr>
              <a:t>r</a:t>
            </a:r>
            <a:r>
              <a:rPr sz="2800" spc="-275" dirty="0">
                <a:solidFill>
                  <a:srgbClr val="EBEBEB"/>
                </a:solidFill>
                <a:latin typeface="Arial MT"/>
                <a:cs typeface="Arial MT"/>
              </a:rPr>
              <a:t>pose</a:t>
            </a:r>
            <a:r>
              <a:rPr sz="2800" spc="-16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10" dirty="0">
                <a:solidFill>
                  <a:srgbClr val="EBEBEB"/>
                </a:solidFill>
                <a:latin typeface="Arial MT"/>
                <a:cs typeface="Arial MT"/>
              </a:rPr>
              <a:t>of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175" dirty="0">
                <a:solidFill>
                  <a:srgbClr val="EBEBEB"/>
                </a:solidFill>
                <a:latin typeface="Arial MT"/>
                <a:cs typeface="Arial MT"/>
              </a:rPr>
              <a:t>“</a:t>
            </a:r>
            <a:r>
              <a:rPr sz="2800" spc="-254" dirty="0">
                <a:solidFill>
                  <a:srgbClr val="EBEBEB"/>
                </a:solidFill>
                <a:latin typeface="Arial MT"/>
                <a:cs typeface="Arial MT"/>
              </a:rPr>
              <a:t>c</a:t>
            </a:r>
            <a:r>
              <a:rPr sz="2800" spc="-225" dirty="0">
                <a:solidFill>
                  <a:srgbClr val="EBEBEB"/>
                </a:solidFill>
                <a:latin typeface="Arial MT"/>
                <a:cs typeface="Arial MT"/>
              </a:rPr>
              <a:t>hip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54" dirty="0">
                <a:solidFill>
                  <a:srgbClr val="EBEBEB"/>
                </a:solidFill>
                <a:latin typeface="Arial MT"/>
                <a:cs typeface="Arial MT"/>
              </a:rPr>
              <a:t>s</a:t>
            </a:r>
            <a:r>
              <a:rPr sz="2800" spc="-235" dirty="0">
                <a:solidFill>
                  <a:srgbClr val="EBEBEB"/>
                </a:solidFill>
                <a:latin typeface="Arial MT"/>
                <a:cs typeface="Arial MT"/>
              </a:rPr>
              <a:t>elec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t</a:t>
            </a:r>
            <a:r>
              <a:rPr sz="2800" spc="-225" dirty="0">
                <a:solidFill>
                  <a:srgbClr val="EBEBEB"/>
                </a:solidFill>
                <a:latin typeface="Arial MT"/>
                <a:cs typeface="Arial MT"/>
              </a:rPr>
              <a:t>ion</a:t>
            </a:r>
            <a:r>
              <a:rPr sz="2800" spc="-175" dirty="0">
                <a:solidFill>
                  <a:srgbClr val="EBEBEB"/>
                </a:solidFill>
                <a:latin typeface="Arial MT"/>
                <a:cs typeface="Arial MT"/>
              </a:rPr>
              <a:t>”</a:t>
            </a:r>
            <a:r>
              <a:rPr sz="2800" spc="-140" dirty="0">
                <a:solidFill>
                  <a:srgbClr val="EBEBEB"/>
                </a:solidFill>
                <a:latin typeface="Arial MT"/>
                <a:cs typeface="Arial MT"/>
              </a:rPr>
              <a:t>.</a:t>
            </a:r>
            <a:endParaRPr sz="2800">
              <a:latin typeface="Arial MT"/>
              <a:cs typeface="Arial MT"/>
            </a:endParaRPr>
          </a:p>
          <a:p>
            <a:pPr marL="450850" marR="735330">
              <a:lnSpc>
                <a:spcPct val="100000"/>
              </a:lnSpc>
              <a:spcBef>
                <a:spcPts val="590"/>
              </a:spcBef>
            </a:pPr>
            <a:r>
              <a:rPr sz="2400" spc="-254" dirty="0">
                <a:solidFill>
                  <a:srgbClr val="EBEBEB"/>
                </a:solidFill>
                <a:latin typeface="Arial MT"/>
                <a:cs typeface="Arial MT"/>
              </a:rPr>
              <a:t>The</a:t>
            </a:r>
            <a:r>
              <a:rPr sz="2400" spc="-229" dirty="0">
                <a:solidFill>
                  <a:srgbClr val="EBEBEB"/>
                </a:solidFill>
                <a:latin typeface="Arial MT"/>
                <a:cs typeface="Arial MT"/>
              </a:rPr>
              <a:t>se</a:t>
            </a:r>
            <a:r>
              <a:rPr sz="2400" spc="-10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400" spc="-250" dirty="0">
                <a:solidFill>
                  <a:srgbClr val="EBEBEB"/>
                </a:solidFill>
                <a:latin typeface="Arial MT"/>
                <a:cs typeface="Arial MT"/>
              </a:rPr>
              <a:t>add</a:t>
            </a:r>
            <a:r>
              <a:rPr sz="2400" spc="-195" dirty="0">
                <a:solidFill>
                  <a:srgbClr val="EBEBEB"/>
                </a:solidFill>
                <a:latin typeface="Arial MT"/>
                <a:cs typeface="Arial MT"/>
              </a:rPr>
              <a:t>re</a:t>
            </a:r>
            <a:r>
              <a:rPr sz="2400" spc="-220" dirty="0">
                <a:solidFill>
                  <a:srgbClr val="EBEBEB"/>
                </a:solidFill>
                <a:latin typeface="Arial MT"/>
                <a:cs typeface="Arial MT"/>
              </a:rPr>
              <a:t>ss</a:t>
            </a:r>
            <a:r>
              <a:rPr sz="2400" spc="-9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400" spc="-100" dirty="0">
                <a:solidFill>
                  <a:srgbClr val="EBEBEB"/>
                </a:solidFill>
                <a:latin typeface="Arial MT"/>
                <a:cs typeface="Arial MT"/>
              </a:rPr>
              <a:t>li</a:t>
            </a:r>
            <a:r>
              <a:rPr sz="2400" spc="-250" dirty="0">
                <a:solidFill>
                  <a:srgbClr val="EBEBEB"/>
                </a:solidFill>
                <a:latin typeface="Arial MT"/>
                <a:cs typeface="Arial MT"/>
              </a:rPr>
              <a:t>ne</a:t>
            </a:r>
            <a:r>
              <a:rPr sz="2400" spc="-220" dirty="0">
                <a:solidFill>
                  <a:srgbClr val="EBEBEB"/>
                </a:solidFill>
                <a:latin typeface="Arial MT"/>
                <a:cs typeface="Arial MT"/>
              </a:rPr>
              <a:t>s</a:t>
            </a:r>
            <a:r>
              <a:rPr sz="2400" spc="-10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400" spc="-250" dirty="0">
                <a:solidFill>
                  <a:srgbClr val="EBEBEB"/>
                </a:solidFill>
                <a:latin typeface="Arial MT"/>
                <a:cs typeface="Arial MT"/>
              </a:rPr>
              <a:t>a</a:t>
            </a:r>
            <a:r>
              <a:rPr sz="2400" spc="-195" dirty="0">
                <a:solidFill>
                  <a:srgbClr val="EBEBEB"/>
                </a:solidFill>
                <a:latin typeface="Arial MT"/>
                <a:cs typeface="Arial MT"/>
              </a:rPr>
              <a:t>re</a:t>
            </a:r>
            <a:r>
              <a:rPr sz="2400" spc="-114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400" spc="-250" dirty="0">
                <a:solidFill>
                  <a:srgbClr val="EBEBEB"/>
                </a:solidFill>
                <a:latin typeface="Arial MT"/>
                <a:cs typeface="Arial MT"/>
              </a:rPr>
              <a:t>de</a:t>
            </a:r>
            <a:r>
              <a:rPr sz="2400" spc="-240" dirty="0">
                <a:solidFill>
                  <a:srgbClr val="EBEBEB"/>
                </a:solidFill>
                <a:latin typeface="Arial MT"/>
                <a:cs typeface="Arial MT"/>
              </a:rPr>
              <a:t>coded</a:t>
            </a:r>
            <a:r>
              <a:rPr sz="2400" spc="-10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400" spc="-125" dirty="0">
                <a:solidFill>
                  <a:srgbClr val="EBEBEB"/>
                </a:solidFill>
                <a:latin typeface="Arial MT"/>
                <a:cs typeface="Arial MT"/>
              </a:rPr>
              <a:t>t</a:t>
            </a:r>
            <a:r>
              <a:rPr sz="2400" spc="-240" dirty="0">
                <a:solidFill>
                  <a:srgbClr val="EBEBEB"/>
                </a:solidFill>
                <a:latin typeface="Arial MT"/>
                <a:cs typeface="Arial MT"/>
              </a:rPr>
              <a:t>o</a:t>
            </a:r>
            <a:r>
              <a:rPr sz="2400" spc="-11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400" spc="-250" dirty="0">
                <a:solidFill>
                  <a:srgbClr val="EBEBEB"/>
                </a:solidFill>
                <a:latin typeface="Arial MT"/>
                <a:cs typeface="Arial MT"/>
              </a:rPr>
              <a:t>ge</a:t>
            </a:r>
            <a:r>
              <a:rPr sz="2400" spc="-245" dirty="0">
                <a:solidFill>
                  <a:srgbClr val="EBEBEB"/>
                </a:solidFill>
                <a:latin typeface="Arial MT"/>
                <a:cs typeface="Arial MT"/>
              </a:rPr>
              <a:t>n</a:t>
            </a:r>
            <a:r>
              <a:rPr sz="2400" spc="-250" dirty="0">
                <a:solidFill>
                  <a:srgbClr val="EBEBEB"/>
                </a:solidFill>
                <a:latin typeface="Arial MT"/>
                <a:cs typeface="Arial MT"/>
              </a:rPr>
              <a:t>e</a:t>
            </a:r>
            <a:r>
              <a:rPr sz="2400" spc="-195" dirty="0">
                <a:solidFill>
                  <a:srgbClr val="EBEBEB"/>
                </a:solidFill>
                <a:latin typeface="Arial MT"/>
                <a:cs typeface="Arial MT"/>
              </a:rPr>
              <a:t>ra</a:t>
            </a:r>
            <a:r>
              <a:rPr sz="2400" spc="-120" dirty="0">
                <a:solidFill>
                  <a:srgbClr val="EBEBEB"/>
                </a:solidFill>
                <a:latin typeface="Arial MT"/>
                <a:cs typeface="Arial MT"/>
              </a:rPr>
              <a:t>t</a:t>
            </a:r>
            <a:r>
              <a:rPr sz="2400" spc="-245" dirty="0">
                <a:solidFill>
                  <a:srgbClr val="EBEBEB"/>
                </a:solidFill>
                <a:latin typeface="Arial MT"/>
                <a:cs typeface="Arial MT"/>
              </a:rPr>
              <a:t>e</a:t>
            </a:r>
            <a:r>
              <a:rPr sz="2400" spc="-9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400" spc="-190" dirty="0">
                <a:solidFill>
                  <a:srgbClr val="EBEBEB"/>
                </a:solidFill>
                <a:latin typeface="Arial MT"/>
                <a:cs typeface="Arial MT"/>
              </a:rPr>
              <a:t>th</a:t>
            </a:r>
            <a:r>
              <a:rPr sz="2400" spc="-245" dirty="0">
                <a:solidFill>
                  <a:srgbClr val="EBEBEB"/>
                </a:solidFill>
                <a:latin typeface="Arial MT"/>
                <a:cs typeface="Arial MT"/>
              </a:rPr>
              <a:t>e</a:t>
            </a:r>
            <a:r>
              <a:rPr sz="2400" spc="-8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400" spc="-250" dirty="0">
                <a:solidFill>
                  <a:srgbClr val="EBEBEB"/>
                </a:solidFill>
                <a:latin typeface="Arial MT"/>
                <a:cs typeface="Arial MT"/>
              </a:rPr>
              <a:t>2</a:t>
            </a:r>
            <a:r>
              <a:rPr sz="2400" spc="-165" baseline="24305" dirty="0">
                <a:solidFill>
                  <a:srgbClr val="EBEBEB"/>
                </a:solidFill>
                <a:latin typeface="Arial MT"/>
                <a:cs typeface="Arial MT"/>
              </a:rPr>
              <a:t>n  </a:t>
            </a:r>
            <a:r>
              <a:rPr sz="2400" spc="-250" dirty="0">
                <a:solidFill>
                  <a:srgbClr val="EBEBEB"/>
                </a:solidFill>
                <a:latin typeface="Arial MT"/>
                <a:cs typeface="Arial MT"/>
              </a:rPr>
              <a:t>ne</a:t>
            </a:r>
            <a:r>
              <a:rPr sz="2400" spc="-220" dirty="0">
                <a:solidFill>
                  <a:srgbClr val="EBEBEB"/>
                </a:solidFill>
                <a:latin typeface="Arial MT"/>
                <a:cs typeface="Arial MT"/>
              </a:rPr>
              <a:t>c</a:t>
            </a:r>
            <a:r>
              <a:rPr sz="2400" spc="-250" dirty="0">
                <a:solidFill>
                  <a:srgbClr val="EBEBEB"/>
                </a:solidFill>
                <a:latin typeface="Arial MT"/>
                <a:cs typeface="Arial MT"/>
              </a:rPr>
              <a:t>e</a:t>
            </a:r>
            <a:r>
              <a:rPr sz="2400" spc="-220" dirty="0">
                <a:solidFill>
                  <a:srgbClr val="EBEBEB"/>
                </a:solidFill>
                <a:latin typeface="Arial MT"/>
                <a:cs typeface="Arial MT"/>
              </a:rPr>
              <a:t>ss</a:t>
            </a:r>
            <a:r>
              <a:rPr sz="2400" spc="-200" dirty="0">
                <a:solidFill>
                  <a:srgbClr val="EBEBEB"/>
                </a:solidFill>
                <a:latin typeface="Arial MT"/>
                <a:cs typeface="Arial MT"/>
              </a:rPr>
              <a:t>ar</a:t>
            </a:r>
            <a:r>
              <a:rPr sz="2400" spc="-220" dirty="0">
                <a:solidFill>
                  <a:srgbClr val="EBEBEB"/>
                </a:solidFill>
                <a:latin typeface="Arial MT"/>
                <a:cs typeface="Arial MT"/>
              </a:rPr>
              <a:t>y</a:t>
            </a:r>
            <a:r>
              <a:rPr sz="2400" spc="-9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400" spc="-315" dirty="0">
                <a:solidFill>
                  <a:srgbClr val="EBEBEB"/>
                </a:solidFill>
                <a:latin typeface="Arial MT"/>
                <a:cs typeface="Arial MT"/>
              </a:rPr>
              <a:t>C</a:t>
            </a:r>
            <a:r>
              <a:rPr sz="2400" spc="-290" dirty="0">
                <a:solidFill>
                  <a:srgbClr val="EBEBEB"/>
                </a:solidFill>
                <a:latin typeface="Arial MT"/>
                <a:cs typeface="Arial MT"/>
              </a:rPr>
              <a:t>S</a:t>
            </a:r>
            <a:r>
              <a:rPr sz="2400" spc="-114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400" spc="-100" dirty="0">
                <a:solidFill>
                  <a:srgbClr val="EBEBEB"/>
                </a:solidFill>
                <a:latin typeface="Arial MT"/>
                <a:cs typeface="Arial MT"/>
              </a:rPr>
              <a:t>i</a:t>
            </a:r>
            <a:r>
              <a:rPr sz="2400" spc="-250" dirty="0">
                <a:solidFill>
                  <a:srgbClr val="EBEBEB"/>
                </a:solidFill>
                <a:latin typeface="Arial MT"/>
                <a:cs typeface="Arial MT"/>
              </a:rPr>
              <a:t>npu</a:t>
            </a:r>
            <a:r>
              <a:rPr sz="2400" spc="-170" dirty="0">
                <a:solidFill>
                  <a:srgbClr val="EBEBEB"/>
                </a:solidFill>
                <a:latin typeface="Arial MT"/>
                <a:cs typeface="Arial MT"/>
              </a:rPr>
              <a:t>ts</a:t>
            </a:r>
            <a:r>
              <a:rPr sz="2400" spc="-10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400" spc="-190" dirty="0">
                <a:solidFill>
                  <a:srgbClr val="EBEBEB"/>
                </a:solidFill>
                <a:latin typeface="Arial MT"/>
                <a:cs typeface="Arial MT"/>
              </a:rPr>
              <a:t>fo</a:t>
            </a:r>
            <a:r>
              <a:rPr sz="2400" spc="-145" dirty="0">
                <a:solidFill>
                  <a:srgbClr val="EBEBEB"/>
                </a:solidFill>
                <a:latin typeface="Arial MT"/>
                <a:cs typeface="Arial MT"/>
              </a:rPr>
              <a:t>r</a:t>
            </a:r>
            <a:r>
              <a:rPr sz="2400" spc="-11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400" spc="-190" dirty="0">
                <a:solidFill>
                  <a:srgbClr val="EBEBEB"/>
                </a:solidFill>
                <a:latin typeface="Arial MT"/>
                <a:cs typeface="Arial MT"/>
              </a:rPr>
              <a:t>th</a:t>
            </a:r>
            <a:r>
              <a:rPr sz="2400" spc="-245" dirty="0">
                <a:solidFill>
                  <a:srgbClr val="EBEBEB"/>
                </a:solidFill>
                <a:latin typeface="Arial MT"/>
                <a:cs typeface="Arial MT"/>
              </a:rPr>
              <a:t>e</a:t>
            </a:r>
            <a:r>
              <a:rPr sz="2400" spc="-10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400" spc="-275" dirty="0">
                <a:solidFill>
                  <a:srgbClr val="EBEBEB"/>
                </a:solidFill>
                <a:latin typeface="Arial MT"/>
                <a:cs typeface="Arial MT"/>
              </a:rPr>
              <a:t>memor</a:t>
            </a:r>
            <a:r>
              <a:rPr sz="2400" spc="-220" dirty="0">
                <a:solidFill>
                  <a:srgbClr val="EBEBEB"/>
                </a:solidFill>
                <a:latin typeface="Arial MT"/>
                <a:cs typeface="Arial MT"/>
              </a:rPr>
              <a:t>y</a:t>
            </a:r>
            <a:r>
              <a:rPr sz="2400" spc="-10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400" spc="-220" dirty="0">
                <a:solidFill>
                  <a:srgbClr val="EBEBEB"/>
                </a:solidFill>
                <a:latin typeface="Arial MT"/>
                <a:cs typeface="Arial MT"/>
              </a:rPr>
              <a:t>c</a:t>
            </a:r>
            <a:r>
              <a:rPr sz="2400" spc="-250" dirty="0">
                <a:solidFill>
                  <a:srgbClr val="EBEBEB"/>
                </a:solidFill>
                <a:latin typeface="Arial MT"/>
                <a:cs typeface="Arial MT"/>
              </a:rPr>
              <a:t>h</a:t>
            </a:r>
            <a:r>
              <a:rPr sz="2400" spc="-100" dirty="0">
                <a:solidFill>
                  <a:srgbClr val="EBEBEB"/>
                </a:solidFill>
                <a:latin typeface="Arial MT"/>
                <a:cs typeface="Arial MT"/>
              </a:rPr>
              <a:t>i</a:t>
            </a:r>
            <a:r>
              <a:rPr sz="2400" spc="-250" dirty="0">
                <a:solidFill>
                  <a:srgbClr val="EBEBEB"/>
                </a:solidFill>
                <a:latin typeface="Arial MT"/>
                <a:cs typeface="Arial MT"/>
              </a:rPr>
              <a:t>p</a:t>
            </a:r>
            <a:r>
              <a:rPr sz="2400" spc="-220" dirty="0">
                <a:solidFill>
                  <a:srgbClr val="EBEBEB"/>
                </a:solidFill>
                <a:latin typeface="Arial MT"/>
                <a:cs typeface="Arial MT"/>
              </a:rPr>
              <a:t>s</a:t>
            </a:r>
            <a:r>
              <a:rPr sz="2400" spc="-10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400" spc="-125" dirty="0">
                <a:solidFill>
                  <a:srgbClr val="EBEBEB"/>
                </a:solidFill>
                <a:latin typeface="Arial MT"/>
                <a:cs typeface="Arial MT"/>
              </a:rPr>
              <a:t>t</a:t>
            </a:r>
            <a:r>
              <a:rPr sz="2400" spc="-240" dirty="0">
                <a:solidFill>
                  <a:srgbClr val="EBEBEB"/>
                </a:solidFill>
                <a:latin typeface="Arial MT"/>
                <a:cs typeface="Arial MT"/>
              </a:rPr>
              <a:t>o</a:t>
            </a:r>
            <a:r>
              <a:rPr sz="2400" spc="-11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400" spc="-250" dirty="0">
                <a:solidFill>
                  <a:srgbClr val="EBEBEB"/>
                </a:solidFill>
                <a:latin typeface="Arial MT"/>
                <a:cs typeface="Arial MT"/>
              </a:rPr>
              <a:t>b</a:t>
            </a:r>
            <a:r>
              <a:rPr sz="2400" spc="-245" dirty="0">
                <a:solidFill>
                  <a:srgbClr val="EBEBEB"/>
                </a:solidFill>
                <a:latin typeface="Arial MT"/>
                <a:cs typeface="Arial MT"/>
              </a:rPr>
              <a:t>e</a:t>
            </a:r>
            <a:r>
              <a:rPr sz="2400" spc="-11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400" spc="-250" dirty="0">
                <a:solidFill>
                  <a:srgbClr val="EBEBEB"/>
                </a:solidFill>
                <a:latin typeface="Arial MT"/>
                <a:cs typeface="Arial MT"/>
              </a:rPr>
              <a:t>u</a:t>
            </a:r>
            <a:r>
              <a:rPr sz="2400" spc="-229" dirty="0">
                <a:solidFill>
                  <a:srgbClr val="EBEBEB"/>
                </a:solidFill>
                <a:latin typeface="Arial MT"/>
                <a:cs typeface="Arial MT"/>
              </a:rPr>
              <a:t>se</a:t>
            </a:r>
            <a:r>
              <a:rPr sz="2400" spc="-185" dirty="0">
                <a:solidFill>
                  <a:srgbClr val="EBEBEB"/>
                </a:solidFill>
                <a:latin typeface="Arial MT"/>
                <a:cs typeface="Arial MT"/>
              </a:rPr>
              <a:t>d.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r>
              <a:rPr spc="-5" dirty="0"/>
              <a:t>19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6350" y="0"/>
            <a:ext cx="9156700" cy="6870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515938" cy="68579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64540" y="1010665"/>
            <a:ext cx="489394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0" dirty="0">
                <a:solidFill>
                  <a:srgbClr val="FFFFCC"/>
                </a:solidFill>
                <a:latin typeface="Arial MT"/>
                <a:cs typeface="Arial MT"/>
              </a:rPr>
              <a:t>Chi</a:t>
            </a:r>
            <a:r>
              <a:rPr spc="-445" dirty="0">
                <a:solidFill>
                  <a:srgbClr val="FFFFCC"/>
                </a:solidFill>
                <a:latin typeface="Arial MT"/>
                <a:cs typeface="Arial MT"/>
              </a:rPr>
              <a:t>p</a:t>
            </a:r>
            <a:r>
              <a:rPr spc="-220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400" dirty="0">
                <a:solidFill>
                  <a:srgbClr val="FFFFCC"/>
                </a:solidFill>
                <a:latin typeface="Arial MT"/>
                <a:cs typeface="Arial MT"/>
              </a:rPr>
              <a:t>Selec</a:t>
            </a:r>
            <a:r>
              <a:rPr spc="-320" dirty="0">
                <a:solidFill>
                  <a:srgbClr val="FFFFCC"/>
                </a:solidFill>
                <a:latin typeface="Arial MT"/>
                <a:cs typeface="Arial MT"/>
              </a:rPr>
              <a:t>tion</a:t>
            </a:r>
            <a:r>
              <a:rPr spc="-200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465" dirty="0">
                <a:solidFill>
                  <a:srgbClr val="FFFFCC"/>
                </a:solidFill>
                <a:latin typeface="Arial MT"/>
                <a:cs typeface="Arial MT"/>
              </a:rPr>
              <a:t>Ex</a:t>
            </a:r>
            <a:r>
              <a:rPr spc="-434" dirty="0">
                <a:solidFill>
                  <a:srgbClr val="FFFFCC"/>
                </a:solidFill>
                <a:latin typeface="Arial MT"/>
                <a:cs typeface="Arial MT"/>
              </a:rPr>
              <a:t>ample</a:t>
            </a: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3677" y="2146554"/>
            <a:ext cx="177545" cy="18668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3677" y="3853434"/>
            <a:ext cx="177545" cy="18668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3677" y="5176265"/>
            <a:ext cx="177545" cy="18668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507489" y="1963166"/>
            <a:ext cx="6699884" cy="386651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 marR="474345">
              <a:lnSpc>
                <a:spcPts val="3020"/>
              </a:lnSpc>
              <a:spcBef>
                <a:spcPts val="484"/>
              </a:spcBef>
            </a:pPr>
            <a:r>
              <a:rPr sz="2800" spc="-340" dirty="0">
                <a:solidFill>
                  <a:srgbClr val="EBEBEB"/>
                </a:solidFill>
                <a:latin typeface="Arial MT"/>
                <a:cs typeface="Arial MT"/>
              </a:rPr>
              <a:t>A</a:t>
            </a:r>
            <a:r>
              <a:rPr sz="2800" spc="-300" dirty="0">
                <a:solidFill>
                  <a:srgbClr val="EBEBEB"/>
                </a:solidFill>
                <a:latin typeface="Arial MT"/>
                <a:cs typeface="Arial MT"/>
              </a:rPr>
              <a:t>ssume</a:t>
            </a:r>
            <a:r>
              <a:rPr sz="2800" spc="-15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t</a:t>
            </a:r>
            <a:r>
              <a:rPr sz="2800" spc="-235" dirty="0">
                <a:solidFill>
                  <a:srgbClr val="EBEBEB"/>
                </a:solidFill>
                <a:latin typeface="Arial MT"/>
                <a:cs typeface="Arial MT"/>
              </a:rPr>
              <a:t>hat</a:t>
            </a:r>
            <a:r>
              <a:rPr sz="2800" spc="-15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370" dirty="0">
                <a:solidFill>
                  <a:srgbClr val="EBEBEB"/>
                </a:solidFill>
                <a:latin typeface="Arial MT"/>
                <a:cs typeface="Arial MT"/>
              </a:rPr>
              <a:t>w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e</a:t>
            </a:r>
            <a:r>
              <a:rPr sz="2800" spc="-14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need</a:t>
            </a:r>
            <a:r>
              <a:rPr sz="2800" spc="-15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t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o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15" dirty="0">
                <a:solidFill>
                  <a:srgbClr val="EBEBEB"/>
                </a:solidFill>
                <a:latin typeface="Arial MT"/>
                <a:cs typeface="Arial MT"/>
              </a:rPr>
              <a:t>build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a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350" dirty="0">
                <a:solidFill>
                  <a:srgbClr val="EBEBEB"/>
                </a:solidFill>
                <a:latin typeface="Arial MT"/>
                <a:cs typeface="Arial MT"/>
              </a:rPr>
              <a:t>memo</a:t>
            </a:r>
            <a:r>
              <a:rPr sz="2800" spc="-175" dirty="0">
                <a:solidFill>
                  <a:srgbClr val="EBEBEB"/>
                </a:solidFill>
                <a:latin typeface="Arial MT"/>
                <a:cs typeface="Arial MT"/>
              </a:rPr>
              <a:t>r</a:t>
            </a:r>
            <a:r>
              <a:rPr sz="2800" spc="-254" dirty="0">
                <a:solidFill>
                  <a:srgbClr val="EBEBEB"/>
                </a:solidFill>
                <a:latin typeface="Arial MT"/>
                <a:cs typeface="Arial MT"/>
              </a:rPr>
              <a:t>y</a:t>
            </a:r>
            <a:r>
              <a:rPr sz="2800" spc="-15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54" dirty="0">
                <a:solidFill>
                  <a:srgbClr val="EBEBEB"/>
                </a:solidFill>
                <a:latin typeface="Arial MT"/>
                <a:cs typeface="Arial MT"/>
              </a:rPr>
              <a:t>sys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t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em  made</a:t>
            </a:r>
            <a:r>
              <a:rPr sz="2800" spc="-15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up</a:t>
            </a:r>
            <a:r>
              <a:rPr sz="2800" spc="-15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10" dirty="0">
                <a:solidFill>
                  <a:srgbClr val="EBEBEB"/>
                </a:solidFill>
                <a:latin typeface="Arial MT"/>
                <a:cs typeface="Arial MT"/>
              </a:rPr>
              <a:t>of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4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10" dirty="0">
                <a:solidFill>
                  <a:srgbClr val="EBEBEB"/>
                </a:solidFill>
                <a:latin typeface="Arial MT"/>
                <a:cs typeface="Arial MT"/>
              </a:rPr>
              <a:t>of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t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he</a:t>
            </a:r>
            <a:r>
              <a:rPr sz="2800" spc="-15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4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335" dirty="0">
                <a:solidFill>
                  <a:srgbClr val="EBEBEB"/>
                </a:solidFill>
                <a:latin typeface="Arial MT"/>
                <a:cs typeface="Arial MT"/>
              </a:rPr>
              <a:t>X</a:t>
            </a:r>
            <a:r>
              <a:rPr sz="2800" spc="-14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4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350" dirty="0">
                <a:solidFill>
                  <a:srgbClr val="EBEBEB"/>
                </a:solidFill>
                <a:latin typeface="Arial MT"/>
                <a:cs typeface="Arial MT"/>
              </a:rPr>
              <a:t>memo</a:t>
            </a:r>
            <a:r>
              <a:rPr sz="2800" spc="-175" dirty="0">
                <a:solidFill>
                  <a:srgbClr val="EBEBEB"/>
                </a:solidFill>
                <a:latin typeface="Arial MT"/>
                <a:cs typeface="Arial MT"/>
              </a:rPr>
              <a:t>r</a:t>
            </a:r>
            <a:r>
              <a:rPr sz="2800" spc="-254" dirty="0">
                <a:solidFill>
                  <a:srgbClr val="EBEBEB"/>
                </a:solidFill>
                <a:latin typeface="Arial MT"/>
                <a:cs typeface="Arial MT"/>
              </a:rPr>
              <a:t>y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54" dirty="0">
                <a:solidFill>
                  <a:srgbClr val="EBEBEB"/>
                </a:solidFill>
                <a:latin typeface="Arial MT"/>
                <a:cs typeface="Arial MT"/>
              </a:rPr>
              <a:t>c</a:t>
            </a:r>
            <a:r>
              <a:rPr sz="2800" spc="-235" dirty="0">
                <a:solidFill>
                  <a:srgbClr val="EBEBEB"/>
                </a:solidFill>
                <a:latin typeface="Arial MT"/>
                <a:cs typeface="Arial MT"/>
              </a:rPr>
              <a:t>hips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370" dirty="0">
                <a:solidFill>
                  <a:srgbClr val="EBEBEB"/>
                </a:solidFill>
                <a:latin typeface="Arial MT"/>
                <a:cs typeface="Arial MT"/>
              </a:rPr>
              <a:t>w</a:t>
            </a:r>
            <a:r>
              <a:rPr sz="2800" spc="-240" dirty="0">
                <a:solidFill>
                  <a:srgbClr val="EBEBEB"/>
                </a:solidFill>
                <a:latin typeface="Arial MT"/>
                <a:cs typeface="Arial MT"/>
              </a:rPr>
              <a:t>e  designed</a:t>
            </a:r>
            <a:r>
              <a:rPr sz="2800" spc="-17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ea</a:t>
            </a:r>
            <a:r>
              <a:rPr sz="2800" spc="-175" dirty="0">
                <a:solidFill>
                  <a:srgbClr val="EBEBEB"/>
                </a:solidFill>
                <a:latin typeface="Arial MT"/>
                <a:cs typeface="Arial MT"/>
              </a:rPr>
              <a:t>r</a:t>
            </a:r>
            <a:r>
              <a:rPr sz="2800" spc="-170" dirty="0">
                <a:solidFill>
                  <a:srgbClr val="EBEBEB"/>
                </a:solidFill>
                <a:latin typeface="Arial MT"/>
                <a:cs typeface="Arial MT"/>
              </a:rPr>
              <a:t>lie</a:t>
            </a:r>
            <a:r>
              <a:rPr sz="2800" spc="-175" dirty="0">
                <a:solidFill>
                  <a:srgbClr val="EBEBEB"/>
                </a:solidFill>
                <a:latin typeface="Arial MT"/>
                <a:cs typeface="Arial MT"/>
              </a:rPr>
              <a:t>r</a:t>
            </a:r>
            <a:r>
              <a:rPr sz="2800" spc="-140" dirty="0">
                <a:solidFill>
                  <a:srgbClr val="EBEBEB"/>
                </a:solidFill>
                <a:latin typeface="Arial MT"/>
                <a:cs typeface="Arial MT"/>
              </a:rPr>
              <a:t>.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800">
              <a:latin typeface="Arial MT"/>
              <a:cs typeface="Arial MT"/>
            </a:endParaRPr>
          </a:p>
          <a:p>
            <a:pPr marL="12700" marR="784225">
              <a:lnSpc>
                <a:spcPts val="3020"/>
              </a:lnSpc>
            </a:pPr>
            <a:r>
              <a:rPr sz="2800" spc="-480" dirty="0">
                <a:latin typeface="Arial MT"/>
                <a:cs typeface="Arial MT"/>
              </a:rPr>
              <a:t>W</a:t>
            </a:r>
            <a:r>
              <a:rPr sz="2800" spc="-280" dirty="0">
                <a:latin typeface="Arial MT"/>
                <a:cs typeface="Arial MT"/>
              </a:rPr>
              <a:t>e</a:t>
            </a:r>
            <a:r>
              <a:rPr sz="2800" spc="-155" dirty="0">
                <a:latin typeface="Arial MT"/>
                <a:cs typeface="Arial MT"/>
              </a:rPr>
              <a:t> </a:t>
            </a:r>
            <a:r>
              <a:rPr sz="2800" spc="-370" dirty="0">
                <a:latin typeface="Arial MT"/>
                <a:cs typeface="Arial MT"/>
              </a:rPr>
              <a:t>w</a:t>
            </a:r>
            <a:r>
              <a:rPr sz="2800" spc="-114" dirty="0">
                <a:latin typeface="Arial MT"/>
                <a:cs typeface="Arial MT"/>
              </a:rPr>
              <a:t>ill</a:t>
            </a:r>
            <a:r>
              <a:rPr sz="2800" spc="-130" dirty="0">
                <a:latin typeface="Arial MT"/>
                <a:cs typeface="Arial MT"/>
              </a:rPr>
              <a:t> </a:t>
            </a:r>
            <a:r>
              <a:rPr sz="2800" spc="-280" dirty="0">
                <a:latin typeface="Arial MT"/>
                <a:cs typeface="Arial MT"/>
              </a:rPr>
              <a:t>need</a:t>
            </a:r>
            <a:r>
              <a:rPr sz="2800" spc="-155" dirty="0">
                <a:latin typeface="Arial MT"/>
                <a:cs typeface="Arial MT"/>
              </a:rPr>
              <a:t> </a:t>
            </a:r>
            <a:r>
              <a:rPr sz="2800" spc="-145" dirty="0">
                <a:latin typeface="Arial MT"/>
                <a:cs typeface="Arial MT"/>
              </a:rPr>
              <a:t>t</a:t>
            </a:r>
            <a:r>
              <a:rPr sz="2800" spc="-280" dirty="0">
                <a:latin typeface="Arial MT"/>
                <a:cs typeface="Arial MT"/>
              </a:rPr>
              <a:t>o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275" dirty="0">
                <a:latin typeface="Arial MT"/>
                <a:cs typeface="Arial MT"/>
              </a:rPr>
              <a:t>use</a:t>
            </a:r>
            <a:r>
              <a:rPr sz="2800" spc="-150" dirty="0">
                <a:latin typeface="Arial MT"/>
                <a:cs typeface="Arial MT"/>
              </a:rPr>
              <a:t> </a:t>
            </a:r>
            <a:r>
              <a:rPr sz="2800" spc="-280" dirty="0">
                <a:latin typeface="Arial MT"/>
                <a:cs typeface="Arial MT"/>
              </a:rPr>
              <a:t>2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240" dirty="0">
                <a:latin typeface="Arial MT"/>
                <a:cs typeface="Arial MT"/>
              </a:rPr>
              <a:t>inpu</a:t>
            </a:r>
            <a:r>
              <a:rPr sz="2800" spc="-145" dirty="0">
                <a:latin typeface="Arial MT"/>
                <a:cs typeface="Arial MT"/>
              </a:rPr>
              <a:t>t</a:t>
            </a:r>
            <a:r>
              <a:rPr sz="2800" spc="-254" dirty="0">
                <a:latin typeface="Arial MT"/>
                <a:cs typeface="Arial MT"/>
              </a:rPr>
              <a:t>s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280" dirty="0">
                <a:latin typeface="Arial MT"/>
                <a:cs typeface="Arial MT"/>
              </a:rPr>
              <a:t>and</a:t>
            </a:r>
            <a:r>
              <a:rPr sz="2800" spc="-150" dirty="0">
                <a:latin typeface="Arial MT"/>
                <a:cs typeface="Arial MT"/>
              </a:rPr>
              <a:t> </a:t>
            </a:r>
            <a:r>
              <a:rPr sz="2800" spc="-280" dirty="0">
                <a:latin typeface="Arial MT"/>
                <a:cs typeface="Arial MT"/>
              </a:rPr>
              <a:t>a</a:t>
            </a:r>
            <a:r>
              <a:rPr sz="2800" spc="-150" dirty="0">
                <a:latin typeface="Arial MT"/>
                <a:cs typeface="Arial MT"/>
              </a:rPr>
              <a:t> </a:t>
            </a:r>
            <a:r>
              <a:rPr sz="2800" spc="-260" dirty="0">
                <a:latin typeface="Arial MT"/>
                <a:cs typeface="Arial MT"/>
              </a:rPr>
              <a:t>decoder</a:t>
            </a:r>
            <a:r>
              <a:rPr sz="2800" spc="-160" dirty="0">
                <a:latin typeface="Arial MT"/>
                <a:cs typeface="Arial MT"/>
              </a:rPr>
              <a:t> </a:t>
            </a:r>
            <a:r>
              <a:rPr sz="2800" spc="-145" dirty="0">
                <a:latin typeface="Arial MT"/>
                <a:cs typeface="Arial MT"/>
              </a:rPr>
              <a:t>t</a:t>
            </a:r>
            <a:r>
              <a:rPr sz="2800" spc="-190" dirty="0">
                <a:latin typeface="Arial MT"/>
                <a:cs typeface="Arial MT"/>
              </a:rPr>
              <a:t>o  </a:t>
            </a:r>
            <a:r>
              <a:rPr sz="2800" spc="-204" dirty="0">
                <a:latin typeface="Arial MT"/>
                <a:cs typeface="Arial MT"/>
              </a:rPr>
              <a:t>identify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260" dirty="0">
                <a:latin typeface="Arial MT"/>
                <a:cs typeface="Arial MT"/>
              </a:rPr>
              <a:t>which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235" dirty="0">
                <a:latin typeface="Arial MT"/>
                <a:cs typeface="Arial MT"/>
              </a:rPr>
              <a:t>chip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180" dirty="0">
                <a:latin typeface="Arial MT"/>
                <a:cs typeface="Arial MT"/>
              </a:rPr>
              <a:t>will</a:t>
            </a:r>
            <a:r>
              <a:rPr sz="2800" spc="-135" dirty="0">
                <a:latin typeface="Arial MT"/>
                <a:cs typeface="Arial MT"/>
              </a:rPr>
              <a:t> </a:t>
            </a:r>
            <a:r>
              <a:rPr sz="2800" spc="-280" dirty="0">
                <a:latin typeface="Arial MT"/>
                <a:cs typeface="Arial MT"/>
              </a:rPr>
              <a:t>be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275" dirty="0">
                <a:latin typeface="Arial MT"/>
                <a:cs typeface="Arial MT"/>
              </a:rPr>
              <a:t>used</a:t>
            </a:r>
            <a:r>
              <a:rPr sz="2800" spc="-150" dirty="0">
                <a:latin typeface="Arial MT"/>
                <a:cs typeface="Arial MT"/>
              </a:rPr>
              <a:t> </a:t>
            </a:r>
            <a:r>
              <a:rPr sz="2800" spc="-210" dirty="0">
                <a:latin typeface="Arial MT"/>
                <a:cs typeface="Arial MT"/>
              </a:rPr>
              <a:t>at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270" dirty="0">
                <a:latin typeface="Arial MT"/>
                <a:cs typeface="Arial MT"/>
              </a:rPr>
              <a:t>what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220" dirty="0">
                <a:latin typeface="Arial MT"/>
                <a:cs typeface="Arial MT"/>
              </a:rPr>
              <a:t>time.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800">
              <a:latin typeface="Arial MT"/>
              <a:cs typeface="Arial MT"/>
            </a:endParaRPr>
          </a:p>
          <a:p>
            <a:pPr marL="12700" marR="5080">
              <a:lnSpc>
                <a:spcPts val="3020"/>
              </a:lnSpc>
            </a:pPr>
            <a:r>
              <a:rPr sz="2800" spc="-290" dirty="0">
                <a:latin typeface="Arial MT"/>
                <a:cs typeface="Arial MT"/>
              </a:rPr>
              <a:t>The</a:t>
            </a:r>
            <a:r>
              <a:rPr sz="2800" spc="-155" dirty="0">
                <a:latin typeface="Arial MT"/>
                <a:cs typeface="Arial MT"/>
              </a:rPr>
              <a:t> </a:t>
            </a:r>
            <a:r>
              <a:rPr sz="2800" spc="-175" dirty="0">
                <a:latin typeface="Arial MT"/>
                <a:cs typeface="Arial MT"/>
              </a:rPr>
              <a:t>r</a:t>
            </a:r>
            <a:r>
              <a:rPr sz="2800" spc="-235" dirty="0">
                <a:latin typeface="Arial MT"/>
                <a:cs typeface="Arial MT"/>
              </a:rPr>
              <a:t>esul</a:t>
            </a:r>
            <a:r>
              <a:rPr sz="2800" spc="-145" dirty="0">
                <a:latin typeface="Arial MT"/>
                <a:cs typeface="Arial MT"/>
              </a:rPr>
              <a:t>t</a:t>
            </a:r>
            <a:r>
              <a:rPr sz="2800" spc="-225" dirty="0">
                <a:latin typeface="Arial MT"/>
                <a:cs typeface="Arial MT"/>
              </a:rPr>
              <a:t>ing</a:t>
            </a:r>
            <a:r>
              <a:rPr sz="2800" spc="-150" dirty="0">
                <a:latin typeface="Arial MT"/>
                <a:cs typeface="Arial MT"/>
              </a:rPr>
              <a:t> </a:t>
            </a:r>
            <a:r>
              <a:rPr sz="2800" spc="-275" dirty="0">
                <a:latin typeface="Arial MT"/>
                <a:cs typeface="Arial MT"/>
              </a:rPr>
              <a:t>des</a:t>
            </a:r>
            <a:r>
              <a:rPr sz="2800" spc="-225" dirty="0">
                <a:latin typeface="Arial MT"/>
                <a:cs typeface="Arial MT"/>
              </a:rPr>
              <a:t>ign</a:t>
            </a:r>
            <a:r>
              <a:rPr sz="2800" spc="-155" dirty="0">
                <a:latin typeface="Arial MT"/>
                <a:cs typeface="Arial MT"/>
              </a:rPr>
              <a:t> </a:t>
            </a:r>
            <a:r>
              <a:rPr sz="2800" spc="-370" dirty="0">
                <a:latin typeface="Arial MT"/>
                <a:cs typeface="Arial MT"/>
              </a:rPr>
              <a:t>w</a:t>
            </a:r>
            <a:r>
              <a:rPr sz="2800" spc="-240" dirty="0">
                <a:latin typeface="Arial MT"/>
                <a:cs typeface="Arial MT"/>
              </a:rPr>
              <a:t>ould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310" dirty="0">
                <a:latin typeface="Arial MT"/>
                <a:cs typeface="Arial MT"/>
              </a:rPr>
              <a:t>now</a:t>
            </a:r>
            <a:r>
              <a:rPr sz="2800" spc="-140" dirty="0">
                <a:latin typeface="Arial MT"/>
                <a:cs typeface="Arial MT"/>
              </a:rPr>
              <a:t> </a:t>
            </a:r>
            <a:r>
              <a:rPr sz="2800" spc="-235" dirty="0">
                <a:latin typeface="Arial MT"/>
                <a:cs typeface="Arial MT"/>
              </a:rPr>
              <a:t>look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160" dirty="0">
                <a:latin typeface="Arial MT"/>
                <a:cs typeface="Arial MT"/>
              </a:rPr>
              <a:t>lik</a:t>
            </a:r>
            <a:r>
              <a:rPr sz="2800" spc="-280" dirty="0">
                <a:latin typeface="Arial MT"/>
                <a:cs typeface="Arial MT"/>
              </a:rPr>
              <a:t>e</a:t>
            </a:r>
            <a:r>
              <a:rPr sz="2800" spc="-145" dirty="0">
                <a:latin typeface="Arial MT"/>
                <a:cs typeface="Arial MT"/>
              </a:rPr>
              <a:t> t</a:t>
            </a:r>
            <a:r>
              <a:rPr sz="2800" spc="-280" dirty="0">
                <a:latin typeface="Arial MT"/>
                <a:cs typeface="Arial MT"/>
              </a:rPr>
              <a:t>he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280" dirty="0">
                <a:latin typeface="Arial MT"/>
                <a:cs typeface="Arial MT"/>
              </a:rPr>
              <a:t>one</a:t>
            </a:r>
            <a:r>
              <a:rPr sz="2800" spc="-155" dirty="0">
                <a:latin typeface="Arial MT"/>
                <a:cs typeface="Arial MT"/>
              </a:rPr>
              <a:t> </a:t>
            </a:r>
            <a:r>
              <a:rPr sz="2800" spc="-210" dirty="0">
                <a:latin typeface="Arial MT"/>
                <a:cs typeface="Arial MT"/>
              </a:rPr>
              <a:t>on  </a:t>
            </a:r>
            <a:r>
              <a:rPr sz="2800" spc="-145" dirty="0">
                <a:latin typeface="Arial MT"/>
                <a:cs typeface="Arial MT"/>
              </a:rPr>
              <a:t>t</a:t>
            </a:r>
            <a:r>
              <a:rPr sz="2800" spc="-280" dirty="0">
                <a:latin typeface="Arial MT"/>
                <a:cs typeface="Arial MT"/>
              </a:rPr>
              <a:t>he</a:t>
            </a:r>
            <a:r>
              <a:rPr sz="2800" spc="-150" dirty="0">
                <a:latin typeface="Arial MT"/>
                <a:cs typeface="Arial MT"/>
              </a:rPr>
              <a:t> </a:t>
            </a:r>
            <a:r>
              <a:rPr sz="2800" spc="-145" dirty="0">
                <a:latin typeface="Arial MT"/>
                <a:cs typeface="Arial MT"/>
              </a:rPr>
              <a:t>f</a:t>
            </a:r>
            <a:r>
              <a:rPr sz="2800" spc="-200" dirty="0">
                <a:latin typeface="Arial MT"/>
                <a:cs typeface="Arial MT"/>
              </a:rPr>
              <a:t>ollo</a:t>
            </a:r>
            <a:r>
              <a:rPr sz="2800" spc="-370" dirty="0">
                <a:latin typeface="Arial MT"/>
                <a:cs typeface="Arial MT"/>
              </a:rPr>
              <a:t>w</a:t>
            </a:r>
            <a:r>
              <a:rPr sz="2800" spc="-225" dirty="0">
                <a:latin typeface="Arial MT"/>
                <a:cs typeface="Arial MT"/>
              </a:rPr>
              <a:t>ing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254" dirty="0">
                <a:latin typeface="Arial MT"/>
                <a:cs typeface="Arial MT"/>
              </a:rPr>
              <a:t>s</a:t>
            </a:r>
            <a:r>
              <a:rPr sz="2800" spc="-185" dirty="0">
                <a:latin typeface="Arial MT"/>
                <a:cs typeface="Arial MT"/>
              </a:rPr>
              <a:t>lide.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r>
              <a:rPr spc="-5" dirty="0"/>
              <a:t>20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6350" y="0"/>
            <a:ext cx="9156700" cy="6870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515938" cy="68579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89940" y="659828"/>
            <a:ext cx="489394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0" dirty="0">
                <a:solidFill>
                  <a:srgbClr val="FFFFCC"/>
                </a:solidFill>
                <a:latin typeface="Arial MT"/>
                <a:cs typeface="Arial MT"/>
              </a:rPr>
              <a:t>Chi</a:t>
            </a:r>
            <a:r>
              <a:rPr spc="-445" dirty="0">
                <a:solidFill>
                  <a:srgbClr val="FFFFCC"/>
                </a:solidFill>
                <a:latin typeface="Arial MT"/>
                <a:cs typeface="Arial MT"/>
              </a:rPr>
              <a:t>p</a:t>
            </a:r>
            <a:r>
              <a:rPr spc="-220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400" dirty="0">
                <a:solidFill>
                  <a:srgbClr val="FFFFCC"/>
                </a:solidFill>
                <a:latin typeface="Arial MT"/>
                <a:cs typeface="Arial MT"/>
              </a:rPr>
              <a:t>Selec</a:t>
            </a:r>
            <a:r>
              <a:rPr spc="-320" dirty="0">
                <a:solidFill>
                  <a:srgbClr val="FFFFCC"/>
                </a:solidFill>
                <a:latin typeface="Arial MT"/>
                <a:cs typeface="Arial MT"/>
              </a:rPr>
              <a:t>tion</a:t>
            </a:r>
            <a:r>
              <a:rPr spc="-200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465" dirty="0">
                <a:solidFill>
                  <a:srgbClr val="FFFFCC"/>
                </a:solidFill>
                <a:latin typeface="Arial MT"/>
                <a:cs typeface="Arial MT"/>
              </a:rPr>
              <a:t>Ex</a:t>
            </a:r>
            <a:r>
              <a:rPr spc="-434" dirty="0">
                <a:solidFill>
                  <a:srgbClr val="FFFFCC"/>
                </a:solidFill>
                <a:latin typeface="Arial MT"/>
                <a:cs typeface="Arial MT"/>
              </a:rPr>
              <a:t>ample</a:t>
            </a:r>
          </a:p>
        </p:txBody>
      </p:sp>
      <p:sp>
        <p:nvSpPr>
          <p:cNvPr id="5" name="object 5"/>
          <p:cNvSpPr/>
          <p:nvPr/>
        </p:nvSpPr>
        <p:spPr>
          <a:xfrm>
            <a:off x="3224212" y="2774950"/>
            <a:ext cx="577850" cy="827405"/>
          </a:xfrm>
          <a:custGeom>
            <a:avLst/>
            <a:gdLst/>
            <a:ahLst/>
            <a:cxnLst/>
            <a:rect l="l" t="t" r="r" b="b"/>
            <a:pathLst>
              <a:path w="577850" h="827404">
                <a:moveTo>
                  <a:pt x="577850" y="0"/>
                </a:moveTo>
                <a:lnTo>
                  <a:pt x="0" y="0"/>
                </a:lnTo>
                <a:lnTo>
                  <a:pt x="0" y="827087"/>
                </a:lnTo>
                <a:lnTo>
                  <a:pt x="577850" y="827087"/>
                </a:lnTo>
                <a:lnTo>
                  <a:pt x="577850" y="0"/>
                </a:lnTo>
                <a:close/>
              </a:path>
            </a:pathLst>
          </a:custGeom>
          <a:solidFill>
            <a:srgbClr val="99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224212" y="2775743"/>
            <a:ext cx="577850" cy="827405"/>
          </a:xfrm>
          <a:prstGeom prst="rect">
            <a:avLst/>
          </a:prstGeom>
          <a:ln w="12700">
            <a:solidFill>
              <a:srgbClr val="EBEBEB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16510" algn="ctr">
              <a:lnSpc>
                <a:spcPct val="100000"/>
              </a:lnSpc>
              <a:spcBef>
                <a:spcPts val="270"/>
              </a:spcBef>
            </a:pPr>
            <a:r>
              <a:rPr sz="800" spc="-5" dirty="0">
                <a:solidFill>
                  <a:srgbClr val="EBEBEB"/>
                </a:solidFill>
                <a:latin typeface="Arial MT"/>
                <a:cs typeface="Arial MT"/>
              </a:rPr>
              <a:t>RD</a:t>
            </a:r>
            <a:r>
              <a:rPr sz="800" spc="32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800" spc="-5" dirty="0">
                <a:solidFill>
                  <a:srgbClr val="EBEBEB"/>
                </a:solidFill>
                <a:latin typeface="Arial MT"/>
                <a:cs typeface="Arial MT"/>
              </a:rPr>
              <a:t>WR</a:t>
            </a:r>
            <a:endParaRPr sz="800">
              <a:latin typeface="Arial MT"/>
              <a:cs typeface="Arial MT"/>
            </a:endParaRPr>
          </a:p>
          <a:p>
            <a:pPr marL="57785" marR="387985" indent="-12700">
              <a:lnSpc>
                <a:spcPct val="147100"/>
              </a:lnSpc>
              <a:spcBef>
                <a:spcPts val="750"/>
              </a:spcBef>
            </a:pPr>
            <a:r>
              <a:rPr sz="800" spc="-5" dirty="0">
                <a:solidFill>
                  <a:srgbClr val="EBEBEB"/>
                </a:solidFill>
                <a:latin typeface="Arial MT"/>
                <a:cs typeface="Arial MT"/>
              </a:rPr>
              <a:t>A0  A1</a:t>
            </a:r>
            <a:endParaRPr sz="800">
              <a:latin typeface="Arial MT"/>
              <a:cs typeface="Arial MT"/>
            </a:endParaRPr>
          </a:p>
          <a:p>
            <a:pPr marR="17780" algn="ctr">
              <a:lnSpc>
                <a:spcPct val="100000"/>
              </a:lnSpc>
              <a:spcBef>
                <a:spcPts val="565"/>
              </a:spcBef>
            </a:pPr>
            <a:r>
              <a:rPr sz="800" spc="-5" dirty="0">
                <a:solidFill>
                  <a:srgbClr val="EBEBEB"/>
                </a:solidFill>
                <a:latin typeface="Arial MT"/>
                <a:cs typeface="Arial MT"/>
              </a:rPr>
              <a:t>CS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319462" y="2690818"/>
            <a:ext cx="1675130" cy="989330"/>
            <a:chOff x="3319462" y="2690818"/>
            <a:chExt cx="1675130" cy="989330"/>
          </a:xfrm>
        </p:grpSpPr>
        <p:sp>
          <p:nvSpPr>
            <p:cNvPr id="8" name="object 8"/>
            <p:cNvSpPr/>
            <p:nvPr/>
          </p:nvSpPr>
          <p:spPr>
            <a:xfrm>
              <a:off x="3432175" y="3446462"/>
              <a:ext cx="138430" cy="0"/>
            </a:xfrm>
            <a:custGeom>
              <a:avLst/>
              <a:gdLst/>
              <a:ahLst/>
              <a:cxnLst/>
              <a:rect l="l" t="t" r="r" b="b"/>
              <a:pathLst>
                <a:path w="138429">
                  <a:moveTo>
                    <a:pt x="0" y="0"/>
                  </a:moveTo>
                  <a:lnTo>
                    <a:pt x="138112" y="0"/>
                  </a:lnTo>
                </a:path>
              </a:pathLst>
            </a:custGeom>
            <a:ln w="1270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325812" y="2805113"/>
              <a:ext cx="138430" cy="0"/>
            </a:xfrm>
            <a:custGeom>
              <a:avLst/>
              <a:gdLst/>
              <a:ahLst/>
              <a:cxnLst/>
              <a:rect l="l" t="t" r="r" b="b"/>
              <a:pathLst>
                <a:path w="138429">
                  <a:moveTo>
                    <a:pt x="0" y="0"/>
                  </a:moveTo>
                  <a:lnTo>
                    <a:pt x="138112" y="0"/>
                  </a:lnTo>
                </a:path>
              </a:pathLst>
            </a:custGeom>
            <a:ln w="1270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549650" y="2806700"/>
              <a:ext cx="138430" cy="0"/>
            </a:xfrm>
            <a:custGeom>
              <a:avLst/>
              <a:gdLst/>
              <a:ahLst/>
              <a:cxnLst/>
              <a:rect l="l" t="t" r="r" b="b"/>
              <a:pathLst>
                <a:path w="138429">
                  <a:moveTo>
                    <a:pt x="0" y="0"/>
                  </a:moveTo>
                  <a:lnTo>
                    <a:pt x="138112" y="0"/>
                  </a:lnTo>
                </a:path>
              </a:pathLst>
            </a:custGeom>
            <a:ln w="1270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63925" y="3592506"/>
              <a:ext cx="87312" cy="8731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590925" y="2703518"/>
              <a:ext cx="74930" cy="74930"/>
            </a:xfrm>
            <a:custGeom>
              <a:avLst/>
              <a:gdLst/>
              <a:ahLst/>
              <a:cxnLst/>
              <a:rect l="l" t="t" r="r" b="b"/>
              <a:pathLst>
                <a:path w="74929" h="74930">
                  <a:moveTo>
                    <a:pt x="0" y="37299"/>
                  </a:moveTo>
                  <a:lnTo>
                    <a:pt x="2931" y="22781"/>
                  </a:lnTo>
                  <a:lnTo>
                    <a:pt x="10926" y="10925"/>
                  </a:lnTo>
                  <a:lnTo>
                    <a:pt x="22786" y="2931"/>
                  </a:lnTo>
                  <a:lnTo>
                    <a:pt x="37312" y="0"/>
                  </a:lnTo>
                  <a:lnTo>
                    <a:pt x="51831" y="2931"/>
                  </a:lnTo>
                  <a:lnTo>
                    <a:pt x="63687" y="10925"/>
                  </a:lnTo>
                  <a:lnTo>
                    <a:pt x="71681" y="22781"/>
                  </a:lnTo>
                  <a:lnTo>
                    <a:pt x="74612" y="37299"/>
                  </a:lnTo>
                  <a:lnTo>
                    <a:pt x="71681" y="51820"/>
                  </a:lnTo>
                  <a:lnTo>
                    <a:pt x="63687" y="63680"/>
                  </a:lnTo>
                  <a:lnTo>
                    <a:pt x="51831" y="71679"/>
                  </a:lnTo>
                  <a:lnTo>
                    <a:pt x="37312" y="74612"/>
                  </a:lnTo>
                  <a:lnTo>
                    <a:pt x="22786" y="71679"/>
                  </a:lnTo>
                  <a:lnTo>
                    <a:pt x="10926" y="63680"/>
                  </a:lnTo>
                  <a:lnTo>
                    <a:pt x="2931" y="51820"/>
                  </a:lnTo>
                  <a:lnTo>
                    <a:pt x="0" y="37299"/>
                  </a:lnTo>
                  <a:close/>
                </a:path>
              </a:pathLst>
            </a:custGeom>
            <a:ln w="1270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48037" y="2690818"/>
              <a:ext cx="87312" cy="8731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416425" y="2776537"/>
              <a:ext cx="577850" cy="827405"/>
            </a:xfrm>
            <a:custGeom>
              <a:avLst/>
              <a:gdLst/>
              <a:ahLst/>
              <a:cxnLst/>
              <a:rect l="l" t="t" r="r" b="b"/>
              <a:pathLst>
                <a:path w="577850" h="827404">
                  <a:moveTo>
                    <a:pt x="577850" y="0"/>
                  </a:moveTo>
                  <a:lnTo>
                    <a:pt x="0" y="0"/>
                  </a:lnTo>
                  <a:lnTo>
                    <a:pt x="0" y="827087"/>
                  </a:lnTo>
                  <a:lnTo>
                    <a:pt x="577850" y="827087"/>
                  </a:lnTo>
                  <a:lnTo>
                    <a:pt x="577850" y="0"/>
                  </a:lnTo>
                  <a:close/>
                </a:path>
              </a:pathLst>
            </a:custGeom>
            <a:solidFill>
              <a:srgbClr val="99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416425" y="2776934"/>
            <a:ext cx="577850" cy="827405"/>
          </a:xfrm>
          <a:prstGeom prst="rect">
            <a:avLst/>
          </a:prstGeom>
          <a:ln w="12700">
            <a:solidFill>
              <a:srgbClr val="EBEBEB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16510" algn="ctr">
              <a:lnSpc>
                <a:spcPct val="100000"/>
              </a:lnSpc>
              <a:spcBef>
                <a:spcPts val="275"/>
              </a:spcBef>
            </a:pPr>
            <a:r>
              <a:rPr sz="800" spc="-5" dirty="0">
                <a:solidFill>
                  <a:srgbClr val="EBEBEB"/>
                </a:solidFill>
                <a:latin typeface="Arial MT"/>
                <a:cs typeface="Arial MT"/>
              </a:rPr>
              <a:t>RD</a:t>
            </a:r>
            <a:r>
              <a:rPr sz="800" spc="32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800" spc="-5" dirty="0">
                <a:solidFill>
                  <a:srgbClr val="EBEBEB"/>
                </a:solidFill>
                <a:latin typeface="Arial MT"/>
                <a:cs typeface="Arial MT"/>
              </a:rPr>
              <a:t>WR</a:t>
            </a:r>
            <a:endParaRPr sz="800">
              <a:latin typeface="Arial MT"/>
              <a:cs typeface="Arial MT"/>
            </a:endParaRPr>
          </a:p>
          <a:p>
            <a:pPr marL="57785" marR="387985" indent="-12700">
              <a:lnSpc>
                <a:spcPct val="147100"/>
              </a:lnSpc>
              <a:spcBef>
                <a:spcPts val="750"/>
              </a:spcBef>
            </a:pPr>
            <a:r>
              <a:rPr sz="800" spc="-5" dirty="0">
                <a:solidFill>
                  <a:srgbClr val="EBEBEB"/>
                </a:solidFill>
                <a:latin typeface="Arial MT"/>
                <a:cs typeface="Arial MT"/>
              </a:rPr>
              <a:t>A0  A1</a:t>
            </a:r>
            <a:endParaRPr sz="800">
              <a:latin typeface="Arial MT"/>
              <a:cs typeface="Arial MT"/>
            </a:endParaRPr>
          </a:p>
          <a:p>
            <a:pPr marR="17780" algn="ctr">
              <a:lnSpc>
                <a:spcPct val="100000"/>
              </a:lnSpc>
              <a:spcBef>
                <a:spcPts val="565"/>
              </a:spcBef>
            </a:pPr>
            <a:r>
              <a:rPr sz="800" spc="-5" dirty="0">
                <a:solidFill>
                  <a:srgbClr val="EBEBEB"/>
                </a:solidFill>
                <a:latin typeface="Arial MT"/>
                <a:cs typeface="Arial MT"/>
              </a:rPr>
              <a:t>CS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511675" y="2692394"/>
            <a:ext cx="1675130" cy="989330"/>
            <a:chOff x="4511675" y="2692394"/>
            <a:chExt cx="1675130" cy="989330"/>
          </a:xfrm>
        </p:grpSpPr>
        <p:sp>
          <p:nvSpPr>
            <p:cNvPr id="17" name="object 17"/>
            <p:cNvSpPr/>
            <p:nvPr/>
          </p:nvSpPr>
          <p:spPr>
            <a:xfrm>
              <a:off x="4624387" y="3448050"/>
              <a:ext cx="138430" cy="0"/>
            </a:xfrm>
            <a:custGeom>
              <a:avLst/>
              <a:gdLst/>
              <a:ahLst/>
              <a:cxnLst/>
              <a:rect l="l" t="t" r="r" b="b"/>
              <a:pathLst>
                <a:path w="138429">
                  <a:moveTo>
                    <a:pt x="0" y="0"/>
                  </a:moveTo>
                  <a:lnTo>
                    <a:pt x="138112" y="0"/>
                  </a:lnTo>
                </a:path>
              </a:pathLst>
            </a:custGeom>
            <a:ln w="1270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518025" y="2806700"/>
              <a:ext cx="138430" cy="0"/>
            </a:xfrm>
            <a:custGeom>
              <a:avLst/>
              <a:gdLst/>
              <a:ahLst/>
              <a:cxnLst/>
              <a:rect l="l" t="t" r="r" b="b"/>
              <a:pathLst>
                <a:path w="138429">
                  <a:moveTo>
                    <a:pt x="0" y="0"/>
                  </a:moveTo>
                  <a:lnTo>
                    <a:pt x="138112" y="0"/>
                  </a:lnTo>
                </a:path>
              </a:pathLst>
            </a:custGeom>
            <a:ln w="1270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741862" y="2808288"/>
              <a:ext cx="138430" cy="0"/>
            </a:xfrm>
            <a:custGeom>
              <a:avLst/>
              <a:gdLst/>
              <a:ahLst/>
              <a:cxnLst/>
              <a:rect l="l" t="t" r="r" b="b"/>
              <a:pathLst>
                <a:path w="138429">
                  <a:moveTo>
                    <a:pt x="0" y="0"/>
                  </a:moveTo>
                  <a:lnTo>
                    <a:pt x="138112" y="0"/>
                  </a:lnTo>
                </a:path>
              </a:pathLst>
            </a:custGeom>
            <a:ln w="1270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56137" y="3594094"/>
              <a:ext cx="87312" cy="8732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783137" y="2705094"/>
              <a:ext cx="74930" cy="74930"/>
            </a:xfrm>
            <a:custGeom>
              <a:avLst/>
              <a:gdLst/>
              <a:ahLst/>
              <a:cxnLst/>
              <a:rect l="l" t="t" r="r" b="b"/>
              <a:pathLst>
                <a:path w="74929" h="74930">
                  <a:moveTo>
                    <a:pt x="0" y="37312"/>
                  </a:moveTo>
                  <a:lnTo>
                    <a:pt x="2931" y="22792"/>
                  </a:lnTo>
                  <a:lnTo>
                    <a:pt x="10926" y="10931"/>
                  </a:lnTo>
                  <a:lnTo>
                    <a:pt x="22786" y="2933"/>
                  </a:lnTo>
                  <a:lnTo>
                    <a:pt x="37312" y="0"/>
                  </a:lnTo>
                  <a:lnTo>
                    <a:pt x="51831" y="2933"/>
                  </a:lnTo>
                  <a:lnTo>
                    <a:pt x="63687" y="10931"/>
                  </a:lnTo>
                  <a:lnTo>
                    <a:pt x="71681" y="22792"/>
                  </a:lnTo>
                  <a:lnTo>
                    <a:pt x="74612" y="37312"/>
                  </a:lnTo>
                  <a:lnTo>
                    <a:pt x="71681" y="51833"/>
                  </a:lnTo>
                  <a:lnTo>
                    <a:pt x="63687" y="63693"/>
                  </a:lnTo>
                  <a:lnTo>
                    <a:pt x="51831" y="71691"/>
                  </a:lnTo>
                  <a:lnTo>
                    <a:pt x="37312" y="74625"/>
                  </a:lnTo>
                  <a:lnTo>
                    <a:pt x="22786" y="71691"/>
                  </a:lnTo>
                  <a:lnTo>
                    <a:pt x="10926" y="63693"/>
                  </a:lnTo>
                  <a:lnTo>
                    <a:pt x="2931" y="51833"/>
                  </a:lnTo>
                  <a:lnTo>
                    <a:pt x="0" y="37312"/>
                  </a:lnTo>
                  <a:close/>
                </a:path>
              </a:pathLst>
            </a:custGeom>
            <a:ln w="12699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40250" y="2692394"/>
              <a:ext cx="87312" cy="8732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5608637" y="2778125"/>
              <a:ext cx="577850" cy="827405"/>
            </a:xfrm>
            <a:custGeom>
              <a:avLst/>
              <a:gdLst/>
              <a:ahLst/>
              <a:cxnLst/>
              <a:rect l="l" t="t" r="r" b="b"/>
              <a:pathLst>
                <a:path w="577850" h="827404">
                  <a:moveTo>
                    <a:pt x="577850" y="0"/>
                  </a:moveTo>
                  <a:lnTo>
                    <a:pt x="0" y="0"/>
                  </a:lnTo>
                  <a:lnTo>
                    <a:pt x="0" y="827087"/>
                  </a:lnTo>
                  <a:lnTo>
                    <a:pt x="577850" y="827087"/>
                  </a:lnTo>
                  <a:lnTo>
                    <a:pt x="577850" y="0"/>
                  </a:lnTo>
                  <a:close/>
                </a:path>
              </a:pathLst>
            </a:custGeom>
            <a:solidFill>
              <a:srgbClr val="99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608637" y="2778323"/>
            <a:ext cx="577850" cy="827405"/>
          </a:xfrm>
          <a:prstGeom prst="rect">
            <a:avLst/>
          </a:prstGeom>
          <a:ln w="12700">
            <a:solidFill>
              <a:srgbClr val="EBEBEB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16510" algn="ctr">
              <a:lnSpc>
                <a:spcPct val="100000"/>
              </a:lnSpc>
              <a:spcBef>
                <a:spcPts val="275"/>
              </a:spcBef>
            </a:pPr>
            <a:r>
              <a:rPr sz="800" spc="-5" dirty="0">
                <a:solidFill>
                  <a:srgbClr val="EBEBEB"/>
                </a:solidFill>
                <a:latin typeface="Arial MT"/>
                <a:cs typeface="Arial MT"/>
              </a:rPr>
              <a:t>RD</a:t>
            </a:r>
            <a:r>
              <a:rPr sz="800" spc="32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800" spc="-5" dirty="0">
                <a:solidFill>
                  <a:srgbClr val="EBEBEB"/>
                </a:solidFill>
                <a:latin typeface="Arial MT"/>
                <a:cs typeface="Arial MT"/>
              </a:rPr>
              <a:t>WR</a:t>
            </a:r>
            <a:endParaRPr sz="800">
              <a:latin typeface="Arial MT"/>
              <a:cs typeface="Arial MT"/>
            </a:endParaRPr>
          </a:p>
          <a:p>
            <a:pPr marL="57785" marR="387985" indent="-12700">
              <a:lnSpc>
                <a:spcPct val="147100"/>
              </a:lnSpc>
              <a:spcBef>
                <a:spcPts val="750"/>
              </a:spcBef>
            </a:pPr>
            <a:r>
              <a:rPr sz="800" spc="-5" dirty="0">
                <a:solidFill>
                  <a:srgbClr val="EBEBEB"/>
                </a:solidFill>
                <a:latin typeface="Arial MT"/>
                <a:cs typeface="Arial MT"/>
              </a:rPr>
              <a:t>A0  A1</a:t>
            </a:r>
            <a:endParaRPr sz="800">
              <a:latin typeface="Arial MT"/>
              <a:cs typeface="Arial MT"/>
            </a:endParaRPr>
          </a:p>
          <a:p>
            <a:pPr marR="17780" algn="ctr">
              <a:lnSpc>
                <a:spcPct val="100000"/>
              </a:lnSpc>
              <a:spcBef>
                <a:spcPts val="565"/>
              </a:spcBef>
            </a:pPr>
            <a:r>
              <a:rPr sz="800" spc="-5" dirty="0">
                <a:solidFill>
                  <a:srgbClr val="EBEBEB"/>
                </a:solidFill>
                <a:latin typeface="Arial MT"/>
                <a:cs typeface="Arial MT"/>
              </a:rPr>
              <a:t>CS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703888" y="2693993"/>
            <a:ext cx="1675130" cy="989330"/>
            <a:chOff x="5703888" y="2693993"/>
            <a:chExt cx="1675130" cy="989330"/>
          </a:xfrm>
        </p:grpSpPr>
        <p:sp>
          <p:nvSpPr>
            <p:cNvPr id="26" name="object 26"/>
            <p:cNvSpPr/>
            <p:nvPr/>
          </p:nvSpPr>
          <p:spPr>
            <a:xfrm>
              <a:off x="5816599" y="3449637"/>
              <a:ext cx="138430" cy="0"/>
            </a:xfrm>
            <a:custGeom>
              <a:avLst/>
              <a:gdLst/>
              <a:ahLst/>
              <a:cxnLst/>
              <a:rect l="l" t="t" r="r" b="b"/>
              <a:pathLst>
                <a:path w="138429">
                  <a:moveTo>
                    <a:pt x="0" y="0"/>
                  </a:moveTo>
                  <a:lnTo>
                    <a:pt x="138112" y="0"/>
                  </a:lnTo>
                </a:path>
              </a:pathLst>
            </a:custGeom>
            <a:ln w="1270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710238" y="2808288"/>
              <a:ext cx="138430" cy="0"/>
            </a:xfrm>
            <a:custGeom>
              <a:avLst/>
              <a:gdLst/>
              <a:ahLst/>
              <a:cxnLst/>
              <a:rect l="l" t="t" r="r" b="b"/>
              <a:pathLst>
                <a:path w="138429">
                  <a:moveTo>
                    <a:pt x="0" y="0"/>
                  </a:moveTo>
                  <a:lnTo>
                    <a:pt x="138112" y="0"/>
                  </a:lnTo>
                </a:path>
              </a:pathLst>
            </a:custGeom>
            <a:ln w="1270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934074" y="2809875"/>
              <a:ext cx="138430" cy="0"/>
            </a:xfrm>
            <a:custGeom>
              <a:avLst/>
              <a:gdLst/>
              <a:ahLst/>
              <a:cxnLst/>
              <a:rect l="l" t="t" r="r" b="b"/>
              <a:pathLst>
                <a:path w="138429">
                  <a:moveTo>
                    <a:pt x="0" y="0"/>
                  </a:moveTo>
                  <a:lnTo>
                    <a:pt x="138112" y="0"/>
                  </a:lnTo>
                </a:path>
              </a:pathLst>
            </a:custGeom>
            <a:ln w="1270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48349" y="3595681"/>
              <a:ext cx="87312" cy="87312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5975349" y="2706693"/>
              <a:ext cx="74930" cy="74930"/>
            </a:xfrm>
            <a:custGeom>
              <a:avLst/>
              <a:gdLst/>
              <a:ahLst/>
              <a:cxnLst/>
              <a:rect l="l" t="t" r="r" b="b"/>
              <a:pathLst>
                <a:path w="74929" h="74930">
                  <a:moveTo>
                    <a:pt x="0" y="37299"/>
                  </a:moveTo>
                  <a:lnTo>
                    <a:pt x="2931" y="22781"/>
                  </a:lnTo>
                  <a:lnTo>
                    <a:pt x="10926" y="10925"/>
                  </a:lnTo>
                  <a:lnTo>
                    <a:pt x="22786" y="2931"/>
                  </a:lnTo>
                  <a:lnTo>
                    <a:pt x="37312" y="0"/>
                  </a:lnTo>
                  <a:lnTo>
                    <a:pt x="51831" y="2931"/>
                  </a:lnTo>
                  <a:lnTo>
                    <a:pt x="63687" y="10925"/>
                  </a:lnTo>
                  <a:lnTo>
                    <a:pt x="71681" y="22781"/>
                  </a:lnTo>
                  <a:lnTo>
                    <a:pt x="74612" y="37299"/>
                  </a:lnTo>
                  <a:lnTo>
                    <a:pt x="71681" y="51820"/>
                  </a:lnTo>
                  <a:lnTo>
                    <a:pt x="63687" y="63680"/>
                  </a:lnTo>
                  <a:lnTo>
                    <a:pt x="51831" y="71679"/>
                  </a:lnTo>
                  <a:lnTo>
                    <a:pt x="37312" y="74612"/>
                  </a:lnTo>
                  <a:lnTo>
                    <a:pt x="22786" y="71679"/>
                  </a:lnTo>
                  <a:lnTo>
                    <a:pt x="10926" y="63680"/>
                  </a:lnTo>
                  <a:lnTo>
                    <a:pt x="2931" y="51820"/>
                  </a:lnTo>
                  <a:lnTo>
                    <a:pt x="0" y="37299"/>
                  </a:lnTo>
                  <a:close/>
                </a:path>
              </a:pathLst>
            </a:custGeom>
            <a:ln w="1270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32463" y="2693993"/>
              <a:ext cx="87312" cy="87312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6800849" y="2779712"/>
              <a:ext cx="577850" cy="827405"/>
            </a:xfrm>
            <a:custGeom>
              <a:avLst/>
              <a:gdLst/>
              <a:ahLst/>
              <a:cxnLst/>
              <a:rect l="l" t="t" r="r" b="b"/>
              <a:pathLst>
                <a:path w="577850" h="827404">
                  <a:moveTo>
                    <a:pt x="577850" y="0"/>
                  </a:moveTo>
                  <a:lnTo>
                    <a:pt x="0" y="0"/>
                  </a:lnTo>
                  <a:lnTo>
                    <a:pt x="0" y="827087"/>
                  </a:lnTo>
                  <a:lnTo>
                    <a:pt x="577850" y="827087"/>
                  </a:lnTo>
                  <a:lnTo>
                    <a:pt x="577850" y="0"/>
                  </a:lnTo>
                  <a:close/>
                </a:path>
              </a:pathLst>
            </a:custGeom>
            <a:solidFill>
              <a:srgbClr val="99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6800850" y="2778323"/>
            <a:ext cx="577850" cy="827405"/>
          </a:xfrm>
          <a:prstGeom prst="rect">
            <a:avLst/>
          </a:prstGeom>
          <a:ln w="12700">
            <a:solidFill>
              <a:srgbClr val="EBEBEB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16510" algn="ctr">
              <a:lnSpc>
                <a:spcPct val="100000"/>
              </a:lnSpc>
              <a:spcBef>
                <a:spcPts val="285"/>
              </a:spcBef>
            </a:pPr>
            <a:r>
              <a:rPr sz="800" spc="-5" dirty="0">
                <a:solidFill>
                  <a:srgbClr val="EBEBEB"/>
                </a:solidFill>
                <a:latin typeface="Arial MT"/>
                <a:cs typeface="Arial MT"/>
              </a:rPr>
              <a:t>RD</a:t>
            </a:r>
            <a:r>
              <a:rPr sz="800" spc="32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800" spc="-5" dirty="0">
                <a:solidFill>
                  <a:srgbClr val="EBEBEB"/>
                </a:solidFill>
                <a:latin typeface="Arial MT"/>
                <a:cs typeface="Arial MT"/>
              </a:rPr>
              <a:t>WR</a:t>
            </a:r>
            <a:endParaRPr sz="800">
              <a:latin typeface="Arial MT"/>
              <a:cs typeface="Arial MT"/>
            </a:endParaRPr>
          </a:p>
          <a:p>
            <a:pPr marL="57785" marR="387985" indent="-12700">
              <a:lnSpc>
                <a:spcPct val="147100"/>
              </a:lnSpc>
              <a:spcBef>
                <a:spcPts val="750"/>
              </a:spcBef>
            </a:pPr>
            <a:r>
              <a:rPr sz="800" spc="-5" dirty="0">
                <a:solidFill>
                  <a:srgbClr val="EBEBEB"/>
                </a:solidFill>
                <a:latin typeface="Arial MT"/>
                <a:cs typeface="Arial MT"/>
              </a:rPr>
              <a:t>A0  A1</a:t>
            </a:r>
            <a:endParaRPr sz="800">
              <a:latin typeface="Arial MT"/>
              <a:cs typeface="Arial MT"/>
            </a:endParaRPr>
          </a:p>
          <a:p>
            <a:pPr marR="17780" algn="ctr">
              <a:lnSpc>
                <a:spcPct val="100000"/>
              </a:lnSpc>
              <a:spcBef>
                <a:spcPts val="565"/>
              </a:spcBef>
            </a:pPr>
            <a:r>
              <a:rPr sz="800" spc="-5" dirty="0">
                <a:solidFill>
                  <a:srgbClr val="EBEBEB"/>
                </a:solidFill>
                <a:latin typeface="Arial MT"/>
                <a:cs typeface="Arial MT"/>
              </a:rPr>
              <a:t>CS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292350" y="2695569"/>
            <a:ext cx="4978400" cy="2698750"/>
            <a:chOff x="2292350" y="2695569"/>
            <a:chExt cx="4978400" cy="2698750"/>
          </a:xfrm>
        </p:grpSpPr>
        <p:sp>
          <p:nvSpPr>
            <p:cNvPr id="35" name="object 35"/>
            <p:cNvSpPr/>
            <p:nvPr/>
          </p:nvSpPr>
          <p:spPr>
            <a:xfrm>
              <a:off x="2298700" y="4179887"/>
              <a:ext cx="708025" cy="1208405"/>
            </a:xfrm>
            <a:custGeom>
              <a:avLst/>
              <a:gdLst/>
              <a:ahLst/>
              <a:cxnLst/>
              <a:rect l="l" t="t" r="r" b="b"/>
              <a:pathLst>
                <a:path w="708025" h="1208404">
                  <a:moveTo>
                    <a:pt x="708025" y="0"/>
                  </a:moveTo>
                  <a:lnTo>
                    <a:pt x="0" y="0"/>
                  </a:lnTo>
                  <a:lnTo>
                    <a:pt x="0" y="1208087"/>
                  </a:lnTo>
                  <a:lnTo>
                    <a:pt x="708025" y="1208087"/>
                  </a:lnTo>
                  <a:lnTo>
                    <a:pt x="708025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298700" y="4179887"/>
              <a:ext cx="708025" cy="1208405"/>
            </a:xfrm>
            <a:custGeom>
              <a:avLst/>
              <a:gdLst/>
              <a:ahLst/>
              <a:cxnLst/>
              <a:rect l="l" t="t" r="r" b="b"/>
              <a:pathLst>
                <a:path w="708025" h="1208404">
                  <a:moveTo>
                    <a:pt x="0" y="0"/>
                  </a:moveTo>
                  <a:lnTo>
                    <a:pt x="708025" y="0"/>
                  </a:lnTo>
                  <a:lnTo>
                    <a:pt x="708025" y="1208087"/>
                  </a:lnTo>
                  <a:lnTo>
                    <a:pt x="0" y="1208087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008813" y="3451225"/>
              <a:ext cx="138430" cy="0"/>
            </a:xfrm>
            <a:custGeom>
              <a:avLst/>
              <a:gdLst/>
              <a:ahLst/>
              <a:cxnLst/>
              <a:rect l="l" t="t" r="r" b="b"/>
              <a:pathLst>
                <a:path w="138429">
                  <a:moveTo>
                    <a:pt x="0" y="0"/>
                  </a:moveTo>
                  <a:lnTo>
                    <a:pt x="138112" y="0"/>
                  </a:lnTo>
                </a:path>
              </a:pathLst>
            </a:custGeom>
            <a:ln w="1270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902450" y="2809875"/>
              <a:ext cx="138430" cy="0"/>
            </a:xfrm>
            <a:custGeom>
              <a:avLst/>
              <a:gdLst/>
              <a:ahLst/>
              <a:cxnLst/>
              <a:rect l="l" t="t" r="r" b="b"/>
              <a:pathLst>
                <a:path w="138429">
                  <a:moveTo>
                    <a:pt x="0" y="0"/>
                  </a:moveTo>
                  <a:lnTo>
                    <a:pt x="138112" y="0"/>
                  </a:lnTo>
                </a:path>
              </a:pathLst>
            </a:custGeom>
            <a:ln w="1270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126288" y="2811463"/>
              <a:ext cx="138430" cy="0"/>
            </a:xfrm>
            <a:custGeom>
              <a:avLst/>
              <a:gdLst/>
              <a:ahLst/>
              <a:cxnLst/>
              <a:rect l="l" t="t" r="r" b="b"/>
              <a:pathLst>
                <a:path w="138429">
                  <a:moveTo>
                    <a:pt x="0" y="0"/>
                  </a:moveTo>
                  <a:lnTo>
                    <a:pt x="138112" y="0"/>
                  </a:lnTo>
                </a:path>
              </a:pathLst>
            </a:custGeom>
            <a:ln w="1270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040563" y="3597269"/>
              <a:ext cx="87312" cy="87325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7167563" y="2708269"/>
              <a:ext cx="74930" cy="74930"/>
            </a:xfrm>
            <a:custGeom>
              <a:avLst/>
              <a:gdLst/>
              <a:ahLst/>
              <a:cxnLst/>
              <a:rect l="l" t="t" r="r" b="b"/>
              <a:pathLst>
                <a:path w="74929" h="74930">
                  <a:moveTo>
                    <a:pt x="0" y="37312"/>
                  </a:moveTo>
                  <a:lnTo>
                    <a:pt x="2931" y="22792"/>
                  </a:lnTo>
                  <a:lnTo>
                    <a:pt x="10925" y="10931"/>
                  </a:lnTo>
                  <a:lnTo>
                    <a:pt x="22781" y="2933"/>
                  </a:lnTo>
                  <a:lnTo>
                    <a:pt x="37299" y="0"/>
                  </a:lnTo>
                  <a:lnTo>
                    <a:pt x="51825" y="2933"/>
                  </a:lnTo>
                  <a:lnTo>
                    <a:pt x="63685" y="10931"/>
                  </a:lnTo>
                  <a:lnTo>
                    <a:pt x="71680" y="22792"/>
                  </a:lnTo>
                  <a:lnTo>
                    <a:pt x="74612" y="37312"/>
                  </a:lnTo>
                  <a:lnTo>
                    <a:pt x="71680" y="51833"/>
                  </a:lnTo>
                  <a:lnTo>
                    <a:pt x="63685" y="63693"/>
                  </a:lnTo>
                  <a:lnTo>
                    <a:pt x="51825" y="71691"/>
                  </a:lnTo>
                  <a:lnTo>
                    <a:pt x="37299" y="74625"/>
                  </a:lnTo>
                  <a:lnTo>
                    <a:pt x="22781" y="71691"/>
                  </a:lnTo>
                  <a:lnTo>
                    <a:pt x="10925" y="63693"/>
                  </a:lnTo>
                  <a:lnTo>
                    <a:pt x="2931" y="51833"/>
                  </a:lnTo>
                  <a:lnTo>
                    <a:pt x="0" y="37312"/>
                  </a:lnTo>
                  <a:close/>
                </a:path>
              </a:pathLst>
            </a:custGeom>
            <a:ln w="12699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24675" y="2695569"/>
              <a:ext cx="87312" cy="87325"/>
            </a:xfrm>
            <a:prstGeom prst="rect">
              <a:avLst/>
            </a:prstGeom>
          </p:spPr>
        </p:pic>
      </p:grpSp>
      <p:sp>
        <p:nvSpPr>
          <p:cNvPr id="43" name="object 43"/>
          <p:cNvSpPr txBox="1"/>
          <p:nvPr/>
        </p:nvSpPr>
        <p:spPr>
          <a:xfrm>
            <a:off x="2483961" y="4492338"/>
            <a:ext cx="3384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EBEBEB"/>
                </a:solidFill>
                <a:latin typeface="Arial MT"/>
                <a:cs typeface="Arial MT"/>
              </a:rPr>
              <a:t>2</a:t>
            </a:r>
            <a:r>
              <a:rPr sz="1200" spc="-7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EBEBEB"/>
                </a:solidFill>
                <a:latin typeface="Arial MT"/>
                <a:cs typeface="Arial MT"/>
              </a:rPr>
              <a:t>X4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352897" y="4858099"/>
            <a:ext cx="6007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EBEBEB"/>
                </a:solidFill>
                <a:latin typeface="Arial MT"/>
                <a:cs typeface="Arial MT"/>
              </a:rPr>
              <a:t>Dec</a:t>
            </a:r>
            <a:r>
              <a:rPr sz="1200" spc="-5" dirty="0">
                <a:solidFill>
                  <a:srgbClr val="EBEBEB"/>
                </a:solidFill>
                <a:latin typeface="Arial MT"/>
                <a:cs typeface="Arial MT"/>
              </a:rPr>
              <a:t>o</a:t>
            </a:r>
            <a:r>
              <a:rPr sz="1200" spc="-10" dirty="0">
                <a:solidFill>
                  <a:srgbClr val="EBEBEB"/>
                </a:solidFill>
                <a:latin typeface="Arial MT"/>
                <a:cs typeface="Arial MT"/>
              </a:rPr>
              <a:t>der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1771650" y="1741488"/>
            <a:ext cx="6050280" cy="3556635"/>
            <a:chOff x="1771650" y="1741488"/>
            <a:chExt cx="6050280" cy="3556635"/>
          </a:xfrm>
        </p:grpSpPr>
        <p:sp>
          <p:nvSpPr>
            <p:cNvPr id="46" name="object 46"/>
            <p:cNvSpPr/>
            <p:nvPr/>
          </p:nvSpPr>
          <p:spPr>
            <a:xfrm>
              <a:off x="3508375" y="3675062"/>
              <a:ext cx="0" cy="635000"/>
            </a:xfrm>
            <a:custGeom>
              <a:avLst/>
              <a:gdLst/>
              <a:ahLst/>
              <a:cxnLst/>
              <a:rect l="l" t="t" r="r" b="b"/>
              <a:pathLst>
                <a:path h="635000">
                  <a:moveTo>
                    <a:pt x="0" y="0"/>
                  </a:moveTo>
                  <a:lnTo>
                    <a:pt x="0" y="635000"/>
                  </a:lnTo>
                </a:path>
              </a:pathLst>
            </a:custGeom>
            <a:ln w="1270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00375" y="4276719"/>
              <a:ext cx="87312" cy="87325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01962" y="4587869"/>
              <a:ext cx="87312" cy="87325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03550" y="4899019"/>
              <a:ext cx="87312" cy="87325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997200" y="5210170"/>
              <a:ext cx="87312" cy="87325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3081337" y="4321175"/>
              <a:ext cx="419100" cy="0"/>
            </a:xfrm>
            <a:custGeom>
              <a:avLst/>
              <a:gdLst/>
              <a:ahLst/>
              <a:cxnLst/>
              <a:rect l="l" t="t" r="r" b="b"/>
              <a:pathLst>
                <a:path w="419100">
                  <a:moveTo>
                    <a:pt x="4191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700587" y="3676650"/>
              <a:ext cx="0" cy="955675"/>
            </a:xfrm>
            <a:custGeom>
              <a:avLst/>
              <a:gdLst/>
              <a:ahLst/>
              <a:cxnLst/>
              <a:rect l="l" t="t" r="r" b="b"/>
              <a:pathLst>
                <a:path h="955675">
                  <a:moveTo>
                    <a:pt x="0" y="0"/>
                  </a:moveTo>
                  <a:lnTo>
                    <a:pt x="0" y="955675"/>
                  </a:lnTo>
                </a:path>
              </a:pathLst>
            </a:custGeom>
            <a:ln w="1270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082925" y="4630737"/>
              <a:ext cx="1625600" cy="1905"/>
            </a:xfrm>
            <a:custGeom>
              <a:avLst/>
              <a:gdLst/>
              <a:ahLst/>
              <a:cxnLst/>
              <a:rect l="l" t="t" r="r" b="b"/>
              <a:pathLst>
                <a:path w="1625600" h="1904">
                  <a:moveTo>
                    <a:pt x="1625600" y="0"/>
                  </a:moveTo>
                  <a:lnTo>
                    <a:pt x="0" y="1587"/>
                  </a:lnTo>
                </a:path>
              </a:pathLst>
            </a:custGeom>
            <a:ln w="1270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892800" y="3678237"/>
              <a:ext cx="0" cy="1275080"/>
            </a:xfrm>
            <a:custGeom>
              <a:avLst/>
              <a:gdLst/>
              <a:ahLst/>
              <a:cxnLst/>
              <a:rect l="l" t="t" r="r" b="b"/>
              <a:pathLst>
                <a:path h="1275079">
                  <a:moveTo>
                    <a:pt x="0" y="0"/>
                  </a:moveTo>
                  <a:lnTo>
                    <a:pt x="0" y="1274762"/>
                  </a:lnTo>
                </a:path>
              </a:pathLst>
            </a:custGeom>
            <a:ln w="1270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084512" y="4943475"/>
              <a:ext cx="2811780" cy="0"/>
            </a:xfrm>
            <a:custGeom>
              <a:avLst/>
              <a:gdLst/>
              <a:ahLst/>
              <a:cxnLst/>
              <a:rect l="l" t="t" r="r" b="b"/>
              <a:pathLst>
                <a:path w="2811779">
                  <a:moveTo>
                    <a:pt x="2811462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085013" y="3679825"/>
              <a:ext cx="0" cy="1581150"/>
            </a:xfrm>
            <a:custGeom>
              <a:avLst/>
              <a:gdLst/>
              <a:ahLst/>
              <a:cxnLst/>
              <a:rect l="l" t="t" r="r" b="b"/>
              <a:pathLst>
                <a:path h="1581150">
                  <a:moveTo>
                    <a:pt x="0" y="0"/>
                  </a:moveTo>
                  <a:lnTo>
                    <a:pt x="0" y="1581150"/>
                  </a:lnTo>
                </a:path>
              </a:pathLst>
            </a:custGeom>
            <a:ln w="1270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086100" y="5254625"/>
              <a:ext cx="3990975" cy="0"/>
            </a:xfrm>
            <a:custGeom>
              <a:avLst/>
              <a:gdLst/>
              <a:ahLst/>
              <a:cxnLst/>
              <a:rect l="l" t="t" r="r" b="b"/>
              <a:pathLst>
                <a:path w="3990975">
                  <a:moveTo>
                    <a:pt x="3990975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809750" y="3773487"/>
              <a:ext cx="4772025" cy="0"/>
            </a:xfrm>
            <a:custGeom>
              <a:avLst/>
              <a:gdLst/>
              <a:ahLst/>
              <a:cxnLst/>
              <a:rect l="l" t="t" r="r" b="b"/>
              <a:pathLst>
                <a:path w="4772025">
                  <a:moveTo>
                    <a:pt x="0" y="0"/>
                  </a:moveTo>
                  <a:lnTo>
                    <a:pt x="4772025" y="0"/>
                  </a:lnTo>
                </a:path>
              </a:pathLst>
            </a:custGeom>
            <a:ln w="1270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819275" y="3973512"/>
              <a:ext cx="4853305" cy="0"/>
            </a:xfrm>
            <a:custGeom>
              <a:avLst/>
              <a:gdLst/>
              <a:ahLst/>
              <a:cxnLst/>
              <a:rect l="l" t="t" r="r" b="b"/>
              <a:pathLst>
                <a:path w="4853305">
                  <a:moveTo>
                    <a:pt x="0" y="0"/>
                  </a:moveTo>
                  <a:lnTo>
                    <a:pt x="4852987" y="0"/>
                  </a:lnTo>
                </a:path>
              </a:pathLst>
            </a:custGeom>
            <a:ln w="1270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819275" y="4648200"/>
              <a:ext cx="478155" cy="1905"/>
            </a:xfrm>
            <a:custGeom>
              <a:avLst/>
              <a:gdLst/>
              <a:ahLst/>
              <a:cxnLst/>
              <a:rect l="l" t="t" r="r" b="b"/>
              <a:pathLst>
                <a:path w="478155" h="1904">
                  <a:moveTo>
                    <a:pt x="477837" y="0"/>
                  </a:moveTo>
                  <a:lnTo>
                    <a:pt x="0" y="1587"/>
                  </a:lnTo>
                </a:path>
              </a:pathLst>
            </a:custGeom>
            <a:ln w="1270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839912" y="4953000"/>
              <a:ext cx="457200" cy="1905"/>
            </a:xfrm>
            <a:custGeom>
              <a:avLst/>
              <a:gdLst/>
              <a:ahLst/>
              <a:cxnLst/>
              <a:rect l="l" t="t" r="r" b="b"/>
              <a:pathLst>
                <a:path w="457200" h="1904">
                  <a:moveTo>
                    <a:pt x="457200" y="0"/>
                  </a:moveTo>
                  <a:lnTo>
                    <a:pt x="0" y="1587"/>
                  </a:lnTo>
                </a:path>
              </a:pathLst>
            </a:custGeom>
            <a:ln w="1270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771650" y="1757363"/>
              <a:ext cx="5191125" cy="0"/>
            </a:xfrm>
            <a:custGeom>
              <a:avLst/>
              <a:gdLst/>
              <a:ahLst/>
              <a:cxnLst/>
              <a:rect l="l" t="t" r="r" b="b"/>
              <a:pathLst>
                <a:path w="5191125">
                  <a:moveTo>
                    <a:pt x="0" y="0"/>
                  </a:moveTo>
                  <a:lnTo>
                    <a:pt x="5191125" y="0"/>
                  </a:lnTo>
                </a:path>
              </a:pathLst>
            </a:custGeom>
            <a:ln w="1270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792287" y="1957388"/>
              <a:ext cx="5424805" cy="0"/>
            </a:xfrm>
            <a:custGeom>
              <a:avLst/>
              <a:gdLst/>
              <a:ahLst/>
              <a:cxnLst/>
              <a:rect l="l" t="t" r="r" b="b"/>
              <a:pathLst>
                <a:path w="5424805">
                  <a:moveTo>
                    <a:pt x="0" y="0"/>
                  </a:moveTo>
                  <a:lnTo>
                    <a:pt x="5424487" y="0"/>
                  </a:lnTo>
                </a:path>
              </a:pathLst>
            </a:custGeom>
            <a:ln w="1270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965950" y="1746250"/>
              <a:ext cx="0" cy="955675"/>
            </a:xfrm>
            <a:custGeom>
              <a:avLst/>
              <a:gdLst/>
              <a:ahLst/>
              <a:cxnLst/>
              <a:rect l="l" t="t" r="r" b="b"/>
              <a:pathLst>
                <a:path h="955675">
                  <a:moveTo>
                    <a:pt x="0" y="955675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7200900" y="1951038"/>
              <a:ext cx="0" cy="762000"/>
            </a:xfrm>
            <a:custGeom>
              <a:avLst/>
              <a:gdLst/>
              <a:ahLst/>
              <a:cxnLst/>
              <a:rect l="l" t="t" r="r" b="b"/>
              <a:pathLst>
                <a:path h="762000">
                  <a:moveTo>
                    <a:pt x="0" y="7620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673850" y="3325812"/>
              <a:ext cx="123825" cy="1905"/>
            </a:xfrm>
            <a:custGeom>
              <a:avLst/>
              <a:gdLst/>
              <a:ahLst/>
              <a:cxnLst/>
              <a:rect l="l" t="t" r="r" b="b"/>
              <a:pathLst>
                <a:path w="123825" h="1904">
                  <a:moveTo>
                    <a:pt x="-6350" y="793"/>
                  </a:moveTo>
                  <a:lnTo>
                    <a:pt x="130175" y="793"/>
                  </a:lnTo>
                </a:path>
              </a:pathLst>
            </a:custGeom>
            <a:ln w="14287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670675" y="3327400"/>
              <a:ext cx="0" cy="649605"/>
            </a:xfrm>
            <a:custGeom>
              <a:avLst/>
              <a:gdLst/>
              <a:ahLst/>
              <a:cxnLst/>
              <a:rect l="l" t="t" r="r" b="b"/>
              <a:pathLst>
                <a:path h="649604">
                  <a:moveTo>
                    <a:pt x="0" y="0"/>
                  </a:moveTo>
                  <a:lnTo>
                    <a:pt x="0" y="649287"/>
                  </a:lnTo>
                </a:path>
              </a:pathLst>
            </a:custGeom>
            <a:ln w="1270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6596062" y="3154363"/>
              <a:ext cx="201930" cy="0"/>
            </a:xfrm>
            <a:custGeom>
              <a:avLst/>
              <a:gdLst/>
              <a:ahLst/>
              <a:cxnLst/>
              <a:rect l="l" t="t" r="r" b="b"/>
              <a:pathLst>
                <a:path w="201929">
                  <a:moveTo>
                    <a:pt x="201612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6588125" y="3154363"/>
              <a:ext cx="0" cy="619125"/>
            </a:xfrm>
            <a:custGeom>
              <a:avLst/>
              <a:gdLst/>
              <a:ahLst/>
              <a:cxnLst/>
              <a:rect l="l" t="t" r="r" b="b"/>
              <a:pathLst>
                <a:path h="619125">
                  <a:moveTo>
                    <a:pt x="0" y="0"/>
                  </a:moveTo>
                  <a:lnTo>
                    <a:pt x="0" y="619125"/>
                  </a:lnTo>
                </a:path>
              </a:pathLst>
            </a:custGeom>
            <a:ln w="1270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002088" y="2652713"/>
              <a:ext cx="3819525" cy="0"/>
            </a:xfrm>
            <a:custGeom>
              <a:avLst/>
              <a:gdLst/>
              <a:ahLst/>
              <a:cxnLst/>
              <a:rect l="l" t="t" r="r" b="b"/>
              <a:pathLst>
                <a:path w="3819525">
                  <a:moveTo>
                    <a:pt x="3819525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925888" y="2452688"/>
              <a:ext cx="3895725" cy="0"/>
            </a:xfrm>
            <a:custGeom>
              <a:avLst/>
              <a:gdLst/>
              <a:ahLst/>
              <a:cxnLst/>
              <a:rect l="l" t="t" r="r" b="b"/>
              <a:pathLst>
                <a:path w="3895725">
                  <a:moveTo>
                    <a:pt x="3895725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6188075" y="3098800"/>
              <a:ext cx="104775" cy="0"/>
            </a:xfrm>
            <a:custGeom>
              <a:avLst/>
              <a:gdLst/>
              <a:ahLst/>
              <a:cxnLst/>
              <a:rect l="l" t="t" r="r" b="b"/>
              <a:pathLst>
                <a:path w="104775">
                  <a:moveTo>
                    <a:pt x="0" y="0"/>
                  </a:moveTo>
                  <a:lnTo>
                    <a:pt x="104775" y="0"/>
                  </a:lnTo>
                </a:path>
              </a:pathLst>
            </a:custGeom>
            <a:ln w="1270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6302375" y="2449512"/>
              <a:ext cx="0" cy="649605"/>
            </a:xfrm>
            <a:custGeom>
              <a:avLst/>
              <a:gdLst/>
              <a:ahLst/>
              <a:cxnLst/>
              <a:rect l="l" t="t" r="r" b="b"/>
              <a:pathLst>
                <a:path h="649605">
                  <a:moveTo>
                    <a:pt x="0" y="649287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6188075" y="3271837"/>
              <a:ext cx="190500" cy="0"/>
            </a:xfrm>
            <a:custGeom>
              <a:avLst/>
              <a:gdLst/>
              <a:ahLst/>
              <a:cxnLst/>
              <a:rect l="l" t="t" r="r" b="b"/>
              <a:pathLst>
                <a:path w="190500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ln w="1270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6376988" y="2652712"/>
              <a:ext cx="0" cy="619125"/>
            </a:xfrm>
            <a:custGeom>
              <a:avLst/>
              <a:gdLst/>
              <a:ahLst/>
              <a:cxnLst/>
              <a:rect l="l" t="t" r="r" b="b"/>
              <a:pathLst>
                <a:path h="619125">
                  <a:moveTo>
                    <a:pt x="0" y="619125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478463" y="3325812"/>
              <a:ext cx="123825" cy="1905"/>
            </a:xfrm>
            <a:custGeom>
              <a:avLst/>
              <a:gdLst/>
              <a:ahLst/>
              <a:cxnLst/>
              <a:rect l="l" t="t" r="r" b="b"/>
              <a:pathLst>
                <a:path w="123825" h="1904">
                  <a:moveTo>
                    <a:pt x="-6350" y="793"/>
                  </a:moveTo>
                  <a:lnTo>
                    <a:pt x="130175" y="793"/>
                  </a:lnTo>
                </a:path>
              </a:pathLst>
            </a:custGeom>
            <a:ln w="14287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475287" y="3327400"/>
              <a:ext cx="0" cy="649605"/>
            </a:xfrm>
            <a:custGeom>
              <a:avLst/>
              <a:gdLst/>
              <a:ahLst/>
              <a:cxnLst/>
              <a:rect l="l" t="t" r="r" b="b"/>
              <a:pathLst>
                <a:path h="649604">
                  <a:moveTo>
                    <a:pt x="0" y="0"/>
                  </a:moveTo>
                  <a:lnTo>
                    <a:pt x="0" y="649287"/>
                  </a:lnTo>
                </a:path>
              </a:pathLst>
            </a:custGeom>
            <a:ln w="1270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400676" y="3154363"/>
              <a:ext cx="201930" cy="0"/>
            </a:xfrm>
            <a:custGeom>
              <a:avLst/>
              <a:gdLst/>
              <a:ahLst/>
              <a:cxnLst/>
              <a:rect l="l" t="t" r="r" b="b"/>
              <a:pathLst>
                <a:path w="201929">
                  <a:moveTo>
                    <a:pt x="201612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392737" y="3154363"/>
              <a:ext cx="0" cy="619125"/>
            </a:xfrm>
            <a:custGeom>
              <a:avLst/>
              <a:gdLst/>
              <a:ahLst/>
              <a:cxnLst/>
              <a:rect l="l" t="t" r="r" b="b"/>
              <a:pathLst>
                <a:path h="619125">
                  <a:moveTo>
                    <a:pt x="0" y="0"/>
                  </a:moveTo>
                  <a:lnTo>
                    <a:pt x="0" y="619125"/>
                  </a:lnTo>
                </a:path>
              </a:pathLst>
            </a:custGeom>
            <a:ln w="1270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4286250" y="3325812"/>
              <a:ext cx="123825" cy="1905"/>
            </a:xfrm>
            <a:custGeom>
              <a:avLst/>
              <a:gdLst/>
              <a:ahLst/>
              <a:cxnLst/>
              <a:rect l="l" t="t" r="r" b="b"/>
              <a:pathLst>
                <a:path w="123825" h="1904">
                  <a:moveTo>
                    <a:pt x="-6350" y="793"/>
                  </a:moveTo>
                  <a:lnTo>
                    <a:pt x="130175" y="793"/>
                  </a:lnTo>
                </a:path>
              </a:pathLst>
            </a:custGeom>
            <a:ln w="14287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4283075" y="3327400"/>
              <a:ext cx="0" cy="649605"/>
            </a:xfrm>
            <a:custGeom>
              <a:avLst/>
              <a:gdLst/>
              <a:ahLst/>
              <a:cxnLst/>
              <a:rect l="l" t="t" r="r" b="b"/>
              <a:pathLst>
                <a:path h="649604">
                  <a:moveTo>
                    <a:pt x="0" y="0"/>
                  </a:moveTo>
                  <a:lnTo>
                    <a:pt x="0" y="649287"/>
                  </a:lnTo>
                </a:path>
              </a:pathLst>
            </a:custGeom>
            <a:ln w="1270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4208462" y="3154363"/>
              <a:ext cx="201930" cy="0"/>
            </a:xfrm>
            <a:custGeom>
              <a:avLst/>
              <a:gdLst/>
              <a:ahLst/>
              <a:cxnLst/>
              <a:rect l="l" t="t" r="r" b="b"/>
              <a:pathLst>
                <a:path w="201929">
                  <a:moveTo>
                    <a:pt x="201612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4197350" y="3154363"/>
              <a:ext cx="3175" cy="619125"/>
            </a:xfrm>
            <a:custGeom>
              <a:avLst/>
              <a:gdLst/>
              <a:ahLst/>
              <a:cxnLst/>
              <a:rect l="l" t="t" r="r" b="b"/>
              <a:pathLst>
                <a:path w="3175" h="619125">
                  <a:moveTo>
                    <a:pt x="3175" y="0"/>
                  </a:moveTo>
                  <a:lnTo>
                    <a:pt x="0" y="619125"/>
                  </a:lnTo>
                </a:path>
              </a:pathLst>
            </a:custGeom>
            <a:ln w="1270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3094037" y="3325812"/>
              <a:ext cx="123825" cy="1905"/>
            </a:xfrm>
            <a:custGeom>
              <a:avLst/>
              <a:gdLst/>
              <a:ahLst/>
              <a:cxnLst/>
              <a:rect l="l" t="t" r="r" b="b"/>
              <a:pathLst>
                <a:path w="123825" h="1904">
                  <a:moveTo>
                    <a:pt x="-6350" y="793"/>
                  </a:moveTo>
                  <a:lnTo>
                    <a:pt x="130175" y="793"/>
                  </a:lnTo>
                </a:path>
              </a:pathLst>
            </a:custGeom>
            <a:ln w="14287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3090862" y="3327400"/>
              <a:ext cx="0" cy="649605"/>
            </a:xfrm>
            <a:custGeom>
              <a:avLst/>
              <a:gdLst/>
              <a:ahLst/>
              <a:cxnLst/>
              <a:rect l="l" t="t" r="r" b="b"/>
              <a:pathLst>
                <a:path h="649604">
                  <a:moveTo>
                    <a:pt x="0" y="0"/>
                  </a:moveTo>
                  <a:lnTo>
                    <a:pt x="0" y="649287"/>
                  </a:lnTo>
                </a:path>
              </a:pathLst>
            </a:custGeom>
            <a:ln w="1270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3016250" y="3154363"/>
              <a:ext cx="201930" cy="0"/>
            </a:xfrm>
            <a:custGeom>
              <a:avLst/>
              <a:gdLst/>
              <a:ahLst/>
              <a:cxnLst/>
              <a:rect l="l" t="t" r="r" b="b"/>
              <a:pathLst>
                <a:path w="201930">
                  <a:moveTo>
                    <a:pt x="201612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3008312" y="3154363"/>
              <a:ext cx="0" cy="619125"/>
            </a:xfrm>
            <a:custGeom>
              <a:avLst/>
              <a:gdLst/>
              <a:ahLst/>
              <a:cxnLst/>
              <a:rect l="l" t="t" r="r" b="b"/>
              <a:pathLst>
                <a:path h="619125">
                  <a:moveTo>
                    <a:pt x="0" y="0"/>
                  </a:moveTo>
                  <a:lnTo>
                    <a:pt x="0" y="619125"/>
                  </a:lnTo>
                </a:path>
              </a:pathLst>
            </a:custGeom>
            <a:ln w="1270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4999037" y="3098800"/>
              <a:ext cx="104775" cy="0"/>
            </a:xfrm>
            <a:custGeom>
              <a:avLst/>
              <a:gdLst/>
              <a:ahLst/>
              <a:cxnLst/>
              <a:rect l="l" t="t" r="r" b="b"/>
              <a:pathLst>
                <a:path w="104775">
                  <a:moveTo>
                    <a:pt x="0" y="0"/>
                  </a:moveTo>
                  <a:lnTo>
                    <a:pt x="104775" y="0"/>
                  </a:lnTo>
                </a:path>
              </a:pathLst>
            </a:custGeom>
            <a:ln w="1270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5113337" y="2449512"/>
              <a:ext cx="0" cy="649605"/>
            </a:xfrm>
            <a:custGeom>
              <a:avLst/>
              <a:gdLst/>
              <a:ahLst/>
              <a:cxnLst/>
              <a:rect l="l" t="t" r="r" b="b"/>
              <a:pathLst>
                <a:path h="649605">
                  <a:moveTo>
                    <a:pt x="0" y="649287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4999037" y="3271837"/>
              <a:ext cx="190500" cy="0"/>
            </a:xfrm>
            <a:custGeom>
              <a:avLst/>
              <a:gdLst/>
              <a:ahLst/>
              <a:cxnLst/>
              <a:rect l="l" t="t" r="r" b="b"/>
              <a:pathLst>
                <a:path w="190500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ln w="1270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5187950" y="2652712"/>
              <a:ext cx="0" cy="619125"/>
            </a:xfrm>
            <a:custGeom>
              <a:avLst/>
              <a:gdLst/>
              <a:ahLst/>
              <a:cxnLst/>
              <a:rect l="l" t="t" r="r" b="b"/>
              <a:pathLst>
                <a:path h="619125">
                  <a:moveTo>
                    <a:pt x="0" y="619125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3810000" y="3098800"/>
              <a:ext cx="104775" cy="0"/>
            </a:xfrm>
            <a:custGeom>
              <a:avLst/>
              <a:gdLst/>
              <a:ahLst/>
              <a:cxnLst/>
              <a:rect l="l" t="t" r="r" b="b"/>
              <a:pathLst>
                <a:path w="104775">
                  <a:moveTo>
                    <a:pt x="0" y="0"/>
                  </a:moveTo>
                  <a:lnTo>
                    <a:pt x="104775" y="0"/>
                  </a:lnTo>
                </a:path>
              </a:pathLst>
            </a:custGeom>
            <a:ln w="1270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3924300" y="2449512"/>
              <a:ext cx="0" cy="649605"/>
            </a:xfrm>
            <a:custGeom>
              <a:avLst/>
              <a:gdLst/>
              <a:ahLst/>
              <a:cxnLst/>
              <a:rect l="l" t="t" r="r" b="b"/>
              <a:pathLst>
                <a:path h="649605">
                  <a:moveTo>
                    <a:pt x="0" y="649287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3810000" y="3271837"/>
              <a:ext cx="190500" cy="0"/>
            </a:xfrm>
            <a:custGeom>
              <a:avLst/>
              <a:gdLst/>
              <a:ahLst/>
              <a:cxnLst/>
              <a:rect l="l" t="t" r="r" b="b"/>
              <a:pathLst>
                <a:path w="190500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ln w="1270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3998912" y="2652712"/>
              <a:ext cx="0" cy="619125"/>
            </a:xfrm>
            <a:custGeom>
              <a:avLst/>
              <a:gdLst/>
              <a:ahLst/>
              <a:cxnLst/>
              <a:rect l="l" t="t" r="r" b="b"/>
              <a:pathLst>
                <a:path h="619125">
                  <a:moveTo>
                    <a:pt x="0" y="619125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7385050" y="3098800"/>
              <a:ext cx="104775" cy="0"/>
            </a:xfrm>
            <a:custGeom>
              <a:avLst/>
              <a:gdLst/>
              <a:ahLst/>
              <a:cxnLst/>
              <a:rect l="l" t="t" r="r" b="b"/>
              <a:pathLst>
                <a:path w="104775">
                  <a:moveTo>
                    <a:pt x="0" y="0"/>
                  </a:moveTo>
                  <a:lnTo>
                    <a:pt x="104775" y="0"/>
                  </a:lnTo>
                </a:path>
              </a:pathLst>
            </a:custGeom>
            <a:ln w="1270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7499350" y="2449512"/>
              <a:ext cx="0" cy="649605"/>
            </a:xfrm>
            <a:custGeom>
              <a:avLst/>
              <a:gdLst/>
              <a:ahLst/>
              <a:cxnLst/>
              <a:rect l="l" t="t" r="r" b="b"/>
              <a:pathLst>
                <a:path h="649605">
                  <a:moveTo>
                    <a:pt x="0" y="649287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7385050" y="3271837"/>
              <a:ext cx="190500" cy="0"/>
            </a:xfrm>
            <a:custGeom>
              <a:avLst/>
              <a:gdLst/>
              <a:ahLst/>
              <a:cxnLst/>
              <a:rect l="l" t="t" r="r" b="b"/>
              <a:pathLst>
                <a:path w="190500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ln w="1270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7573963" y="2652712"/>
              <a:ext cx="0" cy="619125"/>
            </a:xfrm>
            <a:custGeom>
              <a:avLst/>
              <a:gdLst/>
              <a:ahLst/>
              <a:cxnLst/>
              <a:rect l="l" t="t" r="r" b="b"/>
              <a:pathLst>
                <a:path h="619125">
                  <a:moveTo>
                    <a:pt x="0" y="619125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5776913" y="1754188"/>
              <a:ext cx="0" cy="955675"/>
            </a:xfrm>
            <a:custGeom>
              <a:avLst/>
              <a:gdLst/>
              <a:ahLst/>
              <a:cxnLst/>
              <a:rect l="l" t="t" r="r" b="b"/>
              <a:pathLst>
                <a:path h="955675">
                  <a:moveTo>
                    <a:pt x="0" y="955675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011863" y="1958975"/>
              <a:ext cx="0" cy="762000"/>
            </a:xfrm>
            <a:custGeom>
              <a:avLst/>
              <a:gdLst/>
              <a:ahLst/>
              <a:cxnLst/>
              <a:rect l="l" t="t" r="r" b="b"/>
              <a:pathLst>
                <a:path h="762000">
                  <a:moveTo>
                    <a:pt x="0" y="7620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4587875" y="1743075"/>
              <a:ext cx="0" cy="955675"/>
            </a:xfrm>
            <a:custGeom>
              <a:avLst/>
              <a:gdLst/>
              <a:ahLst/>
              <a:cxnLst/>
              <a:rect l="l" t="t" r="r" b="b"/>
              <a:pathLst>
                <a:path h="955675">
                  <a:moveTo>
                    <a:pt x="0" y="955675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4822825" y="1947863"/>
              <a:ext cx="0" cy="762000"/>
            </a:xfrm>
            <a:custGeom>
              <a:avLst/>
              <a:gdLst/>
              <a:ahLst/>
              <a:cxnLst/>
              <a:rect l="l" t="t" r="r" b="b"/>
              <a:pathLst>
                <a:path h="762000">
                  <a:moveTo>
                    <a:pt x="0" y="7620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3389312" y="1741488"/>
              <a:ext cx="0" cy="955675"/>
            </a:xfrm>
            <a:custGeom>
              <a:avLst/>
              <a:gdLst/>
              <a:ahLst/>
              <a:cxnLst/>
              <a:rect l="l" t="t" r="r" b="b"/>
              <a:pathLst>
                <a:path h="955675">
                  <a:moveTo>
                    <a:pt x="0" y="955675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3624262" y="1946275"/>
              <a:ext cx="0" cy="762000"/>
            </a:xfrm>
            <a:custGeom>
              <a:avLst/>
              <a:gdLst/>
              <a:ahLst/>
              <a:cxnLst/>
              <a:rect l="l" t="t" r="r" b="b"/>
              <a:pathLst>
                <a:path h="762000">
                  <a:moveTo>
                    <a:pt x="0" y="7620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6" name="object 106"/>
          <p:cNvSpPr txBox="1"/>
          <p:nvPr/>
        </p:nvSpPr>
        <p:spPr>
          <a:xfrm>
            <a:off x="1563052" y="4882197"/>
            <a:ext cx="18097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solidFill>
                  <a:srgbClr val="EBEBEB"/>
                </a:solidFill>
                <a:latin typeface="Arial MT"/>
                <a:cs typeface="Arial MT"/>
              </a:rPr>
              <a:t>A</a:t>
            </a:r>
            <a:r>
              <a:rPr sz="1000" dirty="0">
                <a:solidFill>
                  <a:srgbClr val="EBEBEB"/>
                </a:solidFill>
                <a:latin typeface="Arial MT"/>
                <a:cs typeface="Arial MT"/>
              </a:rPr>
              <a:t>3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1563052" y="4548792"/>
            <a:ext cx="18097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solidFill>
                  <a:srgbClr val="EBEBEB"/>
                </a:solidFill>
                <a:latin typeface="Arial MT"/>
                <a:cs typeface="Arial MT"/>
              </a:rPr>
              <a:t>A2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1563052" y="3596423"/>
            <a:ext cx="180975" cy="4641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3800"/>
              </a:lnSpc>
              <a:spcBef>
                <a:spcPts val="100"/>
              </a:spcBef>
            </a:pPr>
            <a:r>
              <a:rPr sz="1000" spc="-5" dirty="0">
                <a:solidFill>
                  <a:srgbClr val="EBEBEB"/>
                </a:solidFill>
                <a:latin typeface="Arial MT"/>
                <a:cs typeface="Arial MT"/>
              </a:rPr>
              <a:t>A</a:t>
            </a:r>
            <a:r>
              <a:rPr sz="1000" dirty="0">
                <a:solidFill>
                  <a:srgbClr val="EBEBEB"/>
                </a:solidFill>
                <a:latin typeface="Arial MT"/>
                <a:cs typeface="Arial MT"/>
              </a:rPr>
              <a:t>0  </a:t>
            </a:r>
            <a:r>
              <a:rPr sz="1000" spc="-5" dirty="0">
                <a:solidFill>
                  <a:srgbClr val="EBEBEB"/>
                </a:solidFill>
                <a:latin typeface="Arial MT"/>
                <a:cs typeface="Arial MT"/>
              </a:rPr>
              <a:t>A</a:t>
            </a:r>
            <a:r>
              <a:rPr sz="1000" dirty="0">
                <a:solidFill>
                  <a:srgbClr val="EBEBEB"/>
                </a:solidFill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1491663" y="1586446"/>
            <a:ext cx="238125" cy="473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EBEBEB"/>
                </a:solidFill>
                <a:latin typeface="Arial MT"/>
                <a:cs typeface="Arial MT"/>
              </a:rPr>
              <a:t>RD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dirty="0">
                <a:solidFill>
                  <a:srgbClr val="EBEBEB"/>
                </a:solidFill>
                <a:latin typeface="Arial MT"/>
                <a:cs typeface="Arial MT"/>
              </a:rPr>
              <a:t>WR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10" name="object 110"/>
          <p:cNvSpPr/>
          <p:nvPr/>
        </p:nvSpPr>
        <p:spPr>
          <a:xfrm>
            <a:off x="1501775" y="1555750"/>
            <a:ext cx="182880" cy="0"/>
          </a:xfrm>
          <a:custGeom>
            <a:avLst/>
            <a:gdLst/>
            <a:ahLst/>
            <a:cxnLst/>
            <a:rect l="l" t="t" r="r" b="b"/>
            <a:pathLst>
              <a:path w="182880">
                <a:moveTo>
                  <a:pt x="0" y="0"/>
                </a:moveTo>
                <a:lnTo>
                  <a:pt x="182562" y="0"/>
                </a:lnTo>
              </a:path>
            </a:pathLst>
          </a:custGeom>
          <a:ln w="12700">
            <a:solidFill>
              <a:srgbClr val="EBEB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1492250" y="1866900"/>
            <a:ext cx="192405" cy="0"/>
          </a:xfrm>
          <a:custGeom>
            <a:avLst/>
            <a:gdLst/>
            <a:ahLst/>
            <a:cxnLst/>
            <a:rect l="l" t="t" r="r" b="b"/>
            <a:pathLst>
              <a:path w="192405">
                <a:moveTo>
                  <a:pt x="0" y="0"/>
                </a:moveTo>
                <a:lnTo>
                  <a:pt x="192087" y="0"/>
                </a:lnTo>
              </a:path>
            </a:pathLst>
          </a:custGeom>
          <a:ln w="12700">
            <a:solidFill>
              <a:srgbClr val="EBEB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 txBox="1"/>
          <p:nvPr/>
        </p:nvSpPr>
        <p:spPr>
          <a:xfrm>
            <a:off x="7879715" y="2275714"/>
            <a:ext cx="188595" cy="4641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3800"/>
              </a:lnSpc>
              <a:spcBef>
                <a:spcPts val="100"/>
              </a:spcBef>
            </a:pPr>
            <a:r>
              <a:rPr sz="1000" dirty="0">
                <a:solidFill>
                  <a:srgbClr val="EBEBEB"/>
                </a:solidFill>
                <a:latin typeface="Arial MT"/>
                <a:cs typeface="Arial MT"/>
              </a:rPr>
              <a:t>D0  D1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13" name="object 1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r>
              <a:rPr spc="-5" dirty="0"/>
              <a:t>21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6350" y="0"/>
            <a:ext cx="9156700" cy="6870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515938" cy="68579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51864" y="401065"/>
            <a:ext cx="588454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80" dirty="0">
                <a:solidFill>
                  <a:srgbClr val="FFFFCC"/>
                </a:solidFill>
                <a:latin typeface="Arial MT"/>
                <a:cs typeface="Arial MT"/>
              </a:rPr>
              <a:t>Memory</a:t>
            </a:r>
            <a:r>
              <a:rPr spc="-225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515" dirty="0">
                <a:solidFill>
                  <a:srgbClr val="FFFFCC"/>
                </a:solidFill>
                <a:latin typeface="Arial MT"/>
                <a:cs typeface="Arial MT"/>
              </a:rPr>
              <a:t>Map</a:t>
            </a:r>
            <a:r>
              <a:rPr spc="-220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445" dirty="0">
                <a:solidFill>
                  <a:srgbClr val="FFFFCC"/>
                </a:solidFill>
                <a:latin typeface="Arial MT"/>
                <a:cs typeface="Arial MT"/>
              </a:rPr>
              <a:t>and</a:t>
            </a:r>
            <a:r>
              <a:rPr spc="-200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420" dirty="0">
                <a:solidFill>
                  <a:srgbClr val="FFFFCC"/>
                </a:solidFill>
                <a:latin typeface="Arial MT"/>
                <a:cs typeface="Arial MT"/>
              </a:rPr>
              <a:t>Addresses</a:t>
            </a: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9939" y="1421320"/>
            <a:ext cx="215645" cy="22707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033128" y="6247435"/>
            <a:ext cx="33655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 MT"/>
                <a:cs typeface="Arial MT"/>
              </a:rPr>
              <a:t>FFFF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741612" y="3370259"/>
            <a:ext cx="304800" cy="2857500"/>
            <a:chOff x="2741612" y="3370259"/>
            <a:chExt cx="304800" cy="2857500"/>
          </a:xfrm>
        </p:grpSpPr>
        <p:sp>
          <p:nvSpPr>
            <p:cNvPr id="8" name="object 8"/>
            <p:cNvSpPr/>
            <p:nvPr/>
          </p:nvSpPr>
          <p:spPr>
            <a:xfrm>
              <a:off x="2908297" y="5484812"/>
              <a:ext cx="0" cy="679450"/>
            </a:xfrm>
            <a:custGeom>
              <a:avLst/>
              <a:gdLst/>
              <a:ahLst/>
              <a:cxnLst/>
              <a:rect l="l" t="t" r="r" b="b"/>
              <a:pathLst>
                <a:path h="679450">
                  <a:moveTo>
                    <a:pt x="0" y="0"/>
                  </a:moveTo>
                  <a:lnTo>
                    <a:pt x="0" y="67945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870200" y="615156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908297" y="3433762"/>
              <a:ext cx="0" cy="622300"/>
            </a:xfrm>
            <a:custGeom>
              <a:avLst/>
              <a:gdLst/>
              <a:ahLst/>
              <a:cxnLst/>
              <a:rect l="l" t="t" r="r" b="b"/>
              <a:pathLst>
                <a:path h="622300">
                  <a:moveTo>
                    <a:pt x="0" y="0"/>
                  </a:moveTo>
                  <a:lnTo>
                    <a:pt x="0" y="6223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870193" y="3370259"/>
              <a:ext cx="76200" cy="76835"/>
            </a:xfrm>
            <a:custGeom>
              <a:avLst/>
              <a:gdLst/>
              <a:ahLst/>
              <a:cxnLst/>
              <a:rect l="l" t="t" r="r" b="b"/>
              <a:pathLst>
                <a:path w="76200" h="76835">
                  <a:moveTo>
                    <a:pt x="38112" y="0"/>
                  </a:moveTo>
                  <a:lnTo>
                    <a:pt x="0" y="76200"/>
                  </a:lnTo>
                  <a:lnTo>
                    <a:pt x="76200" y="76212"/>
                  </a:lnTo>
                  <a:lnTo>
                    <a:pt x="381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41612" y="4056062"/>
              <a:ext cx="304800" cy="1428750"/>
            </a:xfrm>
            <a:custGeom>
              <a:avLst/>
              <a:gdLst/>
              <a:ahLst/>
              <a:cxnLst/>
              <a:rect l="l" t="t" r="r" b="b"/>
              <a:pathLst>
                <a:path w="304800" h="1428750">
                  <a:moveTo>
                    <a:pt x="304800" y="0"/>
                  </a:moveTo>
                  <a:lnTo>
                    <a:pt x="0" y="0"/>
                  </a:lnTo>
                  <a:lnTo>
                    <a:pt x="0" y="1428750"/>
                  </a:lnTo>
                  <a:lnTo>
                    <a:pt x="304800" y="142875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786878" y="4156847"/>
            <a:ext cx="224154" cy="124968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5" dirty="0">
                <a:latin typeface="Arial MT"/>
                <a:cs typeface="Arial MT"/>
              </a:rPr>
              <a:t>Address</a:t>
            </a:r>
            <a:r>
              <a:rPr sz="1400" spc="-7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Range</a:t>
            </a:r>
            <a:endParaRPr sz="1400">
              <a:latin typeface="Arial MT"/>
              <a:cs typeface="Arial MT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3448050" y="3236912"/>
          <a:ext cx="1301750" cy="3149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20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spc="-5" dirty="0">
                          <a:latin typeface="Arial MT"/>
                          <a:cs typeface="Arial MT"/>
                        </a:rPr>
                        <a:t>EPROM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200" spc="-5" dirty="0">
                          <a:latin typeface="Arial MT"/>
                          <a:cs typeface="Arial MT"/>
                        </a:rPr>
                        <a:t>RAM</a:t>
                      </a:r>
                      <a:r>
                        <a:rPr sz="12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1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882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5" dirty="0">
                          <a:latin typeface="Arial MT"/>
                          <a:cs typeface="Arial MT"/>
                        </a:rPr>
                        <a:t>RAM</a:t>
                      </a:r>
                      <a:r>
                        <a:rPr sz="12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2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200" spc="-5" dirty="0">
                          <a:latin typeface="Arial MT"/>
                          <a:cs typeface="Arial MT"/>
                        </a:rPr>
                        <a:t>RAM</a:t>
                      </a:r>
                      <a:r>
                        <a:rPr sz="12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3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882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spc="-5" dirty="0">
                          <a:latin typeface="Arial MT"/>
                          <a:cs typeface="Arial MT"/>
                        </a:rPr>
                        <a:t>RAM</a:t>
                      </a:r>
                      <a:r>
                        <a:rPr sz="12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4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1120139" y="1228788"/>
            <a:ext cx="7255509" cy="2136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3200" spc="-335" dirty="0">
                <a:latin typeface="Arial MT"/>
                <a:cs typeface="Arial MT"/>
              </a:rPr>
              <a:t>The</a:t>
            </a:r>
            <a:r>
              <a:rPr sz="3200" spc="-165" dirty="0">
                <a:latin typeface="Arial MT"/>
                <a:cs typeface="Arial MT"/>
              </a:rPr>
              <a:t> </a:t>
            </a:r>
            <a:r>
              <a:rPr sz="3200" spc="-405" dirty="0">
                <a:latin typeface="Arial MT"/>
                <a:cs typeface="Arial MT"/>
              </a:rPr>
              <a:t>memo</a:t>
            </a:r>
            <a:r>
              <a:rPr sz="3200" spc="-200" dirty="0">
                <a:latin typeface="Arial MT"/>
                <a:cs typeface="Arial MT"/>
              </a:rPr>
              <a:t>r</a:t>
            </a:r>
            <a:r>
              <a:rPr sz="3200" spc="-290" dirty="0">
                <a:latin typeface="Arial MT"/>
                <a:cs typeface="Arial MT"/>
              </a:rPr>
              <a:t>y</a:t>
            </a:r>
            <a:r>
              <a:rPr sz="3200" spc="-145" dirty="0">
                <a:latin typeface="Arial MT"/>
                <a:cs typeface="Arial MT"/>
              </a:rPr>
              <a:t> </a:t>
            </a:r>
            <a:r>
              <a:rPr sz="3200" spc="-375" dirty="0">
                <a:latin typeface="Arial MT"/>
                <a:cs typeface="Arial MT"/>
              </a:rPr>
              <a:t>map</a:t>
            </a:r>
            <a:r>
              <a:rPr sz="3200" spc="-155" dirty="0">
                <a:latin typeface="Arial MT"/>
                <a:cs typeface="Arial MT"/>
              </a:rPr>
              <a:t> </a:t>
            </a:r>
            <a:r>
              <a:rPr sz="3200" spc="-210" dirty="0">
                <a:latin typeface="Arial MT"/>
                <a:cs typeface="Arial MT"/>
              </a:rPr>
              <a:t>is</a:t>
            </a:r>
            <a:r>
              <a:rPr sz="3200" spc="-155" dirty="0">
                <a:latin typeface="Arial MT"/>
                <a:cs typeface="Arial MT"/>
              </a:rPr>
              <a:t> </a:t>
            </a:r>
            <a:r>
              <a:rPr sz="3200" spc="-325" dirty="0">
                <a:latin typeface="Arial MT"/>
                <a:cs typeface="Arial MT"/>
              </a:rPr>
              <a:t>a</a:t>
            </a:r>
            <a:r>
              <a:rPr sz="3200" spc="-165" dirty="0">
                <a:latin typeface="Arial MT"/>
                <a:cs typeface="Arial MT"/>
              </a:rPr>
              <a:t> </a:t>
            </a:r>
            <a:r>
              <a:rPr sz="3200" spc="-250" dirty="0">
                <a:latin typeface="Arial MT"/>
                <a:cs typeface="Arial MT"/>
              </a:rPr>
              <a:t>pic</a:t>
            </a:r>
            <a:r>
              <a:rPr sz="3200" spc="-160" dirty="0">
                <a:latin typeface="Arial MT"/>
                <a:cs typeface="Arial MT"/>
              </a:rPr>
              <a:t>t</a:t>
            </a:r>
            <a:r>
              <a:rPr sz="3200" spc="-325" dirty="0">
                <a:latin typeface="Arial MT"/>
                <a:cs typeface="Arial MT"/>
              </a:rPr>
              <a:t>u</a:t>
            </a:r>
            <a:r>
              <a:rPr sz="3200" spc="-200" dirty="0">
                <a:latin typeface="Arial MT"/>
                <a:cs typeface="Arial MT"/>
              </a:rPr>
              <a:t>r</a:t>
            </a:r>
            <a:r>
              <a:rPr sz="3200" spc="-325" dirty="0">
                <a:latin typeface="Arial MT"/>
                <a:cs typeface="Arial MT"/>
              </a:rPr>
              <a:t>e</a:t>
            </a:r>
            <a:r>
              <a:rPr sz="3200" spc="-145" dirty="0">
                <a:latin typeface="Arial MT"/>
                <a:cs typeface="Arial MT"/>
              </a:rPr>
              <a:t> </a:t>
            </a:r>
            <a:r>
              <a:rPr sz="3200" spc="-200" dirty="0">
                <a:latin typeface="Arial MT"/>
                <a:cs typeface="Arial MT"/>
              </a:rPr>
              <a:t>r</a:t>
            </a:r>
            <a:r>
              <a:rPr sz="3200" spc="-325" dirty="0">
                <a:latin typeface="Arial MT"/>
                <a:cs typeface="Arial MT"/>
              </a:rPr>
              <a:t>ep</a:t>
            </a:r>
            <a:r>
              <a:rPr sz="3200" spc="-200" dirty="0">
                <a:latin typeface="Arial MT"/>
                <a:cs typeface="Arial MT"/>
              </a:rPr>
              <a:t>r</a:t>
            </a:r>
            <a:r>
              <a:rPr sz="3200" spc="-310" dirty="0">
                <a:latin typeface="Arial MT"/>
                <a:cs typeface="Arial MT"/>
              </a:rPr>
              <a:t>es</a:t>
            </a:r>
            <a:r>
              <a:rPr sz="3200" spc="-320" dirty="0">
                <a:latin typeface="Arial MT"/>
                <a:cs typeface="Arial MT"/>
              </a:rPr>
              <a:t>e</a:t>
            </a:r>
            <a:r>
              <a:rPr sz="3200" spc="-245" dirty="0">
                <a:latin typeface="Arial MT"/>
                <a:cs typeface="Arial MT"/>
              </a:rPr>
              <a:t>ntat</a:t>
            </a:r>
            <a:r>
              <a:rPr sz="3200" spc="-130" dirty="0">
                <a:latin typeface="Arial MT"/>
                <a:cs typeface="Arial MT"/>
              </a:rPr>
              <a:t>i</a:t>
            </a:r>
            <a:r>
              <a:rPr sz="3200" spc="-320" dirty="0">
                <a:latin typeface="Arial MT"/>
                <a:cs typeface="Arial MT"/>
              </a:rPr>
              <a:t>o</a:t>
            </a:r>
            <a:r>
              <a:rPr sz="3200" spc="-325" dirty="0">
                <a:latin typeface="Arial MT"/>
                <a:cs typeface="Arial MT"/>
              </a:rPr>
              <a:t>n</a:t>
            </a:r>
            <a:r>
              <a:rPr sz="3200" spc="-145" dirty="0">
                <a:latin typeface="Arial MT"/>
                <a:cs typeface="Arial MT"/>
              </a:rPr>
              <a:t> </a:t>
            </a:r>
            <a:r>
              <a:rPr sz="3200" spc="-204" dirty="0">
                <a:latin typeface="Arial MT"/>
                <a:cs typeface="Arial MT"/>
              </a:rPr>
              <a:t>of  </a:t>
            </a:r>
            <a:r>
              <a:rPr sz="3200" spc="-160" dirty="0">
                <a:latin typeface="Arial MT"/>
                <a:cs typeface="Arial MT"/>
              </a:rPr>
              <a:t>t</a:t>
            </a:r>
            <a:r>
              <a:rPr sz="3200" spc="-325" dirty="0">
                <a:latin typeface="Arial MT"/>
                <a:cs typeface="Arial MT"/>
              </a:rPr>
              <a:t>he</a:t>
            </a:r>
            <a:r>
              <a:rPr sz="3200" spc="-170" dirty="0">
                <a:latin typeface="Arial MT"/>
                <a:cs typeface="Arial MT"/>
              </a:rPr>
              <a:t> </a:t>
            </a:r>
            <a:r>
              <a:rPr sz="3200" spc="-325" dirty="0">
                <a:latin typeface="Arial MT"/>
                <a:cs typeface="Arial MT"/>
              </a:rPr>
              <a:t>add</a:t>
            </a:r>
            <a:r>
              <a:rPr sz="3200" spc="-200" dirty="0">
                <a:latin typeface="Arial MT"/>
                <a:cs typeface="Arial MT"/>
              </a:rPr>
              <a:t>r</a:t>
            </a:r>
            <a:r>
              <a:rPr sz="3200" spc="-300" dirty="0">
                <a:latin typeface="Arial MT"/>
                <a:cs typeface="Arial MT"/>
              </a:rPr>
              <a:t>ess</a:t>
            </a:r>
            <a:r>
              <a:rPr sz="3200" spc="-145" dirty="0">
                <a:latin typeface="Arial MT"/>
                <a:cs typeface="Arial MT"/>
              </a:rPr>
              <a:t> </a:t>
            </a:r>
            <a:r>
              <a:rPr sz="3200" spc="-200" dirty="0">
                <a:latin typeface="Arial MT"/>
                <a:cs typeface="Arial MT"/>
              </a:rPr>
              <a:t>r</a:t>
            </a:r>
            <a:r>
              <a:rPr sz="3200" spc="-325" dirty="0">
                <a:latin typeface="Arial MT"/>
                <a:cs typeface="Arial MT"/>
              </a:rPr>
              <a:t>ange</a:t>
            </a:r>
            <a:r>
              <a:rPr sz="3200" spc="-145" dirty="0">
                <a:latin typeface="Arial MT"/>
                <a:cs typeface="Arial MT"/>
              </a:rPr>
              <a:t> </a:t>
            </a:r>
            <a:r>
              <a:rPr sz="3200" spc="-325" dirty="0">
                <a:latin typeface="Arial MT"/>
                <a:cs typeface="Arial MT"/>
              </a:rPr>
              <a:t>and</a:t>
            </a:r>
            <a:r>
              <a:rPr sz="3200" spc="-155" dirty="0">
                <a:latin typeface="Arial MT"/>
                <a:cs typeface="Arial MT"/>
              </a:rPr>
              <a:t> </a:t>
            </a:r>
            <a:r>
              <a:rPr sz="3200" spc="-290" dirty="0">
                <a:latin typeface="Arial MT"/>
                <a:cs typeface="Arial MT"/>
              </a:rPr>
              <a:t>s</a:t>
            </a:r>
            <a:r>
              <a:rPr sz="3200" spc="-325" dirty="0">
                <a:latin typeface="Arial MT"/>
                <a:cs typeface="Arial MT"/>
              </a:rPr>
              <a:t>ho</a:t>
            </a:r>
            <a:r>
              <a:rPr sz="3200" spc="-425" dirty="0">
                <a:latin typeface="Arial MT"/>
                <a:cs typeface="Arial MT"/>
              </a:rPr>
              <a:t>w</a:t>
            </a:r>
            <a:r>
              <a:rPr sz="3200" spc="-290" dirty="0">
                <a:latin typeface="Arial MT"/>
                <a:cs typeface="Arial MT"/>
              </a:rPr>
              <a:t>s</a:t>
            </a:r>
            <a:r>
              <a:rPr sz="3200" spc="-145" dirty="0">
                <a:latin typeface="Arial MT"/>
                <a:cs typeface="Arial MT"/>
              </a:rPr>
              <a:t> </a:t>
            </a:r>
            <a:r>
              <a:rPr sz="3200" spc="-425" dirty="0">
                <a:latin typeface="Arial MT"/>
                <a:cs typeface="Arial MT"/>
              </a:rPr>
              <a:t>w</a:t>
            </a:r>
            <a:r>
              <a:rPr sz="3200" spc="-325" dirty="0">
                <a:latin typeface="Arial MT"/>
                <a:cs typeface="Arial MT"/>
              </a:rPr>
              <a:t>he</a:t>
            </a:r>
            <a:r>
              <a:rPr sz="3200" spc="-200" dirty="0">
                <a:latin typeface="Arial MT"/>
                <a:cs typeface="Arial MT"/>
              </a:rPr>
              <a:t>r</a:t>
            </a:r>
            <a:r>
              <a:rPr sz="3200" spc="-325" dirty="0">
                <a:latin typeface="Arial MT"/>
                <a:cs typeface="Arial MT"/>
              </a:rPr>
              <a:t>e</a:t>
            </a:r>
            <a:r>
              <a:rPr sz="3200" spc="-145" dirty="0">
                <a:latin typeface="Arial MT"/>
                <a:cs typeface="Arial MT"/>
              </a:rPr>
              <a:t> </a:t>
            </a:r>
            <a:r>
              <a:rPr sz="3200" spc="-160" dirty="0">
                <a:latin typeface="Arial MT"/>
                <a:cs typeface="Arial MT"/>
              </a:rPr>
              <a:t>t</a:t>
            </a:r>
            <a:r>
              <a:rPr sz="3200" spc="-325" dirty="0">
                <a:latin typeface="Arial MT"/>
                <a:cs typeface="Arial MT"/>
              </a:rPr>
              <a:t>he</a:t>
            </a:r>
            <a:r>
              <a:rPr sz="3200" spc="-165" dirty="0">
                <a:latin typeface="Arial MT"/>
                <a:cs typeface="Arial MT"/>
              </a:rPr>
              <a:t> </a:t>
            </a:r>
            <a:r>
              <a:rPr sz="3200" spc="-204" dirty="0">
                <a:latin typeface="Arial MT"/>
                <a:cs typeface="Arial MT"/>
              </a:rPr>
              <a:t>dif</a:t>
            </a:r>
            <a:r>
              <a:rPr sz="3200" spc="-160" dirty="0">
                <a:latin typeface="Arial MT"/>
                <a:cs typeface="Arial MT"/>
              </a:rPr>
              <a:t>f</a:t>
            </a:r>
            <a:r>
              <a:rPr sz="3200" spc="-325" dirty="0">
                <a:latin typeface="Arial MT"/>
                <a:cs typeface="Arial MT"/>
              </a:rPr>
              <a:t>e</a:t>
            </a:r>
            <a:r>
              <a:rPr sz="3200" spc="-200" dirty="0">
                <a:latin typeface="Arial MT"/>
                <a:cs typeface="Arial MT"/>
              </a:rPr>
              <a:t>r</a:t>
            </a:r>
            <a:r>
              <a:rPr sz="3200" spc="-225" dirty="0">
                <a:latin typeface="Arial MT"/>
                <a:cs typeface="Arial MT"/>
              </a:rPr>
              <a:t>ent  </a:t>
            </a:r>
            <a:r>
              <a:rPr sz="3200" spc="-405" dirty="0">
                <a:latin typeface="Arial MT"/>
                <a:cs typeface="Arial MT"/>
              </a:rPr>
              <a:t>memo</a:t>
            </a:r>
            <a:r>
              <a:rPr sz="3200" spc="-200" dirty="0">
                <a:latin typeface="Arial MT"/>
                <a:cs typeface="Arial MT"/>
              </a:rPr>
              <a:t>r</a:t>
            </a:r>
            <a:r>
              <a:rPr sz="3200" spc="-290" dirty="0">
                <a:latin typeface="Arial MT"/>
                <a:cs typeface="Arial MT"/>
              </a:rPr>
              <a:t>y</a:t>
            </a:r>
            <a:r>
              <a:rPr sz="3200" spc="-150" dirty="0">
                <a:latin typeface="Arial MT"/>
                <a:cs typeface="Arial MT"/>
              </a:rPr>
              <a:t> </a:t>
            </a:r>
            <a:r>
              <a:rPr sz="3200" spc="-290" dirty="0">
                <a:latin typeface="Arial MT"/>
                <a:cs typeface="Arial MT"/>
              </a:rPr>
              <a:t>c</a:t>
            </a:r>
            <a:r>
              <a:rPr sz="3200" spc="-270" dirty="0">
                <a:latin typeface="Arial MT"/>
                <a:cs typeface="Arial MT"/>
              </a:rPr>
              <a:t>hips</a:t>
            </a:r>
            <a:r>
              <a:rPr sz="3200" spc="-150" dirty="0">
                <a:latin typeface="Arial MT"/>
                <a:cs typeface="Arial MT"/>
              </a:rPr>
              <a:t> </a:t>
            </a:r>
            <a:r>
              <a:rPr sz="3200" spc="-325" dirty="0">
                <a:latin typeface="Arial MT"/>
                <a:cs typeface="Arial MT"/>
              </a:rPr>
              <a:t>a</a:t>
            </a:r>
            <a:r>
              <a:rPr sz="3200" spc="-200" dirty="0">
                <a:latin typeface="Arial MT"/>
                <a:cs typeface="Arial MT"/>
              </a:rPr>
              <a:t>r</a:t>
            </a:r>
            <a:r>
              <a:rPr sz="3200" spc="-325" dirty="0">
                <a:latin typeface="Arial MT"/>
                <a:cs typeface="Arial MT"/>
              </a:rPr>
              <a:t>e</a:t>
            </a:r>
            <a:r>
              <a:rPr sz="3200" spc="-155" dirty="0">
                <a:latin typeface="Arial MT"/>
                <a:cs typeface="Arial MT"/>
              </a:rPr>
              <a:t> </a:t>
            </a:r>
            <a:r>
              <a:rPr sz="3200" spc="-250" dirty="0">
                <a:latin typeface="Arial MT"/>
                <a:cs typeface="Arial MT"/>
              </a:rPr>
              <a:t>loc</a:t>
            </a:r>
            <a:r>
              <a:rPr sz="3200" spc="-245" dirty="0">
                <a:latin typeface="Arial MT"/>
                <a:cs typeface="Arial MT"/>
              </a:rPr>
              <a:t>at</a:t>
            </a:r>
            <a:r>
              <a:rPr sz="3200" spc="-325" dirty="0">
                <a:latin typeface="Arial MT"/>
                <a:cs typeface="Arial MT"/>
              </a:rPr>
              <a:t>ed</a:t>
            </a:r>
            <a:r>
              <a:rPr sz="3200" spc="-155" dirty="0">
                <a:latin typeface="Arial MT"/>
                <a:cs typeface="Arial MT"/>
              </a:rPr>
              <a:t> </a:t>
            </a:r>
            <a:r>
              <a:rPr sz="3200" spc="-425" dirty="0">
                <a:latin typeface="Arial MT"/>
                <a:cs typeface="Arial MT"/>
              </a:rPr>
              <a:t>w</a:t>
            </a:r>
            <a:r>
              <a:rPr sz="3200" spc="-145" dirty="0">
                <a:latin typeface="Arial MT"/>
                <a:cs typeface="Arial MT"/>
              </a:rPr>
              <a:t>it</a:t>
            </a:r>
            <a:r>
              <a:rPr sz="3200" spc="-260" dirty="0">
                <a:latin typeface="Arial MT"/>
                <a:cs typeface="Arial MT"/>
              </a:rPr>
              <a:t>hin</a:t>
            </a:r>
            <a:r>
              <a:rPr sz="3200" spc="-145" dirty="0">
                <a:latin typeface="Arial MT"/>
                <a:cs typeface="Arial MT"/>
              </a:rPr>
              <a:t> </a:t>
            </a:r>
            <a:r>
              <a:rPr sz="3200" spc="-160" dirty="0">
                <a:latin typeface="Arial MT"/>
                <a:cs typeface="Arial MT"/>
              </a:rPr>
              <a:t>t</a:t>
            </a:r>
            <a:r>
              <a:rPr sz="3200" spc="-325" dirty="0">
                <a:latin typeface="Arial MT"/>
                <a:cs typeface="Arial MT"/>
              </a:rPr>
              <a:t>he</a:t>
            </a:r>
            <a:r>
              <a:rPr sz="3200" spc="-165" dirty="0">
                <a:latin typeface="Arial MT"/>
                <a:cs typeface="Arial MT"/>
              </a:rPr>
              <a:t> </a:t>
            </a:r>
            <a:r>
              <a:rPr sz="3200" spc="-325" dirty="0">
                <a:latin typeface="Arial MT"/>
                <a:cs typeface="Arial MT"/>
              </a:rPr>
              <a:t>add</a:t>
            </a:r>
            <a:r>
              <a:rPr sz="3200" spc="-200" dirty="0">
                <a:latin typeface="Arial MT"/>
                <a:cs typeface="Arial MT"/>
              </a:rPr>
              <a:t>r</a:t>
            </a:r>
            <a:r>
              <a:rPr sz="3200" spc="-245" dirty="0">
                <a:latin typeface="Arial MT"/>
                <a:cs typeface="Arial MT"/>
              </a:rPr>
              <a:t>ess  </a:t>
            </a:r>
            <a:r>
              <a:rPr sz="3200" spc="-275" dirty="0">
                <a:latin typeface="Arial MT"/>
                <a:cs typeface="Arial MT"/>
              </a:rPr>
              <a:t>range.</a:t>
            </a:r>
            <a:endParaRPr sz="3200">
              <a:latin typeface="Arial MT"/>
              <a:cs typeface="Arial MT"/>
            </a:endParaRPr>
          </a:p>
          <a:p>
            <a:pPr marL="1899920">
              <a:lnSpc>
                <a:spcPct val="100000"/>
              </a:lnSpc>
              <a:spcBef>
                <a:spcPts val="65"/>
              </a:spcBef>
              <a:tabLst>
                <a:tab pos="3728720" algn="l"/>
              </a:tabLst>
            </a:pPr>
            <a:r>
              <a:rPr sz="1500" spc="-7" baseline="-5555" dirty="0">
                <a:latin typeface="Arial MT"/>
                <a:cs typeface="Arial MT"/>
              </a:rPr>
              <a:t>0000	</a:t>
            </a:r>
            <a:r>
              <a:rPr sz="1000" spc="-5" dirty="0">
                <a:latin typeface="Arial MT"/>
                <a:cs typeface="Arial MT"/>
              </a:rPr>
              <a:t>0000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36477" y="4723466"/>
            <a:ext cx="336550" cy="686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100"/>
              </a:lnSpc>
              <a:spcBef>
                <a:spcPts val="100"/>
              </a:spcBef>
            </a:pPr>
            <a:r>
              <a:rPr sz="1000" dirty="0">
                <a:latin typeface="Arial MT"/>
                <a:cs typeface="Arial MT"/>
              </a:rPr>
              <a:t>8FFF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9000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850">
              <a:latin typeface="Arial MT"/>
              <a:cs typeface="Arial MT"/>
            </a:endParaRPr>
          </a:p>
          <a:p>
            <a:pPr marL="12700" marR="5080">
              <a:lnSpc>
                <a:spcPts val="1000"/>
              </a:lnSpc>
              <a:spcBef>
                <a:spcPts val="5"/>
              </a:spcBef>
            </a:pPr>
            <a:r>
              <a:rPr sz="1000" spc="-5" dirty="0">
                <a:latin typeface="Arial MT"/>
                <a:cs typeface="Arial MT"/>
              </a:rPr>
              <a:t>A</a:t>
            </a:r>
            <a:r>
              <a:rPr sz="1000" dirty="0">
                <a:latin typeface="Arial MT"/>
                <a:cs typeface="Arial MT"/>
              </a:rPr>
              <a:t>3FF  </a:t>
            </a:r>
            <a:r>
              <a:rPr sz="1000" spc="-5" dirty="0">
                <a:latin typeface="Arial MT"/>
                <a:cs typeface="Arial MT"/>
              </a:rPr>
              <a:t>A</a:t>
            </a:r>
            <a:r>
              <a:rPr sz="1000" dirty="0">
                <a:latin typeface="Arial MT"/>
                <a:cs typeface="Arial MT"/>
              </a:rPr>
              <a:t>4</a:t>
            </a:r>
            <a:r>
              <a:rPr sz="1000" spc="-5" dirty="0">
                <a:latin typeface="Arial MT"/>
                <a:cs typeface="Arial MT"/>
              </a:rPr>
              <a:t>00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321293" y="3281359"/>
            <a:ext cx="76200" cy="444500"/>
            <a:chOff x="5321293" y="3281359"/>
            <a:chExt cx="76200" cy="444500"/>
          </a:xfrm>
        </p:grpSpPr>
        <p:sp>
          <p:nvSpPr>
            <p:cNvPr id="18" name="object 18"/>
            <p:cNvSpPr/>
            <p:nvPr/>
          </p:nvSpPr>
          <p:spPr>
            <a:xfrm>
              <a:off x="5359397" y="3344862"/>
              <a:ext cx="0" cy="317500"/>
            </a:xfrm>
            <a:custGeom>
              <a:avLst/>
              <a:gdLst/>
              <a:ahLst/>
              <a:cxnLst/>
              <a:rect l="l" t="t" r="r" b="b"/>
              <a:pathLst>
                <a:path h="317500">
                  <a:moveTo>
                    <a:pt x="0" y="0"/>
                  </a:moveTo>
                  <a:lnTo>
                    <a:pt x="0" y="3175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321287" y="3281362"/>
              <a:ext cx="76835" cy="444500"/>
            </a:xfrm>
            <a:custGeom>
              <a:avLst/>
              <a:gdLst/>
              <a:ahLst/>
              <a:cxnLst/>
              <a:rect l="l" t="t" r="r" b="b"/>
              <a:pathLst>
                <a:path w="76835" h="444500">
                  <a:moveTo>
                    <a:pt x="76200" y="76212"/>
                  </a:moveTo>
                  <a:lnTo>
                    <a:pt x="38112" y="0"/>
                  </a:lnTo>
                  <a:lnTo>
                    <a:pt x="0" y="76200"/>
                  </a:lnTo>
                  <a:lnTo>
                    <a:pt x="76200" y="76212"/>
                  </a:lnTo>
                  <a:close/>
                </a:path>
                <a:path w="76835" h="444500">
                  <a:moveTo>
                    <a:pt x="76212" y="368300"/>
                  </a:moveTo>
                  <a:lnTo>
                    <a:pt x="12" y="368300"/>
                  </a:lnTo>
                  <a:lnTo>
                    <a:pt x="38112" y="444500"/>
                  </a:lnTo>
                  <a:lnTo>
                    <a:pt x="76212" y="3683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5321293" y="3903659"/>
            <a:ext cx="76200" cy="2311400"/>
            <a:chOff x="5321293" y="3903659"/>
            <a:chExt cx="76200" cy="2311400"/>
          </a:xfrm>
        </p:grpSpPr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21293" y="3903659"/>
              <a:ext cx="76206" cy="374652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359397" y="4360862"/>
              <a:ext cx="0" cy="469900"/>
            </a:xfrm>
            <a:custGeom>
              <a:avLst/>
              <a:gdLst/>
              <a:ahLst/>
              <a:cxnLst/>
              <a:rect l="l" t="t" r="r" b="b"/>
              <a:pathLst>
                <a:path h="469900">
                  <a:moveTo>
                    <a:pt x="0" y="0"/>
                  </a:moveTo>
                  <a:lnTo>
                    <a:pt x="0" y="469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321287" y="4297362"/>
              <a:ext cx="76835" cy="596900"/>
            </a:xfrm>
            <a:custGeom>
              <a:avLst/>
              <a:gdLst/>
              <a:ahLst/>
              <a:cxnLst/>
              <a:rect l="l" t="t" r="r" b="b"/>
              <a:pathLst>
                <a:path w="76835" h="596900">
                  <a:moveTo>
                    <a:pt x="76200" y="76212"/>
                  </a:moveTo>
                  <a:lnTo>
                    <a:pt x="38112" y="0"/>
                  </a:lnTo>
                  <a:lnTo>
                    <a:pt x="0" y="76200"/>
                  </a:lnTo>
                  <a:lnTo>
                    <a:pt x="76200" y="76212"/>
                  </a:lnTo>
                  <a:close/>
                </a:path>
                <a:path w="76835" h="596900">
                  <a:moveTo>
                    <a:pt x="76212" y="520700"/>
                  </a:moveTo>
                  <a:lnTo>
                    <a:pt x="12" y="520700"/>
                  </a:lnTo>
                  <a:lnTo>
                    <a:pt x="38112" y="596900"/>
                  </a:lnTo>
                  <a:lnTo>
                    <a:pt x="76212" y="520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359397" y="4945062"/>
              <a:ext cx="0" cy="215900"/>
            </a:xfrm>
            <a:custGeom>
              <a:avLst/>
              <a:gdLst/>
              <a:ahLst/>
              <a:cxnLst/>
              <a:rect l="l" t="t" r="r" b="b"/>
              <a:pathLst>
                <a:path h="215900">
                  <a:moveTo>
                    <a:pt x="0" y="0"/>
                  </a:moveTo>
                  <a:lnTo>
                    <a:pt x="0" y="215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321287" y="4881562"/>
              <a:ext cx="76835" cy="342900"/>
            </a:xfrm>
            <a:custGeom>
              <a:avLst/>
              <a:gdLst/>
              <a:ahLst/>
              <a:cxnLst/>
              <a:rect l="l" t="t" r="r" b="b"/>
              <a:pathLst>
                <a:path w="76835" h="342900">
                  <a:moveTo>
                    <a:pt x="76200" y="76212"/>
                  </a:moveTo>
                  <a:lnTo>
                    <a:pt x="38112" y="0"/>
                  </a:lnTo>
                  <a:lnTo>
                    <a:pt x="0" y="76200"/>
                  </a:lnTo>
                  <a:lnTo>
                    <a:pt x="76200" y="76212"/>
                  </a:lnTo>
                  <a:close/>
                </a:path>
                <a:path w="76835" h="342900">
                  <a:moveTo>
                    <a:pt x="76212" y="266700"/>
                  </a:moveTo>
                  <a:lnTo>
                    <a:pt x="12" y="266700"/>
                  </a:lnTo>
                  <a:lnTo>
                    <a:pt x="38112" y="342900"/>
                  </a:lnTo>
                  <a:lnTo>
                    <a:pt x="76212" y="266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359397" y="5294312"/>
              <a:ext cx="0" cy="857250"/>
            </a:xfrm>
            <a:custGeom>
              <a:avLst/>
              <a:gdLst/>
              <a:ahLst/>
              <a:cxnLst/>
              <a:rect l="l" t="t" r="r" b="b"/>
              <a:pathLst>
                <a:path h="857250">
                  <a:moveTo>
                    <a:pt x="0" y="0"/>
                  </a:moveTo>
                  <a:lnTo>
                    <a:pt x="0" y="85725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321287" y="5230812"/>
              <a:ext cx="76835" cy="984885"/>
            </a:xfrm>
            <a:custGeom>
              <a:avLst/>
              <a:gdLst/>
              <a:ahLst/>
              <a:cxnLst/>
              <a:rect l="l" t="t" r="r" b="b"/>
              <a:pathLst>
                <a:path w="76835" h="984885">
                  <a:moveTo>
                    <a:pt x="76200" y="76212"/>
                  </a:moveTo>
                  <a:lnTo>
                    <a:pt x="38112" y="0"/>
                  </a:lnTo>
                  <a:lnTo>
                    <a:pt x="0" y="76200"/>
                  </a:lnTo>
                  <a:lnTo>
                    <a:pt x="76200" y="76212"/>
                  </a:lnTo>
                  <a:close/>
                </a:path>
                <a:path w="76835" h="984885">
                  <a:moveTo>
                    <a:pt x="76212" y="908062"/>
                  </a:moveTo>
                  <a:lnTo>
                    <a:pt x="12" y="908062"/>
                  </a:lnTo>
                  <a:lnTo>
                    <a:pt x="38112" y="984262"/>
                  </a:lnTo>
                  <a:lnTo>
                    <a:pt x="76212" y="9080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798377" y="3355847"/>
            <a:ext cx="3070860" cy="1338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6769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Address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Range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of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EPROM Chip</a:t>
            </a:r>
            <a:endParaRPr sz="1200"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  <a:spcBef>
                <a:spcPts val="830"/>
              </a:spcBef>
            </a:pPr>
            <a:r>
              <a:rPr sz="1000" dirty="0">
                <a:latin typeface="Arial MT"/>
                <a:cs typeface="Arial MT"/>
              </a:rPr>
              <a:t>3FFF</a:t>
            </a:r>
            <a:endParaRPr sz="1000">
              <a:latin typeface="Arial MT"/>
              <a:cs typeface="Arial MT"/>
            </a:endParaRPr>
          </a:p>
          <a:p>
            <a:pPr marL="50800">
              <a:lnSpc>
                <a:spcPts val="1115"/>
              </a:lnSpc>
              <a:spcBef>
                <a:spcPts val="200"/>
              </a:spcBef>
            </a:pPr>
            <a:r>
              <a:rPr sz="1000" spc="-5" dirty="0">
                <a:latin typeface="Arial MT"/>
                <a:cs typeface="Arial MT"/>
              </a:rPr>
              <a:t>4400</a:t>
            </a:r>
            <a:endParaRPr sz="1000">
              <a:latin typeface="Arial MT"/>
              <a:cs typeface="Arial MT"/>
            </a:endParaRPr>
          </a:p>
          <a:p>
            <a:pPr marL="826769">
              <a:lnSpc>
                <a:spcPts val="1355"/>
              </a:lnSpc>
            </a:pPr>
            <a:r>
              <a:rPr sz="1200" spc="-5" dirty="0">
                <a:latin typeface="Arial MT"/>
                <a:cs typeface="Arial MT"/>
              </a:rPr>
              <a:t>Address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Range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of</a:t>
            </a:r>
            <a:r>
              <a:rPr sz="120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1</a:t>
            </a:r>
            <a:r>
              <a:rPr sz="1200" spc="-7" baseline="24305" dirty="0">
                <a:latin typeface="Arial MT"/>
                <a:cs typeface="Arial MT"/>
              </a:rPr>
              <a:t>st</a:t>
            </a:r>
            <a:r>
              <a:rPr sz="1200" spc="157" baseline="2430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RAM </a:t>
            </a:r>
            <a:r>
              <a:rPr sz="1200" spc="-10" dirty="0">
                <a:latin typeface="Arial MT"/>
                <a:cs typeface="Arial MT"/>
              </a:rPr>
              <a:t>Chip</a:t>
            </a:r>
            <a:endParaRPr sz="1200">
              <a:latin typeface="Arial MT"/>
              <a:cs typeface="Arial MT"/>
            </a:endParaRPr>
          </a:p>
          <a:p>
            <a:pPr marL="50800">
              <a:lnSpc>
                <a:spcPts val="1100"/>
              </a:lnSpc>
              <a:spcBef>
                <a:spcPts val="30"/>
              </a:spcBef>
            </a:pPr>
            <a:r>
              <a:rPr sz="1000" dirty="0">
                <a:latin typeface="Arial MT"/>
                <a:cs typeface="Arial MT"/>
              </a:rPr>
              <a:t>5FFF</a:t>
            </a:r>
            <a:endParaRPr sz="1000">
              <a:latin typeface="Arial MT"/>
              <a:cs typeface="Arial MT"/>
            </a:endParaRPr>
          </a:p>
          <a:p>
            <a:pPr marL="50800"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6000</a:t>
            </a:r>
            <a:endParaRPr sz="1000">
              <a:latin typeface="Arial MT"/>
              <a:cs typeface="Arial MT"/>
            </a:endParaRPr>
          </a:p>
          <a:p>
            <a:pPr marL="826769">
              <a:lnSpc>
                <a:spcPct val="100000"/>
              </a:lnSpc>
              <a:spcBef>
                <a:spcPts val="530"/>
              </a:spcBef>
            </a:pPr>
            <a:r>
              <a:rPr sz="1200" spc="-5" dirty="0">
                <a:latin typeface="Arial MT"/>
                <a:cs typeface="Arial MT"/>
              </a:rPr>
              <a:t>Address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Range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of</a:t>
            </a:r>
            <a:r>
              <a:rPr sz="120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2</a:t>
            </a:r>
            <a:r>
              <a:rPr sz="1200" spc="-7" baseline="24305" dirty="0">
                <a:latin typeface="Arial MT"/>
                <a:cs typeface="Arial MT"/>
              </a:rPr>
              <a:t>nd</a:t>
            </a:r>
            <a:r>
              <a:rPr sz="1200" spc="172" baseline="2430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RAM </a:t>
            </a:r>
            <a:r>
              <a:rPr sz="1200" spc="-10" dirty="0">
                <a:latin typeface="Arial MT"/>
                <a:cs typeface="Arial MT"/>
              </a:rPr>
              <a:t>Chip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r>
              <a:rPr spc="-5" dirty="0"/>
              <a:t>22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5587365" y="4930699"/>
            <a:ext cx="22459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Address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Range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of 3</a:t>
            </a:r>
            <a:r>
              <a:rPr sz="1200" spc="-7" baseline="24305" dirty="0">
                <a:latin typeface="Arial MT"/>
                <a:cs typeface="Arial MT"/>
              </a:rPr>
              <a:t>rd</a:t>
            </a:r>
            <a:r>
              <a:rPr sz="1200" spc="165" baseline="2430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RAM </a:t>
            </a:r>
            <a:r>
              <a:rPr sz="1200" spc="-10" dirty="0">
                <a:latin typeface="Arial MT"/>
                <a:cs typeface="Arial MT"/>
              </a:rPr>
              <a:t>Chip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823777" y="5578347"/>
            <a:ext cx="3016885" cy="695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0137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Address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Range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of</a:t>
            </a:r>
            <a:r>
              <a:rPr sz="120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4</a:t>
            </a:r>
            <a:r>
              <a:rPr sz="1200" spc="-7" baseline="24305" dirty="0">
                <a:latin typeface="Arial MT"/>
                <a:cs typeface="Arial MT"/>
              </a:rPr>
              <a:t>th</a:t>
            </a:r>
            <a:r>
              <a:rPr sz="1200" spc="165" baseline="2430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RAM </a:t>
            </a:r>
            <a:r>
              <a:rPr sz="1200" spc="-10" dirty="0">
                <a:latin typeface="Arial MT"/>
                <a:cs typeface="Arial MT"/>
              </a:rPr>
              <a:t>Chip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marL="25400">
              <a:lnSpc>
                <a:spcPct val="100000"/>
              </a:lnSpc>
              <a:spcBef>
                <a:spcPts val="1135"/>
              </a:spcBef>
            </a:pPr>
            <a:r>
              <a:rPr sz="1000" dirty="0">
                <a:latin typeface="Arial MT"/>
                <a:cs typeface="Arial MT"/>
              </a:rPr>
              <a:t>F7FF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6350" y="0"/>
            <a:ext cx="9156700" cy="6870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515938" cy="68579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64540" y="1010665"/>
            <a:ext cx="6931659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20" dirty="0">
                <a:solidFill>
                  <a:srgbClr val="FFFFCC"/>
                </a:solidFill>
                <a:latin typeface="Arial MT"/>
                <a:cs typeface="Arial MT"/>
              </a:rPr>
              <a:t>Address</a:t>
            </a:r>
            <a:r>
              <a:rPr spc="-210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470" dirty="0">
                <a:solidFill>
                  <a:srgbClr val="FFFFCC"/>
                </a:solidFill>
                <a:latin typeface="Arial MT"/>
                <a:cs typeface="Arial MT"/>
              </a:rPr>
              <a:t>Range</a:t>
            </a:r>
            <a:r>
              <a:rPr spc="-200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335" dirty="0">
                <a:solidFill>
                  <a:srgbClr val="FFFFCC"/>
                </a:solidFill>
                <a:latin typeface="Arial MT"/>
                <a:cs typeface="Arial MT"/>
              </a:rPr>
              <a:t>of</a:t>
            </a:r>
            <a:r>
              <a:rPr spc="-220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445" dirty="0">
                <a:solidFill>
                  <a:srgbClr val="FFFFCC"/>
                </a:solidFill>
                <a:latin typeface="Arial MT"/>
                <a:cs typeface="Arial MT"/>
              </a:rPr>
              <a:t>a</a:t>
            </a:r>
            <a:r>
              <a:rPr spc="-210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480" dirty="0">
                <a:solidFill>
                  <a:srgbClr val="FFFFCC"/>
                </a:solidFill>
                <a:latin typeface="Arial MT"/>
                <a:cs typeface="Arial MT"/>
              </a:rPr>
              <a:t>Memory</a:t>
            </a:r>
            <a:r>
              <a:rPr spc="-225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400" dirty="0">
                <a:solidFill>
                  <a:srgbClr val="FFFFCC"/>
                </a:solidFill>
                <a:latin typeface="Arial MT"/>
                <a:cs typeface="Arial MT"/>
              </a:rPr>
              <a:t>Chi</a:t>
            </a:r>
            <a:r>
              <a:rPr spc="-445" dirty="0">
                <a:solidFill>
                  <a:srgbClr val="FFFFCC"/>
                </a:solidFill>
                <a:latin typeface="Arial MT"/>
                <a:cs typeface="Arial MT"/>
              </a:rPr>
              <a:t>p</a:t>
            </a: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7239" y="2177796"/>
            <a:ext cx="189738" cy="19888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07439" y="2005837"/>
            <a:ext cx="6844030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800" spc="-290" dirty="0">
                <a:solidFill>
                  <a:srgbClr val="EBEBEB"/>
                </a:solidFill>
                <a:latin typeface="Arial MT"/>
                <a:cs typeface="Arial MT"/>
              </a:rPr>
              <a:t>The</a:t>
            </a:r>
            <a:r>
              <a:rPr sz="2800" spc="-15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60" dirty="0">
                <a:solidFill>
                  <a:srgbClr val="EBEBEB"/>
                </a:solidFill>
                <a:latin typeface="Arial MT"/>
                <a:cs typeface="Arial MT"/>
              </a:rPr>
              <a:t>address</a:t>
            </a:r>
            <a:r>
              <a:rPr sz="2800" spc="-16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60" dirty="0">
                <a:solidFill>
                  <a:srgbClr val="EBEBEB"/>
                </a:solidFill>
                <a:latin typeface="Arial MT"/>
                <a:cs typeface="Arial MT"/>
              </a:rPr>
              <a:t>range</a:t>
            </a:r>
            <a:r>
              <a:rPr sz="2800" spc="-15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10" dirty="0">
                <a:solidFill>
                  <a:srgbClr val="EBEBEB"/>
                </a:solidFill>
                <a:latin typeface="Arial MT"/>
                <a:cs typeface="Arial MT"/>
              </a:rPr>
              <a:t>of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a</a:t>
            </a:r>
            <a:r>
              <a:rPr sz="2800" spc="-15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10" dirty="0">
                <a:solidFill>
                  <a:srgbClr val="EBEBEB"/>
                </a:solidFill>
                <a:latin typeface="Arial MT"/>
                <a:cs typeface="Arial MT"/>
              </a:rPr>
              <a:t>particular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35" dirty="0">
                <a:solidFill>
                  <a:srgbClr val="EBEBEB"/>
                </a:solidFill>
                <a:latin typeface="Arial MT"/>
                <a:cs typeface="Arial MT"/>
              </a:rPr>
              <a:t>chip</a:t>
            </a:r>
            <a:r>
              <a:rPr sz="2800" spc="-15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185" dirty="0">
                <a:solidFill>
                  <a:srgbClr val="EBEBEB"/>
                </a:solidFill>
                <a:latin typeface="Arial MT"/>
                <a:cs typeface="Arial MT"/>
              </a:rPr>
              <a:t>is</a:t>
            </a:r>
            <a:r>
              <a:rPr sz="2800" spc="-14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35" dirty="0">
                <a:solidFill>
                  <a:srgbClr val="EBEBEB"/>
                </a:solidFill>
                <a:latin typeface="Arial MT"/>
                <a:cs typeface="Arial MT"/>
              </a:rPr>
              <a:t>the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155" dirty="0">
                <a:solidFill>
                  <a:srgbClr val="EBEBEB"/>
                </a:solidFill>
                <a:latin typeface="Arial MT"/>
                <a:cs typeface="Arial MT"/>
              </a:rPr>
              <a:t>list</a:t>
            </a:r>
            <a:r>
              <a:rPr sz="2800" spc="-14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10" dirty="0">
                <a:solidFill>
                  <a:srgbClr val="EBEBEB"/>
                </a:solidFill>
                <a:latin typeface="Arial MT"/>
                <a:cs typeface="Arial MT"/>
              </a:rPr>
              <a:t>of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170" dirty="0">
                <a:solidFill>
                  <a:srgbClr val="EBEBEB"/>
                </a:solidFill>
                <a:latin typeface="Arial MT"/>
                <a:cs typeface="Arial MT"/>
              </a:rPr>
              <a:t>all </a:t>
            </a:r>
            <a:r>
              <a:rPr sz="2800" spc="-76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add</a:t>
            </a:r>
            <a:r>
              <a:rPr sz="2800" spc="-175" dirty="0">
                <a:solidFill>
                  <a:srgbClr val="EBEBEB"/>
                </a:solidFill>
                <a:latin typeface="Arial MT"/>
                <a:cs typeface="Arial MT"/>
              </a:rPr>
              <a:t>r</a:t>
            </a:r>
            <a:r>
              <a:rPr sz="2800" spc="-265" dirty="0">
                <a:solidFill>
                  <a:srgbClr val="EBEBEB"/>
                </a:solidFill>
                <a:latin typeface="Arial MT"/>
                <a:cs typeface="Arial MT"/>
              </a:rPr>
              <a:t>esses</a:t>
            </a:r>
            <a:r>
              <a:rPr sz="2800" spc="-16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t</a:t>
            </a:r>
            <a:r>
              <a:rPr sz="2800" spc="-235" dirty="0">
                <a:solidFill>
                  <a:srgbClr val="EBEBEB"/>
                </a:solidFill>
                <a:latin typeface="Arial MT"/>
                <a:cs typeface="Arial MT"/>
              </a:rPr>
              <a:t>hat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a</a:t>
            </a:r>
            <a:r>
              <a:rPr sz="2800" spc="-175" dirty="0">
                <a:solidFill>
                  <a:srgbClr val="EBEBEB"/>
                </a:solidFill>
                <a:latin typeface="Arial MT"/>
                <a:cs typeface="Arial MT"/>
              </a:rPr>
              <a:t>r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e</a:t>
            </a:r>
            <a:r>
              <a:rPr sz="2800" spc="-15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305" dirty="0">
                <a:solidFill>
                  <a:srgbClr val="EBEBEB"/>
                </a:solidFill>
                <a:latin typeface="Arial MT"/>
                <a:cs typeface="Arial MT"/>
              </a:rPr>
              <a:t>mapped</a:t>
            </a:r>
            <a:r>
              <a:rPr sz="2800" spc="-16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t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o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t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he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15" dirty="0">
                <a:solidFill>
                  <a:srgbClr val="EBEBEB"/>
                </a:solidFill>
                <a:latin typeface="Arial MT"/>
                <a:cs typeface="Arial MT"/>
              </a:rPr>
              <a:t>chip.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34439" y="3531869"/>
            <a:ext cx="152400" cy="16002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507489" y="3372866"/>
            <a:ext cx="6859270" cy="2660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06375">
              <a:lnSpc>
                <a:spcPct val="100000"/>
              </a:lnSpc>
              <a:spcBef>
                <a:spcPts val="100"/>
              </a:spcBef>
            </a:pPr>
            <a:r>
              <a:rPr sz="2400" spc="-265" dirty="0">
                <a:latin typeface="Arial MT"/>
                <a:cs typeface="Arial MT"/>
              </a:rPr>
              <a:t>An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spc="-235" dirty="0">
                <a:latin typeface="Arial MT"/>
                <a:cs typeface="Arial MT"/>
              </a:rPr>
              <a:t>example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75" dirty="0">
                <a:latin typeface="Arial MT"/>
                <a:cs typeface="Arial MT"/>
              </a:rPr>
              <a:t>for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204" dirty="0">
                <a:latin typeface="Arial MT"/>
                <a:cs typeface="Arial MT"/>
              </a:rPr>
              <a:t>the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225" dirty="0">
                <a:latin typeface="Arial MT"/>
                <a:cs typeface="Arial MT"/>
              </a:rPr>
              <a:t>address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229" dirty="0">
                <a:latin typeface="Arial MT"/>
                <a:cs typeface="Arial MT"/>
              </a:rPr>
              <a:t>range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245" dirty="0">
                <a:latin typeface="Arial MT"/>
                <a:cs typeface="Arial MT"/>
              </a:rPr>
              <a:t>and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50" dirty="0">
                <a:latin typeface="Arial MT"/>
                <a:cs typeface="Arial MT"/>
              </a:rPr>
              <a:t>its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90" dirty="0">
                <a:latin typeface="Arial MT"/>
                <a:cs typeface="Arial MT"/>
              </a:rPr>
              <a:t>relationship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85" dirty="0">
                <a:latin typeface="Arial MT"/>
                <a:cs typeface="Arial MT"/>
              </a:rPr>
              <a:t>to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210" dirty="0">
                <a:latin typeface="Arial MT"/>
                <a:cs typeface="Arial MT"/>
              </a:rPr>
              <a:t>the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265" dirty="0">
                <a:latin typeface="Arial MT"/>
                <a:cs typeface="Arial MT"/>
              </a:rPr>
              <a:t>memory</a:t>
            </a:r>
            <a:r>
              <a:rPr sz="2400" spc="-260" dirty="0">
                <a:latin typeface="Arial MT"/>
                <a:cs typeface="Arial MT"/>
              </a:rPr>
              <a:t> </a:t>
            </a:r>
            <a:r>
              <a:rPr sz="2400" spc="-204" dirty="0">
                <a:latin typeface="Arial MT"/>
                <a:cs typeface="Arial MT"/>
              </a:rPr>
              <a:t>chips </a:t>
            </a:r>
            <a:r>
              <a:rPr sz="2400" spc="-229" dirty="0">
                <a:latin typeface="Arial MT"/>
                <a:cs typeface="Arial MT"/>
              </a:rPr>
              <a:t>would</a:t>
            </a:r>
            <a:r>
              <a:rPr sz="2400" spc="-225" dirty="0">
                <a:latin typeface="Arial MT"/>
                <a:cs typeface="Arial MT"/>
              </a:rPr>
              <a:t> </a:t>
            </a:r>
            <a:r>
              <a:rPr sz="2400" spc="-245" dirty="0">
                <a:latin typeface="Arial MT"/>
                <a:cs typeface="Arial MT"/>
              </a:rPr>
              <a:t>be</a:t>
            </a:r>
            <a:r>
              <a:rPr sz="2400" spc="-240" dirty="0">
                <a:latin typeface="Arial MT"/>
                <a:cs typeface="Arial MT"/>
              </a:rPr>
              <a:t> </a:t>
            </a:r>
            <a:r>
              <a:rPr sz="2400" spc="-204" dirty="0">
                <a:latin typeface="Arial MT"/>
                <a:cs typeface="Arial MT"/>
              </a:rPr>
              <a:t>the </a:t>
            </a:r>
            <a:r>
              <a:rPr sz="2400" spc="-220" dirty="0">
                <a:latin typeface="Arial MT"/>
                <a:cs typeface="Arial MT"/>
              </a:rPr>
              <a:t>Post </a:t>
            </a:r>
            <a:r>
              <a:rPr sz="2400" spc="-195" dirty="0">
                <a:latin typeface="Arial MT"/>
                <a:cs typeface="Arial MT"/>
              </a:rPr>
              <a:t>Office </a:t>
            </a:r>
            <a:r>
              <a:rPr sz="2400" spc="-245" dirty="0">
                <a:latin typeface="Arial MT"/>
                <a:cs typeface="Arial MT"/>
              </a:rPr>
              <a:t>Boxes</a:t>
            </a:r>
            <a:r>
              <a:rPr sz="2400" spc="-240" dirty="0">
                <a:latin typeface="Arial MT"/>
                <a:cs typeface="Arial MT"/>
              </a:rPr>
              <a:t> </a:t>
            </a:r>
            <a:r>
              <a:rPr sz="2400" spc="-170" dirty="0">
                <a:latin typeface="Arial MT"/>
                <a:cs typeface="Arial MT"/>
              </a:rPr>
              <a:t>in </a:t>
            </a:r>
            <a:r>
              <a:rPr sz="2400" spc="-204" dirty="0">
                <a:latin typeface="Arial MT"/>
                <a:cs typeface="Arial MT"/>
              </a:rPr>
              <a:t>the </a:t>
            </a:r>
            <a:r>
              <a:rPr sz="2400" spc="-210" dirty="0">
                <a:latin typeface="Arial MT"/>
                <a:cs typeface="Arial MT"/>
              </a:rPr>
              <a:t>post </a:t>
            </a:r>
            <a:r>
              <a:rPr sz="2400" spc="-204" dirty="0">
                <a:latin typeface="Arial MT"/>
                <a:cs typeface="Arial MT"/>
              </a:rPr>
              <a:t> </a:t>
            </a:r>
            <a:r>
              <a:rPr sz="2400" spc="-170" dirty="0">
                <a:latin typeface="Arial MT"/>
                <a:cs typeface="Arial MT"/>
              </a:rPr>
              <a:t>office.</a:t>
            </a:r>
            <a:endParaRPr sz="2400">
              <a:latin typeface="Arial MT"/>
              <a:cs typeface="Arial MT"/>
            </a:endParaRPr>
          </a:p>
          <a:p>
            <a:pPr marL="869315" marR="45720" indent="-228600">
              <a:lnSpc>
                <a:spcPct val="100000"/>
              </a:lnSpc>
              <a:spcBef>
                <a:spcPts val="440"/>
              </a:spcBef>
              <a:buChar char="•"/>
              <a:tabLst>
                <a:tab pos="869315" algn="l"/>
                <a:tab pos="869950" algn="l"/>
              </a:tabLst>
            </a:pPr>
            <a:r>
              <a:rPr sz="1800" spc="-185" dirty="0">
                <a:latin typeface="Arial MT"/>
                <a:cs typeface="Arial MT"/>
              </a:rPr>
              <a:t>Each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spc="-175" dirty="0">
                <a:latin typeface="Arial MT"/>
                <a:cs typeface="Arial MT"/>
              </a:rPr>
              <a:t>box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spc="-175" dirty="0">
                <a:latin typeface="Arial MT"/>
                <a:cs typeface="Arial MT"/>
              </a:rPr>
              <a:t>has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spc="-110" dirty="0">
                <a:latin typeface="Arial MT"/>
                <a:cs typeface="Arial MT"/>
              </a:rPr>
              <a:t>its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spc="-165" dirty="0">
                <a:latin typeface="Arial MT"/>
                <a:cs typeface="Arial MT"/>
              </a:rPr>
              <a:t>unique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spc="-185" dirty="0">
                <a:latin typeface="Arial MT"/>
                <a:cs typeface="Arial MT"/>
              </a:rPr>
              <a:t>number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spc="-140" dirty="0">
                <a:latin typeface="Arial MT"/>
                <a:cs typeface="Arial MT"/>
              </a:rPr>
              <a:t>that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spc="-120" dirty="0">
                <a:latin typeface="Arial MT"/>
                <a:cs typeface="Arial MT"/>
              </a:rPr>
              <a:t>is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spc="-165" dirty="0">
                <a:latin typeface="Arial MT"/>
                <a:cs typeface="Arial MT"/>
              </a:rPr>
              <a:t>assigned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spc="-140" dirty="0">
                <a:latin typeface="Arial MT"/>
                <a:cs typeface="Arial MT"/>
              </a:rPr>
              <a:t>sequentially.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spc="-185" dirty="0">
                <a:latin typeface="Arial MT"/>
                <a:cs typeface="Arial MT"/>
              </a:rPr>
              <a:t>(memory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-140" dirty="0">
                <a:latin typeface="Arial MT"/>
                <a:cs typeface="Arial MT"/>
              </a:rPr>
              <a:t>locations)</a:t>
            </a:r>
            <a:endParaRPr sz="1800">
              <a:latin typeface="Arial MT"/>
              <a:cs typeface="Arial MT"/>
            </a:endParaRPr>
          </a:p>
          <a:p>
            <a:pPr marL="869950" indent="-229235">
              <a:lnSpc>
                <a:spcPct val="100000"/>
              </a:lnSpc>
              <a:spcBef>
                <a:spcPts val="434"/>
              </a:spcBef>
              <a:buChar char="•"/>
              <a:tabLst>
                <a:tab pos="869315" algn="l"/>
                <a:tab pos="869950" algn="l"/>
              </a:tabLst>
            </a:pPr>
            <a:r>
              <a:rPr sz="1800" spc="-204" dirty="0">
                <a:latin typeface="Arial MT"/>
                <a:cs typeface="Arial MT"/>
              </a:rPr>
              <a:t>T</a:t>
            </a:r>
            <a:r>
              <a:rPr sz="1800" spc="-185" dirty="0">
                <a:latin typeface="Arial MT"/>
                <a:cs typeface="Arial MT"/>
              </a:rPr>
              <a:t>he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spc="-175" dirty="0">
                <a:latin typeface="Arial MT"/>
                <a:cs typeface="Arial MT"/>
              </a:rPr>
              <a:t>boxes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spc="-160" dirty="0">
                <a:latin typeface="Arial MT"/>
                <a:cs typeface="Arial MT"/>
              </a:rPr>
              <a:t>are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spc="-170" dirty="0">
                <a:latin typeface="Arial MT"/>
                <a:cs typeface="Arial MT"/>
              </a:rPr>
              <a:t>grouped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spc="-130" dirty="0">
                <a:latin typeface="Arial MT"/>
                <a:cs typeface="Arial MT"/>
              </a:rPr>
              <a:t>in</a:t>
            </a:r>
            <a:r>
              <a:rPr sz="1800" spc="-95" dirty="0">
                <a:latin typeface="Arial MT"/>
                <a:cs typeface="Arial MT"/>
              </a:rPr>
              <a:t>t</a:t>
            </a:r>
            <a:r>
              <a:rPr sz="1800" spc="-185" dirty="0">
                <a:latin typeface="Arial MT"/>
                <a:cs typeface="Arial MT"/>
              </a:rPr>
              <a:t>o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spc="-170" dirty="0">
                <a:latin typeface="Arial MT"/>
                <a:cs typeface="Arial MT"/>
              </a:rPr>
              <a:t>groups</a:t>
            </a:r>
            <a:r>
              <a:rPr sz="1800" spc="-90" dirty="0">
                <a:latin typeface="Arial MT"/>
                <a:cs typeface="Arial MT"/>
              </a:rPr>
              <a:t>.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spc="-110" dirty="0">
                <a:latin typeface="Arial MT"/>
                <a:cs typeface="Arial MT"/>
              </a:rPr>
              <a:t>(</a:t>
            </a:r>
            <a:r>
              <a:rPr sz="1800" spc="-200" dirty="0">
                <a:latin typeface="Arial MT"/>
                <a:cs typeface="Arial MT"/>
              </a:rPr>
              <a:t>memory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spc="-165" dirty="0">
                <a:latin typeface="Arial MT"/>
                <a:cs typeface="Arial MT"/>
              </a:rPr>
              <a:t>c</a:t>
            </a:r>
            <a:r>
              <a:rPr sz="1800" spc="-145" dirty="0">
                <a:latin typeface="Arial MT"/>
                <a:cs typeface="Arial MT"/>
              </a:rPr>
              <a:t>hips)</a:t>
            </a:r>
            <a:endParaRPr sz="1800">
              <a:latin typeface="Arial MT"/>
              <a:cs typeface="Arial MT"/>
            </a:endParaRPr>
          </a:p>
          <a:p>
            <a:pPr marL="869315" marR="5080" indent="-228600">
              <a:lnSpc>
                <a:spcPct val="100000"/>
              </a:lnSpc>
              <a:spcBef>
                <a:spcPts val="430"/>
              </a:spcBef>
              <a:buChar char="•"/>
              <a:tabLst>
                <a:tab pos="869315" algn="l"/>
                <a:tab pos="869950" algn="l"/>
              </a:tabLst>
            </a:pPr>
            <a:r>
              <a:rPr sz="1800" spc="-190" dirty="0">
                <a:latin typeface="Arial MT"/>
                <a:cs typeface="Arial MT"/>
              </a:rPr>
              <a:t>The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spc="-110" dirty="0">
                <a:latin typeface="Arial MT"/>
                <a:cs typeface="Arial MT"/>
              </a:rPr>
              <a:t>first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spc="-175" dirty="0">
                <a:latin typeface="Arial MT"/>
                <a:cs typeface="Arial MT"/>
              </a:rPr>
              <a:t>box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spc="-130" dirty="0">
                <a:latin typeface="Arial MT"/>
                <a:cs typeface="Arial MT"/>
              </a:rPr>
              <a:t>in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spc="-185" dirty="0">
                <a:latin typeface="Arial MT"/>
                <a:cs typeface="Arial MT"/>
              </a:rPr>
              <a:t>a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spc="-170" dirty="0">
                <a:latin typeface="Arial MT"/>
                <a:cs typeface="Arial MT"/>
              </a:rPr>
              <a:t>group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spc="-175" dirty="0">
                <a:latin typeface="Arial MT"/>
                <a:cs typeface="Arial MT"/>
              </a:rPr>
              <a:t>has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spc="-155" dirty="0">
                <a:latin typeface="Arial MT"/>
                <a:cs typeface="Arial MT"/>
              </a:rPr>
              <a:t>the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spc="-185" dirty="0">
                <a:latin typeface="Arial MT"/>
                <a:cs typeface="Arial MT"/>
              </a:rPr>
              <a:t>number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spc="-160" dirty="0">
                <a:latin typeface="Arial MT"/>
                <a:cs typeface="Arial MT"/>
              </a:rPr>
              <a:t>immediately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spc="-135" dirty="0">
                <a:latin typeface="Arial MT"/>
                <a:cs typeface="Arial MT"/>
              </a:rPr>
              <a:t>after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spc="-155" dirty="0">
                <a:latin typeface="Arial MT"/>
                <a:cs typeface="Arial MT"/>
              </a:rPr>
              <a:t>the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spc="-130" dirty="0">
                <a:latin typeface="Arial MT"/>
                <a:cs typeface="Arial MT"/>
              </a:rPr>
              <a:t>last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spc="-175" dirty="0">
                <a:latin typeface="Arial MT"/>
                <a:cs typeface="Arial MT"/>
              </a:rPr>
              <a:t>box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spc="-130" dirty="0">
                <a:latin typeface="Arial MT"/>
                <a:cs typeface="Arial MT"/>
              </a:rPr>
              <a:t>in </a:t>
            </a:r>
            <a:r>
              <a:rPr sz="1800" spc="-490" dirty="0">
                <a:latin typeface="Arial MT"/>
                <a:cs typeface="Arial MT"/>
              </a:rPr>
              <a:t> </a:t>
            </a:r>
            <a:r>
              <a:rPr sz="1800" spc="-95" dirty="0">
                <a:latin typeface="Arial MT"/>
                <a:cs typeface="Arial MT"/>
              </a:rPr>
              <a:t>t</a:t>
            </a:r>
            <a:r>
              <a:rPr sz="1800" spc="-185" dirty="0">
                <a:latin typeface="Arial MT"/>
                <a:cs typeface="Arial MT"/>
              </a:rPr>
              <a:t>he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spc="-155" dirty="0">
                <a:latin typeface="Arial MT"/>
                <a:cs typeface="Arial MT"/>
              </a:rPr>
              <a:t>previous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spc="-145" dirty="0">
                <a:latin typeface="Arial MT"/>
                <a:cs typeface="Arial MT"/>
              </a:rPr>
              <a:t>gr</a:t>
            </a:r>
            <a:r>
              <a:rPr sz="1800" spc="-160" dirty="0">
                <a:latin typeface="Arial MT"/>
                <a:cs typeface="Arial MT"/>
              </a:rPr>
              <a:t>oup.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r>
              <a:rPr spc="-5" dirty="0"/>
              <a:t>23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6350" y="0"/>
            <a:ext cx="9156700" cy="6870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515938" cy="68579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64540" y="1010665"/>
            <a:ext cx="6931659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20" dirty="0">
                <a:solidFill>
                  <a:srgbClr val="FFFFCC"/>
                </a:solidFill>
                <a:latin typeface="Arial MT"/>
                <a:cs typeface="Arial MT"/>
              </a:rPr>
              <a:t>Address</a:t>
            </a:r>
            <a:r>
              <a:rPr spc="-210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470" dirty="0">
                <a:solidFill>
                  <a:srgbClr val="FFFFCC"/>
                </a:solidFill>
                <a:latin typeface="Arial MT"/>
                <a:cs typeface="Arial MT"/>
              </a:rPr>
              <a:t>Range</a:t>
            </a:r>
            <a:r>
              <a:rPr spc="-200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335" dirty="0">
                <a:solidFill>
                  <a:srgbClr val="FFFFCC"/>
                </a:solidFill>
                <a:latin typeface="Arial MT"/>
                <a:cs typeface="Arial MT"/>
              </a:rPr>
              <a:t>of</a:t>
            </a:r>
            <a:r>
              <a:rPr spc="-220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445" dirty="0">
                <a:solidFill>
                  <a:srgbClr val="FFFFCC"/>
                </a:solidFill>
                <a:latin typeface="Arial MT"/>
                <a:cs typeface="Arial MT"/>
              </a:rPr>
              <a:t>a</a:t>
            </a:r>
            <a:r>
              <a:rPr spc="-210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480" dirty="0">
                <a:solidFill>
                  <a:srgbClr val="FFFFCC"/>
                </a:solidFill>
                <a:latin typeface="Arial MT"/>
                <a:cs typeface="Arial MT"/>
              </a:rPr>
              <a:t>Memory</a:t>
            </a:r>
            <a:r>
              <a:rPr spc="-225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400" dirty="0">
                <a:solidFill>
                  <a:srgbClr val="FFFFCC"/>
                </a:solidFill>
                <a:latin typeface="Arial MT"/>
                <a:cs typeface="Arial MT"/>
              </a:rPr>
              <a:t>Chi</a:t>
            </a:r>
            <a:r>
              <a:rPr spc="-445" dirty="0">
                <a:solidFill>
                  <a:srgbClr val="FFFFCC"/>
                </a:solidFill>
                <a:latin typeface="Arial MT"/>
                <a:cs typeface="Arial MT"/>
              </a:rPr>
              <a:t>p</a:t>
            </a: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4439" y="2129790"/>
            <a:ext cx="152400" cy="16002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4439" y="4260341"/>
            <a:ext cx="152400" cy="16002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07288" y="1970785"/>
            <a:ext cx="7479030" cy="44945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612775" marR="86360">
              <a:lnSpc>
                <a:spcPts val="2590"/>
              </a:lnSpc>
              <a:spcBef>
                <a:spcPts val="425"/>
              </a:spcBef>
            </a:pPr>
            <a:r>
              <a:rPr sz="2400" spc="-254" dirty="0">
                <a:latin typeface="Arial MT"/>
                <a:cs typeface="Arial MT"/>
              </a:rPr>
              <a:t>The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240" dirty="0">
                <a:latin typeface="Arial MT"/>
                <a:cs typeface="Arial MT"/>
              </a:rPr>
              <a:t>above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240" dirty="0">
                <a:latin typeface="Arial MT"/>
                <a:cs typeface="Arial MT"/>
              </a:rPr>
              <a:t>example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235" dirty="0">
                <a:latin typeface="Arial MT"/>
                <a:cs typeface="Arial MT"/>
              </a:rPr>
              <a:t>can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245" dirty="0">
                <a:latin typeface="Arial MT"/>
                <a:cs typeface="Arial MT"/>
              </a:rPr>
              <a:t>be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210" dirty="0">
                <a:latin typeface="Arial MT"/>
                <a:cs typeface="Arial MT"/>
              </a:rPr>
              <a:t>modified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70" dirty="0">
                <a:latin typeface="Arial MT"/>
                <a:cs typeface="Arial MT"/>
              </a:rPr>
              <a:t>slightly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85" dirty="0">
                <a:latin typeface="Arial MT"/>
                <a:cs typeface="Arial MT"/>
              </a:rPr>
              <a:t>to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270" dirty="0">
                <a:latin typeface="Arial MT"/>
                <a:cs typeface="Arial MT"/>
              </a:rPr>
              <a:t>make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10" dirty="0">
                <a:latin typeface="Arial MT"/>
                <a:cs typeface="Arial MT"/>
              </a:rPr>
              <a:t>it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95" dirty="0">
                <a:latin typeface="Arial MT"/>
                <a:cs typeface="Arial MT"/>
              </a:rPr>
              <a:t>closer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125" dirty="0">
                <a:latin typeface="Arial MT"/>
                <a:cs typeface="Arial MT"/>
              </a:rPr>
              <a:t>t</a:t>
            </a:r>
            <a:r>
              <a:rPr sz="2400" spc="-240" dirty="0">
                <a:latin typeface="Arial MT"/>
                <a:cs typeface="Arial MT"/>
              </a:rPr>
              <a:t>o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250" dirty="0">
                <a:latin typeface="Arial MT"/>
                <a:cs typeface="Arial MT"/>
              </a:rPr>
              <a:t>ou</a:t>
            </a:r>
            <a:r>
              <a:rPr sz="2400" spc="-145" dirty="0">
                <a:latin typeface="Arial MT"/>
                <a:cs typeface="Arial MT"/>
              </a:rPr>
              <a:t>r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250" dirty="0">
                <a:latin typeface="Arial MT"/>
                <a:cs typeface="Arial MT"/>
              </a:rPr>
              <a:t>d</a:t>
            </a:r>
            <a:r>
              <a:rPr sz="2400" spc="-100" dirty="0">
                <a:latin typeface="Arial MT"/>
                <a:cs typeface="Arial MT"/>
              </a:rPr>
              <a:t>i</a:t>
            </a:r>
            <a:r>
              <a:rPr sz="2400" spc="-225" dirty="0">
                <a:latin typeface="Arial MT"/>
                <a:cs typeface="Arial MT"/>
              </a:rPr>
              <a:t>scuss</a:t>
            </a:r>
            <a:r>
              <a:rPr sz="2400" spc="-95" dirty="0">
                <a:latin typeface="Arial MT"/>
                <a:cs typeface="Arial MT"/>
              </a:rPr>
              <a:t>i</a:t>
            </a:r>
            <a:r>
              <a:rPr sz="2400" spc="-240" dirty="0">
                <a:latin typeface="Arial MT"/>
                <a:cs typeface="Arial MT"/>
              </a:rPr>
              <a:t>o</a:t>
            </a:r>
            <a:r>
              <a:rPr sz="2400" spc="-245" dirty="0">
                <a:latin typeface="Arial MT"/>
                <a:cs typeface="Arial MT"/>
              </a:rPr>
              <a:t>n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250" dirty="0">
                <a:latin typeface="Arial MT"/>
                <a:cs typeface="Arial MT"/>
              </a:rPr>
              <a:t>o</a:t>
            </a:r>
            <a:r>
              <a:rPr sz="2400" spc="-245" dirty="0">
                <a:latin typeface="Arial MT"/>
                <a:cs typeface="Arial MT"/>
              </a:rPr>
              <a:t>n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275" dirty="0">
                <a:latin typeface="Arial MT"/>
                <a:cs typeface="Arial MT"/>
              </a:rPr>
              <a:t>memor</a:t>
            </a:r>
            <a:r>
              <a:rPr sz="2400" spc="-220" dirty="0">
                <a:latin typeface="Arial MT"/>
                <a:cs typeface="Arial MT"/>
              </a:rPr>
              <a:t>y</a:t>
            </a:r>
            <a:r>
              <a:rPr sz="2400" spc="-120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 marL="1470025" indent="-229235">
              <a:lnSpc>
                <a:spcPct val="100000"/>
              </a:lnSpc>
              <a:spcBef>
                <a:spcPts val="195"/>
              </a:spcBef>
              <a:buChar char="•"/>
              <a:tabLst>
                <a:tab pos="1470025" algn="l"/>
                <a:tab pos="1470660" algn="l"/>
              </a:tabLst>
            </a:pPr>
            <a:r>
              <a:rPr sz="1800" spc="-140" dirty="0">
                <a:latin typeface="Arial MT"/>
                <a:cs typeface="Arial MT"/>
              </a:rPr>
              <a:t>Let’s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spc="-170" dirty="0">
                <a:latin typeface="Arial MT"/>
                <a:cs typeface="Arial MT"/>
              </a:rPr>
              <a:t>say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spc="-140" dirty="0">
                <a:latin typeface="Arial MT"/>
                <a:cs typeface="Arial MT"/>
              </a:rPr>
              <a:t>that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spc="-130" dirty="0">
                <a:latin typeface="Arial MT"/>
                <a:cs typeface="Arial MT"/>
              </a:rPr>
              <a:t>this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spc="-155" dirty="0">
                <a:latin typeface="Arial MT"/>
                <a:cs typeface="Arial MT"/>
              </a:rPr>
              <a:t>post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spc="-135" dirty="0">
                <a:latin typeface="Arial MT"/>
                <a:cs typeface="Arial MT"/>
              </a:rPr>
              <a:t>office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spc="-175" dirty="0">
                <a:latin typeface="Arial MT"/>
                <a:cs typeface="Arial MT"/>
              </a:rPr>
              <a:t>has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spc="-150" dirty="0">
                <a:latin typeface="Arial MT"/>
                <a:cs typeface="Arial MT"/>
              </a:rPr>
              <a:t>only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spc="-185" dirty="0">
                <a:latin typeface="Arial MT"/>
                <a:cs typeface="Arial MT"/>
              </a:rPr>
              <a:t>1000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spc="-160" dirty="0">
                <a:latin typeface="Arial MT"/>
                <a:cs typeface="Arial MT"/>
              </a:rPr>
              <a:t>boxes.</a:t>
            </a:r>
            <a:endParaRPr sz="1800">
              <a:latin typeface="Arial MT"/>
              <a:cs typeface="Arial MT"/>
            </a:endParaRPr>
          </a:p>
          <a:p>
            <a:pPr marL="1470025" marR="30480" indent="-228600">
              <a:lnSpc>
                <a:spcPts val="1939"/>
              </a:lnSpc>
              <a:spcBef>
                <a:spcPts val="464"/>
              </a:spcBef>
              <a:buChar char="•"/>
              <a:tabLst>
                <a:tab pos="1470025" algn="l"/>
                <a:tab pos="1470660" algn="l"/>
              </a:tabLst>
            </a:pPr>
            <a:r>
              <a:rPr sz="1800" spc="-140" dirty="0">
                <a:latin typeface="Arial MT"/>
                <a:cs typeface="Arial MT"/>
              </a:rPr>
              <a:t>Let’s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spc="-150" dirty="0">
                <a:latin typeface="Arial MT"/>
                <a:cs typeface="Arial MT"/>
              </a:rPr>
              <a:t>also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spc="-170" dirty="0">
                <a:latin typeface="Arial MT"/>
                <a:cs typeface="Arial MT"/>
              </a:rPr>
              <a:t>say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spc="-140" dirty="0">
                <a:latin typeface="Arial MT"/>
                <a:cs typeface="Arial MT"/>
              </a:rPr>
              <a:t>that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spc="-160" dirty="0">
                <a:latin typeface="Arial MT"/>
                <a:cs typeface="Arial MT"/>
              </a:rPr>
              <a:t>these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spc="-160" dirty="0">
                <a:latin typeface="Arial MT"/>
                <a:cs typeface="Arial MT"/>
              </a:rPr>
              <a:t>are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spc="-170" dirty="0">
                <a:latin typeface="Arial MT"/>
                <a:cs typeface="Arial MT"/>
              </a:rPr>
              <a:t>grouped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spc="-135" dirty="0">
                <a:latin typeface="Arial MT"/>
                <a:cs typeface="Arial MT"/>
              </a:rPr>
              <a:t>into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spc="-185" dirty="0">
                <a:latin typeface="Arial MT"/>
                <a:cs typeface="Arial MT"/>
              </a:rPr>
              <a:t>10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spc="-170" dirty="0">
                <a:latin typeface="Arial MT"/>
                <a:cs typeface="Arial MT"/>
              </a:rPr>
              <a:t>groups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spc="-135" dirty="0">
                <a:latin typeface="Arial MT"/>
                <a:cs typeface="Arial MT"/>
              </a:rPr>
              <a:t>of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spc="-185" dirty="0">
                <a:latin typeface="Arial MT"/>
                <a:cs typeface="Arial MT"/>
              </a:rPr>
              <a:t>100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spc="-175" dirty="0">
                <a:latin typeface="Arial MT"/>
                <a:cs typeface="Arial MT"/>
              </a:rPr>
              <a:t>boxes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spc="-160" dirty="0">
                <a:latin typeface="Arial MT"/>
                <a:cs typeface="Arial MT"/>
              </a:rPr>
              <a:t>each.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-185" dirty="0">
                <a:latin typeface="Arial MT"/>
                <a:cs typeface="Arial MT"/>
              </a:rPr>
              <a:t>Boxes</a:t>
            </a:r>
            <a:r>
              <a:rPr sz="1800" spc="-180" dirty="0">
                <a:latin typeface="Arial MT"/>
                <a:cs typeface="Arial MT"/>
              </a:rPr>
              <a:t> </a:t>
            </a:r>
            <a:r>
              <a:rPr sz="1800" spc="-185" dirty="0">
                <a:latin typeface="Arial MT"/>
                <a:cs typeface="Arial MT"/>
              </a:rPr>
              <a:t>0000</a:t>
            </a:r>
            <a:r>
              <a:rPr sz="1800" spc="-180" dirty="0">
                <a:latin typeface="Arial MT"/>
                <a:cs typeface="Arial MT"/>
              </a:rPr>
              <a:t> </a:t>
            </a:r>
            <a:r>
              <a:rPr sz="1800" spc="-140" dirty="0">
                <a:latin typeface="Arial MT"/>
                <a:cs typeface="Arial MT"/>
              </a:rPr>
              <a:t>to </a:t>
            </a:r>
            <a:r>
              <a:rPr sz="1800" spc="-185" dirty="0">
                <a:latin typeface="Arial MT"/>
                <a:cs typeface="Arial MT"/>
              </a:rPr>
              <a:t>0099</a:t>
            </a:r>
            <a:r>
              <a:rPr sz="1800" spc="-180" dirty="0">
                <a:latin typeface="Arial MT"/>
                <a:cs typeface="Arial MT"/>
              </a:rPr>
              <a:t> </a:t>
            </a:r>
            <a:r>
              <a:rPr sz="1800" spc="-160" dirty="0">
                <a:latin typeface="Arial MT"/>
                <a:cs typeface="Arial MT"/>
              </a:rPr>
              <a:t>are </a:t>
            </a:r>
            <a:r>
              <a:rPr sz="1800" spc="-130" dirty="0">
                <a:latin typeface="Arial MT"/>
                <a:cs typeface="Arial MT"/>
              </a:rPr>
              <a:t>in </a:t>
            </a:r>
            <a:r>
              <a:rPr sz="1800" spc="-170" dirty="0">
                <a:latin typeface="Arial MT"/>
                <a:cs typeface="Arial MT"/>
              </a:rPr>
              <a:t>group </a:t>
            </a:r>
            <a:r>
              <a:rPr sz="1800" spc="-135" dirty="0">
                <a:latin typeface="Arial MT"/>
                <a:cs typeface="Arial MT"/>
              </a:rPr>
              <a:t>0, </a:t>
            </a:r>
            <a:r>
              <a:rPr sz="1800" spc="-175" dirty="0">
                <a:latin typeface="Arial MT"/>
                <a:cs typeface="Arial MT"/>
              </a:rPr>
              <a:t>boxes </a:t>
            </a:r>
            <a:r>
              <a:rPr sz="1800" spc="-185" dirty="0">
                <a:latin typeface="Arial MT"/>
                <a:cs typeface="Arial MT"/>
              </a:rPr>
              <a:t>0100</a:t>
            </a:r>
            <a:r>
              <a:rPr sz="1800" spc="-180" dirty="0">
                <a:latin typeface="Arial MT"/>
                <a:cs typeface="Arial MT"/>
              </a:rPr>
              <a:t> </a:t>
            </a:r>
            <a:r>
              <a:rPr sz="1800" spc="-140" dirty="0">
                <a:latin typeface="Arial MT"/>
                <a:cs typeface="Arial MT"/>
              </a:rPr>
              <a:t>to </a:t>
            </a:r>
            <a:r>
              <a:rPr sz="1800" spc="-185" dirty="0">
                <a:latin typeface="Arial MT"/>
                <a:cs typeface="Arial MT"/>
              </a:rPr>
              <a:t>0199</a:t>
            </a:r>
            <a:r>
              <a:rPr sz="1800" spc="-180" dirty="0">
                <a:latin typeface="Arial MT"/>
                <a:cs typeface="Arial MT"/>
              </a:rPr>
              <a:t> </a:t>
            </a:r>
            <a:r>
              <a:rPr sz="1800" spc="-160" dirty="0">
                <a:latin typeface="Arial MT"/>
                <a:cs typeface="Arial MT"/>
              </a:rPr>
              <a:t>are </a:t>
            </a:r>
            <a:r>
              <a:rPr sz="1800" spc="-130" dirty="0">
                <a:latin typeface="Arial MT"/>
                <a:cs typeface="Arial MT"/>
              </a:rPr>
              <a:t>in </a:t>
            </a:r>
            <a:r>
              <a:rPr sz="1800" spc="-170" dirty="0">
                <a:latin typeface="Arial MT"/>
                <a:cs typeface="Arial MT"/>
              </a:rPr>
              <a:t>group </a:t>
            </a:r>
            <a:r>
              <a:rPr sz="1800" spc="-185" dirty="0">
                <a:latin typeface="Arial MT"/>
                <a:cs typeface="Arial MT"/>
              </a:rPr>
              <a:t>1 </a:t>
            </a:r>
            <a:r>
              <a:rPr sz="1800" spc="-180" dirty="0">
                <a:latin typeface="Arial MT"/>
                <a:cs typeface="Arial MT"/>
              </a:rPr>
              <a:t> </a:t>
            </a:r>
            <a:r>
              <a:rPr sz="1800" spc="-185" dirty="0">
                <a:latin typeface="Arial MT"/>
                <a:cs typeface="Arial MT"/>
              </a:rPr>
              <a:t>and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spc="-175" dirty="0">
                <a:latin typeface="Arial MT"/>
                <a:cs typeface="Arial MT"/>
              </a:rPr>
              <a:t>so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spc="-155" dirty="0">
                <a:latin typeface="Arial MT"/>
                <a:cs typeface="Arial MT"/>
              </a:rPr>
              <a:t>on.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 MT"/>
              <a:buChar char="•"/>
            </a:pPr>
            <a:endParaRPr sz="2550">
              <a:latin typeface="Arial MT"/>
              <a:cs typeface="Arial MT"/>
            </a:endParaRPr>
          </a:p>
          <a:p>
            <a:pPr marL="612775" marR="627380">
              <a:lnSpc>
                <a:spcPts val="2590"/>
              </a:lnSpc>
            </a:pPr>
            <a:r>
              <a:rPr sz="2400" spc="-325" dirty="0">
                <a:latin typeface="Arial MT"/>
                <a:cs typeface="Arial MT"/>
              </a:rPr>
              <a:t>We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spc="-235" dirty="0">
                <a:latin typeface="Arial MT"/>
                <a:cs typeface="Arial MT"/>
              </a:rPr>
              <a:t>can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204" dirty="0">
                <a:latin typeface="Arial MT"/>
                <a:cs typeface="Arial MT"/>
              </a:rPr>
              <a:t>look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185" dirty="0">
                <a:latin typeface="Arial MT"/>
                <a:cs typeface="Arial MT"/>
              </a:rPr>
              <a:t>at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204" dirty="0">
                <a:latin typeface="Arial MT"/>
                <a:cs typeface="Arial MT"/>
              </a:rPr>
              <a:t>the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240" dirty="0">
                <a:latin typeface="Arial MT"/>
                <a:cs typeface="Arial MT"/>
              </a:rPr>
              <a:t>box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250" dirty="0">
                <a:latin typeface="Arial MT"/>
                <a:cs typeface="Arial MT"/>
              </a:rPr>
              <a:t>number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235" dirty="0">
                <a:latin typeface="Arial MT"/>
                <a:cs typeface="Arial MT"/>
              </a:rPr>
              <a:t>as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10" dirty="0">
                <a:latin typeface="Arial MT"/>
                <a:cs typeface="Arial MT"/>
              </a:rPr>
              <a:t>if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spc="-110" dirty="0">
                <a:latin typeface="Arial MT"/>
                <a:cs typeface="Arial MT"/>
              </a:rPr>
              <a:t>it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160" dirty="0">
                <a:latin typeface="Arial MT"/>
                <a:cs typeface="Arial MT"/>
              </a:rPr>
              <a:t>is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275" dirty="0">
                <a:latin typeface="Arial MT"/>
                <a:cs typeface="Arial MT"/>
              </a:rPr>
              <a:t>made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245" dirty="0">
                <a:latin typeface="Arial MT"/>
                <a:cs typeface="Arial MT"/>
              </a:rPr>
              <a:t>up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185" dirty="0">
                <a:latin typeface="Arial MT"/>
                <a:cs typeface="Arial MT"/>
              </a:rPr>
              <a:t>of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229" dirty="0">
                <a:latin typeface="Arial MT"/>
                <a:cs typeface="Arial MT"/>
              </a:rPr>
              <a:t>two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200" dirty="0">
                <a:latin typeface="Arial MT"/>
                <a:cs typeface="Arial MT"/>
              </a:rPr>
              <a:t>pieces:</a:t>
            </a:r>
            <a:endParaRPr sz="2400">
              <a:latin typeface="Arial MT"/>
              <a:cs typeface="Arial MT"/>
            </a:endParaRPr>
          </a:p>
          <a:p>
            <a:pPr marL="1470025" indent="-229235">
              <a:lnSpc>
                <a:spcPct val="100000"/>
              </a:lnSpc>
              <a:spcBef>
                <a:spcPts val="190"/>
              </a:spcBef>
              <a:buChar char="•"/>
              <a:tabLst>
                <a:tab pos="1470025" algn="l"/>
                <a:tab pos="1470660" algn="l"/>
              </a:tabLst>
            </a:pPr>
            <a:r>
              <a:rPr sz="1800" spc="-190" dirty="0">
                <a:latin typeface="Arial MT"/>
                <a:cs typeface="Arial MT"/>
              </a:rPr>
              <a:t>The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spc="-170" dirty="0">
                <a:latin typeface="Arial MT"/>
                <a:cs typeface="Arial MT"/>
              </a:rPr>
              <a:t>group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spc="-185" dirty="0">
                <a:latin typeface="Arial MT"/>
                <a:cs typeface="Arial MT"/>
              </a:rPr>
              <a:t>number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spc="-185" dirty="0">
                <a:latin typeface="Arial MT"/>
                <a:cs typeface="Arial MT"/>
              </a:rPr>
              <a:t>and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spc="-155" dirty="0">
                <a:latin typeface="Arial MT"/>
                <a:cs typeface="Arial MT"/>
              </a:rPr>
              <a:t>the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spc="-155" dirty="0">
                <a:latin typeface="Arial MT"/>
                <a:cs typeface="Arial MT"/>
              </a:rPr>
              <a:t>box’s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spc="-155" dirty="0">
                <a:latin typeface="Arial MT"/>
                <a:cs typeface="Arial MT"/>
              </a:rPr>
              <a:t>index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spc="-140" dirty="0">
                <a:latin typeface="Arial MT"/>
                <a:cs typeface="Arial MT"/>
              </a:rPr>
              <a:t>within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spc="-155" dirty="0">
                <a:latin typeface="Arial MT"/>
                <a:cs typeface="Arial MT"/>
              </a:rPr>
              <a:t>the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spc="-155" dirty="0">
                <a:latin typeface="Arial MT"/>
                <a:cs typeface="Arial MT"/>
              </a:rPr>
              <a:t>group.</a:t>
            </a:r>
            <a:endParaRPr sz="1800">
              <a:latin typeface="Arial MT"/>
              <a:cs typeface="Arial MT"/>
            </a:endParaRPr>
          </a:p>
          <a:p>
            <a:pPr marL="1470025" indent="-229235">
              <a:lnSpc>
                <a:spcPct val="100000"/>
              </a:lnSpc>
              <a:spcBef>
                <a:spcPts val="219"/>
              </a:spcBef>
              <a:buChar char="•"/>
              <a:tabLst>
                <a:tab pos="1470025" algn="l"/>
                <a:tab pos="1470660" algn="l"/>
              </a:tabLst>
            </a:pPr>
            <a:r>
              <a:rPr sz="1800" spc="-165" dirty="0">
                <a:latin typeface="Arial MT"/>
                <a:cs typeface="Arial MT"/>
              </a:rPr>
              <a:t>So,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spc="-175" dirty="0">
                <a:latin typeface="Arial MT"/>
                <a:cs typeface="Arial MT"/>
              </a:rPr>
              <a:t>box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spc="-185" dirty="0">
                <a:latin typeface="Arial MT"/>
                <a:cs typeface="Arial MT"/>
              </a:rPr>
              <a:t>number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spc="-185" dirty="0">
                <a:latin typeface="Arial MT"/>
                <a:cs typeface="Arial MT"/>
              </a:rPr>
              <a:t>436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spc="-120" dirty="0">
                <a:latin typeface="Arial MT"/>
                <a:cs typeface="Arial MT"/>
              </a:rPr>
              <a:t>is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spc="-155" dirty="0">
                <a:latin typeface="Arial MT"/>
                <a:cs typeface="Arial MT"/>
              </a:rPr>
              <a:t>the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spc="-140" dirty="0">
                <a:latin typeface="Arial MT"/>
                <a:cs typeface="Arial MT"/>
              </a:rPr>
              <a:t>36</a:t>
            </a:r>
            <a:r>
              <a:rPr sz="1800" spc="-209" baseline="25462" dirty="0">
                <a:latin typeface="Arial MT"/>
                <a:cs typeface="Arial MT"/>
              </a:rPr>
              <a:t>th</a:t>
            </a:r>
            <a:r>
              <a:rPr sz="1800" spc="-82" baseline="25462" dirty="0">
                <a:latin typeface="Arial MT"/>
                <a:cs typeface="Arial MT"/>
              </a:rPr>
              <a:t> </a:t>
            </a:r>
            <a:r>
              <a:rPr sz="1800" spc="-175" dirty="0">
                <a:latin typeface="Arial MT"/>
                <a:cs typeface="Arial MT"/>
              </a:rPr>
              <a:t>box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spc="-130" dirty="0">
                <a:latin typeface="Arial MT"/>
                <a:cs typeface="Arial MT"/>
              </a:rPr>
              <a:t>in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spc="-155" dirty="0">
                <a:latin typeface="Arial MT"/>
                <a:cs typeface="Arial MT"/>
              </a:rPr>
              <a:t>the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spc="-125" dirty="0">
                <a:latin typeface="Arial MT"/>
                <a:cs typeface="Arial MT"/>
              </a:rPr>
              <a:t>4</a:t>
            </a:r>
            <a:r>
              <a:rPr sz="1800" spc="-187" baseline="25462" dirty="0">
                <a:latin typeface="Arial MT"/>
                <a:cs typeface="Arial MT"/>
              </a:rPr>
              <a:t>th</a:t>
            </a:r>
            <a:r>
              <a:rPr sz="1800" spc="-82" baseline="25462" dirty="0">
                <a:latin typeface="Arial MT"/>
                <a:cs typeface="Arial MT"/>
              </a:rPr>
              <a:t> </a:t>
            </a:r>
            <a:r>
              <a:rPr sz="1800" spc="-155" dirty="0">
                <a:latin typeface="Arial MT"/>
                <a:cs typeface="Arial MT"/>
              </a:rPr>
              <a:t>group.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000">
              <a:latin typeface="Arial MT"/>
              <a:cs typeface="Arial MT"/>
            </a:endParaRPr>
          </a:p>
          <a:p>
            <a:pPr marL="1726564" marR="169545" indent="-1701800">
              <a:lnSpc>
                <a:spcPts val="2380"/>
              </a:lnSpc>
              <a:spcBef>
                <a:spcPts val="1150"/>
              </a:spcBef>
            </a:pPr>
            <a:r>
              <a:rPr sz="2200" spc="-229" dirty="0">
                <a:solidFill>
                  <a:srgbClr val="990000"/>
                </a:solidFill>
                <a:latin typeface="Arial MT"/>
                <a:cs typeface="Arial MT"/>
              </a:rPr>
              <a:t>The</a:t>
            </a:r>
            <a:r>
              <a:rPr sz="2200" spc="-130" dirty="0">
                <a:solidFill>
                  <a:srgbClr val="990000"/>
                </a:solidFill>
                <a:latin typeface="Arial MT"/>
                <a:cs typeface="Arial MT"/>
              </a:rPr>
              <a:t> </a:t>
            </a:r>
            <a:r>
              <a:rPr sz="2200" spc="-210" dirty="0">
                <a:solidFill>
                  <a:srgbClr val="990000"/>
                </a:solidFill>
                <a:latin typeface="Arial MT"/>
                <a:cs typeface="Arial MT"/>
              </a:rPr>
              <a:t>upper</a:t>
            </a:r>
            <a:r>
              <a:rPr sz="2200" spc="-120" dirty="0">
                <a:solidFill>
                  <a:srgbClr val="990000"/>
                </a:solidFill>
                <a:latin typeface="Arial MT"/>
                <a:cs typeface="Arial MT"/>
              </a:rPr>
              <a:t> </a:t>
            </a:r>
            <a:r>
              <a:rPr sz="2200" spc="-150" dirty="0">
                <a:solidFill>
                  <a:srgbClr val="990000"/>
                </a:solidFill>
                <a:latin typeface="Arial MT"/>
                <a:cs typeface="Arial MT"/>
              </a:rPr>
              <a:t>digit</a:t>
            </a:r>
            <a:r>
              <a:rPr sz="2200" spc="-120" dirty="0">
                <a:solidFill>
                  <a:srgbClr val="990000"/>
                </a:solidFill>
                <a:latin typeface="Arial MT"/>
                <a:cs typeface="Arial MT"/>
              </a:rPr>
              <a:t> </a:t>
            </a:r>
            <a:r>
              <a:rPr sz="2200" spc="-170" dirty="0">
                <a:solidFill>
                  <a:srgbClr val="990000"/>
                </a:solidFill>
                <a:latin typeface="Arial MT"/>
                <a:cs typeface="Arial MT"/>
              </a:rPr>
              <a:t>of</a:t>
            </a:r>
            <a:r>
              <a:rPr sz="2200" spc="-110" dirty="0">
                <a:solidFill>
                  <a:srgbClr val="990000"/>
                </a:solidFill>
                <a:latin typeface="Arial MT"/>
                <a:cs typeface="Arial MT"/>
              </a:rPr>
              <a:t> </a:t>
            </a:r>
            <a:r>
              <a:rPr sz="2200" spc="-185" dirty="0">
                <a:solidFill>
                  <a:srgbClr val="990000"/>
                </a:solidFill>
                <a:latin typeface="Arial MT"/>
                <a:cs typeface="Arial MT"/>
              </a:rPr>
              <a:t>the</a:t>
            </a:r>
            <a:r>
              <a:rPr sz="2200" spc="-120" dirty="0">
                <a:solidFill>
                  <a:srgbClr val="990000"/>
                </a:solidFill>
                <a:latin typeface="Arial MT"/>
                <a:cs typeface="Arial MT"/>
              </a:rPr>
              <a:t> </a:t>
            </a:r>
            <a:r>
              <a:rPr sz="2200" spc="-220" dirty="0">
                <a:solidFill>
                  <a:srgbClr val="990000"/>
                </a:solidFill>
                <a:latin typeface="Arial MT"/>
                <a:cs typeface="Arial MT"/>
              </a:rPr>
              <a:t>box</a:t>
            </a:r>
            <a:r>
              <a:rPr sz="2200" spc="-120" dirty="0">
                <a:solidFill>
                  <a:srgbClr val="990000"/>
                </a:solidFill>
                <a:latin typeface="Arial MT"/>
                <a:cs typeface="Arial MT"/>
              </a:rPr>
              <a:t> </a:t>
            </a:r>
            <a:r>
              <a:rPr sz="2200" spc="-229" dirty="0">
                <a:solidFill>
                  <a:srgbClr val="990000"/>
                </a:solidFill>
                <a:latin typeface="Arial MT"/>
                <a:cs typeface="Arial MT"/>
              </a:rPr>
              <a:t>number</a:t>
            </a:r>
            <a:r>
              <a:rPr sz="2200" spc="-125" dirty="0">
                <a:solidFill>
                  <a:srgbClr val="990000"/>
                </a:solidFill>
                <a:latin typeface="Arial MT"/>
                <a:cs typeface="Arial MT"/>
              </a:rPr>
              <a:t> </a:t>
            </a:r>
            <a:r>
              <a:rPr sz="2200" spc="-160" dirty="0">
                <a:solidFill>
                  <a:srgbClr val="990000"/>
                </a:solidFill>
                <a:latin typeface="Arial MT"/>
                <a:cs typeface="Arial MT"/>
              </a:rPr>
              <a:t>identifies</a:t>
            </a:r>
            <a:r>
              <a:rPr sz="2200" spc="-135" dirty="0">
                <a:solidFill>
                  <a:srgbClr val="990000"/>
                </a:solidFill>
                <a:latin typeface="Arial MT"/>
                <a:cs typeface="Arial MT"/>
              </a:rPr>
              <a:t> </a:t>
            </a:r>
            <a:r>
              <a:rPr sz="2200" spc="-185" dirty="0">
                <a:solidFill>
                  <a:srgbClr val="990000"/>
                </a:solidFill>
                <a:latin typeface="Arial MT"/>
                <a:cs typeface="Arial MT"/>
              </a:rPr>
              <a:t>the</a:t>
            </a:r>
            <a:r>
              <a:rPr sz="2200" spc="-120" dirty="0">
                <a:solidFill>
                  <a:srgbClr val="990000"/>
                </a:solidFill>
                <a:latin typeface="Arial MT"/>
                <a:cs typeface="Arial MT"/>
              </a:rPr>
              <a:t> </a:t>
            </a:r>
            <a:r>
              <a:rPr sz="2200" spc="-210" dirty="0">
                <a:solidFill>
                  <a:srgbClr val="990000"/>
                </a:solidFill>
                <a:latin typeface="Arial MT"/>
                <a:cs typeface="Arial MT"/>
              </a:rPr>
              <a:t>group</a:t>
            </a:r>
            <a:r>
              <a:rPr sz="2200" spc="-120" dirty="0">
                <a:solidFill>
                  <a:srgbClr val="990000"/>
                </a:solidFill>
                <a:latin typeface="Arial MT"/>
                <a:cs typeface="Arial MT"/>
              </a:rPr>
              <a:t> </a:t>
            </a:r>
            <a:r>
              <a:rPr sz="2200" spc="-225" dirty="0">
                <a:solidFill>
                  <a:srgbClr val="990000"/>
                </a:solidFill>
                <a:latin typeface="Arial MT"/>
                <a:cs typeface="Arial MT"/>
              </a:rPr>
              <a:t>and</a:t>
            </a:r>
            <a:r>
              <a:rPr sz="2200" spc="-120" dirty="0">
                <a:solidFill>
                  <a:srgbClr val="990000"/>
                </a:solidFill>
                <a:latin typeface="Arial MT"/>
                <a:cs typeface="Arial MT"/>
              </a:rPr>
              <a:t> </a:t>
            </a:r>
            <a:r>
              <a:rPr sz="2200" spc="-185" dirty="0">
                <a:solidFill>
                  <a:srgbClr val="990000"/>
                </a:solidFill>
                <a:latin typeface="Arial MT"/>
                <a:cs typeface="Arial MT"/>
              </a:rPr>
              <a:t>the</a:t>
            </a:r>
            <a:r>
              <a:rPr sz="2200" spc="-120" dirty="0">
                <a:solidFill>
                  <a:srgbClr val="990000"/>
                </a:solidFill>
                <a:latin typeface="Arial MT"/>
                <a:cs typeface="Arial MT"/>
              </a:rPr>
              <a:t> </a:t>
            </a:r>
            <a:r>
              <a:rPr sz="2200" spc="-195" dirty="0">
                <a:solidFill>
                  <a:srgbClr val="990000"/>
                </a:solidFill>
                <a:latin typeface="Arial MT"/>
                <a:cs typeface="Arial MT"/>
              </a:rPr>
              <a:t>lower</a:t>
            </a:r>
            <a:r>
              <a:rPr sz="2200" spc="-120" dirty="0">
                <a:solidFill>
                  <a:srgbClr val="990000"/>
                </a:solidFill>
                <a:latin typeface="Arial MT"/>
                <a:cs typeface="Arial MT"/>
              </a:rPr>
              <a:t> </a:t>
            </a:r>
            <a:r>
              <a:rPr sz="2200" spc="-210" dirty="0">
                <a:solidFill>
                  <a:srgbClr val="990000"/>
                </a:solidFill>
                <a:latin typeface="Arial MT"/>
                <a:cs typeface="Arial MT"/>
              </a:rPr>
              <a:t>two </a:t>
            </a:r>
            <a:r>
              <a:rPr sz="2200" spc="-595" dirty="0">
                <a:solidFill>
                  <a:srgbClr val="990000"/>
                </a:solidFill>
                <a:latin typeface="Arial MT"/>
                <a:cs typeface="Arial MT"/>
              </a:rPr>
              <a:t> </a:t>
            </a:r>
            <a:r>
              <a:rPr sz="2200" spc="-225" dirty="0">
                <a:solidFill>
                  <a:srgbClr val="990000"/>
                </a:solidFill>
                <a:latin typeface="Arial MT"/>
                <a:cs typeface="Arial MT"/>
              </a:rPr>
              <a:t>d</a:t>
            </a:r>
            <a:r>
              <a:rPr sz="2200" spc="-90" dirty="0">
                <a:solidFill>
                  <a:srgbClr val="990000"/>
                </a:solidFill>
                <a:latin typeface="Arial MT"/>
                <a:cs typeface="Arial MT"/>
              </a:rPr>
              <a:t>i</a:t>
            </a:r>
            <a:r>
              <a:rPr sz="2200" spc="-225" dirty="0">
                <a:solidFill>
                  <a:srgbClr val="990000"/>
                </a:solidFill>
                <a:latin typeface="Arial MT"/>
                <a:cs typeface="Arial MT"/>
              </a:rPr>
              <a:t>g</a:t>
            </a:r>
            <a:r>
              <a:rPr sz="2200" spc="-90" dirty="0">
                <a:solidFill>
                  <a:srgbClr val="990000"/>
                </a:solidFill>
                <a:latin typeface="Arial MT"/>
                <a:cs typeface="Arial MT"/>
              </a:rPr>
              <a:t>i</a:t>
            </a:r>
            <a:r>
              <a:rPr sz="2200" spc="-110" dirty="0">
                <a:solidFill>
                  <a:srgbClr val="990000"/>
                </a:solidFill>
                <a:latin typeface="Arial MT"/>
                <a:cs typeface="Arial MT"/>
              </a:rPr>
              <a:t>t</a:t>
            </a:r>
            <a:r>
              <a:rPr sz="2200" spc="-200" dirty="0">
                <a:solidFill>
                  <a:srgbClr val="990000"/>
                </a:solidFill>
                <a:latin typeface="Arial MT"/>
                <a:cs typeface="Arial MT"/>
              </a:rPr>
              <a:t>s</a:t>
            </a:r>
            <a:r>
              <a:rPr sz="2200" spc="-140" dirty="0">
                <a:solidFill>
                  <a:srgbClr val="990000"/>
                </a:solidFill>
                <a:latin typeface="Arial MT"/>
                <a:cs typeface="Arial MT"/>
              </a:rPr>
              <a:t> </a:t>
            </a:r>
            <a:r>
              <a:rPr sz="2200" spc="-90" dirty="0">
                <a:solidFill>
                  <a:srgbClr val="990000"/>
                </a:solidFill>
                <a:latin typeface="Arial MT"/>
                <a:cs typeface="Arial MT"/>
              </a:rPr>
              <a:t>i</a:t>
            </a:r>
            <a:r>
              <a:rPr sz="2200" spc="-225" dirty="0">
                <a:solidFill>
                  <a:srgbClr val="990000"/>
                </a:solidFill>
                <a:latin typeface="Arial MT"/>
                <a:cs typeface="Arial MT"/>
              </a:rPr>
              <a:t>den</a:t>
            </a:r>
            <a:r>
              <a:rPr sz="2200" spc="-110" dirty="0">
                <a:solidFill>
                  <a:srgbClr val="990000"/>
                </a:solidFill>
                <a:latin typeface="Arial MT"/>
                <a:cs typeface="Arial MT"/>
              </a:rPr>
              <a:t>t</a:t>
            </a:r>
            <a:r>
              <a:rPr sz="2200" spc="-90" dirty="0">
                <a:solidFill>
                  <a:srgbClr val="990000"/>
                </a:solidFill>
                <a:latin typeface="Arial MT"/>
                <a:cs typeface="Arial MT"/>
              </a:rPr>
              <a:t>i</a:t>
            </a:r>
            <a:r>
              <a:rPr sz="2200" spc="-110" dirty="0">
                <a:solidFill>
                  <a:srgbClr val="990000"/>
                </a:solidFill>
                <a:latin typeface="Arial MT"/>
                <a:cs typeface="Arial MT"/>
              </a:rPr>
              <a:t>f</a:t>
            </a:r>
            <a:r>
              <a:rPr sz="2200" spc="-200" dirty="0">
                <a:solidFill>
                  <a:srgbClr val="990000"/>
                </a:solidFill>
                <a:latin typeface="Arial MT"/>
                <a:cs typeface="Arial MT"/>
              </a:rPr>
              <a:t>y</a:t>
            </a:r>
            <a:r>
              <a:rPr sz="2200" spc="-130" dirty="0">
                <a:solidFill>
                  <a:srgbClr val="990000"/>
                </a:solidFill>
                <a:latin typeface="Arial MT"/>
                <a:cs typeface="Arial MT"/>
              </a:rPr>
              <a:t> </a:t>
            </a:r>
            <a:r>
              <a:rPr sz="2200" spc="-110" dirty="0">
                <a:solidFill>
                  <a:srgbClr val="990000"/>
                </a:solidFill>
                <a:latin typeface="Arial MT"/>
                <a:cs typeface="Arial MT"/>
              </a:rPr>
              <a:t>t</a:t>
            </a:r>
            <a:r>
              <a:rPr sz="2200" spc="-225" dirty="0">
                <a:solidFill>
                  <a:srgbClr val="990000"/>
                </a:solidFill>
                <a:latin typeface="Arial MT"/>
                <a:cs typeface="Arial MT"/>
              </a:rPr>
              <a:t>h</a:t>
            </a:r>
            <a:r>
              <a:rPr sz="2200" spc="-220" dirty="0">
                <a:solidFill>
                  <a:srgbClr val="990000"/>
                </a:solidFill>
                <a:latin typeface="Arial MT"/>
                <a:cs typeface="Arial MT"/>
              </a:rPr>
              <a:t>e</a:t>
            </a:r>
            <a:r>
              <a:rPr sz="2200" spc="-125" dirty="0">
                <a:solidFill>
                  <a:srgbClr val="990000"/>
                </a:solidFill>
                <a:latin typeface="Arial MT"/>
                <a:cs typeface="Arial MT"/>
              </a:rPr>
              <a:t> </a:t>
            </a:r>
            <a:r>
              <a:rPr sz="2200" spc="-225" dirty="0">
                <a:solidFill>
                  <a:srgbClr val="990000"/>
                </a:solidFill>
                <a:latin typeface="Arial MT"/>
                <a:cs typeface="Arial MT"/>
              </a:rPr>
              <a:t>bo</a:t>
            </a:r>
            <a:r>
              <a:rPr sz="2200" spc="-200" dirty="0">
                <a:solidFill>
                  <a:srgbClr val="990000"/>
                </a:solidFill>
                <a:latin typeface="Arial MT"/>
                <a:cs typeface="Arial MT"/>
              </a:rPr>
              <a:t>x</a:t>
            </a:r>
            <a:r>
              <a:rPr sz="2200" spc="-125" dirty="0">
                <a:solidFill>
                  <a:srgbClr val="990000"/>
                </a:solidFill>
                <a:latin typeface="Arial MT"/>
                <a:cs typeface="Arial MT"/>
              </a:rPr>
              <a:t> </a:t>
            </a:r>
            <a:r>
              <a:rPr sz="2200" spc="-295" dirty="0">
                <a:solidFill>
                  <a:srgbClr val="990000"/>
                </a:solidFill>
                <a:latin typeface="Arial MT"/>
                <a:cs typeface="Arial MT"/>
              </a:rPr>
              <a:t>w</a:t>
            </a:r>
            <a:r>
              <a:rPr sz="2200" spc="-90" dirty="0">
                <a:solidFill>
                  <a:srgbClr val="990000"/>
                </a:solidFill>
                <a:latin typeface="Arial MT"/>
                <a:cs typeface="Arial MT"/>
              </a:rPr>
              <a:t>i</a:t>
            </a:r>
            <a:r>
              <a:rPr sz="2200" spc="-110" dirty="0">
                <a:solidFill>
                  <a:srgbClr val="990000"/>
                </a:solidFill>
                <a:latin typeface="Arial MT"/>
                <a:cs typeface="Arial MT"/>
              </a:rPr>
              <a:t>t</a:t>
            </a:r>
            <a:r>
              <a:rPr sz="2200" spc="-225" dirty="0">
                <a:solidFill>
                  <a:srgbClr val="990000"/>
                </a:solidFill>
                <a:latin typeface="Arial MT"/>
                <a:cs typeface="Arial MT"/>
              </a:rPr>
              <a:t>h</a:t>
            </a:r>
            <a:r>
              <a:rPr sz="2200" spc="-90" dirty="0">
                <a:solidFill>
                  <a:srgbClr val="990000"/>
                </a:solidFill>
                <a:latin typeface="Arial MT"/>
                <a:cs typeface="Arial MT"/>
              </a:rPr>
              <a:t>i</a:t>
            </a:r>
            <a:r>
              <a:rPr sz="2200" spc="-220" dirty="0">
                <a:solidFill>
                  <a:srgbClr val="990000"/>
                </a:solidFill>
                <a:latin typeface="Arial MT"/>
                <a:cs typeface="Arial MT"/>
              </a:rPr>
              <a:t>n</a:t>
            </a:r>
            <a:r>
              <a:rPr sz="2200" spc="-130" dirty="0">
                <a:solidFill>
                  <a:srgbClr val="990000"/>
                </a:solidFill>
                <a:latin typeface="Arial MT"/>
                <a:cs typeface="Arial MT"/>
              </a:rPr>
              <a:t> </a:t>
            </a:r>
            <a:r>
              <a:rPr sz="2200" spc="-110" dirty="0">
                <a:solidFill>
                  <a:srgbClr val="990000"/>
                </a:solidFill>
                <a:latin typeface="Arial MT"/>
                <a:cs typeface="Arial MT"/>
              </a:rPr>
              <a:t>t</a:t>
            </a:r>
            <a:r>
              <a:rPr sz="2200" spc="-225" dirty="0">
                <a:solidFill>
                  <a:srgbClr val="990000"/>
                </a:solidFill>
                <a:latin typeface="Arial MT"/>
                <a:cs typeface="Arial MT"/>
              </a:rPr>
              <a:t>h</a:t>
            </a:r>
            <a:r>
              <a:rPr sz="2200" spc="-220" dirty="0">
                <a:solidFill>
                  <a:srgbClr val="990000"/>
                </a:solidFill>
                <a:latin typeface="Arial MT"/>
                <a:cs typeface="Arial MT"/>
              </a:rPr>
              <a:t>e</a:t>
            </a:r>
            <a:r>
              <a:rPr sz="2200" spc="-125" dirty="0">
                <a:solidFill>
                  <a:srgbClr val="990000"/>
                </a:solidFill>
                <a:latin typeface="Arial MT"/>
                <a:cs typeface="Arial MT"/>
              </a:rPr>
              <a:t> </a:t>
            </a:r>
            <a:r>
              <a:rPr sz="2200" spc="-195" dirty="0">
                <a:solidFill>
                  <a:srgbClr val="990000"/>
                </a:solidFill>
                <a:latin typeface="Arial MT"/>
                <a:cs typeface="Arial MT"/>
              </a:rPr>
              <a:t>group.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r>
              <a:rPr spc="-5" dirty="0"/>
              <a:t>24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6350" y="0"/>
            <a:ext cx="9156700" cy="6870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515938" cy="68579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64540" y="1010665"/>
            <a:ext cx="637540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9" dirty="0">
                <a:solidFill>
                  <a:srgbClr val="FFFFCC"/>
                </a:solidFill>
                <a:latin typeface="Arial MT"/>
                <a:cs typeface="Arial MT"/>
              </a:rPr>
              <a:t>The</a:t>
            </a:r>
            <a:r>
              <a:rPr spc="-220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445" dirty="0">
                <a:solidFill>
                  <a:srgbClr val="FFFFCC"/>
                </a:solidFill>
                <a:latin typeface="Arial MT"/>
                <a:cs typeface="Arial MT"/>
              </a:rPr>
              <a:t>8085</a:t>
            </a:r>
            <a:r>
              <a:rPr spc="-195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445" dirty="0">
                <a:solidFill>
                  <a:srgbClr val="FFFFCC"/>
                </a:solidFill>
                <a:latin typeface="Arial MT"/>
                <a:cs typeface="Arial MT"/>
              </a:rPr>
              <a:t>and</a:t>
            </a:r>
            <a:r>
              <a:rPr spc="-204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420" dirty="0">
                <a:solidFill>
                  <a:srgbClr val="FFFFCC"/>
                </a:solidFill>
                <a:latin typeface="Arial MT"/>
                <a:cs typeface="Arial MT"/>
              </a:rPr>
              <a:t>Address</a:t>
            </a:r>
            <a:r>
              <a:rPr spc="-215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459" dirty="0">
                <a:solidFill>
                  <a:srgbClr val="FFFFCC"/>
                </a:solidFill>
                <a:latin typeface="Arial MT"/>
                <a:cs typeface="Arial MT"/>
              </a:rPr>
              <a:t>Ranges</a:t>
            </a: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7239" y="2148840"/>
            <a:ext cx="215645" cy="22783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33677" y="3109722"/>
            <a:ext cx="177545" cy="18668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33677" y="3963161"/>
            <a:ext cx="177545" cy="18668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33677" y="4816602"/>
            <a:ext cx="177545" cy="18668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094739" y="1956307"/>
            <a:ext cx="7298055" cy="3897629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25400" marR="19050" algn="just">
              <a:lnSpc>
                <a:spcPts val="3460"/>
              </a:lnSpc>
              <a:spcBef>
                <a:spcPts val="530"/>
              </a:spcBef>
            </a:pPr>
            <a:r>
              <a:rPr sz="3200" spc="-335" dirty="0">
                <a:latin typeface="Arial MT"/>
                <a:cs typeface="Arial MT"/>
              </a:rPr>
              <a:t>The</a:t>
            </a:r>
            <a:r>
              <a:rPr sz="3200" spc="-330" dirty="0">
                <a:latin typeface="Arial MT"/>
                <a:cs typeface="Arial MT"/>
              </a:rPr>
              <a:t> </a:t>
            </a:r>
            <a:r>
              <a:rPr sz="3200" spc="-325" dirty="0">
                <a:latin typeface="Arial MT"/>
                <a:cs typeface="Arial MT"/>
              </a:rPr>
              <a:t>8085</a:t>
            </a:r>
            <a:r>
              <a:rPr sz="3200" spc="-320" dirty="0">
                <a:latin typeface="Arial MT"/>
                <a:cs typeface="Arial MT"/>
              </a:rPr>
              <a:t> </a:t>
            </a:r>
            <a:r>
              <a:rPr sz="3200" spc="-310" dirty="0">
                <a:latin typeface="Arial MT"/>
                <a:cs typeface="Arial MT"/>
              </a:rPr>
              <a:t>has</a:t>
            </a:r>
            <a:r>
              <a:rPr sz="3200" spc="-305" dirty="0">
                <a:latin typeface="Arial MT"/>
                <a:cs typeface="Arial MT"/>
              </a:rPr>
              <a:t> </a:t>
            </a:r>
            <a:r>
              <a:rPr sz="3200" spc="-320" dirty="0">
                <a:latin typeface="Arial MT"/>
                <a:cs typeface="Arial MT"/>
              </a:rPr>
              <a:t>16</a:t>
            </a:r>
            <a:r>
              <a:rPr sz="3200" spc="-315" dirty="0">
                <a:latin typeface="Arial MT"/>
                <a:cs typeface="Arial MT"/>
              </a:rPr>
              <a:t> </a:t>
            </a:r>
            <a:r>
              <a:rPr sz="3200" spc="-295" dirty="0">
                <a:latin typeface="Arial MT"/>
                <a:cs typeface="Arial MT"/>
              </a:rPr>
              <a:t>address</a:t>
            </a:r>
            <a:r>
              <a:rPr sz="3200" spc="-290" dirty="0">
                <a:latin typeface="Arial MT"/>
                <a:cs typeface="Arial MT"/>
              </a:rPr>
              <a:t> </a:t>
            </a:r>
            <a:r>
              <a:rPr sz="3200" spc="-225" dirty="0">
                <a:latin typeface="Arial MT"/>
                <a:cs typeface="Arial MT"/>
              </a:rPr>
              <a:t>lines.</a:t>
            </a:r>
            <a:r>
              <a:rPr sz="3200" spc="-220" dirty="0">
                <a:latin typeface="Arial MT"/>
                <a:cs typeface="Arial MT"/>
              </a:rPr>
              <a:t> </a:t>
            </a:r>
            <a:r>
              <a:rPr sz="3200" spc="-295" dirty="0">
                <a:latin typeface="Arial MT"/>
                <a:cs typeface="Arial MT"/>
              </a:rPr>
              <a:t>So,</a:t>
            </a:r>
            <a:r>
              <a:rPr sz="3200" spc="-290" dirty="0">
                <a:latin typeface="Arial MT"/>
                <a:cs typeface="Arial MT"/>
              </a:rPr>
              <a:t> </a:t>
            </a:r>
            <a:r>
              <a:rPr sz="3200" spc="-145" dirty="0">
                <a:latin typeface="Arial MT"/>
                <a:cs typeface="Arial MT"/>
              </a:rPr>
              <a:t>it</a:t>
            </a:r>
            <a:r>
              <a:rPr sz="3200" spc="595" dirty="0">
                <a:latin typeface="Arial MT"/>
                <a:cs typeface="Arial MT"/>
              </a:rPr>
              <a:t> </a:t>
            </a:r>
            <a:r>
              <a:rPr sz="3200" spc="-310" dirty="0">
                <a:latin typeface="Arial MT"/>
                <a:cs typeface="Arial MT"/>
              </a:rPr>
              <a:t>can </a:t>
            </a:r>
            <a:r>
              <a:rPr sz="3200" spc="-305" dirty="0">
                <a:latin typeface="Arial MT"/>
                <a:cs typeface="Arial MT"/>
              </a:rPr>
              <a:t> </a:t>
            </a:r>
            <a:r>
              <a:rPr sz="3200" spc="-325" dirty="0">
                <a:latin typeface="Arial MT"/>
                <a:cs typeface="Arial MT"/>
              </a:rPr>
              <a:t>add</a:t>
            </a:r>
            <a:r>
              <a:rPr sz="3200" spc="-200" dirty="0">
                <a:latin typeface="Arial MT"/>
                <a:cs typeface="Arial MT"/>
              </a:rPr>
              <a:t>r</a:t>
            </a:r>
            <a:r>
              <a:rPr sz="3200" spc="-300" dirty="0">
                <a:latin typeface="Arial MT"/>
                <a:cs typeface="Arial MT"/>
              </a:rPr>
              <a:t>ess</a:t>
            </a:r>
            <a:r>
              <a:rPr sz="3200" spc="-155" dirty="0">
                <a:latin typeface="Arial MT"/>
                <a:cs typeface="Arial MT"/>
              </a:rPr>
              <a:t> </a:t>
            </a:r>
            <a:r>
              <a:rPr sz="3200" spc="-325" dirty="0">
                <a:latin typeface="Arial MT"/>
                <a:cs typeface="Arial MT"/>
              </a:rPr>
              <a:t>a</a:t>
            </a:r>
            <a:r>
              <a:rPr sz="3200" spc="-160" dirty="0">
                <a:latin typeface="Arial MT"/>
                <a:cs typeface="Arial MT"/>
              </a:rPr>
              <a:t> t</a:t>
            </a:r>
            <a:r>
              <a:rPr sz="3200" spc="-245" dirty="0">
                <a:latin typeface="Arial MT"/>
                <a:cs typeface="Arial MT"/>
              </a:rPr>
              <a:t>ot</a:t>
            </a:r>
            <a:r>
              <a:rPr sz="3200" spc="-229" dirty="0">
                <a:latin typeface="Arial MT"/>
                <a:cs typeface="Arial MT"/>
              </a:rPr>
              <a:t>al</a:t>
            </a:r>
            <a:r>
              <a:rPr sz="3200" spc="-165" dirty="0">
                <a:latin typeface="Arial MT"/>
                <a:cs typeface="Arial MT"/>
              </a:rPr>
              <a:t> </a:t>
            </a:r>
            <a:r>
              <a:rPr sz="3200" spc="-245" dirty="0">
                <a:latin typeface="Arial MT"/>
                <a:cs typeface="Arial MT"/>
              </a:rPr>
              <a:t>of</a:t>
            </a:r>
            <a:r>
              <a:rPr sz="3200" spc="-170" dirty="0">
                <a:latin typeface="Arial MT"/>
                <a:cs typeface="Arial MT"/>
              </a:rPr>
              <a:t> </a:t>
            </a:r>
            <a:r>
              <a:rPr sz="3200" spc="-325" dirty="0">
                <a:latin typeface="Arial MT"/>
                <a:cs typeface="Arial MT"/>
              </a:rPr>
              <a:t>64</a:t>
            </a:r>
            <a:r>
              <a:rPr sz="3200" spc="-390" dirty="0">
                <a:latin typeface="Arial MT"/>
                <a:cs typeface="Arial MT"/>
              </a:rPr>
              <a:t>K</a:t>
            </a:r>
            <a:r>
              <a:rPr sz="3200" spc="-155" dirty="0">
                <a:latin typeface="Arial MT"/>
                <a:cs typeface="Arial MT"/>
              </a:rPr>
              <a:t> </a:t>
            </a:r>
            <a:r>
              <a:rPr sz="3200" spc="-405" dirty="0">
                <a:latin typeface="Arial MT"/>
                <a:cs typeface="Arial MT"/>
              </a:rPr>
              <a:t>memo</a:t>
            </a:r>
            <a:r>
              <a:rPr sz="3200" spc="-200" dirty="0">
                <a:latin typeface="Arial MT"/>
                <a:cs typeface="Arial MT"/>
              </a:rPr>
              <a:t>r</a:t>
            </a:r>
            <a:r>
              <a:rPr sz="3200" spc="-290" dirty="0">
                <a:latin typeface="Arial MT"/>
                <a:cs typeface="Arial MT"/>
              </a:rPr>
              <a:t>y</a:t>
            </a:r>
            <a:r>
              <a:rPr sz="3200" spc="-145" dirty="0">
                <a:latin typeface="Arial MT"/>
                <a:cs typeface="Arial MT"/>
              </a:rPr>
              <a:t> </a:t>
            </a:r>
            <a:r>
              <a:rPr sz="3200" spc="-250" dirty="0">
                <a:latin typeface="Arial MT"/>
                <a:cs typeface="Arial MT"/>
              </a:rPr>
              <a:t>loc</a:t>
            </a:r>
            <a:r>
              <a:rPr sz="3200" spc="-245" dirty="0">
                <a:latin typeface="Arial MT"/>
                <a:cs typeface="Arial MT"/>
              </a:rPr>
              <a:t>at</a:t>
            </a:r>
            <a:r>
              <a:rPr sz="3200" spc="-270" dirty="0">
                <a:latin typeface="Arial MT"/>
                <a:cs typeface="Arial MT"/>
              </a:rPr>
              <a:t>ions</a:t>
            </a:r>
            <a:r>
              <a:rPr sz="3200" spc="-160" dirty="0">
                <a:latin typeface="Arial MT"/>
                <a:cs typeface="Arial MT"/>
              </a:rPr>
              <a:t>.</a:t>
            </a:r>
            <a:endParaRPr sz="3200">
              <a:latin typeface="Arial MT"/>
              <a:cs typeface="Arial MT"/>
            </a:endParaRPr>
          </a:p>
          <a:p>
            <a:pPr marL="426084" marR="17780" indent="-1270" algn="just">
              <a:lnSpc>
                <a:spcPts val="3020"/>
              </a:lnSpc>
              <a:spcBef>
                <a:spcPts val="675"/>
              </a:spcBef>
            </a:pPr>
            <a:r>
              <a:rPr sz="2800" spc="-145" dirty="0">
                <a:latin typeface="Arial MT"/>
                <a:cs typeface="Arial MT"/>
              </a:rPr>
              <a:t>If </a:t>
            </a:r>
            <a:r>
              <a:rPr sz="2800" spc="-325" dirty="0">
                <a:latin typeface="Arial MT"/>
                <a:cs typeface="Arial MT"/>
              </a:rPr>
              <a:t>we </a:t>
            </a:r>
            <a:r>
              <a:rPr sz="2800" spc="-275" dirty="0">
                <a:latin typeface="Arial MT"/>
                <a:cs typeface="Arial MT"/>
              </a:rPr>
              <a:t>use </a:t>
            </a:r>
            <a:r>
              <a:rPr sz="2800" spc="-305" dirty="0">
                <a:latin typeface="Arial MT"/>
                <a:cs typeface="Arial MT"/>
              </a:rPr>
              <a:t>memory </a:t>
            </a:r>
            <a:r>
              <a:rPr sz="2800" spc="-235" dirty="0">
                <a:latin typeface="Arial MT"/>
                <a:cs typeface="Arial MT"/>
              </a:rPr>
              <a:t>chips </a:t>
            </a:r>
            <a:r>
              <a:rPr sz="2800" spc="-225" dirty="0">
                <a:latin typeface="Arial MT"/>
                <a:cs typeface="Arial MT"/>
              </a:rPr>
              <a:t>with </a:t>
            </a:r>
            <a:r>
              <a:rPr sz="2800" spc="-310" dirty="0">
                <a:latin typeface="Arial MT"/>
                <a:cs typeface="Arial MT"/>
              </a:rPr>
              <a:t>1K </a:t>
            </a:r>
            <a:r>
              <a:rPr sz="2800" spc="-225" dirty="0">
                <a:latin typeface="Arial MT"/>
                <a:cs typeface="Arial MT"/>
              </a:rPr>
              <a:t>locations </a:t>
            </a:r>
            <a:r>
              <a:rPr sz="2800" spc="-250" dirty="0">
                <a:latin typeface="Arial MT"/>
                <a:cs typeface="Arial MT"/>
              </a:rPr>
              <a:t>each, then </a:t>
            </a:r>
            <a:r>
              <a:rPr sz="2800" spc="-245" dirty="0">
                <a:latin typeface="Arial MT"/>
                <a:cs typeface="Arial MT"/>
              </a:rPr>
              <a:t> </a:t>
            </a:r>
            <a:r>
              <a:rPr sz="2800" spc="-370" dirty="0">
                <a:latin typeface="Arial MT"/>
                <a:cs typeface="Arial MT"/>
              </a:rPr>
              <a:t>w</a:t>
            </a:r>
            <a:r>
              <a:rPr sz="2800" spc="-280" dirty="0">
                <a:latin typeface="Arial MT"/>
                <a:cs typeface="Arial MT"/>
              </a:rPr>
              <a:t>e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370" dirty="0">
                <a:latin typeface="Arial MT"/>
                <a:cs typeface="Arial MT"/>
              </a:rPr>
              <a:t>w</a:t>
            </a:r>
            <a:r>
              <a:rPr sz="2800" spc="-114" dirty="0">
                <a:latin typeface="Arial MT"/>
                <a:cs typeface="Arial MT"/>
              </a:rPr>
              <a:t>ill</a:t>
            </a:r>
            <a:r>
              <a:rPr sz="2800" spc="-135" dirty="0">
                <a:latin typeface="Arial MT"/>
                <a:cs typeface="Arial MT"/>
              </a:rPr>
              <a:t> </a:t>
            </a:r>
            <a:r>
              <a:rPr sz="2800" spc="-280" dirty="0">
                <a:latin typeface="Arial MT"/>
                <a:cs typeface="Arial MT"/>
              </a:rPr>
              <a:t>need</a:t>
            </a:r>
            <a:r>
              <a:rPr sz="2800" spc="-150" dirty="0">
                <a:latin typeface="Arial MT"/>
                <a:cs typeface="Arial MT"/>
              </a:rPr>
              <a:t> </a:t>
            </a:r>
            <a:r>
              <a:rPr sz="2800" spc="-280" dirty="0">
                <a:latin typeface="Arial MT"/>
                <a:cs typeface="Arial MT"/>
              </a:rPr>
              <a:t>64</a:t>
            </a:r>
            <a:r>
              <a:rPr sz="2800" spc="-150" dirty="0">
                <a:latin typeface="Arial MT"/>
                <a:cs typeface="Arial MT"/>
              </a:rPr>
              <a:t> </a:t>
            </a:r>
            <a:r>
              <a:rPr sz="2800" spc="-270" dirty="0">
                <a:latin typeface="Arial MT"/>
                <a:cs typeface="Arial MT"/>
              </a:rPr>
              <a:t>such</a:t>
            </a:r>
            <a:r>
              <a:rPr sz="2800" spc="-150" dirty="0">
                <a:latin typeface="Arial MT"/>
                <a:cs typeface="Arial MT"/>
              </a:rPr>
              <a:t> </a:t>
            </a:r>
            <a:r>
              <a:rPr sz="2800" spc="-254" dirty="0">
                <a:latin typeface="Arial MT"/>
                <a:cs typeface="Arial MT"/>
              </a:rPr>
              <a:t>c</a:t>
            </a:r>
            <a:r>
              <a:rPr sz="2800" spc="-235" dirty="0">
                <a:latin typeface="Arial MT"/>
                <a:cs typeface="Arial MT"/>
              </a:rPr>
              <a:t>hips</a:t>
            </a:r>
            <a:r>
              <a:rPr sz="2800" spc="-140" dirty="0">
                <a:latin typeface="Arial MT"/>
                <a:cs typeface="Arial MT"/>
              </a:rPr>
              <a:t>.</a:t>
            </a:r>
            <a:endParaRPr sz="2800">
              <a:latin typeface="Arial MT"/>
              <a:cs typeface="Arial MT"/>
            </a:endParaRPr>
          </a:p>
          <a:p>
            <a:pPr marL="425450" marR="18415" indent="-635" algn="just">
              <a:lnSpc>
                <a:spcPts val="3020"/>
              </a:lnSpc>
              <a:spcBef>
                <a:spcPts val="680"/>
              </a:spcBef>
            </a:pPr>
            <a:r>
              <a:rPr sz="2800" spc="-295" dirty="0">
                <a:latin typeface="Arial MT"/>
                <a:cs typeface="Arial MT"/>
              </a:rPr>
              <a:t>The</a:t>
            </a:r>
            <a:r>
              <a:rPr sz="2800" spc="-290" dirty="0">
                <a:latin typeface="Arial MT"/>
                <a:cs typeface="Arial MT"/>
              </a:rPr>
              <a:t> </a:t>
            </a:r>
            <a:r>
              <a:rPr sz="2800" spc="-310" dirty="0">
                <a:latin typeface="Arial MT"/>
                <a:cs typeface="Arial MT"/>
              </a:rPr>
              <a:t>1K</a:t>
            </a:r>
            <a:r>
              <a:rPr sz="2800" spc="-305" dirty="0">
                <a:latin typeface="Arial MT"/>
                <a:cs typeface="Arial MT"/>
              </a:rPr>
              <a:t> memory</a:t>
            </a:r>
            <a:r>
              <a:rPr sz="2800" spc="-300" dirty="0">
                <a:latin typeface="Arial MT"/>
                <a:cs typeface="Arial MT"/>
              </a:rPr>
              <a:t> </a:t>
            </a:r>
            <a:r>
              <a:rPr sz="2800" spc="-235" dirty="0">
                <a:latin typeface="Arial MT"/>
                <a:cs typeface="Arial MT"/>
              </a:rPr>
              <a:t>chip</a:t>
            </a:r>
            <a:r>
              <a:rPr sz="2800" spc="-229" dirty="0">
                <a:latin typeface="Arial MT"/>
                <a:cs typeface="Arial MT"/>
              </a:rPr>
              <a:t> </a:t>
            </a:r>
            <a:r>
              <a:rPr sz="2800" spc="-280" dirty="0">
                <a:latin typeface="Arial MT"/>
                <a:cs typeface="Arial MT"/>
              </a:rPr>
              <a:t>needs</a:t>
            </a:r>
            <a:r>
              <a:rPr sz="2800" spc="-275" dirty="0">
                <a:latin typeface="Arial MT"/>
                <a:cs typeface="Arial MT"/>
              </a:rPr>
              <a:t> </a:t>
            </a:r>
            <a:r>
              <a:rPr sz="2800" spc="-280" dirty="0">
                <a:latin typeface="Arial MT"/>
                <a:cs typeface="Arial MT"/>
              </a:rPr>
              <a:t>10</a:t>
            </a:r>
            <a:r>
              <a:rPr sz="2800" spc="-275" dirty="0">
                <a:latin typeface="Arial MT"/>
                <a:cs typeface="Arial MT"/>
              </a:rPr>
              <a:t> </a:t>
            </a:r>
            <a:r>
              <a:rPr sz="2800" spc="-260" dirty="0">
                <a:latin typeface="Arial MT"/>
                <a:cs typeface="Arial MT"/>
              </a:rPr>
              <a:t>address</a:t>
            </a:r>
            <a:r>
              <a:rPr sz="2800" spc="-254" dirty="0">
                <a:latin typeface="Arial MT"/>
                <a:cs typeface="Arial MT"/>
              </a:rPr>
              <a:t> </a:t>
            </a:r>
            <a:r>
              <a:rPr sz="2800" spc="-210" dirty="0">
                <a:latin typeface="Arial MT"/>
                <a:cs typeface="Arial MT"/>
              </a:rPr>
              <a:t>lines</a:t>
            </a:r>
            <a:r>
              <a:rPr sz="2800" spc="-204" dirty="0">
                <a:latin typeface="Arial MT"/>
                <a:cs typeface="Arial MT"/>
              </a:rPr>
              <a:t> </a:t>
            </a:r>
            <a:r>
              <a:rPr sz="2800" spc="-215" dirty="0">
                <a:latin typeface="Arial MT"/>
                <a:cs typeface="Arial MT"/>
              </a:rPr>
              <a:t>to </a:t>
            </a:r>
            <a:r>
              <a:rPr sz="2800" spc="-210" dirty="0">
                <a:latin typeface="Arial MT"/>
                <a:cs typeface="Arial MT"/>
              </a:rPr>
              <a:t> </a:t>
            </a:r>
            <a:r>
              <a:rPr sz="2800" spc="-235" dirty="0">
                <a:latin typeface="Arial MT"/>
                <a:cs typeface="Arial MT"/>
              </a:rPr>
              <a:t>uniquely</a:t>
            </a:r>
            <a:r>
              <a:rPr sz="2800" spc="-160" dirty="0">
                <a:latin typeface="Arial MT"/>
                <a:cs typeface="Arial MT"/>
              </a:rPr>
              <a:t> </a:t>
            </a:r>
            <a:r>
              <a:rPr sz="2800" spc="-204" dirty="0">
                <a:latin typeface="Arial MT"/>
                <a:cs typeface="Arial MT"/>
              </a:rPr>
              <a:t>identify</a:t>
            </a:r>
            <a:r>
              <a:rPr sz="2800" spc="-140" dirty="0">
                <a:latin typeface="Arial MT"/>
                <a:cs typeface="Arial MT"/>
              </a:rPr>
              <a:t> </a:t>
            </a:r>
            <a:r>
              <a:rPr sz="2800" spc="-235" dirty="0">
                <a:latin typeface="Arial MT"/>
                <a:cs typeface="Arial MT"/>
              </a:rPr>
              <a:t>the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310" dirty="0">
                <a:latin typeface="Arial MT"/>
                <a:cs typeface="Arial MT"/>
              </a:rPr>
              <a:t>1K</a:t>
            </a:r>
            <a:r>
              <a:rPr sz="2800" spc="-140" dirty="0">
                <a:latin typeface="Arial MT"/>
                <a:cs typeface="Arial MT"/>
              </a:rPr>
              <a:t> </a:t>
            </a:r>
            <a:r>
              <a:rPr sz="2800" spc="-215" dirty="0">
                <a:latin typeface="Arial MT"/>
                <a:cs typeface="Arial MT"/>
              </a:rPr>
              <a:t>locations.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240" dirty="0">
                <a:latin typeface="Arial MT"/>
                <a:cs typeface="Arial MT"/>
              </a:rPr>
              <a:t>(log</a:t>
            </a:r>
            <a:r>
              <a:rPr sz="2775" spc="-359" baseline="-28528" dirty="0">
                <a:latin typeface="Arial MT"/>
                <a:cs typeface="Arial MT"/>
              </a:rPr>
              <a:t>2</a:t>
            </a:r>
            <a:r>
              <a:rPr sz="2800" spc="-240" dirty="0">
                <a:latin typeface="Arial MT"/>
                <a:cs typeface="Arial MT"/>
              </a:rPr>
              <a:t>1024</a:t>
            </a:r>
            <a:r>
              <a:rPr sz="2800" spc="-160" dirty="0">
                <a:latin typeface="Arial MT"/>
                <a:cs typeface="Arial MT"/>
              </a:rPr>
              <a:t> </a:t>
            </a:r>
            <a:r>
              <a:rPr sz="2800" spc="-295" dirty="0">
                <a:latin typeface="Arial MT"/>
                <a:cs typeface="Arial MT"/>
              </a:rPr>
              <a:t>=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245" dirty="0">
                <a:latin typeface="Arial MT"/>
                <a:cs typeface="Arial MT"/>
              </a:rPr>
              <a:t>10)</a:t>
            </a:r>
            <a:endParaRPr sz="2800">
              <a:latin typeface="Arial MT"/>
              <a:cs typeface="Arial MT"/>
            </a:endParaRPr>
          </a:p>
          <a:p>
            <a:pPr marL="424815" marR="18415" algn="just">
              <a:lnSpc>
                <a:spcPts val="3020"/>
              </a:lnSpc>
              <a:spcBef>
                <a:spcPts val="680"/>
              </a:spcBef>
            </a:pPr>
            <a:r>
              <a:rPr sz="2800" spc="-254" dirty="0">
                <a:latin typeface="Arial MT"/>
                <a:cs typeface="Arial MT"/>
              </a:rPr>
              <a:t>That</a:t>
            </a:r>
            <a:r>
              <a:rPr sz="2800" spc="-250" dirty="0">
                <a:latin typeface="Arial MT"/>
                <a:cs typeface="Arial MT"/>
              </a:rPr>
              <a:t> </a:t>
            </a:r>
            <a:r>
              <a:rPr sz="2800" spc="-245" dirty="0">
                <a:latin typeface="Arial MT"/>
                <a:cs typeface="Arial MT"/>
              </a:rPr>
              <a:t>leaves</a:t>
            </a:r>
            <a:r>
              <a:rPr sz="2800" spc="-240" dirty="0">
                <a:latin typeface="Arial MT"/>
                <a:cs typeface="Arial MT"/>
              </a:rPr>
              <a:t> </a:t>
            </a:r>
            <a:r>
              <a:rPr sz="2800" spc="-280" dirty="0">
                <a:latin typeface="Arial MT"/>
                <a:cs typeface="Arial MT"/>
              </a:rPr>
              <a:t>6</a:t>
            </a:r>
            <a:r>
              <a:rPr sz="2800" spc="-275" dirty="0">
                <a:latin typeface="Arial MT"/>
                <a:cs typeface="Arial MT"/>
              </a:rPr>
              <a:t> </a:t>
            </a:r>
            <a:r>
              <a:rPr sz="2800" spc="-260" dirty="0">
                <a:latin typeface="Arial MT"/>
                <a:cs typeface="Arial MT"/>
              </a:rPr>
              <a:t>address</a:t>
            </a:r>
            <a:r>
              <a:rPr sz="2800" spc="-254" dirty="0">
                <a:latin typeface="Arial MT"/>
                <a:cs typeface="Arial MT"/>
              </a:rPr>
              <a:t> </a:t>
            </a:r>
            <a:r>
              <a:rPr sz="2800" spc="-210" dirty="0">
                <a:latin typeface="Arial MT"/>
                <a:cs typeface="Arial MT"/>
              </a:rPr>
              <a:t>lines</a:t>
            </a:r>
            <a:r>
              <a:rPr sz="2800" spc="-204" dirty="0">
                <a:latin typeface="Arial MT"/>
                <a:cs typeface="Arial MT"/>
              </a:rPr>
              <a:t> </a:t>
            </a:r>
            <a:r>
              <a:rPr sz="2800" spc="-260" dirty="0">
                <a:latin typeface="Arial MT"/>
                <a:cs typeface="Arial MT"/>
              </a:rPr>
              <a:t>which</a:t>
            </a:r>
            <a:r>
              <a:rPr sz="2800" spc="-254" dirty="0">
                <a:latin typeface="Arial MT"/>
                <a:cs typeface="Arial MT"/>
              </a:rPr>
              <a:t> </a:t>
            </a:r>
            <a:r>
              <a:rPr sz="2800" spc="-185" dirty="0">
                <a:latin typeface="Arial MT"/>
                <a:cs typeface="Arial MT"/>
              </a:rPr>
              <a:t>is</a:t>
            </a:r>
            <a:r>
              <a:rPr sz="2800" spc="-180" dirty="0">
                <a:latin typeface="Arial MT"/>
                <a:cs typeface="Arial MT"/>
              </a:rPr>
              <a:t> </a:t>
            </a:r>
            <a:r>
              <a:rPr sz="2800" spc="-235" dirty="0">
                <a:latin typeface="Arial MT"/>
                <a:cs typeface="Arial MT"/>
              </a:rPr>
              <a:t>the</a:t>
            </a:r>
            <a:r>
              <a:rPr sz="2800" spc="305" dirty="0">
                <a:latin typeface="Arial MT"/>
                <a:cs typeface="Arial MT"/>
              </a:rPr>
              <a:t> </a:t>
            </a:r>
            <a:r>
              <a:rPr sz="2800" spc="-245" dirty="0">
                <a:latin typeface="Arial MT"/>
                <a:cs typeface="Arial MT"/>
              </a:rPr>
              <a:t>exact </a:t>
            </a:r>
            <a:r>
              <a:rPr sz="2800" spc="-240" dirty="0">
                <a:latin typeface="Arial MT"/>
                <a:cs typeface="Arial MT"/>
              </a:rPr>
              <a:t> </a:t>
            </a:r>
            <a:r>
              <a:rPr sz="2800" spc="-290" dirty="0">
                <a:latin typeface="Arial MT"/>
                <a:cs typeface="Arial MT"/>
              </a:rPr>
              <a:t>number</a:t>
            </a:r>
            <a:r>
              <a:rPr sz="2800" spc="-285" dirty="0">
                <a:latin typeface="Arial MT"/>
                <a:cs typeface="Arial MT"/>
              </a:rPr>
              <a:t> needed</a:t>
            </a:r>
            <a:r>
              <a:rPr sz="2800" spc="-280" dirty="0">
                <a:latin typeface="Arial MT"/>
                <a:cs typeface="Arial MT"/>
              </a:rPr>
              <a:t> </a:t>
            </a:r>
            <a:r>
              <a:rPr sz="2800" spc="-200" dirty="0">
                <a:latin typeface="Arial MT"/>
                <a:cs typeface="Arial MT"/>
              </a:rPr>
              <a:t>for</a:t>
            </a:r>
            <a:r>
              <a:rPr sz="2800" spc="-195" dirty="0">
                <a:latin typeface="Arial MT"/>
                <a:cs typeface="Arial MT"/>
              </a:rPr>
              <a:t> </a:t>
            </a:r>
            <a:r>
              <a:rPr sz="2800" spc="-225" dirty="0">
                <a:latin typeface="Arial MT"/>
                <a:cs typeface="Arial MT"/>
              </a:rPr>
              <a:t>selecting</a:t>
            </a:r>
            <a:r>
              <a:rPr sz="2800" spc="-220" dirty="0">
                <a:latin typeface="Arial MT"/>
                <a:cs typeface="Arial MT"/>
              </a:rPr>
              <a:t> </a:t>
            </a:r>
            <a:r>
              <a:rPr sz="2800" spc="-275" dirty="0">
                <a:latin typeface="Arial MT"/>
                <a:cs typeface="Arial MT"/>
              </a:rPr>
              <a:t>between</a:t>
            </a:r>
            <a:r>
              <a:rPr sz="2800" spc="229" dirty="0">
                <a:latin typeface="Arial MT"/>
                <a:cs typeface="Arial MT"/>
              </a:rPr>
              <a:t> </a:t>
            </a:r>
            <a:r>
              <a:rPr sz="2800" spc="-235" dirty="0">
                <a:latin typeface="Arial MT"/>
                <a:cs typeface="Arial MT"/>
              </a:rPr>
              <a:t>the</a:t>
            </a:r>
            <a:r>
              <a:rPr sz="2800" spc="310" dirty="0">
                <a:latin typeface="Arial MT"/>
                <a:cs typeface="Arial MT"/>
              </a:rPr>
              <a:t> </a:t>
            </a:r>
            <a:r>
              <a:rPr sz="2800" spc="-290" dirty="0">
                <a:latin typeface="Arial MT"/>
                <a:cs typeface="Arial MT"/>
              </a:rPr>
              <a:t>64 </a:t>
            </a:r>
            <a:r>
              <a:rPr sz="2800" spc="-285" dirty="0">
                <a:latin typeface="Arial MT"/>
                <a:cs typeface="Arial MT"/>
              </a:rPr>
              <a:t> </a:t>
            </a:r>
            <a:r>
              <a:rPr sz="2800" spc="-200" dirty="0">
                <a:latin typeface="Arial MT"/>
                <a:cs typeface="Arial MT"/>
              </a:rPr>
              <a:t>di</a:t>
            </a:r>
            <a:r>
              <a:rPr sz="2800" spc="-145" dirty="0">
                <a:latin typeface="Arial MT"/>
                <a:cs typeface="Arial MT"/>
              </a:rPr>
              <a:t>ff</a:t>
            </a:r>
            <a:r>
              <a:rPr sz="2800" spc="-280" dirty="0">
                <a:latin typeface="Arial MT"/>
                <a:cs typeface="Arial MT"/>
              </a:rPr>
              <a:t>e</a:t>
            </a:r>
            <a:r>
              <a:rPr sz="2800" spc="-175" dirty="0">
                <a:latin typeface="Arial MT"/>
                <a:cs typeface="Arial MT"/>
              </a:rPr>
              <a:t>r</a:t>
            </a:r>
            <a:r>
              <a:rPr sz="2800" spc="-235" dirty="0">
                <a:latin typeface="Arial MT"/>
                <a:cs typeface="Arial MT"/>
              </a:rPr>
              <a:t>ent</a:t>
            </a:r>
            <a:r>
              <a:rPr sz="2800" spc="-155" dirty="0">
                <a:latin typeface="Arial MT"/>
                <a:cs typeface="Arial MT"/>
              </a:rPr>
              <a:t> </a:t>
            </a:r>
            <a:r>
              <a:rPr sz="2800" spc="-254" dirty="0">
                <a:latin typeface="Arial MT"/>
                <a:cs typeface="Arial MT"/>
              </a:rPr>
              <a:t>c</a:t>
            </a:r>
            <a:r>
              <a:rPr sz="2800" spc="-235" dirty="0">
                <a:latin typeface="Arial MT"/>
                <a:cs typeface="Arial MT"/>
              </a:rPr>
              <a:t>hips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175" dirty="0">
                <a:latin typeface="Arial MT"/>
                <a:cs typeface="Arial MT"/>
              </a:rPr>
              <a:t>(</a:t>
            </a:r>
            <a:r>
              <a:rPr sz="2800" spc="-225" dirty="0">
                <a:latin typeface="Arial MT"/>
                <a:cs typeface="Arial MT"/>
              </a:rPr>
              <a:t>log</a:t>
            </a:r>
            <a:r>
              <a:rPr sz="2775" spc="-270" baseline="-28528" dirty="0">
                <a:latin typeface="Arial MT"/>
                <a:cs typeface="Arial MT"/>
              </a:rPr>
              <a:t>2</a:t>
            </a:r>
            <a:r>
              <a:rPr sz="2800" spc="-280" dirty="0">
                <a:latin typeface="Arial MT"/>
                <a:cs typeface="Arial MT"/>
              </a:rPr>
              <a:t>64</a:t>
            </a:r>
            <a:r>
              <a:rPr sz="2800" spc="-155" dirty="0">
                <a:latin typeface="Arial MT"/>
                <a:cs typeface="Arial MT"/>
              </a:rPr>
              <a:t> </a:t>
            </a:r>
            <a:r>
              <a:rPr sz="2800" spc="-295" dirty="0">
                <a:latin typeface="Arial MT"/>
                <a:cs typeface="Arial MT"/>
              </a:rPr>
              <a:t>=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280" dirty="0">
                <a:latin typeface="Arial MT"/>
                <a:cs typeface="Arial MT"/>
              </a:rPr>
              <a:t>6</a:t>
            </a:r>
            <a:r>
              <a:rPr sz="2800" spc="-175" dirty="0">
                <a:latin typeface="Arial MT"/>
                <a:cs typeface="Arial MT"/>
              </a:rPr>
              <a:t>)</a:t>
            </a:r>
            <a:r>
              <a:rPr sz="2800" spc="-140" dirty="0">
                <a:latin typeface="Arial MT"/>
                <a:cs typeface="Arial MT"/>
              </a:rPr>
              <a:t>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r>
              <a:rPr spc="-5" dirty="0"/>
              <a:t>25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6350" y="0"/>
            <a:ext cx="9156700" cy="6870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515938" cy="68579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64540" y="1010665"/>
            <a:ext cx="637540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9" dirty="0">
                <a:solidFill>
                  <a:srgbClr val="FFFFCC"/>
                </a:solidFill>
                <a:latin typeface="Arial MT"/>
                <a:cs typeface="Arial MT"/>
              </a:rPr>
              <a:t>The</a:t>
            </a:r>
            <a:r>
              <a:rPr spc="-220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445" dirty="0">
                <a:solidFill>
                  <a:srgbClr val="FFFFCC"/>
                </a:solidFill>
                <a:latin typeface="Arial MT"/>
                <a:cs typeface="Arial MT"/>
              </a:rPr>
              <a:t>8085</a:t>
            </a:r>
            <a:r>
              <a:rPr spc="-195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445" dirty="0">
                <a:solidFill>
                  <a:srgbClr val="FFFFCC"/>
                </a:solidFill>
                <a:latin typeface="Arial MT"/>
                <a:cs typeface="Arial MT"/>
              </a:rPr>
              <a:t>and</a:t>
            </a:r>
            <a:r>
              <a:rPr spc="-204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420" dirty="0">
                <a:solidFill>
                  <a:srgbClr val="FFFFCC"/>
                </a:solidFill>
                <a:latin typeface="Arial MT"/>
                <a:cs typeface="Arial MT"/>
              </a:rPr>
              <a:t>Address</a:t>
            </a:r>
            <a:r>
              <a:rPr spc="-215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459" dirty="0">
                <a:solidFill>
                  <a:srgbClr val="FFFFCC"/>
                </a:solidFill>
                <a:latin typeface="Arial MT"/>
                <a:cs typeface="Arial MT"/>
              </a:rPr>
              <a:t>Ranges</a:t>
            </a: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7239" y="2177796"/>
            <a:ext cx="189738" cy="19888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33677" y="5012435"/>
            <a:ext cx="139445" cy="14706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482089" y="4866385"/>
            <a:ext cx="6664959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 indent="-635">
              <a:lnSpc>
                <a:spcPct val="100000"/>
              </a:lnSpc>
              <a:spcBef>
                <a:spcPts val="100"/>
              </a:spcBef>
            </a:pPr>
            <a:r>
              <a:rPr sz="2200" spc="-220" dirty="0">
                <a:latin typeface="Arial MT"/>
                <a:cs typeface="Arial MT"/>
              </a:rPr>
              <a:t>Depending</a:t>
            </a:r>
            <a:r>
              <a:rPr sz="2200" spc="-140" dirty="0">
                <a:latin typeface="Arial MT"/>
                <a:cs typeface="Arial MT"/>
              </a:rPr>
              <a:t> </a:t>
            </a:r>
            <a:r>
              <a:rPr sz="2200" spc="-225" dirty="0">
                <a:latin typeface="Arial MT"/>
                <a:cs typeface="Arial MT"/>
              </a:rPr>
              <a:t>on</a:t>
            </a:r>
            <a:r>
              <a:rPr sz="2200" spc="-114" dirty="0">
                <a:latin typeface="Arial MT"/>
                <a:cs typeface="Arial MT"/>
              </a:rPr>
              <a:t> </a:t>
            </a:r>
            <a:r>
              <a:rPr sz="2200" spc="-185" dirty="0">
                <a:latin typeface="Arial MT"/>
                <a:cs typeface="Arial MT"/>
              </a:rPr>
              <a:t>the</a:t>
            </a:r>
            <a:r>
              <a:rPr sz="2200" spc="-120" dirty="0">
                <a:latin typeface="Arial MT"/>
                <a:cs typeface="Arial MT"/>
              </a:rPr>
              <a:t> </a:t>
            </a:r>
            <a:r>
              <a:rPr sz="2200" spc="-200" dirty="0">
                <a:latin typeface="Arial MT"/>
                <a:cs typeface="Arial MT"/>
              </a:rPr>
              <a:t>combination</a:t>
            </a:r>
            <a:r>
              <a:rPr sz="2200" spc="-140" dirty="0">
                <a:latin typeface="Arial MT"/>
                <a:cs typeface="Arial MT"/>
              </a:rPr>
              <a:t> </a:t>
            </a:r>
            <a:r>
              <a:rPr sz="2200" spc="-225" dirty="0">
                <a:latin typeface="Arial MT"/>
                <a:cs typeface="Arial MT"/>
              </a:rPr>
              <a:t>on</a:t>
            </a:r>
            <a:r>
              <a:rPr sz="2200" spc="-114" dirty="0">
                <a:latin typeface="Arial MT"/>
                <a:cs typeface="Arial MT"/>
              </a:rPr>
              <a:t> </a:t>
            </a:r>
            <a:r>
              <a:rPr sz="2200" spc="-185" dirty="0">
                <a:latin typeface="Arial MT"/>
                <a:cs typeface="Arial MT"/>
              </a:rPr>
              <a:t>the</a:t>
            </a:r>
            <a:r>
              <a:rPr sz="2200" spc="-120" dirty="0">
                <a:latin typeface="Arial MT"/>
                <a:cs typeface="Arial MT"/>
              </a:rPr>
              <a:t> </a:t>
            </a:r>
            <a:r>
              <a:rPr sz="2200" spc="-204" dirty="0">
                <a:latin typeface="Arial MT"/>
                <a:cs typeface="Arial MT"/>
              </a:rPr>
              <a:t>address</a:t>
            </a:r>
            <a:r>
              <a:rPr sz="2200" spc="-125" dirty="0">
                <a:latin typeface="Arial MT"/>
                <a:cs typeface="Arial MT"/>
              </a:rPr>
              <a:t> </a:t>
            </a:r>
            <a:r>
              <a:rPr sz="2200" spc="-165" dirty="0">
                <a:latin typeface="Arial MT"/>
                <a:cs typeface="Arial MT"/>
              </a:rPr>
              <a:t>lines</a:t>
            </a:r>
            <a:r>
              <a:rPr sz="2200" spc="-125" dirty="0">
                <a:latin typeface="Arial MT"/>
                <a:cs typeface="Arial MT"/>
              </a:rPr>
              <a:t> </a:t>
            </a:r>
            <a:r>
              <a:rPr sz="2200" spc="-185" dirty="0">
                <a:latin typeface="Arial MT"/>
                <a:cs typeface="Arial MT"/>
              </a:rPr>
              <a:t>A</a:t>
            </a:r>
            <a:r>
              <a:rPr sz="2175" spc="-277" baseline="-21072" dirty="0">
                <a:latin typeface="Arial MT"/>
                <a:cs typeface="Arial MT"/>
              </a:rPr>
              <a:t>15</a:t>
            </a:r>
            <a:r>
              <a:rPr sz="2175" spc="-82" baseline="-21072" dirty="0">
                <a:latin typeface="Arial MT"/>
                <a:cs typeface="Arial MT"/>
              </a:rPr>
              <a:t> </a:t>
            </a:r>
            <a:r>
              <a:rPr sz="2200" spc="-135" dirty="0">
                <a:latin typeface="Arial MT"/>
                <a:cs typeface="Arial MT"/>
              </a:rPr>
              <a:t>-</a:t>
            </a:r>
            <a:r>
              <a:rPr sz="2200" spc="-110" dirty="0">
                <a:latin typeface="Arial MT"/>
                <a:cs typeface="Arial MT"/>
              </a:rPr>
              <a:t> </a:t>
            </a:r>
            <a:r>
              <a:rPr sz="2200" spc="-185" dirty="0">
                <a:latin typeface="Arial MT"/>
                <a:cs typeface="Arial MT"/>
              </a:rPr>
              <a:t>A</a:t>
            </a:r>
            <a:r>
              <a:rPr sz="2175" spc="-277" baseline="-21072" dirty="0">
                <a:latin typeface="Arial MT"/>
                <a:cs typeface="Arial MT"/>
              </a:rPr>
              <a:t>10</a:t>
            </a:r>
            <a:r>
              <a:rPr sz="2175" spc="-82" baseline="-21072" dirty="0">
                <a:latin typeface="Arial MT"/>
                <a:cs typeface="Arial MT"/>
              </a:rPr>
              <a:t> </a:t>
            </a:r>
            <a:r>
              <a:rPr sz="2200" spc="-110" dirty="0">
                <a:latin typeface="Arial MT"/>
                <a:cs typeface="Arial MT"/>
              </a:rPr>
              <a:t>,</a:t>
            </a:r>
            <a:r>
              <a:rPr sz="2200" spc="-114" dirty="0">
                <a:latin typeface="Arial MT"/>
                <a:cs typeface="Arial MT"/>
              </a:rPr>
              <a:t> </a:t>
            </a:r>
            <a:r>
              <a:rPr sz="2200" spc="-190" dirty="0">
                <a:latin typeface="Arial MT"/>
                <a:cs typeface="Arial MT"/>
              </a:rPr>
              <a:t>the </a:t>
            </a:r>
            <a:r>
              <a:rPr sz="2200" spc="-595" dirty="0">
                <a:latin typeface="Arial MT"/>
                <a:cs typeface="Arial MT"/>
              </a:rPr>
              <a:t> </a:t>
            </a:r>
            <a:r>
              <a:rPr sz="2200" spc="-210" dirty="0">
                <a:latin typeface="Arial MT"/>
                <a:cs typeface="Arial MT"/>
              </a:rPr>
              <a:t>addre</a:t>
            </a:r>
            <a:r>
              <a:rPr sz="2200" spc="-200" dirty="0">
                <a:latin typeface="Arial MT"/>
                <a:cs typeface="Arial MT"/>
              </a:rPr>
              <a:t>ss</a:t>
            </a:r>
            <a:r>
              <a:rPr sz="2200" spc="-140" dirty="0">
                <a:latin typeface="Arial MT"/>
                <a:cs typeface="Arial MT"/>
              </a:rPr>
              <a:t> </a:t>
            </a:r>
            <a:r>
              <a:rPr sz="2200" spc="-204" dirty="0">
                <a:latin typeface="Arial MT"/>
                <a:cs typeface="Arial MT"/>
              </a:rPr>
              <a:t>rang</a:t>
            </a:r>
            <a:r>
              <a:rPr sz="2200" spc="-220" dirty="0">
                <a:latin typeface="Arial MT"/>
                <a:cs typeface="Arial MT"/>
              </a:rPr>
              <a:t>e</a:t>
            </a:r>
            <a:r>
              <a:rPr sz="2200" spc="-125" dirty="0">
                <a:latin typeface="Arial MT"/>
                <a:cs typeface="Arial MT"/>
              </a:rPr>
              <a:t> </a:t>
            </a:r>
            <a:r>
              <a:rPr sz="2200" spc="-225" dirty="0">
                <a:latin typeface="Arial MT"/>
                <a:cs typeface="Arial MT"/>
              </a:rPr>
              <a:t>o</a:t>
            </a:r>
            <a:r>
              <a:rPr sz="2200" spc="-110" dirty="0">
                <a:latin typeface="Arial MT"/>
                <a:cs typeface="Arial MT"/>
              </a:rPr>
              <a:t>f</a:t>
            </a:r>
            <a:r>
              <a:rPr sz="2200" spc="-120" dirty="0">
                <a:latin typeface="Arial MT"/>
                <a:cs typeface="Arial MT"/>
              </a:rPr>
              <a:t> </a:t>
            </a:r>
            <a:r>
              <a:rPr sz="2200" spc="-110" dirty="0">
                <a:latin typeface="Arial MT"/>
                <a:cs typeface="Arial MT"/>
              </a:rPr>
              <a:t>t</a:t>
            </a:r>
            <a:r>
              <a:rPr sz="2200" spc="-225" dirty="0">
                <a:latin typeface="Arial MT"/>
                <a:cs typeface="Arial MT"/>
              </a:rPr>
              <a:t>h</a:t>
            </a:r>
            <a:r>
              <a:rPr sz="2200" spc="-220" dirty="0">
                <a:latin typeface="Arial MT"/>
                <a:cs typeface="Arial MT"/>
              </a:rPr>
              <a:t>e</a:t>
            </a:r>
            <a:r>
              <a:rPr sz="2200" spc="-125" dirty="0">
                <a:latin typeface="Arial MT"/>
                <a:cs typeface="Arial MT"/>
              </a:rPr>
              <a:t> </a:t>
            </a:r>
            <a:r>
              <a:rPr sz="2200" spc="-200" dirty="0">
                <a:latin typeface="Arial MT"/>
                <a:cs typeface="Arial MT"/>
              </a:rPr>
              <a:t>s</a:t>
            </a:r>
            <a:r>
              <a:rPr sz="2200" spc="-225" dirty="0">
                <a:latin typeface="Arial MT"/>
                <a:cs typeface="Arial MT"/>
              </a:rPr>
              <a:t>pe</a:t>
            </a:r>
            <a:r>
              <a:rPr sz="2200" spc="-200" dirty="0">
                <a:latin typeface="Arial MT"/>
                <a:cs typeface="Arial MT"/>
              </a:rPr>
              <a:t>c</a:t>
            </a:r>
            <a:r>
              <a:rPr sz="2200" spc="-90" dirty="0">
                <a:latin typeface="Arial MT"/>
                <a:cs typeface="Arial MT"/>
              </a:rPr>
              <a:t>i</a:t>
            </a:r>
            <a:r>
              <a:rPr sz="2200" spc="-110" dirty="0">
                <a:latin typeface="Arial MT"/>
                <a:cs typeface="Arial MT"/>
              </a:rPr>
              <a:t>f</a:t>
            </a:r>
            <a:r>
              <a:rPr sz="2200" spc="-90" dirty="0">
                <a:latin typeface="Arial MT"/>
                <a:cs typeface="Arial MT"/>
              </a:rPr>
              <a:t>i</a:t>
            </a:r>
            <a:r>
              <a:rPr sz="2200" spc="-225" dirty="0">
                <a:latin typeface="Arial MT"/>
                <a:cs typeface="Arial MT"/>
              </a:rPr>
              <a:t>e</a:t>
            </a:r>
            <a:r>
              <a:rPr sz="2200" spc="-220" dirty="0">
                <a:latin typeface="Arial MT"/>
                <a:cs typeface="Arial MT"/>
              </a:rPr>
              <a:t>d</a:t>
            </a:r>
            <a:r>
              <a:rPr sz="2200" spc="-140" dirty="0">
                <a:latin typeface="Arial MT"/>
                <a:cs typeface="Arial MT"/>
              </a:rPr>
              <a:t> </a:t>
            </a:r>
            <a:r>
              <a:rPr sz="2200" spc="-200" dirty="0">
                <a:latin typeface="Arial MT"/>
                <a:cs typeface="Arial MT"/>
              </a:rPr>
              <a:t>c</a:t>
            </a:r>
            <a:r>
              <a:rPr sz="2200" spc="-225" dirty="0">
                <a:latin typeface="Arial MT"/>
                <a:cs typeface="Arial MT"/>
              </a:rPr>
              <a:t>h</a:t>
            </a:r>
            <a:r>
              <a:rPr sz="2200" spc="-90" dirty="0">
                <a:latin typeface="Arial MT"/>
                <a:cs typeface="Arial MT"/>
              </a:rPr>
              <a:t>i</a:t>
            </a:r>
            <a:r>
              <a:rPr sz="2200" spc="-220" dirty="0">
                <a:latin typeface="Arial MT"/>
                <a:cs typeface="Arial MT"/>
              </a:rPr>
              <a:t>p</a:t>
            </a:r>
            <a:r>
              <a:rPr sz="2200" spc="-130" dirty="0">
                <a:latin typeface="Arial MT"/>
                <a:cs typeface="Arial MT"/>
              </a:rPr>
              <a:t> </a:t>
            </a:r>
            <a:r>
              <a:rPr sz="2200" spc="-90" dirty="0">
                <a:latin typeface="Arial MT"/>
                <a:cs typeface="Arial MT"/>
              </a:rPr>
              <a:t>i</a:t>
            </a:r>
            <a:r>
              <a:rPr sz="2200" spc="-200" dirty="0">
                <a:latin typeface="Arial MT"/>
                <a:cs typeface="Arial MT"/>
              </a:rPr>
              <a:t>s</a:t>
            </a:r>
            <a:r>
              <a:rPr sz="2200" spc="-120" dirty="0">
                <a:latin typeface="Arial MT"/>
                <a:cs typeface="Arial MT"/>
              </a:rPr>
              <a:t> </a:t>
            </a:r>
            <a:r>
              <a:rPr sz="2200" spc="-225" dirty="0">
                <a:latin typeface="Arial MT"/>
                <a:cs typeface="Arial MT"/>
              </a:rPr>
              <a:t>de</a:t>
            </a:r>
            <a:r>
              <a:rPr sz="2200" spc="-110" dirty="0">
                <a:latin typeface="Arial MT"/>
                <a:cs typeface="Arial MT"/>
              </a:rPr>
              <a:t>t</a:t>
            </a:r>
            <a:r>
              <a:rPr sz="2200" spc="-185" dirty="0">
                <a:latin typeface="Arial MT"/>
                <a:cs typeface="Arial MT"/>
              </a:rPr>
              <a:t>er</a:t>
            </a:r>
            <a:r>
              <a:rPr sz="2200" spc="-330" dirty="0">
                <a:latin typeface="Arial MT"/>
                <a:cs typeface="Arial MT"/>
              </a:rPr>
              <a:t>m</a:t>
            </a:r>
            <a:r>
              <a:rPr sz="2200" spc="-90" dirty="0">
                <a:latin typeface="Arial MT"/>
                <a:cs typeface="Arial MT"/>
              </a:rPr>
              <a:t>i</a:t>
            </a:r>
            <a:r>
              <a:rPr sz="2200" spc="-200" dirty="0">
                <a:latin typeface="Arial MT"/>
                <a:cs typeface="Arial MT"/>
              </a:rPr>
              <a:t>ned.</a:t>
            </a:r>
            <a:endParaRPr sz="22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917576" y="2349500"/>
            <a:ext cx="7226300" cy="901700"/>
            <a:chOff x="917576" y="2349500"/>
            <a:chExt cx="7226300" cy="901700"/>
          </a:xfrm>
        </p:grpSpPr>
        <p:sp>
          <p:nvSpPr>
            <p:cNvPr id="9" name="object 9"/>
            <p:cNvSpPr/>
            <p:nvPr/>
          </p:nvSpPr>
          <p:spPr>
            <a:xfrm>
              <a:off x="981074" y="2908300"/>
              <a:ext cx="3111500" cy="0"/>
            </a:xfrm>
            <a:custGeom>
              <a:avLst/>
              <a:gdLst/>
              <a:ahLst/>
              <a:cxnLst/>
              <a:rect l="l" t="t" r="r" b="b"/>
              <a:pathLst>
                <a:path w="3111500">
                  <a:moveTo>
                    <a:pt x="0" y="0"/>
                  </a:moveTo>
                  <a:lnTo>
                    <a:pt x="31115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7575" y="2870199"/>
              <a:ext cx="3238500" cy="76200"/>
            </a:xfrm>
            <a:custGeom>
              <a:avLst/>
              <a:gdLst/>
              <a:ahLst/>
              <a:cxnLst/>
              <a:rect l="l" t="t" r="r" b="b"/>
              <a:pathLst>
                <a:path w="32385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  <a:path w="3238500" h="76200">
                  <a:moveTo>
                    <a:pt x="3238500" y="38100"/>
                  </a:moveTo>
                  <a:lnTo>
                    <a:pt x="3162300" y="0"/>
                  </a:lnTo>
                  <a:lnTo>
                    <a:pt x="3162300" y="76200"/>
                  </a:lnTo>
                  <a:lnTo>
                    <a:pt x="3238500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194175" y="2908300"/>
              <a:ext cx="3886200" cy="0"/>
            </a:xfrm>
            <a:custGeom>
              <a:avLst/>
              <a:gdLst/>
              <a:ahLst/>
              <a:cxnLst/>
              <a:rect l="l" t="t" r="r" b="b"/>
              <a:pathLst>
                <a:path w="3886200">
                  <a:moveTo>
                    <a:pt x="0" y="0"/>
                  </a:moveTo>
                  <a:lnTo>
                    <a:pt x="38862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130675" y="2870199"/>
              <a:ext cx="4013200" cy="76200"/>
            </a:xfrm>
            <a:custGeom>
              <a:avLst/>
              <a:gdLst/>
              <a:ahLst/>
              <a:cxnLst/>
              <a:rect l="l" t="t" r="r" b="b"/>
              <a:pathLst>
                <a:path w="40132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  <a:path w="4013200" h="76200">
                  <a:moveTo>
                    <a:pt x="4013200" y="38100"/>
                  </a:moveTo>
                  <a:lnTo>
                    <a:pt x="3937000" y="0"/>
                  </a:lnTo>
                  <a:lnTo>
                    <a:pt x="3937000" y="76200"/>
                  </a:lnTo>
                  <a:lnTo>
                    <a:pt x="4013200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143374" y="2349500"/>
              <a:ext cx="0" cy="901700"/>
            </a:xfrm>
            <a:custGeom>
              <a:avLst/>
              <a:gdLst/>
              <a:ahLst/>
              <a:cxnLst/>
              <a:rect l="l" t="t" r="r" b="b"/>
              <a:pathLst>
                <a:path h="901700">
                  <a:moveTo>
                    <a:pt x="0" y="0"/>
                  </a:moveTo>
                  <a:lnTo>
                    <a:pt x="0" y="9017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094739" y="2005837"/>
            <a:ext cx="6923405" cy="18821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 marR="53340">
              <a:lnSpc>
                <a:spcPct val="100000"/>
              </a:lnSpc>
              <a:spcBef>
                <a:spcPts val="100"/>
              </a:spcBef>
            </a:pPr>
            <a:r>
              <a:rPr sz="2800" spc="-370" dirty="0">
                <a:latin typeface="Arial MT"/>
                <a:cs typeface="Arial MT"/>
              </a:rPr>
              <a:t>N</a:t>
            </a:r>
            <a:r>
              <a:rPr sz="2800" spc="-280" dirty="0">
                <a:latin typeface="Arial MT"/>
                <a:cs typeface="Arial MT"/>
              </a:rPr>
              <a:t>o</a:t>
            </a:r>
            <a:r>
              <a:rPr sz="2800" spc="-370" dirty="0">
                <a:latin typeface="Arial MT"/>
                <a:cs typeface="Arial MT"/>
              </a:rPr>
              <a:t>w</a:t>
            </a:r>
            <a:r>
              <a:rPr sz="2800" spc="-140" dirty="0">
                <a:latin typeface="Arial MT"/>
                <a:cs typeface="Arial MT"/>
              </a:rPr>
              <a:t>, </a:t>
            </a:r>
            <a:r>
              <a:rPr sz="2800" spc="-370" dirty="0">
                <a:latin typeface="Arial MT"/>
                <a:cs typeface="Arial MT"/>
              </a:rPr>
              <a:t>w</a:t>
            </a:r>
            <a:r>
              <a:rPr sz="2800" spc="-280" dirty="0">
                <a:latin typeface="Arial MT"/>
                <a:cs typeface="Arial MT"/>
              </a:rPr>
              <a:t>e</a:t>
            </a:r>
            <a:r>
              <a:rPr sz="2800" spc="-140" dirty="0">
                <a:latin typeface="Arial MT"/>
                <a:cs typeface="Arial MT"/>
              </a:rPr>
              <a:t> </a:t>
            </a:r>
            <a:r>
              <a:rPr sz="2800" spc="-270" dirty="0">
                <a:latin typeface="Arial MT"/>
                <a:cs typeface="Arial MT"/>
              </a:rPr>
              <a:t>can</a:t>
            </a:r>
            <a:r>
              <a:rPr sz="2800" spc="-150" dirty="0">
                <a:latin typeface="Arial MT"/>
                <a:cs typeface="Arial MT"/>
              </a:rPr>
              <a:t> </a:t>
            </a:r>
            <a:r>
              <a:rPr sz="2800" spc="-280" dirty="0">
                <a:latin typeface="Arial MT"/>
                <a:cs typeface="Arial MT"/>
              </a:rPr>
              <a:t>b</a:t>
            </a:r>
            <a:r>
              <a:rPr sz="2800" spc="-175" dirty="0">
                <a:latin typeface="Arial MT"/>
                <a:cs typeface="Arial MT"/>
              </a:rPr>
              <a:t>r</a:t>
            </a:r>
            <a:r>
              <a:rPr sz="2800" spc="-275" dirty="0">
                <a:latin typeface="Arial MT"/>
                <a:cs typeface="Arial MT"/>
              </a:rPr>
              <a:t>eak</a:t>
            </a:r>
            <a:r>
              <a:rPr sz="2800" spc="-155" dirty="0">
                <a:latin typeface="Arial MT"/>
                <a:cs typeface="Arial MT"/>
              </a:rPr>
              <a:t> </a:t>
            </a:r>
            <a:r>
              <a:rPr sz="2800" spc="-280" dirty="0">
                <a:latin typeface="Arial MT"/>
                <a:cs typeface="Arial MT"/>
              </a:rPr>
              <a:t>up</a:t>
            </a:r>
            <a:r>
              <a:rPr sz="2800" spc="-145" dirty="0">
                <a:latin typeface="Arial MT"/>
                <a:cs typeface="Arial MT"/>
              </a:rPr>
              <a:t> t</a:t>
            </a:r>
            <a:r>
              <a:rPr sz="2800" spc="-280" dirty="0">
                <a:latin typeface="Arial MT"/>
                <a:cs typeface="Arial MT"/>
              </a:rPr>
              <a:t>he</a:t>
            </a:r>
            <a:r>
              <a:rPr sz="2800" spc="-150" dirty="0">
                <a:latin typeface="Arial MT"/>
                <a:cs typeface="Arial MT"/>
              </a:rPr>
              <a:t> </a:t>
            </a:r>
            <a:r>
              <a:rPr sz="2800" spc="-280" dirty="0">
                <a:latin typeface="Arial MT"/>
                <a:cs typeface="Arial MT"/>
              </a:rPr>
              <a:t>16</a:t>
            </a:r>
            <a:r>
              <a:rPr sz="2800" spc="-170" dirty="0">
                <a:latin typeface="Arial MT"/>
                <a:cs typeface="Arial MT"/>
              </a:rPr>
              <a:t>-</a:t>
            </a:r>
            <a:r>
              <a:rPr sz="2800" spc="-180" dirty="0">
                <a:latin typeface="Arial MT"/>
                <a:cs typeface="Arial MT"/>
              </a:rPr>
              <a:t>bit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280" dirty="0">
                <a:latin typeface="Arial MT"/>
                <a:cs typeface="Arial MT"/>
              </a:rPr>
              <a:t>add</a:t>
            </a:r>
            <a:r>
              <a:rPr sz="2800" spc="-175" dirty="0">
                <a:latin typeface="Arial MT"/>
                <a:cs typeface="Arial MT"/>
              </a:rPr>
              <a:t>r</a:t>
            </a:r>
            <a:r>
              <a:rPr sz="2800" spc="-265" dirty="0">
                <a:latin typeface="Arial MT"/>
                <a:cs typeface="Arial MT"/>
              </a:rPr>
              <a:t>ess</a:t>
            </a:r>
            <a:r>
              <a:rPr sz="2800" spc="-160" dirty="0">
                <a:latin typeface="Arial MT"/>
                <a:cs typeface="Arial MT"/>
              </a:rPr>
              <a:t> </a:t>
            </a:r>
            <a:r>
              <a:rPr sz="2800" spc="-210" dirty="0">
                <a:latin typeface="Arial MT"/>
                <a:cs typeface="Arial MT"/>
              </a:rPr>
              <a:t>of</a:t>
            </a:r>
            <a:r>
              <a:rPr sz="2800" spc="-145" dirty="0">
                <a:latin typeface="Arial MT"/>
                <a:cs typeface="Arial MT"/>
              </a:rPr>
              <a:t> t</a:t>
            </a:r>
            <a:r>
              <a:rPr sz="2800" spc="-280" dirty="0">
                <a:latin typeface="Arial MT"/>
                <a:cs typeface="Arial MT"/>
              </a:rPr>
              <a:t>he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225" dirty="0">
                <a:latin typeface="Arial MT"/>
                <a:cs typeface="Arial MT"/>
              </a:rPr>
              <a:t>8085  in</a:t>
            </a:r>
            <a:r>
              <a:rPr sz="2800" spc="-145" dirty="0">
                <a:latin typeface="Arial MT"/>
                <a:cs typeface="Arial MT"/>
              </a:rPr>
              <a:t>t</a:t>
            </a:r>
            <a:r>
              <a:rPr sz="2800" spc="-280" dirty="0">
                <a:latin typeface="Arial MT"/>
                <a:cs typeface="Arial MT"/>
              </a:rPr>
              <a:t>o</a:t>
            </a:r>
            <a:r>
              <a:rPr sz="2800" spc="-150" dirty="0">
                <a:latin typeface="Arial MT"/>
                <a:cs typeface="Arial MT"/>
              </a:rPr>
              <a:t> </a:t>
            </a:r>
            <a:r>
              <a:rPr sz="2800" spc="-145" dirty="0">
                <a:latin typeface="Arial MT"/>
                <a:cs typeface="Arial MT"/>
              </a:rPr>
              <a:t>t</a:t>
            </a:r>
            <a:r>
              <a:rPr sz="2800" spc="-370" dirty="0">
                <a:latin typeface="Arial MT"/>
                <a:cs typeface="Arial MT"/>
              </a:rPr>
              <a:t>w</a:t>
            </a:r>
            <a:r>
              <a:rPr sz="2800" spc="-280" dirty="0">
                <a:latin typeface="Arial MT"/>
                <a:cs typeface="Arial MT"/>
              </a:rPr>
              <a:t>o</a:t>
            </a:r>
            <a:r>
              <a:rPr sz="2800" spc="-140" dirty="0">
                <a:latin typeface="Arial MT"/>
                <a:cs typeface="Arial MT"/>
              </a:rPr>
              <a:t> </a:t>
            </a:r>
            <a:r>
              <a:rPr sz="2800" spc="-235" dirty="0">
                <a:latin typeface="Arial MT"/>
                <a:cs typeface="Arial MT"/>
              </a:rPr>
              <a:t>piec</a:t>
            </a:r>
            <a:r>
              <a:rPr sz="2800" spc="-270" dirty="0">
                <a:latin typeface="Arial MT"/>
                <a:cs typeface="Arial MT"/>
              </a:rPr>
              <a:t>es</a:t>
            </a:r>
            <a:r>
              <a:rPr sz="2800" spc="-140" dirty="0">
                <a:latin typeface="Arial MT"/>
                <a:cs typeface="Arial MT"/>
              </a:rPr>
              <a:t>:</a:t>
            </a:r>
            <a:endParaRPr sz="2800">
              <a:latin typeface="Arial MT"/>
              <a:cs typeface="Arial MT"/>
            </a:endParaRPr>
          </a:p>
          <a:p>
            <a:pPr marL="1175385">
              <a:lnSpc>
                <a:spcPct val="100000"/>
              </a:lnSpc>
              <a:spcBef>
                <a:spcPts val="2745"/>
              </a:spcBef>
              <a:tabLst>
                <a:tab pos="4210050" algn="l"/>
              </a:tabLst>
            </a:pPr>
            <a:r>
              <a:rPr sz="1400" spc="-5" dirty="0">
                <a:latin typeface="Arial MT"/>
                <a:cs typeface="Arial MT"/>
              </a:rPr>
              <a:t>Chip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Selection	Location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Selection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within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the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Chip</a:t>
            </a:r>
            <a:endParaRPr sz="1400">
              <a:latin typeface="Arial MT"/>
              <a:cs typeface="Arial MT"/>
            </a:endParaRPr>
          </a:p>
          <a:p>
            <a:pPr marL="267970">
              <a:lnSpc>
                <a:spcPct val="100000"/>
              </a:lnSpc>
              <a:spcBef>
                <a:spcPts val="110"/>
              </a:spcBef>
            </a:pPr>
            <a:r>
              <a:rPr sz="4200" spc="-509" baseline="13888" dirty="0">
                <a:solidFill>
                  <a:srgbClr val="376D6C"/>
                </a:solidFill>
                <a:latin typeface="Arial MT"/>
                <a:cs typeface="Arial MT"/>
              </a:rPr>
              <a:t>A</a:t>
            </a:r>
            <a:r>
              <a:rPr sz="1850" spc="-180" dirty="0">
                <a:solidFill>
                  <a:srgbClr val="376D6C"/>
                </a:solidFill>
                <a:latin typeface="Arial MT"/>
                <a:cs typeface="Arial MT"/>
              </a:rPr>
              <a:t>15</a:t>
            </a:r>
            <a:r>
              <a:rPr sz="1850" spc="120" dirty="0">
                <a:solidFill>
                  <a:srgbClr val="376D6C"/>
                </a:solidFill>
                <a:latin typeface="Arial MT"/>
                <a:cs typeface="Arial MT"/>
              </a:rPr>
              <a:t> </a:t>
            </a:r>
            <a:r>
              <a:rPr sz="4200" spc="-509" baseline="13888" dirty="0">
                <a:solidFill>
                  <a:srgbClr val="376D6C"/>
                </a:solidFill>
                <a:latin typeface="Arial MT"/>
                <a:cs typeface="Arial MT"/>
              </a:rPr>
              <a:t>A</a:t>
            </a:r>
            <a:r>
              <a:rPr sz="1850" spc="-180" dirty="0">
                <a:solidFill>
                  <a:srgbClr val="376D6C"/>
                </a:solidFill>
                <a:latin typeface="Arial MT"/>
                <a:cs typeface="Arial MT"/>
              </a:rPr>
              <a:t>14</a:t>
            </a:r>
            <a:r>
              <a:rPr sz="1850" spc="-90" dirty="0">
                <a:solidFill>
                  <a:srgbClr val="376D6C"/>
                </a:solidFill>
                <a:latin typeface="Arial MT"/>
                <a:cs typeface="Arial MT"/>
              </a:rPr>
              <a:t> </a:t>
            </a:r>
            <a:r>
              <a:rPr sz="4200" spc="-509" baseline="13888" dirty="0">
                <a:solidFill>
                  <a:srgbClr val="376D6C"/>
                </a:solidFill>
                <a:latin typeface="Arial MT"/>
                <a:cs typeface="Arial MT"/>
              </a:rPr>
              <a:t>A</a:t>
            </a:r>
            <a:r>
              <a:rPr sz="1850" spc="-180" dirty="0">
                <a:solidFill>
                  <a:srgbClr val="376D6C"/>
                </a:solidFill>
                <a:latin typeface="Arial MT"/>
                <a:cs typeface="Arial MT"/>
              </a:rPr>
              <a:t>13</a:t>
            </a:r>
            <a:r>
              <a:rPr sz="1850" spc="-85" dirty="0">
                <a:solidFill>
                  <a:srgbClr val="376D6C"/>
                </a:solidFill>
                <a:latin typeface="Arial MT"/>
                <a:cs typeface="Arial MT"/>
              </a:rPr>
              <a:t> </a:t>
            </a:r>
            <a:r>
              <a:rPr sz="4200" spc="-509" baseline="13888" dirty="0">
                <a:solidFill>
                  <a:srgbClr val="376D6C"/>
                </a:solidFill>
                <a:latin typeface="Arial MT"/>
                <a:cs typeface="Arial MT"/>
              </a:rPr>
              <a:t>A</a:t>
            </a:r>
            <a:r>
              <a:rPr sz="1850" spc="-180" dirty="0">
                <a:solidFill>
                  <a:srgbClr val="376D6C"/>
                </a:solidFill>
                <a:latin typeface="Arial MT"/>
                <a:cs typeface="Arial MT"/>
              </a:rPr>
              <a:t>12</a:t>
            </a:r>
            <a:r>
              <a:rPr sz="1850" spc="125" dirty="0">
                <a:solidFill>
                  <a:srgbClr val="376D6C"/>
                </a:solidFill>
                <a:latin typeface="Arial MT"/>
                <a:cs typeface="Arial MT"/>
              </a:rPr>
              <a:t> </a:t>
            </a:r>
            <a:r>
              <a:rPr sz="4200" spc="-509" baseline="13888" dirty="0">
                <a:solidFill>
                  <a:srgbClr val="376D6C"/>
                </a:solidFill>
                <a:latin typeface="Arial MT"/>
                <a:cs typeface="Arial MT"/>
              </a:rPr>
              <a:t>A</a:t>
            </a:r>
            <a:r>
              <a:rPr sz="1850" spc="-180" dirty="0">
                <a:solidFill>
                  <a:srgbClr val="376D6C"/>
                </a:solidFill>
                <a:latin typeface="Arial MT"/>
                <a:cs typeface="Arial MT"/>
              </a:rPr>
              <a:t>11</a:t>
            </a:r>
            <a:r>
              <a:rPr sz="1850" spc="-90" dirty="0">
                <a:solidFill>
                  <a:srgbClr val="376D6C"/>
                </a:solidFill>
                <a:latin typeface="Arial MT"/>
                <a:cs typeface="Arial MT"/>
              </a:rPr>
              <a:t> </a:t>
            </a:r>
            <a:r>
              <a:rPr sz="4200" spc="-509" baseline="13888" dirty="0">
                <a:solidFill>
                  <a:srgbClr val="376D6C"/>
                </a:solidFill>
                <a:latin typeface="Arial MT"/>
                <a:cs typeface="Arial MT"/>
              </a:rPr>
              <a:t>A</a:t>
            </a:r>
            <a:r>
              <a:rPr sz="1850" spc="-180" dirty="0">
                <a:solidFill>
                  <a:srgbClr val="376D6C"/>
                </a:solidFill>
                <a:latin typeface="Arial MT"/>
                <a:cs typeface="Arial MT"/>
              </a:rPr>
              <a:t>10</a:t>
            </a:r>
            <a:r>
              <a:rPr sz="1850" dirty="0">
                <a:solidFill>
                  <a:srgbClr val="376D6C"/>
                </a:solidFill>
                <a:latin typeface="Arial MT"/>
                <a:cs typeface="Arial MT"/>
              </a:rPr>
              <a:t> </a:t>
            </a:r>
            <a:r>
              <a:rPr sz="1850" spc="-180" dirty="0">
                <a:solidFill>
                  <a:srgbClr val="376D6C"/>
                </a:solidFill>
                <a:latin typeface="Arial MT"/>
                <a:cs typeface="Arial MT"/>
              </a:rPr>
              <a:t> </a:t>
            </a:r>
            <a:r>
              <a:rPr sz="4200" spc="-509" baseline="13888" dirty="0">
                <a:solidFill>
                  <a:srgbClr val="499EAF"/>
                </a:solidFill>
                <a:latin typeface="Arial MT"/>
                <a:cs typeface="Arial MT"/>
              </a:rPr>
              <a:t>A</a:t>
            </a:r>
            <a:r>
              <a:rPr sz="1850" spc="-180" dirty="0">
                <a:solidFill>
                  <a:srgbClr val="499EAF"/>
                </a:solidFill>
                <a:latin typeface="Arial MT"/>
                <a:cs typeface="Arial MT"/>
              </a:rPr>
              <a:t>9</a:t>
            </a:r>
            <a:r>
              <a:rPr sz="1850" spc="-85" dirty="0">
                <a:solidFill>
                  <a:srgbClr val="499EAF"/>
                </a:solidFill>
                <a:latin typeface="Arial MT"/>
                <a:cs typeface="Arial MT"/>
              </a:rPr>
              <a:t> </a:t>
            </a:r>
            <a:r>
              <a:rPr sz="4200" spc="-509" baseline="13888" dirty="0">
                <a:solidFill>
                  <a:srgbClr val="499EAF"/>
                </a:solidFill>
                <a:latin typeface="Arial MT"/>
                <a:cs typeface="Arial MT"/>
              </a:rPr>
              <a:t>A</a:t>
            </a:r>
            <a:r>
              <a:rPr sz="1850" spc="-180" dirty="0">
                <a:solidFill>
                  <a:srgbClr val="499EAF"/>
                </a:solidFill>
                <a:latin typeface="Arial MT"/>
                <a:cs typeface="Arial MT"/>
              </a:rPr>
              <a:t>8</a:t>
            </a:r>
            <a:r>
              <a:rPr sz="1850" spc="-85" dirty="0">
                <a:solidFill>
                  <a:srgbClr val="499EAF"/>
                </a:solidFill>
                <a:latin typeface="Arial MT"/>
                <a:cs typeface="Arial MT"/>
              </a:rPr>
              <a:t> </a:t>
            </a:r>
            <a:r>
              <a:rPr sz="4200" spc="-509" baseline="13888" dirty="0">
                <a:solidFill>
                  <a:srgbClr val="499EAF"/>
                </a:solidFill>
                <a:latin typeface="Arial MT"/>
                <a:cs typeface="Arial MT"/>
              </a:rPr>
              <a:t>A</a:t>
            </a:r>
            <a:r>
              <a:rPr sz="1850" spc="-180" dirty="0">
                <a:solidFill>
                  <a:srgbClr val="499EAF"/>
                </a:solidFill>
                <a:latin typeface="Arial MT"/>
                <a:cs typeface="Arial MT"/>
              </a:rPr>
              <a:t>7</a:t>
            </a:r>
            <a:r>
              <a:rPr sz="1850" spc="-90" dirty="0">
                <a:solidFill>
                  <a:srgbClr val="499EAF"/>
                </a:solidFill>
                <a:latin typeface="Arial MT"/>
                <a:cs typeface="Arial MT"/>
              </a:rPr>
              <a:t> </a:t>
            </a:r>
            <a:r>
              <a:rPr sz="4200" spc="-509" baseline="13888" dirty="0">
                <a:solidFill>
                  <a:srgbClr val="499EAF"/>
                </a:solidFill>
                <a:latin typeface="Arial MT"/>
                <a:cs typeface="Arial MT"/>
              </a:rPr>
              <a:t>A</a:t>
            </a:r>
            <a:r>
              <a:rPr sz="1850" spc="-180" dirty="0">
                <a:solidFill>
                  <a:srgbClr val="499EAF"/>
                </a:solidFill>
                <a:latin typeface="Arial MT"/>
                <a:cs typeface="Arial MT"/>
              </a:rPr>
              <a:t>6</a:t>
            </a:r>
            <a:r>
              <a:rPr sz="1850" spc="-85" dirty="0">
                <a:solidFill>
                  <a:srgbClr val="499EAF"/>
                </a:solidFill>
                <a:latin typeface="Arial MT"/>
                <a:cs typeface="Arial MT"/>
              </a:rPr>
              <a:t> </a:t>
            </a:r>
            <a:r>
              <a:rPr sz="4200" spc="-509" baseline="13888" dirty="0">
                <a:solidFill>
                  <a:srgbClr val="499EAF"/>
                </a:solidFill>
                <a:latin typeface="Arial MT"/>
                <a:cs typeface="Arial MT"/>
              </a:rPr>
              <a:t>A</a:t>
            </a:r>
            <a:r>
              <a:rPr sz="1850" spc="-180" dirty="0">
                <a:solidFill>
                  <a:srgbClr val="499EAF"/>
                </a:solidFill>
                <a:latin typeface="Arial MT"/>
                <a:cs typeface="Arial MT"/>
              </a:rPr>
              <a:t>5</a:t>
            </a:r>
            <a:r>
              <a:rPr sz="1850" spc="-85" dirty="0">
                <a:solidFill>
                  <a:srgbClr val="499EAF"/>
                </a:solidFill>
                <a:latin typeface="Arial MT"/>
                <a:cs typeface="Arial MT"/>
              </a:rPr>
              <a:t> </a:t>
            </a:r>
            <a:r>
              <a:rPr sz="4200" spc="-509" baseline="13888" dirty="0">
                <a:solidFill>
                  <a:srgbClr val="499EAF"/>
                </a:solidFill>
                <a:latin typeface="Arial MT"/>
                <a:cs typeface="Arial MT"/>
              </a:rPr>
              <a:t>A</a:t>
            </a:r>
            <a:r>
              <a:rPr sz="1850" spc="-180" dirty="0">
                <a:solidFill>
                  <a:srgbClr val="499EAF"/>
                </a:solidFill>
                <a:latin typeface="Arial MT"/>
                <a:cs typeface="Arial MT"/>
              </a:rPr>
              <a:t>4</a:t>
            </a:r>
            <a:r>
              <a:rPr sz="1850" spc="-85" dirty="0">
                <a:solidFill>
                  <a:srgbClr val="499EAF"/>
                </a:solidFill>
                <a:latin typeface="Arial MT"/>
                <a:cs typeface="Arial MT"/>
              </a:rPr>
              <a:t> </a:t>
            </a:r>
            <a:r>
              <a:rPr sz="4200" spc="-509" baseline="13888" dirty="0">
                <a:solidFill>
                  <a:srgbClr val="499EAF"/>
                </a:solidFill>
                <a:latin typeface="Arial MT"/>
                <a:cs typeface="Arial MT"/>
              </a:rPr>
              <a:t>A</a:t>
            </a:r>
            <a:r>
              <a:rPr sz="1850" spc="-180" dirty="0">
                <a:solidFill>
                  <a:srgbClr val="499EAF"/>
                </a:solidFill>
                <a:latin typeface="Arial MT"/>
                <a:cs typeface="Arial MT"/>
              </a:rPr>
              <a:t>3</a:t>
            </a:r>
            <a:r>
              <a:rPr sz="1850" spc="-90" dirty="0">
                <a:solidFill>
                  <a:srgbClr val="499EAF"/>
                </a:solidFill>
                <a:latin typeface="Arial MT"/>
                <a:cs typeface="Arial MT"/>
              </a:rPr>
              <a:t> </a:t>
            </a:r>
            <a:r>
              <a:rPr sz="4200" spc="-509" baseline="13888" dirty="0">
                <a:solidFill>
                  <a:srgbClr val="499EAF"/>
                </a:solidFill>
                <a:latin typeface="Arial MT"/>
                <a:cs typeface="Arial MT"/>
              </a:rPr>
              <a:t>A</a:t>
            </a:r>
            <a:r>
              <a:rPr sz="1850" spc="-180" dirty="0">
                <a:solidFill>
                  <a:srgbClr val="499EAF"/>
                </a:solidFill>
                <a:latin typeface="Arial MT"/>
                <a:cs typeface="Arial MT"/>
              </a:rPr>
              <a:t>2</a:t>
            </a:r>
            <a:r>
              <a:rPr sz="1850" spc="-85" dirty="0">
                <a:solidFill>
                  <a:srgbClr val="499EAF"/>
                </a:solidFill>
                <a:latin typeface="Arial MT"/>
                <a:cs typeface="Arial MT"/>
              </a:rPr>
              <a:t> </a:t>
            </a:r>
            <a:r>
              <a:rPr sz="4200" spc="-509" baseline="13888" dirty="0">
                <a:solidFill>
                  <a:srgbClr val="499EAF"/>
                </a:solidFill>
                <a:latin typeface="Arial MT"/>
                <a:cs typeface="Arial MT"/>
              </a:rPr>
              <a:t>A</a:t>
            </a:r>
            <a:r>
              <a:rPr sz="1850" spc="-180" dirty="0">
                <a:solidFill>
                  <a:srgbClr val="499EAF"/>
                </a:solidFill>
                <a:latin typeface="Arial MT"/>
                <a:cs typeface="Arial MT"/>
              </a:rPr>
              <a:t>1</a:t>
            </a:r>
            <a:r>
              <a:rPr sz="1850" spc="-85" dirty="0">
                <a:solidFill>
                  <a:srgbClr val="499EAF"/>
                </a:solidFill>
                <a:latin typeface="Arial MT"/>
                <a:cs typeface="Arial MT"/>
              </a:rPr>
              <a:t> </a:t>
            </a:r>
            <a:r>
              <a:rPr sz="4200" spc="-509" baseline="13888" dirty="0">
                <a:solidFill>
                  <a:srgbClr val="499EAF"/>
                </a:solidFill>
                <a:latin typeface="Arial MT"/>
                <a:cs typeface="Arial MT"/>
              </a:rPr>
              <a:t>A</a:t>
            </a:r>
            <a:r>
              <a:rPr sz="1850" spc="-180" dirty="0">
                <a:solidFill>
                  <a:srgbClr val="499EAF"/>
                </a:solidFill>
                <a:latin typeface="Arial MT"/>
                <a:cs typeface="Arial MT"/>
              </a:rPr>
              <a:t>0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r>
              <a:rPr spc="-5" dirty="0"/>
              <a:t>26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6350" y="0"/>
            <a:ext cx="9156700" cy="6870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515938" cy="68579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64540" y="1010665"/>
            <a:ext cx="428117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0" dirty="0">
                <a:solidFill>
                  <a:srgbClr val="FFFFCC"/>
                </a:solidFill>
                <a:latin typeface="Arial MT"/>
                <a:cs typeface="Arial MT"/>
              </a:rPr>
              <a:t>Chi</a:t>
            </a:r>
            <a:r>
              <a:rPr spc="-445" dirty="0">
                <a:solidFill>
                  <a:srgbClr val="FFFFCC"/>
                </a:solidFill>
                <a:latin typeface="Arial MT"/>
                <a:cs typeface="Arial MT"/>
              </a:rPr>
              <a:t>p</a:t>
            </a:r>
            <a:r>
              <a:rPr spc="-220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400" dirty="0">
                <a:solidFill>
                  <a:srgbClr val="FFFFCC"/>
                </a:solidFill>
                <a:latin typeface="Arial MT"/>
                <a:cs typeface="Arial MT"/>
              </a:rPr>
              <a:t>Selec</a:t>
            </a:r>
            <a:r>
              <a:rPr spc="-220" dirty="0">
                <a:solidFill>
                  <a:srgbClr val="FFFFCC"/>
                </a:solidFill>
                <a:latin typeface="Arial MT"/>
                <a:cs typeface="Arial MT"/>
              </a:rPr>
              <a:t>t</a:t>
            </a:r>
            <a:r>
              <a:rPr spc="-210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465" dirty="0">
                <a:solidFill>
                  <a:srgbClr val="FFFFCC"/>
                </a:solidFill>
                <a:latin typeface="Arial MT"/>
                <a:cs typeface="Arial MT"/>
              </a:rPr>
              <a:t>Ex</a:t>
            </a:r>
            <a:r>
              <a:rPr spc="-434" dirty="0">
                <a:solidFill>
                  <a:srgbClr val="FFFFCC"/>
                </a:solidFill>
                <a:latin typeface="Arial MT"/>
                <a:cs typeface="Arial MT"/>
              </a:rPr>
              <a:t>ample</a:t>
            </a: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7239" y="2197608"/>
            <a:ext cx="215645" cy="22707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33677" y="3667505"/>
            <a:ext cx="127254" cy="13335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33677" y="4338065"/>
            <a:ext cx="127254" cy="13335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094739" y="2005075"/>
            <a:ext cx="7232015" cy="28333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 marR="318770" indent="-635">
              <a:lnSpc>
                <a:spcPct val="100000"/>
              </a:lnSpc>
              <a:spcBef>
                <a:spcPts val="95"/>
              </a:spcBef>
              <a:tabLst>
                <a:tab pos="5560060" algn="l"/>
              </a:tabLst>
            </a:pPr>
            <a:r>
              <a:rPr sz="3200" spc="-390" dirty="0">
                <a:latin typeface="Arial MT"/>
                <a:cs typeface="Arial MT"/>
              </a:rPr>
              <a:t>A</a:t>
            </a:r>
            <a:r>
              <a:rPr sz="3200" spc="-170" dirty="0">
                <a:latin typeface="Arial MT"/>
                <a:cs typeface="Arial MT"/>
              </a:rPr>
              <a:t> </a:t>
            </a:r>
            <a:r>
              <a:rPr sz="3200" spc="-290" dirty="0">
                <a:latin typeface="Arial MT"/>
                <a:cs typeface="Arial MT"/>
              </a:rPr>
              <a:t>c</a:t>
            </a:r>
            <a:r>
              <a:rPr sz="3200" spc="-260" dirty="0">
                <a:latin typeface="Arial MT"/>
                <a:cs typeface="Arial MT"/>
              </a:rPr>
              <a:t>hip</a:t>
            </a:r>
            <a:r>
              <a:rPr sz="3200" spc="-155" dirty="0">
                <a:latin typeface="Arial MT"/>
                <a:cs typeface="Arial MT"/>
              </a:rPr>
              <a:t> </a:t>
            </a:r>
            <a:r>
              <a:rPr sz="3200" spc="-160" dirty="0">
                <a:latin typeface="Arial MT"/>
                <a:cs typeface="Arial MT"/>
              </a:rPr>
              <a:t>t</a:t>
            </a:r>
            <a:r>
              <a:rPr sz="3200" spc="-270" dirty="0">
                <a:latin typeface="Arial MT"/>
                <a:cs typeface="Arial MT"/>
              </a:rPr>
              <a:t>hat</a:t>
            </a:r>
            <a:r>
              <a:rPr sz="3200" spc="-170" dirty="0">
                <a:latin typeface="Arial MT"/>
                <a:cs typeface="Arial MT"/>
              </a:rPr>
              <a:t> </a:t>
            </a:r>
            <a:r>
              <a:rPr sz="3200" spc="-310" dirty="0">
                <a:latin typeface="Arial MT"/>
                <a:cs typeface="Arial MT"/>
              </a:rPr>
              <a:t>uses</a:t>
            </a:r>
            <a:r>
              <a:rPr sz="3200" spc="-160" dirty="0">
                <a:latin typeface="Arial MT"/>
                <a:cs typeface="Arial MT"/>
              </a:rPr>
              <a:t> t</a:t>
            </a:r>
            <a:r>
              <a:rPr sz="3200" spc="-325" dirty="0">
                <a:latin typeface="Arial MT"/>
                <a:cs typeface="Arial MT"/>
              </a:rPr>
              <a:t>he</a:t>
            </a:r>
            <a:r>
              <a:rPr sz="3200" spc="-160" dirty="0">
                <a:latin typeface="Arial MT"/>
                <a:cs typeface="Arial MT"/>
              </a:rPr>
              <a:t> </a:t>
            </a:r>
            <a:r>
              <a:rPr sz="3200" spc="-295" dirty="0">
                <a:latin typeface="Arial MT"/>
                <a:cs typeface="Arial MT"/>
              </a:rPr>
              <a:t>combinat</a:t>
            </a:r>
            <a:r>
              <a:rPr sz="3200" spc="-130" dirty="0">
                <a:latin typeface="Arial MT"/>
                <a:cs typeface="Arial MT"/>
              </a:rPr>
              <a:t>i</a:t>
            </a:r>
            <a:r>
              <a:rPr sz="3200" spc="-320" dirty="0">
                <a:latin typeface="Arial MT"/>
                <a:cs typeface="Arial MT"/>
              </a:rPr>
              <a:t>o</a:t>
            </a:r>
            <a:r>
              <a:rPr sz="3200" spc="-325" dirty="0">
                <a:latin typeface="Arial MT"/>
                <a:cs typeface="Arial MT"/>
              </a:rPr>
              <a:t>n</a:t>
            </a:r>
            <a:r>
              <a:rPr sz="3200" spc="-145" dirty="0">
                <a:latin typeface="Arial MT"/>
                <a:cs typeface="Arial MT"/>
              </a:rPr>
              <a:t> </a:t>
            </a:r>
            <a:r>
              <a:rPr sz="3200" spc="-400" dirty="0">
                <a:latin typeface="Arial MT"/>
                <a:cs typeface="Arial MT"/>
              </a:rPr>
              <a:t>A</a:t>
            </a:r>
            <a:r>
              <a:rPr sz="3150" spc="-300" baseline="-21164" dirty="0">
                <a:latin typeface="Arial MT"/>
                <a:cs typeface="Arial MT"/>
              </a:rPr>
              <a:t>1</a:t>
            </a:r>
            <a:r>
              <a:rPr sz="3150" spc="-292" baseline="-21164" dirty="0">
                <a:latin typeface="Arial MT"/>
                <a:cs typeface="Arial MT"/>
              </a:rPr>
              <a:t>5</a:t>
            </a:r>
            <a:r>
              <a:rPr sz="3150" baseline="-21164" dirty="0">
                <a:latin typeface="Arial MT"/>
                <a:cs typeface="Arial MT"/>
              </a:rPr>
              <a:t>	</a:t>
            </a:r>
            <a:r>
              <a:rPr sz="3200" spc="-195" dirty="0">
                <a:latin typeface="Arial MT"/>
                <a:cs typeface="Arial MT"/>
              </a:rPr>
              <a:t>-</a:t>
            </a:r>
            <a:r>
              <a:rPr sz="3200" spc="-170" dirty="0">
                <a:latin typeface="Arial MT"/>
                <a:cs typeface="Arial MT"/>
              </a:rPr>
              <a:t> </a:t>
            </a:r>
            <a:r>
              <a:rPr sz="3200" spc="-395" dirty="0">
                <a:latin typeface="Arial MT"/>
                <a:cs typeface="Arial MT"/>
              </a:rPr>
              <a:t>A</a:t>
            </a:r>
            <a:r>
              <a:rPr sz="3150" spc="-300" baseline="-21164" dirty="0">
                <a:latin typeface="Arial MT"/>
                <a:cs typeface="Arial MT"/>
              </a:rPr>
              <a:t>1</a:t>
            </a:r>
            <a:r>
              <a:rPr sz="3150" spc="-292" baseline="-21164" dirty="0">
                <a:latin typeface="Arial MT"/>
                <a:cs typeface="Arial MT"/>
              </a:rPr>
              <a:t>0</a:t>
            </a:r>
            <a:r>
              <a:rPr sz="3150" spc="-135" baseline="-21164" dirty="0">
                <a:latin typeface="Arial MT"/>
                <a:cs typeface="Arial MT"/>
              </a:rPr>
              <a:t> </a:t>
            </a:r>
            <a:r>
              <a:rPr sz="3200" spc="-220" dirty="0">
                <a:latin typeface="Arial MT"/>
                <a:cs typeface="Arial MT"/>
              </a:rPr>
              <a:t>=  </a:t>
            </a:r>
            <a:r>
              <a:rPr sz="3200" spc="-325" dirty="0">
                <a:latin typeface="Arial MT"/>
                <a:cs typeface="Arial MT"/>
              </a:rPr>
              <a:t>001000</a:t>
            </a:r>
            <a:r>
              <a:rPr sz="3200" spc="-150" dirty="0">
                <a:latin typeface="Arial MT"/>
                <a:cs typeface="Arial MT"/>
              </a:rPr>
              <a:t> </a:t>
            </a:r>
            <a:r>
              <a:rPr sz="3200" spc="-305" dirty="0">
                <a:latin typeface="Arial MT"/>
                <a:cs typeface="Arial MT"/>
              </a:rPr>
              <a:t>would</a:t>
            </a:r>
            <a:r>
              <a:rPr sz="3200" spc="-140" dirty="0">
                <a:latin typeface="Arial MT"/>
                <a:cs typeface="Arial MT"/>
              </a:rPr>
              <a:t> </a:t>
            </a:r>
            <a:r>
              <a:rPr sz="3200" spc="-315" dirty="0">
                <a:latin typeface="Arial MT"/>
                <a:cs typeface="Arial MT"/>
              </a:rPr>
              <a:t>have</a:t>
            </a:r>
            <a:r>
              <a:rPr sz="3200" spc="-150" dirty="0">
                <a:latin typeface="Arial MT"/>
                <a:cs typeface="Arial MT"/>
              </a:rPr>
              <a:t> </a:t>
            </a:r>
            <a:r>
              <a:rPr sz="3200" spc="-300" dirty="0">
                <a:latin typeface="Arial MT"/>
                <a:cs typeface="Arial MT"/>
              </a:rPr>
              <a:t>addresses</a:t>
            </a:r>
            <a:r>
              <a:rPr sz="3200" spc="-130" dirty="0">
                <a:latin typeface="Arial MT"/>
                <a:cs typeface="Arial MT"/>
              </a:rPr>
              <a:t> </a:t>
            </a:r>
            <a:r>
              <a:rPr sz="3200" spc="-245" dirty="0">
                <a:latin typeface="Arial MT"/>
                <a:cs typeface="Arial MT"/>
              </a:rPr>
              <a:t>that</a:t>
            </a:r>
            <a:r>
              <a:rPr sz="3200" spc="-165" dirty="0">
                <a:latin typeface="Arial MT"/>
                <a:cs typeface="Arial MT"/>
              </a:rPr>
              <a:t> </a:t>
            </a:r>
            <a:r>
              <a:rPr sz="3200" spc="-300" dirty="0">
                <a:latin typeface="Arial MT"/>
                <a:cs typeface="Arial MT"/>
              </a:rPr>
              <a:t>range</a:t>
            </a:r>
            <a:r>
              <a:rPr sz="3200" spc="-145" dirty="0">
                <a:latin typeface="Arial MT"/>
                <a:cs typeface="Arial MT"/>
              </a:rPr>
              <a:t> </a:t>
            </a:r>
            <a:r>
              <a:rPr sz="3200" spc="-295" dirty="0">
                <a:latin typeface="Arial MT"/>
                <a:cs typeface="Arial MT"/>
              </a:rPr>
              <a:t>from </a:t>
            </a:r>
            <a:r>
              <a:rPr sz="3200" spc="-869" dirty="0">
                <a:latin typeface="Arial MT"/>
                <a:cs typeface="Arial MT"/>
              </a:rPr>
              <a:t> </a:t>
            </a:r>
            <a:r>
              <a:rPr sz="3200" spc="-325" dirty="0">
                <a:latin typeface="Arial MT"/>
                <a:cs typeface="Arial MT"/>
              </a:rPr>
              <a:t>2000</a:t>
            </a:r>
            <a:r>
              <a:rPr sz="3200" spc="-420" dirty="0">
                <a:latin typeface="Arial MT"/>
                <a:cs typeface="Arial MT"/>
              </a:rPr>
              <a:t>H</a:t>
            </a:r>
            <a:r>
              <a:rPr sz="3200" spc="-145" dirty="0">
                <a:latin typeface="Arial MT"/>
                <a:cs typeface="Arial MT"/>
              </a:rPr>
              <a:t> </a:t>
            </a:r>
            <a:r>
              <a:rPr sz="3200" spc="-160" dirty="0">
                <a:latin typeface="Arial MT"/>
                <a:cs typeface="Arial MT"/>
              </a:rPr>
              <a:t>t</a:t>
            </a:r>
            <a:r>
              <a:rPr sz="3200" spc="-325" dirty="0">
                <a:latin typeface="Arial MT"/>
                <a:cs typeface="Arial MT"/>
              </a:rPr>
              <a:t>o</a:t>
            </a:r>
            <a:r>
              <a:rPr sz="3200" spc="-175" dirty="0">
                <a:latin typeface="Arial MT"/>
                <a:cs typeface="Arial MT"/>
              </a:rPr>
              <a:t> </a:t>
            </a:r>
            <a:r>
              <a:rPr sz="3200" spc="-325" dirty="0">
                <a:latin typeface="Arial MT"/>
                <a:cs typeface="Arial MT"/>
              </a:rPr>
              <a:t>23</a:t>
            </a:r>
            <a:r>
              <a:rPr sz="3200" spc="-355" dirty="0">
                <a:latin typeface="Arial MT"/>
                <a:cs typeface="Arial MT"/>
              </a:rPr>
              <a:t>FF</a:t>
            </a:r>
            <a:r>
              <a:rPr sz="3200" spc="-425" dirty="0">
                <a:latin typeface="Arial MT"/>
                <a:cs typeface="Arial MT"/>
              </a:rPr>
              <a:t>H</a:t>
            </a:r>
            <a:r>
              <a:rPr sz="3200" spc="-160" dirty="0">
                <a:latin typeface="Arial MT"/>
                <a:cs typeface="Arial MT"/>
              </a:rPr>
              <a:t>.</a:t>
            </a:r>
            <a:endParaRPr sz="3200">
              <a:latin typeface="Arial MT"/>
              <a:cs typeface="Arial MT"/>
            </a:endParaRPr>
          </a:p>
          <a:p>
            <a:pPr marL="424815" marR="373380">
              <a:lnSpc>
                <a:spcPct val="100000"/>
              </a:lnSpc>
              <a:spcBef>
                <a:spcPts val="509"/>
              </a:spcBef>
            </a:pPr>
            <a:r>
              <a:rPr sz="2000" spc="-215" dirty="0">
                <a:latin typeface="Arial MT"/>
                <a:cs typeface="Arial MT"/>
              </a:rPr>
              <a:t>Keep</a:t>
            </a:r>
            <a:r>
              <a:rPr sz="2000" spc="125" dirty="0">
                <a:latin typeface="Arial MT"/>
                <a:cs typeface="Arial MT"/>
              </a:rPr>
              <a:t> </a:t>
            </a:r>
            <a:r>
              <a:rPr sz="2000" spc="-145" dirty="0">
                <a:latin typeface="Arial MT"/>
                <a:cs typeface="Arial MT"/>
              </a:rPr>
              <a:t>in </a:t>
            </a:r>
            <a:r>
              <a:rPr sz="2000" spc="-200" dirty="0">
                <a:latin typeface="Arial MT"/>
                <a:cs typeface="Arial MT"/>
              </a:rPr>
              <a:t>mind</a:t>
            </a:r>
            <a:r>
              <a:rPr sz="2000" spc="155" dirty="0">
                <a:latin typeface="Arial MT"/>
                <a:cs typeface="Arial MT"/>
              </a:rPr>
              <a:t> </a:t>
            </a:r>
            <a:r>
              <a:rPr sz="2000" spc="-155" dirty="0">
                <a:latin typeface="Arial MT"/>
                <a:cs typeface="Arial MT"/>
              </a:rPr>
              <a:t>that </a:t>
            </a:r>
            <a:r>
              <a:rPr sz="2000" spc="-170" dirty="0">
                <a:latin typeface="Arial MT"/>
                <a:cs typeface="Arial MT"/>
              </a:rPr>
              <a:t>the </a:t>
            </a:r>
            <a:r>
              <a:rPr sz="2000" spc="-204" dirty="0">
                <a:latin typeface="Arial MT"/>
                <a:cs typeface="Arial MT"/>
              </a:rPr>
              <a:t>10</a:t>
            </a:r>
            <a:r>
              <a:rPr sz="2000" spc="145" dirty="0">
                <a:latin typeface="Arial MT"/>
                <a:cs typeface="Arial MT"/>
              </a:rPr>
              <a:t> </a:t>
            </a:r>
            <a:r>
              <a:rPr sz="2000" spc="-185" dirty="0">
                <a:latin typeface="Arial MT"/>
                <a:cs typeface="Arial MT"/>
              </a:rPr>
              <a:t>address </a:t>
            </a:r>
            <a:r>
              <a:rPr sz="2000" spc="-150" dirty="0">
                <a:latin typeface="Arial MT"/>
                <a:cs typeface="Arial MT"/>
              </a:rPr>
              <a:t>lines </a:t>
            </a:r>
            <a:r>
              <a:rPr sz="2000" spc="-204" dirty="0">
                <a:latin typeface="Arial MT"/>
                <a:cs typeface="Arial MT"/>
              </a:rPr>
              <a:t>on</a:t>
            </a:r>
            <a:r>
              <a:rPr sz="2000" spc="145" dirty="0">
                <a:latin typeface="Arial MT"/>
                <a:cs typeface="Arial MT"/>
              </a:rPr>
              <a:t> </a:t>
            </a:r>
            <a:r>
              <a:rPr sz="2000" spc="-170" dirty="0">
                <a:latin typeface="Arial MT"/>
                <a:cs typeface="Arial MT"/>
              </a:rPr>
              <a:t>the chip gives </a:t>
            </a:r>
            <a:r>
              <a:rPr sz="2000" spc="-204" dirty="0">
                <a:latin typeface="Arial MT"/>
                <a:cs typeface="Arial MT"/>
              </a:rPr>
              <a:t>a</a:t>
            </a:r>
            <a:r>
              <a:rPr sz="2000" spc="145" dirty="0">
                <a:latin typeface="Arial MT"/>
                <a:cs typeface="Arial MT"/>
              </a:rPr>
              <a:t> </a:t>
            </a:r>
            <a:r>
              <a:rPr sz="2000" spc="-190" dirty="0">
                <a:latin typeface="Arial MT"/>
                <a:cs typeface="Arial MT"/>
              </a:rPr>
              <a:t>range </a:t>
            </a:r>
            <a:r>
              <a:rPr sz="2000" spc="-155" dirty="0">
                <a:latin typeface="Arial MT"/>
                <a:cs typeface="Arial MT"/>
              </a:rPr>
              <a:t>of </a:t>
            </a:r>
            <a:r>
              <a:rPr sz="2000" spc="-150" dirty="0">
                <a:latin typeface="Arial MT"/>
                <a:cs typeface="Arial MT"/>
              </a:rPr>
              <a:t> </a:t>
            </a:r>
            <a:r>
              <a:rPr sz="2000" spc="-204" dirty="0">
                <a:latin typeface="Arial MT"/>
                <a:cs typeface="Arial MT"/>
              </a:rPr>
              <a:t>00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spc="-204" dirty="0">
                <a:latin typeface="Arial MT"/>
                <a:cs typeface="Arial MT"/>
              </a:rPr>
              <a:t>0000</a:t>
            </a:r>
            <a:r>
              <a:rPr sz="2000" spc="-100" dirty="0">
                <a:latin typeface="Arial MT"/>
                <a:cs typeface="Arial MT"/>
              </a:rPr>
              <a:t> </a:t>
            </a:r>
            <a:r>
              <a:rPr sz="2000" spc="-204" dirty="0">
                <a:latin typeface="Arial MT"/>
                <a:cs typeface="Arial MT"/>
              </a:rPr>
              <a:t>0000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spc="-155" dirty="0">
                <a:latin typeface="Arial MT"/>
                <a:cs typeface="Arial MT"/>
              </a:rPr>
              <a:t>to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spc="-204" dirty="0">
                <a:latin typeface="Arial MT"/>
                <a:cs typeface="Arial MT"/>
              </a:rPr>
              <a:t>11</a:t>
            </a:r>
            <a:r>
              <a:rPr sz="2000" spc="-100" dirty="0">
                <a:latin typeface="Arial MT"/>
                <a:cs typeface="Arial MT"/>
              </a:rPr>
              <a:t> </a:t>
            </a:r>
            <a:r>
              <a:rPr sz="2000" spc="-204" dirty="0">
                <a:latin typeface="Arial MT"/>
                <a:cs typeface="Arial MT"/>
              </a:rPr>
              <a:t>1111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spc="-204" dirty="0">
                <a:latin typeface="Arial MT"/>
                <a:cs typeface="Arial MT"/>
              </a:rPr>
              <a:t>1111</a:t>
            </a:r>
            <a:r>
              <a:rPr sz="2000" spc="-90" dirty="0">
                <a:latin typeface="Arial MT"/>
                <a:cs typeface="Arial MT"/>
              </a:rPr>
              <a:t> </a:t>
            </a:r>
            <a:r>
              <a:rPr sz="2000" spc="-165" dirty="0">
                <a:latin typeface="Arial MT"/>
                <a:cs typeface="Arial MT"/>
              </a:rPr>
              <a:t>or</a:t>
            </a:r>
            <a:r>
              <a:rPr sz="2000" spc="-100" dirty="0">
                <a:latin typeface="Arial MT"/>
                <a:cs typeface="Arial MT"/>
              </a:rPr>
              <a:t> </a:t>
            </a:r>
            <a:r>
              <a:rPr sz="2000" spc="-220" dirty="0">
                <a:latin typeface="Arial MT"/>
                <a:cs typeface="Arial MT"/>
              </a:rPr>
              <a:t>000H</a:t>
            </a:r>
            <a:r>
              <a:rPr sz="2000" spc="-100" dirty="0">
                <a:latin typeface="Arial MT"/>
                <a:cs typeface="Arial MT"/>
              </a:rPr>
              <a:t> </a:t>
            </a:r>
            <a:r>
              <a:rPr sz="2000" spc="-155" dirty="0">
                <a:latin typeface="Arial MT"/>
                <a:cs typeface="Arial MT"/>
              </a:rPr>
              <a:t>to</a:t>
            </a:r>
            <a:r>
              <a:rPr sz="2000" spc="-100" dirty="0">
                <a:latin typeface="Arial MT"/>
                <a:cs typeface="Arial MT"/>
              </a:rPr>
              <a:t> </a:t>
            </a:r>
            <a:r>
              <a:rPr sz="2000" spc="-229" dirty="0">
                <a:latin typeface="Arial MT"/>
                <a:cs typeface="Arial MT"/>
              </a:rPr>
              <a:t>3FFH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spc="-145" dirty="0">
                <a:latin typeface="Arial MT"/>
                <a:cs typeface="Arial MT"/>
              </a:rPr>
              <a:t>for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spc="-200" dirty="0">
                <a:latin typeface="Arial MT"/>
                <a:cs typeface="Arial MT"/>
              </a:rPr>
              <a:t>each</a:t>
            </a:r>
            <a:r>
              <a:rPr sz="2000" spc="-100" dirty="0">
                <a:latin typeface="Arial MT"/>
                <a:cs typeface="Arial MT"/>
              </a:rPr>
              <a:t> </a:t>
            </a:r>
            <a:r>
              <a:rPr sz="2000" spc="-155" dirty="0">
                <a:latin typeface="Arial MT"/>
                <a:cs typeface="Arial MT"/>
              </a:rPr>
              <a:t>of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spc="-170" dirty="0">
                <a:latin typeface="Arial MT"/>
                <a:cs typeface="Arial MT"/>
              </a:rPr>
              <a:t>the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spc="-160" dirty="0">
                <a:latin typeface="Arial MT"/>
                <a:cs typeface="Arial MT"/>
              </a:rPr>
              <a:t>chips.</a:t>
            </a:r>
            <a:endParaRPr sz="2000">
              <a:latin typeface="Arial MT"/>
              <a:cs typeface="Arial MT"/>
            </a:endParaRPr>
          </a:p>
          <a:p>
            <a:pPr marL="425450" marR="17780">
              <a:lnSpc>
                <a:spcPct val="100000"/>
              </a:lnSpc>
              <a:spcBef>
                <a:spcPts val="480"/>
              </a:spcBef>
            </a:pPr>
            <a:r>
              <a:rPr sz="2000" spc="-210" dirty="0">
                <a:solidFill>
                  <a:srgbClr val="EBEBEB"/>
                </a:solidFill>
                <a:latin typeface="Arial MT"/>
                <a:cs typeface="Arial MT"/>
              </a:rPr>
              <a:t>The</a:t>
            </a:r>
            <a:r>
              <a:rPr sz="2000" spc="-114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000" spc="-220" dirty="0">
                <a:solidFill>
                  <a:srgbClr val="EBEBEB"/>
                </a:solidFill>
                <a:latin typeface="Arial MT"/>
                <a:cs typeface="Arial MT"/>
              </a:rPr>
              <a:t>memory</a:t>
            </a:r>
            <a:r>
              <a:rPr sz="2000" spc="-9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000" spc="-170" dirty="0">
                <a:solidFill>
                  <a:srgbClr val="EBEBEB"/>
                </a:solidFill>
                <a:latin typeface="Arial MT"/>
                <a:cs typeface="Arial MT"/>
              </a:rPr>
              <a:t>chip</a:t>
            </a:r>
            <a:r>
              <a:rPr sz="2000" spc="-10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000" spc="-145" dirty="0">
                <a:solidFill>
                  <a:srgbClr val="EBEBEB"/>
                </a:solidFill>
                <a:latin typeface="Arial MT"/>
                <a:cs typeface="Arial MT"/>
              </a:rPr>
              <a:t>in</a:t>
            </a:r>
            <a:r>
              <a:rPr sz="2000" spc="-10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000" spc="-145" dirty="0">
                <a:solidFill>
                  <a:srgbClr val="EBEBEB"/>
                </a:solidFill>
                <a:latin typeface="Arial MT"/>
                <a:cs typeface="Arial MT"/>
              </a:rPr>
              <a:t>this</a:t>
            </a:r>
            <a:r>
              <a:rPr sz="2000" spc="-11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000" spc="-200" dirty="0">
                <a:solidFill>
                  <a:srgbClr val="EBEBEB"/>
                </a:solidFill>
                <a:latin typeface="Arial MT"/>
                <a:cs typeface="Arial MT"/>
              </a:rPr>
              <a:t>example</a:t>
            </a:r>
            <a:r>
              <a:rPr sz="2000" spc="-10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000" spc="-190" dirty="0">
                <a:solidFill>
                  <a:srgbClr val="EBEBEB"/>
                </a:solidFill>
                <a:latin typeface="Arial MT"/>
                <a:cs typeface="Arial MT"/>
              </a:rPr>
              <a:t>would</a:t>
            </a:r>
            <a:r>
              <a:rPr sz="2000" spc="-10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000" spc="-165" dirty="0">
                <a:solidFill>
                  <a:srgbClr val="EBEBEB"/>
                </a:solidFill>
                <a:latin typeface="Arial MT"/>
                <a:cs typeface="Arial MT"/>
              </a:rPr>
              <a:t>require</a:t>
            </a:r>
            <a:r>
              <a:rPr sz="2000" spc="-10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000" spc="-170" dirty="0">
                <a:solidFill>
                  <a:srgbClr val="EBEBEB"/>
                </a:solidFill>
                <a:latin typeface="Arial MT"/>
                <a:cs typeface="Arial MT"/>
              </a:rPr>
              <a:t>the</a:t>
            </a:r>
            <a:r>
              <a:rPr sz="2000" spc="-11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000" spc="-160" dirty="0">
                <a:solidFill>
                  <a:srgbClr val="EBEBEB"/>
                </a:solidFill>
                <a:latin typeface="Arial MT"/>
                <a:cs typeface="Arial MT"/>
              </a:rPr>
              <a:t>following</a:t>
            </a:r>
            <a:r>
              <a:rPr sz="2000" spc="-114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000" spc="-135" dirty="0">
                <a:solidFill>
                  <a:srgbClr val="EBEBEB"/>
                </a:solidFill>
                <a:latin typeface="Arial MT"/>
                <a:cs typeface="Arial MT"/>
              </a:rPr>
              <a:t>circuit</a:t>
            </a:r>
            <a:r>
              <a:rPr sz="2000" spc="-11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000" spc="-204" dirty="0">
                <a:solidFill>
                  <a:srgbClr val="EBEBEB"/>
                </a:solidFill>
                <a:latin typeface="Arial MT"/>
                <a:cs typeface="Arial MT"/>
              </a:rPr>
              <a:t>on</a:t>
            </a:r>
            <a:r>
              <a:rPr sz="2000" spc="1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000" spc="-125" dirty="0">
                <a:solidFill>
                  <a:srgbClr val="EBEBEB"/>
                </a:solidFill>
                <a:latin typeface="Arial MT"/>
                <a:cs typeface="Arial MT"/>
              </a:rPr>
              <a:t>its </a:t>
            </a:r>
            <a:r>
              <a:rPr sz="2000" spc="-5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000" spc="-185" dirty="0">
                <a:solidFill>
                  <a:srgbClr val="EBEBEB"/>
                </a:solidFill>
                <a:latin typeface="Arial MT"/>
                <a:cs typeface="Arial MT"/>
              </a:rPr>
              <a:t>c</a:t>
            </a:r>
            <a:r>
              <a:rPr sz="2000" spc="-145" dirty="0">
                <a:solidFill>
                  <a:srgbClr val="EBEBEB"/>
                </a:solidFill>
                <a:latin typeface="Arial MT"/>
                <a:cs typeface="Arial MT"/>
              </a:rPr>
              <a:t>hi</a:t>
            </a:r>
            <a:r>
              <a:rPr sz="2000" spc="-204" dirty="0">
                <a:solidFill>
                  <a:srgbClr val="EBEBEB"/>
                </a:solidFill>
                <a:latin typeface="Arial MT"/>
                <a:cs typeface="Arial MT"/>
              </a:rPr>
              <a:t>p</a:t>
            </a:r>
            <a:r>
              <a:rPr sz="2000" spc="-114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000" spc="-185" dirty="0">
                <a:solidFill>
                  <a:srgbClr val="EBEBEB"/>
                </a:solidFill>
                <a:latin typeface="Arial MT"/>
                <a:cs typeface="Arial MT"/>
              </a:rPr>
              <a:t>s</a:t>
            </a:r>
            <a:r>
              <a:rPr sz="2000" spc="-145" dirty="0">
                <a:solidFill>
                  <a:srgbClr val="EBEBEB"/>
                </a:solidFill>
                <a:latin typeface="Arial MT"/>
                <a:cs typeface="Arial MT"/>
              </a:rPr>
              <a:t>el</a:t>
            </a:r>
            <a:r>
              <a:rPr sz="2000" spc="-195" dirty="0">
                <a:solidFill>
                  <a:srgbClr val="EBEBEB"/>
                </a:solidFill>
                <a:latin typeface="Arial MT"/>
                <a:cs typeface="Arial MT"/>
              </a:rPr>
              <a:t>ec</a:t>
            </a:r>
            <a:r>
              <a:rPr sz="2000" spc="-105" dirty="0">
                <a:solidFill>
                  <a:srgbClr val="EBEBEB"/>
                </a:solidFill>
                <a:latin typeface="Arial MT"/>
                <a:cs typeface="Arial MT"/>
              </a:rPr>
              <a:t>t</a:t>
            </a:r>
            <a:r>
              <a:rPr sz="2000" spc="-11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000" spc="-85" dirty="0">
                <a:solidFill>
                  <a:srgbClr val="EBEBEB"/>
                </a:solidFill>
                <a:latin typeface="Arial MT"/>
                <a:cs typeface="Arial MT"/>
              </a:rPr>
              <a:t>i</a:t>
            </a:r>
            <a:r>
              <a:rPr sz="2000" spc="-165" dirty="0">
                <a:solidFill>
                  <a:srgbClr val="EBEBEB"/>
                </a:solidFill>
                <a:latin typeface="Arial MT"/>
                <a:cs typeface="Arial MT"/>
              </a:rPr>
              <a:t>nput: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187825" y="4902200"/>
            <a:ext cx="2819400" cy="1676400"/>
            <a:chOff x="4187825" y="4902200"/>
            <a:chExt cx="2819400" cy="1676400"/>
          </a:xfrm>
        </p:grpSpPr>
        <p:sp>
          <p:nvSpPr>
            <p:cNvPr id="10" name="object 10"/>
            <p:cNvSpPr/>
            <p:nvPr/>
          </p:nvSpPr>
          <p:spPr>
            <a:xfrm>
              <a:off x="5520766" y="5073655"/>
              <a:ext cx="686435" cy="571500"/>
            </a:xfrm>
            <a:custGeom>
              <a:avLst/>
              <a:gdLst/>
              <a:ahLst/>
              <a:cxnLst/>
              <a:rect l="l" t="t" r="r" b="b"/>
              <a:pathLst>
                <a:path w="686435" h="571500">
                  <a:moveTo>
                    <a:pt x="686358" y="571030"/>
                  </a:moveTo>
                  <a:lnTo>
                    <a:pt x="684453" y="528175"/>
                  </a:lnTo>
                  <a:lnTo>
                    <a:pt x="678903" y="486216"/>
                  </a:lnTo>
                  <a:lnTo>
                    <a:pt x="669836" y="445258"/>
                  </a:lnTo>
                  <a:lnTo>
                    <a:pt x="657382" y="405410"/>
                  </a:lnTo>
                  <a:lnTo>
                    <a:pt x="641669" y="366778"/>
                  </a:lnTo>
                  <a:lnTo>
                    <a:pt x="622825" y="329470"/>
                  </a:lnTo>
                  <a:lnTo>
                    <a:pt x="600979" y="293592"/>
                  </a:lnTo>
                  <a:lnTo>
                    <a:pt x="576261" y="259253"/>
                  </a:lnTo>
                  <a:lnTo>
                    <a:pt x="548798" y="226558"/>
                  </a:lnTo>
                  <a:lnTo>
                    <a:pt x="518719" y="195616"/>
                  </a:lnTo>
                  <a:lnTo>
                    <a:pt x="486152" y="166533"/>
                  </a:lnTo>
                  <a:lnTo>
                    <a:pt x="451227" y="139417"/>
                  </a:lnTo>
                  <a:lnTo>
                    <a:pt x="414073" y="114374"/>
                  </a:lnTo>
                  <a:lnTo>
                    <a:pt x="374817" y="91513"/>
                  </a:lnTo>
                  <a:lnTo>
                    <a:pt x="333588" y="70940"/>
                  </a:lnTo>
                  <a:lnTo>
                    <a:pt x="290515" y="52762"/>
                  </a:lnTo>
                  <a:lnTo>
                    <a:pt x="245727" y="37087"/>
                  </a:lnTo>
                  <a:lnTo>
                    <a:pt x="199352" y="24021"/>
                  </a:lnTo>
                  <a:lnTo>
                    <a:pt x="151519" y="13672"/>
                  </a:lnTo>
                  <a:lnTo>
                    <a:pt x="102357" y="6148"/>
                  </a:lnTo>
                  <a:lnTo>
                    <a:pt x="51994" y="1554"/>
                  </a:lnTo>
                  <a:lnTo>
                    <a:pt x="558" y="0"/>
                  </a:lnTo>
                  <a:lnTo>
                    <a:pt x="368" y="0"/>
                  </a:lnTo>
                  <a:lnTo>
                    <a:pt x="190" y="0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520767" y="5644680"/>
              <a:ext cx="686435" cy="572135"/>
            </a:xfrm>
            <a:custGeom>
              <a:avLst/>
              <a:gdLst/>
              <a:ahLst/>
              <a:cxnLst/>
              <a:rect l="l" t="t" r="r" b="b"/>
              <a:pathLst>
                <a:path w="686435" h="572135">
                  <a:moveTo>
                    <a:pt x="0" y="571969"/>
                  </a:moveTo>
                  <a:lnTo>
                    <a:pt x="190" y="571969"/>
                  </a:lnTo>
                  <a:lnTo>
                    <a:pt x="368" y="571969"/>
                  </a:lnTo>
                  <a:lnTo>
                    <a:pt x="558" y="571969"/>
                  </a:lnTo>
                  <a:lnTo>
                    <a:pt x="52019" y="570413"/>
                  </a:lnTo>
                  <a:lnTo>
                    <a:pt x="102406" y="565815"/>
                  </a:lnTo>
                  <a:lnTo>
                    <a:pt x="151591" y="558283"/>
                  </a:lnTo>
                  <a:lnTo>
                    <a:pt x="199445" y="547924"/>
                  </a:lnTo>
                  <a:lnTo>
                    <a:pt x="245840" y="534846"/>
                  </a:lnTo>
                  <a:lnTo>
                    <a:pt x="290645" y="519156"/>
                  </a:lnTo>
                  <a:lnTo>
                    <a:pt x="333733" y="500961"/>
                  </a:lnTo>
                  <a:lnTo>
                    <a:pt x="374975" y="480369"/>
                  </a:lnTo>
                  <a:lnTo>
                    <a:pt x="414241" y="457487"/>
                  </a:lnTo>
                  <a:lnTo>
                    <a:pt x="451404" y="432422"/>
                  </a:lnTo>
                  <a:lnTo>
                    <a:pt x="486333" y="405282"/>
                  </a:lnTo>
                  <a:lnTo>
                    <a:pt x="518902" y="376174"/>
                  </a:lnTo>
                  <a:lnTo>
                    <a:pt x="548979" y="345205"/>
                  </a:lnTo>
                  <a:lnTo>
                    <a:pt x="576438" y="312483"/>
                  </a:lnTo>
                  <a:lnTo>
                    <a:pt x="601149" y="278115"/>
                  </a:lnTo>
                  <a:lnTo>
                    <a:pt x="622982" y="242208"/>
                  </a:lnTo>
                  <a:lnTo>
                    <a:pt x="641810" y="204870"/>
                  </a:lnTo>
                  <a:lnTo>
                    <a:pt x="657504" y="166209"/>
                  </a:lnTo>
                  <a:lnTo>
                    <a:pt x="669935" y="126330"/>
                  </a:lnTo>
                  <a:lnTo>
                    <a:pt x="678973" y="85343"/>
                  </a:lnTo>
                  <a:lnTo>
                    <a:pt x="684491" y="43353"/>
                  </a:lnTo>
                  <a:lnTo>
                    <a:pt x="686358" y="469"/>
                  </a:lnTo>
                  <a:lnTo>
                    <a:pt x="686358" y="317"/>
                  </a:lnTo>
                  <a:lnTo>
                    <a:pt x="686358" y="165"/>
                  </a:lnTo>
                  <a:lnTo>
                    <a:pt x="686358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00775" y="5588000"/>
              <a:ext cx="127000" cy="1270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521325" y="5073650"/>
              <a:ext cx="0" cy="1143000"/>
            </a:xfrm>
            <a:custGeom>
              <a:avLst/>
              <a:gdLst/>
              <a:ahLst/>
              <a:cxnLst/>
              <a:rect l="l" t="t" r="r" b="b"/>
              <a:pathLst>
                <a:path h="1143000">
                  <a:moveTo>
                    <a:pt x="0" y="0"/>
                  </a:moveTo>
                  <a:lnTo>
                    <a:pt x="0" y="1143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292725" y="5187950"/>
              <a:ext cx="228600" cy="0"/>
            </a:xfrm>
            <a:custGeom>
              <a:avLst/>
              <a:gdLst/>
              <a:ahLst/>
              <a:cxnLst/>
              <a:rect l="l" t="t" r="r" b="b"/>
              <a:pathLst>
                <a:path w="228600">
                  <a:moveTo>
                    <a:pt x="2286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848225" y="4908550"/>
              <a:ext cx="0" cy="266700"/>
            </a:xfrm>
            <a:custGeom>
              <a:avLst/>
              <a:gdLst/>
              <a:ahLst/>
              <a:cxnLst/>
              <a:rect l="l" t="t" r="r" b="b"/>
              <a:pathLst>
                <a:path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41875" y="4902200"/>
              <a:ext cx="279400" cy="2794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848225" y="5213350"/>
              <a:ext cx="0" cy="266700"/>
            </a:xfrm>
            <a:custGeom>
              <a:avLst/>
              <a:gdLst/>
              <a:ahLst/>
              <a:cxnLst/>
              <a:rect l="l" t="t" r="r" b="b"/>
              <a:pathLst>
                <a:path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841875" y="5207000"/>
              <a:ext cx="279400" cy="27940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848225" y="5518150"/>
              <a:ext cx="0" cy="266700"/>
            </a:xfrm>
            <a:custGeom>
              <a:avLst/>
              <a:gdLst/>
              <a:ahLst/>
              <a:cxnLst/>
              <a:rect l="l" t="t" r="r" b="b"/>
              <a:pathLst>
                <a:path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841875" y="5511800"/>
              <a:ext cx="279400" cy="27940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14925" y="5353050"/>
              <a:ext cx="406400" cy="0"/>
            </a:xfrm>
            <a:custGeom>
              <a:avLst/>
              <a:gdLst/>
              <a:ahLst/>
              <a:cxnLst/>
              <a:rect l="l" t="t" r="r" b="b"/>
              <a:pathLst>
                <a:path w="406400">
                  <a:moveTo>
                    <a:pt x="4064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292725" y="5518150"/>
              <a:ext cx="228600" cy="0"/>
            </a:xfrm>
            <a:custGeom>
              <a:avLst/>
              <a:gdLst/>
              <a:ahLst/>
              <a:cxnLst/>
              <a:rect l="l" t="t" r="r" b="b"/>
              <a:pathLst>
                <a:path w="228600">
                  <a:moveTo>
                    <a:pt x="2286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407025" y="6102350"/>
              <a:ext cx="114300" cy="0"/>
            </a:xfrm>
            <a:custGeom>
              <a:avLst/>
              <a:gdLst/>
              <a:ahLst/>
              <a:cxnLst/>
              <a:rect l="l" t="t" r="r" b="b"/>
              <a:pathLst>
                <a:path w="114300">
                  <a:moveTo>
                    <a:pt x="1143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292725" y="5924550"/>
              <a:ext cx="228600" cy="0"/>
            </a:xfrm>
            <a:custGeom>
              <a:avLst/>
              <a:gdLst/>
              <a:ahLst/>
              <a:cxnLst/>
              <a:rect l="l" t="t" r="r" b="b"/>
              <a:pathLst>
                <a:path w="228600">
                  <a:moveTo>
                    <a:pt x="2286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203825" y="5721350"/>
              <a:ext cx="317500" cy="0"/>
            </a:xfrm>
            <a:custGeom>
              <a:avLst/>
              <a:gdLst/>
              <a:ahLst/>
              <a:cxnLst/>
              <a:rect l="l" t="t" r="r" b="b"/>
              <a:pathLst>
                <a:path w="317500">
                  <a:moveTo>
                    <a:pt x="3175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114925" y="5035550"/>
              <a:ext cx="177800" cy="0"/>
            </a:xfrm>
            <a:custGeom>
              <a:avLst/>
              <a:gdLst/>
              <a:ahLst/>
              <a:cxnLst/>
              <a:rect l="l" t="t" r="r" b="b"/>
              <a:pathLst>
                <a:path w="177800">
                  <a:moveTo>
                    <a:pt x="0" y="0"/>
                  </a:moveTo>
                  <a:lnTo>
                    <a:pt x="1778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292725" y="5035550"/>
              <a:ext cx="0" cy="152400"/>
            </a:xfrm>
            <a:custGeom>
              <a:avLst/>
              <a:gdLst/>
              <a:ahLst/>
              <a:cxnLst/>
              <a:rect l="l" t="t" r="r" b="b"/>
              <a:pathLst>
                <a:path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114925" y="5645150"/>
              <a:ext cx="177800" cy="0"/>
            </a:xfrm>
            <a:custGeom>
              <a:avLst/>
              <a:gdLst/>
              <a:ahLst/>
              <a:cxnLst/>
              <a:rect l="l" t="t" r="r" b="b"/>
              <a:pathLst>
                <a:path w="177800">
                  <a:moveTo>
                    <a:pt x="0" y="0"/>
                  </a:moveTo>
                  <a:lnTo>
                    <a:pt x="1778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292725" y="5518150"/>
              <a:ext cx="0" cy="127000"/>
            </a:xfrm>
            <a:custGeom>
              <a:avLst/>
              <a:gdLst/>
              <a:ahLst/>
              <a:cxnLst/>
              <a:rect l="l" t="t" r="r" b="b"/>
              <a:pathLst>
                <a:path h="127000">
                  <a:moveTo>
                    <a:pt x="0" y="1270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407025" y="6102350"/>
              <a:ext cx="0" cy="330200"/>
            </a:xfrm>
            <a:custGeom>
              <a:avLst/>
              <a:gdLst/>
              <a:ahLst/>
              <a:cxnLst/>
              <a:rect l="l" t="t" r="r" b="b"/>
              <a:pathLst>
                <a:path h="330200">
                  <a:moveTo>
                    <a:pt x="0" y="0"/>
                  </a:moveTo>
                  <a:lnTo>
                    <a:pt x="0" y="3302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848225" y="6000750"/>
              <a:ext cx="0" cy="266700"/>
            </a:xfrm>
            <a:custGeom>
              <a:avLst/>
              <a:gdLst/>
              <a:ahLst/>
              <a:cxnLst/>
              <a:rect l="l" t="t" r="r" b="b"/>
              <a:pathLst>
                <a:path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841875" y="5994400"/>
              <a:ext cx="279400" cy="27940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4848225" y="6305550"/>
              <a:ext cx="0" cy="266700"/>
            </a:xfrm>
            <a:custGeom>
              <a:avLst/>
              <a:gdLst/>
              <a:ahLst/>
              <a:cxnLst/>
              <a:rect l="l" t="t" r="r" b="b"/>
              <a:pathLst>
                <a:path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841875" y="6299200"/>
              <a:ext cx="279400" cy="279400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5114925" y="6432550"/>
              <a:ext cx="292100" cy="0"/>
            </a:xfrm>
            <a:custGeom>
              <a:avLst/>
              <a:gdLst/>
              <a:ahLst/>
              <a:cxnLst/>
              <a:rect l="l" t="t" r="r" b="b"/>
              <a:pathLst>
                <a:path w="292100">
                  <a:moveTo>
                    <a:pt x="0" y="0"/>
                  </a:moveTo>
                  <a:lnTo>
                    <a:pt x="2921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114925" y="6127750"/>
              <a:ext cx="177800" cy="0"/>
            </a:xfrm>
            <a:custGeom>
              <a:avLst/>
              <a:gdLst/>
              <a:ahLst/>
              <a:cxnLst/>
              <a:rect l="l" t="t" r="r" b="b"/>
              <a:pathLst>
                <a:path w="177800">
                  <a:moveTo>
                    <a:pt x="0" y="0"/>
                  </a:moveTo>
                  <a:lnTo>
                    <a:pt x="1778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292725" y="5924550"/>
              <a:ext cx="0" cy="203200"/>
            </a:xfrm>
            <a:custGeom>
              <a:avLst/>
              <a:gdLst/>
              <a:ahLst/>
              <a:cxnLst/>
              <a:rect l="l" t="t" r="r" b="b"/>
              <a:pathLst>
                <a:path h="203200">
                  <a:moveTo>
                    <a:pt x="0" y="2032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200525" y="5886450"/>
              <a:ext cx="1003300" cy="0"/>
            </a:xfrm>
            <a:custGeom>
              <a:avLst/>
              <a:gdLst/>
              <a:ahLst/>
              <a:cxnLst/>
              <a:rect l="l" t="t" r="r" b="b"/>
              <a:pathLst>
                <a:path w="1003300">
                  <a:moveTo>
                    <a:pt x="0" y="0"/>
                  </a:moveTo>
                  <a:lnTo>
                    <a:pt x="10033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203825" y="5721350"/>
              <a:ext cx="0" cy="165100"/>
            </a:xfrm>
            <a:custGeom>
              <a:avLst/>
              <a:gdLst/>
              <a:ahLst/>
              <a:cxnLst/>
              <a:rect l="l" t="t" r="r" b="b"/>
              <a:pathLst>
                <a:path h="165100">
                  <a:moveTo>
                    <a:pt x="0" y="1651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200525" y="5048250"/>
              <a:ext cx="647700" cy="0"/>
            </a:xfrm>
            <a:custGeom>
              <a:avLst/>
              <a:gdLst/>
              <a:ahLst/>
              <a:cxnLst/>
              <a:rect l="l" t="t" r="r" b="b"/>
              <a:pathLst>
                <a:path w="647700">
                  <a:moveTo>
                    <a:pt x="6477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200525" y="5365750"/>
              <a:ext cx="647700" cy="0"/>
            </a:xfrm>
            <a:custGeom>
              <a:avLst/>
              <a:gdLst/>
              <a:ahLst/>
              <a:cxnLst/>
              <a:rect l="l" t="t" r="r" b="b"/>
              <a:pathLst>
                <a:path w="647700">
                  <a:moveTo>
                    <a:pt x="6477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187825" y="5657850"/>
              <a:ext cx="647700" cy="0"/>
            </a:xfrm>
            <a:custGeom>
              <a:avLst/>
              <a:gdLst/>
              <a:ahLst/>
              <a:cxnLst/>
              <a:rect l="l" t="t" r="r" b="b"/>
              <a:pathLst>
                <a:path w="647700">
                  <a:moveTo>
                    <a:pt x="6477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187825" y="6140450"/>
              <a:ext cx="647700" cy="0"/>
            </a:xfrm>
            <a:custGeom>
              <a:avLst/>
              <a:gdLst/>
              <a:ahLst/>
              <a:cxnLst/>
              <a:rect l="l" t="t" r="r" b="b"/>
              <a:pathLst>
                <a:path w="647700">
                  <a:moveTo>
                    <a:pt x="6477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187825" y="6445250"/>
              <a:ext cx="647700" cy="0"/>
            </a:xfrm>
            <a:custGeom>
              <a:avLst/>
              <a:gdLst/>
              <a:ahLst/>
              <a:cxnLst/>
              <a:rect l="l" t="t" r="r" b="b"/>
              <a:pathLst>
                <a:path w="647700">
                  <a:moveTo>
                    <a:pt x="6477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334125" y="5657850"/>
              <a:ext cx="673100" cy="0"/>
            </a:xfrm>
            <a:custGeom>
              <a:avLst/>
              <a:gdLst/>
              <a:ahLst/>
              <a:cxnLst/>
              <a:rect l="l" t="t" r="r" b="b"/>
              <a:pathLst>
                <a:path w="673100">
                  <a:moveTo>
                    <a:pt x="0" y="0"/>
                  </a:moveTo>
                  <a:lnTo>
                    <a:pt x="6731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7134225" y="5543550"/>
            <a:ext cx="19621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30" dirty="0">
                <a:latin typeface="Arial MT"/>
                <a:cs typeface="Arial MT"/>
              </a:rPr>
              <a:t>CS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895725" y="4972050"/>
            <a:ext cx="317500" cy="1587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500" spc="52" baseline="22222" dirty="0">
                <a:latin typeface="Arial MT"/>
                <a:cs typeface="Arial MT"/>
              </a:rPr>
              <a:t>A</a:t>
            </a:r>
            <a:r>
              <a:rPr sz="1000" spc="35" dirty="0">
                <a:latin typeface="Arial MT"/>
                <a:cs typeface="Arial MT"/>
              </a:rPr>
              <a:t>10</a:t>
            </a:r>
            <a:endParaRPr sz="10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1300"/>
              </a:spcBef>
            </a:pPr>
            <a:r>
              <a:rPr sz="1500" spc="52" baseline="22222" dirty="0">
                <a:latin typeface="Arial MT"/>
                <a:cs typeface="Arial MT"/>
              </a:rPr>
              <a:t>A</a:t>
            </a:r>
            <a:r>
              <a:rPr sz="1000" spc="35" dirty="0">
                <a:latin typeface="Arial MT"/>
                <a:cs typeface="Arial MT"/>
              </a:rPr>
              <a:t>11</a:t>
            </a:r>
            <a:endParaRPr sz="10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1100"/>
              </a:spcBef>
            </a:pPr>
            <a:r>
              <a:rPr sz="1500" spc="52" baseline="22222" dirty="0">
                <a:latin typeface="Arial MT"/>
                <a:cs typeface="Arial MT"/>
              </a:rPr>
              <a:t>A</a:t>
            </a:r>
            <a:r>
              <a:rPr sz="1000" spc="35" dirty="0">
                <a:latin typeface="Arial MT"/>
                <a:cs typeface="Arial MT"/>
              </a:rPr>
              <a:t>12</a:t>
            </a:r>
            <a:endParaRPr sz="10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900"/>
              </a:spcBef>
            </a:pPr>
            <a:r>
              <a:rPr sz="1500" spc="52" baseline="22222" dirty="0">
                <a:latin typeface="Arial MT"/>
                <a:cs typeface="Arial MT"/>
              </a:rPr>
              <a:t>A</a:t>
            </a:r>
            <a:r>
              <a:rPr sz="1000" spc="35" dirty="0">
                <a:latin typeface="Arial MT"/>
                <a:cs typeface="Arial MT"/>
              </a:rPr>
              <a:t>13</a:t>
            </a:r>
            <a:endParaRPr sz="10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800"/>
              </a:spcBef>
            </a:pPr>
            <a:r>
              <a:rPr sz="1500" spc="52" baseline="22222" dirty="0">
                <a:latin typeface="Arial MT"/>
                <a:cs typeface="Arial MT"/>
              </a:rPr>
              <a:t>A</a:t>
            </a:r>
            <a:r>
              <a:rPr sz="1000" spc="35" dirty="0">
                <a:latin typeface="Arial MT"/>
                <a:cs typeface="Arial MT"/>
              </a:rPr>
              <a:t>14</a:t>
            </a:r>
            <a:endParaRPr sz="10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1000"/>
              </a:spcBef>
            </a:pPr>
            <a:r>
              <a:rPr sz="1500" spc="52" baseline="22222" dirty="0">
                <a:latin typeface="Arial MT"/>
                <a:cs typeface="Arial MT"/>
              </a:rPr>
              <a:t>A</a:t>
            </a:r>
            <a:r>
              <a:rPr sz="1000" spc="35" dirty="0">
                <a:latin typeface="Arial MT"/>
                <a:cs typeface="Arial MT"/>
              </a:rPr>
              <a:t>15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7108819" y="5505451"/>
            <a:ext cx="203200" cy="0"/>
          </a:xfrm>
          <a:custGeom>
            <a:avLst/>
            <a:gdLst/>
            <a:ahLst/>
            <a:cxnLst/>
            <a:rect l="l" t="t" r="r" b="b"/>
            <a:pathLst>
              <a:path w="203200">
                <a:moveTo>
                  <a:pt x="0" y="0"/>
                </a:moveTo>
                <a:lnTo>
                  <a:pt x="2032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r>
              <a:rPr spc="-5" dirty="0"/>
              <a:t>27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6350" y="0"/>
            <a:ext cx="9156700" cy="6870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515938" cy="68579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64540" y="1010665"/>
            <a:ext cx="428117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0" dirty="0">
                <a:solidFill>
                  <a:srgbClr val="FFFFCC"/>
                </a:solidFill>
                <a:latin typeface="Arial MT"/>
                <a:cs typeface="Arial MT"/>
              </a:rPr>
              <a:t>Chi</a:t>
            </a:r>
            <a:r>
              <a:rPr spc="-445" dirty="0">
                <a:solidFill>
                  <a:srgbClr val="FFFFCC"/>
                </a:solidFill>
                <a:latin typeface="Arial MT"/>
                <a:cs typeface="Arial MT"/>
              </a:rPr>
              <a:t>p</a:t>
            </a:r>
            <a:r>
              <a:rPr spc="-220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400" dirty="0">
                <a:solidFill>
                  <a:srgbClr val="FFFFCC"/>
                </a:solidFill>
                <a:latin typeface="Arial MT"/>
                <a:cs typeface="Arial MT"/>
              </a:rPr>
              <a:t>Selec</a:t>
            </a:r>
            <a:r>
              <a:rPr spc="-220" dirty="0">
                <a:solidFill>
                  <a:srgbClr val="FFFFCC"/>
                </a:solidFill>
                <a:latin typeface="Arial MT"/>
                <a:cs typeface="Arial MT"/>
              </a:rPr>
              <a:t>t</a:t>
            </a:r>
            <a:r>
              <a:rPr spc="-210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465" dirty="0">
                <a:solidFill>
                  <a:srgbClr val="FFFFCC"/>
                </a:solidFill>
                <a:latin typeface="Arial MT"/>
                <a:cs typeface="Arial MT"/>
              </a:rPr>
              <a:t>Ex</a:t>
            </a:r>
            <a:r>
              <a:rPr spc="-434" dirty="0">
                <a:solidFill>
                  <a:srgbClr val="FFFFCC"/>
                </a:solidFill>
                <a:latin typeface="Arial MT"/>
                <a:cs typeface="Arial MT"/>
              </a:rPr>
              <a:t>ample</a:t>
            </a: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7239" y="2135123"/>
            <a:ext cx="189738" cy="19888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07439" y="1963166"/>
            <a:ext cx="679640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If </a:t>
            </a:r>
            <a:r>
              <a:rPr sz="2800" spc="-325" dirty="0">
                <a:solidFill>
                  <a:srgbClr val="EBEBEB"/>
                </a:solidFill>
                <a:latin typeface="Arial MT"/>
                <a:cs typeface="Arial MT"/>
              </a:rPr>
              <a:t>we</a:t>
            </a:r>
            <a:r>
              <a:rPr sz="2800" spc="-14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75" dirty="0">
                <a:solidFill>
                  <a:srgbClr val="EBEBEB"/>
                </a:solidFill>
                <a:latin typeface="Arial MT"/>
                <a:cs typeface="Arial MT"/>
              </a:rPr>
              <a:t>change</a:t>
            </a:r>
            <a:r>
              <a:rPr sz="2800" spc="-16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35" dirty="0">
                <a:solidFill>
                  <a:srgbClr val="EBEBEB"/>
                </a:solidFill>
                <a:latin typeface="Arial MT"/>
                <a:cs typeface="Arial MT"/>
              </a:rPr>
              <a:t>the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75" dirty="0">
                <a:solidFill>
                  <a:srgbClr val="EBEBEB"/>
                </a:solidFill>
                <a:latin typeface="Arial MT"/>
                <a:cs typeface="Arial MT"/>
              </a:rPr>
              <a:t>above</a:t>
            </a:r>
            <a:r>
              <a:rPr sz="2800" spc="-16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50" dirty="0">
                <a:solidFill>
                  <a:srgbClr val="EBEBEB"/>
                </a:solidFill>
                <a:latin typeface="Arial MT"/>
                <a:cs typeface="Arial MT"/>
              </a:rPr>
              <a:t>combination</a:t>
            </a:r>
            <a:r>
              <a:rPr sz="2800" spc="-15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15" dirty="0">
                <a:solidFill>
                  <a:srgbClr val="EBEBEB"/>
                </a:solidFill>
                <a:latin typeface="Arial MT"/>
                <a:cs typeface="Arial MT"/>
              </a:rPr>
              <a:t>to</a:t>
            </a:r>
            <a:r>
              <a:rPr sz="2800" spc="-14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35" dirty="0">
                <a:solidFill>
                  <a:srgbClr val="EBEBEB"/>
                </a:solidFill>
                <a:latin typeface="Arial MT"/>
                <a:cs typeface="Arial MT"/>
              </a:rPr>
              <a:t>the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15" dirty="0">
                <a:solidFill>
                  <a:srgbClr val="EBEBEB"/>
                </a:solidFill>
                <a:latin typeface="Arial MT"/>
                <a:cs typeface="Arial MT"/>
              </a:rPr>
              <a:t>following: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34439" y="4464558"/>
            <a:ext cx="152400" cy="16002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34439" y="5196078"/>
            <a:ext cx="152400" cy="16002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507489" y="4305554"/>
            <a:ext cx="6566534" cy="178117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75565" indent="-635" algn="just">
              <a:lnSpc>
                <a:spcPts val="2590"/>
              </a:lnSpc>
              <a:spcBef>
                <a:spcPts val="425"/>
              </a:spcBef>
            </a:pPr>
            <a:r>
              <a:rPr sz="2400" spc="-315" dirty="0">
                <a:latin typeface="Arial MT"/>
                <a:cs typeface="Arial MT"/>
              </a:rPr>
              <a:t>N</a:t>
            </a:r>
            <a:r>
              <a:rPr sz="2400" spc="-250" dirty="0">
                <a:latin typeface="Arial MT"/>
                <a:cs typeface="Arial MT"/>
              </a:rPr>
              <a:t>o</a:t>
            </a:r>
            <a:r>
              <a:rPr sz="2400" spc="-315" dirty="0">
                <a:latin typeface="Arial MT"/>
                <a:cs typeface="Arial MT"/>
              </a:rPr>
              <a:t>w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190" dirty="0">
                <a:latin typeface="Arial MT"/>
                <a:cs typeface="Arial MT"/>
              </a:rPr>
              <a:t>th</a:t>
            </a:r>
            <a:r>
              <a:rPr sz="2400" spc="-245" dirty="0">
                <a:latin typeface="Arial MT"/>
                <a:cs typeface="Arial MT"/>
              </a:rPr>
              <a:t>e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220" dirty="0">
                <a:latin typeface="Arial MT"/>
                <a:cs typeface="Arial MT"/>
              </a:rPr>
              <a:t>c</a:t>
            </a:r>
            <a:r>
              <a:rPr sz="2400" spc="-250" dirty="0">
                <a:latin typeface="Arial MT"/>
                <a:cs typeface="Arial MT"/>
              </a:rPr>
              <a:t>h</a:t>
            </a:r>
            <a:r>
              <a:rPr sz="2400" spc="-100" dirty="0">
                <a:latin typeface="Arial MT"/>
                <a:cs typeface="Arial MT"/>
              </a:rPr>
              <a:t>i</a:t>
            </a:r>
            <a:r>
              <a:rPr sz="2400" spc="-245" dirty="0">
                <a:latin typeface="Arial MT"/>
                <a:cs typeface="Arial MT"/>
              </a:rPr>
              <a:t>p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315" dirty="0">
                <a:latin typeface="Arial MT"/>
                <a:cs typeface="Arial MT"/>
              </a:rPr>
              <a:t>w</a:t>
            </a:r>
            <a:r>
              <a:rPr sz="2400" spc="-250" dirty="0">
                <a:latin typeface="Arial MT"/>
                <a:cs typeface="Arial MT"/>
              </a:rPr>
              <a:t>ou</a:t>
            </a:r>
            <a:r>
              <a:rPr sz="2400" spc="-100" dirty="0">
                <a:latin typeface="Arial MT"/>
                <a:cs typeface="Arial MT"/>
              </a:rPr>
              <a:t>l</a:t>
            </a:r>
            <a:r>
              <a:rPr sz="2400" spc="-245" dirty="0">
                <a:latin typeface="Arial MT"/>
                <a:cs typeface="Arial MT"/>
              </a:rPr>
              <a:t>d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250" dirty="0">
                <a:latin typeface="Arial MT"/>
                <a:cs typeface="Arial MT"/>
              </a:rPr>
              <a:t>ha</a:t>
            </a:r>
            <a:r>
              <a:rPr sz="2400" spc="-229" dirty="0">
                <a:latin typeface="Arial MT"/>
                <a:cs typeface="Arial MT"/>
              </a:rPr>
              <a:t>ve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250" dirty="0">
                <a:latin typeface="Arial MT"/>
                <a:cs typeface="Arial MT"/>
              </a:rPr>
              <a:t>add</a:t>
            </a:r>
            <a:r>
              <a:rPr sz="2400" spc="-145" dirty="0">
                <a:latin typeface="Arial MT"/>
                <a:cs typeface="Arial MT"/>
              </a:rPr>
              <a:t>r</a:t>
            </a:r>
            <a:r>
              <a:rPr sz="2400" spc="-250" dirty="0">
                <a:latin typeface="Arial MT"/>
                <a:cs typeface="Arial MT"/>
              </a:rPr>
              <a:t>e</a:t>
            </a:r>
            <a:r>
              <a:rPr sz="2400" spc="-220" dirty="0">
                <a:latin typeface="Arial MT"/>
                <a:cs typeface="Arial MT"/>
              </a:rPr>
              <a:t>s</a:t>
            </a:r>
            <a:r>
              <a:rPr sz="2400" spc="-225" dirty="0">
                <a:latin typeface="Arial MT"/>
                <a:cs typeface="Arial MT"/>
              </a:rPr>
              <a:t>ses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225" dirty="0">
                <a:latin typeface="Arial MT"/>
                <a:cs typeface="Arial MT"/>
              </a:rPr>
              <a:t>rang</a:t>
            </a:r>
            <a:r>
              <a:rPr sz="2400" spc="-195" dirty="0">
                <a:latin typeface="Arial MT"/>
                <a:cs typeface="Arial MT"/>
              </a:rPr>
              <a:t>ing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225" dirty="0">
                <a:latin typeface="Arial MT"/>
                <a:cs typeface="Arial MT"/>
              </a:rPr>
              <a:t>from</a:t>
            </a:r>
            <a:r>
              <a:rPr sz="2400" spc="-120" dirty="0">
                <a:latin typeface="Arial MT"/>
                <a:cs typeface="Arial MT"/>
              </a:rPr>
              <a:t>: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250" dirty="0">
                <a:latin typeface="Arial MT"/>
                <a:cs typeface="Arial MT"/>
              </a:rPr>
              <a:t>24</a:t>
            </a:r>
            <a:r>
              <a:rPr sz="2400" spc="-245" dirty="0">
                <a:latin typeface="Arial MT"/>
                <a:cs typeface="Arial MT"/>
              </a:rPr>
              <a:t>00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55" dirty="0">
                <a:latin typeface="Arial MT"/>
                <a:cs typeface="Arial MT"/>
              </a:rPr>
              <a:t>to  </a:t>
            </a:r>
            <a:r>
              <a:rPr sz="2400" spc="-235" dirty="0">
                <a:latin typeface="Arial MT"/>
                <a:cs typeface="Arial MT"/>
              </a:rPr>
              <a:t>27FF.</a:t>
            </a:r>
            <a:endParaRPr sz="2400">
              <a:latin typeface="Arial MT"/>
              <a:cs typeface="Arial MT"/>
            </a:endParaRPr>
          </a:p>
          <a:p>
            <a:pPr marL="12700" marR="5080" algn="just">
              <a:lnSpc>
                <a:spcPts val="2590"/>
              </a:lnSpc>
              <a:spcBef>
                <a:spcPts val="580"/>
              </a:spcBef>
            </a:pPr>
            <a:r>
              <a:rPr sz="2400" spc="-235" dirty="0">
                <a:latin typeface="Arial MT"/>
                <a:cs typeface="Arial MT"/>
              </a:rPr>
              <a:t>Changing </a:t>
            </a:r>
            <a:r>
              <a:rPr sz="2400" spc="-204" dirty="0">
                <a:latin typeface="Arial MT"/>
                <a:cs typeface="Arial MT"/>
              </a:rPr>
              <a:t>the </a:t>
            </a:r>
            <a:r>
              <a:rPr sz="2400" spc="-215" dirty="0">
                <a:latin typeface="Arial MT"/>
                <a:cs typeface="Arial MT"/>
              </a:rPr>
              <a:t>combination </a:t>
            </a:r>
            <a:r>
              <a:rPr sz="2400" spc="-185" dirty="0">
                <a:latin typeface="Arial MT"/>
                <a:cs typeface="Arial MT"/>
              </a:rPr>
              <a:t>of </a:t>
            </a:r>
            <a:r>
              <a:rPr sz="2400" spc="-204" dirty="0">
                <a:latin typeface="Arial MT"/>
                <a:cs typeface="Arial MT"/>
              </a:rPr>
              <a:t>the </a:t>
            </a:r>
            <a:r>
              <a:rPr sz="2400" spc="-225" dirty="0">
                <a:latin typeface="Arial MT"/>
                <a:cs typeface="Arial MT"/>
              </a:rPr>
              <a:t>address </a:t>
            </a:r>
            <a:r>
              <a:rPr sz="2400" spc="-175" dirty="0">
                <a:latin typeface="Arial MT"/>
                <a:cs typeface="Arial MT"/>
              </a:rPr>
              <a:t>bits </a:t>
            </a:r>
            <a:r>
              <a:rPr sz="2400" spc="-225" dirty="0">
                <a:latin typeface="Arial MT"/>
                <a:cs typeface="Arial MT"/>
              </a:rPr>
              <a:t>connected </a:t>
            </a:r>
            <a:r>
              <a:rPr sz="2400" spc="-185" dirty="0">
                <a:latin typeface="Arial MT"/>
                <a:cs typeface="Arial MT"/>
              </a:rPr>
              <a:t>to </a:t>
            </a:r>
            <a:r>
              <a:rPr sz="2400" spc="-180" dirty="0">
                <a:latin typeface="Arial MT"/>
                <a:cs typeface="Arial MT"/>
              </a:rPr>
              <a:t> </a:t>
            </a:r>
            <a:r>
              <a:rPr sz="2400" spc="-185" dirty="0">
                <a:latin typeface="Arial MT"/>
                <a:cs typeface="Arial MT"/>
              </a:rPr>
              <a:t>th</a:t>
            </a:r>
            <a:r>
              <a:rPr sz="2400" spc="-240" dirty="0">
                <a:latin typeface="Arial MT"/>
                <a:cs typeface="Arial MT"/>
              </a:rPr>
              <a:t>e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220" dirty="0">
                <a:latin typeface="Arial MT"/>
                <a:cs typeface="Arial MT"/>
              </a:rPr>
              <a:t>c</a:t>
            </a:r>
            <a:r>
              <a:rPr sz="2400" spc="-250" dirty="0">
                <a:latin typeface="Arial MT"/>
                <a:cs typeface="Arial MT"/>
              </a:rPr>
              <a:t>h</a:t>
            </a:r>
            <a:r>
              <a:rPr sz="2400" spc="-100" dirty="0">
                <a:latin typeface="Arial MT"/>
                <a:cs typeface="Arial MT"/>
              </a:rPr>
              <a:t>i</a:t>
            </a:r>
            <a:r>
              <a:rPr sz="2400" spc="-245" dirty="0">
                <a:latin typeface="Arial MT"/>
                <a:cs typeface="Arial MT"/>
              </a:rPr>
              <a:t>p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220" dirty="0">
                <a:latin typeface="Arial MT"/>
                <a:cs typeface="Arial MT"/>
              </a:rPr>
              <a:t>s</a:t>
            </a:r>
            <a:r>
              <a:rPr sz="2400" spc="-250" dirty="0">
                <a:latin typeface="Arial MT"/>
                <a:cs typeface="Arial MT"/>
              </a:rPr>
              <a:t>e</a:t>
            </a:r>
            <a:r>
              <a:rPr sz="2400" spc="-100" dirty="0">
                <a:latin typeface="Arial MT"/>
                <a:cs typeface="Arial MT"/>
              </a:rPr>
              <a:t>l</a:t>
            </a:r>
            <a:r>
              <a:rPr sz="2400" spc="-250" dirty="0">
                <a:latin typeface="Arial MT"/>
                <a:cs typeface="Arial MT"/>
              </a:rPr>
              <a:t>e</a:t>
            </a:r>
            <a:r>
              <a:rPr sz="2400" spc="-220" dirty="0">
                <a:latin typeface="Arial MT"/>
                <a:cs typeface="Arial MT"/>
              </a:rPr>
              <a:t>c</a:t>
            </a:r>
            <a:r>
              <a:rPr sz="2400" spc="-120" dirty="0">
                <a:latin typeface="Arial MT"/>
                <a:cs typeface="Arial MT"/>
              </a:rPr>
              <a:t>t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220" dirty="0">
                <a:latin typeface="Arial MT"/>
                <a:cs typeface="Arial MT"/>
              </a:rPr>
              <a:t>c</a:t>
            </a:r>
            <a:r>
              <a:rPr sz="2400" spc="-250" dirty="0">
                <a:latin typeface="Arial MT"/>
                <a:cs typeface="Arial MT"/>
              </a:rPr>
              <a:t>h</a:t>
            </a:r>
            <a:r>
              <a:rPr sz="2400" spc="-240" dirty="0">
                <a:latin typeface="Arial MT"/>
                <a:cs typeface="Arial MT"/>
              </a:rPr>
              <a:t>anges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190" dirty="0">
                <a:latin typeface="Arial MT"/>
                <a:cs typeface="Arial MT"/>
              </a:rPr>
              <a:t>th</a:t>
            </a:r>
            <a:r>
              <a:rPr sz="2400" spc="-245" dirty="0">
                <a:latin typeface="Arial MT"/>
                <a:cs typeface="Arial MT"/>
              </a:rPr>
              <a:t>e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250" dirty="0">
                <a:latin typeface="Arial MT"/>
                <a:cs typeface="Arial MT"/>
              </a:rPr>
              <a:t>add</a:t>
            </a:r>
            <a:r>
              <a:rPr sz="2400" spc="-195" dirty="0">
                <a:latin typeface="Arial MT"/>
                <a:cs typeface="Arial MT"/>
              </a:rPr>
              <a:t>re</a:t>
            </a:r>
            <a:r>
              <a:rPr sz="2400" spc="-220" dirty="0">
                <a:latin typeface="Arial MT"/>
                <a:cs typeface="Arial MT"/>
              </a:rPr>
              <a:t>ss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215" dirty="0">
                <a:latin typeface="Arial MT"/>
                <a:cs typeface="Arial MT"/>
              </a:rPr>
              <a:t>ran</a:t>
            </a:r>
            <a:r>
              <a:rPr sz="2400" spc="-245" dirty="0">
                <a:latin typeface="Arial MT"/>
                <a:cs typeface="Arial MT"/>
              </a:rPr>
              <a:t>ge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90" dirty="0">
                <a:latin typeface="Arial MT"/>
                <a:cs typeface="Arial MT"/>
              </a:rPr>
              <a:t>fo</a:t>
            </a:r>
            <a:r>
              <a:rPr sz="2400" spc="-145" dirty="0">
                <a:latin typeface="Arial MT"/>
                <a:cs typeface="Arial MT"/>
              </a:rPr>
              <a:t>r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190" dirty="0">
                <a:latin typeface="Arial MT"/>
                <a:cs typeface="Arial MT"/>
              </a:rPr>
              <a:t>th</a:t>
            </a:r>
            <a:r>
              <a:rPr sz="2400" spc="-245" dirty="0">
                <a:latin typeface="Arial MT"/>
                <a:cs typeface="Arial MT"/>
              </a:rPr>
              <a:t>e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360" dirty="0">
                <a:latin typeface="Arial MT"/>
                <a:cs typeface="Arial MT"/>
              </a:rPr>
              <a:t>m</a:t>
            </a:r>
            <a:r>
              <a:rPr sz="2400" spc="-250" dirty="0">
                <a:latin typeface="Arial MT"/>
                <a:cs typeface="Arial MT"/>
              </a:rPr>
              <a:t>e</a:t>
            </a:r>
            <a:r>
              <a:rPr sz="2400" spc="-360" dirty="0">
                <a:latin typeface="Arial MT"/>
                <a:cs typeface="Arial MT"/>
              </a:rPr>
              <a:t>m</a:t>
            </a:r>
            <a:r>
              <a:rPr sz="2400" spc="-175" dirty="0">
                <a:latin typeface="Arial MT"/>
                <a:cs typeface="Arial MT"/>
              </a:rPr>
              <a:t>ory  </a:t>
            </a:r>
            <a:r>
              <a:rPr sz="2400" spc="-190" dirty="0">
                <a:latin typeface="Arial MT"/>
                <a:cs typeface="Arial MT"/>
              </a:rPr>
              <a:t>chip.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213100" y="2519362"/>
            <a:ext cx="2819400" cy="1536700"/>
            <a:chOff x="3213100" y="2519362"/>
            <a:chExt cx="2819400" cy="1536700"/>
          </a:xfrm>
        </p:grpSpPr>
        <p:sp>
          <p:nvSpPr>
            <p:cNvPr id="11" name="object 11"/>
            <p:cNvSpPr/>
            <p:nvPr/>
          </p:nvSpPr>
          <p:spPr>
            <a:xfrm>
              <a:off x="4546039" y="2551117"/>
              <a:ext cx="686435" cy="571500"/>
            </a:xfrm>
            <a:custGeom>
              <a:avLst/>
              <a:gdLst/>
              <a:ahLst/>
              <a:cxnLst/>
              <a:rect l="l" t="t" r="r" b="b"/>
              <a:pathLst>
                <a:path w="686435" h="571500">
                  <a:moveTo>
                    <a:pt x="686358" y="571030"/>
                  </a:moveTo>
                  <a:lnTo>
                    <a:pt x="684453" y="528175"/>
                  </a:lnTo>
                  <a:lnTo>
                    <a:pt x="678903" y="486216"/>
                  </a:lnTo>
                  <a:lnTo>
                    <a:pt x="669836" y="445258"/>
                  </a:lnTo>
                  <a:lnTo>
                    <a:pt x="657382" y="405410"/>
                  </a:lnTo>
                  <a:lnTo>
                    <a:pt x="641669" y="366778"/>
                  </a:lnTo>
                  <a:lnTo>
                    <a:pt x="622825" y="329470"/>
                  </a:lnTo>
                  <a:lnTo>
                    <a:pt x="600979" y="293592"/>
                  </a:lnTo>
                  <a:lnTo>
                    <a:pt x="576261" y="259253"/>
                  </a:lnTo>
                  <a:lnTo>
                    <a:pt x="548798" y="226558"/>
                  </a:lnTo>
                  <a:lnTo>
                    <a:pt x="518719" y="195616"/>
                  </a:lnTo>
                  <a:lnTo>
                    <a:pt x="486152" y="166533"/>
                  </a:lnTo>
                  <a:lnTo>
                    <a:pt x="451227" y="139417"/>
                  </a:lnTo>
                  <a:lnTo>
                    <a:pt x="414073" y="114374"/>
                  </a:lnTo>
                  <a:lnTo>
                    <a:pt x="374817" y="91513"/>
                  </a:lnTo>
                  <a:lnTo>
                    <a:pt x="333588" y="70940"/>
                  </a:lnTo>
                  <a:lnTo>
                    <a:pt x="290515" y="52762"/>
                  </a:lnTo>
                  <a:lnTo>
                    <a:pt x="245727" y="37087"/>
                  </a:lnTo>
                  <a:lnTo>
                    <a:pt x="199352" y="24021"/>
                  </a:lnTo>
                  <a:lnTo>
                    <a:pt x="151519" y="13672"/>
                  </a:lnTo>
                  <a:lnTo>
                    <a:pt x="102357" y="6148"/>
                  </a:lnTo>
                  <a:lnTo>
                    <a:pt x="51994" y="1554"/>
                  </a:lnTo>
                  <a:lnTo>
                    <a:pt x="558" y="0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46041" y="3122142"/>
              <a:ext cx="686435" cy="572135"/>
            </a:xfrm>
            <a:custGeom>
              <a:avLst/>
              <a:gdLst/>
              <a:ahLst/>
              <a:cxnLst/>
              <a:rect l="l" t="t" r="r" b="b"/>
              <a:pathLst>
                <a:path w="686435" h="572135">
                  <a:moveTo>
                    <a:pt x="0" y="571969"/>
                  </a:moveTo>
                  <a:lnTo>
                    <a:pt x="190" y="571969"/>
                  </a:lnTo>
                  <a:lnTo>
                    <a:pt x="368" y="571969"/>
                  </a:lnTo>
                  <a:lnTo>
                    <a:pt x="558" y="571969"/>
                  </a:lnTo>
                  <a:lnTo>
                    <a:pt x="52019" y="570413"/>
                  </a:lnTo>
                  <a:lnTo>
                    <a:pt x="102406" y="565815"/>
                  </a:lnTo>
                  <a:lnTo>
                    <a:pt x="151591" y="558283"/>
                  </a:lnTo>
                  <a:lnTo>
                    <a:pt x="199445" y="547924"/>
                  </a:lnTo>
                  <a:lnTo>
                    <a:pt x="245840" y="534846"/>
                  </a:lnTo>
                  <a:lnTo>
                    <a:pt x="290645" y="519156"/>
                  </a:lnTo>
                  <a:lnTo>
                    <a:pt x="333733" y="500961"/>
                  </a:lnTo>
                  <a:lnTo>
                    <a:pt x="374975" y="480369"/>
                  </a:lnTo>
                  <a:lnTo>
                    <a:pt x="414241" y="457487"/>
                  </a:lnTo>
                  <a:lnTo>
                    <a:pt x="451404" y="432422"/>
                  </a:lnTo>
                  <a:lnTo>
                    <a:pt x="486333" y="405282"/>
                  </a:lnTo>
                  <a:lnTo>
                    <a:pt x="518902" y="376174"/>
                  </a:lnTo>
                  <a:lnTo>
                    <a:pt x="548979" y="345205"/>
                  </a:lnTo>
                  <a:lnTo>
                    <a:pt x="576438" y="312483"/>
                  </a:lnTo>
                  <a:lnTo>
                    <a:pt x="601149" y="278115"/>
                  </a:lnTo>
                  <a:lnTo>
                    <a:pt x="622982" y="242208"/>
                  </a:lnTo>
                  <a:lnTo>
                    <a:pt x="641810" y="204870"/>
                  </a:lnTo>
                  <a:lnTo>
                    <a:pt x="657504" y="166209"/>
                  </a:lnTo>
                  <a:lnTo>
                    <a:pt x="669935" y="126330"/>
                  </a:lnTo>
                  <a:lnTo>
                    <a:pt x="678973" y="85343"/>
                  </a:lnTo>
                  <a:lnTo>
                    <a:pt x="684491" y="43353"/>
                  </a:lnTo>
                  <a:lnTo>
                    <a:pt x="686358" y="469"/>
                  </a:lnTo>
                  <a:lnTo>
                    <a:pt x="686358" y="317"/>
                  </a:lnTo>
                  <a:lnTo>
                    <a:pt x="686358" y="165"/>
                  </a:lnTo>
                  <a:lnTo>
                    <a:pt x="686358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26050" y="3065462"/>
              <a:ext cx="127000" cy="12700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546600" y="2551112"/>
              <a:ext cx="0" cy="1143000"/>
            </a:xfrm>
            <a:custGeom>
              <a:avLst/>
              <a:gdLst/>
              <a:ahLst/>
              <a:cxnLst/>
              <a:rect l="l" t="t" r="r" b="b"/>
              <a:pathLst>
                <a:path h="1143000">
                  <a:moveTo>
                    <a:pt x="0" y="0"/>
                  </a:moveTo>
                  <a:lnTo>
                    <a:pt x="0" y="1143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18000" y="2665412"/>
              <a:ext cx="228600" cy="0"/>
            </a:xfrm>
            <a:custGeom>
              <a:avLst/>
              <a:gdLst/>
              <a:ahLst/>
              <a:cxnLst/>
              <a:rect l="l" t="t" r="r" b="b"/>
              <a:pathLst>
                <a:path w="228600">
                  <a:moveTo>
                    <a:pt x="2286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873500" y="2690812"/>
              <a:ext cx="0" cy="266700"/>
            </a:xfrm>
            <a:custGeom>
              <a:avLst/>
              <a:gdLst/>
              <a:ahLst/>
              <a:cxnLst/>
              <a:rect l="l" t="t" r="r" b="b"/>
              <a:pathLst>
                <a:path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67150" y="2684462"/>
              <a:ext cx="279400" cy="27940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873500" y="2995612"/>
              <a:ext cx="0" cy="266700"/>
            </a:xfrm>
            <a:custGeom>
              <a:avLst/>
              <a:gdLst/>
              <a:ahLst/>
              <a:cxnLst/>
              <a:rect l="l" t="t" r="r" b="b"/>
              <a:pathLst>
                <a:path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67150" y="2989262"/>
              <a:ext cx="279400" cy="27940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140200" y="2830512"/>
              <a:ext cx="406400" cy="0"/>
            </a:xfrm>
            <a:custGeom>
              <a:avLst/>
              <a:gdLst/>
              <a:ahLst/>
              <a:cxnLst/>
              <a:rect l="l" t="t" r="r" b="b"/>
              <a:pathLst>
                <a:path w="406400">
                  <a:moveTo>
                    <a:pt x="4064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318000" y="2995612"/>
              <a:ext cx="228600" cy="0"/>
            </a:xfrm>
            <a:custGeom>
              <a:avLst/>
              <a:gdLst/>
              <a:ahLst/>
              <a:cxnLst/>
              <a:rect l="l" t="t" r="r" b="b"/>
              <a:pathLst>
                <a:path w="228600">
                  <a:moveTo>
                    <a:pt x="2286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432300" y="3579812"/>
              <a:ext cx="114300" cy="0"/>
            </a:xfrm>
            <a:custGeom>
              <a:avLst/>
              <a:gdLst/>
              <a:ahLst/>
              <a:cxnLst/>
              <a:rect l="l" t="t" r="r" b="b"/>
              <a:pathLst>
                <a:path w="114300">
                  <a:moveTo>
                    <a:pt x="1143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318000" y="3402012"/>
              <a:ext cx="228600" cy="0"/>
            </a:xfrm>
            <a:custGeom>
              <a:avLst/>
              <a:gdLst/>
              <a:ahLst/>
              <a:cxnLst/>
              <a:rect l="l" t="t" r="r" b="b"/>
              <a:pathLst>
                <a:path w="228600">
                  <a:moveTo>
                    <a:pt x="2286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229100" y="3198812"/>
              <a:ext cx="317500" cy="0"/>
            </a:xfrm>
            <a:custGeom>
              <a:avLst/>
              <a:gdLst/>
              <a:ahLst/>
              <a:cxnLst/>
              <a:rect l="l" t="t" r="r" b="b"/>
              <a:pathLst>
                <a:path w="317500">
                  <a:moveTo>
                    <a:pt x="3175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238500" y="2525712"/>
              <a:ext cx="1079500" cy="0"/>
            </a:xfrm>
            <a:custGeom>
              <a:avLst/>
              <a:gdLst/>
              <a:ahLst/>
              <a:cxnLst/>
              <a:rect l="l" t="t" r="r" b="b"/>
              <a:pathLst>
                <a:path w="1079500">
                  <a:moveTo>
                    <a:pt x="0" y="0"/>
                  </a:moveTo>
                  <a:lnTo>
                    <a:pt x="10795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318000" y="2525712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0"/>
                  </a:moveTo>
                  <a:lnTo>
                    <a:pt x="0" y="1397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140200" y="3135312"/>
              <a:ext cx="177800" cy="0"/>
            </a:xfrm>
            <a:custGeom>
              <a:avLst/>
              <a:gdLst/>
              <a:ahLst/>
              <a:cxnLst/>
              <a:rect l="l" t="t" r="r" b="b"/>
              <a:pathLst>
                <a:path w="177800">
                  <a:moveTo>
                    <a:pt x="0" y="0"/>
                  </a:moveTo>
                  <a:lnTo>
                    <a:pt x="1778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318000" y="2995612"/>
              <a:ext cx="0" cy="127000"/>
            </a:xfrm>
            <a:custGeom>
              <a:avLst/>
              <a:gdLst/>
              <a:ahLst/>
              <a:cxnLst/>
              <a:rect l="l" t="t" r="r" b="b"/>
              <a:pathLst>
                <a:path h="127000">
                  <a:moveTo>
                    <a:pt x="0" y="1270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432300" y="357981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873500" y="3478212"/>
              <a:ext cx="0" cy="266700"/>
            </a:xfrm>
            <a:custGeom>
              <a:avLst/>
              <a:gdLst/>
              <a:ahLst/>
              <a:cxnLst/>
              <a:rect l="l" t="t" r="r" b="b"/>
              <a:pathLst>
                <a:path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67150" y="3471862"/>
              <a:ext cx="279400" cy="27940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3873500" y="3783012"/>
              <a:ext cx="0" cy="266700"/>
            </a:xfrm>
            <a:custGeom>
              <a:avLst/>
              <a:gdLst/>
              <a:ahLst/>
              <a:cxnLst/>
              <a:rect l="l" t="t" r="r" b="b"/>
              <a:pathLst>
                <a:path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67150" y="3776662"/>
              <a:ext cx="279400" cy="279400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4140200" y="3922712"/>
              <a:ext cx="292100" cy="0"/>
            </a:xfrm>
            <a:custGeom>
              <a:avLst/>
              <a:gdLst/>
              <a:ahLst/>
              <a:cxnLst/>
              <a:rect l="l" t="t" r="r" b="b"/>
              <a:pathLst>
                <a:path w="292100">
                  <a:moveTo>
                    <a:pt x="0" y="0"/>
                  </a:moveTo>
                  <a:lnTo>
                    <a:pt x="2921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140200" y="3617912"/>
              <a:ext cx="177800" cy="0"/>
            </a:xfrm>
            <a:custGeom>
              <a:avLst/>
              <a:gdLst/>
              <a:ahLst/>
              <a:cxnLst/>
              <a:rect l="l" t="t" r="r" b="b"/>
              <a:pathLst>
                <a:path w="177800">
                  <a:moveTo>
                    <a:pt x="0" y="0"/>
                  </a:moveTo>
                  <a:lnTo>
                    <a:pt x="1778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318000" y="3402012"/>
              <a:ext cx="0" cy="203200"/>
            </a:xfrm>
            <a:custGeom>
              <a:avLst/>
              <a:gdLst/>
              <a:ahLst/>
              <a:cxnLst/>
              <a:rect l="l" t="t" r="r" b="b"/>
              <a:pathLst>
                <a:path h="203200">
                  <a:moveTo>
                    <a:pt x="0" y="2032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225800" y="3376612"/>
              <a:ext cx="1003300" cy="0"/>
            </a:xfrm>
            <a:custGeom>
              <a:avLst/>
              <a:gdLst/>
              <a:ahLst/>
              <a:cxnLst/>
              <a:rect l="l" t="t" r="r" b="b"/>
              <a:pathLst>
                <a:path w="1003300">
                  <a:moveTo>
                    <a:pt x="0" y="0"/>
                  </a:moveTo>
                  <a:lnTo>
                    <a:pt x="10033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229100" y="3198812"/>
              <a:ext cx="0" cy="165100"/>
            </a:xfrm>
            <a:custGeom>
              <a:avLst/>
              <a:gdLst/>
              <a:ahLst/>
              <a:cxnLst/>
              <a:rect l="l" t="t" r="r" b="b"/>
              <a:pathLst>
                <a:path h="165100">
                  <a:moveTo>
                    <a:pt x="0" y="1651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225800" y="2843212"/>
              <a:ext cx="647700" cy="0"/>
            </a:xfrm>
            <a:custGeom>
              <a:avLst/>
              <a:gdLst/>
              <a:ahLst/>
              <a:cxnLst/>
              <a:rect l="l" t="t" r="r" b="b"/>
              <a:pathLst>
                <a:path w="647700">
                  <a:moveTo>
                    <a:pt x="6477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213100" y="3135312"/>
              <a:ext cx="647700" cy="0"/>
            </a:xfrm>
            <a:custGeom>
              <a:avLst/>
              <a:gdLst/>
              <a:ahLst/>
              <a:cxnLst/>
              <a:rect l="l" t="t" r="r" b="b"/>
              <a:pathLst>
                <a:path w="647700">
                  <a:moveTo>
                    <a:pt x="6477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13100" y="3617912"/>
              <a:ext cx="647700" cy="0"/>
            </a:xfrm>
            <a:custGeom>
              <a:avLst/>
              <a:gdLst/>
              <a:ahLst/>
              <a:cxnLst/>
              <a:rect l="l" t="t" r="r" b="b"/>
              <a:pathLst>
                <a:path w="647700">
                  <a:moveTo>
                    <a:pt x="6477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213100" y="3922712"/>
              <a:ext cx="647700" cy="0"/>
            </a:xfrm>
            <a:custGeom>
              <a:avLst/>
              <a:gdLst/>
              <a:ahLst/>
              <a:cxnLst/>
              <a:rect l="l" t="t" r="r" b="b"/>
              <a:pathLst>
                <a:path w="647700">
                  <a:moveTo>
                    <a:pt x="6477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359400" y="3135312"/>
              <a:ext cx="673100" cy="0"/>
            </a:xfrm>
            <a:custGeom>
              <a:avLst/>
              <a:gdLst/>
              <a:ahLst/>
              <a:cxnLst/>
              <a:rect l="l" t="t" r="r" b="b"/>
              <a:pathLst>
                <a:path w="673100">
                  <a:moveTo>
                    <a:pt x="0" y="0"/>
                  </a:moveTo>
                  <a:lnTo>
                    <a:pt x="6731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6159500" y="3021012"/>
            <a:ext cx="19621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30" dirty="0">
                <a:latin typeface="Arial MT"/>
                <a:cs typeface="Arial MT"/>
              </a:rPr>
              <a:t>CS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920997" y="2449513"/>
            <a:ext cx="317500" cy="160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500" spc="52" baseline="22222" dirty="0">
                <a:latin typeface="Arial MT"/>
                <a:cs typeface="Arial MT"/>
              </a:rPr>
              <a:t>A</a:t>
            </a:r>
            <a:r>
              <a:rPr sz="1000" spc="35" dirty="0">
                <a:latin typeface="Arial MT"/>
                <a:cs typeface="Arial MT"/>
              </a:rPr>
              <a:t>10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</a:pPr>
            <a:r>
              <a:rPr sz="1500" spc="52" baseline="22222" dirty="0">
                <a:latin typeface="Arial MT"/>
                <a:cs typeface="Arial MT"/>
              </a:rPr>
              <a:t>A</a:t>
            </a:r>
            <a:r>
              <a:rPr sz="1000" spc="35" dirty="0">
                <a:latin typeface="Arial MT"/>
                <a:cs typeface="Arial MT"/>
              </a:rPr>
              <a:t>11</a:t>
            </a:r>
            <a:endParaRPr sz="10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1100"/>
              </a:spcBef>
            </a:pPr>
            <a:r>
              <a:rPr sz="1500" spc="52" baseline="22222" dirty="0">
                <a:latin typeface="Arial MT"/>
                <a:cs typeface="Arial MT"/>
              </a:rPr>
              <a:t>A</a:t>
            </a:r>
            <a:r>
              <a:rPr sz="1000" spc="35" dirty="0">
                <a:latin typeface="Arial MT"/>
                <a:cs typeface="Arial MT"/>
              </a:rPr>
              <a:t>12</a:t>
            </a:r>
            <a:endParaRPr sz="10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800"/>
              </a:spcBef>
            </a:pPr>
            <a:r>
              <a:rPr sz="1500" spc="52" baseline="22222" dirty="0">
                <a:latin typeface="Arial MT"/>
                <a:cs typeface="Arial MT"/>
              </a:rPr>
              <a:t>A</a:t>
            </a:r>
            <a:r>
              <a:rPr sz="1000" spc="35" dirty="0">
                <a:latin typeface="Arial MT"/>
                <a:cs typeface="Arial MT"/>
              </a:rPr>
              <a:t>13</a:t>
            </a:r>
            <a:endParaRPr sz="10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800"/>
              </a:spcBef>
            </a:pPr>
            <a:r>
              <a:rPr sz="1500" spc="52" baseline="22222" dirty="0">
                <a:latin typeface="Arial MT"/>
                <a:cs typeface="Arial MT"/>
              </a:rPr>
              <a:t>A</a:t>
            </a:r>
            <a:r>
              <a:rPr sz="1000" spc="35" dirty="0">
                <a:latin typeface="Arial MT"/>
                <a:cs typeface="Arial MT"/>
              </a:rPr>
              <a:t>14</a:t>
            </a:r>
            <a:endParaRPr sz="10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1100"/>
              </a:spcBef>
            </a:pPr>
            <a:r>
              <a:rPr sz="1500" spc="52" baseline="22222" dirty="0">
                <a:latin typeface="Arial MT"/>
                <a:cs typeface="Arial MT"/>
              </a:rPr>
              <a:t>A</a:t>
            </a:r>
            <a:r>
              <a:rPr sz="1000" spc="35" dirty="0">
                <a:latin typeface="Arial MT"/>
                <a:cs typeface="Arial MT"/>
              </a:rPr>
              <a:t>15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6134094" y="2982916"/>
            <a:ext cx="203200" cy="0"/>
          </a:xfrm>
          <a:custGeom>
            <a:avLst/>
            <a:gdLst/>
            <a:ahLst/>
            <a:cxnLst/>
            <a:rect l="l" t="t" r="r" b="b"/>
            <a:pathLst>
              <a:path w="203200">
                <a:moveTo>
                  <a:pt x="0" y="0"/>
                </a:moveTo>
                <a:lnTo>
                  <a:pt x="2032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r>
              <a:rPr spc="-5" dirty="0"/>
              <a:t>28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6350" y="0"/>
            <a:ext cx="9156700" cy="6870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515938" cy="68579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64540" y="1010665"/>
            <a:ext cx="428117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0" dirty="0">
                <a:solidFill>
                  <a:srgbClr val="FFFFCC"/>
                </a:solidFill>
                <a:latin typeface="Arial MT"/>
                <a:cs typeface="Arial MT"/>
              </a:rPr>
              <a:t>Chi</a:t>
            </a:r>
            <a:r>
              <a:rPr spc="-445" dirty="0">
                <a:solidFill>
                  <a:srgbClr val="FFFFCC"/>
                </a:solidFill>
                <a:latin typeface="Arial MT"/>
                <a:cs typeface="Arial MT"/>
              </a:rPr>
              <a:t>p</a:t>
            </a:r>
            <a:r>
              <a:rPr spc="-220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400" dirty="0">
                <a:solidFill>
                  <a:srgbClr val="FFFFCC"/>
                </a:solidFill>
                <a:latin typeface="Arial MT"/>
                <a:cs typeface="Arial MT"/>
              </a:rPr>
              <a:t>Selec</a:t>
            </a:r>
            <a:r>
              <a:rPr spc="-220" dirty="0">
                <a:solidFill>
                  <a:srgbClr val="FFFFCC"/>
                </a:solidFill>
                <a:latin typeface="Arial MT"/>
                <a:cs typeface="Arial MT"/>
              </a:rPr>
              <a:t>t</a:t>
            </a:r>
            <a:r>
              <a:rPr spc="-210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465" dirty="0">
                <a:solidFill>
                  <a:srgbClr val="FFFFCC"/>
                </a:solidFill>
                <a:latin typeface="Arial MT"/>
                <a:cs typeface="Arial MT"/>
              </a:rPr>
              <a:t>Ex</a:t>
            </a:r>
            <a:r>
              <a:rPr spc="-434" dirty="0">
                <a:solidFill>
                  <a:srgbClr val="FFFFCC"/>
                </a:solidFill>
                <a:latin typeface="Arial MT"/>
                <a:cs typeface="Arial MT"/>
              </a:rPr>
              <a:t>ample</a:t>
            </a: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3677" y="2189226"/>
            <a:ext cx="177545" cy="18668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507489" y="1919009"/>
            <a:ext cx="6529705" cy="178435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sz="2800" spc="-295" dirty="0">
                <a:latin typeface="Arial MT"/>
                <a:cs typeface="Arial MT"/>
              </a:rPr>
              <a:t>To</a:t>
            </a:r>
            <a:r>
              <a:rPr sz="2800" spc="-155" dirty="0">
                <a:latin typeface="Arial MT"/>
                <a:cs typeface="Arial MT"/>
              </a:rPr>
              <a:t> </a:t>
            </a:r>
            <a:r>
              <a:rPr sz="2800" spc="-175" dirty="0">
                <a:latin typeface="Arial MT"/>
                <a:cs typeface="Arial MT"/>
              </a:rPr>
              <a:t>illus</a:t>
            </a:r>
            <a:r>
              <a:rPr sz="2800" spc="-145" dirty="0">
                <a:latin typeface="Arial MT"/>
                <a:cs typeface="Arial MT"/>
              </a:rPr>
              <a:t>t</a:t>
            </a:r>
            <a:r>
              <a:rPr sz="2800" spc="-175" dirty="0">
                <a:latin typeface="Arial MT"/>
                <a:cs typeface="Arial MT"/>
              </a:rPr>
              <a:t>r</a:t>
            </a:r>
            <a:r>
              <a:rPr sz="2800" spc="-280" dirty="0">
                <a:latin typeface="Arial MT"/>
                <a:cs typeface="Arial MT"/>
              </a:rPr>
              <a:t>a</a:t>
            </a:r>
            <a:r>
              <a:rPr sz="2800" spc="-145" dirty="0">
                <a:latin typeface="Arial MT"/>
                <a:cs typeface="Arial MT"/>
              </a:rPr>
              <a:t>t</a:t>
            </a:r>
            <a:r>
              <a:rPr sz="2800" spc="-280" dirty="0">
                <a:latin typeface="Arial MT"/>
                <a:cs typeface="Arial MT"/>
              </a:rPr>
              <a:t>e</a:t>
            </a:r>
            <a:r>
              <a:rPr sz="2800" spc="-145" dirty="0">
                <a:latin typeface="Arial MT"/>
                <a:cs typeface="Arial MT"/>
              </a:rPr>
              <a:t> t</a:t>
            </a:r>
            <a:r>
              <a:rPr sz="2800" spc="-215" dirty="0">
                <a:latin typeface="Arial MT"/>
                <a:cs typeface="Arial MT"/>
              </a:rPr>
              <a:t>his</a:t>
            </a:r>
            <a:r>
              <a:rPr sz="2800" spc="-140" dirty="0">
                <a:latin typeface="Arial MT"/>
                <a:cs typeface="Arial MT"/>
              </a:rPr>
              <a:t> </a:t>
            </a:r>
            <a:r>
              <a:rPr sz="2800" spc="-370" dirty="0">
                <a:latin typeface="Arial MT"/>
                <a:cs typeface="Arial MT"/>
              </a:rPr>
              <a:t>w</a:t>
            </a:r>
            <a:r>
              <a:rPr sz="2800" spc="-114" dirty="0">
                <a:latin typeface="Arial MT"/>
                <a:cs typeface="Arial MT"/>
              </a:rPr>
              <a:t>i</a:t>
            </a:r>
            <a:r>
              <a:rPr sz="2800" spc="-145" dirty="0">
                <a:latin typeface="Arial MT"/>
                <a:cs typeface="Arial MT"/>
              </a:rPr>
              <a:t>t</a:t>
            </a:r>
            <a:r>
              <a:rPr sz="2800" spc="-280" dirty="0">
                <a:latin typeface="Arial MT"/>
                <a:cs typeface="Arial MT"/>
              </a:rPr>
              <a:t>h</a:t>
            </a:r>
            <a:r>
              <a:rPr sz="2800" spc="-135" dirty="0">
                <a:latin typeface="Arial MT"/>
                <a:cs typeface="Arial MT"/>
              </a:rPr>
              <a:t> </a:t>
            </a:r>
            <a:r>
              <a:rPr sz="2800" spc="-280" dirty="0">
                <a:latin typeface="Arial MT"/>
                <a:cs typeface="Arial MT"/>
              </a:rPr>
              <a:t>a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215" dirty="0">
                <a:latin typeface="Arial MT"/>
                <a:cs typeface="Arial MT"/>
              </a:rPr>
              <a:t>pic</a:t>
            </a:r>
            <a:r>
              <a:rPr sz="2800" spc="-145" dirty="0">
                <a:latin typeface="Arial MT"/>
                <a:cs typeface="Arial MT"/>
              </a:rPr>
              <a:t>t</a:t>
            </a:r>
            <a:r>
              <a:rPr sz="2800" spc="-280" dirty="0">
                <a:latin typeface="Arial MT"/>
                <a:cs typeface="Arial MT"/>
              </a:rPr>
              <a:t>u</a:t>
            </a:r>
            <a:r>
              <a:rPr sz="2800" spc="-175" dirty="0">
                <a:latin typeface="Arial MT"/>
                <a:cs typeface="Arial MT"/>
              </a:rPr>
              <a:t>r</a:t>
            </a:r>
            <a:r>
              <a:rPr sz="2800" spc="-210" dirty="0">
                <a:latin typeface="Arial MT"/>
                <a:cs typeface="Arial MT"/>
              </a:rPr>
              <a:t>e:</a:t>
            </a:r>
            <a:endParaRPr sz="2800">
              <a:latin typeface="Arial MT"/>
              <a:cs typeface="Arial MT"/>
            </a:endParaRPr>
          </a:p>
          <a:p>
            <a:pPr marL="412115" marR="5080" indent="-228600">
              <a:lnSpc>
                <a:spcPct val="100000"/>
              </a:lnSpc>
              <a:spcBef>
                <a:spcPts val="585"/>
              </a:spcBef>
              <a:buClr>
                <a:srgbClr val="CCFFCC"/>
              </a:buClr>
              <a:buSzPct val="60416"/>
              <a:buFont typeface="Wingdings"/>
              <a:buChar char=""/>
              <a:tabLst>
                <a:tab pos="412750" algn="l"/>
              </a:tabLst>
            </a:pPr>
            <a:r>
              <a:rPr sz="2400" spc="-170" dirty="0">
                <a:latin typeface="Arial MT"/>
                <a:cs typeface="Arial MT"/>
              </a:rPr>
              <a:t>in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spc="-125" dirty="0">
                <a:latin typeface="Arial MT"/>
                <a:cs typeface="Arial MT"/>
              </a:rPr>
              <a:t>t</a:t>
            </a:r>
            <a:r>
              <a:rPr sz="2400" spc="-250" dirty="0">
                <a:latin typeface="Arial MT"/>
                <a:cs typeface="Arial MT"/>
              </a:rPr>
              <a:t>h</a:t>
            </a:r>
            <a:r>
              <a:rPr sz="2400" spc="-245" dirty="0">
                <a:latin typeface="Arial MT"/>
                <a:cs typeface="Arial MT"/>
              </a:rPr>
              <a:t>e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25" dirty="0">
                <a:latin typeface="Arial MT"/>
                <a:cs typeface="Arial MT"/>
              </a:rPr>
              <a:t>f</a:t>
            </a:r>
            <a:r>
              <a:rPr sz="2400" spc="-100" dirty="0">
                <a:latin typeface="Arial MT"/>
                <a:cs typeface="Arial MT"/>
              </a:rPr>
              <a:t>i</a:t>
            </a:r>
            <a:r>
              <a:rPr sz="2400" spc="-150" dirty="0">
                <a:latin typeface="Arial MT"/>
                <a:cs typeface="Arial MT"/>
              </a:rPr>
              <a:t>r</a:t>
            </a:r>
            <a:r>
              <a:rPr sz="2400" spc="-170" dirty="0">
                <a:latin typeface="Arial MT"/>
                <a:cs typeface="Arial MT"/>
              </a:rPr>
              <a:t>st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220" dirty="0">
                <a:latin typeface="Arial MT"/>
                <a:cs typeface="Arial MT"/>
              </a:rPr>
              <a:t>c</a:t>
            </a:r>
            <a:r>
              <a:rPr sz="2400" spc="-250" dirty="0">
                <a:latin typeface="Arial MT"/>
                <a:cs typeface="Arial MT"/>
              </a:rPr>
              <a:t>a</a:t>
            </a:r>
            <a:r>
              <a:rPr sz="2400" spc="-220" dirty="0">
                <a:latin typeface="Arial MT"/>
                <a:cs typeface="Arial MT"/>
              </a:rPr>
              <a:t>s</a:t>
            </a:r>
            <a:r>
              <a:rPr sz="2400" spc="-250" dirty="0">
                <a:latin typeface="Arial MT"/>
                <a:cs typeface="Arial MT"/>
              </a:rPr>
              <a:t>e</a:t>
            </a:r>
            <a:r>
              <a:rPr sz="2400" spc="-120" dirty="0">
                <a:latin typeface="Arial MT"/>
                <a:cs typeface="Arial MT"/>
              </a:rPr>
              <a:t>,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25" dirty="0">
                <a:latin typeface="Arial MT"/>
                <a:cs typeface="Arial MT"/>
              </a:rPr>
              <a:t>t</a:t>
            </a:r>
            <a:r>
              <a:rPr sz="2400" spc="-250" dirty="0">
                <a:latin typeface="Arial MT"/>
                <a:cs typeface="Arial MT"/>
              </a:rPr>
              <a:t>h</a:t>
            </a:r>
            <a:r>
              <a:rPr sz="2400" spc="-245" dirty="0">
                <a:latin typeface="Arial MT"/>
                <a:cs typeface="Arial MT"/>
              </a:rPr>
              <a:t>e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310" dirty="0">
                <a:latin typeface="Arial MT"/>
                <a:cs typeface="Arial MT"/>
              </a:rPr>
              <a:t>memo</a:t>
            </a:r>
            <a:r>
              <a:rPr sz="2400" spc="-150" dirty="0">
                <a:latin typeface="Arial MT"/>
                <a:cs typeface="Arial MT"/>
              </a:rPr>
              <a:t>r</a:t>
            </a:r>
            <a:r>
              <a:rPr sz="2400" spc="-220" dirty="0">
                <a:latin typeface="Arial MT"/>
                <a:cs typeface="Arial MT"/>
              </a:rPr>
              <a:t>y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220" dirty="0">
                <a:latin typeface="Arial MT"/>
                <a:cs typeface="Arial MT"/>
              </a:rPr>
              <a:t>c</a:t>
            </a:r>
            <a:r>
              <a:rPr sz="2400" spc="-250" dirty="0">
                <a:latin typeface="Arial MT"/>
                <a:cs typeface="Arial MT"/>
              </a:rPr>
              <a:t>h</a:t>
            </a:r>
            <a:r>
              <a:rPr sz="2400" spc="-170" dirty="0">
                <a:latin typeface="Arial MT"/>
                <a:cs typeface="Arial MT"/>
              </a:rPr>
              <a:t>ip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250" dirty="0">
                <a:latin typeface="Arial MT"/>
                <a:cs typeface="Arial MT"/>
              </a:rPr>
              <a:t>o</a:t>
            </a:r>
            <a:r>
              <a:rPr sz="2400" spc="-225" dirty="0">
                <a:latin typeface="Arial MT"/>
                <a:cs typeface="Arial MT"/>
              </a:rPr>
              <a:t>ccu</a:t>
            </a:r>
            <a:r>
              <a:rPr sz="2400" spc="-250" dirty="0">
                <a:latin typeface="Arial MT"/>
                <a:cs typeface="Arial MT"/>
              </a:rPr>
              <a:t>p</a:t>
            </a:r>
            <a:r>
              <a:rPr sz="2400" spc="-95" dirty="0">
                <a:latin typeface="Arial MT"/>
                <a:cs typeface="Arial MT"/>
              </a:rPr>
              <a:t>i</a:t>
            </a:r>
            <a:r>
              <a:rPr sz="2400" spc="-229" dirty="0">
                <a:latin typeface="Arial MT"/>
                <a:cs typeface="Arial MT"/>
              </a:rPr>
              <a:t>es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25" dirty="0">
                <a:latin typeface="Arial MT"/>
                <a:cs typeface="Arial MT"/>
              </a:rPr>
              <a:t>t</a:t>
            </a:r>
            <a:r>
              <a:rPr sz="2400" spc="-250" dirty="0">
                <a:latin typeface="Arial MT"/>
                <a:cs typeface="Arial MT"/>
              </a:rPr>
              <a:t>h</a:t>
            </a:r>
            <a:r>
              <a:rPr sz="2400" spc="-245" dirty="0">
                <a:latin typeface="Arial MT"/>
                <a:cs typeface="Arial MT"/>
              </a:rPr>
              <a:t>e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250" dirty="0">
                <a:latin typeface="Arial MT"/>
                <a:cs typeface="Arial MT"/>
              </a:rPr>
              <a:t>p</a:t>
            </a:r>
            <a:r>
              <a:rPr sz="2400" spc="-100" dirty="0">
                <a:latin typeface="Arial MT"/>
                <a:cs typeface="Arial MT"/>
              </a:rPr>
              <a:t>i</a:t>
            </a:r>
            <a:r>
              <a:rPr sz="2400" spc="-250" dirty="0">
                <a:latin typeface="Arial MT"/>
                <a:cs typeface="Arial MT"/>
              </a:rPr>
              <a:t>e</a:t>
            </a:r>
            <a:r>
              <a:rPr sz="2400" spc="-229" dirty="0">
                <a:latin typeface="Arial MT"/>
                <a:cs typeface="Arial MT"/>
              </a:rPr>
              <a:t>ce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250" dirty="0">
                <a:latin typeface="Arial MT"/>
                <a:cs typeface="Arial MT"/>
              </a:rPr>
              <a:t>o</a:t>
            </a:r>
            <a:r>
              <a:rPr sz="2400" spc="-120" dirty="0">
                <a:latin typeface="Arial MT"/>
                <a:cs typeface="Arial MT"/>
              </a:rPr>
              <a:t>f  </a:t>
            </a:r>
            <a:r>
              <a:rPr sz="2400" spc="-190" dirty="0">
                <a:latin typeface="Arial MT"/>
                <a:cs typeface="Arial MT"/>
              </a:rPr>
              <a:t>th</a:t>
            </a:r>
            <a:r>
              <a:rPr sz="2400" spc="-245" dirty="0">
                <a:latin typeface="Arial MT"/>
                <a:cs typeface="Arial MT"/>
              </a:rPr>
              <a:t>e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310" dirty="0">
                <a:latin typeface="Arial MT"/>
                <a:cs typeface="Arial MT"/>
              </a:rPr>
              <a:t>me</a:t>
            </a:r>
            <a:r>
              <a:rPr sz="2400" spc="-360" dirty="0">
                <a:latin typeface="Arial MT"/>
                <a:cs typeface="Arial MT"/>
              </a:rPr>
              <a:t>m</a:t>
            </a:r>
            <a:r>
              <a:rPr sz="2400" spc="-200" dirty="0">
                <a:latin typeface="Arial MT"/>
                <a:cs typeface="Arial MT"/>
              </a:rPr>
              <a:t>or</a:t>
            </a:r>
            <a:r>
              <a:rPr sz="2400" spc="-220" dirty="0">
                <a:latin typeface="Arial MT"/>
                <a:cs typeface="Arial MT"/>
              </a:rPr>
              <a:t>y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310" dirty="0">
                <a:latin typeface="Arial MT"/>
                <a:cs typeface="Arial MT"/>
              </a:rPr>
              <a:t>ma</a:t>
            </a:r>
            <a:r>
              <a:rPr sz="2400" spc="-245" dirty="0">
                <a:latin typeface="Arial MT"/>
                <a:cs typeface="Arial MT"/>
              </a:rPr>
              <a:t>p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100" dirty="0">
                <a:latin typeface="Arial MT"/>
                <a:cs typeface="Arial MT"/>
              </a:rPr>
              <a:t>i</a:t>
            </a:r>
            <a:r>
              <a:rPr sz="2400" spc="-250" dirty="0">
                <a:latin typeface="Arial MT"/>
                <a:cs typeface="Arial MT"/>
              </a:rPr>
              <a:t>de</a:t>
            </a:r>
            <a:r>
              <a:rPr sz="2400" spc="-245" dirty="0">
                <a:latin typeface="Arial MT"/>
                <a:cs typeface="Arial MT"/>
              </a:rPr>
              <a:t>n</a:t>
            </a:r>
            <a:r>
              <a:rPr sz="2400" spc="-130" dirty="0">
                <a:latin typeface="Arial MT"/>
                <a:cs typeface="Arial MT"/>
              </a:rPr>
              <a:t>t</a:t>
            </a:r>
            <a:r>
              <a:rPr sz="2400" spc="-95" dirty="0">
                <a:latin typeface="Arial MT"/>
                <a:cs typeface="Arial MT"/>
              </a:rPr>
              <a:t>i</a:t>
            </a:r>
            <a:r>
              <a:rPr sz="2400" spc="-130" dirty="0">
                <a:latin typeface="Arial MT"/>
                <a:cs typeface="Arial MT"/>
              </a:rPr>
              <a:t>f</a:t>
            </a:r>
            <a:r>
              <a:rPr sz="2400" spc="-95" dirty="0">
                <a:latin typeface="Arial MT"/>
                <a:cs typeface="Arial MT"/>
              </a:rPr>
              <a:t>i</a:t>
            </a:r>
            <a:r>
              <a:rPr sz="2400" spc="-245" dirty="0">
                <a:latin typeface="Arial MT"/>
                <a:cs typeface="Arial MT"/>
              </a:rPr>
              <a:t>ed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250" dirty="0">
                <a:latin typeface="Arial MT"/>
                <a:cs typeface="Arial MT"/>
              </a:rPr>
              <a:t>a</a:t>
            </a:r>
            <a:r>
              <a:rPr sz="2400" spc="-220" dirty="0">
                <a:latin typeface="Arial MT"/>
                <a:cs typeface="Arial MT"/>
              </a:rPr>
              <a:t>s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250" dirty="0">
                <a:latin typeface="Arial MT"/>
                <a:cs typeface="Arial MT"/>
              </a:rPr>
              <a:t>be</a:t>
            </a:r>
            <a:r>
              <a:rPr sz="2400" spc="-120" dirty="0">
                <a:latin typeface="Arial MT"/>
                <a:cs typeface="Arial MT"/>
              </a:rPr>
              <a:t>f</a:t>
            </a:r>
            <a:r>
              <a:rPr sz="2400" spc="-250" dirty="0">
                <a:latin typeface="Arial MT"/>
                <a:cs typeface="Arial MT"/>
              </a:rPr>
              <a:t>o</a:t>
            </a:r>
            <a:r>
              <a:rPr sz="2400" spc="-145" dirty="0">
                <a:latin typeface="Arial MT"/>
                <a:cs typeface="Arial MT"/>
              </a:rPr>
              <a:t>r</a:t>
            </a:r>
            <a:r>
              <a:rPr sz="2400" spc="-185" dirty="0">
                <a:latin typeface="Arial MT"/>
                <a:cs typeface="Arial MT"/>
              </a:rPr>
              <a:t>e.</a:t>
            </a:r>
            <a:endParaRPr sz="2400">
              <a:latin typeface="Arial MT"/>
              <a:cs typeface="Arial MT"/>
            </a:endParaRPr>
          </a:p>
          <a:p>
            <a:pPr marL="412750" indent="-229235">
              <a:lnSpc>
                <a:spcPct val="100000"/>
              </a:lnSpc>
              <a:spcBef>
                <a:spcPts val="575"/>
              </a:spcBef>
              <a:buClr>
                <a:srgbClr val="CCFFCC"/>
              </a:buClr>
              <a:buSzPct val="60416"/>
              <a:buFont typeface="Wingdings"/>
              <a:buChar char=""/>
              <a:tabLst>
                <a:tab pos="412750" algn="l"/>
              </a:tabLst>
            </a:pPr>
            <a:r>
              <a:rPr sz="2400" spc="-125" dirty="0">
                <a:latin typeface="Arial MT"/>
                <a:cs typeface="Arial MT"/>
              </a:rPr>
              <a:t>I</a:t>
            </a:r>
            <a:r>
              <a:rPr sz="2400" spc="-245" dirty="0">
                <a:latin typeface="Arial MT"/>
                <a:cs typeface="Arial MT"/>
              </a:rPr>
              <a:t>n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125" dirty="0">
                <a:latin typeface="Arial MT"/>
                <a:cs typeface="Arial MT"/>
              </a:rPr>
              <a:t>t</a:t>
            </a:r>
            <a:r>
              <a:rPr sz="2400" spc="-250" dirty="0">
                <a:latin typeface="Arial MT"/>
                <a:cs typeface="Arial MT"/>
              </a:rPr>
              <a:t>h</a:t>
            </a:r>
            <a:r>
              <a:rPr sz="2400" spc="-245" dirty="0">
                <a:latin typeface="Arial MT"/>
                <a:cs typeface="Arial MT"/>
              </a:rPr>
              <a:t>e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220" dirty="0">
                <a:latin typeface="Arial MT"/>
                <a:cs typeface="Arial MT"/>
              </a:rPr>
              <a:t>s</a:t>
            </a:r>
            <a:r>
              <a:rPr sz="2400" spc="-250" dirty="0">
                <a:latin typeface="Arial MT"/>
                <a:cs typeface="Arial MT"/>
              </a:rPr>
              <a:t>e</a:t>
            </a:r>
            <a:r>
              <a:rPr sz="2400" spc="-235" dirty="0">
                <a:latin typeface="Arial MT"/>
                <a:cs typeface="Arial MT"/>
              </a:rPr>
              <a:t>cond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220" dirty="0">
                <a:latin typeface="Arial MT"/>
                <a:cs typeface="Arial MT"/>
              </a:rPr>
              <a:t>c</a:t>
            </a:r>
            <a:r>
              <a:rPr sz="2400" spc="-250" dirty="0">
                <a:latin typeface="Arial MT"/>
                <a:cs typeface="Arial MT"/>
              </a:rPr>
              <a:t>a</a:t>
            </a:r>
            <a:r>
              <a:rPr sz="2400" spc="-220" dirty="0">
                <a:latin typeface="Arial MT"/>
                <a:cs typeface="Arial MT"/>
              </a:rPr>
              <a:t>s</a:t>
            </a:r>
            <a:r>
              <a:rPr sz="2400" spc="-250" dirty="0">
                <a:latin typeface="Arial MT"/>
                <a:cs typeface="Arial MT"/>
              </a:rPr>
              <a:t>e</a:t>
            </a:r>
            <a:r>
              <a:rPr sz="2400" spc="-120" dirty="0">
                <a:latin typeface="Arial MT"/>
                <a:cs typeface="Arial MT"/>
              </a:rPr>
              <a:t>,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10" dirty="0">
                <a:latin typeface="Arial MT"/>
                <a:cs typeface="Arial MT"/>
              </a:rPr>
              <a:t>it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spc="-250" dirty="0">
                <a:latin typeface="Arial MT"/>
                <a:cs typeface="Arial MT"/>
              </a:rPr>
              <a:t>o</a:t>
            </a:r>
            <a:r>
              <a:rPr sz="2400" spc="-225" dirty="0">
                <a:latin typeface="Arial MT"/>
                <a:cs typeface="Arial MT"/>
              </a:rPr>
              <a:t>ccu</a:t>
            </a:r>
            <a:r>
              <a:rPr sz="2400" spc="-250" dirty="0">
                <a:latin typeface="Arial MT"/>
                <a:cs typeface="Arial MT"/>
              </a:rPr>
              <a:t>p</a:t>
            </a:r>
            <a:r>
              <a:rPr sz="2400" spc="-95" dirty="0">
                <a:latin typeface="Arial MT"/>
                <a:cs typeface="Arial MT"/>
              </a:rPr>
              <a:t>i</a:t>
            </a:r>
            <a:r>
              <a:rPr sz="2400" spc="-229" dirty="0">
                <a:latin typeface="Arial MT"/>
                <a:cs typeface="Arial MT"/>
              </a:rPr>
              <a:t>es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25" dirty="0">
                <a:latin typeface="Arial MT"/>
                <a:cs typeface="Arial MT"/>
              </a:rPr>
              <a:t>t</a:t>
            </a:r>
            <a:r>
              <a:rPr sz="2400" spc="-250" dirty="0">
                <a:latin typeface="Arial MT"/>
                <a:cs typeface="Arial MT"/>
              </a:rPr>
              <a:t>h</a:t>
            </a:r>
            <a:r>
              <a:rPr sz="2400" spc="-245" dirty="0">
                <a:latin typeface="Arial MT"/>
                <a:cs typeface="Arial MT"/>
              </a:rPr>
              <a:t>e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250" dirty="0">
                <a:latin typeface="Arial MT"/>
                <a:cs typeface="Arial MT"/>
              </a:rPr>
              <a:t>p</a:t>
            </a:r>
            <a:r>
              <a:rPr sz="2400" spc="-100" dirty="0">
                <a:latin typeface="Arial MT"/>
                <a:cs typeface="Arial MT"/>
              </a:rPr>
              <a:t>i</a:t>
            </a:r>
            <a:r>
              <a:rPr sz="2400" spc="-250" dirty="0">
                <a:latin typeface="Arial MT"/>
                <a:cs typeface="Arial MT"/>
              </a:rPr>
              <a:t>e</a:t>
            </a:r>
            <a:r>
              <a:rPr sz="2400" spc="-229" dirty="0">
                <a:latin typeface="Arial MT"/>
                <a:cs typeface="Arial MT"/>
              </a:rPr>
              <a:t>ce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0" dirty="0">
                <a:latin typeface="Arial MT"/>
                <a:cs typeface="Arial MT"/>
              </a:rPr>
              <a:t>i</a:t>
            </a:r>
            <a:r>
              <a:rPr sz="2400" spc="-250" dirty="0">
                <a:latin typeface="Arial MT"/>
                <a:cs typeface="Arial MT"/>
              </a:rPr>
              <a:t>de</a:t>
            </a:r>
            <a:r>
              <a:rPr sz="2400" spc="-145" dirty="0">
                <a:latin typeface="Arial MT"/>
                <a:cs typeface="Arial MT"/>
              </a:rPr>
              <a:t>ntif</a:t>
            </a:r>
            <a:r>
              <a:rPr sz="2400" spc="-165" dirty="0">
                <a:latin typeface="Arial MT"/>
                <a:cs typeface="Arial MT"/>
              </a:rPr>
              <a:t>ie</a:t>
            </a:r>
            <a:r>
              <a:rPr sz="2400" spc="-245" dirty="0">
                <a:latin typeface="Arial MT"/>
                <a:cs typeface="Arial MT"/>
              </a:rPr>
              <a:t>d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250" dirty="0">
                <a:latin typeface="Arial MT"/>
                <a:cs typeface="Arial MT"/>
              </a:rPr>
              <a:t>a</a:t>
            </a:r>
            <a:r>
              <a:rPr sz="2400" spc="-220" dirty="0">
                <a:latin typeface="Arial MT"/>
                <a:cs typeface="Arial MT"/>
              </a:rPr>
              <a:t>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r>
              <a:rPr spc="-5" dirty="0"/>
              <a:t>29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907539" y="3677666"/>
            <a:ext cx="5937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0" dirty="0">
                <a:latin typeface="Arial MT"/>
                <a:cs typeface="Arial MT"/>
              </a:rPr>
              <a:t>a</a:t>
            </a:r>
            <a:r>
              <a:rPr sz="2400" spc="-125" dirty="0">
                <a:latin typeface="Arial MT"/>
                <a:cs typeface="Arial MT"/>
              </a:rPr>
              <a:t>ft</a:t>
            </a:r>
            <a:r>
              <a:rPr sz="2400" spc="-250" dirty="0">
                <a:latin typeface="Arial MT"/>
                <a:cs typeface="Arial MT"/>
              </a:rPr>
              <a:t>e</a:t>
            </a:r>
            <a:r>
              <a:rPr sz="2400" spc="-150" dirty="0">
                <a:latin typeface="Arial MT"/>
                <a:cs typeface="Arial MT"/>
              </a:rPr>
              <a:t>r</a:t>
            </a:r>
            <a:r>
              <a:rPr sz="2400" spc="-120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544887" y="4224337"/>
          <a:ext cx="1047750" cy="2222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49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3144202" y="4191635"/>
            <a:ext cx="30861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 MT"/>
                <a:cs typeface="Arial MT"/>
              </a:rPr>
              <a:t>00</a:t>
            </a:r>
            <a:r>
              <a:rPr sz="1000" spc="-5" dirty="0">
                <a:latin typeface="Arial MT"/>
                <a:cs typeface="Arial MT"/>
              </a:rPr>
              <a:t>0</a:t>
            </a:r>
            <a:r>
              <a:rPr sz="1000" dirty="0">
                <a:latin typeface="Arial MT"/>
                <a:cs typeface="Arial MT"/>
              </a:rPr>
              <a:t>0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44202" y="4471339"/>
            <a:ext cx="323215" cy="50800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1000" spc="-5" dirty="0">
                <a:latin typeface="Arial MT"/>
                <a:cs typeface="Arial MT"/>
              </a:rPr>
              <a:t>2000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000" dirty="0">
                <a:latin typeface="Arial MT"/>
                <a:cs typeface="Arial MT"/>
              </a:rPr>
              <a:t>23FF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44202" y="6287126"/>
            <a:ext cx="33655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 MT"/>
                <a:cs typeface="Arial MT"/>
              </a:rPr>
              <a:t>FFFF</a:t>
            </a:r>
            <a:endParaRPr sz="1000">
              <a:latin typeface="Arial MT"/>
              <a:cs typeface="Arial MT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5995987" y="4224337"/>
          <a:ext cx="1047750" cy="2222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08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5595302" y="4191635"/>
            <a:ext cx="30861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 MT"/>
                <a:cs typeface="Arial MT"/>
              </a:rPr>
              <a:t>00</a:t>
            </a:r>
            <a:r>
              <a:rPr sz="1000" spc="-5" dirty="0">
                <a:latin typeface="Arial MT"/>
                <a:cs typeface="Arial MT"/>
              </a:rPr>
              <a:t>0</a:t>
            </a:r>
            <a:r>
              <a:rPr sz="1000" dirty="0">
                <a:latin typeface="Arial MT"/>
                <a:cs typeface="Arial MT"/>
              </a:rPr>
              <a:t>0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595302" y="4712612"/>
            <a:ext cx="323215" cy="50800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1000" spc="-5" dirty="0">
                <a:latin typeface="Arial MT"/>
                <a:cs typeface="Arial MT"/>
              </a:rPr>
              <a:t>2400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000" dirty="0">
                <a:latin typeface="Arial MT"/>
                <a:cs typeface="Arial MT"/>
              </a:rPr>
              <a:t>27FF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595302" y="6286999"/>
            <a:ext cx="33655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 MT"/>
                <a:cs typeface="Arial MT"/>
              </a:rPr>
              <a:t>FFFF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801649" y="3933697"/>
            <a:ext cx="292671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538095" algn="l"/>
              </a:tabLst>
            </a:pPr>
            <a:r>
              <a:rPr sz="1400" spc="-10" dirty="0">
                <a:latin typeface="Arial MT"/>
                <a:cs typeface="Arial MT"/>
              </a:rPr>
              <a:t>B</a:t>
            </a:r>
            <a:r>
              <a:rPr sz="1400" spc="-5" dirty="0">
                <a:latin typeface="Arial MT"/>
                <a:cs typeface="Arial MT"/>
              </a:rPr>
              <a:t>efore</a:t>
            </a:r>
            <a:r>
              <a:rPr sz="1400" dirty="0">
                <a:latin typeface="Arial MT"/>
                <a:cs typeface="Arial MT"/>
              </a:rPr>
              <a:t>	</a:t>
            </a:r>
            <a:r>
              <a:rPr sz="1400" spc="-10" dirty="0">
                <a:latin typeface="Arial MT"/>
                <a:cs typeface="Arial MT"/>
              </a:rPr>
              <a:t>A</a:t>
            </a:r>
            <a:r>
              <a:rPr sz="1400" spc="-5" dirty="0">
                <a:latin typeface="Arial MT"/>
                <a:cs typeface="Arial MT"/>
              </a:rPr>
              <a:t>fter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6350" y="0"/>
            <a:ext cx="9156700" cy="6870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515938" cy="68579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96240" y="742378"/>
            <a:ext cx="833374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80" dirty="0">
                <a:solidFill>
                  <a:srgbClr val="FFFFCC"/>
                </a:solidFill>
                <a:latin typeface="Arial MT"/>
                <a:cs typeface="Arial MT"/>
              </a:rPr>
              <a:t>Hi</a:t>
            </a:r>
            <a:r>
              <a:rPr spc="-445" dirty="0">
                <a:solidFill>
                  <a:srgbClr val="FFFFCC"/>
                </a:solidFill>
                <a:latin typeface="Arial MT"/>
                <a:cs typeface="Arial MT"/>
              </a:rPr>
              <a:t>gh</a:t>
            </a:r>
            <a:r>
              <a:rPr spc="-265" dirty="0">
                <a:solidFill>
                  <a:srgbClr val="FFFFCC"/>
                </a:solidFill>
                <a:latin typeface="Arial MT"/>
                <a:cs typeface="Arial MT"/>
              </a:rPr>
              <a:t>-</a:t>
            </a:r>
            <a:r>
              <a:rPr spc="-409" dirty="0">
                <a:solidFill>
                  <a:srgbClr val="FFFFCC"/>
                </a:solidFill>
                <a:latin typeface="Arial MT"/>
                <a:cs typeface="Arial MT"/>
              </a:rPr>
              <a:t>Order</a:t>
            </a:r>
            <a:r>
              <a:rPr spc="-200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400" dirty="0">
                <a:solidFill>
                  <a:srgbClr val="FFFFCC"/>
                </a:solidFill>
                <a:latin typeface="Arial MT"/>
                <a:cs typeface="Arial MT"/>
              </a:rPr>
              <a:t>vs</a:t>
            </a:r>
            <a:r>
              <a:rPr spc="-220" dirty="0">
                <a:solidFill>
                  <a:srgbClr val="FFFFCC"/>
                </a:solidFill>
                <a:latin typeface="Arial MT"/>
                <a:cs typeface="Arial MT"/>
              </a:rPr>
              <a:t>.</a:t>
            </a:r>
            <a:r>
              <a:rPr spc="-240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434" dirty="0">
                <a:solidFill>
                  <a:srgbClr val="FFFFCC"/>
                </a:solidFill>
                <a:latin typeface="Arial MT"/>
                <a:cs typeface="Arial MT"/>
              </a:rPr>
              <a:t>Low-</a:t>
            </a:r>
            <a:r>
              <a:rPr spc="-445" dirty="0">
                <a:solidFill>
                  <a:srgbClr val="FFFFCC"/>
                </a:solidFill>
                <a:latin typeface="Arial MT"/>
                <a:cs typeface="Arial MT"/>
              </a:rPr>
              <a:t>Orde</a:t>
            </a:r>
            <a:r>
              <a:rPr spc="-265" dirty="0">
                <a:solidFill>
                  <a:srgbClr val="FFFFCC"/>
                </a:solidFill>
                <a:latin typeface="Arial MT"/>
                <a:cs typeface="Arial MT"/>
              </a:rPr>
              <a:t>r</a:t>
            </a:r>
            <a:r>
              <a:rPr spc="-200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420" dirty="0">
                <a:solidFill>
                  <a:srgbClr val="FFFFCC"/>
                </a:solidFill>
                <a:latin typeface="Arial MT"/>
                <a:cs typeface="Arial MT"/>
              </a:rPr>
              <a:t>Address</a:t>
            </a:r>
            <a:r>
              <a:rPr spc="-204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310" dirty="0">
                <a:solidFill>
                  <a:srgbClr val="FFFFCC"/>
                </a:solidFill>
                <a:latin typeface="Arial MT"/>
                <a:cs typeface="Arial MT"/>
              </a:rPr>
              <a:t>Li</a:t>
            </a:r>
            <a:r>
              <a:rPr spc="-430" dirty="0">
                <a:solidFill>
                  <a:srgbClr val="FFFFCC"/>
                </a:solidFill>
                <a:latin typeface="Arial MT"/>
                <a:cs typeface="Arial MT"/>
              </a:rPr>
              <a:t>nes</a:t>
            </a: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7239" y="2148840"/>
            <a:ext cx="215645" cy="22783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33677" y="3109722"/>
            <a:ext cx="177545" cy="18668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33677" y="3981450"/>
            <a:ext cx="177545" cy="18668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33677" y="5255514"/>
            <a:ext cx="177545" cy="18668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07439" y="1956307"/>
            <a:ext cx="7162800" cy="395224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0"/>
              </a:spcBef>
            </a:pPr>
            <a:r>
              <a:rPr sz="3200" spc="-335" dirty="0">
                <a:solidFill>
                  <a:srgbClr val="EBEBEB"/>
                </a:solidFill>
                <a:latin typeface="Arial MT"/>
                <a:cs typeface="Arial MT"/>
              </a:rPr>
              <a:t>The</a:t>
            </a:r>
            <a:r>
              <a:rPr sz="3200" spc="-16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3200" spc="-295" dirty="0">
                <a:solidFill>
                  <a:srgbClr val="EBEBEB"/>
                </a:solidFill>
                <a:latin typeface="Arial MT"/>
                <a:cs typeface="Arial MT"/>
              </a:rPr>
              <a:t>address</a:t>
            </a:r>
            <a:r>
              <a:rPr sz="32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3200" spc="-240" dirty="0">
                <a:solidFill>
                  <a:srgbClr val="EBEBEB"/>
                </a:solidFill>
                <a:latin typeface="Arial MT"/>
                <a:cs typeface="Arial MT"/>
              </a:rPr>
              <a:t>lines</a:t>
            </a:r>
            <a:r>
              <a:rPr sz="32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3200" spc="-295" dirty="0">
                <a:solidFill>
                  <a:srgbClr val="EBEBEB"/>
                </a:solidFill>
                <a:latin typeface="Arial MT"/>
                <a:cs typeface="Arial MT"/>
              </a:rPr>
              <a:t>from</a:t>
            </a:r>
            <a:r>
              <a:rPr sz="3200" spc="-16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3200" spc="-325" dirty="0">
                <a:solidFill>
                  <a:srgbClr val="EBEBEB"/>
                </a:solidFill>
                <a:latin typeface="Arial MT"/>
                <a:cs typeface="Arial MT"/>
              </a:rPr>
              <a:t>a</a:t>
            </a:r>
            <a:r>
              <a:rPr sz="3200" spc="-15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3200" spc="-285" dirty="0">
                <a:solidFill>
                  <a:srgbClr val="EBEBEB"/>
                </a:solidFill>
                <a:latin typeface="Arial MT"/>
                <a:cs typeface="Arial MT"/>
              </a:rPr>
              <a:t>microprocessor</a:t>
            </a:r>
            <a:r>
              <a:rPr sz="32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3200" spc="-315" dirty="0">
                <a:solidFill>
                  <a:srgbClr val="EBEBEB"/>
                </a:solidFill>
                <a:latin typeface="Arial MT"/>
                <a:cs typeface="Arial MT"/>
              </a:rPr>
              <a:t>can</a:t>
            </a:r>
            <a:r>
              <a:rPr sz="3200" spc="-16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3200" spc="-325" dirty="0">
                <a:solidFill>
                  <a:srgbClr val="EBEBEB"/>
                </a:solidFill>
                <a:latin typeface="Arial MT"/>
                <a:cs typeface="Arial MT"/>
              </a:rPr>
              <a:t>be </a:t>
            </a:r>
            <a:r>
              <a:rPr sz="3200" spc="-87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3200" spc="-229" dirty="0">
                <a:solidFill>
                  <a:srgbClr val="EBEBEB"/>
                </a:solidFill>
                <a:latin typeface="Arial MT"/>
                <a:cs typeface="Arial MT"/>
              </a:rPr>
              <a:t>classif</a:t>
            </a:r>
            <a:r>
              <a:rPr sz="3200" spc="-260" dirty="0">
                <a:solidFill>
                  <a:srgbClr val="EBEBEB"/>
                </a:solidFill>
                <a:latin typeface="Arial MT"/>
                <a:cs typeface="Arial MT"/>
              </a:rPr>
              <a:t>ied</a:t>
            </a:r>
            <a:r>
              <a:rPr sz="3200" spc="-15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3200" spc="-235" dirty="0">
                <a:solidFill>
                  <a:srgbClr val="EBEBEB"/>
                </a:solidFill>
                <a:latin typeface="Arial MT"/>
                <a:cs typeface="Arial MT"/>
              </a:rPr>
              <a:t>into</a:t>
            </a:r>
            <a:r>
              <a:rPr sz="3200" spc="-160" dirty="0">
                <a:solidFill>
                  <a:srgbClr val="EBEBEB"/>
                </a:solidFill>
                <a:latin typeface="Arial MT"/>
                <a:cs typeface="Arial MT"/>
              </a:rPr>
              <a:t> t</a:t>
            </a:r>
            <a:r>
              <a:rPr sz="3200" spc="-425" dirty="0">
                <a:solidFill>
                  <a:srgbClr val="EBEBEB"/>
                </a:solidFill>
                <a:latin typeface="Arial MT"/>
                <a:cs typeface="Arial MT"/>
              </a:rPr>
              <a:t>w</a:t>
            </a:r>
            <a:r>
              <a:rPr sz="3200" spc="-325" dirty="0">
                <a:solidFill>
                  <a:srgbClr val="EBEBEB"/>
                </a:solidFill>
                <a:latin typeface="Arial MT"/>
                <a:cs typeface="Arial MT"/>
              </a:rPr>
              <a:t>o</a:t>
            </a:r>
            <a:r>
              <a:rPr sz="3200" spc="-160" dirty="0">
                <a:solidFill>
                  <a:srgbClr val="EBEBEB"/>
                </a:solidFill>
                <a:latin typeface="Arial MT"/>
                <a:cs typeface="Arial MT"/>
              </a:rPr>
              <a:t> t</a:t>
            </a:r>
            <a:r>
              <a:rPr sz="3200" spc="-305" dirty="0">
                <a:solidFill>
                  <a:srgbClr val="EBEBEB"/>
                </a:solidFill>
                <a:latin typeface="Arial MT"/>
                <a:cs typeface="Arial MT"/>
              </a:rPr>
              <a:t>ypes</a:t>
            </a:r>
            <a:r>
              <a:rPr sz="3200" spc="-160" dirty="0">
                <a:solidFill>
                  <a:srgbClr val="EBEBEB"/>
                </a:solidFill>
                <a:latin typeface="Arial MT"/>
                <a:cs typeface="Arial MT"/>
              </a:rPr>
              <a:t>:</a:t>
            </a:r>
            <a:endParaRPr sz="3200">
              <a:latin typeface="Arial MT"/>
              <a:cs typeface="Arial MT"/>
            </a:endParaRPr>
          </a:p>
          <a:p>
            <a:pPr marL="412750">
              <a:lnSpc>
                <a:spcPct val="100000"/>
              </a:lnSpc>
              <a:spcBef>
                <a:spcPts val="290"/>
              </a:spcBef>
            </a:pPr>
            <a:r>
              <a:rPr sz="2800" spc="-254" dirty="0">
                <a:solidFill>
                  <a:srgbClr val="EBEBEB"/>
                </a:solidFill>
                <a:latin typeface="Arial MT"/>
                <a:cs typeface="Arial MT"/>
              </a:rPr>
              <a:t>High-Order</a:t>
            </a:r>
            <a:endParaRPr sz="2800">
              <a:latin typeface="Arial MT"/>
              <a:cs typeface="Arial MT"/>
            </a:endParaRPr>
          </a:p>
          <a:p>
            <a:pPr marL="812800" indent="-229235">
              <a:lnSpc>
                <a:spcPct val="100000"/>
              </a:lnSpc>
              <a:spcBef>
                <a:spcPts val="295"/>
              </a:spcBef>
              <a:buClr>
                <a:srgbClr val="CCFFCC"/>
              </a:buClr>
              <a:buSzPct val="60416"/>
              <a:buFont typeface="Wingdings"/>
              <a:buChar char=""/>
              <a:tabLst>
                <a:tab pos="812800" algn="l"/>
              </a:tabLst>
            </a:pPr>
            <a:r>
              <a:rPr sz="2400" spc="-315" dirty="0">
                <a:solidFill>
                  <a:srgbClr val="EBEBEB"/>
                </a:solidFill>
                <a:latin typeface="Arial MT"/>
                <a:cs typeface="Arial MT"/>
              </a:rPr>
              <a:t>U</a:t>
            </a:r>
            <a:r>
              <a:rPr sz="2400" spc="-220" dirty="0">
                <a:solidFill>
                  <a:srgbClr val="EBEBEB"/>
                </a:solidFill>
                <a:latin typeface="Arial MT"/>
                <a:cs typeface="Arial MT"/>
              </a:rPr>
              <a:t>s</a:t>
            </a:r>
            <a:r>
              <a:rPr sz="2400" spc="-250" dirty="0">
                <a:solidFill>
                  <a:srgbClr val="EBEBEB"/>
                </a:solidFill>
                <a:latin typeface="Arial MT"/>
                <a:cs typeface="Arial MT"/>
              </a:rPr>
              <a:t>e</a:t>
            </a:r>
            <a:r>
              <a:rPr sz="2400" spc="-245" dirty="0">
                <a:solidFill>
                  <a:srgbClr val="EBEBEB"/>
                </a:solidFill>
                <a:latin typeface="Arial MT"/>
                <a:cs typeface="Arial MT"/>
              </a:rPr>
              <a:t>d</a:t>
            </a:r>
            <a:r>
              <a:rPr sz="2400" spc="-11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400" spc="-120" dirty="0">
                <a:solidFill>
                  <a:srgbClr val="EBEBEB"/>
                </a:solidFill>
                <a:latin typeface="Arial MT"/>
                <a:cs typeface="Arial MT"/>
              </a:rPr>
              <a:t>f</a:t>
            </a:r>
            <a:r>
              <a:rPr sz="2400" spc="-250" dirty="0">
                <a:solidFill>
                  <a:srgbClr val="EBEBEB"/>
                </a:solidFill>
                <a:latin typeface="Arial MT"/>
                <a:cs typeface="Arial MT"/>
              </a:rPr>
              <a:t>o</a:t>
            </a:r>
            <a:r>
              <a:rPr sz="2400" spc="-145" dirty="0">
                <a:solidFill>
                  <a:srgbClr val="EBEBEB"/>
                </a:solidFill>
                <a:latin typeface="Arial MT"/>
                <a:cs typeface="Arial MT"/>
              </a:rPr>
              <a:t>r</a:t>
            </a:r>
            <a:r>
              <a:rPr sz="2400" spc="-114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400" spc="-275" dirty="0">
                <a:solidFill>
                  <a:srgbClr val="EBEBEB"/>
                </a:solidFill>
                <a:latin typeface="Arial MT"/>
                <a:cs typeface="Arial MT"/>
              </a:rPr>
              <a:t>memor</a:t>
            </a:r>
            <a:r>
              <a:rPr sz="2400" spc="-220" dirty="0">
                <a:solidFill>
                  <a:srgbClr val="EBEBEB"/>
                </a:solidFill>
                <a:latin typeface="Arial MT"/>
                <a:cs typeface="Arial MT"/>
              </a:rPr>
              <a:t>y</a:t>
            </a:r>
            <a:r>
              <a:rPr sz="2400" spc="-10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400" spc="-220" dirty="0">
                <a:solidFill>
                  <a:srgbClr val="EBEBEB"/>
                </a:solidFill>
                <a:latin typeface="Arial MT"/>
                <a:cs typeface="Arial MT"/>
              </a:rPr>
              <a:t>c</a:t>
            </a:r>
            <a:r>
              <a:rPr sz="2400" spc="-250" dirty="0">
                <a:solidFill>
                  <a:srgbClr val="EBEBEB"/>
                </a:solidFill>
                <a:latin typeface="Arial MT"/>
                <a:cs typeface="Arial MT"/>
              </a:rPr>
              <a:t>h</a:t>
            </a:r>
            <a:r>
              <a:rPr sz="2400" spc="-100" dirty="0">
                <a:solidFill>
                  <a:srgbClr val="EBEBEB"/>
                </a:solidFill>
                <a:latin typeface="Arial MT"/>
                <a:cs typeface="Arial MT"/>
              </a:rPr>
              <a:t>i</a:t>
            </a:r>
            <a:r>
              <a:rPr sz="2400" spc="-245" dirty="0">
                <a:solidFill>
                  <a:srgbClr val="EBEBEB"/>
                </a:solidFill>
                <a:latin typeface="Arial MT"/>
                <a:cs typeface="Arial MT"/>
              </a:rPr>
              <a:t>p</a:t>
            </a:r>
            <a:r>
              <a:rPr sz="2400" spc="-11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400" spc="-220" dirty="0">
                <a:solidFill>
                  <a:srgbClr val="EBEBEB"/>
                </a:solidFill>
                <a:latin typeface="Arial MT"/>
                <a:cs typeface="Arial MT"/>
              </a:rPr>
              <a:t>s</a:t>
            </a:r>
            <a:r>
              <a:rPr sz="2400" spc="-250" dirty="0">
                <a:solidFill>
                  <a:srgbClr val="EBEBEB"/>
                </a:solidFill>
                <a:latin typeface="Arial MT"/>
                <a:cs typeface="Arial MT"/>
              </a:rPr>
              <a:t>e</a:t>
            </a:r>
            <a:r>
              <a:rPr sz="2400" spc="-100" dirty="0">
                <a:solidFill>
                  <a:srgbClr val="EBEBEB"/>
                </a:solidFill>
                <a:latin typeface="Arial MT"/>
                <a:cs typeface="Arial MT"/>
              </a:rPr>
              <a:t>l</a:t>
            </a:r>
            <a:r>
              <a:rPr sz="2400" spc="-250" dirty="0">
                <a:solidFill>
                  <a:srgbClr val="EBEBEB"/>
                </a:solidFill>
                <a:latin typeface="Arial MT"/>
                <a:cs typeface="Arial MT"/>
              </a:rPr>
              <a:t>e</a:t>
            </a:r>
            <a:r>
              <a:rPr sz="2400" spc="-220" dirty="0">
                <a:solidFill>
                  <a:srgbClr val="EBEBEB"/>
                </a:solidFill>
                <a:latin typeface="Arial MT"/>
                <a:cs typeface="Arial MT"/>
              </a:rPr>
              <a:t>c</a:t>
            </a:r>
            <a:r>
              <a:rPr sz="2400" spc="-130" dirty="0">
                <a:solidFill>
                  <a:srgbClr val="EBEBEB"/>
                </a:solidFill>
                <a:latin typeface="Arial MT"/>
                <a:cs typeface="Arial MT"/>
              </a:rPr>
              <a:t>t</a:t>
            </a:r>
            <a:r>
              <a:rPr sz="2400" spc="-95" dirty="0">
                <a:solidFill>
                  <a:srgbClr val="EBEBEB"/>
                </a:solidFill>
                <a:latin typeface="Arial MT"/>
                <a:cs typeface="Arial MT"/>
              </a:rPr>
              <a:t>i</a:t>
            </a:r>
            <a:r>
              <a:rPr sz="2400" spc="-245" dirty="0">
                <a:solidFill>
                  <a:srgbClr val="EBEBEB"/>
                </a:solidFill>
                <a:latin typeface="Arial MT"/>
                <a:cs typeface="Arial MT"/>
              </a:rPr>
              <a:t>on</a:t>
            </a:r>
            <a:endParaRPr sz="2400">
              <a:latin typeface="Arial MT"/>
              <a:cs typeface="Arial MT"/>
            </a:endParaRPr>
          </a:p>
          <a:p>
            <a:pPr marL="412750">
              <a:lnSpc>
                <a:spcPct val="100000"/>
              </a:lnSpc>
              <a:spcBef>
                <a:spcPts val="330"/>
              </a:spcBef>
            </a:pPr>
            <a:r>
              <a:rPr sz="2800" spc="-270" dirty="0">
                <a:solidFill>
                  <a:srgbClr val="EBEBEB"/>
                </a:solidFill>
                <a:latin typeface="Arial MT"/>
                <a:cs typeface="Arial MT"/>
              </a:rPr>
              <a:t>Low-Order</a:t>
            </a:r>
            <a:endParaRPr sz="2800">
              <a:latin typeface="Arial MT"/>
              <a:cs typeface="Arial MT"/>
            </a:endParaRPr>
          </a:p>
          <a:p>
            <a:pPr marL="812800" indent="-229235">
              <a:lnSpc>
                <a:spcPct val="100000"/>
              </a:lnSpc>
              <a:spcBef>
                <a:spcPts val="295"/>
              </a:spcBef>
              <a:buClr>
                <a:srgbClr val="CCFFCC"/>
              </a:buClr>
              <a:buSzPct val="60416"/>
              <a:buFont typeface="Wingdings"/>
              <a:buChar char=""/>
              <a:tabLst>
                <a:tab pos="812800" algn="l"/>
              </a:tabLst>
            </a:pPr>
            <a:r>
              <a:rPr sz="2400" spc="-254" dirty="0">
                <a:solidFill>
                  <a:srgbClr val="EBEBEB"/>
                </a:solidFill>
                <a:latin typeface="Arial MT"/>
                <a:cs typeface="Arial MT"/>
              </a:rPr>
              <a:t>Used</a:t>
            </a:r>
            <a:r>
              <a:rPr sz="2400" spc="-11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400" spc="-170" dirty="0">
                <a:solidFill>
                  <a:srgbClr val="EBEBEB"/>
                </a:solidFill>
                <a:latin typeface="Arial MT"/>
                <a:cs typeface="Arial MT"/>
              </a:rPr>
              <a:t>for</a:t>
            </a:r>
            <a:r>
              <a:rPr sz="2400" spc="-11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400" spc="-190" dirty="0">
                <a:solidFill>
                  <a:srgbClr val="EBEBEB"/>
                </a:solidFill>
                <a:latin typeface="Arial MT"/>
                <a:cs typeface="Arial MT"/>
              </a:rPr>
              <a:t>location</a:t>
            </a:r>
            <a:r>
              <a:rPr sz="2400" spc="-9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400" spc="-195" dirty="0">
                <a:solidFill>
                  <a:srgbClr val="EBEBEB"/>
                </a:solidFill>
                <a:latin typeface="Arial MT"/>
                <a:cs typeface="Arial MT"/>
              </a:rPr>
              <a:t>selection</a:t>
            </a:r>
            <a:r>
              <a:rPr sz="2400" spc="-9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400" spc="-190" dirty="0">
                <a:solidFill>
                  <a:srgbClr val="EBEBEB"/>
                </a:solidFill>
                <a:latin typeface="Arial MT"/>
                <a:cs typeface="Arial MT"/>
              </a:rPr>
              <a:t>within</a:t>
            </a:r>
            <a:r>
              <a:rPr sz="2400" spc="-9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400" spc="-245" dirty="0">
                <a:solidFill>
                  <a:srgbClr val="EBEBEB"/>
                </a:solidFill>
                <a:latin typeface="Arial MT"/>
                <a:cs typeface="Arial MT"/>
              </a:rPr>
              <a:t>a</a:t>
            </a:r>
            <a:r>
              <a:rPr sz="2400" spc="-114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400" spc="-265" dirty="0">
                <a:solidFill>
                  <a:srgbClr val="EBEBEB"/>
                </a:solidFill>
                <a:latin typeface="Arial MT"/>
                <a:cs typeface="Arial MT"/>
              </a:rPr>
              <a:t>memory</a:t>
            </a:r>
            <a:r>
              <a:rPr sz="2400" spc="-10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400" spc="-190" dirty="0">
                <a:solidFill>
                  <a:srgbClr val="EBEBEB"/>
                </a:solidFill>
                <a:latin typeface="Arial MT"/>
                <a:cs typeface="Arial MT"/>
              </a:rPr>
              <a:t>chip.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350">
              <a:latin typeface="Arial MT"/>
              <a:cs typeface="Arial MT"/>
            </a:endParaRPr>
          </a:p>
          <a:p>
            <a:pPr marL="412750" marR="973455">
              <a:lnSpc>
                <a:spcPts val="3020"/>
              </a:lnSpc>
            </a:pPr>
            <a:r>
              <a:rPr sz="2800" spc="-240" dirty="0">
                <a:solidFill>
                  <a:srgbClr val="EBEBEB"/>
                </a:solidFill>
                <a:latin typeface="Arial MT"/>
                <a:cs typeface="Arial MT"/>
              </a:rPr>
              <a:t>This</a:t>
            </a:r>
            <a:r>
              <a:rPr sz="2800" spc="-15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54" dirty="0">
                <a:solidFill>
                  <a:srgbClr val="EBEBEB"/>
                </a:solidFill>
                <a:latin typeface="Arial MT"/>
                <a:cs typeface="Arial MT"/>
              </a:rPr>
              <a:t>c</a:t>
            </a:r>
            <a:r>
              <a:rPr sz="2800" spc="-215" dirty="0">
                <a:solidFill>
                  <a:srgbClr val="EBEBEB"/>
                </a:solidFill>
                <a:latin typeface="Arial MT"/>
                <a:cs typeface="Arial MT"/>
              </a:rPr>
              <a:t>las</a:t>
            </a:r>
            <a:r>
              <a:rPr sz="2800" spc="-185" dirty="0">
                <a:solidFill>
                  <a:srgbClr val="EBEBEB"/>
                </a:solidFill>
                <a:latin typeface="Arial MT"/>
                <a:cs typeface="Arial MT"/>
              </a:rPr>
              <a:t>si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f</a:t>
            </a:r>
            <a:r>
              <a:rPr sz="2800" spc="-185" dirty="0">
                <a:solidFill>
                  <a:srgbClr val="EBEBEB"/>
                </a:solidFill>
                <a:latin typeface="Arial MT"/>
                <a:cs typeface="Arial MT"/>
              </a:rPr>
              <a:t>ic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a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t</a:t>
            </a:r>
            <a:r>
              <a:rPr sz="2800" spc="-225" dirty="0">
                <a:solidFill>
                  <a:srgbClr val="EBEBEB"/>
                </a:solidFill>
                <a:latin typeface="Arial MT"/>
                <a:cs typeface="Arial MT"/>
              </a:rPr>
              <a:t>ion</a:t>
            </a:r>
            <a:r>
              <a:rPr sz="2800" spc="-15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185" dirty="0">
                <a:solidFill>
                  <a:srgbClr val="EBEBEB"/>
                </a:solidFill>
                <a:latin typeface="Arial MT"/>
                <a:cs typeface="Arial MT"/>
              </a:rPr>
              <a:t>is</a:t>
            </a:r>
            <a:r>
              <a:rPr sz="2800" spc="-13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20" dirty="0">
                <a:solidFill>
                  <a:srgbClr val="EBEBEB"/>
                </a:solidFill>
                <a:latin typeface="Arial MT"/>
                <a:cs typeface="Arial MT"/>
              </a:rPr>
              <a:t>highly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65" dirty="0">
                <a:solidFill>
                  <a:srgbClr val="EBEBEB"/>
                </a:solidFill>
                <a:latin typeface="Arial MT"/>
                <a:cs typeface="Arial MT"/>
              </a:rPr>
              <a:t>dependent</a:t>
            </a:r>
            <a:r>
              <a:rPr sz="2800" spc="-17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on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 t</a:t>
            </a:r>
            <a:r>
              <a:rPr sz="2800" spc="-280" dirty="0">
                <a:solidFill>
                  <a:srgbClr val="EBEBEB"/>
                </a:solidFill>
                <a:latin typeface="Arial MT"/>
                <a:cs typeface="Arial MT"/>
              </a:rPr>
              <a:t>he  memo</a:t>
            </a:r>
            <a:r>
              <a:rPr sz="2800" spc="-175" dirty="0">
                <a:solidFill>
                  <a:srgbClr val="EBEBEB"/>
                </a:solidFill>
                <a:latin typeface="Arial MT"/>
                <a:cs typeface="Arial MT"/>
              </a:rPr>
              <a:t>r</a:t>
            </a:r>
            <a:r>
              <a:rPr sz="2800" spc="-254" dirty="0">
                <a:solidFill>
                  <a:srgbClr val="EBEBEB"/>
                </a:solidFill>
                <a:latin typeface="Arial MT"/>
                <a:cs typeface="Arial MT"/>
              </a:rPr>
              <a:t>y</a:t>
            </a:r>
            <a:r>
              <a:rPr sz="2800" spc="-15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54" dirty="0">
                <a:solidFill>
                  <a:srgbClr val="EBEBEB"/>
                </a:solidFill>
                <a:latin typeface="Arial MT"/>
                <a:cs typeface="Arial MT"/>
              </a:rPr>
              <a:t>sys</a:t>
            </a:r>
            <a:r>
              <a:rPr sz="2800" spc="-145" dirty="0">
                <a:solidFill>
                  <a:srgbClr val="EBEBEB"/>
                </a:solidFill>
                <a:latin typeface="Arial MT"/>
                <a:cs typeface="Arial MT"/>
              </a:rPr>
              <a:t>t</a:t>
            </a:r>
            <a:r>
              <a:rPr sz="2800" spc="-350" dirty="0">
                <a:solidFill>
                  <a:srgbClr val="EBEBEB"/>
                </a:solidFill>
                <a:latin typeface="Arial MT"/>
                <a:cs typeface="Arial MT"/>
              </a:rPr>
              <a:t>em</a:t>
            </a:r>
            <a:r>
              <a:rPr sz="2800" spc="-15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800" spc="-235" dirty="0">
                <a:solidFill>
                  <a:srgbClr val="EBEBEB"/>
                </a:solidFill>
                <a:latin typeface="Arial MT"/>
                <a:cs typeface="Arial MT"/>
              </a:rPr>
              <a:t>design.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r>
              <a:rPr spc="-5" dirty="0"/>
              <a:t>30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6350" y="0"/>
            <a:ext cx="9156700" cy="6870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515938" cy="68579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64540" y="1010665"/>
            <a:ext cx="221615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20" dirty="0">
                <a:solidFill>
                  <a:srgbClr val="FFFFCC"/>
                </a:solidFill>
                <a:latin typeface="Arial MT"/>
                <a:cs typeface="Arial MT"/>
              </a:rPr>
              <a:t>Data</a:t>
            </a:r>
            <a:r>
              <a:rPr spc="-220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310" dirty="0">
                <a:solidFill>
                  <a:srgbClr val="FFFFCC"/>
                </a:solidFill>
                <a:latin typeface="Arial MT"/>
                <a:cs typeface="Arial MT"/>
              </a:rPr>
              <a:t>Li</a:t>
            </a:r>
            <a:r>
              <a:rPr spc="-430" dirty="0">
                <a:solidFill>
                  <a:srgbClr val="FFFFCC"/>
                </a:solidFill>
                <a:latin typeface="Arial MT"/>
                <a:cs typeface="Arial MT"/>
              </a:rPr>
              <a:t>nes</a:t>
            </a: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7239" y="2135123"/>
            <a:ext cx="189738" cy="19888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7239" y="2988563"/>
            <a:ext cx="189738" cy="19888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34439" y="3824478"/>
            <a:ext cx="152400" cy="16002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34439" y="4555997"/>
            <a:ext cx="152400" cy="16002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07439" y="1963166"/>
            <a:ext cx="7242175" cy="459422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 marR="44450">
              <a:lnSpc>
                <a:spcPts val="3020"/>
              </a:lnSpc>
              <a:spcBef>
                <a:spcPts val="484"/>
              </a:spcBef>
            </a:pPr>
            <a:r>
              <a:rPr sz="2800" spc="-340" dirty="0">
                <a:latin typeface="Arial MT"/>
                <a:cs typeface="Arial MT"/>
              </a:rPr>
              <a:t>A</a:t>
            </a:r>
            <a:r>
              <a:rPr sz="2800" spc="-114" dirty="0">
                <a:latin typeface="Arial MT"/>
                <a:cs typeface="Arial MT"/>
              </a:rPr>
              <a:t>ll</a:t>
            </a:r>
            <a:r>
              <a:rPr sz="2800" spc="-140" dirty="0">
                <a:latin typeface="Arial MT"/>
                <a:cs typeface="Arial MT"/>
              </a:rPr>
              <a:t> </a:t>
            </a:r>
            <a:r>
              <a:rPr sz="2800" spc="-210" dirty="0">
                <a:latin typeface="Arial MT"/>
                <a:cs typeface="Arial MT"/>
              </a:rPr>
              <a:t>of</a:t>
            </a:r>
            <a:r>
              <a:rPr sz="2800" spc="-145" dirty="0">
                <a:latin typeface="Arial MT"/>
                <a:cs typeface="Arial MT"/>
              </a:rPr>
              <a:t> t</a:t>
            </a:r>
            <a:r>
              <a:rPr sz="2800" spc="-280" dirty="0">
                <a:latin typeface="Arial MT"/>
                <a:cs typeface="Arial MT"/>
              </a:rPr>
              <a:t>he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275" dirty="0">
                <a:latin typeface="Arial MT"/>
                <a:cs typeface="Arial MT"/>
              </a:rPr>
              <a:t>above</a:t>
            </a:r>
            <a:r>
              <a:rPr sz="2800" spc="-155" dirty="0">
                <a:latin typeface="Arial MT"/>
                <a:cs typeface="Arial MT"/>
              </a:rPr>
              <a:t> </a:t>
            </a:r>
            <a:r>
              <a:rPr sz="2800" spc="-215" dirty="0">
                <a:latin typeface="Arial MT"/>
                <a:cs typeface="Arial MT"/>
              </a:rPr>
              <a:t>dis</a:t>
            </a:r>
            <a:r>
              <a:rPr sz="2800" spc="-260" dirty="0">
                <a:latin typeface="Arial MT"/>
                <a:cs typeface="Arial MT"/>
              </a:rPr>
              <a:t>cuss</a:t>
            </a:r>
            <a:r>
              <a:rPr sz="2800" spc="-225" dirty="0">
                <a:latin typeface="Arial MT"/>
                <a:cs typeface="Arial MT"/>
              </a:rPr>
              <a:t>ion</a:t>
            </a:r>
            <a:r>
              <a:rPr sz="2800" spc="-155" dirty="0">
                <a:latin typeface="Arial MT"/>
                <a:cs typeface="Arial MT"/>
              </a:rPr>
              <a:t> </a:t>
            </a:r>
            <a:r>
              <a:rPr sz="2800" spc="-275" dirty="0">
                <a:latin typeface="Arial MT"/>
                <a:cs typeface="Arial MT"/>
              </a:rPr>
              <a:t>has</a:t>
            </a:r>
            <a:r>
              <a:rPr sz="2800" spc="-155" dirty="0">
                <a:latin typeface="Arial MT"/>
                <a:cs typeface="Arial MT"/>
              </a:rPr>
              <a:t> </a:t>
            </a:r>
            <a:r>
              <a:rPr sz="2800" spc="-280" dirty="0">
                <a:latin typeface="Arial MT"/>
                <a:cs typeface="Arial MT"/>
              </a:rPr>
              <a:t>been</a:t>
            </a:r>
            <a:r>
              <a:rPr sz="2800" spc="-150" dirty="0">
                <a:latin typeface="Arial MT"/>
                <a:cs typeface="Arial MT"/>
              </a:rPr>
              <a:t> </a:t>
            </a:r>
            <a:r>
              <a:rPr sz="2800" spc="-175" dirty="0">
                <a:latin typeface="Arial MT"/>
                <a:cs typeface="Arial MT"/>
              </a:rPr>
              <a:t>r</a:t>
            </a:r>
            <a:r>
              <a:rPr sz="2800" spc="-280" dirty="0">
                <a:latin typeface="Arial MT"/>
                <a:cs typeface="Arial MT"/>
              </a:rPr>
              <a:t>ega</a:t>
            </a:r>
            <a:r>
              <a:rPr sz="2800" spc="-175" dirty="0">
                <a:latin typeface="Arial MT"/>
                <a:cs typeface="Arial MT"/>
              </a:rPr>
              <a:t>r</a:t>
            </a:r>
            <a:r>
              <a:rPr sz="2800" spc="-240" dirty="0">
                <a:latin typeface="Arial MT"/>
                <a:cs typeface="Arial MT"/>
              </a:rPr>
              <a:t>ding</a:t>
            </a:r>
            <a:r>
              <a:rPr sz="2800" spc="-155" dirty="0">
                <a:latin typeface="Arial MT"/>
                <a:cs typeface="Arial MT"/>
              </a:rPr>
              <a:t> </a:t>
            </a:r>
            <a:r>
              <a:rPr sz="2800" spc="-350" dirty="0">
                <a:latin typeface="Arial MT"/>
                <a:cs typeface="Arial MT"/>
              </a:rPr>
              <a:t>memo</a:t>
            </a:r>
            <a:r>
              <a:rPr sz="2800" spc="-175" dirty="0">
                <a:latin typeface="Arial MT"/>
                <a:cs typeface="Arial MT"/>
              </a:rPr>
              <a:t>r</a:t>
            </a:r>
            <a:r>
              <a:rPr sz="2800" spc="-215" dirty="0">
                <a:latin typeface="Arial MT"/>
                <a:cs typeface="Arial MT"/>
              </a:rPr>
              <a:t>y  leng</a:t>
            </a:r>
            <a:r>
              <a:rPr sz="2800" spc="-145" dirty="0">
                <a:latin typeface="Arial MT"/>
                <a:cs typeface="Arial MT"/>
              </a:rPr>
              <a:t>t</a:t>
            </a:r>
            <a:r>
              <a:rPr sz="2800" spc="-210" dirty="0">
                <a:latin typeface="Arial MT"/>
                <a:cs typeface="Arial MT"/>
              </a:rPr>
              <a:t>h.</a:t>
            </a:r>
            <a:r>
              <a:rPr sz="2800" spc="-160" dirty="0">
                <a:latin typeface="Arial MT"/>
                <a:cs typeface="Arial MT"/>
              </a:rPr>
              <a:t> </a:t>
            </a:r>
            <a:r>
              <a:rPr sz="2800" spc="-280" dirty="0">
                <a:latin typeface="Arial MT"/>
                <a:cs typeface="Arial MT"/>
              </a:rPr>
              <a:t>Le</a:t>
            </a:r>
            <a:r>
              <a:rPr sz="2800" spc="-145" dirty="0">
                <a:latin typeface="Arial MT"/>
                <a:cs typeface="Arial MT"/>
              </a:rPr>
              <a:t>t</a:t>
            </a:r>
            <a:r>
              <a:rPr sz="2800" spc="-254" dirty="0">
                <a:latin typeface="Arial MT"/>
                <a:cs typeface="Arial MT"/>
              </a:rPr>
              <a:t>s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235" dirty="0">
                <a:latin typeface="Arial MT"/>
                <a:cs typeface="Arial MT"/>
              </a:rPr>
              <a:t>look</a:t>
            </a:r>
            <a:r>
              <a:rPr sz="2800" spc="-140" dirty="0">
                <a:latin typeface="Arial MT"/>
                <a:cs typeface="Arial MT"/>
              </a:rPr>
              <a:t> </a:t>
            </a:r>
            <a:r>
              <a:rPr sz="2800" spc="-210" dirty="0">
                <a:latin typeface="Arial MT"/>
                <a:cs typeface="Arial MT"/>
              </a:rPr>
              <a:t>at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350" dirty="0">
                <a:latin typeface="Arial MT"/>
                <a:cs typeface="Arial MT"/>
              </a:rPr>
              <a:t>memo</a:t>
            </a:r>
            <a:r>
              <a:rPr sz="2800" spc="-175" dirty="0">
                <a:latin typeface="Arial MT"/>
                <a:cs typeface="Arial MT"/>
              </a:rPr>
              <a:t>r</a:t>
            </a:r>
            <a:r>
              <a:rPr sz="2800" spc="-254" dirty="0">
                <a:latin typeface="Arial MT"/>
                <a:cs typeface="Arial MT"/>
              </a:rPr>
              <a:t>y</a:t>
            </a:r>
            <a:r>
              <a:rPr sz="2800" spc="-155" dirty="0">
                <a:latin typeface="Arial MT"/>
                <a:cs typeface="Arial MT"/>
              </a:rPr>
              <a:t> </a:t>
            </a:r>
            <a:r>
              <a:rPr sz="2800" spc="-370" dirty="0">
                <a:latin typeface="Arial MT"/>
                <a:cs typeface="Arial MT"/>
              </a:rPr>
              <a:t>w</a:t>
            </a:r>
            <a:r>
              <a:rPr sz="2800" spc="-200" dirty="0">
                <a:latin typeface="Arial MT"/>
                <a:cs typeface="Arial MT"/>
              </a:rPr>
              <a:t>id</a:t>
            </a:r>
            <a:r>
              <a:rPr sz="2800" spc="-145" dirty="0">
                <a:latin typeface="Arial MT"/>
                <a:cs typeface="Arial MT"/>
              </a:rPr>
              <a:t>t</a:t>
            </a:r>
            <a:r>
              <a:rPr sz="2800" spc="-210" dirty="0">
                <a:latin typeface="Arial MT"/>
                <a:cs typeface="Arial MT"/>
              </a:rPr>
              <a:t>h.</a:t>
            </a:r>
            <a:endParaRPr sz="2800">
              <a:latin typeface="Arial MT"/>
              <a:cs typeface="Arial MT"/>
            </a:endParaRPr>
          </a:p>
          <a:p>
            <a:pPr marL="12700" marR="628650">
              <a:lnSpc>
                <a:spcPts val="3020"/>
              </a:lnSpc>
              <a:spcBef>
                <a:spcPts val="680"/>
              </a:spcBef>
            </a:pPr>
            <a:r>
              <a:rPr sz="2800" spc="-380" dirty="0">
                <a:latin typeface="Arial MT"/>
                <a:cs typeface="Arial MT"/>
              </a:rPr>
              <a:t>We</a:t>
            </a:r>
            <a:r>
              <a:rPr sz="2800" spc="-155" dirty="0">
                <a:latin typeface="Arial MT"/>
                <a:cs typeface="Arial MT"/>
              </a:rPr>
              <a:t> </a:t>
            </a:r>
            <a:r>
              <a:rPr sz="2800" spc="-235" dirty="0">
                <a:latin typeface="Arial MT"/>
                <a:cs typeface="Arial MT"/>
              </a:rPr>
              <a:t>said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215" dirty="0">
                <a:latin typeface="Arial MT"/>
                <a:cs typeface="Arial MT"/>
              </a:rPr>
              <a:t>that</a:t>
            </a:r>
            <a:r>
              <a:rPr sz="2800" spc="-155" dirty="0">
                <a:latin typeface="Arial MT"/>
                <a:cs typeface="Arial MT"/>
              </a:rPr>
              <a:t> </a:t>
            </a:r>
            <a:r>
              <a:rPr sz="2800" spc="-235" dirty="0">
                <a:latin typeface="Arial MT"/>
                <a:cs typeface="Arial MT"/>
              </a:rPr>
              <a:t>the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240" dirty="0">
                <a:latin typeface="Arial MT"/>
                <a:cs typeface="Arial MT"/>
              </a:rPr>
              <a:t>width</a:t>
            </a:r>
            <a:r>
              <a:rPr sz="2800" spc="-140" dirty="0">
                <a:latin typeface="Arial MT"/>
                <a:cs typeface="Arial MT"/>
              </a:rPr>
              <a:t> </a:t>
            </a:r>
            <a:r>
              <a:rPr sz="2800" spc="-185" dirty="0">
                <a:latin typeface="Arial MT"/>
                <a:cs typeface="Arial MT"/>
              </a:rPr>
              <a:t>is</a:t>
            </a:r>
            <a:r>
              <a:rPr sz="2800" spc="-140" dirty="0">
                <a:latin typeface="Arial MT"/>
                <a:cs typeface="Arial MT"/>
              </a:rPr>
              <a:t> </a:t>
            </a:r>
            <a:r>
              <a:rPr sz="2800" spc="-235" dirty="0">
                <a:latin typeface="Arial MT"/>
                <a:cs typeface="Arial MT"/>
              </a:rPr>
              <a:t>the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285" dirty="0">
                <a:latin typeface="Arial MT"/>
                <a:cs typeface="Arial MT"/>
              </a:rPr>
              <a:t>number</a:t>
            </a:r>
            <a:r>
              <a:rPr sz="2800" spc="-160" dirty="0">
                <a:latin typeface="Arial MT"/>
                <a:cs typeface="Arial MT"/>
              </a:rPr>
              <a:t> </a:t>
            </a:r>
            <a:r>
              <a:rPr sz="2800" spc="-210" dirty="0">
                <a:latin typeface="Arial MT"/>
                <a:cs typeface="Arial MT"/>
              </a:rPr>
              <a:t>of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200" dirty="0">
                <a:latin typeface="Arial MT"/>
                <a:cs typeface="Arial MT"/>
              </a:rPr>
              <a:t>bits</a:t>
            </a:r>
            <a:r>
              <a:rPr sz="2800" spc="-140" dirty="0">
                <a:latin typeface="Arial MT"/>
                <a:cs typeface="Arial MT"/>
              </a:rPr>
              <a:t> </a:t>
            </a:r>
            <a:r>
              <a:rPr sz="2800" spc="-200" dirty="0">
                <a:latin typeface="Arial MT"/>
                <a:cs typeface="Arial MT"/>
              </a:rPr>
              <a:t>in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275" dirty="0">
                <a:latin typeface="Arial MT"/>
                <a:cs typeface="Arial MT"/>
              </a:rPr>
              <a:t>each </a:t>
            </a:r>
            <a:r>
              <a:rPr sz="2800" spc="-760" dirty="0">
                <a:latin typeface="Arial MT"/>
                <a:cs typeface="Arial MT"/>
              </a:rPr>
              <a:t> </a:t>
            </a:r>
            <a:r>
              <a:rPr sz="2800" spc="-350" dirty="0">
                <a:latin typeface="Arial MT"/>
                <a:cs typeface="Arial MT"/>
              </a:rPr>
              <a:t>memo</a:t>
            </a:r>
            <a:r>
              <a:rPr sz="2800" spc="-175" dirty="0">
                <a:latin typeface="Arial MT"/>
                <a:cs typeface="Arial MT"/>
              </a:rPr>
              <a:t>r</a:t>
            </a:r>
            <a:r>
              <a:rPr sz="2800" spc="-254" dirty="0">
                <a:latin typeface="Arial MT"/>
                <a:cs typeface="Arial MT"/>
              </a:rPr>
              <a:t>y</a:t>
            </a:r>
            <a:r>
              <a:rPr sz="2800" spc="-155" dirty="0">
                <a:latin typeface="Arial MT"/>
                <a:cs typeface="Arial MT"/>
              </a:rPr>
              <a:t> </a:t>
            </a:r>
            <a:r>
              <a:rPr sz="2800" spc="-370" dirty="0">
                <a:latin typeface="Arial MT"/>
                <a:cs typeface="Arial MT"/>
              </a:rPr>
              <a:t>w</a:t>
            </a:r>
            <a:r>
              <a:rPr sz="2800" spc="-280" dirty="0">
                <a:latin typeface="Arial MT"/>
                <a:cs typeface="Arial MT"/>
              </a:rPr>
              <a:t>o</a:t>
            </a:r>
            <a:r>
              <a:rPr sz="2800" spc="-175" dirty="0">
                <a:latin typeface="Arial MT"/>
                <a:cs typeface="Arial MT"/>
              </a:rPr>
              <a:t>r</a:t>
            </a:r>
            <a:r>
              <a:rPr sz="2800" spc="-210" dirty="0">
                <a:latin typeface="Arial MT"/>
                <a:cs typeface="Arial MT"/>
              </a:rPr>
              <a:t>d.</a:t>
            </a:r>
            <a:endParaRPr sz="2800">
              <a:latin typeface="Arial MT"/>
              <a:cs typeface="Arial MT"/>
            </a:endParaRPr>
          </a:p>
          <a:p>
            <a:pPr marL="412750" marR="203200">
              <a:lnSpc>
                <a:spcPts val="2590"/>
              </a:lnSpc>
              <a:spcBef>
                <a:spcPts val="585"/>
              </a:spcBef>
            </a:pPr>
            <a:r>
              <a:rPr sz="2400" spc="-409" dirty="0">
                <a:latin typeface="Arial MT"/>
                <a:cs typeface="Arial MT"/>
              </a:rPr>
              <a:t>W</a:t>
            </a:r>
            <a:r>
              <a:rPr sz="2400" spc="-245" dirty="0">
                <a:latin typeface="Arial MT"/>
                <a:cs typeface="Arial MT"/>
              </a:rPr>
              <a:t>e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spc="-250" dirty="0">
                <a:latin typeface="Arial MT"/>
                <a:cs typeface="Arial MT"/>
              </a:rPr>
              <a:t>ha</a:t>
            </a:r>
            <a:r>
              <a:rPr sz="2400" spc="-229" dirty="0">
                <a:latin typeface="Arial MT"/>
                <a:cs typeface="Arial MT"/>
              </a:rPr>
              <a:t>ve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250" dirty="0">
                <a:latin typeface="Arial MT"/>
                <a:cs typeface="Arial MT"/>
              </a:rPr>
              <a:t>be</a:t>
            </a:r>
            <a:r>
              <a:rPr sz="2400" spc="-245" dirty="0">
                <a:latin typeface="Arial MT"/>
                <a:cs typeface="Arial MT"/>
              </a:rPr>
              <a:t>en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250" dirty="0">
                <a:latin typeface="Arial MT"/>
                <a:cs typeface="Arial MT"/>
              </a:rPr>
              <a:t>a</a:t>
            </a:r>
            <a:r>
              <a:rPr sz="2400" spc="-220" dirty="0">
                <a:latin typeface="Arial MT"/>
                <a:cs typeface="Arial MT"/>
              </a:rPr>
              <a:t>ss</a:t>
            </a:r>
            <a:r>
              <a:rPr sz="2400" spc="-310" dirty="0">
                <a:latin typeface="Arial MT"/>
                <a:cs typeface="Arial MT"/>
              </a:rPr>
              <a:t>um</a:t>
            </a:r>
            <a:r>
              <a:rPr sz="2400" spc="-95" dirty="0">
                <a:latin typeface="Arial MT"/>
                <a:cs typeface="Arial MT"/>
              </a:rPr>
              <a:t>i</a:t>
            </a:r>
            <a:r>
              <a:rPr sz="2400" spc="-245" dirty="0">
                <a:latin typeface="Arial MT"/>
                <a:cs typeface="Arial MT"/>
              </a:rPr>
              <a:t>ng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229" dirty="0">
                <a:latin typeface="Arial MT"/>
                <a:cs typeface="Arial MT"/>
              </a:rPr>
              <a:t>so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190" dirty="0">
                <a:latin typeface="Arial MT"/>
                <a:cs typeface="Arial MT"/>
              </a:rPr>
              <a:t>fa</a:t>
            </a:r>
            <a:r>
              <a:rPr sz="2400" spc="-145" dirty="0">
                <a:latin typeface="Arial MT"/>
                <a:cs typeface="Arial MT"/>
              </a:rPr>
              <a:t>r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204" dirty="0">
                <a:latin typeface="Arial MT"/>
                <a:cs typeface="Arial MT"/>
              </a:rPr>
              <a:t>tha</a:t>
            </a:r>
            <a:r>
              <a:rPr sz="2400" spc="-120" dirty="0">
                <a:latin typeface="Arial MT"/>
                <a:cs typeface="Arial MT"/>
              </a:rPr>
              <a:t>t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250" dirty="0">
                <a:latin typeface="Arial MT"/>
                <a:cs typeface="Arial MT"/>
              </a:rPr>
              <a:t>ou</a:t>
            </a:r>
            <a:r>
              <a:rPr sz="2400" spc="-145" dirty="0">
                <a:latin typeface="Arial MT"/>
                <a:cs typeface="Arial MT"/>
              </a:rPr>
              <a:t>r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275" dirty="0">
                <a:latin typeface="Arial MT"/>
                <a:cs typeface="Arial MT"/>
              </a:rPr>
              <a:t>memor</a:t>
            </a:r>
            <a:r>
              <a:rPr sz="2400" spc="-220" dirty="0">
                <a:latin typeface="Arial MT"/>
                <a:cs typeface="Arial MT"/>
              </a:rPr>
              <a:t>y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220" dirty="0">
                <a:latin typeface="Arial MT"/>
                <a:cs typeface="Arial MT"/>
              </a:rPr>
              <a:t>c</a:t>
            </a:r>
            <a:r>
              <a:rPr sz="2400" spc="-250" dirty="0">
                <a:latin typeface="Arial MT"/>
                <a:cs typeface="Arial MT"/>
              </a:rPr>
              <a:t>h</a:t>
            </a:r>
            <a:r>
              <a:rPr sz="2400" spc="-100" dirty="0">
                <a:latin typeface="Arial MT"/>
                <a:cs typeface="Arial MT"/>
              </a:rPr>
              <a:t>i</a:t>
            </a:r>
            <a:r>
              <a:rPr sz="2400" spc="-250" dirty="0">
                <a:latin typeface="Arial MT"/>
                <a:cs typeface="Arial MT"/>
              </a:rPr>
              <a:t>p</a:t>
            </a:r>
            <a:r>
              <a:rPr sz="2400" spc="-220" dirty="0">
                <a:latin typeface="Arial MT"/>
                <a:cs typeface="Arial MT"/>
              </a:rPr>
              <a:t>s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250" dirty="0">
                <a:latin typeface="Arial MT"/>
                <a:cs typeface="Arial MT"/>
              </a:rPr>
              <a:t>ha</a:t>
            </a:r>
            <a:r>
              <a:rPr sz="2400" spc="-175" dirty="0">
                <a:latin typeface="Arial MT"/>
                <a:cs typeface="Arial MT"/>
              </a:rPr>
              <a:t>ve  </a:t>
            </a:r>
            <a:r>
              <a:rPr sz="2400" spc="-125" dirty="0">
                <a:latin typeface="Arial MT"/>
                <a:cs typeface="Arial MT"/>
              </a:rPr>
              <a:t>t</a:t>
            </a:r>
            <a:r>
              <a:rPr sz="2400" spc="-250" dirty="0">
                <a:latin typeface="Arial MT"/>
                <a:cs typeface="Arial MT"/>
              </a:rPr>
              <a:t>h</a:t>
            </a:r>
            <a:r>
              <a:rPr sz="2400" spc="-245" dirty="0">
                <a:latin typeface="Arial MT"/>
                <a:cs typeface="Arial MT"/>
              </a:rPr>
              <a:t>e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150" dirty="0">
                <a:latin typeface="Arial MT"/>
                <a:cs typeface="Arial MT"/>
              </a:rPr>
              <a:t>r</a:t>
            </a:r>
            <a:r>
              <a:rPr sz="2400" spc="-100" dirty="0">
                <a:latin typeface="Arial MT"/>
                <a:cs typeface="Arial MT"/>
              </a:rPr>
              <a:t>i</a:t>
            </a:r>
            <a:r>
              <a:rPr sz="2400" spc="-250" dirty="0">
                <a:latin typeface="Arial MT"/>
                <a:cs typeface="Arial MT"/>
              </a:rPr>
              <a:t>gh</a:t>
            </a:r>
            <a:r>
              <a:rPr sz="2400" spc="-120" dirty="0">
                <a:latin typeface="Arial MT"/>
                <a:cs typeface="Arial MT"/>
              </a:rPr>
              <a:t>t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204" dirty="0">
                <a:latin typeface="Arial MT"/>
                <a:cs typeface="Arial MT"/>
              </a:rPr>
              <a:t>wi</a:t>
            </a:r>
            <a:r>
              <a:rPr sz="2400" spc="-250" dirty="0">
                <a:latin typeface="Arial MT"/>
                <a:cs typeface="Arial MT"/>
              </a:rPr>
              <a:t>d</a:t>
            </a:r>
            <a:r>
              <a:rPr sz="2400" spc="-125" dirty="0">
                <a:latin typeface="Arial MT"/>
                <a:cs typeface="Arial MT"/>
              </a:rPr>
              <a:t>t</a:t>
            </a:r>
            <a:r>
              <a:rPr sz="2400" spc="-245" dirty="0">
                <a:latin typeface="Arial MT"/>
                <a:cs typeface="Arial MT"/>
              </a:rPr>
              <a:t>h</a:t>
            </a:r>
            <a:r>
              <a:rPr sz="2400" spc="-120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 marL="412750">
              <a:lnSpc>
                <a:spcPct val="100000"/>
              </a:lnSpc>
              <a:spcBef>
                <a:spcPts val="250"/>
              </a:spcBef>
            </a:pPr>
            <a:r>
              <a:rPr sz="2400" spc="-409" dirty="0">
                <a:latin typeface="Arial MT"/>
                <a:cs typeface="Arial MT"/>
              </a:rPr>
              <a:t>W</a:t>
            </a:r>
            <a:r>
              <a:rPr sz="2400" spc="-250" dirty="0">
                <a:latin typeface="Arial MT"/>
                <a:cs typeface="Arial MT"/>
              </a:rPr>
              <a:t>ha</a:t>
            </a:r>
            <a:r>
              <a:rPr sz="2400" spc="-120" dirty="0">
                <a:latin typeface="Arial MT"/>
                <a:cs typeface="Arial MT"/>
              </a:rPr>
              <a:t>t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100" dirty="0">
                <a:latin typeface="Arial MT"/>
                <a:cs typeface="Arial MT"/>
              </a:rPr>
              <a:t>i</a:t>
            </a:r>
            <a:r>
              <a:rPr sz="2400" spc="-120" dirty="0">
                <a:latin typeface="Arial MT"/>
                <a:cs typeface="Arial MT"/>
              </a:rPr>
              <a:t>f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210" dirty="0">
                <a:latin typeface="Arial MT"/>
                <a:cs typeface="Arial MT"/>
              </a:rPr>
              <a:t>the</a:t>
            </a:r>
            <a:r>
              <a:rPr sz="2400" spc="-220" dirty="0">
                <a:latin typeface="Arial MT"/>
                <a:cs typeface="Arial MT"/>
              </a:rPr>
              <a:t>y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250" dirty="0">
                <a:latin typeface="Arial MT"/>
                <a:cs typeface="Arial MT"/>
              </a:rPr>
              <a:t>don</a:t>
            </a:r>
            <a:r>
              <a:rPr sz="2400" spc="-95" dirty="0">
                <a:latin typeface="Arial MT"/>
                <a:cs typeface="Arial MT"/>
              </a:rPr>
              <a:t>’</a:t>
            </a:r>
            <a:r>
              <a:rPr sz="2400" spc="-120" dirty="0">
                <a:latin typeface="Arial MT"/>
                <a:cs typeface="Arial MT"/>
              </a:rPr>
              <a:t>t</a:t>
            </a:r>
            <a:r>
              <a:rPr sz="2400" spc="-245" dirty="0">
                <a:latin typeface="Arial MT"/>
                <a:cs typeface="Arial MT"/>
              </a:rPr>
              <a:t>?</a:t>
            </a:r>
            <a:endParaRPr sz="2400">
              <a:latin typeface="Arial MT"/>
              <a:cs typeface="Arial MT"/>
            </a:endParaRPr>
          </a:p>
          <a:p>
            <a:pPr marL="812165" marR="317500" indent="-228600">
              <a:lnSpc>
                <a:spcPts val="2160"/>
              </a:lnSpc>
              <a:spcBef>
                <a:spcPts val="525"/>
              </a:spcBef>
              <a:buClr>
                <a:srgbClr val="CCFFCC"/>
              </a:buClr>
              <a:buSzPct val="60000"/>
              <a:buFont typeface="Wingdings"/>
              <a:buChar char=""/>
              <a:tabLst>
                <a:tab pos="812800" algn="l"/>
              </a:tabLst>
            </a:pPr>
            <a:r>
              <a:rPr sz="2000" spc="-105" dirty="0">
                <a:latin typeface="Arial MT"/>
                <a:cs typeface="Arial MT"/>
              </a:rPr>
              <a:t>It </a:t>
            </a:r>
            <a:r>
              <a:rPr sz="2000" spc="-135" dirty="0">
                <a:latin typeface="Arial MT"/>
                <a:cs typeface="Arial MT"/>
              </a:rPr>
              <a:t>is </a:t>
            </a:r>
            <a:r>
              <a:rPr sz="2000" spc="-175" dirty="0">
                <a:latin typeface="Arial MT"/>
                <a:cs typeface="Arial MT"/>
              </a:rPr>
              <a:t>very </a:t>
            </a:r>
            <a:r>
              <a:rPr sz="2000" spc="-235" dirty="0">
                <a:latin typeface="Arial MT"/>
                <a:cs typeface="Arial MT"/>
              </a:rPr>
              <a:t>common</a:t>
            </a:r>
            <a:r>
              <a:rPr sz="2000" spc="-229" dirty="0">
                <a:latin typeface="Arial MT"/>
                <a:cs typeface="Arial MT"/>
              </a:rPr>
              <a:t> </a:t>
            </a:r>
            <a:r>
              <a:rPr sz="2000" spc="-155" dirty="0">
                <a:latin typeface="Arial MT"/>
                <a:cs typeface="Arial MT"/>
              </a:rPr>
              <a:t>to </a:t>
            </a:r>
            <a:r>
              <a:rPr sz="2000" spc="-150" dirty="0">
                <a:latin typeface="Arial MT"/>
                <a:cs typeface="Arial MT"/>
              </a:rPr>
              <a:t>find </a:t>
            </a:r>
            <a:r>
              <a:rPr sz="2000" spc="-220" dirty="0">
                <a:latin typeface="Arial MT"/>
                <a:cs typeface="Arial MT"/>
              </a:rPr>
              <a:t>memory</a:t>
            </a:r>
            <a:r>
              <a:rPr sz="2000" spc="-215" dirty="0">
                <a:latin typeface="Arial MT"/>
                <a:cs typeface="Arial MT"/>
              </a:rPr>
              <a:t> </a:t>
            </a:r>
            <a:r>
              <a:rPr sz="2000" spc="-170" dirty="0">
                <a:latin typeface="Arial MT"/>
                <a:cs typeface="Arial MT"/>
              </a:rPr>
              <a:t>chips </a:t>
            </a:r>
            <a:r>
              <a:rPr sz="2000" spc="-155" dirty="0">
                <a:latin typeface="Arial MT"/>
                <a:cs typeface="Arial MT"/>
              </a:rPr>
              <a:t>that </a:t>
            </a:r>
            <a:r>
              <a:rPr sz="2000" spc="-200" dirty="0">
                <a:latin typeface="Arial MT"/>
                <a:cs typeface="Arial MT"/>
              </a:rPr>
              <a:t>have </a:t>
            </a:r>
            <a:r>
              <a:rPr sz="2000" spc="-170" dirty="0">
                <a:latin typeface="Arial MT"/>
                <a:cs typeface="Arial MT"/>
              </a:rPr>
              <a:t>only </a:t>
            </a:r>
            <a:r>
              <a:rPr sz="2000" spc="-204" dirty="0">
                <a:latin typeface="Arial MT"/>
                <a:cs typeface="Arial MT"/>
              </a:rPr>
              <a:t>4</a:t>
            </a:r>
            <a:r>
              <a:rPr sz="2000" spc="-200" dirty="0">
                <a:latin typeface="Arial MT"/>
                <a:cs typeface="Arial MT"/>
              </a:rPr>
              <a:t> </a:t>
            </a:r>
            <a:r>
              <a:rPr sz="2000" spc="-145" dirty="0">
                <a:latin typeface="Arial MT"/>
                <a:cs typeface="Arial MT"/>
              </a:rPr>
              <a:t>bits </a:t>
            </a:r>
            <a:r>
              <a:rPr sz="2000" spc="-175" dirty="0">
                <a:latin typeface="Arial MT"/>
                <a:cs typeface="Arial MT"/>
              </a:rPr>
              <a:t>per </a:t>
            </a:r>
            <a:r>
              <a:rPr sz="2000" spc="-170" dirty="0">
                <a:latin typeface="Arial MT"/>
                <a:cs typeface="Arial MT"/>
              </a:rPr>
              <a:t> </a:t>
            </a:r>
            <a:r>
              <a:rPr sz="2000" spc="-150" dirty="0">
                <a:latin typeface="Arial MT"/>
                <a:cs typeface="Arial MT"/>
              </a:rPr>
              <a:t>location.</a:t>
            </a:r>
            <a:r>
              <a:rPr sz="2000" spc="-125" dirty="0">
                <a:latin typeface="Arial MT"/>
                <a:cs typeface="Arial MT"/>
              </a:rPr>
              <a:t> </a:t>
            </a:r>
            <a:r>
              <a:rPr sz="2000" spc="-245" dirty="0">
                <a:latin typeface="Arial MT"/>
                <a:cs typeface="Arial MT"/>
              </a:rPr>
              <a:t>How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spc="-190" dirty="0">
                <a:latin typeface="Arial MT"/>
                <a:cs typeface="Arial MT"/>
              </a:rPr>
              <a:t>would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spc="-195" dirty="0">
                <a:latin typeface="Arial MT"/>
                <a:cs typeface="Arial MT"/>
              </a:rPr>
              <a:t>you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spc="-180" dirty="0">
                <a:latin typeface="Arial MT"/>
                <a:cs typeface="Arial MT"/>
              </a:rPr>
              <a:t>design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spc="-204" dirty="0">
                <a:latin typeface="Arial MT"/>
                <a:cs typeface="Arial MT"/>
              </a:rPr>
              <a:t>a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spc="-175" dirty="0">
                <a:latin typeface="Arial MT"/>
                <a:cs typeface="Arial MT"/>
              </a:rPr>
              <a:t>byte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spc="-190" dirty="0">
                <a:latin typeface="Arial MT"/>
                <a:cs typeface="Arial MT"/>
              </a:rPr>
              <a:t>wide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spc="-220" dirty="0">
                <a:latin typeface="Arial MT"/>
                <a:cs typeface="Arial MT"/>
              </a:rPr>
              <a:t>memory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spc="-195" dirty="0">
                <a:latin typeface="Arial MT"/>
                <a:cs typeface="Arial MT"/>
              </a:rPr>
              <a:t>system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spc="-175" dirty="0">
                <a:latin typeface="Arial MT"/>
                <a:cs typeface="Arial MT"/>
              </a:rPr>
              <a:t>using </a:t>
            </a:r>
            <a:r>
              <a:rPr sz="2000" spc="-540" dirty="0">
                <a:latin typeface="Arial MT"/>
                <a:cs typeface="Arial MT"/>
              </a:rPr>
              <a:t> </a:t>
            </a:r>
            <a:r>
              <a:rPr sz="2000" spc="-175" dirty="0">
                <a:latin typeface="Arial MT"/>
                <a:cs typeface="Arial MT"/>
              </a:rPr>
              <a:t>thes</a:t>
            </a:r>
            <a:r>
              <a:rPr sz="2000" spc="-204" dirty="0">
                <a:latin typeface="Arial MT"/>
                <a:cs typeface="Arial MT"/>
              </a:rPr>
              <a:t>e</a:t>
            </a:r>
            <a:r>
              <a:rPr sz="2000" spc="-114" dirty="0">
                <a:latin typeface="Arial MT"/>
                <a:cs typeface="Arial MT"/>
              </a:rPr>
              <a:t> </a:t>
            </a:r>
            <a:r>
              <a:rPr sz="2000" spc="-185" dirty="0">
                <a:latin typeface="Arial MT"/>
                <a:cs typeface="Arial MT"/>
              </a:rPr>
              <a:t>c</a:t>
            </a:r>
            <a:r>
              <a:rPr sz="2000" spc="-145" dirty="0">
                <a:latin typeface="Arial MT"/>
                <a:cs typeface="Arial MT"/>
              </a:rPr>
              <a:t>hi</a:t>
            </a:r>
            <a:r>
              <a:rPr sz="2000" spc="-195" dirty="0">
                <a:latin typeface="Arial MT"/>
                <a:cs typeface="Arial MT"/>
              </a:rPr>
              <a:t>ps?</a:t>
            </a:r>
            <a:endParaRPr sz="2000">
              <a:latin typeface="Arial MT"/>
              <a:cs typeface="Arial MT"/>
            </a:endParaRPr>
          </a:p>
          <a:p>
            <a:pPr marL="812165" marR="5080" indent="-228600" algn="just">
              <a:lnSpc>
                <a:spcPts val="2160"/>
              </a:lnSpc>
              <a:spcBef>
                <a:spcPts val="480"/>
              </a:spcBef>
              <a:buClr>
                <a:srgbClr val="CCFFCC"/>
              </a:buClr>
              <a:buSzPct val="60000"/>
              <a:buFont typeface="Wingdings"/>
              <a:buChar char=""/>
              <a:tabLst>
                <a:tab pos="812800" algn="l"/>
              </a:tabLst>
            </a:pPr>
            <a:r>
              <a:rPr sz="2000" spc="-275" dirty="0">
                <a:latin typeface="Arial MT"/>
                <a:cs typeface="Arial MT"/>
              </a:rPr>
              <a:t>We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195" dirty="0">
                <a:latin typeface="Arial MT"/>
                <a:cs typeface="Arial MT"/>
              </a:rPr>
              <a:t>use </a:t>
            </a:r>
            <a:r>
              <a:rPr sz="2000" spc="-190" dirty="0">
                <a:latin typeface="Arial MT"/>
                <a:cs typeface="Arial MT"/>
              </a:rPr>
              <a:t>two </a:t>
            </a:r>
            <a:r>
              <a:rPr sz="2000" spc="-170" dirty="0">
                <a:latin typeface="Arial MT"/>
                <a:cs typeface="Arial MT"/>
              </a:rPr>
              <a:t>chips </a:t>
            </a:r>
            <a:r>
              <a:rPr sz="2000" spc="-145" dirty="0">
                <a:latin typeface="Arial MT"/>
                <a:cs typeface="Arial MT"/>
              </a:rPr>
              <a:t>for </a:t>
            </a:r>
            <a:r>
              <a:rPr sz="2000" spc="-170" dirty="0">
                <a:latin typeface="Arial MT"/>
                <a:cs typeface="Arial MT"/>
              </a:rPr>
              <a:t>the </a:t>
            </a:r>
            <a:r>
              <a:rPr sz="2000" spc="-225" dirty="0">
                <a:latin typeface="Arial MT"/>
                <a:cs typeface="Arial MT"/>
              </a:rPr>
              <a:t>same </a:t>
            </a:r>
            <a:r>
              <a:rPr sz="2000" spc="-185" dirty="0">
                <a:latin typeface="Arial MT"/>
                <a:cs typeface="Arial MT"/>
              </a:rPr>
              <a:t>address </a:t>
            </a:r>
            <a:r>
              <a:rPr sz="2000" spc="-175" dirty="0">
                <a:latin typeface="Arial MT"/>
                <a:cs typeface="Arial MT"/>
              </a:rPr>
              <a:t>range. </a:t>
            </a:r>
            <a:r>
              <a:rPr sz="2000" spc="-229" dirty="0">
                <a:latin typeface="Arial MT"/>
                <a:cs typeface="Arial MT"/>
              </a:rPr>
              <a:t>One</a:t>
            </a:r>
            <a:r>
              <a:rPr sz="2000" spc="95" dirty="0">
                <a:latin typeface="Arial MT"/>
                <a:cs typeface="Arial MT"/>
              </a:rPr>
              <a:t> </a:t>
            </a:r>
            <a:r>
              <a:rPr sz="2000" spc="-170" dirty="0">
                <a:latin typeface="Arial MT"/>
                <a:cs typeface="Arial MT"/>
              </a:rPr>
              <a:t>chip </a:t>
            </a:r>
            <a:r>
              <a:rPr sz="2000" spc="-130" dirty="0">
                <a:latin typeface="Arial MT"/>
                <a:cs typeface="Arial MT"/>
              </a:rPr>
              <a:t>will </a:t>
            </a:r>
            <a:r>
              <a:rPr sz="2000" spc="-175" dirty="0">
                <a:latin typeface="Arial MT"/>
                <a:cs typeface="Arial MT"/>
              </a:rPr>
              <a:t>supply </a:t>
            </a:r>
            <a:r>
              <a:rPr sz="2000" spc="-204" dirty="0">
                <a:latin typeface="Arial MT"/>
                <a:cs typeface="Arial MT"/>
              </a:rPr>
              <a:t>4 </a:t>
            </a:r>
            <a:r>
              <a:rPr sz="2000" spc="-200" dirty="0">
                <a:latin typeface="Arial MT"/>
                <a:cs typeface="Arial MT"/>
              </a:rPr>
              <a:t> </a:t>
            </a:r>
            <a:r>
              <a:rPr sz="2000" spc="-155" dirty="0">
                <a:latin typeface="Arial MT"/>
                <a:cs typeface="Arial MT"/>
              </a:rPr>
              <a:t>of </a:t>
            </a:r>
            <a:r>
              <a:rPr sz="2000" spc="-170" dirty="0">
                <a:latin typeface="Arial MT"/>
                <a:cs typeface="Arial MT"/>
              </a:rPr>
              <a:t>the </a:t>
            </a:r>
            <a:r>
              <a:rPr sz="2000" spc="-180" dirty="0">
                <a:latin typeface="Arial MT"/>
                <a:cs typeface="Arial MT"/>
              </a:rPr>
              <a:t>data </a:t>
            </a:r>
            <a:r>
              <a:rPr sz="2000" spc="-145" dirty="0">
                <a:latin typeface="Arial MT"/>
                <a:cs typeface="Arial MT"/>
              </a:rPr>
              <a:t>bits </a:t>
            </a:r>
            <a:r>
              <a:rPr sz="2000" spc="-175" dirty="0">
                <a:latin typeface="Arial MT"/>
                <a:cs typeface="Arial MT"/>
              </a:rPr>
              <a:t>per </a:t>
            </a:r>
            <a:r>
              <a:rPr sz="2000" spc="-185" dirty="0">
                <a:latin typeface="Arial MT"/>
                <a:cs typeface="Arial MT"/>
              </a:rPr>
              <a:t>address </a:t>
            </a:r>
            <a:r>
              <a:rPr sz="2000" spc="-204" dirty="0">
                <a:latin typeface="Arial MT"/>
                <a:cs typeface="Arial MT"/>
              </a:rPr>
              <a:t>and </a:t>
            </a:r>
            <a:r>
              <a:rPr sz="2000" spc="-170" dirty="0">
                <a:latin typeface="Arial MT"/>
                <a:cs typeface="Arial MT"/>
              </a:rPr>
              <a:t>the </a:t>
            </a:r>
            <a:r>
              <a:rPr sz="2000" spc="-165" dirty="0">
                <a:latin typeface="Arial MT"/>
                <a:cs typeface="Arial MT"/>
              </a:rPr>
              <a:t>other </a:t>
            </a:r>
            <a:r>
              <a:rPr sz="2000" spc="-170" dirty="0">
                <a:latin typeface="Arial MT"/>
                <a:cs typeface="Arial MT"/>
              </a:rPr>
              <a:t>chip </a:t>
            </a:r>
            <a:r>
              <a:rPr sz="2000" spc="-175" dirty="0">
                <a:latin typeface="Arial MT"/>
                <a:cs typeface="Arial MT"/>
              </a:rPr>
              <a:t>supply </a:t>
            </a:r>
            <a:r>
              <a:rPr sz="2000" spc="-170" dirty="0">
                <a:latin typeface="Arial MT"/>
                <a:cs typeface="Arial MT"/>
              </a:rPr>
              <a:t>the </a:t>
            </a:r>
            <a:r>
              <a:rPr sz="2000" spc="-165" dirty="0">
                <a:latin typeface="Arial MT"/>
                <a:cs typeface="Arial MT"/>
              </a:rPr>
              <a:t>other </a:t>
            </a:r>
            <a:r>
              <a:rPr sz="2000" spc="-204" dirty="0">
                <a:latin typeface="Arial MT"/>
                <a:cs typeface="Arial MT"/>
              </a:rPr>
              <a:t>4 </a:t>
            </a:r>
            <a:r>
              <a:rPr sz="2000" spc="-180" dirty="0">
                <a:latin typeface="Arial MT"/>
                <a:cs typeface="Arial MT"/>
              </a:rPr>
              <a:t>data </a:t>
            </a:r>
            <a:r>
              <a:rPr sz="2000" spc="-175" dirty="0">
                <a:latin typeface="Arial MT"/>
                <a:cs typeface="Arial MT"/>
              </a:rPr>
              <a:t> </a:t>
            </a:r>
            <a:r>
              <a:rPr sz="2000" spc="-145" dirty="0">
                <a:latin typeface="Arial MT"/>
                <a:cs typeface="Arial MT"/>
              </a:rPr>
              <a:t>bits</a:t>
            </a:r>
            <a:r>
              <a:rPr sz="2000" spc="-120" dirty="0">
                <a:latin typeface="Arial MT"/>
                <a:cs typeface="Arial MT"/>
              </a:rPr>
              <a:t> </a:t>
            </a:r>
            <a:r>
              <a:rPr sz="2000" spc="-145" dirty="0">
                <a:latin typeface="Arial MT"/>
                <a:cs typeface="Arial MT"/>
              </a:rPr>
              <a:t>for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spc="-170" dirty="0">
                <a:latin typeface="Arial MT"/>
                <a:cs typeface="Arial MT"/>
              </a:rPr>
              <a:t>the</a:t>
            </a:r>
            <a:r>
              <a:rPr sz="2000" spc="-114" dirty="0">
                <a:latin typeface="Arial MT"/>
                <a:cs typeface="Arial MT"/>
              </a:rPr>
              <a:t> </a:t>
            </a:r>
            <a:r>
              <a:rPr sz="2000" spc="-195" dirty="0">
                <a:latin typeface="Arial MT"/>
                <a:cs typeface="Arial MT"/>
              </a:rPr>
              <a:t>sa</a:t>
            </a:r>
            <a:r>
              <a:rPr sz="2000" spc="-310" dirty="0">
                <a:latin typeface="Arial MT"/>
                <a:cs typeface="Arial MT"/>
              </a:rPr>
              <a:t>m</a:t>
            </a:r>
            <a:r>
              <a:rPr sz="2000" spc="-204" dirty="0">
                <a:latin typeface="Arial MT"/>
                <a:cs typeface="Arial MT"/>
              </a:rPr>
              <a:t>e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spc="-185" dirty="0">
                <a:latin typeface="Arial MT"/>
                <a:cs typeface="Arial MT"/>
              </a:rPr>
              <a:t>address</a:t>
            </a:r>
            <a:r>
              <a:rPr sz="2000" spc="-105" dirty="0">
                <a:latin typeface="Arial MT"/>
                <a:cs typeface="Arial MT"/>
              </a:rPr>
              <a:t>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r>
              <a:rPr spc="-5" dirty="0"/>
              <a:t>31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0"/>
            <a:ext cx="9156700" cy="6870700"/>
            <a:chOff x="-6350" y="0"/>
            <a:chExt cx="9156700" cy="68707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6350" y="0"/>
              <a:ext cx="9156700" cy="68707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515938" cy="685799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64540" y="1010665"/>
            <a:ext cx="221615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20" dirty="0">
                <a:solidFill>
                  <a:srgbClr val="FFFFCC"/>
                </a:solidFill>
                <a:latin typeface="Arial MT"/>
                <a:cs typeface="Arial MT"/>
              </a:rPr>
              <a:t>Data</a:t>
            </a:r>
            <a:r>
              <a:rPr spc="-220" dirty="0">
                <a:solidFill>
                  <a:srgbClr val="FFFFCC"/>
                </a:solidFill>
                <a:latin typeface="Arial MT"/>
                <a:cs typeface="Arial MT"/>
              </a:rPr>
              <a:t> </a:t>
            </a:r>
            <a:r>
              <a:rPr spc="-310" dirty="0">
                <a:solidFill>
                  <a:srgbClr val="FFFFCC"/>
                </a:solidFill>
                <a:latin typeface="Arial MT"/>
                <a:cs typeface="Arial MT"/>
              </a:rPr>
              <a:t>Li</a:t>
            </a:r>
            <a:r>
              <a:rPr spc="-430" dirty="0">
                <a:solidFill>
                  <a:srgbClr val="FFFFCC"/>
                </a:solidFill>
                <a:latin typeface="Arial MT"/>
                <a:cs typeface="Arial MT"/>
              </a:rPr>
              <a:t>nes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2228850" y="2047875"/>
            <a:ext cx="4619625" cy="2809875"/>
            <a:chOff x="2228850" y="2047875"/>
            <a:chExt cx="4619625" cy="2809875"/>
          </a:xfrm>
        </p:grpSpPr>
        <p:sp>
          <p:nvSpPr>
            <p:cNvPr id="7" name="object 7"/>
            <p:cNvSpPr/>
            <p:nvPr/>
          </p:nvSpPr>
          <p:spPr>
            <a:xfrm>
              <a:off x="3343275" y="3190874"/>
              <a:ext cx="2378075" cy="1212850"/>
            </a:xfrm>
            <a:custGeom>
              <a:avLst/>
              <a:gdLst/>
              <a:ahLst/>
              <a:cxnLst/>
              <a:rect l="l" t="t" r="r" b="b"/>
              <a:pathLst>
                <a:path w="2378075" h="1212850">
                  <a:moveTo>
                    <a:pt x="641350" y="0"/>
                  </a:moveTo>
                  <a:lnTo>
                    <a:pt x="0" y="0"/>
                  </a:lnTo>
                  <a:lnTo>
                    <a:pt x="0" y="1187450"/>
                  </a:lnTo>
                  <a:lnTo>
                    <a:pt x="641350" y="1187450"/>
                  </a:lnTo>
                  <a:lnTo>
                    <a:pt x="641350" y="0"/>
                  </a:lnTo>
                  <a:close/>
                </a:path>
                <a:path w="2378075" h="1212850">
                  <a:moveTo>
                    <a:pt x="2378075" y="25400"/>
                  </a:moveTo>
                  <a:lnTo>
                    <a:pt x="1738312" y="25400"/>
                  </a:lnTo>
                  <a:lnTo>
                    <a:pt x="1738312" y="1212850"/>
                  </a:lnTo>
                  <a:lnTo>
                    <a:pt x="2378075" y="1212850"/>
                  </a:lnTo>
                  <a:lnTo>
                    <a:pt x="2378075" y="2540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11562" y="3092451"/>
              <a:ext cx="104775" cy="10477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49875" y="3117851"/>
              <a:ext cx="103187" cy="10477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984625" y="3306762"/>
              <a:ext cx="365125" cy="0"/>
            </a:xfrm>
            <a:custGeom>
              <a:avLst/>
              <a:gdLst/>
              <a:ahLst/>
              <a:cxnLst/>
              <a:rect l="l" t="t" r="r" b="b"/>
              <a:pathLst>
                <a:path w="365125">
                  <a:moveTo>
                    <a:pt x="0" y="0"/>
                  </a:moveTo>
                  <a:lnTo>
                    <a:pt x="36512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49750" y="3306762"/>
              <a:ext cx="3175" cy="1281430"/>
            </a:xfrm>
            <a:custGeom>
              <a:avLst/>
              <a:gdLst/>
              <a:ahLst/>
              <a:cxnLst/>
              <a:rect l="l" t="t" r="r" b="b"/>
              <a:pathLst>
                <a:path w="3175" h="1281429">
                  <a:moveTo>
                    <a:pt x="3175" y="0"/>
                  </a:moveTo>
                  <a:lnTo>
                    <a:pt x="0" y="1281112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356100" y="4579937"/>
              <a:ext cx="2449830" cy="1905"/>
            </a:xfrm>
            <a:custGeom>
              <a:avLst/>
              <a:gdLst/>
              <a:ahLst/>
              <a:cxnLst/>
              <a:rect l="l" t="t" r="r" b="b"/>
              <a:pathLst>
                <a:path w="2449829" h="1904">
                  <a:moveTo>
                    <a:pt x="0" y="1587"/>
                  </a:moveTo>
                  <a:lnTo>
                    <a:pt x="244951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984625" y="3489325"/>
              <a:ext cx="269875" cy="9525"/>
            </a:xfrm>
            <a:custGeom>
              <a:avLst/>
              <a:gdLst/>
              <a:ahLst/>
              <a:cxnLst/>
              <a:rect l="l" t="t" r="r" b="b"/>
              <a:pathLst>
                <a:path w="269875" h="9525">
                  <a:moveTo>
                    <a:pt x="0" y="0"/>
                  </a:moveTo>
                  <a:lnTo>
                    <a:pt x="269875" y="952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57675" y="3502025"/>
              <a:ext cx="1905" cy="1183005"/>
            </a:xfrm>
            <a:custGeom>
              <a:avLst/>
              <a:gdLst/>
              <a:ahLst/>
              <a:cxnLst/>
              <a:rect l="l" t="t" r="r" b="b"/>
              <a:pathLst>
                <a:path w="1904" h="1183004">
                  <a:moveTo>
                    <a:pt x="0" y="0"/>
                  </a:moveTo>
                  <a:lnTo>
                    <a:pt x="1587" y="118268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57675" y="4678362"/>
              <a:ext cx="2560955" cy="0"/>
            </a:xfrm>
            <a:custGeom>
              <a:avLst/>
              <a:gdLst/>
              <a:ahLst/>
              <a:cxnLst/>
              <a:rect l="l" t="t" r="r" b="b"/>
              <a:pathLst>
                <a:path w="2560954">
                  <a:moveTo>
                    <a:pt x="0" y="0"/>
                  </a:moveTo>
                  <a:lnTo>
                    <a:pt x="256063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984625" y="3763962"/>
              <a:ext cx="182880" cy="0"/>
            </a:xfrm>
            <a:custGeom>
              <a:avLst/>
              <a:gdLst/>
              <a:ahLst/>
              <a:cxnLst/>
              <a:rect l="l" t="t" r="r" b="b"/>
              <a:pathLst>
                <a:path w="182879">
                  <a:moveTo>
                    <a:pt x="0" y="0"/>
                  </a:moveTo>
                  <a:lnTo>
                    <a:pt x="18256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167187" y="3763962"/>
              <a:ext cx="0" cy="995680"/>
            </a:xfrm>
            <a:custGeom>
              <a:avLst/>
              <a:gdLst/>
              <a:ahLst/>
              <a:cxnLst/>
              <a:rect l="l" t="t" r="r" b="b"/>
              <a:pathLst>
                <a:path h="995679">
                  <a:moveTo>
                    <a:pt x="0" y="0"/>
                  </a:moveTo>
                  <a:lnTo>
                    <a:pt x="0" y="995362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167187" y="4765675"/>
              <a:ext cx="2644775" cy="5080"/>
            </a:xfrm>
            <a:custGeom>
              <a:avLst/>
              <a:gdLst/>
              <a:ahLst/>
              <a:cxnLst/>
              <a:rect l="l" t="t" r="r" b="b"/>
              <a:pathLst>
                <a:path w="2644775" h="5079">
                  <a:moveTo>
                    <a:pt x="0" y="0"/>
                  </a:moveTo>
                  <a:lnTo>
                    <a:pt x="2644775" y="4762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984625" y="4038600"/>
              <a:ext cx="90805" cy="0"/>
            </a:xfrm>
            <a:custGeom>
              <a:avLst/>
              <a:gdLst/>
              <a:ahLst/>
              <a:cxnLst/>
              <a:rect l="l" t="t" r="r" b="b"/>
              <a:pathLst>
                <a:path w="90804">
                  <a:moveTo>
                    <a:pt x="0" y="0"/>
                  </a:moveTo>
                  <a:lnTo>
                    <a:pt x="9048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075112" y="4038600"/>
              <a:ext cx="0" cy="812800"/>
            </a:xfrm>
            <a:custGeom>
              <a:avLst/>
              <a:gdLst/>
              <a:ahLst/>
              <a:cxnLst/>
              <a:rect l="l" t="t" r="r" b="b"/>
              <a:pathLst>
                <a:path h="812800">
                  <a:moveTo>
                    <a:pt x="0" y="0"/>
                  </a:moveTo>
                  <a:lnTo>
                    <a:pt x="0" y="8128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075112" y="4851400"/>
              <a:ext cx="2743200" cy="0"/>
            </a:xfrm>
            <a:custGeom>
              <a:avLst/>
              <a:gdLst/>
              <a:ahLst/>
              <a:cxnLst/>
              <a:rect l="l" t="t" r="r" b="b"/>
              <a:pathLst>
                <a:path w="2743200">
                  <a:moveTo>
                    <a:pt x="0" y="0"/>
                  </a:moveTo>
                  <a:lnTo>
                    <a:pt x="27432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721350" y="3328987"/>
              <a:ext cx="365125" cy="0"/>
            </a:xfrm>
            <a:custGeom>
              <a:avLst/>
              <a:gdLst/>
              <a:ahLst/>
              <a:cxnLst/>
              <a:rect l="l" t="t" r="r" b="b"/>
              <a:pathLst>
                <a:path w="365125">
                  <a:moveTo>
                    <a:pt x="0" y="0"/>
                  </a:moveTo>
                  <a:lnTo>
                    <a:pt x="36512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080125" y="3335337"/>
              <a:ext cx="9525" cy="725805"/>
            </a:xfrm>
            <a:custGeom>
              <a:avLst/>
              <a:gdLst/>
              <a:ahLst/>
              <a:cxnLst/>
              <a:rect l="l" t="t" r="r" b="b"/>
              <a:pathLst>
                <a:path w="9525" h="725804">
                  <a:moveTo>
                    <a:pt x="0" y="0"/>
                  </a:moveTo>
                  <a:lnTo>
                    <a:pt x="9525" y="72548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84888" y="4059237"/>
              <a:ext cx="719455" cy="1905"/>
            </a:xfrm>
            <a:custGeom>
              <a:avLst/>
              <a:gdLst/>
              <a:ahLst/>
              <a:cxnLst/>
              <a:rect l="l" t="t" r="r" b="b"/>
              <a:pathLst>
                <a:path w="719454" h="1904">
                  <a:moveTo>
                    <a:pt x="0" y="1587"/>
                  </a:moveTo>
                  <a:lnTo>
                    <a:pt x="71913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721350" y="3511550"/>
              <a:ext cx="274955" cy="0"/>
            </a:xfrm>
            <a:custGeom>
              <a:avLst/>
              <a:gdLst/>
              <a:ahLst/>
              <a:cxnLst/>
              <a:rect l="l" t="t" r="r" b="b"/>
              <a:pathLst>
                <a:path w="274954">
                  <a:moveTo>
                    <a:pt x="0" y="0"/>
                  </a:moveTo>
                  <a:lnTo>
                    <a:pt x="27463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995988" y="3511550"/>
              <a:ext cx="0" cy="640080"/>
            </a:xfrm>
            <a:custGeom>
              <a:avLst/>
              <a:gdLst/>
              <a:ahLst/>
              <a:cxnLst/>
              <a:rect l="l" t="t" r="r" b="b"/>
              <a:pathLst>
                <a:path h="640079">
                  <a:moveTo>
                    <a:pt x="0" y="0"/>
                  </a:moveTo>
                  <a:lnTo>
                    <a:pt x="0" y="639762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995988" y="4151312"/>
              <a:ext cx="822325" cy="0"/>
            </a:xfrm>
            <a:custGeom>
              <a:avLst/>
              <a:gdLst/>
              <a:ahLst/>
              <a:cxnLst/>
              <a:rect l="l" t="t" r="r" b="b"/>
              <a:pathLst>
                <a:path w="822325">
                  <a:moveTo>
                    <a:pt x="0" y="0"/>
                  </a:moveTo>
                  <a:lnTo>
                    <a:pt x="82232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721350" y="3694112"/>
              <a:ext cx="182880" cy="0"/>
            </a:xfrm>
            <a:custGeom>
              <a:avLst/>
              <a:gdLst/>
              <a:ahLst/>
              <a:cxnLst/>
              <a:rect l="l" t="t" r="r" b="b"/>
              <a:pathLst>
                <a:path w="182879">
                  <a:moveTo>
                    <a:pt x="0" y="0"/>
                  </a:moveTo>
                  <a:lnTo>
                    <a:pt x="18256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903913" y="3694112"/>
              <a:ext cx="0" cy="549275"/>
            </a:xfrm>
            <a:custGeom>
              <a:avLst/>
              <a:gdLst/>
              <a:ahLst/>
              <a:cxnLst/>
              <a:rect l="l" t="t" r="r" b="b"/>
              <a:pathLst>
                <a:path h="549275">
                  <a:moveTo>
                    <a:pt x="0" y="0"/>
                  </a:moveTo>
                  <a:lnTo>
                    <a:pt x="0" y="54927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903913" y="4243387"/>
              <a:ext cx="914400" cy="0"/>
            </a:xfrm>
            <a:custGeom>
              <a:avLst/>
              <a:gdLst/>
              <a:ahLst/>
              <a:cxnLst/>
              <a:rect l="l" t="t" r="r" b="b"/>
              <a:pathLst>
                <a:path w="914400">
                  <a:moveTo>
                    <a:pt x="0" y="0"/>
                  </a:moveTo>
                  <a:lnTo>
                    <a:pt x="914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721350" y="3968750"/>
              <a:ext cx="92075" cy="0"/>
            </a:xfrm>
            <a:custGeom>
              <a:avLst/>
              <a:gdLst/>
              <a:ahLst/>
              <a:cxnLst/>
              <a:rect l="l" t="t" r="r" b="b"/>
              <a:pathLst>
                <a:path w="92075">
                  <a:moveTo>
                    <a:pt x="0" y="0"/>
                  </a:moveTo>
                  <a:lnTo>
                    <a:pt x="920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811837" y="3968750"/>
              <a:ext cx="1905" cy="384175"/>
            </a:xfrm>
            <a:custGeom>
              <a:avLst/>
              <a:gdLst/>
              <a:ahLst/>
              <a:cxnLst/>
              <a:rect l="l" t="t" r="r" b="b"/>
              <a:pathLst>
                <a:path w="1904" h="384175">
                  <a:moveTo>
                    <a:pt x="1587" y="0"/>
                  </a:moveTo>
                  <a:lnTo>
                    <a:pt x="0" y="38417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811838" y="4340225"/>
              <a:ext cx="1030605" cy="6350"/>
            </a:xfrm>
            <a:custGeom>
              <a:avLst/>
              <a:gdLst/>
              <a:ahLst/>
              <a:cxnLst/>
              <a:rect l="l" t="t" r="r" b="b"/>
              <a:pathLst>
                <a:path w="1030604" h="6350">
                  <a:moveTo>
                    <a:pt x="0" y="6350"/>
                  </a:moveTo>
                  <a:lnTo>
                    <a:pt x="103028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408612" y="2054226"/>
              <a:ext cx="0" cy="1065530"/>
            </a:xfrm>
            <a:custGeom>
              <a:avLst/>
              <a:gdLst/>
              <a:ahLst/>
              <a:cxnLst/>
              <a:rect l="l" t="t" r="r" b="b"/>
              <a:pathLst>
                <a:path h="1065530">
                  <a:moveTo>
                    <a:pt x="0" y="1065212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39962" y="2054225"/>
              <a:ext cx="3162300" cy="6350"/>
            </a:xfrm>
            <a:custGeom>
              <a:avLst/>
              <a:gdLst/>
              <a:ahLst/>
              <a:cxnLst/>
              <a:rect l="l" t="t" r="r" b="b"/>
              <a:pathLst>
                <a:path w="3162300" h="6350">
                  <a:moveTo>
                    <a:pt x="3162300" y="0"/>
                  </a:moveTo>
                  <a:lnTo>
                    <a:pt x="0" y="635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671887" y="2054225"/>
              <a:ext cx="0" cy="1044575"/>
            </a:xfrm>
            <a:custGeom>
              <a:avLst/>
              <a:gdLst/>
              <a:ahLst/>
              <a:cxnLst/>
              <a:rect l="l" t="t" r="r" b="b"/>
              <a:pathLst>
                <a:path h="1044575">
                  <a:moveTo>
                    <a:pt x="0" y="600075"/>
                  </a:moveTo>
                  <a:lnTo>
                    <a:pt x="0" y="1044575"/>
                  </a:lnTo>
                </a:path>
                <a:path h="1044575">
                  <a:moveTo>
                    <a:pt x="0" y="0"/>
                  </a:moveTo>
                  <a:lnTo>
                    <a:pt x="0" y="26987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711700" y="3556000"/>
              <a:ext cx="355600" cy="546100"/>
            </a:xfrm>
            <a:custGeom>
              <a:avLst/>
              <a:gdLst/>
              <a:ahLst/>
              <a:cxnLst/>
              <a:rect l="l" t="t" r="r" b="b"/>
              <a:pathLst>
                <a:path w="355600" h="546100">
                  <a:moveTo>
                    <a:pt x="266700" y="0"/>
                  </a:moveTo>
                  <a:lnTo>
                    <a:pt x="266700" y="136525"/>
                  </a:lnTo>
                  <a:lnTo>
                    <a:pt x="0" y="136525"/>
                  </a:lnTo>
                  <a:lnTo>
                    <a:pt x="0" y="409575"/>
                  </a:lnTo>
                  <a:lnTo>
                    <a:pt x="266700" y="409575"/>
                  </a:lnTo>
                  <a:lnTo>
                    <a:pt x="266700" y="546100"/>
                  </a:lnTo>
                  <a:lnTo>
                    <a:pt x="355600" y="273050"/>
                  </a:lnTo>
                  <a:lnTo>
                    <a:pt x="26670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711700" y="3556000"/>
              <a:ext cx="355600" cy="546100"/>
            </a:xfrm>
            <a:custGeom>
              <a:avLst/>
              <a:gdLst/>
              <a:ahLst/>
              <a:cxnLst/>
              <a:rect l="l" t="t" r="r" b="b"/>
              <a:pathLst>
                <a:path w="355600" h="546100">
                  <a:moveTo>
                    <a:pt x="0" y="136525"/>
                  </a:moveTo>
                  <a:lnTo>
                    <a:pt x="266700" y="136525"/>
                  </a:lnTo>
                  <a:lnTo>
                    <a:pt x="266700" y="0"/>
                  </a:lnTo>
                  <a:lnTo>
                    <a:pt x="355600" y="273050"/>
                  </a:lnTo>
                  <a:lnTo>
                    <a:pt x="266700" y="546100"/>
                  </a:lnTo>
                  <a:lnTo>
                    <a:pt x="266700" y="409575"/>
                  </a:lnTo>
                  <a:lnTo>
                    <a:pt x="0" y="409575"/>
                  </a:lnTo>
                  <a:lnTo>
                    <a:pt x="0" y="13652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971800" y="3556000"/>
              <a:ext cx="355600" cy="546100"/>
            </a:xfrm>
            <a:custGeom>
              <a:avLst/>
              <a:gdLst/>
              <a:ahLst/>
              <a:cxnLst/>
              <a:rect l="l" t="t" r="r" b="b"/>
              <a:pathLst>
                <a:path w="355600" h="546100">
                  <a:moveTo>
                    <a:pt x="266700" y="0"/>
                  </a:moveTo>
                  <a:lnTo>
                    <a:pt x="266700" y="136525"/>
                  </a:lnTo>
                  <a:lnTo>
                    <a:pt x="0" y="136525"/>
                  </a:lnTo>
                  <a:lnTo>
                    <a:pt x="0" y="409575"/>
                  </a:lnTo>
                  <a:lnTo>
                    <a:pt x="266700" y="409575"/>
                  </a:lnTo>
                  <a:lnTo>
                    <a:pt x="266700" y="546100"/>
                  </a:lnTo>
                  <a:lnTo>
                    <a:pt x="355600" y="273050"/>
                  </a:lnTo>
                  <a:lnTo>
                    <a:pt x="26670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971800" y="3556000"/>
              <a:ext cx="355600" cy="546100"/>
            </a:xfrm>
            <a:custGeom>
              <a:avLst/>
              <a:gdLst/>
              <a:ahLst/>
              <a:cxnLst/>
              <a:rect l="l" t="t" r="r" b="b"/>
              <a:pathLst>
                <a:path w="355600" h="546100">
                  <a:moveTo>
                    <a:pt x="0" y="136525"/>
                  </a:moveTo>
                  <a:lnTo>
                    <a:pt x="266700" y="136525"/>
                  </a:lnTo>
                  <a:lnTo>
                    <a:pt x="266700" y="0"/>
                  </a:lnTo>
                  <a:lnTo>
                    <a:pt x="355600" y="273050"/>
                  </a:lnTo>
                  <a:lnTo>
                    <a:pt x="266700" y="546100"/>
                  </a:lnTo>
                  <a:lnTo>
                    <a:pt x="266700" y="409575"/>
                  </a:lnTo>
                  <a:lnTo>
                    <a:pt x="0" y="409575"/>
                  </a:lnTo>
                  <a:lnTo>
                    <a:pt x="0" y="13652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235200" y="2324100"/>
              <a:ext cx="2476500" cy="330200"/>
            </a:xfrm>
            <a:custGeom>
              <a:avLst/>
              <a:gdLst/>
              <a:ahLst/>
              <a:cxnLst/>
              <a:rect l="l" t="t" r="r" b="b"/>
              <a:pathLst>
                <a:path w="2476500" h="330200">
                  <a:moveTo>
                    <a:pt x="2476500" y="0"/>
                  </a:moveTo>
                  <a:lnTo>
                    <a:pt x="0" y="0"/>
                  </a:lnTo>
                  <a:lnTo>
                    <a:pt x="0" y="330200"/>
                  </a:lnTo>
                  <a:lnTo>
                    <a:pt x="2476500" y="330200"/>
                  </a:lnTo>
                  <a:lnTo>
                    <a:pt x="247650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235200" y="2324100"/>
              <a:ext cx="2476500" cy="330200"/>
            </a:xfrm>
            <a:custGeom>
              <a:avLst/>
              <a:gdLst/>
              <a:ahLst/>
              <a:cxnLst/>
              <a:rect l="l" t="t" r="r" b="b"/>
              <a:pathLst>
                <a:path w="2476500" h="330200">
                  <a:moveTo>
                    <a:pt x="0" y="0"/>
                  </a:moveTo>
                  <a:lnTo>
                    <a:pt x="2476500" y="0"/>
                  </a:lnTo>
                  <a:lnTo>
                    <a:pt x="2476500" y="330200"/>
                  </a:lnTo>
                  <a:lnTo>
                    <a:pt x="0" y="3302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533900" y="2324100"/>
              <a:ext cx="177800" cy="1638300"/>
            </a:xfrm>
            <a:custGeom>
              <a:avLst/>
              <a:gdLst/>
              <a:ahLst/>
              <a:cxnLst/>
              <a:rect l="l" t="t" r="r" b="b"/>
              <a:pathLst>
                <a:path w="177800" h="1638300">
                  <a:moveTo>
                    <a:pt x="177800" y="0"/>
                  </a:moveTo>
                  <a:lnTo>
                    <a:pt x="0" y="0"/>
                  </a:lnTo>
                  <a:lnTo>
                    <a:pt x="0" y="1638300"/>
                  </a:lnTo>
                  <a:lnTo>
                    <a:pt x="177800" y="1638300"/>
                  </a:lnTo>
                  <a:lnTo>
                    <a:pt x="17780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533900" y="2324100"/>
              <a:ext cx="177800" cy="1638300"/>
            </a:xfrm>
            <a:custGeom>
              <a:avLst/>
              <a:gdLst/>
              <a:ahLst/>
              <a:cxnLst/>
              <a:rect l="l" t="t" r="r" b="b"/>
              <a:pathLst>
                <a:path w="177800" h="1638300">
                  <a:moveTo>
                    <a:pt x="0" y="0"/>
                  </a:moveTo>
                  <a:lnTo>
                    <a:pt x="177800" y="0"/>
                  </a:lnTo>
                  <a:lnTo>
                    <a:pt x="177800" y="1638300"/>
                  </a:lnTo>
                  <a:lnTo>
                    <a:pt x="0" y="16383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794000" y="2324100"/>
              <a:ext cx="177800" cy="1638300"/>
            </a:xfrm>
            <a:custGeom>
              <a:avLst/>
              <a:gdLst/>
              <a:ahLst/>
              <a:cxnLst/>
              <a:rect l="l" t="t" r="r" b="b"/>
              <a:pathLst>
                <a:path w="177800" h="1638300">
                  <a:moveTo>
                    <a:pt x="177800" y="0"/>
                  </a:moveTo>
                  <a:lnTo>
                    <a:pt x="0" y="0"/>
                  </a:lnTo>
                  <a:lnTo>
                    <a:pt x="0" y="1638300"/>
                  </a:lnTo>
                  <a:lnTo>
                    <a:pt x="177800" y="1638300"/>
                  </a:lnTo>
                  <a:lnTo>
                    <a:pt x="17780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794000" y="2324100"/>
              <a:ext cx="177800" cy="1638300"/>
            </a:xfrm>
            <a:custGeom>
              <a:avLst/>
              <a:gdLst/>
              <a:ahLst/>
              <a:cxnLst/>
              <a:rect l="l" t="t" r="r" b="b"/>
              <a:pathLst>
                <a:path w="177800" h="1638300">
                  <a:moveTo>
                    <a:pt x="0" y="0"/>
                  </a:moveTo>
                  <a:lnTo>
                    <a:pt x="177800" y="0"/>
                  </a:lnTo>
                  <a:lnTo>
                    <a:pt x="177800" y="1638300"/>
                  </a:lnTo>
                  <a:lnTo>
                    <a:pt x="0" y="16383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1596389" y="1938972"/>
            <a:ext cx="202565" cy="821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EBEBEB"/>
                </a:solidFill>
                <a:latin typeface="Arial MT"/>
                <a:cs typeface="Arial MT"/>
              </a:rPr>
              <a:t>CS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Arial MT"/>
              <a:cs typeface="Arial MT"/>
            </a:endParaRPr>
          </a:p>
          <a:p>
            <a:pPr marL="23495">
              <a:lnSpc>
                <a:spcPct val="100000"/>
              </a:lnSpc>
            </a:pPr>
            <a:r>
              <a:rPr sz="1000" spc="-5" dirty="0">
                <a:solidFill>
                  <a:srgbClr val="EBEBEB"/>
                </a:solidFill>
                <a:latin typeface="Arial MT"/>
                <a:cs typeface="Arial MT"/>
              </a:rPr>
              <a:t>A0</a:t>
            </a:r>
            <a:endParaRPr sz="1000">
              <a:latin typeface="Arial MT"/>
              <a:cs typeface="Arial MT"/>
            </a:endParaRPr>
          </a:p>
          <a:p>
            <a:pPr marL="23495" marR="15240">
              <a:lnSpc>
                <a:spcPct val="100000"/>
              </a:lnSpc>
            </a:pPr>
            <a:r>
              <a:rPr sz="1000" dirty="0">
                <a:solidFill>
                  <a:srgbClr val="EBEBEB"/>
                </a:solidFill>
                <a:latin typeface="Arial MT"/>
                <a:cs typeface="Arial MT"/>
              </a:rPr>
              <a:t>… </a:t>
            </a:r>
            <a:r>
              <a:rPr sz="1000" spc="-26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EBEBEB"/>
                </a:solidFill>
                <a:latin typeface="Arial MT"/>
                <a:cs typeface="Arial MT"/>
              </a:rPr>
              <a:t>A</a:t>
            </a:r>
            <a:r>
              <a:rPr sz="1000" dirty="0">
                <a:solidFill>
                  <a:srgbClr val="EBEBEB"/>
                </a:solidFill>
                <a:latin typeface="Arial MT"/>
                <a:cs typeface="Arial MT"/>
              </a:rPr>
              <a:t>9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343275" y="3190875"/>
            <a:ext cx="641350" cy="118745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88265" rIns="0" bIns="0" rtlCol="0">
            <a:spAutoFit/>
          </a:bodyPr>
          <a:lstStyle/>
          <a:p>
            <a:pPr marR="6985" algn="ctr">
              <a:lnSpc>
                <a:spcPct val="100000"/>
              </a:lnSpc>
              <a:spcBef>
                <a:spcPts val="695"/>
              </a:spcBef>
            </a:pPr>
            <a:r>
              <a:rPr sz="1000" dirty="0">
                <a:solidFill>
                  <a:srgbClr val="EBEBEB"/>
                </a:solidFill>
                <a:latin typeface="Arial MT"/>
                <a:cs typeface="Arial MT"/>
              </a:rPr>
              <a:t>CS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081587" y="3216275"/>
            <a:ext cx="640080" cy="118745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 marL="15240" algn="ctr">
              <a:lnSpc>
                <a:spcPct val="100000"/>
              </a:lnSpc>
              <a:spcBef>
                <a:spcPts val="480"/>
              </a:spcBef>
            </a:pPr>
            <a:r>
              <a:rPr sz="1000" dirty="0">
                <a:solidFill>
                  <a:srgbClr val="EBEBEB"/>
                </a:solidFill>
                <a:latin typeface="Arial MT"/>
                <a:cs typeface="Arial MT"/>
              </a:rPr>
              <a:t>CS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3570287" y="3248025"/>
            <a:ext cx="1916430" cy="24130"/>
            <a:chOff x="3570287" y="3248025"/>
            <a:chExt cx="1916430" cy="24130"/>
          </a:xfrm>
        </p:grpSpPr>
        <p:sp>
          <p:nvSpPr>
            <p:cNvPr id="51" name="object 51"/>
            <p:cNvSpPr/>
            <p:nvPr/>
          </p:nvSpPr>
          <p:spPr>
            <a:xfrm>
              <a:off x="3570287" y="3254375"/>
              <a:ext cx="163830" cy="0"/>
            </a:xfrm>
            <a:custGeom>
              <a:avLst/>
              <a:gdLst/>
              <a:ahLst/>
              <a:cxnLst/>
              <a:rect l="l" t="t" r="r" b="b"/>
              <a:pathLst>
                <a:path w="163829">
                  <a:moveTo>
                    <a:pt x="0" y="0"/>
                  </a:moveTo>
                  <a:lnTo>
                    <a:pt x="163512" y="0"/>
                  </a:lnTo>
                </a:path>
              </a:pathLst>
            </a:custGeom>
            <a:ln w="1270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322887" y="3265487"/>
              <a:ext cx="163830" cy="0"/>
            </a:xfrm>
            <a:custGeom>
              <a:avLst/>
              <a:gdLst/>
              <a:ahLst/>
              <a:cxnLst/>
              <a:rect l="l" t="t" r="r" b="b"/>
              <a:pathLst>
                <a:path w="163829">
                  <a:moveTo>
                    <a:pt x="0" y="0"/>
                  </a:moveTo>
                  <a:lnTo>
                    <a:pt x="163512" y="0"/>
                  </a:lnTo>
                </a:path>
              </a:pathLst>
            </a:custGeom>
            <a:ln w="1270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6873361" y="3951922"/>
            <a:ext cx="191770" cy="1013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EBEBEB"/>
                </a:solidFill>
                <a:latin typeface="Arial MT"/>
                <a:cs typeface="Arial MT"/>
              </a:rPr>
              <a:t>D0</a:t>
            </a:r>
            <a:endParaRPr sz="1000">
              <a:latin typeface="Arial MT"/>
              <a:cs typeface="Arial MT"/>
            </a:endParaRPr>
          </a:p>
          <a:p>
            <a:pPr marL="15240" marR="5080">
              <a:lnSpc>
                <a:spcPct val="100000"/>
              </a:lnSpc>
            </a:pPr>
            <a:r>
              <a:rPr sz="1000" dirty="0">
                <a:solidFill>
                  <a:srgbClr val="EBEBEB"/>
                </a:solidFill>
                <a:latin typeface="Arial MT"/>
                <a:cs typeface="Arial MT"/>
              </a:rPr>
              <a:t>… </a:t>
            </a:r>
            <a:r>
              <a:rPr sz="1000" spc="-26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EBEBEB"/>
                </a:solidFill>
                <a:latin typeface="Arial MT"/>
                <a:cs typeface="Arial MT"/>
              </a:rPr>
              <a:t>D3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000" dirty="0">
                <a:solidFill>
                  <a:srgbClr val="EBEBEB"/>
                </a:solidFill>
                <a:latin typeface="Arial MT"/>
                <a:cs typeface="Arial MT"/>
              </a:rPr>
              <a:t>D4</a:t>
            </a:r>
            <a:endParaRPr sz="1000">
              <a:latin typeface="Arial MT"/>
              <a:cs typeface="Arial MT"/>
            </a:endParaRPr>
          </a:p>
          <a:p>
            <a:pPr marL="12700" marR="7620">
              <a:lnSpc>
                <a:spcPct val="100000"/>
              </a:lnSpc>
            </a:pPr>
            <a:r>
              <a:rPr sz="1000" dirty="0">
                <a:solidFill>
                  <a:srgbClr val="EBEBEB"/>
                </a:solidFill>
                <a:latin typeface="Arial MT"/>
                <a:cs typeface="Arial MT"/>
              </a:rPr>
              <a:t>… </a:t>
            </a:r>
            <a:r>
              <a:rPr sz="1000" spc="-26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EBEBEB"/>
                </a:solidFill>
                <a:latin typeface="Arial MT"/>
                <a:cs typeface="Arial MT"/>
              </a:rPr>
              <a:t>D7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4" name="object 5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r>
              <a:rPr spc="-5" dirty="0"/>
              <a:t>32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41903" y="2825750"/>
            <a:ext cx="219837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Interrupts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72560" y="814069"/>
            <a:ext cx="219837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Interrupts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59355"/>
            <a:ext cx="7545070" cy="450405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marR="5080" indent="-343535">
              <a:lnSpc>
                <a:spcPts val="3020"/>
              </a:lnSpc>
              <a:spcBef>
                <a:spcPts val="484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latin typeface="Times New Roman"/>
                <a:cs typeface="Times New Roman"/>
              </a:rPr>
              <a:t>Interrupt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5" dirty="0">
                <a:latin typeface="Times New Roman"/>
                <a:cs typeface="Times New Roman"/>
              </a:rPr>
              <a:t> process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where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 external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device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can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get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attention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microprocessor.</a:t>
            </a:r>
            <a:endParaRPr sz="28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259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process </a:t>
            </a:r>
            <a:r>
              <a:rPr sz="2400" spc="-5" dirty="0">
                <a:solidFill>
                  <a:srgbClr val="339933"/>
                </a:solidFill>
                <a:latin typeface="Times New Roman"/>
                <a:cs typeface="Times New Roman"/>
              </a:rPr>
              <a:t>starts</a:t>
            </a:r>
            <a:r>
              <a:rPr sz="2400" dirty="0">
                <a:solidFill>
                  <a:srgbClr val="339933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from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I/O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device</a:t>
            </a:r>
            <a:endParaRPr sz="24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285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process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 </a:t>
            </a:r>
            <a:r>
              <a:rPr sz="2400" dirty="0">
                <a:solidFill>
                  <a:srgbClr val="339933"/>
                </a:solidFill>
                <a:latin typeface="Times New Roman"/>
                <a:cs typeface="Times New Roman"/>
              </a:rPr>
              <a:t>asynchronous</a:t>
            </a:r>
            <a:r>
              <a:rPr sz="24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164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Interrupts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can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classified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into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two</a:t>
            </a:r>
            <a:r>
              <a:rPr sz="2800" spc="-5" dirty="0">
                <a:latin typeface="Times New Roman"/>
                <a:cs typeface="Times New Roman"/>
              </a:rPr>
              <a:t> types:</a:t>
            </a:r>
            <a:endParaRPr sz="2800">
              <a:latin typeface="Times New Roman"/>
              <a:cs typeface="Times New Roman"/>
            </a:endParaRPr>
          </a:p>
          <a:p>
            <a:pPr marL="1155700" indent="-229235">
              <a:lnSpc>
                <a:spcPct val="100000"/>
              </a:lnSpc>
              <a:spcBef>
                <a:spcPts val="270"/>
              </a:spcBef>
              <a:buChar char="•"/>
              <a:tabLst>
                <a:tab pos="1155065" algn="l"/>
                <a:tab pos="1155700" algn="l"/>
              </a:tabLst>
            </a:pPr>
            <a:r>
              <a:rPr sz="2000" u="sng" spc="-5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Maskable</a:t>
            </a:r>
            <a:r>
              <a:rPr sz="2000" spc="-3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(can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be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delayed)</a:t>
            </a:r>
            <a:endParaRPr sz="2000">
              <a:latin typeface="Times New Roman"/>
              <a:cs typeface="Times New Roman"/>
            </a:endParaRPr>
          </a:p>
          <a:p>
            <a:pPr marL="1155700" indent="-229235">
              <a:lnSpc>
                <a:spcPct val="100000"/>
              </a:lnSpc>
              <a:spcBef>
                <a:spcPts val="240"/>
              </a:spcBef>
              <a:buChar char="•"/>
              <a:tabLst>
                <a:tab pos="1155065" algn="l"/>
                <a:tab pos="1155700" algn="l"/>
              </a:tabLst>
            </a:pPr>
            <a:r>
              <a:rPr sz="2000" u="sng" spc="-5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Non-Maskable</a:t>
            </a:r>
            <a:r>
              <a:rPr sz="2000" spc="-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(can not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be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delayed)</a:t>
            </a:r>
            <a:endParaRPr sz="200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1760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Interrupts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can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also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classified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into:</a:t>
            </a:r>
            <a:endParaRPr sz="2800">
              <a:latin typeface="Times New Roman"/>
              <a:cs typeface="Times New Roman"/>
            </a:endParaRPr>
          </a:p>
          <a:p>
            <a:pPr marL="1155700" lvl="1" indent="-229235">
              <a:lnSpc>
                <a:spcPct val="100000"/>
              </a:lnSpc>
              <a:spcBef>
                <a:spcPts val="259"/>
              </a:spcBef>
              <a:buChar char="•"/>
              <a:tabLst>
                <a:tab pos="1155065" algn="l"/>
                <a:tab pos="1155700" algn="l"/>
              </a:tabLst>
            </a:pPr>
            <a:r>
              <a:rPr sz="1900" u="sng" spc="-5" dirty="0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  <a:latin typeface="Times New Roman"/>
                <a:cs typeface="Times New Roman"/>
              </a:rPr>
              <a:t>Vectored</a:t>
            </a:r>
            <a:r>
              <a:rPr sz="1900" spc="-1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(the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address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of</a:t>
            </a:r>
            <a:r>
              <a:rPr sz="1900" spc="-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service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routine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is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hard-wired)</a:t>
            </a:r>
            <a:endParaRPr sz="1900">
              <a:latin typeface="Times New Roman"/>
              <a:cs typeface="Times New Roman"/>
            </a:endParaRPr>
          </a:p>
          <a:p>
            <a:pPr marL="1155700" marR="592455" lvl="1" indent="-228600">
              <a:lnSpc>
                <a:spcPts val="2050"/>
              </a:lnSpc>
              <a:spcBef>
                <a:spcPts val="484"/>
              </a:spcBef>
              <a:buChar char="•"/>
              <a:tabLst>
                <a:tab pos="1155065" algn="l"/>
                <a:tab pos="1155700" algn="l"/>
              </a:tabLst>
            </a:pPr>
            <a:r>
              <a:rPr sz="1900" u="sng" spc="-5" dirty="0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  <a:latin typeface="Times New Roman"/>
                <a:cs typeface="Times New Roman"/>
              </a:rPr>
              <a:t>Non-vectored</a:t>
            </a:r>
            <a:r>
              <a:rPr sz="1900" spc="-2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(the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address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of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service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routine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needs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to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be </a:t>
            </a:r>
            <a:r>
              <a:rPr sz="1900" spc="-459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supplied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externally)</a:t>
            </a:r>
            <a:endParaRPr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72560" y="814069"/>
            <a:ext cx="219837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Interrupts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59355"/>
            <a:ext cx="7115175" cy="444690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marR="189865" indent="-343535">
              <a:lnSpc>
                <a:spcPts val="3020"/>
              </a:lnSpc>
              <a:spcBef>
                <a:spcPts val="484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interrupt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considered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990000"/>
                </a:solidFill>
                <a:latin typeface="Times New Roman"/>
                <a:cs typeface="Times New Roman"/>
              </a:rPr>
              <a:t>emergency </a:t>
            </a:r>
            <a:r>
              <a:rPr sz="2800" spc="-68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signal.</a:t>
            </a:r>
            <a:endParaRPr sz="2800">
              <a:latin typeface="Times New Roman"/>
              <a:cs typeface="Times New Roman"/>
            </a:endParaRPr>
          </a:p>
          <a:p>
            <a:pPr marL="755650" marR="89535" lvl="1" indent="-285750">
              <a:lnSpc>
                <a:spcPts val="2590"/>
              </a:lnSpc>
              <a:spcBef>
                <a:spcPts val="585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spc="-5" dirty="0">
                <a:latin typeface="Times New Roman"/>
                <a:cs typeface="Times New Roman"/>
              </a:rPr>
              <a:t>The Microprocessor should </a:t>
            </a:r>
            <a:r>
              <a:rPr sz="2400" dirty="0">
                <a:latin typeface="Times New Roman"/>
                <a:cs typeface="Times New Roman"/>
              </a:rPr>
              <a:t>respond to </a:t>
            </a:r>
            <a:r>
              <a:rPr sz="2400" spc="-5" dirty="0">
                <a:latin typeface="Times New Roman"/>
                <a:cs typeface="Times New Roman"/>
              </a:rPr>
              <a:t>it 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as </a:t>
            </a:r>
            <a:r>
              <a:rPr sz="2400" dirty="0">
                <a:solidFill>
                  <a:srgbClr val="990000"/>
                </a:solidFill>
                <a:latin typeface="Times New Roman"/>
                <a:cs typeface="Times New Roman"/>
              </a:rPr>
              <a:t>soon 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as </a:t>
            </a:r>
            <a:r>
              <a:rPr sz="2400" spc="-58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possible</a:t>
            </a:r>
            <a:r>
              <a:rPr sz="2400" spc="-5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buFont typeface="Times New Roman"/>
              <a:buChar char="–"/>
            </a:pPr>
            <a:endParaRPr sz="3800">
              <a:latin typeface="Times New Roman"/>
              <a:cs typeface="Times New Roman"/>
            </a:endParaRPr>
          </a:p>
          <a:p>
            <a:pPr marL="355600" marR="73660" indent="-343535">
              <a:lnSpc>
                <a:spcPts val="3020"/>
              </a:lnSpc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When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Microprocessor receives an </a:t>
            </a:r>
            <a:r>
              <a:rPr sz="2800" dirty="0">
                <a:latin typeface="Times New Roman"/>
                <a:cs typeface="Times New Roman"/>
              </a:rPr>
              <a:t>interrupt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signal, </a:t>
            </a:r>
            <a:r>
              <a:rPr sz="2800" dirty="0">
                <a:latin typeface="Times New Roman"/>
                <a:cs typeface="Times New Roman"/>
              </a:rPr>
              <a:t>it </a:t>
            </a:r>
            <a:r>
              <a:rPr sz="2800" spc="-5" dirty="0">
                <a:solidFill>
                  <a:srgbClr val="990000"/>
                </a:solidFill>
                <a:latin typeface="Times New Roman"/>
                <a:cs typeface="Times New Roman"/>
              </a:rPr>
              <a:t>suspends </a:t>
            </a:r>
            <a:r>
              <a:rPr sz="2800" dirty="0">
                <a:solidFill>
                  <a:srgbClr val="990000"/>
                </a:solidFill>
                <a:latin typeface="Times New Roman"/>
                <a:cs typeface="Times New Roman"/>
              </a:rPr>
              <a:t>the </a:t>
            </a:r>
            <a:r>
              <a:rPr sz="2800" spc="-5" dirty="0">
                <a:solidFill>
                  <a:srgbClr val="990000"/>
                </a:solidFill>
                <a:latin typeface="Times New Roman"/>
                <a:cs typeface="Times New Roman"/>
              </a:rPr>
              <a:t>currently executing </a:t>
            </a:r>
            <a:r>
              <a:rPr sz="2800" dirty="0">
                <a:solidFill>
                  <a:srgbClr val="990000"/>
                </a:solidFill>
                <a:latin typeface="Times New Roman"/>
                <a:cs typeface="Times New Roman"/>
              </a:rPr>
              <a:t> program </a:t>
            </a:r>
            <a:r>
              <a:rPr sz="2800" spc="-5" dirty="0">
                <a:latin typeface="Times New Roman"/>
                <a:cs typeface="Times New Roman"/>
              </a:rPr>
              <a:t>and </a:t>
            </a:r>
            <a:r>
              <a:rPr sz="2800" spc="-5" dirty="0">
                <a:solidFill>
                  <a:srgbClr val="990000"/>
                </a:solidFill>
                <a:latin typeface="Times New Roman"/>
                <a:cs typeface="Times New Roman"/>
              </a:rPr>
              <a:t>jumps </a:t>
            </a:r>
            <a:r>
              <a:rPr sz="2800" dirty="0">
                <a:solidFill>
                  <a:srgbClr val="990000"/>
                </a:solidFill>
                <a:latin typeface="Times New Roman"/>
                <a:cs typeface="Times New Roman"/>
              </a:rPr>
              <a:t>to </a:t>
            </a:r>
            <a:r>
              <a:rPr sz="2800" spc="-5" dirty="0">
                <a:solidFill>
                  <a:srgbClr val="990000"/>
                </a:solidFill>
                <a:latin typeface="Times New Roman"/>
                <a:cs typeface="Times New Roman"/>
              </a:rPr>
              <a:t>an </a:t>
            </a:r>
            <a:r>
              <a:rPr sz="2800" dirty="0">
                <a:solidFill>
                  <a:srgbClr val="990000"/>
                </a:solidFill>
                <a:latin typeface="Times New Roman"/>
                <a:cs typeface="Times New Roman"/>
              </a:rPr>
              <a:t>Interrupt </a:t>
            </a:r>
            <a:r>
              <a:rPr sz="2800" spc="-5" dirty="0">
                <a:solidFill>
                  <a:srgbClr val="990000"/>
                </a:solidFill>
                <a:latin typeface="Times New Roman"/>
                <a:cs typeface="Times New Roman"/>
              </a:rPr>
              <a:t>Service </a:t>
            </a:r>
            <a:r>
              <a:rPr sz="280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990000"/>
                </a:solidFill>
                <a:latin typeface="Times New Roman"/>
                <a:cs typeface="Times New Roman"/>
              </a:rPr>
              <a:t>Routine </a:t>
            </a:r>
            <a:r>
              <a:rPr sz="2800" spc="-5" dirty="0">
                <a:latin typeface="Times New Roman"/>
                <a:cs typeface="Times New Roman"/>
              </a:rPr>
              <a:t>(ISR) </a:t>
            </a:r>
            <a:r>
              <a:rPr sz="2800" dirty="0">
                <a:latin typeface="Times New Roman"/>
                <a:cs typeface="Times New Roman"/>
              </a:rPr>
              <a:t>to respond to the </a:t>
            </a:r>
            <a:r>
              <a:rPr sz="2800" spc="-5" dirty="0">
                <a:latin typeface="Times New Roman"/>
                <a:cs typeface="Times New Roman"/>
              </a:rPr>
              <a:t>incoming 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interrupt.</a:t>
            </a:r>
            <a:endParaRPr sz="28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270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Each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interrupt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will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most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probably </a:t>
            </a:r>
            <a:r>
              <a:rPr sz="2400" dirty="0">
                <a:latin typeface="Times New Roman"/>
                <a:cs typeface="Times New Roman"/>
              </a:rPr>
              <a:t>have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its </a:t>
            </a:r>
            <a:r>
              <a:rPr sz="2400" dirty="0">
                <a:latin typeface="Times New Roman"/>
                <a:cs typeface="Times New Roman"/>
              </a:rPr>
              <a:t>own </a:t>
            </a:r>
            <a:r>
              <a:rPr sz="2400" spc="-5" dirty="0">
                <a:latin typeface="Times New Roman"/>
                <a:cs typeface="Times New Roman"/>
              </a:rPr>
              <a:t>ISR.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80920" y="814069"/>
            <a:ext cx="558292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Responding</a:t>
            </a:r>
            <a:r>
              <a:rPr spc="-20" dirty="0"/>
              <a:t> </a:t>
            </a:r>
            <a:r>
              <a:rPr spc="-5" dirty="0"/>
              <a:t>to</a:t>
            </a:r>
            <a:r>
              <a:rPr spc="-10" dirty="0"/>
              <a:t> </a:t>
            </a:r>
            <a:r>
              <a:rPr spc="-5" dirty="0"/>
              <a:t>Interrupts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59355"/>
            <a:ext cx="7526020" cy="444690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marR="68580" indent="-342900">
              <a:lnSpc>
                <a:spcPts val="3020"/>
              </a:lnSpc>
              <a:spcBef>
                <a:spcPts val="484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Responding </a:t>
            </a:r>
            <a:r>
              <a:rPr sz="2800" dirty="0">
                <a:latin typeface="Times New Roman"/>
                <a:cs typeface="Times New Roman"/>
              </a:rPr>
              <a:t>to </a:t>
            </a:r>
            <a:r>
              <a:rPr sz="2800" spc="-5" dirty="0">
                <a:latin typeface="Times New Roman"/>
                <a:cs typeface="Times New Roman"/>
              </a:rPr>
              <a:t>an </a:t>
            </a:r>
            <a:r>
              <a:rPr sz="2800" dirty="0">
                <a:latin typeface="Times New Roman"/>
                <a:cs typeface="Times New Roman"/>
              </a:rPr>
              <a:t>interrupt </a:t>
            </a:r>
            <a:r>
              <a:rPr sz="2800" spc="-5" dirty="0">
                <a:latin typeface="Times New Roman"/>
                <a:cs typeface="Times New Roman"/>
              </a:rPr>
              <a:t>may </a:t>
            </a:r>
            <a:r>
              <a:rPr sz="2800" dirty="0">
                <a:latin typeface="Times New Roman"/>
                <a:cs typeface="Times New Roman"/>
              </a:rPr>
              <a:t>be </a:t>
            </a:r>
            <a:r>
              <a:rPr sz="2800" spc="-5" dirty="0">
                <a:solidFill>
                  <a:srgbClr val="990000"/>
                </a:solidFill>
                <a:latin typeface="Times New Roman"/>
                <a:cs typeface="Times New Roman"/>
              </a:rPr>
              <a:t>immediate </a:t>
            </a:r>
            <a:r>
              <a:rPr sz="2800" dirty="0">
                <a:latin typeface="Times New Roman"/>
                <a:cs typeface="Times New Roman"/>
              </a:rPr>
              <a:t>or 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990000"/>
                </a:solidFill>
                <a:latin typeface="Times New Roman"/>
                <a:cs typeface="Times New Roman"/>
              </a:rPr>
              <a:t>delayed </a:t>
            </a:r>
            <a:r>
              <a:rPr sz="2800" spc="-5" dirty="0">
                <a:latin typeface="Times New Roman"/>
                <a:cs typeface="Times New Roman"/>
              </a:rPr>
              <a:t>depending </a:t>
            </a:r>
            <a:r>
              <a:rPr sz="2800" dirty="0">
                <a:latin typeface="Times New Roman"/>
                <a:cs typeface="Times New Roman"/>
              </a:rPr>
              <a:t>on </a:t>
            </a:r>
            <a:r>
              <a:rPr sz="2800" spc="-5" dirty="0">
                <a:latin typeface="Times New Roman"/>
                <a:cs typeface="Times New Roman"/>
              </a:rPr>
              <a:t>whether </a:t>
            </a:r>
            <a:r>
              <a:rPr sz="2800" dirty="0">
                <a:latin typeface="Times New Roman"/>
                <a:cs typeface="Times New Roman"/>
              </a:rPr>
              <a:t>the interrupt is 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maskable </a:t>
            </a:r>
            <a:r>
              <a:rPr sz="2800" dirty="0">
                <a:latin typeface="Times New Roman"/>
                <a:cs typeface="Times New Roman"/>
              </a:rPr>
              <a:t>or </a:t>
            </a:r>
            <a:r>
              <a:rPr sz="2800" spc="-5" dirty="0">
                <a:latin typeface="Times New Roman"/>
                <a:cs typeface="Times New Roman"/>
              </a:rPr>
              <a:t>non-maskable and whether interrupts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are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being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masked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not.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Times New Roman"/>
              <a:buChar char="•"/>
            </a:pPr>
            <a:endParaRPr sz="3800">
              <a:latin typeface="Times New Roman"/>
              <a:cs typeface="Times New Roman"/>
            </a:endParaRPr>
          </a:p>
          <a:p>
            <a:pPr marL="355600" marR="5080" indent="-343535">
              <a:lnSpc>
                <a:spcPts val="3020"/>
              </a:lnSpc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There are </a:t>
            </a:r>
            <a:r>
              <a:rPr sz="2800" dirty="0">
                <a:latin typeface="Times New Roman"/>
                <a:cs typeface="Times New Roman"/>
              </a:rPr>
              <a:t>two </a:t>
            </a:r>
            <a:r>
              <a:rPr sz="2800" spc="-5" dirty="0">
                <a:latin typeface="Times New Roman"/>
                <a:cs typeface="Times New Roman"/>
              </a:rPr>
              <a:t>ways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5" dirty="0">
                <a:latin typeface="Times New Roman"/>
                <a:cs typeface="Times New Roman"/>
              </a:rPr>
              <a:t>redirecting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execution </a:t>
            </a:r>
            <a:r>
              <a:rPr sz="2800" dirty="0">
                <a:latin typeface="Times New Roman"/>
                <a:cs typeface="Times New Roman"/>
              </a:rPr>
              <a:t>to </a:t>
            </a:r>
            <a:r>
              <a:rPr sz="2800" spc="-6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 ISR </a:t>
            </a:r>
            <a:r>
              <a:rPr sz="2800" spc="-5" dirty="0">
                <a:latin typeface="Times New Roman"/>
                <a:cs typeface="Times New Roman"/>
              </a:rPr>
              <a:t>depending </a:t>
            </a:r>
            <a:r>
              <a:rPr sz="2800" dirty="0">
                <a:latin typeface="Times New Roman"/>
                <a:cs typeface="Times New Roman"/>
              </a:rPr>
              <a:t>on </a:t>
            </a:r>
            <a:r>
              <a:rPr sz="2800" spc="-5" dirty="0">
                <a:latin typeface="Times New Roman"/>
                <a:cs typeface="Times New Roman"/>
              </a:rPr>
              <a:t>whether </a:t>
            </a:r>
            <a:r>
              <a:rPr sz="2800" dirty="0">
                <a:latin typeface="Times New Roman"/>
                <a:cs typeface="Times New Roman"/>
              </a:rPr>
              <a:t>the interrupt is 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vectored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5" dirty="0">
                <a:latin typeface="Times New Roman"/>
                <a:cs typeface="Times New Roman"/>
              </a:rPr>
              <a:t> non-vectored.</a:t>
            </a:r>
            <a:endParaRPr sz="28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260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vector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already</a:t>
            </a:r>
            <a:r>
              <a:rPr sz="2400" spc="-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990000"/>
                </a:solidFill>
                <a:latin typeface="Times New Roman"/>
                <a:cs typeface="Times New Roman"/>
              </a:rPr>
              <a:t>known</a:t>
            </a:r>
            <a:r>
              <a:rPr sz="2400" spc="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Microprocessor</a:t>
            </a:r>
            <a:endParaRPr sz="2400">
              <a:latin typeface="Times New Roman"/>
              <a:cs typeface="Times New Roman"/>
            </a:endParaRPr>
          </a:p>
          <a:p>
            <a:pPr marL="755650" marR="974090" lvl="1" indent="-286385">
              <a:lnSpc>
                <a:spcPts val="2590"/>
              </a:lnSpc>
              <a:spcBef>
                <a:spcPts val="615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The 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device will </a:t>
            </a:r>
            <a:r>
              <a:rPr sz="2400" dirty="0">
                <a:solidFill>
                  <a:srgbClr val="990000"/>
                </a:solidFill>
                <a:latin typeface="Times New Roman"/>
                <a:cs typeface="Times New Roman"/>
              </a:rPr>
              <a:t>have 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to supply </a:t>
            </a:r>
            <a:r>
              <a:rPr sz="2400" spc="-5" dirty="0">
                <a:latin typeface="Times New Roman"/>
                <a:cs typeface="Times New Roman"/>
              </a:rPr>
              <a:t>the vector to the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Microprocessor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40260" y="814069"/>
            <a:ext cx="446341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The</a:t>
            </a:r>
            <a:r>
              <a:rPr spc="-30" dirty="0"/>
              <a:t> </a:t>
            </a:r>
            <a:r>
              <a:rPr spc="-5" dirty="0"/>
              <a:t>8085</a:t>
            </a:r>
            <a:r>
              <a:rPr spc="-30" dirty="0"/>
              <a:t> </a:t>
            </a:r>
            <a:r>
              <a:rPr spc="-5" dirty="0"/>
              <a:t>Interrupts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2002027"/>
            <a:ext cx="7514590" cy="39897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172085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-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u="heavy" spc="-5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maskable</a:t>
            </a:r>
            <a:r>
              <a:rPr sz="2800" spc="-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interrupt </a:t>
            </a:r>
            <a:r>
              <a:rPr sz="2800" spc="-5" dirty="0">
                <a:latin typeface="Times New Roman"/>
                <a:cs typeface="Times New Roman"/>
              </a:rPr>
              <a:t>process </a:t>
            </a:r>
            <a:r>
              <a:rPr sz="2800" dirty="0">
                <a:latin typeface="Times New Roman"/>
                <a:cs typeface="Times New Roman"/>
              </a:rPr>
              <a:t>in the 8085 is 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controlled </a:t>
            </a:r>
            <a:r>
              <a:rPr sz="2800" dirty="0">
                <a:latin typeface="Times New Roman"/>
                <a:cs typeface="Times New Roman"/>
              </a:rPr>
              <a:t>by a single flip flop inside the 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microprocessor. This</a:t>
            </a:r>
            <a:r>
              <a:rPr sz="2800" spc="-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u="heavy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Interrupt </a:t>
            </a:r>
            <a:r>
              <a:rPr sz="2800" u="heavy" spc="-5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Enable</a:t>
            </a:r>
            <a:r>
              <a:rPr sz="2800" spc="-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990000"/>
                </a:solidFill>
                <a:latin typeface="Times New Roman"/>
                <a:cs typeface="Times New Roman"/>
              </a:rPr>
              <a:t>flip flop </a:t>
            </a:r>
            <a:r>
              <a:rPr sz="2800" dirty="0">
                <a:latin typeface="Times New Roman"/>
                <a:cs typeface="Times New Roman"/>
              </a:rPr>
              <a:t>is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controlled </a:t>
            </a:r>
            <a:r>
              <a:rPr sz="2800" dirty="0">
                <a:latin typeface="Times New Roman"/>
                <a:cs typeface="Times New Roman"/>
              </a:rPr>
              <a:t>using the two </a:t>
            </a:r>
            <a:r>
              <a:rPr sz="2800" spc="-5" dirty="0">
                <a:latin typeface="Times New Roman"/>
                <a:cs typeface="Times New Roman"/>
              </a:rPr>
              <a:t>instructions “EI” and 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“DI”.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Times New Roman"/>
              <a:buChar char="•"/>
            </a:pPr>
            <a:endParaRPr sz="405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8085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has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single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990000"/>
                </a:solidFill>
                <a:latin typeface="Times New Roman"/>
                <a:cs typeface="Times New Roman"/>
              </a:rPr>
              <a:t>Non-Maskable</a:t>
            </a:r>
            <a:r>
              <a:rPr sz="2800" spc="-2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interrupt.</a:t>
            </a:r>
            <a:endParaRPr sz="2800">
              <a:latin typeface="Times New Roman"/>
              <a:cs typeface="Times New Roman"/>
            </a:endParaRPr>
          </a:p>
          <a:p>
            <a:pPr marL="755650" marR="5080" indent="-286385">
              <a:lnSpc>
                <a:spcPct val="100000"/>
              </a:lnSpc>
              <a:spcBef>
                <a:spcPts val="590"/>
              </a:spcBef>
              <a:tabLst>
                <a:tab pos="755015" algn="l"/>
              </a:tabLst>
            </a:pPr>
            <a:r>
              <a:rPr sz="2400" dirty="0">
                <a:latin typeface="Times New Roman"/>
                <a:cs typeface="Times New Roman"/>
              </a:rPr>
              <a:t>–	</a:t>
            </a:r>
            <a:r>
              <a:rPr sz="2400" spc="-5" dirty="0">
                <a:latin typeface="Times New Roman"/>
                <a:cs typeface="Times New Roman"/>
              </a:rPr>
              <a:t>The non-maskable interrupt is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u="heavy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not </a:t>
            </a:r>
            <a:r>
              <a:rPr sz="2400" u="heavy" spc="-5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affected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 the </a:t>
            </a:r>
            <a:r>
              <a:rPr sz="2400" spc="-5" dirty="0">
                <a:latin typeface="Times New Roman"/>
                <a:cs typeface="Times New Roman"/>
              </a:rPr>
              <a:t>value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 Interrupt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Enable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flip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flop.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40260" y="814069"/>
            <a:ext cx="446341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The</a:t>
            </a:r>
            <a:r>
              <a:rPr spc="-30" dirty="0"/>
              <a:t> </a:t>
            </a:r>
            <a:r>
              <a:rPr spc="-5" dirty="0"/>
              <a:t>8085</a:t>
            </a:r>
            <a:r>
              <a:rPr spc="-30" dirty="0"/>
              <a:t> </a:t>
            </a:r>
            <a:r>
              <a:rPr spc="-5" dirty="0"/>
              <a:t>Interrupts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15229"/>
            <a:ext cx="7245350" cy="411480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450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8085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has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5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interrupt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inputs.</a:t>
            </a:r>
            <a:endParaRPr sz="28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295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INTR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input.</a:t>
            </a:r>
            <a:endParaRPr sz="2400">
              <a:latin typeface="Times New Roman"/>
              <a:cs typeface="Times New Roman"/>
            </a:endParaRPr>
          </a:p>
          <a:p>
            <a:pPr marL="1155700" lvl="2" indent="-229870">
              <a:lnSpc>
                <a:spcPct val="100000"/>
              </a:lnSpc>
              <a:spcBef>
                <a:spcPts val="254"/>
              </a:spcBef>
              <a:buChar char="•"/>
              <a:tabLst>
                <a:tab pos="1155065" algn="l"/>
                <a:tab pos="1156335" algn="l"/>
              </a:tabLst>
            </a:pP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INTR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input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only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333CC"/>
                </a:solidFill>
                <a:latin typeface="Times New Roman"/>
                <a:cs typeface="Times New Roman"/>
              </a:rPr>
              <a:t>non-vectored</a:t>
            </a:r>
            <a:r>
              <a:rPr sz="2000" spc="1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interrupt.</a:t>
            </a:r>
            <a:endParaRPr sz="2000">
              <a:latin typeface="Times New Roman"/>
              <a:cs typeface="Times New Roman"/>
            </a:endParaRPr>
          </a:p>
          <a:p>
            <a:pPr marL="1155700" lvl="2" indent="-229235">
              <a:lnSpc>
                <a:spcPct val="100000"/>
              </a:lnSpc>
              <a:spcBef>
                <a:spcPts val="240"/>
              </a:spcBef>
              <a:buChar char="•"/>
              <a:tabLst>
                <a:tab pos="1155065" algn="l"/>
                <a:tab pos="1155700" algn="l"/>
              </a:tabLst>
            </a:pPr>
            <a:r>
              <a:rPr sz="2000" spc="-5" dirty="0">
                <a:latin typeface="Times New Roman"/>
                <a:cs typeface="Times New Roman"/>
              </a:rPr>
              <a:t>INTR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maskable</a:t>
            </a:r>
            <a:r>
              <a:rPr sz="2000" spc="-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using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EI/DI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instruction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pair.</a:t>
            </a:r>
            <a:endParaRPr sz="200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30"/>
              </a:spcBef>
              <a:buFont typeface="Times New Roman"/>
              <a:buChar char="•"/>
            </a:pPr>
            <a:endParaRPr sz="3250">
              <a:latin typeface="Times New Roman"/>
              <a:cs typeface="Times New Roman"/>
            </a:endParaRPr>
          </a:p>
          <a:p>
            <a:pPr marL="755650" marR="570230" lvl="1" indent="-286385">
              <a:lnSpc>
                <a:spcPts val="2590"/>
              </a:lnSpc>
              <a:spcBef>
                <a:spcPts val="5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RST </a:t>
            </a:r>
            <a:r>
              <a:rPr sz="2400" dirty="0">
                <a:latin typeface="Times New Roman"/>
                <a:cs typeface="Times New Roman"/>
              </a:rPr>
              <a:t>5.5, </a:t>
            </a:r>
            <a:r>
              <a:rPr sz="2400" spc="-5" dirty="0">
                <a:latin typeface="Times New Roman"/>
                <a:cs typeface="Times New Roman"/>
              </a:rPr>
              <a:t>RST </a:t>
            </a:r>
            <a:r>
              <a:rPr sz="2400" dirty="0">
                <a:latin typeface="Times New Roman"/>
                <a:cs typeface="Times New Roman"/>
              </a:rPr>
              <a:t>6.5, </a:t>
            </a:r>
            <a:r>
              <a:rPr sz="2400" spc="-5" dirty="0">
                <a:latin typeface="Times New Roman"/>
                <a:cs typeface="Times New Roman"/>
              </a:rPr>
              <a:t>RST </a:t>
            </a:r>
            <a:r>
              <a:rPr sz="2400" dirty="0">
                <a:latin typeface="Times New Roman"/>
                <a:cs typeface="Times New Roman"/>
              </a:rPr>
              <a:t>7.5 </a:t>
            </a:r>
            <a:r>
              <a:rPr sz="2400" spc="-5" dirty="0">
                <a:latin typeface="Times New Roman"/>
                <a:cs typeface="Times New Roman"/>
              </a:rPr>
              <a:t>are all </a:t>
            </a:r>
            <a:r>
              <a:rPr sz="2400" spc="-5" dirty="0">
                <a:solidFill>
                  <a:srgbClr val="3333CC"/>
                </a:solidFill>
                <a:latin typeface="Times New Roman"/>
                <a:cs typeface="Times New Roman"/>
              </a:rPr>
              <a:t>automatically </a:t>
            </a:r>
            <a:r>
              <a:rPr sz="2400" spc="-58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3333CC"/>
                </a:solidFill>
                <a:latin typeface="Times New Roman"/>
                <a:cs typeface="Times New Roman"/>
              </a:rPr>
              <a:t>vectored</a:t>
            </a:r>
            <a:r>
              <a:rPr sz="2400" spc="-5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1155700" lvl="2" indent="-229235">
              <a:lnSpc>
                <a:spcPct val="100000"/>
              </a:lnSpc>
              <a:spcBef>
                <a:spcPts val="219"/>
              </a:spcBef>
              <a:buChar char="•"/>
              <a:tabLst>
                <a:tab pos="1155065" algn="l"/>
                <a:tab pos="1155700" algn="l"/>
              </a:tabLst>
            </a:pPr>
            <a:r>
              <a:rPr sz="2000" spc="-5" dirty="0">
                <a:latin typeface="Times New Roman"/>
                <a:cs typeface="Times New Roman"/>
              </a:rPr>
              <a:t>RST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5.5,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RST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6.5,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and RST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7.5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are all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maskable</a:t>
            </a:r>
            <a:r>
              <a:rPr sz="2000" spc="-5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35"/>
              </a:spcBef>
              <a:buFont typeface="Times New Roman"/>
              <a:buChar char="•"/>
            </a:pPr>
            <a:endParaRPr sz="25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TRAP is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 only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non-maskable</a:t>
            </a:r>
            <a:r>
              <a:rPr sz="2400" spc="-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interrupt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8085</a:t>
            </a:r>
            <a:endParaRPr sz="2400">
              <a:latin typeface="Times New Roman"/>
              <a:cs typeface="Times New Roman"/>
            </a:endParaRPr>
          </a:p>
          <a:p>
            <a:pPr marL="1155700" lvl="2" indent="-229870">
              <a:lnSpc>
                <a:spcPct val="100000"/>
              </a:lnSpc>
              <a:spcBef>
                <a:spcPts val="254"/>
              </a:spcBef>
              <a:buChar char="•"/>
              <a:tabLst>
                <a:tab pos="1155065" algn="l"/>
                <a:tab pos="1156335" algn="l"/>
              </a:tabLst>
            </a:pPr>
            <a:r>
              <a:rPr sz="2000" spc="-5" dirty="0">
                <a:latin typeface="Times New Roman"/>
                <a:cs typeface="Times New Roman"/>
              </a:rPr>
              <a:t>TRAP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also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333CC"/>
                </a:solidFill>
                <a:latin typeface="Times New Roman"/>
                <a:cs typeface="Times New Roman"/>
              </a:rPr>
              <a:t>automatically</a:t>
            </a:r>
            <a:r>
              <a:rPr sz="2000" spc="-3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333CC"/>
                </a:solidFill>
                <a:latin typeface="Times New Roman"/>
                <a:cs typeface="Times New Roman"/>
              </a:rPr>
              <a:t>vectored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40260" y="814069"/>
            <a:ext cx="446341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The</a:t>
            </a:r>
            <a:r>
              <a:rPr spc="-30" dirty="0"/>
              <a:t> </a:t>
            </a:r>
            <a:r>
              <a:rPr spc="-5" dirty="0"/>
              <a:t>8085</a:t>
            </a:r>
            <a:r>
              <a:rPr spc="-30" dirty="0"/>
              <a:t> </a:t>
            </a:r>
            <a:r>
              <a:rPr spc="-5" dirty="0"/>
              <a:t>Interrupts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039937" y="2728912"/>
          <a:ext cx="5608955" cy="31375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70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03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68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Interrupt</a:t>
                      </a:r>
                      <a:r>
                        <a:rPr sz="2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name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" dirty="0">
                          <a:latin typeface="Times New Roman"/>
                          <a:cs typeface="Times New Roman"/>
                        </a:rPr>
                        <a:t>Maskable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45" dirty="0">
                          <a:latin typeface="Times New Roman"/>
                          <a:cs typeface="Times New Roman"/>
                        </a:rPr>
                        <a:t>Vectored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7696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" dirty="0">
                          <a:latin typeface="Times New Roman"/>
                          <a:cs typeface="Times New Roman"/>
                        </a:rPr>
                        <a:t>INTR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100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Yes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dirty="0">
                          <a:solidFill>
                            <a:srgbClr val="990000"/>
                          </a:solidFill>
                          <a:latin typeface="Times New Roman"/>
                          <a:cs typeface="Times New Roman"/>
                        </a:rPr>
                        <a:t>No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5943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" dirty="0">
                          <a:latin typeface="Times New Roman"/>
                          <a:cs typeface="Times New Roman"/>
                        </a:rPr>
                        <a:t>RST</a:t>
                      </a:r>
                      <a:r>
                        <a:rPr sz="2800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5.5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100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Yes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100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Yes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5943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" dirty="0">
                          <a:latin typeface="Times New Roman"/>
                          <a:cs typeface="Times New Roman"/>
                        </a:rPr>
                        <a:t>RST</a:t>
                      </a:r>
                      <a:r>
                        <a:rPr sz="2800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6.5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100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Yes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100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Yes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5943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" dirty="0">
                          <a:latin typeface="Times New Roman"/>
                          <a:cs typeface="Times New Roman"/>
                        </a:rPr>
                        <a:t>RST</a:t>
                      </a:r>
                      <a:r>
                        <a:rPr sz="2800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7.5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100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Yes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100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Yes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72961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" dirty="0">
                          <a:latin typeface="Times New Roman"/>
                          <a:cs typeface="Times New Roman"/>
                        </a:rPr>
                        <a:t>TRAP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dirty="0">
                          <a:solidFill>
                            <a:srgbClr val="990000"/>
                          </a:solidFill>
                          <a:latin typeface="Times New Roman"/>
                          <a:cs typeface="Times New Roman"/>
                        </a:rPr>
                        <a:t>No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100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Yes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52775" marR="5080" indent="-299275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Interrupt Vectors and the Vector </a:t>
            </a:r>
            <a:r>
              <a:rPr spc="-1085" dirty="0"/>
              <a:t> </a:t>
            </a:r>
            <a:r>
              <a:rPr spc="-5" dirty="0"/>
              <a:t>Table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59355"/>
            <a:ext cx="7571105" cy="459930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marR="5080" indent="-343535">
              <a:lnSpc>
                <a:spcPts val="3020"/>
              </a:lnSpc>
              <a:spcBef>
                <a:spcPts val="484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990000"/>
                </a:solidFill>
                <a:latin typeface="Times New Roman"/>
                <a:cs typeface="Times New Roman"/>
              </a:rPr>
              <a:t>interrupt</a:t>
            </a:r>
            <a:r>
              <a:rPr sz="2800" spc="-3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990000"/>
                </a:solidFill>
                <a:latin typeface="Times New Roman"/>
                <a:cs typeface="Times New Roman"/>
              </a:rPr>
              <a:t>vector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pointer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where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ISR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stored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memory.</a:t>
            </a:r>
            <a:endParaRPr sz="2800">
              <a:latin typeface="Times New Roman"/>
              <a:cs typeface="Times New Roman"/>
            </a:endParaRPr>
          </a:p>
          <a:p>
            <a:pPr marL="355600" marR="163195" indent="-343535">
              <a:lnSpc>
                <a:spcPts val="3020"/>
              </a:lnSpc>
              <a:spcBef>
                <a:spcPts val="680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latin typeface="Times New Roman"/>
                <a:cs typeface="Times New Roman"/>
              </a:rPr>
              <a:t>All </a:t>
            </a:r>
            <a:r>
              <a:rPr sz="2800" spc="-5" dirty="0">
                <a:latin typeface="Times New Roman"/>
                <a:cs typeface="Times New Roman"/>
              </a:rPr>
              <a:t>interrupts (vectored </a:t>
            </a:r>
            <a:r>
              <a:rPr sz="2800" dirty="0">
                <a:latin typeface="Times New Roman"/>
                <a:cs typeface="Times New Roman"/>
              </a:rPr>
              <a:t>or </a:t>
            </a:r>
            <a:r>
              <a:rPr sz="2800" spc="-5" dirty="0">
                <a:latin typeface="Times New Roman"/>
                <a:cs typeface="Times New Roman"/>
              </a:rPr>
              <a:t>otherwise) are mapped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onto a </a:t>
            </a:r>
            <a:r>
              <a:rPr sz="2800" spc="-5" dirty="0">
                <a:latin typeface="Times New Roman"/>
                <a:cs typeface="Times New Roman"/>
              </a:rPr>
              <a:t>memory area called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dirty="0">
                <a:solidFill>
                  <a:srgbClr val="990000"/>
                </a:solidFill>
                <a:latin typeface="Times New Roman"/>
                <a:cs typeface="Times New Roman"/>
              </a:rPr>
              <a:t>Interrupt </a:t>
            </a:r>
            <a:r>
              <a:rPr sz="2800" spc="-5" dirty="0">
                <a:solidFill>
                  <a:srgbClr val="990000"/>
                </a:solidFill>
                <a:latin typeface="Times New Roman"/>
                <a:cs typeface="Times New Roman"/>
              </a:rPr>
              <a:t>Vector </a:t>
            </a:r>
            <a:r>
              <a:rPr sz="280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990000"/>
                </a:solidFill>
                <a:latin typeface="Times New Roman"/>
                <a:cs typeface="Times New Roman"/>
              </a:rPr>
              <a:t>Table</a:t>
            </a:r>
            <a:r>
              <a:rPr sz="2800" spc="-3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(IVT).</a:t>
            </a:r>
            <a:endParaRPr sz="2800">
              <a:latin typeface="Times New Roman"/>
              <a:cs typeface="Times New Roman"/>
            </a:endParaRPr>
          </a:p>
          <a:p>
            <a:pPr marL="755650" lvl="1" indent="-286385">
              <a:lnSpc>
                <a:spcPts val="2735"/>
              </a:lnSpc>
              <a:spcBef>
                <a:spcPts val="260"/>
              </a:spcBef>
              <a:buChar char="–"/>
              <a:tabLst>
                <a:tab pos="755650" algn="l"/>
                <a:tab pos="756285" algn="l"/>
                <a:tab pos="4466590" algn="l"/>
              </a:tabLst>
            </a:pP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IVT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usually located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	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memory</a:t>
            </a:r>
            <a:r>
              <a:rPr sz="2400" spc="-3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990000"/>
                </a:solidFill>
                <a:latin typeface="Times New Roman"/>
                <a:cs typeface="Times New Roman"/>
              </a:rPr>
              <a:t>page</a:t>
            </a:r>
            <a:r>
              <a:rPr sz="2400" spc="-2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990000"/>
                </a:solidFill>
                <a:latin typeface="Times New Roman"/>
                <a:cs typeface="Times New Roman"/>
              </a:rPr>
              <a:t>00</a:t>
            </a:r>
            <a:r>
              <a:rPr sz="2400" spc="-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(0000H</a:t>
            </a:r>
            <a:endParaRPr sz="2400">
              <a:latin typeface="Times New Roman"/>
              <a:cs typeface="Times New Roman"/>
            </a:endParaRPr>
          </a:p>
          <a:p>
            <a:pPr marL="755650">
              <a:lnSpc>
                <a:spcPts val="2735"/>
              </a:lnSpc>
            </a:pP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00FFH).</a:t>
            </a:r>
            <a:endParaRPr sz="2400">
              <a:latin typeface="Times New Roman"/>
              <a:cs typeface="Times New Roman"/>
            </a:endParaRPr>
          </a:p>
          <a:p>
            <a:pPr marL="755650" marR="251460" lvl="1" indent="-286385">
              <a:lnSpc>
                <a:spcPts val="2590"/>
              </a:lnSpc>
              <a:spcBef>
                <a:spcPts val="620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The purpose </a:t>
            </a:r>
            <a:r>
              <a:rPr sz="2400" dirty="0">
                <a:latin typeface="Times New Roman"/>
                <a:cs typeface="Times New Roman"/>
              </a:rPr>
              <a:t>of the </a:t>
            </a:r>
            <a:r>
              <a:rPr sz="2400" spc="-5" dirty="0">
                <a:latin typeface="Times New Roman"/>
                <a:cs typeface="Times New Roman"/>
              </a:rPr>
              <a:t>IVT is </a:t>
            </a:r>
            <a:r>
              <a:rPr sz="2400" dirty="0">
                <a:latin typeface="Times New Roman"/>
                <a:cs typeface="Times New Roman"/>
              </a:rPr>
              <a:t>to </a:t>
            </a:r>
            <a:r>
              <a:rPr sz="2400" spc="-5" dirty="0">
                <a:latin typeface="Times New Roman"/>
                <a:cs typeface="Times New Roman"/>
              </a:rPr>
              <a:t>hold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vectors that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redirect the microprocessor to the right place </a:t>
            </a:r>
            <a:r>
              <a:rPr sz="2400" dirty="0">
                <a:latin typeface="Times New Roman"/>
                <a:cs typeface="Times New Roman"/>
              </a:rPr>
              <a:t>when an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interrupt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arrives.</a:t>
            </a:r>
            <a:endParaRPr sz="2400">
              <a:latin typeface="Times New Roman"/>
              <a:cs typeface="Times New Roman"/>
            </a:endParaRPr>
          </a:p>
          <a:p>
            <a:pPr marL="755650" marR="334010" lvl="1" indent="-286385">
              <a:lnSpc>
                <a:spcPts val="2590"/>
              </a:lnSpc>
              <a:spcBef>
                <a:spcPts val="580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The IVT is divided into several blocks. Each block is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used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one of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interrupts 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hold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its </a:t>
            </a:r>
            <a:r>
              <a:rPr sz="2400" dirty="0">
                <a:latin typeface="Times New Roman"/>
                <a:cs typeface="Times New Roman"/>
              </a:rPr>
              <a:t>“</a:t>
            </a:r>
            <a:r>
              <a:rPr sz="2400" dirty="0">
                <a:solidFill>
                  <a:srgbClr val="990000"/>
                </a:solidFill>
                <a:latin typeface="Times New Roman"/>
                <a:cs typeface="Times New Roman"/>
              </a:rPr>
              <a:t>vector</a:t>
            </a:r>
            <a:r>
              <a:rPr sz="2400" dirty="0">
                <a:latin typeface="Times New Roman"/>
                <a:cs typeface="Times New Roman"/>
              </a:rPr>
              <a:t>”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3511" y="1428241"/>
            <a:ext cx="7510780" cy="521017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508634" marR="183515" indent="-495300">
              <a:lnSpc>
                <a:spcPts val="2920"/>
              </a:lnSpc>
              <a:spcBef>
                <a:spcPts val="459"/>
              </a:spcBef>
              <a:buFont typeface="Times New Roman"/>
              <a:buAutoNum type="arabicPeriod"/>
              <a:tabLst>
                <a:tab pos="508634" algn="l"/>
                <a:tab pos="509270" algn="l"/>
              </a:tabLst>
            </a:pP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interrupt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spc="-5" dirty="0">
                <a:latin typeface="Times New Roman"/>
                <a:cs typeface="Times New Roman"/>
              </a:rPr>
              <a:t>process</a:t>
            </a:r>
            <a:r>
              <a:rPr sz="2700" spc="-1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should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be</a:t>
            </a:r>
            <a:r>
              <a:rPr sz="2700" spc="-5" dirty="0"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990000"/>
                </a:solidFill>
                <a:latin typeface="Times New Roman"/>
                <a:cs typeface="Times New Roman"/>
              </a:rPr>
              <a:t>enabled</a:t>
            </a:r>
            <a:r>
              <a:rPr sz="2700" spc="-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using</a:t>
            </a:r>
            <a:r>
              <a:rPr sz="2700" spc="-1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 </a:t>
            </a:r>
            <a:r>
              <a:rPr sz="2700" spc="-660" dirty="0"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990000"/>
                </a:solidFill>
                <a:latin typeface="Times New Roman"/>
                <a:cs typeface="Times New Roman"/>
              </a:rPr>
              <a:t>EI</a:t>
            </a:r>
            <a:r>
              <a:rPr sz="2700" spc="-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instruction.</a:t>
            </a:r>
            <a:endParaRPr sz="2700">
              <a:latin typeface="Times New Roman"/>
              <a:cs typeface="Times New Roman"/>
            </a:endParaRPr>
          </a:p>
          <a:p>
            <a:pPr marL="508000" marR="1022985" indent="-495300">
              <a:lnSpc>
                <a:spcPts val="2920"/>
              </a:lnSpc>
              <a:spcBef>
                <a:spcPts val="645"/>
              </a:spcBef>
              <a:buAutoNum type="arabicPeriod"/>
              <a:tabLst>
                <a:tab pos="508000" algn="l"/>
                <a:tab pos="508634" algn="l"/>
              </a:tabLst>
            </a:pP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8085</a:t>
            </a:r>
            <a:r>
              <a:rPr sz="2700" spc="-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checks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for</a:t>
            </a:r>
            <a:r>
              <a:rPr sz="2700" spc="-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an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interrupt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during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 </a:t>
            </a:r>
            <a:r>
              <a:rPr sz="2700" spc="-66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execution</a:t>
            </a:r>
            <a:r>
              <a:rPr sz="2700" spc="-1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of</a:t>
            </a:r>
            <a:r>
              <a:rPr sz="2700" spc="-10" dirty="0"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990000"/>
                </a:solidFill>
                <a:latin typeface="Times New Roman"/>
                <a:cs typeface="Times New Roman"/>
              </a:rPr>
              <a:t>every </a:t>
            </a:r>
            <a:r>
              <a:rPr sz="2700" dirty="0">
                <a:latin typeface="Times New Roman"/>
                <a:cs typeface="Times New Roman"/>
              </a:rPr>
              <a:t>instruction.</a:t>
            </a:r>
            <a:endParaRPr sz="2700">
              <a:latin typeface="Times New Roman"/>
              <a:cs typeface="Times New Roman"/>
            </a:endParaRPr>
          </a:p>
          <a:p>
            <a:pPr marL="508000" marR="594995" indent="-495300" algn="just">
              <a:lnSpc>
                <a:spcPts val="2920"/>
              </a:lnSpc>
              <a:spcBef>
                <a:spcPts val="640"/>
              </a:spcBef>
              <a:buAutoNum type="arabicPeriod"/>
              <a:tabLst>
                <a:tab pos="508634" algn="l"/>
              </a:tabLst>
            </a:pPr>
            <a:r>
              <a:rPr sz="2700" dirty="0">
                <a:latin typeface="Times New Roman"/>
                <a:cs typeface="Times New Roman"/>
              </a:rPr>
              <a:t>If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there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spc="-5" dirty="0">
                <a:latin typeface="Times New Roman"/>
                <a:cs typeface="Times New Roman"/>
              </a:rPr>
              <a:t>is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an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interrupt,</a:t>
            </a:r>
            <a:r>
              <a:rPr sz="2700" spc="-1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1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microprocessor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spc="-5" dirty="0">
                <a:latin typeface="Times New Roman"/>
                <a:cs typeface="Times New Roman"/>
              </a:rPr>
              <a:t>will </a:t>
            </a:r>
            <a:r>
              <a:rPr sz="2700" spc="-660" dirty="0"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990000"/>
                </a:solidFill>
                <a:latin typeface="Times New Roman"/>
                <a:cs typeface="Times New Roman"/>
              </a:rPr>
              <a:t>complete the executing instruction</a:t>
            </a:r>
            <a:r>
              <a:rPr sz="2700" dirty="0">
                <a:latin typeface="Times New Roman"/>
                <a:cs typeface="Times New Roman"/>
              </a:rPr>
              <a:t>, and start a </a:t>
            </a:r>
            <a:r>
              <a:rPr sz="2700" spc="-660" dirty="0">
                <a:latin typeface="Times New Roman"/>
                <a:cs typeface="Times New Roman"/>
              </a:rPr>
              <a:t> </a:t>
            </a:r>
            <a:r>
              <a:rPr sz="2700" spc="-5" dirty="0">
                <a:solidFill>
                  <a:srgbClr val="990000"/>
                </a:solidFill>
                <a:latin typeface="Times New Roman"/>
                <a:cs typeface="Times New Roman"/>
              </a:rPr>
              <a:t>RESTART</a:t>
            </a:r>
            <a:r>
              <a:rPr sz="2700" spc="-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sequence.</a:t>
            </a:r>
            <a:endParaRPr sz="2700">
              <a:latin typeface="Times New Roman"/>
              <a:cs typeface="Times New Roman"/>
            </a:endParaRPr>
          </a:p>
          <a:p>
            <a:pPr marL="507365" marR="5080" indent="-495300">
              <a:lnSpc>
                <a:spcPts val="2920"/>
              </a:lnSpc>
              <a:spcBef>
                <a:spcPts val="635"/>
              </a:spcBef>
              <a:buAutoNum type="arabicPeriod"/>
              <a:tabLst>
                <a:tab pos="507365" algn="l"/>
                <a:tab pos="508000" algn="l"/>
              </a:tabLst>
            </a:pPr>
            <a:r>
              <a:rPr sz="2700" dirty="0">
                <a:latin typeface="Times New Roman"/>
                <a:cs typeface="Times New Roman"/>
              </a:rPr>
              <a:t>The RESTART sequence </a:t>
            </a:r>
            <a:r>
              <a:rPr sz="2700" spc="-5" dirty="0">
                <a:solidFill>
                  <a:srgbClr val="990000"/>
                </a:solidFill>
                <a:latin typeface="Times New Roman"/>
                <a:cs typeface="Times New Roman"/>
              </a:rPr>
              <a:t>resets </a:t>
            </a:r>
            <a:r>
              <a:rPr sz="2700" dirty="0">
                <a:solidFill>
                  <a:srgbClr val="990000"/>
                </a:solidFill>
                <a:latin typeface="Times New Roman"/>
                <a:cs typeface="Times New Roman"/>
              </a:rPr>
              <a:t>the interrupt flip </a:t>
            </a:r>
            <a:r>
              <a:rPr sz="2700" spc="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990000"/>
                </a:solidFill>
                <a:latin typeface="Times New Roman"/>
                <a:cs typeface="Times New Roman"/>
              </a:rPr>
              <a:t>flop</a:t>
            </a:r>
            <a:r>
              <a:rPr sz="2700" spc="-2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and</a:t>
            </a:r>
            <a:r>
              <a:rPr sz="2700" spc="-20" dirty="0"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990000"/>
                </a:solidFill>
                <a:latin typeface="Times New Roman"/>
                <a:cs typeface="Times New Roman"/>
              </a:rPr>
              <a:t>activates</a:t>
            </a:r>
            <a:r>
              <a:rPr sz="2700" spc="-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990000"/>
                </a:solidFill>
                <a:latin typeface="Times New Roman"/>
                <a:cs typeface="Times New Roman"/>
              </a:rPr>
              <a:t>the</a:t>
            </a:r>
            <a:r>
              <a:rPr sz="2700" spc="-2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990000"/>
                </a:solidFill>
                <a:latin typeface="Times New Roman"/>
                <a:cs typeface="Times New Roman"/>
              </a:rPr>
              <a:t>interrupt</a:t>
            </a:r>
            <a:r>
              <a:rPr sz="2700" spc="-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990000"/>
                </a:solidFill>
                <a:latin typeface="Times New Roman"/>
                <a:cs typeface="Times New Roman"/>
              </a:rPr>
              <a:t>acknowledge</a:t>
            </a:r>
            <a:r>
              <a:rPr sz="2700" spc="-2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990000"/>
                </a:solidFill>
                <a:latin typeface="Times New Roman"/>
                <a:cs typeface="Times New Roman"/>
              </a:rPr>
              <a:t>signal </a:t>
            </a:r>
            <a:r>
              <a:rPr sz="2700" spc="-66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700" spc="-5" dirty="0">
                <a:latin typeface="Times New Roman"/>
                <a:cs typeface="Times New Roman"/>
              </a:rPr>
              <a:t>(INTA).</a:t>
            </a:r>
            <a:endParaRPr sz="2700">
              <a:latin typeface="Times New Roman"/>
              <a:cs typeface="Times New Roman"/>
            </a:endParaRPr>
          </a:p>
          <a:p>
            <a:pPr marL="507365" marR="204470" indent="-495300" algn="just">
              <a:lnSpc>
                <a:spcPts val="2920"/>
              </a:lnSpc>
              <a:spcBef>
                <a:spcPts val="635"/>
              </a:spcBef>
              <a:buAutoNum type="arabicPeriod"/>
              <a:tabLst>
                <a:tab pos="508000" algn="l"/>
              </a:tabLst>
            </a:pPr>
            <a:r>
              <a:rPr sz="2700" dirty="0">
                <a:latin typeface="Times New Roman"/>
                <a:cs typeface="Times New Roman"/>
              </a:rPr>
              <a:t>Upon receiving the </a:t>
            </a:r>
            <a:r>
              <a:rPr sz="2700" spc="-5" dirty="0">
                <a:latin typeface="Times New Roman"/>
                <a:cs typeface="Times New Roman"/>
              </a:rPr>
              <a:t>INTA </a:t>
            </a:r>
            <a:r>
              <a:rPr sz="2700" dirty="0">
                <a:latin typeface="Times New Roman"/>
                <a:cs typeface="Times New Roman"/>
              </a:rPr>
              <a:t>signal, the </a:t>
            </a:r>
            <a:r>
              <a:rPr sz="2700" dirty="0">
                <a:solidFill>
                  <a:srgbClr val="990000"/>
                </a:solidFill>
                <a:latin typeface="Times New Roman"/>
                <a:cs typeface="Times New Roman"/>
              </a:rPr>
              <a:t>interrupting </a:t>
            </a:r>
            <a:r>
              <a:rPr sz="2700" spc="-66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990000"/>
                </a:solidFill>
                <a:latin typeface="Times New Roman"/>
                <a:cs typeface="Times New Roman"/>
              </a:rPr>
              <a:t>device</a:t>
            </a:r>
            <a:r>
              <a:rPr sz="2700" spc="-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700" spc="-5" dirty="0">
                <a:latin typeface="Times New Roman"/>
                <a:cs typeface="Times New Roman"/>
              </a:rPr>
              <a:t>is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expected</a:t>
            </a:r>
            <a:r>
              <a:rPr sz="2700" spc="-1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to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return</a:t>
            </a:r>
            <a:r>
              <a:rPr sz="2700" spc="-1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990000"/>
                </a:solidFill>
                <a:latin typeface="Times New Roman"/>
                <a:cs typeface="Times New Roman"/>
              </a:rPr>
              <a:t>op-code</a:t>
            </a:r>
            <a:r>
              <a:rPr sz="2700" spc="-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of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one</a:t>
            </a:r>
            <a:r>
              <a:rPr sz="2700" spc="-1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of </a:t>
            </a:r>
            <a:r>
              <a:rPr sz="2700" spc="-66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1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8</a:t>
            </a:r>
            <a:r>
              <a:rPr sz="2700" spc="-5" dirty="0">
                <a:latin typeface="Times New Roman"/>
                <a:cs typeface="Times New Roman"/>
              </a:rPr>
              <a:t> RST </a:t>
            </a:r>
            <a:r>
              <a:rPr sz="2700" dirty="0">
                <a:latin typeface="Times New Roman"/>
                <a:cs typeface="Times New Roman"/>
              </a:rPr>
              <a:t>instructions.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1938" y="21589"/>
            <a:ext cx="7579359" cy="1366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36240" marR="5080" indent="-292417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The 8085 Non-Vectored Interrupt </a:t>
            </a:r>
            <a:r>
              <a:rPr spc="-1085" dirty="0"/>
              <a:t> </a:t>
            </a:r>
            <a:r>
              <a:rPr spc="-5" dirty="0"/>
              <a:t>Process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197" y="1961641"/>
            <a:ext cx="7482840" cy="438721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508000" marR="319405" indent="-495300">
              <a:lnSpc>
                <a:spcPts val="2920"/>
              </a:lnSpc>
              <a:spcBef>
                <a:spcPts val="459"/>
              </a:spcBef>
              <a:buFont typeface="Times New Roman"/>
              <a:buAutoNum type="arabicPeriod" startAt="6"/>
              <a:tabLst>
                <a:tab pos="508000" algn="l"/>
                <a:tab pos="508634" algn="l"/>
              </a:tabLst>
            </a:pPr>
            <a:r>
              <a:rPr sz="2700" dirty="0">
                <a:latin typeface="Times New Roman"/>
                <a:cs typeface="Times New Roman"/>
              </a:rPr>
              <a:t>When the microprocessor executes the RST </a:t>
            </a:r>
            <a:r>
              <a:rPr sz="2700" spc="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instruction</a:t>
            </a:r>
            <a:r>
              <a:rPr sz="2700" spc="-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received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from</a:t>
            </a:r>
            <a:r>
              <a:rPr sz="2700" spc="-1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device,</a:t>
            </a:r>
            <a:r>
              <a:rPr sz="2700" spc="-1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it </a:t>
            </a:r>
            <a:r>
              <a:rPr sz="2700" spc="-5" dirty="0">
                <a:solidFill>
                  <a:srgbClr val="990000"/>
                </a:solidFill>
                <a:latin typeface="Times New Roman"/>
                <a:cs typeface="Times New Roman"/>
              </a:rPr>
              <a:t>saves</a:t>
            </a:r>
            <a:r>
              <a:rPr sz="2700" spc="-2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990000"/>
                </a:solidFill>
                <a:latin typeface="Times New Roman"/>
                <a:cs typeface="Times New Roman"/>
              </a:rPr>
              <a:t>the </a:t>
            </a:r>
            <a:r>
              <a:rPr sz="2700" spc="-66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700" spc="-5" dirty="0">
                <a:solidFill>
                  <a:srgbClr val="990000"/>
                </a:solidFill>
                <a:latin typeface="Times New Roman"/>
                <a:cs typeface="Times New Roman"/>
              </a:rPr>
              <a:t>address </a:t>
            </a:r>
            <a:r>
              <a:rPr sz="2700" dirty="0">
                <a:solidFill>
                  <a:srgbClr val="990000"/>
                </a:solidFill>
                <a:latin typeface="Times New Roman"/>
                <a:cs typeface="Times New Roman"/>
              </a:rPr>
              <a:t>of the next instruction </a:t>
            </a:r>
            <a:r>
              <a:rPr sz="2700" dirty="0">
                <a:latin typeface="Times New Roman"/>
                <a:cs typeface="Times New Roman"/>
              </a:rPr>
              <a:t>on the stack and </a:t>
            </a:r>
            <a:r>
              <a:rPr sz="2700" spc="5" dirty="0"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990000"/>
                </a:solidFill>
                <a:latin typeface="Times New Roman"/>
                <a:cs typeface="Times New Roman"/>
              </a:rPr>
              <a:t>jumps</a:t>
            </a:r>
            <a:r>
              <a:rPr sz="2700" spc="-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990000"/>
                </a:solidFill>
                <a:latin typeface="Times New Roman"/>
                <a:cs typeface="Times New Roman"/>
              </a:rPr>
              <a:t>to</a:t>
            </a:r>
            <a:r>
              <a:rPr sz="2700" spc="-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990000"/>
                </a:solidFill>
                <a:latin typeface="Times New Roman"/>
                <a:cs typeface="Times New Roman"/>
              </a:rPr>
              <a:t>the</a:t>
            </a:r>
            <a:r>
              <a:rPr sz="2700" spc="-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990000"/>
                </a:solidFill>
                <a:latin typeface="Times New Roman"/>
                <a:cs typeface="Times New Roman"/>
              </a:rPr>
              <a:t>appropriate</a:t>
            </a:r>
            <a:r>
              <a:rPr sz="2700" spc="-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990000"/>
                </a:solidFill>
                <a:latin typeface="Times New Roman"/>
                <a:cs typeface="Times New Roman"/>
              </a:rPr>
              <a:t>entry</a:t>
            </a:r>
            <a:r>
              <a:rPr sz="2700" spc="-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990000"/>
                </a:solidFill>
                <a:latin typeface="Times New Roman"/>
                <a:cs typeface="Times New Roman"/>
              </a:rPr>
              <a:t>in</a:t>
            </a:r>
            <a:r>
              <a:rPr sz="2700" spc="-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990000"/>
                </a:solidFill>
                <a:latin typeface="Times New Roman"/>
                <a:cs typeface="Times New Roman"/>
              </a:rPr>
              <a:t>the</a:t>
            </a:r>
            <a:r>
              <a:rPr sz="2700" spc="-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990000"/>
                </a:solidFill>
                <a:latin typeface="Times New Roman"/>
                <a:cs typeface="Times New Roman"/>
              </a:rPr>
              <a:t>IVT.</a:t>
            </a:r>
            <a:endParaRPr sz="2700">
              <a:latin typeface="Times New Roman"/>
              <a:cs typeface="Times New Roman"/>
            </a:endParaRPr>
          </a:p>
          <a:p>
            <a:pPr marL="507365" marR="42545" indent="-495300">
              <a:lnSpc>
                <a:spcPts val="2920"/>
              </a:lnSpc>
              <a:spcBef>
                <a:spcPts val="635"/>
              </a:spcBef>
              <a:buAutoNum type="arabicPeriod" startAt="6"/>
              <a:tabLst>
                <a:tab pos="508000" algn="l"/>
                <a:tab pos="508634" algn="l"/>
              </a:tabLst>
            </a:pP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20" dirty="0">
                <a:latin typeface="Times New Roman"/>
                <a:cs typeface="Times New Roman"/>
              </a:rPr>
              <a:t> </a:t>
            </a:r>
            <a:r>
              <a:rPr sz="2700" spc="-5" dirty="0">
                <a:solidFill>
                  <a:srgbClr val="990000"/>
                </a:solidFill>
                <a:latin typeface="Times New Roman"/>
                <a:cs typeface="Times New Roman"/>
              </a:rPr>
              <a:t>IVT</a:t>
            </a:r>
            <a:r>
              <a:rPr sz="2700" spc="-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990000"/>
                </a:solidFill>
                <a:latin typeface="Times New Roman"/>
                <a:cs typeface="Times New Roman"/>
              </a:rPr>
              <a:t>entry</a:t>
            </a:r>
            <a:r>
              <a:rPr sz="2700" spc="-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must</a:t>
            </a:r>
            <a:r>
              <a:rPr sz="2700" spc="-20" dirty="0"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990000"/>
                </a:solidFill>
                <a:latin typeface="Times New Roman"/>
                <a:cs typeface="Times New Roman"/>
              </a:rPr>
              <a:t>redirect</a:t>
            </a:r>
            <a:r>
              <a:rPr sz="2700" spc="-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microprocessor</a:t>
            </a:r>
            <a:r>
              <a:rPr sz="2700" spc="-1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to </a:t>
            </a:r>
            <a:r>
              <a:rPr sz="2700" spc="-66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1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actual</a:t>
            </a:r>
            <a:r>
              <a:rPr sz="2700" spc="-5" dirty="0"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990000"/>
                </a:solidFill>
                <a:latin typeface="Times New Roman"/>
                <a:cs typeface="Times New Roman"/>
              </a:rPr>
              <a:t>service</a:t>
            </a:r>
            <a:r>
              <a:rPr sz="2700" spc="-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990000"/>
                </a:solidFill>
                <a:latin typeface="Times New Roman"/>
                <a:cs typeface="Times New Roman"/>
              </a:rPr>
              <a:t>routine</a:t>
            </a:r>
            <a:r>
              <a:rPr sz="2700" dirty="0">
                <a:latin typeface="Times New Roman"/>
                <a:cs typeface="Times New Roman"/>
              </a:rPr>
              <a:t>.</a:t>
            </a:r>
            <a:endParaRPr sz="2700">
              <a:latin typeface="Times New Roman"/>
              <a:cs typeface="Times New Roman"/>
            </a:endParaRPr>
          </a:p>
          <a:p>
            <a:pPr marL="507365" marR="5080" indent="-495300">
              <a:lnSpc>
                <a:spcPts val="2920"/>
              </a:lnSpc>
              <a:spcBef>
                <a:spcPts val="640"/>
              </a:spcBef>
              <a:buAutoNum type="arabicPeriod" startAt="6"/>
              <a:tabLst>
                <a:tab pos="507365" algn="l"/>
                <a:tab pos="508000" algn="l"/>
              </a:tabLst>
            </a:pP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service</a:t>
            </a:r>
            <a:r>
              <a:rPr sz="2700" spc="-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routine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must</a:t>
            </a:r>
            <a:r>
              <a:rPr sz="2700" spc="-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include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instruction</a:t>
            </a:r>
            <a:r>
              <a:rPr sz="2700" spc="-10" dirty="0"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990000"/>
                </a:solidFill>
                <a:latin typeface="Times New Roman"/>
                <a:cs typeface="Times New Roman"/>
              </a:rPr>
              <a:t>EI </a:t>
            </a:r>
            <a:r>
              <a:rPr sz="2700" spc="-66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to</a:t>
            </a:r>
            <a:r>
              <a:rPr sz="2700" spc="-1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re-enable</a:t>
            </a:r>
            <a:r>
              <a:rPr sz="2700" spc="-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interrupt</a:t>
            </a:r>
            <a:r>
              <a:rPr sz="2700" spc="-5" dirty="0">
                <a:latin typeface="Times New Roman"/>
                <a:cs typeface="Times New Roman"/>
              </a:rPr>
              <a:t> process.</a:t>
            </a:r>
            <a:endParaRPr sz="2700">
              <a:latin typeface="Times New Roman"/>
              <a:cs typeface="Times New Roman"/>
            </a:endParaRPr>
          </a:p>
          <a:p>
            <a:pPr marL="507365" marR="758190" indent="-495300">
              <a:lnSpc>
                <a:spcPts val="2920"/>
              </a:lnSpc>
              <a:spcBef>
                <a:spcPts val="640"/>
              </a:spcBef>
              <a:buAutoNum type="arabicPeriod" startAt="6"/>
              <a:tabLst>
                <a:tab pos="507365" algn="l"/>
                <a:tab pos="508000" algn="l"/>
              </a:tabLst>
            </a:pPr>
            <a:r>
              <a:rPr sz="2700" spc="-5" dirty="0">
                <a:latin typeface="Times New Roman"/>
                <a:cs typeface="Times New Roman"/>
              </a:rPr>
              <a:t>At </a:t>
            </a:r>
            <a:r>
              <a:rPr sz="2700" dirty="0">
                <a:latin typeface="Times New Roman"/>
                <a:cs typeface="Times New Roman"/>
              </a:rPr>
              <a:t>the end of the service routine, the </a:t>
            </a:r>
            <a:r>
              <a:rPr sz="2700" dirty="0">
                <a:solidFill>
                  <a:srgbClr val="990000"/>
                </a:solidFill>
                <a:latin typeface="Times New Roman"/>
                <a:cs typeface="Times New Roman"/>
              </a:rPr>
              <a:t>RET </a:t>
            </a:r>
            <a:r>
              <a:rPr sz="2700" spc="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instruction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990000"/>
                </a:solidFill>
                <a:latin typeface="Times New Roman"/>
                <a:cs typeface="Times New Roman"/>
              </a:rPr>
              <a:t>returns</a:t>
            </a:r>
            <a:r>
              <a:rPr sz="2700" spc="-2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990000"/>
                </a:solidFill>
                <a:latin typeface="Times New Roman"/>
                <a:cs typeface="Times New Roman"/>
              </a:rPr>
              <a:t>the</a:t>
            </a:r>
            <a:r>
              <a:rPr sz="2700" spc="-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990000"/>
                </a:solidFill>
                <a:latin typeface="Times New Roman"/>
                <a:cs typeface="Times New Roman"/>
              </a:rPr>
              <a:t>execution</a:t>
            </a:r>
            <a:r>
              <a:rPr sz="2700" spc="-2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990000"/>
                </a:solidFill>
                <a:latin typeface="Times New Roman"/>
                <a:cs typeface="Times New Roman"/>
              </a:rPr>
              <a:t>to</a:t>
            </a:r>
            <a:r>
              <a:rPr sz="2700" spc="-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990000"/>
                </a:solidFill>
                <a:latin typeface="Times New Roman"/>
                <a:cs typeface="Times New Roman"/>
              </a:rPr>
              <a:t>where</a:t>
            </a:r>
            <a:r>
              <a:rPr sz="2700" spc="-2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990000"/>
                </a:solidFill>
                <a:latin typeface="Times New Roman"/>
                <a:cs typeface="Times New Roman"/>
              </a:rPr>
              <a:t>the </a:t>
            </a:r>
            <a:r>
              <a:rPr sz="2700" spc="-66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990000"/>
                </a:solidFill>
                <a:latin typeface="Times New Roman"/>
                <a:cs typeface="Times New Roman"/>
              </a:rPr>
              <a:t>program</a:t>
            </a:r>
            <a:r>
              <a:rPr sz="2700" spc="-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700" spc="-5" dirty="0">
                <a:solidFill>
                  <a:srgbClr val="990000"/>
                </a:solidFill>
                <a:latin typeface="Times New Roman"/>
                <a:cs typeface="Times New Roman"/>
              </a:rPr>
              <a:t>was </a:t>
            </a:r>
            <a:r>
              <a:rPr sz="2700" dirty="0">
                <a:solidFill>
                  <a:srgbClr val="990000"/>
                </a:solidFill>
                <a:latin typeface="Times New Roman"/>
                <a:cs typeface="Times New Roman"/>
              </a:rPr>
              <a:t>interrupted</a:t>
            </a:r>
            <a:r>
              <a:rPr sz="2700" dirty="0">
                <a:latin typeface="Times New Roman"/>
                <a:cs typeface="Times New Roman"/>
              </a:rPr>
              <a:t>.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36240" marR="5080" indent="-292417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The 8085 Non-Vectored Interrupt </a:t>
            </a:r>
            <a:r>
              <a:rPr spc="-1085" dirty="0"/>
              <a:t> </a:t>
            </a:r>
            <a:r>
              <a:rPr spc="-5" dirty="0"/>
              <a:t>Process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19230" y="28448"/>
            <a:ext cx="60096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The</a:t>
            </a:r>
            <a:r>
              <a:rPr sz="2800" spc="-15" dirty="0"/>
              <a:t> </a:t>
            </a:r>
            <a:r>
              <a:rPr sz="2800" dirty="0"/>
              <a:t>8085</a:t>
            </a:r>
            <a:r>
              <a:rPr sz="2800" spc="-15" dirty="0"/>
              <a:t> </a:t>
            </a:r>
            <a:r>
              <a:rPr sz="2800" spc="-5" dirty="0"/>
              <a:t>Non-Vectored</a:t>
            </a:r>
            <a:r>
              <a:rPr sz="2800" spc="-25" dirty="0"/>
              <a:t> </a:t>
            </a:r>
            <a:r>
              <a:rPr sz="2800" dirty="0"/>
              <a:t>Interrupt</a:t>
            </a:r>
            <a:r>
              <a:rPr sz="2800" spc="-20" dirty="0"/>
              <a:t> </a:t>
            </a:r>
            <a:r>
              <a:rPr sz="2800" spc="-5" dirty="0"/>
              <a:t>Process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83540" y="2079752"/>
            <a:ext cx="4563110" cy="1927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 algn="just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8085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recognizes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8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RESTART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instructions: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RST0</a:t>
            </a:r>
            <a:r>
              <a:rPr sz="2400" dirty="0">
                <a:latin typeface="Times New Roman"/>
                <a:cs typeface="Times New Roman"/>
              </a:rPr>
              <a:t> -</a:t>
            </a:r>
            <a:r>
              <a:rPr sz="2400" spc="-5" dirty="0">
                <a:latin typeface="Times New Roman"/>
                <a:cs typeface="Times New Roman"/>
              </a:rPr>
              <a:t> RST7.</a:t>
            </a:r>
            <a:endParaRPr sz="2400">
              <a:latin typeface="Times New Roman"/>
              <a:cs typeface="Times New Roman"/>
            </a:endParaRPr>
          </a:p>
          <a:p>
            <a:pPr marL="755650" marR="231775" indent="-285750" algn="just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Times New Roman"/>
                <a:cs typeface="Times New Roman"/>
              </a:rPr>
              <a:t>– each of </a:t>
            </a:r>
            <a:r>
              <a:rPr sz="2400" spc="-5" dirty="0">
                <a:latin typeface="Times New Roman"/>
                <a:cs typeface="Times New Roman"/>
              </a:rPr>
              <a:t>these would send the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execution to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predetermined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hard-wired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memory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location: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319712" y="595312"/>
          <a:ext cx="2961005" cy="59366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6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7400">
                <a:tc>
                  <a:txBody>
                    <a:bodyPr/>
                    <a:lstStyle/>
                    <a:p>
                      <a:pPr marL="211454" marR="204470" indent="18415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Restart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 Inst</a:t>
                      </a: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605155" marR="159385" indent="-438784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Equ</a:t>
                      </a: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le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nt  to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RST0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68008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CALL </a:t>
                      </a:r>
                      <a:r>
                        <a:rPr sz="1800" spc="-43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0000H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RST1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68008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CALL </a:t>
                      </a:r>
                      <a:r>
                        <a:rPr sz="1800" spc="-43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0008H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RST2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68008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CALL </a:t>
                      </a:r>
                      <a:r>
                        <a:rPr sz="1800" spc="-43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0010H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RST3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68008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CALL </a:t>
                      </a:r>
                      <a:r>
                        <a:rPr sz="1800" spc="-43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0018H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RST4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68008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CALL </a:t>
                      </a:r>
                      <a:r>
                        <a:rPr sz="1800" spc="-43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0020H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RST5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68008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CALL </a:t>
                      </a:r>
                      <a:r>
                        <a:rPr sz="1800" spc="-43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0028H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00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RST6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68008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CALL </a:t>
                      </a:r>
                      <a:r>
                        <a:rPr sz="1800" spc="-43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0030H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RST7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68008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CALL </a:t>
                      </a:r>
                      <a:r>
                        <a:rPr sz="1800" spc="-43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0038H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8296" y="814069"/>
            <a:ext cx="388683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Restart</a:t>
            </a:r>
            <a:r>
              <a:rPr spc="-70" dirty="0"/>
              <a:t> </a:t>
            </a:r>
            <a:r>
              <a:rPr spc="-5" dirty="0"/>
              <a:t>Sequence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59355"/>
            <a:ext cx="7470775" cy="3808729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marR="86995" indent="-343535">
              <a:lnSpc>
                <a:spcPts val="3020"/>
              </a:lnSpc>
              <a:spcBef>
                <a:spcPts val="484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restart sequence </a:t>
            </a:r>
            <a:r>
              <a:rPr sz="2800" dirty="0">
                <a:latin typeface="Times New Roman"/>
                <a:cs typeface="Times New Roman"/>
              </a:rPr>
              <a:t>is </a:t>
            </a:r>
            <a:r>
              <a:rPr sz="2800" spc="-5" dirty="0">
                <a:latin typeface="Times New Roman"/>
                <a:cs typeface="Times New Roman"/>
              </a:rPr>
              <a:t>made </a:t>
            </a:r>
            <a:r>
              <a:rPr sz="2800" dirty="0">
                <a:latin typeface="Times New Roman"/>
                <a:cs typeface="Times New Roman"/>
              </a:rPr>
              <a:t>up of </a:t>
            </a:r>
            <a:r>
              <a:rPr sz="2800" spc="-5" dirty="0">
                <a:latin typeface="Times New Roman"/>
                <a:cs typeface="Times New Roman"/>
              </a:rPr>
              <a:t>three machine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cycles</a:t>
            </a:r>
            <a:endParaRPr sz="28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259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 1st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machine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cycle:</a:t>
            </a:r>
            <a:endParaRPr sz="2400">
              <a:latin typeface="Times New Roman"/>
              <a:cs typeface="Times New Roman"/>
            </a:endParaRPr>
          </a:p>
          <a:p>
            <a:pPr marL="1155700" lvl="2" indent="-229870" algn="just">
              <a:lnSpc>
                <a:spcPct val="100000"/>
              </a:lnSpc>
              <a:spcBef>
                <a:spcPts val="254"/>
              </a:spcBef>
              <a:buChar char="•"/>
              <a:tabLst>
                <a:tab pos="1156335" algn="l"/>
              </a:tabLst>
            </a:pPr>
            <a:r>
              <a:rPr sz="2000" spc="-5" dirty="0">
                <a:latin typeface="Times New Roman"/>
                <a:cs typeface="Times New Roman"/>
              </a:rPr>
              <a:t>The microprocessor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sends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 INTA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signal.</a:t>
            </a:r>
            <a:endParaRPr sz="2000">
              <a:latin typeface="Times New Roman"/>
              <a:cs typeface="Times New Roman"/>
            </a:endParaRPr>
          </a:p>
          <a:p>
            <a:pPr marL="1155700" marR="60960" lvl="2" indent="-229235" algn="just">
              <a:lnSpc>
                <a:spcPts val="2160"/>
              </a:lnSpc>
              <a:spcBef>
                <a:spcPts val="509"/>
              </a:spcBef>
              <a:buChar char="•"/>
              <a:tabLst>
                <a:tab pos="1156335" algn="l"/>
              </a:tabLst>
            </a:pPr>
            <a:r>
              <a:rPr sz="2000" spc="-5" dirty="0">
                <a:latin typeface="Times New Roman"/>
                <a:cs typeface="Times New Roman"/>
              </a:rPr>
              <a:t>While INTA is active the microprocessor reads the data lines 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expecting to receive, from the interrupting device, the opcode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for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specific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RST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instruction.</a:t>
            </a:r>
            <a:endParaRPr sz="20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240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2nd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3rd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machine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cycles:</a:t>
            </a:r>
            <a:endParaRPr sz="2400">
              <a:latin typeface="Times New Roman"/>
              <a:cs typeface="Times New Roman"/>
            </a:endParaRPr>
          </a:p>
          <a:p>
            <a:pPr marL="1155700" lvl="2" indent="-229870" algn="just">
              <a:lnSpc>
                <a:spcPct val="100000"/>
              </a:lnSpc>
              <a:spcBef>
                <a:spcPts val="254"/>
              </a:spcBef>
              <a:buChar char="•"/>
              <a:tabLst>
                <a:tab pos="1156335" algn="l"/>
              </a:tabLst>
            </a:pP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16-bit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address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of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 next instruction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saved on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 stack.</a:t>
            </a:r>
            <a:endParaRPr sz="2000">
              <a:latin typeface="Times New Roman"/>
              <a:cs typeface="Times New Roman"/>
            </a:endParaRPr>
          </a:p>
          <a:p>
            <a:pPr marL="1155700" marR="31750" lvl="2" indent="-229235" algn="just">
              <a:lnSpc>
                <a:spcPts val="2160"/>
              </a:lnSpc>
              <a:spcBef>
                <a:spcPts val="515"/>
              </a:spcBef>
              <a:buChar char="•"/>
              <a:tabLst>
                <a:tab pos="1156335" algn="l"/>
              </a:tabLst>
            </a:pPr>
            <a:r>
              <a:rPr sz="2000" spc="-5" dirty="0">
                <a:latin typeface="Times New Roman"/>
                <a:cs typeface="Times New Roman"/>
              </a:rPr>
              <a:t>Then the microprocessor jumps to the address associated with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specified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RST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instruction.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8296" y="814069"/>
            <a:ext cx="388683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Restart</a:t>
            </a:r>
            <a:r>
              <a:rPr spc="-70" dirty="0"/>
              <a:t> </a:t>
            </a:r>
            <a:r>
              <a:rPr spc="-5" dirty="0"/>
              <a:t>Sequence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2000504"/>
            <a:ext cx="7403465" cy="3368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The location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IVT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associated</a:t>
            </a:r>
            <a:r>
              <a:rPr sz="3200" spc="3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with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RST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instruction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can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not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hold the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complete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service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routine.</a:t>
            </a:r>
            <a:endParaRPr sz="3200">
              <a:latin typeface="Times New Roman"/>
              <a:cs typeface="Times New Roman"/>
            </a:endParaRPr>
          </a:p>
          <a:p>
            <a:pPr marL="755650" marR="862330" lvl="1" indent="-285750">
              <a:lnSpc>
                <a:spcPct val="100000"/>
              </a:lnSpc>
              <a:spcBef>
                <a:spcPts val="69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routine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written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somewhere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else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memory.</a:t>
            </a:r>
            <a:endParaRPr sz="2800">
              <a:latin typeface="Times New Roman"/>
              <a:cs typeface="Times New Roman"/>
            </a:endParaRPr>
          </a:p>
          <a:p>
            <a:pPr marL="755650" marR="56515" lvl="1" indent="-285750">
              <a:lnSpc>
                <a:spcPct val="100000"/>
              </a:lnSpc>
              <a:spcBef>
                <a:spcPts val="670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Times New Roman"/>
                <a:cs typeface="Times New Roman"/>
              </a:rPr>
              <a:t>Only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JUMP</a:t>
            </a:r>
            <a:r>
              <a:rPr sz="2800" spc="-5" dirty="0">
                <a:latin typeface="Times New Roman"/>
                <a:cs typeface="Times New Roman"/>
              </a:rPr>
              <a:t> instruction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ISR’s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location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kept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IVT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block.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20365" marR="5080" indent="-242633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Hardware</a:t>
            </a:r>
            <a:r>
              <a:rPr spc="-30" dirty="0"/>
              <a:t> </a:t>
            </a:r>
            <a:r>
              <a:rPr spc="-5" dirty="0"/>
              <a:t>Generation</a:t>
            </a:r>
            <a:r>
              <a:rPr spc="-15" dirty="0"/>
              <a:t> </a:t>
            </a:r>
            <a:r>
              <a:rPr spc="-5" dirty="0"/>
              <a:t>of</a:t>
            </a:r>
            <a:r>
              <a:rPr spc="-15" dirty="0"/>
              <a:t> </a:t>
            </a:r>
            <a:r>
              <a:rPr spc="-5" dirty="0"/>
              <a:t>RST </a:t>
            </a:r>
            <a:r>
              <a:rPr spc="-1085" dirty="0"/>
              <a:t> </a:t>
            </a:r>
            <a:r>
              <a:rPr spc="-5" dirty="0"/>
              <a:t>Opcode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2000504"/>
            <a:ext cx="7536180" cy="2880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5080" indent="-342900" algn="just">
              <a:lnSpc>
                <a:spcPct val="100000"/>
              </a:lnSpc>
              <a:spcBef>
                <a:spcPts val="95"/>
              </a:spcBef>
              <a:buChar char="•"/>
              <a:tabLst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How does the external device produce the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opcode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for the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appropriate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RST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instruction?</a:t>
            </a:r>
            <a:endParaRPr sz="3200">
              <a:latin typeface="Times New Roman"/>
              <a:cs typeface="Times New Roman"/>
            </a:endParaRPr>
          </a:p>
          <a:p>
            <a:pPr marL="755650" lvl="1" indent="-285750" algn="just">
              <a:lnSpc>
                <a:spcPct val="100000"/>
              </a:lnSpc>
              <a:spcBef>
                <a:spcPts val="69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opcode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simply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collection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bits.</a:t>
            </a:r>
            <a:endParaRPr sz="2800">
              <a:latin typeface="Times New Roman"/>
              <a:cs typeface="Times New Roman"/>
            </a:endParaRPr>
          </a:p>
          <a:p>
            <a:pPr marL="755650" marR="316230" lvl="1" indent="-285750" algn="just">
              <a:lnSpc>
                <a:spcPct val="100000"/>
              </a:lnSpc>
              <a:spcBef>
                <a:spcPts val="670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Times New Roman"/>
                <a:cs typeface="Times New Roman"/>
              </a:rPr>
              <a:t>So,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device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needs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set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bits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 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data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bus to the </a:t>
            </a:r>
            <a:r>
              <a:rPr sz="2800" spc="-5" dirty="0">
                <a:latin typeface="Times New Roman"/>
                <a:cs typeface="Times New Roman"/>
              </a:rPr>
              <a:t>appropriate value </a:t>
            </a:r>
            <a:r>
              <a:rPr sz="2800" dirty="0">
                <a:latin typeface="Times New Roman"/>
                <a:cs typeface="Times New Roman"/>
              </a:rPr>
              <a:t>in response to </a:t>
            </a:r>
            <a:r>
              <a:rPr sz="2800" spc="-5" dirty="0">
                <a:latin typeface="Times New Roman"/>
                <a:cs typeface="Times New Roman"/>
              </a:rPr>
              <a:t>an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INTA </a:t>
            </a:r>
            <a:r>
              <a:rPr sz="2800" dirty="0">
                <a:latin typeface="Times New Roman"/>
                <a:cs typeface="Times New Roman"/>
              </a:rPr>
              <a:t>signal.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325951" y="1750868"/>
            <a:ext cx="4013835" cy="3967479"/>
            <a:chOff x="4325951" y="1750868"/>
            <a:chExt cx="4013835" cy="396747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25951" y="1750868"/>
              <a:ext cx="4013387" cy="396687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696200" y="5334000"/>
              <a:ext cx="609600" cy="0"/>
            </a:xfrm>
            <a:custGeom>
              <a:avLst/>
              <a:gdLst/>
              <a:ahLst/>
              <a:cxnLst/>
              <a:rect l="l" t="t" r="r" b="b"/>
              <a:pathLst>
                <a:path w="609600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764540" y="1243838"/>
            <a:ext cx="25495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following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4540" y="1609597"/>
            <a:ext cx="30410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example of generating </a:t>
            </a:r>
            <a:r>
              <a:rPr sz="2400" spc="-6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RST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5: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4540" y="2706878"/>
            <a:ext cx="3223895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RST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5’s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opcode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EF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tabLst>
                <a:tab pos="1156970" algn="l"/>
              </a:tabLst>
            </a:pPr>
            <a:r>
              <a:rPr sz="2400" spc="-5" dirty="0">
                <a:latin typeface="Arial MT"/>
                <a:cs typeface="Arial MT"/>
              </a:rPr>
              <a:t>D	D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76543210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spc="-140" dirty="0">
                <a:latin typeface="Arial MT"/>
                <a:cs typeface="Arial MT"/>
              </a:rPr>
              <a:t>11101111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264285" y="478789"/>
            <a:ext cx="66147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Hardware</a:t>
            </a:r>
            <a:r>
              <a:rPr spc="-30" dirty="0"/>
              <a:t> </a:t>
            </a:r>
            <a:r>
              <a:rPr spc="-5" dirty="0"/>
              <a:t>Generation</a:t>
            </a:r>
            <a:r>
              <a:rPr spc="-15" dirty="0"/>
              <a:t> </a:t>
            </a:r>
            <a:r>
              <a:rPr spc="-5" dirty="0"/>
              <a:t>of</a:t>
            </a:r>
            <a:r>
              <a:rPr spc="-15" dirty="0"/>
              <a:t> </a:t>
            </a:r>
            <a:r>
              <a:rPr spc="-5" dirty="0"/>
              <a:t>RST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690608" y="1149603"/>
            <a:ext cx="176403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5" dirty="0">
                <a:latin typeface="Times New Roman"/>
                <a:cs typeface="Times New Roman"/>
              </a:rPr>
              <a:t>Op</a:t>
            </a:r>
            <a:r>
              <a:rPr sz="4400" spc="-10" dirty="0">
                <a:latin typeface="Times New Roman"/>
                <a:cs typeface="Times New Roman"/>
              </a:rPr>
              <a:t>c</a:t>
            </a:r>
            <a:r>
              <a:rPr sz="4400" spc="-5" dirty="0">
                <a:latin typeface="Times New Roman"/>
                <a:cs typeface="Times New Roman"/>
              </a:rPr>
              <a:t>ode</a:t>
            </a:r>
            <a:endParaRPr sz="4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20365" marR="5080" indent="-242633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Hardware</a:t>
            </a:r>
            <a:r>
              <a:rPr spc="-30" dirty="0"/>
              <a:t> </a:t>
            </a:r>
            <a:r>
              <a:rPr spc="-5" dirty="0"/>
              <a:t>Generation</a:t>
            </a:r>
            <a:r>
              <a:rPr spc="-15" dirty="0"/>
              <a:t> </a:t>
            </a:r>
            <a:r>
              <a:rPr spc="-5" dirty="0"/>
              <a:t>of</a:t>
            </a:r>
            <a:r>
              <a:rPr spc="-15" dirty="0"/>
              <a:t> </a:t>
            </a:r>
            <a:r>
              <a:rPr spc="-5" dirty="0"/>
              <a:t>RST </a:t>
            </a:r>
            <a:r>
              <a:rPr spc="-1085" dirty="0"/>
              <a:t> </a:t>
            </a:r>
            <a:r>
              <a:rPr spc="-5" dirty="0"/>
              <a:t>Opcode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59355"/>
            <a:ext cx="7470775" cy="402526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marR="86360" indent="-343535">
              <a:lnSpc>
                <a:spcPts val="3020"/>
              </a:lnSpc>
              <a:spcBef>
                <a:spcPts val="484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latin typeface="Times New Roman"/>
                <a:cs typeface="Times New Roman"/>
              </a:rPr>
              <a:t>During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interrupt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acknowledge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machine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cycle,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1st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machine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cycle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RST operation):</a:t>
            </a:r>
            <a:endParaRPr sz="28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259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The Microprocessor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activates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INTA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signal.</a:t>
            </a:r>
            <a:endParaRPr sz="2400">
              <a:latin typeface="Times New Roman"/>
              <a:cs typeface="Times New Roman"/>
            </a:endParaRPr>
          </a:p>
          <a:p>
            <a:pPr marL="755650" marR="5080" lvl="1" indent="-286385">
              <a:lnSpc>
                <a:spcPts val="2590"/>
              </a:lnSpc>
              <a:spcBef>
                <a:spcPts val="615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This signal will enable the Tri-state buffers, </a:t>
            </a:r>
            <a:r>
              <a:rPr sz="2400" dirty="0">
                <a:latin typeface="Times New Roman"/>
                <a:cs typeface="Times New Roman"/>
              </a:rPr>
              <a:t>which </a:t>
            </a:r>
            <a:r>
              <a:rPr sz="2400" spc="-5" dirty="0">
                <a:latin typeface="Times New Roman"/>
                <a:cs typeface="Times New Roman"/>
              </a:rPr>
              <a:t>will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place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value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EFH</a:t>
            </a:r>
            <a:r>
              <a:rPr sz="2400" dirty="0">
                <a:latin typeface="Times New Roman"/>
                <a:cs typeface="Times New Roman"/>
              </a:rPr>
              <a:t> on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data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bus.</a:t>
            </a:r>
            <a:endParaRPr sz="2400">
              <a:latin typeface="Times New Roman"/>
              <a:cs typeface="Times New Roman"/>
            </a:endParaRPr>
          </a:p>
          <a:p>
            <a:pPr marL="755650" marR="659130" lvl="1" indent="-285750">
              <a:lnSpc>
                <a:spcPts val="2590"/>
              </a:lnSpc>
              <a:spcBef>
                <a:spcPts val="580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spc="-5" dirty="0">
                <a:latin typeface="Times New Roman"/>
                <a:cs typeface="Times New Roman"/>
              </a:rPr>
              <a:t>Therefore,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sending the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Microprocessor the RST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5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instruction.</a:t>
            </a:r>
            <a:endParaRPr sz="2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buFont typeface="Times New Roman"/>
              <a:buChar char="–"/>
            </a:pPr>
            <a:endParaRPr sz="3800">
              <a:latin typeface="Times New Roman"/>
              <a:cs typeface="Times New Roman"/>
            </a:endParaRPr>
          </a:p>
          <a:p>
            <a:pPr marL="355600" marR="570865" indent="-342900">
              <a:lnSpc>
                <a:spcPts val="3020"/>
              </a:lnSpc>
              <a:buChar char="•"/>
              <a:tabLst>
                <a:tab pos="354965" algn="l"/>
                <a:tab pos="355600" algn="l"/>
              </a:tabLst>
            </a:pPr>
            <a:r>
              <a:rPr sz="2800" u="heavy" spc="-5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The RST </a:t>
            </a:r>
            <a:r>
              <a:rPr sz="2800" u="heavy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5 </a:t>
            </a:r>
            <a:r>
              <a:rPr sz="2800" u="heavy" spc="-5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instruction </a:t>
            </a:r>
            <a:r>
              <a:rPr sz="2800" u="heavy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is </a:t>
            </a:r>
            <a:r>
              <a:rPr sz="2800" u="heavy" spc="-5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exactly equivalent </a:t>
            </a:r>
            <a:r>
              <a:rPr sz="2800" u="heavy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to </a:t>
            </a:r>
            <a:r>
              <a:rPr sz="2800" spc="-68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u="heavy" spc="-5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CALL</a:t>
            </a:r>
            <a:r>
              <a:rPr sz="2800" u="heavy" spc="-10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u="heavy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0028H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02560" marR="5080" indent="-224218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Issues in Implementing INTR </a:t>
            </a:r>
            <a:r>
              <a:rPr spc="-1085" dirty="0"/>
              <a:t> </a:t>
            </a:r>
            <a:r>
              <a:rPr spc="-5" dirty="0"/>
              <a:t>Interrupts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15229"/>
            <a:ext cx="7503159" cy="4416425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5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How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long</a:t>
            </a:r>
            <a:r>
              <a:rPr sz="2800" spc="-2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u="heavy" spc="-5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must</a:t>
            </a:r>
            <a:r>
              <a:rPr sz="2800" spc="-2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INTR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remain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high?</a:t>
            </a:r>
            <a:endParaRPr sz="2800">
              <a:latin typeface="Times New Roman"/>
              <a:cs typeface="Times New Roman"/>
            </a:endParaRPr>
          </a:p>
          <a:p>
            <a:pPr marL="755650" marR="391160" lvl="1" indent="-286385">
              <a:lnSpc>
                <a:spcPts val="2590"/>
              </a:lnSpc>
              <a:spcBef>
                <a:spcPts val="625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The microprocessor checks the INTR line </a:t>
            </a:r>
            <a:r>
              <a:rPr sz="2400" dirty="0">
                <a:latin typeface="Times New Roman"/>
                <a:cs typeface="Times New Roman"/>
              </a:rPr>
              <a:t>one </a:t>
            </a:r>
            <a:r>
              <a:rPr sz="2400" spc="-5" dirty="0">
                <a:latin typeface="Times New Roman"/>
                <a:cs typeface="Times New Roman"/>
              </a:rPr>
              <a:t>clock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cycle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before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last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T-state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each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instruction.</a:t>
            </a:r>
            <a:endParaRPr sz="24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250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interrupt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process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Asynchronous.</a:t>
            </a:r>
            <a:endParaRPr sz="2400">
              <a:latin typeface="Times New Roman"/>
              <a:cs typeface="Times New Roman"/>
            </a:endParaRPr>
          </a:p>
          <a:p>
            <a:pPr marL="755650" marR="5080" lvl="1" indent="-286385">
              <a:lnSpc>
                <a:spcPts val="2590"/>
              </a:lnSpc>
              <a:spcBef>
                <a:spcPts val="615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The INTR </a:t>
            </a:r>
            <a:r>
              <a:rPr sz="2400" dirty="0">
                <a:latin typeface="Times New Roman"/>
                <a:cs typeface="Times New Roman"/>
              </a:rPr>
              <a:t>must </a:t>
            </a:r>
            <a:r>
              <a:rPr sz="2400" spc="-5" dirty="0">
                <a:latin typeface="Times New Roman"/>
                <a:cs typeface="Times New Roman"/>
              </a:rPr>
              <a:t>remain active long </a:t>
            </a:r>
            <a:r>
              <a:rPr sz="2400" dirty="0">
                <a:latin typeface="Times New Roman"/>
                <a:cs typeface="Times New Roman"/>
              </a:rPr>
              <a:t>enough </a:t>
            </a:r>
            <a:r>
              <a:rPr sz="2400" spc="-5" dirty="0">
                <a:latin typeface="Times New Roman"/>
                <a:cs typeface="Times New Roman"/>
              </a:rPr>
              <a:t>to allow for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longest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instruction.</a:t>
            </a:r>
            <a:endParaRPr sz="2400">
              <a:latin typeface="Times New Roman"/>
              <a:cs typeface="Times New Roman"/>
            </a:endParaRPr>
          </a:p>
          <a:p>
            <a:pPr marL="755650" marR="196850" lvl="1" indent="-285750">
              <a:lnSpc>
                <a:spcPts val="2590"/>
              </a:lnSpc>
              <a:spcBef>
                <a:spcPts val="580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spc="-5" dirty="0">
                <a:latin typeface="Times New Roman"/>
                <a:cs typeface="Times New Roman"/>
              </a:rPr>
              <a:t>The longest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instruction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for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8085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conditional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CALL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instruction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which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requires </a:t>
            </a:r>
            <a:r>
              <a:rPr sz="2400" dirty="0">
                <a:latin typeface="Times New Roman"/>
                <a:cs typeface="Times New Roman"/>
              </a:rPr>
              <a:t>18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T-states.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450">
              <a:latin typeface="Times New Roman"/>
              <a:cs typeface="Times New Roman"/>
            </a:endParaRPr>
          </a:p>
          <a:p>
            <a:pPr marL="337185">
              <a:lnSpc>
                <a:spcPts val="3190"/>
              </a:lnSpc>
            </a:pPr>
            <a:r>
              <a:rPr sz="2800" spc="-5" dirty="0">
                <a:solidFill>
                  <a:srgbClr val="990000"/>
                </a:solidFill>
                <a:latin typeface="Times New Roman"/>
                <a:cs typeface="Times New Roman"/>
              </a:rPr>
              <a:t>Therefore,</a:t>
            </a:r>
            <a:r>
              <a:rPr sz="2800" spc="-2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990000"/>
                </a:solidFill>
                <a:latin typeface="Times New Roman"/>
                <a:cs typeface="Times New Roman"/>
              </a:rPr>
              <a:t>the</a:t>
            </a:r>
            <a:r>
              <a:rPr sz="2800" spc="-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990000"/>
                </a:solidFill>
                <a:latin typeface="Times New Roman"/>
                <a:cs typeface="Times New Roman"/>
              </a:rPr>
              <a:t>INTR</a:t>
            </a:r>
            <a:r>
              <a:rPr sz="2800" spc="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990000"/>
                </a:solidFill>
                <a:latin typeface="Times New Roman"/>
                <a:cs typeface="Times New Roman"/>
              </a:rPr>
              <a:t>must</a:t>
            </a:r>
            <a:r>
              <a:rPr sz="2800" spc="-2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990000"/>
                </a:solidFill>
                <a:latin typeface="Times New Roman"/>
                <a:cs typeface="Times New Roman"/>
              </a:rPr>
              <a:t>remain</a:t>
            </a:r>
            <a:r>
              <a:rPr sz="2800" spc="-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990000"/>
                </a:solidFill>
                <a:latin typeface="Times New Roman"/>
                <a:cs typeface="Times New Roman"/>
              </a:rPr>
              <a:t>active</a:t>
            </a:r>
            <a:r>
              <a:rPr sz="2800" spc="-3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990000"/>
                </a:solidFill>
                <a:latin typeface="Times New Roman"/>
                <a:cs typeface="Times New Roman"/>
              </a:rPr>
              <a:t>for 17.5</a:t>
            </a:r>
            <a:endParaRPr sz="2800">
              <a:latin typeface="Times New Roman"/>
              <a:cs typeface="Times New Roman"/>
            </a:endParaRPr>
          </a:p>
          <a:p>
            <a:pPr marL="451484" algn="ctr">
              <a:lnSpc>
                <a:spcPts val="3190"/>
              </a:lnSpc>
            </a:pPr>
            <a:r>
              <a:rPr sz="2800" spc="-5" dirty="0">
                <a:solidFill>
                  <a:srgbClr val="990000"/>
                </a:solidFill>
                <a:latin typeface="Times New Roman"/>
                <a:cs typeface="Times New Roman"/>
              </a:rPr>
              <a:t>T-states</a:t>
            </a:r>
            <a:r>
              <a:rPr sz="2800" spc="-5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02560" marR="5080" indent="-224218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Issues in Implementing INTR </a:t>
            </a:r>
            <a:r>
              <a:rPr spc="-1085" dirty="0"/>
              <a:t> </a:t>
            </a:r>
            <a:r>
              <a:rPr spc="-5" dirty="0"/>
              <a:t>Interrupts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15229"/>
            <a:ext cx="7530465" cy="467868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5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How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long</a:t>
            </a:r>
            <a:r>
              <a:rPr sz="2800" spc="-2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u="heavy" spc="-5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can</a:t>
            </a:r>
            <a:r>
              <a:rPr sz="2800" spc="-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INTR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remain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high?</a:t>
            </a:r>
            <a:endParaRPr sz="2800">
              <a:latin typeface="Times New Roman"/>
              <a:cs typeface="Times New Roman"/>
            </a:endParaRPr>
          </a:p>
          <a:p>
            <a:pPr marL="755650" marR="542290" lvl="1" indent="-286385">
              <a:lnSpc>
                <a:spcPts val="2590"/>
              </a:lnSpc>
              <a:spcBef>
                <a:spcPts val="625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INTR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must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5" dirty="0">
                <a:latin typeface="Times New Roman"/>
                <a:cs typeface="Times New Roman"/>
              </a:rPr>
              <a:t> deactivated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before 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EI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executed. Otherwise, the microprocessor will </a:t>
            </a:r>
            <a:r>
              <a:rPr sz="2400" dirty="0">
                <a:latin typeface="Times New Roman"/>
                <a:cs typeface="Times New Roman"/>
              </a:rPr>
              <a:t>be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interrupted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again.</a:t>
            </a:r>
            <a:endParaRPr sz="2400">
              <a:latin typeface="Times New Roman"/>
              <a:cs typeface="Times New Roman"/>
            </a:endParaRPr>
          </a:p>
          <a:p>
            <a:pPr marL="755650" marR="1145540" lvl="1" indent="-286385">
              <a:lnSpc>
                <a:spcPts val="2590"/>
              </a:lnSpc>
              <a:spcBef>
                <a:spcPts val="580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worst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case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situation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when EI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first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instruction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ISR.</a:t>
            </a:r>
            <a:endParaRPr sz="2400">
              <a:latin typeface="Times New Roman"/>
              <a:cs typeface="Times New Roman"/>
            </a:endParaRPr>
          </a:p>
          <a:p>
            <a:pPr marL="755650" marR="189865" lvl="1" indent="-285750">
              <a:lnSpc>
                <a:spcPts val="2590"/>
              </a:lnSpc>
              <a:spcBef>
                <a:spcPts val="580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spc="-5" dirty="0">
                <a:latin typeface="Times New Roman"/>
                <a:cs typeface="Times New Roman"/>
              </a:rPr>
              <a:t>Once the microprocessor starts to respond </a:t>
            </a:r>
            <a:r>
              <a:rPr sz="2400" dirty="0">
                <a:latin typeface="Times New Roman"/>
                <a:cs typeface="Times New Roman"/>
              </a:rPr>
              <a:t>to an </a:t>
            </a:r>
            <a:r>
              <a:rPr sz="2400" spc="-5" dirty="0">
                <a:latin typeface="Times New Roman"/>
                <a:cs typeface="Times New Roman"/>
              </a:rPr>
              <a:t>INTR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interrupt,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INTA becomes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active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(=0).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450">
              <a:latin typeface="Times New Roman"/>
              <a:cs typeface="Times New Roman"/>
            </a:endParaRPr>
          </a:p>
          <a:p>
            <a:pPr marL="2230755" marR="5080" indent="-2136775">
              <a:lnSpc>
                <a:spcPts val="3020"/>
              </a:lnSpc>
            </a:pPr>
            <a:r>
              <a:rPr sz="2800" spc="-5" dirty="0">
                <a:solidFill>
                  <a:srgbClr val="990000"/>
                </a:solidFill>
                <a:latin typeface="Times New Roman"/>
                <a:cs typeface="Times New Roman"/>
              </a:rPr>
              <a:t>Therefore,</a:t>
            </a:r>
            <a:r>
              <a:rPr sz="2800" spc="-2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990000"/>
                </a:solidFill>
                <a:latin typeface="Times New Roman"/>
                <a:cs typeface="Times New Roman"/>
              </a:rPr>
              <a:t>INTR </a:t>
            </a:r>
            <a:r>
              <a:rPr sz="2800" dirty="0">
                <a:solidFill>
                  <a:srgbClr val="990000"/>
                </a:solidFill>
                <a:latin typeface="Times New Roman"/>
                <a:cs typeface="Times New Roman"/>
              </a:rPr>
              <a:t>should</a:t>
            </a:r>
            <a:r>
              <a:rPr sz="2800" spc="-2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990000"/>
                </a:solidFill>
                <a:latin typeface="Times New Roman"/>
                <a:cs typeface="Times New Roman"/>
              </a:rPr>
              <a:t>be</a:t>
            </a:r>
            <a:r>
              <a:rPr sz="2800" spc="-2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990000"/>
                </a:solidFill>
                <a:latin typeface="Times New Roman"/>
                <a:cs typeface="Times New Roman"/>
              </a:rPr>
              <a:t>turned</a:t>
            </a:r>
            <a:r>
              <a:rPr sz="2800" spc="-2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990000"/>
                </a:solidFill>
                <a:latin typeface="Times New Roman"/>
                <a:cs typeface="Times New Roman"/>
              </a:rPr>
              <a:t>off</a:t>
            </a:r>
            <a:r>
              <a:rPr sz="2800" spc="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990000"/>
                </a:solidFill>
                <a:latin typeface="Times New Roman"/>
                <a:cs typeface="Times New Roman"/>
              </a:rPr>
              <a:t>as</a:t>
            </a:r>
            <a:r>
              <a:rPr sz="2800" spc="-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990000"/>
                </a:solidFill>
                <a:latin typeface="Times New Roman"/>
                <a:cs typeface="Times New Roman"/>
              </a:rPr>
              <a:t>soon</a:t>
            </a:r>
            <a:r>
              <a:rPr sz="2800" spc="-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990000"/>
                </a:solidFill>
                <a:latin typeface="Times New Roman"/>
                <a:cs typeface="Times New Roman"/>
              </a:rPr>
              <a:t>as</a:t>
            </a:r>
            <a:r>
              <a:rPr sz="2800" spc="-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990000"/>
                </a:solidFill>
                <a:latin typeface="Times New Roman"/>
                <a:cs typeface="Times New Roman"/>
              </a:rPr>
              <a:t>the </a:t>
            </a:r>
            <a:r>
              <a:rPr sz="2800" spc="-68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990000"/>
                </a:solidFill>
                <a:latin typeface="Times New Roman"/>
                <a:cs typeface="Times New Roman"/>
              </a:rPr>
              <a:t>INTA signal</a:t>
            </a:r>
            <a:r>
              <a:rPr sz="2800" spc="-2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990000"/>
                </a:solidFill>
                <a:latin typeface="Times New Roman"/>
                <a:cs typeface="Times New Roman"/>
              </a:rPr>
              <a:t>is</a:t>
            </a:r>
            <a:r>
              <a:rPr sz="2800" spc="-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990000"/>
                </a:solidFill>
                <a:latin typeface="Times New Roman"/>
                <a:cs typeface="Times New Roman"/>
              </a:rPr>
              <a:t>received</a:t>
            </a:r>
            <a:r>
              <a:rPr sz="2800" spc="-5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02560" marR="5080" indent="-224218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Issues in Implementing INTR </a:t>
            </a:r>
            <a:r>
              <a:rPr spc="-1085" dirty="0"/>
              <a:t> </a:t>
            </a:r>
            <a:r>
              <a:rPr spc="-5" dirty="0"/>
              <a:t>Interrupts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59355"/>
            <a:ext cx="7501255" cy="442722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marR="834390" indent="-342900">
              <a:lnSpc>
                <a:spcPts val="3020"/>
              </a:lnSpc>
              <a:spcBef>
                <a:spcPts val="484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u="heavy" spc="-5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Can</a:t>
            </a:r>
            <a:r>
              <a:rPr sz="2800" spc="-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microprocessor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u="heavy" spc="-5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interrupted again </a:t>
            </a:r>
            <a:r>
              <a:rPr sz="2800" spc="-68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u="heavy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before</a:t>
            </a:r>
            <a:r>
              <a:rPr sz="2800" u="heavy" spc="-30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u="heavy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sz="2800" u="heavy" spc="-20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u="heavy" spc="-5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completion</a:t>
            </a:r>
            <a:r>
              <a:rPr sz="2800" u="heavy" spc="-25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u="heavy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of the</a:t>
            </a:r>
            <a:r>
              <a:rPr sz="2800" u="heavy" spc="-20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u="heavy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ISR</a:t>
            </a:r>
            <a:r>
              <a:rPr sz="2800" dirty="0">
                <a:latin typeface="Times New Roman"/>
                <a:cs typeface="Times New Roman"/>
              </a:rPr>
              <a:t>?</a:t>
            </a:r>
            <a:endParaRPr sz="2800">
              <a:latin typeface="Times New Roman"/>
              <a:cs typeface="Times New Roman"/>
            </a:endParaRPr>
          </a:p>
          <a:p>
            <a:pPr marL="755650" marR="826135" lvl="1" indent="-286385">
              <a:lnSpc>
                <a:spcPts val="2590"/>
              </a:lnSpc>
              <a:spcBef>
                <a:spcPts val="585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As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soon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1st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interrupt arrives,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all maskable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interrupts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are disabled.</a:t>
            </a:r>
            <a:endParaRPr sz="2400">
              <a:latin typeface="Times New Roman"/>
              <a:cs typeface="Times New Roman"/>
            </a:endParaRPr>
          </a:p>
          <a:p>
            <a:pPr marL="755650" marR="81915" lvl="1" indent="-285750">
              <a:lnSpc>
                <a:spcPts val="2590"/>
              </a:lnSpc>
              <a:spcBef>
                <a:spcPts val="580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spc="-5" dirty="0">
                <a:latin typeface="Times New Roman"/>
                <a:cs typeface="Times New Roman"/>
              </a:rPr>
              <a:t>They will only </a:t>
            </a:r>
            <a:r>
              <a:rPr sz="2400" dirty="0">
                <a:latin typeface="Times New Roman"/>
                <a:cs typeface="Times New Roman"/>
              </a:rPr>
              <a:t>be </a:t>
            </a:r>
            <a:r>
              <a:rPr sz="2400" spc="-5" dirty="0">
                <a:latin typeface="Times New Roman"/>
                <a:cs typeface="Times New Roman"/>
              </a:rPr>
              <a:t>enabled after the execution </a:t>
            </a:r>
            <a:r>
              <a:rPr sz="2400" dirty="0">
                <a:latin typeface="Times New Roman"/>
                <a:cs typeface="Times New Roman"/>
              </a:rPr>
              <a:t>of the </a:t>
            </a:r>
            <a:r>
              <a:rPr sz="2400" spc="-5" dirty="0">
                <a:latin typeface="Times New Roman"/>
                <a:cs typeface="Times New Roman"/>
              </a:rPr>
              <a:t>EI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instruction.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150">
              <a:latin typeface="Times New Roman"/>
              <a:cs typeface="Times New Roman"/>
            </a:endParaRPr>
          </a:p>
          <a:p>
            <a:pPr marL="248285">
              <a:lnSpc>
                <a:spcPct val="100000"/>
              </a:lnSpc>
            </a:pPr>
            <a:r>
              <a:rPr sz="2800" spc="-5" dirty="0">
                <a:solidFill>
                  <a:srgbClr val="990000"/>
                </a:solidFill>
                <a:latin typeface="Times New Roman"/>
                <a:cs typeface="Times New Roman"/>
              </a:rPr>
              <a:t>Therefore,</a:t>
            </a:r>
            <a:r>
              <a:rPr sz="2800" spc="-2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990000"/>
                </a:solidFill>
                <a:latin typeface="Times New Roman"/>
                <a:cs typeface="Times New Roman"/>
              </a:rPr>
              <a:t>the</a:t>
            </a:r>
            <a:r>
              <a:rPr sz="2800" spc="-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990000"/>
                </a:solidFill>
                <a:latin typeface="Times New Roman"/>
                <a:cs typeface="Times New Roman"/>
              </a:rPr>
              <a:t>answer </a:t>
            </a:r>
            <a:r>
              <a:rPr sz="2800" dirty="0">
                <a:solidFill>
                  <a:srgbClr val="990000"/>
                </a:solidFill>
                <a:latin typeface="Times New Roman"/>
                <a:cs typeface="Times New Roman"/>
              </a:rPr>
              <a:t>is:</a:t>
            </a:r>
            <a:r>
              <a:rPr sz="2800" spc="-2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990000"/>
                </a:solidFill>
                <a:latin typeface="Times New Roman"/>
                <a:cs typeface="Times New Roman"/>
              </a:rPr>
              <a:t>“only</a:t>
            </a:r>
            <a:r>
              <a:rPr sz="2800" spc="-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990000"/>
                </a:solidFill>
                <a:latin typeface="Times New Roman"/>
                <a:cs typeface="Times New Roman"/>
              </a:rPr>
              <a:t>if you</a:t>
            </a:r>
            <a:r>
              <a:rPr sz="2800" spc="-5" dirty="0">
                <a:solidFill>
                  <a:srgbClr val="990000"/>
                </a:solidFill>
                <a:latin typeface="Times New Roman"/>
                <a:cs typeface="Times New Roman"/>
              </a:rPr>
              <a:t> allow</a:t>
            </a:r>
            <a:r>
              <a:rPr sz="2800" spc="-2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990000"/>
                </a:solidFill>
                <a:latin typeface="Times New Roman"/>
                <a:cs typeface="Times New Roman"/>
              </a:rPr>
              <a:t>it</a:t>
            </a:r>
            <a:r>
              <a:rPr sz="2800" spc="-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990000"/>
                </a:solidFill>
                <a:latin typeface="Times New Roman"/>
                <a:cs typeface="Times New Roman"/>
              </a:rPr>
              <a:t>to”.</a:t>
            </a:r>
            <a:endParaRPr sz="2800">
              <a:latin typeface="Times New Roman"/>
              <a:cs typeface="Times New Roman"/>
            </a:endParaRPr>
          </a:p>
          <a:p>
            <a:pPr marL="897890" marR="5080" indent="-778510">
              <a:lnSpc>
                <a:spcPts val="3020"/>
              </a:lnSpc>
              <a:spcBef>
                <a:spcPts val="720"/>
              </a:spcBef>
            </a:pPr>
            <a:r>
              <a:rPr sz="2800" dirty="0">
                <a:solidFill>
                  <a:srgbClr val="990000"/>
                </a:solidFill>
                <a:latin typeface="Times New Roman"/>
                <a:cs typeface="Times New Roman"/>
              </a:rPr>
              <a:t>If the </a:t>
            </a:r>
            <a:r>
              <a:rPr sz="2800" spc="-5" dirty="0">
                <a:solidFill>
                  <a:srgbClr val="990000"/>
                </a:solidFill>
                <a:latin typeface="Times New Roman"/>
                <a:cs typeface="Times New Roman"/>
              </a:rPr>
              <a:t>EI instruction </a:t>
            </a:r>
            <a:r>
              <a:rPr sz="2800" dirty="0">
                <a:solidFill>
                  <a:srgbClr val="990000"/>
                </a:solidFill>
                <a:latin typeface="Times New Roman"/>
                <a:cs typeface="Times New Roman"/>
              </a:rPr>
              <a:t>is </a:t>
            </a:r>
            <a:r>
              <a:rPr sz="2800" spc="-5" dirty="0">
                <a:solidFill>
                  <a:srgbClr val="990000"/>
                </a:solidFill>
                <a:latin typeface="Times New Roman"/>
                <a:cs typeface="Times New Roman"/>
              </a:rPr>
              <a:t>placed early </a:t>
            </a:r>
            <a:r>
              <a:rPr sz="2800" dirty="0">
                <a:solidFill>
                  <a:srgbClr val="990000"/>
                </a:solidFill>
                <a:latin typeface="Times New Roman"/>
                <a:cs typeface="Times New Roman"/>
              </a:rPr>
              <a:t>in the </a:t>
            </a:r>
            <a:r>
              <a:rPr sz="2800" spc="-5" dirty="0">
                <a:solidFill>
                  <a:srgbClr val="990000"/>
                </a:solidFill>
                <a:latin typeface="Times New Roman"/>
                <a:cs typeface="Times New Roman"/>
              </a:rPr>
              <a:t>ISR, other </a:t>
            </a:r>
            <a:r>
              <a:rPr sz="2800" spc="-68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990000"/>
                </a:solidFill>
                <a:latin typeface="Times New Roman"/>
                <a:cs typeface="Times New Roman"/>
              </a:rPr>
              <a:t>interrupt</a:t>
            </a:r>
            <a:r>
              <a:rPr sz="2800" spc="-3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u="heavy" spc="-5" dirty="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Times New Roman"/>
                <a:cs typeface="Times New Roman"/>
              </a:rPr>
              <a:t>may</a:t>
            </a:r>
            <a:r>
              <a:rPr sz="2800" spc="-5" dirty="0">
                <a:solidFill>
                  <a:srgbClr val="990000"/>
                </a:solidFill>
                <a:latin typeface="Times New Roman"/>
                <a:cs typeface="Times New Roman"/>
              </a:rPr>
              <a:t> occur</a:t>
            </a:r>
            <a:r>
              <a:rPr sz="2800" spc="-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990000"/>
                </a:solidFill>
                <a:latin typeface="Times New Roman"/>
                <a:cs typeface="Times New Roman"/>
              </a:rPr>
              <a:t>before</a:t>
            </a:r>
            <a:r>
              <a:rPr sz="2800" spc="-2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990000"/>
                </a:solidFill>
                <a:latin typeface="Times New Roman"/>
                <a:cs typeface="Times New Roman"/>
              </a:rPr>
              <a:t>the</a:t>
            </a:r>
            <a:r>
              <a:rPr sz="2800" spc="-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990000"/>
                </a:solidFill>
                <a:latin typeface="Times New Roman"/>
                <a:cs typeface="Times New Roman"/>
              </a:rPr>
              <a:t>ISR</a:t>
            </a:r>
            <a:r>
              <a:rPr sz="2800" spc="-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990000"/>
                </a:solidFill>
                <a:latin typeface="Times New Roman"/>
                <a:cs typeface="Times New Roman"/>
              </a:rPr>
              <a:t>is</a:t>
            </a:r>
            <a:r>
              <a:rPr sz="2800" spc="-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990000"/>
                </a:solidFill>
                <a:latin typeface="Times New Roman"/>
                <a:cs typeface="Times New Roman"/>
              </a:rPr>
              <a:t>done</a:t>
            </a:r>
            <a:r>
              <a:rPr sz="2800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9307" y="814069"/>
            <a:ext cx="7023734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Multiple</a:t>
            </a:r>
            <a:r>
              <a:rPr spc="-15" dirty="0"/>
              <a:t> </a:t>
            </a:r>
            <a:r>
              <a:rPr spc="-5" dirty="0"/>
              <a:t>Interrupts</a:t>
            </a:r>
            <a:r>
              <a:rPr dirty="0"/>
              <a:t> </a:t>
            </a:r>
            <a:r>
              <a:rPr spc="-5" dirty="0"/>
              <a:t>&amp;</a:t>
            </a:r>
            <a:r>
              <a:rPr dirty="0"/>
              <a:t> </a:t>
            </a:r>
            <a:r>
              <a:rPr spc="-5" dirty="0"/>
              <a:t>Priorities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51736"/>
            <a:ext cx="7454900" cy="389826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4965" marR="1016635" indent="-342900">
              <a:lnSpc>
                <a:spcPts val="3460"/>
              </a:lnSpc>
              <a:spcBef>
                <a:spcPts val="53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How do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allow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multiple devices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to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interrupt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using the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INTR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line?</a:t>
            </a:r>
            <a:endParaRPr sz="3200">
              <a:latin typeface="Times New Roman"/>
              <a:cs typeface="Times New Roman"/>
            </a:endParaRPr>
          </a:p>
          <a:p>
            <a:pPr marL="755650" marR="376555" lvl="1" indent="-285750">
              <a:lnSpc>
                <a:spcPts val="3020"/>
              </a:lnSpc>
              <a:spcBef>
                <a:spcPts val="68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microprocessor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can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only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respond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one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signal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</a:t>
            </a:r>
            <a:r>
              <a:rPr sz="2800" spc="-5" dirty="0">
                <a:latin typeface="Times New Roman"/>
                <a:cs typeface="Times New Roman"/>
              </a:rPr>
              <a:t> INTR at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time.</a:t>
            </a:r>
            <a:endParaRPr sz="2800">
              <a:latin typeface="Times New Roman"/>
              <a:cs typeface="Times New Roman"/>
            </a:endParaRPr>
          </a:p>
          <a:p>
            <a:pPr marL="755650" marR="5080" lvl="1" indent="-285750">
              <a:lnSpc>
                <a:spcPts val="3020"/>
              </a:lnSpc>
              <a:spcBef>
                <a:spcPts val="68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Therefore, </a:t>
            </a:r>
            <a:r>
              <a:rPr sz="2800" dirty="0">
                <a:latin typeface="Times New Roman"/>
                <a:cs typeface="Times New Roman"/>
              </a:rPr>
              <a:t>we </a:t>
            </a:r>
            <a:r>
              <a:rPr sz="2800" spc="-5" dirty="0">
                <a:latin typeface="Times New Roman"/>
                <a:cs typeface="Times New Roman"/>
              </a:rPr>
              <a:t>must allow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signal </a:t>
            </a:r>
            <a:r>
              <a:rPr sz="2800" dirty="0">
                <a:latin typeface="Times New Roman"/>
                <a:cs typeface="Times New Roman"/>
              </a:rPr>
              <a:t>from only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devices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reach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microprocessor.</a:t>
            </a:r>
            <a:endParaRPr sz="2800">
              <a:latin typeface="Times New Roman"/>
              <a:cs typeface="Times New Roman"/>
            </a:endParaRPr>
          </a:p>
          <a:p>
            <a:pPr marL="755650" marR="249554" lvl="1" indent="-285750">
              <a:lnSpc>
                <a:spcPts val="3020"/>
              </a:lnSpc>
              <a:spcBef>
                <a:spcPts val="675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Times New Roman"/>
                <a:cs typeface="Times New Roman"/>
              </a:rPr>
              <a:t>We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must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assign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some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priority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 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different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devices and allow their signals </a:t>
            </a:r>
            <a:r>
              <a:rPr sz="2800" dirty="0">
                <a:latin typeface="Times New Roman"/>
                <a:cs typeface="Times New Roman"/>
              </a:rPr>
              <a:t>to </a:t>
            </a:r>
            <a:r>
              <a:rPr sz="2800" spc="-5" dirty="0">
                <a:latin typeface="Times New Roman"/>
                <a:cs typeface="Times New Roman"/>
              </a:rPr>
              <a:t>reach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microprocessor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according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priority.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00814" y="814069"/>
            <a:ext cx="474218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The</a:t>
            </a:r>
            <a:r>
              <a:rPr spc="-35" dirty="0"/>
              <a:t> </a:t>
            </a:r>
            <a:r>
              <a:rPr spc="-5" dirty="0"/>
              <a:t>Priority</a:t>
            </a:r>
            <a:r>
              <a:rPr spc="-20" dirty="0"/>
              <a:t> </a:t>
            </a:r>
            <a:r>
              <a:rPr spc="-5" dirty="0"/>
              <a:t>Encoder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59355"/>
            <a:ext cx="7412990" cy="471106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marR="158115" indent="-343535">
              <a:lnSpc>
                <a:spcPts val="3020"/>
              </a:lnSpc>
              <a:spcBef>
                <a:spcPts val="484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solution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5" dirty="0">
                <a:latin typeface="Times New Roman"/>
                <a:cs typeface="Times New Roman"/>
              </a:rPr>
              <a:t> circuit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called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priority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encoder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(74366).</a:t>
            </a:r>
            <a:endParaRPr sz="28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259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This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circuit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has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8 </a:t>
            </a:r>
            <a:r>
              <a:rPr sz="2400" spc="-5" dirty="0">
                <a:latin typeface="Times New Roman"/>
                <a:cs typeface="Times New Roman"/>
              </a:rPr>
              <a:t>inputs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3</a:t>
            </a:r>
            <a:r>
              <a:rPr sz="2400" spc="-5" dirty="0">
                <a:latin typeface="Times New Roman"/>
                <a:cs typeface="Times New Roman"/>
              </a:rPr>
              <a:t> outputs.</a:t>
            </a:r>
            <a:endParaRPr sz="2400">
              <a:latin typeface="Times New Roman"/>
              <a:cs typeface="Times New Roman"/>
            </a:endParaRPr>
          </a:p>
          <a:p>
            <a:pPr marL="755650" marR="5080" lvl="1" indent="-286385">
              <a:lnSpc>
                <a:spcPts val="2590"/>
              </a:lnSpc>
              <a:spcBef>
                <a:spcPts val="615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inputs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are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assigned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increasing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priorities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according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 increasing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index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input.</a:t>
            </a:r>
            <a:endParaRPr sz="2400">
              <a:latin typeface="Times New Roman"/>
              <a:cs typeface="Times New Roman"/>
            </a:endParaRPr>
          </a:p>
          <a:p>
            <a:pPr marL="1155700" lvl="2" indent="-229870">
              <a:lnSpc>
                <a:spcPct val="100000"/>
              </a:lnSpc>
              <a:spcBef>
                <a:spcPts val="220"/>
              </a:spcBef>
              <a:buChar char="•"/>
              <a:tabLst>
                <a:tab pos="1155065" algn="l"/>
                <a:tab pos="1156335" algn="l"/>
              </a:tabLst>
            </a:pPr>
            <a:r>
              <a:rPr sz="2000" spc="-5" dirty="0">
                <a:latin typeface="Times New Roman"/>
                <a:cs typeface="Times New Roman"/>
              </a:rPr>
              <a:t>Input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7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has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highest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priority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and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input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0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has the lowest.</a:t>
            </a:r>
            <a:endParaRPr sz="2000">
              <a:latin typeface="Times New Roman"/>
              <a:cs typeface="Times New Roman"/>
            </a:endParaRPr>
          </a:p>
          <a:p>
            <a:pPr marL="755650" marR="352425" lvl="1" indent="-286385" algn="just">
              <a:lnSpc>
                <a:spcPts val="2590"/>
              </a:lnSpc>
              <a:spcBef>
                <a:spcPts val="600"/>
              </a:spcBef>
              <a:buChar char="–"/>
              <a:tabLst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3 </a:t>
            </a:r>
            <a:r>
              <a:rPr sz="2400" spc="-5" dirty="0">
                <a:latin typeface="Times New Roman"/>
                <a:cs typeface="Times New Roman"/>
              </a:rPr>
              <a:t>outputs carry the index </a:t>
            </a:r>
            <a:r>
              <a:rPr sz="2400" dirty="0">
                <a:latin typeface="Times New Roman"/>
                <a:cs typeface="Times New Roman"/>
              </a:rPr>
              <a:t>of the </a:t>
            </a:r>
            <a:r>
              <a:rPr sz="2400" spc="-5" dirty="0">
                <a:latin typeface="Times New Roman"/>
                <a:cs typeface="Times New Roman"/>
              </a:rPr>
              <a:t>highest priority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active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input.</a:t>
            </a:r>
            <a:endParaRPr sz="2400">
              <a:latin typeface="Times New Roman"/>
              <a:cs typeface="Times New Roman"/>
            </a:endParaRPr>
          </a:p>
          <a:p>
            <a:pPr marL="755650" marR="159385" lvl="1" indent="-286385" algn="just">
              <a:lnSpc>
                <a:spcPts val="2590"/>
              </a:lnSpc>
              <a:spcBef>
                <a:spcPts val="580"/>
              </a:spcBef>
              <a:buChar char="–"/>
              <a:tabLst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Figure </a:t>
            </a:r>
            <a:r>
              <a:rPr sz="2400" dirty="0">
                <a:latin typeface="Times New Roman"/>
                <a:cs typeface="Times New Roman"/>
              </a:rPr>
              <a:t>12.4 </a:t>
            </a:r>
            <a:r>
              <a:rPr sz="2400" spc="-5" dirty="0">
                <a:latin typeface="Times New Roman"/>
                <a:cs typeface="Times New Roman"/>
              </a:rPr>
              <a:t>in the </a:t>
            </a:r>
            <a:r>
              <a:rPr sz="2400" dirty="0">
                <a:latin typeface="Times New Roman"/>
                <a:cs typeface="Times New Roman"/>
              </a:rPr>
              <a:t>book shoes how </a:t>
            </a:r>
            <a:r>
              <a:rPr sz="2400" spc="-5" dirty="0">
                <a:latin typeface="Times New Roman"/>
                <a:cs typeface="Times New Roman"/>
              </a:rPr>
              <a:t>this circuit </a:t>
            </a:r>
            <a:r>
              <a:rPr sz="2400" dirty="0">
                <a:latin typeface="Times New Roman"/>
                <a:cs typeface="Times New Roman"/>
              </a:rPr>
              <a:t>can be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used with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Tri-state buffer </a:t>
            </a:r>
            <a:r>
              <a:rPr sz="2400" dirty="0">
                <a:latin typeface="Times New Roman"/>
                <a:cs typeface="Times New Roman"/>
              </a:rPr>
              <a:t>to </a:t>
            </a:r>
            <a:r>
              <a:rPr sz="2400" spc="-5" dirty="0">
                <a:latin typeface="Times New Roman"/>
                <a:cs typeface="Times New Roman"/>
              </a:rPr>
              <a:t>implement </a:t>
            </a:r>
            <a:r>
              <a:rPr sz="2400" dirty="0">
                <a:latin typeface="Times New Roman"/>
                <a:cs typeface="Times New Roman"/>
              </a:rPr>
              <a:t>an </a:t>
            </a:r>
            <a:r>
              <a:rPr sz="2400" spc="-5" dirty="0">
                <a:latin typeface="Times New Roman"/>
                <a:cs typeface="Times New Roman"/>
              </a:rPr>
              <a:t>interrupt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priority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scheme.</a:t>
            </a:r>
            <a:endParaRPr sz="2400">
              <a:latin typeface="Times New Roman"/>
              <a:cs typeface="Times New Roman"/>
            </a:endParaRPr>
          </a:p>
          <a:p>
            <a:pPr marL="1155700" marR="217804" lvl="2" indent="-229235">
              <a:lnSpc>
                <a:spcPts val="2160"/>
              </a:lnSpc>
              <a:spcBef>
                <a:spcPts val="495"/>
              </a:spcBef>
              <a:buChar char="•"/>
              <a:tabLst>
                <a:tab pos="1155065" algn="l"/>
                <a:tab pos="1156335" algn="l"/>
              </a:tabLst>
            </a:pPr>
            <a:r>
              <a:rPr sz="2000" spc="-5" dirty="0">
                <a:latin typeface="Times New Roman"/>
                <a:cs typeface="Times New Roman"/>
              </a:rPr>
              <a:t>The figure in the textbook does not show the method for 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distributing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INTA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signal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back to 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individual devices.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9307" y="814069"/>
            <a:ext cx="7023734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Multiple</a:t>
            </a:r>
            <a:r>
              <a:rPr spc="-15" dirty="0"/>
              <a:t> </a:t>
            </a:r>
            <a:r>
              <a:rPr spc="-5" dirty="0"/>
              <a:t>Interrupts</a:t>
            </a:r>
            <a:r>
              <a:rPr dirty="0"/>
              <a:t> </a:t>
            </a:r>
            <a:r>
              <a:rPr spc="-5" dirty="0"/>
              <a:t>&amp;</a:t>
            </a:r>
            <a:r>
              <a:rPr dirty="0"/>
              <a:t> </a:t>
            </a:r>
            <a:r>
              <a:rPr spc="-5" dirty="0"/>
              <a:t>Priorities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59355"/>
            <a:ext cx="7387590" cy="448183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marR="858519" indent="-343535">
              <a:lnSpc>
                <a:spcPts val="3020"/>
              </a:lnSpc>
              <a:spcBef>
                <a:spcPts val="484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latin typeface="Times New Roman"/>
                <a:cs typeface="Times New Roman"/>
              </a:rPr>
              <a:t>Note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that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opcodes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 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different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RST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instructions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follow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set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pattern.</a:t>
            </a:r>
            <a:endParaRPr sz="2800">
              <a:latin typeface="Times New Roman"/>
              <a:cs typeface="Times New Roman"/>
            </a:endParaRPr>
          </a:p>
          <a:p>
            <a:pPr marL="1155700" marR="761365" lvl="1" indent="-229235">
              <a:lnSpc>
                <a:spcPts val="2160"/>
              </a:lnSpc>
              <a:spcBef>
                <a:spcPts val="500"/>
              </a:spcBef>
              <a:buChar char="•"/>
              <a:tabLst>
                <a:tab pos="1155065" algn="l"/>
                <a:tab pos="1156335" algn="l"/>
                <a:tab pos="2403475" algn="l"/>
              </a:tabLst>
            </a:pP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Bit</a:t>
            </a:r>
            <a:r>
              <a:rPr sz="2000" spc="-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D5,</a:t>
            </a:r>
            <a:r>
              <a:rPr sz="2000" spc="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D4	and D3</a:t>
            </a:r>
            <a:r>
              <a:rPr sz="2000" spc="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of the</a:t>
            </a:r>
            <a:r>
              <a:rPr sz="2000" spc="-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opcodes</a:t>
            </a:r>
            <a:r>
              <a:rPr sz="2000" spc="-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change in a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binary </a:t>
            </a:r>
            <a:r>
              <a:rPr sz="2000" spc="-484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sequence</a:t>
            </a:r>
            <a:r>
              <a:rPr sz="2000" spc="-3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from</a:t>
            </a:r>
            <a:r>
              <a:rPr sz="2000" spc="-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RST</a:t>
            </a:r>
            <a:r>
              <a:rPr sz="2000" spc="2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7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down</a:t>
            </a:r>
            <a:r>
              <a:rPr sz="2000" spc="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to RST</a:t>
            </a:r>
            <a:r>
              <a:rPr sz="2000" spc="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0</a:t>
            </a:r>
            <a:r>
              <a:rPr sz="2000" spc="-5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1155700" lvl="1" indent="-229870">
              <a:lnSpc>
                <a:spcPct val="100000"/>
              </a:lnSpc>
              <a:spcBef>
                <a:spcPts val="204"/>
              </a:spcBef>
              <a:buChar char="•"/>
              <a:tabLst>
                <a:tab pos="1155065" algn="l"/>
                <a:tab pos="1156335" algn="l"/>
              </a:tabLst>
            </a:pP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other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bits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are always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1.</a:t>
            </a:r>
            <a:endParaRPr sz="2000">
              <a:latin typeface="Times New Roman"/>
              <a:cs typeface="Times New Roman"/>
            </a:endParaRPr>
          </a:p>
          <a:p>
            <a:pPr marL="1155065" marR="601345" lvl="1" indent="-229235">
              <a:lnSpc>
                <a:spcPts val="2160"/>
              </a:lnSpc>
              <a:spcBef>
                <a:spcPts val="515"/>
              </a:spcBef>
              <a:buChar char="•"/>
              <a:tabLst>
                <a:tab pos="1155065" algn="l"/>
                <a:tab pos="1155700" algn="l"/>
              </a:tabLst>
            </a:pPr>
            <a:r>
              <a:rPr sz="2000" spc="-5" dirty="0">
                <a:latin typeface="Times New Roman"/>
                <a:cs typeface="Times New Roman"/>
              </a:rPr>
              <a:t>This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allows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code generated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by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74366 to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be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used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directly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 choose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 appropriate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RST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instruction.</a:t>
            </a:r>
            <a:endParaRPr sz="20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buChar char="•"/>
            </a:pPr>
            <a:endParaRPr sz="2200">
              <a:latin typeface="Times New Roman"/>
              <a:cs typeface="Times New Roman"/>
            </a:endParaRPr>
          </a:p>
          <a:p>
            <a:pPr marL="355600" marR="5080" indent="-343535">
              <a:lnSpc>
                <a:spcPts val="3020"/>
              </a:lnSpc>
              <a:spcBef>
                <a:spcPts val="182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draw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back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this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scheme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that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only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way </a:t>
            </a:r>
            <a:r>
              <a:rPr sz="2800" dirty="0">
                <a:latin typeface="Times New Roman"/>
                <a:cs typeface="Times New Roman"/>
              </a:rPr>
              <a:t>to </a:t>
            </a:r>
            <a:r>
              <a:rPr sz="2800" spc="-5" dirty="0">
                <a:latin typeface="Times New Roman"/>
                <a:cs typeface="Times New Roman"/>
              </a:rPr>
              <a:t>change </a:t>
            </a:r>
            <a:r>
              <a:rPr sz="2800" dirty="0">
                <a:latin typeface="Times New Roman"/>
                <a:cs typeface="Times New Roman"/>
              </a:rPr>
              <a:t>the priority of the </a:t>
            </a:r>
            <a:r>
              <a:rPr sz="2800" spc="-5" dirty="0">
                <a:latin typeface="Times New Roman"/>
                <a:cs typeface="Times New Roman"/>
              </a:rPr>
              <a:t>devices 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connected </a:t>
            </a:r>
            <a:r>
              <a:rPr sz="2800" dirty="0">
                <a:latin typeface="Times New Roman"/>
                <a:cs typeface="Times New Roman"/>
              </a:rPr>
              <a:t>to the 74366 is to </a:t>
            </a:r>
            <a:r>
              <a:rPr sz="2800" spc="-5" dirty="0">
                <a:latin typeface="Times New Roman"/>
                <a:cs typeface="Times New Roman"/>
              </a:rPr>
              <a:t>reconnect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hardware.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4098" y="204469"/>
            <a:ext cx="705421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Multiple</a:t>
            </a:r>
            <a:r>
              <a:rPr spc="-15" dirty="0"/>
              <a:t> </a:t>
            </a:r>
            <a:r>
              <a:rPr spc="-5" dirty="0"/>
              <a:t>Interrupts</a:t>
            </a:r>
            <a:r>
              <a:rPr dirty="0"/>
              <a:t> </a:t>
            </a:r>
            <a:r>
              <a:rPr spc="-5" dirty="0"/>
              <a:t>and</a:t>
            </a:r>
            <a:r>
              <a:rPr dirty="0"/>
              <a:t> </a:t>
            </a:r>
            <a:r>
              <a:rPr spc="-5" dirty="0"/>
              <a:t>Priority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66762" y="1287462"/>
            <a:ext cx="714375" cy="417830"/>
            <a:chOff x="766762" y="1287462"/>
            <a:chExt cx="714375" cy="417830"/>
          </a:xfrm>
        </p:grpSpPr>
        <p:sp>
          <p:nvSpPr>
            <p:cNvPr id="4" name="object 4"/>
            <p:cNvSpPr/>
            <p:nvPr/>
          </p:nvSpPr>
          <p:spPr>
            <a:xfrm>
              <a:off x="773112" y="1293812"/>
              <a:ext cx="701675" cy="405130"/>
            </a:xfrm>
            <a:custGeom>
              <a:avLst/>
              <a:gdLst/>
              <a:ahLst/>
              <a:cxnLst/>
              <a:rect l="l" t="t" r="r" b="b"/>
              <a:pathLst>
                <a:path w="701675" h="405130">
                  <a:moveTo>
                    <a:pt x="701675" y="0"/>
                  </a:moveTo>
                  <a:lnTo>
                    <a:pt x="0" y="0"/>
                  </a:lnTo>
                  <a:lnTo>
                    <a:pt x="0" y="404812"/>
                  </a:lnTo>
                  <a:lnTo>
                    <a:pt x="701675" y="404812"/>
                  </a:lnTo>
                  <a:lnTo>
                    <a:pt x="701675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73112" y="1293812"/>
              <a:ext cx="701675" cy="405130"/>
            </a:xfrm>
            <a:custGeom>
              <a:avLst/>
              <a:gdLst/>
              <a:ahLst/>
              <a:cxnLst/>
              <a:rect l="l" t="t" r="r" b="b"/>
              <a:pathLst>
                <a:path w="701675" h="405130">
                  <a:moveTo>
                    <a:pt x="0" y="0"/>
                  </a:moveTo>
                  <a:lnTo>
                    <a:pt x="701675" y="0"/>
                  </a:lnTo>
                  <a:lnTo>
                    <a:pt x="701675" y="404812"/>
                  </a:lnTo>
                  <a:lnTo>
                    <a:pt x="0" y="404812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96715" y="1387506"/>
            <a:ext cx="4540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 MT"/>
                <a:cs typeface="Arial MT"/>
              </a:rPr>
              <a:t>De</a:t>
            </a:r>
            <a:r>
              <a:rPr sz="1200" spc="-90" dirty="0">
                <a:latin typeface="Arial MT"/>
                <a:cs typeface="Arial MT"/>
              </a:rPr>
              <a:t>v</a:t>
            </a:r>
            <a:r>
              <a:rPr sz="1200" dirty="0">
                <a:latin typeface="Arial MT"/>
                <a:cs typeface="Arial MT"/>
              </a:rPr>
              <a:t>.</a:t>
            </a:r>
            <a:r>
              <a:rPr sz="1200" spc="-5" dirty="0">
                <a:latin typeface="Arial MT"/>
                <a:cs typeface="Arial MT"/>
              </a:rPr>
              <a:t> 7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66762" y="1873250"/>
            <a:ext cx="714375" cy="417830"/>
            <a:chOff x="766762" y="1873250"/>
            <a:chExt cx="714375" cy="417830"/>
          </a:xfrm>
        </p:grpSpPr>
        <p:sp>
          <p:nvSpPr>
            <p:cNvPr id="8" name="object 8"/>
            <p:cNvSpPr/>
            <p:nvPr/>
          </p:nvSpPr>
          <p:spPr>
            <a:xfrm>
              <a:off x="773112" y="1879600"/>
              <a:ext cx="701675" cy="405130"/>
            </a:xfrm>
            <a:custGeom>
              <a:avLst/>
              <a:gdLst/>
              <a:ahLst/>
              <a:cxnLst/>
              <a:rect l="l" t="t" r="r" b="b"/>
              <a:pathLst>
                <a:path w="701675" h="405130">
                  <a:moveTo>
                    <a:pt x="701675" y="0"/>
                  </a:moveTo>
                  <a:lnTo>
                    <a:pt x="0" y="0"/>
                  </a:lnTo>
                  <a:lnTo>
                    <a:pt x="0" y="404812"/>
                  </a:lnTo>
                  <a:lnTo>
                    <a:pt x="701675" y="404812"/>
                  </a:lnTo>
                  <a:lnTo>
                    <a:pt x="701675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3112" y="1879600"/>
              <a:ext cx="701675" cy="405130"/>
            </a:xfrm>
            <a:custGeom>
              <a:avLst/>
              <a:gdLst/>
              <a:ahLst/>
              <a:cxnLst/>
              <a:rect l="l" t="t" r="r" b="b"/>
              <a:pathLst>
                <a:path w="701675" h="405130">
                  <a:moveTo>
                    <a:pt x="0" y="0"/>
                  </a:moveTo>
                  <a:lnTo>
                    <a:pt x="701675" y="0"/>
                  </a:lnTo>
                  <a:lnTo>
                    <a:pt x="701675" y="404812"/>
                  </a:lnTo>
                  <a:lnTo>
                    <a:pt x="0" y="404812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96715" y="1973294"/>
            <a:ext cx="4540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 MT"/>
                <a:cs typeface="Arial MT"/>
              </a:rPr>
              <a:t>De</a:t>
            </a:r>
            <a:r>
              <a:rPr sz="1200" spc="-90" dirty="0">
                <a:latin typeface="Arial MT"/>
                <a:cs typeface="Arial MT"/>
              </a:rPr>
              <a:t>v</a:t>
            </a:r>
            <a:r>
              <a:rPr sz="1200" dirty="0">
                <a:latin typeface="Arial MT"/>
                <a:cs typeface="Arial MT"/>
              </a:rPr>
              <a:t>.</a:t>
            </a:r>
            <a:r>
              <a:rPr sz="1200" spc="-5" dirty="0">
                <a:latin typeface="Arial MT"/>
                <a:cs typeface="Arial MT"/>
              </a:rPr>
              <a:t> 6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66762" y="2459037"/>
            <a:ext cx="714375" cy="417830"/>
            <a:chOff x="766762" y="2459037"/>
            <a:chExt cx="714375" cy="417830"/>
          </a:xfrm>
        </p:grpSpPr>
        <p:sp>
          <p:nvSpPr>
            <p:cNvPr id="12" name="object 12"/>
            <p:cNvSpPr/>
            <p:nvPr/>
          </p:nvSpPr>
          <p:spPr>
            <a:xfrm>
              <a:off x="773112" y="2465387"/>
              <a:ext cx="701675" cy="405130"/>
            </a:xfrm>
            <a:custGeom>
              <a:avLst/>
              <a:gdLst/>
              <a:ahLst/>
              <a:cxnLst/>
              <a:rect l="l" t="t" r="r" b="b"/>
              <a:pathLst>
                <a:path w="701675" h="405130">
                  <a:moveTo>
                    <a:pt x="701675" y="0"/>
                  </a:moveTo>
                  <a:lnTo>
                    <a:pt x="0" y="0"/>
                  </a:lnTo>
                  <a:lnTo>
                    <a:pt x="0" y="404812"/>
                  </a:lnTo>
                  <a:lnTo>
                    <a:pt x="701675" y="404812"/>
                  </a:lnTo>
                  <a:lnTo>
                    <a:pt x="701675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73112" y="2465387"/>
              <a:ext cx="701675" cy="405130"/>
            </a:xfrm>
            <a:custGeom>
              <a:avLst/>
              <a:gdLst/>
              <a:ahLst/>
              <a:cxnLst/>
              <a:rect l="l" t="t" r="r" b="b"/>
              <a:pathLst>
                <a:path w="701675" h="405130">
                  <a:moveTo>
                    <a:pt x="0" y="0"/>
                  </a:moveTo>
                  <a:lnTo>
                    <a:pt x="701675" y="0"/>
                  </a:lnTo>
                  <a:lnTo>
                    <a:pt x="701675" y="404812"/>
                  </a:lnTo>
                  <a:lnTo>
                    <a:pt x="0" y="404812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96715" y="2559081"/>
            <a:ext cx="4540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 MT"/>
                <a:cs typeface="Arial MT"/>
              </a:rPr>
              <a:t>De</a:t>
            </a:r>
            <a:r>
              <a:rPr sz="1200" spc="-90" dirty="0">
                <a:latin typeface="Arial MT"/>
                <a:cs typeface="Arial MT"/>
              </a:rPr>
              <a:t>v</a:t>
            </a:r>
            <a:r>
              <a:rPr sz="1200" dirty="0">
                <a:latin typeface="Arial MT"/>
                <a:cs typeface="Arial MT"/>
              </a:rPr>
              <a:t>.</a:t>
            </a:r>
            <a:r>
              <a:rPr sz="1200" spc="-5" dirty="0">
                <a:latin typeface="Arial MT"/>
                <a:cs typeface="Arial MT"/>
              </a:rPr>
              <a:t> 5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66762" y="3044825"/>
            <a:ext cx="714375" cy="417830"/>
            <a:chOff x="766762" y="3044825"/>
            <a:chExt cx="714375" cy="417830"/>
          </a:xfrm>
        </p:grpSpPr>
        <p:sp>
          <p:nvSpPr>
            <p:cNvPr id="16" name="object 16"/>
            <p:cNvSpPr/>
            <p:nvPr/>
          </p:nvSpPr>
          <p:spPr>
            <a:xfrm>
              <a:off x="773112" y="3051175"/>
              <a:ext cx="701675" cy="405130"/>
            </a:xfrm>
            <a:custGeom>
              <a:avLst/>
              <a:gdLst/>
              <a:ahLst/>
              <a:cxnLst/>
              <a:rect l="l" t="t" r="r" b="b"/>
              <a:pathLst>
                <a:path w="701675" h="405129">
                  <a:moveTo>
                    <a:pt x="701675" y="0"/>
                  </a:moveTo>
                  <a:lnTo>
                    <a:pt x="0" y="0"/>
                  </a:lnTo>
                  <a:lnTo>
                    <a:pt x="0" y="404812"/>
                  </a:lnTo>
                  <a:lnTo>
                    <a:pt x="701675" y="404812"/>
                  </a:lnTo>
                  <a:lnTo>
                    <a:pt x="701675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73112" y="3051175"/>
              <a:ext cx="701675" cy="405130"/>
            </a:xfrm>
            <a:custGeom>
              <a:avLst/>
              <a:gdLst/>
              <a:ahLst/>
              <a:cxnLst/>
              <a:rect l="l" t="t" r="r" b="b"/>
              <a:pathLst>
                <a:path w="701675" h="405129">
                  <a:moveTo>
                    <a:pt x="0" y="0"/>
                  </a:moveTo>
                  <a:lnTo>
                    <a:pt x="701675" y="0"/>
                  </a:lnTo>
                  <a:lnTo>
                    <a:pt x="701675" y="404812"/>
                  </a:lnTo>
                  <a:lnTo>
                    <a:pt x="0" y="404812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96715" y="3144869"/>
            <a:ext cx="4540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 MT"/>
                <a:cs typeface="Arial MT"/>
              </a:rPr>
              <a:t>De</a:t>
            </a:r>
            <a:r>
              <a:rPr sz="1200" spc="-90" dirty="0">
                <a:latin typeface="Arial MT"/>
                <a:cs typeface="Arial MT"/>
              </a:rPr>
              <a:t>v</a:t>
            </a:r>
            <a:r>
              <a:rPr sz="1200" dirty="0">
                <a:latin typeface="Arial MT"/>
                <a:cs typeface="Arial MT"/>
              </a:rPr>
              <a:t>.</a:t>
            </a:r>
            <a:r>
              <a:rPr sz="1200" spc="-5" dirty="0">
                <a:latin typeface="Arial MT"/>
                <a:cs typeface="Arial MT"/>
              </a:rPr>
              <a:t> 4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66762" y="3630612"/>
            <a:ext cx="714375" cy="417830"/>
            <a:chOff x="766762" y="3630612"/>
            <a:chExt cx="714375" cy="417830"/>
          </a:xfrm>
        </p:grpSpPr>
        <p:sp>
          <p:nvSpPr>
            <p:cNvPr id="20" name="object 20"/>
            <p:cNvSpPr/>
            <p:nvPr/>
          </p:nvSpPr>
          <p:spPr>
            <a:xfrm>
              <a:off x="773112" y="3636962"/>
              <a:ext cx="701675" cy="405130"/>
            </a:xfrm>
            <a:custGeom>
              <a:avLst/>
              <a:gdLst/>
              <a:ahLst/>
              <a:cxnLst/>
              <a:rect l="l" t="t" r="r" b="b"/>
              <a:pathLst>
                <a:path w="701675" h="405129">
                  <a:moveTo>
                    <a:pt x="701675" y="0"/>
                  </a:moveTo>
                  <a:lnTo>
                    <a:pt x="0" y="0"/>
                  </a:lnTo>
                  <a:lnTo>
                    <a:pt x="0" y="404812"/>
                  </a:lnTo>
                  <a:lnTo>
                    <a:pt x="701675" y="404812"/>
                  </a:lnTo>
                  <a:lnTo>
                    <a:pt x="701675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73112" y="3636962"/>
              <a:ext cx="701675" cy="405130"/>
            </a:xfrm>
            <a:custGeom>
              <a:avLst/>
              <a:gdLst/>
              <a:ahLst/>
              <a:cxnLst/>
              <a:rect l="l" t="t" r="r" b="b"/>
              <a:pathLst>
                <a:path w="701675" h="405129">
                  <a:moveTo>
                    <a:pt x="0" y="0"/>
                  </a:moveTo>
                  <a:lnTo>
                    <a:pt x="701675" y="0"/>
                  </a:lnTo>
                  <a:lnTo>
                    <a:pt x="701675" y="404812"/>
                  </a:lnTo>
                  <a:lnTo>
                    <a:pt x="0" y="404812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896715" y="3730656"/>
            <a:ext cx="4540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 MT"/>
                <a:cs typeface="Arial MT"/>
              </a:rPr>
              <a:t>De</a:t>
            </a:r>
            <a:r>
              <a:rPr sz="1200" spc="-90" dirty="0">
                <a:latin typeface="Arial MT"/>
                <a:cs typeface="Arial MT"/>
              </a:rPr>
              <a:t>v</a:t>
            </a:r>
            <a:r>
              <a:rPr sz="1200" dirty="0">
                <a:latin typeface="Arial MT"/>
                <a:cs typeface="Arial MT"/>
              </a:rPr>
              <a:t>.</a:t>
            </a:r>
            <a:r>
              <a:rPr sz="1200" spc="-5" dirty="0">
                <a:latin typeface="Arial MT"/>
                <a:cs typeface="Arial MT"/>
              </a:rPr>
              <a:t> 3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66762" y="4216400"/>
            <a:ext cx="714375" cy="417830"/>
            <a:chOff x="766762" y="4216400"/>
            <a:chExt cx="714375" cy="417830"/>
          </a:xfrm>
        </p:grpSpPr>
        <p:sp>
          <p:nvSpPr>
            <p:cNvPr id="24" name="object 24"/>
            <p:cNvSpPr/>
            <p:nvPr/>
          </p:nvSpPr>
          <p:spPr>
            <a:xfrm>
              <a:off x="773112" y="4222750"/>
              <a:ext cx="701675" cy="405130"/>
            </a:xfrm>
            <a:custGeom>
              <a:avLst/>
              <a:gdLst/>
              <a:ahLst/>
              <a:cxnLst/>
              <a:rect l="l" t="t" r="r" b="b"/>
              <a:pathLst>
                <a:path w="701675" h="405129">
                  <a:moveTo>
                    <a:pt x="701675" y="0"/>
                  </a:moveTo>
                  <a:lnTo>
                    <a:pt x="0" y="0"/>
                  </a:lnTo>
                  <a:lnTo>
                    <a:pt x="0" y="404812"/>
                  </a:lnTo>
                  <a:lnTo>
                    <a:pt x="701675" y="404812"/>
                  </a:lnTo>
                  <a:lnTo>
                    <a:pt x="701675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73112" y="4222750"/>
              <a:ext cx="701675" cy="405130"/>
            </a:xfrm>
            <a:custGeom>
              <a:avLst/>
              <a:gdLst/>
              <a:ahLst/>
              <a:cxnLst/>
              <a:rect l="l" t="t" r="r" b="b"/>
              <a:pathLst>
                <a:path w="701675" h="405129">
                  <a:moveTo>
                    <a:pt x="0" y="0"/>
                  </a:moveTo>
                  <a:lnTo>
                    <a:pt x="701675" y="0"/>
                  </a:lnTo>
                  <a:lnTo>
                    <a:pt x="701675" y="404812"/>
                  </a:lnTo>
                  <a:lnTo>
                    <a:pt x="0" y="404812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96715" y="4316444"/>
            <a:ext cx="4540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 MT"/>
                <a:cs typeface="Arial MT"/>
              </a:rPr>
              <a:t>De</a:t>
            </a:r>
            <a:r>
              <a:rPr sz="1200" spc="-90" dirty="0">
                <a:latin typeface="Arial MT"/>
                <a:cs typeface="Arial MT"/>
              </a:rPr>
              <a:t>v</a:t>
            </a:r>
            <a:r>
              <a:rPr sz="1200" dirty="0">
                <a:latin typeface="Arial MT"/>
                <a:cs typeface="Arial MT"/>
              </a:rPr>
              <a:t>.</a:t>
            </a:r>
            <a:r>
              <a:rPr sz="1200" spc="-5" dirty="0">
                <a:latin typeface="Arial MT"/>
                <a:cs typeface="Arial MT"/>
              </a:rPr>
              <a:t> 2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66762" y="4802187"/>
            <a:ext cx="714375" cy="417830"/>
            <a:chOff x="766762" y="4802187"/>
            <a:chExt cx="714375" cy="417830"/>
          </a:xfrm>
        </p:grpSpPr>
        <p:sp>
          <p:nvSpPr>
            <p:cNvPr id="28" name="object 28"/>
            <p:cNvSpPr/>
            <p:nvPr/>
          </p:nvSpPr>
          <p:spPr>
            <a:xfrm>
              <a:off x="773112" y="4808537"/>
              <a:ext cx="701675" cy="405130"/>
            </a:xfrm>
            <a:custGeom>
              <a:avLst/>
              <a:gdLst/>
              <a:ahLst/>
              <a:cxnLst/>
              <a:rect l="l" t="t" r="r" b="b"/>
              <a:pathLst>
                <a:path w="701675" h="405129">
                  <a:moveTo>
                    <a:pt x="701675" y="0"/>
                  </a:moveTo>
                  <a:lnTo>
                    <a:pt x="0" y="0"/>
                  </a:lnTo>
                  <a:lnTo>
                    <a:pt x="0" y="404812"/>
                  </a:lnTo>
                  <a:lnTo>
                    <a:pt x="701675" y="404812"/>
                  </a:lnTo>
                  <a:lnTo>
                    <a:pt x="701675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73112" y="4808537"/>
              <a:ext cx="701675" cy="405130"/>
            </a:xfrm>
            <a:custGeom>
              <a:avLst/>
              <a:gdLst/>
              <a:ahLst/>
              <a:cxnLst/>
              <a:rect l="l" t="t" r="r" b="b"/>
              <a:pathLst>
                <a:path w="701675" h="405129">
                  <a:moveTo>
                    <a:pt x="0" y="0"/>
                  </a:moveTo>
                  <a:lnTo>
                    <a:pt x="701675" y="0"/>
                  </a:lnTo>
                  <a:lnTo>
                    <a:pt x="701675" y="404812"/>
                  </a:lnTo>
                  <a:lnTo>
                    <a:pt x="0" y="404812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896715" y="4902231"/>
            <a:ext cx="4540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 MT"/>
                <a:cs typeface="Arial MT"/>
              </a:rPr>
              <a:t>De</a:t>
            </a:r>
            <a:r>
              <a:rPr sz="1200" spc="-90" dirty="0">
                <a:latin typeface="Arial MT"/>
                <a:cs typeface="Arial MT"/>
              </a:rPr>
              <a:t>v</a:t>
            </a:r>
            <a:r>
              <a:rPr sz="1200" dirty="0">
                <a:latin typeface="Arial MT"/>
                <a:cs typeface="Arial MT"/>
              </a:rPr>
              <a:t>.</a:t>
            </a:r>
            <a:r>
              <a:rPr sz="1200" spc="-5" dirty="0">
                <a:latin typeface="Arial MT"/>
                <a:cs typeface="Arial MT"/>
              </a:rPr>
              <a:t> 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73112" y="5394325"/>
            <a:ext cx="701675" cy="405130"/>
          </a:xfrm>
          <a:prstGeom prst="rect">
            <a:avLst/>
          </a:prstGeom>
          <a:solidFill>
            <a:srgbClr val="FFFFCC"/>
          </a:solidFill>
          <a:ln w="12700">
            <a:solidFill>
              <a:srgbClr val="000000"/>
            </a:solidFill>
          </a:ln>
        </p:spPr>
        <p:txBody>
          <a:bodyPr vert="horz" wrap="square" lIns="0" tIns="106045" rIns="0" bIns="0" rtlCol="0">
            <a:spAutoFit/>
          </a:bodyPr>
          <a:lstStyle/>
          <a:p>
            <a:pPr marL="135890">
              <a:lnSpc>
                <a:spcPct val="100000"/>
              </a:lnSpc>
              <a:spcBef>
                <a:spcPts val="835"/>
              </a:spcBef>
            </a:pPr>
            <a:r>
              <a:rPr sz="1200" spc="-25" dirty="0">
                <a:latin typeface="Arial MT"/>
                <a:cs typeface="Arial MT"/>
              </a:rPr>
              <a:t>Dev.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0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2725737" y="1316037"/>
            <a:ext cx="771525" cy="1889125"/>
            <a:chOff x="2725737" y="1316037"/>
            <a:chExt cx="771525" cy="1889125"/>
          </a:xfrm>
        </p:grpSpPr>
        <p:sp>
          <p:nvSpPr>
            <p:cNvPr id="33" name="object 33"/>
            <p:cNvSpPr/>
            <p:nvPr/>
          </p:nvSpPr>
          <p:spPr>
            <a:xfrm>
              <a:off x="2732087" y="1322387"/>
              <a:ext cx="758825" cy="1876425"/>
            </a:xfrm>
            <a:custGeom>
              <a:avLst/>
              <a:gdLst/>
              <a:ahLst/>
              <a:cxnLst/>
              <a:rect l="l" t="t" r="r" b="b"/>
              <a:pathLst>
                <a:path w="758825" h="1876425">
                  <a:moveTo>
                    <a:pt x="758825" y="0"/>
                  </a:moveTo>
                  <a:lnTo>
                    <a:pt x="0" y="0"/>
                  </a:lnTo>
                  <a:lnTo>
                    <a:pt x="0" y="1876425"/>
                  </a:lnTo>
                  <a:lnTo>
                    <a:pt x="758825" y="1876425"/>
                  </a:lnTo>
                  <a:lnTo>
                    <a:pt x="758825" y="0"/>
                  </a:lnTo>
                  <a:close/>
                </a:path>
              </a:pathLst>
            </a:custGeom>
            <a:solidFill>
              <a:srgbClr val="FF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732087" y="1322387"/>
              <a:ext cx="758825" cy="1876425"/>
            </a:xfrm>
            <a:custGeom>
              <a:avLst/>
              <a:gdLst/>
              <a:ahLst/>
              <a:cxnLst/>
              <a:rect l="l" t="t" r="r" b="b"/>
              <a:pathLst>
                <a:path w="758825" h="1876425">
                  <a:moveTo>
                    <a:pt x="0" y="0"/>
                  </a:moveTo>
                  <a:lnTo>
                    <a:pt x="758825" y="0"/>
                  </a:lnTo>
                  <a:lnTo>
                    <a:pt x="758825" y="1876425"/>
                  </a:lnTo>
                  <a:lnTo>
                    <a:pt x="0" y="187642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3047428" y="1556003"/>
            <a:ext cx="14033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1466850" y="1301746"/>
            <a:ext cx="6710680" cy="4583430"/>
            <a:chOff x="1466850" y="1301746"/>
            <a:chExt cx="6710680" cy="4583430"/>
          </a:xfrm>
        </p:grpSpPr>
        <p:sp>
          <p:nvSpPr>
            <p:cNvPr id="37" name="object 37"/>
            <p:cNvSpPr/>
            <p:nvPr/>
          </p:nvSpPr>
          <p:spPr>
            <a:xfrm>
              <a:off x="3787775" y="4302125"/>
              <a:ext cx="511175" cy="901700"/>
            </a:xfrm>
            <a:custGeom>
              <a:avLst/>
              <a:gdLst/>
              <a:ahLst/>
              <a:cxnLst/>
              <a:rect l="l" t="t" r="r" b="b"/>
              <a:pathLst>
                <a:path w="511175" h="901700">
                  <a:moveTo>
                    <a:pt x="511175" y="0"/>
                  </a:moveTo>
                  <a:lnTo>
                    <a:pt x="0" y="0"/>
                  </a:lnTo>
                  <a:lnTo>
                    <a:pt x="0" y="901700"/>
                  </a:lnTo>
                  <a:lnTo>
                    <a:pt x="511175" y="901700"/>
                  </a:lnTo>
                  <a:lnTo>
                    <a:pt x="511175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787775" y="4302125"/>
              <a:ext cx="511175" cy="901700"/>
            </a:xfrm>
            <a:custGeom>
              <a:avLst/>
              <a:gdLst/>
              <a:ahLst/>
              <a:cxnLst/>
              <a:rect l="l" t="t" r="r" b="b"/>
              <a:pathLst>
                <a:path w="511175" h="901700">
                  <a:moveTo>
                    <a:pt x="0" y="0"/>
                  </a:moveTo>
                  <a:lnTo>
                    <a:pt x="511175" y="0"/>
                  </a:lnTo>
                  <a:lnTo>
                    <a:pt x="511175" y="901700"/>
                  </a:lnTo>
                  <a:lnTo>
                    <a:pt x="0" y="9017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935787" y="3146425"/>
              <a:ext cx="1235075" cy="2732405"/>
            </a:xfrm>
            <a:custGeom>
              <a:avLst/>
              <a:gdLst/>
              <a:ahLst/>
              <a:cxnLst/>
              <a:rect l="l" t="t" r="r" b="b"/>
              <a:pathLst>
                <a:path w="1235075" h="2732404">
                  <a:moveTo>
                    <a:pt x="1235075" y="0"/>
                  </a:moveTo>
                  <a:lnTo>
                    <a:pt x="0" y="0"/>
                  </a:lnTo>
                  <a:lnTo>
                    <a:pt x="0" y="2732087"/>
                  </a:lnTo>
                  <a:lnTo>
                    <a:pt x="1235075" y="2732087"/>
                  </a:lnTo>
                  <a:lnTo>
                    <a:pt x="1235075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935787" y="3146425"/>
              <a:ext cx="1235075" cy="2732405"/>
            </a:xfrm>
            <a:custGeom>
              <a:avLst/>
              <a:gdLst/>
              <a:ahLst/>
              <a:cxnLst/>
              <a:rect l="l" t="t" r="r" b="b"/>
              <a:pathLst>
                <a:path w="1235075" h="2732404">
                  <a:moveTo>
                    <a:pt x="0" y="0"/>
                  </a:moveTo>
                  <a:lnTo>
                    <a:pt x="1235075" y="0"/>
                  </a:lnTo>
                  <a:lnTo>
                    <a:pt x="1235075" y="2732087"/>
                  </a:lnTo>
                  <a:lnTo>
                    <a:pt x="0" y="2732087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094287" y="4121150"/>
              <a:ext cx="1778000" cy="0"/>
            </a:xfrm>
            <a:custGeom>
              <a:avLst/>
              <a:gdLst/>
              <a:ahLst/>
              <a:cxnLst/>
              <a:rect l="l" t="t" r="r" b="b"/>
              <a:pathLst>
                <a:path w="1778000">
                  <a:moveTo>
                    <a:pt x="0" y="0"/>
                  </a:moveTo>
                  <a:lnTo>
                    <a:pt x="1778000" y="0"/>
                  </a:lnTo>
                </a:path>
              </a:pathLst>
            </a:custGeom>
            <a:ln w="12700">
              <a:solidFill>
                <a:srgbClr val="33CC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859590" y="408304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094287" y="4329112"/>
              <a:ext cx="1778000" cy="0"/>
            </a:xfrm>
            <a:custGeom>
              <a:avLst/>
              <a:gdLst/>
              <a:ahLst/>
              <a:cxnLst/>
              <a:rect l="l" t="t" r="r" b="b"/>
              <a:pathLst>
                <a:path w="1778000">
                  <a:moveTo>
                    <a:pt x="0" y="0"/>
                  </a:moveTo>
                  <a:lnTo>
                    <a:pt x="1778000" y="0"/>
                  </a:lnTo>
                </a:path>
              </a:pathLst>
            </a:custGeom>
            <a:ln w="12700">
              <a:solidFill>
                <a:srgbClr val="33CC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859590" y="429101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310062" y="4537075"/>
              <a:ext cx="2562225" cy="0"/>
            </a:xfrm>
            <a:custGeom>
              <a:avLst/>
              <a:gdLst/>
              <a:ahLst/>
              <a:cxnLst/>
              <a:rect l="l" t="t" r="r" b="b"/>
              <a:pathLst>
                <a:path w="2562225">
                  <a:moveTo>
                    <a:pt x="0" y="0"/>
                  </a:moveTo>
                  <a:lnTo>
                    <a:pt x="2562225" y="0"/>
                  </a:lnTo>
                </a:path>
              </a:pathLst>
            </a:custGeom>
            <a:ln w="12700">
              <a:solidFill>
                <a:srgbClr val="33CC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859590" y="449897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298950" y="4745037"/>
              <a:ext cx="2573655" cy="0"/>
            </a:xfrm>
            <a:custGeom>
              <a:avLst/>
              <a:gdLst/>
              <a:ahLst/>
              <a:cxnLst/>
              <a:rect l="l" t="t" r="r" b="b"/>
              <a:pathLst>
                <a:path w="2573654">
                  <a:moveTo>
                    <a:pt x="0" y="0"/>
                  </a:moveTo>
                  <a:lnTo>
                    <a:pt x="2573337" y="0"/>
                  </a:lnTo>
                </a:path>
              </a:pathLst>
            </a:custGeom>
            <a:ln w="12700">
              <a:solidFill>
                <a:srgbClr val="33CC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859590" y="470693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286250" y="4953000"/>
              <a:ext cx="2586355" cy="0"/>
            </a:xfrm>
            <a:custGeom>
              <a:avLst/>
              <a:gdLst/>
              <a:ahLst/>
              <a:cxnLst/>
              <a:rect l="l" t="t" r="r" b="b"/>
              <a:pathLst>
                <a:path w="2586354">
                  <a:moveTo>
                    <a:pt x="0" y="0"/>
                  </a:moveTo>
                  <a:lnTo>
                    <a:pt x="2586037" y="0"/>
                  </a:lnTo>
                </a:path>
              </a:pathLst>
            </a:custGeom>
            <a:ln w="12700">
              <a:solidFill>
                <a:srgbClr val="33CC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859590" y="49148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094287" y="5160962"/>
              <a:ext cx="1778000" cy="0"/>
            </a:xfrm>
            <a:custGeom>
              <a:avLst/>
              <a:gdLst/>
              <a:ahLst/>
              <a:cxnLst/>
              <a:rect l="l" t="t" r="r" b="b"/>
              <a:pathLst>
                <a:path w="1778000">
                  <a:moveTo>
                    <a:pt x="0" y="0"/>
                  </a:moveTo>
                  <a:lnTo>
                    <a:pt x="1778000" y="0"/>
                  </a:lnTo>
                </a:path>
              </a:pathLst>
            </a:custGeom>
            <a:ln w="12700">
              <a:solidFill>
                <a:srgbClr val="33CC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859590" y="512285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094287" y="5368925"/>
              <a:ext cx="1778000" cy="0"/>
            </a:xfrm>
            <a:custGeom>
              <a:avLst/>
              <a:gdLst/>
              <a:ahLst/>
              <a:cxnLst/>
              <a:rect l="l" t="t" r="r" b="b"/>
              <a:pathLst>
                <a:path w="1778000">
                  <a:moveTo>
                    <a:pt x="0" y="0"/>
                  </a:moveTo>
                  <a:lnTo>
                    <a:pt x="1778000" y="0"/>
                  </a:lnTo>
                </a:path>
              </a:pathLst>
            </a:custGeom>
            <a:ln w="12700">
              <a:solidFill>
                <a:srgbClr val="33CC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859590" y="533082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199"/>
                  </a:lnTo>
                  <a:lnTo>
                    <a:pt x="76200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981326" y="3657600"/>
              <a:ext cx="3891279" cy="0"/>
            </a:xfrm>
            <a:custGeom>
              <a:avLst/>
              <a:gdLst/>
              <a:ahLst/>
              <a:cxnLst/>
              <a:rect l="l" t="t" r="r" b="b"/>
              <a:pathLst>
                <a:path w="3891279">
                  <a:moveTo>
                    <a:pt x="3890962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859590" y="36194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2882901" y="3476625"/>
              <a:ext cx="4050029" cy="0"/>
            </a:xfrm>
            <a:custGeom>
              <a:avLst/>
              <a:gdLst/>
              <a:ahLst/>
              <a:cxnLst/>
              <a:rect l="l" t="t" r="r" b="b"/>
              <a:pathLst>
                <a:path w="4050029">
                  <a:moveTo>
                    <a:pt x="4049712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38450" y="3194050"/>
              <a:ext cx="101600" cy="101600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24187" y="3192463"/>
              <a:ext cx="101600" cy="101600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30487" y="2863850"/>
              <a:ext cx="101600" cy="101600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30487" y="2660650"/>
              <a:ext cx="101600" cy="101600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30487" y="2457450"/>
              <a:ext cx="101600" cy="101600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30487" y="2254250"/>
              <a:ext cx="101600" cy="101600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30487" y="2051050"/>
              <a:ext cx="101600" cy="101600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30487" y="1847850"/>
              <a:ext cx="101600" cy="101600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30487" y="1644650"/>
              <a:ext cx="101600" cy="101600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30487" y="1441450"/>
              <a:ext cx="101600" cy="101600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2527300" y="4056062"/>
              <a:ext cx="127000" cy="0"/>
            </a:xfrm>
            <a:custGeom>
              <a:avLst/>
              <a:gdLst/>
              <a:ahLst/>
              <a:cxnLst/>
              <a:rect l="l" t="t" r="r" b="b"/>
              <a:pathLst>
                <a:path w="127000">
                  <a:moveTo>
                    <a:pt x="1270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2732087" y="3886200"/>
              <a:ext cx="758825" cy="1876425"/>
            </a:xfrm>
            <a:custGeom>
              <a:avLst/>
              <a:gdLst/>
              <a:ahLst/>
              <a:cxnLst/>
              <a:rect l="l" t="t" r="r" b="b"/>
              <a:pathLst>
                <a:path w="758825" h="1876425">
                  <a:moveTo>
                    <a:pt x="758825" y="0"/>
                  </a:moveTo>
                  <a:lnTo>
                    <a:pt x="0" y="0"/>
                  </a:lnTo>
                  <a:lnTo>
                    <a:pt x="0" y="1876425"/>
                  </a:lnTo>
                  <a:lnTo>
                    <a:pt x="758825" y="1876425"/>
                  </a:lnTo>
                  <a:lnTo>
                    <a:pt x="758825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2732087" y="3886200"/>
              <a:ext cx="758825" cy="1876425"/>
            </a:xfrm>
            <a:custGeom>
              <a:avLst/>
              <a:gdLst/>
              <a:ahLst/>
              <a:cxnLst/>
              <a:rect l="l" t="t" r="r" b="b"/>
              <a:pathLst>
                <a:path w="758825" h="1876425">
                  <a:moveTo>
                    <a:pt x="0" y="0"/>
                  </a:moveTo>
                  <a:lnTo>
                    <a:pt x="758825" y="0"/>
                  </a:lnTo>
                  <a:lnTo>
                    <a:pt x="758825" y="1876425"/>
                  </a:lnTo>
                  <a:lnTo>
                    <a:pt x="0" y="187642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2641601" y="401796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2446337" y="4264025"/>
              <a:ext cx="208279" cy="0"/>
            </a:xfrm>
            <a:custGeom>
              <a:avLst/>
              <a:gdLst/>
              <a:ahLst/>
              <a:cxnLst/>
              <a:rect l="l" t="t" r="r" b="b"/>
              <a:pathLst>
                <a:path w="208280">
                  <a:moveTo>
                    <a:pt x="207962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2641601" y="422592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2379662" y="4471987"/>
              <a:ext cx="274955" cy="0"/>
            </a:xfrm>
            <a:custGeom>
              <a:avLst/>
              <a:gdLst/>
              <a:ahLst/>
              <a:cxnLst/>
              <a:rect l="l" t="t" r="r" b="b"/>
              <a:pathLst>
                <a:path w="274955">
                  <a:moveTo>
                    <a:pt x="274637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2641601" y="443388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2311400" y="4679950"/>
              <a:ext cx="342900" cy="0"/>
            </a:xfrm>
            <a:custGeom>
              <a:avLst/>
              <a:gdLst/>
              <a:ahLst/>
              <a:cxnLst/>
              <a:rect l="l" t="t" r="r" b="b"/>
              <a:pathLst>
                <a:path w="342900">
                  <a:moveTo>
                    <a:pt x="3429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2641601" y="464184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2238375" y="4887912"/>
              <a:ext cx="415925" cy="0"/>
            </a:xfrm>
            <a:custGeom>
              <a:avLst/>
              <a:gdLst/>
              <a:ahLst/>
              <a:cxnLst/>
              <a:rect l="l" t="t" r="r" b="b"/>
              <a:pathLst>
                <a:path w="415925">
                  <a:moveTo>
                    <a:pt x="415925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2641601" y="484980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2182812" y="5095875"/>
              <a:ext cx="471805" cy="0"/>
            </a:xfrm>
            <a:custGeom>
              <a:avLst/>
              <a:gdLst/>
              <a:ahLst/>
              <a:cxnLst/>
              <a:rect l="l" t="t" r="r" b="b"/>
              <a:pathLst>
                <a:path w="471805">
                  <a:moveTo>
                    <a:pt x="471487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2641601" y="505777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2119312" y="5303837"/>
              <a:ext cx="535305" cy="0"/>
            </a:xfrm>
            <a:custGeom>
              <a:avLst/>
              <a:gdLst/>
              <a:ahLst/>
              <a:cxnLst/>
              <a:rect l="l" t="t" r="r" b="b"/>
              <a:pathLst>
                <a:path w="535305">
                  <a:moveTo>
                    <a:pt x="534987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2641601" y="526573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2432050" y="5511800"/>
              <a:ext cx="222250" cy="0"/>
            </a:xfrm>
            <a:custGeom>
              <a:avLst/>
              <a:gdLst/>
              <a:ahLst/>
              <a:cxnLst/>
              <a:rect l="l" t="t" r="r" b="b"/>
              <a:pathLst>
                <a:path w="222250">
                  <a:moveTo>
                    <a:pt x="22225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2641601" y="54736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199"/>
                  </a:lnTo>
                  <a:lnTo>
                    <a:pt x="76200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1473200" y="5649913"/>
              <a:ext cx="949325" cy="0"/>
            </a:xfrm>
            <a:custGeom>
              <a:avLst/>
              <a:gdLst/>
              <a:ahLst/>
              <a:cxnLst/>
              <a:rect l="l" t="t" r="r" b="b"/>
              <a:pathLst>
                <a:path w="949325">
                  <a:moveTo>
                    <a:pt x="0" y="0"/>
                  </a:moveTo>
                  <a:lnTo>
                    <a:pt x="949325" y="0"/>
                  </a:lnTo>
                </a:path>
              </a:pathLst>
            </a:custGeom>
            <a:ln w="12700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1536700" y="4927600"/>
              <a:ext cx="411480" cy="0"/>
            </a:xfrm>
            <a:custGeom>
              <a:avLst/>
              <a:gdLst/>
              <a:ahLst/>
              <a:cxnLst/>
              <a:rect l="l" t="t" r="r" b="b"/>
              <a:pathLst>
                <a:path w="411480">
                  <a:moveTo>
                    <a:pt x="0" y="0"/>
                  </a:moveTo>
                  <a:lnTo>
                    <a:pt x="411162" y="0"/>
                  </a:lnTo>
                </a:path>
              </a:pathLst>
            </a:custGeom>
            <a:ln w="12700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1473201" y="48894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1473200" y="5102225"/>
              <a:ext cx="635000" cy="0"/>
            </a:xfrm>
            <a:custGeom>
              <a:avLst/>
              <a:gdLst/>
              <a:ahLst/>
              <a:cxnLst/>
              <a:rect l="l" t="t" r="r" b="b"/>
              <a:pathLst>
                <a:path w="635000">
                  <a:moveTo>
                    <a:pt x="0" y="0"/>
                  </a:moveTo>
                  <a:lnTo>
                    <a:pt x="635000" y="0"/>
                  </a:lnTo>
                </a:path>
              </a:pathLst>
            </a:custGeom>
            <a:ln w="12700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1536700" y="4370387"/>
              <a:ext cx="355600" cy="0"/>
            </a:xfrm>
            <a:custGeom>
              <a:avLst/>
              <a:gdLst/>
              <a:ahLst/>
              <a:cxnLst/>
              <a:rect l="l" t="t" r="r" b="b"/>
              <a:pathLst>
                <a:path w="355600">
                  <a:moveTo>
                    <a:pt x="0" y="0"/>
                  </a:moveTo>
                  <a:lnTo>
                    <a:pt x="355600" y="0"/>
                  </a:lnTo>
                </a:path>
              </a:pathLst>
            </a:custGeom>
            <a:ln w="12700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1473201" y="433228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1473200" y="4532312"/>
              <a:ext cx="706755" cy="0"/>
            </a:xfrm>
            <a:custGeom>
              <a:avLst/>
              <a:gdLst/>
              <a:ahLst/>
              <a:cxnLst/>
              <a:rect l="l" t="t" r="r" b="b"/>
              <a:pathLst>
                <a:path w="706755">
                  <a:moveTo>
                    <a:pt x="0" y="0"/>
                  </a:moveTo>
                  <a:lnTo>
                    <a:pt x="706437" y="0"/>
                  </a:lnTo>
                </a:path>
              </a:pathLst>
            </a:custGeom>
            <a:ln w="12700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1536700" y="3765550"/>
              <a:ext cx="303530" cy="0"/>
            </a:xfrm>
            <a:custGeom>
              <a:avLst/>
              <a:gdLst/>
              <a:ahLst/>
              <a:cxnLst/>
              <a:rect l="l" t="t" r="r" b="b"/>
              <a:pathLst>
                <a:path w="303530">
                  <a:moveTo>
                    <a:pt x="0" y="0"/>
                  </a:moveTo>
                  <a:lnTo>
                    <a:pt x="303212" y="0"/>
                  </a:lnTo>
                </a:path>
              </a:pathLst>
            </a:custGeom>
            <a:ln w="12700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1473201" y="372744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1473200" y="3940175"/>
              <a:ext cx="776605" cy="0"/>
            </a:xfrm>
            <a:custGeom>
              <a:avLst/>
              <a:gdLst/>
              <a:ahLst/>
              <a:cxnLst/>
              <a:rect l="l" t="t" r="r" b="b"/>
              <a:pathLst>
                <a:path w="776605">
                  <a:moveTo>
                    <a:pt x="0" y="0"/>
                  </a:moveTo>
                  <a:lnTo>
                    <a:pt x="776287" y="0"/>
                  </a:lnTo>
                </a:path>
              </a:pathLst>
            </a:custGeom>
            <a:ln w="12700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1536700" y="3173413"/>
              <a:ext cx="257175" cy="0"/>
            </a:xfrm>
            <a:custGeom>
              <a:avLst/>
              <a:gdLst/>
              <a:ahLst/>
              <a:cxnLst/>
              <a:rect l="l" t="t" r="r" b="b"/>
              <a:pathLst>
                <a:path w="257175">
                  <a:moveTo>
                    <a:pt x="0" y="0"/>
                  </a:moveTo>
                  <a:lnTo>
                    <a:pt x="257175" y="0"/>
                  </a:lnTo>
                </a:path>
              </a:pathLst>
            </a:custGeom>
            <a:ln w="12700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1473201" y="313531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1473200" y="3348037"/>
              <a:ext cx="841375" cy="0"/>
            </a:xfrm>
            <a:custGeom>
              <a:avLst/>
              <a:gdLst/>
              <a:ahLst/>
              <a:cxnLst/>
              <a:rect l="l" t="t" r="r" b="b"/>
              <a:pathLst>
                <a:path w="841375">
                  <a:moveTo>
                    <a:pt x="0" y="0"/>
                  </a:moveTo>
                  <a:lnTo>
                    <a:pt x="841375" y="0"/>
                  </a:lnTo>
                </a:path>
              </a:pathLst>
            </a:custGeom>
            <a:ln w="12700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1536680" y="2574922"/>
              <a:ext cx="192405" cy="5080"/>
            </a:xfrm>
            <a:custGeom>
              <a:avLst/>
              <a:gdLst/>
              <a:ahLst/>
              <a:cxnLst/>
              <a:rect l="l" t="t" r="r" b="b"/>
              <a:pathLst>
                <a:path w="192405" h="5080">
                  <a:moveTo>
                    <a:pt x="0" y="4775"/>
                  </a:moveTo>
                  <a:lnTo>
                    <a:pt x="192112" y="0"/>
                  </a:lnTo>
                </a:path>
              </a:pathLst>
            </a:custGeom>
            <a:ln w="12699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1473197" y="2541292"/>
              <a:ext cx="77470" cy="76200"/>
            </a:xfrm>
            <a:custGeom>
              <a:avLst/>
              <a:gdLst/>
              <a:ahLst/>
              <a:cxnLst/>
              <a:rect l="l" t="t" r="r" b="b"/>
              <a:pathLst>
                <a:path w="77469" h="76200">
                  <a:moveTo>
                    <a:pt x="75234" y="0"/>
                  </a:moveTo>
                  <a:lnTo>
                    <a:pt x="0" y="39979"/>
                  </a:lnTo>
                  <a:lnTo>
                    <a:pt x="77127" y="76174"/>
                  </a:lnTo>
                  <a:lnTo>
                    <a:pt x="75234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1473200" y="2755900"/>
              <a:ext cx="911225" cy="0"/>
            </a:xfrm>
            <a:custGeom>
              <a:avLst/>
              <a:gdLst/>
              <a:ahLst/>
              <a:cxnLst/>
              <a:rect l="l" t="t" r="r" b="b"/>
              <a:pathLst>
                <a:path w="911225">
                  <a:moveTo>
                    <a:pt x="0" y="0"/>
                  </a:moveTo>
                  <a:lnTo>
                    <a:pt x="911225" y="0"/>
                  </a:lnTo>
                </a:path>
              </a:pathLst>
            </a:custGeom>
            <a:ln w="12700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1536700" y="1989138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12700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1473201" y="195103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1473200" y="2163763"/>
              <a:ext cx="973455" cy="0"/>
            </a:xfrm>
            <a:custGeom>
              <a:avLst/>
              <a:gdLst/>
              <a:ahLst/>
              <a:cxnLst/>
              <a:rect l="l" t="t" r="r" b="b"/>
              <a:pathLst>
                <a:path w="973455">
                  <a:moveTo>
                    <a:pt x="0" y="0"/>
                  </a:moveTo>
                  <a:lnTo>
                    <a:pt x="973137" y="0"/>
                  </a:lnTo>
                </a:path>
              </a:pathLst>
            </a:custGeom>
            <a:ln w="12700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1536700" y="1397000"/>
              <a:ext cx="132080" cy="0"/>
            </a:xfrm>
            <a:custGeom>
              <a:avLst/>
              <a:gdLst/>
              <a:ahLst/>
              <a:cxnLst/>
              <a:rect l="l" t="t" r="r" b="b"/>
              <a:pathLst>
                <a:path w="132080">
                  <a:moveTo>
                    <a:pt x="0" y="0"/>
                  </a:moveTo>
                  <a:lnTo>
                    <a:pt x="131762" y="0"/>
                  </a:lnTo>
                </a:path>
              </a:pathLst>
            </a:custGeom>
            <a:ln w="12700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1473201" y="13588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1473200" y="1571625"/>
              <a:ext cx="1059180" cy="0"/>
            </a:xfrm>
            <a:custGeom>
              <a:avLst/>
              <a:gdLst/>
              <a:ahLst/>
              <a:cxnLst/>
              <a:rect l="l" t="t" r="r" b="b"/>
              <a:pathLst>
                <a:path w="1059180">
                  <a:moveTo>
                    <a:pt x="0" y="0"/>
                  </a:moveTo>
                  <a:lnTo>
                    <a:pt x="1058862" y="0"/>
                  </a:lnTo>
                </a:path>
              </a:pathLst>
            </a:custGeom>
            <a:ln w="12700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1663700" y="1490662"/>
              <a:ext cx="973455" cy="0"/>
            </a:xfrm>
            <a:custGeom>
              <a:avLst/>
              <a:gdLst/>
              <a:ahLst/>
              <a:cxnLst/>
              <a:rect l="l" t="t" r="r" b="b"/>
              <a:pathLst>
                <a:path w="973455">
                  <a:moveTo>
                    <a:pt x="973137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1684337" y="1693863"/>
              <a:ext cx="952500" cy="0"/>
            </a:xfrm>
            <a:custGeom>
              <a:avLst/>
              <a:gdLst/>
              <a:ahLst/>
              <a:cxnLst/>
              <a:rect l="l" t="t" r="r" b="b"/>
              <a:pathLst>
                <a:path w="952500">
                  <a:moveTo>
                    <a:pt x="9525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1728787" y="1901825"/>
              <a:ext cx="908050" cy="0"/>
            </a:xfrm>
            <a:custGeom>
              <a:avLst/>
              <a:gdLst/>
              <a:ahLst/>
              <a:cxnLst/>
              <a:rect l="l" t="t" r="r" b="b"/>
              <a:pathLst>
                <a:path w="908050">
                  <a:moveTo>
                    <a:pt x="90805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1809750" y="2098675"/>
              <a:ext cx="827405" cy="0"/>
            </a:xfrm>
            <a:custGeom>
              <a:avLst/>
              <a:gdLst/>
              <a:ahLst/>
              <a:cxnLst/>
              <a:rect l="l" t="t" r="r" b="b"/>
              <a:pathLst>
                <a:path w="827405">
                  <a:moveTo>
                    <a:pt x="827087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1873250" y="2306638"/>
              <a:ext cx="763905" cy="0"/>
            </a:xfrm>
            <a:custGeom>
              <a:avLst/>
              <a:gdLst/>
              <a:ahLst/>
              <a:cxnLst/>
              <a:rect l="l" t="t" r="r" b="b"/>
              <a:pathLst>
                <a:path w="763905">
                  <a:moveTo>
                    <a:pt x="763587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1887537" y="2503488"/>
              <a:ext cx="749300" cy="0"/>
            </a:xfrm>
            <a:custGeom>
              <a:avLst/>
              <a:gdLst/>
              <a:ahLst/>
              <a:cxnLst/>
              <a:rect l="l" t="t" r="r" b="b"/>
              <a:pathLst>
                <a:path w="749300">
                  <a:moveTo>
                    <a:pt x="7493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1946275" y="2711450"/>
              <a:ext cx="690880" cy="0"/>
            </a:xfrm>
            <a:custGeom>
              <a:avLst/>
              <a:gdLst/>
              <a:ahLst/>
              <a:cxnLst/>
              <a:rect l="l" t="t" r="r" b="b"/>
              <a:pathLst>
                <a:path w="690880">
                  <a:moveTo>
                    <a:pt x="690562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2012950" y="2908300"/>
              <a:ext cx="624205" cy="0"/>
            </a:xfrm>
            <a:custGeom>
              <a:avLst/>
              <a:gdLst/>
              <a:ahLst/>
              <a:cxnLst/>
              <a:rect l="l" t="t" r="r" b="b"/>
              <a:pathLst>
                <a:path w="624205">
                  <a:moveTo>
                    <a:pt x="623887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2422525" y="5510212"/>
              <a:ext cx="0" cy="141605"/>
            </a:xfrm>
            <a:custGeom>
              <a:avLst/>
              <a:gdLst/>
              <a:ahLst/>
              <a:cxnLst/>
              <a:rect l="l" t="t" r="r" b="b"/>
              <a:pathLst>
                <a:path h="141604">
                  <a:moveTo>
                    <a:pt x="0" y="0"/>
                  </a:moveTo>
                  <a:lnTo>
                    <a:pt x="0" y="141287"/>
                  </a:lnTo>
                </a:path>
              </a:pathLst>
            </a:custGeom>
            <a:ln w="12700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2111375" y="5106987"/>
              <a:ext cx="0" cy="201930"/>
            </a:xfrm>
            <a:custGeom>
              <a:avLst/>
              <a:gdLst/>
              <a:ahLst/>
              <a:cxnLst/>
              <a:rect l="l" t="t" r="r" b="b"/>
              <a:pathLst>
                <a:path h="201929">
                  <a:moveTo>
                    <a:pt x="0" y="0"/>
                  </a:moveTo>
                  <a:lnTo>
                    <a:pt x="0" y="201612"/>
                  </a:lnTo>
                </a:path>
              </a:pathLst>
            </a:custGeom>
            <a:ln w="12700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2182812" y="4537075"/>
              <a:ext cx="0" cy="557530"/>
            </a:xfrm>
            <a:custGeom>
              <a:avLst/>
              <a:gdLst/>
              <a:ahLst/>
              <a:cxnLst/>
              <a:rect l="l" t="t" r="r" b="b"/>
              <a:pathLst>
                <a:path h="557529">
                  <a:moveTo>
                    <a:pt x="0" y="557212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2241550" y="3930650"/>
              <a:ext cx="0" cy="962025"/>
            </a:xfrm>
            <a:custGeom>
              <a:avLst/>
              <a:gdLst/>
              <a:ahLst/>
              <a:cxnLst/>
              <a:rect l="l" t="t" r="r" b="b"/>
              <a:pathLst>
                <a:path h="962025">
                  <a:moveTo>
                    <a:pt x="0" y="962025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2311400" y="3349625"/>
              <a:ext cx="0" cy="1329055"/>
            </a:xfrm>
            <a:custGeom>
              <a:avLst/>
              <a:gdLst/>
              <a:ahLst/>
              <a:cxnLst/>
              <a:rect l="l" t="t" r="r" b="b"/>
              <a:pathLst>
                <a:path h="1329054">
                  <a:moveTo>
                    <a:pt x="0" y="1328737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2384425" y="2754312"/>
              <a:ext cx="0" cy="1735455"/>
            </a:xfrm>
            <a:custGeom>
              <a:avLst/>
              <a:gdLst/>
              <a:ahLst/>
              <a:cxnLst/>
              <a:rect l="l" t="t" r="r" b="b"/>
              <a:pathLst>
                <a:path h="1735454">
                  <a:moveTo>
                    <a:pt x="0" y="1735137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2459037" y="2173287"/>
              <a:ext cx="0" cy="2089150"/>
            </a:xfrm>
            <a:custGeom>
              <a:avLst/>
              <a:gdLst/>
              <a:ahLst/>
              <a:cxnLst/>
              <a:rect l="l" t="t" r="r" b="b"/>
              <a:pathLst>
                <a:path h="2089150">
                  <a:moveTo>
                    <a:pt x="0" y="208915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2533650" y="1573212"/>
              <a:ext cx="0" cy="2475230"/>
            </a:xfrm>
            <a:custGeom>
              <a:avLst/>
              <a:gdLst/>
              <a:ahLst/>
              <a:cxnLst/>
              <a:rect l="l" t="t" r="r" b="b"/>
              <a:pathLst>
                <a:path h="2475229">
                  <a:moveTo>
                    <a:pt x="0" y="2474912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1536700" y="5475287"/>
              <a:ext cx="462280" cy="0"/>
            </a:xfrm>
            <a:custGeom>
              <a:avLst/>
              <a:gdLst/>
              <a:ahLst/>
              <a:cxnLst/>
              <a:rect l="l" t="t" r="r" b="b"/>
              <a:pathLst>
                <a:path w="462280">
                  <a:moveTo>
                    <a:pt x="0" y="0"/>
                  </a:moveTo>
                  <a:lnTo>
                    <a:pt x="461962" y="0"/>
                  </a:lnTo>
                </a:path>
              </a:pathLst>
            </a:custGeom>
            <a:ln w="12700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1473201" y="543718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2001837" y="2911475"/>
              <a:ext cx="0" cy="2565400"/>
            </a:xfrm>
            <a:custGeom>
              <a:avLst/>
              <a:gdLst/>
              <a:ahLst/>
              <a:cxnLst/>
              <a:rect l="l" t="t" r="r" b="b"/>
              <a:pathLst>
                <a:path h="2565400">
                  <a:moveTo>
                    <a:pt x="0" y="0"/>
                  </a:moveTo>
                  <a:lnTo>
                    <a:pt x="0" y="2565400"/>
                  </a:lnTo>
                </a:path>
              </a:pathLst>
            </a:custGeom>
            <a:ln w="12700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1955800" y="2703513"/>
              <a:ext cx="0" cy="2227580"/>
            </a:xfrm>
            <a:custGeom>
              <a:avLst/>
              <a:gdLst/>
              <a:ahLst/>
              <a:cxnLst/>
              <a:rect l="l" t="t" r="r" b="b"/>
              <a:pathLst>
                <a:path h="2227579">
                  <a:moveTo>
                    <a:pt x="0" y="0"/>
                  </a:moveTo>
                  <a:lnTo>
                    <a:pt x="0" y="2227262"/>
                  </a:lnTo>
                </a:path>
              </a:pathLst>
            </a:custGeom>
            <a:ln w="12700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1901825" y="2489200"/>
              <a:ext cx="0" cy="1879600"/>
            </a:xfrm>
            <a:custGeom>
              <a:avLst/>
              <a:gdLst/>
              <a:ahLst/>
              <a:cxnLst/>
              <a:rect l="l" t="t" r="r" b="b"/>
              <a:pathLst>
                <a:path h="1879600">
                  <a:moveTo>
                    <a:pt x="0" y="0"/>
                  </a:moveTo>
                  <a:lnTo>
                    <a:pt x="0" y="1879600"/>
                  </a:lnTo>
                </a:path>
              </a:pathLst>
            </a:custGeom>
            <a:ln w="12700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1855787" y="2301875"/>
              <a:ext cx="0" cy="1465580"/>
            </a:xfrm>
            <a:custGeom>
              <a:avLst/>
              <a:gdLst/>
              <a:ahLst/>
              <a:cxnLst/>
              <a:rect l="l" t="t" r="r" b="b"/>
              <a:pathLst>
                <a:path h="1465579">
                  <a:moveTo>
                    <a:pt x="0" y="0"/>
                  </a:moveTo>
                  <a:lnTo>
                    <a:pt x="0" y="1465262"/>
                  </a:lnTo>
                </a:path>
              </a:pathLst>
            </a:custGeom>
            <a:ln w="12700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1793875" y="2100263"/>
              <a:ext cx="0" cy="1065530"/>
            </a:xfrm>
            <a:custGeom>
              <a:avLst/>
              <a:gdLst/>
              <a:ahLst/>
              <a:cxnLst/>
              <a:rect l="l" t="t" r="r" b="b"/>
              <a:pathLst>
                <a:path h="1065530">
                  <a:moveTo>
                    <a:pt x="0" y="0"/>
                  </a:moveTo>
                  <a:lnTo>
                    <a:pt x="0" y="1065212"/>
                  </a:lnTo>
                </a:path>
              </a:pathLst>
            </a:custGeom>
            <a:ln w="12700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1731962" y="1892300"/>
              <a:ext cx="0" cy="687705"/>
            </a:xfrm>
            <a:custGeom>
              <a:avLst/>
              <a:gdLst/>
              <a:ahLst/>
              <a:cxnLst/>
              <a:rect l="l" t="t" r="r" b="b"/>
              <a:pathLst>
                <a:path h="687705">
                  <a:moveTo>
                    <a:pt x="0" y="0"/>
                  </a:moveTo>
                  <a:lnTo>
                    <a:pt x="0" y="687387"/>
                  </a:lnTo>
                </a:path>
              </a:pathLst>
            </a:custGeom>
            <a:ln w="12700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1677987" y="1684338"/>
              <a:ext cx="0" cy="304800"/>
            </a:xfrm>
            <a:custGeom>
              <a:avLst/>
              <a:gdLst/>
              <a:ahLst/>
              <a:cxnLst/>
              <a:rect l="l" t="t" r="r" b="b"/>
              <a:pathLst>
                <a:path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ln w="12700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1679575" y="1406525"/>
              <a:ext cx="0" cy="85725"/>
            </a:xfrm>
            <a:custGeom>
              <a:avLst/>
              <a:gdLst/>
              <a:ahLst/>
              <a:cxnLst/>
              <a:rect l="l" t="t" r="r" b="b"/>
              <a:pathLst>
                <a:path h="85725">
                  <a:moveTo>
                    <a:pt x="0" y="0"/>
                  </a:moveTo>
                  <a:lnTo>
                    <a:pt x="0" y="85725"/>
                  </a:lnTo>
                </a:path>
              </a:pathLst>
            </a:custGeom>
            <a:ln w="12700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4" name="object 1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98912" y="4200525"/>
              <a:ext cx="101600" cy="101600"/>
            </a:xfrm>
            <a:prstGeom prst="rect">
              <a:avLst/>
            </a:prstGeom>
          </p:spPr>
        </p:pic>
        <p:sp>
          <p:nvSpPr>
            <p:cNvPr id="135" name="object 135"/>
            <p:cNvSpPr/>
            <p:nvPr/>
          </p:nvSpPr>
          <p:spPr>
            <a:xfrm>
              <a:off x="4049709" y="3479800"/>
              <a:ext cx="0" cy="660400"/>
            </a:xfrm>
            <a:custGeom>
              <a:avLst/>
              <a:gdLst/>
              <a:ahLst/>
              <a:cxnLst/>
              <a:rect l="l" t="t" r="r" b="b"/>
              <a:pathLst>
                <a:path h="660400">
                  <a:moveTo>
                    <a:pt x="0" y="6604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4011612" y="41275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3071809" y="3349625"/>
              <a:ext cx="0" cy="127000"/>
            </a:xfrm>
            <a:custGeom>
              <a:avLst/>
              <a:gdLst/>
              <a:ahLst/>
              <a:cxnLst/>
              <a:rect l="l" t="t" r="r" b="b"/>
              <a:pathLst>
                <a:path h="127000">
                  <a:moveTo>
                    <a:pt x="0" y="0"/>
                  </a:moveTo>
                  <a:lnTo>
                    <a:pt x="0" y="127000"/>
                  </a:lnTo>
                </a:path>
              </a:pathLst>
            </a:custGeom>
            <a:ln w="12700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3033706" y="3286121"/>
              <a:ext cx="76200" cy="76835"/>
            </a:xfrm>
            <a:custGeom>
              <a:avLst/>
              <a:gdLst/>
              <a:ahLst/>
              <a:cxnLst/>
              <a:rect l="l" t="t" r="r" b="b"/>
              <a:pathLst>
                <a:path w="76200" h="76835">
                  <a:moveTo>
                    <a:pt x="38112" y="0"/>
                  </a:moveTo>
                  <a:lnTo>
                    <a:pt x="0" y="76200"/>
                  </a:lnTo>
                  <a:lnTo>
                    <a:pt x="76200" y="76212"/>
                  </a:lnTo>
                  <a:lnTo>
                    <a:pt x="38112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2886072" y="3344862"/>
              <a:ext cx="0" cy="127000"/>
            </a:xfrm>
            <a:custGeom>
              <a:avLst/>
              <a:gdLst/>
              <a:ahLst/>
              <a:cxnLst/>
              <a:rect l="l" t="t" r="r" b="b"/>
              <a:pathLst>
                <a:path h="127000">
                  <a:moveTo>
                    <a:pt x="0" y="0"/>
                  </a:moveTo>
                  <a:lnTo>
                    <a:pt x="0" y="127000"/>
                  </a:lnTo>
                </a:path>
              </a:pathLst>
            </a:custGeom>
            <a:ln w="12700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2847968" y="3281360"/>
              <a:ext cx="76200" cy="76835"/>
            </a:xfrm>
            <a:custGeom>
              <a:avLst/>
              <a:gdLst/>
              <a:ahLst/>
              <a:cxnLst/>
              <a:rect l="l" t="t" r="r" b="b"/>
              <a:pathLst>
                <a:path w="76200" h="76835">
                  <a:moveTo>
                    <a:pt x="38112" y="0"/>
                  </a:moveTo>
                  <a:lnTo>
                    <a:pt x="0" y="76200"/>
                  </a:lnTo>
                  <a:lnTo>
                    <a:pt x="76200" y="76212"/>
                  </a:lnTo>
                  <a:lnTo>
                    <a:pt x="38112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2981325" y="3667125"/>
              <a:ext cx="0" cy="214629"/>
            </a:xfrm>
            <a:custGeom>
              <a:avLst/>
              <a:gdLst/>
              <a:ahLst/>
              <a:cxnLst/>
              <a:rect l="l" t="t" r="r" b="b"/>
              <a:pathLst>
                <a:path h="214629">
                  <a:moveTo>
                    <a:pt x="0" y="0"/>
                  </a:moveTo>
                  <a:lnTo>
                    <a:pt x="0" y="214312"/>
                  </a:lnTo>
                </a:path>
              </a:pathLst>
            </a:custGeom>
            <a:ln w="12700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3490912" y="4524375"/>
              <a:ext cx="297180" cy="0"/>
            </a:xfrm>
            <a:custGeom>
              <a:avLst/>
              <a:gdLst/>
              <a:ahLst/>
              <a:cxnLst/>
              <a:rect l="l" t="t" r="r" b="b"/>
              <a:pathLst>
                <a:path w="297179">
                  <a:moveTo>
                    <a:pt x="0" y="0"/>
                  </a:moveTo>
                  <a:lnTo>
                    <a:pt x="296862" y="0"/>
                  </a:lnTo>
                </a:path>
              </a:pathLst>
            </a:custGeom>
            <a:ln w="12700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3487737" y="4754562"/>
              <a:ext cx="297180" cy="0"/>
            </a:xfrm>
            <a:custGeom>
              <a:avLst/>
              <a:gdLst/>
              <a:ahLst/>
              <a:cxnLst/>
              <a:rect l="l" t="t" r="r" b="b"/>
              <a:pathLst>
                <a:path w="297179">
                  <a:moveTo>
                    <a:pt x="0" y="0"/>
                  </a:moveTo>
                  <a:lnTo>
                    <a:pt x="296862" y="0"/>
                  </a:lnTo>
                </a:path>
              </a:pathLst>
            </a:custGeom>
            <a:ln w="12700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3495675" y="4962525"/>
              <a:ext cx="297180" cy="0"/>
            </a:xfrm>
            <a:custGeom>
              <a:avLst/>
              <a:gdLst/>
              <a:ahLst/>
              <a:cxnLst/>
              <a:rect l="l" t="t" r="r" b="b"/>
              <a:pathLst>
                <a:path w="297179">
                  <a:moveTo>
                    <a:pt x="0" y="0"/>
                  </a:moveTo>
                  <a:lnTo>
                    <a:pt x="296862" y="0"/>
                  </a:lnTo>
                </a:path>
              </a:pathLst>
            </a:custGeom>
            <a:ln w="12700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3543300" y="1978025"/>
              <a:ext cx="1149350" cy="0"/>
            </a:xfrm>
            <a:custGeom>
              <a:avLst/>
              <a:gdLst/>
              <a:ahLst/>
              <a:cxnLst/>
              <a:rect l="l" t="t" r="r" b="b"/>
              <a:pathLst>
                <a:path w="1149350">
                  <a:moveTo>
                    <a:pt x="0" y="0"/>
                  </a:moveTo>
                  <a:lnTo>
                    <a:pt x="1149350" y="0"/>
                  </a:lnTo>
                </a:path>
              </a:pathLst>
            </a:custGeom>
            <a:ln w="12700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3479802" y="193992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3540125" y="2208213"/>
              <a:ext cx="1038225" cy="0"/>
            </a:xfrm>
            <a:custGeom>
              <a:avLst/>
              <a:gdLst/>
              <a:ahLst/>
              <a:cxnLst/>
              <a:rect l="l" t="t" r="r" b="b"/>
              <a:pathLst>
                <a:path w="1038225">
                  <a:moveTo>
                    <a:pt x="0" y="0"/>
                  </a:moveTo>
                  <a:lnTo>
                    <a:pt x="1038225" y="0"/>
                  </a:lnTo>
                </a:path>
              </a:pathLst>
            </a:custGeom>
            <a:ln w="12700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3476627" y="217010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3548062" y="2438400"/>
              <a:ext cx="935355" cy="0"/>
            </a:xfrm>
            <a:custGeom>
              <a:avLst/>
              <a:gdLst/>
              <a:ahLst/>
              <a:cxnLst/>
              <a:rect l="l" t="t" r="r" b="b"/>
              <a:pathLst>
                <a:path w="935354">
                  <a:moveTo>
                    <a:pt x="0" y="0"/>
                  </a:moveTo>
                  <a:lnTo>
                    <a:pt x="935037" y="0"/>
                  </a:lnTo>
                </a:path>
              </a:pathLst>
            </a:custGeom>
            <a:ln w="12700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3484565" y="24002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4476750" y="2443162"/>
              <a:ext cx="0" cy="2508250"/>
            </a:xfrm>
            <a:custGeom>
              <a:avLst/>
              <a:gdLst/>
              <a:ahLst/>
              <a:cxnLst/>
              <a:rect l="l" t="t" r="r" b="b"/>
              <a:pathLst>
                <a:path h="2508250">
                  <a:moveTo>
                    <a:pt x="0" y="250825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4584700" y="2208212"/>
              <a:ext cx="0" cy="2540000"/>
            </a:xfrm>
            <a:custGeom>
              <a:avLst/>
              <a:gdLst/>
              <a:ahLst/>
              <a:cxnLst/>
              <a:rect l="l" t="t" r="r" b="b"/>
              <a:pathLst>
                <a:path h="2540000">
                  <a:moveTo>
                    <a:pt x="0" y="25400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4692650" y="1985962"/>
              <a:ext cx="0" cy="2559050"/>
            </a:xfrm>
            <a:custGeom>
              <a:avLst/>
              <a:gdLst/>
              <a:ahLst/>
              <a:cxnLst/>
              <a:rect l="l" t="t" r="r" b="b"/>
              <a:pathLst>
                <a:path h="2559050">
                  <a:moveTo>
                    <a:pt x="0" y="255905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6602413" y="1339850"/>
              <a:ext cx="328930" cy="0"/>
            </a:xfrm>
            <a:custGeom>
              <a:avLst/>
              <a:gdLst/>
              <a:ahLst/>
              <a:cxnLst/>
              <a:rect l="l" t="t" r="r" b="b"/>
              <a:pathLst>
                <a:path w="328929">
                  <a:moveTo>
                    <a:pt x="0" y="0"/>
                  </a:moveTo>
                  <a:lnTo>
                    <a:pt x="328612" y="0"/>
                  </a:lnTo>
                </a:path>
              </a:pathLst>
            </a:custGeom>
            <a:ln w="12700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6918327" y="130174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6665912" y="1570037"/>
              <a:ext cx="328930" cy="0"/>
            </a:xfrm>
            <a:custGeom>
              <a:avLst/>
              <a:gdLst/>
              <a:ahLst/>
              <a:cxnLst/>
              <a:rect l="l" t="t" r="r" b="b"/>
              <a:pathLst>
                <a:path w="328929">
                  <a:moveTo>
                    <a:pt x="328612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6602415" y="153193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8" name="object 158"/>
          <p:cNvSpPr txBox="1"/>
          <p:nvPr/>
        </p:nvSpPr>
        <p:spPr>
          <a:xfrm>
            <a:off x="6989127" y="3373311"/>
            <a:ext cx="368300" cy="39433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R="5080">
              <a:lnSpc>
                <a:spcPct val="101600"/>
              </a:lnSpc>
              <a:spcBef>
                <a:spcPts val="75"/>
              </a:spcBef>
            </a:pPr>
            <a:r>
              <a:rPr sz="1200" spc="-50" dirty="0">
                <a:latin typeface="Arial MT"/>
                <a:cs typeface="Arial MT"/>
              </a:rPr>
              <a:t>INTA </a:t>
            </a:r>
            <a:r>
              <a:rPr sz="1200" spc="-3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</a:t>
            </a:r>
            <a:r>
              <a:rPr sz="1200" spc="-5" dirty="0">
                <a:latin typeface="Arial MT"/>
                <a:cs typeface="Arial MT"/>
              </a:rPr>
              <a:t>NTR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59" name="object 159"/>
          <p:cNvSpPr txBox="1"/>
          <p:nvPr/>
        </p:nvSpPr>
        <p:spPr>
          <a:xfrm>
            <a:off x="6963727" y="3759866"/>
            <a:ext cx="712470" cy="1883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0480" algn="r">
              <a:lnSpc>
                <a:spcPts val="2475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8</a:t>
            </a:r>
            <a:endParaRPr sz="2400">
              <a:latin typeface="Arial MT"/>
              <a:cs typeface="Arial MT"/>
            </a:endParaRPr>
          </a:p>
          <a:p>
            <a:pPr marL="25400">
              <a:lnSpc>
                <a:spcPts val="490"/>
              </a:lnSpc>
            </a:pPr>
            <a:r>
              <a:rPr sz="1200" spc="-5" dirty="0">
                <a:latin typeface="Arial MT"/>
                <a:cs typeface="Arial MT"/>
              </a:rPr>
              <a:t>AD7</a:t>
            </a:r>
            <a:endParaRPr sz="1200">
              <a:latin typeface="Arial MT"/>
              <a:cs typeface="Arial MT"/>
            </a:endParaRPr>
          </a:p>
          <a:p>
            <a:pPr marL="25400">
              <a:lnSpc>
                <a:spcPts val="2270"/>
              </a:lnSpc>
              <a:tabLst>
                <a:tab pos="504190" algn="l"/>
              </a:tabLst>
            </a:pPr>
            <a:r>
              <a:rPr sz="1200" spc="-5" dirty="0">
                <a:latin typeface="Arial MT"/>
                <a:cs typeface="Arial MT"/>
              </a:rPr>
              <a:t>AD6	</a:t>
            </a:r>
            <a:r>
              <a:rPr sz="3600" spc="-7" baseline="-10416" dirty="0">
                <a:latin typeface="Arial MT"/>
                <a:cs typeface="Arial MT"/>
              </a:rPr>
              <a:t>0</a:t>
            </a:r>
            <a:endParaRPr sz="3600" baseline="-10416">
              <a:latin typeface="Arial MT"/>
              <a:cs typeface="Arial MT"/>
            </a:endParaRPr>
          </a:p>
          <a:p>
            <a:pPr marL="25400">
              <a:lnSpc>
                <a:spcPts val="950"/>
              </a:lnSpc>
            </a:pPr>
            <a:r>
              <a:rPr sz="1200" spc="-10" dirty="0">
                <a:latin typeface="Arial MT"/>
                <a:cs typeface="Arial MT"/>
              </a:rPr>
              <a:t>AD5</a:t>
            </a:r>
            <a:endParaRPr sz="1200">
              <a:latin typeface="Arial MT"/>
              <a:cs typeface="Arial MT"/>
            </a:endParaRPr>
          </a:p>
          <a:p>
            <a:pPr marL="25400">
              <a:lnSpc>
                <a:spcPts val="2400"/>
              </a:lnSpc>
              <a:tabLst>
                <a:tab pos="504190" algn="l"/>
              </a:tabLst>
            </a:pPr>
            <a:r>
              <a:rPr sz="1800" spc="-7" baseline="2314" dirty="0">
                <a:latin typeface="Arial MT"/>
                <a:cs typeface="Arial MT"/>
              </a:rPr>
              <a:t>AD4	</a:t>
            </a:r>
            <a:r>
              <a:rPr sz="2400" spc="-5" dirty="0">
                <a:latin typeface="Arial MT"/>
                <a:cs typeface="Arial MT"/>
              </a:rPr>
              <a:t>8</a:t>
            </a:r>
            <a:endParaRPr sz="2400">
              <a:latin typeface="Arial MT"/>
              <a:cs typeface="Arial MT"/>
            </a:endParaRPr>
          </a:p>
          <a:p>
            <a:pPr marL="25400">
              <a:lnSpc>
                <a:spcPts val="885"/>
              </a:lnSpc>
            </a:pPr>
            <a:r>
              <a:rPr sz="1200" spc="-5" dirty="0">
                <a:latin typeface="Arial MT"/>
                <a:cs typeface="Arial MT"/>
              </a:rPr>
              <a:t>AD3</a:t>
            </a:r>
            <a:endParaRPr sz="1200">
              <a:latin typeface="Arial MT"/>
              <a:cs typeface="Arial MT"/>
            </a:endParaRPr>
          </a:p>
          <a:p>
            <a:pPr marL="25400">
              <a:lnSpc>
                <a:spcPts val="2360"/>
              </a:lnSpc>
              <a:tabLst>
                <a:tab pos="504190" algn="l"/>
              </a:tabLst>
            </a:pPr>
            <a:r>
              <a:rPr sz="1200" spc="-5" dirty="0">
                <a:latin typeface="Arial MT"/>
                <a:cs typeface="Arial MT"/>
              </a:rPr>
              <a:t>AD2	</a:t>
            </a:r>
            <a:r>
              <a:rPr sz="3600" spc="-7" baseline="8101" dirty="0">
                <a:latin typeface="Arial MT"/>
                <a:cs typeface="Arial MT"/>
              </a:rPr>
              <a:t>5</a:t>
            </a:r>
            <a:endParaRPr sz="3600" baseline="8101">
              <a:latin typeface="Arial MT"/>
              <a:cs typeface="Arial MT"/>
            </a:endParaRPr>
          </a:p>
          <a:p>
            <a:pPr marL="25400" marR="382905">
              <a:lnSpc>
                <a:spcPts val="1380"/>
              </a:lnSpc>
              <a:spcBef>
                <a:spcPts val="75"/>
              </a:spcBef>
            </a:pPr>
            <a:r>
              <a:rPr sz="1200" spc="-10" dirty="0">
                <a:latin typeface="Arial MT"/>
                <a:cs typeface="Arial MT"/>
              </a:rPr>
              <a:t>AD</a:t>
            </a:r>
            <a:r>
              <a:rPr sz="1200" spc="-5" dirty="0">
                <a:latin typeface="Arial MT"/>
                <a:cs typeface="Arial MT"/>
              </a:rPr>
              <a:t>1  </a:t>
            </a:r>
            <a:r>
              <a:rPr sz="1200" spc="-10" dirty="0">
                <a:latin typeface="Arial MT"/>
                <a:cs typeface="Arial MT"/>
              </a:rPr>
              <a:t>AD</a:t>
            </a:r>
            <a:r>
              <a:rPr sz="1200" spc="-5" dirty="0">
                <a:latin typeface="Arial MT"/>
                <a:cs typeface="Arial MT"/>
              </a:rPr>
              <a:t>0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60" name="object 160"/>
          <p:cNvGrpSpPr/>
          <p:nvPr/>
        </p:nvGrpSpPr>
        <p:grpSpPr>
          <a:xfrm>
            <a:off x="3775075" y="2641603"/>
            <a:ext cx="3546475" cy="2951480"/>
            <a:chOff x="3775075" y="2641603"/>
            <a:chExt cx="3546475" cy="2951480"/>
          </a:xfrm>
        </p:grpSpPr>
        <p:sp>
          <p:nvSpPr>
            <p:cNvPr id="161" name="object 161"/>
            <p:cNvSpPr/>
            <p:nvPr/>
          </p:nvSpPr>
          <p:spPr>
            <a:xfrm>
              <a:off x="5091112" y="5554663"/>
              <a:ext cx="1778000" cy="0"/>
            </a:xfrm>
            <a:custGeom>
              <a:avLst/>
              <a:gdLst/>
              <a:ahLst/>
              <a:cxnLst/>
              <a:rect l="l" t="t" r="r" b="b"/>
              <a:pathLst>
                <a:path w="1778000">
                  <a:moveTo>
                    <a:pt x="0" y="0"/>
                  </a:moveTo>
                  <a:lnTo>
                    <a:pt x="1778000" y="0"/>
                  </a:lnTo>
                </a:path>
              </a:pathLst>
            </a:custGeom>
            <a:ln w="12700">
              <a:solidFill>
                <a:srgbClr val="33CC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6856415" y="551655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6983413" y="3360737"/>
              <a:ext cx="332105" cy="0"/>
            </a:xfrm>
            <a:custGeom>
              <a:avLst/>
              <a:gdLst/>
              <a:ahLst/>
              <a:cxnLst/>
              <a:rect l="l" t="t" r="r" b="b"/>
              <a:pathLst>
                <a:path w="332104">
                  <a:moveTo>
                    <a:pt x="0" y="0"/>
                  </a:moveTo>
                  <a:lnTo>
                    <a:pt x="33178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3965575" y="4438650"/>
              <a:ext cx="130175" cy="151130"/>
            </a:xfrm>
            <a:custGeom>
              <a:avLst/>
              <a:gdLst/>
              <a:ahLst/>
              <a:cxnLst/>
              <a:rect l="l" t="t" r="r" b="b"/>
              <a:pathLst>
                <a:path w="130175" h="151129">
                  <a:moveTo>
                    <a:pt x="0" y="0"/>
                  </a:moveTo>
                  <a:lnTo>
                    <a:pt x="0" y="150812"/>
                  </a:lnTo>
                  <a:lnTo>
                    <a:pt x="130175" y="754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3965575" y="4438650"/>
              <a:ext cx="130175" cy="151130"/>
            </a:xfrm>
            <a:custGeom>
              <a:avLst/>
              <a:gdLst/>
              <a:ahLst/>
              <a:cxnLst/>
              <a:rect l="l" t="t" r="r" b="b"/>
              <a:pathLst>
                <a:path w="130175" h="151129">
                  <a:moveTo>
                    <a:pt x="0" y="0"/>
                  </a:moveTo>
                  <a:lnTo>
                    <a:pt x="130175" y="75412"/>
                  </a:lnTo>
                  <a:lnTo>
                    <a:pt x="0" y="150812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3965575" y="4672012"/>
              <a:ext cx="130175" cy="151130"/>
            </a:xfrm>
            <a:custGeom>
              <a:avLst/>
              <a:gdLst/>
              <a:ahLst/>
              <a:cxnLst/>
              <a:rect l="l" t="t" r="r" b="b"/>
              <a:pathLst>
                <a:path w="130175" h="151129">
                  <a:moveTo>
                    <a:pt x="0" y="0"/>
                  </a:moveTo>
                  <a:lnTo>
                    <a:pt x="0" y="150812"/>
                  </a:lnTo>
                  <a:lnTo>
                    <a:pt x="130175" y="754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3965575" y="4672012"/>
              <a:ext cx="130175" cy="151130"/>
            </a:xfrm>
            <a:custGeom>
              <a:avLst/>
              <a:gdLst/>
              <a:ahLst/>
              <a:cxnLst/>
              <a:rect l="l" t="t" r="r" b="b"/>
              <a:pathLst>
                <a:path w="130175" h="151129">
                  <a:moveTo>
                    <a:pt x="0" y="0"/>
                  </a:moveTo>
                  <a:lnTo>
                    <a:pt x="130175" y="75412"/>
                  </a:lnTo>
                  <a:lnTo>
                    <a:pt x="0" y="150812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3965575" y="4879975"/>
              <a:ext cx="130175" cy="151130"/>
            </a:xfrm>
            <a:custGeom>
              <a:avLst/>
              <a:gdLst/>
              <a:ahLst/>
              <a:cxnLst/>
              <a:rect l="l" t="t" r="r" b="b"/>
              <a:pathLst>
                <a:path w="130175" h="151129">
                  <a:moveTo>
                    <a:pt x="0" y="0"/>
                  </a:moveTo>
                  <a:lnTo>
                    <a:pt x="0" y="150812"/>
                  </a:lnTo>
                  <a:lnTo>
                    <a:pt x="130175" y="754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3965575" y="4879975"/>
              <a:ext cx="130175" cy="151130"/>
            </a:xfrm>
            <a:custGeom>
              <a:avLst/>
              <a:gdLst/>
              <a:ahLst/>
              <a:cxnLst/>
              <a:rect l="l" t="t" r="r" b="b"/>
              <a:pathLst>
                <a:path w="130175" h="151129">
                  <a:moveTo>
                    <a:pt x="0" y="0"/>
                  </a:moveTo>
                  <a:lnTo>
                    <a:pt x="130175" y="75412"/>
                  </a:lnTo>
                  <a:lnTo>
                    <a:pt x="0" y="150812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3787775" y="4524375"/>
              <a:ext cx="177800" cy="0"/>
            </a:xfrm>
            <a:custGeom>
              <a:avLst/>
              <a:gdLst/>
              <a:ahLst/>
              <a:cxnLst/>
              <a:rect l="l" t="t" r="r" b="b"/>
              <a:pathLst>
                <a:path w="177800">
                  <a:moveTo>
                    <a:pt x="0" y="0"/>
                  </a:moveTo>
                  <a:lnTo>
                    <a:pt x="1778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3784600" y="4754562"/>
              <a:ext cx="177800" cy="0"/>
            </a:xfrm>
            <a:custGeom>
              <a:avLst/>
              <a:gdLst/>
              <a:ahLst/>
              <a:cxnLst/>
              <a:rect l="l" t="t" r="r" b="b"/>
              <a:pathLst>
                <a:path w="177800">
                  <a:moveTo>
                    <a:pt x="0" y="0"/>
                  </a:moveTo>
                  <a:lnTo>
                    <a:pt x="1778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3781425" y="4962525"/>
              <a:ext cx="177800" cy="0"/>
            </a:xfrm>
            <a:custGeom>
              <a:avLst/>
              <a:gdLst/>
              <a:ahLst/>
              <a:cxnLst/>
              <a:rect l="l" t="t" r="r" b="b"/>
              <a:pathLst>
                <a:path w="177800">
                  <a:moveTo>
                    <a:pt x="0" y="0"/>
                  </a:moveTo>
                  <a:lnTo>
                    <a:pt x="1778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4122737" y="4960937"/>
              <a:ext cx="177800" cy="0"/>
            </a:xfrm>
            <a:custGeom>
              <a:avLst/>
              <a:gdLst/>
              <a:ahLst/>
              <a:cxnLst/>
              <a:rect l="l" t="t" r="r" b="b"/>
              <a:pathLst>
                <a:path w="177800">
                  <a:moveTo>
                    <a:pt x="0" y="0"/>
                  </a:moveTo>
                  <a:lnTo>
                    <a:pt x="1778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4"/>
            <p:cNvSpPr/>
            <p:nvPr/>
          </p:nvSpPr>
          <p:spPr>
            <a:xfrm>
              <a:off x="4108450" y="4745037"/>
              <a:ext cx="177800" cy="0"/>
            </a:xfrm>
            <a:custGeom>
              <a:avLst/>
              <a:gdLst/>
              <a:ahLst/>
              <a:cxnLst/>
              <a:rect l="l" t="t" r="r" b="b"/>
              <a:pathLst>
                <a:path w="177800">
                  <a:moveTo>
                    <a:pt x="0" y="0"/>
                  </a:moveTo>
                  <a:lnTo>
                    <a:pt x="1778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4116387" y="4530725"/>
              <a:ext cx="177800" cy="0"/>
            </a:xfrm>
            <a:custGeom>
              <a:avLst/>
              <a:gdLst/>
              <a:ahLst/>
              <a:cxnLst/>
              <a:rect l="l" t="t" r="r" b="b"/>
              <a:pathLst>
                <a:path w="177800">
                  <a:moveTo>
                    <a:pt x="0" y="0"/>
                  </a:moveTo>
                  <a:lnTo>
                    <a:pt x="1778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6221413" y="3113088"/>
              <a:ext cx="20955" cy="20955"/>
            </a:xfrm>
            <a:custGeom>
              <a:avLst/>
              <a:gdLst/>
              <a:ahLst/>
              <a:cxnLst/>
              <a:rect l="l" t="t" r="r" b="b"/>
              <a:pathLst>
                <a:path w="20954" h="20955">
                  <a:moveTo>
                    <a:pt x="0" y="0"/>
                  </a:moveTo>
                  <a:lnTo>
                    <a:pt x="20637" y="20637"/>
                  </a:lnTo>
                </a:path>
              </a:pathLst>
            </a:custGeom>
            <a:ln w="12700">
              <a:solidFill>
                <a:srgbClr val="33CC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6194425" y="3132932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47625" y="0"/>
                  </a:moveTo>
                  <a:lnTo>
                    <a:pt x="0" y="47625"/>
                  </a:lnTo>
                </a:path>
              </a:pathLst>
            </a:custGeom>
            <a:ln w="12700">
              <a:solidFill>
                <a:srgbClr val="33CC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6194822" y="3178571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47625" y="47625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33CC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6195616" y="3225801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47625" y="0"/>
                  </a:moveTo>
                  <a:lnTo>
                    <a:pt x="0" y="47625"/>
                  </a:lnTo>
                </a:path>
              </a:pathLst>
            </a:custGeom>
            <a:ln w="12700">
              <a:solidFill>
                <a:srgbClr val="33CC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6194822" y="3271441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47625" y="47625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33CC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1"/>
            <p:cNvSpPr/>
            <p:nvPr/>
          </p:nvSpPr>
          <p:spPr>
            <a:xfrm>
              <a:off x="6223000" y="3321051"/>
              <a:ext cx="20955" cy="20955"/>
            </a:xfrm>
            <a:custGeom>
              <a:avLst/>
              <a:gdLst/>
              <a:ahLst/>
              <a:cxnLst/>
              <a:rect l="l" t="t" r="r" b="b"/>
              <a:pathLst>
                <a:path w="20954" h="20954">
                  <a:moveTo>
                    <a:pt x="0" y="20637"/>
                  </a:moveTo>
                  <a:lnTo>
                    <a:pt x="20637" y="0"/>
                  </a:lnTo>
                </a:path>
              </a:pathLst>
            </a:custGeom>
            <a:ln w="12700">
              <a:solidFill>
                <a:srgbClr val="33CC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182"/>
            <p:cNvSpPr/>
            <p:nvPr/>
          </p:nvSpPr>
          <p:spPr>
            <a:xfrm>
              <a:off x="6069013" y="3113088"/>
              <a:ext cx="20955" cy="20955"/>
            </a:xfrm>
            <a:custGeom>
              <a:avLst/>
              <a:gdLst/>
              <a:ahLst/>
              <a:cxnLst/>
              <a:rect l="l" t="t" r="r" b="b"/>
              <a:pathLst>
                <a:path w="20954" h="20955">
                  <a:moveTo>
                    <a:pt x="0" y="0"/>
                  </a:moveTo>
                  <a:lnTo>
                    <a:pt x="20637" y="20637"/>
                  </a:lnTo>
                </a:path>
              </a:pathLst>
            </a:custGeom>
            <a:ln w="12700">
              <a:solidFill>
                <a:srgbClr val="33CC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6042025" y="3132932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47625" y="0"/>
                  </a:moveTo>
                  <a:lnTo>
                    <a:pt x="0" y="47625"/>
                  </a:lnTo>
                </a:path>
              </a:pathLst>
            </a:custGeom>
            <a:ln w="12700">
              <a:solidFill>
                <a:srgbClr val="33CC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184"/>
            <p:cNvSpPr/>
            <p:nvPr/>
          </p:nvSpPr>
          <p:spPr>
            <a:xfrm>
              <a:off x="6042422" y="3178571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47625" y="47625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33CC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" name="object 185"/>
            <p:cNvSpPr/>
            <p:nvPr/>
          </p:nvSpPr>
          <p:spPr>
            <a:xfrm>
              <a:off x="6043216" y="3225801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47625" y="0"/>
                  </a:moveTo>
                  <a:lnTo>
                    <a:pt x="0" y="47625"/>
                  </a:lnTo>
                </a:path>
              </a:pathLst>
            </a:custGeom>
            <a:ln w="12700">
              <a:solidFill>
                <a:srgbClr val="33CC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186"/>
            <p:cNvSpPr/>
            <p:nvPr/>
          </p:nvSpPr>
          <p:spPr>
            <a:xfrm>
              <a:off x="6042422" y="3271441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47625" y="47625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33CC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187"/>
            <p:cNvSpPr/>
            <p:nvPr/>
          </p:nvSpPr>
          <p:spPr>
            <a:xfrm>
              <a:off x="6070600" y="3321051"/>
              <a:ext cx="20955" cy="20955"/>
            </a:xfrm>
            <a:custGeom>
              <a:avLst/>
              <a:gdLst/>
              <a:ahLst/>
              <a:cxnLst/>
              <a:rect l="l" t="t" r="r" b="b"/>
              <a:pathLst>
                <a:path w="20954" h="20954">
                  <a:moveTo>
                    <a:pt x="0" y="20637"/>
                  </a:moveTo>
                  <a:lnTo>
                    <a:pt x="20637" y="0"/>
                  </a:lnTo>
                </a:path>
              </a:pathLst>
            </a:custGeom>
            <a:ln w="12700">
              <a:solidFill>
                <a:srgbClr val="33CC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" name="object 188"/>
            <p:cNvSpPr/>
            <p:nvPr/>
          </p:nvSpPr>
          <p:spPr>
            <a:xfrm>
              <a:off x="5922963" y="3113088"/>
              <a:ext cx="20955" cy="20955"/>
            </a:xfrm>
            <a:custGeom>
              <a:avLst/>
              <a:gdLst/>
              <a:ahLst/>
              <a:cxnLst/>
              <a:rect l="l" t="t" r="r" b="b"/>
              <a:pathLst>
                <a:path w="20954" h="20955">
                  <a:moveTo>
                    <a:pt x="0" y="0"/>
                  </a:moveTo>
                  <a:lnTo>
                    <a:pt x="20637" y="20637"/>
                  </a:lnTo>
                </a:path>
              </a:pathLst>
            </a:custGeom>
            <a:ln w="12700">
              <a:solidFill>
                <a:srgbClr val="33CC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189"/>
            <p:cNvSpPr/>
            <p:nvPr/>
          </p:nvSpPr>
          <p:spPr>
            <a:xfrm>
              <a:off x="5895975" y="3132932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47625" y="0"/>
                  </a:moveTo>
                  <a:lnTo>
                    <a:pt x="0" y="47625"/>
                  </a:lnTo>
                </a:path>
              </a:pathLst>
            </a:custGeom>
            <a:ln w="12700">
              <a:solidFill>
                <a:srgbClr val="33CC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190"/>
            <p:cNvSpPr/>
            <p:nvPr/>
          </p:nvSpPr>
          <p:spPr>
            <a:xfrm>
              <a:off x="5896372" y="3178571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47625" y="47625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33CC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" name="object 191"/>
            <p:cNvSpPr/>
            <p:nvPr/>
          </p:nvSpPr>
          <p:spPr>
            <a:xfrm>
              <a:off x="5897166" y="3225801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47625" y="0"/>
                  </a:moveTo>
                  <a:lnTo>
                    <a:pt x="0" y="47625"/>
                  </a:lnTo>
                </a:path>
              </a:pathLst>
            </a:custGeom>
            <a:ln w="12700">
              <a:solidFill>
                <a:srgbClr val="33CC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" name="object 192"/>
            <p:cNvSpPr/>
            <p:nvPr/>
          </p:nvSpPr>
          <p:spPr>
            <a:xfrm>
              <a:off x="5896372" y="3271441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47625" y="47625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33CC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93"/>
            <p:cNvSpPr/>
            <p:nvPr/>
          </p:nvSpPr>
          <p:spPr>
            <a:xfrm>
              <a:off x="5924550" y="3321051"/>
              <a:ext cx="20955" cy="20955"/>
            </a:xfrm>
            <a:custGeom>
              <a:avLst/>
              <a:gdLst/>
              <a:ahLst/>
              <a:cxnLst/>
              <a:rect l="l" t="t" r="r" b="b"/>
              <a:pathLst>
                <a:path w="20954" h="20954">
                  <a:moveTo>
                    <a:pt x="0" y="20637"/>
                  </a:moveTo>
                  <a:lnTo>
                    <a:pt x="20637" y="0"/>
                  </a:lnTo>
                </a:path>
              </a:pathLst>
            </a:custGeom>
            <a:ln w="12700">
              <a:solidFill>
                <a:srgbClr val="33CC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" name="object 194"/>
            <p:cNvSpPr/>
            <p:nvPr/>
          </p:nvSpPr>
          <p:spPr>
            <a:xfrm>
              <a:off x="5770563" y="3113088"/>
              <a:ext cx="20955" cy="20955"/>
            </a:xfrm>
            <a:custGeom>
              <a:avLst/>
              <a:gdLst/>
              <a:ahLst/>
              <a:cxnLst/>
              <a:rect l="l" t="t" r="r" b="b"/>
              <a:pathLst>
                <a:path w="20954" h="20955">
                  <a:moveTo>
                    <a:pt x="0" y="0"/>
                  </a:moveTo>
                  <a:lnTo>
                    <a:pt x="20637" y="20637"/>
                  </a:lnTo>
                </a:path>
              </a:pathLst>
            </a:custGeom>
            <a:ln w="12700">
              <a:solidFill>
                <a:srgbClr val="33CC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" name="object 195"/>
            <p:cNvSpPr/>
            <p:nvPr/>
          </p:nvSpPr>
          <p:spPr>
            <a:xfrm>
              <a:off x="5743575" y="3132932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47625" y="0"/>
                  </a:moveTo>
                  <a:lnTo>
                    <a:pt x="0" y="47625"/>
                  </a:lnTo>
                </a:path>
              </a:pathLst>
            </a:custGeom>
            <a:ln w="12700">
              <a:solidFill>
                <a:srgbClr val="33CC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" name="object 196"/>
            <p:cNvSpPr/>
            <p:nvPr/>
          </p:nvSpPr>
          <p:spPr>
            <a:xfrm>
              <a:off x="5743972" y="3178571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47625" y="47625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33CC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197"/>
            <p:cNvSpPr/>
            <p:nvPr/>
          </p:nvSpPr>
          <p:spPr>
            <a:xfrm>
              <a:off x="5744766" y="3225801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47625" y="0"/>
                  </a:moveTo>
                  <a:lnTo>
                    <a:pt x="0" y="47625"/>
                  </a:lnTo>
                </a:path>
              </a:pathLst>
            </a:custGeom>
            <a:ln w="12700">
              <a:solidFill>
                <a:srgbClr val="33CC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" name="object 198"/>
            <p:cNvSpPr/>
            <p:nvPr/>
          </p:nvSpPr>
          <p:spPr>
            <a:xfrm>
              <a:off x="5743972" y="3271441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47625" y="47625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33CC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" name="object 199"/>
            <p:cNvSpPr/>
            <p:nvPr/>
          </p:nvSpPr>
          <p:spPr>
            <a:xfrm>
              <a:off x="5772150" y="3321051"/>
              <a:ext cx="20955" cy="20955"/>
            </a:xfrm>
            <a:custGeom>
              <a:avLst/>
              <a:gdLst/>
              <a:ahLst/>
              <a:cxnLst/>
              <a:rect l="l" t="t" r="r" b="b"/>
              <a:pathLst>
                <a:path w="20954" h="20954">
                  <a:moveTo>
                    <a:pt x="0" y="20637"/>
                  </a:moveTo>
                  <a:lnTo>
                    <a:pt x="20637" y="0"/>
                  </a:lnTo>
                </a:path>
              </a:pathLst>
            </a:custGeom>
            <a:ln w="12700">
              <a:solidFill>
                <a:srgbClr val="33CC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" name="object 200"/>
            <p:cNvSpPr/>
            <p:nvPr/>
          </p:nvSpPr>
          <p:spPr>
            <a:xfrm>
              <a:off x="5614988" y="3113088"/>
              <a:ext cx="20955" cy="20955"/>
            </a:xfrm>
            <a:custGeom>
              <a:avLst/>
              <a:gdLst/>
              <a:ahLst/>
              <a:cxnLst/>
              <a:rect l="l" t="t" r="r" b="b"/>
              <a:pathLst>
                <a:path w="20954" h="20955">
                  <a:moveTo>
                    <a:pt x="0" y="0"/>
                  </a:moveTo>
                  <a:lnTo>
                    <a:pt x="20637" y="20637"/>
                  </a:lnTo>
                </a:path>
              </a:pathLst>
            </a:custGeom>
            <a:ln w="12700">
              <a:solidFill>
                <a:srgbClr val="33CC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" name="object 201"/>
            <p:cNvSpPr/>
            <p:nvPr/>
          </p:nvSpPr>
          <p:spPr>
            <a:xfrm>
              <a:off x="5588000" y="3132932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47625" y="0"/>
                  </a:moveTo>
                  <a:lnTo>
                    <a:pt x="0" y="47625"/>
                  </a:lnTo>
                </a:path>
              </a:pathLst>
            </a:custGeom>
            <a:ln w="12700">
              <a:solidFill>
                <a:srgbClr val="33CC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" name="object 202"/>
            <p:cNvSpPr/>
            <p:nvPr/>
          </p:nvSpPr>
          <p:spPr>
            <a:xfrm>
              <a:off x="5588397" y="3178571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47625" y="47625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33CC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" name="object 203"/>
            <p:cNvSpPr/>
            <p:nvPr/>
          </p:nvSpPr>
          <p:spPr>
            <a:xfrm>
              <a:off x="5589191" y="3225801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47625" y="0"/>
                  </a:moveTo>
                  <a:lnTo>
                    <a:pt x="0" y="47625"/>
                  </a:lnTo>
                </a:path>
              </a:pathLst>
            </a:custGeom>
            <a:ln w="12700">
              <a:solidFill>
                <a:srgbClr val="33CC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" name="object 204"/>
            <p:cNvSpPr/>
            <p:nvPr/>
          </p:nvSpPr>
          <p:spPr>
            <a:xfrm>
              <a:off x="5588397" y="3271441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47625" y="47625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33CC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" name="object 205"/>
            <p:cNvSpPr/>
            <p:nvPr/>
          </p:nvSpPr>
          <p:spPr>
            <a:xfrm>
              <a:off x="5616575" y="3321051"/>
              <a:ext cx="20955" cy="20955"/>
            </a:xfrm>
            <a:custGeom>
              <a:avLst/>
              <a:gdLst/>
              <a:ahLst/>
              <a:cxnLst/>
              <a:rect l="l" t="t" r="r" b="b"/>
              <a:pathLst>
                <a:path w="20954" h="20954">
                  <a:moveTo>
                    <a:pt x="0" y="20637"/>
                  </a:moveTo>
                  <a:lnTo>
                    <a:pt x="20637" y="0"/>
                  </a:lnTo>
                </a:path>
              </a:pathLst>
            </a:custGeom>
            <a:ln w="12700">
              <a:solidFill>
                <a:srgbClr val="33CC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" name="object 206"/>
            <p:cNvSpPr/>
            <p:nvPr/>
          </p:nvSpPr>
          <p:spPr>
            <a:xfrm>
              <a:off x="6219825" y="3343275"/>
              <a:ext cx="0" cy="781050"/>
            </a:xfrm>
            <a:custGeom>
              <a:avLst/>
              <a:gdLst/>
              <a:ahLst/>
              <a:cxnLst/>
              <a:rect l="l" t="t" r="r" b="b"/>
              <a:pathLst>
                <a:path h="781050">
                  <a:moveTo>
                    <a:pt x="0" y="0"/>
                  </a:moveTo>
                  <a:lnTo>
                    <a:pt x="0" y="781050"/>
                  </a:lnTo>
                </a:path>
              </a:pathLst>
            </a:custGeom>
            <a:ln w="12700">
              <a:solidFill>
                <a:srgbClr val="33CC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" name="object 207"/>
            <p:cNvSpPr/>
            <p:nvPr/>
          </p:nvSpPr>
          <p:spPr>
            <a:xfrm>
              <a:off x="6067425" y="3343275"/>
              <a:ext cx="0" cy="971550"/>
            </a:xfrm>
            <a:custGeom>
              <a:avLst/>
              <a:gdLst/>
              <a:ahLst/>
              <a:cxnLst/>
              <a:rect l="l" t="t" r="r" b="b"/>
              <a:pathLst>
                <a:path h="971550">
                  <a:moveTo>
                    <a:pt x="0" y="0"/>
                  </a:moveTo>
                  <a:lnTo>
                    <a:pt x="0" y="971550"/>
                  </a:lnTo>
                </a:path>
              </a:pathLst>
            </a:custGeom>
            <a:ln w="12700">
              <a:solidFill>
                <a:srgbClr val="33CC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" name="object 208"/>
            <p:cNvSpPr/>
            <p:nvPr/>
          </p:nvSpPr>
          <p:spPr>
            <a:xfrm>
              <a:off x="5915025" y="3343275"/>
              <a:ext cx="0" cy="1819275"/>
            </a:xfrm>
            <a:custGeom>
              <a:avLst/>
              <a:gdLst/>
              <a:ahLst/>
              <a:cxnLst/>
              <a:rect l="l" t="t" r="r" b="b"/>
              <a:pathLst>
                <a:path h="1819275">
                  <a:moveTo>
                    <a:pt x="0" y="0"/>
                  </a:moveTo>
                  <a:lnTo>
                    <a:pt x="0" y="1819275"/>
                  </a:lnTo>
                </a:path>
              </a:pathLst>
            </a:custGeom>
            <a:ln w="12700">
              <a:solidFill>
                <a:srgbClr val="33CC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" name="object 209"/>
            <p:cNvSpPr/>
            <p:nvPr/>
          </p:nvSpPr>
          <p:spPr>
            <a:xfrm>
              <a:off x="5762625" y="3343275"/>
              <a:ext cx="0" cy="2047875"/>
            </a:xfrm>
            <a:custGeom>
              <a:avLst/>
              <a:gdLst/>
              <a:ahLst/>
              <a:cxnLst/>
              <a:rect l="l" t="t" r="r" b="b"/>
              <a:pathLst>
                <a:path h="2047875">
                  <a:moveTo>
                    <a:pt x="0" y="0"/>
                  </a:moveTo>
                  <a:lnTo>
                    <a:pt x="0" y="2047875"/>
                  </a:lnTo>
                </a:path>
              </a:pathLst>
            </a:custGeom>
            <a:ln w="12700">
              <a:solidFill>
                <a:srgbClr val="33CC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" name="object 210"/>
            <p:cNvSpPr/>
            <p:nvPr/>
          </p:nvSpPr>
          <p:spPr>
            <a:xfrm>
              <a:off x="5610225" y="3343275"/>
              <a:ext cx="0" cy="2209800"/>
            </a:xfrm>
            <a:custGeom>
              <a:avLst/>
              <a:gdLst/>
              <a:ahLst/>
              <a:cxnLst/>
              <a:rect l="l" t="t" r="r" b="b"/>
              <a:pathLst>
                <a:path h="2209800">
                  <a:moveTo>
                    <a:pt x="0" y="0"/>
                  </a:moveTo>
                  <a:lnTo>
                    <a:pt x="0" y="2209800"/>
                  </a:lnTo>
                </a:path>
              </a:pathLst>
            </a:custGeom>
            <a:ln w="12700">
              <a:solidFill>
                <a:srgbClr val="33CC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" name="object 211"/>
            <p:cNvSpPr/>
            <p:nvPr/>
          </p:nvSpPr>
          <p:spPr>
            <a:xfrm>
              <a:off x="5613400" y="2851150"/>
              <a:ext cx="0" cy="260350"/>
            </a:xfrm>
            <a:custGeom>
              <a:avLst/>
              <a:gdLst/>
              <a:ahLst/>
              <a:cxnLst/>
              <a:rect l="l" t="t" r="r" b="b"/>
              <a:pathLst>
                <a:path h="260350">
                  <a:moveTo>
                    <a:pt x="0" y="26035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33CC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" name="object 212"/>
            <p:cNvSpPr/>
            <p:nvPr/>
          </p:nvSpPr>
          <p:spPr>
            <a:xfrm>
              <a:off x="5765800" y="2851150"/>
              <a:ext cx="0" cy="260350"/>
            </a:xfrm>
            <a:custGeom>
              <a:avLst/>
              <a:gdLst/>
              <a:ahLst/>
              <a:cxnLst/>
              <a:rect l="l" t="t" r="r" b="b"/>
              <a:pathLst>
                <a:path h="260350">
                  <a:moveTo>
                    <a:pt x="0" y="26035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33CC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" name="object 213"/>
            <p:cNvSpPr/>
            <p:nvPr/>
          </p:nvSpPr>
          <p:spPr>
            <a:xfrm>
              <a:off x="5924550" y="2851150"/>
              <a:ext cx="0" cy="260350"/>
            </a:xfrm>
            <a:custGeom>
              <a:avLst/>
              <a:gdLst/>
              <a:ahLst/>
              <a:cxnLst/>
              <a:rect l="l" t="t" r="r" b="b"/>
              <a:pathLst>
                <a:path h="260350">
                  <a:moveTo>
                    <a:pt x="0" y="26035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33CC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" name="object 214"/>
            <p:cNvSpPr/>
            <p:nvPr/>
          </p:nvSpPr>
          <p:spPr>
            <a:xfrm>
              <a:off x="6070600" y="2851150"/>
              <a:ext cx="0" cy="260350"/>
            </a:xfrm>
            <a:custGeom>
              <a:avLst/>
              <a:gdLst/>
              <a:ahLst/>
              <a:cxnLst/>
              <a:rect l="l" t="t" r="r" b="b"/>
              <a:pathLst>
                <a:path h="260350">
                  <a:moveTo>
                    <a:pt x="0" y="26035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33CC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" name="object 215"/>
            <p:cNvSpPr/>
            <p:nvPr/>
          </p:nvSpPr>
          <p:spPr>
            <a:xfrm>
              <a:off x="6223000" y="2851150"/>
              <a:ext cx="0" cy="260350"/>
            </a:xfrm>
            <a:custGeom>
              <a:avLst/>
              <a:gdLst/>
              <a:ahLst/>
              <a:cxnLst/>
              <a:rect l="l" t="t" r="r" b="b"/>
              <a:pathLst>
                <a:path h="260350">
                  <a:moveTo>
                    <a:pt x="0" y="26035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33CC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" name="object 216"/>
            <p:cNvSpPr/>
            <p:nvPr/>
          </p:nvSpPr>
          <p:spPr>
            <a:xfrm>
              <a:off x="5613400" y="2857500"/>
              <a:ext cx="609600" cy="0"/>
            </a:xfrm>
            <a:custGeom>
              <a:avLst/>
              <a:gdLst/>
              <a:ahLst/>
              <a:cxnLst/>
              <a:rect l="l" t="t" r="r" b="b"/>
              <a:pathLst>
                <a:path w="609600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ln w="12700">
              <a:solidFill>
                <a:srgbClr val="33CC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" name="object 217"/>
            <p:cNvSpPr/>
            <p:nvPr/>
          </p:nvSpPr>
          <p:spPr>
            <a:xfrm>
              <a:off x="5924550" y="2705100"/>
              <a:ext cx="0" cy="152400"/>
            </a:xfrm>
            <a:custGeom>
              <a:avLst/>
              <a:gdLst/>
              <a:ahLst/>
              <a:cxnLst/>
              <a:rect l="l" t="t" r="r" b="b"/>
              <a:pathLst>
                <a:path h="152400">
                  <a:moveTo>
                    <a:pt x="0" y="1524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33CC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" name="object 218"/>
            <p:cNvSpPr/>
            <p:nvPr/>
          </p:nvSpPr>
          <p:spPr>
            <a:xfrm>
              <a:off x="5886456" y="264160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087" y="0"/>
                  </a:moveTo>
                  <a:lnTo>
                    <a:pt x="0" y="76200"/>
                  </a:lnTo>
                  <a:lnTo>
                    <a:pt x="76200" y="76187"/>
                  </a:lnTo>
                  <a:lnTo>
                    <a:pt x="38087" y="0"/>
                  </a:ln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9" name="object 219"/>
          <p:cNvSpPr txBox="1"/>
          <p:nvPr/>
        </p:nvSpPr>
        <p:spPr>
          <a:xfrm>
            <a:off x="2750502" y="1376552"/>
            <a:ext cx="238760" cy="16446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25400" marR="30480" algn="just">
              <a:lnSpc>
                <a:spcPct val="111100"/>
              </a:lnSpc>
              <a:spcBef>
                <a:spcPts val="50"/>
              </a:spcBef>
            </a:pPr>
            <a:r>
              <a:rPr sz="1200" dirty="0">
                <a:latin typeface="Arial MT"/>
                <a:cs typeface="Arial MT"/>
              </a:rPr>
              <a:t>O</a:t>
            </a:r>
            <a:r>
              <a:rPr sz="1200" spc="-7" baseline="-20833" dirty="0">
                <a:latin typeface="Arial MT"/>
                <a:cs typeface="Arial MT"/>
              </a:rPr>
              <a:t>7  </a:t>
            </a:r>
            <a:r>
              <a:rPr sz="1200" dirty="0">
                <a:latin typeface="Arial MT"/>
                <a:cs typeface="Arial MT"/>
              </a:rPr>
              <a:t>O</a:t>
            </a:r>
            <a:r>
              <a:rPr sz="1200" spc="-7" baseline="-20833" dirty="0">
                <a:latin typeface="Arial MT"/>
                <a:cs typeface="Arial MT"/>
              </a:rPr>
              <a:t>6  </a:t>
            </a:r>
            <a:r>
              <a:rPr sz="1200" dirty="0">
                <a:latin typeface="Arial MT"/>
                <a:cs typeface="Arial MT"/>
              </a:rPr>
              <a:t>O</a:t>
            </a:r>
            <a:r>
              <a:rPr sz="1200" spc="-7" baseline="-20833" dirty="0">
                <a:latin typeface="Arial MT"/>
                <a:cs typeface="Arial MT"/>
              </a:rPr>
              <a:t>5  </a:t>
            </a:r>
            <a:r>
              <a:rPr sz="1200" dirty="0">
                <a:latin typeface="Arial MT"/>
                <a:cs typeface="Arial MT"/>
              </a:rPr>
              <a:t>O</a:t>
            </a:r>
            <a:r>
              <a:rPr sz="1200" spc="-7" baseline="-20833" dirty="0">
                <a:latin typeface="Arial MT"/>
                <a:cs typeface="Arial MT"/>
              </a:rPr>
              <a:t>4  </a:t>
            </a:r>
            <a:r>
              <a:rPr sz="1200" dirty="0">
                <a:latin typeface="Arial MT"/>
                <a:cs typeface="Arial MT"/>
              </a:rPr>
              <a:t>O</a:t>
            </a:r>
            <a:r>
              <a:rPr sz="1200" spc="-7" baseline="-20833" dirty="0">
                <a:latin typeface="Arial MT"/>
                <a:cs typeface="Arial MT"/>
              </a:rPr>
              <a:t>3  </a:t>
            </a:r>
            <a:r>
              <a:rPr sz="1200" dirty="0">
                <a:latin typeface="Arial MT"/>
                <a:cs typeface="Arial MT"/>
              </a:rPr>
              <a:t>O</a:t>
            </a:r>
            <a:r>
              <a:rPr sz="1200" spc="-7" baseline="-20833" dirty="0">
                <a:latin typeface="Arial MT"/>
                <a:cs typeface="Arial MT"/>
              </a:rPr>
              <a:t>2  </a:t>
            </a:r>
            <a:r>
              <a:rPr sz="1200" dirty="0">
                <a:latin typeface="Arial MT"/>
                <a:cs typeface="Arial MT"/>
              </a:rPr>
              <a:t>O</a:t>
            </a:r>
            <a:r>
              <a:rPr sz="1200" spc="-7" baseline="-20833" dirty="0">
                <a:latin typeface="Arial MT"/>
                <a:cs typeface="Arial MT"/>
              </a:rPr>
              <a:t>1  </a:t>
            </a:r>
            <a:r>
              <a:rPr sz="1200" dirty="0">
                <a:latin typeface="Arial MT"/>
                <a:cs typeface="Arial MT"/>
              </a:rPr>
              <a:t>O</a:t>
            </a:r>
            <a:r>
              <a:rPr sz="1200" spc="-7" baseline="-20833" dirty="0">
                <a:latin typeface="Arial MT"/>
                <a:cs typeface="Arial MT"/>
              </a:rPr>
              <a:t>0</a:t>
            </a:r>
            <a:endParaRPr sz="1200" baseline="-20833">
              <a:latin typeface="Arial MT"/>
              <a:cs typeface="Arial MT"/>
            </a:endParaRPr>
          </a:p>
        </p:txBody>
      </p:sp>
      <p:sp>
        <p:nvSpPr>
          <p:cNvPr id="220" name="object 220"/>
          <p:cNvSpPr txBox="1"/>
          <p:nvPr/>
        </p:nvSpPr>
        <p:spPr>
          <a:xfrm>
            <a:off x="2734627" y="3954335"/>
            <a:ext cx="485775" cy="16376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1095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I</a:t>
            </a:r>
            <a:r>
              <a:rPr sz="1200" spc="-7" baseline="-20833" dirty="0">
                <a:latin typeface="Arial MT"/>
                <a:cs typeface="Arial MT"/>
              </a:rPr>
              <a:t>7</a:t>
            </a:r>
            <a:endParaRPr sz="1200" baseline="-20833">
              <a:latin typeface="Arial MT"/>
              <a:cs typeface="Arial MT"/>
            </a:endParaRPr>
          </a:p>
          <a:p>
            <a:pPr marL="38100">
              <a:lnSpc>
                <a:spcPts val="1630"/>
              </a:lnSpc>
              <a:tabLst>
                <a:tab pos="305435" algn="l"/>
              </a:tabLst>
            </a:pPr>
            <a:r>
              <a:rPr sz="1200" spc="-5" dirty="0">
                <a:latin typeface="Arial MT"/>
                <a:cs typeface="Arial MT"/>
              </a:rPr>
              <a:t>I</a:t>
            </a:r>
            <a:r>
              <a:rPr sz="1200" spc="-7" baseline="-20833" dirty="0">
                <a:latin typeface="Arial MT"/>
                <a:cs typeface="Arial MT"/>
              </a:rPr>
              <a:t>6	</a:t>
            </a:r>
            <a:r>
              <a:rPr sz="3000" spc="-7" baseline="1388" dirty="0">
                <a:latin typeface="Arial MT"/>
                <a:cs typeface="Arial MT"/>
              </a:rPr>
              <a:t>7</a:t>
            </a:r>
            <a:endParaRPr sz="3000" baseline="1388">
              <a:latin typeface="Arial MT"/>
              <a:cs typeface="Arial MT"/>
            </a:endParaRPr>
          </a:p>
          <a:p>
            <a:pPr marL="38100">
              <a:lnSpc>
                <a:spcPts val="1950"/>
              </a:lnSpc>
              <a:tabLst>
                <a:tab pos="305435" algn="l"/>
              </a:tabLst>
            </a:pPr>
            <a:r>
              <a:rPr sz="1200" spc="-5" dirty="0">
                <a:latin typeface="Arial MT"/>
                <a:cs typeface="Arial MT"/>
              </a:rPr>
              <a:t>I</a:t>
            </a:r>
            <a:r>
              <a:rPr sz="1200" spc="-7" baseline="-20833" dirty="0">
                <a:latin typeface="Arial MT"/>
                <a:cs typeface="Arial MT"/>
              </a:rPr>
              <a:t>5	</a:t>
            </a:r>
            <a:r>
              <a:rPr sz="3000" spc="-7" baseline="-22222" dirty="0">
                <a:latin typeface="Arial MT"/>
                <a:cs typeface="Arial MT"/>
              </a:rPr>
              <a:t>4</a:t>
            </a:r>
            <a:endParaRPr sz="3000" baseline="-22222">
              <a:latin typeface="Arial MT"/>
              <a:cs typeface="Arial MT"/>
            </a:endParaRPr>
          </a:p>
          <a:p>
            <a:pPr marL="38100">
              <a:lnSpc>
                <a:spcPts val="1115"/>
              </a:lnSpc>
            </a:pPr>
            <a:r>
              <a:rPr sz="1200" spc="-5" dirty="0">
                <a:latin typeface="Arial MT"/>
                <a:cs typeface="Arial MT"/>
              </a:rPr>
              <a:t>I</a:t>
            </a:r>
            <a:r>
              <a:rPr sz="1200" spc="-7" baseline="-20833" dirty="0">
                <a:latin typeface="Arial MT"/>
                <a:cs typeface="Arial MT"/>
              </a:rPr>
              <a:t>4</a:t>
            </a:r>
            <a:endParaRPr sz="1200" baseline="-20833">
              <a:latin typeface="Arial MT"/>
              <a:cs typeface="Arial MT"/>
            </a:endParaRPr>
          </a:p>
          <a:p>
            <a:pPr marL="38100">
              <a:lnSpc>
                <a:spcPts val="1720"/>
              </a:lnSpc>
              <a:tabLst>
                <a:tab pos="305435" algn="l"/>
              </a:tabLst>
            </a:pPr>
            <a:r>
              <a:rPr sz="1200" spc="-5" dirty="0">
                <a:latin typeface="Arial MT"/>
                <a:cs typeface="Arial MT"/>
              </a:rPr>
              <a:t>I</a:t>
            </a:r>
            <a:r>
              <a:rPr sz="1200" spc="-7" baseline="-20833" dirty="0">
                <a:latin typeface="Arial MT"/>
                <a:cs typeface="Arial MT"/>
              </a:rPr>
              <a:t>3	</a:t>
            </a:r>
            <a:r>
              <a:rPr sz="2000" spc="-5" dirty="0">
                <a:latin typeface="Arial MT"/>
                <a:cs typeface="Arial MT"/>
              </a:rPr>
              <a:t>3</a:t>
            </a:r>
            <a:endParaRPr sz="2000">
              <a:latin typeface="Arial MT"/>
              <a:cs typeface="Arial MT"/>
            </a:endParaRPr>
          </a:p>
          <a:p>
            <a:pPr marL="38100">
              <a:lnSpc>
                <a:spcPts val="2014"/>
              </a:lnSpc>
              <a:tabLst>
                <a:tab pos="305435" algn="l"/>
              </a:tabLst>
            </a:pPr>
            <a:r>
              <a:rPr sz="1200" spc="-5" dirty="0">
                <a:latin typeface="Arial MT"/>
                <a:cs typeface="Arial MT"/>
              </a:rPr>
              <a:t>I</a:t>
            </a:r>
            <a:r>
              <a:rPr sz="1200" spc="-7" baseline="-20833" dirty="0">
                <a:latin typeface="Arial MT"/>
                <a:cs typeface="Arial MT"/>
              </a:rPr>
              <a:t>2	</a:t>
            </a:r>
            <a:r>
              <a:rPr sz="3000" spc="-7" baseline="-20833" dirty="0">
                <a:latin typeface="Arial MT"/>
                <a:cs typeface="Arial MT"/>
              </a:rPr>
              <a:t>6</a:t>
            </a:r>
            <a:endParaRPr sz="3000" baseline="-20833">
              <a:latin typeface="Arial MT"/>
              <a:cs typeface="Arial MT"/>
            </a:endParaRPr>
          </a:p>
          <a:p>
            <a:pPr marL="38100">
              <a:lnSpc>
                <a:spcPts val="1085"/>
              </a:lnSpc>
              <a:spcBef>
                <a:spcPts val="35"/>
              </a:spcBef>
            </a:pPr>
            <a:r>
              <a:rPr sz="1200" spc="-5" dirty="0">
                <a:latin typeface="Arial MT"/>
                <a:cs typeface="Arial MT"/>
              </a:rPr>
              <a:t>I</a:t>
            </a:r>
            <a:r>
              <a:rPr sz="1200" spc="-7" baseline="-20833" dirty="0">
                <a:latin typeface="Arial MT"/>
                <a:cs typeface="Arial MT"/>
              </a:rPr>
              <a:t>1</a:t>
            </a:r>
            <a:endParaRPr sz="1200" baseline="-20833">
              <a:latin typeface="Arial MT"/>
              <a:cs typeface="Arial MT"/>
            </a:endParaRPr>
          </a:p>
          <a:p>
            <a:pPr marL="38100">
              <a:lnSpc>
                <a:spcPts val="2045"/>
              </a:lnSpc>
              <a:tabLst>
                <a:tab pos="305435" algn="l"/>
              </a:tabLst>
            </a:pPr>
            <a:r>
              <a:rPr sz="1800" spc="-7" baseline="-4629" dirty="0">
                <a:latin typeface="Arial MT"/>
                <a:cs typeface="Arial MT"/>
              </a:rPr>
              <a:t>I</a:t>
            </a:r>
            <a:r>
              <a:rPr sz="1200" spc="-7" baseline="-27777" dirty="0">
                <a:latin typeface="Arial MT"/>
                <a:cs typeface="Arial MT"/>
              </a:rPr>
              <a:t>0	</a:t>
            </a:r>
            <a:r>
              <a:rPr sz="2000" spc="-5" dirty="0">
                <a:latin typeface="Arial MT"/>
                <a:cs typeface="Arial MT"/>
              </a:rPr>
              <a:t>6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21" name="object 221"/>
          <p:cNvSpPr txBox="1"/>
          <p:nvPr/>
        </p:nvSpPr>
        <p:spPr>
          <a:xfrm>
            <a:off x="3832002" y="5330697"/>
            <a:ext cx="3822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7940">
              <a:lnSpc>
                <a:spcPct val="100000"/>
              </a:lnSpc>
              <a:spcBef>
                <a:spcPts val="100"/>
              </a:spcBef>
            </a:pPr>
            <a:r>
              <a:rPr sz="1200" spc="-15" dirty="0">
                <a:latin typeface="Arial MT"/>
                <a:cs typeface="Arial MT"/>
              </a:rPr>
              <a:t>Tri </a:t>
            </a:r>
            <a:r>
              <a:rPr sz="1200" spc="-5" dirty="0">
                <a:latin typeface="Arial MT"/>
                <a:cs typeface="Arial MT"/>
              </a:rPr>
              <a:t>– </a:t>
            </a:r>
            <a:r>
              <a:rPr sz="1200" spc="-32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S</a:t>
            </a:r>
            <a:r>
              <a:rPr sz="1200" dirty="0">
                <a:latin typeface="Arial MT"/>
                <a:cs typeface="Arial MT"/>
              </a:rPr>
              <a:t>t</a:t>
            </a:r>
            <a:r>
              <a:rPr sz="1200" spc="-5" dirty="0">
                <a:latin typeface="Arial MT"/>
                <a:cs typeface="Arial MT"/>
              </a:rPr>
              <a:t>a</a:t>
            </a:r>
            <a:r>
              <a:rPr sz="1200" dirty="0">
                <a:latin typeface="Arial MT"/>
                <a:cs typeface="Arial MT"/>
              </a:rPr>
              <a:t>te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22" name="object 222"/>
          <p:cNvSpPr txBox="1"/>
          <p:nvPr/>
        </p:nvSpPr>
        <p:spPr>
          <a:xfrm>
            <a:off x="3807618" y="5696458"/>
            <a:ext cx="42925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Bu</a:t>
            </a:r>
            <a:r>
              <a:rPr sz="1200" spc="-25" dirty="0">
                <a:latin typeface="Arial MT"/>
                <a:cs typeface="Arial MT"/>
              </a:rPr>
              <a:t>f</a:t>
            </a:r>
            <a:r>
              <a:rPr sz="1200" dirty="0">
                <a:latin typeface="Arial MT"/>
                <a:cs typeface="Arial MT"/>
              </a:rPr>
              <a:t>f</a:t>
            </a:r>
            <a:r>
              <a:rPr sz="1200" spc="-10" dirty="0">
                <a:latin typeface="Arial MT"/>
                <a:cs typeface="Arial MT"/>
              </a:rPr>
              <a:t>er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23" name="object 223"/>
          <p:cNvSpPr txBox="1"/>
          <p:nvPr/>
        </p:nvSpPr>
        <p:spPr>
          <a:xfrm>
            <a:off x="2839726" y="5794299"/>
            <a:ext cx="4997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Priority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24" name="object 224"/>
          <p:cNvSpPr txBox="1"/>
          <p:nvPr/>
        </p:nvSpPr>
        <p:spPr>
          <a:xfrm>
            <a:off x="2793244" y="5977178"/>
            <a:ext cx="5924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E</a:t>
            </a:r>
            <a:r>
              <a:rPr sz="1200" spc="-10" dirty="0">
                <a:latin typeface="Arial MT"/>
                <a:cs typeface="Arial MT"/>
              </a:rPr>
              <a:t>nc</a:t>
            </a:r>
            <a:r>
              <a:rPr sz="1200" spc="-5" dirty="0">
                <a:latin typeface="Arial MT"/>
                <a:cs typeface="Arial MT"/>
              </a:rPr>
              <a:t>o</a:t>
            </a:r>
            <a:r>
              <a:rPr sz="1200" spc="-10" dirty="0">
                <a:latin typeface="Arial MT"/>
                <a:cs typeface="Arial MT"/>
              </a:rPr>
              <a:t>der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25" name="object 225"/>
          <p:cNvSpPr txBox="1"/>
          <p:nvPr/>
        </p:nvSpPr>
        <p:spPr>
          <a:xfrm>
            <a:off x="5758815" y="2436686"/>
            <a:ext cx="3422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+</a:t>
            </a:r>
            <a:r>
              <a:rPr sz="1200" spc="-5" dirty="0">
                <a:latin typeface="Arial MT"/>
                <a:cs typeface="Arial MT"/>
              </a:rPr>
              <a:t>5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V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26" name="object 226"/>
          <p:cNvGrpSpPr/>
          <p:nvPr/>
        </p:nvGrpSpPr>
        <p:grpSpPr>
          <a:xfrm>
            <a:off x="6610351" y="1817684"/>
            <a:ext cx="392430" cy="76200"/>
            <a:chOff x="6610351" y="1817684"/>
            <a:chExt cx="392430" cy="76200"/>
          </a:xfrm>
        </p:grpSpPr>
        <p:sp>
          <p:nvSpPr>
            <p:cNvPr id="227" name="object 227"/>
            <p:cNvSpPr/>
            <p:nvPr/>
          </p:nvSpPr>
          <p:spPr>
            <a:xfrm>
              <a:off x="6610351" y="1855788"/>
              <a:ext cx="328930" cy="0"/>
            </a:xfrm>
            <a:custGeom>
              <a:avLst/>
              <a:gdLst/>
              <a:ahLst/>
              <a:cxnLst/>
              <a:rect l="l" t="t" r="r" b="b"/>
              <a:pathLst>
                <a:path w="328929">
                  <a:moveTo>
                    <a:pt x="328612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33CC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8" name="object 228"/>
            <p:cNvSpPr/>
            <p:nvPr/>
          </p:nvSpPr>
          <p:spPr>
            <a:xfrm>
              <a:off x="6926265" y="181768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9" name="object 229"/>
          <p:cNvSpPr txBox="1"/>
          <p:nvPr/>
        </p:nvSpPr>
        <p:spPr>
          <a:xfrm>
            <a:off x="7250984" y="1181036"/>
            <a:ext cx="1134745" cy="79692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3175">
              <a:lnSpc>
                <a:spcPts val="1900"/>
              </a:lnSpc>
              <a:spcBef>
                <a:spcPts val="180"/>
              </a:spcBef>
            </a:pPr>
            <a:r>
              <a:rPr sz="1600" spc="-5" dirty="0">
                <a:solidFill>
                  <a:srgbClr val="3333CC"/>
                </a:solidFill>
                <a:latin typeface="Arial MT"/>
                <a:cs typeface="Arial MT"/>
              </a:rPr>
              <a:t>INTR</a:t>
            </a:r>
            <a:r>
              <a:rPr sz="1600" spc="-75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3333CC"/>
                </a:solidFill>
                <a:latin typeface="Arial MT"/>
                <a:cs typeface="Arial MT"/>
              </a:rPr>
              <a:t>Circuit </a:t>
            </a:r>
            <a:r>
              <a:rPr sz="1600" spc="-430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FF6600"/>
                </a:solidFill>
                <a:latin typeface="Arial MT"/>
                <a:cs typeface="Arial MT"/>
              </a:rPr>
              <a:t>I</a:t>
            </a:r>
            <a:r>
              <a:rPr sz="1600" dirty="0">
                <a:solidFill>
                  <a:srgbClr val="FF6600"/>
                </a:solidFill>
                <a:latin typeface="Arial MT"/>
                <a:cs typeface="Arial MT"/>
              </a:rPr>
              <a:t>N</a:t>
            </a:r>
            <a:r>
              <a:rPr sz="1600" spc="-125" dirty="0">
                <a:solidFill>
                  <a:srgbClr val="FF6600"/>
                </a:solidFill>
                <a:latin typeface="Arial MT"/>
                <a:cs typeface="Arial MT"/>
              </a:rPr>
              <a:t>T</a:t>
            </a:r>
            <a:r>
              <a:rPr sz="1600" dirty="0">
                <a:solidFill>
                  <a:srgbClr val="FF6600"/>
                </a:solidFill>
                <a:latin typeface="Arial MT"/>
                <a:cs typeface="Arial MT"/>
              </a:rPr>
              <a:t>A</a:t>
            </a:r>
            <a:r>
              <a:rPr sz="1600" spc="-100" dirty="0">
                <a:solidFill>
                  <a:srgbClr val="FF660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6600"/>
                </a:solidFill>
                <a:latin typeface="Arial MT"/>
                <a:cs typeface="Arial MT"/>
              </a:rPr>
              <a:t>C</a:t>
            </a:r>
            <a:r>
              <a:rPr sz="1600" spc="-5" dirty="0">
                <a:solidFill>
                  <a:srgbClr val="FF6600"/>
                </a:solidFill>
                <a:latin typeface="Arial MT"/>
                <a:cs typeface="Arial MT"/>
              </a:rPr>
              <a:t>i</a:t>
            </a:r>
            <a:r>
              <a:rPr sz="1600" dirty="0">
                <a:solidFill>
                  <a:srgbClr val="FF6600"/>
                </a:solidFill>
                <a:latin typeface="Arial MT"/>
                <a:cs typeface="Arial MT"/>
              </a:rPr>
              <a:t>rc</a:t>
            </a:r>
            <a:r>
              <a:rPr sz="1600" spc="-5" dirty="0">
                <a:solidFill>
                  <a:srgbClr val="FF6600"/>
                </a:solidFill>
                <a:latin typeface="Arial MT"/>
                <a:cs typeface="Arial MT"/>
              </a:rPr>
              <a:t>uit</a:t>
            </a:r>
            <a:endParaRPr sz="16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270"/>
              </a:spcBef>
            </a:pPr>
            <a:r>
              <a:rPr sz="1600" dirty="0">
                <a:solidFill>
                  <a:srgbClr val="33CC33"/>
                </a:solidFill>
                <a:latin typeface="Arial MT"/>
                <a:cs typeface="Arial MT"/>
              </a:rPr>
              <a:t>RST</a:t>
            </a:r>
            <a:r>
              <a:rPr sz="1600" spc="-85" dirty="0">
                <a:solidFill>
                  <a:srgbClr val="33CC33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33CC33"/>
                </a:solidFill>
                <a:latin typeface="Arial MT"/>
                <a:cs typeface="Arial MT"/>
              </a:rPr>
              <a:t>Circuit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02560" marR="5080" indent="-223266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The 8085 Maskable/Vectored </a:t>
            </a:r>
            <a:r>
              <a:rPr spc="-1090" dirty="0"/>
              <a:t> </a:t>
            </a:r>
            <a:r>
              <a:rPr spc="-5" dirty="0"/>
              <a:t>Interrupts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15229"/>
            <a:ext cx="7522845" cy="1847214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450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8085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has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4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Masked/Vectored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interrupt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inputs.</a:t>
            </a:r>
            <a:endParaRPr sz="28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295"/>
              </a:spcBef>
              <a:tabLst>
                <a:tab pos="755650" algn="l"/>
              </a:tabLst>
            </a:pPr>
            <a:r>
              <a:rPr sz="2400" dirty="0">
                <a:latin typeface="Times New Roman"/>
                <a:cs typeface="Times New Roman"/>
              </a:rPr>
              <a:t>–	</a:t>
            </a:r>
            <a:r>
              <a:rPr sz="2400" spc="-5" dirty="0">
                <a:latin typeface="Times New Roman"/>
                <a:cs typeface="Times New Roman"/>
              </a:rPr>
              <a:t>RST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5.5,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RST </a:t>
            </a:r>
            <a:r>
              <a:rPr sz="2400" dirty="0">
                <a:latin typeface="Times New Roman"/>
                <a:cs typeface="Times New Roman"/>
              </a:rPr>
              <a:t>6.5,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RST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7.5</a:t>
            </a:r>
            <a:endParaRPr sz="2400">
              <a:latin typeface="Times New Roman"/>
              <a:cs typeface="Times New Roman"/>
            </a:endParaRPr>
          </a:p>
          <a:p>
            <a:pPr marL="1155700" lvl="1" indent="-229870">
              <a:lnSpc>
                <a:spcPct val="100000"/>
              </a:lnSpc>
              <a:spcBef>
                <a:spcPts val="254"/>
              </a:spcBef>
              <a:buChar char="•"/>
              <a:tabLst>
                <a:tab pos="1155065" algn="l"/>
                <a:tab pos="1156335" algn="l"/>
              </a:tabLst>
            </a:pPr>
            <a:r>
              <a:rPr sz="2000" spc="-5" dirty="0">
                <a:latin typeface="Times New Roman"/>
                <a:cs typeface="Times New Roman"/>
              </a:rPr>
              <a:t>They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are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all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maskable</a:t>
            </a:r>
            <a:r>
              <a:rPr sz="2000" spc="-5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1155065" marR="339725" lvl="1" indent="-228600">
              <a:lnSpc>
                <a:spcPts val="2160"/>
              </a:lnSpc>
              <a:spcBef>
                <a:spcPts val="515"/>
              </a:spcBef>
              <a:buChar char="•"/>
              <a:tabLst>
                <a:tab pos="1155065" algn="l"/>
                <a:tab pos="1155700" algn="l"/>
              </a:tabLst>
            </a:pPr>
            <a:r>
              <a:rPr sz="2000" spc="-5" dirty="0">
                <a:latin typeface="Times New Roman"/>
                <a:cs typeface="Times New Roman"/>
              </a:rPr>
              <a:t>They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are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333CC"/>
                </a:solidFill>
                <a:latin typeface="Times New Roman"/>
                <a:cs typeface="Times New Roman"/>
              </a:rPr>
              <a:t>automatically</a:t>
            </a:r>
            <a:r>
              <a:rPr sz="2000" spc="-1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333CC"/>
                </a:solidFill>
                <a:latin typeface="Times New Roman"/>
                <a:cs typeface="Times New Roman"/>
              </a:rPr>
              <a:t>vectored</a:t>
            </a:r>
            <a:r>
              <a:rPr sz="2000" spc="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according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 following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table: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36139" y="5441696"/>
            <a:ext cx="6150610" cy="79375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241300" marR="5080" indent="-228600">
              <a:lnSpc>
                <a:spcPts val="1939"/>
              </a:lnSpc>
              <a:spcBef>
                <a:spcPts val="345"/>
              </a:spcBef>
            </a:pPr>
            <a:r>
              <a:rPr sz="1800" dirty="0">
                <a:latin typeface="Times New Roman"/>
                <a:cs typeface="Times New Roman"/>
              </a:rPr>
              <a:t>–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vectors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for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these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interrupt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fall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in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between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vectors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RST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instructions.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That’s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why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they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have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names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like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RST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5.5 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(RST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5 </a:t>
            </a:r>
            <a:r>
              <a:rPr sz="1800" spc="-5" dirty="0">
                <a:latin typeface="Times New Roman"/>
                <a:cs typeface="Times New Roman"/>
              </a:rPr>
              <a:t>and</a:t>
            </a:r>
            <a:r>
              <a:rPr sz="1800" dirty="0">
                <a:latin typeface="Times New Roman"/>
                <a:cs typeface="Times New Roman"/>
              </a:rPr>
              <a:t> a </a:t>
            </a:r>
            <a:r>
              <a:rPr sz="1800" spc="-5" dirty="0">
                <a:latin typeface="Times New Roman"/>
                <a:cs typeface="Times New Roman"/>
              </a:rPr>
              <a:t>half).</a:t>
            </a:r>
            <a:endParaRPr sz="18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490912" y="3719512"/>
          <a:ext cx="2416175" cy="15208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6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6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Interrupt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2686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30" dirty="0">
                          <a:latin typeface="Times New Roman"/>
                          <a:cs typeface="Times New Roman"/>
                        </a:rPr>
                        <a:t>Vector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1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RST</a:t>
                      </a:r>
                      <a:r>
                        <a:rPr sz="18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5.5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002CH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237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RST</a:t>
                      </a:r>
                      <a:r>
                        <a:rPr sz="18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6.5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31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686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0034H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RST</a:t>
                      </a:r>
                      <a:r>
                        <a:rPr sz="18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7.5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003CH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Masking</a:t>
            </a:r>
            <a:r>
              <a:rPr spc="-10" dirty="0"/>
              <a:t> </a:t>
            </a:r>
            <a:r>
              <a:rPr spc="-5" dirty="0"/>
              <a:t>RST</a:t>
            </a:r>
            <a:r>
              <a:rPr dirty="0"/>
              <a:t> </a:t>
            </a:r>
            <a:r>
              <a:rPr spc="-5" dirty="0"/>
              <a:t>5.5, RST 6.5 and</a:t>
            </a: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RST</a:t>
            </a:r>
            <a:r>
              <a:rPr spc="-35" dirty="0"/>
              <a:t> </a:t>
            </a:r>
            <a:r>
              <a:rPr spc="-5" dirty="0"/>
              <a:t>7.5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51736"/>
            <a:ext cx="7459345" cy="3796029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4965" marR="501650" indent="-342900">
              <a:lnSpc>
                <a:spcPts val="3460"/>
              </a:lnSpc>
              <a:spcBef>
                <a:spcPts val="53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These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three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interrupts are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masked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at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two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levels:</a:t>
            </a:r>
            <a:endParaRPr sz="3200">
              <a:latin typeface="Times New Roman"/>
              <a:cs typeface="Times New Roman"/>
            </a:endParaRPr>
          </a:p>
          <a:p>
            <a:pPr marL="755650" marR="172085" lvl="1" indent="-285750">
              <a:lnSpc>
                <a:spcPts val="3020"/>
              </a:lnSpc>
              <a:spcBef>
                <a:spcPts val="680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Times New Roman"/>
                <a:cs typeface="Times New Roman"/>
              </a:rPr>
              <a:t>Through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Interrupt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Enable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flip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flop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EI/DI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instructions.</a:t>
            </a:r>
            <a:endParaRPr sz="2800">
              <a:latin typeface="Times New Roman"/>
              <a:cs typeface="Times New Roman"/>
            </a:endParaRPr>
          </a:p>
          <a:p>
            <a:pPr marL="1155065" marR="373380" lvl="2" indent="-228600">
              <a:lnSpc>
                <a:spcPts val="2590"/>
              </a:lnSpc>
              <a:spcBef>
                <a:spcPts val="585"/>
              </a:spcBef>
              <a:buChar char="•"/>
              <a:tabLst>
                <a:tab pos="1155700" algn="l"/>
              </a:tabLst>
            </a:pPr>
            <a:r>
              <a:rPr sz="2400" spc="-5" dirty="0">
                <a:latin typeface="Times New Roman"/>
                <a:cs typeface="Times New Roman"/>
              </a:rPr>
              <a:t>The Interrupt Enable flip flop controls the whole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maskable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interrupt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process.</a:t>
            </a:r>
            <a:endParaRPr sz="2400">
              <a:latin typeface="Times New Roman"/>
              <a:cs typeface="Times New Roman"/>
            </a:endParaRPr>
          </a:p>
          <a:p>
            <a:pPr marL="755650" marR="5080" lvl="1" indent="-285750">
              <a:lnSpc>
                <a:spcPts val="3020"/>
              </a:lnSpc>
              <a:spcBef>
                <a:spcPts val="675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Times New Roman"/>
                <a:cs typeface="Times New Roman"/>
              </a:rPr>
              <a:t>Through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individual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mask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flip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flops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that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control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availability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individual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interrupts.</a:t>
            </a:r>
            <a:endParaRPr sz="2800">
              <a:latin typeface="Times New Roman"/>
              <a:cs typeface="Times New Roman"/>
            </a:endParaRPr>
          </a:p>
          <a:p>
            <a:pPr marL="1155700" lvl="2" indent="-229235">
              <a:lnSpc>
                <a:spcPct val="100000"/>
              </a:lnSpc>
              <a:spcBef>
                <a:spcPts val="254"/>
              </a:spcBef>
              <a:buChar char="•"/>
              <a:tabLst>
                <a:tab pos="1155700" algn="l"/>
              </a:tabLst>
            </a:pPr>
            <a:r>
              <a:rPr sz="2400" spc="-5" dirty="0">
                <a:latin typeface="Times New Roman"/>
                <a:cs typeface="Times New Roman"/>
              </a:rPr>
              <a:t>These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flip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flops </a:t>
            </a:r>
            <a:r>
              <a:rPr sz="2400" dirty="0">
                <a:latin typeface="Times New Roman"/>
                <a:cs typeface="Times New Roman"/>
              </a:rPr>
              <a:t>control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interrupts individually.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7369" y="204469"/>
            <a:ext cx="450786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Maskable</a:t>
            </a:r>
            <a:r>
              <a:rPr spc="-60" dirty="0"/>
              <a:t> </a:t>
            </a:r>
            <a:r>
              <a:rPr spc="-5" dirty="0"/>
              <a:t>Interrupts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56112" y="5286375"/>
            <a:ext cx="684530" cy="709930"/>
          </a:xfrm>
          <a:prstGeom prst="rect">
            <a:avLst/>
          </a:prstGeom>
          <a:solidFill>
            <a:srgbClr val="FFFFCC"/>
          </a:solidFill>
          <a:ln w="12700">
            <a:solidFill>
              <a:srgbClr val="000000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51435" marR="42545" indent="-635" algn="ctr">
              <a:lnSpc>
                <a:spcPct val="100000"/>
              </a:lnSpc>
              <a:spcBef>
                <a:spcPts val="595"/>
              </a:spcBef>
            </a:pPr>
            <a:r>
              <a:rPr sz="1200" spc="-5" dirty="0">
                <a:latin typeface="Arial MT"/>
                <a:cs typeface="Arial MT"/>
              </a:rPr>
              <a:t>Interrupt </a:t>
            </a:r>
            <a:r>
              <a:rPr sz="1200" spc="-32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Enable </a:t>
            </a:r>
            <a:r>
              <a:rPr sz="120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Flip</a:t>
            </a:r>
            <a:r>
              <a:rPr sz="1200" spc="-7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Flop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287587" y="1250950"/>
            <a:ext cx="5641975" cy="4845050"/>
            <a:chOff x="2287587" y="1250950"/>
            <a:chExt cx="5641975" cy="4845050"/>
          </a:xfrm>
        </p:grpSpPr>
        <p:sp>
          <p:nvSpPr>
            <p:cNvPr id="5" name="object 5"/>
            <p:cNvSpPr/>
            <p:nvPr/>
          </p:nvSpPr>
          <p:spPr>
            <a:xfrm>
              <a:off x="5721351" y="4837112"/>
              <a:ext cx="0" cy="338455"/>
            </a:xfrm>
            <a:custGeom>
              <a:avLst/>
              <a:gdLst/>
              <a:ahLst/>
              <a:cxnLst/>
              <a:rect l="l" t="t" r="r" b="b"/>
              <a:pathLst>
                <a:path h="338454">
                  <a:moveTo>
                    <a:pt x="0" y="0"/>
                  </a:moveTo>
                  <a:lnTo>
                    <a:pt x="0" y="33813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727701" y="5005388"/>
              <a:ext cx="376555" cy="168910"/>
            </a:xfrm>
            <a:custGeom>
              <a:avLst/>
              <a:gdLst/>
              <a:ahLst/>
              <a:cxnLst/>
              <a:rect l="l" t="t" r="r" b="b"/>
              <a:pathLst>
                <a:path w="376554" h="168910">
                  <a:moveTo>
                    <a:pt x="0" y="168275"/>
                  </a:moveTo>
                  <a:lnTo>
                    <a:pt x="43011" y="168448"/>
                  </a:lnTo>
                  <a:lnTo>
                    <a:pt x="105965" y="168473"/>
                  </a:lnTo>
                  <a:lnTo>
                    <a:pt x="171896" y="167605"/>
                  </a:lnTo>
                  <a:lnTo>
                    <a:pt x="223837" y="165100"/>
                  </a:lnTo>
                  <a:lnTo>
                    <a:pt x="279003" y="151606"/>
                  </a:lnTo>
                  <a:lnTo>
                    <a:pt x="312737" y="133350"/>
                  </a:lnTo>
                  <a:lnTo>
                    <a:pt x="348456" y="97184"/>
                  </a:lnTo>
                  <a:lnTo>
                    <a:pt x="368498" y="44251"/>
                  </a:lnTo>
                  <a:lnTo>
                    <a:pt x="372591" y="22497"/>
                  </a:lnTo>
                  <a:lnTo>
                    <a:pt x="37623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719763" y="4833342"/>
              <a:ext cx="384175" cy="172085"/>
            </a:xfrm>
            <a:custGeom>
              <a:avLst/>
              <a:gdLst/>
              <a:ahLst/>
              <a:cxnLst/>
              <a:rect l="l" t="t" r="r" b="b"/>
              <a:pathLst>
                <a:path w="384175" h="172085">
                  <a:moveTo>
                    <a:pt x="0" y="595"/>
                  </a:moveTo>
                  <a:lnTo>
                    <a:pt x="39414" y="0"/>
                  </a:lnTo>
                  <a:lnTo>
                    <a:pt x="97432" y="595"/>
                  </a:lnTo>
                  <a:lnTo>
                    <a:pt x="158725" y="2381"/>
                  </a:lnTo>
                  <a:lnTo>
                    <a:pt x="207962" y="5357"/>
                  </a:lnTo>
                  <a:lnTo>
                    <a:pt x="262334" y="12303"/>
                  </a:lnTo>
                  <a:lnTo>
                    <a:pt x="300037" y="27582"/>
                  </a:lnTo>
                  <a:lnTo>
                    <a:pt x="336748" y="53776"/>
                  </a:lnTo>
                  <a:lnTo>
                    <a:pt x="365125" y="89495"/>
                  </a:lnTo>
                  <a:lnTo>
                    <a:pt x="377626" y="128389"/>
                  </a:lnTo>
                  <a:lnTo>
                    <a:pt x="380975" y="149770"/>
                  </a:lnTo>
                  <a:lnTo>
                    <a:pt x="384175" y="17204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16162" y="4921250"/>
              <a:ext cx="3411854" cy="0"/>
            </a:xfrm>
            <a:custGeom>
              <a:avLst/>
              <a:gdLst/>
              <a:ahLst/>
              <a:cxnLst/>
              <a:rect l="l" t="t" r="r" b="b"/>
              <a:pathLst>
                <a:path w="3411854">
                  <a:moveTo>
                    <a:pt x="0" y="0"/>
                  </a:moveTo>
                  <a:lnTo>
                    <a:pt x="341153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21351" y="3937001"/>
              <a:ext cx="0" cy="338455"/>
            </a:xfrm>
            <a:custGeom>
              <a:avLst/>
              <a:gdLst/>
              <a:ahLst/>
              <a:cxnLst/>
              <a:rect l="l" t="t" r="r" b="b"/>
              <a:pathLst>
                <a:path h="338454">
                  <a:moveTo>
                    <a:pt x="0" y="0"/>
                  </a:moveTo>
                  <a:lnTo>
                    <a:pt x="0" y="33813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27701" y="4105276"/>
              <a:ext cx="376555" cy="168910"/>
            </a:xfrm>
            <a:custGeom>
              <a:avLst/>
              <a:gdLst/>
              <a:ahLst/>
              <a:cxnLst/>
              <a:rect l="l" t="t" r="r" b="b"/>
              <a:pathLst>
                <a:path w="376554" h="168910">
                  <a:moveTo>
                    <a:pt x="0" y="168275"/>
                  </a:moveTo>
                  <a:lnTo>
                    <a:pt x="43011" y="168448"/>
                  </a:lnTo>
                  <a:lnTo>
                    <a:pt x="105965" y="168473"/>
                  </a:lnTo>
                  <a:lnTo>
                    <a:pt x="171896" y="167605"/>
                  </a:lnTo>
                  <a:lnTo>
                    <a:pt x="223837" y="165100"/>
                  </a:lnTo>
                  <a:lnTo>
                    <a:pt x="279003" y="151606"/>
                  </a:lnTo>
                  <a:lnTo>
                    <a:pt x="312737" y="133350"/>
                  </a:lnTo>
                  <a:lnTo>
                    <a:pt x="348456" y="97184"/>
                  </a:lnTo>
                  <a:lnTo>
                    <a:pt x="368498" y="44251"/>
                  </a:lnTo>
                  <a:lnTo>
                    <a:pt x="372591" y="22497"/>
                  </a:lnTo>
                  <a:lnTo>
                    <a:pt x="37623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19763" y="3933229"/>
              <a:ext cx="384175" cy="172085"/>
            </a:xfrm>
            <a:custGeom>
              <a:avLst/>
              <a:gdLst/>
              <a:ahLst/>
              <a:cxnLst/>
              <a:rect l="l" t="t" r="r" b="b"/>
              <a:pathLst>
                <a:path w="384175" h="172085">
                  <a:moveTo>
                    <a:pt x="0" y="595"/>
                  </a:moveTo>
                  <a:lnTo>
                    <a:pt x="39414" y="0"/>
                  </a:lnTo>
                  <a:lnTo>
                    <a:pt x="97432" y="595"/>
                  </a:lnTo>
                  <a:lnTo>
                    <a:pt x="158725" y="2381"/>
                  </a:lnTo>
                  <a:lnTo>
                    <a:pt x="207962" y="5357"/>
                  </a:lnTo>
                  <a:lnTo>
                    <a:pt x="262334" y="12303"/>
                  </a:lnTo>
                  <a:lnTo>
                    <a:pt x="300037" y="27582"/>
                  </a:lnTo>
                  <a:lnTo>
                    <a:pt x="336748" y="53776"/>
                  </a:lnTo>
                  <a:lnTo>
                    <a:pt x="365125" y="89495"/>
                  </a:lnTo>
                  <a:lnTo>
                    <a:pt x="377626" y="128389"/>
                  </a:lnTo>
                  <a:lnTo>
                    <a:pt x="380975" y="149770"/>
                  </a:lnTo>
                  <a:lnTo>
                    <a:pt x="384175" y="17204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287587" y="3994150"/>
              <a:ext cx="3437254" cy="0"/>
            </a:xfrm>
            <a:custGeom>
              <a:avLst/>
              <a:gdLst/>
              <a:ahLst/>
              <a:cxnLst/>
              <a:rect l="l" t="t" r="r" b="b"/>
              <a:pathLst>
                <a:path w="3437254">
                  <a:moveTo>
                    <a:pt x="0" y="0"/>
                  </a:moveTo>
                  <a:lnTo>
                    <a:pt x="343693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721351" y="3006726"/>
              <a:ext cx="0" cy="338455"/>
            </a:xfrm>
            <a:custGeom>
              <a:avLst/>
              <a:gdLst/>
              <a:ahLst/>
              <a:cxnLst/>
              <a:rect l="l" t="t" r="r" b="b"/>
              <a:pathLst>
                <a:path h="338454">
                  <a:moveTo>
                    <a:pt x="0" y="0"/>
                  </a:moveTo>
                  <a:lnTo>
                    <a:pt x="0" y="33813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727701" y="3175001"/>
              <a:ext cx="376555" cy="168910"/>
            </a:xfrm>
            <a:custGeom>
              <a:avLst/>
              <a:gdLst/>
              <a:ahLst/>
              <a:cxnLst/>
              <a:rect l="l" t="t" r="r" b="b"/>
              <a:pathLst>
                <a:path w="376554" h="168910">
                  <a:moveTo>
                    <a:pt x="0" y="168275"/>
                  </a:moveTo>
                  <a:lnTo>
                    <a:pt x="43011" y="168448"/>
                  </a:lnTo>
                  <a:lnTo>
                    <a:pt x="105965" y="168473"/>
                  </a:lnTo>
                  <a:lnTo>
                    <a:pt x="171896" y="167605"/>
                  </a:lnTo>
                  <a:lnTo>
                    <a:pt x="223837" y="165100"/>
                  </a:lnTo>
                  <a:lnTo>
                    <a:pt x="279003" y="151606"/>
                  </a:lnTo>
                  <a:lnTo>
                    <a:pt x="312737" y="133350"/>
                  </a:lnTo>
                  <a:lnTo>
                    <a:pt x="348456" y="97184"/>
                  </a:lnTo>
                  <a:lnTo>
                    <a:pt x="368498" y="44251"/>
                  </a:lnTo>
                  <a:lnTo>
                    <a:pt x="372591" y="22497"/>
                  </a:lnTo>
                  <a:lnTo>
                    <a:pt x="37623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719763" y="3002956"/>
              <a:ext cx="384175" cy="172085"/>
            </a:xfrm>
            <a:custGeom>
              <a:avLst/>
              <a:gdLst/>
              <a:ahLst/>
              <a:cxnLst/>
              <a:rect l="l" t="t" r="r" b="b"/>
              <a:pathLst>
                <a:path w="384175" h="172085">
                  <a:moveTo>
                    <a:pt x="0" y="595"/>
                  </a:moveTo>
                  <a:lnTo>
                    <a:pt x="39414" y="0"/>
                  </a:lnTo>
                  <a:lnTo>
                    <a:pt x="97432" y="595"/>
                  </a:lnTo>
                  <a:lnTo>
                    <a:pt x="158725" y="2381"/>
                  </a:lnTo>
                  <a:lnTo>
                    <a:pt x="207962" y="5357"/>
                  </a:lnTo>
                  <a:lnTo>
                    <a:pt x="262334" y="12303"/>
                  </a:lnTo>
                  <a:lnTo>
                    <a:pt x="300037" y="27582"/>
                  </a:lnTo>
                  <a:lnTo>
                    <a:pt x="336748" y="53776"/>
                  </a:lnTo>
                  <a:lnTo>
                    <a:pt x="365125" y="89495"/>
                  </a:lnTo>
                  <a:lnTo>
                    <a:pt x="377626" y="128389"/>
                  </a:lnTo>
                  <a:lnTo>
                    <a:pt x="380975" y="149770"/>
                  </a:lnTo>
                  <a:lnTo>
                    <a:pt x="384175" y="17204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319337" y="3068638"/>
              <a:ext cx="3399154" cy="0"/>
            </a:xfrm>
            <a:custGeom>
              <a:avLst/>
              <a:gdLst/>
              <a:ahLst/>
              <a:cxnLst/>
              <a:rect l="l" t="t" r="r" b="b"/>
              <a:pathLst>
                <a:path w="3399154">
                  <a:moveTo>
                    <a:pt x="0" y="0"/>
                  </a:moveTo>
                  <a:lnTo>
                    <a:pt x="339883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779962" y="2335212"/>
              <a:ext cx="0" cy="2951480"/>
            </a:xfrm>
            <a:custGeom>
              <a:avLst/>
              <a:gdLst/>
              <a:ahLst/>
              <a:cxnLst/>
              <a:rect l="l" t="t" r="r" b="b"/>
              <a:pathLst>
                <a:path h="2951479">
                  <a:moveTo>
                    <a:pt x="0" y="2951162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734051" y="2070101"/>
              <a:ext cx="0" cy="338455"/>
            </a:xfrm>
            <a:custGeom>
              <a:avLst/>
              <a:gdLst/>
              <a:ahLst/>
              <a:cxnLst/>
              <a:rect l="l" t="t" r="r" b="b"/>
              <a:pathLst>
                <a:path h="338455">
                  <a:moveTo>
                    <a:pt x="0" y="0"/>
                  </a:moveTo>
                  <a:lnTo>
                    <a:pt x="0" y="33813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740401" y="2238376"/>
              <a:ext cx="376555" cy="168910"/>
            </a:xfrm>
            <a:custGeom>
              <a:avLst/>
              <a:gdLst/>
              <a:ahLst/>
              <a:cxnLst/>
              <a:rect l="l" t="t" r="r" b="b"/>
              <a:pathLst>
                <a:path w="376554" h="168910">
                  <a:moveTo>
                    <a:pt x="0" y="168275"/>
                  </a:moveTo>
                  <a:lnTo>
                    <a:pt x="43011" y="168448"/>
                  </a:lnTo>
                  <a:lnTo>
                    <a:pt x="105965" y="168473"/>
                  </a:lnTo>
                  <a:lnTo>
                    <a:pt x="171896" y="167605"/>
                  </a:lnTo>
                  <a:lnTo>
                    <a:pt x="223837" y="165100"/>
                  </a:lnTo>
                  <a:lnTo>
                    <a:pt x="279003" y="151606"/>
                  </a:lnTo>
                  <a:lnTo>
                    <a:pt x="312737" y="133350"/>
                  </a:lnTo>
                  <a:lnTo>
                    <a:pt x="348456" y="97184"/>
                  </a:lnTo>
                  <a:lnTo>
                    <a:pt x="368498" y="44251"/>
                  </a:lnTo>
                  <a:lnTo>
                    <a:pt x="372591" y="22497"/>
                  </a:lnTo>
                  <a:lnTo>
                    <a:pt x="37623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32463" y="2066330"/>
              <a:ext cx="384175" cy="172085"/>
            </a:xfrm>
            <a:custGeom>
              <a:avLst/>
              <a:gdLst/>
              <a:ahLst/>
              <a:cxnLst/>
              <a:rect l="l" t="t" r="r" b="b"/>
              <a:pathLst>
                <a:path w="384175" h="172085">
                  <a:moveTo>
                    <a:pt x="0" y="595"/>
                  </a:moveTo>
                  <a:lnTo>
                    <a:pt x="39414" y="0"/>
                  </a:lnTo>
                  <a:lnTo>
                    <a:pt x="97432" y="595"/>
                  </a:lnTo>
                  <a:lnTo>
                    <a:pt x="158725" y="2381"/>
                  </a:lnTo>
                  <a:lnTo>
                    <a:pt x="207962" y="5357"/>
                  </a:lnTo>
                  <a:lnTo>
                    <a:pt x="262334" y="12303"/>
                  </a:lnTo>
                  <a:lnTo>
                    <a:pt x="300037" y="27582"/>
                  </a:lnTo>
                  <a:lnTo>
                    <a:pt x="336748" y="53776"/>
                  </a:lnTo>
                  <a:lnTo>
                    <a:pt x="365125" y="89495"/>
                  </a:lnTo>
                  <a:lnTo>
                    <a:pt x="377626" y="128389"/>
                  </a:lnTo>
                  <a:lnTo>
                    <a:pt x="380975" y="149770"/>
                  </a:lnTo>
                  <a:lnTo>
                    <a:pt x="384175" y="17204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779962" y="2335213"/>
              <a:ext cx="946150" cy="0"/>
            </a:xfrm>
            <a:custGeom>
              <a:avLst/>
              <a:gdLst/>
              <a:ahLst/>
              <a:cxnLst/>
              <a:rect l="l" t="t" r="r" b="b"/>
              <a:pathLst>
                <a:path w="946150">
                  <a:moveTo>
                    <a:pt x="0" y="0"/>
                  </a:moveTo>
                  <a:lnTo>
                    <a:pt x="94615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784725" y="5091112"/>
              <a:ext cx="946150" cy="0"/>
            </a:xfrm>
            <a:custGeom>
              <a:avLst/>
              <a:gdLst/>
              <a:ahLst/>
              <a:cxnLst/>
              <a:rect l="l" t="t" r="r" b="b"/>
              <a:pathLst>
                <a:path w="946150">
                  <a:moveTo>
                    <a:pt x="0" y="0"/>
                  </a:moveTo>
                  <a:lnTo>
                    <a:pt x="94615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773612" y="4232275"/>
              <a:ext cx="946150" cy="0"/>
            </a:xfrm>
            <a:custGeom>
              <a:avLst/>
              <a:gdLst/>
              <a:ahLst/>
              <a:cxnLst/>
              <a:rect l="l" t="t" r="r" b="b"/>
              <a:pathLst>
                <a:path w="946150">
                  <a:moveTo>
                    <a:pt x="0" y="0"/>
                  </a:moveTo>
                  <a:lnTo>
                    <a:pt x="94615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772025" y="3290887"/>
              <a:ext cx="946150" cy="0"/>
            </a:xfrm>
            <a:custGeom>
              <a:avLst/>
              <a:gdLst/>
              <a:ahLst/>
              <a:cxnLst/>
              <a:rect l="l" t="t" r="r" b="b"/>
              <a:pathLst>
                <a:path w="946150">
                  <a:moveTo>
                    <a:pt x="0" y="0"/>
                  </a:moveTo>
                  <a:lnTo>
                    <a:pt x="94615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973512" y="2235200"/>
              <a:ext cx="1668780" cy="0"/>
            </a:xfrm>
            <a:custGeom>
              <a:avLst/>
              <a:gdLst/>
              <a:ahLst/>
              <a:cxnLst/>
              <a:rect l="l" t="t" r="r" b="b"/>
              <a:pathLst>
                <a:path w="1668779">
                  <a:moveTo>
                    <a:pt x="0" y="0"/>
                  </a:moveTo>
                  <a:lnTo>
                    <a:pt x="166846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978275" y="4119562"/>
              <a:ext cx="1668780" cy="0"/>
            </a:xfrm>
            <a:custGeom>
              <a:avLst/>
              <a:gdLst/>
              <a:ahLst/>
              <a:cxnLst/>
              <a:rect l="l" t="t" r="r" b="b"/>
              <a:pathLst>
                <a:path w="1668779">
                  <a:moveTo>
                    <a:pt x="0" y="0"/>
                  </a:moveTo>
                  <a:lnTo>
                    <a:pt x="166846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986212" y="3176588"/>
              <a:ext cx="1656080" cy="0"/>
            </a:xfrm>
            <a:custGeom>
              <a:avLst/>
              <a:gdLst/>
              <a:ahLst/>
              <a:cxnLst/>
              <a:rect l="l" t="t" r="r" b="b"/>
              <a:pathLst>
                <a:path w="1656079">
                  <a:moveTo>
                    <a:pt x="0" y="0"/>
                  </a:moveTo>
                  <a:lnTo>
                    <a:pt x="165576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35625" y="3130544"/>
              <a:ext cx="87312" cy="87325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40388" y="4070344"/>
              <a:ext cx="87312" cy="8732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49913" y="2189168"/>
              <a:ext cx="87312" cy="87312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6111875" y="2222500"/>
              <a:ext cx="722630" cy="0"/>
            </a:xfrm>
            <a:custGeom>
              <a:avLst/>
              <a:gdLst/>
              <a:ahLst/>
              <a:cxnLst/>
              <a:rect l="l" t="t" r="r" b="b"/>
              <a:pathLst>
                <a:path w="722629">
                  <a:moveTo>
                    <a:pt x="0" y="0"/>
                  </a:moveTo>
                  <a:lnTo>
                    <a:pt x="72231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102350" y="3171825"/>
              <a:ext cx="722630" cy="0"/>
            </a:xfrm>
            <a:custGeom>
              <a:avLst/>
              <a:gdLst/>
              <a:ahLst/>
              <a:cxnLst/>
              <a:rect l="l" t="t" r="r" b="b"/>
              <a:pathLst>
                <a:path w="722629">
                  <a:moveTo>
                    <a:pt x="0" y="0"/>
                  </a:moveTo>
                  <a:lnTo>
                    <a:pt x="72231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105525" y="4108450"/>
              <a:ext cx="722630" cy="0"/>
            </a:xfrm>
            <a:custGeom>
              <a:avLst/>
              <a:gdLst/>
              <a:ahLst/>
              <a:cxnLst/>
              <a:rect l="l" t="t" r="r" b="b"/>
              <a:pathLst>
                <a:path w="722629">
                  <a:moveTo>
                    <a:pt x="0" y="0"/>
                  </a:moveTo>
                  <a:lnTo>
                    <a:pt x="72231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108700" y="4994275"/>
              <a:ext cx="722630" cy="0"/>
            </a:xfrm>
            <a:custGeom>
              <a:avLst/>
              <a:gdLst/>
              <a:ahLst/>
              <a:cxnLst/>
              <a:rect l="l" t="t" r="r" b="b"/>
              <a:pathLst>
                <a:path w="722629">
                  <a:moveTo>
                    <a:pt x="0" y="0"/>
                  </a:moveTo>
                  <a:lnTo>
                    <a:pt x="72231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786187" y="4303712"/>
              <a:ext cx="398780" cy="347980"/>
            </a:xfrm>
            <a:custGeom>
              <a:avLst/>
              <a:gdLst/>
              <a:ahLst/>
              <a:cxnLst/>
              <a:rect l="l" t="t" r="r" b="b"/>
              <a:pathLst>
                <a:path w="398779" h="347979">
                  <a:moveTo>
                    <a:pt x="398462" y="0"/>
                  </a:moveTo>
                  <a:lnTo>
                    <a:pt x="0" y="0"/>
                  </a:lnTo>
                  <a:lnTo>
                    <a:pt x="0" y="347662"/>
                  </a:lnTo>
                  <a:lnTo>
                    <a:pt x="398462" y="347662"/>
                  </a:lnTo>
                  <a:lnTo>
                    <a:pt x="398462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786187" y="4303712"/>
              <a:ext cx="398780" cy="347980"/>
            </a:xfrm>
            <a:custGeom>
              <a:avLst/>
              <a:gdLst/>
              <a:ahLst/>
              <a:cxnLst/>
              <a:rect l="l" t="t" r="r" b="b"/>
              <a:pathLst>
                <a:path w="398779" h="347979">
                  <a:moveTo>
                    <a:pt x="0" y="0"/>
                  </a:moveTo>
                  <a:lnTo>
                    <a:pt x="398462" y="0"/>
                  </a:lnTo>
                  <a:lnTo>
                    <a:pt x="398462" y="347662"/>
                  </a:lnTo>
                  <a:lnTo>
                    <a:pt x="0" y="347662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786187" y="3371850"/>
              <a:ext cx="398780" cy="347980"/>
            </a:xfrm>
            <a:custGeom>
              <a:avLst/>
              <a:gdLst/>
              <a:ahLst/>
              <a:cxnLst/>
              <a:rect l="l" t="t" r="r" b="b"/>
              <a:pathLst>
                <a:path w="398779" h="347979">
                  <a:moveTo>
                    <a:pt x="398462" y="0"/>
                  </a:moveTo>
                  <a:lnTo>
                    <a:pt x="0" y="0"/>
                  </a:lnTo>
                  <a:lnTo>
                    <a:pt x="0" y="347662"/>
                  </a:lnTo>
                  <a:lnTo>
                    <a:pt x="398462" y="347662"/>
                  </a:lnTo>
                  <a:lnTo>
                    <a:pt x="398462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786187" y="3371850"/>
              <a:ext cx="398780" cy="347980"/>
            </a:xfrm>
            <a:custGeom>
              <a:avLst/>
              <a:gdLst/>
              <a:ahLst/>
              <a:cxnLst/>
              <a:rect l="l" t="t" r="r" b="b"/>
              <a:pathLst>
                <a:path w="398779" h="347979">
                  <a:moveTo>
                    <a:pt x="0" y="0"/>
                  </a:moveTo>
                  <a:lnTo>
                    <a:pt x="398462" y="0"/>
                  </a:lnTo>
                  <a:lnTo>
                    <a:pt x="398462" y="347662"/>
                  </a:lnTo>
                  <a:lnTo>
                    <a:pt x="0" y="347662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773487" y="2427287"/>
              <a:ext cx="398780" cy="347980"/>
            </a:xfrm>
            <a:custGeom>
              <a:avLst/>
              <a:gdLst/>
              <a:ahLst/>
              <a:cxnLst/>
              <a:rect l="l" t="t" r="r" b="b"/>
              <a:pathLst>
                <a:path w="398779" h="347980">
                  <a:moveTo>
                    <a:pt x="398462" y="0"/>
                  </a:moveTo>
                  <a:lnTo>
                    <a:pt x="0" y="0"/>
                  </a:lnTo>
                  <a:lnTo>
                    <a:pt x="0" y="347662"/>
                  </a:lnTo>
                  <a:lnTo>
                    <a:pt x="398462" y="347662"/>
                  </a:lnTo>
                  <a:lnTo>
                    <a:pt x="398462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773487" y="2427287"/>
              <a:ext cx="398780" cy="347980"/>
            </a:xfrm>
            <a:custGeom>
              <a:avLst/>
              <a:gdLst/>
              <a:ahLst/>
              <a:cxnLst/>
              <a:rect l="l" t="t" r="r" b="b"/>
              <a:pathLst>
                <a:path w="398779" h="347980">
                  <a:moveTo>
                    <a:pt x="0" y="0"/>
                  </a:moveTo>
                  <a:lnTo>
                    <a:pt x="398462" y="0"/>
                  </a:lnTo>
                  <a:lnTo>
                    <a:pt x="398462" y="347662"/>
                  </a:lnTo>
                  <a:lnTo>
                    <a:pt x="0" y="347662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984625" y="4116387"/>
              <a:ext cx="0" cy="187325"/>
            </a:xfrm>
            <a:custGeom>
              <a:avLst/>
              <a:gdLst/>
              <a:ahLst/>
              <a:cxnLst/>
              <a:rect l="l" t="t" r="r" b="b"/>
              <a:pathLst>
                <a:path h="187325">
                  <a:moveTo>
                    <a:pt x="0" y="187325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986212" y="3184525"/>
              <a:ext cx="0" cy="187325"/>
            </a:xfrm>
            <a:custGeom>
              <a:avLst/>
              <a:gdLst/>
              <a:ahLst/>
              <a:cxnLst/>
              <a:rect l="l" t="t" r="r" b="b"/>
              <a:pathLst>
                <a:path h="187325">
                  <a:moveTo>
                    <a:pt x="0" y="187325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971925" y="2239963"/>
              <a:ext cx="0" cy="187325"/>
            </a:xfrm>
            <a:custGeom>
              <a:avLst/>
              <a:gdLst/>
              <a:ahLst/>
              <a:cxnLst/>
              <a:rect l="l" t="t" r="r" b="b"/>
              <a:pathLst>
                <a:path h="187325">
                  <a:moveTo>
                    <a:pt x="0" y="187325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306637" y="1739900"/>
              <a:ext cx="1247775" cy="0"/>
            </a:xfrm>
            <a:custGeom>
              <a:avLst/>
              <a:gdLst/>
              <a:ahLst/>
              <a:cxnLst/>
              <a:rect l="l" t="t" r="r" b="b"/>
              <a:pathLst>
                <a:path w="1247775">
                  <a:moveTo>
                    <a:pt x="0" y="0"/>
                  </a:moveTo>
                  <a:lnTo>
                    <a:pt x="12477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625725" y="1270000"/>
              <a:ext cx="0" cy="4806950"/>
            </a:xfrm>
            <a:custGeom>
              <a:avLst/>
              <a:gdLst/>
              <a:ahLst/>
              <a:cxnLst/>
              <a:rect l="l" t="t" r="r" b="b"/>
              <a:pathLst>
                <a:path h="4806950">
                  <a:moveTo>
                    <a:pt x="0" y="0"/>
                  </a:moveTo>
                  <a:lnTo>
                    <a:pt x="0" y="480695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625725" y="6076950"/>
              <a:ext cx="5304155" cy="0"/>
            </a:xfrm>
            <a:custGeom>
              <a:avLst/>
              <a:gdLst/>
              <a:ahLst/>
              <a:cxnLst/>
              <a:rect l="l" t="t" r="r" b="b"/>
              <a:pathLst>
                <a:path w="5304155">
                  <a:moveTo>
                    <a:pt x="0" y="0"/>
                  </a:moveTo>
                  <a:lnTo>
                    <a:pt x="5303837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625725" y="1270000"/>
              <a:ext cx="5180330" cy="0"/>
            </a:xfrm>
            <a:custGeom>
              <a:avLst/>
              <a:gdLst/>
              <a:ahLst/>
              <a:cxnLst/>
              <a:rect l="l" t="t" r="r" b="b"/>
              <a:pathLst>
                <a:path w="5180330">
                  <a:moveTo>
                    <a:pt x="0" y="0"/>
                  </a:moveTo>
                  <a:lnTo>
                    <a:pt x="5180012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548062" y="1555750"/>
              <a:ext cx="436880" cy="374650"/>
            </a:xfrm>
            <a:custGeom>
              <a:avLst/>
              <a:gdLst/>
              <a:ahLst/>
              <a:cxnLst/>
              <a:rect l="l" t="t" r="r" b="b"/>
              <a:pathLst>
                <a:path w="436879" h="374650">
                  <a:moveTo>
                    <a:pt x="436562" y="0"/>
                  </a:moveTo>
                  <a:lnTo>
                    <a:pt x="0" y="0"/>
                  </a:lnTo>
                  <a:lnTo>
                    <a:pt x="0" y="374650"/>
                  </a:lnTo>
                  <a:lnTo>
                    <a:pt x="436562" y="374650"/>
                  </a:lnTo>
                  <a:lnTo>
                    <a:pt x="436562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548062" y="1555750"/>
              <a:ext cx="436880" cy="374650"/>
            </a:xfrm>
            <a:custGeom>
              <a:avLst/>
              <a:gdLst/>
              <a:ahLst/>
              <a:cxnLst/>
              <a:rect l="l" t="t" r="r" b="b"/>
              <a:pathLst>
                <a:path w="436879" h="374650">
                  <a:moveTo>
                    <a:pt x="0" y="0"/>
                  </a:moveTo>
                  <a:lnTo>
                    <a:pt x="436562" y="0"/>
                  </a:lnTo>
                  <a:lnTo>
                    <a:pt x="436562" y="374650"/>
                  </a:lnTo>
                  <a:lnTo>
                    <a:pt x="0" y="37465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984625" y="1743075"/>
              <a:ext cx="784225" cy="0"/>
            </a:xfrm>
            <a:custGeom>
              <a:avLst/>
              <a:gdLst/>
              <a:ahLst/>
              <a:cxnLst/>
              <a:rect l="l" t="t" r="r" b="b"/>
              <a:pathLst>
                <a:path w="784225">
                  <a:moveTo>
                    <a:pt x="0" y="0"/>
                  </a:moveTo>
                  <a:lnTo>
                    <a:pt x="78422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768850" y="1743075"/>
              <a:ext cx="0" cy="361950"/>
            </a:xfrm>
            <a:custGeom>
              <a:avLst/>
              <a:gdLst/>
              <a:ahLst/>
              <a:cxnLst/>
              <a:rect l="l" t="t" r="r" b="b"/>
              <a:pathLst>
                <a:path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768850" y="2117725"/>
              <a:ext cx="958850" cy="0"/>
            </a:xfrm>
            <a:custGeom>
              <a:avLst/>
              <a:gdLst/>
              <a:ahLst/>
              <a:cxnLst/>
              <a:rect l="l" t="t" r="r" b="b"/>
              <a:pathLst>
                <a:path w="958850">
                  <a:moveTo>
                    <a:pt x="0" y="0"/>
                  </a:moveTo>
                  <a:lnTo>
                    <a:pt x="95885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1742439" y="4813172"/>
            <a:ext cx="43942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 MT"/>
                <a:cs typeface="Arial MT"/>
              </a:rPr>
              <a:t>I</a:t>
            </a:r>
            <a:r>
              <a:rPr sz="1400" spc="-10" dirty="0">
                <a:latin typeface="Arial MT"/>
                <a:cs typeface="Arial MT"/>
              </a:rPr>
              <a:t>NT</a:t>
            </a:r>
            <a:r>
              <a:rPr sz="1400" spc="-5" dirty="0">
                <a:latin typeface="Arial MT"/>
                <a:cs typeface="Arial MT"/>
              </a:rPr>
              <a:t>R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505948" y="3868628"/>
            <a:ext cx="67373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 MT"/>
                <a:cs typeface="Arial MT"/>
              </a:rPr>
              <a:t>RS</a:t>
            </a:r>
            <a:r>
              <a:rPr sz="1400" spc="-5" dirty="0">
                <a:latin typeface="Arial MT"/>
                <a:cs typeface="Arial MT"/>
              </a:rPr>
              <a:t>T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5.5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505948" y="2938287"/>
            <a:ext cx="67373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 MT"/>
                <a:cs typeface="Arial MT"/>
              </a:rPr>
              <a:t>RST</a:t>
            </a:r>
            <a:r>
              <a:rPr sz="1400" spc="-9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6.5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291840" y="4348035"/>
            <a:ext cx="40703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M</a:t>
            </a:r>
            <a:r>
              <a:rPr sz="1200" spc="-7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5.5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291840" y="3443084"/>
            <a:ext cx="40703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M</a:t>
            </a:r>
            <a:r>
              <a:rPr sz="1200" spc="-7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6.5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279190" y="2498509"/>
            <a:ext cx="40703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M</a:t>
            </a:r>
            <a:r>
              <a:rPr sz="1200" spc="-7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7.5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506126" y="1230507"/>
            <a:ext cx="2932430" cy="62928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626870">
              <a:lnSpc>
                <a:spcPct val="100000"/>
              </a:lnSpc>
              <a:spcBef>
                <a:spcPts val="795"/>
              </a:spcBef>
            </a:pPr>
            <a:r>
              <a:rPr sz="1400" spc="-5" dirty="0">
                <a:latin typeface="Arial MT"/>
                <a:cs typeface="Arial MT"/>
              </a:rPr>
              <a:t>RST7.5</a:t>
            </a:r>
            <a:r>
              <a:rPr sz="1400" spc="-6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Memory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400" spc="-5" dirty="0">
                <a:latin typeface="Arial MT"/>
                <a:cs typeface="Arial MT"/>
              </a:rPr>
              <a:t>RST</a:t>
            </a:r>
            <a:r>
              <a:rPr sz="1400" spc="-6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7.5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5184" rIns="0" bIns="0" rtlCol="0">
            <a:spAutoFit/>
          </a:bodyPr>
          <a:lstStyle/>
          <a:p>
            <a:pPr marL="2059305" marR="5080" indent="-1290320">
              <a:lnSpc>
                <a:spcPct val="100000"/>
              </a:lnSpc>
              <a:spcBef>
                <a:spcPts val="100"/>
              </a:spcBef>
            </a:pPr>
            <a:r>
              <a:rPr sz="4000" spc="-5" dirty="0"/>
              <a:t>The </a:t>
            </a:r>
            <a:r>
              <a:rPr sz="4000" dirty="0"/>
              <a:t>8085 </a:t>
            </a:r>
            <a:r>
              <a:rPr sz="4000" spc="-5" dirty="0"/>
              <a:t>Maskable/Vectored </a:t>
            </a:r>
            <a:r>
              <a:rPr sz="4000" spc="-985" dirty="0"/>
              <a:t> </a:t>
            </a:r>
            <a:r>
              <a:rPr sz="4000" dirty="0"/>
              <a:t>Interrupt</a:t>
            </a:r>
            <a:r>
              <a:rPr sz="4000" spc="-15" dirty="0"/>
              <a:t> </a:t>
            </a:r>
            <a:r>
              <a:rPr sz="4000" dirty="0"/>
              <a:t>Process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63854" y="1961641"/>
            <a:ext cx="7569200" cy="438721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508000" marR="241935" indent="-495300">
              <a:lnSpc>
                <a:spcPts val="2920"/>
              </a:lnSpc>
              <a:spcBef>
                <a:spcPts val="459"/>
              </a:spcBef>
              <a:buAutoNum type="arabicPeriod"/>
              <a:tabLst>
                <a:tab pos="508000" algn="l"/>
                <a:tab pos="508634" algn="l"/>
              </a:tabLst>
            </a:pP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interrupt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spc="-5" dirty="0">
                <a:latin typeface="Times New Roman"/>
                <a:cs typeface="Times New Roman"/>
              </a:rPr>
              <a:t>process</a:t>
            </a:r>
            <a:r>
              <a:rPr sz="2700" spc="-1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should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be</a:t>
            </a:r>
            <a:r>
              <a:rPr sz="2700" spc="-5" dirty="0"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990000"/>
                </a:solidFill>
                <a:latin typeface="Times New Roman"/>
                <a:cs typeface="Times New Roman"/>
              </a:rPr>
              <a:t>enabled</a:t>
            </a:r>
            <a:r>
              <a:rPr sz="2700" spc="-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using</a:t>
            </a:r>
            <a:r>
              <a:rPr sz="2700" spc="-1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 </a:t>
            </a:r>
            <a:r>
              <a:rPr sz="2700" spc="-660" dirty="0"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990000"/>
                </a:solidFill>
                <a:latin typeface="Times New Roman"/>
                <a:cs typeface="Times New Roman"/>
              </a:rPr>
              <a:t>EI</a:t>
            </a:r>
            <a:r>
              <a:rPr sz="2700" spc="-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instruction.</a:t>
            </a:r>
            <a:endParaRPr sz="2700">
              <a:latin typeface="Times New Roman"/>
              <a:cs typeface="Times New Roman"/>
            </a:endParaRPr>
          </a:p>
          <a:p>
            <a:pPr marL="508000" marR="1081405" indent="-495300">
              <a:lnSpc>
                <a:spcPts val="2920"/>
              </a:lnSpc>
              <a:spcBef>
                <a:spcPts val="645"/>
              </a:spcBef>
              <a:buAutoNum type="arabicPeriod"/>
              <a:tabLst>
                <a:tab pos="508000" algn="l"/>
                <a:tab pos="508634" algn="l"/>
              </a:tabLst>
            </a:pP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8085</a:t>
            </a:r>
            <a:r>
              <a:rPr sz="2700" spc="-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checks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for</a:t>
            </a:r>
            <a:r>
              <a:rPr sz="2700" spc="-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an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interrupt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during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 </a:t>
            </a:r>
            <a:r>
              <a:rPr sz="2700" spc="-66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execution</a:t>
            </a:r>
            <a:r>
              <a:rPr sz="2700" spc="-1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of</a:t>
            </a:r>
            <a:r>
              <a:rPr sz="2700" spc="-10" dirty="0"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990000"/>
                </a:solidFill>
                <a:latin typeface="Times New Roman"/>
                <a:cs typeface="Times New Roman"/>
              </a:rPr>
              <a:t>every </a:t>
            </a:r>
            <a:r>
              <a:rPr sz="2700" dirty="0">
                <a:latin typeface="Times New Roman"/>
                <a:cs typeface="Times New Roman"/>
              </a:rPr>
              <a:t>instruction.</a:t>
            </a:r>
            <a:endParaRPr sz="2700">
              <a:latin typeface="Times New Roman"/>
              <a:cs typeface="Times New Roman"/>
            </a:endParaRPr>
          </a:p>
          <a:p>
            <a:pPr marL="508634" marR="1014094" indent="-496570">
              <a:lnSpc>
                <a:spcPts val="2920"/>
              </a:lnSpc>
              <a:spcBef>
                <a:spcPts val="640"/>
              </a:spcBef>
              <a:buAutoNum type="arabicPeriod"/>
              <a:tabLst>
                <a:tab pos="508000" algn="l"/>
                <a:tab pos="509270" algn="l"/>
              </a:tabLst>
            </a:pPr>
            <a:r>
              <a:rPr sz="2700" dirty="0">
                <a:latin typeface="Times New Roman"/>
                <a:cs typeface="Times New Roman"/>
              </a:rPr>
              <a:t>If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there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spc="-5" dirty="0">
                <a:latin typeface="Times New Roman"/>
                <a:cs typeface="Times New Roman"/>
              </a:rPr>
              <a:t>is</a:t>
            </a:r>
            <a:r>
              <a:rPr sz="2700" spc="-1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an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interrupt,</a:t>
            </a:r>
            <a:r>
              <a:rPr sz="2700" spc="-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700" u="heavy" dirty="0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  <a:latin typeface="Times New Roman"/>
                <a:cs typeface="Times New Roman"/>
              </a:rPr>
              <a:t>and</a:t>
            </a:r>
            <a:r>
              <a:rPr sz="2700" u="heavy" spc="-10" dirty="0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700" u="heavy" dirty="0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  <a:latin typeface="Times New Roman"/>
                <a:cs typeface="Times New Roman"/>
              </a:rPr>
              <a:t>if</a:t>
            </a:r>
            <a:r>
              <a:rPr sz="2700" u="heavy" spc="-15" dirty="0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700" u="heavy" dirty="0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  <a:latin typeface="Times New Roman"/>
                <a:cs typeface="Times New Roman"/>
              </a:rPr>
              <a:t>the</a:t>
            </a:r>
            <a:r>
              <a:rPr sz="2700" u="heavy" spc="-10" dirty="0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700" u="heavy" dirty="0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  <a:latin typeface="Times New Roman"/>
                <a:cs typeface="Times New Roman"/>
              </a:rPr>
              <a:t>interrupt</a:t>
            </a:r>
            <a:r>
              <a:rPr sz="2700" u="heavy" spc="-15" dirty="0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700" u="heavy" spc="-5" dirty="0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  <a:latin typeface="Times New Roman"/>
                <a:cs typeface="Times New Roman"/>
              </a:rPr>
              <a:t>is </a:t>
            </a:r>
            <a:r>
              <a:rPr sz="2700" spc="-66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700" u="heavy" dirty="0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  <a:latin typeface="Times New Roman"/>
                <a:cs typeface="Times New Roman"/>
              </a:rPr>
              <a:t>enabled using the interrupt mask</a:t>
            </a:r>
            <a:r>
              <a:rPr sz="2700" dirty="0">
                <a:latin typeface="Times New Roman"/>
                <a:cs typeface="Times New Roman"/>
              </a:rPr>
              <a:t>, the </a:t>
            </a:r>
            <a:r>
              <a:rPr sz="2700" spc="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microprocessor </a:t>
            </a:r>
            <a:r>
              <a:rPr sz="2700" spc="-5" dirty="0">
                <a:latin typeface="Times New Roman"/>
                <a:cs typeface="Times New Roman"/>
              </a:rPr>
              <a:t>will </a:t>
            </a:r>
            <a:r>
              <a:rPr sz="2700" dirty="0">
                <a:solidFill>
                  <a:srgbClr val="990000"/>
                </a:solidFill>
                <a:latin typeface="Times New Roman"/>
                <a:cs typeface="Times New Roman"/>
              </a:rPr>
              <a:t>complete the executing </a:t>
            </a:r>
            <a:r>
              <a:rPr sz="2700" spc="-66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990000"/>
                </a:solidFill>
                <a:latin typeface="Times New Roman"/>
                <a:cs typeface="Times New Roman"/>
              </a:rPr>
              <a:t>instruction</a:t>
            </a:r>
            <a:r>
              <a:rPr sz="2700" dirty="0">
                <a:latin typeface="Times New Roman"/>
                <a:cs typeface="Times New Roman"/>
              </a:rPr>
              <a:t>,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and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990000"/>
                </a:solidFill>
                <a:latin typeface="Times New Roman"/>
                <a:cs typeface="Times New Roman"/>
              </a:rPr>
              <a:t>reset</a:t>
            </a:r>
            <a:r>
              <a:rPr sz="2700" spc="-2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990000"/>
                </a:solidFill>
                <a:latin typeface="Times New Roman"/>
                <a:cs typeface="Times New Roman"/>
              </a:rPr>
              <a:t>the</a:t>
            </a:r>
            <a:r>
              <a:rPr sz="2700" spc="-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990000"/>
                </a:solidFill>
                <a:latin typeface="Times New Roman"/>
                <a:cs typeface="Times New Roman"/>
              </a:rPr>
              <a:t>interrupt</a:t>
            </a:r>
            <a:r>
              <a:rPr sz="2700" spc="-2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990000"/>
                </a:solidFill>
                <a:latin typeface="Times New Roman"/>
                <a:cs typeface="Times New Roman"/>
              </a:rPr>
              <a:t>flip</a:t>
            </a:r>
            <a:r>
              <a:rPr sz="2700" spc="-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990000"/>
                </a:solidFill>
                <a:latin typeface="Times New Roman"/>
                <a:cs typeface="Times New Roman"/>
              </a:rPr>
              <a:t>flop</a:t>
            </a:r>
            <a:r>
              <a:rPr sz="2700" dirty="0">
                <a:latin typeface="Times New Roman"/>
                <a:cs typeface="Times New Roman"/>
              </a:rPr>
              <a:t>.</a:t>
            </a:r>
            <a:endParaRPr sz="2700">
              <a:latin typeface="Times New Roman"/>
              <a:cs typeface="Times New Roman"/>
            </a:endParaRPr>
          </a:p>
          <a:p>
            <a:pPr marL="508000" marR="5080" indent="-495300" algn="just">
              <a:lnSpc>
                <a:spcPts val="2920"/>
              </a:lnSpc>
              <a:spcBef>
                <a:spcPts val="630"/>
              </a:spcBef>
              <a:buAutoNum type="arabicPeriod"/>
              <a:tabLst>
                <a:tab pos="508634" algn="l"/>
              </a:tabLst>
            </a:pP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microprocessor</a:t>
            </a:r>
            <a:r>
              <a:rPr sz="2700" spc="-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then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executes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call</a:t>
            </a:r>
            <a:r>
              <a:rPr sz="2700" spc="-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instruction </a:t>
            </a:r>
            <a:r>
              <a:rPr sz="2700" spc="-66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that </a:t>
            </a:r>
            <a:r>
              <a:rPr sz="2700" spc="-5" dirty="0">
                <a:latin typeface="Times New Roman"/>
                <a:cs typeface="Times New Roman"/>
              </a:rPr>
              <a:t>sends </a:t>
            </a:r>
            <a:r>
              <a:rPr sz="2700" dirty="0">
                <a:latin typeface="Times New Roman"/>
                <a:cs typeface="Times New Roman"/>
              </a:rPr>
              <a:t>the execution to the </a:t>
            </a:r>
            <a:r>
              <a:rPr sz="2700" dirty="0">
                <a:solidFill>
                  <a:srgbClr val="990000"/>
                </a:solidFill>
                <a:latin typeface="Times New Roman"/>
                <a:cs typeface="Times New Roman"/>
              </a:rPr>
              <a:t>appropriate </a:t>
            </a:r>
            <a:r>
              <a:rPr sz="2700" dirty="0">
                <a:latin typeface="Times New Roman"/>
                <a:cs typeface="Times New Roman"/>
              </a:rPr>
              <a:t>location </a:t>
            </a:r>
            <a:r>
              <a:rPr sz="2700" spc="-66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in</a:t>
            </a:r>
            <a:r>
              <a:rPr sz="2700" spc="-1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interrupt</a:t>
            </a:r>
            <a:r>
              <a:rPr sz="2700" spc="-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vector</a:t>
            </a:r>
            <a:r>
              <a:rPr sz="2700" spc="-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table.</a:t>
            </a:r>
            <a:endParaRPr sz="2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5184" rIns="0" bIns="0" rtlCol="0">
            <a:spAutoFit/>
          </a:bodyPr>
          <a:lstStyle/>
          <a:p>
            <a:pPr marL="2059939" marR="5080" indent="-1290955">
              <a:lnSpc>
                <a:spcPct val="100000"/>
              </a:lnSpc>
              <a:spcBef>
                <a:spcPts val="100"/>
              </a:spcBef>
            </a:pPr>
            <a:r>
              <a:rPr sz="4000" spc="-5" dirty="0"/>
              <a:t>The </a:t>
            </a:r>
            <a:r>
              <a:rPr sz="4000" dirty="0"/>
              <a:t>8085 </a:t>
            </a:r>
            <a:r>
              <a:rPr sz="4000" spc="-5" dirty="0"/>
              <a:t>Maskable/Vectored </a:t>
            </a:r>
            <a:r>
              <a:rPr sz="4000" spc="-985" dirty="0"/>
              <a:t> </a:t>
            </a:r>
            <a:r>
              <a:rPr sz="4000" dirty="0"/>
              <a:t>Interrupt</a:t>
            </a:r>
            <a:r>
              <a:rPr sz="4000" spc="-15" dirty="0"/>
              <a:t> </a:t>
            </a:r>
            <a:r>
              <a:rPr sz="4000" dirty="0"/>
              <a:t>Process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64540" y="1961641"/>
            <a:ext cx="7482840" cy="401701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507365" marR="1090930" indent="-495300" algn="just">
              <a:lnSpc>
                <a:spcPts val="2920"/>
              </a:lnSpc>
              <a:spcBef>
                <a:spcPts val="459"/>
              </a:spcBef>
              <a:buAutoNum type="arabicPeriod" startAt="5"/>
              <a:tabLst>
                <a:tab pos="508000" algn="l"/>
              </a:tabLst>
            </a:pPr>
            <a:r>
              <a:rPr sz="2700" dirty="0">
                <a:latin typeface="Times New Roman"/>
                <a:cs typeface="Times New Roman"/>
              </a:rPr>
              <a:t>When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microprocessor</a:t>
            </a:r>
            <a:r>
              <a:rPr sz="2700" spc="-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executes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call </a:t>
            </a:r>
            <a:r>
              <a:rPr sz="2700" spc="-66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instruction, it </a:t>
            </a:r>
            <a:r>
              <a:rPr sz="2700" spc="-5" dirty="0">
                <a:solidFill>
                  <a:srgbClr val="990000"/>
                </a:solidFill>
                <a:latin typeface="Times New Roman"/>
                <a:cs typeface="Times New Roman"/>
              </a:rPr>
              <a:t>saves </a:t>
            </a:r>
            <a:r>
              <a:rPr sz="2700" dirty="0">
                <a:solidFill>
                  <a:srgbClr val="990000"/>
                </a:solidFill>
                <a:latin typeface="Times New Roman"/>
                <a:cs typeface="Times New Roman"/>
              </a:rPr>
              <a:t>the </a:t>
            </a:r>
            <a:r>
              <a:rPr sz="2700" spc="-5" dirty="0">
                <a:solidFill>
                  <a:srgbClr val="990000"/>
                </a:solidFill>
                <a:latin typeface="Times New Roman"/>
                <a:cs typeface="Times New Roman"/>
              </a:rPr>
              <a:t>address </a:t>
            </a:r>
            <a:r>
              <a:rPr sz="2700" dirty="0">
                <a:solidFill>
                  <a:srgbClr val="990000"/>
                </a:solidFill>
                <a:latin typeface="Times New Roman"/>
                <a:cs typeface="Times New Roman"/>
              </a:rPr>
              <a:t>of the next </a:t>
            </a:r>
            <a:r>
              <a:rPr sz="2700" spc="-66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990000"/>
                </a:solidFill>
                <a:latin typeface="Times New Roman"/>
                <a:cs typeface="Times New Roman"/>
              </a:rPr>
              <a:t>instruction</a:t>
            </a:r>
            <a:r>
              <a:rPr sz="2700" spc="-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on</a:t>
            </a:r>
            <a:r>
              <a:rPr sz="2700" spc="-1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 stack.</a:t>
            </a:r>
            <a:endParaRPr sz="2700">
              <a:latin typeface="Times New Roman"/>
              <a:cs typeface="Times New Roman"/>
            </a:endParaRPr>
          </a:p>
          <a:p>
            <a:pPr marL="507365" marR="243840" indent="-495300">
              <a:lnSpc>
                <a:spcPts val="2920"/>
              </a:lnSpc>
              <a:spcBef>
                <a:spcPts val="640"/>
              </a:spcBef>
              <a:buAutoNum type="arabicPeriod" startAt="5"/>
              <a:tabLst>
                <a:tab pos="507365" algn="l"/>
                <a:tab pos="508000" algn="l"/>
              </a:tabLst>
            </a:pP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microprocessor</a:t>
            </a:r>
            <a:r>
              <a:rPr sz="2700" spc="-20" dirty="0"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990000"/>
                </a:solidFill>
                <a:latin typeface="Times New Roman"/>
                <a:cs typeface="Times New Roman"/>
              </a:rPr>
              <a:t>jumps</a:t>
            </a:r>
            <a:r>
              <a:rPr sz="2700" spc="-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990000"/>
                </a:solidFill>
                <a:latin typeface="Times New Roman"/>
                <a:cs typeface="Times New Roman"/>
              </a:rPr>
              <a:t>to</a:t>
            </a:r>
            <a:r>
              <a:rPr sz="2700" spc="-2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990000"/>
                </a:solidFill>
                <a:latin typeface="Times New Roman"/>
                <a:cs typeface="Times New Roman"/>
              </a:rPr>
              <a:t>the</a:t>
            </a:r>
            <a:r>
              <a:rPr sz="2700" spc="-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990000"/>
                </a:solidFill>
                <a:latin typeface="Times New Roman"/>
                <a:cs typeface="Times New Roman"/>
              </a:rPr>
              <a:t>specific</a:t>
            </a:r>
            <a:r>
              <a:rPr sz="2700" spc="-2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990000"/>
                </a:solidFill>
                <a:latin typeface="Times New Roman"/>
                <a:cs typeface="Times New Roman"/>
              </a:rPr>
              <a:t>service </a:t>
            </a:r>
            <a:r>
              <a:rPr sz="2700" spc="-66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990000"/>
                </a:solidFill>
                <a:latin typeface="Times New Roman"/>
                <a:cs typeface="Times New Roman"/>
              </a:rPr>
              <a:t>routine</a:t>
            </a:r>
            <a:r>
              <a:rPr sz="2700" dirty="0">
                <a:latin typeface="Times New Roman"/>
                <a:cs typeface="Times New Roman"/>
              </a:rPr>
              <a:t>.</a:t>
            </a:r>
            <a:endParaRPr sz="2700">
              <a:latin typeface="Times New Roman"/>
              <a:cs typeface="Times New Roman"/>
            </a:endParaRPr>
          </a:p>
          <a:p>
            <a:pPr marL="507365" marR="5080" indent="-495300">
              <a:lnSpc>
                <a:spcPts val="2920"/>
              </a:lnSpc>
              <a:spcBef>
                <a:spcPts val="640"/>
              </a:spcBef>
              <a:buAutoNum type="arabicPeriod" startAt="5"/>
              <a:tabLst>
                <a:tab pos="507365" algn="l"/>
                <a:tab pos="508000" algn="l"/>
              </a:tabLst>
            </a:pP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service</a:t>
            </a:r>
            <a:r>
              <a:rPr sz="2700" spc="-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routine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must</a:t>
            </a:r>
            <a:r>
              <a:rPr sz="2700" spc="-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include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instruction</a:t>
            </a:r>
            <a:r>
              <a:rPr sz="2700" spc="-10" dirty="0"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990000"/>
                </a:solidFill>
                <a:latin typeface="Times New Roman"/>
                <a:cs typeface="Times New Roman"/>
              </a:rPr>
              <a:t>EI </a:t>
            </a:r>
            <a:r>
              <a:rPr sz="2700" spc="-66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to</a:t>
            </a:r>
            <a:r>
              <a:rPr sz="2700" spc="-1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re-enable</a:t>
            </a:r>
            <a:r>
              <a:rPr sz="2700" spc="-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interrupt</a:t>
            </a:r>
            <a:r>
              <a:rPr sz="2700" spc="-5" dirty="0">
                <a:latin typeface="Times New Roman"/>
                <a:cs typeface="Times New Roman"/>
              </a:rPr>
              <a:t> process.</a:t>
            </a:r>
            <a:endParaRPr sz="2700">
              <a:latin typeface="Times New Roman"/>
              <a:cs typeface="Times New Roman"/>
            </a:endParaRPr>
          </a:p>
          <a:p>
            <a:pPr marL="507365" marR="758190" indent="-495300">
              <a:lnSpc>
                <a:spcPts val="2920"/>
              </a:lnSpc>
              <a:spcBef>
                <a:spcPts val="640"/>
              </a:spcBef>
              <a:buAutoNum type="arabicPeriod" startAt="5"/>
              <a:tabLst>
                <a:tab pos="507365" algn="l"/>
                <a:tab pos="508000" algn="l"/>
              </a:tabLst>
            </a:pPr>
            <a:r>
              <a:rPr sz="2700" spc="-5" dirty="0">
                <a:latin typeface="Times New Roman"/>
                <a:cs typeface="Times New Roman"/>
              </a:rPr>
              <a:t>At </a:t>
            </a:r>
            <a:r>
              <a:rPr sz="2700" dirty="0">
                <a:latin typeface="Times New Roman"/>
                <a:cs typeface="Times New Roman"/>
              </a:rPr>
              <a:t>the end of the service routine, the </a:t>
            </a:r>
            <a:r>
              <a:rPr sz="2700" dirty="0">
                <a:solidFill>
                  <a:srgbClr val="990000"/>
                </a:solidFill>
                <a:latin typeface="Times New Roman"/>
                <a:cs typeface="Times New Roman"/>
              </a:rPr>
              <a:t>RET </a:t>
            </a:r>
            <a:r>
              <a:rPr sz="2700" spc="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instruction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990000"/>
                </a:solidFill>
                <a:latin typeface="Times New Roman"/>
                <a:cs typeface="Times New Roman"/>
              </a:rPr>
              <a:t>returns</a:t>
            </a:r>
            <a:r>
              <a:rPr sz="2700" spc="-2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990000"/>
                </a:solidFill>
                <a:latin typeface="Times New Roman"/>
                <a:cs typeface="Times New Roman"/>
              </a:rPr>
              <a:t>the</a:t>
            </a:r>
            <a:r>
              <a:rPr sz="2700" spc="-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990000"/>
                </a:solidFill>
                <a:latin typeface="Times New Roman"/>
                <a:cs typeface="Times New Roman"/>
              </a:rPr>
              <a:t>execution</a:t>
            </a:r>
            <a:r>
              <a:rPr sz="2700" spc="-2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990000"/>
                </a:solidFill>
                <a:latin typeface="Times New Roman"/>
                <a:cs typeface="Times New Roman"/>
              </a:rPr>
              <a:t>to</a:t>
            </a:r>
            <a:r>
              <a:rPr sz="2700" spc="-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990000"/>
                </a:solidFill>
                <a:latin typeface="Times New Roman"/>
                <a:cs typeface="Times New Roman"/>
              </a:rPr>
              <a:t>where</a:t>
            </a:r>
            <a:r>
              <a:rPr sz="2700" spc="-2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990000"/>
                </a:solidFill>
                <a:latin typeface="Times New Roman"/>
                <a:cs typeface="Times New Roman"/>
              </a:rPr>
              <a:t>the </a:t>
            </a:r>
            <a:r>
              <a:rPr sz="2700" spc="-66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990000"/>
                </a:solidFill>
                <a:latin typeface="Times New Roman"/>
                <a:cs typeface="Times New Roman"/>
              </a:rPr>
              <a:t>program</a:t>
            </a:r>
            <a:r>
              <a:rPr sz="2700" spc="-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700" spc="-5" dirty="0">
                <a:solidFill>
                  <a:srgbClr val="990000"/>
                </a:solidFill>
                <a:latin typeface="Times New Roman"/>
                <a:cs typeface="Times New Roman"/>
              </a:rPr>
              <a:t>was </a:t>
            </a:r>
            <a:r>
              <a:rPr sz="2700" dirty="0">
                <a:solidFill>
                  <a:srgbClr val="990000"/>
                </a:solidFill>
                <a:latin typeface="Times New Roman"/>
                <a:cs typeface="Times New Roman"/>
              </a:rPr>
              <a:t>interrupted</a:t>
            </a:r>
            <a:r>
              <a:rPr sz="2700" dirty="0">
                <a:latin typeface="Times New Roman"/>
                <a:cs typeface="Times New Roman"/>
              </a:rPr>
              <a:t>.</a:t>
            </a:r>
            <a:endParaRPr sz="2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43404" y="814069"/>
            <a:ext cx="545655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Manipulating</a:t>
            </a:r>
            <a:r>
              <a:rPr spc="-30" dirty="0"/>
              <a:t> </a:t>
            </a:r>
            <a:r>
              <a:rPr spc="-5" dirty="0"/>
              <a:t>the</a:t>
            </a:r>
            <a:r>
              <a:rPr spc="-25" dirty="0"/>
              <a:t> </a:t>
            </a:r>
            <a:r>
              <a:rPr spc="-5" dirty="0"/>
              <a:t>Masks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2002027"/>
            <a:ext cx="7599680" cy="3928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Interrupt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Enable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flip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flop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5" dirty="0">
                <a:latin typeface="Times New Roman"/>
                <a:cs typeface="Times New Roman"/>
              </a:rPr>
              <a:t> manipulated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using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EI/DI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instructions.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Times New Roman"/>
              <a:buChar char="•"/>
            </a:pPr>
            <a:endParaRPr sz="4050">
              <a:latin typeface="Times New Roman"/>
              <a:cs typeface="Times New Roman"/>
            </a:endParaRPr>
          </a:p>
          <a:p>
            <a:pPr marL="355600" marR="432434" indent="-343535">
              <a:lnSpc>
                <a:spcPct val="100000"/>
              </a:lnSpc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individual </a:t>
            </a:r>
            <a:r>
              <a:rPr sz="2800" spc="-5" dirty="0">
                <a:solidFill>
                  <a:srgbClr val="990000"/>
                </a:solidFill>
                <a:latin typeface="Times New Roman"/>
                <a:cs typeface="Times New Roman"/>
              </a:rPr>
              <a:t>masks </a:t>
            </a:r>
            <a:r>
              <a:rPr sz="2800" dirty="0">
                <a:latin typeface="Times New Roman"/>
                <a:cs typeface="Times New Roman"/>
              </a:rPr>
              <a:t>for </a:t>
            </a:r>
            <a:r>
              <a:rPr sz="2800" spc="-5" dirty="0">
                <a:latin typeface="Times New Roman"/>
                <a:cs typeface="Times New Roman"/>
              </a:rPr>
              <a:t>RST </a:t>
            </a:r>
            <a:r>
              <a:rPr sz="2800" dirty="0">
                <a:latin typeface="Times New Roman"/>
                <a:cs typeface="Times New Roman"/>
              </a:rPr>
              <a:t>5.5, </a:t>
            </a:r>
            <a:r>
              <a:rPr sz="2800" spc="-5" dirty="0">
                <a:latin typeface="Times New Roman"/>
                <a:cs typeface="Times New Roman"/>
              </a:rPr>
              <a:t>RST </a:t>
            </a:r>
            <a:r>
              <a:rPr sz="2800" dirty="0">
                <a:latin typeface="Times New Roman"/>
                <a:cs typeface="Times New Roman"/>
              </a:rPr>
              <a:t>6.5 </a:t>
            </a:r>
            <a:r>
              <a:rPr sz="2800" spc="-5" dirty="0">
                <a:latin typeface="Times New Roman"/>
                <a:cs typeface="Times New Roman"/>
              </a:rPr>
              <a:t>and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RST </a:t>
            </a:r>
            <a:r>
              <a:rPr sz="2800" dirty="0">
                <a:latin typeface="Times New Roman"/>
                <a:cs typeface="Times New Roman"/>
              </a:rPr>
              <a:t>7.5 </a:t>
            </a:r>
            <a:r>
              <a:rPr sz="2800" spc="-5" dirty="0">
                <a:latin typeface="Times New Roman"/>
                <a:cs typeface="Times New Roman"/>
              </a:rPr>
              <a:t>are manipulated </a:t>
            </a:r>
            <a:r>
              <a:rPr sz="2800" dirty="0">
                <a:latin typeface="Times New Roman"/>
                <a:cs typeface="Times New Roman"/>
              </a:rPr>
              <a:t>using the </a:t>
            </a:r>
            <a:r>
              <a:rPr sz="2800" dirty="0">
                <a:solidFill>
                  <a:srgbClr val="990000"/>
                </a:solidFill>
                <a:latin typeface="Times New Roman"/>
                <a:cs typeface="Times New Roman"/>
              </a:rPr>
              <a:t>SIM </a:t>
            </a:r>
            <a:r>
              <a:rPr sz="2800" spc="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instruction.</a:t>
            </a:r>
            <a:endParaRPr sz="2800">
              <a:latin typeface="Times New Roman"/>
              <a:cs typeface="Times New Roman"/>
            </a:endParaRPr>
          </a:p>
          <a:p>
            <a:pPr marL="755650" marR="25400" indent="-285750">
              <a:lnSpc>
                <a:spcPct val="100000"/>
              </a:lnSpc>
              <a:spcBef>
                <a:spcPts val="590"/>
              </a:spcBef>
              <a:tabLst>
                <a:tab pos="755015" algn="l"/>
              </a:tabLst>
            </a:pPr>
            <a:r>
              <a:rPr sz="2400" dirty="0">
                <a:latin typeface="Times New Roman"/>
                <a:cs typeface="Times New Roman"/>
              </a:rPr>
              <a:t>–	</a:t>
            </a:r>
            <a:r>
              <a:rPr sz="2400" spc="-5" dirty="0">
                <a:latin typeface="Times New Roman"/>
                <a:cs typeface="Times New Roman"/>
              </a:rPr>
              <a:t>This instruction takes the bit pattern in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Accumulator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 </a:t>
            </a:r>
            <a:r>
              <a:rPr sz="2400" spc="-5" dirty="0">
                <a:latin typeface="Times New Roman"/>
                <a:cs typeface="Times New Roman"/>
              </a:rPr>
              <a:t>applies it to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interrupt mask enabling </a:t>
            </a:r>
            <a:r>
              <a:rPr sz="2400" dirty="0">
                <a:latin typeface="Times New Roman"/>
                <a:cs typeface="Times New Roman"/>
              </a:rPr>
              <a:t>and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disabling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specific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interrupts.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74469" y="0"/>
            <a:ext cx="5347335" cy="1640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14755" marR="5080" indent="-120269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How SIM Interprets the </a:t>
            </a:r>
            <a:r>
              <a:rPr spc="-1085" dirty="0"/>
              <a:t> </a:t>
            </a:r>
            <a:r>
              <a:rPr spc="-5" dirty="0"/>
              <a:t>Accumulator</a:t>
            </a:r>
          </a:p>
          <a:p>
            <a:pPr marL="1585595">
              <a:lnSpc>
                <a:spcPct val="100000"/>
              </a:lnSpc>
              <a:spcBef>
                <a:spcPts val="720"/>
              </a:spcBef>
              <a:tabLst>
                <a:tab pos="1826260" algn="l"/>
                <a:tab pos="2067560" algn="l"/>
                <a:tab pos="2296160" algn="l"/>
                <a:tab pos="2550160" algn="l"/>
                <a:tab pos="2804795" algn="l"/>
                <a:tab pos="3045460" algn="l"/>
                <a:tab pos="3300095" algn="l"/>
              </a:tabLst>
            </a:pPr>
            <a:r>
              <a:rPr sz="1200" spc="-5" dirty="0">
                <a:latin typeface="Arial MT"/>
                <a:cs typeface="Arial MT"/>
              </a:rPr>
              <a:t>7	6	5	4	3	2	1	0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463925" y="1550987"/>
            <a:ext cx="1992630" cy="523875"/>
            <a:chOff x="3463925" y="1550987"/>
            <a:chExt cx="1992630" cy="523875"/>
          </a:xfrm>
        </p:grpSpPr>
        <p:sp>
          <p:nvSpPr>
            <p:cNvPr id="4" name="object 4"/>
            <p:cNvSpPr/>
            <p:nvPr/>
          </p:nvSpPr>
          <p:spPr>
            <a:xfrm>
              <a:off x="3470275" y="1557337"/>
              <a:ext cx="1979930" cy="511175"/>
            </a:xfrm>
            <a:custGeom>
              <a:avLst/>
              <a:gdLst/>
              <a:ahLst/>
              <a:cxnLst/>
              <a:rect l="l" t="t" r="r" b="b"/>
              <a:pathLst>
                <a:path w="1979929" h="511175">
                  <a:moveTo>
                    <a:pt x="1979612" y="0"/>
                  </a:moveTo>
                  <a:lnTo>
                    <a:pt x="0" y="0"/>
                  </a:lnTo>
                  <a:lnTo>
                    <a:pt x="0" y="511175"/>
                  </a:lnTo>
                  <a:lnTo>
                    <a:pt x="1979612" y="511175"/>
                  </a:lnTo>
                  <a:lnTo>
                    <a:pt x="1979612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470275" y="1557337"/>
              <a:ext cx="1979930" cy="511175"/>
            </a:xfrm>
            <a:custGeom>
              <a:avLst/>
              <a:gdLst/>
              <a:ahLst/>
              <a:cxnLst/>
              <a:rect l="l" t="t" r="r" b="b"/>
              <a:pathLst>
                <a:path w="1979929" h="511175">
                  <a:moveTo>
                    <a:pt x="0" y="0"/>
                  </a:moveTo>
                  <a:lnTo>
                    <a:pt x="1979612" y="0"/>
                  </a:lnTo>
                  <a:lnTo>
                    <a:pt x="1979612" y="511175"/>
                  </a:lnTo>
                  <a:lnTo>
                    <a:pt x="0" y="51117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81411" y="1594440"/>
            <a:ext cx="1925320" cy="42481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5" dirty="0">
                <a:latin typeface="Arial MT"/>
                <a:cs typeface="Arial MT"/>
              </a:rPr>
              <a:t>SDO</a:t>
            </a:r>
            <a:endParaRPr sz="1400">
              <a:latin typeface="Arial MT"/>
              <a:cs typeface="Arial MT"/>
            </a:endParaRPr>
          </a:p>
          <a:p>
            <a:pPr marL="15875">
              <a:lnSpc>
                <a:spcPct val="100000"/>
              </a:lnSpc>
              <a:spcBef>
                <a:spcPts val="219"/>
              </a:spcBef>
            </a:pPr>
            <a:r>
              <a:rPr sz="1400" spc="-5" dirty="0">
                <a:latin typeface="Arial MT"/>
                <a:cs typeface="Arial MT"/>
              </a:rPr>
              <a:t>SDE</a:t>
            </a:r>
            <a:endParaRPr sz="1400">
              <a:latin typeface="Arial MT"/>
              <a:cs typeface="Arial MT"/>
            </a:endParaRPr>
          </a:p>
          <a:p>
            <a:pPr marL="13970" marR="5080" indent="1270" algn="just">
              <a:lnSpc>
                <a:spcPct val="113199"/>
              </a:lnSpc>
              <a:spcBef>
                <a:spcPts val="85"/>
              </a:spcBef>
            </a:pPr>
            <a:r>
              <a:rPr sz="1400" spc="-10" dirty="0">
                <a:latin typeface="Arial MT"/>
                <a:cs typeface="Arial MT"/>
              </a:rPr>
              <a:t>XXX </a:t>
            </a:r>
            <a:r>
              <a:rPr sz="1400" spc="-38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R7.5 </a:t>
            </a:r>
            <a:r>
              <a:rPr sz="1400" spc="-38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</a:t>
            </a:r>
            <a:r>
              <a:rPr sz="1400" spc="-5" dirty="0">
                <a:latin typeface="Arial MT"/>
                <a:cs typeface="Arial MT"/>
              </a:rPr>
              <a:t>SE  </a:t>
            </a:r>
            <a:r>
              <a:rPr sz="1400" dirty="0">
                <a:latin typeface="Arial MT"/>
                <a:cs typeface="Arial MT"/>
              </a:rPr>
              <a:t>M7.5  M6.5  M5.5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327276" y="1550988"/>
            <a:ext cx="3380104" cy="3430904"/>
            <a:chOff x="2327276" y="1550988"/>
            <a:chExt cx="3380104" cy="3430904"/>
          </a:xfrm>
        </p:grpSpPr>
        <p:sp>
          <p:nvSpPr>
            <p:cNvPr id="8" name="object 8"/>
            <p:cNvSpPr/>
            <p:nvPr/>
          </p:nvSpPr>
          <p:spPr>
            <a:xfrm>
              <a:off x="3706812" y="1557338"/>
              <a:ext cx="0" cy="511175"/>
            </a:xfrm>
            <a:custGeom>
              <a:avLst/>
              <a:gdLst/>
              <a:ahLst/>
              <a:cxnLst/>
              <a:rect l="l" t="t" r="r" b="b"/>
              <a:pathLst>
                <a:path h="511175">
                  <a:moveTo>
                    <a:pt x="0" y="511175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959225" y="1557338"/>
              <a:ext cx="0" cy="511175"/>
            </a:xfrm>
            <a:custGeom>
              <a:avLst/>
              <a:gdLst/>
              <a:ahLst/>
              <a:cxnLst/>
              <a:rect l="l" t="t" r="r" b="b"/>
              <a:pathLst>
                <a:path h="511175">
                  <a:moveTo>
                    <a:pt x="0" y="511175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198937" y="1557338"/>
              <a:ext cx="0" cy="511175"/>
            </a:xfrm>
            <a:custGeom>
              <a:avLst/>
              <a:gdLst/>
              <a:ahLst/>
              <a:cxnLst/>
              <a:rect l="l" t="t" r="r" b="b"/>
              <a:pathLst>
                <a:path h="511175">
                  <a:moveTo>
                    <a:pt x="0" y="511175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438650" y="1557338"/>
              <a:ext cx="0" cy="511175"/>
            </a:xfrm>
            <a:custGeom>
              <a:avLst/>
              <a:gdLst/>
              <a:ahLst/>
              <a:cxnLst/>
              <a:rect l="l" t="t" r="r" b="b"/>
              <a:pathLst>
                <a:path h="511175">
                  <a:moveTo>
                    <a:pt x="0" y="511175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691062" y="1557338"/>
              <a:ext cx="0" cy="511175"/>
            </a:xfrm>
            <a:custGeom>
              <a:avLst/>
              <a:gdLst/>
              <a:ahLst/>
              <a:cxnLst/>
              <a:rect l="l" t="t" r="r" b="b"/>
              <a:pathLst>
                <a:path h="511175">
                  <a:moveTo>
                    <a:pt x="0" y="511175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43475" y="1557338"/>
              <a:ext cx="0" cy="511175"/>
            </a:xfrm>
            <a:custGeom>
              <a:avLst/>
              <a:gdLst/>
              <a:ahLst/>
              <a:cxnLst/>
              <a:rect l="l" t="t" r="r" b="b"/>
              <a:pathLst>
                <a:path h="511175">
                  <a:moveTo>
                    <a:pt x="0" y="511175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183187" y="1557338"/>
              <a:ext cx="0" cy="511175"/>
            </a:xfrm>
            <a:custGeom>
              <a:avLst/>
              <a:gdLst/>
              <a:ahLst/>
              <a:cxnLst/>
              <a:rect l="l" t="t" r="r" b="b"/>
              <a:pathLst>
                <a:path h="511175">
                  <a:moveTo>
                    <a:pt x="0" y="511175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316537" y="2066925"/>
              <a:ext cx="0" cy="224154"/>
            </a:xfrm>
            <a:custGeom>
              <a:avLst/>
              <a:gdLst/>
              <a:ahLst/>
              <a:cxnLst/>
              <a:rect l="l" t="t" r="r" b="b"/>
              <a:pathLst>
                <a:path h="224155">
                  <a:moveTo>
                    <a:pt x="0" y="0"/>
                  </a:moveTo>
                  <a:lnTo>
                    <a:pt x="0" y="22383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057775" y="2068513"/>
              <a:ext cx="0" cy="422275"/>
            </a:xfrm>
            <a:custGeom>
              <a:avLst/>
              <a:gdLst/>
              <a:ahLst/>
              <a:cxnLst/>
              <a:rect l="l" t="t" r="r" b="b"/>
              <a:pathLst>
                <a:path h="422275">
                  <a:moveTo>
                    <a:pt x="0" y="0"/>
                  </a:moveTo>
                  <a:lnTo>
                    <a:pt x="0" y="42227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811712" y="2070100"/>
              <a:ext cx="0" cy="647700"/>
            </a:xfrm>
            <a:custGeom>
              <a:avLst/>
              <a:gdLst/>
              <a:ahLst/>
              <a:cxnLst/>
              <a:rect l="l" t="t" r="r" b="b"/>
              <a:pathLst>
                <a:path h="647700">
                  <a:moveTo>
                    <a:pt x="0" y="0"/>
                  </a:moveTo>
                  <a:lnTo>
                    <a:pt x="0" y="6477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578350" y="2071688"/>
              <a:ext cx="0" cy="1406525"/>
            </a:xfrm>
            <a:custGeom>
              <a:avLst/>
              <a:gdLst/>
              <a:ahLst/>
              <a:cxnLst/>
              <a:rect l="l" t="t" r="r" b="b"/>
              <a:pathLst>
                <a:path h="1406525">
                  <a:moveTo>
                    <a:pt x="0" y="0"/>
                  </a:moveTo>
                  <a:lnTo>
                    <a:pt x="0" y="140652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332287" y="2073275"/>
              <a:ext cx="0" cy="2875280"/>
            </a:xfrm>
            <a:custGeom>
              <a:avLst/>
              <a:gdLst/>
              <a:ahLst/>
              <a:cxnLst/>
              <a:rect l="l" t="t" r="r" b="b"/>
              <a:pathLst>
                <a:path h="2875279">
                  <a:moveTo>
                    <a:pt x="0" y="0"/>
                  </a:moveTo>
                  <a:lnTo>
                    <a:pt x="0" y="2874962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086225" y="2074863"/>
              <a:ext cx="0" cy="2863850"/>
            </a:xfrm>
            <a:custGeom>
              <a:avLst/>
              <a:gdLst/>
              <a:ahLst/>
              <a:cxnLst/>
              <a:rect l="l" t="t" r="r" b="b"/>
              <a:pathLst>
                <a:path h="2863850">
                  <a:moveTo>
                    <a:pt x="0" y="0"/>
                  </a:moveTo>
                  <a:lnTo>
                    <a:pt x="0" y="286385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840162" y="2076450"/>
              <a:ext cx="0" cy="1381125"/>
            </a:xfrm>
            <a:custGeom>
              <a:avLst/>
              <a:gdLst/>
              <a:ahLst/>
              <a:cxnLst/>
              <a:rect l="l" t="t" r="r" b="b"/>
              <a:pathLst>
                <a:path h="1381125">
                  <a:moveTo>
                    <a:pt x="0" y="0"/>
                  </a:moveTo>
                  <a:lnTo>
                    <a:pt x="0" y="138112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594100" y="2078038"/>
              <a:ext cx="0" cy="396875"/>
            </a:xfrm>
            <a:custGeom>
              <a:avLst/>
              <a:gdLst/>
              <a:ahLst/>
              <a:cxnLst/>
              <a:rect l="l" t="t" r="r" b="b"/>
              <a:pathLst>
                <a:path h="396875">
                  <a:moveTo>
                    <a:pt x="0" y="0"/>
                  </a:moveTo>
                  <a:lnTo>
                    <a:pt x="0" y="39687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316537" y="2290763"/>
              <a:ext cx="322580" cy="0"/>
            </a:xfrm>
            <a:custGeom>
              <a:avLst/>
              <a:gdLst/>
              <a:ahLst/>
              <a:cxnLst/>
              <a:rect l="l" t="t" r="r" b="b"/>
              <a:pathLst>
                <a:path w="322579">
                  <a:moveTo>
                    <a:pt x="0" y="0"/>
                  </a:moveTo>
                  <a:lnTo>
                    <a:pt x="32226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626102" y="225265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059362" y="2505075"/>
              <a:ext cx="584200" cy="0"/>
            </a:xfrm>
            <a:custGeom>
              <a:avLst/>
              <a:gdLst/>
              <a:ahLst/>
              <a:cxnLst/>
              <a:rect l="l" t="t" r="r" b="b"/>
              <a:pathLst>
                <a:path w="584200">
                  <a:moveTo>
                    <a:pt x="0" y="0"/>
                  </a:moveTo>
                  <a:lnTo>
                    <a:pt x="5842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630865" y="246697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826000" y="2719388"/>
              <a:ext cx="809625" cy="0"/>
            </a:xfrm>
            <a:custGeom>
              <a:avLst/>
              <a:gdLst/>
              <a:ahLst/>
              <a:cxnLst/>
              <a:rect l="l" t="t" r="r" b="b"/>
              <a:pathLst>
                <a:path w="809625">
                  <a:moveTo>
                    <a:pt x="0" y="0"/>
                  </a:moveTo>
                  <a:lnTo>
                    <a:pt x="80962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622927" y="268128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581525" y="3473449"/>
              <a:ext cx="1019175" cy="0"/>
            </a:xfrm>
            <a:custGeom>
              <a:avLst/>
              <a:gdLst/>
              <a:ahLst/>
              <a:cxnLst/>
              <a:rect l="l" t="t" r="r" b="b"/>
              <a:pathLst>
                <a:path w="1019175">
                  <a:moveTo>
                    <a:pt x="0" y="0"/>
                  </a:moveTo>
                  <a:lnTo>
                    <a:pt x="10191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588002" y="343534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332287" y="4943475"/>
              <a:ext cx="1256030" cy="0"/>
            </a:xfrm>
            <a:custGeom>
              <a:avLst/>
              <a:gdLst/>
              <a:ahLst/>
              <a:cxnLst/>
              <a:rect l="l" t="t" r="r" b="b"/>
              <a:pathLst>
                <a:path w="1256029">
                  <a:moveTo>
                    <a:pt x="0" y="0"/>
                  </a:moveTo>
                  <a:lnTo>
                    <a:pt x="125571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575302" y="490537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390775" y="4943475"/>
              <a:ext cx="1692275" cy="0"/>
            </a:xfrm>
            <a:custGeom>
              <a:avLst/>
              <a:gdLst/>
              <a:ahLst/>
              <a:cxnLst/>
              <a:rect l="l" t="t" r="r" b="b"/>
              <a:pathLst>
                <a:path w="1692275">
                  <a:moveTo>
                    <a:pt x="1692275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327276" y="490537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441575" y="3460749"/>
              <a:ext cx="1392555" cy="0"/>
            </a:xfrm>
            <a:custGeom>
              <a:avLst/>
              <a:gdLst/>
              <a:ahLst/>
              <a:cxnLst/>
              <a:rect l="l" t="t" r="r" b="b"/>
              <a:pathLst>
                <a:path w="1392554">
                  <a:moveTo>
                    <a:pt x="1392237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378076" y="342264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5800090" y="2073410"/>
            <a:ext cx="1101090" cy="77533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 algn="just">
              <a:lnSpc>
                <a:spcPct val="116100"/>
              </a:lnSpc>
              <a:spcBef>
                <a:spcPts val="150"/>
              </a:spcBef>
            </a:pPr>
            <a:r>
              <a:rPr sz="1400" spc="-5" dirty="0">
                <a:latin typeface="Arial MT"/>
                <a:cs typeface="Arial MT"/>
              </a:rPr>
              <a:t>RST5.5</a:t>
            </a:r>
            <a:r>
              <a:rPr sz="1400" spc="-8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Mask </a:t>
            </a:r>
            <a:r>
              <a:rPr sz="1400" spc="-38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RST6.5</a:t>
            </a:r>
            <a:r>
              <a:rPr sz="1400" spc="-8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Mask </a:t>
            </a:r>
            <a:r>
              <a:rPr sz="1400" spc="-38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RST7.5</a:t>
            </a:r>
            <a:r>
              <a:rPr sz="1400" spc="-8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Mask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958965" y="2067242"/>
            <a:ext cx="21209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5" dirty="0">
                <a:latin typeface="Arial MT"/>
                <a:cs typeface="Arial MT"/>
              </a:rPr>
              <a:t>}</a:t>
            </a:r>
            <a:endParaRPr sz="440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205027" y="2250948"/>
            <a:ext cx="9899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9385" indent="-147320">
              <a:lnSpc>
                <a:spcPct val="100000"/>
              </a:lnSpc>
              <a:spcBef>
                <a:spcPts val="95"/>
              </a:spcBef>
              <a:buAutoNum type="arabicPlain"/>
              <a:tabLst>
                <a:tab pos="160020" algn="l"/>
              </a:tabLst>
            </a:pPr>
            <a:r>
              <a:rPr sz="1400" spc="-5" dirty="0">
                <a:latin typeface="Arial MT"/>
                <a:cs typeface="Arial MT"/>
              </a:rPr>
              <a:t>-</a:t>
            </a:r>
            <a:r>
              <a:rPr sz="1400" spc="-80" dirty="0">
                <a:latin typeface="Arial MT"/>
                <a:cs typeface="Arial MT"/>
              </a:rPr>
              <a:t> </a:t>
            </a:r>
            <a:r>
              <a:rPr sz="1400" spc="-35" dirty="0">
                <a:latin typeface="Arial MT"/>
                <a:cs typeface="Arial MT"/>
              </a:rPr>
              <a:t>A</a:t>
            </a:r>
            <a:r>
              <a:rPr sz="1400" spc="-5" dirty="0">
                <a:latin typeface="Arial MT"/>
                <a:cs typeface="Arial MT"/>
              </a:rPr>
              <a:t>vailable</a:t>
            </a:r>
            <a:endParaRPr sz="1400">
              <a:latin typeface="Arial MT"/>
              <a:cs typeface="Arial MT"/>
            </a:endParaRPr>
          </a:p>
          <a:p>
            <a:pPr marL="159385" indent="-147320">
              <a:lnSpc>
                <a:spcPct val="100000"/>
              </a:lnSpc>
              <a:buAutoNum type="arabicPlain"/>
              <a:tabLst>
                <a:tab pos="160020" algn="l"/>
              </a:tabLst>
            </a:pPr>
            <a:r>
              <a:rPr sz="1400" spc="-5" dirty="0">
                <a:latin typeface="Arial MT"/>
                <a:cs typeface="Arial MT"/>
              </a:rPr>
              <a:t>-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Masked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825490" y="3333622"/>
            <a:ext cx="222504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815975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 MT"/>
                <a:cs typeface="Arial MT"/>
              </a:rPr>
              <a:t>Mask Set Enable </a:t>
            </a:r>
            <a:r>
              <a:rPr sz="1400" spc="-37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0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-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Ignore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bits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0-2</a:t>
            </a:r>
            <a:endParaRPr sz="1400">
              <a:latin typeface="Arial MT"/>
              <a:cs typeface="Arial MT"/>
            </a:endParaRPr>
          </a:p>
          <a:p>
            <a:pPr marL="307340" marR="5080" indent="-295275">
              <a:lnSpc>
                <a:spcPct val="100000"/>
              </a:lnSpc>
            </a:pPr>
            <a:r>
              <a:rPr sz="1400" spc="-5" dirty="0">
                <a:latin typeface="Arial MT"/>
                <a:cs typeface="Arial MT"/>
              </a:rPr>
              <a:t>1 - Set the masks according </a:t>
            </a:r>
            <a:r>
              <a:rPr sz="1400" spc="-37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to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bits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0-2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850890" y="4790947"/>
            <a:ext cx="249872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 MT"/>
                <a:cs typeface="Arial MT"/>
              </a:rPr>
              <a:t>Force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RST7.5 Flip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Flop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to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reset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482089" y="4816347"/>
            <a:ext cx="76581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 MT"/>
                <a:cs typeface="Arial MT"/>
              </a:rPr>
              <a:t>Not</a:t>
            </a:r>
            <a:r>
              <a:rPr sz="1400" spc="-8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Used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64540" y="3338385"/>
            <a:ext cx="1997075" cy="665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497205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 MT"/>
                <a:cs typeface="Arial MT"/>
              </a:rPr>
              <a:t>Enable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Serial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Data </a:t>
            </a:r>
            <a:r>
              <a:rPr sz="1400" spc="-37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0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-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Ignore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bit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7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400" spc="-5" dirty="0">
                <a:latin typeface="Arial MT"/>
                <a:cs typeface="Arial MT"/>
              </a:rPr>
              <a:t>1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-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Send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bit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7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to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SOD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pin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2427290" y="2438396"/>
            <a:ext cx="1170305" cy="76200"/>
            <a:chOff x="2427290" y="2438396"/>
            <a:chExt cx="1170305" cy="76200"/>
          </a:xfrm>
        </p:grpSpPr>
        <p:sp>
          <p:nvSpPr>
            <p:cNvPr id="45" name="object 45"/>
            <p:cNvSpPr/>
            <p:nvPr/>
          </p:nvSpPr>
          <p:spPr>
            <a:xfrm>
              <a:off x="2490787" y="2476499"/>
              <a:ext cx="1106805" cy="0"/>
            </a:xfrm>
            <a:custGeom>
              <a:avLst/>
              <a:gdLst/>
              <a:ahLst/>
              <a:cxnLst/>
              <a:rect l="l" t="t" r="r" b="b"/>
              <a:pathLst>
                <a:path w="1106804">
                  <a:moveTo>
                    <a:pt x="1106487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427290" y="24383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964564" y="2312860"/>
            <a:ext cx="123888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 MT"/>
                <a:cs typeface="Arial MT"/>
              </a:rPr>
              <a:t>Serial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Data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Out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17300" y="204469"/>
            <a:ext cx="626110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SIM</a:t>
            </a:r>
            <a:r>
              <a:rPr spc="-15" dirty="0"/>
              <a:t> </a:t>
            </a:r>
            <a:r>
              <a:rPr spc="-5" dirty="0"/>
              <a:t>and</a:t>
            </a:r>
            <a:r>
              <a:rPr spc="-10" dirty="0"/>
              <a:t> </a:t>
            </a:r>
            <a:r>
              <a:rPr spc="-5" dirty="0"/>
              <a:t>the</a:t>
            </a:r>
            <a:r>
              <a:rPr spc="-15" dirty="0"/>
              <a:t> </a:t>
            </a:r>
            <a:r>
              <a:rPr spc="-5" dirty="0"/>
              <a:t>Interrupt</a:t>
            </a:r>
            <a:r>
              <a:rPr spc="-15" dirty="0"/>
              <a:t> </a:t>
            </a:r>
            <a:r>
              <a:rPr spc="-5" dirty="0"/>
              <a:t>Mask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0739" y="1273555"/>
            <a:ext cx="7543800" cy="521208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4965" marR="5080" indent="-342900">
              <a:lnSpc>
                <a:spcPts val="3020"/>
              </a:lnSpc>
              <a:spcBef>
                <a:spcPts val="484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Bit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0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990000"/>
                </a:solidFill>
                <a:latin typeface="Times New Roman"/>
                <a:cs typeface="Times New Roman"/>
              </a:rPr>
              <a:t>mask</a:t>
            </a:r>
            <a:r>
              <a:rPr sz="2800" spc="-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RST</a:t>
            </a:r>
            <a:r>
              <a:rPr sz="2800" dirty="0">
                <a:latin typeface="Times New Roman"/>
                <a:cs typeface="Times New Roman"/>
              </a:rPr>
              <a:t> 5.5,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bit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990000"/>
                </a:solidFill>
                <a:latin typeface="Times New Roman"/>
                <a:cs typeface="Times New Roman"/>
              </a:rPr>
              <a:t>mask</a:t>
            </a:r>
            <a:r>
              <a:rPr sz="2800" spc="-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RST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6.5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bit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2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990000"/>
                </a:solidFill>
                <a:latin typeface="Times New Roman"/>
                <a:cs typeface="Times New Roman"/>
              </a:rPr>
              <a:t>mask</a:t>
            </a:r>
            <a:r>
              <a:rPr sz="2800" spc="-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5" dirty="0">
                <a:latin typeface="Times New Roman"/>
                <a:cs typeface="Times New Roman"/>
              </a:rPr>
              <a:t> RST</a:t>
            </a:r>
            <a:r>
              <a:rPr sz="2800" dirty="0">
                <a:latin typeface="Times New Roman"/>
                <a:cs typeface="Times New Roman"/>
              </a:rPr>
              <a:t> 7.5.</a:t>
            </a:r>
            <a:endParaRPr sz="2800">
              <a:latin typeface="Times New Roman"/>
              <a:cs typeface="Times New Roman"/>
            </a:endParaRPr>
          </a:p>
          <a:p>
            <a:pPr marL="1155700" lvl="1" indent="-229870">
              <a:lnSpc>
                <a:spcPct val="100000"/>
              </a:lnSpc>
              <a:spcBef>
                <a:spcPts val="225"/>
              </a:spcBef>
              <a:buChar char="•"/>
              <a:tabLst>
                <a:tab pos="1155065" algn="l"/>
                <a:tab pos="1156335" algn="l"/>
              </a:tabLst>
            </a:pPr>
            <a:r>
              <a:rPr sz="2000" spc="-5" dirty="0">
                <a:latin typeface="Times New Roman"/>
                <a:cs typeface="Times New Roman"/>
              </a:rPr>
              <a:t>If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 mask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bit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0,</a:t>
            </a:r>
            <a:r>
              <a:rPr sz="2000" spc="-5" dirty="0">
                <a:latin typeface="Times New Roman"/>
                <a:cs typeface="Times New Roman"/>
              </a:rPr>
              <a:t> the interrupt is </a:t>
            </a:r>
            <a:r>
              <a:rPr sz="2000" spc="-5" dirty="0">
                <a:solidFill>
                  <a:srgbClr val="3333CC"/>
                </a:solidFill>
                <a:latin typeface="Times New Roman"/>
                <a:cs typeface="Times New Roman"/>
              </a:rPr>
              <a:t>available</a:t>
            </a:r>
            <a:r>
              <a:rPr sz="2000" spc="-5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1155700" lvl="1" indent="-229235">
              <a:lnSpc>
                <a:spcPct val="100000"/>
              </a:lnSpc>
              <a:spcBef>
                <a:spcPts val="240"/>
              </a:spcBef>
              <a:buChar char="•"/>
              <a:tabLst>
                <a:tab pos="1155065" algn="l"/>
                <a:tab pos="1155700" algn="l"/>
              </a:tabLst>
            </a:pPr>
            <a:r>
              <a:rPr sz="2000" spc="-5" dirty="0">
                <a:latin typeface="Times New Roman"/>
                <a:cs typeface="Times New Roman"/>
              </a:rPr>
              <a:t>If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 mask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bit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1,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interrupt 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333CC"/>
                </a:solidFill>
                <a:latin typeface="Times New Roman"/>
                <a:cs typeface="Times New Roman"/>
              </a:rPr>
              <a:t>masked</a:t>
            </a:r>
            <a:r>
              <a:rPr sz="2000" spc="-5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buFont typeface="Times New Roman"/>
              <a:buChar char="•"/>
            </a:pPr>
            <a:endParaRPr sz="2200">
              <a:latin typeface="Times New Roman"/>
              <a:cs typeface="Times New Roman"/>
            </a:endParaRPr>
          </a:p>
          <a:p>
            <a:pPr marL="355600" marR="449580" indent="-343535">
              <a:lnSpc>
                <a:spcPts val="3020"/>
              </a:lnSpc>
              <a:spcBef>
                <a:spcPts val="1860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Bit </a:t>
            </a:r>
            <a:r>
              <a:rPr sz="2800" dirty="0">
                <a:latin typeface="Times New Roman"/>
                <a:cs typeface="Times New Roman"/>
              </a:rPr>
              <a:t>3 </a:t>
            </a:r>
            <a:r>
              <a:rPr sz="2800" spc="-5" dirty="0">
                <a:latin typeface="Times New Roman"/>
                <a:cs typeface="Times New Roman"/>
              </a:rPr>
              <a:t>(Mask Set Enable </a:t>
            </a:r>
            <a:r>
              <a:rPr sz="2800" dirty="0">
                <a:latin typeface="Times New Roman"/>
                <a:cs typeface="Times New Roman"/>
              </a:rPr>
              <a:t>- </a:t>
            </a:r>
            <a:r>
              <a:rPr sz="2800" spc="-5" dirty="0">
                <a:latin typeface="Times New Roman"/>
                <a:cs typeface="Times New Roman"/>
              </a:rPr>
              <a:t>MSE) </a:t>
            </a:r>
            <a:r>
              <a:rPr sz="2800" dirty="0">
                <a:latin typeface="Times New Roman"/>
                <a:cs typeface="Times New Roman"/>
              </a:rPr>
              <a:t>is </a:t>
            </a:r>
            <a:r>
              <a:rPr sz="2800" spc="-5" dirty="0">
                <a:latin typeface="Times New Roman"/>
                <a:cs typeface="Times New Roman"/>
              </a:rPr>
              <a:t>an </a:t>
            </a:r>
            <a:r>
              <a:rPr sz="2800" spc="-5" dirty="0">
                <a:solidFill>
                  <a:srgbClr val="339933"/>
                </a:solidFill>
                <a:latin typeface="Times New Roman"/>
                <a:cs typeface="Times New Roman"/>
              </a:rPr>
              <a:t>enable </a:t>
            </a:r>
            <a:r>
              <a:rPr sz="2800" dirty="0">
                <a:solidFill>
                  <a:srgbClr val="339933"/>
                </a:solidFill>
                <a:latin typeface="Times New Roman"/>
                <a:cs typeface="Times New Roman"/>
              </a:rPr>
              <a:t>for </a:t>
            </a:r>
            <a:r>
              <a:rPr sz="2800" spc="-685" dirty="0">
                <a:solidFill>
                  <a:srgbClr val="339933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339933"/>
                </a:solidFill>
                <a:latin typeface="Times New Roman"/>
                <a:cs typeface="Times New Roman"/>
              </a:rPr>
              <a:t>setting</a:t>
            </a:r>
            <a:r>
              <a:rPr sz="2800" spc="-30" dirty="0">
                <a:solidFill>
                  <a:srgbClr val="339933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9933"/>
                </a:solidFill>
                <a:latin typeface="Times New Roman"/>
                <a:cs typeface="Times New Roman"/>
              </a:rPr>
              <a:t>the</a:t>
            </a:r>
            <a:r>
              <a:rPr sz="2800" spc="-15" dirty="0">
                <a:solidFill>
                  <a:srgbClr val="339933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339933"/>
                </a:solidFill>
                <a:latin typeface="Times New Roman"/>
                <a:cs typeface="Times New Roman"/>
              </a:rPr>
              <a:t>mask</a:t>
            </a:r>
            <a:r>
              <a:rPr sz="2800" spc="-5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  <a:p>
            <a:pPr marL="1155700" lvl="1" indent="-229870">
              <a:lnSpc>
                <a:spcPct val="100000"/>
              </a:lnSpc>
              <a:spcBef>
                <a:spcPts val="225"/>
              </a:spcBef>
              <a:buChar char="•"/>
              <a:tabLst>
                <a:tab pos="1155065" algn="l"/>
                <a:tab pos="1156335" algn="l"/>
              </a:tabLst>
            </a:pPr>
            <a:r>
              <a:rPr sz="2000" spc="-5" dirty="0">
                <a:latin typeface="Times New Roman"/>
                <a:cs typeface="Times New Roman"/>
              </a:rPr>
              <a:t>If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 set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0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 mask 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333CC"/>
                </a:solidFill>
                <a:latin typeface="Times New Roman"/>
                <a:cs typeface="Times New Roman"/>
              </a:rPr>
              <a:t>ignored</a:t>
            </a:r>
            <a:r>
              <a:rPr sz="2000" spc="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and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 old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settings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remain.</a:t>
            </a:r>
            <a:endParaRPr sz="2000">
              <a:latin typeface="Times New Roman"/>
              <a:cs typeface="Times New Roman"/>
            </a:endParaRPr>
          </a:p>
          <a:p>
            <a:pPr marL="1155700" lvl="1" indent="-229870">
              <a:lnSpc>
                <a:spcPct val="100000"/>
              </a:lnSpc>
              <a:spcBef>
                <a:spcPts val="240"/>
              </a:spcBef>
              <a:buChar char="•"/>
              <a:tabLst>
                <a:tab pos="1155065" algn="l"/>
                <a:tab pos="1156335" algn="l"/>
              </a:tabLst>
            </a:pPr>
            <a:r>
              <a:rPr sz="2000" spc="-5" dirty="0">
                <a:latin typeface="Times New Roman"/>
                <a:cs typeface="Times New Roman"/>
              </a:rPr>
              <a:t>If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set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1,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 new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setting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are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333CC"/>
                </a:solidFill>
                <a:latin typeface="Times New Roman"/>
                <a:cs typeface="Times New Roman"/>
              </a:rPr>
              <a:t>applied</a:t>
            </a:r>
            <a:r>
              <a:rPr sz="2000" spc="-5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1155065" marR="5715" lvl="1" indent="-229235">
              <a:lnSpc>
                <a:spcPts val="2160"/>
              </a:lnSpc>
              <a:spcBef>
                <a:spcPts val="509"/>
              </a:spcBef>
              <a:buChar char="•"/>
              <a:tabLst>
                <a:tab pos="1155065" algn="l"/>
                <a:tab pos="1155700" algn="l"/>
              </a:tabLst>
            </a:pPr>
            <a:r>
              <a:rPr sz="2000" spc="-5" dirty="0">
                <a:latin typeface="Times New Roman"/>
                <a:cs typeface="Times New Roman"/>
              </a:rPr>
              <a:t>The SIM instruction is used for multiple purposes and not only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setting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interrupt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masks.</a:t>
            </a:r>
            <a:endParaRPr sz="2000">
              <a:latin typeface="Times New Roman"/>
              <a:cs typeface="Times New Roman"/>
            </a:endParaRPr>
          </a:p>
          <a:p>
            <a:pPr marL="1612265" marR="386080" lvl="2" indent="-228600">
              <a:lnSpc>
                <a:spcPts val="1939"/>
              </a:lnSpc>
              <a:spcBef>
                <a:spcPts val="445"/>
              </a:spcBef>
              <a:buFont typeface="Times New Roman"/>
              <a:buChar char="–"/>
              <a:tabLst>
                <a:tab pos="1612900" algn="l"/>
              </a:tabLst>
            </a:pPr>
            <a:r>
              <a:rPr sz="1800" b="1" spc="-5" dirty="0">
                <a:latin typeface="Times New Roman"/>
                <a:cs typeface="Times New Roman"/>
              </a:rPr>
              <a:t>It is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also</a:t>
            </a:r>
            <a:r>
              <a:rPr sz="1800" b="1" spc="1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used</a:t>
            </a:r>
            <a:r>
              <a:rPr sz="1800" b="1" dirty="0">
                <a:latin typeface="Times New Roman"/>
                <a:cs typeface="Times New Roman"/>
              </a:rPr>
              <a:t> to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control</a:t>
            </a:r>
            <a:r>
              <a:rPr sz="1800" b="1" spc="1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functionality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such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as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Serial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Data </a:t>
            </a:r>
            <a:r>
              <a:rPr sz="1800" b="1" spc="-434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Transmission.</a:t>
            </a:r>
            <a:endParaRPr sz="1800">
              <a:latin typeface="Times New Roman"/>
              <a:cs typeface="Times New Roman"/>
            </a:endParaRPr>
          </a:p>
          <a:p>
            <a:pPr marL="1612265" marR="577215" lvl="2" indent="-228600">
              <a:lnSpc>
                <a:spcPts val="1939"/>
              </a:lnSpc>
              <a:spcBef>
                <a:spcPts val="440"/>
              </a:spcBef>
              <a:buFont typeface="Times New Roman"/>
              <a:buChar char="–"/>
              <a:tabLst>
                <a:tab pos="1612900" algn="l"/>
              </a:tabLst>
            </a:pPr>
            <a:r>
              <a:rPr sz="1800" b="1" spc="-5" dirty="0">
                <a:latin typeface="Times New Roman"/>
                <a:cs typeface="Times New Roman"/>
              </a:rPr>
              <a:t>Therefore,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bit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3 </a:t>
            </a:r>
            <a:r>
              <a:rPr sz="1800" b="1" spc="-5" dirty="0">
                <a:latin typeface="Times New Roman"/>
                <a:cs typeface="Times New Roman"/>
              </a:rPr>
              <a:t>is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necessary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to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tell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the microprocessor 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whether </a:t>
            </a:r>
            <a:r>
              <a:rPr sz="1800" b="1" dirty="0">
                <a:latin typeface="Times New Roman"/>
                <a:cs typeface="Times New Roman"/>
              </a:rPr>
              <a:t>or </a:t>
            </a:r>
            <a:r>
              <a:rPr sz="1800" b="1" spc="-5" dirty="0">
                <a:latin typeface="Times New Roman"/>
                <a:cs typeface="Times New Roman"/>
              </a:rPr>
              <a:t>not</a:t>
            </a:r>
            <a:r>
              <a:rPr sz="1800" b="1" spc="1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the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interrupt</a:t>
            </a:r>
            <a:r>
              <a:rPr sz="1800" b="1" spc="1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masks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should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be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modified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1100" y="814069"/>
            <a:ext cx="626110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SIM</a:t>
            </a:r>
            <a:r>
              <a:rPr spc="-15" dirty="0"/>
              <a:t> </a:t>
            </a:r>
            <a:r>
              <a:rPr spc="-5" dirty="0"/>
              <a:t>and</a:t>
            </a:r>
            <a:r>
              <a:rPr spc="-10" dirty="0"/>
              <a:t> </a:t>
            </a:r>
            <a:r>
              <a:rPr spc="-5" dirty="0"/>
              <a:t>the</a:t>
            </a:r>
            <a:r>
              <a:rPr spc="-15" dirty="0"/>
              <a:t> </a:t>
            </a:r>
            <a:r>
              <a:rPr spc="-5" dirty="0"/>
              <a:t>Interrupt</a:t>
            </a:r>
            <a:r>
              <a:rPr spc="-15" dirty="0"/>
              <a:t> </a:t>
            </a:r>
            <a:r>
              <a:rPr spc="-5" dirty="0"/>
              <a:t>Mask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66976"/>
            <a:ext cx="7541259" cy="3945254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4965" marR="321310" indent="-342900">
              <a:lnSpc>
                <a:spcPts val="2590"/>
              </a:lnSpc>
              <a:spcBef>
                <a:spcPts val="42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The RST </a:t>
            </a:r>
            <a:r>
              <a:rPr sz="2400" dirty="0">
                <a:latin typeface="Times New Roman"/>
                <a:cs typeface="Times New Roman"/>
              </a:rPr>
              <a:t>7.5 </a:t>
            </a:r>
            <a:r>
              <a:rPr sz="2400" spc="-5" dirty="0">
                <a:latin typeface="Times New Roman"/>
                <a:cs typeface="Times New Roman"/>
              </a:rPr>
              <a:t>interrupt is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only </a:t>
            </a:r>
            <a:r>
              <a:rPr sz="2400" dirty="0">
                <a:latin typeface="Times New Roman"/>
                <a:cs typeface="Times New Roman"/>
              </a:rPr>
              <a:t>8085 </a:t>
            </a:r>
            <a:r>
              <a:rPr sz="2400" spc="-5" dirty="0">
                <a:latin typeface="Times New Roman"/>
                <a:cs typeface="Times New Roman"/>
              </a:rPr>
              <a:t>interrupt that has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memory</a:t>
            </a:r>
            <a:r>
              <a:rPr sz="2400" spc="-5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755015" marR="367030" lvl="1" indent="-285750">
              <a:lnSpc>
                <a:spcPts val="2160"/>
              </a:lnSpc>
              <a:spcBef>
                <a:spcPts val="495"/>
              </a:spcBef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Times New Roman"/>
                <a:cs typeface="Times New Roman"/>
              </a:rPr>
              <a:t>If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signal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on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RST7.5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arrives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while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it 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masked,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flip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flop will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remember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signal.</a:t>
            </a:r>
            <a:endParaRPr sz="2000">
              <a:latin typeface="Times New Roman"/>
              <a:cs typeface="Times New Roman"/>
            </a:endParaRPr>
          </a:p>
          <a:p>
            <a:pPr marL="755015" marR="5080" lvl="1" indent="-285750">
              <a:lnSpc>
                <a:spcPts val="2160"/>
              </a:lnSpc>
              <a:spcBef>
                <a:spcPts val="480"/>
              </a:spcBef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Times New Roman"/>
                <a:cs typeface="Times New Roman"/>
              </a:rPr>
              <a:t>When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RST7.5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 unmasked,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 microprocessor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will be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interrupted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even</a:t>
            </a:r>
            <a:r>
              <a:rPr sz="2000" spc="-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if</a:t>
            </a:r>
            <a:r>
              <a:rPr sz="2000" spc="-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the device</a:t>
            </a:r>
            <a:r>
              <a:rPr sz="2000" spc="-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has removed</a:t>
            </a:r>
            <a:r>
              <a:rPr sz="2000" spc="-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the</a:t>
            </a:r>
            <a:r>
              <a:rPr sz="2000" spc="-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interrupt</a:t>
            </a:r>
            <a:r>
              <a:rPr sz="2000" spc="-3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signal</a:t>
            </a:r>
            <a:r>
              <a:rPr sz="200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755650" marR="83185" lvl="1" indent="-286385">
              <a:lnSpc>
                <a:spcPts val="2160"/>
              </a:lnSpc>
              <a:spcBef>
                <a:spcPts val="480"/>
              </a:spcBef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Times New Roman"/>
                <a:cs typeface="Times New Roman"/>
              </a:rPr>
              <a:t>This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flip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flop will be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automatically</a:t>
            </a:r>
            <a:r>
              <a:rPr sz="2000" spc="-2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reset</a:t>
            </a:r>
            <a:r>
              <a:rPr sz="2000" spc="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when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 microprocessor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responds</a:t>
            </a:r>
            <a:r>
              <a:rPr sz="2000" spc="-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to</a:t>
            </a:r>
            <a:r>
              <a:rPr sz="2000" spc="-2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an RST</a:t>
            </a:r>
            <a:r>
              <a:rPr sz="2000" spc="2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7.5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interrupt</a:t>
            </a:r>
            <a:r>
              <a:rPr sz="2000" spc="-5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Font typeface="Times New Roman"/>
              <a:buChar char="–"/>
            </a:pPr>
            <a:endParaRPr sz="2750">
              <a:latin typeface="Times New Roman"/>
              <a:cs typeface="Times New Roman"/>
            </a:endParaRPr>
          </a:p>
          <a:p>
            <a:pPr marL="355600" marR="593725" indent="-342900">
              <a:lnSpc>
                <a:spcPts val="2590"/>
              </a:lnSpc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Bit </a:t>
            </a:r>
            <a:r>
              <a:rPr sz="2400" dirty="0">
                <a:latin typeface="Times New Roman"/>
                <a:cs typeface="Times New Roman"/>
              </a:rPr>
              <a:t>4 of the </a:t>
            </a:r>
            <a:r>
              <a:rPr sz="2400" spc="-5" dirty="0">
                <a:latin typeface="Times New Roman"/>
                <a:cs typeface="Times New Roman"/>
              </a:rPr>
              <a:t>accumulator in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SIM instruction allows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explicitly resetting </a:t>
            </a:r>
            <a:r>
              <a:rPr sz="2400" spc="-5" dirty="0">
                <a:latin typeface="Times New Roman"/>
                <a:cs typeface="Times New Roman"/>
              </a:rPr>
              <a:t>the RST </a:t>
            </a:r>
            <a:r>
              <a:rPr sz="2400" dirty="0">
                <a:latin typeface="Times New Roman"/>
                <a:cs typeface="Times New Roman"/>
              </a:rPr>
              <a:t>7.5 </a:t>
            </a:r>
            <a:r>
              <a:rPr sz="2400" spc="-5" dirty="0">
                <a:latin typeface="Times New Roman"/>
                <a:cs typeface="Times New Roman"/>
              </a:rPr>
              <a:t>memory </a:t>
            </a:r>
            <a:r>
              <a:rPr sz="2400" dirty="0">
                <a:latin typeface="Times New Roman"/>
                <a:cs typeface="Times New Roman"/>
              </a:rPr>
              <a:t>even </a:t>
            </a:r>
            <a:r>
              <a:rPr sz="2400" spc="-5" dirty="0">
                <a:latin typeface="Times New Roman"/>
                <a:cs typeface="Times New Roman"/>
              </a:rPr>
              <a:t>if the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microprocessor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did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respond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5" dirty="0">
                <a:latin typeface="Times New Roman"/>
                <a:cs typeface="Times New Roman"/>
              </a:rPr>
              <a:t> it.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1100" y="204469"/>
            <a:ext cx="626110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SIM</a:t>
            </a:r>
            <a:r>
              <a:rPr spc="-15" dirty="0"/>
              <a:t> </a:t>
            </a:r>
            <a:r>
              <a:rPr spc="-5" dirty="0"/>
              <a:t>and</a:t>
            </a:r>
            <a:r>
              <a:rPr spc="-10" dirty="0"/>
              <a:t> </a:t>
            </a:r>
            <a:r>
              <a:rPr spc="-5" dirty="0"/>
              <a:t>the</a:t>
            </a:r>
            <a:r>
              <a:rPr spc="-15" dirty="0"/>
              <a:t> </a:t>
            </a:r>
            <a:r>
              <a:rPr spc="-5" dirty="0"/>
              <a:t>Interrupt</a:t>
            </a:r>
            <a:r>
              <a:rPr spc="-15" dirty="0"/>
              <a:t> </a:t>
            </a:r>
            <a:r>
              <a:rPr spc="-5" dirty="0"/>
              <a:t>Mask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968755"/>
            <a:ext cx="7458709" cy="567118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marR="208279" indent="-343535">
              <a:lnSpc>
                <a:spcPts val="3020"/>
              </a:lnSpc>
              <a:spcBef>
                <a:spcPts val="484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</a:t>
            </a:r>
            <a:r>
              <a:rPr sz="2800" dirty="0">
                <a:latin typeface="Times New Roman"/>
                <a:cs typeface="Times New Roman"/>
              </a:rPr>
              <a:t>SIM </a:t>
            </a:r>
            <a:r>
              <a:rPr sz="2800" spc="-5" dirty="0">
                <a:latin typeface="Times New Roman"/>
                <a:cs typeface="Times New Roman"/>
              </a:rPr>
              <a:t>instruction can also </a:t>
            </a:r>
            <a:r>
              <a:rPr sz="2800" dirty="0">
                <a:latin typeface="Times New Roman"/>
                <a:cs typeface="Times New Roman"/>
              </a:rPr>
              <a:t>be </a:t>
            </a:r>
            <a:r>
              <a:rPr sz="2800" spc="-5" dirty="0">
                <a:latin typeface="Times New Roman"/>
                <a:cs typeface="Times New Roman"/>
              </a:rPr>
              <a:t>used </a:t>
            </a:r>
            <a:r>
              <a:rPr sz="2800" dirty="0">
                <a:latin typeface="Times New Roman"/>
                <a:cs typeface="Times New Roman"/>
              </a:rPr>
              <a:t>to perform </a:t>
            </a:r>
            <a:r>
              <a:rPr sz="2800" spc="-69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serial data transmission </a:t>
            </a:r>
            <a:r>
              <a:rPr sz="2800" dirty="0">
                <a:latin typeface="Times New Roman"/>
                <a:cs typeface="Times New Roman"/>
              </a:rPr>
              <a:t>out of the 8085’s SOD 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pin.</a:t>
            </a:r>
            <a:endParaRPr sz="2800">
              <a:latin typeface="Times New Roman"/>
              <a:cs typeface="Times New Roman"/>
            </a:endParaRPr>
          </a:p>
          <a:p>
            <a:pPr marL="755015" marR="56515" indent="-285750">
              <a:lnSpc>
                <a:spcPts val="2590"/>
              </a:lnSpc>
              <a:spcBef>
                <a:spcPts val="590"/>
              </a:spcBef>
              <a:tabLst>
                <a:tab pos="755015" algn="l"/>
              </a:tabLst>
            </a:pPr>
            <a:r>
              <a:rPr sz="2400" dirty="0">
                <a:latin typeface="Times New Roman"/>
                <a:cs typeface="Times New Roman"/>
              </a:rPr>
              <a:t>–	</a:t>
            </a:r>
            <a:r>
              <a:rPr sz="2400" spc="-5" dirty="0">
                <a:latin typeface="Times New Roman"/>
                <a:cs typeface="Times New Roman"/>
              </a:rPr>
              <a:t>One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bit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 time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5" dirty="0">
                <a:latin typeface="Times New Roman"/>
                <a:cs typeface="Times New Roman"/>
              </a:rPr>
              <a:t> sent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out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serially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over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 SOD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pin.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300">
              <a:latin typeface="Times New Roman"/>
              <a:cs typeface="Times New Roman"/>
            </a:endParaRPr>
          </a:p>
          <a:p>
            <a:pPr marL="355600" marR="5080" indent="-343535">
              <a:lnSpc>
                <a:spcPts val="3020"/>
              </a:lnSpc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Bit </a:t>
            </a:r>
            <a:r>
              <a:rPr sz="2800" dirty="0">
                <a:latin typeface="Times New Roman"/>
                <a:cs typeface="Times New Roman"/>
              </a:rPr>
              <a:t>6 is </a:t>
            </a:r>
            <a:r>
              <a:rPr sz="2800" spc="-5" dirty="0">
                <a:latin typeface="Times New Roman"/>
                <a:cs typeface="Times New Roman"/>
              </a:rPr>
              <a:t>used </a:t>
            </a:r>
            <a:r>
              <a:rPr sz="2800" dirty="0">
                <a:latin typeface="Times New Roman"/>
                <a:cs typeface="Times New Roman"/>
              </a:rPr>
              <a:t>to </a:t>
            </a:r>
            <a:r>
              <a:rPr sz="2800" spc="-5" dirty="0">
                <a:latin typeface="Times New Roman"/>
                <a:cs typeface="Times New Roman"/>
              </a:rPr>
              <a:t>tell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microprocessor whether </a:t>
            </a:r>
            <a:r>
              <a:rPr sz="2800" dirty="0">
                <a:latin typeface="Times New Roman"/>
                <a:cs typeface="Times New Roman"/>
              </a:rPr>
              <a:t>or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perform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serial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data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transmission</a:t>
            </a:r>
            <a:endParaRPr sz="2800">
              <a:latin typeface="Times New Roman"/>
              <a:cs typeface="Times New Roman"/>
            </a:endParaRPr>
          </a:p>
          <a:p>
            <a:pPr marL="1155700" lvl="1" indent="-229870">
              <a:lnSpc>
                <a:spcPct val="100000"/>
              </a:lnSpc>
              <a:spcBef>
                <a:spcPts val="229"/>
              </a:spcBef>
              <a:buChar char="•"/>
              <a:tabLst>
                <a:tab pos="1155065" algn="l"/>
                <a:tab pos="1156335" algn="l"/>
              </a:tabLst>
            </a:pPr>
            <a:r>
              <a:rPr sz="2000" spc="-5" dirty="0">
                <a:latin typeface="Times New Roman"/>
                <a:cs typeface="Times New Roman"/>
              </a:rPr>
              <a:t>If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0,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do not perform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serial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data transmission</a:t>
            </a:r>
            <a:endParaRPr sz="2000">
              <a:latin typeface="Times New Roman"/>
              <a:cs typeface="Times New Roman"/>
            </a:endParaRPr>
          </a:p>
          <a:p>
            <a:pPr marL="1155700" lvl="1" indent="-229235">
              <a:lnSpc>
                <a:spcPct val="100000"/>
              </a:lnSpc>
              <a:spcBef>
                <a:spcPts val="235"/>
              </a:spcBef>
              <a:buChar char="•"/>
              <a:tabLst>
                <a:tab pos="1155065" algn="l"/>
                <a:tab pos="1156335" algn="l"/>
              </a:tabLst>
            </a:pPr>
            <a:r>
              <a:rPr sz="2000" spc="-5" dirty="0">
                <a:latin typeface="Times New Roman"/>
                <a:cs typeface="Times New Roman"/>
              </a:rPr>
              <a:t>If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1,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do.</a:t>
            </a:r>
            <a:endParaRPr sz="2000">
              <a:latin typeface="Times New Roman"/>
              <a:cs typeface="Times New Roman"/>
            </a:endParaRPr>
          </a:p>
          <a:p>
            <a:pPr marL="355600" marR="81915" indent="-342900">
              <a:lnSpc>
                <a:spcPts val="3020"/>
              </a:lnSpc>
              <a:spcBef>
                <a:spcPts val="69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value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sent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out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SOD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has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placed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bit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7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accumulator.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Times New Roman"/>
              <a:buChar char="•"/>
            </a:pPr>
            <a:endParaRPr sz="345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Bit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5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used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by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SIM</a:t>
            </a:r>
            <a:r>
              <a:rPr sz="2800" spc="-5" dirty="0">
                <a:latin typeface="Times New Roman"/>
                <a:cs typeface="Times New Roman"/>
              </a:rPr>
              <a:t> instruction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7480" y="0"/>
            <a:ext cx="7439659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67585" marR="5080" indent="-225552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Using </a:t>
            </a:r>
            <a:r>
              <a:rPr sz="3600" dirty="0"/>
              <a:t>the </a:t>
            </a:r>
            <a:r>
              <a:rPr sz="3600" spc="-5" dirty="0"/>
              <a:t>SIM Instruction </a:t>
            </a:r>
            <a:r>
              <a:rPr sz="3600" dirty="0"/>
              <a:t>to </a:t>
            </a:r>
            <a:r>
              <a:rPr sz="3600" spc="-5" dirty="0"/>
              <a:t>Modify </a:t>
            </a:r>
            <a:r>
              <a:rPr sz="3600" dirty="0"/>
              <a:t>the </a:t>
            </a:r>
            <a:r>
              <a:rPr sz="3600" spc="-885" dirty="0"/>
              <a:t> </a:t>
            </a:r>
            <a:r>
              <a:rPr sz="3600" spc="-5" dirty="0"/>
              <a:t>Interrupt</a:t>
            </a:r>
            <a:r>
              <a:rPr sz="3600" spc="-15" dirty="0"/>
              <a:t> </a:t>
            </a:r>
            <a:r>
              <a:rPr sz="3600" spc="-5" dirty="0"/>
              <a:t>Masks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64540" y="1086103"/>
            <a:ext cx="7561580" cy="20027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24130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Example: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Set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 interrupt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masks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so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that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RST5.5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enabled,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RST6.5 is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masked,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and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RST7.5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is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enabled.</a:t>
            </a:r>
            <a:endParaRPr sz="32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690"/>
              </a:spcBef>
            </a:pPr>
            <a:r>
              <a:rPr sz="2800" dirty="0">
                <a:latin typeface="Times New Roman"/>
                <a:cs typeface="Times New Roman"/>
              </a:rPr>
              <a:t>–</a:t>
            </a:r>
            <a:r>
              <a:rPr sz="2800" spc="1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First,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determine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contents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accumulator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995987" y="3719512"/>
          <a:ext cx="1998980" cy="523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8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0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0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27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27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00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673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11175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219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219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219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219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206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206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219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219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6014266" y="3278892"/>
            <a:ext cx="1924050" cy="42100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5" dirty="0">
                <a:latin typeface="Arial MT"/>
                <a:cs typeface="Arial MT"/>
              </a:rPr>
              <a:t>SDO</a:t>
            </a:r>
            <a:endParaRPr sz="1400">
              <a:latin typeface="Arial MT"/>
              <a:cs typeface="Arial MT"/>
            </a:endParaRPr>
          </a:p>
          <a:p>
            <a:pPr marL="13970" marR="35560" indent="-1905">
              <a:lnSpc>
                <a:spcPct val="112300"/>
              </a:lnSpc>
              <a:spcBef>
                <a:spcPts val="10"/>
              </a:spcBef>
            </a:pPr>
            <a:r>
              <a:rPr sz="1400" spc="-5" dirty="0">
                <a:latin typeface="Arial MT"/>
                <a:cs typeface="Arial MT"/>
              </a:rPr>
              <a:t>SD</a:t>
            </a:r>
            <a:r>
              <a:rPr sz="1400" dirty="0">
                <a:latin typeface="Arial MT"/>
                <a:cs typeface="Arial MT"/>
              </a:rPr>
              <a:t>E  </a:t>
            </a:r>
            <a:r>
              <a:rPr sz="1400" spc="-5" dirty="0">
                <a:latin typeface="Arial MT"/>
                <a:cs typeface="Arial MT"/>
              </a:rPr>
              <a:t>XXX</a:t>
            </a:r>
            <a:endParaRPr sz="1400">
              <a:latin typeface="Arial MT"/>
              <a:cs typeface="Arial MT"/>
            </a:endParaRPr>
          </a:p>
          <a:p>
            <a:pPr marL="12700" marR="5080" algn="just">
              <a:lnSpc>
                <a:spcPct val="113100"/>
              </a:lnSpc>
              <a:spcBef>
                <a:spcPts val="100"/>
              </a:spcBef>
            </a:pPr>
            <a:r>
              <a:rPr sz="1400" spc="-5" dirty="0">
                <a:latin typeface="Arial MT"/>
                <a:cs typeface="Arial MT"/>
              </a:rPr>
              <a:t>R7.5 </a:t>
            </a:r>
            <a:r>
              <a:rPr sz="1400" spc="-38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</a:t>
            </a:r>
            <a:r>
              <a:rPr sz="1400" spc="-5" dirty="0">
                <a:latin typeface="Arial MT"/>
                <a:cs typeface="Arial MT"/>
              </a:rPr>
              <a:t>SE  </a:t>
            </a:r>
            <a:r>
              <a:rPr sz="1400" dirty="0">
                <a:latin typeface="Arial MT"/>
                <a:cs typeface="Arial MT"/>
              </a:rPr>
              <a:t>M7.5  M6.5  M5.5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9497" y="3305047"/>
            <a:ext cx="1979295" cy="17329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1285" indent="-108585">
              <a:lnSpc>
                <a:spcPct val="100000"/>
              </a:lnSpc>
              <a:spcBef>
                <a:spcPts val="95"/>
              </a:spcBef>
              <a:buChar char="-"/>
              <a:tabLst>
                <a:tab pos="121920" algn="l"/>
              </a:tabLst>
            </a:pPr>
            <a:r>
              <a:rPr sz="1400" spc="-5" dirty="0">
                <a:latin typeface="Arial MT"/>
                <a:cs typeface="Arial MT"/>
              </a:rPr>
              <a:t>Enable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5.5</a:t>
            </a:r>
            <a:endParaRPr sz="1400">
              <a:latin typeface="Arial MT"/>
              <a:cs typeface="Arial MT"/>
            </a:endParaRPr>
          </a:p>
          <a:p>
            <a:pPr marL="120650" indent="-107950">
              <a:lnSpc>
                <a:spcPct val="100000"/>
              </a:lnSpc>
              <a:buChar char="-"/>
              <a:tabLst>
                <a:tab pos="121285" algn="l"/>
              </a:tabLst>
            </a:pPr>
            <a:r>
              <a:rPr sz="1400" spc="-5" dirty="0">
                <a:latin typeface="Arial MT"/>
                <a:cs typeface="Arial MT"/>
              </a:rPr>
              <a:t>Disable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6.5</a:t>
            </a:r>
            <a:endParaRPr sz="1400">
              <a:latin typeface="Arial MT"/>
              <a:cs typeface="Arial MT"/>
            </a:endParaRPr>
          </a:p>
          <a:p>
            <a:pPr marL="120650" indent="-107950">
              <a:lnSpc>
                <a:spcPct val="100000"/>
              </a:lnSpc>
              <a:buChar char="-"/>
              <a:tabLst>
                <a:tab pos="121285" algn="l"/>
              </a:tabLst>
            </a:pPr>
            <a:r>
              <a:rPr sz="1400" spc="-5" dirty="0">
                <a:latin typeface="Arial MT"/>
                <a:cs typeface="Arial MT"/>
              </a:rPr>
              <a:t>Enable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7.5</a:t>
            </a:r>
            <a:endParaRPr sz="1400">
              <a:latin typeface="Arial MT"/>
              <a:cs typeface="Arial MT"/>
            </a:endParaRPr>
          </a:p>
          <a:p>
            <a:pPr marL="110489" indent="-97790">
              <a:lnSpc>
                <a:spcPct val="100000"/>
              </a:lnSpc>
              <a:spcBef>
                <a:spcPts val="5"/>
              </a:spcBef>
              <a:buChar char="-"/>
              <a:tabLst>
                <a:tab pos="111125" algn="l"/>
              </a:tabLst>
            </a:pPr>
            <a:r>
              <a:rPr sz="1400" spc="-5" dirty="0">
                <a:latin typeface="Arial MT"/>
                <a:cs typeface="Arial MT"/>
              </a:rPr>
              <a:t>Allow setting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the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masks</a:t>
            </a:r>
            <a:endParaRPr sz="1400">
              <a:latin typeface="Arial MT"/>
              <a:cs typeface="Arial MT"/>
            </a:endParaRPr>
          </a:p>
          <a:p>
            <a:pPr marL="120650" indent="-107950">
              <a:lnSpc>
                <a:spcPct val="100000"/>
              </a:lnSpc>
              <a:buChar char="-"/>
              <a:tabLst>
                <a:tab pos="120650" algn="l"/>
              </a:tabLst>
            </a:pPr>
            <a:r>
              <a:rPr sz="1400" spc="-5" dirty="0">
                <a:latin typeface="Arial MT"/>
                <a:cs typeface="Arial MT"/>
              </a:rPr>
              <a:t>Don’t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reset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the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flip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flop</a:t>
            </a:r>
            <a:endParaRPr sz="1400">
              <a:latin typeface="Arial MT"/>
              <a:cs typeface="Arial MT"/>
            </a:endParaRPr>
          </a:p>
          <a:p>
            <a:pPr marL="120014" indent="-107950">
              <a:lnSpc>
                <a:spcPct val="100000"/>
              </a:lnSpc>
              <a:buChar char="-"/>
              <a:tabLst>
                <a:tab pos="120650" algn="l"/>
              </a:tabLst>
            </a:pPr>
            <a:r>
              <a:rPr sz="1400" spc="-5" dirty="0">
                <a:latin typeface="Arial MT"/>
                <a:cs typeface="Arial MT"/>
              </a:rPr>
              <a:t>Bit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5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is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not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used</a:t>
            </a:r>
            <a:endParaRPr sz="1400">
              <a:latin typeface="Arial MT"/>
              <a:cs typeface="Arial MT"/>
            </a:endParaRPr>
          </a:p>
          <a:p>
            <a:pPr marL="120014" indent="-107950">
              <a:lnSpc>
                <a:spcPct val="100000"/>
              </a:lnSpc>
              <a:buChar char="-"/>
              <a:tabLst>
                <a:tab pos="120650" algn="l"/>
              </a:tabLst>
            </a:pPr>
            <a:r>
              <a:rPr sz="1400" spc="-5" dirty="0">
                <a:latin typeface="Arial MT"/>
                <a:cs typeface="Arial MT"/>
              </a:rPr>
              <a:t>Don’t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use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serial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data</a:t>
            </a:r>
            <a:endParaRPr sz="1400">
              <a:latin typeface="Arial MT"/>
              <a:cs typeface="Arial MT"/>
            </a:endParaRPr>
          </a:p>
          <a:p>
            <a:pPr marL="120014" indent="-107950">
              <a:lnSpc>
                <a:spcPct val="100000"/>
              </a:lnSpc>
              <a:buChar char="-"/>
              <a:tabLst>
                <a:tab pos="120650" algn="l"/>
              </a:tabLst>
            </a:pPr>
            <a:r>
              <a:rPr sz="1400" spc="-5" dirty="0">
                <a:latin typeface="Arial MT"/>
                <a:cs typeface="Arial MT"/>
              </a:rPr>
              <a:t>Serial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data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is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ignored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82582" y="3305047"/>
            <a:ext cx="661670" cy="17329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 MT"/>
                <a:cs typeface="Arial MT"/>
              </a:rPr>
              <a:t>bit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0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=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0</a:t>
            </a:r>
            <a:endParaRPr sz="1400">
              <a:latin typeface="Arial MT"/>
              <a:cs typeface="Arial MT"/>
            </a:endParaRPr>
          </a:p>
          <a:p>
            <a:pPr marL="13335">
              <a:lnSpc>
                <a:spcPct val="100000"/>
              </a:lnSpc>
            </a:pPr>
            <a:r>
              <a:rPr sz="1400" spc="-5" dirty="0">
                <a:latin typeface="Arial MT"/>
                <a:cs typeface="Arial MT"/>
              </a:rPr>
              <a:t>bit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1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=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1</a:t>
            </a:r>
            <a:endParaRPr sz="1400">
              <a:latin typeface="Arial MT"/>
              <a:cs typeface="Arial MT"/>
            </a:endParaRPr>
          </a:p>
          <a:p>
            <a:pPr marL="13335">
              <a:lnSpc>
                <a:spcPct val="100000"/>
              </a:lnSpc>
            </a:pPr>
            <a:r>
              <a:rPr sz="1400" spc="-5" dirty="0">
                <a:latin typeface="Arial MT"/>
                <a:cs typeface="Arial MT"/>
              </a:rPr>
              <a:t>bit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2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=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0</a:t>
            </a:r>
            <a:endParaRPr sz="1400">
              <a:latin typeface="Arial MT"/>
              <a:cs typeface="Arial MT"/>
            </a:endParaRPr>
          </a:p>
          <a:p>
            <a:pPr marL="13335">
              <a:lnSpc>
                <a:spcPct val="100000"/>
              </a:lnSpc>
              <a:spcBef>
                <a:spcPts val="5"/>
              </a:spcBef>
            </a:pPr>
            <a:r>
              <a:rPr sz="1400" spc="-5" dirty="0">
                <a:latin typeface="Arial MT"/>
                <a:cs typeface="Arial MT"/>
              </a:rPr>
              <a:t>bit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3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=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1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400" spc="-5" dirty="0">
                <a:latin typeface="Arial MT"/>
                <a:cs typeface="Arial MT"/>
              </a:rPr>
              <a:t>bit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4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=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0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400" spc="-5" dirty="0">
                <a:latin typeface="Arial MT"/>
                <a:cs typeface="Arial MT"/>
              </a:rPr>
              <a:t>bit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5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=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0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400" spc="-5" dirty="0">
                <a:latin typeface="Arial MT"/>
                <a:cs typeface="Arial MT"/>
              </a:rPr>
              <a:t>bit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6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=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0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400" spc="-5" dirty="0">
                <a:latin typeface="Arial MT"/>
                <a:cs typeface="Arial MT"/>
              </a:rPr>
              <a:t>bit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7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=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0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05009" y="4372099"/>
            <a:ext cx="269430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 MT"/>
                <a:cs typeface="Arial MT"/>
              </a:rPr>
              <a:t>Contents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of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accumulator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are: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0AH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91801" y="5262670"/>
            <a:ext cx="815340" cy="664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 MT"/>
                <a:cs typeface="Arial MT"/>
              </a:rPr>
              <a:t>EI</a:t>
            </a:r>
            <a:endParaRPr sz="14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1400" spc="-5" dirty="0">
                <a:latin typeface="Arial MT"/>
                <a:cs typeface="Arial MT"/>
              </a:rPr>
              <a:t>M</a:t>
            </a:r>
            <a:r>
              <a:rPr sz="1400" spc="-10" dirty="0">
                <a:latin typeface="Arial MT"/>
                <a:cs typeface="Arial MT"/>
              </a:rPr>
              <a:t>V</a:t>
            </a:r>
            <a:r>
              <a:rPr sz="1400" spc="-5" dirty="0">
                <a:latin typeface="Arial MT"/>
                <a:cs typeface="Arial MT"/>
              </a:rPr>
              <a:t>I</a:t>
            </a:r>
            <a:r>
              <a:rPr sz="1400" spc="-8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A</a:t>
            </a:r>
            <a:r>
              <a:rPr sz="1400" spc="-5" dirty="0">
                <a:latin typeface="Arial MT"/>
                <a:cs typeface="Arial MT"/>
              </a:rPr>
              <a:t>,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0A  SIM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20524" y="5262670"/>
            <a:ext cx="4642485" cy="664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 MT"/>
                <a:cs typeface="Arial MT"/>
              </a:rPr>
              <a:t>;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Enable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interrupts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including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INTR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ts val="1675"/>
              </a:lnSpc>
            </a:pPr>
            <a:r>
              <a:rPr sz="1400" spc="-5" dirty="0">
                <a:latin typeface="Arial MT"/>
                <a:cs typeface="Arial MT"/>
              </a:rPr>
              <a:t>;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Prepare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the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mask to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enable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RST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7.5,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and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5.5,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disable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6.5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ts val="1675"/>
              </a:lnSpc>
            </a:pPr>
            <a:r>
              <a:rPr sz="1400" spc="-5" dirty="0">
                <a:latin typeface="Arial MT"/>
                <a:cs typeface="Arial MT"/>
              </a:rPr>
              <a:t>;</a:t>
            </a:r>
            <a:r>
              <a:rPr sz="1400" spc="-9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Apply the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settings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RST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masks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4006" y="821690"/>
            <a:ext cx="3956685" cy="681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dirty="0"/>
              <a:t>Triggering</a:t>
            </a:r>
            <a:r>
              <a:rPr sz="4300" spc="-75" dirty="0"/>
              <a:t> </a:t>
            </a:r>
            <a:r>
              <a:rPr sz="4300" spc="-5" dirty="0"/>
              <a:t>Levels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764540" y="1911694"/>
            <a:ext cx="7612380" cy="4154804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47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RST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7.5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990000"/>
                </a:solidFill>
                <a:latin typeface="Times New Roman"/>
                <a:cs typeface="Times New Roman"/>
              </a:rPr>
              <a:t>positive</a:t>
            </a:r>
            <a:r>
              <a:rPr sz="2800" spc="-3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990000"/>
                </a:solidFill>
                <a:latin typeface="Times New Roman"/>
                <a:cs typeface="Times New Roman"/>
              </a:rPr>
              <a:t>edge</a:t>
            </a:r>
            <a:r>
              <a:rPr sz="2800" spc="-2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990000"/>
                </a:solidFill>
                <a:latin typeface="Times New Roman"/>
                <a:cs typeface="Times New Roman"/>
              </a:rPr>
              <a:t>sensitive</a:t>
            </a:r>
            <a:r>
              <a:rPr sz="2800" spc="-5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  <a:p>
            <a:pPr marL="1155700" marR="205104" lvl="1" indent="-229235" algn="just">
              <a:lnSpc>
                <a:spcPts val="2160"/>
              </a:lnSpc>
              <a:spcBef>
                <a:spcPts val="540"/>
              </a:spcBef>
              <a:buChar char="•"/>
              <a:tabLst>
                <a:tab pos="1156335" algn="l"/>
              </a:tabLst>
            </a:pPr>
            <a:r>
              <a:rPr sz="2000" spc="-5" dirty="0">
                <a:latin typeface="Times New Roman"/>
                <a:cs typeface="Times New Roman"/>
              </a:rPr>
              <a:t>When a positive edge appears on the </a:t>
            </a:r>
            <a:r>
              <a:rPr sz="2000" dirty="0">
                <a:latin typeface="Times New Roman"/>
                <a:cs typeface="Times New Roman"/>
              </a:rPr>
              <a:t>RST7.5 </a:t>
            </a:r>
            <a:r>
              <a:rPr sz="2000" spc="-5" dirty="0">
                <a:latin typeface="Times New Roman"/>
                <a:cs typeface="Times New Roman"/>
              </a:rPr>
              <a:t>line, a logic 1 is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stored</a:t>
            </a:r>
            <a:r>
              <a:rPr sz="2000" spc="-2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flip-flop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 </a:t>
            </a:r>
            <a:r>
              <a:rPr sz="2000" dirty="0">
                <a:latin typeface="Times New Roman"/>
                <a:cs typeface="Times New Roman"/>
              </a:rPr>
              <a:t>“</a:t>
            </a:r>
            <a:r>
              <a:rPr sz="2000" dirty="0">
                <a:solidFill>
                  <a:srgbClr val="339933"/>
                </a:solidFill>
                <a:latin typeface="Times New Roman"/>
                <a:cs typeface="Times New Roman"/>
              </a:rPr>
              <a:t>pending</a:t>
            </a:r>
            <a:r>
              <a:rPr sz="2000" dirty="0">
                <a:latin typeface="Times New Roman"/>
                <a:cs typeface="Times New Roman"/>
              </a:rPr>
              <a:t>”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interrupt.</a:t>
            </a:r>
            <a:endParaRPr sz="2000">
              <a:latin typeface="Times New Roman"/>
              <a:cs typeface="Times New Roman"/>
            </a:endParaRPr>
          </a:p>
          <a:p>
            <a:pPr marL="1155700" marR="344805" lvl="1" indent="-229235" algn="just">
              <a:lnSpc>
                <a:spcPts val="2160"/>
              </a:lnSpc>
              <a:spcBef>
                <a:spcPts val="480"/>
              </a:spcBef>
              <a:buChar char="•"/>
              <a:tabLst>
                <a:tab pos="1156335" algn="l"/>
              </a:tabLst>
            </a:pPr>
            <a:r>
              <a:rPr sz="2000" spc="-5" dirty="0">
                <a:latin typeface="Times New Roman"/>
                <a:cs typeface="Times New Roman"/>
              </a:rPr>
              <a:t>Since the value has been stored in the flip flop, the line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does </a:t>
            </a:r>
            <a:r>
              <a:rPr sz="2000" spc="-484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not have to be high </a:t>
            </a:r>
            <a:r>
              <a:rPr sz="2000" spc="-5" dirty="0">
                <a:latin typeface="Times New Roman"/>
                <a:cs typeface="Times New Roman"/>
              </a:rPr>
              <a:t>when the microprocessor checks for the 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interrupt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be recognized.</a:t>
            </a:r>
            <a:endParaRPr sz="2000">
              <a:latin typeface="Times New Roman"/>
              <a:cs typeface="Times New Roman"/>
            </a:endParaRPr>
          </a:p>
          <a:p>
            <a:pPr marL="1155065" marR="5080" lvl="1" indent="-228600" algn="just">
              <a:lnSpc>
                <a:spcPts val="2160"/>
              </a:lnSpc>
              <a:spcBef>
                <a:spcPts val="480"/>
              </a:spcBef>
              <a:buChar char="•"/>
              <a:tabLst>
                <a:tab pos="1155700" algn="l"/>
              </a:tabLst>
            </a:pPr>
            <a:r>
              <a:rPr sz="2000" spc="-5" dirty="0">
                <a:latin typeface="Times New Roman"/>
                <a:cs typeface="Times New Roman"/>
              </a:rPr>
              <a:t>The line must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go to zero and back to one </a:t>
            </a:r>
            <a:r>
              <a:rPr sz="2000" spc="-5" dirty="0">
                <a:latin typeface="Times New Roman"/>
                <a:cs typeface="Times New Roman"/>
              </a:rPr>
              <a:t>before a new </a:t>
            </a:r>
            <a:r>
              <a:rPr sz="2000" spc="-10" dirty="0">
                <a:latin typeface="Times New Roman"/>
                <a:cs typeface="Times New Roman"/>
              </a:rPr>
              <a:t>interrupt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recognized.</a:t>
            </a:r>
            <a:endParaRPr sz="20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buFont typeface="Times New Roman"/>
              <a:buChar char="•"/>
            </a:pPr>
            <a:endParaRPr sz="220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144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RST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6.5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RST </a:t>
            </a:r>
            <a:r>
              <a:rPr sz="2800" dirty="0">
                <a:latin typeface="Times New Roman"/>
                <a:cs typeface="Times New Roman"/>
              </a:rPr>
              <a:t>5.5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are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990000"/>
                </a:solidFill>
                <a:latin typeface="Times New Roman"/>
                <a:cs typeface="Times New Roman"/>
              </a:rPr>
              <a:t>level</a:t>
            </a:r>
            <a:r>
              <a:rPr sz="2800" spc="-2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990000"/>
                </a:solidFill>
                <a:latin typeface="Times New Roman"/>
                <a:cs typeface="Times New Roman"/>
              </a:rPr>
              <a:t>sensitive</a:t>
            </a:r>
            <a:r>
              <a:rPr sz="2800" spc="-5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  <a:p>
            <a:pPr marL="1155700" marR="1111885" lvl="1" indent="-229235">
              <a:lnSpc>
                <a:spcPts val="2160"/>
              </a:lnSpc>
              <a:spcBef>
                <a:spcPts val="535"/>
              </a:spcBef>
              <a:buChar char="•"/>
              <a:tabLst>
                <a:tab pos="1155065" algn="l"/>
                <a:tab pos="1156335" algn="l"/>
              </a:tabLst>
            </a:pPr>
            <a:r>
              <a:rPr sz="2000" spc="-5" dirty="0">
                <a:latin typeface="Times New Roman"/>
                <a:cs typeface="Times New Roman"/>
              </a:rPr>
              <a:t>The interrupting signal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must remain present until the </a:t>
            </a:r>
            <a:r>
              <a:rPr sz="2000" spc="-484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microprocessor</a:t>
            </a:r>
            <a:r>
              <a:rPr sz="2000" spc="-4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checks</a:t>
            </a:r>
            <a:r>
              <a:rPr sz="2000" spc="-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for</a:t>
            </a:r>
            <a:r>
              <a:rPr sz="2000" spc="-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interrupts</a:t>
            </a:r>
            <a:r>
              <a:rPr sz="200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74952" y="0"/>
            <a:ext cx="6898005" cy="1366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8255" marR="5080" indent="-253619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Determining the Current Mask </a:t>
            </a:r>
            <a:r>
              <a:rPr spc="-1085" dirty="0"/>
              <a:t> </a:t>
            </a:r>
            <a:r>
              <a:rPr spc="-5" dirty="0"/>
              <a:t>Settings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0739" y="1139011"/>
            <a:ext cx="6972300" cy="197993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88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RIM instruction: Read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Interrupt Mask</a:t>
            </a:r>
            <a:endParaRPr sz="3200">
              <a:latin typeface="Times New Roman"/>
              <a:cs typeface="Times New Roman"/>
            </a:endParaRPr>
          </a:p>
          <a:p>
            <a:pPr marL="755015" marR="5080" indent="-285750">
              <a:lnSpc>
                <a:spcPct val="100000"/>
              </a:lnSpc>
              <a:spcBef>
                <a:spcPts val="690"/>
              </a:spcBef>
            </a:pPr>
            <a:r>
              <a:rPr sz="2800" dirty="0">
                <a:latin typeface="Times New Roman"/>
                <a:cs typeface="Times New Roman"/>
              </a:rPr>
              <a:t>–</a:t>
            </a:r>
            <a:r>
              <a:rPr sz="2800" spc="14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Load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990000"/>
                </a:solidFill>
                <a:latin typeface="Times New Roman"/>
                <a:cs typeface="Times New Roman"/>
              </a:rPr>
              <a:t>accumulator</a:t>
            </a:r>
            <a:r>
              <a:rPr sz="2800" spc="-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8-bit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pattern </a:t>
            </a:r>
            <a:r>
              <a:rPr sz="2800" dirty="0">
                <a:latin typeface="Times New Roman"/>
                <a:cs typeface="Times New Roman"/>
              </a:rPr>
              <a:t> showing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status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5" dirty="0">
                <a:latin typeface="Times New Roman"/>
                <a:cs typeface="Times New Roman"/>
              </a:rPr>
              <a:t> each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interrupt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pin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and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mask.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650037" y="5945187"/>
            <a:ext cx="1231900" cy="462280"/>
            <a:chOff x="6650037" y="5945187"/>
            <a:chExt cx="1231900" cy="462280"/>
          </a:xfrm>
        </p:grpSpPr>
        <p:sp>
          <p:nvSpPr>
            <p:cNvPr id="5" name="object 5"/>
            <p:cNvSpPr/>
            <p:nvPr/>
          </p:nvSpPr>
          <p:spPr>
            <a:xfrm>
              <a:off x="6656387" y="5951537"/>
              <a:ext cx="1219200" cy="449580"/>
            </a:xfrm>
            <a:custGeom>
              <a:avLst/>
              <a:gdLst/>
              <a:ahLst/>
              <a:cxnLst/>
              <a:rect l="l" t="t" r="r" b="b"/>
              <a:pathLst>
                <a:path w="1219200" h="449579">
                  <a:moveTo>
                    <a:pt x="1219200" y="0"/>
                  </a:moveTo>
                  <a:lnTo>
                    <a:pt x="0" y="0"/>
                  </a:lnTo>
                  <a:lnTo>
                    <a:pt x="0" y="449262"/>
                  </a:lnTo>
                  <a:lnTo>
                    <a:pt x="1219200" y="449262"/>
                  </a:lnTo>
                  <a:lnTo>
                    <a:pt x="121920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656387" y="5951537"/>
              <a:ext cx="1219200" cy="449580"/>
            </a:xfrm>
            <a:custGeom>
              <a:avLst/>
              <a:gdLst/>
              <a:ahLst/>
              <a:cxnLst/>
              <a:rect l="l" t="t" r="r" b="b"/>
              <a:pathLst>
                <a:path w="1219200" h="449579">
                  <a:moveTo>
                    <a:pt x="0" y="0"/>
                  </a:moveTo>
                  <a:lnTo>
                    <a:pt x="1219200" y="0"/>
                  </a:lnTo>
                  <a:lnTo>
                    <a:pt x="1219200" y="449262"/>
                  </a:lnTo>
                  <a:lnTo>
                    <a:pt x="0" y="449262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5191125" y="4444994"/>
            <a:ext cx="2678430" cy="87630"/>
            <a:chOff x="5191125" y="4444994"/>
            <a:chExt cx="2678430" cy="87630"/>
          </a:xfrm>
        </p:grpSpPr>
        <p:sp>
          <p:nvSpPr>
            <p:cNvPr id="8" name="object 8"/>
            <p:cNvSpPr/>
            <p:nvPr/>
          </p:nvSpPr>
          <p:spPr>
            <a:xfrm>
              <a:off x="5191125" y="4489450"/>
              <a:ext cx="2678430" cy="0"/>
            </a:xfrm>
            <a:custGeom>
              <a:avLst/>
              <a:gdLst/>
              <a:ahLst/>
              <a:cxnLst/>
              <a:rect l="l" t="t" r="r" b="b"/>
              <a:pathLst>
                <a:path w="2678429">
                  <a:moveTo>
                    <a:pt x="0" y="0"/>
                  </a:moveTo>
                  <a:lnTo>
                    <a:pt x="267811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07012" y="4444994"/>
              <a:ext cx="87312" cy="87325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5160962" y="3230562"/>
            <a:ext cx="744855" cy="387350"/>
            <a:chOff x="5160962" y="3230562"/>
            <a:chExt cx="744855" cy="387350"/>
          </a:xfrm>
        </p:grpSpPr>
        <p:sp>
          <p:nvSpPr>
            <p:cNvPr id="11" name="object 11"/>
            <p:cNvSpPr/>
            <p:nvPr/>
          </p:nvSpPr>
          <p:spPr>
            <a:xfrm>
              <a:off x="5167312" y="3414712"/>
              <a:ext cx="278130" cy="0"/>
            </a:xfrm>
            <a:custGeom>
              <a:avLst/>
              <a:gdLst/>
              <a:ahLst/>
              <a:cxnLst/>
              <a:rect l="l" t="t" r="r" b="b"/>
              <a:pathLst>
                <a:path w="278129">
                  <a:moveTo>
                    <a:pt x="0" y="0"/>
                  </a:moveTo>
                  <a:lnTo>
                    <a:pt x="27781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62587" y="3236912"/>
              <a:ext cx="436880" cy="374650"/>
            </a:xfrm>
            <a:custGeom>
              <a:avLst/>
              <a:gdLst/>
              <a:ahLst/>
              <a:cxnLst/>
              <a:rect l="l" t="t" r="r" b="b"/>
              <a:pathLst>
                <a:path w="436879" h="374650">
                  <a:moveTo>
                    <a:pt x="436562" y="0"/>
                  </a:moveTo>
                  <a:lnTo>
                    <a:pt x="0" y="0"/>
                  </a:lnTo>
                  <a:lnTo>
                    <a:pt x="0" y="374650"/>
                  </a:lnTo>
                  <a:lnTo>
                    <a:pt x="436562" y="374650"/>
                  </a:lnTo>
                  <a:lnTo>
                    <a:pt x="436562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462587" y="3236912"/>
              <a:ext cx="436880" cy="374650"/>
            </a:xfrm>
            <a:custGeom>
              <a:avLst/>
              <a:gdLst/>
              <a:ahLst/>
              <a:cxnLst/>
              <a:rect l="l" t="t" r="r" b="b"/>
              <a:pathLst>
                <a:path w="436879" h="374650">
                  <a:moveTo>
                    <a:pt x="0" y="0"/>
                  </a:moveTo>
                  <a:lnTo>
                    <a:pt x="436562" y="0"/>
                  </a:lnTo>
                  <a:lnTo>
                    <a:pt x="436562" y="374650"/>
                  </a:lnTo>
                  <a:lnTo>
                    <a:pt x="0" y="37465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5210175" y="5368919"/>
            <a:ext cx="2665730" cy="87630"/>
            <a:chOff x="5210175" y="5368919"/>
            <a:chExt cx="2665730" cy="87630"/>
          </a:xfrm>
        </p:grpSpPr>
        <p:sp>
          <p:nvSpPr>
            <p:cNvPr id="15" name="object 15"/>
            <p:cNvSpPr/>
            <p:nvPr/>
          </p:nvSpPr>
          <p:spPr>
            <a:xfrm>
              <a:off x="5210175" y="5414962"/>
              <a:ext cx="2665730" cy="0"/>
            </a:xfrm>
            <a:custGeom>
              <a:avLst/>
              <a:gdLst/>
              <a:ahLst/>
              <a:cxnLst/>
              <a:rect l="l" t="t" r="r" b="b"/>
              <a:pathLst>
                <a:path w="2665729">
                  <a:moveTo>
                    <a:pt x="0" y="0"/>
                  </a:moveTo>
                  <a:lnTo>
                    <a:pt x="266541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35587" y="5368919"/>
              <a:ext cx="87312" cy="87325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5967412" y="3509962"/>
            <a:ext cx="1875155" cy="552450"/>
            <a:chOff x="5967412" y="3509962"/>
            <a:chExt cx="1875155" cy="552450"/>
          </a:xfrm>
        </p:grpSpPr>
        <p:sp>
          <p:nvSpPr>
            <p:cNvPr id="18" name="object 18"/>
            <p:cNvSpPr/>
            <p:nvPr/>
          </p:nvSpPr>
          <p:spPr>
            <a:xfrm>
              <a:off x="6173788" y="3516312"/>
              <a:ext cx="1668780" cy="0"/>
            </a:xfrm>
            <a:custGeom>
              <a:avLst/>
              <a:gdLst/>
              <a:ahLst/>
              <a:cxnLst/>
              <a:rect l="l" t="t" r="r" b="b"/>
              <a:pathLst>
                <a:path w="1668779">
                  <a:moveTo>
                    <a:pt x="0" y="0"/>
                  </a:moveTo>
                  <a:lnTo>
                    <a:pt x="166846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973762" y="3708400"/>
              <a:ext cx="398780" cy="347980"/>
            </a:xfrm>
            <a:custGeom>
              <a:avLst/>
              <a:gdLst/>
              <a:ahLst/>
              <a:cxnLst/>
              <a:rect l="l" t="t" r="r" b="b"/>
              <a:pathLst>
                <a:path w="398779" h="347979">
                  <a:moveTo>
                    <a:pt x="398462" y="0"/>
                  </a:moveTo>
                  <a:lnTo>
                    <a:pt x="0" y="0"/>
                  </a:lnTo>
                  <a:lnTo>
                    <a:pt x="0" y="347662"/>
                  </a:lnTo>
                  <a:lnTo>
                    <a:pt x="398462" y="347662"/>
                  </a:lnTo>
                  <a:lnTo>
                    <a:pt x="398462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973762" y="3708400"/>
              <a:ext cx="398780" cy="347980"/>
            </a:xfrm>
            <a:custGeom>
              <a:avLst/>
              <a:gdLst/>
              <a:ahLst/>
              <a:cxnLst/>
              <a:rect l="l" t="t" r="r" b="b"/>
              <a:pathLst>
                <a:path w="398779" h="347979">
                  <a:moveTo>
                    <a:pt x="0" y="0"/>
                  </a:moveTo>
                  <a:lnTo>
                    <a:pt x="398462" y="0"/>
                  </a:lnTo>
                  <a:lnTo>
                    <a:pt x="398462" y="347662"/>
                  </a:lnTo>
                  <a:lnTo>
                    <a:pt x="0" y="347662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172200" y="3521075"/>
              <a:ext cx="0" cy="187325"/>
            </a:xfrm>
            <a:custGeom>
              <a:avLst/>
              <a:gdLst/>
              <a:ahLst/>
              <a:cxnLst/>
              <a:rect l="l" t="t" r="r" b="b"/>
              <a:pathLst>
                <a:path h="187325">
                  <a:moveTo>
                    <a:pt x="0" y="187325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5980112" y="5534025"/>
            <a:ext cx="1866900" cy="544830"/>
            <a:chOff x="5980112" y="5534025"/>
            <a:chExt cx="1866900" cy="544830"/>
          </a:xfrm>
        </p:grpSpPr>
        <p:sp>
          <p:nvSpPr>
            <p:cNvPr id="23" name="object 23"/>
            <p:cNvSpPr/>
            <p:nvPr/>
          </p:nvSpPr>
          <p:spPr>
            <a:xfrm>
              <a:off x="6178550" y="5540375"/>
              <a:ext cx="1668780" cy="0"/>
            </a:xfrm>
            <a:custGeom>
              <a:avLst/>
              <a:gdLst/>
              <a:ahLst/>
              <a:cxnLst/>
              <a:rect l="l" t="t" r="r" b="b"/>
              <a:pathLst>
                <a:path w="1668779">
                  <a:moveTo>
                    <a:pt x="0" y="0"/>
                  </a:moveTo>
                  <a:lnTo>
                    <a:pt x="166846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986462" y="5724525"/>
              <a:ext cx="398780" cy="347980"/>
            </a:xfrm>
            <a:custGeom>
              <a:avLst/>
              <a:gdLst/>
              <a:ahLst/>
              <a:cxnLst/>
              <a:rect l="l" t="t" r="r" b="b"/>
              <a:pathLst>
                <a:path w="398779" h="347979">
                  <a:moveTo>
                    <a:pt x="398462" y="0"/>
                  </a:moveTo>
                  <a:lnTo>
                    <a:pt x="0" y="0"/>
                  </a:lnTo>
                  <a:lnTo>
                    <a:pt x="0" y="347662"/>
                  </a:lnTo>
                  <a:lnTo>
                    <a:pt x="398462" y="347662"/>
                  </a:lnTo>
                  <a:lnTo>
                    <a:pt x="398462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986462" y="5724525"/>
              <a:ext cx="398780" cy="347980"/>
            </a:xfrm>
            <a:custGeom>
              <a:avLst/>
              <a:gdLst/>
              <a:ahLst/>
              <a:cxnLst/>
              <a:rect l="l" t="t" r="r" b="b"/>
              <a:pathLst>
                <a:path w="398779" h="347979">
                  <a:moveTo>
                    <a:pt x="0" y="0"/>
                  </a:moveTo>
                  <a:lnTo>
                    <a:pt x="398462" y="0"/>
                  </a:lnTo>
                  <a:lnTo>
                    <a:pt x="398462" y="347662"/>
                  </a:lnTo>
                  <a:lnTo>
                    <a:pt x="0" y="347662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184900" y="5537200"/>
              <a:ext cx="0" cy="187325"/>
            </a:xfrm>
            <a:custGeom>
              <a:avLst/>
              <a:gdLst/>
              <a:ahLst/>
              <a:cxnLst/>
              <a:rect l="l" t="t" r="r" b="b"/>
              <a:pathLst>
                <a:path h="187325">
                  <a:moveTo>
                    <a:pt x="0" y="187325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5980112" y="4591050"/>
            <a:ext cx="1862455" cy="555625"/>
            <a:chOff x="5980112" y="4591050"/>
            <a:chExt cx="1862455" cy="555625"/>
          </a:xfrm>
        </p:grpSpPr>
        <p:sp>
          <p:nvSpPr>
            <p:cNvPr id="28" name="object 28"/>
            <p:cNvSpPr/>
            <p:nvPr/>
          </p:nvSpPr>
          <p:spPr>
            <a:xfrm>
              <a:off x="6186488" y="4597400"/>
              <a:ext cx="1656080" cy="0"/>
            </a:xfrm>
            <a:custGeom>
              <a:avLst/>
              <a:gdLst/>
              <a:ahLst/>
              <a:cxnLst/>
              <a:rect l="l" t="t" r="r" b="b"/>
              <a:pathLst>
                <a:path w="1656079">
                  <a:moveTo>
                    <a:pt x="0" y="0"/>
                  </a:moveTo>
                  <a:lnTo>
                    <a:pt x="165576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986462" y="4792662"/>
              <a:ext cx="398780" cy="347980"/>
            </a:xfrm>
            <a:custGeom>
              <a:avLst/>
              <a:gdLst/>
              <a:ahLst/>
              <a:cxnLst/>
              <a:rect l="l" t="t" r="r" b="b"/>
              <a:pathLst>
                <a:path w="398779" h="347979">
                  <a:moveTo>
                    <a:pt x="398462" y="0"/>
                  </a:moveTo>
                  <a:lnTo>
                    <a:pt x="0" y="0"/>
                  </a:lnTo>
                  <a:lnTo>
                    <a:pt x="0" y="347662"/>
                  </a:lnTo>
                  <a:lnTo>
                    <a:pt x="398462" y="347662"/>
                  </a:lnTo>
                  <a:lnTo>
                    <a:pt x="398462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986462" y="4792662"/>
              <a:ext cx="398780" cy="347980"/>
            </a:xfrm>
            <a:custGeom>
              <a:avLst/>
              <a:gdLst/>
              <a:ahLst/>
              <a:cxnLst/>
              <a:rect l="l" t="t" r="r" b="b"/>
              <a:pathLst>
                <a:path w="398779" h="347979">
                  <a:moveTo>
                    <a:pt x="0" y="0"/>
                  </a:moveTo>
                  <a:lnTo>
                    <a:pt x="398462" y="0"/>
                  </a:lnTo>
                  <a:lnTo>
                    <a:pt x="398462" y="347662"/>
                  </a:lnTo>
                  <a:lnTo>
                    <a:pt x="0" y="347662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186488" y="4605337"/>
              <a:ext cx="0" cy="187325"/>
            </a:xfrm>
            <a:custGeom>
              <a:avLst/>
              <a:gdLst/>
              <a:ahLst/>
              <a:cxnLst/>
              <a:rect l="l" t="t" r="r" b="b"/>
              <a:pathLst>
                <a:path h="187325">
                  <a:moveTo>
                    <a:pt x="0" y="187325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4290377" y="5289422"/>
            <a:ext cx="67373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 MT"/>
                <a:cs typeface="Arial MT"/>
              </a:rPr>
              <a:t>RST</a:t>
            </a:r>
            <a:r>
              <a:rPr sz="1400" spc="-9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5.5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290555" y="4359081"/>
            <a:ext cx="67373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 MT"/>
                <a:cs typeface="Arial MT"/>
              </a:rPr>
              <a:t>RST</a:t>
            </a:r>
            <a:r>
              <a:rPr sz="1400" spc="-9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6.5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427152" y="5667247"/>
            <a:ext cx="1392555" cy="700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M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5.5</a:t>
            </a:r>
            <a:endParaRPr sz="1200">
              <a:latin typeface="Arial MT"/>
              <a:cs typeface="Arial MT"/>
            </a:endParaRPr>
          </a:p>
          <a:p>
            <a:pPr marL="547370" marR="5080" indent="-250190">
              <a:lnSpc>
                <a:spcPct val="100000"/>
              </a:lnSpc>
              <a:spcBef>
                <a:spcPts val="990"/>
              </a:spcBef>
            </a:pPr>
            <a:r>
              <a:rPr sz="1200" spc="-5" dirty="0">
                <a:latin typeface="Arial MT"/>
                <a:cs typeface="Arial MT"/>
              </a:rPr>
              <a:t>Interrupt</a:t>
            </a:r>
            <a:r>
              <a:rPr sz="1200" spc="-8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Enable </a:t>
            </a:r>
            <a:r>
              <a:rPr sz="1200" spc="-31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Flip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Flop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425628" y="4749647"/>
            <a:ext cx="40703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M</a:t>
            </a:r>
            <a:r>
              <a:rPr sz="1200" spc="-7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6.5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290732" y="3152648"/>
            <a:ext cx="2994025" cy="708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75764" algn="ctr">
              <a:lnSpc>
                <a:spcPts val="1500"/>
              </a:lnSpc>
              <a:spcBef>
                <a:spcPts val="95"/>
              </a:spcBef>
            </a:pPr>
            <a:r>
              <a:rPr sz="1400" spc="-5" dirty="0">
                <a:latin typeface="Arial MT"/>
                <a:cs typeface="Arial MT"/>
              </a:rPr>
              <a:t>RST7.5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Memory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ts val="1500"/>
              </a:lnSpc>
            </a:pPr>
            <a:r>
              <a:rPr sz="1400" spc="-5" dirty="0">
                <a:latin typeface="Arial MT"/>
                <a:cs typeface="Arial MT"/>
              </a:rPr>
              <a:t>RST</a:t>
            </a:r>
            <a:r>
              <a:rPr sz="1400" spc="-6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7.5</a:t>
            </a:r>
            <a:endParaRPr sz="1400">
              <a:latin typeface="Arial MT"/>
              <a:cs typeface="Arial MT"/>
            </a:endParaRPr>
          </a:p>
          <a:p>
            <a:pPr marL="1682114" algn="ctr">
              <a:lnSpc>
                <a:spcPct val="100000"/>
              </a:lnSpc>
              <a:spcBef>
                <a:spcPts val="935"/>
              </a:spcBef>
            </a:pPr>
            <a:r>
              <a:rPr sz="1200" dirty="0">
                <a:latin typeface="Arial MT"/>
                <a:cs typeface="Arial MT"/>
              </a:rPr>
              <a:t>M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7.5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5897563" y="3417887"/>
            <a:ext cx="1955800" cy="0"/>
          </a:xfrm>
          <a:custGeom>
            <a:avLst/>
            <a:gdLst/>
            <a:ahLst/>
            <a:cxnLst/>
            <a:rect l="l" t="t" r="r" b="b"/>
            <a:pathLst>
              <a:path w="1955800">
                <a:moveTo>
                  <a:pt x="0" y="0"/>
                </a:moveTo>
                <a:lnTo>
                  <a:pt x="19558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8" name="object 38"/>
          <p:cNvGrpSpPr/>
          <p:nvPr/>
        </p:nvGrpSpPr>
        <p:grpSpPr>
          <a:xfrm>
            <a:off x="1106487" y="4198937"/>
            <a:ext cx="1992630" cy="523875"/>
            <a:chOff x="1106487" y="4198937"/>
            <a:chExt cx="1992630" cy="523875"/>
          </a:xfrm>
        </p:grpSpPr>
        <p:sp>
          <p:nvSpPr>
            <p:cNvPr id="39" name="object 39"/>
            <p:cNvSpPr/>
            <p:nvPr/>
          </p:nvSpPr>
          <p:spPr>
            <a:xfrm>
              <a:off x="1112837" y="4205287"/>
              <a:ext cx="1979930" cy="511175"/>
            </a:xfrm>
            <a:custGeom>
              <a:avLst/>
              <a:gdLst/>
              <a:ahLst/>
              <a:cxnLst/>
              <a:rect l="l" t="t" r="r" b="b"/>
              <a:pathLst>
                <a:path w="1979930" h="511175">
                  <a:moveTo>
                    <a:pt x="1979612" y="0"/>
                  </a:moveTo>
                  <a:lnTo>
                    <a:pt x="0" y="0"/>
                  </a:lnTo>
                  <a:lnTo>
                    <a:pt x="0" y="511175"/>
                  </a:lnTo>
                  <a:lnTo>
                    <a:pt x="1979612" y="511175"/>
                  </a:lnTo>
                  <a:lnTo>
                    <a:pt x="1979612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112837" y="4205287"/>
              <a:ext cx="1979930" cy="511175"/>
            </a:xfrm>
            <a:custGeom>
              <a:avLst/>
              <a:gdLst/>
              <a:ahLst/>
              <a:cxnLst/>
              <a:rect l="l" t="t" r="r" b="b"/>
              <a:pathLst>
                <a:path w="1979930" h="511175">
                  <a:moveTo>
                    <a:pt x="0" y="0"/>
                  </a:moveTo>
                  <a:lnTo>
                    <a:pt x="1979612" y="0"/>
                  </a:lnTo>
                  <a:lnTo>
                    <a:pt x="1979612" y="511175"/>
                  </a:lnTo>
                  <a:lnTo>
                    <a:pt x="0" y="51117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1123180" y="4242491"/>
            <a:ext cx="1925955" cy="42227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algn="ctr">
              <a:lnSpc>
                <a:spcPts val="1645"/>
              </a:lnSpc>
            </a:pPr>
            <a:r>
              <a:rPr sz="1400" spc="-5" dirty="0">
                <a:latin typeface="Arial MT"/>
                <a:cs typeface="Arial MT"/>
              </a:rPr>
              <a:t>SDI</a:t>
            </a:r>
            <a:endParaRPr sz="1400">
              <a:latin typeface="Arial MT"/>
              <a:cs typeface="Arial MT"/>
            </a:endParaRPr>
          </a:p>
          <a:p>
            <a:pPr marR="17145" algn="ctr">
              <a:lnSpc>
                <a:spcPct val="100000"/>
              </a:lnSpc>
              <a:spcBef>
                <a:spcPts val="219"/>
              </a:spcBef>
            </a:pPr>
            <a:r>
              <a:rPr sz="1400" spc="-5" dirty="0">
                <a:latin typeface="Arial MT"/>
                <a:cs typeface="Arial MT"/>
              </a:rPr>
              <a:t>P7.5</a:t>
            </a:r>
            <a:endParaRPr sz="1400">
              <a:latin typeface="Arial MT"/>
              <a:cs typeface="Arial MT"/>
            </a:endParaRPr>
          </a:p>
          <a:p>
            <a:pPr marL="12700" marR="5080" indent="-25400" algn="ctr">
              <a:lnSpc>
                <a:spcPct val="113199"/>
              </a:lnSpc>
              <a:spcBef>
                <a:spcPts val="85"/>
              </a:spcBef>
            </a:pPr>
            <a:r>
              <a:rPr sz="1400" spc="-5" dirty="0">
                <a:latin typeface="Arial MT"/>
                <a:cs typeface="Arial MT"/>
              </a:rPr>
              <a:t>P6.5 </a:t>
            </a:r>
            <a:r>
              <a:rPr sz="1400" spc="-37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P5.5 </a:t>
            </a:r>
            <a:r>
              <a:rPr sz="1400" spc="-37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IE </a:t>
            </a:r>
            <a:r>
              <a:rPr sz="1400" dirty="0">
                <a:latin typeface="Arial MT"/>
                <a:cs typeface="Arial MT"/>
              </a:rPr>
              <a:t> M7.5  M6.5  M5.5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1343026" y="4205287"/>
            <a:ext cx="1489075" cy="511175"/>
            <a:chOff x="1343026" y="4205287"/>
            <a:chExt cx="1489075" cy="511175"/>
          </a:xfrm>
        </p:grpSpPr>
        <p:sp>
          <p:nvSpPr>
            <p:cNvPr id="43" name="object 43"/>
            <p:cNvSpPr/>
            <p:nvPr/>
          </p:nvSpPr>
          <p:spPr>
            <a:xfrm>
              <a:off x="1349376" y="4205287"/>
              <a:ext cx="0" cy="511175"/>
            </a:xfrm>
            <a:custGeom>
              <a:avLst/>
              <a:gdLst/>
              <a:ahLst/>
              <a:cxnLst/>
              <a:rect l="l" t="t" r="r" b="b"/>
              <a:pathLst>
                <a:path h="511175">
                  <a:moveTo>
                    <a:pt x="0" y="511175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601787" y="4205287"/>
              <a:ext cx="0" cy="511175"/>
            </a:xfrm>
            <a:custGeom>
              <a:avLst/>
              <a:gdLst/>
              <a:ahLst/>
              <a:cxnLst/>
              <a:rect l="l" t="t" r="r" b="b"/>
              <a:pathLst>
                <a:path h="511175">
                  <a:moveTo>
                    <a:pt x="0" y="511175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841501" y="4205287"/>
              <a:ext cx="0" cy="511175"/>
            </a:xfrm>
            <a:custGeom>
              <a:avLst/>
              <a:gdLst/>
              <a:ahLst/>
              <a:cxnLst/>
              <a:rect l="l" t="t" r="r" b="b"/>
              <a:pathLst>
                <a:path h="511175">
                  <a:moveTo>
                    <a:pt x="0" y="511175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081212" y="4205287"/>
              <a:ext cx="0" cy="511175"/>
            </a:xfrm>
            <a:custGeom>
              <a:avLst/>
              <a:gdLst/>
              <a:ahLst/>
              <a:cxnLst/>
              <a:rect l="l" t="t" r="r" b="b"/>
              <a:pathLst>
                <a:path h="511175">
                  <a:moveTo>
                    <a:pt x="0" y="511175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333626" y="4205287"/>
              <a:ext cx="0" cy="511175"/>
            </a:xfrm>
            <a:custGeom>
              <a:avLst/>
              <a:gdLst/>
              <a:ahLst/>
              <a:cxnLst/>
              <a:rect l="l" t="t" r="r" b="b"/>
              <a:pathLst>
                <a:path h="511175">
                  <a:moveTo>
                    <a:pt x="0" y="511175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2586037" y="4205287"/>
              <a:ext cx="0" cy="511175"/>
            </a:xfrm>
            <a:custGeom>
              <a:avLst/>
              <a:gdLst/>
              <a:ahLst/>
              <a:cxnLst/>
              <a:rect l="l" t="t" r="r" b="b"/>
              <a:pathLst>
                <a:path h="511175">
                  <a:moveTo>
                    <a:pt x="0" y="511175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825751" y="4205287"/>
              <a:ext cx="0" cy="511175"/>
            </a:xfrm>
            <a:custGeom>
              <a:avLst/>
              <a:gdLst/>
              <a:ahLst/>
              <a:cxnLst/>
              <a:rect l="l" t="t" r="r" b="b"/>
              <a:pathLst>
                <a:path h="511175">
                  <a:moveTo>
                    <a:pt x="0" y="511175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1189991" y="3949572"/>
            <a:ext cx="18249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3365" algn="l"/>
                <a:tab pos="494665" algn="l"/>
                <a:tab pos="723265" algn="l"/>
                <a:tab pos="977265" algn="l"/>
                <a:tab pos="1231265" algn="l"/>
                <a:tab pos="1472565" algn="l"/>
                <a:tab pos="1726564" algn="l"/>
              </a:tabLst>
            </a:pPr>
            <a:r>
              <a:rPr sz="1200" spc="-5" dirty="0">
                <a:latin typeface="Arial MT"/>
                <a:cs typeface="Arial MT"/>
              </a:rPr>
              <a:t>7	6	5	4	3	2	1	0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1908183" y="4576767"/>
            <a:ext cx="4850130" cy="1670050"/>
            <a:chOff x="1908183" y="4576767"/>
            <a:chExt cx="4850130" cy="1670050"/>
          </a:xfrm>
        </p:grpSpPr>
        <p:sp>
          <p:nvSpPr>
            <p:cNvPr id="52" name="object 52"/>
            <p:cNvSpPr/>
            <p:nvPr/>
          </p:nvSpPr>
          <p:spPr>
            <a:xfrm>
              <a:off x="2212976" y="6232525"/>
              <a:ext cx="4545330" cy="0"/>
            </a:xfrm>
            <a:custGeom>
              <a:avLst/>
              <a:gdLst/>
              <a:ahLst/>
              <a:cxnLst/>
              <a:rect l="l" t="t" r="r" b="b"/>
              <a:pathLst>
                <a:path w="4545330">
                  <a:moveTo>
                    <a:pt x="4545012" y="0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99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212975" y="4684712"/>
              <a:ext cx="0" cy="1548130"/>
            </a:xfrm>
            <a:custGeom>
              <a:avLst/>
              <a:gdLst/>
              <a:ahLst/>
              <a:cxnLst/>
              <a:rect l="l" t="t" r="r" b="b"/>
              <a:pathLst>
                <a:path h="1548129">
                  <a:moveTo>
                    <a:pt x="0" y="1547812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99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947988" y="5883275"/>
              <a:ext cx="3162300" cy="0"/>
            </a:xfrm>
            <a:custGeom>
              <a:avLst/>
              <a:gdLst/>
              <a:ahLst/>
              <a:cxnLst/>
              <a:rect l="l" t="t" r="r" b="b"/>
              <a:pathLst>
                <a:path w="3162300">
                  <a:moveTo>
                    <a:pt x="3162300" y="0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947987" y="4746624"/>
              <a:ext cx="0" cy="1136650"/>
            </a:xfrm>
            <a:custGeom>
              <a:avLst/>
              <a:gdLst/>
              <a:ahLst/>
              <a:cxnLst/>
              <a:rect l="l" t="t" r="r" b="b"/>
              <a:pathLst>
                <a:path h="1136650">
                  <a:moveTo>
                    <a:pt x="0" y="1136650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905133" y="467519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42849" y="0"/>
                  </a:moveTo>
                  <a:lnTo>
                    <a:pt x="0" y="85725"/>
                  </a:lnTo>
                  <a:lnTo>
                    <a:pt x="85725" y="85712"/>
                  </a:lnTo>
                  <a:lnTo>
                    <a:pt x="42849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2698750" y="4962524"/>
              <a:ext cx="3486150" cy="0"/>
            </a:xfrm>
            <a:custGeom>
              <a:avLst/>
              <a:gdLst/>
              <a:ahLst/>
              <a:cxnLst/>
              <a:rect l="l" t="t" r="r" b="b"/>
              <a:pathLst>
                <a:path w="3486150">
                  <a:moveTo>
                    <a:pt x="3486150" y="0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2698750" y="4648199"/>
              <a:ext cx="0" cy="314325"/>
            </a:xfrm>
            <a:custGeom>
              <a:avLst/>
              <a:gdLst/>
              <a:ahLst/>
              <a:cxnLst/>
              <a:rect l="l" t="t" r="r" b="b"/>
              <a:pathLst>
                <a:path h="314325">
                  <a:moveTo>
                    <a:pt x="0" y="314325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2655895" y="4576767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42849" y="0"/>
                  </a:moveTo>
                  <a:lnTo>
                    <a:pt x="0" y="85725"/>
                  </a:lnTo>
                  <a:lnTo>
                    <a:pt x="85725" y="85712"/>
                  </a:lnTo>
                  <a:lnTo>
                    <a:pt x="42849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2170120" y="461327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42849" y="0"/>
                  </a:moveTo>
                  <a:lnTo>
                    <a:pt x="0" y="85724"/>
                  </a:lnTo>
                  <a:lnTo>
                    <a:pt x="85725" y="85712"/>
                  </a:lnTo>
                  <a:lnTo>
                    <a:pt x="42849" y="0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951037" y="5194299"/>
              <a:ext cx="3437254" cy="0"/>
            </a:xfrm>
            <a:custGeom>
              <a:avLst/>
              <a:gdLst/>
              <a:ahLst/>
              <a:cxnLst/>
              <a:rect l="l" t="t" r="r" b="b"/>
              <a:pathLst>
                <a:path w="3437254">
                  <a:moveTo>
                    <a:pt x="3436937" y="0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951037" y="4746624"/>
              <a:ext cx="0" cy="440055"/>
            </a:xfrm>
            <a:custGeom>
              <a:avLst/>
              <a:gdLst/>
              <a:ahLst/>
              <a:cxnLst/>
              <a:rect l="l" t="t" r="r" b="b"/>
              <a:pathLst>
                <a:path h="440054">
                  <a:moveTo>
                    <a:pt x="0" y="439737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908183" y="467519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42849" y="0"/>
                  </a:moveTo>
                  <a:lnTo>
                    <a:pt x="0" y="85725"/>
                  </a:lnTo>
                  <a:lnTo>
                    <a:pt x="85725" y="85712"/>
                  </a:lnTo>
                  <a:lnTo>
                    <a:pt x="42849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391150" y="5199062"/>
              <a:ext cx="0" cy="211454"/>
            </a:xfrm>
            <a:custGeom>
              <a:avLst/>
              <a:gdLst/>
              <a:ahLst/>
              <a:cxnLst/>
              <a:rect l="l" t="t" r="r" b="b"/>
              <a:pathLst>
                <a:path h="211454">
                  <a:moveTo>
                    <a:pt x="0" y="0"/>
                  </a:moveTo>
                  <a:lnTo>
                    <a:pt x="0" y="211137"/>
                  </a:lnTo>
                </a:path>
              </a:pathLst>
            </a:custGeom>
            <a:ln w="28575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5" name="object 65"/>
          <p:cNvGrpSpPr/>
          <p:nvPr/>
        </p:nvGrpSpPr>
        <p:grpSpPr>
          <a:xfrm>
            <a:off x="1435100" y="3290887"/>
            <a:ext cx="4724400" cy="1198880"/>
            <a:chOff x="1435100" y="3290887"/>
            <a:chExt cx="4724400" cy="1198880"/>
          </a:xfrm>
        </p:grpSpPr>
        <p:sp>
          <p:nvSpPr>
            <p:cNvPr id="66" name="object 66"/>
            <p:cNvSpPr/>
            <p:nvPr/>
          </p:nvSpPr>
          <p:spPr>
            <a:xfrm>
              <a:off x="1477962" y="3305175"/>
              <a:ext cx="4208780" cy="0"/>
            </a:xfrm>
            <a:custGeom>
              <a:avLst/>
              <a:gdLst/>
              <a:ahLst/>
              <a:cxnLst/>
              <a:rect l="l" t="t" r="r" b="b"/>
              <a:pathLst>
                <a:path w="4208780">
                  <a:moveTo>
                    <a:pt x="4208462" y="0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477962" y="3306762"/>
              <a:ext cx="0" cy="923925"/>
            </a:xfrm>
            <a:custGeom>
              <a:avLst/>
              <a:gdLst/>
              <a:ahLst/>
              <a:cxnLst/>
              <a:rect l="l" t="t" r="r" b="b"/>
              <a:pathLst>
                <a:path h="923925">
                  <a:moveTo>
                    <a:pt x="0" y="0"/>
                  </a:moveTo>
                  <a:lnTo>
                    <a:pt x="0" y="923925"/>
                  </a:lnTo>
                </a:path>
              </a:pathLst>
            </a:custGeom>
            <a:ln w="28575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2474912" y="3876675"/>
              <a:ext cx="3684904" cy="0"/>
            </a:xfrm>
            <a:custGeom>
              <a:avLst/>
              <a:gdLst/>
              <a:ahLst/>
              <a:cxnLst/>
              <a:rect l="l" t="t" r="r" b="b"/>
              <a:pathLst>
                <a:path w="3684904">
                  <a:moveTo>
                    <a:pt x="3684587" y="0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2474912" y="3876675"/>
              <a:ext cx="0" cy="352425"/>
            </a:xfrm>
            <a:custGeom>
              <a:avLst/>
              <a:gdLst/>
              <a:ahLst/>
              <a:cxnLst/>
              <a:rect l="l" t="t" r="r" b="b"/>
              <a:pathLst>
                <a:path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ln w="28575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2432050" y="421481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0"/>
                  </a:moveTo>
                  <a:lnTo>
                    <a:pt x="0" y="0"/>
                  </a:lnTo>
                  <a:lnTo>
                    <a:pt x="42862" y="85725"/>
                  </a:lnTo>
                  <a:lnTo>
                    <a:pt x="85725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1435100" y="4216400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0"/>
                  </a:moveTo>
                  <a:lnTo>
                    <a:pt x="0" y="0"/>
                  </a:lnTo>
                  <a:lnTo>
                    <a:pt x="42862" y="85725"/>
                  </a:lnTo>
                  <a:lnTo>
                    <a:pt x="85725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1727200" y="3754437"/>
              <a:ext cx="3635375" cy="1905"/>
            </a:xfrm>
            <a:custGeom>
              <a:avLst/>
              <a:gdLst/>
              <a:ahLst/>
              <a:cxnLst/>
              <a:rect l="l" t="t" r="r" b="b"/>
              <a:pathLst>
                <a:path w="3635375" h="1904">
                  <a:moveTo>
                    <a:pt x="3635375" y="1587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1727200" y="3754437"/>
              <a:ext cx="0" cy="476250"/>
            </a:xfrm>
            <a:custGeom>
              <a:avLst/>
              <a:gdLst/>
              <a:ahLst/>
              <a:cxnLst/>
              <a:rect l="l" t="t" r="r" b="b"/>
              <a:pathLst>
                <a:path h="476250">
                  <a:moveTo>
                    <a:pt x="0" y="0"/>
                  </a:moveTo>
                  <a:lnTo>
                    <a:pt x="0" y="476250"/>
                  </a:lnTo>
                </a:path>
              </a:pathLst>
            </a:custGeom>
            <a:ln w="28575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1684337" y="4216400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0"/>
                  </a:moveTo>
                  <a:lnTo>
                    <a:pt x="0" y="0"/>
                  </a:lnTo>
                  <a:lnTo>
                    <a:pt x="42862" y="85725"/>
                  </a:lnTo>
                  <a:lnTo>
                    <a:pt x="85725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5362575" y="3754437"/>
              <a:ext cx="0" cy="735330"/>
            </a:xfrm>
            <a:custGeom>
              <a:avLst/>
              <a:gdLst/>
              <a:ahLst/>
              <a:cxnLst/>
              <a:rect l="l" t="t" r="r" b="b"/>
              <a:pathLst>
                <a:path h="735329">
                  <a:moveTo>
                    <a:pt x="0" y="0"/>
                  </a:moveTo>
                  <a:lnTo>
                    <a:pt x="0" y="735012"/>
                  </a:lnTo>
                </a:path>
              </a:pathLst>
            </a:custGeom>
            <a:ln w="28575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5184" rIns="0" bIns="0" rtlCol="0">
            <a:spAutoFit/>
          </a:bodyPr>
          <a:lstStyle/>
          <a:p>
            <a:pPr marL="2483485" marR="5080" indent="-212471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How</a:t>
            </a:r>
            <a:r>
              <a:rPr sz="4000" spc="-35" dirty="0"/>
              <a:t> </a:t>
            </a:r>
            <a:r>
              <a:rPr sz="4000" dirty="0"/>
              <a:t>RIM</a:t>
            </a:r>
            <a:r>
              <a:rPr sz="4000" spc="-15" dirty="0"/>
              <a:t> </a:t>
            </a:r>
            <a:r>
              <a:rPr sz="4000" spc="-5" dirty="0"/>
              <a:t>sets</a:t>
            </a:r>
            <a:r>
              <a:rPr sz="4000" spc="-15" dirty="0"/>
              <a:t> </a:t>
            </a:r>
            <a:r>
              <a:rPr sz="4000" spc="-5" dirty="0"/>
              <a:t>the</a:t>
            </a:r>
            <a:r>
              <a:rPr sz="4000" spc="-15" dirty="0"/>
              <a:t> </a:t>
            </a:r>
            <a:r>
              <a:rPr sz="4000" dirty="0"/>
              <a:t>Accumulator’s </a:t>
            </a:r>
            <a:r>
              <a:rPr sz="4000" spc="-985" dirty="0"/>
              <a:t> </a:t>
            </a:r>
            <a:r>
              <a:rPr sz="4000" dirty="0"/>
              <a:t>different</a:t>
            </a:r>
            <a:r>
              <a:rPr sz="4000" spc="-5" dirty="0"/>
              <a:t> bits</a:t>
            </a:r>
            <a:endParaRPr sz="40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463925" y="2335212"/>
          <a:ext cx="1998980" cy="523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8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0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0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27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27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00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673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11175"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SDI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5080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P7.5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P6.5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2065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P5.5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2065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marL="17589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IE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3970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M7.5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445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ts val="1630"/>
                        </a:lnSpc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M6.5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ts val="1639"/>
                        </a:lnSpc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M5.5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3547427" y="2085847"/>
            <a:ext cx="18249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3365" algn="l"/>
                <a:tab pos="494665" algn="l"/>
                <a:tab pos="723265" algn="l"/>
                <a:tab pos="977265" algn="l"/>
                <a:tab pos="1231265" algn="l"/>
                <a:tab pos="1472565" algn="l"/>
                <a:tab pos="1726564" algn="l"/>
              </a:tabLst>
            </a:pPr>
            <a:r>
              <a:rPr sz="1200" spc="-5" dirty="0">
                <a:latin typeface="Arial MT"/>
                <a:cs typeface="Arial MT"/>
              </a:rPr>
              <a:t>7	6	5	4	3	2	1	0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73606" y="2854321"/>
            <a:ext cx="76200" cy="647700"/>
            <a:chOff x="4773606" y="2854321"/>
            <a:chExt cx="76200" cy="647700"/>
          </a:xfrm>
        </p:grpSpPr>
        <p:sp>
          <p:nvSpPr>
            <p:cNvPr id="6" name="object 6"/>
            <p:cNvSpPr/>
            <p:nvPr/>
          </p:nvSpPr>
          <p:spPr>
            <a:xfrm>
              <a:off x="4811710" y="2917824"/>
              <a:ext cx="0" cy="584200"/>
            </a:xfrm>
            <a:custGeom>
              <a:avLst/>
              <a:gdLst/>
              <a:ahLst/>
              <a:cxnLst/>
              <a:rect l="l" t="t" r="r" b="b"/>
              <a:pathLst>
                <a:path h="584200">
                  <a:moveTo>
                    <a:pt x="0" y="0"/>
                  </a:moveTo>
                  <a:lnTo>
                    <a:pt x="0" y="5842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773606" y="2854321"/>
              <a:ext cx="76200" cy="76835"/>
            </a:xfrm>
            <a:custGeom>
              <a:avLst/>
              <a:gdLst/>
              <a:ahLst/>
              <a:cxnLst/>
              <a:rect l="l" t="t" r="r" b="b"/>
              <a:pathLst>
                <a:path w="76200" h="76835">
                  <a:moveTo>
                    <a:pt x="38112" y="0"/>
                  </a:moveTo>
                  <a:lnTo>
                    <a:pt x="0" y="76200"/>
                  </a:lnTo>
                  <a:lnTo>
                    <a:pt x="76200" y="76212"/>
                  </a:lnTo>
                  <a:lnTo>
                    <a:pt x="381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5278431" y="2851146"/>
            <a:ext cx="424180" cy="230504"/>
            <a:chOff x="5278431" y="2851146"/>
            <a:chExt cx="424180" cy="230504"/>
          </a:xfrm>
        </p:grpSpPr>
        <p:sp>
          <p:nvSpPr>
            <p:cNvPr id="9" name="object 9"/>
            <p:cNvSpPr/>
            <p:nvPr/>
          </p:nvSpPr>
          <p:spPr>
            <a:xfrm>
              <a:off x="5316535" y="2914649"/>
              <a:ext cx="0" cy="160655"/>
            </a:xfrm>
            <a:custGeom>
              <a:avLst/>
              <a:gdLst/>
              <a:ahLst/>
              <a:cxnLst/>
              <a:rect l="l" t="t" r="r" b="b"/>
              <a:pathLst>
                <a:path h="160655">
                  <a:moveTo>
                    <a:pt x="0" y="0"/>
                  </a:moveTo>
                  <a:lnTo>
                    <a:pt x="0" y="16033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278431" y="2851146"/>
              <a:ext cx="76200" cy="76835"/>
            </a:xfrm>
            <a:custGeom>
              <a:avLst/>
              <a:gdLst/>
              <a:ahLst/>
              <a:cxnLst/>
              <a:rect l="l" t="t" r="r" b="b"/>
              <a:pathLst>
                <a:path w="76200" h="76835">
                  <a:moveTo>
                    <a:pt x="38112" y="0"/>
                  </a:moveTo>
                  <a:lnTo>
                    <a:pt x="0" y="76200"/>
                  </a:lnTo>
                  <a:lnTo>
                    <a:pt x="76200" y="76212"/>
                  </a:lnTo>
                  <a:lnTo>
                    <a:pt x="381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316537" y="3074988"/>
              <a:ext cx="386080" cy="0"/>
            </a:xfrm>
            <a:custGeom>
              <a:avLst/>
              <a:gdLst/>
              <a:ahLst/>
              <a:cxnLst/>
              <a:rect l="l" t="t" r="r" b="b"/>
              <a:pathLst>
                <a:path w="386079">
                  <a:moveTo>
                    <a:pt x="0" y="0"/>
                  </a:moveTo>
                  <a:lnTo>
                    <a:pt x="38576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5019668" y="2852734"/>
            <a:ext cx="687705" cy="443230"/>
            <a:chOff x="5019668" y="2852734"/>
            <a:chExt cx="687705" cy="443230"/>
          </a:xfrm>
        </p:grpSpPr>
        <p:sp>
          <p:nvSpPr>
            <p:cNvPr id="13" name="object 13"/>
            <p:cNvSpPr/>
            <p:nvPr/>
          </p:nvSpPr>
          <p:spPr>
            <a:xfrm>
              <a:off x="5057772" y="2916238"/>
              <a:ext cx="0" cy="358775"/>
            </a:xfrm>
            <a:custGeom>
              <a:avLst/>
              <a:gdLst/>
              <a:ahLst/>
              <a:cxnLst/>
              <a:rect l="l" t="t" r="r" b="b"/>
              <a:pathLst>
                <a:path h="358775">
                  <a:moveTo>
                    <a:pt x="0" y="0"/>
                  </a:moveTo>
                  <a:lnTo>
                    <a:pt x="0" y="35877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019668" y="2852734"/>
              <a:ext cx="76200" cy="76835"/>
            </a:xfrm>
            <a:custGeom>
              <a:avLst/>
              <a:gdLst/>
              <a:ahLst/>
              <a:cxnLst/>
              <a:rect l="l" t="t" r="r" b="b"/>
              <a:pathLst>
                <a:path w="76200" h="76835">
                  <a:moveTo>
                    <a:pt x="38112" y="0"/>
                  </a:moveTo>
                  <a:lnTo>
                    <a:pt x="0" y="76200"/>
                  </a:lnTo>
                  <a:lnTo>
                    <a:pt x="76200" y="76212"/>
                  </a:lnTo>
                  <a:lnTo>
                    <a:pt x="381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059362" y="3289300"/>
              <a:ext cx="647700" cy="0"/>
            </a:xfrm>
            <a:custGeom>
              <a:avLst/>
              <a:gdLst/>
              <a:ahLst/>
              <a:cxnLst/>
              <a:rect l="l" t="t" r="r" b="b"/>
              <a:pathLst>
                <a:path w="647700">
                  <a:moveTo>
                    <a:pt x="0" y="0"/>
                  </a:moveTo>
                  <a:lnTo>
                    <a:pt x="6477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4540243" y="2855909"/>
            <a:ext cx="1123950" cy="1408430"/>
            <a:chOff x="4540243" y="2855909"/>
            <a:chExt cx="1123950" cy="1408430"/>
          </a:xfrm>
        </p:grpSpPr>
        <p:sp>
          <p:nvSpPr>
            <p:cNvPr id="17" name="object 17"/>
            <p:cNvSpPr/>
            <p:nvPr/>
          </p:nvSpPr>
          <p:spPr>
            <a:xfrm>
              <a:off x="4578347" y="2919413"/>
              <a:ext cx="0" cy="1343025"/>
            </a:xfrm>
            <a:custGeom>
              <a:avLst/>
              <a:gdLst/>
              <a:ahLst/>
              <a:cxnLst/>
              <a:rect l="l" t="t" r="r" b="b"/>
              <a:pathLst>
                <a:path h="1343025">
                  <a:moveTo>
                    <a:pt x="0" y="0"/>
                  </a:moveTo>
                  <a:lnTo>
                    <a:pt x="0" y="134302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540243" y="2855909"/>
              <a:ext cx="76200" cy="76835"/>
            </a:xfrm>
            <a:custGeom>
              <a:avLst/>
              <a:gdLst/>
              <a:ahLst/>
              <a:cxnLst/>
              <a:rect l="l" t="t" r="r" b="b"/>
              <a:pathLst>
                <a:path w="76200" h="76835">
                  <a:moveTo>
                    <a:pt x="38112" y="0"/>
                  </a:moveTo>
                  <a:lnTo>
                    <a:pt x="0" y="76200"/>
                  </a:lnTo>
                  <a:lnTo>
                    <a:pt x="76200" y="76212"/>
                  </a:lnTo>
                  <a:lnTo>
                    <a:pt x="381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581525" y="4257675"/>
              <a:ext cx="1082675" cy="0"/>
            </a:xfrm>
            <a:custGeom>
              <a:avLst/>
              <a:gdLst/>
              <a:ahLst/>
              <a:cxnLst/>
              <a:rect l="l" t="t" r="r" b="b"/>
              <a:pathLst>
                <a:path w="1082675">
                  <a:moveTo>
                    <a:pt x="0" y="0"/>
                  </a:moveTo>
                  <a:lnTo>
                    <a:pt x="10826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2427287" y="2862259"/>
            <a:ext cx="1205230" cy="405130"/>
            <a:chOff x="2427287" y="2862259"/>
            <a:chExt cx="1205230" cy="405130"/>
          </a:xfrm>
        </p:grpSpPr>
        <p:sp>
          <p:nvSpPr>
            <p:cNvPr id="21" name="object 21"/>
            <p:cNvSpPr/>
            <p:nvPr/>
          </p:nvSpPr>
          <p:spPr>
            <a:xfrm>
              <a:off x="3594097" y="2925763"/>
              <a:ext cx="0" cy="333375"/>
            </a:xfrm>
            <a:custGeom>
              <a:avLst/>
              <a:gdLst/>
              <a:ahLst/>
              <a:cxnLst/>
              <a:rect l="l" t="t" r="r" b="b"/>
              <a:pathLst>
                <a:path h="333375">
                  <a:moveTo>
                    <a:pt x="0" y="0"/>
                  </a:moveTo>
                  <a:lnTo>
                    <a:pt x="0" y="33337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555993" y="2862259"/>
              <a:ext cx="76200" cy="76835"/>
            </a:xfrm>
            <a:custGeom>
              <a:avLst/>
              <a:gdLst/>
              <a:ahLst/>
              <a:cxnLst/>
              <a:rect l="l" t="t" r="r" b="b"/>
              <a:pathLst>
                <a:path w="76200" h="76835">
                  <a:moveTo>
                    <a:pt x="38112" y="0"/>
                  </a:moveTo>
                  <a:lnTo>
                    <a:pt x="0" y="76200"/>
                  </a:lnTo>
                  <a:lnTo>
                    <a:pt x="76200" y="76212"/>
                  </a:lnTo>
                  <a:lnTo>
                    <a:pt x="381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427287" y="3260725"/>
              <a:ext cx="1170305" cy="0"/>
            </a:xfrm>
            <a:custGeom>
              <a:avLst/>
              <a:gdLst/>
              <a:ahLst/>
              <a:cxnLst/>
              <a:rect l="l" t="t" r="r" b="b"/>
              <a:pathLst>
                <a:path w="1170304">
                  <a:moveTo>
                    <a:pt x="1169987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813300" y="2857635"/>
            <a:ext cx="2087880" cy="77533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420"/>
              </a:spcBef>
            </a:pPr>
            <a:r>
              <a:rPr sz="1400" spc="-5" dirty="0">
                <a:latin typeface="Arial MT"/>
                <a:cs typeface="Arial MT"/>
              </a:rPr>
              <a:t>RST5.5</a:t>
            </a:r>
            <a:r>
              <a:rPr sz="1400" spc="-9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Mask</a:t>
            </a:r>
            <a:endParaRPr sz="140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  <a:spcBef>
                <a:spcPts val="320"/>
              </a:spcBef>
              <a:tabLst>
                <a:tab pos="872490" algn="l"/>
              </a:tabLst>
            </a:pPr>
            <a:r>
              <a:rPr sz="1400" u="sng" spc="-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	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spc="114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RST6.5</a:t>
            </a:r>
            <a:r>
              <a:rPr sz="1400" spc="-9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Mask</a:t>
            </a:r>
            <a:endParaRPr sz="140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  <a:spcBef>
                <a:spcPts val="220"/>
              </a:spcBef>
            </a:pPr>
            <a:r>
              <a:rPr sz="1400" spc="-5" dirty="0">
                <a:latin typeface="Arial MT"/>
                <a:cs typeface="Arial MT"/>
              </a:rPr>
              <a:t>RST7.5</a:t>
            </a:r>
            <a:r>
              <a:rPr sz="1400" spc="-9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Mask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958965" y="2851467"/>
            <a:ext cx="21209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5" dirty="0">
                <a:latin typeface="Arial MT"/>
                <a:cs typeface="Arial MT"/>
              </a:rPr>
              <a:t>}</a:t>
            </a:r>
            <a:endParaRPr sz="44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205027" y="3035173"/>
            <a:ext cx="9899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9385" indent="-147320">
              <a:lnSpc>
                <a:spcPct val="100000"/>
              </a:lnSpc>
              <a:spcBef>
                <a:spcPts val="95"/>
              </a:spcBef>
              <a:buAutoNum type="arabicPlain"/>
              <a:tabLst>
                <a:tab pos="160020" algn="l"/>
              </a:tabLst>
            </a:pPr>
            <a:r>
              <a:rPr sz="1400" spc="-5" dirty="0">
                <a:latin typeface="Arial MT"/>
                <a:cs typeface="Arial MT"/>
              </a:rPr>
              <a:t>-</a:t>
            </a:r>
            <a:r>
              <a:rPr sz="1400" spc="-80" dirty="0">
                <a:latin typeface="Arial MT"/>
                <a:cs typeface="Arial MT"/>
              </a:rPr>
              <a:t> </a:t>
            </a:r>
            <a:r>
              <a:rPr sz="1400" spc="-35" dirty="0">
                <a:latin typeface="Arial MT"/>
                <a:cs typeface="Arial MT"/>
              </a:rPr>
              <a:t>A</a:t>
            </a:r>
            <a:r>
              <a:rPr sz="1400" spc="-5" dirty="0">
                <a:latin typeface="Arial MT"/>
                <a:cs typeface="Arial MT"/>
              </a:rPr>
              <a:t>vailable</a:t>
            </a:r>
            <a:endParaRPr sz="1400">
              <a:latin typeface="Arial MT"/>
              <a:cs typeface="Arial MT"/>
            </a:endParaRPr>
          </a:p>
          <a:p>
            <a:pPr marL="159385" indent="-147320">
              <a:lnSpc>
                <a:spcPct val="100000"/>
              </a:lnSpc>
              <a:buAutoNum type="arabicPlain"/>
              <a:tabLst>
                <a:tab pos="160020" algn="l"/>
              </a:tabLst>
            </a:pPr>
            <a:r>
              <a:rPr sz="1400" spc="-5" dirty="0">
                <a:latin typeface="Arial MT"/>
                <a:cs typeface="Arial MT"/>
              </a:rPr>
              <a:t>-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Masked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825490" y="4117847"/>
            <a:ext cx="2268855" cy="665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 MT"/>
                <a:cs typeface="Arial MT"/>
              </a:rPr>
              <a:t>Interrupt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Enable</a:t>
            </a:r>
            <a:endParaRPr sz="14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1400" spc="-25" dirty="0">
                <a:latin typeface="Arial MT"/>
                <a:cs typeface="Arial MT"/>
              </a:rPr>
              <a:t>Value </a:t>
            </a:r>
            <a:r>
              <a:rPr sz="1400" spc="-5" dirty="0">
                <a:latin typeface="Arial MT"/>
                <a:cs typeface="Arial MT"/>
              </a:rPr>
              <a:t>of the Interrupt Enable </a:t>
            </a:r>
            <a:r>
              <a:rPr sz="1400" spc="-37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Flip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Flop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449637" y="2863846"/>
            <a:ext cx="424180" cy="977900"/>
            <a:chOff x="3449637" y="2863846"/>
            <a:chExt cx="424180" cy="977900"/>
          </a:xfrm>
        </p:grpSpPr>
        <p:sp>
          <p:nvSpPr>
            <p:cNvPr id="29" name="object 29"/>
            <p:cNvSpPr/>
            <p:nvPr/>
          </p:nvSpPr>
          <p:spPr>
            <a:xfrm>
              <a:off x="3835397" y="2927349"/>
              <a:ext cx="0" cy="908050"/>
            </a:xfrm>
            <a:custGeom>
              <a:avLst/>
              <a:gdLst/>
              <a:ahLst/>
              <a:cxnLst/>
              <a:rect l="l" t="t" r="r" b="b"/>
              <a:pathLst>
                <a:path h="908050">
                  <a:moveTo>
                    <a:pt x="0" y="0"/>
                  </a:moveTo>
                  <a:lnTo>
                    <a:pt x="0" y="90805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797293" y="2863846"/>
              <a:ext cx="76200" cy="76835"/>
            </a:xfrm>
            <a:custGeom>
              <a:avLst/>
              <a:gdLst/>
              <a:ahLst/>
              <a:cxnLst/>
              <a:rect l="l" t="t" r="r" b="b"/>
              <a:pathLst>
                <a:path w="76200" h="76835">
                  <a:moveTo>
                    <a:pt x="38112" y="0"/>
                  </a:moveTo>
                  <a:lnTo>
                    <a:pt x="0" y="76200"/>
                  </a:lnTo>
                  <a:lnTo>
                    <a:pt x="76200" y="76212"/>
                  </a:lnTo>
                  <a:lnTo>
                    <a:pt x="381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49637" y="3835399"/>
              <a:ext cx="386080" cy="0"/>
            </a:xfrm>
            <a:custGeom>
              <a:avLst/>
              <a:gdLst/>
              <a:ahLst/>
              <a:cxnLst/>
              <a:rect l="l" t="t" r="r" b="b"/>
              <a:pathLst>
                <a:path w="386079">
                  <a:moveTo>
                    <a:pt x="385762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2" name="object 32"/>
          <p:cNvGrpSpPr/>
          <p:nvPr/>
        </p:nvGrpSpPr>
        <p:grpSpPr>
          <a:xfrm>
            <a:off x="3444875" y="2865434"/>
            <a:ext cx="687705" cy="1190625"/>
            <a:chOff x="3444875" y="2865434"/>
            <a:chExt cx="687705" cy="1190625"/>
          </a:xfrm>
        </p:grpSpPr>
        <p:sp>
          <p:nvSpPr>
            <p:cNvPr id="33" name="object 33"/>
            <p:cNvSpPr/>
            <p:nvPr/>
          </p:nvSpPr>
          <p:spPr>
            <a:xfrm>
              <a:off x="4094159" y="2928938"/>
              <a:ext cx="0" cy="1106805"/>
            </a:xfrm>
            <a:custGeom>
              <a:avLst/>
              <a:gdLst/>
              <a:ahLst/>
              <a:cxnLst/>
              <a:rect l="l" t="t" r="r" b="b"/>
              <a:pathLst>
                <a:path h="1106804">
                  <a:moveTo>
                    <a:pt x="0" y="0"/>
                  </a:moveTo>
                  <a:lnTo>
                    <a:pt x="0" y="110648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056056" y="2865434"/>
              <a:ext cx="76200" cy="76835"/>
            </a:xfrm>
            <a:custGeom>
              <a:avLst/>
              <a:gdLst/>
              <a:ahLst/>
              <a:cxnLst/>
              <a:rect l="l" t="t" r="r" b="b"/>
              <a:pathLst>
                <a:path w="76200" h="76835">
                  <a:moveTo>
                    <a:pt x="38112" y="0"/>
                  </a:moveTo>
                  <a:lnTo>
                    <a:pt x="0" y="76200"/>
                  </a:lnTo>
                  <a:lnTo>
                    <a:pt x="76200" y="76212"/>
                  </a:lnTo>
                  <a:lnTo>
                    <a:pt x="381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444875" y="4049712"/>
              <a:ext cx="647700" cy="0"/>
            </a:xfrm>
            <a:custGeom>
              <a:avLst/>
              <a:gdLst/>
              <a:ahLst/>
              <a:cxnLst/>
              <a:rect l="l" t="t" r="r" b="b"/>
              <a:pathLst>
                <a:path w="647700">
                  <a:moveTo>
                    <a:pt x="6477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" name="object 36"/>
          <p:cNvGrpSpPr/>
          <p:nvPr/>
        </p:nvGrpSpPr>
        <p:grpSpPr>
          <a:xfrm>
            <a:off x="3452812" y="2867021"/>
            <a:ext cx="925830" cy="1403350"/>
            <a:chOff x="3452812" y="2867021"/>
            <a:chExt cx="925830" cy="1403350"/>
          </a:xfrm>
        </p:grpSpPr>
        <p:sp>
          <p:nvSpPr>
            <p:cNvPr id="37" name="object 37"/>
            <p:cNvSpPr/>
            <p:nvPr/>
          </p:nvSpPr>
          <p:spPr>
            <a:xfrm>
              <a:off x="4340222" y="2930524"/>
              <a:ext cx="0" cy="1332230"/>
            </a:xfrm>
            <a:custGeom>
              <a:avLst/>
              <a:gdLst/>
              <a:ahLst/>
              <a:cxnLst/>
              <a:rect l="l" t="t" r="r" b="b"/>
              <a:pathLst>
                <a:path h="1332229">
                  <a:moveTo>
                    <a:pt x="0" y="0"/>
                  </a:moveTo>
                  <a:lnTo>
                    <a:pt x="0" y="1331912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302118" y="2867021"/>
              <a:ext cx="76200" cy="76835"/>
            </a:xfrm>
            <a:custGeom>
              <a:avLst/>
              <a:gdLst/>
              <a:ahLst/>
              <a:cxnLst/>
              <a:rect l="l" t="t" r="r" b="b"/>
              <a:pathLst>
                <a:path w="76200" h="76835">
                  <a:moveTo>
                    <a:pt x="38112" y="0"/>
                  </a:moveTo>
                  <a:lnTo>
                    <a:pt x="0" y="76200"/>
                  </a:lnTo>
                  <a:lnTo>
                    <a:pt x="76200" y="76212"/>
                  </a:lnTo>
                  <a:lnTo>
                    <a:pt x="381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452812" y="4264024"/>
              <a:ext cx="873125" cy="0"/>
            </a:xfrm>
            <a:custGeom>
              <a:avLst/>
              <a:gdLst/>
              <a:ahLst/>
              <a:cxnLst/>
              <a:rect l="l" t="t" r="r" b="b"/>
              <a:pathLst>
                <a:path w="873125">
                  <a:moveTo>
                    <a:pt x="873125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1209039" y="3122485"/>
            <a:ext cx="2037080" cy="1310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020" algn="just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 MT"/>
                <a:cs typeface="Arial MT"/>
              </a:rPr>
              <a:t>Serial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Data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In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500">
              <a:latin typeface="Arial MT"/>
              <a:cs typeface="Arial MT"/>
            </a:endParaRPr>
          </a:p>
          <a:p>
            <a:pPr marL="12700" marR="5080" algn="just">
              <a:lnSpc>
                <a:spcPct val="116100"/>
              </a:lnSpc>
              <a:spcBef>
                <a:spcPts val="865"/>
              </a:spcBef>
            </a:pPr>
            <a:r>
              <a:rPr sz="1400" spc="-5" dirty="0">
                <a:latin typeface="Arial MT"/>
                <a:cs typeface="Arial MT"/>
              </a:rPr>
              <a:t>RST5.5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Interrupt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Pending </a:t>
            </a:r>
            <a:r>
              <a:rPr sz="1400" spc="-38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RST6.5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Interrupt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Pending </a:t>
            </a:r>
            <a:r>
              <a:rPr sz="1400" spc="-38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RST7.5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Interrupt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Pending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60065" marR="5080" indent="-246761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The RIM Instruction and the </a:t>
            </a:r>
            <a:r>
              <a:rPr spc="-1085" dirty="0"/>
              <a:t> </a:t>
            </a:r>
            <a:r>
              <a:rPr spc="-5" dirty="0"/>
              <a:t>Masks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59355"/>
            <a:ext cx="7246620" cy="405257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marR="5080" indent="-343535">
              <a:lnSpc>
                <a:spcPts val="3020"/>
              </a:lnSpc>
              <a:spcBef>
                <a:spcPts val="484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Bits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0-2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show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current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990000"/>
                </a:solidFill>
                <a:latin typeface="Times New Roman"/>
                <a:cs typeface="Times New Roman"/>
              </a:rPr>
              <a:t>setting</a:t>
            </a:r>
            <a:r>
              <a:rPr sz="2800" spc="-3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990000"/>
                </a:solidFill>
                <a:latin typeface="Times New Roman"/>
                <a:cs typeface="Times New Roman"/>
              </a:rPr>
              <a:t>of</a:t>
            </a:r>
            <a:r>
              <a:rPr sz="2800" spc="-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990000"/>
                </a:solidFill>
                <a:latin typeface="Times New Roman"/>
                <a:cs typeface="Times New Roman"/>
              </a:rPr>
              <a:t>the</a:t>
            </a:r>
            <a:r>
              <a:rPr sz="2800" spc="-2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990000"/>
                </a:solidFill>
                <a:latin typeface="Times New Roman"/>
                <a:cs typeface="Times New Roman"/>
              </a:rPr>
              <a:t>mask </a:t>
            </a:r>
            <a:r>
              <a:rPr sz="2800" dirty="0">
                <a:latin typeface="Times New Roman"/>
                <a:cs typeface="Times New Roman"/>
              </a:rPr>
              <a:t>for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each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5" dirty="0">
                <a:latin typeface="Times New Roman"/>
                <a:cs typeface="Times New Roman"/>
              </a:rPr>
              <a:t> RST</a:t>
            </a:r>
            <a:r>
              <a:rPr sz="2800" dirty="0">
                <a:latin typeface="Times New Roman"/>
                <a:cs typeface="Times New Roman"/>
              </a:rPr>
              <a:t> 7.5,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RST </a:t>
            </a:r>
            <a:r>
              <a:rPr sz="2800" dirty="0">
                <a:latin typeface="Times New Roman"/>
                <a:cs typeface="Times New Roman"/>
              </a:rPr>
              <a:t>6.5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RST</a:t>
            </a:r>
            <a:r>
              <a:rPr sz="2800" dirty="0">
                <a:latin typeface="Times New Roman"/>
                <a:cs typeface="Times New Roman"/>
              </a:rPr>
              <a:t> 5.5</a:t>
            </a:r>
            <a:endParaRPr sz="2800">
              <a:latin typeface="Times New Roman"/>
              <a:cs typeface="Times New Roman"/>
            </a:endParaRPr>
          </a:p>
          <a:p>
            <a:pPr marL="1155700" lvl="1" indent="-229870">
              <a:lnSpc>
                <a:spcPct val="100000"/>
              </a:lnSpc>
              <a:spcBef>
                <a:spcPts val="225"/>
              </a:spcBef>
              <a:buChar char="•"/>
              <a:tabLst>
                <a:tab pos="1155065" algn="l"/>
                <a:tab pos="1156335" algn="l"/>
              </a:tabLst>
            </a:pPr>
            <a:r>
              <a:rPr sz="2000" spc="-5" dirty="0">
                <a:latin typeface="Times New Roman"/>
                <a:cs typeface="Times New Roman"/>
              </a:rPr>
              <a:t>They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return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contents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of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 three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mask flip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flops.</a:t>
            </a:r>
            <a:endParaRPr sz="2000">
              <a:latin typeface="Times New Roman"/>
              <a:cs typeface="Times New Roman"/>
            </a:endParaRPr>
          </a:p>
          <a:p>
            <a:pPr marL="1155065" marR="73025" lvl="1" indent="-228600">
              <a:lnSpc>
                <a:spcPts val="2160"/>
              </a:lnSpc>
              <a:spcBef>
                <a:spcPts val="509"/>
              </a:spcBef>
              <a:buChar char="•"/>
              <a:tabLst>
                <a:tab pos="1155065" algn="l"/>
                <a:tab pos="1155700" algn="l"/>
              </a:tabLst>
            </a:pPr>
            <a:r>
              <a:rPr sz="2000" spc="-5" dirty="0">
                <a:latin typeface="Times New Roman"/>
                <a:cs typeface="Times New Roman"/>
              </a:rPr>
              <a:t>They can be used by a program to read the mask settings in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order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modify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only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right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mask.</a:t>
            </a:r>
            <a:endParaRPr sz="20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buFont typeface="Times New Roman"/>
              <a:buChar char="•"/>
            </a:pPr>
            <a:endParaRPr sz="2200">
              <a:latin typeface="Times New Roman"/>
              <a:cs typeface="Times New Roman"/>
            </a:endParaRPr>
          </a:p>
          <a:p>
            <a:pPr marL="355600" marR="705485" indent="-343535">
              <a:lnSpc>
                <a:spcPts val="3020"/>
              </a:lnSpc>
              <a:spcBef>
                <a:spcPts val="1830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Bit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3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shows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whether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maskable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interrupt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process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990000"/>
                </a:solidFill>
                <a:latin typeface="Times New Roman"/>
                <a:cs typeface="Times New Roman"/>
              </a:rPr>
              <a:t>enabled</a:t>
            </a:r>
            <a:r>
              <a:rPr sz="2800" spc="-2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990000"/>
                </a:solidFill>
                <a:latin typeface="Times New Roman"/>
                <a:cs typeface="Times New Roman"/>
              </a:rPr>
              <a:t>or not</a:t>
            </a:r>
            <a:r>
              <a:rPr sz="2800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  <a:p>
            <a:pPr marL="1155700" lvl="1" indent="-229870">
              <a:lnSpc>
                <a:spcPct val="100000"/>
              </a:lnSpc>
              <a:spcBef>
                <a:spcPts val="225"/>
              </a:spcBef>
              <a:buChar char="•"/>
              <a:tabLst>
                <a:tab pos="1155065" algn="l"/>
                <a:tab pos="1156335" algn="l"/>
              </a:tabLst>
            </a:pPr>
            <a:r>
              <a:rPr sz="2000" spc="-5" dirty="0">
                <a:latin typeface="Times New Roman"/>
                <a:cs typeface="Times New Roman"/>
              </a:rPr>
              <a:t>It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returns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 contents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of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Interrupt Enable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Flip Flop.</a:t>
            </a:r>
            <a:endParaRPr sz="2000">
              <a:latin typeface="Times New Roman"/>
              <a:cs typeface="Times New Roman"/>
            </a:endParaRPr>
          </a:p>
          <a:p>
            <a:pPr marL="1155065" marR="389890" lvl="1" indent="-228600">
              <a:lnSpc>
                <a:spcPts val="2160"/>
              </a:lnSpc>
              <a:spcBef>
                <a:spcPts val="515"/>
              </a:spcBef>
              <a:buChar char="•"/>
              <a:tabLst>
                <a:tab pos="1155065" algn="l"/>
                <a:tab pos="1155700" algn="l"/>
              </a:tabLst>
            </a:pPr>
            <a:r>
              <a:rPr sz="2000" spc="-5" dirty="0">
                <a:latin typeface="Times New Roman"/>
                <a:cs typeface="Times New Roman"/>
              </a:rPr>
              <a:t>It can be used by a program to determine whether or not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interrupts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are enabled.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60065" marR="5080" indent="-246761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The RIM Instruction and the </a:t>
            </a:r>
            <a:r>
              <a:rPr spc="-1085" dirty="0"/>
              <a:t> </a:t>
            </a:r>
            <a:r>
              <a:rPr spc="-5" dirty="0"/>
              <a:t>Masks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2002027"/>
            <a:ext cx="7593965" cy="354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36575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Bits </a:t>
            </a:r>
            <a:r>
              <a:rPr sz="2800" dirty="0">
                <a:latin typeface="Times New Roman"/>
                <a:cs typeface="Times New Roman"/>
              </a:rPr>
              <a:t>4-6 show </a:t>
            </a:r>
            <a:r>
              <a:rPr sz="2800" spc="-5" dirty="0">
                <a:latin typeface="Times New Roman"/>
                <a:cs typeface="Times New Roman"/>
              </a:rPr>
              <a:t>whether </a:t>
            </a:r>
            <a:r>
              <a:rPr sz="2800" dirty="0">
                <a:latin typeface="Times New Roman"/>
                <a:cs typeface="Times New Roman"/>
              </a:rPr>
              <a:t>or not </a:t>
            </a:r>
            <a:r>
              <a:rPr sz="2800" spc="-5" dirty="0">
                <a:latin typeface="Times New Roman"/>
                <a:cs typeface="Times New Roman"/>
              </a:rPr>
              <a:t>there are </a:t>
            </a:r>
            <a:r>
              <a:rPr sz="2800" dirty="0">
                <a:solidFill>
                  <a:srgbClr val="990000"/>
                </a:solidFill>
                <a:latin typeface="Times New Roman"/>
                <a:cs typeface="Times New Roman"/>
              </a:rPr>
              <a:t>pending </a:t>
            </a:r>
            <a:r>
              <a:rPr sz="2800" spc="-69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990000"/>
                </a:solidFill>
                <a:latin typeface="Times New Roman"/>
                <a:cs typeface="Times New Roman"/>
              </a:rPr>
              <a:t>interrupts</a:t>
            </a:r>
            <a:r>
              <a:rPr sz="2800" spc="-2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</a:t>
            </a:r>
            <a:r>
              <a:rPr sz="2800" spc="-5" dirty="0">
                <a:latin typeface="Times New Roman"/>
                <a:cs typeface="Times New Roman"/>
              </a:rPr>
              <a:t> RST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7.5,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RST</a:t>
            </a:r>
            <a:r>
              <a:rPr sz="2800" dirty="0">
                <a:latin typeface="Times New Roman"/>
                <a:cs typeface="Times New Roman"/>
              </a:rPr>
              <a:t> 6.5,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RST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5.5</a:t>
            </a:r>
            <a:endParaRPr sz="2800">
              <a:latin typeface="Times New Roman"/>
              <a:cs typeface="Times New Roman"/>
            </a:endParaRPr>
          </a:p>
          <a:p>
            <a:pPr marL="1155700" marR="5080" lvl="1" indent="-229235">
              <a:lnSpc>
                <a:spcPct val="100000"/>
              </a:lnSpc>
              <a:spcBef>
                <a:spcPts val="505"/>
              </a:spcBef>
              <a:buChar char="•"/>
              <a:tabLst>
                <a:tab pos="1155065" algn="l"/>
                <a:tab pos="1156335" algn="l"/>
              </a:tabLst>
            </a:pPr>
            <a:r>
              <a:rPr sz="2000" spc="-5" dirty="0">
                <a:latin typeface="Times New Roman"/>
                <a:cs typeface="Times New Roman"/>
              </a:rPr>
              <a:t>Bits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4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and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5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return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 current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value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of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RST5.5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and RST6.5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pins</a:t>
            </a:r>
            <a:r>
              <a:rPr sz="200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1155700" lvl="1" indent="-228600">
              <a:lnSpc>
                <a:spcPct val="100000"/>
              </a:lnSpc>
              <a:spcBef>
                <a:spcPts val="480"/>
              </a:spcBef>
              <a:buChar char="•"/>
              <a:tabLst>
                <a:tab pos="1155065" algn="l"/>
                <a:tab pos="1155700" algn="l"/>
              </a:tabLst>
            </a:pPr>
            <a:r>
              <a:rPr sz="2000" spc="-5" dirty="0">
                <a:latin typeface="Times New Roman"/>
                <a:cs typeface="Times New Roman"/>
              </a:rPr>
              <a:t>Bit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6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returns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 current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value of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dirty="0">
                <a:latin typeface="Times New Roman"/>
                <a:cs typeface="Times New Roman"/>
              </a:rPr>
              <a:t> RST7.5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memory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flip</a:t>
            </a:r>
            <a:r>
              <a:rPr sz="2000" spc="-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flop</a:t>
            </a:r>
            <a:r>
              <a:rPr sz="2000" spc="-5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buFont typeface="Times New Roman"/>
              <a:buChar char="•"/>
            </a:pPr>
            <a:endParaRPr sz="220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157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Bit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7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5" dirty="0">
                <a:latin typeface="Times New Roman"/>
                <a:cs typeface="Times New Roman"/>
              </a:rPr>
              <a:t> used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990000"/>
                </a:solidFill>
                <a:latin typeface="Times New Roman"/>
                <a:cs typeface="Times New Roman"/>
              </a:rPr>
              <a:t>Serial</a:t>
            </a:r>
            <a:r>
              <a:rPr sz="2800" spc="-2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990000"/>
                </a:solidFill>
                <a:latin typeface="Times New Roman"/>
                <a:cs typeface="Times New Roman"/>
              </a:rPr>
              <a:t>Data</a:t>
            </a:r>
            <a:r>
              <a:rPr sz="2800" spc="-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990000"/>
                </a:solidFill>
                <a:latin typeface="Times New Roman"/>
                <a:cs typeface="Times New Roman"/>
              </a:rPr>
              <a:t>Input</a:t>
            </a:r>
            <a:r>
              <a:rPr sz="2800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  <a:p>
            <a:pPr marL="1155065" marR="561340" lvl="1" indent="-228600">
              <a:lnSpc>
                <a:spcPct val="100000"/>
              </a:lnSpc>
              <a:spcBef>
                <a:spcPts val="505"/>
              </a:spcBef>
              <a:buChar char="•"/>
              <a:tabLst>
                <a:tab pos="1155065" algn="l"/>
                <a:tab pos="1155700" algn="l"/>
              </a:tabLst>
            </a:pPr>
            <a:r>
              <a:rPr sz="2000" spc="-5" dirty="0">
                <a:latin typeface="Times New Roman"/>
                <a:cs typeface="Times New Roman"/>
              </a:rPr>
              <a:t>The RIM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instruction reads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 value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of the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SID</a:t>
            </a:r>
            <a:r>
              <a:rPr sz="2000" spc="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pin</a:t>
            </a:r>
            <a:r>
              <a:rPr sz="2000" spc="2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on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microprocessor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and returns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this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bit.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7295" y="814069"/>
            <a:ext cx="416941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Pending</a:t>
            </a:r>
            <a:r>
              <a:rPr spc="-50" dirty="0"/>
              <a:t> </a:t>
            </a:r>
            <a:r>
              <a:rPr spc="-5" dirty="0"/>
              <a:t>Interrupts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2002027"/>
            <a:ext cx="7451090" cy="3660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61925" indent="-343535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Since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8085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has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five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interrupt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lines,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interrupts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may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occur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during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 </a:t>
            </a:r>
            <a:r>
              <a:rPr sz="2800" dirty="0">
                <a:latin typeface="Times New Roman"/>
                <a:cs typeface="Times New Roman"/>
              </a:rPr>
              <a:t>ISR</a:t>
            </a:r>
            <a:r>
              <a:rPr sz="2800" spc="-5" dirty="0">
                <a:latin typeface="Times New Roman"/>
                <a:cs typeface="Times New Roman"/>
              </a:rPr>
              <a:t> and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remain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pending.</a:t>
            </a:r>
            <a:endParaRPr sz="2800">
              <a:latin typeface="Times New Roman"/>
              <a:cs typeface="Times New Roman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585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spc="-5" dirty="0">
                <a:latin typeface="Times New Roman"/>
                <a:cs typeface="Times New Roman"/>
              </a:rPr>
              <a:t>Using the 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RIM </a:t>
            </a:r>
            <a:r>
              <a:rPr sz="2400" spc="-5" dirty="0">
                <a:latin typeface="Times New Roman"/>
                <a:cs typeface="Times New Roman"/>
              </a:rPr>
              <a:t>instruction, the programmer </a:t>
            </a:r>
            <a:r>
              <a:rPr sz="2400" dirty="0">
                <a:latin typeface="Times New Roman"/>
                <a:cs typeface="Times New Roman"/>
              </a:rPr>
              <a:t>can </a:t>
            </a:r>
            <a:r>
              <a:rPr sz="2400" spc="-5" dirty="0">
                <a:latin typeface="Times New Roman"/>
                <a:cs typeface="Times New Roman"/>
              </a:rPr>
              <a:t>read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status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interrupt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lines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find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there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are </a:t>
            </a:r>
            <a:r>
              <a:rPr sz="2400" dirty="0">
                <a:latin typeface="Times New Roman"/>
                <a:cs typeface="Times New Roman"/>
              </a:rPr>
              <a:t>any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pending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interrupts.</a:t>
            </a:r>
            <a:endParaRPr sz="2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0"/>
              </a:spcBef>
              <a:buFont typeface="Times New Roman"/>
              <a:buChar char="–"/>
            </a:pPr>
            <a:endParaRPr sz="3500">
              <a:latin typeface="Times New Roman"/>
              <a:cs typeface="Times New Roman"/>
            </a:endParaRPr>
          </a:p>
          <a:p>
            <a:pPr marL="755650" marR="38100" lvl="1" indent="-286385">
              <a:lnSpc>
                <a:spcPct val="100000"/>
              </a:lnSpc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The advantage is being able to </a:t>
            </a:r>
            <a:r>
              <a:rPr sz="2400" dirty="0">
                <a:latin typeface="Times New Roman"/>
                <a:cs typeface="Times New Roman"/>
              </a:rPr>
              <a:t>find about </a:t>
            </a:r>
            <a:r>
              <a:rPr sz="2400" spc="-5" dirty="0">
                <a:latin typeface="Times New Roman"/>
                <a:cs typeface="Times New Roman"/>
              </a:rPr>
              <a:t>interrupts </a:t>
            </a:r>
            <a:r>
              <a:rPr sz="2400" dirty="0">
                <a:latin typeface="Times New Roman"/>
                <a:cs typeface="Times New Roman"/>
              </a:rPr>
              <a:t>on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RST </a:t>
            </a:r>
            <a:r>
              <a:rPr sz="2400" dirty="0">
                <a:latin typeface="Times New Roman"/>
                <a:cs typeface="Times New Roman"/>
              </a:rPr>
              <a:t>7.5, </a:t>
            </a:r>
            <a:r>
              <a:rPr sz="2400" spc="-5" dirty="0">
                <a:latin typeface="Times New Roman"/>
                <a:cs typeface="Times New Roman"/>
              </a:rPr>
              <a:t>RST </a:t>
            </a:r>
            <a:r>
              <a:rPr sz="2400" dirty="0">
                <a:latin typeface="Times New Roman"/>
                <a:cs typeface="Times New Roman"/>
              </a:rPr>
              <a:t>6.5, and </a:t>
            </a:r>
            <a:r>
              <a:rPr sz="2400" spc="-5" dirty="0">
                <a:latin typeface="Times New Roman"/>
                <a:cs typeface="Times New Roman"/>
              </a:rPr>
              <a:t>RST </a:t>
            </a:r>
            <a:r>
              <a:rPr sz="2400" dirty="0">
                <a:latin typeface="Times New Roman"/>
                <a:cs typeface="Times New Roman"/>
              </a:rPr>
              <a:t>5.5 </a:t>
            </a:r>
            <a:r>
              <a:rPr sz="2400" spc="-5" dirty="0">
                <a:latin typeface="Times New Roman"/>
                <a:cs typeface="Times New Roman"/>
              </a:rPr>
              <a:t>without having to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enable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low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level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interrupts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like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INTR.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Using</a:t>
            </a:r>
            <a:r>
              <a:rPr spc="-15" dirty="0"/>
              <a:t> </a:t>
            </a:r>
            <a:r>
              <a:rPr spc="-5" dirty="0"/>
              <a:t>RIM</a:t>
            </a:r>
            <a:r>
              <a:rPr spc="-10" dirty="0"/>
              <a:t> </a:t>
            </a:r>
            <a:r>
              <a:rPr spc="-5" dirty="0"/>
              <a:t>and SIM</a:t>
            </a:r>
            <a:r>
              <a:rPr spc="-15" dirty="0"/>
              <a:t> </a:t>
            </a:r>
            <a:r>
              <a:rPr spc="-5" dirty="0"/>
              <a:t>to</a:t>
            </a:r>
            <a:r>
              <a:rPr dirty="0"/>
              <a:t> </a:t>
            </a:r>
            <a:r>
              <a:rPr spc="-5" dirty="0"/>
              <a:t>set</a:t>
            </a:r>
          </a:p>
          <a:p>
            <a:pPr algn="ctr">
              <a:lnSpc>
                <a:spcPct val="100000"/>
              </a:lnSpc>
            </a:pPr>
            <a:r>
              <a:rPr sz="4000" spc="-5" dirty="0"/>
              <a:t>Individual</a:t>
            </a:r>
            <a:r>
              <a:rPr sz="4000" spc="60" dirty="0"/>
              <a:t> </a:t>
            </a:r>
            <a:r>
              <a:rPr spc="-5" dirty="0"/>
              <a:t>Masks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64540" y="1959355"/>
            <a:ext cx="7584440" cy="402018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4965" marR="214629" indent="-342900" algn="just">
              <a:lnSpc>
                <a:spcPts val="3020"/>
              </a:lnSpc>
              <a:spcBef>
                <a:spcPts val="484"/>
              </a:spcBef>
              <a:buChar char="•"/>
              <a:tabLst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Example: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Set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mask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enable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RST6.5 without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modifying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masks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 RST5.5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RST7.5.</a:t>
            </a:r>
            <a:endParaRPr sz="2800">
              <a:latin typeface="Times New Roman"/>
              <a:cs typeface="Times New Roman"/>
            </a:endParaRPr>
          </a:p>
          <a:p>
            <a:pPr marL="755650" marR="431165" lvl="1" indent="-286385" algn="just">
              <a:lnSpc>
                <a:spcPts val="2590"/>
              </a:lnSpc>
              <a:spcBef>
                <a:spcPts val="585"/>
              </a:spcBef>
              <a:buChar char="–"/>
              <a:tabLst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In order to </a:t>
            </a:r>
            <a:r>
              <a:rPr sz="2400" dirty="0">
                <a:latin typeface="Times New Roman"/>
                <a:cs typeface="Times New Roman"/>
              </a:rPr>
              <a:t>do </a:t>
            </a:r>
            <a:r>
              <a:rPr sz="2400" spc="-5" dirty="0">
                <a:latin typeface="Times New Roman"/>
                <a:cs typeface="Times New Roman"/>
              </a:rPr>
              <a:t>this correctly, we </a:t>
            </a:r>
            <a:r>
              <a:rPr sz="2400" dirty="0">
                <a:latin typeface="Times New Roman"/>
                <a:cs typeface="Times New Roman"/>
              </a:rPr>
              <a:t>need </a:t>
            </a:r>
            <a:r>
              <a:rPr sz="2400" spc="-5" dirty="0">
                <a:latin typeface="Times New Roman"/>
                <a:cs typeface="Times New Roman"/>
              </a:rPr>
              <a:t>to use the RIM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instruction to </a:t>
            </a:r>
            <a:r>
              <a:rPr sz="2400" dirty="0">
                <a:latin typeface="Times New Roman"/>
                <a:cs typeface="Times New Roman"/>
              </a:rPr>
              <a:t>find the </a:t>
            </a:r>
            <a:r>
              <a:rPr sz="2400" spc="-5" dirty="0">
                <a:latin typeface="Times New Roman"/>
                <a:cs typeface="Times New Roman"/>
              </a:rPr>
              <a:t>current settings </a:t>
            </a:r>
            <a:r>
              <a:rPr sz="2400" dirty="0">
                <a:latin typeface="Times New Roman"/>
                <a:cs typeface="Times New Roman"/>
              </a:rPr>
              <a:t>of the RST5.5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RST7.5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masks.</a:t>
            </a:r>
            <a:endParaRPr sz="2400">
              <a:latin typeface="Times New Roman"/>
              <a:cs typeface="Times New Roman"/>
            </a:endParaRPr>
          </a:p>
          <a:p>
            <a:pPr marL="755650" marR="328295" lvl="1" indent="-286385" algn="just">
              <a:lnSpc>
                <a:spcPts val="2590"/>
              </a:lnSpc>
              <a:spcBef>
                <a:spcPts val="585"/>
              </a:spcBef>
              <a:buChar char="–"/>
              <a:tabLst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Then we </a:t>
            </a:r>
            <a:r>
              <a:rPr sz="2400" dirty="0">
                <a:latin typeface="Times New Roman"/>
                <a:cs typeface="Times New Roman"/>
              </a:rPr>
              <a:t>can </a:t>
            </a:r>
            <a:r>
              <a:rPr sz="2400" spc="-5" dirty="0">
                <a:latin typeface="Times New Roman"/>
                <a:cs typeface="Times New Roman"/>
              </a:rPr>
              <a:t>use the SIM instruction to </a:t>
            </a:r>
            <a:r>
              <a:rPr sz="2400" dirty="0">
                <a:latin typeface="Times New Roman"/>
                <a:cs typeface="Times New Roman"/>
              </a:rPr>
              <a:t>set </a:t>
            </a:r>
            <a:r>
              <a:rPr sz="2400" spc="-5" dirty="0">
                <a:latin typeface="Times New Roman"/>
                <a:cs typeface="Times New Roman"/>
              </a:rPr>
              <a:t>the masks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using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this information.</a:t>
            </a:r>
            <a:endParaRPr sz="2400">
              <a:latin typeface="Times New Roman"/>
              <a:cs typeface="Times New Roman"/>
            </a:endParaRPr>
          </a:p>
          <a:p>
            <a:pPr marL="755650" marR="5080" lvl="1" indent="-286385">
              <a:lnSpc>
                <a:spcPts val="2590"/>
              </a:lnSpc>
              <a:spcBef>
                <a:spcPts val="580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Given that both RIM </a:t>
            </a:r>
            <a:r>
              <a:rPr sz="2400" dirty="0">
                <a:latin typeface="Times New Roman"/>
                <a:cs typeface="Times New Roman"/>
              </a:rPr>
              <a:t>and </a:t>
            </a:r>
            <a:r>
              <a:rPr sz="2400" spc="-5" dirty="0">
                <a:latin typeface="Times New Roman"/>
                <a:cs typeface="Times New Roman"/>
              </a:rPr>
              <a:t>SIM use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Accumulator, we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 </a:t>
            </a:r>
            <a:r>
              <a:rPr sz="2400" spc="-5" dirty="0">
                <a:latin typeface="Times New Roman"/>
                <a:cs typeface="Times New Roman"/>
              </a:rPr>
              <a:t>use </a:t>
            </a:r>
            <a:r>
              <a:rPr sz="2400" dirty="0">
                <a:latin typeface="Times New Roman"/>
                <a:cs typeface="Times New Roman"/>
              </a:rPr>
              <a:t>some </a:t>
            </a:r>
            <a:r>
              <a:rPr sz="2400" spc="-5" dirty="0">
                <a:latin typeface="Times New Roman"/>
                <a:cs typeface="Times New Roman"/>
              </a:rPr>
              <a:t>logical operations to </a:t>
            </a:r>
            <a:r>
              <a:rPr sz="2400" dirty="0">
                <a:latin typeface="Times New Roman"/>
                <a:cs typeface="Times New Roman"/>
              </a:rPr>
              <a:t>masks </a:t>
            </a:r>
            <a:r>
              <a:rPr sz="2400" spc="-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un-needed </a:t>
            </a:r>
            <a:r>
              <a:rPr sz="2400" spc="-59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values returned </a:t>
            </a:r>
            <a:r>
              <a:rPr sz="2400" dirty="0">
                <a:latin typeface="Times New Roman"/>
                <a:cs typeface="Times New Roman"/>
              </a:rPr>
              <a:t>by RIM and </a:t>
            </a:r>
            <a:r>
              <a:rPr sz="2400" spc="-5" dirty="0">
                <a:latin typeface="Times New Roman"/>
                <a:cs typeface="Times New Roman"/>
              </a:rPr>
              <a:t>turn </a:t>
            </a:r>
            <a:r>
              <a:rPr sz="2400" dirty="0">
                <a:latin typeface="Times New Roman"/>
                <a:cs typeface="Times New Roman"/>
              </a:rPr>
              <a:t>them </a:t>
            </a:r>
            <a:r>
              <a:rPr sz="2400" spc="-5" dirty="0">
                <a:latin typeface="Times New Roman"/>
                <a:cs typeface="Times New Roman"/>
              </a:rPr>
              <a:t>into the values </a:t>
            </a:r>
            <a:r>
              <a:rPr sz="2400" dirty="0">
                <a:latin typeface="Times New Roman"/>
                <a:cs typeface="Times New Roman"/>
              </a:rPr>
              <a:t> needed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SIM.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48400" y="5145087"/>
            <a:ext cx="1979930" cy="511175"/>
          </a:xfrm>
          <a:custGeom>
            <a:avLst/>
            <a:gdLst/>
            <a:ahLst/>
            <a:cxnLst/>
            <a:rect l="l" t="t" r="r" b="b"/>
            <a:pathLst>
              <a:path w="1979929" h="511175">
                <a:moveTo>
                  <a:pt x="1979612" y="0"/>
                </a:moveTo>
                <a:lnTo>
                  <a:pt x="0" y="0"/>
                </a:lnTo>
                <a:lnTo>
                  <a:pt x="0" y="511175"/>
                </a:lnTo>
                <a:lnTo>
                  <a:pt x="1979612" y="511175"/>
                </a:lnTo>
                <a:lnTo>
                  <a:pt x="1979612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260328" y="5671161"/>
            <a:ext cx="1924050" cy="44323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20320">
              <a:lnSpc>
                <a:spcPts val="1645"/>
              </a:lnSpc>
            </a:pPr>
            <a:r>
              <a:rPr sz="1400" spc="-5" dirty="0">
                <a:latin typeface="Arial MT"/>
                <a:cs typeface="Arial MT"/>
              </a:rPr>
              <a:t>SDO</a:t>
            </a:r>
            <a:endParaRPr sz="1400">
              <a:latin typeface="Arial MT"/>
              <a:cs typeface="Arial MT"/>
            </a:endParaRPr>
          </a:p>
          <a:p>
            <a:pPr marL="48895" marR="31115" indent="-10160">
              <a:lnSpc>
                <a:spcPct val="112300"/>
              </a:lnSpc>
              <a:spcBef>
                <a:spcPts val="10"/>
              </a:spcBef>
            </a:pPr>
            <a:r>
              <a:rPr sz="1400" spc="-5" dirty="0">
                <a:latin typeface="Arial MT"/>
                <a:cs typeface="Arial MT"/>
              </a:rPr>
              <a:t>SD</a:t>
            </a:r>
            <a:r>
              <a:rPr sz="1400" dirty="0">
                <a:latin typeface="Arial MT"/>
                <a:cs typeface="Arial MT"/>
              </a:rPr>
              <a:t>E  </a:t>
            </a:r>
            <a:r>
              <a:rPr sz="1400" spc="-5" dirty="0">
                <a:latin typeface="Arial MT"/>
                <a:cs typeface="Arial MT"/>
              </a:rPr>
              <a:t>XXX</a:t>
            </a:r>
            <a:endParaRPr sz="1400">
              <a:latin typeface="Arial MT"/>
              <a:cs typeface="Arial MT"/>
            </a:endParaRPr>
          </a:p>
          <a:p>
            <a:pPr marL="12700" marR="5080" indent="18415" algn="just">
              <a:lnSpc>
                <a:spcPct val="113100"/>
              </a:lnSpc>
              <a:spcBef>
                <a:spcPts val="100"/>
              </a:spcBef>
            </a:pPr>
            <a:r>
              <a:rPr sz="1400" spc="-5" dirty="0">
                <a:latin typeface="Arial MT"/>
                <a:cs typeface="Arial MT"/>
              </a:rPr>
              <a:t>R7.5 </a:t>
            </a:r>
            <a:r>
              <a:rPr sz="1400" spc="-38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MSE </a:t>
            </a:r>
            <a:r>
              <a:rPr sz="1400" spc="-38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M7.5 </a:t>
            </a:r>
            <a:r>
              <a:rPr sz="1400" spc="-38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M6.5 </a:t>
            </a:r>
            <a:r>
              <a:rPr sz="1400" spc="-38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M5.5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69189" y="5145087"/>
            <a:ext cx="252729" cy="51117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20014" rIns="0" bIns="0" rtlCol="0">
            <a:spAutoFit/>
          </a:bodyPr>
          <a:lstStyle/>
          <a:p>
            <a:pPr marL="78105">
              <a:lnSpc>
                <a:spcPct val="100000"/>
              </a:lnSpc>
              <a:spcBef>
                <a:spcPts val="944"/>
              </a:spcBef>
            </a:pPr>
            <a:r>
              <a:rPr sz="1400" spc="-5" dirty="0">
                <a:latin typeface="Arial MT"/>
                <a:cs typeface="Arial MT"/>
              </a:rPr>
              <a:t>0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21600" y="5145087"/>
            <a:ext cx="240029" cy="51117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21920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960"/>
              </a:spcBef>
            </a:pPr>
            <a:r>
              <a:rPr sz="1400" spc="-5" dirty="0">
                <a:latin typeface="Arial MT"/>
                <a:cs typeface="Arial MT"/>
              </a:rPr>
              <a:t>0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61314" y="5145087"/>
            <a:ext cx="266700" cy="51117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2192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960"/>
              </a:spcBef>
            </a:pPr>
            <a:r>
              <a:rPr sz="1400" spc="-5" dirty="0">
                <a:latin typeface="Arial MT"/>
                <a:cs typeface="Arial MT"/>
              </a:rPr>
              <a:t>0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77064" y="5145087"/>
            <a:ext cx="240029" cy="51117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21920" rIns="0" bIns="0" rtlCol="0">
            <a:spAutoFit/>
          </a:bodyPr>
          <a:lstStyle/>
          <a:p>
            <a:pPr marL="73660">
              <a:lnSpc>
                <a:spcPct val="100000"/>
              </a:lnSpc>
              <a:spcBef>
                <a:spcPts val="960"/>
              </a:spcBef>
            </a:pPr>
            <a:r>
              <a:rPr sz="1400" spc="-5" dirty="0">
                <a:latin typeface="Arial MT"/>
                <a:cs typeface="Arial MT"/>
              </a:rPr>
              <a:t>0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37350" y="5145087"/>
            <a:ext cx="240029" cy="51117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21920" rIns="0" bIns="0" rtlCol="0">
            <a:spAutoFit/>
          </a:bodyPr>
          <a:lstStyle/>
          <a:p>
            <a:pPr marL="70485">
              <a:lnSpc>
                <a:spcPct val="100000"/>
              </a:lnSpc>
              <a:spcBef>
                <a:spcPts val="960"/>
              </a:spcBef>
            </a:pPr>
            <a:r>
              <a:rPr sz="1400" spc="-5" dirty="0">
                <a:latin typeface="Arial MT"/>
                <a:cs typeface="Arial MT"/>
              </a:rPr>
              <a:t>0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84938" y="5145087"/>
            <a:ext cx="252729" cy="51117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2192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960"/>
              </a:spcBef>
            </a:pPr>
            <a:r>
              <a:rPr sz="1400" spc="-5" dirty="0">
                <a:latin typeface="Arial MT"/>
                <a:cs typeface="Arial MT"/>
              </a:rPr>
              <a:t>0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48400" y="5145087"/>
            <a:ext cx="236854" cy="51117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21920" rIns="0" bIns="0" rtlCol="0">
            <a:spAutoFit/>
          </a:bodyPr>
          <a:lstStyle/>
          <a:p>
            <a:pPr marL="73660">
              <a:lnSpc>
                <a:spcPct val="100000"/>
              </a:lnSpc>
              <a:spcBef>
                <a:spcPts val="960"/>
              </a:spcBef>
            </a:pPr>
            <a:r>
              <a:rPr sz="1400" spc="-5" dirty="0">
                <a:latin typeface="Arial MT"/>
                <a:cs typeface="Arial MT"/>
              </a:rPr>
              <a:t>0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216775" y="5145087"/>
            <a:ext cx="252729" cy="51117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20014" rIns="0" bIns="0" rtlCol="0">
            <a:spAutoFit/>
          </a:bodyPr>
          <a:lstStyle/>
          <a:p>
            <a:pPr marL="62865">
              <a:lnSpc>
                <a:spcPct val="100000"/>
              </a:lnSpc>
              <a:spcBef>
                <a:spcPts val="944"/>
              </a:spcBef>
            </a:pPr>
            <a:r>
              <a:rPr sz="1400" spc="-5" dirty="0">
                <a:latin typeface="Arial MT"/>
                <a:cs typeface="Arial MT"/>
              </a:rPr>
              <a:t>1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662842" y="0"/>
            <a:ext cx="5970270" cy="1366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Using</a:t>
            </a:r>
            <a:r>
              <a:rPr spc="-15" dirty="0"/>
              <a:t> </a:t>
            </a:r>
            <a:r>
              <a:rPr spc="-5" dirty="0"/>
              <a:t>RIM and</a:t>
            </a:r>
            <a:r>
              <a:rPr spc="-10" dirty="0"/>
              <a:t> </a:t>
            </a:r>
            <a:r>
              <a:rPr spc="-5" dirty="0"/>
              <a:t>SIM</a:t>
            </a:r>
            <a:r>
              <a:rPr spc="-10" dirty="0"/>
              <a:t> </a:t>
            </a:r>
            <a:r>
              <a:rPr spc="-5" dirty="0"/>
              <a:t>to set</a:t>
            </a:r>
          </a:p>
          <a:p>
            <a:pPr marL="635" algn="ctr">
              <a:lnSpc>
                <a:spcPct val="100000"/>
              </a:lnSpc>
            </a:pPr>
            <a:r>
              <a:rPr sz="4000" spc="-5" dirty="0"/>
              <a:t>Individual</a:t>
            </a:r>
            <a:r>
              <a:rPr sz="4000" spc="60" dirty="0"/>
              <a:t> </a:t>
            </a:r>
            <a:r>
              <a:rPr spc="-5" dirty="0"/>
              <a:t>Masks</a:t>
            </a:r>
            <a:endParaRPr sz="4000"/>
          </a:p>
        </p:txBody>
      </p:sp>
      <p:sp>
        <p:nvSpPr>
          <p:cNvPr id="13" name="object 13"/>
          <p:cNvSpPr txBox="1"/>
          <p:nvPr/>
        </p:nvSpPr>
        <p:spPr>
          <a:xfrm>
            <a:off x="802640" y="1137157"/>
            <a:ext cx="736219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Times New Roman"/>
                <a:cs typeface="Times New Roman"/>
              </a:rPr>
              <a:t>–</a:t>
            </a:r>
            <a:r>
              <a:rPr sz="2000" spc="36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Assume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RST5.5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and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RST7.5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are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enabled and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 interrupt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process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37589" y="1411457"/>
            <a:ext cx="116713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disabled.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88340" y="2210053"/>
            <a:ext cx="38544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Times New Roman"/>
                <a:cs typeface="Times New Roman"/>
              </a:rPr>
              <a:t>R</a:t>
            </a:r>
            <a:r>
              <a:rPr sz="1500" spc="-10" dirty="0">
                <a:latin typeface="Times New Roman"/>
                <a:cs typeface="Times New Roman"/>
              </a:rPr>
              <a:t>IM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34388" y="2210053"/>
            <a:ext cx="2056764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Times New Roman"/>
                <a:cs typeface="Times New Roman"/>
              </a:rPr>
              <a:t>;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Read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the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current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settings.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88340" y="2964434"/>
            <a:ext cx="72961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latin typeface="Times New Roman"/>
                <a:cs typeface="Times New Roman"/>
              </a:rPr>
              <a:t>ORI</a:t>
            </a:r>
            <a:r>
              <a:rPr sz="1500" spc="-6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08H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834388" y="2941574"/>
            <a:ext cx="1515110" cy="52832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500" dirty="0">
                <a:latin typeface="Times New Roman"/>
                <a:cs typeface="Times New Roman"/>
              </a:rPr>
              <a:t>;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0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0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0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0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1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0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0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0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500" dirty="0">
                <a:latin typeface="Times New Roman"/>
                <a:cs typeface="Times New Roman"/>
              </a:rPr>
              <a:t>;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Set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bit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4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for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MSE.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88340" y="3970273"/>
            <a:ext cx="78295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latin typeface="Times New Roman"/>
                <a:cs typeface="Times New Roman"/>
              </a:rPr>
              <a:t>ANI</a:t>
            </a:r>
            <a:r>
              <a:rPr sz="1500" spc="-6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0DH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834388" y="3947414"/>
            <a:ext cx="2734310" cy="128270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500" dirty="0">
                <a:latin typeface="Times New Roman"/>
                <a:cs typeface="Times New Roman"/>
              </a:rPr>
              <a:t>;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0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0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0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0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1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1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0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1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500" dirty="0">
                <a:latin typeface="Times New Roman"/>
                <a:cs typeface="Times New Roman"/>
              </a:rPr>
              <a:t>;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Turn off</a:t>
            </a:r>
            <a:r>
              <a:rPr sz="150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Serial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Data,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Don’t</a:t>
            </a:r>
            <a:r>
              <a:rPr sz="150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reset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500" dirty="0">
                <a:latin typeface="Times New Roman"/>
                <a:cs typeface="Times New Roman"/>
              </a:rPr>
              <a:t>;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RST7.5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flip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flop,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set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the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mask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500" dirty="0">
                <a:latin typeface="Times New Roman"/>
                <a:cs typeface="Times New Roman"/>
              </a:rPr>
              <a:t>;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for </a:t>
            </a:r>
            <a:r>
              <a:rPr sz="1500" dirty="0">
                <a:latin typeface="Times New Roman"/>
                <a:cs typeface="Times New Roman"/>
              </a:rPr>
              <a:t>RST6.5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off. Don’t cares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are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500" dirty="0">
                <a:latin typeface="Times New Roman"/>
                <a:cs typeface="Times New Roman"/>
              </a:rPr>
              <a:t>;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assumed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to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0.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88340" y="5479033"/>
            <a:ext cx="36385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latin typeface="Times New Roman"/>
                <a:cs typeface="Times New Roman"/>
              </a:rPr>
              <a:t>S</a:t>
            </a:r>
            <a:r>
              <a:rPr sz="1500" spc="-10" dirty="0">
                <a:latin typeface="Times New Roman"/>
                <a:cs typeface="Times New Roman"/>
              </a:rPr>
              <a:t>IM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834388" y="5479033"/>
            <a:ext cx="155575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Times New Roman"/>
                <a:cs typeface="Times New Roman"/>
              </a:rPr>
              <a:t>;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Apply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settings.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673215" y="1515935"/>
            <a:ext cx="10147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 MT"/>
                <a:cs typeface="Arial MT"/>
              </a:rPr>
              <a:t>Accumulator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240462" y="2219325"/>
            <a:ext cx="1992630" cy="523875"/>
            <a:chOff x="6240462" y="2219325"/>
            <a:chExt cx="1992630" cy="523875"/>
          </a:xfrm>
        </p:grpSpPr>
        <p:sp>
          <p:nvSpPr>
            <p:cNvPr id="25" name="object 25"/>
            <p:cNvSpPr/>
            <p:nvPr/>
          </p:nvSpPr>
          <p:spPr>
            <a:xfrm>
              <a:off x="6246812" y="2225675"/>
              <a:ext cx="1979930" cy="511175"/>
            </a:xfrm>
            <a:custGeom>
              <a:avLst/>
              <a:gdLst/>
              <a:ahLst/>
              <a:cxnLst/>
              <a:rect l="l" t="t" r="r" b="b"/>
              <a:pathLst>
                <a:path w="1979929" h="511175">
                  <a:moveTo>
                    <a:pt x="1979612" y="0"/>
                  </a:moveTo>
                  <a:lnTo>
                    <a:pt x="0" y="0"/>
                  </a:lnTo>
                  <a:lnTo>
                    <a:pt x="0" y="511175"/>
                  </a:lnTo>
                  <a:lnTo>
                    <a:pt x="1979612" y="511175"/>
                  </a:lnTo>
                  <a:lnTo>
                    <a:pt x="1979612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246812" y="2225675"/>
              <a:ext cx="1979930" cy="511175"/>
            </a:xfrm>
            <a:custGeom>
              <a:avLst/>
              <a:gdLst/>
              <a:ahLst/>
              <a:cxnLst/>
              <a:rect l="l" t="t" r="r" b="b"/>
              <a:pathLst>
                <a:path w="1979929" h="511175">
                  <a:moveTo>
                    <a:pt x="0" y="0"/>
                  </a:moveTo>
                  <a:lnTo>
                    <a:pt x="1979612" y="0"/>
                  </a:lnTo>
                  <a:lnTo>
                    <a:pt x="1979612" y="511175"/>
                  </a:lnTo>
                  <a:lnTo>
                    <a:pt x="0" y="51117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483350" y="2225675"/>
              <a:ext cx="0" cy="511175"/>
            </a:xfrm>
            <a:custGeom>
              <a:avLst/>
              <a:gdLst/>
              <a:ahLst/>
              <a:cxnLst/>
              <a:rect l="l" t="t" r="r" b="b"/>
              <a:pathLst>
                <a:path h="511175">
                  <a:moveTo>
                    <a:pt x="0" y="511175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735763" y="2225675"/>
              <a:ext cx="0" cy="511175"/>
            </a:xfrm>
            <a:custGeom>
              <a:avLst/>
              <a:gdLst/>
              <a:ahLst/>
              <a:cxnLst/>
              <a:rect l="l" t="t" r="r" b="b"/>
              <a:pathLst>
                <a:path h="511175">
                  <a:moveTo>
                    <a:pt x="0" y="511175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975475" y="2225675"/>
              <a:ext cx="0" cy="511175"/>
            </a:xfrm>
            <a:custGeom>
              <a:avLst/>
              <a:gdLst/>
              <a:ahLst/>
              <a:cxnLst/>
              <a:rect l="l" t="t" r="r" b="b"/>
              <a:pathLst>
                <a:path h="511175">
                  <a:moveTo>
                    <a:pt x="0" y="511175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215188" y="2225675"/>
              <a:ext cx="0" cy="511175"/>
            </a:xfrm>
            <a:custGeom>
              <a:avLst/>
              <a:gdLst/>
              <a:ahLst/>
              <a:cxnLst/>
              <a:rect l="l" t="t" r="r" b="b"/>
              <a:pathLst>
                <a:path h="511175">
                  <a:moveTo>
                    <a:pt x="0" y="511175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467600" y="2225675"/>
              <a:ext cx="0" cy="511175"/>
            </a:xfrm>
            <a:custGeom>
              <a:avLst/>
              <a:gdLst/>
              <a:ahLst/>
              <a:cxnLst/>
              <a:rect l="l" t="t" r="r" b="b"/>
              <a:pathLst>
                <a:path h="511175">
                  <a:moveTo>
                    <a:pt x="0" y="511175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720013" y="2225675"/>
              <a:ext cx="0" cy="511175"/>
            </a:xfrm>
            <a:custGeom>
              <a:avLst/>
              <a:gdLst/>
              <a:ahLst/>
              <a:cxnLst/>
              <a:rect l="l" t="t" r="r" b="b"/>
              <a:pathLst>
                <a:path h="511175">
                  <a:moveTo>
                    <a:pt x="0" y="511175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959725" y="2225675"/>
              <a:ext cx="0" cy="511175"/>
            </a:xfrm>
            <a:custGeom>
              <a:avLst/>
              <a:gdLst/>
              <a:ahLst/>
              <a:cxnLst/>
              <a:rect l="l" t="t" r="r" b="b"/>
              <a:pathLst>
                <a:path h="511175">
                  <a:moveTo>
                    <a:pt x="0" y="511175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6257153" y="1778646"/>
            <a:ext cx="1925955" cy="42418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5" dirty="0">
                <a:latin typeface="Arial MT"/>
                <a:cs typeface="Arial MT"/>
              </a:rPr>
              <a:t>SDI</a:t>
            </a:r>
            <a:endParaRPr sz="1400">
              <a:latin typeface="Arial MT"/>
              <a:cs typeface="Arial MT"/>
            </a:endParaRPr>
          </a:p>
          <a:p>
            <a:pPr marL="19050" marR="31115" indent="-1905">
              <a:lnSpc>
                <a:spcPct val="112300"/>
              </a:lnSpc>
              <a:spcBef>
                <a:spcPts val="10"/>
              </a:spcBef>
            </a:pPr>
            <a:r>
              <a:rPr sz="1400" spc="-5" dirty="0">
                <a:latin typeface="Arial MT"/>
                <a:cs typeface="Arial MT"/>
              </a:rPr>
              <a:t>P</a:t>
            </a:r>
            <a:r>
              <a:rPr sz="1400" dirty="0">
                <a:latin typeface="Arial MT"/>
                <a:cs typeface="Arial MT"/>
              </a:rPr>
              <a:t>7.5  </a:t>
            </a:r>
            <a:r>
              <a:rPr sz="1400" spc="-5" dirty="0">
                <a:latin typeface="Arial MT"/>
                <a:cs typeface="Arial MT"/>
              </a:rPr>
              <a:t>P</a:t>
            </a:r>
            <a:r>
              <a:rPr sz="1400" dirty="0">
                <a:latin typeface="Arial MT"/>
                <a:cs typeface="Arial MT"/>
              </a:rPr>
              <a:t>6.5</a:t>
            </a:r>
            <a:endParaRPr sz="1400">
              <a:latin typeface="Arial MT"/>
              <a:cs typeface="Arial MT"/>
            </a:endParaRPr>
          </a:p>
          <a:p>
            <a:pPr marL="15875" marR="5080" indent="1270">
              <a:lnSpc>
                <a:spcPct val="113300"/>
              </a:lnSpc>
              <a:spcBef>
                <a:spcPts val="100"/>
              </a:spcBef>
            </a:pPr>
            <a:r>
              <a:rPr sz="1400" spc="-5" dirty="0">
                <a:latin typeface="Arial MT"/>
                <a:cs typeface="Arial MT"/>
              </a:rPr>
              <a:t>P5.5 </a:t>
            </a:r>
            <a:r>
              <a:rPr sz="1400" spc="-37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IE </a:t>
            </a:r>
            <a:r>
              <a:rPr sz="1400" dirty="0">
                <a:latin typeface="Arial MT"/>
                <a:cs typeface="Arial MT"/>
              </a:rPr>
              <a:t> M7.5  M6.5  M5.5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308039" y="2335096"/>
            <a:ext cx="183896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55270" algn="l"/>
                <a:tab pos="497840" algn="l"/>
                <a:tab pos="741045" algn="l"/>
                <a:tab pos="969644" algn="l"/>
                <a:tab pos="1237615" algn="l"/>
                <a:tab pos="1477645" algn="l"/>
                <a:tab pos="1727200" algn="l"/>
              </a:tabLst>
            </a:pPr>
            <a:r>
              <a:rPr sz="1400" spc="-5" dirty="0">
                <a:latin typeface="Arial MT"/>
                <a:cs typeface="Arial MT"/>
              </a:rPr>
              <a:t>0	0	0	0	0	0	1	0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786110" y="3011368"/>
            <a:ext cx="37401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1620" algn="l"/>
              </a:tabLst>
            </a:pPr>
            <a:r>
              <a:rPr sz="1400" spc="-5" dirty="0">
                <a:latin typeface="Arial MT"/>
                <a:cs typeface="Arial MT"/>
              </a:rPr>
              <a:t>1	0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320823" y="3011368"/>
            <a:ext cx="85280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55270" algn="l"/>
                <a:tab pos="497840" algn="l"/>
                <a:tab pos="741045" algn="l"/>
              </a:tabLst>
            </a:pPr>
            <a:r>
              <a:rPr sz="1400" spc="-5" dirty="0">
                <a:latin typeface="Arial MT"/>
                <a:cs typeface="Arial MT"/>
              </a:rPr>
              <a:t>0	0	0	0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278151" y="3009770"/>
            <a:ext cx="3924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80670" algn="l"/>
              </a:tabLst>
            </a:pPr>
            <a:r>
              <a:rPr sz="1400" spc="-5" dirty="0">
                <a:latin typeface="Arial MT"/>
                <a:cs typeface="Arial MT"/>
              </a:rPr>
              <a:t>1	0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320823" y="4033678"/>
            <a:ext cx="183896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55270" algn="l"/>
                <a:tab pos="497840" algn="l"/>
                <a:tab pos="741045" algn="l"/>
                <a:tab pos="969644" algn="l"/>
                <a:tab pos="1237615" algn="l"/>
                <a:tab pos="1477645" algn="l"/>
                <a:tab pos="1727200" algn="l"/>
              </a:tabLst>
            </a:pPr>
            <a:r>
              <a:rPr sz="1400" spc="-5" dirty="0">
                <a:latin typeface="Arial MT"/>
                <a:cs typeface="Arial MT"/>
              </a:rPr>
              <a:t>0	0	0	0	1	0	0	0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7600950" y="4314825"/>
            <a:ext cx="0" cy="814705"/>
          </a:xfrm>
          <a:custGeom>
            <a:avLst/>
            <a:gdLst/>
            <a:ahLst/>
            <a:cxnLst/>
            <a:rect l="l" t="t" r="r" b="b"/>
            <a:pathLst>
              <a:path h="814704">
                <a:moveTo>
                  <a:pt x="0" y="0"/>
                </a:moveTo>
                <a:lnTo>
                  <a:pt x="0" y="814387"/>
                </a:lnTo>
              </a:path>
            </a:pathLst>
          </a:custGeom>
          <a:ln w="28575">
            <a:solidFill>
              <a:srgbClr val="3333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1" name="object 41"/>
          <p:cNvGrpSpPr/>
          <p:nvPr/>
        </p:nvGrpSpPr>
        <p:grpSpPr>
          <a:xfrm>
            <a:off x="7564437" y="2689225"/>
            <a:ext cx="584200" cy="363855"/>
            <a:chOff x="7564437" y="2689225"/>
            <a:chExt cx="584200" cy="363855"/>
          </a:xfrm>
        </p:grpSpPr>
        <p:sp>
          <p:nvSpPr>
            <p:cNvPr id="42" name="object 42"/>
            <p:cNvSpPr/>
            <p:nvPr/>
          </p:nvSpPr>
          <p:spPr>
            <a:xfrm>
              <a:off x="7607300" y="2714625"/>
              <a:ext cx="0" cy="266700"/>
            </a:xfrm>
            <a:custGeom>
              <a:avLst/>
              <a:gdLst/>
              <a:ahLst/>
              <a:cxnLst/>
              <a:rect l="l" t="t" r="r" b="b"/>
              <a:pathLst>
                <a:path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ln w="28575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564437" y="296703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0"/>
                  </a:moveTo>
                  <a:lnTo>
                    <a:pt x="0" y="0"/>
                  </a:lnTo>
                  <a:lnTo>
                    <a:pt x="42862" y="85725"/>
                  </a:lnTo>
                  <a:lnTo>
                    <a:pt x="85725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105775" y="2689225"/>
              <a:ext cx="0" cy="278130"/>
            </a:xfrm>
            <a:custGeom>
              <a:avLst/>
              <a:gdLst/>
              <a:ahLst/>
              <a:cxnLst/>
              <a:rect l="l" t="t" r="r" b="b"/>
              <a:pathLst>
                <a:path h="278130">
                  <a:moveTo>
                    <a:pt x="0" y="0"/>
                  </a:moveTo>
                  <a:lnTo>
                    <a:pt x="0" y="277812"/>
                  </a:lnTo>
                </a:path>
              </a:pathLst>
            </a:custGeom>
            <a:ln w="28575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062912" y="2952750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0"/>
                  </a:moveTo>
                  <a:lnTo>
                    <a:pt x="0" y="0"/>
                  </a:lnTo>
                  <a:lnTo>
                    <a:pt x="42862" y="85725"/>
                  </a:lnTo>
                  <a:lnTo>
                    <a:pt x="85725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/>
          <p:nvPr/>
        </p:nvSpPr>
        <p:spPr>
          <a:xfrm>
            <a:off x="7610475" y="3254375"/>
            <a:ext cx="0" cy="727075"/>
          </a:xfrm>
          <a:custGeom>
            <a:avLst/>
            <a:gdLst/>
            <a:ahLst/>
            <a:cxnLst/>
            <a:rect l="l" t="t" r="r" b="b"/>
            <a:pathLst>
              <a:path h="727075">
                <a:moveTo>
                  <a:pt x="0" y="0"/>
                </a:moveTo>
                <a:lnTo>
                  <a:pt x="0" y="727075"/>
                </a:lnTo>
              </a:path>
            </a:pathLst>
          </a:custGeom>
          <a:ln w="28575">
            <a:solidFill>
              <a:srgbClr val="3333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8108950" y="3241675"/>
            <a:ext cx="0" cy="727075"/>
          </a:xfrm>
          <a:custGeom>
            <a:avLst/>
            <a:gdLst/>
            <a:ahLst/>
            <a:cxnLst/>
            <a:rect l="l" t="t" r="r" b="b"/>
            <a:pathLst>
              <a:path h="727075">
                <a:moveTo>
                  <a:pt x="0" y="0"/>
                </a:moveTo>
                <a:lnTo>
                  <a:pt x="0" y="727075"/>
                </a:lnTo>
              </a:path>
            </a:pathLst>
          </a:custGeom>
          <a:ln w="28575">
            <a:solidFill>
              <a:srgbClr val="3333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8" name="object 48"/>
          <p:cNvGrpSpPr/>
          <p:nvPr/>
        </p:nvGrpSpPr>
        <p:grpSpPr>
          <a:xfrm>
            <a:off x="3409950" y="3173412"/>
            <a:ext cx="4742180" cy="2057400"/>
            <a:chOff x="3409950" y="3173412"/>
            <a:chExt cx="4742180" cy="2057400"/>
          </a:xfrm>
        </p:grpSpPr>
        <p:sp>
          <p:nvSpPr>
            <p:cNvPr id="49" name="object 49"/>
            <p:cNvSpPr/>
            <p:nvPr/>
          </p:nvSpPr>
          <p:spPr>
            <a:xfrm>
              <a:off x="3424237" y="3187700"/>
              <a:ext cx="3923029" cy="1444625"/>
            </a:xfrm>
            <a:custGeom>
              <a:avLst/>
              <a:gdLst/>
              <a:ahLst/>
              <a:cxnLst/>
              <a:rect l="l" t="t" r="r" b="b"/>
              <a:pathLst>
                <a:path w="3923029" h="1444625">
                  <a:moveTo>
                    <a:pt x="0" y="0"/>
                  </a:moveTo>
                  <a:lnTo>
                    <a:pt x="3922712" y="1444625"/>
                  </a:lnTo>
                </a:path>
              </a:pathLst>
            </a:custGeom>
            <a:ln w="28575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346950" y="4632325"/>
              <a:ext cx="0" cy="527050"/>
            </a:xfrm>
            <a:custGeom>
              <a:avLst/>
              <a:gdLst/>
              <a:ahLst/>
              <a:cxnLst/>
              <a:rect l="l" t="t" r="r" b="b"/>
              <a:pathLst>
                <a:path h="527050">
                  <a:moveTo>
                    <a:pt x="0" y="0"/>
                  </a:moveTo>
                  <a:lnTo>
                    <a:pt x="0" y="527050"/>
                  </a:lnTo>
                </a:path>
              </a:pathLst>
            </a:custGeom>
            <a:ln w="28575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304087" y="5145087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0"/>
                  </a:moveTo>
                  <a:lnTo>
                    <a:pt x="0" y="0"/>
                  </a:lnTo>
                  <a:lnTo>
                    <a:pt x="42862" y="85725"/>
                  </a:lnTo>
                  <a:lnTo>
                    <a:pt x="85725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632325" y="4233862"/>
              <a:ext cx="2216150" cy="498475"/>
            </a:xfrm>
            <a:custGeom>
              <a:avLst/>
              <a:gdLst/>
              <a:ahLst/>
              <a:cxnLst/>
              <a:rect l="l" t="t" r="r" b="b"/>
              <a:pathLst>
                <a:path w="2216150" h="498475">
                  <a:moveTo>
                    <a:pt x="0" y="0"/>
                  </a:moveTo>
                  <a:lnTo>
                    <a:pt x="2216150" y="498475"/>
                  </a:lnTo>
                </a:path>
              </a:pathLst>
            </a:custGeom>
            <a:ln w="28575">
              <a:solidFill>
                <a:srgbClr val="99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403085" y="4732337"/>
              <a:ext cx="458470" cy="412750"/>
            </a:xfrm>
            <a:custGeom>
              <a:avLst/>
              <a:gdLst/>
              <a:ahLst/>
              <a:cxnLst/>
              <a:rect l="l" t="t" r="r" b="b"/>
              <a:pathLst>
                <a:path w="458470" h="412750">
                  <a:moveTo>
                    <a:pt x="458088" y="0"/>
                  </a:moveTo>
                  <a:lnTo>
                    <a:pt x="0" y="412572"/>
                  </a:lnTo>
                </a:path>
              </a:pathLst>
            </a:custGeom>
            <a:ln w="28575">
              <a:solidFill>
                <a:srgbClr val="99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350002" y="5103498"/>
              <a:ext cx="92710" cy="89535"/>
            </a:xfrm>
            <a:custGeom>
              <a:avLst/>
              <a:gdLst/>
              <a:ahLst/>
              <a:cxnLst/>
              <a:rect l="l" t="t" r="r" b="b"/>
              <a:pathLst>
                <a:path w="92710" h="89535">
                  <a:moveTo>
                    <a:pt x="35013" y="0"/>
                  </a:moveTo>
                  <a:lnTo>
                    <a:pt x="0" y="89217"/>
                  </a:lnTo>
                  <a:lnTo>
                    <a:pt x="92379" y="63690"/>
                  </a:lnTo>
                  <a:lnTo>
                    <a:pt x="35013" y="0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633845" y="4732337"/>
              <a:ext cx="227329" cy="410845"/>
            </a:xfrm>
            <a:custGeom>
              <a:avLst/>
              <a:gdLst/>
              <a:ahLst/>
              <a:cxnLst/>
              <a:rect l="l" t="t" r="r" b="b"/>
              <a:pathLst>
                <a:path w="227329" h="410845">
                  <a:moveTo>
                    <a:pt x="227329" y="0"/>
                  </a:moveTo>
                  <a:lnTo>
                    <a:pt x="0" y="410578"/>
                  </a:lnTo>
                </a:path>
              </a:pathLst>
            </a:custGeom>
            <a:ln w="28575">
              <a:solidFill>
                <a:srgbClr val="99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599238" y="5109659"/>
              <a:ext cx="79375" cy="95885"/>
            </a:xfrm>
            <a:custGeom>
              <a:avLst/>
              <a:gdLst/>
              <a:ahLst/>
              <a:cxnLst/>
              <a:rect l="l" t="t" r="r" b="b"/>
              <a:pathLst>
                <a:path w="79375" h="95885">
                  <a:moveTo>
                    <a:pt x="4025" y="0"/>
                  </a:moveTo>
                  <a:lnTo>
                    <a:pt x="0" y="95758"/>
                  </a:lnTo>
                  <a:lnTo>
                    <a:pt x="79019" y="41516"/>
                  </a:lnTo>
                  <a:lnTo>
                    <a:pt x="4025" y="0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861175" y="4732337"/>
              <a:ext cx="0" cy="425450"/>
            </a:xfrm>
            <a:custGeom>
              <a:avLst/>
              <a:gdLst/>
              <a:ahLst/>
              <a:cxnLst/>
              <a:rect l="l" t="t" r="r" b="b"/>
              <a:pathLst>
                <a:path h="425450">
                  <a:moveTo>
                    <a:pt x="0" y="0"/>
                  </a:moveTo>
                  <a:lnTo>
                    <a:pt x="0" y="425450"/>
                  </a:lnTo>
                </a:path>
              </a:pathLst>
            </a:custGeom>
            <a:ln w="28575">
              <a:solidFill>
                <a:srgbClr val="99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818312" y="5143500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0"/>
                  </a:moveTo>
                  <a:lnTo>
                    <a:pt x="0" y="0"/>
                  </a:lnTo>
                  <a:lnTo>
                    <a:pt x="42862" y="85725"/>
                  </a:lnTo>
                  <a:lnTo>
                    <a:pt x="85725" y="0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861175" y="4732337"/>
              <a:ext cx="205740" cy="421640"/>
            </a:xfrm>
            <a:custGeom>
              <a:avLst/>
              <a:gdLst/>
              <a:ahLst/>
              <a:cxnLst/>
              <a:rect l="l" t="t" r="r" b="b"/>
              <a:pathLst>
                <a:path w="205740" h="421639">
                  <a:moveTo>
                    <a:pt x="0" y="0"/>
                  </a:moveTo>
                  <a:lnTo>
                    <a:pt x="205257" y="421551"/>
                  </a:lnTo>
                </a:path>
              </a:pathLst>
            </a:custGeom>
            <a:ln w="28575">
              <a:solidFill>
                <a:srgbClr val="99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021648" y="5122274"/>
              <a:ext cx="77470" cy="95885"/>
            </a:xfrm>
            <a:custGeom>
              <a:avLst/>
              <a:gdLst/>
              <a:ahLst/>
              <a:cxnLst/>
              <a:rect l="l" t="t" r="r" b="b"/>
              <a:pathLst>
                <a:path w="77470" h="95885">
                  <a:moveTo>
                    <a:pt x="77076" y="0"/>
                  </a:moveTo>
                  <a:lnTo>
                    <a:pt x="0" y="37528"/>
                  </a:lnTo>
                  <a:lnTo>
                    <a:pt x="76060" y="95834"/>
                  </a:lnTo>
                  <a:lnTo>
                    <a:pt x="77076" y="0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558087" y="3954462"/>
              <a:ext cx="593725" cy="1246505"/>
            </a:xfrm>
            <a:custGeom>
              <a:avLst/>
              <a:gdLst/>
              <a:ahLst/>
              <a:cxnLst/>
              <a:rect l="l" t="t" r="r" b="b"/>
              <a:pathLst>
                <a:path w="593725" h="1246504">
                  <a:moveTo>
                    <a:pt x="85725" y="1160462"/>
                  </a:moveTo>
                  <a:lnTo>
                    <a:pt x="0" y="1160462"/>
                  </a:lnTo>
                  <a:lnTo>
                    <a:pt x="42862" y="1246187"/>
                  </a:lnTo>
                  <a:lnTo>
                    <a:pt x="85725" y="1160462"/>
                  </a:lnTo>
                  <a:close/>
                </a:path>
                <a:path w="593725" h="1246504">
                  <a:moveTo>
                    <a:pt x="95250" y="12700"/>
                  </a:moveTo>
                  <a:lnTo>
                    <a:pt x="9525" y="12700"/>
                  </a:lnTo>
                  <a:lnTo>
                    <a:pt x="52387" y="98425"/>
                  </a:lnTo>
                  <a:lnTo>
                    <a:pt x="95250" y="12700"/>
                  </a:lnTo>
                  <a:close/>
                </a:path>
                <a:path w="593725" h="1246504">
                  <a:moveTo>
                    <a:pt x="593725" y="0"/>
                  </a:moveTo>
                  <a:lnTo>
                    <a:pt x="508000" y="0"/>
                  </a:lnTo>
                  <a:lnTo>
                    <a:pt x="550862" y="85725"/>
                  </a:lnTo>
                  <a:lnTo>
                    <a:pt x="593725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8099425" y="4314825"/>
              <a:ext cx="0" cy="827405"/>
            </a:xfrm>
            <a:custGeom>
              <a:avLst/>
              <a:gdLst/>
              <a:ahLst/>
              <a:cxnLst/>
              <a:rect l="l" t="t" r="r" b="b"/>
              <a:pathLst>
                <a:path h="827404">
                  <a:moveTo>
                    <a:pt x="0" y="0"/>
                  </a:moveTo>
                  <a:lnTo>
                    <a:pt x="0" y="827087"/>
                  </a:lnTo>
                </a:path>
              </a:pathLst>
            </a:custGeom>
            <a:ln w="28575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8056562" y="5127625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0"/>
                  </a:moveTo>
                  <a:lnTo>
                    <a:pt x="0" y="0"/>
                  </a:lnTo>
                  <a:lnTo>
                    <a:pt x="42862" y="85725"/>
                  </a:lnTo>
                  <a:lnTo>
                    <a:pt x="85725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861175" y="4732337"/>
              <a:ext cx="918210" cy="430530"/>
            </a:xfrm>
            <a:custGeom>
              <a:avLst/>
              <a:gdLst/>
              <a:ahLst/>
              <a:cxnLst/>
              <a:rect l="l" t="t" r="r" b="b"/>
              <a:pathLst>
                <a:path w="918209" h="430529">
                  <a:moveTo>
                    <a:pt x="0" y="0"/>
                  </a:moveTo>
                  <a:lnTo>
                    <a:pt x="917968" y="430072"/>
                  </a:lnTo>
                </a:path>
              </a:pathLst>
            </a:custGeom>
            <a:ln w="28575">
              <a:solidFill>
                <a:srgbClr val="99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7748024" y="5117527"/>
              <a:ext cx="95885" cy="78105"/>
            </a:xfrm>
            <a:custGeom>
              <a:avLst/>
              <a:gdLst/>
              <a:ahLst/>
              <a:cxnLst/>
              <a:rect l="l" t="t" r="r" b="b"/>
              <a:pathLst>
                <a:path w="95884" h="78104">
                  <a:moveTo>
                    <a:pt x="36372" y="0"/>
                  </a:moveTo>
                  <a:lnTo>
                    <a:pt x="0" y="77622"/>
                  </a:lnTo>
                  <a:lnTo>
                    <a:pt x="95808" y="75184"/>
                  </a:lnTo>
                  <a:lnTo>
                    <a:pt x="36372" y="0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5178" y="814069"/>
            <a:ext cx="145351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TRAP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15229"/>
            <a:ext cx="7594600" cy="462407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450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TRAP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only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990000"/>
                </a:solidFill>
                <a:latin typeface="Times New Roman"/>
                <a:cs typeface="Times New Roman"/>
              </a:rPr>
              <a:t>non-maskable</a:t>
            </a:r>
            <a:r>
              <a:rPr sz="2800" spc="-3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interrupt.</a:t>
            </a:r>
            <a:endParaRPr sz="2800">
              <a:latin typeface="Times New Roman"/>
              <a:cs typeface="Times New Roman"/>
            </a:endParaRPr>
          </a:p>
          <a:p>
            <a:pPr marL="755650" marR="660400" lvl="1" indent="-286385">
              <a:lnSpc>
                <a:spcPts val="2590"/>
              </a:lnSpc>
              <a:spcBef>
                <a:spcPts val="625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It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does </a:t>
            </a:r>
            <a:r>
              <a:rPr sz="2400" dirty="0">
                <a:latin typeface="Times New Roman"/>
                <a:cs typeface="Times New Roman"/>
              </a:rPr>
              <a:t>not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5" dirty="0">
                <a:latin typeface="Times New Roman"/>
                <a:cs typeface="Times New Roman"/>
              </a:rPr>
              <a:t> enabled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because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it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CC"/>
                </a:solidFill>
                <a:latin typeface="Times New Roman"/>
                <a:cs typeface="Times New Roman"/>
              </a:rPr>
              <a:t>cannot</a:t>
            </a:r>
            <a:r>
              <a:rPr sz="2400" spc="-1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CC"/>
                </a:solidFill>
                <a:latin typeface="Times New Roman"/>
                <a:cs typeface="Times New Roman"/>
              </a:rPr>
              <a:t>be </a:t>
            </a:r>
            <a:r>
              <a:rPr sz="2400" spc="-58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3333CC"/>
                </a:solidFill>
                <a:latin typeface="Times New Roman"/>
                <a:cs typeface="Times New Roman"/>
              </a:rPr>
              <a:t>disabled</a:t>
            </a:r>
            <a:r>
              <a:rPr sz="2400" spc="-5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290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9900"/>
                </a:solidFill>
                <a:latin typeface="Times New Roman"/>
                <a:cs typeface="Times New Roman"/>
              </a:rPr>
              <a:t>has</a:t>
            </a:r>
            <a:r>
              <a:rPr sz="2800" spc="-10" dirty="0">
                <a:solidFill>
                  <a:srgbClr val="FF99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9900"/>
                </a:solidFill>
                <a:latin typeface="Times New Roman"/>
                <a:cs typeface="Times New Roman"/>
              </a:rPr>
              <a:t>the</a:t>
            </a:r>
            <a:r>
              <a:rPr sz="2800" spc="-20" dirty="0">
                <a:solidFill>
                  <a:srgbClr val="FF99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9900"/>
                </a:solidFill>
                <a:latin typeface="Times New Roman"/>
                <a:cs typeface="Times New Roman"/>
              </a:rPr>
              <a:t>highest</a:t>
            </a:r>
            <a:r>
              <a:rPr sz="2800" spc="-30" dirty="0">
                <a:solidFill>
                  <a:srgbClr val="FF99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9900"/>
                </a:solidFill>
                <a:latin typeface="Times New Roman"/>
                <a:cs typeface="Times New Roman"/>
              </a:rPr>
              <a:t>priority</a:t>
            </a:r>
            <a:r>
              <a:rPr sz="2800" spc="-15" dirty="0">
                <a:solidFill>
                  <a:srgbClr val="FF99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amongst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interrupts.</a:t>
            </a:r>
            <a:endParaRPr sz="280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33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339933"/>
                </a:solidFill>
                <a:latin typeface="Times New Roman"/>
                <a:cs typeface="Times New Roman"/>
              </a:rPr>
              <a:t>edge</a:t>
            </a:r>
            <a:r>
              <a:rPr sz="2800" spc="-30" dirty="0">
                <a:solidFill>
                  <a:srgbClr val="339933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339933"/>
                </a:solidFill>
                <a:latin typeface="Times New Roman"/>
                <a:cs typeface="Times New Roman"/>
              </a:rPr>
              <a:t>and</a:t>
            </a:r>
            <a:r>
              <a:rPr sz="2800" spc="-15" dirty="0">
                <a:solidFill>
                  <a:srgbClr val="339933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339933"/>
                </a:solidFill>
                <a:latin typeface="Times New Roman"/>
                <a:cs typeface="Times New Roman"/>
              </a:rPr>
              <a:t>level</a:t>
            </a:r>
            <a:r>
              <a:rPr sz="2800" spc="-40" dirty="0">
                <a:solidFill>
                  <a:srgbClr val="339933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9933"/>
                </a:solidFill>
                <a:latin typeface="Times New Roman"/>
                <a:cs typeface="Times New Roman"/>
              </a:rPr>
              <a:t>sensitive</a:t>
            </a:r>
            <a:r>
              <a:rPr sz="2800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300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It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needs to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high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" dirty="0">
                <a:latin typeface="Times New Roman"/>
                <a:cs typeface="Times New Roman"/>
              </a:rPr>
              <a:t> stay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high to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recognized.</a:t>
            </a:r>
            <a:endParaRPr sz="2400">
              <a:latin typeface="Times New Roman"/>
              <a:cs typeface="Times New Roman"/>
            </a:endParaRPr>
          </a:p>
          <a:p>
            <a:pPr marL="755650" marR="5080" lvl="1" indent="-285750">
              <a:lnSpc>
                <a:spcPts val="2590"/>
              </a:lnSpc>
              <a:spcBef>
                <a:spcPts val="615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spc="-5" dirty="0">
                <a:latin typeface="Times New Roman"/>
                <a:cs typeface="Times New Roman"/>
              </a:rPr>
              <a:t>Once it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recognized,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it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won’t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recognized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again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until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goes low, </a:t>
            </a:r>
            <a:r>
              <a:rPr sz="2400" dirty="0">
                <a:latin typeface="Times New Roman"/>
                <a:cs typeface="Times New Roman"/>
              </a:rPr>
              <a:t>then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high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again.</a:t>
            </a:r>
            <a:endParaRPr sz="2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buFont typeface="Times New Roman"/>
              <a:buChar char="–"/>
            </a:pPr>
            <a:endParaRPr sz="3800">
              <a:latin typeface="Times New Roman"/>
              <a:cs typeface="Times New Roman"/>
            </a:endParaRPr>
          </a:p>
          <a:p>
            <a:pPr marL="355600" marR="1042035" indent="-343535">
              <a:lnSpc>
                <a:spcPts val="3020"/>
              </a:lnSpc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TRAP </a:t>
            </a:r>
            <a:r>
              <a:rPr sz="2800" dirty="0">
                <a:latin typeface="Times New Roman"/>
                <a:cs typeface="Times New Roman"/>
              </a:rPr>
              <a:t>is </a:t>
            </a:r>
            <a:r>
              <a:rPr sz="2800" spc="-5" dirty="0">
                <a:latin typeface="Times New Roman"/>
                <a:cs typeface="Times New Roman"/>
              </a:rPr>
              <a:t>usually used </a:t>
            </a:r>
            <a:r>
              <a:rPr sz="2800" dirty="0">
                <a:latin typeface="Times New Roman"/>
                <a:cs typeface="Times New Roman"/>
              </a:rPr>
              <a:t>for </a:t>
            </a:r>
            <a:r>
              <a:rPr sz="2800" spc="-5" dirty="0">
                <a:latin typeface="Times New Roman"/>
                <a:cs typeface="Times New Roman"/>
              </a:rPr>
              <a:t>power </a:t>
            </a:r>
            <a:r>
              <a:rPr sz="2800" dirty="0">
                <a:latin typeface="Times New Roman"/>
                <a:cs typeface="Times New Roman"/>
              </a:rPr>
              <a:t>failure </a:t>
            </a:r>
            <a:r>
              <a:rPr sz="2800" spc="-5" dirty="0">
                <a:latin typeface="Times New Roman"/>
                <a:cs typeface="Times New Roman"/>
              </a:rPr>
              <a:t>and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emergency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shutoff.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19992" y="814069"/>
            <a:ext cx="570230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Internal</a:t>
            </a:r>
            <a:r>
              <a:rPr spc="-20" dirty="0"/>
              <a:t> </a:t>
            </a:r>
            <a:r>
              <a:rPr spc="-5" dirty="0"/>
              <a:t>Interrupt</a:t>
            </a:r>
            <a:r>
              <a:rPr spc="-20" dirty="0"/>
              <a:t> </a:t>
            </a:r>
            <a:r>
              <a:rPr spc="-5" dirty="0"/>
              <a:t>Priority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59355"/>
            <a:ext cx="7609205" cy="405066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marR="969010" indent="-343535">
              <a:lnSpc>
                <a:spcPts val="3020"/>
              </a:lnSpc>
              <a:spcBef>
                <a:spcPts val="484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Internally, </a:t>
            </a:r>
            <a:r>
              <a:rPr sz="2800" dirty="0">
                <a:latin typeface="Times New Roman"/>
                <a:cs typeface="Times New Roman"/>
              </a:rPr>
              <a:t>the 8085 </a:t>
            </a:r>
            <a:r>
              <a:rPr sz="2800" spc="-5" dirty="0">
                <a:latin typeface="Times New Roman"/>
                <a:cs typeface="Times New Roman"/>
              </a:rPr>
              <a:t>implements an </a:t>
            </a:r>
            <a:r>
              <a:rPr sz="2800" dirty="0">
                <a:solidFill>
                  <a:srgbClr val="990000"/>
                </a:solidFill>
                <a:latin typeface="Times New Roman"/>
                <a:cs typeface="Times New Roman"/>
              </a:rPr>
              <a:t>interrupt </a:t>
            </a:r>
            <a:r>
              <a:rPr sz="2800" spc="-69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990000"/>
                </a:solidFill>
                <a:latin typeface="Times New Roman"/>
                <a:cs typeface="Times New Roman"/>
              </a:rPr>
              <a:t>priority</a:t>
            </a:r>
            <a:r>
              <a:rPr sz="2800" spc="-3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990000"/>
                </a:solidFill>
                <a:latin typeface="Times New Roman"/>
                <a:cs typeface="Times New Roman"/>
              </a:rPr>
              <a:t>scheme</a:t>
            </a:r>
            <a:r>
              <a:rPr sz="2800" spc="-5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259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interrupts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are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ordered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as follows:</a:t>
            </a:r>
            <a:endParaRPr sz="2400">
              <a:latin typeface="Times New Roman"/>
              <a:cs typeface="Times New Roman"/>
            </a:endParaRPr>
          </a:p>
          <a:p>
            <a:pPr marL="1155700" lvl="2" indent="-229870">
              <a:lnSpc>
                <a:spcPct val="100000"/>
              </a:lnSpc>
              <a:spcBef>
                <a:spcPts val="254"/>
              </a:spcBef>
              <a:buChar char="•"/>
              <a:tabLst>
                <a:tab pos="1155065" algn="l"/>
                <a:tab pos="1156335" algn="l"/>
              </a:tabLst>
            </a:pPr>
            <a:r>
              <a:rPr sz="2000" spc="-10" dirty="0">
                <a:latin typeface="Times New Roman"/>
                <a:cs typeface="Times New Roman"/>
              </a:rPr>
              <a:t>TRAP</a:t>
            </a:r>
            <a:endParaRPr sz="2000">
              <a:latin typeface="Times New Roman"/>
              <a:cs typeface="Times New Roman"/>
            </a:endParaRPr>
          </a:p>
          <a:p>
            <a:pPr marL="1155700" lvl="2" indent="-229870">
              <a:lnSpc>
                <a:spcPct val="100000"/>
              </a:lnSpc>
              <a:spcBef>
                <a:spcPts val="240"/>
              </a:spcBef>
              <a:buChar char="•"/>
              <a:tabLst>
                <a:tab pos="1155065" algn="l"/>
                <a:tab pos="1156335" algn="l"/>
              </a:tabLst>
            </a:pPr>
            <a:r>
              <a:rPr sz="2000" spc="-5" dirty="0">
                <a:latin typeface="Times New Roman"/>
                <a:cs typeface="Times New Roman"/>
              </a:rPr>
              <a:t>RST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7.5</a:t>
            </a:r>
            <a:endParaRPr sz="2000">
              <a:latin typeface="Times New Roman"/>
              <a:cs typeface="Times New Roman"/>
            </a:endParaRPr>
          </a:p>
          <a:p>
            <a:pPr marL="1155700" lvl="2" indent="-229870">
              <a:lnSpc>
                <a:spcPct val="100000"/>
              </a:lnSpc>
              <a:spcBef>
                <a:spcPts val="235"/>
              </a:spcBef>
              <a:buChar char="•"/>
              <a:tabLst>
                <a:tab pos="1155065" algn="l"/>
                <a:tab pos="1156335" algn="l"/>
              </a:tabLst>
            </a:pPr>
            <a:r>
              <a:rPr sz="2000" spc="-5" dirty="0">
                <a:latin typeface="Times New Roman"/>
                <a:cs typeface="Times New Roman"/>
              </a:rPr>
              <a:t>RST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6.5</a:t>
            </a:r>
            <a:endParaRPr sz="2000">
              <a:latin typeface="Times New Roman"/>
              <a:cs typeface="Times New Roman"/>
            </a:endParaRPr>
          </a:p>
          <a:p>
            <a:pPr marL="1155700" lvl="2" indent="-229870">
              <a:lnSpc>
                <a:spcPct val="100000"/>
              </a:lnSpc>
              <a:spcBef>
                <a:spcPts val="240"/>
              </a:spcBef>
              <a:buChar char="•"/>
              <a:tabLst>
                <a:tab pos="1155065" algn="l"/>
                <a:tab pos="1156335" algn="l"/>
              </a:tabLst>
            </a:pPr>
            <a:r>
              <a:rPr sz="2000" spc="-5" dirty="0">
                <a:latin typeface="Times New Roman"/>
                <a:cs typeface="Times New Roman"/>
              </a:rPr>
              <a:t>RST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5.5</a:t>
            </a:r>
            <a:endParaRPr sz="2000">
              <a:latin typeface="Times New Roman"/>
              <a:cs typeface="Times New Roman"/>
            </a:endParaRPr>
          </a:p>
          <a:p>
            <a:pPr marL="1155700" lvl="2" indent="-229235">
              <a:lnSpc>
                <a:spcPct val="100000"/>
              </a:lnSpc>
              <a:spcBef>
                <a:spcPts val="245"/>
              </a:spcBef>
              <a:buChar char="•"/>
              <a:tabLst>
                <a:tab pos="1155065" algn="l"/>
                <a:tab pos="1155700" algn="l"/>
              </a:tabLst>
            </a:pPr>
            <a:r>
              <a:rPr sz="2000" spc="-5" dirty="0">
                <a:latin typeface="Times New Roman"/>
                <a:cs typeface="Times New Roman"/>
              </a:rPr>
              <a:t>INTR</a:t>
            </a:r>
            <a:endParaRPr sz="200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30"/>
              </a:spcBef>
              <a:buFont typeface="Times New Roman"/>
              <a:buChar char="•"/>
            </a:pPr>
            <a:endParaRPr sz="3250">
              <a:latin typeface="Times New Roman"/>
              <a:cs typeface="Times New Roman"/>
            </a:endParaRPr>
          </a:p>
          <a:p>
            <a:pPr marL="755650" marR="5080" lvl="1" indent="-285750">
              <a:lnSpc>
                <a:spcPts val="2590"/>
              </a:lnSpc>
              <a:buChar char="–"/>
              <a:tabLst>
                <a:tab pos="755015" algn="l"/>
                <a:tab pos="755650" algn="l"/>
              </a:tabLst>
            </a:pP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However, TRAP</a:t>
            </a:r>
            <a:r>
              <a:rPr sz="2400" spc="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has</a:t>
            </a:r>
            <a:r>
              <a:rPr sz="240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lower</a:t>
            </a:r>
            <a:r>
              <a:rPr sz="240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priority than the HLD</a:t>
            </a:r>
            <a:r>
              <a:rPr sz="2400" spc="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signal </a:t>
            </a:r>
            <a:r>
              <a:rPr sz="2400" spc="-58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used</a:t>
            </a:r>
            <a:r>
              <a:rPr sz="2400" spc="-2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for</a:t>
            </a:r>
            <a:r>
              <a:rPr sz="240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DMA</a:t>
            </a:r>
            <a:r>
              <a:rPr sz="2400" spc="-5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40260" y="814069"/>
            <a:ext cx="446341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The</a:t>
            </a:r>
            <a:r>
              <a:rPr spc="-30" dirty="0"/>
              <a:t> </a:t>
            </a:r>
            <a:r>
              <a:rPr spc="-5" dirty="0"/>
              <a:t>8085</a:t>
            </a:r>
            <a:r>
              <a:rPr spc="-30" dirty="0"/>
              <a:t> </a:t>
            </a:r>
            <a:r>
              <a:rPr spc="-5" dirty="0"/>
              <a:t>Interrupts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85775" y="1814512"/>
          <a:ext cx="8196580" cy="43084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345440" marR="182880" indent="-1568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200" spc="-5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200" dirty="0">
                          <a:latin typeface="Times New Roman"/>
                          <a:cs typeface="Times New Roman"/>
                        </a:rPr>
                        <a:t>nte</a:t>
                      </a:r>
                      <a:r>
                        <a:rPr sz="2200" spc="-5" dirty="0">
                          <a:latin typeface="Times New Roman"/>
                          <a:cs typeface="Times New Roman"/>
                        </a:rPr>
                        <a:t>rr</a:t>
                      </a:r>
                      <a:r>
                        <a:rPr sz="2200" dirty="0">
                          <a:latin typeface="Times New Roman"/>
                          <a:cs typeface="Times New Roman"/>
                        </a:rPr>
                        <a:t>upt  </a:t>
                      </a:r>
                      <a:r>
                        <a:rPr sz="2200" spc="-5" dirty="0">
                          <a:latin typeface="Times New Roman"/>
                          <a:cs typeface="Times New Roman"/>
                        </a:rPr>
                        <a:t>Name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05"/>
                        </a:spcBef>
                      </a:pPr>
                      <a:r>
                        <a:rPr sz="2200" spc="-5" dirty="0">
                          <a:latin typeface="Times New Roman"/>
                          <a:cs typeface="Times New Roman"/>
                        </a:rPr>
                        <a:t>Maskable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038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243840" marR="181610" indent="-539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200" spc="-5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2200" dirty="0">
                          <a:latin typeface="Times New Roman"/>
                          <a:cs typeface="Times New Roman"/>
                        </a:rPr>
                        <a:t>aski</a:t>
                      </a:r>
                      <a:r>
                        <a:rPr sz="2200" spc="-5" dirty="0">
                          <a:latin typeface="Times New Roman"/>
                          <a:cs typeface="Times New Roman"/>
                        </a:rPr>
                        <a:t>ng  </a:t>
                      </a:r>
                      <a:r>
                        <a:rPr sz="2200" dirty="0">
                          <a:latin typeface="Times New Roman"/>
                          <a:cs typeface="Times New Roman"/>
                        </a:rPr>
                        <a:t>Method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05"/>
                        </a:spcBef>
                      </a:pPr>
                      <a:r>
                        <a:rPr sz="2200" spc="-35" dirty="0">
                          <a:latin typeface="Times New Roman"/>
                          <a:cs typeface="Times New Roman"/>
                        </a:rPr>
                        <a:t>Vectored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038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05"/>
                        </a:spcBef>
                      </a:pPr>
                      <a:r>
                        <a:rPr sz="2200" spc="-5" dirty="0">
                          <a:latin typeface="Times New Roman"/>
                          <a:cs typeface="Times New Roman"/>
                        </a:rPr>
                        <a:t>Memory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038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139065" marR="132080" indent="165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200" spc="-10" dirty="0">
                          <a:latin typeface="Times New Roman"/>
                          <a:cs typeface="Times New Roman"/>
                        </a:rPr>
                        <a:t>Triggerin </a:t>
                      </a:r>
                      <a:r>
                        <a:rPr sz="2200" spc="-5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2200" spc="-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dirty="0">
                          <a:latin typeface="Times New Roman"/>
                          <a:cs typeface="Times New Roman"/>
                        </a:rPr>
                        <a:t>Method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05"/>
                        </a:spcBef>
                      </a:pPr>
                      <a:r>
                        <a:rPr sz="2200" spc="-5" dirty="0">
                          <a:latin typeface="Times New Roman"/>
                          <a:cs typeface="Times New Roman"/>
                        </a:rPr>
                        <a:t>INTR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038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605"/>
                        </a:spcBef>
                      </a:pPr>
                      <a:r>
                        <a:rPr sz="2200" spc="-75" dirty="0">
                          <a:latin typeface="Times New Roman"/>
                          <a:cs typeface="Times New Roman"/>
                        </a:rPr>
                        <a:t>Yes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038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605"/>
                        </a:spcBef>
                      </a:pPr>
                      <a:r>
                        <a:rPr sz="2200" dirty="0">
                          <a:latin typeface="Times New Roman"/>
                          <a:cs typeface="Times New Roman"/>
                        </a:rPr>
                        <a:t>DI</a:t>
                      </a:r>
                      <a:r>
                        <a:rPr sz="2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spc="-5" dirty="0">
                          <a:latin typeface="Times New Roman"/>
                          <a:cs typeface="Times New Roman"/>
                        </a:rPr>
                        <a:t>EI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038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05"/>
                        </a:spcBef>
                      </a:pPr>
                      <a:r>
                        <a:rPr sz="2200" dirty="0">
                          <a:latin typeface="Times New Roman"/>
                          <a:cs typeface="Times New Roman"/>
                        </a:rPr>
                        <a:t>No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038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05"/>
                        </a:spcBef>
                      </a:pPr>
                      <a:r>
                        <a:rPr sz="2200" dirty="0">
                          <a:latin typeface="Times New Roman"/>
                          <a:cs typeface="Times New Roman"/>
                        </a:rPr>
                        <a:t>No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038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 marR="158750" indent="1949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200" spc="-5" dirty="0">
                          <a:latin typeface="Times New Roman"/>
                          <a:cs typeface="Times New Roman"/>
                        </a:rPr>
                        <a:t>Level </a:t>
                      </a:r>
                      <a:r>
                        <a:rPr sz="2200" dirty="0">
                          <a:latin typeface="Times New Roman"/>
                          <a:cs typeface="Times New Roman"/>
                        </a:rPr>
                        <a:t> Sensitive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9056">
                <a:tc>
                  <a:txBody>
                    <a:bodyPr/>
                    <a:lstStyle/>
                    <a:p>
                      <a:pPr marL="14224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2200" dirty="0">
                          <a:latin typeface="Times New Roman"/>
                          <a:cs typeface="Times New Roman"/>
                        </a:rPr>
                        <a:t>RST</a:t>
                      </a:r>
                      <a:r>
                        <a:rPr sz="22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dirty="0">
                          <a:latin typeface="Times New Roman"/>
                          <a:cs typeface="Times New Roman"/>
                        </a:rPr>
                        <a:t>5.5</a:t>
                      </a:r>
                      <a:r>
                        <a:rPr sz="2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dirty="0">
                          <a:latin typeface="Times New Roman"/>
                          <a:cs typeface="Times New Roman"/>
                        </a:rPr>
                        <a:t>/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215265">
                        <a:lnSpc>
                          <a:spcPct val="100000"/>
                        </a:lnSpc>
                      </a:pPr>
                      <a:r>
                        <a:rPr sz="2200" dirty="0">
                          <a:latin typeface="Times New Roman"/>
                          <a:cs typeface="Times New Roman"/>
                        </a:rPr>
                        <a:t>RST</a:t>
                      </a:r>
                      <a:r>
                        <a:rPr sz="2200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dirty="0">
                          <a:latin typeface="Times New Roman"/>
                          <a:cs typeface="Times New Roman"/>
                        </a:rPr>
                        <a:t>6.5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698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75"/>
                        </a:spcBef>
                      </a:pPr>
                      <a:r>
                        <a:rPr sz="2200" spc="-75" dirty="0">
                          <a:latin typeface="Times New Roman"/>
                          <a:cs typeface="Times New Roman"/>
                        </a:rPr>
                        <a:t>Yes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381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146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200" dirty="0">
                          <a:latin typeface="Times New Roman"/>
                          <a:cs typeface="Times New Roman"/>
                        </a:rPr>
                        <a:t>DI</a:t>
                      </a:r>
                      <a:r>
                        <a:rPr sz="2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spc="-5" dirty="0">
                          <a:latin typeface="Times New Roman"/>
                          <a:cs typeface="Times New Roman"/>
                        </a:rPr>
                        <a:t>EI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43116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2200" spc="-5" dirty="0">
                          <a:solidFill>
                            <a:srgbClr val="990000"/>
                          </a:solidFill>
                          <a:latin typeface="Times New Roman"/>
                          <a:cs typeface="Times New Roman"/>
                        </a:rPr>
                        <a:t>SIM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75"/>
                        </a:spcBef>
                      </a:pPr>
                      <a:r>
                        <a:rPr sz="2200" spc="-75" dirty="0">
                          <a:latin typeface="Times New Roman"/>
                          <a:cs typeface="Times New Roman"/>
                        </a:rPr>
                        <a:t>Yes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381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75"/>
                        </a:spcBef>
                      </a:pPr>
                      <a:r>
                        <a:rPr sz="2200" dirty="0">
                          <a:latin typeface="Times New Roman"/>
                          <a:cs typeface="Times New Roman"/>
                        </a:rPr>
                        <a:t>No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381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 marR="158750" indent="19494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2200" spc="-5" dirty="0">
                          <a:latin typeface="Times New Roman"/>
                          <a:cs typeface="Times New Roman"/>
                        </a:rPr>
                        <a:t>Level </a:t>
                      </a:r>
                      <a:r>
                        <a:rPr sz="2200" dirty="0">
                          <a:latin typeface="Times New Roman"/>
                          <a:cs typeface="Times New Roman"/>
                        </a:rPr>
                        <a:t> Sensitive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905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75"/>
                        </a:spcBef>
                      </a:pPr>
                      <a:r>
                        <a:rPr sz="2200" dirty="0">
                          <a:latin typeface="Times New Roman"/>
                          <a:cs typeface="Times New Roman"/>
                        </a:rPr>
                        <a:t>RST</a:t>
                      </a:r>
                      <a:r>
                        <a:rPr sz="2200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dirty="0">
                          <a:latin typeface="Times New Roman"/>
                          <a:cs typeface="Times New Roman"/>
                        </a:rPr>
                        <a:t>7.5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381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75"/>
                        </a:spcBef>
                      </a:pPr>
                      <a:r>
                        <a:rPr sz="2200" spc="-75" dirty="0">
                          <a:latin typeface="Times New Roman"/>
                          <a:cs typeface="Times New Roman"/>
                        </a:rPr>
                        <a:t>Yes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381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146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200" dirty="0">
                          <a:latin typeface="Times New Roman"/>
                          <a:cs typeface="Times New Roman"/>
                        </a:rPr>
                        <a:t>DI</a:t>
                      </a:r>
                      <a:r>
                        <a:rPr sz="2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spc="-5" dirty="0">
                          <a:latin typeface="Times New Roman"/>
                          <a:cs typeface="Times New Roman"/>
                        </a:rPr>
                        <a:t>EI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43116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200" spc="-5" dirty="0">
                          <a:solidFill>
                            <a:srgbClr val="990000"/>
                          </a:solidFill>
                          <a:latin typeface="Times New Roman"/>
                          <a:cs typeface="Times New Roman"/>
                        </a:rPr>
                        <a:t>SIM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80"/>
                        </a:spcBef>
                      </a:pPr>
                      <a:r>
                        <a:rPr sz="2200" spc="-75" dirty="0">
                          <a:latin typeface="Times New Roman"/>
                          <a:cs typeface="Times New Roman"/>
                        </a:rPr>
                        <a:t>Yes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387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80"/>
                        </a:spcBef>
                      </a:pPr>
                      <a:r>
                        <a:rPr sz="2200" spc="-75" dirty="0">
                          <a:solidFill>
                            <a:srgbClr val="990000"/>
                          </a:solidFill>
                          <a:latin typeface="Times New Roman"/>
                          <a:cs typeface="Times New Roman"/>
                        </a:rPr>
                        <a:t>Yes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387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 marR="158750" indent="22542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2200" spc="-5" dirty="0">
                          <a:solidFill>
                            <a:srgbClr val="990000"/>
                          </a:solidFill>
                          <a:latin typeface="Times New Roman"/>
                          <a:cs typeface="Times New Roman"/>
                        </a:rPr>
                        <a:t>Edge </a:t>
                      </a:r>
                      <a:r>
                        <a:rPr sz="2200" dirty="0">
                          <a:solidFill>
                            <a:srgbClr val="990000"/>
                          </a:solidFill>
                          <a:latin typeface="Times New Roman"/>
                          <a:cs typeface="Times New Roman"/>
                        </a:rPr>
                        <a:t> Sensitive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711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200" spc="-5" dirty="0">
                          <a:latin typeface="Times New Roman"/>
                          <a:cs typeface="Times New Roman"/>
                        </a:rPr>
                        <a:t>TRAP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200" dirty="0">
                          <a:solidFill>
                            <a:srgbClr val="990000"/>
                          </a:solidFill>
                          <a:latin typeface="Times New Roman"/>
                          <a:cs typeface="Times New Roman"/>
                        </a:rPr>
                        <a:t>No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200" dirty="0">
                          <a:solidFill>
                            <a:srgbClr val="990000"/>
                          </a:solidFill>
                          <a:latin typeface="Times New Roman"/>
                          <a:cs typeface="Times New Roman"/>
                        </a:rPr>
                        <a:t>None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200" spc="-75" dirty="0">
                          <a:latin typeface="Times New Roman"/>
                          <a:cs typeface="Times New Roman"/>
                        </a:rPr>
                        <a:t>Yes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200" dirty="0">
                          <a:latin typeface="Times New Roman"/>
                          <a:cs typeface="Times New Roman"/>
                        </a:rPr>
                        <a:t>No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 marR="15875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200" spc="-5" dirty="0">
                          <a:solidFill>
                            <a:srgbClr val="990000"/>
                          </a:solidFill>
                          <a:latin typeface="Times New Roman"/>
                          <a:cs typeface="Times New Roman"/>
                        </a:rPr>
                        <a:t>Level </a:t>
                      </a:r>
                      <a:r>
                        <a:rPr sz="2200" dirty="0">
                          <a:solidFill>
                            <a:srgbClr val="990000"/>
                          </a:solidFill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2200" spc="5" dirty="0">
                          <a:solidFill>
                            <a:srgbClr val="99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spc="-5" dirty="0">
                          <a:solidFill>
                            <a:srgbClr val="990000"/>
                          </a:solidFill>
                          <a:latin typeface="Times New Roman"/>
                          <a:cs typeface="Times New Roman"/>
                        </a:rPr>
                        <a:t>Edge </a:t>
                      </a:r>
                      <a:r>
                        <a:rPr sz="2200" dirty="0">
                          <a:solidFill>
                            <a:srgbClr val="990000"/>
                          </a:solidFill>
                          <a:latin typeface="Times New Roman"/>
                          <a:cs typeface="Times New Roman"/>
                        </a:rPr>
                        <a:t> Sensitive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03830" marR="5080" indent="-169291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Additional Concepts and </a:t>
            </a:r>
            <a:r>
              <a:rPr spc="-1085" dirty="0"/>
              <a:t> </a:t>
            </a:r>
            <a:r>
              <a:rPr spc="-5" dirty="0"/>
              <a:t>Processes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01011"/>
            <a:ext cx="7363459" cy="3615054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88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Programmable Interrupt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Controller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8259 A</a:t>
            </a:r>
            <a:endParaRPr sz="32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90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programmable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interrupt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managing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device</a:t>
            </a:r>
            <a:endParaRPr sz="2800">
              <a:latin typeface="Times New Roman"/>
              <a:cs typeface="Times New Roman"/>
            </a:endParaRPr>
          </a:p>
          <a:p>
            <a:pPr marL="1155700" lvl="2" indent="-229235">
              <a:lnSpc>
                <a:spcPct val="100000"/>
              </a:lnSpc>
              <a:spcBef>
                <a:spcPts val="585"/>
              </a:spcBef>
              <a:buChar char="•"/>
              <a:tabLst>
                <a:tab pos="1155700" algn="l"/>
              </a:tabLst>
            </a:pPr>
            <a:r>
              <a:rPr sz="2400" spc="-5" dirty="0">
                <a:latin typeface="Times New Roman"/>
                <a:cs typeface="Times New Roman"/>
              </a:rPr>
              <a:t>It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manages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8 </a:t>
            </a:r>
            <a:r>
              <a:rPr sz="2400" spc="-5" dirty="0">
                <a:latin typeface="Times New Roman"/>
                <a:cs typeface="Times New Roman"/>
              </a:rPr>
              <a:t>interrupt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requests.</a:t>
            </a:r>
            <a:endParaRPr sz="2400">
              <a:latin typeface="Times New Roman"/>
              <a:cs typeface="Times New Roman"/>
            </a:endParaRPr>
          </a:p>
          <a:p>
            <a:pPr marL="1155065" marR="527685" lvl="2" indent="-228600">
              <a:lnSpc>
                <a:spcPct val="100000"/>
              </a:lnSpc>
              <a:spcBef>
                <a:spcPts val="575"/>
              </a:spcBef>
              <a:buChar char="•"/>
              <a:tabLst>
                <a:tab pos="1155700" algn="l"/>
              </a:tabLst>
            </a:pPr>
            <a:r>
              <a:rPr sz="2400" spc="-5" dirty="0">
                <a:latin typeface="Times New Roman"/>
                <a:cs typeface="Times New Roman"/>
              </a:rPr>
              <a:t>It </a:t>
            </a:r>
            <a:r>
              <a:rPr sz="2400" dirty="0">
                <a:latin typeface="Times New Roman"/>
                <a:cs typeface="Times New Roman"/>
              </a:rPr>
              <a:t>can </a:t>
            </a:r>
            <a:r>
              <a:rPr sz="2400" spc="-5" dirty="0">
                <a:latin typeface="Times New Roman"/>
                <a:cs typeface="Times New Roman"/>
              </a:rPr>
              <a:t>vector </a:t>
            </a:r>
            <a:r>
              <a:rPr sz="2400" dirty="0">
                <a:latin typeface="Times New Roman"/>
                <a:cs typeface="Times New Roman"/>
              </a:rPr>
              <a:t>an </a:t>
            </a:r>
            <a:r>
              <a:rPr sz="2400" spc="-5" dirty="0">
                <a:latin typeface="Times New Roman"/>
                <a:cs typeface="Times New Roman"/>
              </a:rPr>
              <a:t>interrupt 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anywhere </a:t>
            </a:r>
            <a:r>
              <a:rPr sz="2400" spc="-5" dirty="0">
                <a:latin typeface="Times New Roman"/>
                <a:cs typeface="Times New Roman"/>
              </a:rPr>
              <a:t>in memory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without</a:t>
            </a:r>
            <a:r>
              <a:rPr sz="2400" spc="-2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additional</a:t>
            </a:r>
            <a:r>
              <a:rPr sz="2400" spc="-3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990000"/>
                </a:solidFill>
                <a:latin typeface="Times New Roman"/>
                <a:cs typeface="Times New Roman"/>
              </a:rPr>
              <a:t>H/W</a:t>
            </a:r>
            <a:r>
              <a:rPr sz="24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Char char="•"/>
              <a:tabLst>
                <a:tab pos="1155700" algn="l"/>
              </a:tabLst>
            </a:pPr>
            <a:r>
              <a:rPr sz="2400" spc="-5" dirty="0">
                <a:latin typeface="Times New Roman"/>
                <a:cs typeface="Times New Roman"/>
              </a:rPr>
              <a:t>It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support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990000"/>
                </a:solidFill>
                <a:latin typeface="Times New Roman"/>
                <a:cs typeface="Times New Roman"/>
              </a:rPr>
              <a:t>8 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levels</a:t>
            </a:r>
            <a:r>
              <a:rPr sz="2400" spc="-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interrupt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priorities</a:t>
            </a:r>
            <a:r>
              <a:rPr sz="2400" spc="-5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1155065" marR="231775" lvl="2" indent="-228600">
              <a:lnSpc>
                <a:spcPct val="100000"/>
              </a:lnSpc>
              <a:spcBef>
                <a:spcPts val="575"/>
              </a:spcBef>
              <a:buChar char="•"/>
              <a:tabLst>
                <a:tab pos="1155700" algn="l"/>
              </a:tabLst>
            </a:pPr>
            <a:r>
              <a:rPr sz="2400" spc="-5" dirty="0">
                <a:latin typeface="Times New Roman"/>
                <a:cs typeface="Times New Roman"/>
              </a:rPr>
              <a:t>The priority scheme </a:t>
            </a:r>
            <a:r>
              <a:rPr sz="2400" dirty="0">
                <a:solidFill>
                  <a:srgbClr val="990000"/>
                </a:solidFill>
                <a:latin typeface="Times New Roman"/>
                <a:cs typeface="Times New Roman"/>
              </a:rPr>
              <a:t>can be 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extended to </a:t>
            </a:r>
            <a:r>
              <a:rPr sz="2400" dirty="0">
                <a:solidFill>
                  <a:srgbClr val="990000"/>
                </a:solidFill>
                <a:latin typeface="Times New Roman"/>
                <a:cs typeface="Times New Roman"/>
              </a:rPr>
              <a:t>64 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levels </a:t>
            </a:r>
            <a:r>
              <a:rPr sz="2400" spc="-58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using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 hierarchy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0f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8259 </a:t>
            </a:r>
            <a:r>
              <a:rPr sz="2400" spc="-5" dirty="0">
                <a:latin typeface="Times New Roman"/>
                <a:cs typeface="Times New Roman"/>
              </a:rPr>
              <a:t>device.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8958" y="814069"/>
            <a:ext cx="548640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The</a:t>
            </a:r>
            <a:r>
              <a:rPr spc="-25" dirty="0"/>
              <a:t> </a:t>
            </a:r>
            <a:r>
              <a:rPr spc="-5" dirty="0"/>
              <a:t>Need</a:t>
            </a:r>
            <a:r>
              <a:rPr spc="-10" dirty="0"/>
              <a:t> </a:t>
            </a:r>
            <a:r>
              <a:rPr spc="-5" dirty="0"/>
              <a:t>for</a:t>
            </a:r>
            <a:r>
              <a:rPr spc="-15" dirty="0"/>
              <a:t> </a:t>
            </a:r>
            <a:r>
              <a:rPr spc="-5" dirty="0"/>
              <a:t>the</a:t>
            </a:r>
            <a:r>
              <a:rPr spc="-15" dirty="0"/>
              <a:t> </a:t>
            </a:r>
            <a:r>
              <a:rPr spc="-5" dirty="0"/>
              <a:t>8259A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marR="5080" indent="-343535">
              <a:lnSpc>
                <a:spcPts val="3020"/>
              </a:lnSpc>
              <a:spcBef>
                <a:spcPts val="484"/>
              </a:spcBef>
              <a:buChar char="•"/>
              <a:tabLst>
                <a:tab pos="355600" algn="l"/>
                <a:tab pos="356235" algn="l"/>
              </a:tabLst>
            </a:pPr>
            <a:r>
              <a:rPr spc="-5" dirty="0"/>
              <a:t>The </a:t>
            </a:r>
            <a:r>
              <a:rPr dirty="0"/>
              <a:t>8085 </a:t>
            </a:r>
            <a:r>
              <a:rPr spc="-5" dirty="0"/>
              <a:t>INTR </a:t>
            </a:r>
            <a:r>
              <a:rPr dirty="0"/>
              <a:t>interrupt </a:t>
            </a:r>
            <a:r>
              <a:rPr spc="-5" dirty="0"/>
              <a:t>scheme presented earlier </a:t>
            </a:r>
            <a:r>
              <a:rPr spc="-690" dirty="0"/>
              <a:t> </a:t>
            </a:r>
            <a:r>
              <a:rPr spc="-5" dirty="0"/>
              <a:t>has</a:t>
            </a:r>
            <a:r>
              <a:rPr spc="-20" dirty="0"/>
              <a:t> </a:t>
            </a:r>
            <a:r>
              <a:rPr dirty="0"/>
              <a:t>a</a:t>
            </a:r>
            <a:r>
              <a:rPr spc="-15" dirty="0"/>
              <a:t> </a:t>
            </a:r>
            <a:r>
              <a:rPr spc="-5" dirty="0"/>
              <a:t>few</a:t>
            </a:r>
            <a:r>
              <a:rPr dirty="0"/>
              <a:t> </a:t>
            </a:r>
            <a:r>
              <a:rPr spc="-5" dirty="0"/>
              <a:t>limitations:</a:t>
            </a:r>
          </a:p>
          <a:p>
            <a:pPr marL="755650" marR="177165" lvl="1" indent="-286385">
              <a:lnSpc>
                <a:spcPts val="2590"/>
              </a:lnSpc>
              <a:spcBef>
                <a:spcPts val="585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The RST instructions are all vectored to memory </a:t>
            </a:r>
            <a:r>
              <a:rPr sz="2400" dirty="0">
                <a:solidFill>
                  <a:srgbClr val="990000"/>
                </a:solidFill>
                <a:latin typeface="Times New Roman"/>
                <a:cs typeface="Times New Roman"/>
              </a:rPr>
              <a:t>page </a:t>
            </a:r>
            <a:r>
              <a:rPr sz="2400" spc="-58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00H</a:t>
            </a:r>
            <a:r>
              <a:rPr sz="2400" spc="-5" dirty="0">
                <a:latin typeface="Times New Roman"/>
                <a:cs typeface="Times New Roman"/>
              </a:rPr>
              <a:t>, which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 usually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used</a:t>
            </a:r>
            <a:r>
              <a:rPr sz="2400" spc="-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for</a:t>
            </a:r>
            <a:r>
              <a:rPr sz="2400" dirty="0">
                <a:solidFill>
                  <a:srgbClr val="990000"/>
                </a:solidFill>
                <a:latin typeface="Times New Roman"/>
                <a:cs typeface="Times New Roman"/>
              </a:rPr>
              <a:t> ROM</a:t>
            </a:r>
            <a:r>
              <a:rPr sz="24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755650" marR="589280" lvl="1" indent="-286385">
              <a:lnSpc>
                <a:spcPts val="2590"/>
              </a:lnSpc>
              <a:spcBef>
                <a:spcPts val="580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It requires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additional</a:t>
            </a:r>
            <a:r>
              <a:rPr sz="2400" spc="-2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hardware</a:t>
            </a:r>
            <a:r>
              <a:rPr sz="2400" spc="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to produce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 RST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instruction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opcodes.</a:t>
            </a:r>
            <a:endParaRPr sz="24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254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spc="-5" dirty="0">
                <a:latin typeface="Times New Roman"/>
                <a:cs typeface="Times New Roman"/>
              </a:rPr>
              <a:t>Priorities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set</a:t>
            </a:r>
            <a:r>
              <a:rPr sz="2400" spc="-2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990000"/>
                </a:solidFill>
                <a:latin typeface="Times New Roman"/>
                <a:cs typeface="Times New Roman"/>
              </a:rPr>
              <a:t>by</a:t>
            </a:r>
            <a:r>
              <a:rPr sz="2400" spc="-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990000"/>
                </a:solidFill>
                <a:latin typeface="Times New Roman"/>
                <a:cs typeface="Times New Roman"/>
              </a:rPr>
              <a:t>hardware</a:t>
            </a:r>
            <a:r>
              <a:rPr sz="24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Font typeface="Times New Roman"/>
              <a:buChar char="–"/>
            </a:pPr>
            <a:endParaRPr sz="3350"/>
          </a:p>
          <a:p>
            <a:pPr marL="355600" marR="155575" indent="-342900">
              <a:lnSpc>
                <a:spcPts val="3020"/>
              </a:lnSpc>
              <a:spcBef>
                <a:spcPts val="5"/>
              </a:spcBef>
              <a:buChar char="•"/>
              <a:tabLst>
                <a:tab pos="354965" algn="l"/>
                <a:tab pos="355600" algn="l"/>
              </a:tabLst>
            </a:pPr>
            <a:r>
              <a:rPr spc="-5" dirty="0"/>
              <a:t>Therefore, </a:t>
            </a:r>
            <a:r>
              <a:rPr dirty="0"/>
              <a:t>we </a:t>
            </a:r>
            <a:r>
              <a:rPr spc="-5" dirty="0"/>
              <a:t>need </a:t>
            </a:r>
            <a:r>
              <a:rPr dirty="0"/>
              <a:t>a </a:t>
            </a:r>
            <a:r>
              <a:rPr spc="-5" dirty="0"/>
              <a:t>device </a:t>
            </a:r>
            <a:r>
              <a:rPr dirty="0"/>
              <a:t>like the 8259A to </a:t>
            </a:r>
            <a:r>
              <a:rPr spc="5" dirty="0"/>
              <a:t> </a:t>
            </a:r>
            <a:r>
              <a:rPr spc="-5" dirty="0"/>
              <a:t>expand</a:t>
            </a:r>
            <a:r>
              <a:rPr spc="-25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priority</a:t>
            </a:r>
            <a:r>
              <a:rPr spc="-15" dirty="0"/>
              <a:t> </a:t>
            </a:r>
            <a:r>
              <a:rPr spc="-5" dirty="0"/>
              <a:t>scheme</a:t>
            </a:r>
            <a:r>
              <a:rPr spc="-35" dirty="0"/>
              <a:t> </a:t>
            </a:r>
            <a:r>
              <a:rPr spc="-5" dirty="0"/>
              <a:t>and allow</a:t>
            </a:r>
            <a:r>
              <a:rPr spc="-15" dirty="0"/>
              <a:t> </a:t>
            </a:r>
            <a:r>
              <a:rPr spc="-5" dirty="0"/>
              <a:t>mapping</a:t>
            </a:r>
            <a:r>
              <a:rPr spc="-25" dirty="0"/>
              <a:t> </a:t>
            </a:r>
            <a:r>
              <a:rPr dirty="0"/>
              <a:t>to </a:t>
            </a:r>
            <a:r>
              <a:rPr spc="-685" dirty="0"/>
              <a:t> </a:t>
            </a:r>
            <a:r>
              <a:rPr spc="-5" dirty="0"/>
              <a:t>pages</a:t>
            </a:r>
            <a:r>
              <a:rPr spc="-30" dirty="0"/>
              <a:t> </a:t>
            </a:r>
            <a:r>
              <a:rPr spc="-5" dirty="0"/>
              <a:t>other</a:t>
            </a:r>
            <a:r>
              <a:rPr spc="-15" dirty="0"/>
              <a:t> </a:t>
            </a:r>
            <a:r>
              <a:rPr spc="-5" dirty="0"/>
              <a:t>than</a:t>
            </a:r>
            <a:r>
              <a:rPr spc="-10" dirty="0"/>
              <a:t> </a:t>
            </a:r>
            <a:r>
              <a:rPr dirty="0"/>
              <a:t>00H.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5206" y="433069"/>
            <a:ext cx="761365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Interfacing</a:t>
            </a:r>
            <a:r>
              <a:rPr spc="-15" dirty="0"/>
              <a:t> </a:t>
            </a:r>
            <a:r>
              <a:rPr spc="-5" dirty="0"/>
              <a:t>the 8259A</a:t>
            </a:r>
            <a:r>
              <a:rPr spc="-10" dirty="0"/>
              <a:t> </a:t>
            </a:r>
            <a:r>
              <a:rPr spc="-5" dirty="0"/>
              <a:t>to</a:t>
            </a:r>
            <a:r>
              <a:rPr dirty="0"/>
              <a:t> </a:t>
            </a:r>
            <a:r>
              <a:rPr spc="-5" dirty="0"/>
              <a:t>the 8085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85912" y="1370012"/>
            <a:ext cx="701675" cy="405130"/>
          </a:xfrm>
          <a:prstGeom prst="rect">
            <a:avLst/>
          </a:prstGeom>
          <a:solidFill>
            <a:srgbClr val="FFFFCC"/>
          </a:solidFill>
          <a:ln w="12700">
            <a:solidFill>
              <a:srgbClr val="000000"/>
            </a:solidFill>
          </a:ln>
        </p:spPr>
        <p:txBody>
          <a:bodyPr vert="horz" wrap="square" lIns="0" tIns="106045" rIns="0" bIns="0" rtlCol="0">
            <a:spAutoFit/>
          </a:bodyPr>
          <a:lstStyle/>
          <a:p>
            <a:pPr marL="135890">
              <a:lnSpc>
                <a:spcPct val="100000"/>
              </a:lnSpc>
              <a:spcBef>
                <a:spcPts val="835"/>
              </a:spcBef>
            </a:pPr>
            <a:r>
              <a:rPr sz="1200" spc="-25" dirty="0">
                <a:latin typeface="Arial MT"/>
                <a:cs typeface="Arial MT"/>
              </a:rPr>
              <a:t>Dev.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7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85912" y="1955800"/>
            <a:ext cx="701675" cy="405130"/>
          </a:xfrm>
          <a:prstGeom prst="rect">
            <a:avLst/>
          </a:prstGeom>
          <a:solidFill>
            <a:srgbClr val="FFFFCC"/>
          </a:solidFill>
          <a:ln w="12700">
            <a:solidFill>
              <a:srgbClr val="000000"/>
            </a:solidFill>
          </a:ln>
        </p:spPr>
        <p:txBody>
          <a:bodyPr vert="horz" wrap="square" lIns="0" tIns="106045" rIns="0" bIns="0" rtlCol="0">
            <a:spAutoFit/>
          </a:bodyPr>
          <a:lstStyle/>
          <a:p>
            <a:pPr marL="135890">
              <a:lnSpc>
                <a:spcPct val="100000"/>
              </a:lnSpc>
              <a:spcBef>
                <a:spcPts val="835"/>
              </a:spcBef>
            </a:pPr>
            <a:r>
              <a:rPr sz="1200" spc="-25" dirty="0">
                <a:latin typeface="Arial MT"/>
                <a:cs typeface="Arial MT"/>
              </a:rPr>
              <a:t>Dev.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6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85912" y="2541587"/>
            <a:ext cx="701675" cy="405130"/>
          </a:xfrm>
          <a:prstGeom prst="rect">
            <a:avLst/>
          </a:prstGeom>
          <a:solidFill>
            <a:srgbClr val="FFFFCC"/>
          </a:solidFill>
          <a:ln w="12700">
            <a:solidFill>
              <a:srgbClr val="000000"/>
            </a:solidFill>
          </a:ln>
        </p:spPr>
        <p:txBody>
          <a:bodyPr vert="horz" wrap="square" lIns="0" tIns="106045" rIns="0" bIns="0" rtlCol="0">
            <a:spAutoFit/>
          </a:bodyPr>
          <a:lstStyle/>
          <a:p>
            <a:pPr marL="135890">
              <a:lnSpc>
                <a:spcPct val="100000"/>
              </a:lnSpc>
              <a:spcBef>
                <a:spcPts val="835"/>
              </a:spcBef>
            </a:pPr>
            <a:r>
              <a:rPr sz="1200" spc="-25" dirty="0">
                <a:latin typeface="Arial MT"/>
                <a:cs typeface="Arial MT"/>
              </a:rPr>
              <a:t>Dev.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85912" y="3127375"/>
            <a:ext cx="701675" cy="394970"/>
          </a:xfrm>
          <a:prstGeom prst="rect">
            <a:avLst/>
          </a:prstGeom>
          <a:solidFill>
            <a:srgbClr val="FFFFCC"/>
          </a:solidFill>
          <a:ln w="12700">
            <a:solidFill>
              <a:srgbClr val="000000"/>
            </a:solidFill>
          </a:ln>
        </p:spPr>
        <p:txBody>
          <a:bodyPr vert="horz" wrap="square" lIns="0" tIns="106045" rIns="0" bIns="0" rtlCol="0">
            <a:spAutoFit/>
          </a:bodyPr>
          <a:lstStyle/>
          <a:p>
            <a:pPr marL="135890">
              <a:lnSpc>
                <a:spcPct val="100000"/>
              </a:lnSpc>
              <a:spcBef>
                <a:spcPts val="835"/>
              </a:spcBef>
            </a:pPr>
            <a:r>
              <a:rPr sz="1200" spc="-25" dirty="0">
                <a:latin typeface="Arial MT"/>
                <a:cs typeface="Arial MT"/>
              </a:rPr>
              <a:t>Dev.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4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85912" y="3713162"/>
            <a:ext cx="701675" cy="405130"/>
          </a:xfrm>
          <a:prstGeom prst="rect">
            <a:avLst/>
          </a:prstGeom>
          <a:solidFill>
            <a:srgbClr val="FFFFCC"/>
          </a:solidFill>
          <a:ln w="12700">
            <a:solidFill>
              <a:srgbClr val="000000"/>
            </a:solidFill>
          </a:ln>
        </p:spPr>
        <p:txBody>
          <a:bodyPr vert="horz" wrap="square" lIns="0" tIns="106045" rIns="0" bIns="0" rtlCol="0">
            <a:spAutoFit/>
          </a:bodyPr>
          <a:lstStyle/>
          <a:p>
            <a:pPr marL="135890">
              <a:lnSpc>
                <a:spcPct val="100000"/>
              </a:lnSpc>
              <a:spcBef>
                <a:spcPts val="835"/>
              </a:spcBef>
            </a:pPr>
            <a:r>
              <a:rPr sz="1200" spc="-25" dirty="0">
                <a:latin typeface="Arial MT"/>
                <a:cs typeface="Arial MT"/>
              </a:rPr>
              <a:t>Dev.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3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85912" y="4298950"/>
            <a:ext cx="701675" cy="405130"/>
          </a:xfrm>
          <a:prstGeom prst="rect">
            <a:avLst/>
          </a:prstGeom>
          <a:solidFill>
            <a:srgbClr val="FFFFCC"/>
          </a:solidFill>
          <a:ln w="12700">
            <a:solidFill>
              <a:srgbClr val="000000"/>
            </a:solidFill>
          </a:ln>
        </p:spPr>
        <p:txBody>
          <a:bodyPr vert="horz" wrap="square" lIns="0" tIns="106045" rIns="0" bIns="0" rtlCol="0">
            <a:spAutoFit/>
          </a:bodyPr>
          <a:lstStyle/>
          <a:p>
            <a:pPr marL="135890">
              <a:lnSpc>
                <a:spcPct val="100000"/>
              </a:lnSpc>
              <a:spcBef>
                <a:spcPts val="835"/>
              </a:spcBef>
            </a:pPr>
            <a:r>
              <a:rPr sz="1200" spc="-25" dirty="0">
                <a:latin typeface="Arial MT"/>
                <a:cs typeface="Arial MT"/>
              </a:rPr>
              <a:t>Dev.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85912" y="4884737"/>
            <a:ext cx="701675" cy="405130"/>
          </a:xfrm>
          <a:prstGeom prst="rect">
            <a:avLst/>
          </a:prstGeom>
          <a:solidFill>
            <a:srgbClr val="FFFFCC"/>
          </a:solidFill>
          <a:ln w="12700">
            <a:solidFill>
              <a:srgbClr val="000000"/>
            </a:solidFill>
          </a:ln>
        </p:spPr>
        <p:txBody>
          <a:bodyPr vert="horz" wrap="square" lIns="0" tIns="106045" rIns="0" bIns="0" rtlCol="0">
            <a:spAutoFit/>
          </a:bodyPr>
          <a:lstStyle/>
          <a:p>
            <a:pPr marL="135890">
              <a:lnSpc>
                <a:spcPct val="100000"/>
              </a:lnSpc>
              <a:spcBef>
                <a:spcPts val="835"/>
              </a:spcBef>
            </a:pPr>
            <a:r>
              <a:rPr sz="1200" spc="-25" dirty="0">
                <a:latin typeface="Arial MT"/>
                <a:cs typeface="Arial MT"/>
              </a:rPr>
              <a:t>Dev.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85912" y="5470525"/>
            <a:ext cx="701675" cy="405130"/>
          </a:xfrm>
          <a:prstGeom prst="rect">
            <a:avLst/>
          </a:prstGeom>
          <a:solidFill>
            <a:srgbClr val="FFFFCC"/>
          </a:solidFill>
          <a:ln w="12700">
            <a:solidFill>
              <a:srgbClr val="000000"/>
            </a:solidFill>
          </a:ln>
        </p:spPr>
        <p:txBody>
          <a:bodyPr vert="horz" wrap="square" lIns="0" tIns="106045" rIns="0" bIns="0" rtlCol="0">
            <a:spAutoFit/>
          </a:bodyPr>
          <a:lstStyle/>
          <a:p>
            <a:pPr marL="135890">
              <a:lnSpc>
                <a:spcPct val="100000"/>
              </a:lnSpc>
              <a:spcBef>
                <a:spcPts val="835"/>
              </a:spcBef>
            </a:pPr>
            <a:r>
              <a:rPr sz="1200" spc="-25" dirty="0">
                <a:latin typeface="Arial MT"/>
                <a:cs typeface="Arial MT"/>
              </a:rPr>
              <a:t>Dev.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0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525837" y="2416175"/>
            <a:ext cx="771525" cy="2514600"/>
            <a:chOff x="3525837" y="2416175"/>
            <a:chExt cx="771525" cy="2514600"/>
          </a:xfrm>
        </p:grpSpPr>
        <p:sp>
          <p:nvSpPr>
            <p:cNvPr id="12" name="object 12"/>
            <p:cNvSpPr/>
            <p:nvPr/>
          </p:nvSpPr>
          <p:spPr>
            <a:xfrm>
              <a:off x="3532187" y="2422525"/>
              <a:ext cx="758825" cy="2501900"/>
            </a:xfrm>
            <a:custGeom>
              <a:avLst/>
              <a:gdLst/>
              <a:ahLst/>
              <a:cxnLst/>
              <a:rect l="l" t="t" r="r" b="b"/>
              <a:pathLst>
                <a:path w="758825" h="2501900">
                  <a:moveTo>
                    <a:pt x="758825" y="0"/>
                  </a:moveTo>
                  <a:lnTo>
                    <a:pt x="0" y="0"/>
                  </a:lnTo>
                  <a:lnTo>
                    <a:pt x="0" y="2501900"/>
                  </a:lnTo>
                  <a:lnTo>
                    <a:pt x="758825" y="2501900"/>
                  </a:lnTo>
                  <a:lnTo>
                    <a:pt x="758825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532187" y="2422525"/>
              <a:ext cx="758825" cy="2501900"/>
            </a:xfrm>
            <a:custGeom>
              <a:avLst/>
              <a:gdLst/>
              <a:ahLst/>
              <a:cxnLst/>
              <a:rect l="l" t="t" r="r" b="b"/>
              <a:pathLst>
                <a:path w="758825" h="2501900">
                  <a:moveTo>
                    <a:pt x="0" y="0"/>
                  </a:moveTo>
                  <a:lnTo>
                    <a:pt x="758825" y="0"/>
                  </a:lnTo>
                  <a:lnTo>
                    <a:pt x="758825" y="2501900"/>
                  </a:lnTo>
                  <a:lnTo>
                    <a:pt x="0" y="25019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827000" y="2891917"/>
            <a:ext cx="182245" cy="1549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Arial MT"/>
                <a:cs typeface="Arial MT"/>
              </a:rPr>
              <a:t>8</a:t>
            </a:r>
            <a:endParaRPr sz="2000">
              <a:latin typeface="Arial MT"/>
              <a:cs typeface="Arial MT"/>
            </a:endParaRPr>
          </a:p>
          <a:p>
            <a:pPr marL="13335">
              <a:lnSpc>
                <a:spcPct val="100000"/>
              </a:lnSpc>
            </a:pPr>
            <a:r>
              <a:rPr sz="2000" spc="-5" dirty="0">
                <a:latin typeface="Arial MT"/>
                <a:cs typeface="Arial MT"/>
              </a:rPr>
              <a:t>2</a:t>
            </a:r>
            <a:endParaRPr sz="2000">
              <a:latin typeface="Arial MT"/>
              <a:cs typeface="Arial MT"/>
            </a:endParaRPr>
          </a:p>
          <a:p>
            <a:pPr marL="13335">
              <a:lnSpc>
                <a:spcPct val="100000"/>
              </a:lnSpc>
            </a:pPr>
            <a:r>
              <a:rPr sz="2000" spc="-5" dirty="0">
                <a:latin typeface="Arial MT"/>
                <a:cs typeface="Arial MT"/>
              </a:rPr>
              <a:t>5</a:t>
            </a:r>
            <a:endParaRPr sz="2000">
              <a:latin typeface="Arial MT"/>
              <a:cs typeface="Arial MT"/>
            </a:endParaRPr>
          </a:p>
          <a:p>
            <a:pPr marL="13335">
              <a:lnSpc>
                <a:spcPct val="100000"/>
              </a:lnSpc>
            </a:pPr>
            <a:r>
              <a:rPr sz="2000" spc="-5" dirty="0">
                <a:latin typeface="Arial MT"/>
                <a:cs typeface="Arial MT"/>
              </a:rPr>
              <a:t>9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r>
              <a:rPr sz="2000" spc="-5" dirty="0">
                <a:latin typeface="Arial MT"/>
                <a:cs typeface="Arial MT"/>
              </a:rPr>
              <a:t>A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332537" y="2301875"/>
            <a:ext cx="1247775" cy="2745105"/>
            <a:chOff x="6332537" y="2301875"/>
            <a:chExt cx="1247775" cy="2745105"/>
          </a:xfrm>
        </p:grpSpPr>
        <p:sp>
          <p:nvSpPr>
            <p:cNvPr id="16" name="object 16"/>
            <p:cNvSpPr/>
            <p:nvPr/>
          </p:nvSpPr>
          <p:spPr>
            <a:xfrm>
              <a:off x="6338887" y="2308225"/>
              <a:ext cx="1235075" cy="2732405"/>
            </a:xfrm>
            <a:custGeom>
              <a:avLst/>
              <a:gdLst/>
              <a:ahLst/>
              <a:cxnLst/>
              <a:rect l="l" t="t" r="r" b="b"/>
              <a:pathLst>
                <a:path w="1235075" h="2732404">
                  <a:moveTo>
                    <a:pt x="1235075" y="0"/>
                  </a:moveTo>
                  <a:lnTo>
                    <a:pt x="0" y="0"/>
                  </a:lnTo>
                  <a:lnTo>
                    <a:pt x="0" y="2732087"/>
                  </a:lnTo>
                  <a:lnTo>
                    <a:pt x="1235075" y="2732087"/>
                  </a:lnTo>
                  <a:lnTo>
                    <a:pt x="1235075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338887" y="2308225"/>
              <a:ext cx="1235075" cy="2732405"/>
            </a:xfrm>
            <a:custGeom>
              <a:avLst/>
              <a:gdLst/>
              <a:ahLst/>
              <a:cxnLst/>
              <a:rect l="l" t="t" r="r" b="b"/>
              <a:pathLst>
                <a:path w="1235075" h="2732404">
                  <a:moveTo>
                    <a:pt x="0" y="0"/>
                  </a:moveTo>
                  <a:lnTo>
                    <a:pt x="1235075" y="0"/>
                  </a:lnTo>
                  <a:lnTo>
                    <a:pt x="1235075" y="2732087"/>
                  </a:lnTo>
                  <a:lnTo>
                    <a:pt x="0" y="2732087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871430" y="2921666"/>
            <a:ext cx="18224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8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0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8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5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279650" y="1541463"/>
            <a:ext cx="4079875" cy="4129404"/>
            <a:chOff x="2279650" y="1541463"/>
            <a:chExt cx="4079875" cy="4129404"/>
          </a:xfrm>
        </p:grpSpPr>
        <p:sp>
          <p:nvSpPr>
            <p:cNvPr id="20" name="object 20"/>
            <p:cNvSpPr/>
            <p:nvPr/>
          </p:nvSpPr>
          <p:spPr>
            <a:xfrm>
              <a:off x="4292600" y="3282949"/>
              <a:ext cx="2003425" cy="0"/>
            </a:xfrm>
            <a:custGeom>
              <a:avLst/>
              <a:gdLst/>
              <a:ahLst/>
              <a:cxnLst/>
              <a:rect l="l" t="t" r="r" b="b"/>
              <a:pathLst>
                <a:path w="2003425">
                  <a:moveTo>
                    <a:pt x="0" y="0"/>
                  </a:moveTo>
                  <a:lnTo>
                    <a:pt x="2003425" y="0"/>
                  </a:lnTo>
                </a:path>
              </a:pathLst>
            </a:custGeom>
            <a:ln w="12700">
              <a:solidFill>
                <a:srgbClr val="33CC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83327" y="324484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292600" y="3490912"/>
              <a:ext cx="1979930" cy="0"/>
            </a:xfrm>
            <a:custGeom>
              <a:avLst/>
              <a:gdLst/>
              <a:ahLst/>
              <a:cxnLst/>
              <a:rect l="l" t="t" r="r" b="b"/>
              <a:pathLst>
                <a:path w="1979929">
                  <a:moveTo>
                    <a:pt x="0" y="0"/>
                  </a:moveTo>
                  <a:lnTo>
                    <a:pt x="1979612" y="0"/>
                  </a:lnTo>
                </a:path>
              </a:pathLst>
            </a:custGeom>
            <a:ln w="12700">
              <a:solidFill>
                <a:srgbClr val="33CC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59515" y="345280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310062" y="3698874"/>
              <a:ext cx="1949450" cy="0"/>
            </a:xfrm>
            <a:custGeom>
              <a:avLst/>
              <a:gdLst/>
              <a:ahLst/>
              <a:cxnLst/>
              <a:rect l="l" t="t" r="r" b="b"/>
              <a:pathLst>
                <a:path w="1949450">
                  <a:moveTo>
                    <a:pt x="0" y="0"/>
                  </a:moveTo>
                  <a:lnTo>
                    <a:pt x="1949450" y="0"/>
                  </a:lnTo>
                </a:path>
              </a:pathLst>
            </a:custGeom>
            <a:ln w="12700">
              <a:solidFill>
                <a:srgbClr val="33CC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246815" y="366077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298950" y="3906837"/>
              <a:ext cx="1973580" cy="0"/>
            </a:xfrm>
            <a:custGeom>
              <a:avLst/>
              <a:gdLst/>
              <a:ahLst/>
              <a:cxnLst/>
              <a:rect l="l" t="t" r="r" b="b"/>
              <a:pathLst>
                <a:path w="1973579">
                  <a:moveTo>
                    <a:pt x="0" y="0"/>
                  </a:moveTo>
                  <a:lnTo>
                    <a:pt x="1973262" y="0"/>
                  </a:lnTo>
                </a:path>
              </a:pathLst>
            </a:custGeom>
            <a:ln w="12700">
              <a:solidFill>
                <a:srgbClr val="33CC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259515" y="386873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286250" y="4114799"/>
              <a:ext cx="1998980" cy="0"/>
            </a:xfrm>
            <a:custGeom>
              <a:avLst/>
              <a:gdLst/>
              <a:ahLst/>
              <a:cxnLst/>
              <a:rect l="l" t="t" r="r" b="b"/>
              <a:pathLst>
                <a:path w="1998979">
                  <a:moveTo>
                    <a:pt x="0" y="0"/>
                  </a:moveTo>
                  <a:lnTo>
                    <a:pt x="1998662" y="0"/>
                  </a:lnTo>
                </a:path>
              </a:pathLst>
            </a:custGeom>
            <a:ln w="12700">
              <a:solidFill>
                <a:srgbClr val="33CC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272215" y="40766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292600" y="4322762"/>
              <a:ext cx="1979930" cy="0"/>
            </a:xfrm>
            <a:custGeom>
              <a:avLst/>
              <a:gdLst/>
              <a:ahLst/>
              <a:cxnLst/>
              <a:rect l="l" t="t" r="r" b="b"/>
              <a:pathLst>
                <a:path w="1979929">
                  <a:moveTo>
                    <a:pt x="0" y="0"/>
                  </a:moveTo>
                  <a:lnTo>
                    <a:pt x="1979612" y="0"/>
                  </a:lnTo>
                </a:path>
              </a:pathLst>
            </a:custGeom>
            <a:ln w="12700">
              <a:solidFill>
                <a:srgbClr val="33CC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259515" y="428465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281487" y="4530724"/>
              <a:ext cx="1990725" cy="0"/>
            </a:xfrm>
            <a:custGeom>
              <a:avLst/>
              <a:gdLst/>
              <a:ahLst/>
              <a:cxnLst/>
              <a:rect l="l" t="t" r="r" b="b"/>
              <a:pathLst>
                <a:path w="1990725">
                  <a:moveTo>
                    <a:pt x="0" y="0"/>
                  </a:moveTo>
                  <a:lnTo>
                    <a:pt x="1990725" y="0"/>
                  </a:lnTo>
                </a:path>
              </a:pathLst>
            </a:custGeom>
            <a:ln w="12700">
              <a:solidFill>
                <a:srgbClr val="33CC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259515" y="449262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295776" y="2933700"/>
              <a:ext cx="1989455" cy="0"/>
            </a:xfrm>
            <a:custGeom>
              <a:avLst/>
              <a:gdLst/>
              <a:ahLst/>
              <a:cxnLst/>
              <a:rect l="l" t="t" r="r" b="b"/>
              <a:pathLst>
                <a:path w="1989454">
                  <a:moveTo>
                    <a:pt x="1989137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272215" y="28955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360862" y="2638425"/>
              <a:ext cx="1970405" cy="0"/>
            </a:xfrm>
            <a:custGeom>
              <a:avLst/>
              <a:gdLst/>
              <a:ahLst/>
              <a:cxnLst/>
              <a:rect l="l" t="t" r="r" b="b"/>
              <a:pathLst>
                <a:path w="1970404">
                  <a:moveTo>
                    <a:pt x="1970087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297365" y="260032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340100" y="2735263"/>
              <a:ext cx="127000" cy="0"/>
            </a:xfrm>
            <a:custGeom>
              <a:avLst/>
              <a:gdLst/>
              <a:ahLst/>
              <a:cxnLst/>
              <a:rect l="l" t="t" r="r" b="b"/>
              <a:pathLst>
                <a:path w="127000">
                  <a:moveTo>
                    <a:pt x="1270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454402" y="269715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259137" y="2994025"/>
              <a:ext cx="208279" cy="0"/>
            </a:xfrm>
            <a:custGeom>
              <a:avLst/>
              <a:gdLst/>
              <a:ahLst/>
              <a:cxnLst/>
              <a:rect l="l" t="t" r="r" b="b"/>
              <a:pathLst>
                <a:path w="208279">
                  <a:moveTo>
                    <a:pt x="207962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454402" y="295592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192462" y="3252787"/>
              <a:ext cx="274955" cy="0"/>
            </a:xfrm>
            <a:custGeom>
              <a:avLst/>
              <a:gdLst/>
              <a:ahLst/>
              <a:cxnLst/>
              <a:rect l="l" t="t" r="r" b="b"/>
              <a:pathLst>
                <a:path w="274954">
                  <a:moveTo>
                    <a:pt x="274637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454402" y="321468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124200" y="3511549"/>
              <a:ext cx="342900" cy="0"/>
            </a:xfrm>
            <a:custGeom>
              <a:avLst/>
              <a:gdLst/>
              <a:ahLst/>
              <a:cxnLst/>
              <a:rect l="l" t="t" r="r" b="b"/>
              <a:pathLst>
                <a:path w="342900">
                  <a:moveTo>
                    <a:pt x="3429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54402" y="347344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051175" y="3783012"/>
              <a:ext cx="415925" cy="0"/>
            </a:xfrm>
            <a:custGeom>
              <a:avLst/>
              <a:gdLst/>
              <a:ahLst/>
              <a:cxnLst/>
              <a:rect l="l" t="t" r="r" b="b"/>
              <a:pathLst>
                <a:path w="415925">
                  <a:moveTo>
                    <a:pt x="415925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454402" y="374490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019425" y="4054474"/>
              <a:ext cx="447675" cy="0"/>
            </a:xfrm>
            <a:custGeom>
              <a:avLst/>
              <a:gdLst/>
              <a:ahLst/>
              <a:cxnLst/>
              <a:rect l="l" t="t" r="r" b="b"/>
              <a:pathLst>
                <a:path w="447675">
                  <a:moveTo>
                    <a:pt x="447675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454402" y="401637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121025" y="4325937"/>
              <a:ext cx="346075" cy="0"/>
            </a:xfrm>
            <a:custGeom>
              <a:avLst/>
              <a:gdLst/>
              <a:ahLst/>
              <a:cxnLst/>
              <a:rect l="l" t="t" r="r" b="b"/>
              <a:pathLst>
                <a:path w="346075">
                  <a:moveTo>
                    <a:pt x="346075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454402" y="428783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244850" y="4597399"/>
              <a:ext cx="222250" cy="0"/>
            </a:xfrm>
            <a:custGeom>
              <a:avLst/>
              <a:gdLst/>
              <a:ahLst/>
              <a:cxnLst/>
              <a:rect l="l" t="t" r="r" b="b"/>
              <a:pathLst>
                <a:path w="222250">
                  <a:moveTo>
                    <a:pt x="22225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454402" y="45592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286000" y="4532312"/>
              <a:ext cx="742950" cy="0"/>
            </a:xfrm>
            <a:custGeom>
              <a:avLst/>
              <a:gdLst/>
              <a:ahLst/>
              <a:cxnLst/>
              <a:rect l="l" t="t" r="r" b="b"/>
              <a:pathLst>
                <a:path w="742950">
                  <a:moveTo>
                    <a:pt x="0" y="0"/>
                  </a:moveTo>
                  <a:lnTo>
                    <a:pt x="742950" y="0"/>
                  </a:lnTo>
                </a:path>
              </a:pathLst>
            </a:custGeom>
            <a:ln w="12700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286000" y="3940174"/>
              <a:ext cx="776605" cy="0"/>
            </a:xfrm>
            <a:custGeom>
              <a:avLst/>
              <a:gdLst/>
              <a:ahLst/>
              <a:cxnLst/>
              <a:rect l="l" t="t" r="r" b="b"/>
              <a:pathLst>
                <a:path w="776605">
                  <a:moveTo>
                    <a:pt x="0" y="0"/>
                  </a:moveTo>
                  <a:lnTo>
                    <a:pt x="776287" y="0"/>
                  </a:lnTo>
                </a:path>
              </a:pathLst>
            </a:custGeom>
            <a:ln w="12700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286000" y="3348037"/>
              <a:ext cx="841375" cy="0"/>
            </a:xfrm>
            <a:custGeom>
              <a:avLst/>
              <a:gdLst/>
              <a:ahLst/>
              <a:cxnLst/>
              <a:rect l="l" t="t" r="r" b="b"/>
              <a:pathLst>
                <a:path w="841375">
                  <a:moveTo>
                    <a:pt x="0" y="0"/>
                  </a:moveTo>
                  <a:lnTo>
                    <a:pt x="841375" y="0"/>
                  </a:lnTo>
                </a:path>
              </a:pathLst>
            </a:custGeom>
            <a:ln w="12700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2286000" y="2755900"/>
              <a:ext cx="911225" cy="0"/>
            </a:xfrm>
            <a:custGeom>
              <a:avLst/>
              <a:gdLst/>
              <a:ahLst/>
              <a:cxnLst/>
              <a:rect l="l" t="t" r="r" b="b"/>
              <a:pathLst>
                <a:path w="911225">
                  <a:moveTo>
                    <a:pt x="0" y="0"/>
                  </a:moveTo>
                  <a:lnTo>
                    <a:pt x="911225" y="0"/>
                  </a:lnTo>
                </a:path>
              </a:pathLst>
            </a:custGeom>
            <a:ln w="12700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2286000" y="5649913"/>
              <a:ext cx="949325" cy="0"/>
            </a:xfrm>
            <a:custGeom>
              <a:avLst/>
              <a:gdLst/>
              <a:ahLst/>
              <a:cxnLst/>
              <a:rect l="l" t="t" r="r" b="b"/>
              <a:pathLst>
                <a:path w="949325">
                  <a:moveTo>
                    <a:pt x="0" y="0"/>
                  </a:moveTo>
                  <a:lnTo>
                    <a:pt x="949325" y="0"/>
                  </a:lnTo>
                </a:path>
              </a:pathLst>
            </a:custGeom>
            <a:ln w="12700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235325" y="4610099"/>
              <a:ext cx="0" cy="1054100"/>
            </a:xfrm>
            <a:custGeom>
              <a:avLst/>
              <a:gdLst/>
              <a:ahLst/>
              <a:cxnLst/>
              <a:rect l="l" t="t" r="r" b="b"/>
              <a:pathLst>
                <a:path h="1054100">
                  <a:moveTo>
                    <a:pt x="0" y="0"/>
                  </a:moveTo>
                  <a:lnTo>
                    <a:pt x="0" y="1054100"/>
                  </a:lnTo>
                </a:path>
              </a:pathLst>
            </a:custGeom>
            <a:ln w="12700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2286000" y="5102225"/>
              <a:ext cx="849630" cy="0"/>
            </a:xfrm>
            <a:custGeom>
              <a:avLst/>
              <a:gdLst/>
              <a:ahLst/>
              <a:cxnLst/>
              <a:rect l="l" t="t" r="r" b="b"/>
              <a:pathLst>
                <a:path w="849630">
                  <a:moveTo>
                    <a:pt x="0" y="0"/>
                  </a:moveTo>
                  <a:lnTo>
                    <a:pt x="849312" y="0"/>
                  </a:lnTo>
                </a:path>
              </a:pathLst>
            </a:custGeom>
            <a:ln w="12700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127375" y="4317999"/>
              <a:ext cx="0" cy="776605"/>
            </a:xfrm>
            <a:custGeom>
              <a:avLst/>
              <a:gdLst/>
              <a:ahLst/>
              <a:cxnLst/>
              <a:rect l="l" t="t" r="r" b="b"/>
              <a:pathLst>
                <a:path h="776604">
                  <a:moveTo>
                    <a:pt x="0" y="776287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3046412" y="4052887"/>
              <a:ext cx="0" cy="484505"/>
            </a:xfrm>
            <a:custGeom>
              <a:avLst/>
              <a:gdLst/>
              <a:ahLst/>
              <a:cxnLst/>
              <a:rect l="l" t="t" r="r" b="b"/>
              <a:pathLst>
                <a:path h="484504">
                  <a:moveTo>
                    <a:pt x="0" y="0"/>
                  </a:moveTo>
                  <a:lnTo>
                    <a:pt x="0" y="484187"/>
                  </a:lnTo>
                </a:path>
              </a:pathLst>
            </a:custGeom>
            <a:ln w="12700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054350" y="3803649"/>
              <a:ext cx="0" cy="127000"/>
            </a:xfrm>
            <a:custGeom>
              <a:avLst/>
              <a:gdLst/>
              <a:ahLst/>
              <a:cxnLst/>
              <a:rect l="l" t="t" r="r" b="b"/>
              <a:pathLst>
                <a:path h="127000">
                  <a:moveTo>
                    <a:pt x="0" y="0"/>
                  </a:moveTo>
                  <a:lnTo>
                    <a:pt x="0" y="127000"/>
                  </a:lnTo>
                </a:path>
              </a:pathLst>
            </a:custGeom>
            <a:ln w="12700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3124200" y="3349624"/>
              <a:ext cx="0" cy="176530"/>
            </a:xfrm>
            <a:custGeom>
              <a:avLst/>
              <a:gdLst/>
              <a:ahLst/>
              <a:cxnLst/>
              <a:rect l="l" t="t" r="r" b="b"/>
              <a:pathLst>
                <a:path h="176529">
                  <a:moveTo>
                    <a:pt x="0" y="176212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3197225" y="2754312"/>
              <a:ext cx="0" cy="520700"/>
            </a:xfrm>
            <a:custGeom>
              <a:avLst/>
              <a:gdLst/>
              <a:ahLst/>
              <a:cxnLst/>
              <a:rect l="l" t="t" r="r" b="b"/>
              <a:pathLst>
                <a:path h="520700">
                  <a:moveTo>
                    <a:pt x="0" y="5207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2286000" y="2163763"/>
              <a:ext cx="973455" cy="0"/>
            </a:xfrm>
            <a:custGeom>
              <a:avLst/>
              <a:gdLst/>
              <a:ahLst/>
              <a:cxnLst/>
              <a:rect l="l" t="t" r="r" b="b"/>
              <a:pathLst>
                <a:path w="973454">
                  <a:moveTo>
                    <a:pt x="0" y="0"/>
                  </a:moveTo>
                  <a:lnTo>
                    <a:pt x="973137" y="0"/>
                  </a:lnTo>
                </a:path>
              </a:pathLst>
            </a:custGeom>
            <a:ln w="12700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3271837" y="2160587"/>
              <a:ext cx="0" cy="824230"/>
            </a:xfrm>
            <a:custGeom>
              <a:avLst/>
              <a:gdLst/>
              <a:ahLst/>
              <a:cxnLst/>
              <a:rect l="l" t="t" r="r" b="b"/>
              <a:pathLst>
                <a:path h="824230">
                  <a:moveTo>
                    <a:pt x="0" y="823912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2286000" y="1571624"/>
              <a:ext cx="1059180" cy="0"/>
            </a:xfrm>
            <a:custGeom>
              <a:avLst/>
              <a:gdLst/>
              <a:ahLst/>
              <a:cxnLst/>
              <a:rect l="l" t="t" r="r" b="b"/>
              <a:pathLst>
                <a:path w="1059179">
                  <a:moveTo>
                    <a:pt x="0" y="0"/>
                  </a:moveTo>
                  <a:lnTo>
                    <a:pt x="1058862" y="0"/>
                  </a:lnTo>
                </a:path>
              </a:pathLst>
            </a:custGeom>
            <a:ln w="12700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3346450" y="1547813"/>
              <a:ext cx="0" cy="1158875"/>
            </a:xfrm>
            <a:custGeom>
              <a:avLst/>
              <a:gdLst/>
              <a:ahLst/>
              <a:cxnLst/>
              <a:rect l="l" t="t" r="r" b="b"/>
              <a:pathLst>
                <a:path h="1158875">
                  <a:moveTo>
                    <a:pt x="0" y="1158875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6392227" y="2535111"/>
            <a:ext cx="337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I</a:t>
            </a:r>
            <a:r>
              <a:rPr sz="1200" spc="-10" dirty="0">
                <a:latin typeface="Arial MT"/>
                <a:cs typeface="Arial MT"/>
              </a:rPr>
              <a:t>N</a:t>
            </a:r>
            <a:r>
              <a:rPr sz="1200" spc="-95" dirty="0">
                <a:latin typeface="Arial MT"/>
                <a:cs typeface="Arial MT"/>
              </a:rPr>
              <a:t>TA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6392227" y="2822385"/>
            <a:ext cx="368300" cy="1982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I</a:t>
            </a:r>
            <a:r>
              <a:rPr sz="1200" spc="-5" dirty="0">
                <a:latin typeface="Arial MT"/>
                <a:cs typeface="Arial MT"/>
              </a:rPr>
              <a:t>NTR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50">
              <a:latin typeface="Arial MT"/>
              <a:cs typeface="Arial MT"/>
            </a:endParaRPr>
          </a:p>
          <a:p>
            <a:pPr marR="64135" algn="just">
              <a:lnSpc>
                <a:spcPct val="112500"/>
              </a:lnSpc>
            </a:pPr>
            <a:r>
              <a:rPr sz="1200" spc="-10" dirty="0">
                <a:latin typeface="Arial MT"/>
                <a:cs typeface="Arial MT"/>
              </a:rPr>
              <a:t>AD</a:t>
            </a:r>
            <a:r>
              <a:rPr sz="1200" spc="-5" dirty="0">
                <a:latin typeface="Arial MT"/>
                <a:cs typeface="Arial MT"/>
              </a:rPr>
              <a:t>7  </a:t>
            </a:r>
            <a:r>
              <a:rPr sz="1200" spc="-10" dirty="0">
                <a:latin typeface="Arial MT"/>
                <a:cs typeface="Arial MT"/>
              </a:rPr>
              <a:t>AD</a:t>
            </a:r>
            <a:r>
              <a:rPr sz="1200" spc="-5" dirty="0">
                <a:latin typeface="Arial MT"/>
                <a:cs typeface="Arial MT"/>
              </a:rPr>
              <a:t>6  </a:t>
            </a:r>
            <a:r>
              <a:rPr sz="1200" spc="-10" dirty="0">
                <a:latin typeface="Arial MT"/>
                <a:cs typeface="Arial MT"/>
              </a:rPr>
              <a:t>AD</a:t>
            </a:r>
            <a:r>
              <a:rPr sz="1200" spc="-5" dirty="0">
                <a:latin typeface="Arial MT"/>
                <a:cs typeface="Arial MT"/>
              </a:rPr>
              <a:t>5  </a:t>
            </a:r>
            <a:r>
              <a:rPr sz="1200" spc="-10" dirty="0">
                <a:latin typeface="Arial MT"/>
                <a:cs typeface="Arial MT"/>
              </a:rPr>
              <a:t>AD</a:t>
            </a:r>
            <a:r>
              <a:rPr sz="1200" spc="-5" dirty="0">
                <a:latin typeface="Arial MT"/>
                <a:cs typeface="Arial MT"/>
              </a:rPr>
              <a:t>4  </a:t>
            </a:r>
            <a:r>
              <a:rPr sz="1200" spc="-10" dirty="0">
                <a:latin typeface="Arial MT"/>
                <a:cs typeface="Arial MT"/>
              </a:rPr>
              <a:t>AD3  AD</a:t>
            </a:r>
            <a:r>
              <a:rPr sz="1200" spc="-5" dirty="0">
                <a:latin typeface="Arial MT"/>
                <a:cs typeface="Arial MT"/>
              </a:rPr>
              <a:t>2</a:t>
            </a:r>
            <a:endParaRPr sz="1200">
              <a:latin typeface="Arial MT"/>
              <a:cs typeface="Arial MT"/>
            </a:endParaRPr>
          </a:p>
          <a:p>
            <a:pPr marR="64135">
              <a:lnSpc>
                <a:spcPts val="1380"/>
              </a:lnSpc>
              <a:spcBef>
                <a:spcPts val="295"/>
              </a:spcBef>
            </a:pPr>
            <a:r>
              <a:rPr sz="1200" spc="-10" dirty="0">
                <a:latin typeface="Arial MT"/>
                <a:cs typeface="Arial MT"/>
              </a:rPr>
              <a:t>AD</a:t>
            </a:r>
            <a:r>
              <a:rPr sz="1200" spc="-5" dirty="0">
                <a:latin typeface="Arial MT"/>
                <a:cs typeface="Arial MT"/>
              </a:rPr>
              <a:t>1  </a:t>
            </a:r>
            <a:r>
              <a:rPr sz="1200" spc="-10" dirty="0">
                <a:latin typeface="Arial MT"/>
                <a:cs typeface="Arial MT"/>
              </a:rPr>
              <a:t>AD0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4289425" y="2516188"/>
            <a:ext cx="2428875" cy="2238375"/>
            <a:chOff x="4289425" y="2516188"/>
            <a:chExt cx="2428875" cy="2238375"/>
          </a:xfrm>
        </p:grpSpPr>
        <p:sp>
          <p:nvSpPr>
            <p:cNvPr id="73" name="object 73"/>
            <p:cNvSpPr/>
            <p:nvPr/>
          </p:nvSpPr>
          <p:spPr>
            <a:xfrm>
              <a:off x="4289425" y="4716462"/>
              <a:ext cx="2003425" cy="0"/>
            </a:xfrm>
            <a:custGeom>
              <a:avLst/>
              <a:gdLst/>
              <a:ahLst/>
              <a:cxnLst/>
              <a:rect l="l" t="t" r="r" b="b"/>
              <a:pathLst>
                <a:path w="2003425">
                  <a:moveTo>
                    <a:pt x="0" y="0"/>
                  </a:moveTo>
                  <a:lnTo>
                    <a:pt x="2003425" y="0"/>
                  </a:lnTo>
                </a:path>
              </a:pathLst>
            </a:custGeom>
            <a:ln w="12700">
              <a:solidFill>
                <a:srgbClr val="33CC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6280152" y="467835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6386513" y="2522538"/>
              <a:ext cx="332105" cy="0"/>
            </a:xfrm>
            <a:custGeom>
              <a:avLst/>
              <a:gdLst/>
              <a:ahLst/>
              <a:cxnLst/>
              <a:rect l="l" t="t" r="r" b="b"/>
              <a:pathLst>
                <a:path w="332104">
                  <a:moveTo>
                    <a:pt x="0" y="0"/>
                  </a:moveTo>
                  <a:lnTo>
                    <a:pt x="33178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3560127" y="2530666"/>
            <a:ext cx="162560" cy="1066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 marR="30480" algn="just">
              <a:lnSpc>
                <a:spcPct val="1424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I</a:t>
            </a:r>
            <a:r>
              <a:rPr sz="1200" spc="-7" baseline="-20833" dirty="0">
                <a:latin typeface="Arial MT"/>
                <a:cs typeface="Arial MT"/>
              </a:rPr>
              <a:t>7  </a:t>
            </a:r>
            <a:r>
              <a:rPr sz="1200" dirty="0">
                <a:latin typeface="Arial MT"/>
                <a:cs typeface="Arial MT"/>
              </a:rPr>
              <a:t>I</a:t>
            </a:r>
            <a:r>
              <a:rPr sz="1200" spc="-7" baseline="-20833" dirty="0">
                <a:latin typeface="Arial MT"/>
                <a:cs typeface="Arial MT"/>
              </a:rPr>
              <a:t>6  </a:t>
            </a:r>
            <a:r>
              <a:rPr sz="1200" dirty="0">
                <a:latin typeface="Arial MT"/>
                <a:cs typeface="Arial MT"/>
              </a:rPr>
              <a:t>I</a:t>
            </a:r>
            <a:r>
              <a:rPr sz="1200" spc="-7" baseline="-20833" dirty="0">
                <a:latin typeface="Arial MT"/>
                <a:cs typeface="Arial MT"/>
              </a:rPr>
              <a:t>5  </a:t>
            </a:r>
            <a:r>
              <a:rPr sz="1200" dirty="0">
                <a:latin typeface="Arial MT"/>
                <a:cs typeface="Arial MT"/>
              </a:rPr>
              <a:t>I</a:t>
            </a:r>
            <a:r>
              <a:rPr sz="1200" spc="-7" baseline="-20833" dirty="0">
                <a:latin typeface="Arial MT"/>
                <a:cs typeface="Arial MT"/>
              </a:rPr>
              <a:t>4</a:t>
            </a:r>
            <a:endParaRPr sz="1200" baseline="-20833">
              <a:latin typeface="Arial MT"/>
              <a:cs typeface="Arial MT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3628199" y="3749039"/>
            <a:ext cx="692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Arial MT"/>
                <a:cs typeface="Arial MT"/>
              </a:rPr>
              <a:t>3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3585527" y="3572065"/>
            <a:ext cx="55244" cy="568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484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I  I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3560127" y="3979634"/>
            <a:ext cx="162560" cy="70421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67945">
              <a:lnSpc>
                <a:spcPct val="100000"/>
              </a:lnSpc>
              <a:spcBef>
                <a:spcPts val="420"/>
              </a:spcBef>
            </a:pPr>
            <a:r>
              <a:rPr sz="800" spc="-5" dirty="0">
                <a:latin typeface="Arial MT"/>
                <a:cs typeface="Arial MT"/>
              </a:rPr>
              <a:t>2</a:t>
            </a:r>
            <a:endParaRPr sz="800">
              <a:latin typeface="Arial MT"/>
              <a:cs typeface="Arial MT"/>
            </a:endParaRPr>
          </a:p>
          <a:p>
            <a:pPr marL="25400">
              <a:lnSpc>
                <a:spcPct val="100000"/>
              </a:lnSpc>
              <a:spcBef>
                <a:spcPts val="480"/>
              </a:spcBef>
            </a:pPr>
            <a:r>
              <a:rPr sz="1200" spc="-5" dirty="0">
                <a:latin typeface="Arial MT"/>
                <a:cs typeface="Arial MT"/>
              </a:rPr>
              <a:t>I</a:t>
            </a:r>
            <a:r>
              <a:rPr sz="1200" spc="-7" baseline="-20833" dirty="0">
                <a:latin typeface="Arial MT"/>
                <a:cs typeface="Arial MT"/>
              </a:rPr>
              <a:t>1</a:t>
            </a:r>
            <a:endParaRPr sz="1200" baseline="-20833">
              <a:latin typeface="Arial MT"/>
              <a:cs typeface="Arial MT"/>
            </a:endParaRPr>
          </a:p>
          <a:p>
            <a:pPr marL="25400">
              <a:lnSpc>
                <a:spcPct val="100000"/>
              </a:lnSpc>
              <a:spcBef>
                <a:spcPts val="700"/>
              </a:spcBef>
            </a:pPr>
            <a:r>
              <a:rPr sz="1200" spc="-5" dirty="0">
                <a:latin typeface="Arial MT"/>
                <a:cs typeface="Arial MT"/>
              </a:rPr>
              <a:t>I</a:t>
            </a:r>
            <a:r>
              <a:rPr sz="1200" spc="-7" baseline="-20833" dirty="0">
                <a:latin typeface="Arial MT"/>
                <a:cs typeface="Arial MT"/>
              </a:rPr>
              <a:t>0</a:t>
            </a:r>
            <a:endParaRPr sz="1200" baseline="-20833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98269" y="814069"/>
            <a:ext cx="534860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Operating</a:t>
            </a:r>
            <a:r>
              <a:rPr spc="-20" dirty="0"/>
              <a:t> </a:t>
            </a:r>
            <a:r>
              <a:rPr spc="-5" dirty="0"/>
              <a:t>of</a:t>
            </a:r>
            <a:r>
              <a:rPr spc="-20" dirty="0"/>
              <a:t> </a:t>
            </a:r>
            <a:r>
              <a:rPr spc="-5" dirty="0"/>
              <a:t>the 8259A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59355"/>
            <a:ext cx="7287895" cy="455041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508000" marR="128905" indent="-495934">
              <a:lnSpc>
                <a:spcPts val="3020"/>
              </a:lnSpc>
              <a:spcBef>
                <a:spcPts val="484"/>
              </a:spcBef>
              <a:buChar char="•"/>
              <a:tabLst>
                <a:tab pos="507365" algn="l"/>
                <a:tab pos="508634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</a:t>
            </a:r>
            <a:r>
              <a:rPr sz="2800" dirty="0">
                <a:latin typeface="Times New Roman"/>
                <a:cs typeface="Times New Roman"/>
              </a:rPr>
              <a:t>8259A </a:t>
            </a:r>
            <a:r>
              <a:rPr sz="2800" spc="-5" dirty="0">
                <a:latin typeface="Times New Roman"/>
                <a:cs typeface="Times New Roman"/>
              </a:rPr>
              <a:t>requires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microprocessor </a:t>
            </a:r>
            <a:r>
              <a:rPr sz="2800" dirty="0">
                <a:latin typeface="Times New Roman"/>
                <a:cs typeface="Times New Roman"/>
              </a:rPr>
              <a:t>to 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provide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2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control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words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set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up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operation.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After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that,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following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sequence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occurs:</a:t>
            </a:r>
            <a:endParaRPr sz="2800">
              <a:latin typeface="Times New Roman"/>
              <a:cs typeface="Times New Roman"/>
            </a:endParaRPr>
          </a:p>
          <a:p>
            <a:pPr marL="927100" lvl="1" indent="-457200">
              <a:lnSpc>
                <a:spcPct val="100000"/>
              </a:lnSpc>
              <a:spcBef>
                <a:spcPts val="260"/>
              </a:spcBef>
              <a:buAutoNum type="arabicPeriod"/>
              <a:tabLst>
                <a:tab pos="926465" algn="l"/>
                <a:tab pos="927100" algn="l"/>
              </a:tabLst>
            </a:pPr>
            <a:r>
              <a:rPr sz="2400" spc="-5" dirty="0">
                <a:latin typeface="Times New Roman"/>
                <a:cs typeface="Times New Roman"/>
              </a:rPr>
              <a:t>One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more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interrupts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come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in.</a:t>
            </a:r>
            <a:endParaRPr sz="2400">
              <a:latin typeface="Times New Roman"/>
              <a:cs typeface="Times New Roman"/>
            </a:endParaRPr>
          </a:p>
          <a:p>
            <a:pPr marL="926465" marR="5080" lvl="1" indent="-457200">
              <a:lnSpc>
                <a:spcPts val="2590"/>
              </a:lnSpc>
              <a:spcBef>
                <a:spcPts val="620"/>
              </a:spcBef>
              <a:buAutoNum type="arabicPeriod"/>
              <a:tabLst>
                <a:tab pos="926465" algn="l"/>
                <a:tab pos="927100" algn="l"/>
              </a:tabLst>
            </a:pPr>
            <a:r>
              <a:rPr sz="2400" spc="-5" dirty="0">
                <a:latin typeface="Times New Roman"/>
                <a:cs typeface="Times New Roman"/>
              </a:rPr>
              <a:t>The 8259A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resolves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 interrupt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priorities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based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its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internal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settings</a:t>
            </a:r>
            <a:endParaRPr sz="2400">
              <a:latin typeface="Times New Roman"/>
              <a:cs typeface="Times New Roman"/>
            </a:endParaRPr>
          </a:p>
          <a:p>
            <a:pPr marL="926465" marR="1504950" lvl="1" indent="-457200">
              <a:lnSpc>
                <a:spcPts val="2590"/>
              </a:lnSpc>
              <a:spcBef>
                <a:spcPts val="580"/>
              </a:spcBef>
              <a:buAutoNum type="arabicPeriod"/>
              <a:tabLst>
                <a:tab pos="926465" algn="l"/>
                <a:tab pos="927100" algn="l"/>
              </a:tabLst>
            </a:pP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8259A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sends</a:t>
            </a:r>
            <a:r>
              <a:rPr sz="2400" dirty="0">
                <a:latin typeface="Times New Roman"/>
                <a:cs typeface="Times New Roman"/>
              </a:rPr>
              <a:t> an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INTR</a:t>
            </a:r>
            <a:r>
              <a:rPr sz="2400" spc="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signal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microprocessor.</a:t>
            </a:r>
            <a:endParaRPr sz="2400">
              <a:latin typeface="Times New Roman"/>
              <a:cs typeface="Times New Roman"/>
            </a:endParaRPr>
          </a:p>
          <a:p>
            <a:pPr marL="926465" marR="174625" lvl="1" indent="-457200">
              <a:lnSpc>
                <a:spcPts val="2590"/>
              </a:lnSpc>
              <a:spcBef>
                <a:spcPts val="580"/>
              </a:spcBef>
              <a:buAutoNum type="arabicPeriod"/>
              <a:tabLst>
                <a:tab pos="926465" algn="l"/>
                <a:tab pos="927100" algn="l"/>
              </a:tabLst>
            </a:pPr>
            <a:r>
              <a:rPr sz="2400" spc="-5" dirty="0">
                <a:latin typeface="Times New Roman"/>
                <a:cs typeface="Times New Roman"/>
              </a:rPr>
              <a:t>The microprocessor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responds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with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an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INTA</a:t>
            </a:r>
            <a:r>
              <a:rPr sz="2400" spc="2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signal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turns</a:t>
            </a:r>
            <a:r>
              <a:rPr sz="240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off</a:t>
            </a:r>
            <a:r>
              <a:rPr sz="2400" spc="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interrupt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enable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flip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flop.</a:t>
            </a:r>
            <a:endParaRPr sz="2400">
              <a:latin typeface="Times New Roman"/>
              <a:cs typeface="Times New Roman"/>
            </a:endParaRPr>
          </a:p>
          <a:p>
            <a:pPr marL="926465" marR="76200" lvl="1" indent="-457200">
              <a:lnSpc>
                <a:spcPts val="2590"/>
              </a:lnSpc>
              <a:spcBef>
                <a:spcPts val="580"/>
              </a:spcBef>
              <a:buAutoNum type="arabicPeriod"/>
              <a:tabLst>
                <a:tab pos="926465" algn="l"/>
                <a:tab pos="927100" algn="l"/>
              </a:tabLst>
            </a:pP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8259A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responds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by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placing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 op-code</a:t>
            </a:r>
            <a:r>
              <a:rPr sz="2400" spc="-5" dirty="0">
                <a:latin typeface="Times New Roman"/>
                <a:cs typeface="Times New Roman"/>
              </a:rPr>
              <a:t> for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CALL</a:t>
            </a:r>
            <a:r>
              <a:rPr sz="2400" spc="-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instruction</a:t>
            </a:r>
            <a:r>
              <a:rPr sz="2400" spc="-2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(CDH)</a:t>
            </a:r>
            <a:r>
              <a:rPr sz="2400" spc="2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data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bus.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98269" y="814069"/>
            <a:ext cx="534860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Operating</a:t>
            </a:r>
            <a:r>
              <a:rPr spc="-20" dirty="0"/>
              <a:t> </a:t>
            </a:r>
            <a:r>
              <a:rPr spc="-5" dirty="0"/>
              <a:t>of</a:t>
            </a:r>
            <a:r>
              <a:rPr spc="-20" dirty="0"/>
              <a:t> </a:t>
            </a:r>
            <a:r>
              <a:rPr spc="-5" dirty="0"/>
              <a:t>the</a:t>
            </a:r>
            <a:r>
              <a:rPr spc="-15" dirty="0"/>
              <a:t> </a:t>
            </a:r>
            <a:r>
              <a:rPr spc="-5" dirty="0"/>
              <a:t>8259A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1739" y="1966976"/>
            <a:ext cx="6731634" cy="404876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469900" marR="7620" indent="-457200">
              <a:lnSpc>
                <a:spcPts val="2590"/>
              </a:lnSpc>
              <a:spcBef>
                <a:spcPts val="425"/>
              </a:spcBef>
              <a:buAutoNum type="arabicPeriod" startAt="6"/>
              <a:tabLst>
                <a:tab pos="469265" algn="l"/>
                <a:tab pos="469900" algn="l"/>
              </a:tabLst>
            </a:pPr>
            <a:r>
              <a:rPr sz="2400" dirty="0">
                <a:latin typeface="Times New Roman"/>
                <a:cs typeface="Times New Roman"/>
              </a:rPr>
              <a:t>When </a:t>
            </a:r>
            <a:r>
              <a:rPr sz="2400" spc="-5" dirty="0">
                <a:latin typeface="Times New Roman"/>
                <a:cs typeface="Times New Roman"/>
              </a:rPr>
              <a:t>the microprocessor receives the </a:t>
            </a:r>
            <a:r>
              <a:rPr sz="2400" dirty="0">
                <a:latin typeface="Times New Roman"/>
                <a:cs typeface="Times New Roman"/>
              </a:rPr>
              <a:t>op-code </a:t>
            </a:r>
            <a:r>
              <a:rPr sz="2400" spc="-5" dirty="0">
                <a:latin typeface="Times New Roman"/>
                <a:cs typeface="Times New Roman"/>
              </a:rPr>
              <a:t>for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CALL instead </a:t>
            </a:r>
            <a:r>
              <a:rPr sz="2400" dirty="0">
                <a:solidFill>
                  <a:srgbClr val="990000"/>
                </a:solidFill>
                <a:latin typeface="Times New Roman"/>
                <a:cs typeface="Times New Roman"/>
              </a:rPr>
              <a:t>of RST</a:t>
            </a:r>
            <a:r>
              <a:rPr sz="2400" dirty="0">
                <a:latin typeface="Times New Roman"/>
                <a:cs typeface="Times New Roman"/>
              </a:rPr>
              <a:t>, </a:t>
            </a:r>
            <a:r>
              <a:rPr sz="2400" spc="-5" dirty="0">
                <a:latin typeface="Times New Roman"/>
                <a:cs typeface="Times New Roman"/>
              </a:rPr>
              <a:t>it recognizes that the device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will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5" dirty="0">
                <a:latin typeface="Times New Roman"/>
                <a:cs typeface="Times New Roman"/>
              </a:rPr>
              <a:t> sending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990000"/>
                </a:solidFill>
                <a:latin typeface="Times New Roman"/>
                <a:cs typeface="Times New Roman"/>
              </a:rPr>
              <a:t>16 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more bits</a:t>
            </a:r>
            <a:r>
              <a:rPr sz="240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address.</a:t>
            </a:r>
            <a:endParaRPr sz="24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254"/>
              </a:spcBef>
              <a:buAutoNum type="arabicPeriod" startAt="6"/>
              <a:tabLst>
                <a:tab pos="469265" algn="l"/>
                <a:tab pos="469900" algn="l"/>
              </a:tabLst>
            </a:pPr>
            <a:r>
              <a:rPr sz="2400" spc="-5" dirty="0">
                <a:latin typeface="Times New Roman"/>
                <a:cs typeface="Times New Roman"/>
              </a:rPr>
              <a:t>The microprocessor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sends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990000"/>
                </a:solidFill>
                <a:latin typeface="Times New Roman"/>
                <a:cs typeface="Times New Roman"/>
              </a:rPr>
              <a:t>a</a:t>
            </a:r>
            <a:r>
              <a:rPr sz="2400" spc="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second INTA</a:t>
            </a:r>
            <a:r>
              <a:rPr sz="2400" spc="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signal.</a:t>
            </a:r>
            <a:endParaRPr sz="2400">
              <a:latin typeface="Times New Roman"/>
              <a:cs typeface="Times New Roman"/>
            </a:endParaRPr>
          </a:p>
          <a:p>
            <a:pPr marL="469900" marR="189230" indent="-457834">
              <a:lnSpc>
                <a:spcPts val="2590"/>
              </a:lnSpc>
              <a:spcBef>
                <a:spcPts val="615"/>
              </a:spcBef>
              <a:buAutoNum type="arabicPeriod" startAt="6"/>
              <a:tabLst>
                <a:tab pos="469265" algn="l"/>
                <a:tab pos="469900" algn="l"/>
              </a:tabLst>
            </a:pP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8259A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sends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high</a:t>
            </a:r>
            <a:r>
              <a:rPr sz="2400" spc="-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order </a:t>
            </a:r>
            <a:r>
              <a:rPr sz="2400" dirty="0">
                <a:solidFill>
                  <a:srgbClr val="990000"/>
                </a:solidFill>
                <a:latin typeface="Times New Roman"/>
                <a:cs typeface="Times New Roman"/>
              </a:rPr>
              <a:t>byte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ISR’s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address.</a:t>
            </a:r>
            <a:endParaRPr sz="2400">
              <a:latin typeface="Times New Roman"/>
              <a:cs typeface="Times New Roman"/>
            </a:endParaRPr>
          </a:p>
          <a:p>
            <a:pPr marL="469900" indent="-457834">
              <a:lnSpc>
                <a:spcPct val="100000"/>
              </a:lnSpc>
              <a:spcBef>
                <a:spcPts val="254"/>
              </a:spcBef>
              <a:buAutoNum type="arabicPeriod" startAt="6"/>
              <a:tabLst>
                <a:tab pos="469900" algn="l"/>
                <a:tab pos="470534" algn="l"/>
              </a:tabLst>
            </a:pP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microprocessor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sends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990000"/>
                </a:solidFill>
                <a:latin typeface="Times New Roman"/>
                <a:cs typeface="Times New Roman"/>
              </a:rPr>
              <a:t>a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 third INTA</a:t>
            </a:r>
            <a:r>
              <a:rPr sz="2400" spc="2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signal.</a:t>
            </a:r>
            <a:endParaRPr sz="2400">
              <a:latin typeface="Times New Roman"/>
              <a:cs typeface="Times New Roman"/>
            </a:endParaRPr>
          </a:p>
          <a:p>
            <a:pPr marL="469900" marR="273050" indent="-457200">
              <a:lnSpc>
                <a:spcPts val="2590"/>
              </a:lnSpc>
              <a:spcBef>
                <a:spcPts val="615"/>
              </a:spcBef>
              <a:buAutoNum type="arabicPeriod" startAt="6"/>
              <a:tabLst>
                <a:tab pos="470534" algn="l"/>
              </a:tabLst>
            </a:pPr>
            <a:r>
              <a:rPr sz="2400" spc="-5" dirty="0">
                <a:latin typeface="Times New Roman"/>
                <a:cs typeface="Times New Roman"/>
              </a:rPr>
              <a:t>The 8259A sends the 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low </a:t>
            </a:r>
            <a:r>
              <a:rPr sz="2400" dirty="0">
                <a:solidFill>
                  <a:srgbClr val="990000"/>
                </a:solidFill>
                <a:latin typeface="Times New Roman"/>
                <a:cs typeface="Times New Roman"/>
              </a:rPr>
              <a:t>order 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byte </a:t>
            </a:r>
            <a:r>
              <a:rPr sz="2400" dirty="0">
                <a:latin typeface="Times New Roman"/>
                <a:cs typeface="Times New Roman"/>
              </a:rPr>
              <a:t>of the </a:t>
            </a:r>
            <a:r>
              <a:rPr sz="2400" spc="-5" dirty="0">
                <a:latin typeface="Times New Roman"/>
                <a:cs typeface="Times New Roman"/>
              </a:rPr>
              <a:t>ISR’s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address.</a:t>
            </a:r>
            <a:endParaRPr sz="2400">
              <a:latin typeface="Times New Roman"/>
              <a:cs typeface="Times New Roman"/>
            </a:endParaRPr>
          </a:p>
          <a:p>
            <a:pPr marL="469900" marR="5080" indent="-457200">
              <a:lnSpc>
                <a:spcPts val="2590"/>
              </a:lnSpc>
              <a:spcBef>
                <a:spcPts val="580"/>
              </a:spcBef>
              <a:buAutoNum type="arabicPeriod" startAt="6"/>
              <a:tabLst>
                <a:tab pos="470534" algn="l"/>
              </a:tabLst>
            </a:pPr>
            <a:r>
              <a:rPr sz="2400" spc="-5" dirty="0">
                <a:latin typeface="Times New Roman"/>
                <a:cs typeface="Times New Roman"/>
              </a:rPr>
              <a:t>The microprocessor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executes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CALL</a:t>
            </a:r>
            <a:r>
              <a:rPr sz="2400" spc="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instruction </a:t>
            </a:r>
            <a:r>
              <a:rPr sz="2400" spc="-58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jumps 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ISR.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9928" y="814069"/>
            <a:ext cx="520382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Direct</a:t>
            </a:r>
            <a:r>
              <a:rPr spc="-35" dirty="0"/>
              <a:t> </a:t>
            </a:r>
            <a:r>
              <a:rPr spc="-5" dirty="0"/>
              <a:t>Memory</a:t>
            </a:r>
            <a:r>
              <a:rPr spc="-30" dirty="0"/>
              <a:t> </a:t>
            </a:r>
            <a:r>
              <a:rPr spc="-5" dirty="0"/>
              <a:t>Access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59355"/>
            <a:ext cx="7587615" cy="378396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marR="5080" indent="-343535">
              <a:lnSpc>
                <a:spcPts val="3020"/>
              </a:lnSpc>
              <a:spcBef>
                <a:spcPts val="484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This </a:t>
            </a:r>
            <a:r>
              <a:rPr sz="2800" dirty="0">
                <a:latin typeface="Times New Roman"/>
                <a:cs typeface="Times New Roman"/>
              </a:rPr>
              <a:t>is a </a:t>
            </a:r>
            <a:r>
              <a:rPr sz="2800" spc="-5" dirty="0">
                <a:latin typeface="Times New Roman"/>
                <a:cs typeface="Times New Roman"/>
              </a:rPr>
              <a:t>process where data </a:t>
            </a:r>
            <a:r>
              <a:rPr sz="2800" dirty="0">
                <a:latin typeface="Times New Roman"/>
                <a:cs typeface="Times New Roman"/>
              </a:rPr>
              <a:t>is </a:t>
            </a:r>
            <a:r>
              <a:rPr sz="2800" spc="-5" dirty="0">
                <a:latin typeface="Times New Roman"/>
                <a:cs typeface="Times New Roman"/>
              </a:rPr>
              <a:t>transferred between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two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peripherals directly</a:t>
            </a:r>
            <a:r>
              <a:rPr sz="2800" dirty="0">
                <a:latin typeface="Times New Roman"/>
                <a:cs typeface="Times New Roman"/>
              </a:rPr>
              <a:t> without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involvement </a:t>
            </a:r>
            <a:r>
              <a:rPr sz="2800" dirty="0">
                <a:latin typeface="Times New Roman"/>
                <a:cs typeface="Times New Roman"/>
              </a:rPr>
              <a:t> of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microprocessor.</a:t>
            </a:r>
            <a:endParaRPr sz="2800">
              <a:latin typeface="Times New Roman"/>
              <a:cs typeface="Times New Roman"/>
            </a:endParaRPr>
          </a:p>
          <a:p>
            <a:pPr marL="755650" marR="1520825" lvl="1" indent="-286385">
              <a:lnSpc>
                <a:spcPts val="2590"/>
              </a:lnSpc>
              <a:spcBef>
                <a:spcPts val="590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This process employs the HOLD pin </a:t>
            </a:r>
            <a:r>
              <a:rPr sz="2400" dirty="0">
                <a:latin typeface="Times New Roman"/>
                <a:cs typeface="Times New Roman"/>
              </a:rPr>
              <a:t>on the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microprocessor</a:t>
            </a:r>
            <a:endParaRPr sz="2400">
              <a:latin typeface="Times New Roman"/>
              <a:cs typeface="Times New Roman"/>
            </a:endParaRPr>
          </a:p>
          <a:p>
            <a:pPr marL="1155700" marR="127000" lvl="2" indent="-229235">
              <a:lnSpc>
                <a:spcPts val="2160"/>
              </a:lnSpc>
              <a:spcBef>
                <a:spcPts val="490"/>
              </a:spcBef>
              <a:buChar char="•"/>
              <a:tabLst>
                <a:tab pos="1155065" algn="l"/>
                <a:tab pos="1156335" algn="l"/>
              </a:tabLst>
            </a:pP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external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DMA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controller sends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signal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on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HOLD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pin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microprocessor.</a:t>
            </a:r>
            <a:endParaRPr sz="2000">
              <a:latin typeface="Times New Roman"/>
              <a:cs typeface="Times New Roman"/>
            </a:endParaRPr>
          </a:p>
          <a:p>
            <a:pPr marL="1155700" marR="85725" lvl="2" indent="-229235">
              <a:lnSpc>
                <a:spcPts val="2160"/>
              </a:lnSpc>
              <a:spcBef>
                <a:spcPts val="480"/>
              </a:spcBef>
              <a:buChar char="•"/>
              <a:tabLst>
                <a:tab pos="1155065" algn="l"/>
                <a:tab pos="1156335" algn="l"/>
              </a:tabLst>
            </a:pPr>
            <a:r>
              <a:rPr sz="2000" spc="-5" dirty="0">
                <a:latin typeface="Times New Roman"/>
                <a:cs typeface="Times New Roman"/>
              </a:rPr>
              <a:t>The microprocessor completes the current operation and sends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signal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on HLDA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stops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using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buses.</a:t>
            </a:r>
            <a:endParaRPr sz="2000">
              <a:latin typeface="Times New Roman"/>
              <a:cs typeface="Times New Roman"/>
            </a:endParaRPr>
          </a:p>
          <a:p>
            <a:pPr marL="1155700" marR="13970" lvl="2" indent="-229235">
              <a:lnSpc>
                <a:spcPts val="2160"/>
              </a:lnSpc>
              <a:spcBef>
                <a:spcPts val="480"/>
              </a:spcBef>
              <a:buChar char="•"/>
              <a:tabLst>
                <a:tab pos="1155065" algn="l"/>
                <a:tab pos="1156335" algn="l"/>
              </a:tabLst>
            </a:pPr>
            <a:r>
              <a:rPr sz="2000" spc="-5" dirty="0">
                <a:latin typeface="Times New Roman"/>
                <a:cs typeface="Times New Roman"/>
              </a:rPr>
              <a:t>Once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DMA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controller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 done,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turns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off 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HOLD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signal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microprocessor takes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back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control of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buses.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5854" y="2490469"/>
            <a:ext cx="4352290" cy="1366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4650" marR="5080" indent="-36258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Serial</a:t>
            </a:r>
            <a:r>
              <a:rPr spc="-20" dirty="0"/>
              <a:t> </a:t>
            </a:r>
            <a:r>
              <a:rPr spc="-5" dirty="0"/>
              <a:t>I/O</a:t>
            </a:r>
            <a:r>
              <a:rPr spc="-25" dirty="0"/>
              <a:t> </a:t>
            </a:r>
            <a:r>
              <a:rPr spc="-5" dirty="0"/>
              <a:t>and</a:t>
            </a:r>
            <a:r>
              <a:rPr spc="-20" dirty="0"/>
              <a:t> </a:t>
            </a:r>
            <a:r>
              <a:rPr spc="-5" dirty="0"/>
              <a:t>Data </a:t>
            </a:r>
            <a:r>
              <a:rPr spc="-1085" dirty="0"/>
              <a:t> </a:t>
            </a:r>
            <a:r>
              <a:rPr spc="-5" dirty="0"/>
              <a:t>Communication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7822" y="814069"/>
            <a:ext cx="63861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Basic</a:t>
            </a:r>
            <a:r>
              <a:rPr spc="-15" dirty="0"/>
              <a:t> </a:t>
            </a:r>
            <a:r>
              <a:rPr spc="-5" dirty="0"/>
              <a:t>Concepts in</a:t>
            </a:r>
            <a:r>
              <a:rPr spc="-10" dirty="0"/>
              <a:t> </a:t>
            </a:r>
            <a:r>
              <a:rPr spc="-5" dirty="0"/>
              <a:t>Serial I/O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15199"/>
            <a:ext cx="7199630" cy="405193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78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Interfacing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requirements:</a:t>
            </a:r>
            <a:endParaRPr sz="28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585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Identify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 device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through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port number.</a:t>
            </a:r>
            <a:endParaRPr sz="2400">
              <a:latin typeface="Times New Roman"/>
              <a:cs typeface="Times New Roman"/>
            </a:endParaRPr>
          </a:p>
          <a:p>
            <a:pPr marL="1155700" lvl="2" indent="-229870">
              <a:lnSpc>
                <a:spcPct val="100000"/>
              </a:lnSpc>
              <a:spcBef>
                <a:spcPts val="495"/>
              </a:spcBef>
              <a:buChar char="•"/>
              <a:tabLst>
                <a:tab pos="1155065" algn="l"/>
                <a:tab pos="1156335" algn="l"/>
              </a:tabLst>
            </a:pPr>
            <a:r>
              <a:rPr sz="2000" spc="-5" dirty="0">
                <a:latin typeface="Times New Roman"/>
                <a:cs typeface="Times New Roman"/>
              </a:rPr>
              <a:t>Memory-mapped.</a:t>
            </a:r>
            <a:endParaRPr sz="2000">
              <a:latin typeface="Times New Roman"/>
              <a:cs typeface="Times New Roman"/>
            </a:endParaRPr>
          </a:p>
          <a:p>
            <a:pPr marL="1155700" lvl="2" indent="-229870">
              <a:lnSpc>
                <a:spcPct val="100000"/>
              </a:lnSpc>
              <a:spcBef>
                <a:spcPts val="480"/>
              </a:spcBef>
              <a:buChar char="•"/>
              <a:tabLst>
                <a:tab pos="1155065" algn="l"/>
                <a:tab pos="1156335" algn="l"/>
              </a:tabLst>
            </a:pPr>
            <a:r>
              <a:rPr sz="2000" spc="-5" dirty="0">
                <a:latin typeface="Times New Roman"/>
                <a:cs typeface="Times New Roman"/>
              </a:rPr>
              <a:t>Peripheral-mapped.</a:t>
            </a:r>
            <a:endParaRPr sz="2000">
              <a:latin typeface="Times New Roman"/>
              <a:cs typeface="Times New Roman"/>
            </a:endParaRPr>
          </a:p>
          <a:p>
            <a:pPr marL="755650" marR="167640" lvl="1" indent="-286385">
              <a:lnSpc>
                <a:spcPct val="100000"/>
              </a:lnSpc>
              <a:spcBef>
                <a:spcPts val="560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Enable the device using the </a:t>
            </a:r>
            <a:r>
              <a:rPr sz="2400" dirty="0">
                <a:latin typeface="Times New Roman"/>
                <a:cs typeface="Times New Roman"/>
              </a:rPr>
              <a:t>Read and </a:t>
            </a:r>
            <a:r>
              <a:rPr sz="2400" spc="-5" dirty="0">
                <a:latin typeface="Times New Roman"/>
                <a:cs typeface="Times New Roman"/>
              </a:rPr>
              <a:t>Write control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signals.</a:t>
            </a:r>
            <a:endParaRPr sz="2400">
              <a:latin typeface="Times New Roman"/>
              <a:cs typeface="Times New Roman"/>
            </a:endParaRPr>
          </a:p>
          <a:p>
            <a:pPr marL="1155700" lvl="2" indent="-229870">
              <a:lnSpc>
                <a:spcPct val="100000"/>
              </a:lnSpc>
              <a:spcBef>
                <a:spcPts val="495"/>
              </a:spcBef>
              <a:buChar char="•"/>
              <a:tabLst>
                <a:tab pos="1155065" algn="l"/>
                <a:tab pos="1156335" algn="l"/>
              </a:tabLst>
            </a:pPr>
            <a:r>
              <a:rPr sz="2000" spc="-5" dirty="0">
                <a:latin typeface="Times New Roman"/>
                <a:cs typeface="Times New Roman"/>
              </a:rPr>
              <a:t>Read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for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input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device.</a:t>
            </a:r>
            <a:endParaRPr sz="2000">
              <a:latin typeface="Times New Roman"/>
              <a:cs typeface="Times New Roman"/>
            </a:endParaRPr>
          </a:p>
          <a:p>
            <a:pPr marL="1155700" lvl="2" indent="-229870">
              <a:lnSpc>
                <a:spcPct val="100000"/>
              </a:lnSpc>
              <a:spcBef>
                <a:spcPts val="480"/>
              </a:spcBef>
              <a:buChar char="•"/>
              <a:tabLst>
                <a:tab pos="1155065" algn="l"/>
                <a:tab pos="1156335" algn="l"/>
              </a:tabLst>
            </a:pPr>
            <a:r>
              <a:rPr sz="2000" spc="-5" dirty="0">
                <a:latin typeface="Times New Roman"/>
                <a:cs typeface="Times New Roman"/>
              </a:rPr>
              <a:t>Write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for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output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device.</a:t>
            </a:r>
            <a:endParaRPr sz="2000">
              <a:latin typeface="Times New Roman"/>
              <a:cs typeface="Times New Roman"/>
            </a:endParaRPr>
          </a:p>
          <a:p>
            <a:pPr marL="755650" marR="5080" lvl="1" indent="-286385">
              <a:lnSpc>
                <a:spcPct val="100000"/>
              </a:lnSpc>
              <a:spcBef>
                <a:spcPts val="560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Only </a:t>
            </a:r>
            <a:r>
              <a:rPr sz="2400" dirty="0">
                <a:latin typeface="Times New Roman"/>
                <a:cs typeface="Times New Roman"/>
              </a:rPr>
              <a:t>one </a:t>
            </a:r>
            <a:r>
              <a:rPr sz="2400" spc="-5" dirty="0">
                <a:latin typeface="Times New Roman"/>
                <a:cs typeface="Times New Roman"/>
              </a:rPr>
              <a:t>data line is used </a:t>
            </a:r>
            <a:r>
              <a:rPr sz="2400" dirty="0">
                <a:latin typeface="Times New Roman"/>
                <a:cs typeface="Times New Roman"/>
              </a:rPr>
              <a:t>to </a:t>
            </a:r>
            <a:r>
              <a:rPr sz="2400" spc="-5" dirty="0">
                <a:latin typeface="Times New Roman"/>
                <a:cs typeface="Times New Roman"/>
              </a:rPr>
              <a:t>transfer the information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instead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entire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data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bus.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7822" y="814069"/>
            <a:ext cx="63861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Basic</a:t>
            </a:r>
            <a:r>
              <a:rPr spc="-15" dirty="0"/>
              <a:t> </a:t>
            </a:r>
            <a:r>
              <a:rPr spc="-5" dirty="0"/>
              <a:t>Concepts in</a:t>
            </a:r>
            <a:r>
              <a:rPr spc="-10" dirty="0"/>
              <a:t> </a:t>
            </a:r>
            <a:r>
              <a:rPr spc="-5" dirty="0"/>
              <a:t>Serial I/O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01011"/>
            <a:ext cx="6137910" cy="2517775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88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Controlling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transfer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data:</a:t>
            </a:r>
            <a:endParaRPr sz="32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9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Microprocessor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control.</a:t>
            </a:r>
            <a:endParaRPr sz="2800">
              <a:latin typeface="Times New Roman"/>
              <a:cs typeface="Times New Roman"/>
            </a:endParaRPr>
          </a:p>
          <a:p>
            <a:pPr marL="1155700" lvl="2" indent="-229235">
              <a:lnSpc>
                <a:spcPct val="100000"/>
              </a:lnSpc>
              <a:spcBef>
                <a:spcPts val="585"/>
              </a:spcBef>
              <a:buChar char="•"/>
              <a:tabLst>
                <a:tab pos="1155700" algn="l"/>
              </a:tabLst>
            </a:pPr>
            <a:r>
              <a:rPr sz="2400" spc="-5" dirty="0">
                <a:latin typeface="Times New Roman"/>
                <a:cs typeface="Times New Roman"/>
              </a:rPr>
              <a:t>Unconditional,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polling,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status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check,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etc.</a:t>
            </a:r>
            <a:endParaRPr sz="24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6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Device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control.</a:t>
            </a:r>
            <a:endParaRPr sz="2800">
              <a:latin typeface="Times New Roman"/>
              <a:cs typeface="Times New Roman"/>
            </a:endParaRPr>
          </a:p>
          <a:p>
            <a:pPr marL="1155700" lvl="2" indent="-229235">
              <a:lnSpc>
                <a:spcPct val="100000"/>
              </a:lnSpc>
              <a:spcBef>
                <a:spcPts val="585"/>
              </a:spcBef>
              <a:buChar char="•"/>
              <a:tabLst>
                <a:tab pos="1155700" algn="l"/>
              </a:tabLst>
            </a:pPr>
            <a:r>
              <a:rPr sz="2400" spc="-5" dirty="0">
                <a:latin typeface="Times New Roman"/>
                <a:cs typeface="Times New Roman"/>
              </a:rPr>
              <a:t>Interrupt.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8274" y="814069"/>
            <a:ext cx="7287259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Synchronous</a:t>
            </a:r>
            <a:r>
              <a:rPr spc="-20" dirty="0"/>
              <a:t> </a:t>
            </a:r>
            <a:r>
              <a:rPr spc="-5" dirty="0"/>
              <a:t>Data</a:t>
            </a:r>
            <a:r>
              <a:rPr spc="-10" dirty="0"/>
              <a:t> </a:t>
            </a:r>
            <a:r>
              <a:rPr spc="-5" dirty="0"/>
              <a:t>Transmission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15229"/>
            <a:ext cx="7599680" cy="3838575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450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transmitter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receiver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are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synchronized.</a:t>
            </a:r>
            <a:endParaRPr sz="2800">
              <a:latin typeface="Times New Roman"/>
              <a:cs typeface="Times New Roman"/>
            </a:endParaRPr>
          </a:p>
          <a:p>
            <a:pPr marL="755650" marR="5080" indent="-285750">
              <a:lnSpc>
                <a:spcPts val="2590"/>
              </a:lnSpc>
              <a:spcBef>
                <a:spcPts val="625"/>
              </a:spcBef>
              <a:tabLst>
                <a:tab pos="755015" algn="l"/>
              </a:tabLst>
            </a:pPr>
            <a:r>
              <a:rPr sz="2400" dirty="0">
                <a:latin typeface="Times New Roman"/>
                <a:cs typeface="Times New Roman"/>
              </a:rPr>
              <a:t>–	</a:t>
            </a:r>
            <a:r>
              <a:rPr sz="2400" spc="-5" dirty="0">
                <a:latin typeface="Times New Roman"/>
                <a:cs typeface="Times New Roman"/>
              </a:rPr>
              <a:t>A </a:t>
            </a:r>
            <a:r>
              <a:rPr sz="2400" dirty="0">
                <a:latin typeface="Times New Roman"/>
                <a:cs typeface="Times New Roman"/>
              </a:rPr>
              <a:t>sequence of </a:t>
            </a:r>
            <a:r>
              <a:rPr sz="2400" spc="-5" dirty="0">
                <a:latin typeface="Times New Roman"/>
                <a:cs typeface="Times New Roman"/>
              </a:rPr>
              <a:t>synchronization signals is </a:t>
            </a:r>
            <a:r>
              <a:rPr sz="2400" spc="5" dirty="0">
                <a:latin typeface="Times New Roman"/>
                <a:cs typeface="Times New Roman"/>
              </a:rPr>
              <a:t>sent </a:t>
            </a:r>
            <a:r>
              <a:rPr sz="2400" spc="-5" dirty="0">
                <a:latin typeface="Times New Roman"/>
                <a:cs typeface="Times New Roman"/>
              </a:rPr>
              <a:t>before the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communication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begins.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30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latin typeface="Times New Roman"/>
                <a:cs typeface="Times New Roman"/>
              </a:rPr>
              <a:t>Usually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used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high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speed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transmission.</a:t>
            </a:r>
            <a:endParaRPr sz="2800">
              <a:latin typeface="Times New Roman"/>
              <a:cs typeface="Times New Roman"/>
            </a:endParaRPr>
          </a:p>
          <a:p>
            <a:pPr marL="1155700" lvl="1" indent="-229235">
              <a:lnSpc>
                <a:spcPct val="100000"/>
              </a:lnSpc>
              <a:spcBef>
                <a:spcPts val="265"/>
              </a:spcBef>
              <a:buChar char="•"/>
              <a:tabLst>
                <a:tab pos="1155065" algn="l"/>
                <a:tab pos="1155700" algn="l"/>
              </a:tabLst>
            </a:pPr>
            <a:r>
              <a:rPr sz="2000" spc="-5" dirty="0">
                <a:latin typeface="Times New Roman"/>
                <a:cs typeface="Times New Roman"/>
              </a:rPr>
              <a:t>More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than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20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K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bits/sec.</a:t>
            </a:r>
            <a:endParaRPr sz="20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Font typeface="Times New Roman"/>
              <a:buChar char="•"/>
            </a:pPr>
            <a:endParaRPr sz="230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Message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based.</a:t>
            </a:r>
            <a:endParaRPr sz="2800">
              <a:latin typeface="Times New Roman"/>
              <a:cs typeface="Times New Roman"/>
            </a:endParaRPr>
          </a:p>
          <a:p>
            <a:pPr marL="755650" marR="775970" indent="-286385">
              <a:lnSpc>
                <a:spcPts val="2590"/>
              </a:lnSpc>
              <a:spcBef>
                <a:spcPts val="630"/>
              </a:spcBef>
              <a:tabLst>
                <a:tab pos="755650" algn="l"/>
              </a:tabLst>
            </a:pPr>
            <a:r>
              <a:rPr sz="2400" dirty="0">
                <a:latin typeface="Times New Roman"/>
                <a:cs typeface="Times New Roman"/>
              </a:rPr>
              <a:t>–	</a:t>
            </a:r>
            <a:r>
              <a:rPr sz="2400" spc="-5" dirty="0">
                <a:latin typeface="Times New Roman"/>
                <a:cs typeface="Times New Roman"/>
              </a:rPr>
              <a:t>Synchronization occurs </a:t>
            </a:r>
            <a:r>
              <a:rPr sz="2400" dirty="0">
                <a:latin typeface="Times New Roman"/>
                <a:cs typeface="Times New Roman"/>
              </a:rPr>
              <a:t>at </a:t>
            </a:r>
            <a:r>
              <a:rPr sz="2400" spc="-5" dirty="0">
                <a:latin typeface="Times New Roman"/>
                <a:cs typeface="Times New Roman"/>
              </a:rPr>
              <a:t>the beginning </a:t>
            </a:r>
            <a:r>
              <a:rPr sz="2400" dirty="0">
                <a:latin typeface="Times New Roman"/>
                <a:cs typeface="Times New Roman"/>
              </a:rPr>
              <a:t>of a </a:t>
            </a:r>
            <a:r>
              <a:rPr sz="2400" spc="-5" dirty="0">
                <a:latin typeface="Times New Roman"/>
                <a:cs typeface="Times New Roman"/>
              </a:rPr>
              <a:t>long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message.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3556" y="814069"/>
            <a:ext cx="759714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Asynchronous</a:t>
            </a:r>
            <a:r>
              <a:rPr spc="-20" dirty="0"/>
              <a:t> </a:t>
            </a:r>
            <a:r>
              <a:rPr spc="-5" dirty="0"/>
              <a:t>Data</a:t>
            </a:r>
            <a:r>
              <a:rPr spc="-10" dirty="0"/>
              <a:t> </a:t>
            </a:r>
            <a:r>
              <a:rPr spc="-5" dirty="0"/>
              <a:t>Transmission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2000504"/>
            <a:ext cx="7390765" cy="34410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Transmission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occurs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at any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time.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Times New Roman"/>
              <a:buChar char="•"/>
            </a:pPr>
            <a:endParaRPr sz="3150">
              <a:latin typeface="Times New Roman"/>
              <a:cs typeface="Times New Roman"/>
            </a:endParaRPr>
          </a:p>
          <a:p>
            <a:pPr marL="354965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Character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based.</a:t>
            </a:r>
            <a:endParaRPr sz="32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9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Each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character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sent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separately.</a:t>
            </a:r>
            <a:endParaRPr sz="28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0"/>
              </a:spcBef>
              <a:buFont typeface="Times New Roman"/>
              <a:buChar char="–"/>
            </a:pPr>
            <a:endParaRPr sz="3150">
              <a:latin typeface="Times New Roman"/>
              <a:cs typeface="Times New Roman"/>
            </a:endParaRPr>
          </a:p>
          <a:p>
            <a:pPr marL="354965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Generally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used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for low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speed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transmission.</a:t>
            </a:r>
            <a:endParaRPr sz="32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9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Less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20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K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bits/sec.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9757" y="204469"/>
            <a:ext cx="759714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Asynchronous</a:t>
            </a:r>
            <a:r>
              <a:rPr spc="-20" dirty="0"/>
              <a:t> </a:t>
            </a:r>
            <a:r>
              <a:rPr spc="-5" dirty="0"/>
              <a:t>Data</a:t>
            </a:r>
            <a:r>
              <a:rPr spc="-10" dirty="0"/>
              <a:t> </a:t>
            </a:r>
            <a:r>
              <a:rPr spc="-5" dirty="0"/>
              <a:t>Transmission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0739" y="834211"/>
            <a:ext cx="7406640" cy="3955415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88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Follows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agreed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upon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standards:</a:t>
            </a:r>
            <a:endParaRPr sz="32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9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line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normally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logic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(mark).</a:t>
            </a:r>
            <a:endParaRPr sz="2800">
              <a:latin typeface="Times New Roman"/>
              <a:cs typeface="Times New Roman"/>
            </a:endParaRPr>
          </a:p>
          <a:p>
            <a:pPr marL="1155700" lvl="2" indent="-229235">
              <a:lnSpc>
                <a:spcPct val="100000"/>
              </a:lnSpc>
              <a:spcBef>
                <a:spcPts val="585"/>
              </a:spcBef>
              <a:buChar char="•"/>
              <a:tabLst>
                <a:tab pos="1155700" algn="l"/>
              </a:tabLst>
            </a:pPr>
            <a:r>
              <a:rPr sz="2400" spc="-5" dirty="0">
                <a:latin typeface="Times New Roman"/>
                <a:cs typeface="Times New Roman"/>
              </a:rPr>
              <a:t>Logic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0</a:t>
            </a:r>
            <a:r>
              <a:rPr sz="2400" spc="-5" dirty="0">
                <a:latin typeface="Times New Roman"/>
                <a:cs typeface="Times New Roman"/>
              </a:rPr>
              <a:t> is </a:t>
            </a:r>
            <a:r>
              <a:rPr sz="2400" dirty="0">
                <a:latin typeface="Times New Roman"/>
                <a:cs typeface="Times New Roman"/>
              </a:rPr>
              <a:t>known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space.</a:t>
            </a:r>
            <a:endParaRPr sz="24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6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transmission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begins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start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bit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(low).</a:t>
            </a:r>
            <a:endParaRPr sz="2800">
              <a:latin typeface="Times New Roman"/>
              <a:cs typeface="Times New Roman"/>
            </a:endParaRPr>
          </a:p>
          <a:p>
            <a:pPr marL="755650" marR="342265" lvl="1" indent="-285750">
              <a:lnSpc>
                <a:spcPct val="100000"/>
              </a:lnSpc>
              <a:spcBef>
                <a:spcPts val="675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seven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5" dirty="0">
                <a:latin typeface="Times New Roman"/>
                <a:cs typeface="Times New Roman"/>
              </a:rPr>
              <a:t> eight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bits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representing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character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are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transmitted.</a:t>
            </a:r>
            <a:endParaRPr sz="2800">
              <a:latin typeface="Times New Roman"/>
              <a:cs typeface="Times New Roman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67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transmission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concluded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 two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stop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bits.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93266" y="4777795"/>
            <a:ext cx="224154" cy="233679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dirty="0">
                <a:latin typeface="Arial MT"/>
                <a:cs typeface="Arial MT"/>
              </a:rPr>
              <a:t>art</a:t>
            </a:r>
            <a:endParaRPr sz="1400">
              <a:latin typeface="Arial MT"/>
              <a:cs typeface="Arial MT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974850" y="4870450"/>
          <a:ext cx="4968875" cy="317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4604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St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D</a:t>
                      </a:r>
                      <a:r>
                        <a:rPr sz="1350" baseline="-21604" dirty="0">
                          <a:latin typeface="Arial MT"/>
                          <a:cs typeface="Arial MT"/>
                        </a:rPr>
                        <a:t>0</a:t>
                      </a:r>
                      <a:endParaRPr sz="1350" baseline="-21604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5" dirty="0">
                          <a:latin typeface="Arial MT"/>
                          <a:cs typeface="Arial MT"/>
                        </a:rPr>
                        <a:t>D</a:t>
                      </a:r>
                      <a:r>
                        <a:rPr sz="1350" spc="7" baseline="-21604" dirty="0">
                          <a:latin typeface="Arial MT"/>
                          <a:cs typeface="Arial MT"/>
                        </a:rPr>
                        <a:t>1</a:t>
                      </a:r>
                      <a:endParaRPr sz="1350" baseline="-21604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36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5" dirty="0">
                          <a:latin typeface="Arial MT"/>
                          <a:cs typeface="Arial MT"/>
                        </a:rPr>
                        <a:t>D</a:t>
                      </a:r>
                      <a:r>
                        <a:rPr sz="1350" spc="7" baseline="-21604" dirty="0">
                          <a:latin typeface="Arial MT"/>
                          <a:cs typeface="Arial MT"/>
                        </a:rPr>
                        <a:t>2</a:t>
                      </a:r>
                      <a:endParaRPr sz="1350" baseline="-21604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5" dirty="0">
                          <a:latin typeface="Arial MT"/>
                          <a:cs typeface="Arial MT"/>
                        </a:rPr>
                        <a:t>D</a:t>
                      </a:r>
                      <a:r>
                        <a:rPr sz="1350" spc="7" baseline="-21604" dirty="0">
                          <a:latin typeface="Arial MT"/>
                          <a:cs typeface="Arial MT"/>
                        </a:rPr>
                        <a:t>3</a:t>
                      </a:r>
                      <a:endParaRPr sz="1350" baseline="-21604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5" dirty="0">
                          <a:latin typeface="Arial MT"/>
                          <a:cs typeface="Arial MT"/>
                        </a:rPr>
                        <a:t>D</a:t>
                      </a:r>
                      <a:r>
                        <a:rPr sz="1350" spc="7" baseline="-21604" dirty="0">
                          <a:latin typeface="Arial MT"/>
                          <a:cs typeface="Arial MT"/>
                        </a:rPr>
                        <a:t>4</a:t>
                      </a:r>
                      <a:endParaRPr sz="1350" baseline="-21604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5" dirty="0">
                          <a:latin typeface="Arial MT"/>
                          <a:cs typeface="Arial MT"/>
                        </a:rPr>
                        <a:t>D</a:t>
                      </a:r>
                      <a:r>
                        <a:rPr sz="1350" spc="7" baseline="-21604" dirty="0">
                          <a:latin typeface="Arial MT"/>
                          <a:cs typeface="Arial MT"/>
                        </a:rPr>
                        <a:t>5</a:t>
                      </a:r>
                      <a:endParaRPr sz="1350" baseline="-21604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5" dirty="0">
                          <a:latin typeface="Arial MT"/>
                          <a:cs typeface="Arial MT"/>
                        </a:rPr>
                        <a:t>D</a:t>
                      </a:r>
                      <a:r>
                        <a:rPr sz="1350" spc="7" baseline="-21604" dirty="0">
                          <a:latin typeface="Arial MT"/>
                          <a:cs typeface="Arial MT"/>
                        </a:rPr>
                        <a:t>6</a:t>
                      </a:r>
                      <a:endParaRPr sz="1350" baseline="-21604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5" dirty="0">
                          <a:latin typeface="Arial MT"/>
                          <a:cs typeface="Arial MT"/>
                        </a:rPr>
                        <a:t>D</a:t>
                      </a:r>
                      <a:r>
                        <a:rPr sz="1350" spc="7" baseline="-21604" dirty="0">
                          <a:latin typeface="Arial MT"/>
                          <a:cs typeface="Arial MT"/>
                        </a:rPr>
                        <a:t>7</a:t>
                      </a:r>
                      <a:endParaRPr sz="1350" baseline="-21604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St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44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op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1981200" y="5829296"/>
            <a:ext cx="5181600" cy="76200"/>
            <a:chOff x="1981200" y="5829296"/>
            <a:chExt cx="5181600" cy="76200"/>
          </a:xfrm>
        </p:grpSpPr>
        <p:sp>
          <p:nvSpPr>
            <p:cNvPr id="7" name="object 7"/>
            <p:cNvSpPr/>
            <p:nvPr/>
          </p:nvSpPr>
          <p:spPr>
            <a:xfrm>
              <a:off x="1981200" y="5867399"/>
              <a:ext cx="5118100" cy="0"/>
            </a:xfrm>
            <a:custGeom>
              <a:avLst/>
              <a:gdLst/>
              <a:ahLst/>
              <a:cxnLst/>
              <a:rect l="l" t="t" r="r" b="b"/>
              <a:pathLst>
                <a:path w="5118100">
                  <a:moveTo>
                    <a:pt x="0" y="0"/>
                  </a:moveTo>
                  <a:lnTo>
                    <a:pt x="51181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086602" y="58292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199"/>
                  </a:lnTo>
                  <a:lnTo>
                    <a:pt x="76200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831339" y="5862573"/>
            <a:ext cx="46926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65" dirty="0">
                <a:latin typeface="Arial MT"/>
                <a:cs typeface="Arial MT"/>
              </a:rPr>
              <a:t>T</a:t>
            </a:r>
            <a:r>
              <a:rPr sz="1600" spc="-5" dirty="0">
                <a:latin typeface="Arial MT"/>
                <a:cs typeface="Arial MT"/>
              </a:rPr>
              <a:t>im</a:t>
            </a:r>
            <a:r>
              <a:rPr sz="1600" dirty="0">
                <a:latin typeface="Arial MT"/>
                <a:cs typeface="Arial MT"/>
              </a:rPr>
              <a:t>e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041650" y="5257800"/>
            <a:ext cx="1022350" cy="304800"/>
            <a:chOff x="3041650" y="5257800"/>
            <a:chExt cx="1022350" cy="304800"/>
          </a:xfrm>
        </p:grpSpPr>
        <p:sp>
          <p:nvSpPr>
            <p:cNvPr id="11" name="object 11"/>
            <p:cNvSpPr/>
            <p:nvPr/>
          </p:nvSpPr>
          <p:spPr>
            <a:xfrm>
              <a:off x="3048000" y="5257800"/>
              <a:ext cx="0" cy="304800"/>
            </a:xfrm>
            <a:custGeom>
              <a:avLst/>
              <a:gdLst/>
              <a:ahLst/>
              <a:cxnLst/>
              <a:rect l="l" t="t" r="r" b="b"/>
              <a:pathLst>
                <a:path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111500" y="5410200"/>
              <a:ext cx="952500" cy="0"/>
            </a:xfrm>
            <a:custGeom>
              <a:avLst/>
              <a:gdLst/>
              <a:ahLst/>
              <a:cxnLst/>
              <a:rect l="l" t="t" r="r" b="b"/>
              <a:pathLst>
                <a:path w="952500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48001" y="53720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38099"/>
                  </a:lnTo>
                  <a:lnTo>
                    <a:pt x="76200" y="76199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5410200" y="5257800"/>
            <a:ext cx="996950" cy="304800"/>
            <a:chOff x="5410200" y="5257800"/>
            <a:chExt cx="996950" cy="304800"/>
          </a:xfrm>
        </p:grpSpPr>
        <p:sp>
          <p:nvSpPr>
            <p:cNvPr id="15" name="object 15"/>
            <p:cNvSpPr/>
            <p:nvPr/>
          </p:nvSpPr>
          <p:spPr>
            <a:xfrm>
              <a:off x="6400800" y="5257800"/>
              <a:ext cx="0" cy="304800"/>
            </a:xfrm>
            <a:custGeom>
              <a:avLst/>
              <a:gdLst/>
              <a:ahLst/>
              <a:cxnLst/>
              <a:rect l="l" t="t" r="r" b="b"/>
              <a:pathLst>
                <a:path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410200" y="5410200"/>
              <a:ext cx="927100" cy="0"/>
            </a:xfrm>
            <a:custGeom>
              <a:avLst/>
              <a:gdLst/>
              <a:ahLst/>
              <a:cxnLst/>
              <a:rect l="l" t="t" r="r" b="b"/>
              <a:pathLst>
                <a:path w="927100">
                  <a:moveTo>
                    <a:pt x="0" y="0"/>
                  </a:moveTo>
                  <a:lnTo>
                    <a:pt x="9271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324602" y="53720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199"/>
                  </a:lnTo>
                  <a:lnTo>
                    <a:pt x="76200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142740" y="5297360"/>
            <a:ext cx="119126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 MT"/>
                <a:cs typeface="Arial MT"/>
              </a:rPr>
              <a:t>One</a:t>
            </a:r>
            <a:r>
              <a:rPr sz="1400" spc="-6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Character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61742" y="0"/>
            <a:ext cx="4619625" cy="1366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03910" marR="5080" indent="-79184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Simplex</a:t>
            </a:r>
            <a:r>
              <a:rPr spc="-30" dirty="0"/>
              <a:t> </a:t>
            </a:r>
            <a:r>
              <a:rPr spc="-5" dirty="0"/>
              <a:t>and</a:t>
            </a:r>
            <a:r>
              <a:rPr spc="-25" dirty="0"/>
              <a:t> </a:t>
            </a:r>
            <a:r>
              <a:rPr spc="-5" dirty="0"/>
              <a:t>Duplex </a:t>
            </a:r>
            <a:r>
              <a:rPr spc="-1085" dirty="0"/>
              <a:t> </a:t>
            </a:r>
            <a:r>
              <a:rPr spc="-5" dirty="0"/>
              <a:t>Transmission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0739" y="1153229"/>
            <a:ext cx="7032625" cy="552704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450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Simplex.</a:t>
            </a:r>
            <a:endParaRPr sz="28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295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One-way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transmission.</a:t>
            </a:r>
            <a:endParaRPr sz="2400">
              <a:latin typeface="Times New Roman"/>
              <a:cs typeface="Times New Roman"/>
            </a:endParaRPr>
          </a:p>
          <a:p>
            <a:pPr marL="755650" lvl="1" indent="-287020">
              <a:lnSpc>
                <a:spcPct val="100000"/>
              </a:lnSpc>
              <a:spcBef>
                <a:spcPts val="290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Only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one</a:t>
            </a:r>
            <a:r>
              <a:rPr sz="2400" spc="-5" dirty="0">
                <a:latin typeface="Times New Roman"/>
                <a:cs typeface="Times New Roman"/>
              </a:rPr>
              <a:t> wire is </a:t>
            </a:r>
            <a:r>
              <a:rPr sz="2400" dirty="0">
                <a:latin typeface="Times New Roman"/>
                <a:cs typeface="Times New Roman"/>
              </a:rPr>
              <a:t>needed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to </a:t>
            </a:r>
            <a:r>
              <a:rPr sz="2400" dirty="0">
                <a:latin typeface="Times New Roman"/>
                <a:cs typeface="Times New Roman"/>
              </a:rPr>
              <a:t>connect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two devices</a:t>
            </a:r>
            <a:endParaRPr sz="24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285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spc="-5" dirty="0">
                <a:latin typeface="Times New Roman"/>
                <a:cs typeface="Times New Roman"/>
              </a:rPr>
              <a:t>Like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communication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from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computer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printer.</a:t>
            </a:r>
            <a:endParaRPr sz="2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buFont typeface="Times New Roman"/>
              <a:buChar char="–"/>
            </a:pPr>
            <a:endParaRPr sz="350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Half-Duplex.</a:t>
            </a:r>
            <a:endParaRPr sz="28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295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Two-way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transmission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one</a:t>
            </a:r>
            <a:r>
              <a:rPr sz="2400" spc="-5" dirty="0">
                <a:latin typeface="Times New Roman"/>
                <a:cs typeface="Times New Roman"/>
              </a:rPr>
              <a:t> way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time.</a:t>
            </a:r>
            <a:endParaRPr sz="24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290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spc="-5" dirty="0">
                <a:latin typeface="Times New Roman"/>
                <a:cs typeface="Times New Roman"/>
              </a:rPr>
              <a:t>One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wire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sufficient.</a:t>
            </a:r>
            <a:endParaRPr sz="2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Font typeface="Times New Roman"/>
              <a:buChar char="–"/>
            </a:pPr>
            <a:endParaRPr sz="300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Full-Duplex.</a:t>
            </a:r>
            <a:endParaRPr sz="28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300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Data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flows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both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ways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at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same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time.</a:t>
            </a:r>
            <a:endParaRPr sz="24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285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Two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wires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needed.</a:t>
            </a:r>
            <a:endParaRPr sz="24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290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Like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transmission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between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two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computers.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69572" y="814069"/>
            <a:ext cx="480377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Rate</a:t>
            </a:r>
            <a:r>
              <a:rPr spc="-25" dirty="0"/>
              <a:t> </a:t>
            </a:r>
            <a:r>
              <a:rPr spc="-5" dirty="0"/>
              <a:t>of</a:t>
            </a:r>
            <a:r>
              <a:rPr spc="-25" dirty="0"/>
              <a:t> </a:t>
            </a:r>
            <a:r>
              <a:rPr spc="-5" dirty="0"/>
              <a:t>Transmission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2002027"/>
            <a:ext cx="7465695" cy="4000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5" dirty="0">
                <a:latin typeface="Times New Roman"/>
                <a:cs typeface="Times New Roman"/>
              </a:rPr>
              <a:t> parallel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transmission,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all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bits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are sent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at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once.</a:t>
            </a:r>
            <a:endParaRPr sz="2800">
              <a:latin typeface="Times New Roman"/>
              <a:cs typeface="Times New Roman"/>
            </a:endParaRPr>
          </a:p>
          <a:p>
            <a:pPr marL="355600" marR="280670" indent="-343535">
              <a:lnSpc>
                <a:spcPct val="100000"/>
              </a:lnSpc>
              <a:spcBef>
                <a:spcPts val="670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5" dirty="0">
                <a:latin typeface="Times New Roman"/>
                <a:cs typeface="Times New Roman"/>
              </a:rPr>
              <a:t> serial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transmission,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bits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are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sent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time.</a:t>
            </a:r>
            <a:endParaRPr sz="2800">
              <a:latin typeface="Times New Roman"/>
              <a:cs typeface="Times New Roman"/>
            </a:endParaRPr>
          </a:p>
          <a:p>
            <a:pPr marL="755650" marR="83820" indent="-285750">
              <a:lnSpc>
                <a:spcPct val="100000"/>
              </a:lnSpc>
              <a:spcBef>
                <a:spcPts val="590"/>
              </a:spcBef>
              <a:tabLst>
                <a:tab pos="755015" algn="l"/>
              </a:tabLst>
            </a:pPr>
            <a:r>
              <a:rPr sz="2400" dirty="0">
                <a:latin typeface="Times New Roman"/>
                <a:cs typeface="Times New Roman"/>
              </a:rPr>
              <a:t>–	</a:t>
            </a:r>
            <a:r>
              <a:rPr sz="2400" spc="-5" dirty="0">
                <a:latin typeface="Times New Roman"/>
                <a:cs typeface="Times New Roman"/>
              </a:rPr>
              <a:t>Therefore, there needs to </a:t>
            </a:r>
            <a:r>
              <a:rPr sz="2400" dirty="0">
                <a:latin typeface="Times New Roman"/>
                <a:cs typeface="Times New Roman"/>
              </a:rPr>
              <a:t>be </a:t>
            </a:r>
            <a:r>
              <a:rPr sz="2400" spc="-5" dirty="0">
                <a:latin typeface="Times New Roman"/>
                <a:cs typeface="Times New Roman"/>
              </a:rPr>
              <a:t>agreement </a:t>
            </a:r>
            <a:r>
              <a:rPr sz="2400" dirty="0">
                <a:latin typeface="Times New Roman"/>
                <a:cs typeface="Times New Roman"/>
              </a:rPr>
              <a:t>on how </a:t>
            </a:r>
            <a:r>
              <a:rPr sz="2400" spc="-5" dirty="0">
                <a:latin typeface="Times New Roman"/>
                <a:cs typeface="Times New Roman"/>
              </a:rPr>
              <a:t>“long”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each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bit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stays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line.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550">
              <a:latin typeface="Times New Roman"/>
              <a:cs typeface="Times New Roman"/>
            </a:endParaRPr>
          </a:p>
          <a:p>
            <a:pPr marL="355600" marR="406400" indent="-343535">
              <a:lnSpc>
                <a:spcPct val="100000"/>
              </a:lnSpc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rate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5" dirty="0">
                <a:latin typeface="Times New Roman"/>
                <a:cs typeface="Times New Roman"/>
              </a:rPr>
              <a:t>transmission </a:t>
            </a:r>
            <a:r>
              <a:rPr sz="2800" dirty="0">
                <a:latin typeface="Times New Roman"/>
                <a:cs typeface="Times New Roman"/>
              </a:rPr>
              <a:t>is </a:t>
            </a:r>
            <a:r>
              <a:rPr sz="2800" spc="-5" dirty="0">
                <a:latin typeface="Times New Roman"/>
                <a:cs typeface="Times New Roman"/>
              </a:rPr>
              <a:t>usually measured </a:t>
            </a:r>
            <a:r>
              <a:rPr sz="2800" dirty="0">
                <a:latin typeface="Times New Roman"/>
                <a:cs typeface="Times New Roman"/>
              </a:rPr>
              <a:t>in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bits/second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5" dirty="0">
                <a:latin typeface="Times New Roman"/>
                <a:cs typeface="Times New Roman"/>
              </a:rPr>
              <a:t> baud.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26335" y="814069"/>
            <a:ext cx="42906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Length</a:t>
            </a:r>
            <a:r>
              <a:rPr spc="-30" dirty="0"/>
              <a:t> </a:t>
            </a:r>
            <a:r>
              <a:rPr spc="-5" dirty="0"/>
              <a:t>of</a:t>
            </a:r>
            <a:r>
              <a:rPr spc="-25" dirty="0"/>
              <a:t> </a:t>
            </a:r>
            <a:r>
              <a:rPr spc="-5" dirty="0"/>
              <a:t>Each</a:t>
            </a:r>
            <a:r>
              <a:rPr spc="-15" dirty="0"/>
              <a:t> </a:t>
            </a:r>
            <a:r>
              <a:rPr spc="-5" dirty="0"/>
              <a:t>Bit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2000504"/>
            <a:ext cx="7368540" cy="2539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Given a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certain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baud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rate, how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long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should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each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bit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last?</a:t>
            </a:r>
            <a:endParaRPr sz="32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9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Baud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bits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/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second.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Seconds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/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bits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/baud.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75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Times New Roman"/>
                <a:cs typeface="Times New Roman"/>
              </a:rPr>
              <a:t>At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1200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baud,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bit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lasts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1/1200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0.83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Sec.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7204" y="814069"/>
            <a:ext cx="560832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Transmitting</a:t>
            </a:r>
            <a:r>
              <a:rPr spc="-20" dirty="0"/>
              <a:t> </a:t>
            </a:r>
            <a:r>
              <a:rPr spc="-5" dirty="0"/>
              <a:t>a</a:t>
            </a:r>
            <a:r>
              <a:rPr spc="-20" dirty="0"/>
              <a:t> </a:t>
            </a:r>
            <a:r>
              <a:rPr spc="-5" dirty="0"/>
              <a:t>Character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59355"/>
            <a:ext cx="7535545" cy="377634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marR="814069" indent="-343535">
              <a:lnSpc>
                <a:spcPts val="3020"/>
              </a:lnSpc>
              <a:spcBef>
                <a:spcPts val="484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To send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character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over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serial 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communication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line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baud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rate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56.6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K:</a:t>
            </a:r>
            <a:endParaRPr sz="28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259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ASCII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41H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01000001.</a:t>
            </a:r>
            <a:endParaRPr sz="24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285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Must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 start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bit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" dirty="0">
                <a:latin typeface="Times New Roman"/>
                <a:cs typeface="Times New Roman"/>
              </a:rPr>
              <a:t> two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stop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bits:</a:t>
            </a:r>
            <a:endParaRPr sz="2400">
              <a:latin typeface="Times New Roman"/>
              <a:cs typeface="Times New Roman"/>
            </a:endParaRPr>
          </a:p>
          <a:p>
            <a:pPr marL="1155700" lvl="2" indent="-229870">
              <a:lnSpc>
                <a:spcPct val="100000"/>
              </a:lnSpc>
              <a:spcBef>
                <a:spcPts val="254"/>
              </a:spcBef>
              <a:buChar char="•"/>
              <a:tabLst>
                <a:tab pos="1155065" algn="l"/>
                <a:tab pos="1156335" algn="l"/>
              </a:tabLst>
            </a:pPr>
            <a:r>
              <a:rPr sz="2000" spc="-5" dirty="0">
                <a:latin typeface="Times New Roman"/>
                <a:cs typeface="Times New Roman"/>
              </a:rPr>
              <a:t>11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01000001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285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Each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bit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should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last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1/56.6K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17.66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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Sec.</a:t>
            </a:r>
            <a:endParaRPr sz="2400">
              <a:latin typeface="Times New Roman"/>
              <a:cs typeface="Times New Roman"/>
            </a:endParaRPr>
          </a:p>
          <a:p>
            <a:pPr marL="1155700" lvl="2" indent="-229870">
              <a:lnSpc>
                <a:spcPct val="100000"/>
              </a:lnSpc>
              <a:spcBef>
                <a:spcPts val="245"/>
              </a:spcBef>
              <a:buChar char="•"/>
              <a:tabLst>
                <a:tab pos="1155065" algn="l"/>
                <a:tab pos="1156335" algn="l"/>
              </a:tabLst>
            </a:pPr>
            <a:r>
              <a:rPr sz="2000" spc="-5" dirty="0">
                <a:latin typeface="Times New Roman"/>
                <a:cs typeface="Times New Roman"/>
              </a:rPr>
              <a:t>Known as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bit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time.</a:t>
            </a:r>
            <a:endParaRPr sz="2000">
              <a:latin typeface="Times New Roman"/>
              <a:cs typeface="Times New Roman"/>
            </a:endParaRPr>
          </a:p>
          <a:p>
            <a:pPr marL="755650" marR="5080" lvl="1" indent="-286385">
              <a:lnSpc>
                <a:spcPct val="89800"/>
              </a:lnSpc>
              <a:spcBef>
                <a:spcPts val="575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Set </a:t>
            </a:r>
            <a:r>
              <a:rPr sz="2400" dirty="0">
                <a:latin typeface="Times New Roman"/>
                <a:cs typeface="Times New Roman"/>
              </a:rPr>
              <a:t>up a </a:t>
            </a:r>
            <a:r>
              <a:rPr sz="2400" spc="-5" dirty="0">
                <a:latin typeface="Times New Roman"/>
                <a:cs typeface="Times New Roman"/>
              </a:rPr>
              <a:t>delay loop for </a:t>
            </a:r>
            <a:r>
              <a:rPr sz="2400" dirty="0">
                <a:latin typeface="Times New Roman"/>
                <a:cs typeface="Times New Roman"/>
              </a:rPr>
              <a:t>17.66 </a:t>
            </a:r>
            <a:r>
              <a:rPr sz="2400" dirty="0">
                <a:latin typeface="Symbol"/>
                <a:cs typeface="Symbol"/>
              </a:rPr>
              <a:t>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Sec </a:t>
            </a:r>
            <a:r>
              <a:rPr sz="2400" dirty="0">
                <a:latin typeface="Times New Roman"/>
                <a:cs typeface="Times New Roman"/>
              </a:rPr>
              <a:t>and </a:t>
            </a:r>
            <a:r>
              <a:rPr sz="2400" spc="-5" dirty="0">
                <a:latin typeface="Times New Roman"/>
                <a:cs typeface="Times New Roman"/>
              </a:rPr>
              <a:t>set the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transmission line to the different bits for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duration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loop.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5664" y="204469"/>
            <a:ext cx="348424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Error</a:t>
            </a:r>
            <a:r>
              <a:rPr spc="-75" dirty="0"/>
              <a:t> </a:t>
            </a:r>
            <a:r>
              <a:rPr spc="-5" dirty="0"/>
              <a:t>Checking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0739" y="1197355"/>
            <a:ext cx="6542405" cy="543433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marR="314325" indent="-343535">
              <a:lnSpc>
                <a:spcPts val="3020"/>
              </a:lnSpc>
              <a:spcBef>
                <a:spcPts val="484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latin typeface="Times New Roman"/>
                <a:cs typeface="Times New Roman"/>
              </a:rPr>
              <a:t>Various </a:t>
            </a:r>
            <a:r>
              <a:rPr sz="2800" spc="-5" dirty="0">
                <a:latin typeface="Times New Roman"/>
                <a:cs typeface="Times New Roman"/>
              </a:rPr>
              <a:t>types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5" dirty="0">
                <a:latin typeface="Times New Roman"/>
                <a:cs typeface="Times New Roman"/>
              </a:rPr>
              <a:t>errors may occur </a:t>
            </a:r>
            <a:r>
              <a:rPr sz="2800" dirty="0">
                <a:latin typeface="Times New Roman"/>
                <a:cs typeface="Times New Roman"/>
              </a:rPr>
              <a:t>during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transmission.</a:t>
            </a:r>
            <a:endParaRPr sz="2800">
              <a:latin typeface="Times New Roman"/>
              <a:cs typeface="Times New Roman"/>
            </a:endParaRPr>
          </a:p>
          <a:p>
            <a:pPr marL="755650" marR="224154" lvl="1" indent="-285750">
              <a:lnSpc>
                <a:spcPts val="2590"/>
              </a:lnSpc>
              <a:spcBef>
                <a:spcPts val="585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spc="-5" dirty="0">
                <a:latin typeface="Times New Roman"/>
                <a:cs typeface="Times New Roman"/>
              </a:rPr>
              <a:t>To allow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checking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for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these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errors,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additional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information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transmitted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with the data.</a:t>
            </a:r>
            <a:endParaRPr sz="2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Font typeface="Times New Roman"/>
              <a:buChar char="–"/>
            </a:pPr>
            <a:endParaRPr sz="230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Error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checking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techniques:</a:t>
            </a:r>
            <a:endParaRPr sz="28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300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Parity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Checking.</a:t>
            </a:r>
            <a:endParaRPr sz="24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290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spc="-5" dirty="0">
                <a:latin typeface="Times New Roman"/>
                <a:cs typeface="Times New Roman"/>
              </a:rPr>
              <a:t>Checksum.</a:t>
            </a:r>
            <a:endParaRPr sz="2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Font typeface="Times New Roman"/>
              <a:buChar char="–"/>
            </a:pPr>
            <a:endParaRPr sz="2650">
              <a:latin typeface="Times New Roman"/>
              <a:cs typeface="Times New Roman"/>
            </a:endParaRPr>
          </a:p>
          <a:p>
            <a:pPr marL="355600" marR="5080" indent="-343535">
              <a:lnSpc>
                <a:spcPts val="3020"/>
              </a:lnSpc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These techniques are </a:t>
            </a:r>
            <a:r>
              <a:rPr sz="2800" dirty="0">
                <a:latin typeface="Times New Roman"/>
                <a:cs typeface="Times New Roman"/>
              </a:rPr>
              <a:t>for </a:t>
            </a:r>
            <a:r>
              <a:rPr sz="2800" spc="-5" dirty="0">
                <a:latin typeface="Times New Roman"/>
                <a:cs typeface="Times New Roman"/>
              </a:rPr>
              <a:t>error checking </a:t>
            </a:r>
            <a:r>
              <a:rPr sz="2800" dirty="0">
                <a:latin typeface="Times New Roman"/>
                <a:cs typeface="Times New Roman"/>
              </a:rPr>
              <a:t>not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correction.</a:t>
            </a:r>
            <a:endParaRPr sz="28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260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They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only indicate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that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error </a:t>
            </a:r>
            <a:r>
              <a:rPr sz="2400" dirty="0">
                <a:latin typeface="Times New Roman"/>
                <a:cs typeface="Times New Roman"/>
              </a:rPr>
              <a:t>has </a:t>
            </a:r>
            <a:r>
              <a:rPr sz="2400" spc="-5" dirty="0">
                <a:latin typeface="Times New Roman"/>
                <a:cs typeface="Times New Roman"/>
              </a:rPr>
              <a:t>occurred.</a:t>
            </a:r>
            <a:endParaRPr sz="2400">
              <a:latin typeface="Times New Roman"/>
              <a:cs typeface="Times New Roman"/>
            </a:endParaRPr>
          </a:p>
          <a:p>
            <a:pPr marL="755650" marR="81915" lvl="1" indent="-286385">
              <a:lnSpc>
                <a:spcPts val="2590"/>
              </a:lnSpc>
              <a:spcBef>
                <a:spcPts val="615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They </a:t>
            </a:r>
            <a:r>
              <a:rPr sz="2400" dirty="0">
                <a:latin typeface="Times New Roman"/>
                <a:cs typeface="Times New Roman"/>
              </a:rPr>
              <a:t>do not </a:t>
            </a:r>
            <a:r>
              <a:rPr sz="2400" spc="-5" dirty="0">
                <a:latin typeface="Times New Roman"/>
                <a:cs typeface="Times New Roman"/>
              </a:rPr>
              <a:t>indicate where </a:t>
            </a:r>
            <a:r>
              <a:rPr sz="2400" dirty="0">
                <a:latin typeface="Times New Roman"/>
                <a:cs typeface="Times New Roman"/>
              </a:rPr>
              <a:t>or </a:t>
            </a:r>
            <a:r>
              <a:rPr sz="2400" spc="-5" dirty="0">
                <a:latin typeface="Times New Roman"/>
                <a:cs typeface="Times New Roman"/>
              </a:rPr>
              <a:t>what the correct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information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0947" y="814069"/>
            <a:ext cx="364109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Parity</a:t>
            </a:r>
            <a:r>
              <a:rPr spc="-65" dirty="0"/>
              <a:t> </a:t>
            </a:r>
            <a:r>
              <a:rPr spc="-5" dirty="0"/>
              <a:t>Checking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9140" y="1915229"/>
            <a:ext cx="7560309" cy="3899535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381000" indent="-343535">
              <a:lnSpc>
                <a:spcPct val="100000"/>
              </a:lnSpc>
              <a:spcBef>
                <a:spcPts val="450"/>
              </a:spcBef>
              <a:buChar char="•"/>
              <a:tabLst>
                <a:tab pos="381000" algn="l"/>
                <a:tab pos="381635" algn="l"/>
              </a:tabLst>
            </a:pPr>
            <a:r>
              <a:rPr sz="2800" spc="-5" dirty="0">
                <a:latin typeface="Times New Roman"/>
                <a:cs typeface="Times New Roman"/>
              </a:rPr>
              <a:t>Make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number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1’s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data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Odd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5" dirty="0">
                <a:latin typeface="Times New Roman"/>
                <a:cs typeface="Times New Roman"/>
              </a:rPr>
              <a:t> Even.</a:t>
            </a:r>
            <a:endParaRPr sz="2800">
              <a:latin typeface="Times New Roman"/>
              <a:cs typeface="Times New Roman"/>
            </a:endParaRPr>
          </a:p>
          <a:p>
            <a:pPr marL="781050" marR="30480" lvl="1" indent="-285750">
              <a:lnSpc>
                <a:spcPts val="2590"/>
              </a:lnSpc>
              <a:spcBef>
                <a:spcPts val="625"/>
              </a:spcBef>
              <a:buChar char="–"/>
              <a:tabLst>
                <a:tab pos="780415" algn="l"/>
                <a:tab pos="781050" algn="l"/>
              </a:tabLst>
            </a:pPr>
            <a:r>
              <a:rPr sz="2400" spc="-5" dirty="0">
                <a:latin typeface="Times New Roman"/>
                <a:cs typeface="Times New Roman"/>
              </a:rPr>
              <a:t>Given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that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ASCII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7-bit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code,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bit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</a:t>
            </a:r>
            <a:r>
              <a:rPr sz="2400" baseline="-20833" dirty="0">
                <a:latin typeface="Times New Roman"/>
                <a:cs typeface="Times New Roman"/>
              </a:rPr>
              <a:t>7</a:t>
            </a:r>
            <a:r>
              <a:rPr sz="2400" spc="307" baseline="-20833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 used</a:t>
            </a:r>
            <a:r>
              <a:rPr sz="2400" dirty="0">
                <a:latin typeface="Times New Roman"/>
                <a:cs typeface="Times New Roman"/>
              </a:rPr>
              <a:t> 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carry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parity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information.</a:t>
            </a:r>
            <a:endParaRPr sz="2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Font typeface="Times New Roman"/>
              <a:buChar char="–"/>
            </a:pPr>
            <a:endParaRPr sz="3400">
              <a:latin typeface="Times New Roman"/>
              <a:cs typeface="Times New Roman"/>
            </a:endParaRPr>
          </a:p>
          <a:p>
            <a:pPr marL="781050" lvl="1" indent="-286385">
              <a:lnSpc>
                <a:spcPct val="100000"/>
              </a:lnSpc>
              <a:buChar char="–"/>
              <a:tabLst>
                <a:tab pos="781050" algn="l"/>
                <a:tab pos="781685" algn="l"/>
              </a:tabLst>
            </a:pPr>
            <a:r>
              <a:rPr sz="2400" spc="-5" dirty="0">
                <a:latin typeface="Times New Roman"/>
                <a:cs typeface="Times New Roman"/>
              </a:rPr>
              <a:t>Even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Parity</a:t>
            </a:r>
            <a:endParaRPr sz="2400">
              <a:latin typeface="Times New Roman"/>
              <a:cs typeface="Times New Roman"/>
            </a:endParaRPr>
          </a:p>
          <a:p>
            <a:pPr marL="1180465" marR="97790" lvl="2" indent="-228600">
              <a:lnSpc>
                <a:spcPts val="2160"/>
              </a:lnSpc>
              <a:spcBef>
                <a:spcPts val="530"/>
              </a:spcBef>
              <a:buChar char="•"/>
              <a:tabLst>
                <a:tab pos="1180465" algn="l"/>
                <a:tab pos="1181735" algn="l"/>
              </a:tabLst>
            </a:pPr>
            <a:r>
              <a:rPr sz="2000" spc="-5" dirty="0">
                <a:latin typeface="Times New Roman"/>
                <a:cs typeface="Times New Roman"/>
              </a:rPr>
              <a:t>The transmitter counts the number of ones in the data. If there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 an odd number of 1’s, bit </a:t>
            </a:r>
            <a:r>
              <a:rPr sz="2000" spc="5" dirty="0">
                <a:latin typeface="Times New Roman"/>
                <a:cs typeface="Times New Roman"/>
              </a:rPr>
              <a:t>D</a:t>
            </a:r>
            <a:r>
              <a:rPr sz="1950" spc="7" baseline="-21367" dirty="0">
                <a:latin typeface="Times New Roman"/>
                <a:cs typeface="Times New Roman"/>
              </a:rPr>
              <a:t>7</a:t>
            </a:r>
            <a:r>
              <a:rPr sz="1950" spc="15" baseline="-21367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 set to 1 to make the total 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number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of 1’s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even.</a:t>
            </a:r>
            <a:endParaRPr sz="2000">
              <a:latin typeface="Times New Roman"/>
              <a:cs typeface="Times New Roman"/>
            </a:endParaRPr>
          </a:p>
          <a:p>
            <a:pPr marL="1180465" marR="253365" lvl="2" indent="-229235">
              <a:lnSpc>
                <a:spcPts val="2160"/>
              </a:lnSpc>
              <a:spcBef>
                <a:spcPts val="480"/>
              </a:spcBef>
              <a:buChar char="•"/>
              <a:tabLst>
                <a:tab pos="1180465" algn="l"/>
                <a:tab pos="1181100" algn="l"/>
              </a:tabLst>
            </a:pPr>
            <a:r>
              <a:rPr sz="2000" spc="-5" dirty="0">
                <a:latin typeface="Times New Roman"/>
                <a:cs typeface="Times New Roman"/>
              </a:rPr>
              <a:t>The receiver calculates the parity of the received message, it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should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match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bit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D</a:t>
            </a:r>
            <a:r>
              <a:rPr sz="1950" spc="7" baseline="-21367" dirty="0">
                <a:latin typeface="Times New Roman"/>
                <a:cs typeface="Times New Roman"/>
              </a:rPr>
              <a:t>7</a:t>
            </a:r>
            <a:r>
              <a:rPr sz="2000" spc="5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1409065">
              <a:lnSpc>
                <a:spcPct val="100000"/>
              </a:lnSpc>
              <a:spcBef>
                <a:spcPts val="190"/>
              </a:spcBef>
            </a:pPr>
            <a:r>
              <a:rPr sz="1800" dirty="0">
                <a:latin typeface="Times New Roman"/>
                <a:cs typeface="Times New Roman"/>
              </a:rPr>
              <a:t>–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If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it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doesn’t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match,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there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was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an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error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in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transmission.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79596" y="814069"/>
            <a:ext cx="238442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Checksum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59355"/>
            <a:ext cx="7407909" cy="465391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marR="1056640" indent="-342900">
              <a:lnSpc>
                <a:spcPts val="3020"/>
              </a:lnSpc>
              <a:spcBef>
                <a:spcPts val="484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Used when larger </a:t>
            </a:r>
            <a:r>
              <a:rPr sz="2800" dirty="0">
                <a:latin typeface="Times New Roman"/>
                <a:cs typeface="Times New Roman"/>
              </a:rPr>
              <a:t>blocks of </a:t>
            </a:r>
            <a:r>
              <a:rPr sz="2800" spc="-5" dirty="0">
                <a:latin typeface="Times New Roman"/>
                <a:cs typeface="Times New Roman"/>
              </a:rPr>
              <a:t>data are being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transmitted.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Times New Roman"/>
              <a:buChar char="•"/>
            </a:pPr>
            <a:endParaRPr sz="380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3020"/>
              </a:lnSpc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transmitter adds all </a:t>
            </a:r>
            <a:r>
              <a:rPr sz="2800" dirty="0">
                <a:latin typeface="Times New Roman"/>
                <a:cs typeface="Times New Roman"/>
              </a:rPr>
              <a:t>of the </a:t>
            </a:r>
            <a:r>
              <a:rPr sz="2800" spc="-5" dirty="0">
                <a:latin typeface="Times New Roman"/>
                <a:cs typeface="Times New Roman"/>
              </a:rPr>
              <a:t>bytes </a:t>
            </a:r>
            <a:r>
              <a:rPr sz="2800" dirty="0">
                <a:latin typeface="Times New Roman"/>
                <a:cs typeface="Times New Roman"/>
              </a:rPr>
              <a:t>in the 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message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without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carries.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 </a:t>
            </a:r>
            <a:r>
              <a:rPr sz="2800" spc="-5" dirty="0">
                <a:latin typeface="Times New Roman"/>
                <a:cs typeface="Times New Roman"/>
              </a:rPr>
              <a:t>then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calculates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2’s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complement </a:t>
            </a:r>
            <a:r>
              <a:rPr sz="2800" dirty="0">
                <a:latin typeface="Times New Roman"/>
                <a:cs typeface="Times New Roman"/>
              </a:rPr>
              <a:t>of the </a:t>
            </a:r>
            <a:r>
              <a:rPr sz="2800" spc="-5" dirty="0">
                <a:latin typeface="Times New Roman"/>
                <a:cs typeface="Times New Roman"/>
              </a:rPr>
              <a:t>result and send that as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last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byte.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Times New Roman"/>
              <a:buChar char="•"/>
            </a:pPr>
            <a:endParaRPr sz="3800">
              <a:latin typeface="Times New Roman"/>
              <a:cs typeface="Times New Roman"/>
            </a:endParaRPr>
          </a:p>
          <a:p>
            <a:pPr marL="355600" marR="151765" indent="-343535">
              <a:lnSpc>
                <a:spcPts val="3020"/>
              </a:lnSpc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receiver adds all </a:t>
            </a:r>
            <a:r>
              <a:rPr sz="2800" dirty="0">
                <a:latin typeface="Times New Roman"/>
                <a:cs typeface="Times New Roman"/>
              </a:rPr>
              <a:t>of the </a:t>
            </a:r>
            <a:r>
              <a:rPr sz="2800" spc="-5" dirty="0">
                <a:latin typeface="Times New Roman"/>
                <a:cs typeface="Times New Roman"/>
              </a:rPr>
              <a:t>bytes </a:t>
            </a:r>
            <a:r>
              <a:rPr sz="2800" dirty="0">
                <a:latin typeface="Times New Roman"/>
                <a:cs typeface="Times New Roman"/>
              </a:rPr>
              <a:t>in the </a:t>
            </a:r>
            <a:r>
              <a:rPr sz="2800" spc="-5" dirty="0">
                <a:latin typeface="Times New Roman"/>
                <a:cs typeface="Times New Roman"/>
              </a:rPr>
              <a:t>message </a:t>
            </a:r>
            <a:r>
              <a:rPr sz="2800" spc="-69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including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last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byte.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result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should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0.</a:t>
            </a:r>
            <a:endParaRPr sz="28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259"/>
              </a:spcBef>
              <a:tabLst>
                <a:tab pos="755650" algn="l"/>
              </a:tabLst>
            </a:pPr>
            <a:r>
              <a:rPr sz="2400" dirty="0">
                <a:latin typeface="Times New Roman"/>
                <a:cs typeface="Times New Roman"/>
              </a:rPr>
              <a:t>–	</a:t>
            </a:r>
            <a:r>
              <a:rPr sz="2400" spc="-5" dirty="0">
                <a:latin typeface="Times New Roman"/>
                <a:cs typeface="Times New Roman"/>
              </a:rPr>
              <a:t>If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isn’t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error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occurred.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27862" y="814069"/>
            <a:ext cx="1688464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RS</a:t>
            </a:r>
            <a:r>
              <a:rPr spc="-85" dirty="0"/>
              <a:t> </a:t>
            </a:r>
            <a:r>
              <a:rPr spc="-5" dirty="0"/>
              <a:t>232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59355"/>
            <a:ext cx="7489190" cy="483679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marR="1126490" indent="-343535">
              <a:lnSpc>
                <a:spcPts val="3020"/>
              </a:lnSpc>
              <a:spcBef>
                <a:spcPts val="484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communication standard </a:t>
            </a:r>
            <a:r>
              <a:rPr sz="2800" dirty="0">
                <a:latin typeface="Times New Roman"/>
                <a:cs typeface="Times New Roman"/>
              </a:rPr>
              <a:t>for </a:t>
            </a:r>
            <a:r>
              <a:rPr sz="2800" spc="-5" dirty="0">
                <a:latin typeface="Times New Roman"/>
                <a:cs typeface="Times New Roman"/>
              </a:rPr>
              <a:t>connecting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computers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printers,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modems,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etc.</a:t>
            </a:r>
            <a:endParaRPr sz="28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259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most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common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communication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standard.</a:t>
            </a:r>
            <a:endParaRPr sz="24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285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Defined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1950’s.</a:t>
            </a:r>
            <a:endParaRPr sz="24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290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It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uses voltages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between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+15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–15</a:t>
            </a:r>
            <a:r>
              <a:rPr sz="2400" spc="-5" dirty="0">
                <a:latin typeface="Times New Roman"/>
                <a:cs typeface="Times New Roman"/>
              </a:rPr>
              <a:t> V.</a:t>
            </a:r>
            <a:endParaRPr sz="2400">
              <a:latin typeface="Times New Roman"/>
              <a:cs typeface="Times New Roman"/>
            </a:endParaRPr>
          </a:p>
          <a:p>
            <a:pPr marL="755650" lvl="1" indent="-287020">
              <a:lnSpc>
                <a:spcPct val="100000"/>
              </a:lnSpc>
              <a:spcBef>
                <a:spcPts val="285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Restricted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speeds less than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20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K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baud.</a:t>
            </a:r>
            <a:endParaRPr sz="24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290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spc="-5" dirty="0">
                <a:latin typeface="Times New Roman"/>
                <a:cs typeface="Times New Roman"/>
              </a:rPr>
              <a:t>Restricted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distances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less than </a:t>
            </a:r>
            <a:r>
              <a:rPr sz="2400" dirty="0">
                <a:latin typeface="Times New Roman"/>
                <a:cs typeface="Times New Roman"/>
              </a:rPr>
              <a:t>50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feet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(15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m).</a:t>
            </a:r>
            <a:endParaRPr sz="2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Font typeface="Times New Roman"/>
              <a:buChar char="–"/>
            </a:pPr>
            <a:endParaRPr sz="3350">
              <a:latin typeface="Times New Roman"/>
              <a:cs typeface="Times New Roman"/>
            </a:endParaRPr>
          </a:p>
          <a:p>
            <a:pPr marL="355600" marR="5080" indent="-343535">
              <a:lnSpc>
                <a:spcPts val="3020"/>
              </a:lnSpc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original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standard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uses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25</a:t>
            </a:r>
            <a:r>
              <a:rPr sz="2800" spc="-5" dirty="0">
                <a:latin typeface="Times New Roman"/>
                <a:cs typeface="Times New Roman"/>
              </a:rPr>
              <a:t> wires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 </a:t>
            </a:r>
            <a:r>
              <a:rPr sz="2800" spc="-5" dirty="0">
                <a:latin typeface="Times New Roman"/>
                <a:cs typeface="Times New Roman"/>
              </a:rPr>
              <a:t>connect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two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devices.</a:t>
            </a:r>
            <a:endParaRPr sz="2800">
              <a:latin typeface="Times New Roman"/>
              <a:cs typeface="Times New Roman"/>
            </a:endParaRPr>
          </a:p>
          <a:p>
            <a:pPr marL="755650" marR="852169" lvl="1" indent="-286385">
              <a:lnSpc>
                <a:spcPts val="2590"/>
              </a:lnSpc>
              <a:spcBef>
                <a:spcPts val="585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However, in reality only three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these wires </a:t>
            </a:r>
            <a:r>
              <a:rPr sz="2400" dirty="0">
                <a:latin typeface="Times New Roman"/>
                <a:cs typeface="Times New Roman"/>
              </a:rPr>
              <a:t>are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needed.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84095" marR="5080" indent="-151257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Software-Controlled Serial </a:t>
            </a:r>
            <a:r>
              <a:rPr spc="-1085" dirty="0"/>
              <a:t> </a:t>
            </a:r>
            <a:r>
              <a:rPr spc="-5" dirty="0"/>
              <a:t>Transmission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2002027"/>
            <a:ext cx="7396480" cy="3879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main steps involved </a:t>
            </a:r>
            <a:r>
              <a:rPr sz="2800" dirty="0">
                <a:latin typeface="Times New Roman"/>
                <a:cs typeface="Times New Roman"/>
              </a:rPr>
              <a:t>in </a:t>
            </a:r>
            <a:r>
              <a:rPr sz="2800" spc="-5" dirty="0">
                <a:latin typeface="Times New Roman"/>
                <a:cs typeface="Times New Roman"/>
              </a:rPr>
              <a:t>serially transmitting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character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are:</a:t>
            </a:r>
            <a:endParaRPr sz="28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585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Transmission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line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at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logic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 by </a:t>
            </a:r>
            <a:r>
              <a:rPr sz="2400" spc="-5" dirty="0">
                <a:latin typeface="Times New Roman"/>
                <a:cs typeface="Times New Roman"/>
              </a:rPr>
              <a:t>default.</a:t>
            </a:r>
            <a:endParaRPr sz="24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575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Transmit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 start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bit for</a:t>
            </a:r>
            <a:r>
              <a:rPr sz="2400" dirty="0">
                <a:latin typeface="Times New Roman"/>
                <a:cs typeface="Times New Roman"/>
              </a:rPr>
              <a:t> one</a:t>
            </a:r>
            <a:r>
              <a:rPr sz="2400" spc="-5" dirty="0">
                <a:latin typeface="Times New Roman"/>
                <a:cs typeface="Times New Roman"/>
              </a:rPr>
              <a:t> complete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bit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length.</a:t>
            </a:r>
            <a:endParaRPr sz="2400">
              <a:latin typeface="Times New Roman"/>
              <a:cs typeface="Times New Roman"/>
            </a:endParaRPr>
          </a:p>
          <a:p>
            <a:pPr marL="755650" marR="1007744" lvl="1" indent="-286385">
              <a:lnSpc>
                <a:spcPct val="100000"/>
              </a:lnSpc>
              <a:spcBef>
                <a:spcPts val="580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Transmit the character as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stream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bits with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appropriate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delay.</a:t>
            </a:r>
            <a:endParaRPr sz="24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575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Calculate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parity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transmit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needed.</a:t>
            </a:r>
            <a:endParaRPr sz="24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575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Transmit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appropriate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number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stop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bits.</a:t>
            </a:r>
            <a:endParaRPr sz="24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575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Transmission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line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returns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logic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32608" y="814069"/>
            <a:ext cx="447802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Serial</a:t>
            </a:r>
            <a:r>
              <a:rPr spc="-45" dirty="0"/>
              <a:t> </a:t>
            </a:r>
            <a:r>
              <a:rPr spc="-5" dirty="0"/>
              <a:t>Transmission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898650" y="1898650"/>
            <a:ext cx="1384300" cy="2984500"/>
            <a:chOff x="1898650" y="1898650"/>
            <a:chExt cx="1384300" cy="2984500"/>
          </a:xfrm>
        </p:grpSpPr>
        <p:sp>
          <p:nvSpPr>
            <p:cNvPr id="4" name="object 4"/>
            <p:cNvSpPr/>
            <p:nvPr/>
          </p:nvSpPr>
          <p:spPr>
            <a:xfrm>
              <a:off x="1905000" y="1905000"/>
              <a:ext cx="1371600" cy="2971800"/>
            </a:xfrm>
            <a:custGeom>
              <a:avLst/>
              <a:gdLst/>
              <a:ahLst/>
              <a:cxnLst/>
              <a:rect l="l" t="t" r="r" b="b"/>
              <a:pathLst>
                <a:path w="1371600" h="2971800">
                  <a:moveTo>
                    <a:pt x="1371600" y="0"/>
                  </a:moveTo>
                  <a:lnTo>
                    <a:pt x="0" y="0"/>
                  </a:lnTo>
                  <a:lnTo>
                    <a:pt x="0" y="2971800"/>
                  </a:lnTo>
                  <a:lnTo>
                    <a:pt x="1371600" y="2971800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05000" y="1905000"/>
              <a:ext cx="1371600" cy="2971800"/>
            </a:xfrm>
            <a:custGeom>
              <a:avLst/>
              <a:gdLst/>
              <a:ahLst/>
              <a:cxnLst/>
              <a:rect l="l" t="t" r="r" b="b"/>
              <a:pathLst>
                <a:path w="1371600" h="2971800">
                  <a:moveTo>
                    <a:pt x="0" y="0"/>
                  </a:moveTo>
                  <a:lnTo>
                    <a:pt x="1371600" y="0"/>
                  </a:lnTo>
                  <a:lnTo>
                    <a:pt x="1371600" y="2971800"/>
                  </a:lnTo>
                  <a:lnTo>
                    <a:pt x="0" y="29718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462212" y="2490787"/>
              <a:ext cx="304800" cy="1828800"/>
            </a:xfrm>
            <a:custGeom>
              <a:avLst/>
              <a:gdLst/>
              <a:ahLst/>
              <a:cxnLst/>
              <a:rect l="l" t="t" r="r" b="b"/>
              <a:pathLst>
                <a:path w="304800" h="1828800">
                  <a:moveTo>
                    <a:pt x="304800" y="0"/>
                  </a:moveTo>
                  <a:lnTo>
                    <a:pt x="0" y="0"/>
                  </a:lnTo>
                  <a:lnTo>
                    <a:pt x="0" y="1828800"/>
                  </a:lnTo>
                  <a:lnTo>
                    <a:pt x="304800" y="1828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462212" y="2490787"/>
              <a:ext cx="304800" cy="1828800"/>
            </a:xfrm>
            <a:custGeom>
              <a:avLst/>
              <a:gdLst/>
              <a:ahLst/>
              <a:cxnLst/>
              <a:rect l="l" t="t" r="r" b="b"/>
              <a:pathLst>
                <a:path w="304800" h="1828800">
                  <a:moveTo>
                    <a:pt x="0" y="0"/>
                  </a:moveTo>
                  <a:lnTo>
                    <a:pt x="304800" y="0"/>
                  </a:lnTo>
                  <a:lnTo>
                    <a:pt x="304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462212" y="2490787"/>
            <a:ext cx="304800" cy="2286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</a:ln>
        </p:spPr>
        <p:txBody>
          <a:bodyPr vert="horz" wrap="square" lIns="0" tIns="15240" rIns="0" bIns="0" rtlCol="0">
            <a:spAutoFit/>
          </a:bodyPr>
          <a:lstStyle/>
          <a:p>
            <a:pPr marL="1905" algn="ctr">
              <a:lnSpc>
                <a:spcPts val="1680"/>
              </a:lnSpc>
              <a:spcBef>
                <a:spcPts val="120"/>
              </a:spcBef>
            </a:pPr>
            <a:r>
              <a:rPr sz="1400" spc="-5" dirty="0">
                <a:latin typeface="Arial MT"/>
                <a:cs typeface="Arial MT"/>
              </a:rPr>
              <a:t>0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62212" y="2719388"/>
            <a:ext cx="304800" cy="2286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</a:ln>
        </p:spPr>
        <p:txBody>
          <a:bodyPr vert="horz" wrap="square" lIns="0" tIns="15240" rIns="0" bIns="0" rtlCol="0">
            <a:spAutoFit/>
          </a:bodyPr>
          <a:lstStyle/>
          <a:p>
            <a:pPr marL="1905" algn="ctr">
              <a:lnSpc>
                <a:spcPts val="1675"/>
              </a:lnSpc>
              <a:spcBef>
                <a:spcPts val="120"/>
              </a:spcBef>
            </a:pPr>
            <a:r>
              <a:rPr sz="1400" spc="-5" dirty="0">
                <a:latin typeface="Arial MT"/>
                <a:cs typeface="Arial MT"/>
              </a:rPr>
              <a:t>1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62212" y="2947988"/>
            <a:ext cx="304800" cy="2286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20"/>
              </a:spcBef>
            </a:pPr>
            <a:r>
              <a:rPr sz="1400" spc="-5" dirty="0">
                <a:latin typeface="Arial MT"/>
                <a:cs typeface="Arial MT"/>
              </a:rPr>
              <a:t>0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62212" y="3176588"/>
            <a:ext cx="304800" cy="2286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20"/>
              </a:spcBef>
            </a:pPr>
            <a:r>
              <a:rPr sz="1400" spc="-5" dirty="0">
                <a:latin typeface="Arial MT"/>
                <a:cs typeface="Arial MT"/>
              </a:rPr>
              <a:t>0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62212" y="3405187"/>
            <a:ext cx="304800" cy="2286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20"/>
              </a:spcBef>
            </a:pPr>
            <a:r>
              <a:rPr sz="1400" spc="-5" dirty="0">
                <a:latin typeface="Arial MT"/>
                <a:cs typeface="Arial MT"/>
              </a:rPr>
              <a:t>0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62212" y="3633787"/>
            <a:ext cx="304800" cy="2286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25"/>
              </a:spcBef>
            </a:pPr>
            <a:r>
              <a:rPr sz="1400" spc="-5" dirty="0">
                <a:latin typeface="Arial MT"/>
                <a:cs typeface="Arial MT"/>
              </a:rPr>
              <a:t>0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62212" y="3862387"/>
            <a:ext cx="304800" cy="2286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25"/>
              </a:spcBef>
            </a:pPr>
            <a:r>
              <a:rPr sz="1400" spc="-5" dirty="0">
                <a:latin typeface="Arial MT"/>
                <a:cs typeface="Arial MT"/>
              </a:rPr>
              <a:t>0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462212" y="4090987"/>
            <a:ext cx="304800" cy="2286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25"/>
              </a:spcBef>
            </a:pPr>
            <a:r>
              <a:rPr sz="1400" spc="-5" dirty="0">
                <a:latin typeface="Arial MT"/>
                <a:cs typeface="Arial MT"/>
              </a:rPr>
              <a:t>1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90027" y="2451303"/>
            <a:ext cx="270510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 algn="just">
              <a:lnSpc>
                <a:spcPct val="107200"/>
              </a:lnSpc>
              <a:spcBef>
                <a:spcPts val="100"/>
              </a:spcBef>
            </a:pPr>
            <a:r>
              <a:rPr sz="1400" spc="-10" dirty="0">
                <a:latin typeface="Arial MT"/>
                <a:cs typeface="Arial MT"/>
              </a:rPr>
              <a:t>D</a:t>
            </a:r>
            <a:r>
              <a:rPr sz="1350" spc="15" baseline="-21604" dirty="0">
                <a:latin typeface="Arial MT"/>
                <a:cs typeface="Arial MT"/>
              </a:rPr>
              <a:t>7  </a:t>
            </a:r>
            <a:r>
              <a:rPr sz="1400" spc="-10" dirty="0">
                <a:latin typeface="Arial MT"/>
                <a:cs typeface="Arial MT"/>
              </a:rPr>
              <a:t>D</a:t>
            </a:r>
            <a:r>
              <a:rPr sz="1350" spc="15" baseline="-21604" dirty="0">
                <a:latin typeface="Arial MT"/>
                <a:cs typeface="Arial MT"/>
              </a:rPr>
              <a:t>6  </a:t>
            </a:r>
            <a:r>
              <a:rPr sz="1400" spc="-10" dirty="0">
                <a:latin typeface="Arial MT"/>
                <a:cs typeface="Arial MT"/>
              </a:rPr>
              <a:t>D</a:t>
            </a:r>
            <a:r>
              <a:rPr sz="1350" spc="15" baseline="-21604" dirty="0">
                <a:latin typeface="Arial MT"/>
                <a:cs typeface="Arial MT"/>
              </a:rPr>
              <a:t>5  </a:t>
            </a:r>
            <a:r>
              <a:rPr sz="1400" spc="-10" dirty="0">
                <a:latin typeface="Arial MT"/>
                <a:cs typeface="Arial MT"/>
              </a:rPr>
              <a:t>D</a:t>
            </a:r>
            <a:r>
              <a:rPr sz="1350" spc="15" baseline="-21604" dirty="0">
                <a:latin typeface="Arial MT"/>
                <a:cs typeface="Arial MT"/>
              </a:rPr>
              <a:t>4  </a:t>
            </a:r>
            <a:r>
              <a:rPr sz="1400" spc="-10" dirty="0">
                <a:latin typeface="Arial MT"/>
                <a:cs typeface="Arial MT"/>
              </a:rPr>
              <a:t>D</a:t>
            </a:r>
            <a:r>
              <a:rPr sz="1350" spc="15" baseline="-21604" dirty="0">
                <a:latin typeface="Arial MT"/>
                <a:cs typeface="Arial MT"/>
              </a:rPr>
              <a:t>3  </a:t>
            </a:r>
            <a:r>
              <a:rPr sz="1400" spc="-10" dirty="0">
                <a:latin typeface="Arial MT"/>
                <a:cs typeface="Arial MT"/>
              </a:rPr>
              <a:t>D</a:t>
            </a:r>
            <a:r>
              <a:rPr sz="1350" spc="15" baseline="-21604" dirty="0">
                <a:latin typeface="Arial MT"/>
                <a:cs typeface="Arial MT"/>
              </a:rPr>
              <a:t>2  </a:t>
            </a:r>
            <a:r>
              <a:rPr sz="1400" spc="-10" dirty="0">
                <a:latin typeface="Arial MT"/>
                <a:cs typeface="Arial MT"/>
              </a:rPr>
              <a:t>D</a:t>
            </a:r>
            <a:r>
              <a:rPr sz="1350" spc="15" baseline="-21604" dirty="0">
                <a:latin typeface="Arial MT"/>
                <a:cs typeface="Arial MT"/>
              </a:rPr>
              <a:t>1  </a:t>
            </a:r>
            <a:r>
              <a:rPr sz="1400" spc="-10" dirty="0">
                <a:latin typeface="Arial MT"/>
                <a:cs typeface="Arial MT"/>
              </a:rPr>
              <a:t>D</a:t>
            </a:r>
            <a:r>
              <a:rPr sz="1350" spc="22" baseline="-21604" dirty="0">
                <a:latin typeface="Arial MT"/>
                <a:cs typeface="Arial MT"/>
              </a:rPr>
              <a:t>0</a:t>
            </a:r>
            <a:endParaRPr sz="1350" baseline="-21604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928041" y="2954876"/>
            <a:ext cx="224154" cy="101473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5" dirty="0">
                <a:latin typeface="Arial MT"/>
                <a:cs typeface="Arial MT"/>
              </a:rPr>
              <a:t>Accumulator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857032" y="2592388"/>
            <a:ext cx="76200" cy="1294130"/>
            <a:chOff x="2857032" y="2592388"/>
            <a:chExt cx="76200" cy="1294130"/>
          </a:xfrm>
        </p:grpSpPr>
        <p:sp>
          <p:nvSpPr>
            <p:cNvPr id="19" name="object 19"/>
            <p:cNvSpPr/>
            <p:nvPr/>
          </p:nvSpPr>
          <p:spPr>
            <a:xfrm>
              <a:off x="2887662" y="2598738"/>
              <a:ext cx="7620" cy="1224280"/>
            </a:xfrm>
            <a:custGeom>
              <a:avLst/>
              <a:gdLst/>
              <a:ahLst/>
              <a:cxnLst/>
              <a:rect l="l" t="t" r="r" b="b"/>
              <a:pathLst>
                <a:path w="7619" h="1224279">
                  <a:moveTo>
                    <a:pt x="0" y="0"/>
                  </a:moveTo>
                  <a:lnTo>
                    <a:pt x="7543" y="1223962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857032" y="3809768"/>
              <a:ext cx="76200" cy="76835"/>
            </a:xfrm>
            <a:custGeom>
              <a:avLst/>
              <a:gdLst/>
              <a:ahLst/>
              <a:cxnLst/>
              <a:rect l="l" t="t" r="r" b="b"/>
              <a:pathLst>
                <a:path w="76200" h="76835">
                  <a:moveTo>
                    <a:pt x="76200" y="0"/>
                  </a:moveTo>
                  <a:lnTo>
                    <a:pt x="0" y="469"/>
                  </a:lnTo>
                  <a:lnTo>
                    <a:pt x="38569" y="76428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905000" y="1905000"/>
            <a:ext cx="1371600" cy="586105"/>
          </a:xfrm>
          <a:prstGeom prst="rect">
            <a:avLst/>
          </a:prstGeom>
          <a:solidFill>
            <a:srgbClr val="CCFFCC"/>
          </a:solidFill>
          <a:ln w="12700">
            <a:solidFill>
              <a:srgbClr val="00000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2250">
              <a:latin typeface="Times New Roman"/>
              <a:cs typeface="Times New Roman"/>
            </a:endParaRPr>
          </a:p>
          <a:p>
            <a:pPr marR="40640" algn="r"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latin typeface="Arial MT"/>
                <a:cs typeface="Arial MT"/>
              </a:rPr>
              <a:t>Shift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400800" y="2209800"/>
            <a:ext cx="609600" cy="2362200"/>
          </a:xfrm>
          <a:prstGeom prst="rect">
            <a:avLst/>
          </a:prstGeom>
          <a:solidFill>
            <a:srgbClr val="CCECFF"/>
          </a:solidFill>
          <a:ln w="12700">
            <a:solidFill>
              <a:srgbClr val="000000"/>
            </a:solidFill>
          </a:ln>
        </p:spPr>
        <p:txBody>
          <a:bodyPr vert="vert270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1300">
              <a:latin typeface="Times New Roman"/>
              <a:cs typeface="Times New Roman"/>
            </a:endParaRPr>
          </a:p>
          <a:p>
            <a:pPr marL="701040">
              <a:lnSpc>
                <a:spcPct val="100000"/>
              </a:lnSpc>
            </a:pPr>
            <a:r>
              <a:rPr sz="1400" spc="-5" dirty="0">
                <a:latin typeface="Arial MT"/>
                <a:cs typeface="Arial MT"/>
              </a:rPr>
              <a:t>Output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Port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743200" y="4152896"/>
            <a:ext cx="3657600" cy="76200"/>
            <a:chOff x="2743200" y="4152896"/>
            <a:chExt cx="3657600" cy="76200"/>
          </a:xfrm>
        </p:grpSpPr>
        <p:sp>
          <p:nvSpPr>
            <p:cNvPr id="24" name="object 24"/>
            <p:cNvSpPr/>
            <p:nvPr/>
          </p:nvSpPr>
          <p:spPr>
            <a:xfrm>
              <a:off x="3276600" y="4190999"/>
              <a:ext cx="3060700" cy="0"/>
            </a:xfrm>
            <a:custGeom>
              <a:avLst/>
              <a:gdLst/>
              <a:ahLst/>
              <a:cxnLst/>
              <a:rect l="l" t="t" r="r" b="b"/>
              <a:pathLst>
                <a:path w="3060700">
                  <a:moveTo>
                    <a:pt x="0" y="0"/>
                  </a:moveTo>
                  <a:lnTo>
                    <a:pt x="30607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324602" y="41528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743200" y="4190999"/>
              <a:ext cx="533400" cy="0"/>
            </a:xfrm>
            <a:custGeom>
              <a:avLst/>
              <a:gdLst/>
              <a:ahLst/>
              <a:cxnLst/>
              <a:rect l="l" t="t" r="r" b="b"/>
              <a:pathLst>
                <a:path w="533400">
                  <a:moveTo>
                    <a:pt x="5334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2508250" y="5175250"/>
            <a:ext cx="4965700" cy="317500"/>
            <a:chOff x="2508250" y="5175250"/>
            <a:chExt cx="4965700" cy="317500"/>
          </a:xfrm>
        </p:grpSpPr>
        <p:sp>
          <p:nvSpPr>
            <p:cNvPr id="28" name="object 28"/>
            <p:cNvSpPr/>
            <p:nvPr/>
          </p:nvSpPr>
          <p:spPr>
            <a:xfrm>
              <a:off x="6400800" y="5181600"/>
              <a:ext cx="1066800" cy="0"/>
            </a:xfrm>
            <a:custGeom>
              <a:avLst/>
              <a:gdLst/>
              <a:ahLst/>
              <a:cxnLst/>
              <a:rect l="l" t="t" r="r" b="b"/>
              <a:pathLst>
                <a:path w="1066800">
                  <a:moveTo>
                    <a:pt x="10668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400800" y="5181600"/>
              <a:ext cx="0" cy="304800"/>
            </a:xfrm>
            <a:custGeom>
              <a:avLst/>
              <a:gdLst/>
              <a:ahLst/>
              <a:cxnLst/>
              <a:rect l="l" t="t" r="r" b="b"/>
              <a:pathLst>
                <a:path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096000" y="5486400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>
                  <a:moveTo>
                    <a:pt x="3048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791200" y="5181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0" y="304800"/>
                  </a:lnTo>
                </a:path>
                <a:path w="304800" h="30480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962400" y="5181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0" y="304800"/>
                  </a:lnTo>
                </a:path>
                <a:path w="304800" h="30480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267200" y="5181600"/>
              <a:ext cx="0" cy="304800"/>
            </a:xfrm>
            <a:custGeom>
              <a:avLst/>
              <a:gdLst/>
              <a:ahLst/>
              <a:cxnLst/>
              <a:rect l="l" t="t" r="r" b="b"/>
              <a:pathLst>
                <a:path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514600" y="5181600"/>
              <a:ext cx="1143000" cy="304800"/>
            </a:xfrm>
            <a:custGeom>
              <a:avLst/>
              <a:gdLst/>
              <a:ahLst/>
              <a:cxnLst/>
              <a:rect l="l" t="t" r="r" b="b"/>
              <a:pathLst>
                <a:path w="1143000" h="304800">
                  <a:moveTo>
                    <a:pt x="1143000" y="0"/>
                  </a:moveTo>
                  <a:lnTo>
                    <a:pt x="0" y="0"/>
                  </a:lnTo>
                </a:path>
                <a:path w="1143000" h="304800">
                  <a:moveTo>
                    <a:pt x="1143000" y="0"/>
                  </a:moveTo>
                  <a:lnTo>
                    <a:pt x="1143000" y="3048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048000" y="5181600"/>
              <a:ext cx="0" cy="304800"/>
            </a:xfrm>
            <a:custGeom>
              <a:avLst/>
              <a:gdLst/>
              <a:ahLst/>
              <a:cxnLst/>
              <a:rect l="l" t="t" r="r" b="b"/>
              <a:pathLst>
                <a:path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ln w="12700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/>
          <p:nvPr/>
        </p:nvSpPr>
        <p:spPr>
          <a:xfrm>
            <a:off x="6096000" y="5181600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3787033" y="5210047"/>
            <a:ext cx="222504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2420" algn="l"/>
                <a:tab pos="612140" algn="l"/>
                <a:tab pos="912494" algn="l"/>
                <a:tab pos="1212850" algn="l"/>
                <a:tab pos="1512570" algn="l"/>
                <a:tab pos="1812925" algn="l"/>
                <a:tab pos="2112645" algn="l"/>
              </a:tabLst>
            </a:pPr>
            <a:r>
              <a:rPr sz="1400" spc="-5" dirty="0">
                <a:latin typeface="Arial MT"/>
                <a:cs typeface="Arial MT"/>
              </a:rPr>
              <a:t>0	1	0	0	0	0	0	1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141266" y="5082595"/>
            <a:ext cx="224154" cy="40132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5" dirty="0">
                <a:latin typeface="Arial MT"/>
                <a:cs typeface="Arial MT"/>
              </a:rPr>
              <a:t>S</a:t>
            </a:r>
            <a:r>
              <a:rPr sz="1400" dirty="0">
                <a:latin typeface="Arial MT"/>
                <a:cs typeface="Arial MT"/>
              </a:rPr>
              <a:t>tart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136264" y="5210047"/>
            <a:ext cx="39116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 MT"/>
                <a:cs typeface="Arial MT"/>
              </a:rPr>
              <a:t>S</a:t>
            </a:r>
            <a:r>
              <a:rPr sz="1400" spc="-5" dirty="0">
                <a:latin typeface="Arial MT"/>
                <a:cs typeface="Arial MT"/>
              </a:rPr>
              <a:t>top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3657600" y="5480050"/>
            <a:ext cx="2133600" cy="12700"/>
            <a:chOff x="3657600" y="5480050"/>
            <a:chExt cx="2133600" cy="12700"/>
          </a:xfrm>
        </p:grpSpPr>
        <p:sp>
          <p:nvSpPr>
            <p:cNvPr id="41" name="object 41"/>
            <p:cNvSpPr/>
            <p:nvPr/>
          </p:nvSpPr>
          <p:spPr>
            <a:xfrm>
              <a:off x="4267200" y="5486400"/>
              <a:ext cx="1524000" cy="0"/>
            </a:xfrm>
            <a:custGeom>
              <a:avLst/>
              <a:gdLst/>
              <a:ahLst/>
              <a:cxnLst/>
              <a:rect l="l" t="t" r="r" b="b"/>
              <a:pathLst>
                <a:path w="1524000">
                  <a:moveTo>
                    <a:pt x="15240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657600" y="5486400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>
                  <a:moveTo>
                    <a:pt x="3048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3" name="object 43"/>
          <p:cNvGrpSpPr/>
          <p:nvPr/>
        </p:nvGrpSpPr>
        <p:grpSpPr>
          <a:xfrm>
            <a:off x="2590801" y="5829296"/>
            <a:ext cx="4114800" cy="76200"/>
            <a:chOff x="2590801" y="5829296"/>
            <a:chExt cx="4114800" cy="76200"/>
          </a:xfrm>
        </p:grpSpPr>
        <p:sp>
          <p:nvSpPr>
            <p:cNvPr id="44" name="object 44"/>
            <p:cNvSpPr/>
            <p:nvPr/>
          </p:nvSpPr>
          <p:spPr>
            <a:xfrm>
              <a:off x="2654300" y="5867399"/>
              <a:ext cx="4051300" cy="0"/>
            </a:xfrm>
            <a:custGeom>
              <a:avLst/>
              <a:gdLst/>
              <a:ahLst/>
              <a:cxnLst/>
              <a:rect l="l" t="t" r="r" b="b"/>
              <a:pathLst>
                <a:path w="4051300">
                  <a:moveTo>
                    <a:pt x="40513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590801" y="58292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38099"/>
                  </a:lnTo>
                  <a:lnTo>
                    <a:pt x="76200" y="76199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4377690" y="5895847"/>
            <a:ext cx="413384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65" dirty="0">
                <a:latin typeface="Arial MT"/>
                <a:cs typeface="Arial MT"/>
              </a:rPr>
              <a:t>T</a:t>
            </a:r>
            <a:r>
              <a:rPr sz="1400" spc="-5" dirty="0">
                <a:latin typeface="Arial MT"/>
                <a:cs typeface="Arial MT"/>
              </a:rPr>
              <a:t>ime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334773" y="3914612"/>
            <a:ext cx="27051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400" spc="5" dirty="0">
                <a:latin typeface="Arial MT"/>
                <a:cs typeface="Arial MT"/>
              </a:rPr>
              <a:t>D</a:t>
            </a:r>
            <a:r>
              <a:rPr sz="1350" spc="7" baseline="-21604" dirty="0">
                <a:latin typeface="Arial MT"/>
                <a:cs typeface="Arial MT"/>
              </a:rPr>
              <a:t>0</a:t>
            </a:r>
            <a:endParaRPr sz="1350" baseline="-21604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7658" y="204469"/>
            <a:ext cx="748792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Flowchart</a:t>
            </a:r>
            <a:r>
              <a:rPr spc="-15" dirty="0"/>
              <a:t> </a:t>
            </a:r>
            <a:r>
              <a:rPr spc="-5" dirty="0"/>
              <a:t>of</a:t>
            </a:r>
            <a:r>
              <a:rPr spc="-10" dirty="0"/>
              <a:t> </a:t>
            </a:r>
            <a:r>
              <a:rPr spc="-5" dirty="0"/>
              <a:t>Serial</a:t>
            </a:r>
            <a:r>
              <a:rPr dirty="0"/>
              <a:t> </a:t>
            </a:r>
            <a:r>
              <a:rPr spc="-5" dirty="0"/>
              <a:t>Transmission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19500" y="1295400"/>
            <a:ext cx="2002155" cy="4572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20"/>
              </a:spcBef>
            </a:pPr>
            <a:r>
              <a:rPr sz="1200" spc="-5" dirty="0">
                <a:latin typeface="Arial MT"/>
                <a:cs typeface="Arial MT"/>
              </a:rPr>
              <a:t>Set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up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Bit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Counter</a:t>
            </a:r>
            <a:endParaRPr sz="12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200" spc="-5" dirty="0">
                <a:latin typeface="Arial MT"/>
                <a:cs typeface="Arial MT"/>
              </a:rPr>
              <a:t>Set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bit</a:t>
            </a:r>
            <a:r>
              <a:rPr sz="120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D0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of</a:t>
            </a:r>
            <a:r>
              <a:rPr sz="1200" spc="-6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</a:t>
            </a:r>
            <a:r>
              <a:rPr sz="1200" spc="-6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-5" dirty="0">
                <a:latin typeface="Arial MT"/>
                <a:cs typeface="Arial MT"/>
              </a:rPr>
              <a:t> 0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(Start</a:t>
            </a:r>
            <a:r>
              <a:rPr sz="120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Bit)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84600" y="2057400"/>
            <a:ext cx="1676400" cy="3048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</a:ln>
        </p:spPr>
        <p:txBody>
          <a:bodyPr vert="horz" wrap="square" lIns="0" tIns="56515" rIns="0" bIns="0" rtlCol="0">
            <a:spAutoFit/>
          </a:bodyPr>
          <a:lstStyle/>
          <a:p>
            <a:pPr marL="391160">
              <a:lnSpc>
                <a:spcPct val="100000"/>
              </a:lnSpc>
              <a:spcBef>
                <a:spcPts val="445"/>
              </a:spcBef>
            </a:pPr>
            <a:r>
              <a:rPr sz="1200" spc="-15" dirty="0">
                <a:latin typeface="Arial MT"/>
                <a:cs typeface="Arial MT"/>
              </a:rPr>
              <a:t>Wait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Bit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-15" dirty="0">
                <a:latin typeface="Arial MT"/>
                <a:cs typeface="Arial MT"/>
              </a:rPr>
              <a:t>Time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84600" y="2667000"/>
            <a:ext cx="1676400" cy="3048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</a:ln>
        </p:spPr>
        <p:txBody>
          <a:bodyPr vert="horz" wrap="square" lIns="0" tIns="5651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445"/>
              </a:spcBef>
            </a:pPr>
            <a:r>
              <a:rPr sz="1200" dirty="0">
                <a:latin typeface="Arial MT"/>
                <a:cs typeface="Arial MT"/>
              </a:rPr>
              <a:t>G</a:t>
            </a:r>
            <a:r>
              <a:rPr sz="1200" spc="-5" dirty="0">
                <a:latin typeface="Arial MT"/>
                <a:cs typeface="Arial MT"/>
              </a:rPr>
              <a:t>e</a:t>
            </a:r>
            <a:r>
              <a:rPr sz="1200" dirty="0">
                <a:latin typeface="Arial MT"/>
                <a:cs typeface="Arial MT"/>
              </a:rPr>
              <a:t>t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c</a:t>
            </a:r>
            <a:r>
              <a:rPr sz="1200" spc="-5" dirty="0">
                <a:latin typeface="Arial MT"/>
                <a:cs typeface="Arial MT"/>
              </a:rPr>
              <a:t>h</a:t>
            </a:r>
            <a:r>
              <a:rPr sz="1200" spc="-10" dirty="0">
                <a:latin typeface="Arial MT"/>
                <a:cs typeface="Arial MT"/>
              </a:rPr>
              <a:t>a</a:t>
            </a:r>
            <a:r>
              <a:rPr sz="1200" spc="-5" dirty="0">
                <a:latin typeface="Arial MT"/>
                <a:cs typeface="Arial MT"/>
              </a:rPr>
              <a:t>rac</a:t>
            </a:r>
            <a:r>
              <a:rPr sz="1200" dirty="0">
                <a:latin typeface="Arial MT"/>
                <a:cs typeface="Arial MT"/>
              </a:rPr>
              <a:t>t</a:t>
            </a:r>
            <a:r>
              <a:rPr sz="1200" spc="-10" dirty="0">
                <a:latin typeface="Arial MT"/>
                <a:cs typeface="Arial MT"/>
              </a:rPr>
              <a:t>e</a:t>
            </a:r>
            <a:r>
              <a:rPr sz="1200" spc="-5" dirty="0">
                <a:latin typeface="Arial MT"/>
                <a:cs typeface="Arial MT"/>
              </a:rPr>
              <a:t>r</a:t>
            </a:r>
            <a:r>
              <a:rPr sz="1200" spc="-10" dirty="0">
                <a:latin typeface="Arial MT"/>
                <a:cs typeface="Arial MT"/>
              </a:rPr>
              <a:t> i</a:t>
            </a:r>
            <a:r>
              <a:rPr sz="1200" spc="-5" dirty="0">
                <a:latin typeface="Arial MT"/>
                <a:cs typeface="Arial MT"/>
              </a:rPr>
              <a:t>n</a:t>
            </a:r>
            <a:r>
              <a:rPr sz="1200" dirty="0">
                <a:latin typeface="Arial MT"/>
                <a:cs typeface="Arial MT"/>
              </a:rPr>
              <a:t>t</a:t>
            </a:r>
            <a:r>
              <a:rPr sz="1200" spc="-5" dirty="0">
                <a:latin typeface="Arial MT"/>
                <a:cs typeface="Arial MT"/>
              </a:rPr>
              <a:t>o</a:t>
            </a:r>
            <a:r>
              <a:rPr sz="1200" spc="-7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84600" y="3276600"/>
            <a:ext cx="1676400" cy="3048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</a:ln>
        </p:spPr>
        <p:txBody>
          <a:bodyPr vert="horz" wrap="square" lIns="0" tIns="56515" rIns="0" bIns="0" rtlCol="0">
            <a:spAutoFit/>
          </a:bodyPr>
          <a:lstStyle/>
          <a:p>
            <a:pPr marL="391160">
              <a:lnSpc>
                <a:spcPct val="100000"/>
              </a:lnSpc>
              <a:spcBef>
                <a:spcPts val="445"/>
              </a:spcBef>
            </a:pPr>
            <a:r>
              <a:rPr sz="1200" spc="-15" dirty="0">
                <a:latin typeface="Arial MT"/>
                <a:cs typeface="Arial MT"/>
              </a:rPr>
              <a:t>Wait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Bit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-15" dirty="0">
                <a:latin typeface="Arial MT"/>
                <a:cs typeface="Arial MT"/>
              </a:rPr>
              <a:t>Time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84600" y="3810000"/>
            <a:ext cx="1676400" cy="4572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64135" marR="56515" indent="337185">
              <a:lnSpc>
                <a:spcPct val="100000"/>
              </a:lnSpc>
              <a:spcBef>
                <a:spcPts val="325"/>
              </a:spcBef>
            </a:pPr>
            <a:r>
              <a:rPr sz="1200" spc="-10" dirty="0">
                <a:latin typeface="Arial MT"/>
                <a:cs typeface="Arial MT"/>
              </a:rPr>
              <a:t>R</a:t>
            </a:r>
            <a:r>
              <a:rPr sz="1200" spc="-5" dirty="0">
                <a:latin typeface="Arial MT"/>
                <a:cs typeface="Arial MT"/>
              </a:rPr>
              <a:t>o</a:t>
            </a:r>
            <a:r>
              <a:rPr sz="1200" dirty="0">
                <a:latin typeface="Arial MT"/>
                <a:cs typeface="Arial MT"/>
              </a:rPr>
              <a:t>t</a:t>
            </a:r>
            <a:r>
              <a:rPr sz="1200" spc="-5" dirty="0">
                <a:latin typeface="Arial MT"/>
                <a:cs typeface="Arial MT"/>
              </a:rPr>
              <a:t>a</a:t>
            </a:r>
            <a:r>
              <a:rPr sz="1200" dirty="0">
                <a:latin typeface="Arial MT"/>
                <a:cs typeface="Arial MT"/>
              </a:rPr>
              <a:t>t</a:t>
            </a:r>
            <a:r>
              <a:rPr sz="1200" spc="-5" dirty="0">
                <a:latin typeface="Arial MT"/>
                <a:cs typeface="Arial MT"/>
              </a:rPr>
              <a:t>e</a:t>
            </a:r>
            <a:r>
              <a:rPr sz="1200" spc="-8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</a:t>
            </a:r>
            <a:r>
              <a:rPr sz="1200" spc="-7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Le</a:t>
            </a:r>
            <a:r>
              <a:rPr sz="1200" dirty="0">
                <a:latin typeface="Arial MT"/>
                <a:cs typeface="Arial MT"/>
              </a:rPr>
              <a:t>ft  </a:t>
            </a:r>
            <a:r>
              <a:rPr sz="1200" spc="-5" dirty="0">
                <a:latin typeface="Arial MT"/>
                <a:cs typeface="Arial MT"/>
              </a:rPr>
              <a:t>Decrement</a:t>
            </a:r>
            <a:r>
              <a:rPr sz="1200" spc="-5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Bit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Counter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784600" y="4438650"/>
            <a:ext cx="1676400" cy="1657350"/>
            <a:chOff x="3784600" y="4438650"/>
            <a:chExt cx="1676400" cy="1657350"/>
          </a:xfrm>
        </p:grpSpPr>
        <p:sp>
          <p:nvSpPr>
            <p:cNvPr id="9" name="object 9"/>
            <p:cNvSpPr/>
            <p:nvPr/>
          </p:nvSpPr>
          <p:spPr>
            <a:xfrm>
              <a:off x="3987800" y="4445000"/>
              <a:ext cx="1295400" cy="863600"/>
            </a:xfrm>
            <a:custGeom>
              <a:avLst/>
              <a:gdLst/>
              <a:ahLst/>
              <a:cxnLst/>
              <a:rect l="l" t="t" r="r" b="b"/>
              <a:pathLst>
                <a:path w="1295400" h="863600">
                  <a:moveTo>
                    <a:pt x="647700" y="0"/>
                  </a:moveTo>
                  <a:lnTo>
                    <a:pt x="0" y="431800"/>
                  </a:lnTo>
                  <a:lnTo>
                    <a:pt x="647700" y="863600"/>
                  </a:lnTo>
                  <a:lnTo>
                    <a:pt x="1295400" y="431800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987800" y="4445000"/>
              <a:ext cx="1295400" cy="863600"/>
            </a:xfrm>
            <a:custGeom>
              <a:avLst/>
              <a:gdLst/>
              <a:ahLst/>
              <a:cxnLst/>
              <a:rect l="l" t="t" r="r" b="b"/>
              <a:pathLst>
                <a:path w="1295400" h="863600">
                  <a:moveTo>
                    <a:pt x="0" y="431800"/>
                  </a:moveTo>
                  <a:lnTo>
                    <a:pt x="647700" y="0"/>
                  </a:lnTo>
                  <a:lnTo>
                    <a:pt x="1295400" y="431800"/>
                  </a:lnTo>
                  <a:lnTo>
                    <a:pt x="647700" y="863600"/>
                  </a:lnTo>
                  <a:lnTo>
                    <a:pt x="0" y="4318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784600" y="5562600"/>
              <a:ext cx="1676400" cy="533400"/>
            </a:xfrm>
            <a:custGeom>
              <a:avLst/>
              <a:gdLst/>
              <a:ahLst/>
              <a:cxnLst/>
              <a:rect l="l" t="t" r="r" b="b"/>
              <a:pathLst>
                <a:path w="1676400" h="533400">
                  <a:moveTo>
                    <a:pt x="167640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1676400" y="533400"/>
                  </a:lnTo>
                  <a:lnTo>
                    <a:pt x="167640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784600" y="5562600"/>
            <a:ext cx="1676400" cy="5334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marL="283845" marR="276860" indent="203200">
              <a:lnSpc>
                <a:spcPct val="100000"/>
              </a:lnSpc>
              <a:spcBef>
                <a:spcPts val="620"/>
              </a:spcBef>
            </a:pPr>
            <a:r>
              <a:rPr sz="1200" spc="-5" dirty="0">
                <a:latin typeface="Arial MT"/>
                <a:cs typeface="Arial MT"/>
              </a:rPr>
              <a:t>Add Parity </a:t>
            </a:r>
            <a:r>
              <a:rPr sz="120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Send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Stop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Bit(s)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584700" y="1752600"/>
            <a:ext cx="76200" cy="304800"/>
            <a:chOff x="4584700" y="1752600"/>
            <a:chExt cx="76200" cy="304800"/>
          </a:xfrm>
        </p:grpSpPr>
        <p:sp>
          <p:nvSpPr>
            <p:cNvPr id="14" name="object 14"/>
            <p:cNvSpPr/>
            <p:nvPr/>
          </p:nvSpPr>
          <p:spPr>
            <a:xfrm>
              <a:off x="4622800" y="1752600"/>
              <a:ext cx="0" cy="241300"/>
            </a:xfrm>
            <a:custGeom>
              <a:avLst/>
              <a:gdLst/>
              <a:ahLst/>
              <a:cxnLst/>
              <a:rect l="l" t="t" r="r" b="b"/>
              <a:pathLst>
                <a:path h="241300">
                  <a:moveTo>
                    <a:pt x="0" y="0"/>
                  </a:moveTo>
                  <a:lnTo>
                    <a:pt x="0" y="2413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584700" y="19812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4584700" y="2362200"/>
            <a:ext cx="76200" cy="304800"/>
            <a:chOff x="4584700" y="2362200"/>
            <a:chExt cx="76200" cy="304800"/>
          </a:xfrm>
        </p:grpSpPr>
        <p:sp>
          <p:nvSpPr>
            <p:cNvPr id="17" name="object 17"/>
            <p:cNvSpPr/>
            <p:nvPr/>
          </p:nvSpPr>
          <p:spPr>
            <a:xfrm>
              <a:off x="4622800" y="2362200"/>
              <a:ext cx="0" cy="241300"/>
            </a:xfrm>
            <a:custGeom>
              <a:avLst/>
              <a:gdLst/>
              <a:ahLst/>
              <a:cxnLst/>
              <a:rect l="l" t="t" r="r" b="b"/>
              <a:pathLst>
                <a:path h="241300">
                  <a:moveTo>
                    <a:pt x="0" y="0"/>
                  </a:moveTo>
                  <a:lnTo>
                    <a:pt x="0" y="2413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584700" y="25908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4584700" y="2971800"/>
            <a:ext cx="76200" cy="304800"/>
            <a:chOff x="4584700" y="2971800"/>
            <a:chExt cx="76200" cy="304800"/>
          </a:xfrm>
        </p:grpSpPr>
        <p:sp>
          <p:nvSpPr>
            <p:cNvPr id="20" name="object 20"/>
            <p:cNvSpPr/>
            <p:nvPr/>
          </p:nvSpPr>
          <p:spPr>
            <a:xfrm>
              <a:off x="4622800" y="2971800"/>
              <a:ext cx="0" cy="241300"/>
            </a:xfrm>
            <a:custGeom>
              <a:avLst/>
              <a:gdLst/>
              <a:ahLst/>
              <a:cxnLst/>
              <a:rect l="l" t="t" r="r" b="b"/>
              <a:pathLst>
                <a:path h="241300">
                  <a:moveTo>
                    <a:pt x="0" y="0"/>
                  </a:moveTo>
                  <a:lnTo>
                    <a:pt x="0" y="2413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84700" y="32004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4584700" y="3581400"/>
            <a:ext cx="76200" cy="228600"/>
            <a:chOff x="4584700" y="3581400"/>
            <a:chExt cx="76200" cy="228600"/>
          </a:xfrm>
        </p:grpSpPr>
        <p:sp>
          <p:nvSpPr>
            <p:cNvPr id="23" name="object 23"/>
            <p:cNvSpPr/>
            <p:nvPr/>
          </p:nvSpPr>
          <p:spPr>
            <a:xfrm>
              <a:off x="4622800" y="3581400"/>
              <a:ext cx="0" cy="165100"/>
            </a:xfrm>
            <a:custGeom>
              <a:avLst/>
              <a:gdLst/>
              <a:ahLst/>
              <a:cxnLst/>
              <a:rect l="l" t="t" r="r" b="b"/>
              <a:pathLst>
                <a:path h="165100">
                  <a:moveTo>
                    <a:pt x="0" y="0"/>
                  </a:moveTo>
                  <a:lnTo>
                    <a:pt x="0" y="1651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84700" y="37338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3168650" y="3390896"/>
            <a:ext cx="1504950" cy="2209800"/>
            <a:chOff x="3168650" y="3390896"/>
            <a:chExt cx="1504950" cy="2209800"/>
          </a:xfrm>
        </p:grpSpPr>
        <p:sp>
          <p:nvSpPr>
            <p:cNvPr id="26" name="object 26"/>
            <p:cNvSpPr/>
            <p:nvPr/>
          </p:nvSpPr>
          <p:spPr>
            <a:xfrm>
              <a:off x="4622800" y="4267199"/>
              <a:ext cx="0" cy="165100"/>
            </a:xfrm>
            <a:custGeom>
              <a:avLst/>
              <a:gdLst/>
              <a:ahLst/>
              <a:cxnLst/>
              <a:rect l="l" t="t" r="r" b="b"/>
              <a:pathLst>
                <a:path h="165100">
                  <a:moveTo>
                    <a:pt x="0" y="0"/>
                  </a:moveTo>
                  <a:lnTo>
                    <a:pt x="0" y="1651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584700" y="441959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635500" y="5295900"/>
              <a:ext cx="0" cy="241300"/>
            </a:xfrm>
            <a:custGeom>
              <a:avLst/>
              <a:gdLst/>
              <a:ahLst/>
              <a:cxnLst/>
              <a:rect l="l" t="t" r="r" b="b"/>
              <a:pathLst>
                <a:path h="241300">
                  <a:moveTo>
                    <a:pt x="0" y="0"/>
                  </a:moveTo>
                  <a:lnTo>
                    <a:pt x="0" y="2413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597400" y="55245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175000" y="4876799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8382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175000" y="3428999"/>
              <a:ext cx="0" cy="1447800"/>
            </a:xfrm>
            <a:custGeom>
              <a:avLst/>
              <a:gdLst/>
              <a:ahLst/>
              <a:cxnLst/>
              <a:rect l="l" t="t" r="r" b="b"/>
              <a:pathLst>
                <a:path h="1447800">
                  <a:moveTo>
                    <a:pt x="0" y="14478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175000" y="3428999"/>
              <a:ext cx="546100" cy="0"/>
            </a:xfrm>
            <a:custGeom>
              <a:avLst/>
              <a:gdLst/>
              <a:ahLst/>
              <a:cxnLst/>
              <a:rect l="l" t="t" r="r" b="b"/>
              <a:pathLst>
                <a:path w="546100">
                  <a:moveTo>
                    <a:pt x="0" y="0"/>
                  </a:moveTo>
                  <a:lnTo>
                    <a:pt x="5461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708402" y="33908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3579202" y="4428363"/>
            <a:ext cx="1490345" cy="1087120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1200" spc="-10" dirty="0">
                <a:latin typeface="Arial MT"/>
                <a:cs typeface="Arial MT"/>
              </a:rPr>
              <a:t>No</a:t>
            </a:r>
            <a:endParaRPr sz="1200">
              <a:latin typeface="Arial MT"/>
              <a:cs typeface="Arial MT"/>
            </a:endParaRPr>
          </a:p>
          <a:p>
            <a:pPr marL="760095">
              <a:lnSpc>
                <a:spcPct val="100000"/>
              </a:lnSpc>
              <a:spcBef>
                <a:spcPts val="620"/>
              </a:spcBef>
            </a:pPr>
            <a:r>
              <a:rPr sz="1200" spc="-5" dirty="0">
                <a:latin typeface="Arial MT"/>
                <a:cs typeface="Arial MT"/>
              </a:rPr>
              <a:t>Last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Bit?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0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</a:pPr>
            <a:r>
              <a:rPr sz="1200" spc="-45" dirty="0">
                <a:latin typeface="Arial MT"/>
                <a:cs typeface="Arial MT"/>
              </a:rPr>
              <a:t>Yes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56205" marR="5080" indent="-188468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Software-Controlled Serial </a:t>
            </a:r>
            <a:r>
              <a:rPr spc="-1085" dirty="0"/>
              <a:t> </a:t>
            </a:r>
            <a:r>
              <a:rPr spc="-5" dirty="0"/>
              <a:t>Reception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15199"/>
            <a:ext cx="7570470" cy="375920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78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main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steps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involved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 </a:t>
            </a:r>
            <a:r>
              <a:rPr sz="2800" spc="-5" dirty="0">
                <a:latin typeface="Times New Roman"/>
                <a:cs typeface="Times New Roman"/>
              </a:rPr>
              <a:t>serial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reception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are:</a:t>
            </a:r>
            <a:endParaRPr sz="28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585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Wait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for</a:t>
            </a:r>
            <a:r>
              <a:rPr sz="2400" dirty="0">
                <a:latin typeface="Times New Roman"/>
                <a:cs typeface="Times New Roman"/>
              </a:rPr>
              <a:t> a</a:t>
            </a:r>
            <a:r>
              <a:rPr sz="2400" spc="-5" dirty="0">
                <a:latin typeface="Times New Roman"/>
                <a:cs typeface="Times New Roman"/>
              </a:rPr>
              <a:t> low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appear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transmission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line.</a:t>
            </a:r>
            <a:endParaRPr sz="2400">
              <a:latin typeface="Times New Roman"/>
              <a:cs typeface="Times New Roman"/>
            </a:endParaRPr>
          </a:p>
          <a:p>
            <a:pPr marL="1155700" lvl="2" indent="-229870">
              <a:lnSpc>
                <a:spcPct val="100000"/>
              </a:lnSpc>
              <a:spcBef>
                <a:spcPts val="495"/>
              </a:spcBef>
              <a:buChar char="•"/>
              <a:tabLst>
                <a:tab pos="1155065" algn="l"/>
                <a:tab pos="1156335" algn="l"/>
              </a:tabLst>
            </a:pPr>
            <a:r>
              <a:rPr sz="2000" spc="-5" dirty="0">
                <a:latin typeface="Times New Roman"/>
                <a:cs typeface="Times New Roman"/>
              </a:rPr>
              <a:t>Start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bit</a:t>
            </a:r>
            <a:endParaRPr sz="20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560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dirty="0">
                <a:latin typeface="Times New Roman"/>
                <a:cs typeface="Times New Roman"/>
              </a:rPr>
              <a:t>Read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value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line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over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next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8 </a:t>
            </a:r>
            <a:r>
              <a:rPr sz="2400" spc="-5" dirty="0">
                <a:latin typeface="Times New Roman"/>
                <a:cs typeface="Times New Roman"/>
              </a:rPr>
              <a:t>bit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lengths.</a:t>
            </a:r>
            <a:endParaRPr sz="2400">
              <a:latin typeface="Times New Roman"/>
              <a:cs typeface="Times New Roman"/>
            </a:endParaRPr>
          </a:p>
          <a:p>
            <a:pPr marL="1155700" lvl="2" indent="-229870">
              <a:lnSpc>
                <a:spcPct val="100000"/>
              </a:lnSpc>
              <a:spcBef>
                <a:spcPts val="495"/>
              </a:spcBef>
              <a:buChar char="•"/>
              <a:tabLst>
                <a:tab pos="1155065" algn="l"/>
                <a:tab pos="1156335" algn="l"/>
              </a:tabLst>
            </a:pP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8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bits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character.</a:t>
            </a:r>
            <a:endParaRPr sz="20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560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Calculate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parity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compare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to </a:t>
            </a:r>
            <a:r>
              <a:rPr sz="2400" dirty="0">
                <a:latin typeface="Times New Roman"/>
                <a:cs typeface="Times New Roman"/>
              </a:rPr>
              <a:t>bit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8 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character.</a:t>
            </a:r>
            <a:endParaRPr sz="2400">
              <a:latin typeface="Times New Roman"/>
              <a:cs typeface="Times New Roman"/>
            </a:endParaRPr>
          </a:p>
          <a:p>
            <a:pPr marL="1155700" lvl="2" indent="-229870">
              <a:lnSpc>
                <a:spcPct val="100000"/>
              </a:lnSpc>
              <a:spcBef>
                <a:spcPts val="500"/>
              </a:spcBef>
              <a:buChar char="•"/>
              <a:tabLst>
                <a:tab pos="1155065" algn="l"/>
                <a:tab pos="1156335" algn="l"/>
              </a:tabLst>
            </a:pPr>
            <a:r>
              <a:rPr sz="2000" spc="-5" dirty="0">
                <a:latin typeface="Times New Roman"/>
                <a:cs typeface="Times New Roman"/>
              </a:rPr>
              <a:t>Only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parity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checking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being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used.</a:t>
            </a:r>
            <a:endParaRPr sz="2000">
              <a:latin typeface="Times New Roman"/>
              <a:cs typeface="Times New Roman"/>
            </a:endParaRPr>
          </a:p>
          <a:p>
            <a:pPr marL="755650" marR="199390" lvl="1" indent="-286385">
              <a:lnSpc>
                <a:spcPct val="100000"/>
              </a:lnSpc>
              <a:spcBef>
                <a:spcPts val="560"/>
              </a:spcBef>
              <a:buChar char="–"/>
              <a:tabLst>
                <a:tab pos="755650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Verify the reception </a:t>
            </a:r>
            <a:r>
              <a:rPr sz="2400" dirty="0">
                <a:latin typeface="Times New Roman"/>
                <a:cs typeface="Times New Roman"/>
              </a:rPr>
              <a:t>of the </a:t>
            </a:r>
            <a:r>
              <a:rPr sz="2400" spc="-5" dirty="0">
                <a:latin typeface="Times New Roman"/>
                <a:cs typeface="Times New Roman"/>
              </a:rPr>
              <a:t>appropriate number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stop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bits.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05226" y="814069"/>
            <a:ext cx="37318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Serial</a:t>
            </a:r>
            <a:r>
              <a:rPr spc="-65" dirty="0"/>
              <a:t> </a:t>
            </a:r>
            <a:r>
              <a:rPr spc="-5" dirty="0"/>
              <a:t>Reception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740400" y="1898650"/>
            <a:ext cx="1384300" cy="2984500"/>
            <a:chOff x="5740400" y="1898650"/>
            <a:chExt cx="1384300" cy="2984500"/>
          </a:xfrm>
        </p:grpSpPr>
        <p:sp>
          <p:nvSpPr>
            <p:cNvPr id="4" name="object 4"/>
            <p:cNvSpPr/>
            <p:nvPr/>
          </p:nvSpPr>
          <p:spPr>
            <a:xfrm>
              <a:off x="5746750" y="1905000"/>
              <a:ext cx="1371600" cy="2971800"/>
            </a:xfrm>
            <a:custGeom>
              <a:avLst/>
              <a:gdLst/>
              <a:ahLst/>
              <a:cxnLst/>
              <a:rect l="l" t="t" r="r" b="b"/>
              <a:pathLst>
                <a:path w="1371600" h="2971800">
                  <a:moveTo>
                    <a:pt x="1371600" y="0"/>
                  </a:moveTo>
                  <a:lnTo>
                    <a:pt x="0" y="0"/>
                  </a:lnTo>
                  <a:lnTo>
                    <a:pt x="0" y="2971800"/>
                  </a:lnTo>
                  <a:lnTo>
                    <a:pt x="1371600" y="2971800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746750" y="1905000"/>
              <a:ext cx="1371600" cy="2971800"/>
            </a:xfrm>
            <a:custGeom>
              <a:avLst/>
              <a:gdLst/>
              <a:ahLst/>
              <a:cxnLst/>
              <a:rect l="l" t="t" r="r" b="b"/>
              <a:pathLst>
                <a:path w="1371600" h="2971800">
                  <a:moveTo>
                    <a:pt x="0" y="0"/>
                  </a:moveTo>
                  <a:lnTo>
                    <a:pt x="1371600" y="0"/>
                  </a:lnTo>
                  <a:lnTo>
                    <a:pt x="1371600" y="2971800"/>
                  </a:lnTo>
                  <a:lnTo>
                    <a:pt x="0" y="29718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303962" y="2490787"/>
              <a:ext cx="304800" cy="1828800"/>
            </a:xfrm>
            <a:custGeom>
              <a:avLst/>
              <a:gdLst/>
              <a:ahLst/>
              <a:cxnLst/>
              <a:rect l="l" t="t" r="r" b="b"/>
              <a:pathLst>
                <a:path w="304800" h="1828800">
                  <a:moveTo>
                    <a:pt x="304800" y="0"/>
                  </a:moveTo>
                  <a:lnTo>
                    <a:pt x="0" y="0"/>
                  </a:lnTo>
                  <a:lnTo>
                    <a:pt x="0" y="1828800"/>
                  </a:lnTo>
                  <a:lnTo>
                    <a:pt x="304800" y="1828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303962" y="2490787"/>
              <a:ext cx="304800" cy="1828800"/>
            </a:xfrm>
            <a:custGeom>
              <a:avLst/>
              <a:gdLst/>
              <a:ahLst/>
              <a:cxnLst/>
              <a:rect l="l" t="t" r="r" b="b"/>
              <a:pathLst>
                <a:path w="304800" h="1828800">
                  <a:moveTo>
                    <a:pt x="0" y="0"/>
                  </a:moveTo>
                  <a:lnTo>
                    <a:pt x="304800" y="0"/>
                  </a:lnTo>
                  <a:lnTo>
                    <a:pt x="304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303962" y="2713049"/>
              <a:ext cx="304800" cy="1384300"/>
            </a:xfrm>
            <a:custGeom>
              <a:avLst/>
              <a:gdLst/>
              <a:ahLst/>
              <a:cxnLst/>
              <a:rect l="l" t="t" r="r" b="b"/>
              <a:pathLst>
                <a:path w="304800" h="1384300">
                  <a:moveTo>
                    <a:pt x="304800" y="1371587"/>
                  </a:moveTo>
                  <a:lnTo>
                    <a:pt x="0" y="1371587"/>
                  </a:lnTo>
                  <a:lnTo>
                    <a:pt x="0" y="1384287"/>
                  </a:lnTo>
                  <a:lnTo>
                    <a:pt x="304800" y="1384287"/>
                  </a:lnTo>
                  <a:lnTo>
                    <a:pt x="304800" y="1371587"/>
                  </a:lnTo>
                  <a:close/>
                </a:path>
                <a:path w="304800" h="1384300">
                  <a:moveTo>
                    <a:pt x="304800" y="1142987"/>
                  </a:moveTo>
                  <a:lnTo>
                    <a:pt x="0" y="1142987"/>
                  </a:lnTo>
                  <a:lnTo>
                    <a:pt x="0" y="1155687"/>
                  </a:lnTo>
                  <a:lnTo>
                    <a:pt x="304800" y="1155687"/>
                  </a:lnTo>
                  <a:lnTo>
                    <a:pt x="304800" y="1142987"/>
                  </a:lnTo>
                  <a:close/>
                </a:path>
                <a:path w="304800" h="1384300">
                  <a:moveTo>
                    <a:pt x="304800" y="914387"/>
                  </a:moveTo>
                  <a:lnTo>
                    <a:pt x="0" y="914387"/>
                  </a:lnTo>
                  <a:lnTo>
                    <a:pt x="0" y="927087"/>
                  </a:lnTo>
                  <a:lnTo>
                    <a:pt x="304800" y="927087"/>
                  </a:lnTo>
                  <a:lnTo>
                    <a:pt x="304800" y="914387"/>
                  </a:lnTo>
                  <a:close/>
                </a:path>
                <a:path w="304800" h="1384300">
                  <a:moveTo>
                    <a:pt x="304800" y="685787"/>
                  </a:moveTo>
                  <a:lnTo>
                    <a:pt x="0" y="685787"/>
                  </a:lnTo>
                  <a:lnTo>
                    <a:pt x="0" y="698487"/>
                  </a:lnTo>
                  <a:lnTo>
                    <a:pt x="304800" y="698487"/>
                  </a:lnTo>
                  <a:lnTo>
                    <a:pt x="304800" y="685787"/>
                  </a:lnTo>
                  <a:close/>
                </a:path>
                <a:path w="304800" h="1384300">
                  <a:moveTo>
                    <a:pt x="304800" y="457200"/>
                  </a:moveTo>
                  <a:lnTo>
                    <a:pt x="0" y="457200"/>
                  </a:lnTo>
                  <a:lnTo>
                    <a:pt x="0" y="469900"/>
                  </a:lnTo>
                  <a:lnTo>
                    <a:pt x="304800" y="469900"/>
                  </a:lnTo>
                  <a:lnTo>
                    <a:pt x="304800" y="457200"/>
                  </a:lnTo>
                  <a:close/>
                </a:path>
                <a:path w="304800" h="1384300">
                  <a:moveTo>
                    <a:pt x="304800" y="228600"/>
                  </a:moveTo>
                  <a:lnTo>
                    <a:pt x="0" y="228600"/>
                  </a:lnTo>
                  <a:lnTo>
                    <a:pt x="0" y="241300"/>
                  </a:lnTo>
                  <a:lnTo>
                    <a:pt x="304800" y="241300"/>
                  </a:lnTo>
                  <a:lnTo>
                    <a:pt x="304800" y="228600"/>
                  </a:lnTo>
                  <a:close/>
                </a:path>
                <a:path w="304800" h="1384300">
                  <a:moveTo>
                    <a:pt x="30480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304800" y="127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382702" y="2451303"/>
            <a:ext cx="588010" cy="185483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37820" indent="-313055">
              <a:lnSpc>
                <a:spcPct val="100000"/>
              </a:lnSpc>
              <a:spcBef>
                <a:spcPts val="220"/>
              </a:spcBef>
              <a:buAutoNum type="arabicPlain"/>
              <a:tabLst>
                <a:tab pos="337820" algn="l"/>
                <a:tab pos="338455" algn="l"/>
              </a:tabLst>
            </a:pPr>
            <a:r>
              <a:rPr sz="1400" spc="5" dirty="0">
                <a:latin typeface="Arial MT"/>
                <a:cs typeface="Arial MT"/>
              </a:rPr>
              <a:t>D</a:t>
            </a:r>
            <a:r>
              <a:rPr sz="1350" spc="7" baseline="-21604" dirty="0">
                <a:latin typeface="Arial MT"/>
                <a:cs typeface="Arial MT"/>
              </a:rPr>
              <a:t>7</a:t>
            </a:r>
            <a:endParaRPr sz="1350" baseline="-21604">
              <a:latin typeface="Arial MT"/>
              <a:cs typeface="Arial MT"/>
            </a:endParaRPr>
          </a:p>
          <a:p>
            <a:pPr marL="342900" indent="-317500">
              <a:lnSpc>
                <a:spcPct val="100000"/>
              </a:lnSpc>
              <a:spcBef>
                <a:spcPts val="120"/>
              </a:spcBef>
              <a:buAutoNum type="arabicPlain"/>
              <a:tabLst>
                <a:tab pos="342265" algn="l"/>
                <a:tab pos="342900" algn="l"/>
              </a:tabLst>
            </a:pPr>
            <a:r>
              <a:rPr sz="1400" spc="5" dirty="0">
                <a:latin typeface="Arial MT"/>
                <a:cs typeface="Arial MT"/>
              </a:rPr>
              <a:t>D</a:t>
            </a:r>
            <a:r>
              <a:rPr sz="1350" spc="7" baseline="-21604" dirty="0">
                <a:latin typeface="Arial MT"/>
                <a:cs typeface="Arial MT"/>
              </a:rPr>
              <a:t>6</a:t>
            </a:r>
            <a:endParaRPr sz="1350" baseline="-21604">
              <a:latin typeface="Arial MT"/>
              <a:cs typeface="Arial MT"/>
            </a:endParaRPr>
          </a:p>
          <a:p>
            <a:pPr marL="25400">
              <a:lnSpc>
                <a:spcPct val="100000"/>
              </a:lnSpc>
              <a:spcBef>
                <a:spcPts val="120"/>
              </a:spcBef>
              <a:tabLst>
                <a:tab pos="342265" algn="l"/>
              </a:tabLst>
            </a:pPr>
            <a:r>
              <a:rPr sz="2100" spc="-7" baseline="-3968" dirty="0">
                <a:latin typeface="Arial MT"/>
                <a:cs typeface="Arial MT"/>
              </a:rPr>
              <a:t>0	</a:t>
            </a:r>
            <a:r>
              <a:rPr sz="1400" spc="5" dirty="0">
                <a:latin typeface="Arial MT"/>
                <a:cs typeface="Arial MT"/>
              </a:rPr>
              <a:t>D</a:t>
            </a:r>
            <a:r>
              <a:rPr sz="1350" spc="7" baseline="-21604" dirty="0">
                <a:latin typeface="Arial MT"/>
                <a:cs typeface="Arial MT"/>
              </a:rPr>
              <a:t>5</a:t>
            </a:r>
            <a:endParaRPr sz="1350" baseline="-21604">
              <a:latin typeface="Arial MT"/>
              <a:cs typeface="Arial MT"/>
            </a:endParaRPr>
          </a:p>
          <a:p>
            <a:pPr marL="25400">
              <a:lnSpc>
                <a:spcPct val="100000"/>
              </a:lnSpc>
              <a:spcBef>
                <a:spcPts val="120"/>
              </a:spcBef>
              <a:tabLst>
                <a:tab pos="342265" algn="l"/>
              </a:tabLst>
            </a:pPr>
            <a:r>
              <a:rPr sz="2100" spc="-7" baseline="-3968" dirty="0">
                <a:latin typeface="Arial MT"/>
                <a:cs typeface="Arial MT"/>
              </a:rPr>
              <a:t>0	</a:t>
            </a:r>
            <a:r>
              <a:rPr sz="1400" spc="5" dirty="0">
                <a:latin typeface="Arial MT"/>
                <a:cs typeface="Arial MT"/>
              </a:rPr>
              <a:t>D</a:t>
            </a:r>
            <a:r>
              <a:rPr sz="1350" spc="7" baseline="-21604" dirty="0">
                <a:latin typeface="Arial MT"/>
                <a:cs typeface="Arial MT"/>
              </a:rPr>
              <a:t>4</a:t>
            </a:r>
            <a:endParaRPr sz="1350" baseline="-21604">
              <a:latin typeface="Arial MT"/>
              <a:cs typeface="Arial MT"/>
            </a:endParaRPr>
          </a:p>
          <a:p>
            <a:pPr marL="25400">
              <a:lnSpc>
                <a:spcPct val="100000"/>
              </a:lnSpc>
              <a:spcBef>
                <a:spcPts val="234"/>
              </a:spcBef>
              <a:tabLst>
                <a:tab pos="342265" algn="l"/>
              </a:tabLst>
            </a:pPr>
            <a:r>
              <a:rPr sz="1400" spc="-5" dirty="0">
                <a:latin typeface="Arial MT"/>
                <a:cs typeface="Arial MT"/>
              </a:rPr>
              <a:t>0	</a:t>
            </a:r>
            <a:r>
              <a:rPr sz="1400" spc="5" dirty="0">
                <a:latin typeface="Arial MT"/>
                <a:cs typeface="Arial MT"/>
              </a:rPr>
              <a:t>D</a:t>
            </a:r>
            <a:r>
              <a:rPr sz="1350" spc="7" baseline="-21604" dirty="0">
                <a:latin typeface="Arial MT"/>
                <a:cs typeface="Arial MT"/>
              </a:rPr>
              <a:t>3</a:t>
            </a:r>
            <a:endParaRPr sz="1350" baseline="-21604">
              <a:latin typeface="Arial MT"/>
              <a:cs typeface="Arial MT"/>
            </a:endParaRPr>
          </a:p>
          <a:p>
            <a:pPr marL="25400">
              <a:lnSpc>
                <a:spcPct val="100000"/>
              </a:lnSpc>
              <a:spcBef>
                <a:spcPts val="5"/>
              </a:spcBef>
              <a:tabLst>
                <a:tab pos="342265" algn="l"/>
              </a:tabLst>
            </a:pPr>
            <a:r>
              <a:rPr sz="2100" spc="-7" baseline="-3968" dirty="0">
                <a:latin typeface="Arial MT"/>
                <a:cs typeface="Arial MT"/>
              </a:rPr>
              <a:t>0	</a:t>
            </a:r>
            <a:r>
              <a:rPr sz="1400" spc="5" dirty="0">
                <a:latin typeface="Arial MT"/>
                <a:cs typeface="Arial MT"/>
              </a:rPr>
              <a:t>D</a:t>
            </a:r>
            <a:r>
              <a:rPr sz="1350" spc="7" baseline="-21604" dirty="0">
                <a:latin typeface="Arial MT"/>
                <a:cs typeface="Arial MT"/>
              </a:rPr>
              <a:t>2</a:t>
            </a:r>
            <a:endParaRPr sz="1350" baseline="-21604">
              <a:latin typeface="Arial MT"/>
              <a:cs typeface="Arial MT"/>
            </a:endParaRPr>
          </a:p>
          <a:p>
            <a:pPr marL="342900" indent="-317500">
              <a:lnSpc>
                <a:spcPct val="100000"/>
              </a:lnSpc>
              <a:spcBef>
                <a:spcPts val="120"/>
              </a:spcBef>
              <a:buAutoNum type="arabicPlain"/>
              <a:tabLst>
                <a:tab pos="342265" algn="l"/>
                <a:tab pos="342900" algn="l"/>
              </a:tabLst>
            </a:pPr>
            <a:r>
              <a:rPr sz="1400" spc="5" dirty="0">
                <a:latin typeface="Arial MT"/>
                <a:cs typeface="Arial MT"/>
              </a:rPr>
              <a:t>D</a:t>
            </a:r>
            <a:r>
              <a:rPr sz="1350" spc="7" baseline="-21604" dirty="0">
                <a:latin typeface="Arial MT"/>
                <a:cs typeface="Arial MT"/>
              </a:rPr>
              <a:t>1</a:t>
            </a:r>
            <a:endParaRPr sz="1350" baseline="-21604">
              <a:latin typeface="Arial MT"/>
              <a:cs typeface="Arial MT"/>
            </a:endParaRPr>
          </a:p>
          <a:p>
            <a:pPr marL="342265" indent="-317500">
              <a:lnSpc>
                <a:spcPct val="100000"/>
              </a:lnSpc>
              <a:spcBef>
                <a:spcPts val="125"/>
              </a:spcBef>
              <a:buAutoNum type="arabicPlain"/>
              <a:tabLst>
                <a:tab pos="342265" algn="l"/>
                <a:tab pos="342900" algn="l"/>
              </a:tabLst>
            </a:pPr>
            <a:r>
              <a:rPr sz="1400" spc="5" dirty="0">
                <a:latin typeface="Arial MT"/>
                <a:cs typeface="Arial MT"/>
              </a:rPr>
              <a:t>D</a:t>
            </a:r>
            <a:r>
              <a:rPr sz="1350" spc="7" baseline="-21604" dirty="0">
                <a:latin typeface="Arial MT"/>
                <a:cs typeface="Arial MT"/>
              </a:rPr>
              <a:t>0</a:t>
            </a:r>
            <a:endParaRPr sz="1350" baseline="-21604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60266" y="2954876"/>
            <a:ext cx="224154" cy="101473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5" dirty="0">
                <a:latin typeface="Arial MT"/>
                <a:cs typeface="Arial MT"/>
              </a:rPr>
              <a:t>Accumulator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584450" y="2552696"/>
            <a:ext cx="3746500" cy="1562100"/>
            <a:chOff x="2584450" y="2552696"/>
            <a:chExt cx="3746500" cy="1562100"/>
          </a:xfrm>
        </p:grpSpPr>
        <p:sp>
          <p:nvSpPr>
            <p:cNvPr id="12" name="object 12"/>
            <p:cNvSpPr/>
            <p:nvPr/>
          </p:nvSpPr>
          <p:spPr>
            <a:xfrm>
              <a:off x="6096000" y="2827338"/>
              <a:ext cx="7620" cy="1224280"/>
            </a:xfrm>
            <a:custGeom>
              <a:avLst/>
              <a:gdLst/>
              <a:ahLst/>
              <a:cxnLst/>
              <a:rect l="l" t="t" r="r" b="b"/>
              <a:pathLst>
                <a:path w="7620" h="1224279">
                  <a:moveTo>
                    <a:pt x="0" y="0"/>
                  </a:moveTo>
                  <a:lnTo>
                    <a:pt x="7543" y="1223962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065371" y="4038368"/>
              <a:ext cx="76200" cy="76835"/>
            </a:xfrm>
            <a:custGeom>
              <a:avLst/>
              <a:gdLst/>
              <a:ahLst/>
              <a:cxnLst/>
              <a:rect l="l" t="t" r="r" b="b"/>
              <a:pathLst>
                <a:path w="76200" h="76835">
                  <a:moveTo>
                    <a:pt x="76200" y="0"/>
                  </a:moveTo>
                  <a:lnTo>
                    <a:pt x="0" y="469"/>
                  </a:lnTo>
                  <a:lnTo>
                    <a:pt x="38569" y="76428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590800" y="2590799"/>
              <a:ext cx="3060700" cy="0"/>
            </a:xfrm>
            <a:custGeom>
              <a:avLst/>
              <a:gdLst/>
              <a:ahLst/>
              <a:cxnLst/>
              <a:rect l="l" t="t" r="r" b="b"/>
              <a:pathLst>
                <a:path w="3060700">
                  <a:moveTo>
                    <a:pt x="0" y="0"/>
                  </a:moveTo>
                  <a:lnTo>
                    <a:pt x="30607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638802" y="25526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791200" y="2590799"/>
              <a:ext cx="533400" cy="0"/>
            </a:xfrm>
            <a:custGeom>
              <a:avLst/>
              <a:gdLst/>
              <a:ahLst/>
              <a:cxnLst/>
              <a:rect l="l" t="t" r="r" b="b"/>
              <a:pathLst>
                <a:path w="533400">
                  <a:moveTo>
                    <a:pt x="5334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806440" y="4186173"/>
            <a:ext cx="41910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 MT"/>
                <a:cs typeface="Arial MT"/>
              </a:rPr>
              <a:t>S</a:t>
            </a:r>
            <a:r>
              <a:rPr sz="1600" spc="-5" dirty="0">
                <a:latin typeface="Arial MT"/>
                <a:cs typeface="Arial MT"/>
              </a:rPr>
              <a:t>hift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822450" y="5175250"/>
            <a:ext cx="4965700" cy="317500"/>
            <a:chOff x="1822450" y="5175250"/>
            <a:chExt cx="4965700" cy="317500"/>
          </a:xfrm>
        </p:grpSpPr>
        <p:sp>
          <p:nvSpPr>
            <p:cNvPr id="19" name="object 19"/>
            <p:cNvSpPr/>
            <p:nvPr/>
          </p:nvSpPr>
          <p:spPr>
            <a:xfrm>
              <a:off x="5715000" y="5181600"/>
              <a:ext cx="1066800" cy="0"/>
            </a:xfrm>
            <a:custGeom>
              <a:avLst/>
              <a:gdLst/>
              <a:ahLst/>
              <a:cxnLst/>
              <a:rect l="l" t="t" r="r" b="b"/>
              <a:pathLst>
                <a:path w="1066800">
                  <a:moveTo>
                    <a:pt x="10668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15000" y="5181600"/>
              <a:ext cx="0" cy="304800"/>
            </a:xfrm>
            <a:custGeom>
              <a:avLst/>
              <a:gdLst/>
              <a:ahLst/>
              <a:cxnLst/>
              <a:rect l="l" t="t" r="r" b="b"/>
              <a:pathLst>
                <a:path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410200" y="5486400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>
                  <a:moveTo>
                    <a:pt x="3048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105400" y="5181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0" y="304800"/>
                  </a:lnTo>
                </a:path>
                <a:path w="304800" h="30480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276600" y="5181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0" y="304800"/>
                  </a:lnTo>
                </a:path>
                <a:path w="304800" h="30480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581400" y="5181600"/>
              <a:ext cx="0" cy="304800"/>
            </a:xfrm>
            <a:custGeom>
              <a:avLst/>
              <a:gdLst/>
              <a:ahLst/>
              <a:cxnLst/>
              <a:rect l="l" t="t" r="r" b="b"/>
              <a:pathLst>
                <a:path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828800" y="5181600"/>
              <a:ext cx="1143000" cy="304800"/>
            </a:xfrm>
            <a:custGeom>
              <a:avLst/>
              <a:gdLst/>
              <a:ahLst/>
              <a:cxnLst/>
              <a:rect l="l" t="t" r="r" b="b"/>
              <a:pathLst>
                <a:path w="1143000" h="304800">
                  <a:moveTo>
                    <a:pt x="1143000" y="0"/>
                  </a:moveTo>
                  <a:lnTo>
                    <a:pt x="0" y="0"/>
                  </a:lnTo>
                </a:path>
                <a:path w="1143000" h="304800">
                  <a:moveTo>
                    <a:pt x="1143000" y="0"/>
                  </a:moveTo>
                  <a:lnTo>
                    <a:pt x="1143000" y="3048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362200" y="5181600"/>
              <a:ext cx="0" cy="304800"/>
            </a:xfrm>
            <a:custGeom>
              <a:avLst/>
              <a:gdLst/>
              <a:ahLst/>
              <a:cxnLst/>
              <a:rect l="l" t="t" r="r" b="b"/>
              <a:pathLst>
                <a:path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ln w="12700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/>
          <p:nvPr/>
        </p:nvSpPr>
        <p:spPr>
          <a:xfrm>
            <a:off x="5410200" y="5181600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3101233" y="5210047"/>
            <a:ext cx="222504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2420" algn="l"/>
                <a:tab pos="612140" algn="l"/>
                <a:tab pos="912494" algn="l"/>
                <a:tab pos="1212850" algn="l"/>
                <a:tab pos="1512570" algn="l"/>
                <a:tab pos="1812925" algn="l"/>
                <a:tab pos="2112645" algn="l"/>
              </a:tabLst>
            </a:pPr>
            <a:r>
              <a:rPr sz="1400" spc="-5" dirty="0">
                <a:latin typeface="Arial MT"/>
                <a:cs typeface="Arial MT"/>
              </a:rPr>
              <a:t>0	1	0	0	0	0	0	1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455466" y="5082595"/>
            <a:ext cx="224154" cy="40132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5" dirty="0">
                <a:latin typeface="Arial MT"/>
                <a:cs typeface="Arial MT"/>
              </a:rPr>
              <a:t>S</a:t>
            </a:r>
            <a:r>
              <a:rPr sz="1400" dirty="0">
                <a:latin typeface="Arial MT"/>
                <a:cs typeface="Arial MT"/>
              </a:rPr>
              <a:t>tart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450464" y="5210047"/>
            <a:ext cx="39116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 MT"/>
                <a:cs typeface="Arial MT"/>
              </a:rPr>
              <a:t>S</a:t>
            </a:r>
            <a:r>
              <a:rPr sz="1400" spc="-5" dirty="0">
                <a:latin typeface="Arial MT"/>
                <a:cs typeface="Arial MT"/>
              </a:rPr>
              <a:t>top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971800" y="5480050"/>
            <a:ext cx="2133600" cy="12700"/>
            <a:chOff x="2971800" y="5480050"/>
            <a:chExt cx="2133600" cy="12700"/>
          </a:xfrm>
        </p:grpSpPr>
        <p:sp>
          <p:nvSpPr>
            <p:cNvPr id="32" name="object 32"/>
            <p:cNvSpPr/>
            <p:nvPr/>
          </p:nvSpPr>
          <p:spPr>
            <a:xfrm>
              <a:off x="3581400" y="5486400"/>
              <a:ext cx="1524000" cy="0"/>
            </a:xfrm>
            <a:custGeom>
              <a:avLst/>
              <a:gdLst/>
              <a:ahLst/>
              <a:cxnLst/>
              <a:rect l="l" t="t" r="r" b="b"/>
              <a:pathLst>
                <a:path w="1524000">
                  <a:moveTo>
                    <a:pt x="15240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971800" y="5486400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>
                  <a:moveTo>
                    <a:pt x="3048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1905001" y="5829296"/>
            <a:ext cx="4114800" cy="76200"/>
            <a:chOff x="1905001" y="5829296"/>
            <a:chExt cx="4114800" cy="76200"/>
          </a:xfrm>
        </p:grpSpPr>
        <p:sp>
          <p:nvSpPr>
            <p:cNvPr id="35" name="object 35"/>
            <p:cNvSpPr/>
            <p:nvPr/>
          </p:nvSpPr>
          <p:spPr>
            <a:xfrm>
              <a:off x="1968500" y="5867399"/>
              <a:ext cx="4051300" cy="0"/>
            </a:xfrm>
            <a:custGeom>
              <a:avLst/>
              <a:gdLst/>
              <a:ahLst/>
              <a:cxnLst/>
              <a:rect l="l" t="t" r="r" b="b"/>
              <a:pathLst>
                <a:path w="4051300">
                  <a:moveTo>
                    <a:pt x="40513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905001" y="58292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38099"/>
                  </a:lnTo>
                  <a:lnTo>
                    <a:pt x="76200" y="76199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3691890" y="5895847"/>
            <a:ext cx="413384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65" dirty="0">
                <a:latin typeface="Arial MT"/>
                <a:cs typeface="Arial MT"/>
              </a:rPr>
              <a:t>T</a:t>
            </a:r>
            <a:r>
              <a:rPr sz="1400" spc="-5" dirty="0">
                <a:latin typeface="Arial MT"/>
                <a:cs typeface="Arial MT"/>
              </a:rPr>
              <a:t>ime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468226" y="2314390"/>
            <a:ext cx="27051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400" spc="5" dirty="0">
                <a:latin typeface="Arial MT"/>
                <a:cs typeface="Arial MT"/>
              </a:rPr>
              <a:t>D</a:t>
            </a:r>
            <a:r>
              <a:rPr sz="1350" spc="7" baseline="-21604" dirty="0">
                <a:latin typeface="Arial MT"/>
                <a:cs typeface="Arial MT"/>
              </a:rPr>
              <a:t>7</a:t>
            </a:r>
            <a:endParaRPr sz="1350" baseline="-21604">
              <a:latin typeface="Arial MT"/>
              <a:cs typeface="Arial MT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974850" y="2203450"/>
            <a:ext cx="622300" cy="2374900"/>
            <a:chOff x="1974850" y="2203450"/>
            <a:chExt cx="622300" cy="2374900"/>
          </a:xfrm>
        </p:grpSpPr>
        <p:sp>
          <p:nvSpPr>
            <p:cNvPr id="40" name="object 40"/>
            <p:cNvSpPr/>
            <p:nvPr/>
          </p:nvSpPr>
          <p:spPr>
            <a:xfrm>
              <a:off x="1981200" y="2209800"/>
              <a:ext cx="609600" cy="2362200"/>
            </a:xfrm>
            <a:custGeom>
              <a:avLst/>
              <a:gdLst/>
              <a:ahLst/>
              <a:cxnLst/>
              <a:rect l="l" t="t" r="r" b="b"/>
              <a:pathLst>
                <a:path w="609600" h="2362200">
                  <a:moveTo>
                    <a:pt x="609600" y="0"/>
                  </a:moveTo>
                  <a:lnTo>
                    <a:pt x="0" y="0"/>
                  </a:lnTo>
                  <a:lnTo>
                    <a:pt x="0" y="2362200"/>
                  </a:lnTo>
                  <a:lnTo>
                    <a:pt x="609600" y="23622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CC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981200" y="2209800"/>
              <a:ext cx="609600" cy="2362200"/>
            </a:xfrm>
            <a:custGeom>
              <a:avLst/>
              <a:gdLst/>
              <a:ahLst/>
              <a:cxnLst/>
              <a:rect l="l" t="t" r="r" b="b"/>
              <a:pathLst>
                <a:path w="609600" h="2362200">
                  <a:moveTo>
                    <a:pt x="0" y="0"/>
                  </a:moveTo>
                  <a:lnTo>
                    <a:pt x="609600" y="0"/>
                  </a:lnTo>
                  <a:lnTo>
                    <a:pt x="609600" y="2362200"/>
                  </a:lnTo>
                  <a:lnTo>
                    <a:pt x="0" y="23622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2177278" y="3088430"/>
            <a:ext cx="224154" cy="79375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5" dirty="0">
                <a:latin typeface="Arial MT"/>
                <a:cs typeface="Arial MT"/>
              </a:rPr>
              <a:t>Input</a:t>
            </a:r>
            <a:r>
              <a:rPr sz="1400" spc="-8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Port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00277" y="814069"/>
            <a:ext cx="67417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Flowchart</a:t>
            </a:r>
            <a:r>
              <a:rPr spc="-20" dirty="0"/>
              <a:t> </a:t>
            </a:r>
            <a:r>
              <a:rPr spc="-5" dirty="0"/>
              <a:t>of</a:t>
            </a:r>
            <a:r>
              <a:rPr spc="-15" dirty="0"/>
              <a:t> </a:t>
            </a:r>
            <a:r>
              <a:rPr spc="-5" dirty="0"/>
              <a:t>Serial</a:t>
            </a:r>
            <a:r>
              <a:rPr spc="-10" dirty="0"/>
              <a:t> </a:t>
            </a:r>
            <a:r>
              <a:rPr spc="-5" dirty="0"/>
              <a:t>Reception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89137" y="1843087"/>
            <a:ext cx="1676400" cy="3048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</a:ln>
        </p:spPr>
        <p:txBody>
          <a:bodyPr vert="horz" wrap="square" lIns="0" tIns="56515" rIns="0" bIns="0" rtlCol="0">
            <a:spAutoFit/>
          </a:bodyPr>
          <a:lstStyle/>
          <a:p>
            <a:pPr marL="305435">
              <a:lnSpc>
                <a:spcPct val="100000"/>
              </a:lnSpc>
              <a:spcBef>
                <a:spcPts val="445"/>
              </a:spcBef>
            </a:pPr>
            <a:r>
              <a:rPr sz="1200" spc="-5" dirty="0">
                <a:latin typeface="Arial MT"/>
                <a:cs typeface="Arial MT"/>
              </a:rPr>
              <a:t>Read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Input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Port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309812" y="2341563"/>
            <a:ext cx="1044575" cy="612775"/>
            <a:chOff x="2309812" y="2341563"/>
            <a:chExt cx="1044575" cy="612775"/>
          </a:xfrm>
        </p:grpSpPr>
        <p:sp>
          <p:nvSpPr>
            <p:cNvPr id="5" name="object 5"/>
            <p:cNvSpPr/>
            <p:nvPr/>
          </p:nvSpPr>
          <p:spPr>
            <a:xfrm>
              <a:off x="2316162" y="2347913"/>
              <a:ext cx="1031875" cy="600075"/>
            </a:xfrm>
            <a:custGeom>
              <a:avLst/>
              <a:gdLst/>
              <a:ahLst/>
              <a:cxnLst/>
              <a:rect l="l" t="t" r="r" b="b"/>
              <a:pathLst>
                <a:path w="1031875" h="600075">
                  <a:moveTo>
                    <a:pt x="515937" y="0"/>
                  </a:moveTo>
                  <a:lnTo>
                    <a:pt x="0" y="300037"/>
                  </a:lnTo>
                  <a:lnTo>
                    <a:pt x="515937" y="600075"/>
                  </a:lnTo>
                  <a:lnTo>
                    <a:pt x="1031875" y="300037"/>
                  </a:lnTo>
                  <a:lnTo>
                    <a:pt x="515937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316162" y="2347913"/>
              <a:ext cx="1031875" cy="600075"/>
            </a:xfrm>
            <a:custGeom>
              <a:avLst/>
              <a:gdLst/>
              <a:ahLst/>
              <a:cxnLst/>
              <a:rect l="l" t="t" r="r" b="b"/>
              <a:pathLst>
                <a:path w="1031875" h="600075">
                  <a:moveTo>
                    <a:pt x="0" y="300037"/>
                  </a:moveTo>
                  <a:lnTo>
                    <a:pt x="515937" y="0"/>
                  </a:lnTo>
                  <a:lnTo>
                    <a:pt x="1031875" y="300037"/>
                  </a:lnTo>
                  <a:lnTo>
                    <a:pt x="515937" y="600075"/>
                  </a:lnTo>
                  <a:lnTo>
                    <a:pt x="0" y="30003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506249" y="2539239"/>
            <a:ext cx="6527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Start</a:t>
            </a:r>
            <a:r>
              <a:rPr sz="1200" spc="-6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Bit?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373187" y="1957384"/>
            <a:ext cx="1504950" cy="2117725"/>
            <a:chOff x="1373187" y="1957384"/>
            <a:chExt cx="1504950" cy="2117725"/>
          </a:xfrm>
        </p:grpSpPr>
        <p:sp>
          <p:nvSpPr>
            <p:cNvPr id="9" name="object 9"/>
            <p:cNvSpPr/>
            <p:nvPr/>
          </p:nvSpPr>
          <p:spPr>
            <a:xfrm>
              <a:off x="2827337" y="2147888"/>
              <a:ext cx="0" cy="165100"/>
            </a:xfrm>
            <a:custGeom>
              <a:avLst/>
              <a:gdLst/>
              <a:ahLst/>
              <a:cxnLst/>
              <a:rect l="l" t="t" r="r" b="b"/>
              <a:pathLst>
                <a:path h="165100">
                  <a:moveTo>
                    <a:pt x="0" y="0"/>
                  </a:moveTo>
                  <a:lnTo>
                    <a:pt x="0" y="1651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789237" y="230028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840037" y="2960688"/>
              <a:ext cx="0" cy="241300"/>
            </a:xfrm>
            <a:custGeom>
              <a:avLst/>
              <a:gdLst/>
              <a:ahLst/>
              <a:cxnLst/>
              <a:rect l="l" t="t" r="r" b="b"/>
              <a:pathLst>
                <a:path h="241300">
                  <a:moveTo>
                    <a:pt x="0" y="0"/>
                  </a:moveTo>
                  <a:lnTo>
                    <a:pt x="0" y="2413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01937" y="318928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379537" y="2655888"/>
              <a:ext cx="938530" cy="0"/>
            </a:xfrm>
            <a:custGeom>
              <a:avLst/>
              <a:gdLst/>
              <a:ahLst/>
              <a:cxnLst/>
              <a:rect l="l" t="t" r="r" b="b"/>
              <a:pathLst>
                <a:path w="938530">
                  <a:moveTo>
                    <a:pt x="938212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379537" y="1995487"/>
              <a:ext cx="0" cy="2073275"/>
            </a:xfrm>
            <a:custGeom>
              <a:avLst/>
              <a:gdLst/>
              <a:ahLst/>
              <a:cxnLst/>
              <a:rect l="l" t="t" r="r" b="b"/>
              <a:pathLst>
                <a:path h="2073275">
                  <a:moveTo>
                    <a:pt x="0" y="2073275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379537" y="1995488"/>
              <a:ext cx="546100" cy="0"/>
            </a:xfrm>
            <a:custGeom>
              <a:avLst/>
              <a:gdLst/>
              <a:ahLst/>
              <a:cxnLst/>
              <a:rect l="l" t="t" r="r" b="b"/>
              <a:pathLst>
                <a:path w="546100">
                  <a:moveTo>
                    <a:pt x="0" y="0"/>
                  </a:moveTo>
                  <a:lnTo>
                    <a:pt x="5461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912940" y="195738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999739" y="2971672"/>
            <a:ext cx="2743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20" dirty="0">
                <a:latin typeface="Arial MT"/>
                <a:cs typeface="Arial MT"/>
              </a:rPr>
              <a:t>Y</a:t>
            </a:r>
            <a:r>
              <a:rPr sz="1200" spc="-10" dirty="0">
                <a:latin typeface="Arial MT"/>
                <a:cs typeface="Arial MT"/>
              </a:rPr>
              <a:t>e</a:t>
            </a:r>
            <a:r>
              <a:rPr sz="1200" dirty="0">
                <a:latin typeface="Arial MT"/>
                <a:cs typeface="Arial MT"/>
              </a:rPr>
              <a:t>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85339" y="2433548"/>
            <a:ext cx="2197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 MT"/>
                <a:cs typeface="Arial MT"/>
              </a:rPr>
              <a:t>No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989137" y="3252787"/>
            <a:ext cx="1676400" cy="3048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</a:ln>
        </p:spPr>
        <p:txBody>
          <a:bodyPr vert="horz" wrap="square" lIns="0" tIns="56515" rIns="0" bIns="0" rtlCol="0">
            <a:spAutoFit/>
          </a:bodyPr>
          <a:lstStyle/>
          <a:p>
            <a:pPr marL="124460">
              <a:lnSpc>
                <a:spcPct val="100000"/>
              </a:lnSpc>
              <a:spcBef>
                <a:spcPts val="445"/>
              </a:spcBef>
            </a:pPr>
            <a:r>
              <a:rPr sz="1200" spc="-15" dirty="0">
                <a:latin typeface="Arial MT"/>
                <a:cs typeface="Arial MT"/>
              </a:rPr>
              <a:t>Wait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for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Half Bit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15" dirty="0">
                <a:latin typeface="Arial MT"/>
                <a:cs typeface="Arial MT"/>
              </a:rPr>
              <a:t>Time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309812" y="3751262"/>
            <a:ext cx="1044575" cy="612775"/>
            <a:chOff x="2309812" y="3751262"/>
            <a:chExt cx="1044575" cy="612775"/>
          </a:xfrm>
        </p:grpSpPr>
        <p:sp>
          <p:nvSpPr>
            <p:cNvPr id="21" name="object 21"/>
            <p:cNvSpPr/>
            <p:nvPr/>
          </p:nvSpPr>
          <p:spPr>
            <a:xfrm>
              <a:off x="2316162" y="3757612"/>
              <a:ext cx="1031875" cy="600075"/>
            </a:xfrm>
            <a:custGeom>
              <a:avLst/>
              <a:gdLst/>
              <a:ahLst/>
              <a:cxnLst/>
              <a:rect l="l" t="t" r="r" b="b"/>
              <a:pathLst>
                <a:path w="1031875" h="600075">
                  <a:moveTo>
                    <a:pt x="515937" y="0"/>
                  </a:moveTo>
                  <a:lnTo>
                    <a:pt x="0" y="300037"/>
                  </a:lnTo>
                  <a:lnTo>
                    <a:pt x="515937" y="600075"/>
                  </a:lnTo>
                  <a:lnTo>
                    <a:pt x="1031875" y="300037"/>
                  </a:lnTo>
                  <a:lnTo>
                    <a:pt x="515937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316162" y="3757612"/>
              <a:ext cx="1031875" cy="600075"/>
            </a:xfrm>
            <a:custGeom>
              <a:avLst/>
              <a:gdLst/>
              <a:ahLst/>
              <a:cxnLst/>
              <a:rect l="l" t="t" r="r" b="b"/>
              <a:pathLst>
                <a:path w="1031875" h="600075">
                  <a:moveTo>
                    <a:pt x="0" y="300037"/>
                  </a:moveTo>
                  <a:lnTo>
                    <a:pt x="515937" y="0"/>
                  </a:lnTo>
                  <a:lnTo>
                    <a:pt x="1031875" y="300037"/>
                  </a:lnTo>
                  <a:lnTo>
                    <a:pt x="515937" y="600075"/>
                  </a:lnTo>
                  <a:lnTo>
                    <a:pt x="0" y="30003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565717" y="3857497"/>
            <a:ext cx="490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4455" marR="5080" indent="-7239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Bit</a:t>
            </a:r>
            <a:r>
              <a:rPr sz="1200" spc="-8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Still </a:t>
            </a:r>
            <a:r>
              <a:rPr sz="1200" spc="-32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Low?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379537" y="3557587"/>
            <a:ext cx="1498600" cy="1117600"/>
            <a:chOff x="1379537" y="3557587"/>
            <a:chExt cx="1498600" cy="1117600"/>
          </a:xfrm>
        </p:grpSpPr>
        <p:sp>
          <p:nvSpPr>
            <p:cNvPr id="25" name="object 25"/>
            <p:cNvSpPr/>
            <p:nvPr/>
          </p:nvSpPr>
          <p:spPr>
            <a:xfrm>
              <a:off x="2827337" y="3557587"/>
              <a:ext cx="0" cy="165100"/>
            </a:xfrm>
            <a:custGeom>
              <a:avLst/>
              <a:gdLst/>
              <a:ahLst/>
              <a:cxnLst/>
              <a:rect l="l" t="t" r="r" b="b"/>
              <a:pathLst>
                <a:path h="165100">
                  <a:moveTo>
                    <a:pt x="0" y="0"/>
                  </a:moveTo>
                  <a:lnTo>
                    <a:pt x="0" y="1651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789237" y="370998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840037" y="4370387"/>
              <a:ext cx="0" cy="241300"/>
            </a:xfrm>
            <a:custGeom>
              <a:avLst/>
              <a:gdLst/>
              <a:ahLst/>
              <a:cxnLst/>
              <a:rect l="l" t="t" r="r" b="b"/>
              <a:pathLst>
                <a:path h="241300">
                  <a:moveTo>
                    <a:pt x="0" y="0"/>
                  </a:moveTo>
                  <a:lnTo>
                    <a:pt x="0" y="2413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801937" y="459898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379537" y="4065587"/>
              <a:ext cx="938530" cy="0"/>
            </a:xfrm>
            <a:custGeom>
              <a:avLst/>
              <a:gdLst/>
              <a:ahLst/>
              <a:cxnLst/>
              <a:rect l="l" t="t" r="r" b="b"/>
              <a:pathLst>
                <a:path w="938530">
                  <a:moveTo>
                    <a:pt x="938212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999739" y="4381372"/>
            <a:ext cx="2743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20" dirty="0">
                <a:latin typeface="Arial MT"/>
                <a:cs typeface="Arial MT"/>
              </a:rPr>
              <a:t>Y</a:t>
            </a:r>
            <a:r>
              <a:rPr sz="1200" spc="-10" dirty="0">
                <a:latin typeface="Arial MT"/>
                <a:cs typeface="Arial MT"/>
              </a:rPr>
              <a:t>e</a:t>
            </a:r>
            <a:r>
              <a:rPr sz="1200" dirty="0">
                <a:latin typeface="Arial MT"/>
                <a:cs typeface="Arial MT"/>
              </a:rPr>
              <a:t>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085339" y="3843248"/>
            <a:ext cx="2197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 MT"/>
                <a:cs typeface="Arial MT"/>
              </a:rPr>
              <a:t>No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005012" y="4694237"/>
            <a:ext cx="1676400" cy="617855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450">
              <a:latin typeface="Times New Roman"/>
              <a:cs typeface="Times New Roman"/>
            </a:endParaRPr>
          </a:p>
          <a:p>
            <a:pPr marL="273685">
              <a:lnSpc>
                <a:spcPct val="100000"/>
              </a:lnSpc>
            </a:pPr>
            <a:r>
              <a:rPr sz="1200" spc="-5" dirty="0">
                <a:latin typeface="Arial MT"/>
                <a:cs typeface="Arial MT"/>
              </a:rPr>
              <a:t>Start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Bit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Counter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461000" y="1873250"/>
            <a:ext cx="1676400" cy="617855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</a:ln>
        </p:spPr>
        <p:txBody>
          <a:bodyPr vert="horz" wrap="square" lIns="0" tIns="121285" rIns="0" bIns="0" rtlCol="0">
            <a:spAutoFit/>
          </a:bodyPr>
          <a:lstStyle/>
          <a:p>
            <a:pPr marL="305435" marR="299085" indent="85725">
              <a:lnSpc>
                <a:spcPct val="100000"/>
              </a:lnSpc>
              <a:spcBef>
                <a:spcPts val="955"/>
              </a:spcBef>
            </a:pPr>
            <a:r>
              <a:rPr sz="1200" spc="-15" dirty="0">
                <a:latin typeface="Arial MT"/>
                <a:cs typeface="Arial MT"/>
              </a:rPr>
              <a:t>Wait </a:t>
            </a:r>
            <a:r>
              <a:rPr sz="1200" spc="-5" dirty="0">
                <a:latin typeface="Arial MT"/>
                <a:cs typeface="Arial MT"/>
              </a:rPr>
              <a:t>Bit </a:t>
            </a:r>
            <a:r>
              <a:rPr sz="1200" spc="-15" dirty="0">
                <a:latin typeface="Arial MT"/>
                <a:cs typeface="Arial MT"/>
              </a:rPr>
              <a:t>Time 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Read</a:t>
            </a:r>
            <a:r>
              <a:rPr sz="1200" spc="-5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Input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Port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461000" y="2803525"/>
            <a:ext cx="1676400" cy="617855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450">
              <a:latin typeface="Times New Roman"/>
              <a:cs typeface="Times New Roman"/>
            </a:endParaRPr>
          </a:p>
          <a:p>
            <a:pPr marL="173990">
              <a:lnSpc>
                <a:spcPct val="100000"/>
              </a:lnSpc>
            </a:pPr>
            <a:r>
              <a:rPr sz="1200" spc="-5" dirty="0">
                <a:latin typeface="Arial MT"/>
                <a:cs typeface="Arial MT"/>
              </a:rPr>
              <a:t>Decrement</a:t>
            </a:r>
            <a:r>
              <a:rPr sz="1200" spc="-6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Counter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5776913" y="3722687"/>
            <a:ext cx="1044575" cy="612775"/>
            <a:chOff x="5776913" y="3722687"/>
            <a:chExt cx="1044575" cy="612775"/>
          </a:xfrm>
        </p:grpSpPr>
        <p:sp>
          <p:nvSpPr>
            <p:cNvPr id="36" name="object 36"/>
            <p:cNvSpPr/>
            <p:nvPr/>
          </p:nvSpPr>
          <p:spPr>
            <a:xfrm>
              <a:off x="5783263" y="3729037"/>
              <a:ext cx="1031875" cy="600075"/>
            </a:xfrm>
            <a:custGeom>
              <a:avLst/>
              <a:gdLst/>
              <a:ahLst/>
              <a:cxnLst/>
              <a:rect l="l" t="t" r="r" b="b"/>
              <a:pathLst>
                <a:path w="1031875" h="600075">
                  <a:moveTo>
                    <a:pt x="515937" y="0"/>
                  </a:moveTo>
                  <a:lnTo>
                    <a:pt x="0" y="300037"/>
                  </a:lnTo>
                  <a:lnTo>
                    <a:pt x="515937" y="600075"/>
                  </a:lnTo>
                  <a:lnTo>
                    <a:pt x="1031875" y="300037"/>
                  </a:lnTo>
                  <a:lnTo>
                    <a:pt x="515937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783263" y="3729037"/>
              <a:ext cx="1031875" cy="600075"/>
            </a:xfrm>
            <a:custGeom>
              <a:avLst/>
              <a:gdLst/>
              <a:ahLst/>
              <a:cxnLst/>
              <a:rect l="l" t="t" r="r" b="b"/>
              <a:pathLst>
                <a:path w="1031875" h="600075">
                  <a:moveTo>
                    <a:pt x="0" y="300037"/>
                  </a:moveTo>
                  <a:lnTo>
                    <a:pt x="515937" y="0"/>
                  </a:lnTo>
                  <a:lnTo>
                    <a:pt x="1031875" y="300037"/>
                  </a:lnTo>
                  <a:lnTo>
                    <a:pt x="515937" y="600075"/>
                  </a:lnTo>
                  <a:lnTo>
                    <a:pt x="0" y="30003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5990875" y="3920363"/>
            <a:ext cx="617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Last</a:t>
            </a:r>
            <a:r>
              <a:rPr sz="1200" spc="-7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Bit?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461000" y="4633912"/>
            <a:ext cx="1676400" cy="617855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</a:ln>
        </p:spPr>
        <p:txBody>
          <a:bodyPr vert="horz" wrap="square" lIns="0" tIns="121285" rIns="0" bIns="0" rtlCol="0">
            <a:spAutoFit/>
          </a:bodyPr>
          <a:lstStyle/>
          <a:p>
            <a:pPr marL="252095" marR="245110" indent="154305">
              <a:lnSpc>
                <a:spcPct val="100000"/>
              </a:lnSpc>
              <a:spcBef>
                <a:spcPts val="955"/>
              </a:spcBef>
            </a:pPr>
            <a:r>
              <a:rPr sz="1200" spc="-5" dirty="0">
                <a:latin typeface="Arial MT"/>
                <a:cs typeface="Arial MT"/>
              </a:rPr>
              <a:t>Check Parity </a:t>
            </a:r>
            <a:r>
              <a:rPr sz="1200" dirty="0">
                <a:latin typeface="Arial MT"/>
                <a:cs typeface="Arial MT"/>
              </a:rPr>
              <a:t> </a:t>
            </a:r>
            <a:r>
              <a:rPr sz="1200" spc="-15" dirty="0">
                <a:latin typeface="Arial MT"/>
                <a:cs typeface="Arial MT"/>
              </a:rPr>
              <a:t>Wait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for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Stop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Bits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6281738" y="2135184"/>
            <a:ext cx="1200150" cy="2501900"/>
            <a:chOff x="6281738" y="2135184"/>
            <a:chExt cx="1200150" cy="2501900"/>
          </a:xfrm>
        </p:grpSpPr>
        <p:sp>
          <p:nvSpPr>
            <p:cNvPr id="41" name="object 41"/>
            <p:cNvSpPr/>
            <p:nvPr/>
          </p:nvSpPr>
          <p:spPr>
            <a:xfrm>
              <a:off x="6319838" y="4332287"/>
              <a:ext cx="0" cy="241300"/>
            </a:xfrm>
            <a:custGeom>
              <a:avLst/>
              <a:gdLst/>
              <a:ahLst/>
              <a:cxnLst/>
              <a:rect l="l" t="t" r="r" b="b"/>
              <a:pathLst>
                <a:path h="241300">
                  <a:moveTo>
                    <a:pt x="0" y="0"/>
                  </a:moveTo>
                  <a:lnTo>
                    <a:pt x="0" y="2413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281738" y="456088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475538" y="2173287"/>
              <a:ext cx="0" cy="1847850"/>
            </a:xfrm>
            <a:custGeom>
              <a:avLst/>
              <a:gdLst/>
              <a:ahLst/>
              <a:cxnLst/>
              <a:rect l="l" t="t" r="r" b="b"/>
              <a:pathLst>
                <a:path h="1847850">
                  <a:moveTo>
                    <a:pt x="0" y="184785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172326" y="2173288"/>
              <a:ext cx="303530" cy="0"/>
            </a:xfrm>
            <a:custGeom>
              <a:avLst/>
              <a:gdLst/>
              <a:ahLst/>
              <a:cxnLst/>
              <a:rect l="l" t="t" r="r" b="b"/>
              <a:pathLst>
                <a:path w="303529">
                  <a:moveTo>
                    <a:pt x="303212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108827" y="213518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777038" y="4027487"/>
              <a:ext cx="676275" cy="0"/>
            </a:xfrm>
            <a:custGeom>
              <a:avLst/>
              <a:gdLst/>
              <a:ahLst/>
              <a:cxnLst/>
              <a:rect l="l" t="t" r="r" b="b"/>
              <a:pathLst>
                <a:path w="676275">
                  <a:moveTo>
                    <a:pt x="676275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6479540" y="4343272"/>
            <a:ext cx="2743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20" dirty="0">
                <a:latin typeface="Arial MT"/>
                <a:cs typeface="Arial MT"/>
              </a:rPr>
              <a:t>Y</a:t>
            </a:r>
            <a:r>
              <a:rPr sz="1200" spc="-10" dirty="0">
                <a:latin typeface="Arial MT"/>
                <a:cs typeface="Arial MT"/>
              </a:rPr>
              <a:t>e</a:t>
            </a:r>
            <a:r>
              <a:rPr sz="1200" dirty="0">
                <a:latin typeface="Arial MT"/>
                <a:cs typeface="Arial MT"/>
              </a:rPr>
              <a:t>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847890" y="3805148"/>
            <a:ext cx="2197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 MT"/>
                <a:cs typeface="Arial MT"/>
              </a:rPr>
              <a:t>No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6259513" y="2492375"/>
            <a:ext cx="87630" cy="1244600"/>
            <a:chOff x="6259513" y="2492375"/>
            <a:chExt cx="87630" cy="1244600"/>
          </a:xfrm>
        </p:grpSpPr>
        <p:sp>
          <p:nvSpPr>
            <p:cNvPr id="50" name="object 50"/>
            <p:cNvSpPr/>
            <p:nvPr/>
          </p:nvSpPr>
          <p:spPr>
            <a:xfrm>
              <a:off x="6308724" y="2492375"/>
              <a:ext cx="0" cy="241300"/>
            </a:xfrm>
            <a:custGeom>
              <a:avLst/>
              <a:gdLst/>
              <a:ahLst/>
              <a:cxnLst/>
              <a:rect l="l" t="t" r="r" b="b"/>
              <a:pathLst>
                <a:path h="241300">
                  <a:moveTo>
                    <a:pt x="0" y="0"/>
                  </a:moveTo>
                  <a:lnTo>
                    <a:pt x="0" y="2413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270624" y="27209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297613" y="3432175"/>
              <a:ext cx="0" cy="241300"/>
            </a:xfrm>
            <a:custGeom>
              <a:avLst/>
              <a:gdLst/>
              <a:ahLst/>
              <a:cxnLst/>
              <a:rect l="l" t="t" r="r" b="b"/>
              <a:pathLst>
                <a:path h="241300">
                  <a:moveTo>
                    <a:pt x="0" y="0"/>
                  </a:moveTo>
                  <a:lnTo>
                    <a:pt x="0" y="2413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259513" y="36607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4" name="object 54"/>
          <p:cNvGrpSpPr/>
          <p:nvPr/>
        </p:nvGrpSpPr>
        <p:grpSpPr>
          <a:xfrm>
            <a:off x="2811462" y="1543051"/>
            <a:ext cx="3536950" cy="4051300"/>
            <a:chOff x="2811462" y="1543051"/>
            <a:chExt cx="3536950" cy="4051300"/>
          </a:xfrm>
        </p:grpSpPr>
        <p:sp>
          <p:nvSpPr>
            <p:cNvPr id="55" name="object 55"/>
            <p:cNvSpPr/>
            <p:nvPr/>
          </p:nvSpPr>
          <p:spPr>
            <a:xfrm>
              <a:off x="6310313" y="1566862"/>
              <a:ext cx="0" cy="241300"/>
            </a:xfrm>
            <a:custGeom>
              <a:avLst/>
              <a:gdLst/>
              <a:ahLst/>
              <a:cxnLst/>
              <a:rect l="l" t="t" r="r" b="b"/>
              <a:pathLst>
                <a:path h="241300">
                  <a:moveTo>
                    <a:pt x="0" y="0"/>
                  </a:moveTo>
                  <a:lnTo>
                    <a:pt x="0" y="2413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272213" y="179546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384675" y="1555749"/>
              <a:ext cx="1930400" cy="1905"/>
            </a:xfrm>
            <a:custGeom>
              <a:avLst/>
              <a:gdLst/>
              <a:ahLst/>
              <a:cxnLst/>
              <a:rect l="l" t="t" r="r" b="b"/>
              <a:pathLst>
                <a:path w="1930400" h="1905">
                  <a:moveTo>
                    <a:pt x="0" y="0"/>
                  </a:moveTo>
                  <a:lnTo>
                    <a:pt x="1930400" y="158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2817812" y="5313362"/>
              <a:ext cx="0" cy="274955"/>
            </a:xfrm>
            <a:custGeom>
              <a:avLst/>
              <a:gdLst/>
              <a:ahLst/>
              <a:cxnLst/>
              <a:rect l="l" t="t" r="r" b="b"/>
              <a:pathLst>
                <a:path h="274954">
                  <a:moveTo>
                    <a:pt x="0" y="0"/>
                  </a:moveTo>
                  <a:lnTo>
                    <a:pt x="0" y="27463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2817812" y="5588000"/>
              <a:ext cx="1529080" cy="0"/>
            </a:xfrm>
            <a:custGeom>
              <a:avLst/>
              <a:gdLst/>
              <a:ahLst/>
              <a:cxnLst/>
              <a:rect l="l" t="t" r="r" b="b"/>
              <a:pathLst>
                <a:path w="1529079">
                  <a:moveTo>
                    <a:pt x="0" y="0"/>
                  </a:moveTo>
                  <a:lnTo>
                    <a:pt x="152876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364037" y="1543051"/>
              <a:ext cx="0" cy="4040504"/>
            </a:xfrm>
            <a:custGeom>
              <a:avLst/>
              <a:gdLst/>
              <a:ahLst/>
              <a:cxnLst/>
              <a:rect l="l" t="t" r="r" b="b"/>
              <a:pathLst>
                <a:path h="4040504">
                  <a:moveTo>
                    <a:pt x="0" y="4040187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42268" y="814069"/>
            <a:ext cx="585851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The</a:t>
            </a:r>
            <a:r>
              <a:rPr spc="-20" dirty="0"/>
              <a:t> </a:t>
            </a:r>
            <a:r>
              <a:rPr spc="-5" dirty="0"/>
              <a:t>8085</a:t>
            </a:r>
            <a:r>
              <a:rPr spc="-20" dirty="0"/>
              <a:t> </a:t>
            </a:r>
            <a:r>
              <a:rPr spc="-5" dirty="0"/>
              <a:t>Serial I/O</a:t>
            </a:r>
            <a:r>
              <a:rPr spc="-15" dirty="0"/>
              <a:t> </a:t>
            </a:r>
            <a:r>
              <a:rPr spc="-5" dirty="0"/>
              <a:t>Lines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2000504"/>
            <a:ext cx="7550150" cy="3683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The 8085 Microprocessor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has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two serial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I/O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pins:</a:t>
            </a:r>
            <a:endParaRPr sz="32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90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Times New Roman"/>
                <a:cs typeface="Times New Roman"/>
              </a:rPr>
              <a:t>SOD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–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Serial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Output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Data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Times New Roman"/>
                <a:cs typeface="Times New Roman"/>
              </a:rPr>
              <a:t>SID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–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Serial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Input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Data</a:t>
            </a:r>
            <a:endParaRPr sz="28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buFont typeface="Times New Roman"/>
              <a:buChar char="–"/>
            </a:pPr>
            <a:endParaRPr sz="3100">
              <a:latin typeface="Times New Roman"/>
              <a:cs typeface="Times New Roman"/>
            </a:endParaRPr>
          </a:p>
          <a:p>
            <a:pPr marL="354965" marR="141605" indent="-342900">
              <a:lnSpc>
                <a:spcPct val="100000"/>
              </a:lnSpc>
              <a:spcBef>
                <a:spcPts val="179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Serial input and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output is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controlled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using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 RIM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and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SIM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instructions respectively.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7944" y="204469"/>
            <a:ext cx="510095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SIM</a:t>
            </a:r>
            <a:r>
              <a:rPr spc="-20" dirty="0"/>
              <a:t> </a:t>
            </a:r>
            <a:r>
              <a:rPr spc="-5" dirty="0"/>
              <a:t>and</a:t>
            </a:r>
            <a:r>
              <a:rPr spc="-20" dirty="0"/>
              <a:t> </a:t>
            </a:r>
            <a:r>
              <a:rPr spc="-5" dirty="0"/>
              <a:t>Serial</a:t>
            </a:r>
            <a:r>
              <a:rPr spc="-15" dirty="0"/>
              <a:t> </a:t>
            </a:r>
            <a:r>
              <a:rPr spc="-5" dirty="0"/>
              <a:t>Output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0739" y="933703"/>
            <a:ext cx="7467600" cy="3524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418465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As was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discussed</a:t>
            </a:r>
            <a:r>
              <a:rPr sz="3200" spc="2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Chapter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12,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 SIM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instruction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has dual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use.</a:t>
            </a:r>
            <a:endParaRPr sz="3200">
              <a:latin typeface="Times New Roman"/>
              <a:cs typeface="Times New Roman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690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used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controlling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maskable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interrupt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process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serial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output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process.</a:t>
            </a:r>
            <a:endParaRPr sz="2800">
              <a:latin typeface="Times New Roman"/>
              <a:cs typeface="Times New Roman"/>
            </a:endParaRPr>
          </a:p>
          <a:p>
            <a:pPr marL="354965" marR="160020" indent="-342900">
              <a:lnSpc>
                <a:spcPct val="100000"/>
              </a:lnSpc>
              <a:spcBef>
                <a:spcPts val="75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figure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below shows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how SIM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uses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accumulator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for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Serial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Output.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514725" y="5008562"/>
            <a:ext cx="1992630" cy="523875"/>
            <a:chOff x="3514725" y="5008562"/>
            <a:chExt cx="1992630" cy="523875"/>
          </a:xfrm>
        </p:grpSpPr>
        <p:sp>
          <p:nvSpPr>
            <p:cNvPr id="5" name="object 5"/>
            <p:cNvSpPr/>
            <p:nvPr/>
          </p:nvSpPr>
          <p:spPr>
            <a:xfrm>
              <a:off x="3521075" y="5014912"/>
              <a:ext cx="1979930" cy="511175"/>
            </a:xfrm>
            <a:custGeom>
              <a:avLst/>
              <a:gdLst/>
              <a:ahLst/>
              <a:cxnLst/>
              <a:rect l="l" t="t" r="r" b="b"/>
              <a:pathLst>
                <a:path w="1979929" h="511175">
                  <a:moveTo>
                    <a:pt x="1979612" y="0"/>
                  </a:moveTo>
                  <a:lnTo>
                    <a:pt x="0" y="0"/>
                  </a:lnTo>
                  <a:lnTo>
                    <a:pt x="0" y="511175"/>
                  </a:lnTo>
                  <a:lnTo>
                    <a:pt x="1979612" y="511175"/>
                  </a:lnTo>
                  <a:lnTo>
                    <a:pt x="1979612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521075" y="5014912"/>
              <a:ext cx="1979930" cy="511175"/>
            </a:xfrm>
            <a:custGeom>
              <a:avLst/>
              <a:gdLst/>
              <a:ahLst/>
              <a:cxnLst/>
              <a:rect l="l" t="t" r="r" b="b"/>
              <a:pathLst>
                <a:path w="1979929" h="511175">
                  <a:moveTo>
                    <a:pt x="0" y="0"/>
                  </a:moveTo>
                  <a:lnTo>
                    <a:pt x="1979612" y="0"/>
                  </a:lnTo>
                  <a:lnTo>
                    <a:pt x="1979612" y="511175"/>
                  </a:lnTo>
                  <a:lnTo>
                    <a:pt x="0" y="51117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532209" y="5052015"/>
            <a:ext cx="1925320" cy="42481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5" dirty="0">
                <a:latin typeface="Arial MT"/>
                <a:cs typeface="Arial MT"/>
              </a:rPr>
              <a:t>SDO</a:t>
            </a:r>
            <a:endParaRPr sz="1400">
              <a:latin typeface="Arial MT"/>
              <a:cs typeface="Arial MT"/>
            </a:endParaRPr>
          </a:p>
          <a:p>
            <a:pPr marL="15875">
              <a:lnSpc>
                <a:spcPct val="100000"/>
              </a:lnSpc>
              <a:spcBef>
                <a:spcPts val="219"/>
              </a:spcBef>
            </a:pPr>
            <a:r>
              <a:rPr sz="1400" spc="-5" dirty="0">
                <a:latin typeface="Arial MT"/>
                <a:cs typeface="Arial MT"/>
              </a:rPr>
              <a:t>SDE</a:t>
            </a:r>
            <a:endParaRPr sz="1400">
              <a:latin typeface="Arial MT"/>
              <a:cs typeface="Arial MT"/>
            </a:endParaRPr>
          </a:p>
          <a:p>
            <a:pPr marL="13970" marR="5080" indent="1270" algn="just">
              <a:lnSpc>
                <a:spcPct val="113199"/>
              </a:lnSpc>
              <a:spcBef>
                <a:spcPts val="85"/>
              </a:spcBef>
            </a:pPr>
            <a:r>
              <a:rPr sz="1400" spc="-10" dirty="0">
                <a:latin typeface="Arial MT"/>
                <a:cs typeface="Arial MT"/>
              </a:rPr>
              <a:t>XXX </a:t>
            </a:r>
            <a:r>
              <a:rPr sz="1400" spc="-38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R7.5 </a:t>
            </a:r>
            <a:r>
              <a:rPr sz="1400" spc="-38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</a:t>
            </a:r>
            <a:r>
              <a:rPr sz="1400" spc="-5" dirty="0">
                <a:latin typeface="Arial MT"/>
                <a:cs typeface="Arial MT"/>
              </a:rPr>
              <a:t>SE  </a:t>
            </a:r>
            <a:r>
              <a:rPr sz="1400" dirty="0">
                <a:latin typeface="Arial MT"/>
                <a:cs typeface="Arial MT"/>
              </a:rPr>
              <a:t>M7.5  M6.5  M5.5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916240" y="5014913"/>
            <a:ext cx="2324100" cy="957580"/>
            <a:chOff x="2916240" y="5014913"/>
            <a:chExt cx="2324100" cy="957580"/>
          </a:xfrm>
        </p:grpSpPr>
        <p:sp>
          <p:nvSpPr>
            <p:cNvPr id="9" name="object 9"/>
            <p:cNvSpPr/>
            <p:nvPr/>
          </p:nvSpPr>
          <p:spPr>
            <a:xfrm>
              <a:off x="3757612" y="5014913"/>
              <a:ext cx="0" cy="511175"/>
            </a:xfrm>
            <a:custGeom>
              <a:avLst/>
              <a:gdLst/>
              <a:ahLst/>
              <a:cxnLst/>
              <a:rect l="l" t="t" r="r" b="b"/>
              <a:pathLst>
                <a:path h="511175">
                  <a:moveTo>
                    <a:pt x="0" y="511175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010025" y="5014913"/>
              <a:ext cx="0" cy="511175"/>
            </a:xfrm>
            <a:custGeom>
              <a:avLst/>
              <a:gdLst/>
              <a:ahLst/>
              <a:cxnLst/>
              <a:rect l="l" t="t" r="r" b="b"/>
              <a:pathLst>
                <a:path h="511175">
                  <a:moveTo>
                    <a:pt x="0" y="511175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49737" y="5014913"/>
              <a:ext cx="0" cy="511175"/>
            </a:xfrm>
            <a:custGeom>
              <a:avLst/>
              <a:gdLst/>
              <a:ahLst/>
              <a:cxnLst/>
              <a:rect l="l" t="t" r="r" b="b"/>
              <a:pathLst>
                <a:path h="511175">
                  <a:moveTo>
                    <a:pt x="0" y="511175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489450" y="5014913"/>
              <a:ext cx="0" cy="511175"/>
            </a:xfrm>
            <a:custGeom>
              <a:avLst/>
              <a:gdLst/>
              <a:ahLst/>
              <a:cxnLst/>
              <a:rect l="l" t="t" r="r" b="b"/>
              <a:pathLst>
                <a:path h="511175">
                  <a:moveTo>
                    <a:pt x="0" y="511175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741862" y="5014913"/>
              <a:ext cx="0" cy="511175"/>
            </a:xfrm>
            <a:custGeom>
              <a:avLst/>
              <a:gdLst/>
              <a:ahLst/>
              <a:cxnLst/>
              <a:rect l="l" t="t" r="r" b="b"/>
              <a:pathLst>
                <a:path h="511175">
                  <a:moveTo>
                    <a:pt x="0" y="511175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994275" y="5014913"/>
              <a:ext cx="0" cy="511175"/>
            </a:xfrm>
            <a:custGeom>
              <a:avLst/>
              <a:gdLst/>
              <a:ahLst/>
              <a:cxnLst/>
              <a:rect l="l" t="t" r="r" b="b"/>
              <a:pathLst>
                <a:path h="511175">
                  <a:moveTo>
                    <a:pt x="0" y="511175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233987" y="5014913"/>
              <a:ext cx="0" cy="511175"/>
            </a:xfrm>
            <a:custGeom>
              <a:avLst/>
              <a:gdLst/>
              <a:ahLst/>
              <a:cxnLst/>
              <a:rect l="l" t="t" r="r" b="b"/>
              <a:pathLst>
                <a:path h="511175">
                  <a:moveTo>
                    <a:pt x="0" y="511175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890962" y="5534024"/>
              <a:ext cx="0" cy="389255"/>
            </a:xfrm>
            <a:custGeom>
              <a:avLst/>
              <a:gdLst/>
              <a:ahLst/>
              <a:cxnLst/>
              <a:rect l="l" t="t" r="r" b="b"/>
              <a:pathLst>
                <a:path h="389254">
                  <a:moveTo>
                    <a:pt x="0" y="0"/>
                  </a:moveTo>
                  <a:lnTo>
                    <a:pt x="0" y="38893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644900" y="5535613"/>
              <a:ext cx="0" cy="396875"/>
            </a:xfrm>
            <a:custGeom>
              <a:avLst/>
              <a:gdLst/>
              <a:ahLst/>
              <a:cxnLst/>
              <a:rect l="l" t="t" r="r" b="b"/>
              <a:pathLst>
                <a:path h="396875">
                  <a:moveTo>
                    <a:pt x="0" y="0"/>
                  </a:moveTo>
                  <a:lnTo>
                    <a:pt x="0" y="39687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897312" y="5927724"/>
              <a:ext cx="873125" cy="0"/>
            </a:xfrm>
            <a:custGeom>
              <a:avLst/>
              <a:gdLst/>
              <a:ahLst/>
              <a:cxnLst/>
              <a:rect l="l" t="t" r="r" b="b"/>
              <a:pathLst>
                <a:path w="873125">
                  <a:moveTo>
                    <a:pt x="0" y="0"/>
                  </a:moveTo>
                  <a:lnTo>
                    <a:pt x="87312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757740" y="588962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199"/>
                  </a:lnTo>
                  <a:lnTo>
                    <a:pt x="76200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979737" y="5934074"/>
              <a:ext cx="668655" cy="0"/>
            </a:xfrm>
            <a:custGeom>
              <a:avLst/>
              <a:gdLst/>
              <a:ahLst/>
              <a:cxnLst/>
              <a:rect l="l" t="t" r="r" b="b"/>
              <a:pathLst>
                <a:path w="668654">
                  <a:moveTo>
                    <a:pt x="668337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916240" y="589597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38099"/>
                  </a:lnTo>
                  <a:lnTo>
                    <a:pt x="76200" y="76199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598227" y="4759197"/>
            <a:ext cx="18249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3365" algn="l"/>
                <a:tab pos="494665" algn="l"/>
                <a:tab pos="723265" algn="l"/>
                <a:tab pos="977265" algn="l"/>
                <a:tab pos="1231265" algn="l"/>
                <a:tab pos="1472565" algn="l"/>
                <a:tab pos="1726564" algn="l"/>
              </a:tabLst>
            </a:pPr>
            <a:r>
              <a:rPr sz="1200" spc="-5" dirty="0">
                <a:latin typeface="Arial MT"/>
                <a:cs typeface="Arial MT"/>
              </a:rPr>
              <a:t>7	6	5	4	3	2	1	0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038090" y="5683122"/>
            <a:ext cx="13455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 MT"/>
                <a:cs typeface="Arial MT"/>
              </a:rPr>
              <a:t>0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–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Disable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SOD </a:t>
            </a:r>
            <a:r>
              <a:rPr sz="1400" spc="-37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1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–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Enable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SOD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64602" y="5770435"/>
            <a:ext cx="14846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 MT"/>
                <a:cs typeface="Arial MT"/>
              </a:rPr>
              <a:t>Serial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Output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Data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7192" y="814069"/>
            <a:ext cx="478917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RIM</a:t>
            </a:r>
            <a:r>
              <a:rPr spc="-25" dirty="0"/>
              <a:t> </a:t>
            </a:r>
            <a:r>
              <a:rPr spc="-5" dirty="0"/>
              <a:t>and</a:t>
            </a:r>
            <a:r>
              <a:rPr spc="-20" dirty="0"/>
              <a:t> </a:t>
            </a:r>
            <a:r>
              <a:rPr spc="-5" dirty="0"/>
              <a:t>Serial</a:t>
            </a:r>
            <a:r>
              <a:rPr spc="-15" dirty="0"/>
              <a:t> </a:t>
            </a:r>
            <a:r>
              <a:rPr spc="-5" dirty="0"/>
              <a:t>Input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0739" y="2053411"/>
            <a:ext cx="6983095" cy="112649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88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Again, the RIM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instruction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has dual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use</a:t>
            </a:r>
            <a:endParaRPr sz="32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690"/>
              </a:spcBef>
            </a:pPr>
            <a:r>
              <a:rPr sz="2800" dirty="0">
                <a:latin typeface="Times New Roman"/>
                <a:cs typeface="Times New Roman"/>
              </a:rPr>
              <a:t>–</a:t>
            </a:r>
            <a:r>
              <a:rPr sz="2800" spc="14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Reading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current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settings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Interrupt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97939" y="3069071"/>
            <a:ext cx="2971800" cy="146558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98450">
              <a:lnSpc>
                <a:spcPct val="100000"/>
              </a:lnSpc>
              <a:spcBef>
                <a:spcPts val="770"/>
              </a:spcBef>
            </a:pPr>
            <a:r>
              <a:rPr sz="2800" spc="-5" dirty="0">
                <a:latin typeface="Times New Roman"/>
                <a:cs typeface="Times New Roman"/>
              </a:rPr>
              <a:t>Masks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800" dirty="0">
                <a:latin typeface="Times New Roman"/>
                <a:cs typeface="Times New Roman"/>
              </a:rPr>
              <a:t>–</a:t>
            </a:r>
            <a:r>
              <a:rPr sz="2800" spc="1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Serial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Data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Input</a:t>
            </a:r>
            <a:endParaRPr sz="2800">
              <a:latin typeface="Times New Roman"/>
              <a:cs typeface="Times New Roman"/>
            </a:endParaRPr>
          </a:p>
          <a:p>
            <a:pPr marL="1637030">
              <a:lnSpc>
                <a:spcPct val="100000"/>
              </a:lnSpc>
              <a:spcBef>
                <a:spcPts val="1595"/>
              </a:spcBef>
            </a:pPr>
            <a:r>
              <a:rPr sz="1400" spc="-5" dirty="0">
                <a:latin typeface="Arial MT"/>
                <a:cs typeface="Arial MT"/>
              </a:rPr>
              <a:t>Serial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Input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Data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0739" y="4701032"/>
            <a:ext cx="7355840" cy="1488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figure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below shows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how the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RIM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instruction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uses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Accumulator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for Serial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Input</a:t>
            </a:r>
            <a:endParaRPr sz="3200">
              <a:latin typeface="Times New Roman"/>
              <a:cs typeface="Times New Roman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403850" y="3508375"/>
          <a:ext cx="1998980" cy="523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8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0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0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27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27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00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11175"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SDI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5080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P7.5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P6.5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2065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P5.5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2065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marL="17589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IE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3970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M7.5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445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ts val="1630"/>
                        </a:lnSpc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M6.5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ts val="1639"/>
                        </a:lnSpc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M5.5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5487352" y="3259011"/>
            <a:ext cx="18249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3365" algn="l"/>
                <a:tab pos="494665" algn="l"/>
                <a:tab pos="723265" algn="l"/>
                <a:tab pos="977265" algn="l"/>
                <a:tab pos="1231265" algn="l"/>
                <a:tab pos="1472565" algn="l"/>
                <a:tab pos="1726564" algn="l"/>
              </a:tabLst>
            </a:pPr>
            <a:r>
              <a:rPr sz="1200" spc="-5" dirty="0">
                <a:latin typeface="Arial MT"/>
                <a:cs typeface="Arial MT"/>
              </a:rPr>
              <a:t>7	6	5	4	3	2	1	0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367212" y="4035421"/>
            <a:ext cx="1205230" cy="405130"/>
            <a:chOff x="4367212" y="4035421"/>
            <a:chExt cx="1205230" cy="405130"/>
          </a:xfrm>
        </p:grpSpPr>
        <p:sp>
          <p:nvSpPr>
            <p:cNvPr id="9" name="object 9"/>
            <p:cNvSpPr/>
            <p:nvPr/>
          </p:nvSpPr>
          <p:spPr>
            <a:xfrm>
              <a:off x="5534022" y="4098924"/>
              <a:ext cx="0" cy="333375"/>
            </a:xfrm>
            <a:custGeom>
              <a:avLst/>
              <a:gdLst/>
              <a:ahLst/>
              <a:cxnLst/>
              <a:rect l="l" t="t" r="r" b="b"/>
              <a:pathLst>
                <a:path h="333375">
                  <a:moveTo>
                    <a:pt x="0" y="0"/>
                  </a:moveTo>
                  <a:lnTo>
                    <a:pt x="0" y="33337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95918" y="4035421"/>
              <a:ext cx="76200" cy="76835"/>
            </a:xfrm>
            <a:custGeom>
              <a:avLst/>
              <a:gdLst/>
              <a:ahLst/>
              <a:cxnLst/>
              <a:rect l="l" t="t" r="r" b="b"/>
              <a:pathLst>
                <a:path w="76200" h="76835">
                  <a:moveTo>
                    <a:pt x="38112" y="0"/>
                  </a:moveTo>
                  <a:lnTo>
                    <a:pt x="0" y="76200"/>
                  </a:lnTo>
                  <a:lnTo>
                    <a:pt x="76200" y="76212"/>
                  </a:lnTo>
                  <a:lnTo>
                    <a:pt x="381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67212" y="4433887"/>
              <a:ext cx="1170305" cy="0"/>
            </a:xfrm>
            <a:custGeom>
              <a:avLst/>
              <a:gdLst/>
              <a:ahLst/>
              <a:cxnLst/>
              <a:rect l="l" t="t" r="r" b="b"/>
              <a:pathLst>
                <a:path w="1170304">
                  <a:moveTo>
                    <a:pt x="1169987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60419" y="814069"/>
            <a:ext cx="142303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Ports?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2000504"/>
            <a:ext cx="7303770" cy="3794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35814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Using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SOD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and SID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pins, the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user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would not need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to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bother with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setting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up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input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and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output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ports.</a:t>
            </a:r>
            <a:endParaRPr sz="3200">
              <a:latin typeface="Times New Roman"/>
              <a:cs typeface="Times New Roman"/>
            </a:endParaRPr>
          </a:p>
          <a:p>
            <a:pPr marL="755650" marR="5080" lvl="1" indent="-285750" algn="just">
              <a:lnSpc>
                <a:spcPct val="100000"/>
              </a:lnSpc>
              <a:spcBef>
                <a:spcPts val="69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two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pins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themselves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can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considered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as </a:t>
            </a:r>
            <a:r>
              <a:rPr sz="2800" spc="-6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ports.</a:t>
            </a:r>
            <a:endParaRPr sz="2800">
              <a:latin typeface="Times New Roman"/>
              <a:cs typeface="Times New Roman"/>
            </a:endParaRPr>
          </a:p>
          <a:p>
            <a:pPr marL="755650" marR="138430" lvl="1" indent="-285750" algn="just">
              <a:lnSpc>
                <a:spcPct val="100000"/>
              </a:lnSpc>
              <a:spcBef>
                <a:spcPts val="67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instructions </a:t>
            </a:r>
            <a:r>
              <a:rPr sz="2800" dirty="0">
                <a:latin typeface="Times New Roman"/>
                <a:cs typeface="Times New Roman"/>
              </a:rPr>
              <a:t>SIM </a:t>
            </a:r>
            <a:r>
              <a:rPr sz="2800" spc="-5" dirty="0">
                <a:latin typeface="Times New Roman"/>
                <a:cs typeface="Times New Roman"/>
              </a:rPr>
              <a:t>and RIM are similar </a:t>
            </a:r>
            <a:r>
              <a:rPr sz="2800" dirty="0">
                <a:latin typeface="Times New Roman"/>
                <a:cs typeface="Times New Roman"/>
              </a:rPr>
              <a:t>to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 OUT </a:t>
            </a:r>
            <a:r>
              <a:rPr sz="2800" spc="-5" dirty="0">
                <a:latin typeface="Times New Roman"/>
                <a:cs typeface="Times New Roman"/>
              </a:rPr>
              <a:t>and </a:t>
            </a:r>
            <a:r>
              <a:rPr sz="2800" dirty="0">
                <a:latin typeface="Times New Roman"/>
                <a:cs typeface="Times New Roman"/>
              </a:rPr>
              <a:t>IN </a:t>
            </a:r>
            <a:r>
              <a:rPr sz="2800" spc="-5" dirty="0">
                <a:latin typeface="Times New Roman"/>
                <a:cs typeface="Times New Roman"/>
              </a:rPr>
              <a:t>instructions except that they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only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deal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1-bit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SOD </a:t>
            </a:r>
            <a:r>
              <a:rPr sz="2800" spc="-5" dirty="0">
                <a:latin typeface="Times New Roman"/>
                <a:cs typeface="Times New Roman"/>
              </a:rPr>
              <a:t>and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SID ports.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66318" y="52069"/>
            <a:ext cx="201168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</a:t>
            </a:r>
            <a:r>
              <a:rPr spc="-10" dirty="0"/>
              <a:t>a</a:t>
            </a:r>
            <a:r>
              <a:rPr spc="-5" dirty="0"/>
              <a:t>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0739" y="808736"/>
            <a:ext cx="6588759" cy="95186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4965" marR="5080" indent="-342900">
              <a:lnSpc>
                <a:spcPts val="3460"/>
              </a:lnSpc>
              <a:spcBef>
                <a:spcPts val="53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Transmit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an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ASCII character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stored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register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using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SOD line.</a:t>
            </a:r>
            <a:endParaRPr sz="32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21689" y="2108199"/>
          <a:ext cx="7346315" cy="1460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05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0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8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522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206">
                <a:tc>
                  <a:txBody>
                    <a:bodyPr/>
                    <a:lstStyle/>
                    <a:p>
                      <a:pPr marL="31750">
                        <a:lnSpc>
                          <a:spcPts val="1964"/>
                        </a:lnSpc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SODDATA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54965">
                        <a:lnSpc>
                          <a:spcPts val="1964"/>
                        </a:lnSpc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MVI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5496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XRA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8915">
                        <a:lnSpc>
                          <a:spcPts val="1964"/>
                        </a:lnSpc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C,</a:t>
                      </a: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0BH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0891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964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;</a:t>
                      </a: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Set</a:t>
                      </a:r>
                      <a:r>
                        <a:rPr sz="18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up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counter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11</a:t>
                      </a: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 bits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525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;</a:t>
                      </a: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Clear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Carry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flag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1">
                <a:tc>
                  <a:txBody>
                    <a:bodyPr/>
                    <a:lstStyle/>
                    <a:p>
                      <a:pPr marL="31750">
                        <a:lnSpc>
                          <a:spcPts val="2155"/>
                        </a:lnSpc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NXTBIT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54965">
                        <a:lnSpc>
                          <a:spcPts val="2155"/>
                        </a:lnSpc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MVI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8915">
                        <a:lnSpc>
                          <a:spcPts val="2155"/>
                        </a:lnSpc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A,</a:t>
                      </a: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80H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2155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;</a:t>
                      </a:r>
                      <a:r>
                        <a:rPr sz="18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Set</a:t>
                      </a:r>
                      <a:r>
                        <a:rPr sz="18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D7</a:t>
                      </a: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=1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54965">
                        <a:lnSpc>
                          <a:spcPts val="2155"/>
                        </a:lnSpc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RAR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2155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;</a:t>
                      </a:r>
                      <a:r>
                        <a:rPr sz="18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Bring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Carry</a:t>
                      </a:r>
                      <a:r>
                        <a:rPr sz="180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into D7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set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D6</a:t>
                      </a:r>
                      <a:r>
                        <a:rPr sz="18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to 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4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54965">
                        <a:lnSpc>
                          <a:spcPts val="2085"/>
                        </a:lnSpc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SIM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2085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;</a:t>
                      </a:r>
                      <a:r>
                        <a:rPr sz="18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Output</a:t>
                      </a:r>
                      <a:r>
                        <a:rPr sz="18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D7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(Start bit)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2669768" y="3551935"/>
            <a:ext cx="3364229" cy="123253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  <a:tabLst>
                <a:tab pos="926465" algn="l"/>
              </a:tabLst>
            </a:pPr>
            <a:r>
              <a:rPr sz="1800" b="1" spc="-5" dirty="0">
                <a:latin typeface="Times New Roman"/>
                <a:cs typeface="Times New Roman"/>
              </a:rPr>
              <a:t>CALL	BITTIME</a:t>
            </a:r>
            <a:endParaRPr sz="1800">
              <a:latin typeface="Times New Roman"/>
              <a:cs typeface="Times New Roman"/>
            </a:endParaRPr>
          </a:p>
          <a:p>
            <a:pPr marL="12700" marR="5080">
              <a:lnSpc>
                <a:spcPct val="110000"/>
              </a:lnSpc>
              <a:tabLst>
                <a:tab pos="926465" algn="l"/>
                <a:tab pos="1840864" algn="l"/>
              </a:tabLst>
            </a:pPr>
            <a:r>
              <a:rPr sz="1800" b="1" spc="-5" dirty="0">
                <a:latin typeface="Times New Roman"/>
                <a:cs typeface="Times New Roman"/>
              </a:rPr>
              <a:t>STC		</a:t>
            </a:r>
            <a:r>
              <a:rPr sz="1800" b="1" dirty="0">
                <a:latin typeface="Times New Roman"/>
                <a:cs typeface="Times New Roman"/>
              </a:rPr>
              <a:t>;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Set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Carry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to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1 </a:t>
            </a:r>
            <a:r>
              <a:rPr sz="1800" b="1" spc="-434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MOV	A,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B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800" b="1" spc="-5" dirty="0">
                <a:latin typeface="Times New Roman"/>
                <a:cs typeface="Times New Roman"/>
              </a:rPr>
              <a:t>RAR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98568" y="4155440"/>
            <a:ext cx="3769995" cy="153416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b="1" dirty="0">
                <a:latin typeface="Times New Roman"/>
                <a:cs typeface="Times New Roman"/>
              </a:rPr>
              <a:t>;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Place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character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in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A</a:t>
            </a:r>
            <a:endParaRPr sz="1800">
              <a:latin typeface="Times New Roman"/>
              <a:cs typeface="Times New Roman"/>
            </a:endParaRPr>
          </a:p>
          <a:p>
            <a:pPr marL="125730" marR="5080" indent="-113664">
              <a:lnSpc>
                <a:spcPct val="110000"/>
              </a:lnSpc>
            </a:pPr>
            <a:r>
              <a:rPr sz="1800" b="1" dirty="0">
                <a:latin typeface="Times New Roman"/>
                <a:cs typeface="Times New Roman"/>
              </a:rPr>
              <a:t>; </a:t>
            </a:r>
            <a:r>
              <a:rPr sz="1800" b="1" spc="-5" dirty="0">
                <a:latin typeface="Times New Roman"/>
                <a:cs typeface="Times New Roman"/>
              </a:rPr>
              <a:t>Shift </a:t>
            </a:r>
            <a:r>
              <a:rPr sz="1800" b="1" dirty="0">
                <a:latin typeface="Times New Roman"/>
                <a:cs typeface="Times New Roman"/>
              </a:rPr>
              <a:t>D0 of </a:t>
            </a:r>
            <a:r>
              <a:rPr sz="1800" b="1" spc="-5" dirty="0">
                <a:latin typeface="Times New Roman"/>
                <a:cs typeface="Times New Roman"/>
              </a:rPr>
              <a:t>the character </a:t>
            </a:r>
            <a:r>
              <a:rPr sz="1800" b="1" dirty="0">
                <a:latin typeface="Times New Roman"/>
                <a:cs typeface="Times New Roman"/>
              </a:rPr>
              <a:t>to </a:t>
            </a:r>
            <a:r>
              <a:rPr sz="1800" b="1" spc="-5" dirty="0">
                <a:latin typeface="Times New Roman"/>
                <a:cs typeface="Times New Roman"/>
              </a:rPr>
              <a:t>the carry </a:t>
            </a:r>
            <a:r>
              <a:rPr sz="1800" b="1" spc="-434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Shift </a:t>
            </a:r>
            <a:r>
              <a:rPr sz="1800" b="1" dirty="0">
                <a:latin typeface="Times New Roman"/>
                <a:cs typeface="Times New Roman"/>
              </a:rPr>
              <a:t>1 </a:t>
            </a:r>
            <a:r>
              <a:rPr sz="1800" b="1" spc="-5" dirty="0">
                <a:latin typeface="Times New Roman"/>
                <a:cs typeface="Times New Roman"/>
              </a:rPr>
              <a:t>into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bit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D7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800" b="1" dirty="0">
                <a:latin typeface="Times New Roman"/>
                <a:cs typeface="Times New Roman"/>
              </a:rPr>
              <a:t>;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Save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the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interim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result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800" b="1" dirty="0">
                <a:latin typeface="Times New Roman"/>
                <a:cs typeface="Times New Roman"/>
              </a:rPr>
              <a:t>;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decrement bit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counter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69768" y="5060696"/>
            <a:ext cx="1817370" cy="93091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  <a:tabLst>
                <a:tab pos="926465" algn="l"/>
              </a:tabLst>
            </a:pPr>
            <a:r>
              <a:rPr sz="1800" b="1" spc="-5" dirty="0">
                <a:latin typeface="Times New Roman"/>
                <a:cs typeface="Times New Roman"/>
              </a:rPr>
              <a:t>MOV	B,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A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  <a:tabLst>
                <a:tab pos="926465" algn="l"/>
              </a:tabLst>
            </a:pPr>
            <a:r>
              <a:rPr sz="1800" b="1" spc="-5" dirty="0">
                <a:latin typeface="Times New Roman"/>
                <a:cs typeface="Times New Roman"/>
              </a:rPr>
              <a:t>DCR	C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  <a:tabLst>
                <a:tab pos="926465" algn="l"/>
              </a:tabLst>
            </a:pPr>
            <a:r>
              <a:rPr sz="1800" b="1" spc="-5" dirty="0">
                <a:latin typeface="Times New Roman"/>
                <a:cs typeface="Times New Roman"/>
              </a:rPr>
              <a:t>JNZ	NXTBIT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C4D6B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5825" y="1843087"/>
            <a:ext cx="8255000" cy="501491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833575"/>
            <a:ext cx="895350" cy="50244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17662" y="1833562"/>
            <a:ext cx="7523162" cy="19050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876300" y="6350"/>
            <a:ext cx="19050" cy="2170430"/>
            <a:chOff x="876300" y="6350"/>
            <a:chExt cx="19050" cy="2170430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6300" y="6350"/>
              <a:ext cx="19050" cy="150336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6300" y="1509712"/>
              <a:ext cx="19050" cy="666750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76705" y="6251447"/>
            <a:ext cx="250697" cy="21945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145539" y="6280658"/>
            <a:ext cx="9525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50850" y="450850"/>
            <a:ext cx="2298700" cy="3213100"/>
            <a:chOff x="450850" y="450850"/>
            <a:chExt cx="2298700" cy="3213100"/>
          </a:xfrm>
        </p:grpSpPr>
        <p:sp>
          <p:nvSpPr>
            <p:cNvPr id="12" name="object 12"/>
            <p:cNvSpPr/>
            <p:nvPr/>
          </p:nvSpPr>
          <p:spPr>
            <a:xfrm>
              <a:off x="457200" y="457200"/>
              <a:ext cx="1371600" cy="3200400"/>
            </a:xfrm>
            <a:custGeom>
              <a:avLst/>
              <a:gdLst/>
              <a:ahLst/>
              <a:cxnLst/>
              <a:rect l="l" t="t" r="r" b="b"/>
              <a:pathLst>
                <a:path w="1371600" h="3200400">
                  <a:moveTo>
                    <a:pt x="1371600" y="0"/>
                  </a:moveTo>
                  <a:lnTo>
                    <a:pt x="0" y="0"/>
                  </a:lnTo>
                  <a:lnTo>
                    <a:pt x="0" y="3200400"/>
                  </a:lnTo>
                  <a:lnTo>
                    <a:pt x="1371600" y="3200400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7200" y="457200"/>
              <a:ext cx="1371600" cy="3200400"/>
            </a:xfrm>
            <a:custGeom>
              <a:avLst/>
              <a:gdLst/>
              <a:ahLst/>
              <a:cxnLst/>
              <a:rect l="l" t="t" r="r" b="b"/>
              <a:pathLst>
                <a:path w="1371600" h="3200400">
                  <a:moveTo>
                    <a:pt x="0" y="0"/>
                  </a:moveTo>
                  <a:lnTo>
                    <a:pt x="1371600" y="0"/>
                  </a:lnTo>
                  <a:lnTo>
                    <a:pt x="1371600" y="3200400"/>
                  </a:lnTo>
                  <a:lnTo>
                    <a:pt x="0" y="32004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828800" y="1066800"/>
              <a:ext cx="914400" cy="0"/>
            </a:xfrm>
            <a:custGeom>
              <a:avLst/>
              <a:gdLst/>
              <a:ahLst/>
              <a:cxnLst/>
              <a:rect l="l" t="t" r="r" b="b"/>
              <a:pathLst>
                <a:path w="914400">
                  <a:moveTo>
                    <a:pt x="0" y="0"/>
                  </a:moveTo>
                  <a:lnTo>
                    <a:pt x="914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828800" y="1447800"/>
              <a:ext cx="914400" cy="0"/>
            </a:xfrm>
            <a:custGeom>
              <a:avLst/>
              <a:gdLst/>
              <a:ahLst/>
              <a:cxnLst/>
              <a:rect l="l" t="t" r="r" b="b"/>
              <a:pathLst>
                <a:path w="914400">
                  <a:moveTo>
                    <a:pt x="0" y="0"/>
                  </a:moveTo>
                  <a:lnTo>
                    <a:pt x="914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828800" y="1905000"/>
              <a:ext cx="914400" cy="0"/>
            </a:xfrm>
            <a:custGeom>
              <a:avLst/>
              <a:gdLst/>
              <a:ahLst/>
              <a:cxnLst/>
              <a:rect l="l" t="t" r="r" b="b"/>
              <a:pathLst>
                <a:path w="914400">
                  <a:moveTo>
                    <a:pt x="0" y="0"/>
                  </a:moveTo>
                  <a:lnTo>
                    <a:pt x="914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828800" y="2362200"/>
              <a:ext cx="914400" cy="0"/>
            </a:xfrm>
            <a:custGeom>
              <a:avLst/>
              <a:gdLst/>
              <a:ahLst/>
              <a:cxnLst/>
              <a:rect l="l" t="t" r="r" b="b"/>
              <a:pathLst>
                <a:path w="914400">
                  <a:moveTo>
                    <a:pt x="0" y="0"/>
                  </a:moveTo>
                  <a:lnTo>
                    <a:pt x="914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828800" y="2819400"/>
              <a:ext cx="914400" cy="0"/>
            </a:xfrm>
            <a:custGeom>
              <a:avLst/>
              <a:gdLst/>
              <a:ahLst/>
              <a:cxnLst/>
              <a:rect l="l" t="t" r="r" b="b"/>
              <a:pathLst>
                <a:path w="914400">
                  <a:moveTo>
                    <a:pt x="0" y="0"/>
                  </a:moveTo>
                  <a:lnTo>
                    <a:pt x="914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828800" y="3505200"/>
              <a:ext cx="914400" cy="0"/>
            </a:xfrm>
            <a:custGeom>
              <a:avLst/>
              <a:gdLst/>
              <a:ahLst/>
              <a:cxnLst/>
              <a:rect l="l" t="t" r="r" b="b"/>
              <a:pathLst>
                <a:path w="914400">
                  <a:moveTo>
                    <a:pt x="0" y="0"/>
                  </a:moveTo>
                  <a:lnTo>
                    <a:pt x="914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5022850" y="222250"/>
            <a:ext cx="3670300" cy="6413500"/>
            <a:chOff x="5022850" y="222250"/>
            <a:chExt cx="3670300" cy="6413500"/>
          </a:xfrm>
        </p:grpSpPr>
        <p:sp>
          <p:nvSpPr>
            <p:cNvPr id="21" name="object 21"/>
            <p:cNvSpPr/>
            <p:nvPr/>
          </p:nvSpPr>
          <p:spPr>
            <a:xfrm>
              <a:off x="7924800" y="1066800"/>
              <a:ext cx="762000" cy="1447800"/>
            </a:xfrm>
            <a:custGeom>
              <a:avLst/>
              <a:gdLst/>
              <a:ahLst/>
              <a:cxnLst/>
              <a:rect l="l" t="t" r="r" b="b"/>
              <a:pathLst>
                <a:path w="762000" h="1447800">
                  <a:moveTo>
                    <a:pt x="762000" y="0"/>
                  </a:moveTo>
                  <a:lnTo>
                    <a:pt x="0" y="0"/>
                  </a:lnTo>
                  <a:lnTo>
                    <a:pt x="0" y="1447800"/>
                  </a:lnTo>
                  <a:lnTo>
                    <a:pt x="762000" y="1447800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924800" y="1066800"/>
              <a:ext cx="762000" cy="1447800"/>
            </a:xfrm>
            <a:custGeom>
              <a:avLst/>
              <a:gdLst/>
              <a:ahLst/>
              <a:cxnLst/>
              <a:rect l="l" t="t" r="r" b="b"/>
              <a:pathLst>
                <a:path w="762000" h="1447800">
                  <a:moveTo>
                    <a:pt x="0" y="0"/>
                  </a:moveTo>
                  <a:lnTo>
                    <a:pt x="762000" y="0"/>
                  </a:lnTo>
                  <a:lnTo>
                    <a:pt x="76200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42250" y="2355850"/>
              <a:ext cx="88900" cy="889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70850" y="984250"/>
              <a:ext cx="88900" cy="889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451850" y="984250"/>
              <a:ext cx="88900" cy="8890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7543800" y="1828800"/>
              <a:ext cx="381000" cy="3733800"/>
            </a:xfrm>
            <a:custGeom>
              <a:avLst/>
              <a:gdLst/>
              <a:ahLst/>
              <a:cxnLst/>
              <a:rect l="l" t="t" r="r" b="b"/>
              <a:pathLst>
                <a:path w="381000" h="3733800">
                  <a:moveTo>
                    <a:pt x="0" y="0"/>
                  </a:moveTo>
                  <a:lnTo>
                    <a:pt x="0" y="3733800"/>
                  </a:lnTo>
                </a:path>
                <a:path w="381000" h="3733800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924800" y="5181600"/>
              <a:ext cx="762000" cy="1447800"/>
            </a:xfrm>
            <a:custGeom>
              <a:avLst/>
              <a:gdLst/>
              <a:ahLst/>
              <a:cxnLst/>
              <a:rect l="l" t="t" r="r" b="b"/>
              <a:pathLst>
                <a:path w="762000" h="1447800">
                  <a:moveTo>
                    <a:pt x="762000" y="0"/>
                  </a:moveTo>
                  <a:lnTo>
                    <a:pt x="0" y="0"/>
                  </a:lnTo>
                  <a:lnTo>
                    <a:pt x="0" y="1447800"/>
                  </a:lnTo>
                  <a:lnTo>
                    <a:pt x="762000" y="1447800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924800" y="5181600"/>
              <a:ext cx="762000" cy="1447800"/>
            </a:xfrm>
            <a:custGeom>
              <a:avLst/>
              <a:gdLst/>
              <a:ahLst/>
              <a:cxnLst/>
              <a:rect l="l" t="t" r="r" b="b"/>
              <a:pathLst>
                <a:path w="762000" h="1447800">
                  <a:moveTo>
                    <a:pt x="0" y="0"/>
                  </a:moveTo>
                  <a:lnTo>
                    <a:pt x="762000" y="0"/>
                  </a:lnTo>
                  <a:lnTo>
                    <a:pt x="76200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42250" y="6470650"/>
              <a:ext cx="88900" cy="889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528050" y="5099050"/>
              <a:ext cx="88900" cy="8890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70850" y="5099050"/>
              <a:ext cx="88900" cy="8890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7543800" y="5562600"/>
              <a:ext cx="381000" cy="0"/>
            </a:xfrm>
            <a:custGeom>
              <a:avLst/>
              <a:gdLst/>
              <a:ahLst/>
              <a:cxnLst/>
              <a:rect l="l" t="t" r="r" b="b"/>
              <a:pathLst>
                <a:path w="381000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924800" y="3048000"/>
              <a:ext cx="762000" cy="1447800"/>
            </a:xfrm>
            <a:custGeom>
              <a:avLst/>
              <a:gdLst/>
              <a:ahLst/>
              <a:cxnLst/>
              <a:rect l="l" t="t" r="r" b="b"/>
              <a:pathLst>
                <a:path w="762000" h="1447800">
                  <a:moveTo>
                    <a:pt x="762000" y="0"/>
                  </a:moveTo>
                  <a:lnTo>
                    <a:pt x="0" y="0"/>
                  </a:lnTo>
                  <a:lnTo>
                    <a:pt x="0" y="1447800"/>
                  </a:lnTo>
                  <a:lnTo>
                    <a:pt x="762000" y="1447800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924800" y="3048000"/>
              <a:ext cx="762000" cy="1447800"/>
            </a:xfrm>
            <a:custGeom>
              <a:avLst/>
              <a:gdLst/>
              <a:ahLst/>
              <a:cxnLst/>
              <a:rect l="l" t="t" r="r" b="b"/>
              <a:pathLst>
                <a:path w="762000" h="1447800">
                  <a:moveTo>
                    <a:pt x="0" y="0"/>
                  </a:moveTo>
                  <a:lnTo>
                    <a:pt x="762000" y="0"/>
                  </a:lnTo>
                  <a:lnTo>
                    <a:pt x="76200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42250" y="4184650"/>
              <a:ext cx="88900" cy="8890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451850" y="2965450"/>
              <a:ext cx="88900" cy="8890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70850" y="2965450"/>
              <a:ext cx="88900" cy="88900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7543800" y="3810000"/>
              <a:ext cx="381000" cy="0"/>
            </a:xfrm>
            <a:custGeom>
              <a:avLst/>
              <a:gdLst/>
              <a:ahLst/>
              <a:cxnLst/>
              <a:rect l="l" t="t" r="r" b="b"/>
              <a:pathLst>
                <a:path w="381000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077200" y="685800"/>
              <a:ext cx="0" cy="304800"/>
            </a:xfrm>
            <a:custGeom>
              <a:avLst/>
              <a:gdLst/>
              <a:ahLst/>
              <a:cxnLst/>
              <a:rect l="l" t="t" r="r" b="b"/>
              <a:pathLst>
                <a:path h="304800">
                  <a:moveTo>
                    <a:pt x="0" y="3048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458200" y="228600"/>
              <a:ext cx="0" cy="762000"/>
            </a:xfrm>
            <a:custGeom>
              <a:avLst/>
              <a:gdLst/>
              <a:ahLst/>
              <a:cxnLst/>
              <a:rect l="l" t="t" r="r" b="b"/>
              <a:pathLst>
                <a:path h="762000">
                  <a:moveTo>
                    <a:pt x="0" y="7620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848600" y="228600"/>
              <a:ext cx="609600" cy="0"/>
            </a:xfrm>
            <a:custGeom>
              <a:avLst/>
              <a:gdLst/>
              <a:ahLst/>
              <a:cxnLst/>
              <a:rect l="l" t="t" r="r" b="b"/>
              <a:pathLst>
                <a:path w="609600">
                  <a:moveTo>
                    <a:pt x="6096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848600" y="2667000"/>
              <a:ext cx="609600" cy="0"/>
            </a:xfrm>
            <a:custGeom>
              <a:avLst/>
              <a:gdLst/>
              <a:ahLst/>
              <a:cxnLst/>
              <a:rect l="l" t="t" r="r" b="b"/>
              <a:pathLst>
                <a:path w="609600">
                  <a:moveTo>
                    <a:pt x="6096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848600" y="4876800"/>
              <a:ext cx="228600" cy="0"/>
            </a:xfrm>
            <a:custGeom>
              <a:avLst/>
              <a:gdLst/>
              <a:ahLst/>
              <a:cxnLst/>
              <a:rect l="l" t="t" r="r" b="b"/>
              <a:pathLst>
                <a:path w="228600">
                  <a:moveTo>
                    <a:pt x="2286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924800" y="4648200"/>
              <a:ext cx="609600" cy="0"/>
            </a:xfrm>
            <a:custGeom>
              <a:avLst/>
              <a:gdLst/>
              <a:ahLst/>
              <a:cxnLst/>
              <a:rect l="l" t="t" r="r" b="b"/>
              <a:pathLst>
                <a:path w="609600">
                  <a:moveTo>
                    <a:pt x="6096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534400" y="4648200"/>
              <a:ext cx="0" cy="533400"/>
            </a:xfrm>
            <a:custGeom>
              <a:avLst/>
              <a:gdLst/>
              <a:ahLst/>
              <a:cxnLst/>
              <a:rect l="l" t="t" r="r" b="b"/>
              <a:pathLst>
                <a:path h="533400">
                  <a:moveTo>
                    <a:pt x="0" y="5334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077200" y="2819400"/>
              <a:ext cx="0" cy="152400"/>
            </a:xfrm>
            <a:custGeom>
              <a:avLst/>
              <a:gdLst/>
              <a:ahLst/>
              <a:cxnLst/>
              <a:rect l="l" t="t" r="r" b="b"/>
              <a:pathLst>
                <a:path h="152400">
                  <a:moveTo>
                    <a:pt x="0" y="1524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8458200" y="2667000"/>
              <a:ext cx="0" cy="304800"/>
            </a:xfrm>
            <a:custGeom>
              <a:avLst/>
              <a:gdLst/>
              <a:ahLst/>
              <a:cxnLst/>
              <a:rect l="l" t="t" r="r" b="b"/>
              <a:pathLst>
                <a:path h="304800">
                  <a:moveTo>
                    <a:pt x="0" y="3048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077200" y="4876800"/>
              <a:ext cx="0" cy="228600"/>
            </a:xfrm>
            <a:custGeom>
              <a:avLst/>
              <a:gdLst/>
              <a:ahLst/>
              <a:cxnLst/>
              <a:rect l="l" t="t" r="r" b="b"/>
              <a:pathLst>
                <a:path h="228600">
                  <a:moveTo>
                    <a:pt x="0" y="2286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924800" y="2819400"/>
              <a:ext cx="152400" cy="0"/>
            </a:xfrm>
            <a:custGeom>
              <a:avLst/>
              <a:gdLst/>
              <a:ahLst/>
              <a:cxnLst/>
              <a:rect l="l" t="t" r="r" b="b"/>
              <a:pathLst>
                <a:path w="152400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924800" y="3803650"/>
              <a:ext cx="762000" cy="12700"/>
            </a:xfrm>
            <a:custGeom>
              <a:avLst/>
              <a:gdLst/>
              <a:ahLst/>
              <a:cxnLst/>
              <a:rect l="l" t="t" r="r" b="b"/>
              <a:pathLst>
                <a:path w="762000" h="12700">
                  <a:moveTo>
                    <a:pt x="0" y="12700"/>
                  </a:moveTo>
                  <a:lnTo>
                    <a:pt x="762000" y="12700"/>
                  </a:lnTo>
                  <a:lnTo>
                    <a:pt x="762000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620000" y="4191000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7543800" y="6477000"/>
              <a:ext cx="381000" cy="0"/>
            </a:xfrm>
            <a:custGeom>
              <a:avLst/>
              <a:gdLst/>
              <a:ahLst/>
              <a:cxnLst/>
              <a:rect l="l" t="t" r="r" b="b"/>
              <a:pathLst>
                <a:path w="381000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553200" y="2667000"/>
              <a:ext cx="762000" cy="1447800"/>
            </a:xfrm>
            <a:custGeom>
              <a:avLst/>
              <a:gdLst/>
              <a:ahLst/>
              <a:cxnLst/>
              <a:rect l="l" t="t" r="r" b="b"/>
              <a:pathLst>
                <a:path w="762000" h="1447800">
                  <a:moveTo>
                    <a:pt x="762000" y="0"/>
                  </a:moveTo>
                  <a:lnTo>
                    <a:pt x="0" y="0"/>
                  </a:lnTo>
                  <a:lnTo>
                    <a:pt x="0" y="1447800"/>
                  </a:lnTo>
                  <a:lnTo>
                    <a:pt x="762000" y="1447800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553200" y="2667000"/>
              <a:ext cx="762000" cy="1447800"/>
            </a:xfrm>
            <a:custGeom>
              <a:avLst/>
              <a:gdLst/>
              <a:ahLst/>
              <a:cxnLst/>
              <a:rect l="l" t="t" r="r" b="b"/>
              <a:pathLst>
                <a:path w="762000" h="1447800">
                  <a:moveTo>
                    <a:pt x="0" y="0"/>
                  </a:moveTo>
                  <a:lnTo>
                    <a:pt x="762000" y="0"/>
                  </a:lnTo>
                  <a:lnTo>
                    <a:pt x="76200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927850" y="2584450"/>
              <a:ext cx="88900" cy="88900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70650" y="3879850"/>
              <a:ext cx="88900" cy="88900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5257800" y="4724400"/>
              <a:ext cx="762000" cy="1447800"/>
            </a:xfrm>
            <a:custGeom>
              <a:avLst/>
              <a:gdLst/>
              <a:ahLst/>
              <a:cxnLst/>
              <a:rect l="l" t="t" r="r" b="b"/>
              <a:pathLst>
                <a:path w="762000" h="1447800">
                  <a:moveTo>
                    <a:pt x="762000" y="0"/>
                  </a:moveTo>
                  <a:lnTo>
                    <a:pt x="0" y="0"/>
                  </a:lnTo>
                  <a:lnTo>
                    <a:pt x="0" y="1447800"/>
                  </a:lnTo>
                  <a:lnTo>
                    <a:pt x="762000" y="1447800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257800" y="4724400"/>
              <a:ext cx="762000" cy="1447800"/>
            </a:xfrm>
            <a:custGeom>
              <a:avLst/>
              <a:gdLst/>
              <a:ahLst/>
              <a:cxnLst/>
              <a:rect l="l" t="t" r="r" b="b"/>
              <a:pathLst>
                <a:path w="762000" h="1447800">
                  <a:moveTo>
                    <a:pt x="0" y="0"/>
                  </a:moveTo>
                  <a:lnTo>
                    <a:pt x="762000" y="0"/>
                  </a:lnTo>
                  <a:lnTo>
                    <a:pt x="76200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13450" y="5937250"/>
              <a:ext cx="88900" cy="88900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56250" y="4641850"/>
              <a:ext cx="88900" cy="88900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13450" y="4870450"/>
              <a:ext cx="88900" cy="88900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13450" y="5327650"/>
              <a:ext cx="88900" cy="88900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13450" y="5632450"/>
              <a:ext cx="88900" cy="88900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6248400" y="3886200"/>
              <a:ext cx="0" cy="1066800"/>
            </a:xfrm>
            <a:custGeom>
              <a:avLst/>
              <a:gdLst/>
              <a:ahLst/>
              <a:cxnLst/>
              <a:rect l="l" t="t" r="r" b="b"/>
              <a:pathLst>
                <a:path h="1066800">
                  <a:moveTo>
                    <a:pt x="0" y="0"/>
                  </a:moveTo>
                  <a:lnTo>
                    <a:pt x="0" y="10668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096000" y="4953000"/>
              <a:ext cx="152400" cy="0"/>
            </a:xfrm>
            <a:custGeom>
              <a:avLst/>
              <a:gdLst/>
              <a:ahLst/>
              <a:cxnLst/>
              <a:rect l="l" t="t" r="r" b="b"/>
              <a:pathLst>
                <a:path w="152400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248400" y="3886200"/>
              <a:ext cx="228600" cy="0"/>
            </a:xfrm>
            <a:custGeom>
              <a:avLst/>
              <a:gdLst/>
              <a:ahLst/>
              <a:cxnLst/>
              <a:rect l="l" t="t" r="r" b="b"/>
              <a:pathLst>
                <a:path w="228600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096000" y="5334000"/>
              <a:ext cx="317500" cy="0"/>
            </a:xfrm>
            <a:custGeom>
              <a:avLst/>
              <a:gdLst/>
              <a:ahLst/>
              <a:cxnLst/>
              <a:rect l="l" t="t" r="r" b="b"/>
              <a:pathLst>
                <a:path w="317500">
                  <a:moveTo>
                    <a:pt x="0" y="0"/>
                  </a:moveTo>
                  <a:lnTo>
                    <a:pt x="3175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6400802" y="52958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199"/>
                  </a:lnTo>
                  <a:lnTo>
                    <a:pt x="76200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6019800" y="5638800"/>
              <a:ext cx="317500" cy="0"/>
            </a:xfrm>
            <a:custGeom>
              <a:avLst/>
              <a:gdLst/>
              <a:ahLst/>
              <a:cxnLst/>
              <a:rect l="l" t="t" r="r" b="b"/>
              <a:pathLst>
                <a:path w="317500">
                  <a:moveTo>
                    <a:pt x="0" y="0"/>
                  </a:moveTo>
                  <a:lnTo>
                    <a:pt x="3175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6324602" y="56006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199"/>
                  </a:lnTo>
                  <a:lnTo>
                    <a:pt x="76200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6096000" y="5943600"/>
              <a:ext cx="317500" cy="0"/>
            </a:xfrm>
            <a:custGeom>
              <a:avLst/>
              <a:gdLst/>
              <a:ahLst/>
              <a:cxnLst/>
              <a:rect l="l" t="t" r="r" b="b"/>
              <a:pathLst>
                <a:path w="317500">
                  <a:moveTo>
                    <a:pt x="0" y="0"/>
                  </a:moveTo>
                  <a:lnTo>
                    <a:pt x="3175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6400802" y="59054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199"/>
                  </a:lnTo>
                  <a:lnTo>
                    <a:pt x="76200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5029200" y="5181600"/>
              <a:ext cx="228600" cy="0"/>
            </a:xfrm>
            <a:custGeom>
              <a:avLst/>
              <a:gdLst/>
              <a:ahLst/>
              <a:cxnLst/>
              <a:rect l="l" t="t" r="r" b="b"/>
              <a:pathLst>
                <a:path w="228600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5029200" y="5562600"/>
              <a:ext cx="228600" cy="0"/>
            </a:xfrm>
            <a:custGeom>
              <a:avLst/>
              <a:gdLst/>
              <a:ahLst/>
              <a:cxnLst/>
              <a:rect l="l" t="t" r="r" b="b"/>
              <a:pathLst>
                <a:path w="228600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6934200" y="2362200"/>
              <a:ext cx="0" cy="228600"/>
            </a:xfrm>
            <a:custGeom>
              <a:avLst/>
              <a:gdLst/>
              <a:ahLst/>
              <a:cxnLst/>
              <a:rect l="l" t="t" r="r" b="b"/>
              <a:pathLst>
                <a:path h="228600">
                  <a:moveTo>
                    <a:pt x="0" y="2286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6400800" y="2362200"/>
              <a:ext cx="533400" cy="0"/>
            </a:xfrm>
            <a:custGeom>
              <a:avLst/>
              <a:gdLst/>
              <a:ahLst/>
              <a:cxnLst/>
              <a:rect l="l" t="t" r="r" b="b"/>
              <a:pathLst>
                <a:path w="533400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562600" y="4343400"/>
              <a:ext cx="0" cy="304800"/>
            </a:xfrm>
            <a:custGeom>
              <a:avLst/>
              <a:gdLst/>
              <a:ahLst/>
              <a:cxnLst/>
              <a:rect l="l" t="t" r="r" b="b"/>
              <a:pathLst>
                <a:path h="304800">
                  <a:moveTo>
                    <a:pt x="0" y="3048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029200" y="4343400"/>
              <a:ext cx="533400" cy="0"/>
            </a:xfrm>
            <a:custGeom>
              <a:avLst/>
              <a:gdLst/>
              <a:ahLst/>
              <a:cxnLst/>
              <a:rect l="l" t="t" r="r" b="b"/>
              <a:pathLst>
                <a:path w="533400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9" name="object 79"/>
          <p:cNvSpPr txBox="1"/>
          <p:nvPr/>
        </p:nvSpPr>
        <p:spPr>
          <a:xfrm>
            <a:off x="8155940" y="1403857"/>
            <a:ext cx="5156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400" b="1" spc="-5" dirty="0">
                <a:latin typeface="Tahoma"/>
                <a:cs typeface="Tahoma"/>
              </a:rPr>
              <a:t>P</a:t>
            </a:r>
            <a:r>
              <a:rPr sz="1400" b="1" spc="-10" dirty="0">
                <a:latin typeface="Tahoma"/>
                <a:cs typeface="Tahoma"/>
              </a:rPr>
              <a:t>ORT  </a:t>
            </a:r>
            <a:r>
              <a:rPr sz="1400" b="1" spc="-5" dirty="0">
                <a:latin typeface="Tahoma"/>
                <a:cs typeface="Tahoma"/>
              </a:rPr>
              <a:t>A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8155940" y="2257321"/>
            <a:ext cx="27114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latin typeface="Tahoma"/>
                <a:cs typeface="Tahoma"/>
              </a:rPr>
              <a:t>EN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8155940" y="3537428"/>
            <a:ext cx="51562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5" dirty="0">
                <a:latin typeface="Tahoma"/>
                <a:cs typeface="Tahoma"/>
              </a:rPr>
              <a:t>P</a:t>
            </a:r>
            <a:r>
              <a:rPr sz="1400" b="1" spc="-10" dirty="0">
                <a:latin typeface="Tahoma"/>
                <a:cs typeface="Tahoma"/>
              </a:rPr>
              <a:t>ORT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8155940" y="3857543"/>
            <a:ext cx="14414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5" dirty="0">
                <a:latin typeface="Tahoma"/>
                <a:cs typeface="Tahoma"/>
              </a:rPr>
              <a:t>C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8155940" y="4177658"/>
            <a:ext cx="27114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latin typeface="Tahoma"/>
                <a:cs typeface="Tahoma"/>
              </a:rPr>
              <a:t>EN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8155940" y="5777881"/>
            <a:ext cx="515620" cy="772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400" b="1" spc="-5" dirty="0">
                <a:latin typeface="Tahoma"/>
                <a:cs typeface="Tahoma"/>
              </a:rPr>
              <a:t>P</a:t>
            </a:r>
            <a:r>
              <a:rPr sz="1400" b="1" spc="-10" dirty="0">
                <a:latin typeface="Tahoma"/>
                <a:cs typeface="Tahoma"/>
              </a:rPr>
              <a:t>ORT  </a:t>
            </a:r>
            <a:r>
              <a:rPr sz="1400" b="1" spc="-5" dirty="0">
                <a:latin typeface="Tahoma"/>
                <a:cs typeface="Tahoma"/>
              </a:rPr>
              <a:t>B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b="1" spc="-10" dirty="0">
                <a:latin typeface="Tahoma"/>
                <a:cs typeface="Tahoma"/>
              </a:rPr>
              <a:t>EN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6555740" y="2699258"/>
            <a:ext cx="7696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Tahoma"/>
                <a:cs typeface="Tahoma"/>
              </a:rPr>
              <a:t>C</a:t>
            </a:r>
            <a:r>
              <a:rPr sz="1200" b="1" spc="-5" dirty="0">
                <a:latin typeface="Tahoma"/>
                <a:cs typeface="Tahoma"/>
              </a:rPr>
              <a:t>ON</a:t>
            </a:r>
            <a:r>
              <a:rPr sz="1200" b="1" spc="-10" dirty="0">
                <a:latin typeface="Tahoma"/>
                <a:cs typeface="Tahoma"/>
              </a:rPr>
              <a:t>TR</a:t>
            </a:r>
            <a:r>
              <a:rPr sz="1200" b="1" dirty="0">
                <a:latin typeface="Tahoma"/>
                <a:cs typeface="Tahoma"/>
              </a:rPr>
              <a:t>O</a:t>
            </a:r>
            <a:r>
              <a:rPr sz="1200" b="1" spc="-5" dirty="0">
                <a:latin typeface="Tahoma"/>
                <a:cs typeface="Tahoma"/>
              </a:rPr>
              <a:t>L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6555740" y="3734816"/>
            <a:ext cx="30734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latin typeface="Tahoma"/>
                <a:cs typeface="Tahoma"/>
              </a:rPr>
              <a:t>EN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5412740" y="4985257"/>
            <a:ext cx="445134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Tahoma"/>
                <a:cs typeface="Tahoma"/>
              </a:rPr>
              <a:t>INTE </a:t>
            </a:r>
            <a:r>
              <a:rPr sz="1200" b="1" spc="-340" dirty="0">
                <a:latin typeface="Tahoma"/>
                <a:cs typeface="Tahoma"/>
              </a:rPr>
              <a:t> </a:t>
            </a:r>
            <a:r>
              <a:rPr sz="1200" b="1" spc="-10" dirty="0">
                <a:latin typeface="Tahoma"/>
                <a:cs typeface="Tahoma"/>
              </a:rPr>
              <a:t>R</a:t>
            </a:r>
            <a:r>
              <a:rPr sz="1200" b="1" spc="-5" dirty="0">
                <a:latin typeface="Tahoma"/>
                <a:cs typeface="Tahoma"/>
              </a:rPr>
              <a:t>NAL</a:t>
            </a:r>
            <a:endParaRPr sz="1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200" b="1" spc="-5" dirty="0">
                <a:latin typeface="Tahoma"/>
                <a:cs typeface="Tahoma"/>
              </a:rPr>
              <a:t>DEC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5412740" y="5625338"/>
            <a:ext cx="4495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Tahoma"/>
                <a:cs typeface="Tahoma"/>
              </a:rPr>
              <a:t>O</a:t>
            </a:r>
            <a:r>
              <a:rPr sz="1200" b="1" spc="-10" dirty="0">
                <a:latin typeface="Tahoma"/>
                <a:cs typeface="Tahoma"/>
              </a:rPr>
              <a:t>D</a:t>
            </a:r>
            <a:r>
              <a:rPr sz="1200" b="1" spc="-5" dirty="0">
                <a:latin typeface="Tahoma"/>
                <a:cs typeface="Tahoma"/>
              </a:rPr>
              <a:t>I</a:t>
            </a:r>
            <a:r>
              <a:rPr sz="1200" b="1" dirty="0">
                <a:latin typeface="Tahoma"/>
                <a:cs typeface="Tahoma"/>
              </a:rPr>
              <a:t>N  </a:t>
            </a:r>
            <a:r>
              <a:rPr sz="1200" b="1" spc="-5" dirty="0">
                <a:latin typeface="Tahoma"/>
                <a:cs typeface="Tahoma"/>
              </a:rPr>
              <a:t>G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6631940" y="0"/>
            <a:ext cx="1457960" cy="84836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800" spc="-10" dirty="0">
                <a:latin typeface="Tahoma"/>
                <a:cs typeface="Tahoma"/>
              </a:rPr>
              <a:t>RD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  <a:tabLst>
                <a:tab pos="835025" algn="l"/>
                <a:tab pos="1444625" algn="l"/>
              </a:tabLst>
            </a:pPr>
            <a:r>
              <a:rPr sz="1800" dirty="0">
                <a:latin typeface="Tahoma"/>
                <a:cs typeface="Tahoma"/>
              </a:rPr>
              <a:t>WR	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	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7622463" y="2393619"/>
            <a:ext cx="321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RD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6555740" y="2805938"/>
            <a:ext cx="14408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78865" algn="l"/>
              </a:tabLst>
            </a:pPr>
            <a:r>
              <a:rPr sz="1200" b="1" spc="-10" dirty="0">
                <a:latin typeface="Tahoma"/>
                <a:cs typeface="Tahoma"/>
              </a:rPr>
              <a:t>R</a:t>
            </a:r>
            <a:r>
              <a:rPr sz="1200" b="1" spc="-5" dirty="0">
                <a:latin typeface="Tahoma"/>
                <a:cs typeface="Tahoma"/>
              </a:rPr>
              <a:t>EGIS</a:t>
            </a:r>
            <a:r>
              <a:rPr sz="1200" b="1" spc="-10" dirty="0">
                <a:latin typeface="Tahoma"/>
                <a:cs typeface="Tahoma"/>
              </a:rPr>
              <a:t>T</a:t>
            </a:r>
            <a:r>
              <a:rPr sz="1200" b="1" spc="-5" dirty="0">
                <a:latin typeface="Tahoma"/>
                <a:cs typeface="Tahoma"/>
              </a:rPr>
              <a:t>ER</a:t>
            </a:r>
            <a:r>
              <a:rPr sz="1200" b="1" dirty="0">
                <a:latin typeface="Tahoma"/>
                <a:cs typeface="Tahoma"/>
              </a:rPr>
              <a:t>	</a:t>
            </a:r>
            <a:r>
              <a:rPr sz="1800" dirty="0">
                <a:latin typeface="Tahoma"/>
                <a:cs typeface="Tahoma"/>
              </a:rPr>
              <a:t>WR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7622463" y="4509770"/>
            <a:ext cx="321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RD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7622463" y="4921250"/>
            <a:ext cx="3740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WR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94" name="object 94"/>
          <p:cNvSpPr/>
          <p:nvPr/>
        </p:nvSpPr>
        <p:spPr>
          <a:xfrm>
            <a:off x="6629400" y="76200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>
                <a:moveTo>
                  <a:pt x="0" y="0"/>
                </a:moveTo>
                <a:lnTo>
                  <a:pt x="3048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5" name="object 95"/>
          <p:cNvGrpSpPr/>
          <p:nvPr/>
        </p:nvGrpSpPr>
        <p:grpSpPr>
          <a:xfrm>
            <a:off x="5784850" y="2432050"/>
            <a:ext cx="2146300" cy="2527300"/>
            <a:chOff x="5784850" y="2432050"/>
            <a:chExt cx="2146300" cy="2527300"/>
          </a:xfrm>
        </p:grpSpPr>
        <p:sp>
          <p:nvSpPr>
            <p:cNvPr id="96" name="object 96"/>
            <p:cNvSpPr/>
            <p:nvPr/>
          </p:nvSpPr>
          <p:spPr>
            <a:xfrm>
              <a:off x="7620000" y="4953000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7620000" y="4572000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7620000" y="2895600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7620000" y="2438400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5791200" y="4419600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1" name="object 101"/>
          <p:cNvSpPr txBox="1"/>
          <p:nvPr/>
        </p:nvSpPr>
        <p:spPr>
          <a:xfrm>
            <a:off x="6225540" y="4480623"/>
            <a:ext cx="594995" cy="84836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80"/>
              </a:spcBef>
            </a:pPr>
            <a:r>
              <a:rPr sz="1800" dirty="0">
                <a:latin typeface="Tahoma"/>
                <a:cs typeface="Tahoma"/>
              </a:rPr>
              <a:t>11</a:t>
            </a:r>
            <a:endParaRPr sz="18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1080"/>
              </a:spcBef>
              <a:tabLst>
                <a:tab pos="418465" algn="l"/>
              </a:tabLst>
            </a:pPr>
            <a:r>
              <a:rPr sz="1800" dirty="0">
                <a:latin typeface="Tahoma"/>
                <a:cs typeface="Tahoma"/>
              </a:rPr>
              <a:t>10	</a:t>
            </a:r>
            <a:r>
              <a:rPr sz="2700" baseline="-7716" dirty="0">
                <a:latin typeface="Tahoma"/>
                <a:cs typeface="Tahoma"/>
              </a:rPr>
              <a:t>C</a:t>
            </a:r>
            <a:endParaRPr sz="2700" baseline="-7716">
              <a:latin typeface="Tahoma"/>
              <a:cs typeface="Tahoma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6225540" y="5440743"/>
            <a:ext cx="5924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418465" algn="l"/>
              </a:tabLst>
            </a:pPr>
            <a:r>
              <a:rPr sz="1800" dirty="0">
                <a:latin typeface="Tahoma"/>
                <a:cs typeface="Tahoma"/>
              </a:rPr>
              <a:t>01	</a:t>
            </a:r>
            <a:r>
              <a:rPr sz="2700" spc="-7" baseline="-7716" dirty="0">
                <a:latin typeface="Tahoma"/>
                <a:cs typeface="Tahoma"/>
              </a:rPr>
              <a:t>B</a:t>
            </a:r>
            <a:endParaRPr sz="2700" baseline="-7716">
              <a:latin typeface="Tahoma"/>
              <a:cs typeface="Tahoma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6225540" y="5852223"/>
            <a:ext cx="5943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418465" algn="l"/>
              </a:tabLst>
            </a:pPr>
            <a:r>
              <a:rPr sz="1800" dirty="0">
                <a:latin typeface="Tahoma"/>
                <a:cs typeface="Tahoma"/>
              </a:rPr>
              <a:t>00	</a:t>
            </a:r>
            <a:r>
              <a:rPr sz="2700" baseline="-7716" dirty="0">
                <a:latin typeface="Tahoma"/>
                <a:cs typeface="Tahoma"/>
              </a:rPr>
              <a:t>A</a:t>
            </a:r>
            <a:endParaRPr sz="2700" baseline="-7716">
              <a:latin typeface="Tahoma"/>
              <a:cs typeface="Tahoma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7622540" y="2165857"/>
            <a:ext cx="21907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Tahoma"/>
                <a:cs typeface="Tahoma"/>
              </a:rPr>
              <a:t>0</a:t>
            </a:r>
            <a:r>
              <a:rPr sz="1400" u="sng" spc="-1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0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7698707" y="3918414"/>
            <a:ext cx="21907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Tahoma"/>
                <a:cs typeface="Tahoma"/>
              </a:rPr>
              <a:t>10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7622540" y="6204496"/>
            <a:ext cx="21907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Tahoma"/>
                <a:cs typeface="Tahoma"/>
              </a:rPr>
              <a:t>01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07" name="object 107"/>
          <p:cNvSpPr/>
          <p:nvPr/>
        </p:nvSpPr>
        <p:spPr>
          <a:xfrm>
            <a:off x="6629400" y="457200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>
                <a:moveTo>
                  <a:pt x="0" y="0"/>
                </a:moveTo>
                <a:lnTo>
                  <a:pt x="3048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6324600" y="2133600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>
                <a:moveTo>
                  <a:pt x="0" y="0"/>
                </a:moveTo>
                <a:lnTo>
                  <a:pt x="3048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 txBox="1"/>
          <p:nvPr/>
        </p:nvSpPr>
        <p:spPr>
          <a:xfrm>
            <a:off x="6327140" y="2088896"/>
            <a:ext cx="3740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WR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4803063" y="3993819"/>
            <a:ext cx="290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CS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11" name="object 111"/>
          <p:cNvGrpSpPr/>
          <p:nvPr/>
        </p:nvGrpSpPr>
        <p:grpSpPr>
          <a:xfrm>
            <a:off x="4800600" y="3422650"/>
            <a:ext cx="2743200" cy="546100"/>
            <a:chOff x="4800600" y="3422650"/>
            <a:chExt cx="2743200" cy="546100"/>
          </a:xfrm>
        </p:grpSpPr>
        <p:sp>
          <p:nvSpPr>
            <p:cNvPr id="112" name="object 112"/>
            <p:cNvSpPr/>
            <p:nvPr/>
          </p:nvSpPr>
          <p:spPr>
            <a:xfrm>
              <a:off x="4800600" y="3962400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7315200" y="3429000"/>
              <a:ext cx="152400" cy="0"/>
            </a:xfrm>
            <a:custGeom>
              <a:avLst/>
              <a:gdLst/>
              <a:ahLst/>
              <a:cxnLst/>
              <a:rect l="l" t="t" r="r" b="b"/>
              <a:pathLst>
                <a:path w="152400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7391400" y="3429000"/>
              <a:ext cx="152400" cy="0"/>
            </a:xfrm>
            <a:custGeom>
              <a:avLst/>
              <a:gdLst/>
              <a:ahLst/>
              <a:cxnLst/>
              <a:rect l="l" t="t" r="r" b="b"/>
              <a:pathLst>
                <a:path w="152400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5" name="object 115"/>
          <p:cNvSpPr txBox="1"/>
          <p:nvPr/>
        </p:nvSpPr>
        <p:spPr>
          <a:xfrm>
            <a:off x="4650740" y="4923536"/>
            <a:ext cx="28765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A1  A0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1145539" y="1006627"/>
            <a:ext cx="199390" cy="231203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000" b="1" spc="-5" dirty="0">
                <a:latin typeface="Tahoma"/>
                <a:cs typeface="Tahoma"/>
              </a:rPr>
              <a:t>8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b="1" spc="-5" dirty="0">
                <a:latin typeface="Tahoma"/>
                <a:cs typeface="Tahoma"/>
              </a:rPr>
              <a:t>2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b="1" spc="-5" dirty="0">
                <a:latin typeface="Tahoma"/>
                <a:cs typeface="Tahoma"/>
              </a:rPr>
              <a:t>5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b="1" spc="-5" dirty="0">
                <a:latin typeface="Tahoma"/>
                <a:cs typeface="Tahoma"/>
              </a:rPr>
              <a:t>5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b="1" spc="-5" dirty="0">
                <a:latin typeface="Tahoma"/>
                <a:cs typeface="Tahoma"/>
              </a:rPr>
              <a:t>A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2212339" y="793496"/>
            <a:ext cx="788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Tahoma"/>
                <a:cs typeface="Tahoma"/>
              </a:rPr>
              <a:t>PORT</a:t>
            </a:r>
            <a:r>
              <a:rPr sz="1800" spc="-9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2212339" y="1616455"/>
            <a:ext cx="312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CU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2212339" y="1753616"/>
            <a:ext cx="78930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800" spc="-20" dirty="0">
                <a:latin typeface="Tahoma"/>
                <a:cs typeface="Tahoma"/>
              </a:rPr>
              <a:t>PORT</a:t>
            </a:r>
            <a:r>
              <a:rPr sz="1800" spc="-10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 </a:t>
            </a:r>
            <a:r>
              <a:rPr sz="1800" spc="-545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CL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2212339" y="3125215"/>
            <a:ext cx="786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Tahoma"/>
                <a:cs typeface="Tahoma"/>
              </a:rPr>
              <a:t>PORT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B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21" name="object 121"/>
          <p:cNvSpPr/>
          <p:nvPr/>
        </p:nvSpPr>
        <p:spPr>
          <a:xfrm>
            <a:off x="1828800" y="609600"/>
            <a:ext cx="990600" cy="0"/>
          </a:xfrm>
          <a:custGeom>
            <a:avLst/>
            <a:gdLst/>
            <a:ahLst/>
            <a:cxnLst/>
            <a:rect l="l" t="t" r="r" b="b"/>
            <a:pathLst>
              <a:path w="990600">
                <a:moveTo>
                  <a:pt x="0" y="0"/>
                </a:moveTo>
                <a:lnTo>
                  <a:pt x="9906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blinds/>
  </p:transition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C4D6B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5825" y="1843087"/>
            <a:ext cx="8255000" cy="501491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833575"/>
            <a:ext cx="895350" cy="50244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76300" y="6350"/>
            <a:ext cx="19050" cy="150336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17612" y="1833562"/>
            <a:ext cx="7923212" cy="19050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552450" y="1509712"/>
            <a:ext cx="665480" cy="666750"/>
            <a:chOff x="552450" y="1509712"/>
            <a:chExt cx="665480" cy="666750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6300" y="1509712"/>
              <a:ext cx="19050" cy="6667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2450" y="1833562"/>
              <a:ext cx="665162" cy="19050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76705" y="6251447"/>
            <a:ext cx="250697" cy="219455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828800" y="3657600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0" y="0"/>
                </a:moveTo>
                <a:lnTo>
                  <a:pt x="9144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2364739" y="31495"/>
            <a:ext cx="19589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Tahoma"/>
                <a:cs typeface="Tahoma"/>
              </a:rPr>
              <a:t>CONTROL</a:t>
            </a:r>
            <a:r>
              <a:rPr sz="1800" b="1" spc="-70" dirty="0">
                <a:latin typeface="Tahoma"/>
                <a:cs typeface="Tahoma"/>
              </a:rPr>
              <a:t> </a:t>
            </a:r>
            <a:r>
              <a:rPr sz="1800" b="1" spc="-5" dirty="0">
                <a:latin typeface="Tahoma"/>
                <a:cs typeface="Tahoma"/>
              </a:rPr>
              <a:t>WORD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64739" y="442976"/>
            <a:ext cx="26060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4184" algn="l"/>
                <a:tab pos="916940" algn="l"/>
                <a:tab pos="1369060" algn="l"/>
                <a:tab pos="1821180" algn="l"/>
                <a:tab pos="2273935" algn="l"/>
              </a:tabLst>
            </a:pPr>
            <a:r>
              <a:rPr sz="1800" b="1" spc="-5" dirty="0">
                <a:latin typeface="Tahoma"/>
                <a:cs typeface="Tahoma"/>
              </a:rPr>
              <a:t>D7	D6	D5	D4	D3	D2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145430" y="442976"/>
            <a:ext cx="930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8170" algn="l"/>
              </a:tabLst>
            </a:pPr>
            <a:r>
              <a:rPr sz="1800" b="1" spc="-5" dirty="0">
                <a:latin typeface="Tahoma"/>
                <a:cs typeface="Tahoma"/>
              </a:rPr>
              <a:t>D1	D0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736850" y="609600"/>
            <a:ext cx="2559050" cy="990600"/>
            <a:chOff x="2736850" y="609600"/>
            <a:chExt cx="2559050" cy="990600"/>
          </a:xfrm>
        </p:grpSpPr>
        <p:sp>
          <p:nvSpPr>
            <p:cNvPr id="16" name="object 16"/>
            <p:cNvSpPr/>
            <p:nvPr/>
          </p:nvSpPr>
          <p:spPr>
            <a:xfrm>
              <a:off x="2743200" y="609600"/>
              <a:ext cx="0" cy="609600"/>
            </a:xfrm>
            <a:custGeom>
              <a:avLst/>
              <a:gdLst/>
              <a:ahLst/>
              <a:cxnLst/>
              <a:rect l="l" t="t" r="r" b="b"/>
              <a:pathLst>
                <a:path h="609600">
                  <a:moveTo>
                    <a:pt x="0" y="0"/>
                  </a:moveTo>
                  <a:lnTo>
                    <a:pt x="0" y="6096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743200" y="1219200"/>
              <a:ext cx="2514600" cy="0"/>
            </a:xfrm>
            <a:custGeom>
              <a:avLst/>
              <a:gdLst/>
              <a:ahLst/>
              <a:cxnLst/>
              <a:rect l="l" t="t" r="r" b="b"/>
              <a:pathLst>
                <a:path w="2514600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257800" y="1219200"/>
              <a:ext cx="0" cy="317500"/>
            </a:xfrm>
            <a:custGeom>
              <a:avLst/>
              <a:gdLst/>
              <a:ahLst/>
              <a:cxnLst/>
              <a:rect l="l" t="t" r="r" b="b"/>
              <a:pathLst>
                <a:path h="317500">
                  <a:moveTo>
                    <a:pt x="0" y="0"/>
                  </a:moveTo>
                  <a:lnTo>
                    <a:pt x="0" y="3175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219700" y="15240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495300" y="685800"/>
            <a:ext cx="1644650" cy="838200"/>
            <a:chOff x="495300" y="685800"/>
            <a:chExt cx="1644650" cy="838200"/>
          </a:xfrm>
        </p:grpSpPr>
        <p:sp>
          <p:nvSpPr>
            <p:cNvPr id="21" name="object 21"/>
            <p:cNvSpPr/>
            <p:nvPr/>
          </p:nvSpPr>
          <p:spPr>
            <a:xfrm>
              <a:off x="2133600" y="685800"/>
              <a:ext cx="0" cy="533400"/>
            </a:xfrm>
            <a:custGeom>
              <a:avLst/>
              <a:gdLst/>
              <a:ahLst/>
              <a:cxnLst/>
              <a:rect l="l" t="t" r="r" b="b"/>
              <a:pathLst>
                <a:path h="533400">
                  <a:moveTo>
                    <a:pt x="0" y="0"/>
                  </a:moveTo>
                  <a:lnTo>
                    <a:pt x="0" y="5334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33400" y="1219200"/>
              <a:ext cx="0" cy="241300"/>
            </a:xfrm>
            <a:custGeom>
              <a:avLst/>
              <a:gdLst/>
              <a:ahLst/>
              <a:cxnLst/>
              <a:rect l="l" t="t" r="r" b="b"/>
              <a:pathLst>
                <a:path h="241300">
                  <a:moveTo>
                    <a:pt x="0" y="0"/>
                  </a:moveTo>
                  <a:lnTo>
                    <a:pt x="0" y="2413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95300" y="14478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33400" y="1219200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16002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2288539" y="869696"/>
            <a:ext cx="3632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0</a:t>
            </a:r>
            <a:r>
              <a:rPr sz="1800" spc="-5" dirty="0">
                <a:latin typeface="Tahoma"/>
                <a:cs typeface="Tahoma"/>
              </a:rPr>
              <a:t>/1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8739" y="1708657"/>
            <a:ext cx="87693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Tahoma"/>
                <a:cs typeface="Tahoma"/>
              </a:rPr>
              <a:t>BSR</a:t>
            </a:r>
            <a:r>
              <a:rPr sz="1400" spc="-7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MODE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8739" y="1921713"/>
            <a:ext cx="1534160" cy="986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00355">
              <a:lnSpc>
                <a:spcPct val="150000"/>
              </a:lnSpc>
              <a:spcBef>
                <a:spcPts val="100"/>
              </a:spcBef>
            </a:pPr>
            <a:r>
              <a:rPr sz="1400" spc="-5" dirty="0">
                <a:latin typeface="Tahoma"/>
                <a:cs typeface="Tahoma"/>
              </a:rPr>
              <a:t>BIT</a:t>
            </a:r>
            <a:r>
              <a:rPr sz="1400" spc="-6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SET/RESET </a:t>
            </a:r>
            <a:r>
              <a:rPr sz="1400" spc="-42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FOR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PORT</a:t>
            </a:r>
            <a:r>
              <a:rPr sz="1400" spc="-5" dirty="0">
                <a:latin typeface="Tahoma"/>
                <a:cs typeface="Tahoma"/>
              </a:rPr>
              <a:t> C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spc="-5" dirty="0">
                <a:latin typeface="Tahoma"/>
                <a:cs typeface="Tahoma"/>
              </a:rPr>
              <a:t>NO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EFFECT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ON</a:t>
            </a:r>
            <a:r>
              <a:rPr sz="1400" spc="-1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I/O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33601" y="2989119"/>
            <a:ext cx="508634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Tahoma"/>
                <a:cs typeface="Tahoma"/>
              </a:rPr>
              <a:t>MODE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098034" y="1631696"/>
            <a:ext cx="1052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I/O</a:t>
            </a:r>
            <a:r>
              <a:rPr sz="1800" spc="-75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MODE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2781300" y="1905000"/>
            <a:ext cx="2667000" cy="457200"/>
            <a:chOff x="2781300" y="1905000"/>
            <a:chExt cx="2667000" cy="457200"/>
          </a:xfrm>
        </p:grpSpPr>
        <p:sp>
          <p:nvSpPr>
            <p:cNvPr id="31" name="object 31"/>
            <p:cNvSpPr/>
            <p:nvPr/>
          </p:nvSpPr>
          <p:spPr>
            <a:xfrm>
              <a:off x="2819400" y="1981200"/>
              <a:ext cx="2590800" cy="317500"/>
            </a:xfrm>
            <a:custGeom>
              <a:avLst/>
              <a:gdLst/>
              <a:ahLst/>
              <a:cxnLst/>
              <a:rect l="l" t="t" r="r" b="b"/>
              <a:pathLst>
                <a:path w="2590800" h="317500">
                  <a:moveTo>
                    <a:pt x="0" y="0"/>
                  </a:moveTo>
                  <a:lnTo>
                    <a:pt x="2590800" y="0"/>
                  </a:lnTo>
                </a:path>
                <a:path w="2590800" h="317500">
                  <a:moveTo>
                    <a:pt x="0" y="0"/>
                  </a:moveTo>
                  <a:lnTo>
                    <a:pt x="0" y="3175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781300" y="22860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038600" y="1981200"/>
              <a:ext cx="0" cy="317500"/>
            </a:xfrm>
            <a:custGeom>
              <a:avLst/>
              <a:gdLst/>
              <a:ahLst/>
              <a:cxnLst/>
              <a:rect l="l" t="t" r="r" b="b"/>
              <a:pathLst>
                <a:path h="317500">
                  <a:moveTo>
                    <a:pt x="0" y="0"/>
                  </a:moveTo>
                  <a:lnTo>
                    <a:pt x="0" y="3175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000500" y="22860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410200" y="1981200"/>
              <a:ext cx="0" cy="317500"/>
            </a:xfrm>
            <a:custGeom>
              <a:avLst/>
              <a:gdLst/>
              <a:ahLst/>
              <a:cxnLst/>
              <a:rect l="l" t="t" r="r" b="b"/>
              <a:pathLst>
                <a:path h="317500">
                  <a:moveTo>
                    <a:pt x="0" y="0"/>
                  </a:moveTo>
                  <a:lnTo>
                    <a:pt x="0" y="3175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372100" y="22860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257800" y="1905000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2059939" y="2242057"/>
            <a:ext cx="65976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Tahoma"/>
                <a:cs typeface="Tahoma"/>
              </a:rPr>
              <a:t>MODE</a:t>
            </a:r>
            <a:r>
              <a:rPr sz="1400" spc="-8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0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145539" y="6280595"/>
            <a:ext cx="95250" cy="179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059939" y="2562173"/>
            <a:ext cx="1313815" cy="772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Tahoma"/>
                <a:cs typeface="Tahoma"/>
              </a:rPr>
              <a:t>SIMPLE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I/O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FOR </a:t>
            </a:r>
            <a:r>
              <a:rPr sz="1400" spc="-425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PORTS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spc="-5" dirty="0">
                <a:latin typeface="Tahoma"/>
                <a:cs typeface="Tahoma"/>
              </a:rPr>
              <a:t>A,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B</a:t>
            </a:r>
            <a:r>
              <a:rPr sz="1400" spc="-1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AND</a:t>
            </a:r>
            <a:r>
              <a:rPr sz="1400" spc="-1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C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812496" y="2211342"/>
            <a:ext cx="1047750" cy="226631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400" spc="-5" dirty="0">
                <a:latin typeface="Tahoma"/>
                <a:cs typeface="Tahoma"/>
              </a:rPr>
              <a:t>MODE</a:t>
            </a:r>
            <a:r>
              <a:rPr sz="1400" spc="-5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1</a:t>
            </a:r>
            <a:endParaRPr sz="1400">
              <a:latin typeface="Tahoma"/>
              <a:cs typeface="Tahoma"/>
            </a:endParaRPr>
          </a:p>
          <a:p>
            <a:pPr marL="12700" marR="31750">
              <a:lnSpc>
                <a:spcPct val="100000"/>
              </a:lnSpc>
              <a:spcBef>
                <a:spcPts val="840"/>
              </a:spcBef>
            </a:pPr>
            <a:r>
              <a:rPr sz="1400" spc="-10" dirty="0">
                <a:latin typeface="Tahoma"/>
                <a:cs typeface="Tahoma"/>
              </a:rPr>
              <a:t>H</a:t>
            </a:r>
            <a:r>
              <a:rPr sz="1400" spc="-5" dirty="0">
                <a:latin typeface="Tahoma"/>
                <a:cs typeface="Tahoma"/>
              </a:rPr>
              <a:t>ANDS</a:t>
            </a:r>
            <a:r>
              <a:rPr sz="1400" spc="-10" dirty="0">
                <a:latin typeface="Tahoma"/>
                <a:cs typeface="Tahoma"/>
              </a:rPr>
              <a:t>H</a:t>
            </a:r>
            <a:r>
              <a:rPr sz="1400" spc="-5" dirty="0">
                <a:latin typeface="Tahoma"/>
                <a:cs typeface="Tahoma"/>
              </a:rPr>
              <a:t>AKE  I/O FOR </a:t>
            </a:r>
            <a:r>
              <a:rPr sz="1400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PORTS</a:t>
            </a:r>
            <a:r>
              <a:rPr sz="1400" spc="-1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A </a:t>
            </a:r>
            <a:r>
              <a:rPr sz="140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AND/OR</a:t>
            </a:r>
            <a:r>
              <a:rPr sz="1400" spc="40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B</a:t>
            </a:r>
            <a:endParaRPr sz="14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  <a:spcBef>
                <a:spcPts val="840"/>
              </a:spcBef>
            </a:pPr>
            <a:r>
              <a:rPr sz="1400" spc="-15" dirty="0">
                <a:latin typeface="Tahoma"/>
                <a:cs typeface="Tahoma"/>
              </a:rPr>
              <a:t>PORT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C</a:t>
            </a:r>
            <a:r>
              <a:rPr sz="1400" spc="-4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BITS </a:t>
            </a:r>
            <a:r>
              <a:rPr sz="1400" spc="-42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ARE USED </a:t>
            </a:r>
            <a:r>
              <a:rPr sz="140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FOR </a:t>
            </a:r>
            <a:r>
              <a:rPr sz="140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HANDSHAKE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184039" y="2211875"/>
            <a:ext cx="950594" cy="365379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400" spc="-5" dirty="0">
                <a:latin typeface="Tahoma"/>
                <a:cs typeface="Tahoma"/>
              </a:rPr>
              <a:t>MODE</a:t>
            </a:r>
            <a:r>
              <a:rPr sz="1400" spc="-5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2</a:t>
            </a:r>
            <a:endParaRPr sz="1400">
              <a:latin typeface="Tahoma"/>
              <a:cs typeface="Tahoma"/>
            </a:endParaRPr>
          </a:p>
          <a:p>
            <a:pPr marL="12700" marR="82550">
              <a:lnSpc>
                <a:spcPct val="100000"/>
              </a:lnSpc>
              <a:spcBef>
                <a:spcPts val="840"/>
              </a:spcBef>
            </a:pPr>
            <a:r>
              <a:rPr sz="1400" spc="-10" dirty="0">
                <a:latin typeface="Tahoma"/>
                <a:cs typeface="Tahoma"/>
              </a:rPr>
              <a:t>B</a:t>
            </a:r>
            <a:r>
              <a:rPr sz="1400" spc="-5" dirty="0">
                <a:latin typeface="Tahoma"/>
                <a:cs typeface="Tahoma"/>
              </a:rPr>
              <a:t>IDIRECTI  ONAL </a:t>
            </a:r>
            <a:r>
              <a:rPr sz="1400" dirty="0">
                <a:latin typeface="Tahoma"/>
                <a:cs typeface="Tahoma"/>
              </a:rPr>
              <a:t> </a:t>
            </a:r>
            <a:r>
              <a:rPr sz="1400" spc="-45" dirty="0">
                <a:latin typeface="Tahoma"/>
                <a:cs typeface="Tahoma"/>
              </a:rPr>
              <a:t>DATA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BUS </a:t>
            </a:r>
            <a:r>
              <a:rPr sz="1400" spc="-42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FOR </a:t>
            </a:r>
            <a:r>
              <a:rPr sz="1400" spc="-15" dirty="0">
                <a:latin typeface="Tahoma"/>
                <a:cs typeface="Tahoma"/>
              </a:rPr>
              <a:t>PORT </a:t>
            </a:r>
            <a:r>
              <a:rPr sz="1400" spc="-42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A</a:t>
            </a:r>
            <a:endParaRPr sz="14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  <a:spcBef>
                <a:spcPts val="840"/>
              </a:spcBef>
            </a:pPr>
            <a:r>
              <a:rPr sz="1400" spc="-15" dirty="0">
                <a:latin typeface="Tahoma"/>
                <a:cs typeface="Tahoma"/>
              </a:rPr>
              <a:t>PORT </a:t>
            </a:r>
            <a:r>
              <a:rPr sz="1400" spc="-5" dirty="0">
                <a:latin typeface="Tahoma"/>
                <a:cs typeface="Tahoma"/>
              </a:rPr>
              <a:t>B </a:t>
            </a:r>
            <a:r>
              <a:rPr sz="140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EITHER IN </a:t>
            </a:r>
            <a:r>
              <a:rPr sz="140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MODE</a:t>
            </a:r>
            <a:r>
              <a:rPr sz="1400" spc="-5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0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OR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spc="-5" dirty="0">
                <a:latin typeface="Tahoma"/>
                <a:cs typeface="Tahoma"/>
              </a:rPr>
              <a:t>1</a:t>
            </a:r>
            <a:endParaRPr sz="1400">
              <a:latin typeface="Tahoma"/>
              <a:cs typeface="Tahoma"/>
            </a:endParaRPr>
          </a:p>
          <a:p>
            <a:pPr marL="12700" marR="34290">
              <a:lnSpc>
                <a:spcPct val="100000"/>
              </a:lnSpc>
              <a:spcBef>
                <a:spcPts val="840"/>
              </a:spcBef>
            </a:pPr>
            <a:r>
              <a:rPr sz="1400" spc="-15" dirty="0">
                <a:latin typeface="Tahoma"/>
                <a:cs typeface="Tahoma"/>
              </a:rPr>
              <a:t>PORT </a:t>
            </a:r>
            <a:r>
              <a:rPr sz="1400" spc="-5" dirty="0">
                <a:latin typeface="Tahoma"/>
                <a:cs typeface="Tahoma"/>
              </a:rPr>
              <a:t>C </a:t>
            </a:r>
            <a:r>
              <a:rPr sz="140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BITS ARE </a:t>
            </a:r>
            <a:r>
              <a:rPr sz="140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USED FOR </a:t>
            </a:r>
            <a:r>
              <a:rPr sz="140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H</a:t>
            </a:r>
            <a:r>
              <a:rPr sz="1400" spc="-5" dirty="0">
                <a:latin typeface="Tahoma"/>
                <a:cs typeface="Tahoma"/>
              </a:rPr>
              <a:t>ANDS</a:t>
            </a:r>
            <a:r>
              <a:rPr sz="1400" spc="-10" dirty="0">
                <a:latin typeface="Tahoma"/>
                <a:cs typeface="Tahoma"/>
              </a:rPr>
              <a:t>H</a:t>
            </a:r>
            <a:r>
              <a:rPr sz="1400" spc="-5" dirty="0">
                <a:latin typeface="Tahoma"/>
                <a:cs typeface="Tahoma"/>
              </a:rPr>
              <a:t>AK  E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C4D6B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5825" y="1843087"/>
            <a:ext cx="8255000" cy="501491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833575"/>
            <a:ext cx="895350" cy="50244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76300" y="6350"/>
            <a:ext cx="19050" cy="150336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17612" y="1833562"/>
            <a:ext cx="7923212" cy="19050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552450" y="1509712"/>
            <a:ext cx="665480" cy="666750"/>
            <a:chOff x="552450" y="1509712"/>
            <a:chExt cx="665480" cy="666750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6300" y="1509712"/>
              <a:ext cx="19050" cy="6667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2450" y="1833562"/>
              <a:ext cx="665162" cy="19050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76705" y="6251447"/>
            <a:ext cx="250697" cy="219455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6470650" y="374650"/>
            <a:ext cx="1003300" cy="1536700"/>
            <a:chOff x="6470650" y="374650"/>
            <a:chExt cx="1003300" cy="1536700"/>
          </a:xfrm>
        </p:grpSpPr>
        <p:sp>
          <p:nvSpPr>
            <p:cNvPr id="12" name="object 12"/>
            <p:cNvSpPr/>
            <p:nvPr/>
          </p:nvSpPr>
          <p:spPr>
            <a:xfrm>
              <a:off x="6477000" y="381000"/>
              <a:ext cx="990600" cy="1524000"/>
            </a:xfrm>
            <a:custGeom>
              <a:avLst/>
              <a:gdLst/>
              <a:ahLst/>
              <a:cxnLst/>
              <a:rect l="l" t="t" r="r" b="b"/>
              <a:pathLst>
                <a:path w="990600" h="1524000">
                  <a:moveTo>
                    <a:pt x="990600" y="0"/>
                  </a:moveTo>
                  <a:lnTo>
                    <a:pt x="0" y="0"/>
                  </a:lnTo>
                  <a:lnTo>
                    <a:pt x="0" y="1524000"/>
                  </a:lnTo>
                  <a:lnTo>
                    <a:pt x="990600" y="1524000"/>
                  </a:lnTo>
                  <a:lnTo>
                    <a:pt x="99060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477000" y="381000"/>
              <a:ext cx="990600" cy="1524000"/>
            </a:xfrm>
            <a:custGeom>
              <a:avLst/>
              <a:gdLst/>
              <a:ahLst/>
              <a:cxnLst/>
              <a:rect l="l" t="t" r="r" b="b"/>
              <a:pathLst>
                <a:path w="990600" h="1524000">
                  <a:moveTo>
                    <a:pt x="0" y="0"/>
                  </a:moveTo>
                  <a:lnTo>
                    <a:pt x="990600" y="0"/>
                  </a:lnTo>
                  <a:lnTo>
                    <a:pt x="990600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540372" y="438403"/>
            <a:ext cx="86423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G</a:t>
            </a:r>
            <a:r>
              <a:rPr sz="1800" b="1" spc="-5" dirty="0">
                <a:latin typeface="Arial"/>
                <a:cs typeface="Arial"/>
              </a:rPr>
              <a:t>R</a:t>
            </a:r>
            <a:r>
              <a:rPr sz="1800" b="1" spc="-10" dirty="0">
                <a:latin typeface="Arial"/>
                <a:cs typeface="Arial"/>
              </a:rPr>
              <a:t>O</a:t>
            </a:r>
            <a:r>
              <a:rPr sz="1800" b="1" spc="-5" dirty="0">
                <a:latin typeface="Arial"/>
                <a:cs typeface="Arial"/>
              </a:rPr>
              <a:t>U</a:t>
            </a:r>
            <a:r>
              <a:rPr sz="1800" b="1" dirty="0">
                <a:latin typeface="Arial"/>
                <a:cs typeface="Arial"/>
              </a:rPr>
              <a:t>P  </a:t>
            </a:r>
            <a:r>
              <a:rPr sz="1800" b="1" spc="-5" dirty="0">
                <a:latin typeface="Arial"/>
                <a:cs typeface="Arial"/>
              </a:rPr>
              <a:t>A 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PORT 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(8)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470650" y="4870450"/>
            <a:ext cx="1003300" cy="1536700"/>
            <a:chOff x="6470650" y="4870450"/>
            <a:chExt cx="1003300" cy="1536700"/>
          </a:xfrm>
        </p:grpSpPr>
        <p:sp>
          <p:nvSpPr>
            <p:cNvPr id="16" name="object 16"/>
            <p:cNvSpPr/>
            <p:nvPr/>
          </p:nvSpPr>
          <p:spPr>
            <a:xfrm>
              <a:off x="6477000" y="4876800"/>
              <a:ext cx="990600" cy="1524000"/>
            </a:xfrm>
            <a:custGeom>
              <a:avLst/>
              <a:gdLst/>
              <a:ahLst/>
              <a:cxnLst/>
              <a:rect l="l" t="t" r="r" b="b"/>
              <a:pathLst>
                <a:path w="990600" h="1524000">
                  <a:moveTo>
                    <a:pt x="990600" y="0"/>
                  </a:moveTo>
                  <a:lnTo>
                    <a:pt x="0" y="0"/>
                  </a:lnTo>
                  <a:lnTo>
                    <a:pt x="0" y="1524000"/>
                  </a:lnTo>
                  <a:lnTo>
                    <a:pt x="990600" y="1524000"/>
                  </a:lnTo>
                  <a:lnTo>
                    <a:pt x="99060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477000" y="4876800"/>
              <a:ext cx="990600" cy="1524000"/>
            </a:xfrm>
            <a:custGeom>
              <a:avLst/>
              <a:gdLst/>
              <a:ahLst/>
              <a:cxnLst/>
              <a:rect l="l" t="t" r="r" b="b"/>
              <a:pathLst>
                <a:path w="990600" h="1524000">
                  <a:moveTo>
                    <a:pt x="0" y="0"/>
                  </a:moveTo>
                  <a:lnTo>
                    <a:pt x="990600" y="0"/>
                  </a:lnTo>
                  <a:lnTo>
                    <a:pt x="990600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540372" y="4934204"/>
            <a:ext cx="86423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G</a:t>
            </a:r>
            <a:r>
              <a:rPr sz="1800" b="1" spc="-5" dirty="0">
                <a:latin typeface="Arial"/>
                <a:cs typeface="Arial"/>
              </a:rPr>
              <a:t>R</a:t>
            </a:r>
            <a:r>
              <a:rPr sz="1800" b="1" spc="-10" dirty="0">
                <a:latin typeface="Arial"/>
                <a:cs typeface="Arial"/>
              </a:rPr>
              <a:t>O</a:t>
            </a:r>
            <a:r>
              <a:rPr sz="1800" b="1" spc="-5" dirty="0">
                <a:latin typeface="Arial"/>
                <a:cs typeface="Arial"/>
              </a:rPr>
              <a:t>U</a:t>
            </a:r>
            <a:r>
              <a:rPr sz="1800" b="1" dirty="0">
                <a:latin typeface="Arial"/>
                <a:cs typeface="Arial"/>
              </a:rPr>
              <a:t>P  </a:t>
            </a:r>
            <a:r>
              <a:rPr sz="1800" b="1" spc="-5" dirty="0">
                <a:latin typeface="Arial"/>
                <a:cs typeface="Arial"/>
              </a:rPr>
              <a:t>B 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PORT 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819263" y="6031483"/>
            <a:ext cx="305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(</a:t>
            </a:r>
            <a:r>
              <a:rPr sz="1800" b="1" spc="-5" dirty="0">
                <a:latin typeface="Arial"/>
                <a:cs typeface="Arial"/>
              </a:rPr>
              <a:t>8</a:t>
            </a:r>
            <a:r>
              <a:rPr sz="1800" b="1" dirty="0"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477000" y="2057400"/>
            <a:ext cx="990600" cy="1066800"/>
          </a:xfrm>
          <a:prstGeom prst="rect">
            <a:avLst/>
          </a:prstGeom>
          <a:solidFill>
            <a:srgbClr val="DEDEDE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989"/>
              </a:lnSpc>
            </a:pPr>
            <a:r>
              <a:rPr sz="1800" b="1" spc="-10" dirty="0">
                <a:latin typeface="Arial"/>
                <a:cs typeface="Arial"/>
              </a:rPr>
              <a:t>G</a:t>
            </a:r>
            <a:r>
              <a:rPr sz="1800" b="1" spc="-5" dirty="0">
                <a:latin typeface="Arial"/>
                <a:cs typeface="Arial"/>
              </a:rPr>
              <a:t>R</a:t>
            </a:r>
            <a:r>
              <a:rPr sz="1800" b="1" spc="-10" dirty="0">
                <a:latin typeface="Arial"/>
                <a:cs typeface="Arial"/>
              </a:rPr>
              <a:t>O</a:t>
            </a:r>
            <a:r>
              <a:rPr sz="1800" b="1" spc="-5" dirty="0">
                <a:latin typeface="Arial"/>
                <a:cs typeface="Arial"/>
              </a:rPr>
              <a:t>U</a:t>
            </a:r>
            <a:r>
              <a:rPr sz="1800" b="1" spc="-135" dirty="0">
                <a:latin typeface="Arial"/>
                <a:cs typeface="Arial"/>
              </a:rPr>
              <a:t>P</a:t>
            </a:r>
            <a:r>
              <a:rPr sz="1800" b="1" spc="-5" dirty="0"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  <a:p>
            <a:pPr marL="63500" marR="55880" algn="ctr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PORT</a:t>
            </a:r>
            <a:r>
              <a:rPr sz="1800" b="1" spc="-8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 </a:t>
            </a:r>
            <a:r>
              <a:rPr sz="1800" b="1" spc="-484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UPPER 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(4)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477000" y="3352800"/>
            <a:ext cx="1003300" cy="1143000"/>
          </a:xfrm>
          <a:prstGeom prst="rect">
            <a:avLst/>
          </a:prstGeom>
          <a:solidFill>
            <a:srgbClr val="DEDEDE"/>
          </a:solidFill>
          <a:ln w="12700">
            <a:solidFill>
              <a:srgbClr val="000000"/>
            </a:solidFill>
          </a:ln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1800" b="1" spc="-10" dirty="0">
                <a:latin typeface="Arial"/>
                <a:cs typeface="Arial"/>
              </a:rPr>
              <a:t>G</a:t>
            </a:r>
            <a:r>
              <a:rPr sz="1800" b="1" spc="-5" dirty="0">
                <a:latin typeface="Arial"/>
                <a:cs typeface="Arial"/>
              </a:rPr>
              <a:t>R</a:t>
            </a:r>
            <a:r>
              <a:rPr sz="1800" b="1" spc="-10" dirty="0">
                <a:latin typeface="Arial"/>
                <a:cs typeface="Arial"/>
              </a:rPr>
              <a:t>O</a:t>
            </a:r>
            <a:r>
              <a:rPr sz="1800" b="1" spc="-5" dirty="0">
                <a:latin typeface="Arial"/>
                <a:cs typeface="Arial"/>
              </a:rPr>
              <a:t>U</a:t>
            </a:r>
            <a:r>
              <a:rPr sz="1800" b="1" dirty="0">
                <a:latin typeface="Arial"/>
                <a:cs typeface="Arial"/>
              </a:rPr>
              <a:t>P</a:t>
            </a:r>
            <a:r>
              <a:rPr sz="1800" b="1" spc="-5" dirty="0">
                <a:latin typeface="Arial"/>
                <a:cs typeface="Arial"/>
              </a:rPr>
              <a:t>B  PORT C 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LOWER 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(4)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727450" y="527050"/>
            <a:ext cx="1003300" cy="1536700"/>
            <a:chOff x="3727450" y="527050"/>
            <a:chExt cx="1003300" cy="1536700"/>
          </a:xfrm>
        </p:grpSpPr>
        <p:sp>
          <p:nvSpPr>
            <p:cNvPr id="23" name="object 23"/>
            <p:cNvSpPr/>
            <p:nvPr/>
          </p:nvSpPr>
          <p:spPr>
            <a:xfrm>
              <a:off x="3733800" y="533400"/>
              <a:ext cx="990600" cy="1524000"/>
            </a:xfrm>
            <a:custGeom>
              <a:avLst/>
              <a:gdLst/>
              <a:ahLst/>
              <a:cxnLst/>
              <a:rect l="l" t="t" r="r" b="b"/>
              <a:pathLst>
                <a:path w="990600" h="1524000">
                  <a:moveTo>
                    <a:pt x="990600" y="0"/>
                  </a:moveTo>
                  <a:lnTo>
                    <a:pt x="0" y="0"/>
                  </a:lnTo>
                  <a:lnTo>
                    <a:pt x="0" y="1524000"/>
                  </a:lnTo>
                  <a:lnTo>
                    <a:pt x="990600" y="1524000"/>
                  </a:lnTo>
                  <a:lnTo>
                    <a:pt x="99060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733800" y="533400"/>
              <a:ext cx="990600" cy="1524000"/>
            </a:xfrm>
            <a:custGeom>
              <a:avLst/>
              <a:gdLst/>
              <a:ahLst/>
              <a:cxnLst/>
              <a:rect l="l" t="t" r="r" b="b"/>
              <a:pathLst>
                <a:path w="990600" h="1524000">
                  <a:moveTo>
                    <a:pt x="0" y="0"/>
                  </a:moveTo>
                  <a:lnTo>
                    <a:pt x="990600" y="0"/>
                  </a:lnTo>
                  <a:lnTo>
                    <a:pt x="990600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797172" y="727964"/>
            <a:ext cx="86423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G</a:t>
            </a:r>
            <a:r>
              <a:rPr sz="1800" b="1" spc="-5" dirty="0">
                <a:latin typeface="Arial"/>
                <a:cs typeface="Arial"/>
              </a:rPr>
              <a:t>R</a:t>
            </a:r>
            <a:r>
              <a:rPr sz="1800" b="1" spc="-10" dirty="0">
                <a:latin typeface="Arial"/>
                <a:cs typeface="Arial"/>
              </a:rPr>
              <a:t>O</a:t>
            </a:r>
            <a:r>
              <a:rPr sz="1800" b="1" spc="-5" dirty="0">
                <a:latin typeface="Arial"/>
                <a:cs typeface="Arial"/>
              </a:rPr>
              <a:t>U</a:t>
            </a:r>
            <a:r>
              <a:rPr sz="1800" b="1" dirty="0">
                <a:latin typeface="Arial"/>
                <a:cs typeface="Arial"/>
              </a:rPr>
              <a:t>P  </a:t>
            </a:r>
            <a:r>
              <a:rPr sz="1800" b="1" spc="-5" dirty="0"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  <a:p>
            <a:pPr marL="120650" marR="113030" indent="-1270" algn="ctr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CON- </a:t>
            </a:r>
            <a:r>
              <a:rPr sz="1800" b="1" spc="-49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T</a:t>
            </a:r>
            <a:r>
              <a:rPr sz="1800" b="1" spc="-5" dirty="0">
                <a:latin typeface="Arial"/>
                <a:cs typeface="Arial"/>
              </a:rPr>
              <a:t>ROL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727450" y="4641850"/>
            <a:ext cx="1003300" cy="1536700"/>
            <a:chOff x="3727450" y="4641850"/>
            <a:chExt cx="1003300" cy="1536700"/>
          </a:xfrm>
        </p:grpSpPr>
        <p:sp>
          <p:nvSpPr>
            <p:cNvPr id="27" name="object 27"/>
            <p:cNvSpPr/>
            <p:nvPr/>
          </p:nvSpPr>
          <p:spPr>
            <a:xfrm>
              <a:off x="3733800" y="4648200"/>
              <a:ext cx="990600" cy="1524000"/>
            </a:xfrm>
            <a:custGeom>
              <a:avLst/>
              <a:gdLst/>
              <a:ahLst/>
              <a:cxnLst/>
              <a:rect l="l" t="t" r="r" b="b"/>
              <a:pathLst>
                <a:path w="990600" h="1524000">
                  <a:moveTo>
                    <a:pt x="990600" y="0"/>
                  </a:moveTo>
                  <a:lnTo>
                    <a:pt x="0" y="0"/>
                  </a:lnTo>
                  <a:lnTo>
                    <a:pt x="0" y="1524000"/>
                  </a:lnTo>
                  <a:lnTo>
                    <a:pt x="990600" y="1524000"/>
                  </a:lnTo>
                  <a:lnTo>
                    <a:pt x="99060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733800" y="4648200"/>
              <a:ext cx="990600" cy="1524000"/>
            </a:xfrm>
            <a:custGeom>
              <a:avLst/>
              <a:gdLst/>
              <a:ahLst/>
              <a:cxnLst/>
              <a:rect l="l" t="t" r="r" b="b"/>
              <a:pathLst>
                <a:path w="990600" h="1524000">
                  <a:moveTo>
                    <a:pt x="0" y="0"/>
                  </a:moveTo>
                  <a:lnTo>
                    <a:pt x="990600" y="0"/>
                  </a:lnTo>
                  <a:lnTo>
                    <a:pt x="990600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797172" y="4842764"/>
            <a:ext cx="86423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G</a:t>
            </a:r>
            <a:r>
              <a:rPr sz="1800" b="1" spc="-5" dirty="0">
                <a:latin typeface="Arial"/>
                <a:cs typeface="Arial"/>
              </a:rPr>
              <a:t>R</a:t>
            </a:r>
            <a:r>
              <a:rPr sz="1800" b="1" spc="-10" dirty="0">
                <a:latin typeface="Arial"/>
                <a:cs typeface="Arial"/>
              </a:rPr>
              <a:t>O</a:t>
            </a:r>
            <a:r>
              <a:rPr sz="1800" b="1" spc="-5" dirty="0">
                <a:latin typeface="Arial"/>
                <a:cs typeface="Arial"/>
              </a:rPr>
              <a:t>U</a:t>
            </a:r>
            <a:r>
              <a:rPr sz="1800" b="1" dirty="0">
                <a:latin typeface="Arial"/>
                <a:cs typeface="Arial"/>
              </a:rPr>
              <a:t>P  </a:t>
            </a:r>
            <a:r>
              <a:rPr sz="1800" b="1" spc="-5" dirty="0">
                <a:latin typeface="Arial"/>
                <a:cs typeface="Arial"/>
              </a:rPr>
              <a:t>B</a:t>
            </a:r>
            <a:endParaRPr sz="1800">
              <a:latin typeface="Arial"/>
              <a:cs typeface="Arial"/>
            </a:endParaRPr>
          </a:p>
          <a:p>
            <a:pPr marL="120650" marR="113030" indent="-1270" algn="ctr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CON- </a:t>
            </a:r>
            <a:r>
              <a:rPr sz="1800" b="1" spc="-49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T</a:t>
            </a:r>
            <a:r>
              <a:rPr sz="1800" b="1" spc="-5" dirty="0">
                <a:latin typeface="Arial"/>
                <a:cs typeface="Arial"/>
              </a:rPr>
              <a:t>ROL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670050" y="4184650"/>
            <a:ext cx="1231900" cy="2222500"/>
            <a:chOff x="1670050" y="4184650"/>
            <a:chExt cx="1231900" cy="2222500"/>
          </a:xfrm>
        </p:grpSpPr>
        <p:sp>
          <p:nvSpPr>
            <p:cNvPr id="31" name="object 31"/>
            <p:cNvSpPr/>
            <p:nvPr/>
          </p:nvSpPr>
          <p:spPr>
            <a:xfrm>
              <a:off x="1676400" y="4191000"/>
              <a:ext cx="1219200" cy="2209800"/>
            </a:xfrm>
            <a:custGeom>
              <a:avLst/>
              <a:gdLst/>
              <a:ahLst/>
              <a:cxnLst/>
              <a:rect l="l" t="t" r="r" b="b"/>
              <a:pathLst>
                <a:path w="1219200" h="2209800">
                  <a:moveTo>
                    <a:pt x="1219200" y="0"/>
                  </a:moveTo>
                  <a:lnTo>
                    <a:pt x="0" y="0"/>
                  </a:lnTo>
                  <a:lnTo>
                    <a:pt x="0" y="2209800"/>
                  </a:lnTo>
                  <a:lnTo>
                    <a:pt x="1219200" y="2209800"/>
                  </a:lnTo>
                  <a:lnTo>
                    <a:pt x="121920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676400" y="4191000"/>
              <a:ext cx="1219200" cy="2209800"/>
            </a:xfrm>
            <a:custGeom>
              <a:avLst/>
              <a:gdLst/>
              <a:ahLst/>
              <a:cxnLst/>
              <a:rect l="l" t="t" r="r" b="b"/>
              <a:pathLst>
                <a:path w="1219200" h="2209800">
                  <a:moveTo>
                    <a:pt x="0" y="0"/>
                  </a:moveTo>
                  <a:lnTo>
                    <a:pt x="1219200" y="0"/>
                  </a:lnTo>
                  <a:lnTo>
                    <a:pt x="121920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1678857" y="4728464"/>
            <a:ext cx="115570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8419" algn="ctr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READ/ 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WRITE 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</a:t>
            </a:r>
            <a:r>
              <a:rPr sz="1800" b="1" spc="-10" dirty="0">
                <a:latin typeface="Arial"/>
                <a:cs typeface="Arial"/>
              </a:rPr>
              <a:t>O</a:t>
            </a:r>
            <a:r>
              <a:rPr sz="1800" b="1" spc="-5" dirty="0">
                <a:latin typeface="Arial"/>
                <a:cs typeface="Arial"/>
              </a:rPr>
              <a:t>N</a:t>
            </a:r>
            <a:r>
              <a:rPr sz="1800" b="1" spc="-10" dirty="0">
                <a:latin typeface="Arial"/>
                <a:cs typeface="Arial"/>
              </a:rPr>
              <a:t>T</a:t>
            </a:r>
            <a:r>
              <a:rPr sz="1800" b="1" spc="-5" dirty="0">
                <a:latin typeface="Arial"/>
                <a:cs typeface="Arial"/>
              </a:rPr>
              <a:t>ROL  LOGIC</a:t>
            </a:r>
            <a:endParaRPr sz="18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676400" y="2590800"/>
            <a:ext cx="1219200" cy="1371600"/>
          </a:xfrm>
          <a:prstGeom prst="rect">
            <a:avLst/>
          </a:prstGeom>
          <a:solidFill>
            <a:srgbClr val="DEDEDE"/>
          </a:solidFill>
          <a:ln w="12700">
            <a:solidFill>
              <a:srgbClr val="000000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1800">
              <a:latin typeface="Times New Roman"/>
              <a:cs typeface="Times New Roman"/>
            </a:endParaRPr>
          </a:p>
          <a:p>
            <a:pPr marL="145415" marR="139065" indent="-16510" algn="ctr">
              <a:lnSpc>
                <a:spcPct val="100000"/>
              </a:lnSpc>
            </a:pPr>
            <a:r>
              <a:rPr sz="1800" b="1" spc="-105" dirty="0">
                <a:latin typeface="Arial"/>
                <a:cs typeface="Arial"/>
              </a:rPr>
              <a:t>DATA </a:t>
            </a:r>
            <a:r>
              <a:rPr sz="1800" b="1" spc="-10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BUS 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BUFF</a:t>
            </a:r>
            <a:r>
              <a:rPr sz="1800" b="1" dirty="0">
                <a:latin typeface="Arial"/>
                <a:cs typeface="Arial"/>
              </a:rPr>
              <a:t>E</a:t>
            </a:r>
            <a:r>
              <a:rPr sz="1800" b="1" spc="-5" dirty="0">
                <a:latin typeface="Arial"/>
                <a:cs typeface="Arial"/>
              </a:rPr>
              <a:t>R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50850" y="222250"/>
            <a:ext cx="7785100" cy="6413500"/>
            <a:chOff x="450850" y="222250"/>
            <a:chExt cx="7785100" cy="6413500"/>
          </a:xfrm>
        </p:grpSpPr>
        <p:sp>
          <p:nvSpPr>
            <p:cNvPr id="36" name="object 36"/>
            <p:cNvSpPr/>
            <p:nvPr/>
          </p:nvSpPr>
          <p:spPr>
            <a:xfrm>
              <a:off x="5486400" y="457200"/>
              <a:ext cx="228600" cy="5562600"/>
            </a:xfrm>
            <a:custGeom>
              <a:avLst/>
              <a:gdLst/>
              <a:ahLst/>
              <a:cxnLst/>
              <a:rect l="l" t="t" r="r" b="b"/>
              <a:pathLst>
                <a:path w="228600" h="5562600">
                  <a:moveTo>
                    <a:pt x="228600" y="0"/>
                  </a:moveTo>
                  <a:lnTo>
                    <a:pt x="0" y="0"/>
                  </a:lnTo>
                  <a:lnTo>
                    <a:pt x="0" y="5562600"/>
                  </a:lnTo>
                  <a:lnTo>
                    <a:pt x="228600" y="5562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486400" y="457200"/>
              <a:ext cx="228600" cy="5562600"/>
            </a:xfrm>
            <a:custGeom>
              <a:avLst/>
              <a:gdLst/>
              <a:ahLst/>
              <a:cxnLst/>
              <a:rect l="l" t="t" r="r" b="b"/>
              <a:pathLst>
                <a:path w="228600" h="5562600">
                  <a:moveTo>
                    <a:pt x="0" y="0"/>
                  </a:moveTo>
                  <a:lnTo>
                    <a:pt x="228600" y="0"/>
                  </a:lnTo>
                  <a:lnTo>
                    <a:pt x="228600" y="5562600"/>
                  </a:lnTo>
                  <a:lnTo>
                    <a:pt x="0" y="55626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724400" y="1066800"/>
              <a:ext cx="762000" cy="381000"/>
            </a:xfrm>
            <a:custGeom>
              <a:avLst/>
              <a:gdLst/>
              <a:ahLst/>
              <a:cxnLst/>
              <a:rect l="l" t="t" r="r" b="b"/>
              <a:pathLst>
                <a:path w="762000" h="381000">
                  <a:moveTo>
                    <a:pt x="190500" y="0"/>
                  </a:moveTo>
                  <a:lnTo>
                    <a:pt x="0" y="190500"/>
                  </a:lnTo>
                  <a:lnTo>
                    <a:pt x="190500" y="381000"/>
                  </a:lnTo>
                  <a:lnTo>
                    <a:pt x="190500" y="285750"/>
                  </a:lnTo>
                  <a:lnTo>
                    <a:pt x="762000" y="285750"/>
                  </a:lnTo>
                  <a:lnTo>
                    <a:pt x="762000" y="95250"/>
                  </a:lnTo>
                  <a:lnTo>
                    <a:pt x="190500" y="95250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724400" y="1066800"/>
              <a:ext cx="762000" cy="381000"/>
            </a:xfrm>
            <a:custGeom>
              <a:avLst/>
              <a:gdLst/>
              <a:ahLst/>
              <a:cxnLst/>
              <a:rect l="l" t="t" r="r" b="b"/>
              <a:pathLst>
                <a:path w="762000" h="381000">
                  <a:moveTo>
                    <a:pt x="0" y="190500"/>
                  </a:moveTo>
                  <a:lnTo>
                    <a:pt x="190500" y="0"/>
                  </a:lnTo>
                  <a:lnTo>
                    <a:pt x="190500" y="95250"/>
                  </a:lnTo>
                  <a:lnTo>
                    <a:pt x="762000" y="95250"/>
                  </a:lnTo>
                  <a:lnTo>
                    <a:pt x="762000" y="285750"/>
                  </a:lnTo>
                  <a:lnTo>
                    <a:pt x="190500" y="285750"/>
                  </a:lnTo>
                  <a:lnTo>
                    <a:pt x="190500" y="381000"/>
                  </a:lnTo>
                  <a:lnTo>
                    <a:pt x="0" y="1905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724400" y="5181600"/>
              <a:ext cx="762000" cy="381000"/>
            </a:xfrm>
            <a:custGeom>
              <a:avLst/>
              <a:gdLst/>
              <a:ahLst/>
              <a:cxnLst/>
              <a:rect l="l" t="t" r="r" b="b"/>
              <a:pathLst>
                <a:path w="762000" h="381000">
                  <a:moveTo>
                    <a:pt x="190500" y="0"/>
                  </a:moveTo>
                  <a:lnTo>
                    <a:pt x="0" y="190500"/>
                  </a:lnTo>
                  <a:lnTo>
                    <a:pt x="190500" y="381000"/>
                  </a:lnTo>
                  <a:lnTo>
                    <a:pt x="190500" y="285750"/>
                  </a:lnTo>
                  <a:lnTo>
                    <a:pt x="762000" y="285750"/>
                  </a:lnTo>
                  <a:lnTo>
                    <a:pt x="762000" y="95250"/>
                  </a:lnTo>
                  <a:lnTo>
                    <a:pt x="190500" y="95250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724400" y="5181600"/>
              <a:ext cx="762000" cy="381000"/>
            </a:xfrm>
            <a:custGeom>
              <a:avLst/>
              <a:gdLst/>
              <a:ahLst/>
              <a:cxnLst/>
              <a:rect l="l" t="t" r="r" b="b"/>
              <a:pathLst>
                <a:path w="762000" h="381000">
                  <a:moveTo>
                    <a:pt x="0" y="190500"/>
                  </a:moveTo>
                  <a:lnTo>
                    <a:pt x="190500" y="0"/>
                  </a:lnTo>
                  <a:lnTo>
                    <a:pt x="190500" y="95250"/>
                  </a:lnTo>
                  <a:lnTo>
                    <a:pt x="762000" y="95250"/>
                  </a:lnTo>
                  <a:lnTo>
                    <a:pt x="762000" y="285750"/>
                  </a:lnTo>
                  <a:lnTo>
                    <a:pt x="190500" y="285750"/>
                  </a:lnTo>
                  <a:lnTo>
                    <a:pt x="190500" y="381000"/>
                  </a:lnTo>
                  <a:lnTo>
                    <a:pt x="0" y="1905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895600" y="3124200"/>
              <a:ext cx="2590800" cy="304800"/>
            </a:xfrm>
            <a:custGeom>
              <a:avLst/>
              <a:gdLst/>
              <a:ahLst/>
              <a:cxnLst/>
              <a:rect l="l" t="t" r="r" b="b"/>
              <a:pathLst>
                <a:path w="2590800" h="304800">
                  <a:moveTo>
                    <a:pt x="2072639" y="0"/>
                  </a:moveTo>
                  <a:lnTo>
                    <a:pt x="2072639" y="76200"/>
                  </a:lnTo>
                  <a:lnTo>
                    <a:pt x="518159" y="76200"/>
                  </a:lnTo>
                  <a:lnTo>
                    <a:pt x="518159" y="0"/>
                  </a:lnTo>
                  <a:lnTo>
                    <a:pt x="0" y="152400"/>
                  </a:lnTo>
                  <a:lnTo>
                    <a:pt x="518159" y="304800"/>
                  </a:lnTo>
                  <a:lnTo>
                    <a:pt x="518159" y="228600"/>
                  </a:lnTo>
                  <a:lnTo>
                    <a:pt x="2072639" y="228600"/>
                  </a:lnTo>
                  <a:lnTo>
                    <a:pt x="2072639" y="304800"/>
                  </a:lnTo>
                  <a:lnTo>
                    <a:pt x="2590800" y="152400"/>
                  </a:lnTo>
                  <a:lnTo>
                    <a:pt x="2072639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895600" y="3124200"/>
              <a:ext cx="2590800" cy="304800"/>
            </a:xfrm>
            <a:custGeom>
              <a:avLst/>
              <a:gdLst/>
              <a:ahLst/>
              <a:cxnLst/>
              <a:rect l="l" t="t" r="r" b="b"/>
              <a:pathLst>
                <a:path w="2590800" h="304800">
                  <a:moveTo>
                    <a:pt x="0" y="152400"/>
                  </a:moveTo>
                  <a:lnTo>
                    <a:pt x="518159" y="0"/>
                  </a:lnTo>
                  <a:lnTo>
                    <a:pt x="518159" y="76200"/>
                  </a:lnTo>
                  <a:lnTo>
                    <a:pt x="2072639" y="76200"/>
                  </a:lnTo>
                  <a:lnTo>
                    <a:pt x="2072639" y="0"/>
                  </a:lnTo>
                  <a:lnTo>
                    <a:pt x="2590800" y="152400"/>
                  </a:lnTo>
                  <a:lnTo>
                    <a:pt x="2072639" y="304800"/>
                  </a:lnTo>
                  <a:lnTo>
                    <a:pt x="2072639" y="228600"/>
                  </a:lnTo>
                  <a:lnTo>
                    <a:pt x="518159" y="228600"/>
                  </a:lnTo>
                  <a:lnTo>
                    <a:pt x="518159" y="304800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715000" y="838200"/>
              <a:ext cx="762000" cy="304800"/>
            </a:xfrm>
            <a:custGeom>
              <a:avLst/>
              <a:gdLst/>
              <a:ahLst/>
              <a:cxnLst/>
              <a:rect l="l" t="t" r="r" b="b"/>
              <a:pathLst>
                <a:path w="762000" h="304800">
                  <a:moveTo>
                    <a:pt x="609600" y="0"/>
                  </a:moveTo>
                  <a:lnTo>
                    <a:pt x="609600" y="76200"/>
                  </a:lnTo>
                  <a:lnTo>
                    <a:pt x="152400" y="76200"/>
                  </a:lnTo>
                  <a:lnTo>
                    <a:pt x="152400" y="0"/>
                  </a:lnTo>
                  <a:lnTo>
                    <a:pt x="0" y="152400"/>
                  </a:lnTo>
                  <a:lnTo>
                    <a:pt x="152400" y="304800"/>
                  </a:lnTo>
                  <a:lnTo>
                    <a:pt x="152400" y="228600"/>
                  </a:lnTo>
                  <a:lnTo>
                    <a:pt x="609600" y="228600"/>
                  </a:lnTo>
                  <a:lnTo>
                    <a:pt x="609600" y="304800"/>
                  </a:lnTo>
                  <a:lnTo>
                    <a:pt x="762000" y="1524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715000" y="838200"/>
              <a:ext cx="762000" cy="304800"/>
            </a:xfrm>
            <a:custGeom>
              <a:avLst/>
              <a:gdLst/>
              <a:ahLst/>
              <a:cxnLst/>
              <a:rect l="l" t="t" r="r" b="b"/>
              <a:pathLst>
                <a:path w="762000" h="304800">
                  <a:moveTo>
                    <a:pt x="0" y="152400"/>
                  </a:moveTo>
                  <a:lnTo>
                    <a:pt x="152400" y="0"/>
                  </a:lnTo>
                  <a:lnTo>
                    <a:pt x="152400" y="76200"/>
                  </a:lnTo>
                  <a:lnTo>
                    <a:pt x="609600" y="76200"/>
                  </a:lnTo>
                  <a:lnTo>
                    <a:pt x="609600" y="0"/>
                  </a:lnTo>
                  <a:lnTo>
                    <a:pt x="762000" y="152400"/>
                  </a:lnTo>
                  <a:lnTo>
                    <a:pt x="609600" y="304800"/>
                  </a:lnTo>
                  <a:lnTo>
                    <a:pt x="609600" y="228600"/>
                  </a:lnTo>
                  <a:lnTo>
                    <a:pt x="152400" y="228600"/>
                  </a:lnTo>
                  <a:lnTo>
                    <a:pt x="152400" y="304800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715000" y="2514600"/>
              <a:ext cx="762000" cy="304800"/>
            </a:xfrm>
            <a:custGeom>
              <a:avLst/>
              <a:gdLst/>
              <a:ahLst/>
              <a:cxnLst/>
              <a:rect l="l" t="t" r="r" b="b"/>
              <a:pathLst>
                <a:path w="762000" h="304800">
                  <a:moveTo>
                    <a:pt x="609600" y="0"/>
                  </a:moveTo>
                  <a:lnTo>
                    <a:pt x="609600" y="76200"/>
                  </a:lnTo>
                  <a:lnTo>
                    <a:pt x="152400" y="76200"/>
                  </a:lnTo>
                  <a:lnTo>
                    <a:pt x="152400" y="0"/>
                  </a:lnTo>
                  <a:lnTo>
                    <a:pt x="0" y="152400"/>
                  </a:lnTo>
                  <a:lnTo>
                    <a:pt x="152400" y="304800"/>
                  </a:lnTo>
                  <a:lnTo>
                    <a:pt x="152400" y="228600"/>
                  </a:lnTo>
                  <a:lnTo>
                    <a:pt x="609600" y="228600"/>
                  </a:lnTo>
                  <a:lnTo>
                    <a:pt x="609600" y="304800"/>
                  </a:lnTo>
                  <a:lnTo>
                    <a:pt x="762000" y="1524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715000" y="2514600"/>
              <a:ext cx="762000" cy="304800"/>
            </a:xfrm>
            <a:custGeom>
              <a:avLst/>
              <a:gdLst/>
              <a:ahLst/>
              <a:cxnLst/>
              <a:rect l="l" t="t" r="r" b="b"/>
              <a:pathLst>
                <a:path w="762000" h="304800">
                  <a:moveTo>
                    <a:pt x="0" y="152400"/>
                  </a:moveTo>
                  <a:lnTo>
                    <a:pt x="152400" y="0"/>
                  </a:lnTo>
                  <a:lnTo>
                    <a:pt x="152400" y="76200"/>
                  </a:lnTo>
                  <a:lnTo>
                    <a:pt x="609600" y="76200"/>
                  </a:lnTo>
                  <a:lnTo>
                    <a:pt x="609600" y="0"/>
                  </a:lnTo>
                  <a:lnTo>
                    <a:pt x="762000" y="152400"/>
                  </a:lnTo>
                  <a:lnTo>
                    <a:pt x="609600" y="304800"/>
                  </a:lnTo>
                  <a:lnTo>
                    <a:pt x="609600" y="228600"/>
                  </a:lnTo>
                  <a:lnTo>
                    <a:pt x="152400" y="228600"/>
                  </a:lnTo>
                  <a:lnTo>
                    <a:pt x="152400" y="304800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715000" y="3810000"/>
              <a:ext cx="762000" cy="304800"/>
            </a:xfrm>
            <a:custGeom>
              <a:avLst/>
              <a:gdLst/>
              <a:ahLst/>
              <a:cxnLst/>
              <a:rect l="l" t="t" r="r" b="b"/>
              <a:pathLst>
                <a:path w="762000" h="304800">
                  <a:moveTo>
                    <a:pt x="609600" y="0"/>
                  </a:moveTo>
                  <a:lnTo>
                    <a:pt x="609600" y="76200"/>
                  </a:lnTo>
                  <a:lnTo>
                    <a:pt x="152400" y="76200"/>
                  </a:lnTo>
                  <a:lnTo>
                    <a:pt x="152400" y="0"/>
                  </a:lnTo>
                  <a:lnTo>
                    <a:pt x="0" y="152400"/>
                  </a:lnTo>
                  <a:lnTo>
                    <a:pt x="152400" y="304800"/>
                  </a:lnTo>
                  <a:lnTo>
                    <a:pt x="152400" y="228600"/>
                  </a:lnTo>
                  <a:lnTo>
                    <a:pt x="609600" y="228600"/>
                  </a:lnTo>
                  <a:lnTo>
                    <a:pt x="609600" y="304800"/>
                  </a:lnTo>
                  <a:lnTo>
                    <a:pt x="762000" y="1524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715000" y="3810000"/>
              <a:ext cx="762000" cy="304800"/>
            </a:xfrm>
            <a:custGeom>
              <a:avLst/>
              <a:gdLst/>
              <a:ahLst/>
              <a:cxnLst/>
              <a:rect l="l" t="t" r="r" b="b"/>
              <a:pathLst>
                <a:path w="762000" h="304800">
                  <a:moveTo>
                    <a:pt x="0" y="152400"/>
                  </a:moveTo>
                  <a:lnTo>
                    <a:pt x="152400" y="0"/>
                  </a:lnTo>
                  <a:lnTo>
                    <a:pt x="152400" y="76200"/>
                  </a:lnTo>
                  <a:lnTo>
                    <a:pt x="609600" y="76200"/>
                  </a:lnTo>
                  <a:lnTo>
                    <a:pt x="609600" y="0"/>
                  </a:lnTo>
                  <a:lnTo>
                    <a:pt x="762000" y="152400"/>
                  </a:lnTo>
                  <a:lnTo>
                    <a:pt x="609600" y="304800"/>
                  </a:lnTo>
                  <a:lnTo>
                    <a:pt x="609600" y="228600"/>
                  </a:lnTo>
                  <a:lnTo>
                    <a:pt x="152400" y="228600"/>
                  </a:lnTo>
                  <a:lnTo>
                    <a:pt x="152400" y="304800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715000" y="5410200"/>
              <a:ext cx="762000" cy="304800"/>
            </a:xfrm>
            <a:custGeom>
              <a:avLst/>
              <a:gdLst/>
              <a:ahLst/>
              <a:cxnLst/>
              <a:rect l="l" t="t" r="r" b="b"/>
              <a:pathLst>
                <a:path w="762000" h="304800">
                  <a:moveTo>
                    <a:pt x="609600" y="0"/>
                  </a:moveTo>
                  <a:lnTo>
                    <a:pt x="609600" y="76200"/>
                  </a:lnTo>
                  <a:lnTo>
                    <a:pt x="152400" y="76200"/>
                  </a:lnTo>
                  <a:lnTo>
                    <a:pt x="152400" y="0"/>
                  </a:lnTo>
                  <a:lnTo>
                    <a:pt x="0" y="152400"/>
                  </a:lnTo>
                  <a:lnTo>
                    <a:pt x="152400" y="304800"/>
                  </a:lnTo>
                  <a:lnTo>
                    <a:pt x="152400" y="228600"/>
                  </a:lnTo>
                  <a:lnTo>
                    <a:pt x="609600" y="228600"/>
                  </a:lnTo>
                  <a:lnTo>
                    <a:pt x="609600" y="304800"/>
                  </a:lnTo>
                  <a:lnTo>
                    <a:pt x="762000" y="1524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715000" y="5410200"/>
              <a:ext cx="762000" cy="304800"/>
            </a:xfrm>
            <a:custGeom>
              <a:avLst/>
              <a:gdLst/>
              <a:ahLst/>
              <a:cxnLst/>
              <a:rect l="l" t="t" r="r" b="b"/>
              <a:pathLst>
                <a:path w="762000" h="304800">
                  <a:moveTo>
                    <a:pt x="0" y="152400"/>
                  </a:moveTo>
                  <a:lnTo>
                    <a:pt x="152400" y="0"/>
                  </a:lnTo>
                  <a:lnTo>
                    <a:pt x="152400" y="76200"/>
                  </a:lnTo>
                  <a:lnTo>
                    <a:pt x="609600" y="76200"/>
                  </a:lnTo>
                  <a:lnTo>
                    <a:pt x="609600" y="0"/>
                  </a:lnTo>
                  <a:lnTo>
                    <a:pt x="762000" y="152400"/>
                  </a:lnTo>
                  <a:lnTo>
                    <a:pt x="609600" y="304800"/>
                  </a:lnTo>
                  <a:lnTo>
                    <a:pt x="609600" y="228600"/>
                  </a:lnTo>
                  <a:lnTo>
                    <a:pt x="152400" y="228600"/>
                  </a:lnTo>
                  <a:lnTo>
                    <a:pt x="152400" y="304800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7467600" y="2514600"/>
              <a:ext cx="762000" cy="304800"/>
            </a:xfrm>
            <a:custGeom>
              <a:avLst/>
              <a:gdLst/>
              <a:ahLst/>
              <a:cxnLst/>
              <a:rect l="l" t="t" r="r" b="b"/>
              <a:pathLst>
                <a:path w="762000" h="304800">
                  <a:moveTo>
                    <a:pt x="609600" y="0"/>
                  </a:moveTo>
                  <a:lnTo>
                    <a:pt x="609600" y="76200"/>
                  </a:lnTo>
                  <a:lnTo>
                    <a:pt x="152400" y="76200"/>
                  </a:lnTo>
                  <a:lnTo>
                    <a:pt x="152400" y="0"/>
                  </a:lnTo>
                  <a:lnTo>
                    <a:pt x="0" y="152400"/>
                  </a:lnTo>
                  <a:lnTo>
                    <a:pt x="152400" y="304800"/>
                  </a:lnTo>
                  <a:lnTo>
                    <a:pt x="152400" y="228600"/>
                  </a:lnTo>
                  <a:lnTo>
                    <a:pt x="609600" y="228600"/>
                  </a:lnTo>
                  <a:lnTo>
                    <a:pt x="609600" y="304800"/>
                  </a:lnTo>
                  <a:lnTo>
                    <a:pt x="762000" y="1524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7467600" y="2514600"/>
              <a:ext cx="762000" cy="304800"/>
            </a:xfrm>
            <a:custGeom>
              <a:avLst/>
              <a:gdLst/>
              <a:ahLst/>
              <a:cxnLst/>
              <a:rect l="l" t="t" r="r" b="b"/>
              <a:pathLst>
                <a:path w="762000" h="304800">
                  <a:moveTo>
                    <a:pt x="0" y="152400"/>
                  </a:moveTo>
                  <a:lnTo>
                    <a:pt x="152400" y="0"/>
                  </a:lnTo>
                  <a:lnTo>
                    <a:pt x="152400" y="76200"/>
                  </a:lnTo>
                  <a:lnTo>
                    <a:pt x="609600" y="76200"/>
                  </a:lnTo>
                  <a:lnTo>
                    <a:pt x="609600" y="0"/>
                  </a:lnTo>
                  <a:lnTo>
                    <a:pt x="762000" y="152400"/>
                  </a:lnTo>
                  <a:lnTo>
                    <a:pt x="609600" y="304800"/>
                  </a:lnTo>
                  <a:lnTo>
                    <a:pt x="609600" y="228600"/>
                  </a:lnTo>
                  <a:lnTo>
                    <a:pt x="152400" y="228600"/>
                  </a:lnTo>
                  <a:lnTo>
                    <a:pt x="152400" y="304800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467600" y="5410200"/>
              <a:ext cx="762000" cy="304800"/>
            </a:xfrm>
            <a:custGeom>
              <a:avLst/>
              <a:gdLst/>
              <a:ahLst/>
              <a:cxnLst/>
              <a:rect l="l" t="t" r="r" b="b"/>
              <a:pathLst>
                <a:path w="762000" h="304800">
                  <a:moveTo>
                    <a:pt x="609600" y="0"/>
                  </a:moveTo>
                  <a:lnTo>
                    <a:pt x="609600" y="76200"/>
                  </a:lnTo>
                  <a:lnTo>
                    <a:pt x="152400" y="76200"/>
                  </a:lnTo>
                  <a:lnTo>
                    <a:pt x="152400" y="0"/>
                  </a:lnTo>
                  <a:lnTo>
                    <a:pt x="0" y="152400"/>
                  </a:lnTo>
                  <a:lnTo>
                    <a:pt x="152400" y="304800"/>
                  </a:lnTo>
                  <a:lnTo>
                    <a:pt x="152400" y="228600"/>
                  </a:lnTo>
                  <a:lnTo>
                    <a:pt x="609600" y="228600"/>
                  </a:lnTo>
                  <a:lnTo>
                    <a:pt x="609600" y="304800"/>
                  </a:lnTo>
                  <a:lnTo>
                    <a:pt x="762000" y="1524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7467600" y="5410200"/>
              <a:ext cx="762000" cy="304800"/>
            </a:xfrm>
            <a:custGeom>
              <a:avLst/>
              <a:gdLst/>
              <a:ahLst/>
              <a:cxnLst/>
              <a:rect l="l" t="t" r="r" b="b"/>
              <a:pathLst>
                <a:path w="762000" h="304800">
                  <a:moveTo>
                    <a:pt x="0" y="152400"/>
                  </a:moveTo>
                  <a:lnTo>
                    <a:pt x="152400" y="0"/>
                  </a:lnTo>
                  <a:lnTo>
                    <a:pt x="152400" y="76200"/>
                  </a:lnTo>
                  <a:lnTo>
                    <a:pt x="609600" y="76200"/>
                  </a:lnTo>
                  <a:lnTo>
                    <a:pt x="609600" y="0"/>
                  </a:lnTo>
                  <a:lnTo>
                    <a:pt x="762000" y="152400"/>
                  </a:lnTo>
                  <a:lnTo>
                    <a:pt x="609600" y="304800"/>
                  </a:lnTo>
                  <a:lnTo>
                    <a:pt x="609600" y="228600"/>
                  </a:lnTo>
                  <a:lnTo>
                    <a:pt x="152400" y="228600"/>
                  </a:lnTo>
                  <a:lnTo>
                    <a:pt x="152400" y="304800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467600" y="3810000"/>
              <a:ext cx="762000" cy="304800"/>
            </a:xfrm>
            <a:custGeom>
              <a:avLst/>
              <a:gdLst/>
              <a:ahLst/>
              <a:cxnLst/>
              <a:rect l="l" t="t" r="r" b="b"/>
              <a:pathLst>
                <a:path w="762000" h="304800">
                  <a:moveTo>
                    <a:pt x="609600" y="0"/>
                  </a:moveTo>
                  <a:lnTo>
                    <a:pt x="609600" y="76200"/>
                  </a:lnTo>
                  <a:lnTo>
                    <a:pt x="152400" y="76200"/>
                  </a:lnTo>
                  <a:lnTo>
                    <a:pt x="152400" y="0"/>
                  </a:lnTo>
                  <a:lnTo>
                    <a:pt x="0" y="152400"/>
                  </a:lnTo>
                  <a:lnTo>
                    <a:pt x="152400" y="304800"/>
                  </a:lnTo>
                  <a:lnTo>
                    <a:pt x="152400" y="228600"/>
                  </a:lnTo>
                  <a:lnTo>
                    <a:pt x="609600" y="228600"/>
                  </a:lnTo>
                  <a:lnTo>
                    <a:pt x="609600" y="304800"/>
                  </a:lnTo>
                  <a:lnTo>
                    <a:pt x="762000" y="1524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467600" y="3810000"/>
              <a:ext cx="762000" cy="304800"/>
            </a:xfrm>
            <a:custGeom>
              <a:avLst/>
              <a:gdLst/>
              <a:ahLst/>
              <a:cxnLst/>
              <a:rect l="l" t="t" r="r" b="b"/>
              <a:pathLst>
                <a:path w="762000" h="304800">
                  <a:moveTo>
                    <a:pt x="0" y="152400"/>
                  </a:moveTo>
                  <a:lnTo>
                    <a:pt x="152400" y="0"/>
                  </a:lnTo>
                  <a:lnTo>
                    <a:pt x="152400" y="76200"/>
                  </a:lnTo>
                  <a:lnTo>
                    <a:pt x="609600" y="76200"/>
                  </a:lnTo>
                  <a:lnTo>
                    <a:pt x="609600" y="0"/>
                  </a:lnTo>
                  <a:lnTo>
                    <a:pt x="762000" y="152400"/>
                  </a:lnTo>
                  <a:lnTo>
                    <a:pt x="609600" y="304800"/>
                  </a:lnTo>
                  <a:lnTo>
                    <a:pt x="609600" y="228600"/>
                  </a:lnTo>
                  <a:lnTo>
                    <a:pt x="152400" y="228600"/>
                  </a:lnTo>
                  <a:lnTo>
                    <a:pt x="152400" y="304800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7467600" y="838200"/>
              <a:ext cx="762000" cy="304800"/>
            </a:xfrm>
            <a:custGeom>
              <a:avLst/>
              <a:gdLst/>
              <a:ahLst/>
              <a:cxnLst/>
              <a:rect l="l" t="t" r="r" b="b"/>
              <a:pathLst>
                <a:path w="762000" h="304800">
                  <a:moveTo>
                    <a:pt x="609600" y="0"/>
                  </a:moveTo>
                  <a:lnTo>
                    <a:pt x="609600" y="76200"/>
                  </a:lnTo>
                  <a:lnTo>
                    <a:pt x="152400" y="76200"/>
                  </a:lnTo>
                  <a:lnTo>
                    <a:pt x="152400" y="0"/>
                  </a:lnTo>
                  <a:lnTo>
                    <a:pt x="0" y="152400"/>
                  </a:lnTo>
                  <a:lnTo>
                    <a:pt x="152400" y="304800"/>
                  </a:lnTo>
                  <a:lnTo>
                    <a:pt x="152400" y="228600"/>
                  </a:lnTo>
                  <a:lnTo>
                    <a:pt x="609600" y="228600"/>
                  </a:lnTo>
                  <a:lnTo>
                    <a:pt x="609600" y="304800"/>
                  </a:lnTo>
                  <a:lnTo>
                    <a:pt x="762000" y="1524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467600" y="838200"/>
              <a:ext cx="762000" cy="304800"/>
            </a:xfrm>
            <a:custGeom>
              <a:avLst/>
              <a:gdLst/>
              <a:ahLst/>
              <a:cxnLst/>
              <a:rect l="l" t="t" r="r" b="b"/>
              <a:pathLst>
                <a:path w="762000" h="304800">
                  <a:moveTo>
                    <a:pt x="0" y="152400"/>
                  </a:moveTo>
                  <a:lnTo>
                    <a:pt x="152400" y="0"/>
                  </a:lnTo>
                  <a:lnTo>
                    <a:pt x="152400" y="76200"/>
                  </a:lnTo>
                  <a:lnTo>
                    <a:pt x="609600" y="76200"/>
                  </a:lnTo>
                  <a:lnTo>
                    <a:pt x="609600" y="0"/>
                  </a:lnTo>
                  <a:lnTo>
                    <a:pt x="762000" y="152400"/>
                  </a:lnTo>
                  <a:lnTo>
                    <a:pt x="609600" y="304800"/>
                  </a:lnTo>
                  <a:lnTo>
                    <a:pt x="609600" y="228600"/>
                  </a:lnTo>
                  <a:lnTo>
                    <a:pt x="152400" y="228600"/>
                  </a:lnTo>
                  <a:lnTo>
                    <a:pt x="152400" y="304800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7200" y="5867400"/>
              <a:ext cx="1155700" cy="0"/>
            </a:xfrm>
            <a:custGeom>
              <a:avLst/>
              <a:gdLst/>
              <a:ahLst/>
              <a:cxnLst/>
              <a:rect l="l" t="t" r="r" b="b"/>
              <a:pathLst>
                <a:path w="1155700">
                  <a:moveTo>
                    <a:pt x="0" y="0"/>
                  </a:moveTo>
                  <a:lnTo>
                    <a:pt x="11557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600201" y="58292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199"/>
                  </a:lnTo>
                  <a:lnTo>
                    <a:pt x="76200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57200" y="5638800"/>
              <a:ext cx="1155700" cy="0"/>
            </a:xfrm>
            <a:custGeom>
              <a:avLst/>
              <a:gdLst/>
              <a:ahLst/>
              <a:cxnLst/>
              <a:rect l="l" t="t" r="r" b="b"/>
              <a:pathLst>
                <a:path w="1155700">
                  <a:moveTo>
                    <a:pt x="0" y="0"/>
                  </a:moveTo>
                  <a:lnTo>
                    <a:pt x="11557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600201" y="56006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199"/>
                  </a:lnTo>
                  <a:lnTo>
                    <a:pt x="76200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57200" y="5410200"/>
              <a:ext cx="1155700" cy="0"/>
            </a:xfrm>
            <a:custGeom>
              <a:avLst/>
              <a:gdLst/>
              <a:ahLst/>
              <a:cxnLst/>
              <a:rect l="l" t="t" r="r" b="b"/>
              <a:pathLst>
                <a:path w="1155700">
                  <a:moveTo>
                    <a:pt x="0" y="0"/>
                  </a:moveTo>
                  <a:lnTo>
                    <a:pt x="11557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600201" y="53720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199"/>
                  </a:lnTo>
                  <a:lnTo>
                    <a:pt x="76200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57200" y="5181600"/>
              <a:ext cx="1079500" cy="0"/>
            </a:xfrm>
            <a:custGeom>
              <a:avLst/>
              <a:gdLst/>
              <a:ahLst/>
              <a:cxnLst/>
              <a:rect l="l" t="t" r="r" b="b"/>
              <a:pathLst>
                <a:path w="1079500">
                  <a:moveTo>
                    <a:pt x="0" y="0"/>
                  </a:moveTo>
                  <a:lnTo>
                    <a:pt x="10795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24001" y="5143496"/>
              <a:ext cx="158748" cy="120653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457200" y="4876800"/>
              <a:ext cx="1079500" cy="0"/>
            </a:xfrm>
            <a:custGeom>
              <a:avLst/>
              <a:gdLst/>
              <a:ahLst/>
              <a:cxnLst/>
              <a:rect l="l" t="t" r="r" b="b"/>
              <a:pathLst>
                <a:path w="1079500">
                  <a:moveTo>
                    <a:pt x="0" y="0"/>
                  </a:moveTo>
                  <a:lnTo>
                    <a:pt x="10795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524001" y="48386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203450" y="6394450"/>
              <a:ext cx="88900" cy="88900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1600200" y="48768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23268" y="2993"/>
                  </a:lnTo>
                  <a:lnTo>
                    <a:pt x="11158" y="11158"/>
                  </a:lnTo>
                  <a:lnTo>
                    <a:pt x="2993" y="23268"/>
                  </a:lnTo>
                  <a:lnTo>
                    <a:pt x="0" y="38100"/>
                  </a:lnTo>
                  <a:lnTo>
                    <a:pt x="2993" y="52931"/>
                  </a:lnTo>
                  <a:lnTo>
                    <a:pt x="11158" y="65041"/>
                  </a:lnTo>
                  <a:lnTo>
                    <a:pt x="23268" y="73206"/>
                  </a:lnTo>
                  <a:lnTo>
                    <a:pt x="38100" y="76200"/>
                  </a:lnTo>
                  <a:lnTo>
                    <a:pt x="52931" y="73206"/>
                  </a:lnTo>
                  <a:lnTo>
                    <a:pt x="65041" y="65041"/>
                  </a:lnTo>
                  <a:lnTo>
                    <a:pt x="73206" y="52931"/>
                  </a:lnTo>
                  <a:lnTo>
                    <a:pt x="76200" y="38100"/>
                  </a:lnTo>
                  <a:lnTo>
                    <a:pt x="73206" y="23268"/>
                  </a:lnTo>
                  <a:lnTo>
                    <a:pt x="65041" y="11158"/>
                  </a:lnTo>
                  <a:lnTo>
                    <a:pt x="52931" y="2993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1600200" y="48768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38100"/>
                  </a:moveTo>
                  <a:lnTo>
                    <a:pt x="2993" y="23268"/>
                  </a:lnTo>
                  <a:lnTo>
                    <a:pt x="11158" y="11158"/>
                  </a:lnTo>
                  <a:lnTo>
                    <a:pt x="23268" y="2993"/>
                  </a:lnTo>
                  <a:lnTo>
                    <a:pt x="38100" y="0"/>
                  </a:lnTo>
                  <a:lnTo>
                    <a:pt x="52931" y="2993"/>
                  </a:lnTo>
                  <a:lnTo>
                    <a:pt x="65041" y="11158"/>
                  </a:lnTo>
                  <a:lnTo>
                    <a:pt x="73206" y="23268"/>
                  </a:lnTo>
                  <a:lnTo>
                    <a:pt x="76200" y="38100"/>
                  </a:lnTo>
                  <a:lnTo>
                    <a:pt x="73206" y="52931"/>
                  </a:lnTo>
                  <a:lnTo>
                    <a:pt x="65041" y="65041"/>
                  </a:lnTo>
                  <a:lnTo>
                    <a:pt x="52931" y="73206"/>
                  </a:lnTo>
                  <a:lnTo>
                    <a:pt x="38100" y="76200"/>
                  </a:lnTo>
                  <a:lnTo>
                    <a:pt x="23268" y="73206"/>
                  </a:lnTo>
                  <a:lnTo>
                    <a:pt x="11158" y="65041"/>
                  </a:lnTo>
                  <a:lnTo>
                    <a:pt x="2993" y="52931"/>
                  </a:lnTo>
                  <a:lnTo>
                    <a:pt x="0" y="381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2209800" y="4025900"/>
              <a:ext cx="0" cy="165100"/>
            </a:xfrm>
            <a:custGeom>
              <a:avLst/>
              <a:gdLst/>
              <a:ahLst/>
              <a:cxnLst/>
              <a:rect l="l" t="t" r="r" b="b"/>
              <a:pathLst>
                <a:path h="165100">
                  <a:moveTo>
                    <a:pt x="0" y="1651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2171706" y="396240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087" y="0"/>
                  </a:moveTo>
                  <a:lnTo>
                    <a:pt x="0" y="76199"/>
                  </a:lnTo>
                  <a:lnTo>
                    <a:pt x="76200" y="76187"/>
                  </a:lnTo>
                  <a:lnTo>
                    <a:pt x="380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2895600" y="5334000"/>
              <a:ext cx="774700" cy="0"/>
            </a:xfrm>
            <a:custGeom>
              <a:avLst/>
              <a:gdLst/>
              <a:ahLst/>
              <a:cxnLst/>
              <a:rect l="l" t="t" r="r" b="b"/>
              <a:pathLst>
                <a:path w="774700">
                  <a:moveTo>
                    <a:pt x="0" y="0"/>
                  </a:moveTo>
                  <a:lnTo>
                    <a:pt x="7747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3657602" y="52958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199"/>
                  </a:lnTo>
                  <a:lnTo>
                    <a:pt x="76200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3200400" y="3352800"/>
              <a:ext cx="0" cy="1981200"/>
            </a:xfrm>
            <a:custGeom>
              <a:avLst/>
              <a:gdLst/>
              <a:ahLst/>
              <a:cxnLst/>
              <a:rect l="l" t="t" r="r" b="b"/>
              <a:pathLst>
                <a:path h="1981200">
                  <a:moveTo>
                    <a:pt x="0" y="19812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3200400" y="1295400"/>
              <a:ext cx="0" cy="1905000"/>
            </a:xfrm>
            <a:custGeom>
              <a:avLst/>
              <a:gdLst/>
              <a:ahLst/>
              <a:cxnLst/>
              <a:rect l="l" t="t" r="r" b="b"/>
              <a:pathLst>
                <a:path h="1905000">
                  <a:moveTo>
                    <a:pt x="0" y="19050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3200400" y="1295400"/>
              <a:ext cx="469900" cy="0"/>
            </a:xfrm>
            <a:custGeom>
              <a:avLst/>
              <a:gdLst/>
              <a:ahLst/>
              <a:cxnLst/>
              <a:rect l="l" t="t" r="r" b="b"/>
              <a:pathLst>
                <a:path w="469900">
                  <a:moveTo>
                    <a:pt x="0" y="0"/>
                  </a:moveTo>
                  <a:lnTo>
                    <a:pt x="4699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3657602" y="12572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762000" y="3276600"/>
              <a:ext cx="914400" cy="228600"/>
            </a:xfrm>
            <a:custGeom>
              <a:avLst/>
              <a:gdLst/>
              <a:ahLst/>
              <a:cxnLst/>
              <a:rect l="l" t="t" r="r" b="b"/>
              <a:pathLst>
                <a:path w="914400" h="228600">
                  <a:moveTo>
                    <a:pt x="731520" y="0"/>
                  </a:moveTo>
                  <a:lnTo>
                    <a:pt x="731520" y="57150"/>
                  </a:lnTo>
                  <a:lnTo>
                    <a:pt x="182880" y="57150"/>
                  </a:lnTo>
                  <a:lnTo>
                    <a:pt x="182880" y="0"/>
                  </a:lnTo>
                  <a:lnTo>
                    <a:pt x="0" y="114300"/>
                  </a:lnTo>
                  <a:lnTo>
                    <a:pt x="182880" y="228600"/>
                  </a:lnTo>
                  <a:lnTo>
                    <a:pt x="182880" y="171450"/>
                  </a:lnTo>
                  <a:lnTo>
                    <a:pt x="731520" y="171450"/>
                  </a:lnTo>
                  <a:lnTo>
                    <a:pt x="731520" y="228600"/>
                  </a:lnTo>
                  <a:lnTo>
                    <a:pt x="914400" y="114300"/>
                  </a:lnTo>
                  <a:lnTo>
                    <a:pt x="73152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762000" y="3276600"/>
              <a:ext cx="914400" cy="228600"/>
            </a:xfrm>
            <a:custGeom>
              <a:avLst/>
              <a:gdLst/>
              <a:ahLst/>
              <a:cxnLst/>
              <a:rect l="l" t="t" r="r" b="b"/>
              <a:pathLst>
                <a:path w="914400" h="228600">
                  <a:moveTo>
                    <a:pt x="0" y="114300"/>
                  </a:moveTo>
                  <a:lnTo>
                    <a:pt x="182880" y="0"/>
                  </a:lnTo>
                  <a:lnTo>
                    <a:pt x="182880" y="57150"/>
                  </a:lnTo>
                  <a:lnTo>
                    <a:pt x="731520" y="57150"/>
                  </a:lnTo>
                  <a:lnTo>
                    <a:pt x="731520" y="0"/>
                  </a:lnTo>
                  <a:lnTo>
                    <a:pt x="914400" y="114300"/>
                  </a:lnTo>
                  <a:lnTo>
                    <a:pt x="731520" y="228600"/>
                  </a:lnTo>
                  <a:lnTo>
                    <a:pt x="731520" y="171450"/>
                  </a:lnTo>
                  <a:lnTo>
                    <a:pt x="182880" y="171450"/>
                  </a:lnTo>
                  <a:lnTo>
                    <a:pt x="182880" y="22860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2590800" y="6400800"/>
              <a:ext cx="0" cy="228600"/>
            </a:xfrm>
            <a:custGeom>
              <a:avLst/>
              <a:gdLst/>
              <a:ahLst/>
              <a:cxnLst/>
              <a:rect l="l" t="t" r="r" b="b"/>
              <a:pathLst>
                <a:path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2590800" y="6629400"/>
              <a:ext cx="5181600" cy="0"/>
            </a:xfrm>
            <a:custGeom>
              <a:avLst/>
              <a:gdLst/>
              <a:ahLst/>
              <a:cxnLst/>
              <a:rect l="l" t="t" r="r" b="b"/>
              <a:pathLst>
                <a:path w="5181600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4191000" y="6553200"/>
              <a:ext cx="2895600" cy="0"/>
            </a:xfrm>
            <a:custGeom>
              <a:avLst/>
              <a:gdLst/>
              <a:ahLst/>
              <a:cxnLst/>
              <a:rect l="l" t="t" r="r" b="b"/>
              <a:pathLst>
                <a:path w="2895600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772400" y="5638800"/>
              <a:ext cx="0" cy="990600"/>
            </a:xfrm>
            <a:custGeom>
              <a:avLst/>
              <a:gdLst/>
              <a:ahLst/>
              <a:cxnLst/>
              <a:rect l="l" t="t" r="r" b="b"/>
              <a:pathLst>
                <a:path h="990600">
                  <a:moveTo>
                    <a:pt x="0" y="9906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7772400" y="4038600"/>
              <a:ext cx="0" cy="1447800"/>
            </a:xfrm>
            <a:custGeom>
              <a:avLst/>
              <a:gdLst/>
              <a:ahLst/>
              <a:cxnLst/>
              <a:rect l="l" t="t" r="r" b="b"/>
              <a:pathLst>
                <a:path h="1447800">
                  <a:moveTo>
                    <a:pt x="0" y="14478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7772400" y="2743200"/>
              <a:ext cx="0" cy="1143000"/>
            </a:xfrm>
            <a:custGeom>
              <a:avLst/>
              <a:gdLst/>
              <a:ahLst/>
              <a:cxnLst/>
              <a:rect l="l" t="t" r="r" b="b"/>
              <a:pathLst>
                <a:path h="1143000">
                  <a:moveTo>
                    <a:pt x="0" y="11430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7772400" y="1447800"/>
              <a:ext cx="0" cy="1143000"/>
            </a:xfrm>
            <a:custGeom>
              <a:avLst/>
              <a:gdLst/>
              <a:ahLst/>
              <a:cxnLst/>
              <a:rect l="l" t="t" r="r" b="b"/>
              <a:pathLst>
                <a:path h="1143000">
                  <a:moveTo>
                    <a:pt x="0" y="11430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7531100" y="6096000"/>
              <a:ext cx="241300" cy="0"/>
            </a:xfrm>
            <a:custGeom>
              <a:avLst/>
              <a:gdLst/>
              <a:ahLst/>
              <a:cxnLst/>
              <a:rect l="l" t="t" r="r" b="b"/>
              <a:pathLst>
                <a:path w="241300">
                  <a:moveTo>
                    <a:pt x="2413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7467602" y="60578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38099"/>
                  </a:lnTo>
                  <a:lnTo>
                    <a:pt x="76200" y="76199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7531100" y="4267200"/>
              <a:ext cx="241300" cy="0"/>
            </a:xfrm>
            <a:custGeom>
              <a:avLst/>
              <a:gdLst/>
              <a:ahLst/>
              <a:cxnLst/>
              <a:rect l="l" t="t" r="r" b="b"/>
              <a:pathLst>
                <a:path w="241300">
                  <a:moveTo>
                    <a:pt x="2413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7467602" y="42290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7531100" y="1447800"/>
              <a:ext cx="241300" cy="0"/>
            </a:xfrm>
            <a:custGeom>
              <a:avLst/>
              <a:gdLst/>
              <a:ahLst/>
              <a:cxnLst/>
              <a:rect l="l" t="t" r="r" b="b"/>
              <a:pathLst>
                <a:path w="241300">
                  <a:moveTo>
                    <a:pt x="2413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7467602" y="14096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7531100" y="2971800"/>
              <a:ext cx="241300" cy="0"/>
            </a:xfrm>
            <a:custGeom>
              <a:avLst/>
              <a:gdLst/>
              <a:ahLst/>
              <a:cxnLst/>
              <a:rect l="l" t="t" r="r" b="b"/>
              <a:pathLst>
                <a:path w="241300">
                  <a:moveTo>
                    <a:pt x="2413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7467602" y="29336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4724400" y="4800600"/>
              <a:ext cx="762000" cy="0"/>
            </a:xfrm>
            <a:custGeom>
              <a:avLst/>
              <a:gdLst/>
              <a:ahLst/>
              <a:cxnLst/>
              <a:rect l="l" t="t" r="r" b="b"/>
              <a:pathLst>
                <a:path w="762000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5715000" y="4800600"/>
              <a:ext cx="1143000" cy="0"/>
            </a:xfrm>
            <a:custGeom>
              <a:avLst/>
              <a:gdLst/>
              <a:ahLst/>
              <a:cxnLst/>
              <a:rect l="l" t="t" r="r" b="b"/>
              <a:pathLst>
                <a:path w="1143000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858000" y="4559300"/>
              <a:ext cx="0" cy="241300"/>
            </a:xfrm>
            <a:custGeom>
              <a:avLst/>
              <a:gdLst/>
              <a:ahLst/>
              <a:cxnLst/>
              <a:rect l="l" t="t" r="r" b="b"/>
              <a:pathLst>
                <a:path h="241300">
                  <a:moveTo>
                    <a:pt x="0" y="2413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819906" y="449580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087" y="0"/>
                  </a:moveTo>
                  <a:lnTo>
                    <a:pt x="0" y="76199"/>
                  </a:lnTo>
                  <a:lnTo>
                    <a:pt x="76200" y="76187"/>
                  </a:lnTo>
                  <a:lnTo>
                    <a:pt x="380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533400" y="6629400"/>
              <a:ext cx="1752600" cy="0"/>
            </a:xfrm>
            <a:custGeom>
              <a:avLst/>
              <a:gdLst/>
              <a:ahLst/>
              <a:cxnLst/>
              <a:rect l="l" t="t" r="r" b="b"/>
              <a:pathLst>
                <a:path w="1752600">
                  <a:moveTo>
                    <a:pt x="0" y="0"/>
                  </a:moveTo>
                  <a:lnTo>
                    <a:pt x="17526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2286000" y="6464300"/>
              <a:ext cx="0" cy="165100"/>
            </a:xfrm>
            <a:custGeom>
              <a:avLst/>
              <a:gdLst/>
              <a:ahLst/>
              <a:cxnLst/>
              <a:rect l="l" t="t" r="r" b="b"/>
              <a:pathLst>
                <a:path h="165100">
                  <a:moveTo>
                    <a:pt x="0" y="1651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2247906" y="640080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087" y="0"/>
                  </a:moveTo>
                  <a:lnTo>
                    <a:pt x="0" y="76200"/>
                  </a:lnTo>
                  <a:lnTo>
                    <a:pt x="76200" y="76187"/>
                  </a:lnTo>
                  <a:lnTo>
                    <a:pt x="380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4191000" y="2057400"/>
              <a:ext cx="0" cy="304800"/>
            </a:xfrm>
            <a:custGeom>
              <a:avLst/>
              <a:gdLst/>
              <a:ahLst/>
              <a:cxnLst/>
              <a:rect l="l" t="t" r="r" b="b"/>
              <a:pathLst>
                <a:path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4191000" y="2362200"/>
              <a:ext cx="1295400" cy="0"/>
            </a:xfrm>
            <a:custGeom>
              <a:avLst/>
              <a:gdLst/>
              <a:ahLst/>
              <a:cxnLst/>
              <a:rect l="l" t="t" r="r" b="b"/>
              <a:pathLst>
                <a:path w="1295400">
                  <a:moveTo>
                    <a:pt x="0" y="0"/>
                  </a:moveTo>
                  <a:lnTo>
                    <a:pt x="1295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5715000" y="2362200"/>
              <a:ext cx="698500" cy="0"/>
            </a:xfrm>
            <a:custGeom>
              <a:avLst/>
              <a:gdLst/>
              <a:ahLst/>
              <a:cxnLst/>
              <a:rect l="l" t="t" r="r" b="b"/>
              <a:pathLst>
                <a:path w="698500">
                  <a:moveTo>
                    <a:pt x="0" y="0"/>
                  </a:moveTo>
                  <a:lnTo>
                    <a:pt x="6985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6400802" y="23240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191000" y="228600"/>
              <a:ext cx="2743200" cy="304800"/>
            </a:xfrm>
            <a:custGeom>
              <a:avLst/>
              <a:gdLst/>
              <a:ahLst/>
              <a:cxnLst/>
              <a:rect l="l" t="t" r="r" b="b"/>
              <a:pathLst>
                <a:path w="2743200" h="304800">
                  <a:moveTo>
                    <a:pt x="0" y="0"/>
                  </a:moveTo>
                  <a:lnTo>
                    <a:pt x="2743200" y="0"/>
                  </a:lnTo>
                </a:path>
                <a:path w="2743200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6934200" y="228600"/>
              <a:ext cx="0" cy="88900"/>
            </a:xfrm>
            <a:custGeom>
              <a:avLst/>
              <a:gdLst/>
              <a:ahLst/>
              <a:cxnLst/>
              <a:rect l="l" t="t" r="r" b="b"/>
              <a:pathLst>
                <a:path h="88900">
                  <a:moveTo>
                    <a:pt x="0" y="0"/>
                  </a:moveTo>
                  <a:lnTo>
                    <a:pt x="0" y="88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6896100" y="3048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2" name="object 112"/>
          <p:cNvSpPr txBox="1"/>
          <p:nvPr/>
        </p:nvSpPr>
        <p:spPr>
          <a:xfrm>
            <a:off x="383540" y="2771647"/>
            <a:ext cx="100774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B</a:t>
            </a:r>
            <a:r>
              <a:rPr sz="1200" dirty="0">
                <a:latin typeface="Arial MT"/>
                <a:cs typeface="Arial MT"/>
              </a:rPr>
              <a:t>I</a:t>
            </a:r>
            <a:r>
              <a:rPr sz="1200" spc="-5" dirty="0">
                <a:latin typeface="Arial MT"/>
                <a:cs typeface="Arial MT"/>
              </a:rPr>
              <a:t>D</a:t>
            </a:r>
            <a:r>
              <a:rPr sz="1200" dirty="0">
                <a:latin typeface="Arial MT"/>
                <a:cs typeface="Arial MT"/>
              </a:rPr>
              <a:t>I</a:t>
            </a:r>
            <a:r>
              <a:rPr sz="1200" spc="-5" dirty="0">
                <a:latin typeface="Arial MT"/>
                <a:cs typeface="Arial MT"/>
              </a:rPr>
              <a:t>RECT</a:t>
            </a:r>
            <a:r>
              <a:rPr sz="1200" dirty="0">
                <a:latin typeface="Arial MT"/>
                <a:cs typeface="Arial MT"/>
              </a:rPr>
              <a:t>IO</a:t>
            </a:r>
            <a:r>
              <a:rPr sz="1200" spc="-5" dirty="0">
                <a:latin typeface="Arial MT"/>
                <a:cs typeface="Arial MT"/>
              </a:rPr>
              <a:t>N  </a:t>
            </a:r>
            <a:r>
              <a:rPr sz="1200" spc="-10" dirty="0">
                <a:latin typeface="Arial MT"/>
                <a:cs typeface="Arial MT"/>
              </a:rPr>
              <a:t>A</a:t>
            </a:r>
            <a:r>
              <a:rPr sz="1200" spc="-5" dirty="0">
                <a:latin typeface="Arial MT"/>
                <a:cs typeface="Arial MT"/>
              </a:rPr>
              <a:t>L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D</a:t>
            </a:r>
            <a:r>
              <a:rPr sz="1200" spc="-100" dirty="0">
                <a:latin typeface="Arial MT"/>
                <a:cs typeface="Arial MT"/>
              </a:rPr>
              <a:t>A</a:t>
            </a:r>
            <a:r>
              <a:rPr sz="1200" spc="-95" dirty="0">
                <a:latin typeface="Arial MT"/>
                <a:cs typeface="Arial MT"/>
              </a:rPr>
              <a:t>T</a:t>
            </a:r>
            <a:r>
              <a:rPr sz="1200" dirty="0">
                <a:latin typeface="Arial MT"/>
                <a:cs typeface="Arial MT"/>
              </a:rPr>
              <a:t>A</a:t>
            </a:r>
            <a:r>
              <a:rPr sz="1200" spc="-5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BUS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78739" y="3381247"/>
            <a:ext cx="457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 MT"/>
                <a:cs typeface="Arial MT"/>
              </a:rPr>
              <a:t>D1</a:t>
            </a:r>
            <a:r>
              <a:rPr sz="1200" dirty="0">
                <a:latin typeface="Arial MT"/>
                <a:cs typeface="Arial MT"/>
              </a:rPr>
              <a:t>,</a:t>
            </a:r>
            <a:r>
              <a:rPr sz="1200" spc="-5" dirty="0">
                <a:latin typeface="Arial MT"/>
                <a:cs typeface="Arial MT"/>
              </a:rPr>
              <a:t>D0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78739" y="4752847"/>
            <a:ext cx="2451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u="sng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RD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15" name="object 115"/>
          <p:cNvSpPr/>
          <p:nvPr/>
        </p:nvSpPr>
        <p:spPr>
          <a:xfrm>
            <a:off x="76200" y="4724400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>
                <a:moveTo>
                  <a:pt x="0" y="0"/>
                </a:moveTo>
                <a:lnTo>
                  <a:pt x="3048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 txBox="1"/>
          <p:nvPr/>
        </p:nvSpPr>
        <p:spPr>
          <a:xfrm>
            <a:off x="78739" y="4981447"/>
            <a:ext cx="280035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WR</a:t>
            </a:r>
            <a:endParaRPr sz="1200">
              <a:latin typeface="Arial MT"/>
              <a:cs typeface="Arial MT"/>
            </a:endParaRPr>
          </a:p>
          <a:p>
            <a:pPr marL="12700" marR="73025">
              <a:lnSpc>
                <a:spcPct val="125000"/>
              </a:lnSpc>
              <a:spcBef>
                <a:spcPts val="600"/>
              </a:spcBef>
            </a:pPr>
            <a:r>
              <a:rPr sz="1200" spc="-5" dirty="0">
                <a:latin typeface="Arial MT"/>
                <a:cs typeface="Arial MT"/>
              </a:rPr>
              <a:t>A1  </a:t>
            </a:r>
            <a:r>
              <a:rPr sz="1200" spc="-10" dirty="0">
                <a:latin typeface="Arial MT"/>
                <a:cs typeface="Arial MT"/>
              </a:rPr>
              <a:t>A0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78739" y="5819647"/>
            <a:ext cx="5321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RESET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4117340" y="3609847"/>
            <a:ext cx="7778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8-BIT </a:t>
            </a:r>
            <a:r>
              <a:rPr sz="1200" dirty="0">
                <a:latin typeface="Arial MT"/>
                <a:cs typeface="Arial MT"/>
              </a:rPr>
              <a:t> I</a:t>
            </a:r>
            <a:r>
              <a:rPr sz="1200" spc="-5" dirty="0">
                <a:latin typeface="Arial MT"/>
                <a:cs typeface="Arial MT"/>
              </a:rPr>
              <a:t>NT</a:t>
            </a:r>
            <a:r>
              <a:rPr sz="1200" spc="-10" dirty="0">
                <a:latin typeface="Arial MT"/>
                <a:cs typeface="Arial MT"/>
              </a:rPr>
              <a:t>ERNAL  D</a:t>
            </a:r>
            <a:r>
              <a:rPr sz="1200" spc="-100" dirty="0">
                <a:latin typeface="Arial MT"/>
                <a:cs typeface="Arial MT"/>
              </a:rPr>
              <a:t>A</a:t>
            </a:r>
            <a:r>
              <a:rPr sz="1200" spc="-95" dirty="0">
                <a:latin typeface="Arial MT"/>
                <a:cs typeface="Arial MT"/>
              </a:rPr>
              <a:t>T</a:t>
            </a:r>
            <a:r>
              <a:rPr sz="1200" dirty="0">
                <a:latin typeface="Arial MT"/>
                <a:cs typeface="Arial MT"/>
              </a:rPr>
              <a:t>A</a:t>
            </a:r>
            <a:r>
              <a:rPr sz="1200" spc="-6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BUS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19" name="object 119"/>
          <p:cNvSpPr/>
          <p:nvPr/>
        </p:nvSpPr>
        <p:spPr>
          <a:xfrm>
            <a:off x="0" y="6553200"/>
            <a:ext cx="381000" cy="0"/>
          </a:xfrm>
          <a:custGeom>
            <a:avLst/>
            <a:gdLst/>
            <a:ahLst/>
            <a:cxnLst/>
            <a:rect l="l" t="t" r="r" b="b"/>
            <a:pathLst>
              <a:path w="381000">
                <a:moveTo>
                  <a:pt x="0" y="0"/>
                </a:moveTo>
                <a:lnTo>
                  <a:pt x="3810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 txBox="1"/>
          <p:nvPr/>
        </p:nvSpPr>
        <p:spPr>
          <a:xfrm>
            <a:off x="8368665" y="671386"/>
            <a:ext cx="6286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I/O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200" spc="-95" dirty="0">
                <a:latin typeface="Arial MT"/>
                <a:cs typeface="Arial MT"/>
              </a:rPr>
              <a:t>P</a:t>
            </a:r>
            <a:r>
              <a:rPr sz="1200" spc="-5" dirty="0">
                <a:latin typeface="Arial MT"/>
                <a:cs typeface="Arial MT"/>
              </a:rPr>
              <a:t>A</a:t>
            </a:r>
            <a:r>
              <a:rPr sz="1200" spc="-10" dirty="0">
                <a:latin typeface="Arial MT"/>
                <a:cs typeface="Arial MT"/>
              </a:rPr>
              <a:t>7</a:t>
            </a:r>
            <a:r>
              <a:rPr sz="1200" dirty="0">
                <a:latin typeface="Arial MT"/>
                <a:cs typeface="Arial MT"/>
              </a:rPr>
              <a:t>-</a:t>
            </a:r>
            <a:r>
              <a:rPr sz="1200" spc="-95" dirty="0">
                <a:latin typeface="Arial MT"/>
                <a:cs typeface="Arial MT"/>
              </a:rPr>
              <a:t>P</a:t>
            </a:r>
            <a:r>
              <a:rPr sz="1200" spc="-5" dirty="0">
                <a:latin typeface="Arial MT"/>
                <a:cs typeface="Arial MT"/>
              </a:rPr>
              <a:t>A0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8155914" y="2070570"/>
            <a:ext cx="668020" cy="57404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1200" dirty="0">
                <a:latin typeface="Arial MT"/>
                <a:cs typeface="Arial MT"/>
              </a:rPr>
              <a:t>I/O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200" spc="-10" dirty="0">
                <a:latin typeface="Arial MT"/>
                <a:cs typeface="Arial MT"/>
              </a:rPr>
              <a:t>PC7</a:t>
            </a:r>
            <a:r>
              <a:rPr sz="1200" dirty="0">
                <a:latin typeface="Arial MT"/>
                <a:cs typeface="Arial MT"/>
              </a:rPr>
              <a:t>-</a:t>
            </a:r>
            <a:r>
              <a:rPr sz="1200" spc="-5" dirty="0">
                <a:latin typeface="Arial MT"/>
                <a:cs typeface="Arial MT"/>
              </a:rPr>
              <a:t>PC4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8232114" y="3442171"/>
            <a:ext cx="372110" cy="756920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20"/>
              </a:spcBef>
            </a:pPr>
            <a:r>
              <a:rPr sz="1200" dirty="0">
                <a:latin typeface="Arial MT"/>
                <a:cs typeface="Arial MT"/>
              </a:rPr>
              <a:t>I/O</a:t>
            </a:r>
            <a:endParaRPr sz="12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720"/>
              </a:spcBef>
            </a:pPr>
            <a:r>
              <a:rPr sz="1200" spc="-10" dirty="0">
                <a:latin typeface="Arial MT"/>
                <a:cs typeface="Arial MT"/>
              </a:rPr>
              <a:t>PC3</a:t>
            </a:r>
            <a:r>
              <a:rPr sz="1200" dirty="0">
                <a:latin typeface="Arial MT"/>
                <a:cs typeface="Arial MT"/>
              </a:rPr>
              <a:t>-  </a:t>
            </a:r>
            <a:r>
              <a:rPr sz="1200" spc="-10" dirty="0">
                <a:latin typeface="Arial MT"/>
                <a:cs typeface="Arial MT"/>
              </a:rPr>
              <a:t>PC0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8308314" y="5194771"/>
            <a:ext cx="363855" cy="756920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20"/>
              </a:spcBef>
            </a:pPr>
            <a:r>
              <a:rPr sz="1200" dirty="0">
                <a:latin typeface="Arial MT"/>
                <a:cs typeface="Arial MT"/>
              </a:rPr>
              <a:t>I/O</a:t>
            </a:r>
            <a:endParaRPr sz="12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720"/>
              </a:spcBef>
            </a:pPr>
            <a:r>
              <a:rPr sz="1200" spc="-5" dirty="0">
                <a:latin typeface="Arial MT"/>
                <a:cs typeface="Arial MT"/>
              </a:rPr>
              <a:t>PB</a:t>
            </a:r>
            <a:r>
              <a:rPr sz="1200" spc="-10" dirty="0">
                <a:latin typeface="Arial MT"/>
                <a:cs typeface="Arial MT"/>
              </a:rPr>
              <a:t>7</a:t>
            </a:r>
            <a:r>
              <a:rPr sz="1200" dirty="0">
                <a:latin typeface="Arial MT"/>
                <a:cs typeface="Arial MT"/>
              </a:rPr>
              <a:t>-  </a:t>
            </a:r>
            <a:r>
              <a:rPr sz="1200" spc="-5" dirty="0">
                <a:latin typeface="Arial MT"/>
                <a:cs typeface="Arial MT"/>
              </a:rPr>
              <a:t>PB0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24" name="object 124"/>
          <p:cNvGrpSpPr/>
          <p:nvPr/>
        </p:nvGrpSpPr>
        <p:grpSpPr>
          <a:xfrm>
            <a:off x="1066800" y="571496"/>
            <a:ext cx="6057900" cy="5981700"/>
            <a:chOff x="1066800" y="571496"/>
            <a:chExt cx="6057900" cy="5981700"/>
          </a:xfrm>
        </p:grpSpPr>
        <p:sp>
          <p:nvSpPr>
            <p:cNvPr id="125" name="object 125"/>
            <p:cNvSpPr/>
            <p:nvPr/>
          </p:nvSpPr>
          <p:spPr>
            <a:xfrm>
              <a:off x="1066800" y="609599"/>
              <a:ext cx="1079500" cy="0"/>
            </a:xfrm>
            <a:custGeom>
              <a:avLst/>
              <a:gdLst/>
              <a:ahLst/>
              <a:cxnLst/>
              <a:rect l="l" t="t" r="r" b="b"/>
              <a:pathLst>
                <a:path w="1079500">
                  <a:moveTo>
                    <a:pt x="0" y="0"/>
                  </a:moveTo>
                  <a:lnTo>
                    <a:pt x="10795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2133601" y="5714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1066800" y="914399"/>
              <a:ext cx="1079500" cy="0"/>
            </a:xfrm>
            <a:custGeom>
              <a:avLst/>
              <a:gdLst/>
              <a:ahLst/>
              <a:cxnLst/>
              <a:rect l="l" t="t" r="r" b="b"/>
              <a:pathLst>
                <a:path w="1079500">
                  <a:moveTo>
                    <a:pt x="0" y="0"/>
                  </a:moveTo>
                  <a:lnTo>
                    <a:pt x="10795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2133601" y="8762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7086600" y="6464300"/>
              <a:ext cx="0" cy="88900"/>
            </a:xfrm>
            <a:custGeom>
              <a:avLst/>
              <a:gdLst/>
              <a:ahLst/>
              <a:cxnLst/>
              <a:rect l="l" t="t" r="r" b="b"/>
              <a:pathLst>
                <a:path h="88900">
                  <a:moveTo>
                    <a:pt x="0" y="889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7048506" y="640080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087" y="0"/>
                  </a:moveTo>
                  <a:lnTo>
                    <a:pt x="0" y="76200"/>
                  </a:lnTo>
                  <a:lnTo>
                    <a:pt x="76200" y="76187"/>
                  </a:lnTo>
                  <a:lnTo>
                    <a:pt x="380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4191000" y="61722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2" name="object 132"/>
          <p:cNvSpPr txBox="1"/>
          <p:nvPr/>
        </p:nvSpPr>
        <p:spPr>
          <a:xfrm>
            <a:off x="2288539" y="485647"/>
            <a:ext cx="3009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+</a:t>
            </a:r>
            <a:r>
              <a:rPr sz="1200" spc="-10" dirty="0">
                <a:latin typeface="Arial MT"/>
                <a:cs typeface="Arial MT"/>
              </a:rPr>
              <a:t>5</a:t>
            </a:r>
            <a:r>
              <a:rPr sz="1200" dirty="0">
                <a:latin typeface="Arial MT"/>
                <a:cs typeface="Arial MT"/>
              </a:rPr>
              <a:t>V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36" name="object 136"/>
          <p:cNvSpPr txBox="1"/>
          <p:nvPr/>
        </p:nvSpPr>
        <p:spPr>
          <a:xfrm>
            <a:off x="1145539" y="6280595"/>
            <a:ext cx="95250" cy="179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37" name="object 137"/>
          <p:cNvSpPr txBox="1"/>
          <p:nvPr/>
        </p:nvSpPr>
        <p:spPr>
          <a:xfrm>
            <a:off x="78739" y="6596084"/>
            <a:ext cx="236854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spc="-10" dirty="0">
                <a:latin typeface="Arial MT"/>
                <a:cs typeface="Arial MT"/>
              </a:rPr>
              <a:t>CS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2364739" y="866647"/>
            <a:ext cx="363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G</a:t>
            </a:r>
            <a:r>
              <a:rPr sz="1200" spc="-10" dirty="0">
                <a:latin typeface="Arial MT"/>
                <a:cs typeface="Arial MT"/>
              </a:rPr>
              <a:t>ND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78739" y="638047"/>
            <a:ext cx="7696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POWER </a:t>
            </a:r>
            <a:r>
              <a:rPr sz="120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SUPPL</a:t>
            </a:r>
            <a:r>
              <a:rPr sz="1200" dirty="0">
                <a:latin typeface="Arial MT"/>
                <a:cs typeface="Arial MT"/>
              </a:rPr>
              <a:t>I</a:t>
            </a:r>
            <a:r>
              <a:rPr sz="1200" spc="-5" dirty="0">
                <a:latin typeface="Arial MT"/>
                <a:cs typeface="Arial MT"/>
              </a:rPr>
              <a:t>ES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35" name="object 135"/>
          <p:cNvSpPr txBox="1">
            <a:spLocks noGrp="1"/>
          </p:cNvSpPr>
          <p:nvPr>
            <p:ph type="title"/>
          </p:nvPr>
        </p:nvSpPr>
        <p:spPr>
          <a:xfrm>
            <a:off x="1450339" y="31495"/>
            <a:ext cx="133667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u="heavy" spc="-1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8255A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  <p:transition>
    <p:blinds/>
  </p:transition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C4D6B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5825" y="1843087"/>
            <a:ext cx="8255000" cy="501491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833575"/>
            <a:ext cx="895350" cy="50244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76300" y="6350"/>
            <a:ext cx="19050" cy="150336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17612" y="1833562"/>
            <a:ext cx="7923212" cy="19050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552450" y="1509712"/>
            <a:ext cx="665480" cy="666750"/>
            <a:chOff x="552450" y="1509712"/>
            <a:chExt cx="665480" cy="666750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6300" y="1509712"/>
              <a:ext cx="19050" cy="6667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2450" y="1833562"/>
              <a:ext cx="665162" cy="19050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76705" y="6251447"/>
            <a:ext cx="250697" cy="21945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145539" y="6280658"/>
            <a:ext cx="9525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13816" y="172974"/>
            <a:ext cx="8263255" cy="1565910"/>
            <a:chOff x="813816" y="172974"/>
            <a:chExt cx="8263255" cy="1565910"/>
          </a:xfrm>
        </p:grpSpPr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13816" y="172974"/>
              <a:ext cx="8263127" cy="89611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13816" y="842771"/>
              <a:ext cx="3438905" cy="896111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145539" y="334454"/>
            <a:ext cx="6903720" cy="1366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b="1" spc="-5" dirty="0">
                <a:solidFill>
                  <a:srgbClr val="339966"/>
                </a:solidFill>
                <a:latin typeface="Tahoma"/>
                <a:cs typeface="Tahoma"/>
              </a:rPr>
              <a:t>Control Word Format for </a:t>
            </a:r>
            <a:r>
              <a:rPr b="1" spc="-1280" dirty="0">
                <a:solidFill>
                  <a:srgbClr val="339966"/>
                </a:solidFill>
                <a:latin typeface="Tahoma"/>
                <a:cs typeface="Tahoma"/>
              </a:rPr>
              <a:t> </a:t>
            </a:r>
            <a:r>
              <a:rPr b="1" spc="-5" dirty="0">
                <a:solidFill>
                  <a:srgbClr val="339966"/>
                </a:solidFill>
                <a:latin typeface="Tahoma"/>
                <a:cs typeface="Tahoma"/>
              </a:rPr>
              <a:t>I/O</a:t>
            </a:r>
            <a:r>
              <a:rPr b="1" spc="-15" dirty="0">
                <a:solidFill>
                  <a:srgbClr val="339966"/>
                </a:solidFill>
                <a:latin typeface="Tahoma"/>
                <a:cs typeface="Tahoma"/>
              </a:rPr>
              <a:t> </a:t>
            </a:r>
            <a:r>
              <a:rPr b="1" spc="-5" dirty="0">
                <a:solidFill>
                  <a:srgbClr val="339966"/>
                </a:solidFill>
                <a:latin typeface="Tahoma"/>
                <a:cs typeface="Tahoma"/>
              </a:rPr>
              <a:t>Mode</a:t>
            </a:r>
          </a:p>
        </p:txBody>
      </p:sp>
      <p:grpSp>
        <p:nvGrpSpPr>
          <p:cNvPr id="16" name="object 16"/>
          <p:cNvGrpSpPr/>
          <p:nvPr/>
        </p:nvGrpSpPr>
        <p:grpSpPr>
          <a:xfrm>
            <a:off x="596900" y="1968500"/>
            <a:ext cx="4978400" cy="482600"/>
            <a:chOff x="596900" y="1968500"/>
            <a:chExt cx="4978400" cy="482600"/>
          </a:xfrm>
        </p:grpSpPr>
        <p:sp>
          <p:nvSpPr>
            <p:cNvPr id="17" name="object 17"/>
            <p:cNvSpPr/>
            <p:nvPr/>
          </p:nvSpPr>
          <p:spPr>
            <a:xfrm>
              <a:off x="609600" y="1981200"/>
              <a:ext cx="584200" cy="457200"/>
            </a:xfrm>
            <a:custGeom>
              <a:avLst/>
              <a:gdLst/>
              <a:ahLst/>
              <a:cxnLst/>
              <a:rect l="l" t="t" r="r" b="b"/>
              <a:pathLst>
                <a:path w="584200" h="457200">
                  <a:moveTo>
                    <a:pt x="584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584200" y="457200"/>
                  </a:lnTo>
                  <a:lnTo>
                    <a:pt x="58420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193800" y="1981199"/>
              <a:ext cx="2453005" cy="457200"/>
            </a:xfrm>
            <a:custGeom>
              <a:avLst/>
              <a:gdLst/>
              <a:ahLst/>
              <a:cxnLst/>
              <a:rect l="l" t="t" r="r" b="b"/>
              <a:pathLst>
                <a:path w="2453004" h="457200">
                  <a:moveTo>
                    <a:pt x="2452687" y="0"/>
                  </a:moveTo>
                  <a:lnTo>
                    <a:pt x="1868487" y="0"/>
                  </a:lnTo>
                  <a:lnTo>
                    <a:pt x="1287462" y="0"/>
                  </a:lnTo>
                  <a:lnTo>
                    <a:pt x="703262" y="0"/>
                  </a:lnTo>
                  <a:lnTo>
                    <a:pt x="0" y="0"/>
                  </a:lnTo>
                  <a:lnTo>
                    <a:pt x="0" y="457200"/>
                  </a:lnTo>
                  <a:lnTo>
                    <a:pt x="703262" y="457200"/>
                  </a:lnTo>
                  <a:lnTo>
                    <a:pt x="1287462" y="457200"/>
                  </a:lnTo>
                  <a:lnTo>
                    <a:pt x="1868487" y="457200"/>
                  </a:lnTo>
                  <a:lnTo>
                    <a:pt x="2452687" y="457200"/>
                  </a:lnTo>
                  <a:lnTo>
                    <a:pt x="2452687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646487" y="1981199"/>
              <a:ext cx="1916430" cy="457200"/>
            </a:xfrm>
            <a:custGeom>
              <a:avLst/>
              <a:gdLst/>
              <a:ahLst/>
              <a:cxnLst/>
              <a:rect l="l" t="t" r="r" b="b"/>
              <a:pathLst>
                <a:path w="1916429" h="457200">
                  <a:moveTo>
                    <a:pt x="1916112" y="0"/>
                  </a:moveTo>
                  <a:lnTo>
                    <a:pt x="1165225" y="0"/>
                  </a:lnTo>
                  <a:lnTo>
                    <a:pt x="584200" y="0"/>
                  </a:lnTo>
                  <a:lnTo>
                    <a:pt x="0" y="0"/>
                  </a:lnTo>
                  <a:lnTo>
                    <a:pt x="0" y="457200"/>
                  </a:lnTo>
                  <a:lnTo>
                    <a:pt x="584200" y="457200"/>
                  </a:lnTo>
                  <a:lnTo>
                    <a:pt x="1165225" y="457200"/>
                  </a:lnTo>
                  <a:lnTo>
                    <a:pt x="1916112" y="457200"/>
                  </a:lnTo>
                  <a:lnTo>
                    <a:pt x="1916112" y="0"/>
                  </a:lnTo>
                  <a:close/>
                </a:path>
              </a:pathLst>
            </a:custGeom>
            <a:solidFill>
              <a:srgbClr val="C4D6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193800" y="1974850"/>
              <a:ext cx="0" cy="469900"/>
            </a:xfrm>
            <a:custGeom>
              <a:avLst/>
              <a:gdLst/>
              <a:ahLst/>
              <a:cxnLst/>
              <a:rect l="l" t="t" r="r" b="b"/>
              <a:pathLst>
                <a:path h="469900">
                  <a:moveTo>
                    <a:pt x="0" y="0"/>
                  </a:moveTo>
                  <a:lnTo>
                    <a:pt x="0" y="469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897062" y="1974850"/>
              <a:ext cx="0" cy="469900"/>
            </a:xfrm>
            <a:custGeom>
              <a:avLst/>
              <a:gdLst/>
              <a:ahLst/>
              <a:cxnLst/>
              <a:rect l="l" t="t" r="r" b="b"/>
              <a:pathLst>
                <a:path h="469900">
                  <a:moveTo>
                    <a:pt x="0" y="0"/>
                  </a:moveTo>
                  <a:lnTo>
                    <a:pt x="0" y="469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481262" y="1974850"/>
              <a:ext cx="0" cy="469900"/>
            </a:xfrm>
            <a:custGeom>
              <a:avLst/>
              <a:gdLst/>
              <a:ahLst/>
              <a:cxnLst/>
              <a:rect l="l" t="t" r="r" b="b"/>
              <a:pathLst>
                <a:path h="469900">
                  <a:moveTo>
                    <a:pt x="0" y="0"/>
                  </a:moveTo>
                  <a:lnTo>
                    <a:pt x="0" y="469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062287" y="1974850"/>
              <a:ext cx="0" cy="469900"/>
            </a:xfrm>
            <a:custGeom>
              <a:avLst/>
              <a:gdLst/>
              <a:ahLst/>
              <a:cxnLst/>
              <a:rect l="l" t="t" r="r" b="b"/>
              <a:pathLst>
                <a:path h="469900">
                  <a:moveTo>
                    <a:pt x="0" y="0"/>
                  </a:moveTo>
                  <a:lnTo>
                    <a:pt x="0" y="469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646488" y="1974850"/>
              <a:ext cx="0" cy="469900"/>
            </a:xfrm>
            <a:custGeom>
              <a:avLst/>
              <a:gdLst/>
              <a:ahLst/>
              <a:cxnLst/>
              <a:rect l="l" t="t" r="r" b="b"/>
              <a:pathLst>
                <a:path h="469900">
                  <a:moveTo>
                    <a:pt x="0" y="0"/>
                  </a:moveTo>
                  <a:lnTo>
                    <a:pt x="0" y="469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230687" y="1974850"/>
              <a:ext cx="0" cy="469900"/>
            </a:xfrm>
            <a:custGeom>
              <a:avLst/>
              <a:gdLst/>
              <a:ahLst/>
              <a:cxnLst/>
              <a:rect l="l" t="t" r="r" b="b"/>
              <a:pathLst>
                <a:path h="469900">
                  <a:moveTo>
                    <a:pt x="0" y="0"/>
                  </a:moveTo>
                  <a:lnTo>
                    <a:pt x="0" y="469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811712" y="1974850"/>
              <a:ext cx="0" cy="469900"/>
            </a:xfrm>
            <a:custGeom>
              <a:avLst/>
              <a:gdLst/>
              <a:ahLst/>
              <a:cxnLst/>
              <a:rect l="l" t="t" r="r" b="b"/>
              <a:pathLst>
                <a:path h="469900">
                  <a:moveTo>
                    <a:pt x="0" y="0"/>
                  </a:moveTo>
                  <a:lnTo>
                    <a:pt x="0" y="469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09600" y="1974850"/>
              <a:ext cx="0" cy="469900"/>
            </a:xfrm>
            <a:custGeom>
              <a:avLst/>
              <a:gdLst/>
              <a:ahLst/>
              <a:cxnLst/>
              <a:rect l="l" t="t" r="r" b="b"/>
              <a:pathLst>
                <a:path h="469900">
                  <a:moveTo>
                    <a:pt x="0" y="0"/>
                  </a:moveTo>
                  <a:lnTo>
                    <a:pt x="0" y="469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562600" y="1974850"/>
              <a:ext cx="0" cy="469900"/>
            </a:xfrm>
            <a:custGeom>
              <a:avLst/>
              <a:gdLst/>
              <a:ahLst/>
              <a:cxnLst/>
              <a:rect l="l" t="t" r="r" b="b"/>
              <a:pathLst>
                <a:path h="469900">
                  <a:moveTo>
                    <a:pt x="0" y="0"/>
                  </a:moveTo>
                  <a:lnTo>
                    <a:pt x="0" y="469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03250" y="1981200"/>
              <a:ext cx="4965700" cy="0"/>
            </a:xfrm>
            <a:custGeom>
              <a:avLst/>
              <a:gdLst/>
              <a:ahLst/>
              <a:cxnLst/>
              <a:rect l="l" t="t" r="r" b="b"/>
              <a:pathLst>
                <a:path w="4965700">
                  <a:moveTo>
                    <a:pt x="0" y="0"/>
                  </a:moveTo>
                  <a:lnTo>
                    <a:pt x="49657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03250" y="2438400"/>
              <a:ext cx="4965700" cy="0"/>
            </a:xfrm>
            <a:custGeom>
              <a:avLst/>
              <a:gdLst/>
              <a:ahLst/>
              <a:cxnLst/>
              <a:rect l="l" t="t" r="r" b="b"/>
              <a:pathLst>
                <a:path w="4965700">
                  <a:moveTo>
                    <a:pt x="0" y="0"/>
                  </a:moveTo>
                  <a:lnTo>
                    <a:pt x="49657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688340" y="2004314"/>
            <a:ext cx="46005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6900" algn="l"/>
                <a:tab pos="1299845" algn="l"/>
                <a:tab pos="1884045" algn="l"/>
                <a:tab pos="2465070" algn="l"/>
                <a:tab pos="3049270" algn="l"/>
                <a:tab pos="3633470" algn="l"/>
                <a:tab pos="4214495" algn="l"/>
              </a:tabLst>
            </a:pPr>
            <a:r>
              <a:rPr sz="2400" spc="-5" dirty="0">
                <a:latin typeface="Times New Roman"/>
                <a:cs typeface="Times New Roman"/>
              </a:rPr>
              <a:t>D7	D6	D5	D4	D3	D2	D1	D0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057906" y="4800600"/>
            <a:ext cx="76200" cy="76200"/>
            <a:chOff x="6057906" y="4800600"/>
            <a:chExt cx="76200" cy="76200"/>
          </a:xfrm>
        </p:grpSpPr>
        <p:sp>
          <p:nvSpPr>
            <p:cNvPr id="33" name="object 33"/>
            <p:cNvSpPr/>
            <p:nvPr/>
          </p:nvSpPr>
          <p:spPr>
            <a:xfrm>
              <a:off x="6095999" y="4800600"/>
              <a:ext cx="0" cy="63500"/>
            </a:xfrm>
            <a:custGeom>
              <a:avLst/>
              <a:gdLst/>
              <a:ahLst/>
              <a:cxnLst/>
              <a:rect l="l" t="t" r="r" b="b"/>
              <a:pathLst>
                <a:path h="63500">
                  <a:moveTo>
                    <a:pt x="0" y="0"/>
                  </a:moveTo>
                  <a:lnTo>
                    <a:pt x="0" y="635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057906" y="480060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087" y="0"/>
                  </a:moveTo>
                  <a:lnTo>
                    <a:pt x="0" y="76199"/>
                  </a:lnTo>
                  <a:lnTo>
                    <a:pt x="76200" y="76187"/>
                  </a:lnTo>
                  <a:lnTo>
                    <a:pt x="380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69850" y="2813050"/>
            <a:ext cx="8775700" cy="3822700"/>
            <a:chOff x="69850" y="2813050"/>
            <a:chExt cx="8775700" cy="3822700"/>
          </a:xfrm>
        </p:grpSpPr>
        <p:sp>
          <p:nvSpPr>
            <p:cNvPr id="36" name="object 36"/>
            <p:cNvSpPr/>
            <p:nvPr/>
          </p:nvSpPr>
          <p:spPr>
            <a:xfrm>
              <a:off x="6096000" y="2819400"/>
              <a:ext cx="2667000" cy="1752600"/>
            </a:xfrm>
            <a:custGeom>
              <a:avLst/>
              <a:gdLst/>
              <a:ahLst/>
              <a:cxnLst/>
              <a:rect l="l" t="t" r="r" b="b"/>
              <a:pathLst>
                <a:path w="2667000" h="1752600">
                  <a:moveTo>
                    <a:pt x="2667000" y="0"/>
                  </a:moveTo>
                  <a:lnTo>
                    <a:pt x="0" y="0"/>
                  </a:lnTo>
                  <a:lnTo>
                    <a:pt x="0" y="1752600"/>
                  </a:lnTo>
                  <a:lnTo>
                    <a:pt x="2667000" y="17526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096000" y="2819400"/>
              <a:ext cx="2667000" cy="1752600"/>
            </a:xfrm>
            <a:custGeom>
              <a:avLst/>
              <a:gdLst/>
              <a:ahLst/>
              <a:cxnLst/>
              <a:rect l="l" t="t" r="r" b="b"/>
              <a:pathLst>
                <a:path w="2667000" h="1752600">
                  <a:moveTo>
                    <a:pt x="0" y="0"/>
                  </a:moveTo>
                  <a:lnTo>
                    <a:pt x="2667000" y="0"/>
                  </a:lnTo>
                  <a:lnTo>
                    <a:pt x="2667000" y="1752600"/>
                  </a:lnTo>
                  <a:lnTo>
                    <a:pt x="0" y="17526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096000" y="4953000"/>
              <a:ext cx="2743200" cy="1676400"/>
            </a:xfrm>
            <a:custGeom>
              <a:avLst/>
              <a:gdLst/>
              <a:ahLst/>
              <a:cxnLst/>
              <a:rect l="l" t="t" r="r" b="b"/>
              <a:pathLst>
                <a:path w="2743200" h="1676400">
                  <a:moveTo>
                    <a:pt x="2743200" y="0"/>
                  </a:moveTo>
                  <a:lnTo>
                    <a:pt x="0" y="0"/>
                  </a:lnTo>
                  <a:lnTo>
                    <a:pt x="0" y="1676400"/>
                  </a:lnTo>
                  <a:lnTo>
                    <a:pt x="2743200" y="1676400"/>
                  </a:lnTo>
                  <a:lnTo>
                    <a:pt x="274320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096000" y="4953000"/>
              <a:ext cx="2743200" cy="1676400"/>
            </a:xfrm>
            <a:custGeom>
              <a:avLst/>
              <a:gdLst/>
              <a:ahLst/>
              <a:cxnLst/>
              <a:rect l="l" t="t" r="r" b="b"/>
              <a:pathLst>
                <a:path w="2743200" h="1676400">
                  <a:moveTo>
                    <a:pt x="0" y="0"/>
                  </a:moveTo>
                  <a:lnTo>
                    <a:pt x="2743200" y="0"/>
                  </a:lnTo>
                  <a:lnTo>
                    <a:pt x="2743200" y="1676400"/>
                  </a:lnTo>
                  <a:lnTo>
                    <a:pt x="0" y="16764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6200" y="4419600"/>
              <a:ext cx="1524000" cy="838200"/>
            </a:xfrm>
            <a:custGeom>
              <a:avLst/>
              <a:gdLst/>
              <a:ahLst/>
              <a:cxnLst/>
              <a:rect l="l" t="t" r="r" b="b"/>
              <a:pathLst>
                <a:path w="1524000" h="838200">
                  <a:moveTo>
                    <a:pt x="1524000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1524000" y="838200"/>
                  </a:lnTo>
                  <a:lnTo>
                    <a:pt x="152400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6200" y="4419600"/>
              <a:ext cx="1524000" cy="838200"/>
            </a:xfrm>
            <a:custGeom>
              <a:avLst/>
              <a:gdLst/>
              <a:ahLst/>
              <a:cxnLst/>
              <a:rect l="l" t="t" r="r" b="b"/>
              <a:pathLst>
                <a:path w="1524000" h="838200">
                  <a:moveTo>
                    <a:pt x="0" y="0"/>
                  </a:moveTo>
                  <a:lnTo>
                    <a:pt x="1524000" y="0"/>
                  </a:lnTo>
                  <a:lnTo>
                    <a:pt x="15240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133597" y="4550155"/>
            <a:ext cx="14097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1=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I/O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Mode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ahoma"/>
                <a:cs typeface="Tahoma"/>
              </a:rPr>
              <a:t>0=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BSR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Mode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1289050" y="2432050"/>
            <a:ext cx="7550150" cy="4127500"/>
            <a:chOff x="1289050" y="2432050"/>
            <a:chExt cx="7550150" cy="4127500"/>
          </a:xfrm>
        </p:grpSpPr>
        <p:sp>
          <p:nvSpPr>
            <p:cNvPr id="44" name="object 44"/>
            <p:cNvSpPr/>
            <p:nvPr/>
          </p:nvSpPr>
          <p:spPr>
            <a:xfrm>
              <a:off x="5181600" y="2438400"/>
              <a:ext cx="0" cy="838200"/>
            </a:xfrm>
            <a:custGeom>
              <a:avLst/>
              <a:gdLst/>
              <a:ahLst/>
              <a:cxnLst/>
              <a:rect l="l" t="t" r="r" b="b"/>
              <a:pathLst>
                <a:path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181600" y="3276600"/>
              <a:ext cx="914400" cy="0"/>
            </a:xfrm>
            <a:custGeom>
              <a:avLst/>
              <a:gdLst/>
              <a:ahLst/>
              <a:cxnLst/>
              <a:rect l="l" t="t" r="r" b="b"/>
              <a:pathLst>
                <a:path w="914400">
                  <a:moveTo>
                    <a:pt x="0" y="0"/>
                  </a:moveTo>
                  <a:lnTo>
                    <a:pt x="914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495800" y="2438400"/>
              <a:ext cx="0" cy="1447800"/>
            </a:xfrm>
            <a:custGeom>
              <a:avLst/>
              <a:gdLst/>
              <a:ahLst/>
              <a:cxnLst/>
              <a:rect l="l" t="t" r="r" b="b"/>
              <a:pathLst>
                <a:path h="1447800">
                  <a:moveTo>
                    <a:pt x="0" y="0"/>
                  </a:moveTo>
                  <a:lnTo>
                    <a:pt x="0" y="14478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495800" y="3886200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886200" y="2438400"/>
              <a:ext cx="0" cy="1981200"/>
            </a:xfrm>
            <a:custGeom>
              <a:avLst/>
              <a:gdLst/>
              <a:ahLst/>
              <a:cxnLst/>
              <a:rect l="l" t="t" r="r" b="b"/>
              <a:pathLst>
                <a:path h="1981200">
                  <a:moveTo>
                    <a:pt x="0" y="0"/>
                  </a:moveTo>
                  <a:lnTo>
                    <a:pt x="0" y="19812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886200" y="4419600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905000" y="2590800"/>
              <a:ext cx="0" cy="3962400"/>
            </a:xfrm>
            <a:custGeom>
              <a:avLst/>
              <a:gdLst/>
              <a:ahLst/>
              <a:cxnLst/>
              <a:rect l="l" t="t" r="r" b="b"/>
              <a:pathLst>
                <a:path h="3962400">
                  <a:moveTo>
                    <a:pt x="0" y="0"/>
                  </a:moveTo>
                  <a:lnTo>
                    <a:pt x="0" y="39624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096000" y="5480050"/>
              <a:ext cx="2743200" cy="622300"/>
            </a:xfrm>
            <a:custGeom>
              <a:avLst/>
              <a:gdLst/>
              <a:ahLst/>
              <a:cxnLst/>
              <a:rect l="l" t="t" r="r" b="b"/>
              <a:pathLst>
                <a:path w="2743200" h="622300">
                  <a:moveTo>
                    <a:pt x="2743200" y="609600"/>
                  </a:moveTo>
                  <a:lnTo>
                    <a:pt x="0" y="609600"/>
                  </a:lnTo>
                  <a:lnTo>
                    <a:pt x="0" y="622300"/>
                  </a:lnTo>
                  <a:lnTo>
                    <a:pt x="2743200" y="622300"/>
                  </a:lnTo>
                  <a:lnTo>
                    <a:pt x="2743200" y="609600"/>
                  </a:lnTo>
                  <a:close/>
                </a:path>
                <a:path w="2743200" h="622300">
                  <a:moveTo>
                    <a:pt x="274320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2743200" y="12700"/>
                  </a:lnTo>
                  <a:lnTo>
                    <a:pt x="2743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905000" y="6553200"/>
              <a:ext cx="4191000" cy="0"/>
            </a:xfrm>
            <a:custGeom>
              <a:avLst/>
              <a:gdLst/>
              <a:ahLst/>
              <a:cxnLst/>
              <a:rect l="l" t="t" r="r" b="b"/>
              <a:pathLst>
                <a:path w="4191000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667000" y="2438400"/>
              <a:ext cx="0" cy="3352800"/>
            </a:xfrm>
            <a:custGeom>
              <a:avLst/>
              <a:gdLst/>
              <a:ahLst/>
              <a:cxnLst/>
              <a:rect l="l" t="t" r="r" b="b"/>
              <a:pathLst>
                <a:path h="3352800">
                  <a:moveTo>
                    <a:pt x="0" y="0"/>
                  </a:moveTo>
                  <a:lnTo>
                    <a:pt x="0" y="33528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667000" y="5791200"/>
              <a:ext cx="3429000" cy="0"/>
            </a:xfrm>
            <a:custGeom>
              <a:avLst/>
              <a:gdLst/>
              <a:ahLst/>
              <a:cxnLst/>
              <a:rect l="l" t="t" r="r" b="b"/>
              <a:pathLst>
                <a:path w="3429000">
                  <a:moveTo>
                    <a:pt x="0" y="0"/>
                  </a:moveTo>
                  <a:lnTo>
                    <a:pt x="34290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276600" y="2438400"/>
              <a:ext cx="0" cy="2819400"/>
            </a:xfrm>
            <a:custGeom>
              <a:avLst/>
              <a:gdLst/>
              <a:ahLst/>
              <a:cxnLst/>
              <a:rect l="l" t="t" r="r" b="b"/>
              <a:pathLst>
                <a:path h="2819400">
                  <a:moveTo>
                    <a:pt x="0" y="0"/>
                  </a:moveTo>
                  <a:lnTo>
                    <a:pt x="0" y="28194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276600" y="5257800"/>
              <a:ext cx="2819400" cy="0"/>
            </a:xfrm>
            <a:custGeom>
              <a:avLst/>
              <a:gdLst/>
              <a:ahLst/>
              <a:cxnLst/>
              <a:rect l="l" t="t" r="r" b="b"/>
              <a:pathLst>
                <a:path w="2819400">
                  <a:moveTo>
                    <a:pt x="0" y="0"/>
                  </a:moveTo>
                  <a:lnTo>
                    <a:pt x="2819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295400" y="2538413"/>
              <a:ext cx="1143000" cy="76200"/>
            </a:xfrm>
            <a:custGeom>
              <a:avLst/>
              <a:gdLst/>
              <a:ahLst/>
              <a:cxnLst/>
              <a:rect l="l" t="t" r="r" b="b"/>
              <a:pathLst>
                <a:path w="1143000" h="76200">
                  <a:moveTo>
                    <a:pt x="1143000" y="0"/>
                  </a:moveTo>
                  <a:lnTo>
                    <a:pt x="1135514" y="14831"/>
                  </a:lnTo>
                  <a:lnTo>
                    <a:pt x="1115101" y="26941"/>
                  </a:lnTo>
                  <a:lnTo>
                    <a:pt x="1084824" y="35106"/>
                  </a:lnTo>
                  <a:lnTo>
                    <a:pt x="1047750" y="38100"/>
                  </a:lnTo>
                  <a:lnTo>
                    <a:pt x="666750" y="38100"/>
                  </a:lnTo>
                  <a:lnTo>
                    <a:pt x="629675" y="41093"/>
                  </a:lnTo>
                  <a:lnTo>
                    <a:pt x="599398" y="49258"/>
                  </a:lnTo>
                  <a:lnTo>
                    <a:pt x="578985" y="61368"/>
                  </a:lnTo>
                  <a:lnTo>
                    <a:pt x="571500" y="76200"/>
                  </a:lnTo>
                  <a:lnTo>
                    <a:pt x="564014" y="61368"/>
                  </a:lnTo>
                  <a:lnTo>
                    <a:pt x="543601" y="49258"/>
                  </a:lnTo>
                  <a:lnTo>
                    <a:pt x="513324" y="41093"/>
                  </a:lnTo>
                  <a:lnTo>
                    <a:pt x="476250" y="38100"/>
                  </a:lnTo>
                  <a:lnTo>
                    <a:pt x="95250" y="38100"/>
                  </a:lnTo>
                  <a:lnTo>
                    <a:pt x="58175" y="35106"/>
                  </a:lnTo>
                  <a:lnTo>
                    <a:pt x="27898" y="26941"/>
                  </a:lnTo>
                  <a:lnTo>
                    <a:pt x="7485" y="14831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6520536" y="2546096"/>
            <a:ext cx="1817370" cy="1313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6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Group</a:t>
            </a:r>
            <a:r>
              <a:rPr sz="1800" spc="-100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B</a:t>
            </a:r>
            <a:endParaRPr sz="1800">
              <a:latin typeface="Tahoma"/>
              <a:cs typeface="Tahoma"/>
            </a:endParaRPr>
          </a:p>
          <a:p>
            <a:pPr marL="12065" marR="5080" indent="-635" algn="ctr">
              <a:lnSpc>
                <a:spcPct val="100000"/>
              </a:lnSpc>
              <a:spcBef>
                <a:spcPts val="1260"/>
              </a:spcBef>
            </a:pPr>
            <a:r>
              <a:rPr sz="1400" spc="-15" dirty="0">
                <a:latin typeface="Tahoma"/>
                <a:cs typeface="Tahoma"/>
              </a:rPr>
              <a:t>PORT</a:t>
            </a:r>
            <a:r>
              <a:rPr sz="1400" spc="-1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CL</a:t>
            </a:r>
            <a:r>
              <a:rPr sz="1400" spc="42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(PC3-PC0) </a:t>
            </a:r>
            <a:r>
              <a:rPr sz="140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1=</a:t>
            </a:r>
            <a:r>
              <a:rPr sz="1400" spc="-4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INPUT;0=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OUTPUT </a:t>
            </a:r>
            <a:r>
              <a:rPr sz="1400" spc="-420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PORT</a:t>
            </a:r>
            <a:r>
              <a:rPr sz="1400" spc="-5" dirty="0">
                <a:latin typeface="Tahoma"/>
                <a:cs typeface="Tahoma"/>
              </a:rPr>
              <a:t> B</a:t>
            </a:r>
            <a:endParaRPr sz="14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400" spc="-5" dirty="0">
                <a:latin typeface="Tahoma"/>
                <a:cs typeface="Tahoma"/>
              </a:rPr>
              <a:t>1=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INPUT;0=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OUTPUT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524265" y="3956635"/>
            <a:ext cx="1809750" cy="870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6891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Tahoma"/>
                <a:cs typeface="Tahoma"/>
              </a:rPr>
              <a:t>MODE SELECTION </a:t>
            </a:r>
            <a:r>
              <a:rPr sz="140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0=MODE0;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1=MODE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1</a:t>
            </a:r>
            <a:endParaRPr sz="1400">
              <a:latin typeface="Tahoma"/>
              <a:cs typeface="Tahoma"/>
            </a:endParaRPr>
          </a:p>
          <a:p>
            <a:pPr marL="532765">
              <a:lnSpc>
                <a:spcPct val="100000"/>
              </a:lnSpc>
              <a:spcBef>
                <a:spcPts val="1135"/>
              </a:spcBef>
            </a:pPr>
            <a:r>
              <a:rPr sz="1800" spc="-5" dirty="0">
                <a:latin typeface="Tahoma"/>
                <a:cs typeface="Tahoma"/>
              </a:rPr>
              <a:t>Group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831850" y="2438400"/>
            <a:ext cx="7854950" cy="1981200"/>
            <a:chOff x="831850" y="2438400"/>
            <a:chExt cx="7854950" cy="1981200"/>
          </a:xfrm>
        </p:grpSpPr>
        <p:sp>
          <p:nvSpPr>
            <p:cNvPr id="61" name="object 61"/>
            <p:cNvSpPr/>
            <p:nvPr/>
          </p:nvSpPr>
          <p:spPr>
            <a:xfrm>
              <a:off x="838200" y="2438400"/>
              <a:ext cx="0" cy="1981200"/>
            </a:xfrm>
            <a:custGeom>
              <a:avLst/>
              <a:gdLst/>
              <a:ahLst/>
              <a:cxnLst/>
              <a:rect l="l" t="t" r="r" b="b"/>
              <a:pathLst>
                <a:path h="1981200">
                  <a:moveTo>
                    <a:pt x="0" y="0"/>
                  </a:moveTo>
                  <a:lnTo>
                    <a:pt x="0" y="19812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6096000" y="3435350"/>
              <a:ext cx="2590800" cy="0"/>
            </a:xfrm>
            <a:custGeom>
              <a:avLst/>
              <a:gdLst/>
              <a:ahLst/>
              <a:cxnLst/>
              <a:rect l="l" t="t" r="r" b="b"/>
              <a:pathLst>
                <a:path w="2590800">
                  <a:moveTo>
                    <a:pt x="0" y="0"/>
                  </a:moveTo>
                  <a:lnTo>
                    <a:pt x="25908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096000" y="3916362"/>
              <a:ext cx="2590800" cy="0"/>
            </a:xfrm>
            <a:custGeom>
              <a:avLst/>
              <a:gdLst/>
              <a:ahLst/>
              <a:cxnLst/>
              <a:rect l="l" t="t" r="r" b="b"/>
              <a:pathLst>
                <a:path w="2590800">
                  <a:moveTo>
                    <a:pt x="0" y="0"/>
                  </a:moveTo>
                  <a:lnTo>
                    <a:pt x="25908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6685184" y="4832337"/>
            <a:ext cx="1563370" cy="62039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59690">
              <a:lnSpc>
                <a:spcPct val="100000"/>
              </a:lnSpc>
              <a:spcBef>
                <a:spcPts val="940"/>
              </a:spcBef>
            </a:pPr>
            <a:r>
              <a:rPr sz="1200" spc="-15" dirty="0">
                <a:latin typeface="Tahoma"/>
                <a:cs typeface="Tahoma"/>
              </a:rPr>
              <a:t>PORT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spc="-5" dirty="0">
                <a:latin typeface="Tahoma"/>
                <a:cs typeface="Tahoma"/>
              </a:rPr>
              <a:t>C</a:t>
            </a:r>
            <a:r>
              <a:rPr sz="900" spc="-5" dirty="0">
                <a:latin typeface="Tahoma"/>
                <a:cs typeface="Tahoma"/>
              </a:rPr>
              <a:t>U</a:t>
            </a:r>
            <a:r>
              <a:rPr sz="900" spc="13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(PC7-PC4)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200" spc="-5" dirty="0">
                <a:latin typeface="Tahoma"/>
                <a:cs typeface="Tahoma"/>
              </a:rPr>
              <a:t>1=</a:t>
            </a:r>
            <a:r>
              <a:rPr sz="1200" spc="-40" dirty="0">
                <a:latin typeface="Tahoma"/>
                <a:cs typeface="Tahoma"/>
              </a:rPr>
              <a:t> </a:t>
            </a:r>
            <a:r>
              <a:rPr sz="1200" spc="-5" dirty="0">
                <a:latin typeface="Tahoma"/>
                <a:cs typeface="Tahoma"/>
              </a:rPr>
              <a:t>INPUT;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5" dirty="0">
                <a:latin typeface="Tahoma"/>
                <a:cs typeface="Tahoma"/>
              </a:rPr>
              <a:t>0=OUTPUT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6608984" y="5457380"/>
            <a:ext cx="1564005" cy="833119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527050">
              <a:lnSpc>
                <a:spcPct val="100000"/>
              </a:lnSpc>
              <a:spcBef>
                <a:spcPts val="820"/>
              </a:spcBef>
            </a:pPr>
            <a:r>
              <a:rPr sz="1200" spc="-15" dirty="0">
                <a:latin typeface="Tahoma"/>
                <a:cs typeface="Tahoma"/>
              </a:rPr>
              <a:t>PORT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</a:t>
            </a:r>
            <a:endParaRPr sz="1200">
              <a:latin typeface="Tahoma"/>
              <a:cs typeface="Tahoma"/>
            </a:endParaRPr>
          </a:p>
          <a:p>
            <a:pPr marL="252095" marR="5080" indent="-240029">
              <a:lnSpc>
                <a:spcPct val="141700"/>
              </a:lnSpc>
              <a:spcBef>
                <a:spcPts val="120"/>
              </a:spcBef>
            </a:pPr>
            <a:r>
              <a:rPr sz="1200" spc="-5" dirty="0">
                <a:latin typeface="Tahoma"/>
                <a:cs typeface="Tahoma"/>
              </a:rPr>
              <a:t>1=</a:t>
            </a:r>
            <a:r>
              <a:rPr sz="1200" spc="-40" dirty="0">
                <a:latin typeface="Tahoma"/>
                <a:cs typeface="Tahoma"/>
              </a:rPr>
              <a:t> </a:t>
            </a:r>
            <a:r>
              <a:rPr sz="1200" spc="-5" dirty="0">
                <a:latin typeface="Tahoma"/>
                <a:cs typeface="Tahoma"/>
              </a:rPr>
              <a:t>INPUT;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spc="-5" dirty="0">
                <a:latin typeface="Tahoma"/>
                <a:cs typeface="Tahoma"/>
              </a:rPr>
              <a:t>0=OUTPUT </a:t>
            </a:r>
            <a:r>
              <a:rPr sz="1200" spc="-360" dirty="0">
                <a:latin typeface="Tahoma"/>
                <a:cs typeface="Tahoma"/>
              </a:rPr>
              <a:t> </a:t>
            </a:r>
            <a:r>
              <a:rPr sz="1200" spc="-5" dirty="0">
                <a:latin typeface="Tahoma"/>
                <a:cs typeface="Tahoma"/>
              </a:rPr>
              <a:t>MODE</a:t>
            </a:r>
            <a:r>
              <a:rPr sz="1200" spc="310" dirty="0">
                <a:latin typeface="Tahoma"/>
                <a:cs typeface="Tahoma"/>
              </a:rPr>
              <a:t> </a:t>
            </a:r>
            <a:r>
              <a:rPr sz="1200" spc="-5" dirty="0">
                <a:latin typeface="Tahoma"/>
                <a:cs typeface="Tahoma"/>
              </a:rPr>
              <a:t>SELECTION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6133496" y="6356540"/>
            <a:ext cx="27444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Tahoma"/>
                <a:cs typeface="Tahoma"/>
              </a:rPr>
              <a:t>00=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-5" dirty="0">
                <a:latin typeface="Tahoma"/>
                <a:cs typeface="Tahoma"/>
              </a:rPr>
              <a:t>MODE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spc="-5" dirty="0">
                <a:latin typeface="Tahoma"/>
                <a:cs typeface="Tahoma"/>
              </a:rPr>
              <a:t>0;01=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-5" dirty="0">
                <a:latin typeface="Tahoma"/>
                <a:cs typeface="Tahoma"/>
              </a:rPr>
              <a:t>MODE 1;1X=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spc="-5" dirty="0">
                <a:latin typeface="Tahoma"/>
                <a:cs typeface="Tahoma"/>
              </a:rPr>
              <a:t>MODE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2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C4D6B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5825" y="1843087"/>
            <a:ext cx="8255000" cy="501491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833575"/>
            <a:ext cx="895350" cy="50244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76300" y="6350"/>
            <a:ext cx="19050" cy="150336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17612" y="1833562"/>
            <a:ext cx="7923212" cy="19050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552450" y="1509712"/>
            <a:ext cx="665480" cy="666750"/>
            <a:chOff x="552450" y="1509712"/>
            <a:chExt cx="665480" cy="666750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6300" y="1509712"/>
              <a:ext cx="19050" cy="6667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2450" y="1833562"/>
              <a:ext cx="665162" cy="19050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76705" y="6251447"/>
            <a:ext cx="250697" cy="219455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603250" y="679450"/>
            <a:ext cx="2832100" cy="5270500"/>
            <a:chOff x="603250" y="679450"/>
            <a:chExt cx="2832100" cy="5270500"/>
          </a:xfrm>
        </p:grpSpPr>
        <p:sp>
          <p:nvSpPr>
            <p:cNvPr id="12" name="object 12"/>
            <p:cNvSpPr/>
            <p:nvPr/>
          </p:nvSpPr>
          <p:spPr>
            <a:xfrm>
              <a:off x="1524000" y="685800"/>
              <a:ext cx="1905000" cy="5257800"/>
            </a:xfrm>
            <a:custGeom>
              <a:avLst/>
              <a:gdLst/>
              <a:ahLst/>
              <a:cxnLst/>
              <a:rect l="l" t="t" r="r" b="b"/>
              <a:pathLst>
                <a:path w="1905000" h="5257800">
                  <a:moveTo>
                    <a:pt x="1905000" y="0"/>
                  </a:moveTo>
                  <a:lnTo>
                    <a:pt x="0" y="0"/>
                  </a:lnTo>
                  <a:lnTo>
                    <a:pt x="0" y="5257800"/>
                  </a:lnTo>
                  <a:lnTo>
                    <a:pt x="1905000" y="5257800"/>
                  </a:lnTo>
                  <a:lnTo>
                    <a:pt x="190500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24000" y="685800"/>
              <a:ext cx="1905000" cy="5257800"/>
            </a:xfrm>
            <a:custGeom>
              <a:avLst/>
              <a:gdLst/>
              <a:ahLst/>
              <a:cxnLst/>
              <a:rect l="l" t="t" r="r" b="b"/>
              <a:pathLst>
                <a:path w="1905000" h="5257800">
                  <a:moveTo>
                    <a:pt x="0" y="0"/>
                  </a:moveTo>
                  <a:lnTo>
                    <a:pt x="1905000" y="0"/>
                  </a:lnTo>
                  <a:lnTo>
                    <a:pt x="1905000" y="5257800"/>
                  </a:lnTo>
                  <a:lnTo>
                    <a:pt x="0" y="52578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62000" y="4572000"/>
              <a:ext cx="762000" cy="0"/>
            </a:xfrm>
            <a:custGeom>
              <a:avLst/>
              <a:gdLst/>
              <a:ahLst/>
              <a:cxnLst/>
              <a:rect l="l" t="t" r="r" b="b"/>
              <a:pathLst>
                <a:path w="762000">
                  <a:moveTo>
                    <a:pt x="7620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09600" y="4953000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8382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09600" y="5334000"/>
              <a:ext cx="762000" cy="0"/>
            </a:xfrm>
            <a:custGeom>
              <a:avLst/>
              <a:gdLst/>
              <a:ahLst/>
              <a:cxnLst/>
              <a:rect l="l" t="t" r="r" b="b"/>
              <a:pathLst>
                <a:path w="762000">
                  <a:moveTo>
                    <a:pt x="7620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62000" y="5715000"/>
              <a:ext cx="762000" cy="0"/>
            </a:xfrm>
            <a:custGeom>
              <a:avLst/>
              <a:gdLst/>
              <a:ahLst/>
              <a:cxnLst/>
              <a:rect l="l" t="t" r="r" b="b"/>
              <a:pathLst>
                <a:path w="762000">
                  <a:moveTo>
                    <a:pt x="7620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62000" y="4267200"/>
              <a:ext cx="762000" cy="0"/>
            </a:xfrm>
            <a:custGeom>
              <a:avLst/>
              <a:gdLst/>
              <a:ahLst/>
              <a:cxnLst/>
              <a:rect l="l" t="t" r="r" b="b"/>
              <a:pathLst>
                <a:path w="762000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715344" y="4978463"/>
            <a:ext cx="68389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54305">
              <a:lnSpc>
                <a:spcPct val="15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WR </a:t>
            </a:r>
            <a:r>
              <a:rPr sz="1800" spc="5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RE</a:t>
            </a:r>
            <a:r>
              <a:rPr sz="1800" dirty="0">
                <a:latin typeface="Tahoma"/>
                <a:cs typeface="Tahoma"/>
              </a:rPr>
              <a:t>S</a:t>
            </a:r>
            <a:r>
              <a:rPr sz="1800" spc="-5" dirty="0">
                <a:latin typeface="Tahoma"/>
                <a:cs typeface="Tahoma"/>
              </a:rPr>
              <a:t>ET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822450" y="4718050"/>
            <a:ext cx="393700" cy="393700"/>
            <a:chOff x="1822450" y="4718050"/>
            <a:chExt cx="393700" cy="393700"/>
          </a:xfrm>
        </p:grpSpPr>
        <p:sp>
          <p:nvSpPr>
            <p:cNvPr id="21" name="object 21"/>
            <p:cNvSpPr/>
            <p:nvPr/>
          </p:nvSpPr>
          <p:spPr>
            <a:xfrm>
              <a:off x="1905000" y="4724400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828800" y="5105400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107057" y="869696"/>
            <a:ext cx="1185545" cy="2593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93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Tahoma"/>
                <a:cs typeface="Tahoma"/>
              </a:rPr>
              <a:t>PA7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650">
              <a:latin typeface="Tahoma"/>
              <a:cs typeface="Tahoma"/>
            </a:endParaRPr>
          </a:p>
          <a:p>
            <a:pPr marL="746125" marR="43180" indent="2540">
              <a:lnSpc>
                <a:spcPct val="150000"/>
              </a:lnSpc>
            </a:pPr>
            <a:r>
              <a:rPr sz="1800" spc="-50" dirty="0">
                <a:latin typeface="Tahoma"/>
                <a:cs typeface="Tahoma"/>
              </a:rPr>
              <a:t>P</a:t>
            </a:r>
            <a:r>
              <a:rPr sz="1800" dirty="0">
                <a:latin typeface="Tahoma"/>
                <a:cs typeface="Tahoma"/>
              </a:rPr>
              <a:t>A0  </a:t>
            </a:r>
            <a:r>
              <a:rPr sz="1800" spc="-10" dirty="0">
                <a:latin typeface="Tahoma"/>
                <a:cs typeface="Tahoma"/>
              </a:rPr>
              <a:t>PC</a:t>
            </a:r>
            <a:r>
              <a:rPr sz="1800" dirty="0">
                <a:latin typeface="Tahoma"/>
                <a:cs typeface="Tahoma"/>
              </a:rPr>
              <a:t>7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700">
              <a:latin typeface="Tahoma"/>
              <a:cs typeface="Tahoma"/>
            </a:endParaRPr>
          </a:p>
          <a:p>
            <a:pPr marL="50800" marR="43180" indent="695325">
              <a:lnSpc>
                <a:spcPts val="1860"/>
              </a:lnSpc>
            </a:pPr>
            <a:r>
              <a:rPr sz="1800" spc="-10" dirty="0">
                <a:latin typeface="Tahoma"/>
                <a:cs typeface="Tahoma"/>
              </a:rPr>
              <a:t>PC</a:t>
            </a:r>
            <a:r>
              <a:rPr sz="1800" dirty="0">
                <a:latin typeface="Tahoma"/>
                <a:cs typeface="Tahoma"/>
              </a:rPr>
              <a:t>4  8255A</a:t>
            </a:r>
            <a:r>
              <a:rPr sz="1800" spc="-105" dirty="0">
                <a:latin typeface="Tahoma"/>
                <a:cs typeface="Tahoma"/>
              </a:rPr>
              <a:t> </a:t>
            </a:r>
            <a:r>
              <a:rPr sz="2700" spc="-15" baseline="-43209" dirty="0">
                <a:latin typeface="Tahoma"/>
                <a:cs typeface="Tahoma"/>
              </a:rPr>
              <a:t>PC</a:t>
            </a:r>
            <a:r>
              <a:rPr sz="2700" baseline="-43209" dirty="0">
                <a:latin typeface="Tahoma"/>
                <a:cs typeface="Tahoma"/>
              </a:rPr>
              <a:t>3</a:t>
            </a:r>
            <a:endParaRPr sz="2700" baseline="-43209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40939" y="4024375"/>
            <a:ext cx="413384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 marR="5080" indent="-1905">
              <a:lnSpc>
                <a:spcPct val="15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PC</a:t>
            </a:r>
            <a:r>
              <a:rPr sz="1800" dirty="0">
                <a:latin typeface="Tahoma"/>
                <a:cs typeface="Tahoma"/>
              </a:rPr>
              <a:t>0  </a:t>
            </a:r>
            <a:r>
              <a:rPr sz="1800" spc="-10" dirty="0">
                <a:latin typeface="Tahoma"/>
                <a:cs typeface="Tahoma"/>
              </a:rPr>
              <a:t>P</a:t>
            </a:r>
            <a:r>
              <a:rPr sz="1800" spc="-5" dirty="0">
                <a:latin typeface="Tahoma"/>
                <a:cs typeface="Tahoma"/>
              </a:rPr>
              <a:t>B</a:t>
            </a:r>
            <a:r>
              <a:rPr sz="1800" dirty="0">
                <a:latin typeface="Tahoma"/>
                <a:cs typeface="Tahoma"/>
              </a:rPr>
              <a:t>7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842539" y="5395976"/>
            <a:ext cx="410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P</a:t>
            </a:r>
            <a:r>
              <a:rPr sz="1800" spc="-5" dirty="0">
                <a:latin typeface="Tahoma"/>
                <a:cs typeface="Tahoma"/>
              </a:rPr>
              <a:t>B</a:t>
            </a:r>
            <a:r>
              <a:rPr sz="1800" dirty="0">
                <a:latin typeface="Tahoma"/>
                <a:cs typeface="Tahoma"/>
              </a:rPr>
              <a:t>0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009906" y="1143003"/>
            <a:ext cx="76200" cy="4273550"/>
            <a:chOff x="3009906" y="1143003"/>
            <a:chExt cx="76200" cy="4273550"/>
          </a:xfrm>
        </p:grpSpPr>
        <p:sp>
          <p:nvSpPr>
            <p:cNvPr id="27" name="object 27"/>
            <p:cNvSpPr/>
            <p:nvPr/>
          </p:nvSpPr>
          <p:spPr>
            <a:xfrm>
              <a:off x="3048000" y="1206499"/>
              <a:ext cx="0" cy="469900"/>
            </a:xfrm>
            <a:custGeom>
              <a:avLst/>
              <a:gdLst/>
              <a:ahLst/>
              <a:cxnLst/>
              <a:rect l="l" t="t" r="r" b="b"/>
              <a:pathLst>
                <a:path h="469900">
                  <a:moveTo>
                    <a:pt x="0" y="4699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009906" y="114300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087" y="0"/>
                  </a:moveTo>
                  <a:lnTo>
                    <a:pt x="0" y="76200"/>
                  </a:lnTo>
                  <a:lnTo>
                    <a:pt x="76200" y="76187"/>
                  </a:lnTo>
                  <a:lnTo>
                    <a:pt x="380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048000" y="2425700"/>
              <a:ext cx="0" cy="469900"/>
            </a:xfrm>
            <a:custGeom>
              <a:avLst/>
              <a:gdLst/>
              <a:ahLst/>
              <a:cxnLst/>
              <a:rect l="l" t="t" r="r" b="b"/>
              <a:pathLst>
                <a:path h="469900">
                  <a:moveTo>
                    <a:pt x="0" y="4699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009906" y="236220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087" y="0"/>
                  </a:moveTo>
                  <a:lnTo>
                    <a:pt x="0" y="76200"/>
                  </a:lnTo>
                  <a:lnTo>
                    <a:pt x="76200" y="76187"/>
                  </a:lnTo>
                  <a:lnTo>
                    <a:pt x="380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048000" y="3644899"/>
              <a:ext cx="0" cy="469900"/>
            </a:xfrm>
            <a:custGeom>
              <a:avLst/>
              <a:gdLst/>
              <a:ahLst/>
              <a:cxnLst/>
              <a:rect l="l" t="t" r="r" b="b"/>
              <a:pathLst>
                <a:path h="469900">
                  <a:moveTo>
                    <a:pt x="0" y="4699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009906" y="358140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087" y="0"/>
                  </a:moveTo>
                  <a:lnTo>
                    <a:pt x="0" y="76199"/>
                  </a:lnTo>
                  <a:lnTo>
                    <a:pt x="76200" y="76187"/>
                  </a:lnTo>
                  <a:lnTo>
                    <a:pt x="380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048000" y="4940299"/>
              <a:ext cx="0" cy="469900"/>
            </a:xfrm>
            <a:custGeom>
              <a:avLst/>
              <a:gdLst/>
              <a:ahLst/>
              <a:cxnLst/>
              <a:rect l="l" t="t" r="r" b="b"/>
              <a:pathLst>
                <a:path h="469900">
                  <a:moveTo>
                    <a:pt x="0" y="4699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009906" y="487680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087" y="0"/>
                  </a:moveTo>
                  <a:lnTo>
                    <a:pt x="0" y="76199"/>
                  </a:lnTo>
                  <a:lnTo>
                    <a:pt x="76200" y="76187"/>
                  </a:lnTo>
                  <a:lnTo>
                    <a:pt x="380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1895938" y="3466528"/>
            <a:ext cx="344170" cy="1537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" marR="5080" indent="36195">
              <a:lnSpc>
                <a:spcPct val="1256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CS  </a:t>
            </a:r>
            <a:r>
              <a:rPr sz="1800" dirty="0">
                <a:latin typeface="Tahoma"/>
                <a:cs typeface="Tahoma"/>
              </a:rPr>
              <a:t>A1</a:t>
            </a:r>
            <a:endParaRPr sz="1800">
              <a:latin typeface="Tahoma"/>
              <a:cs typeface="Tahoma"/>
            </a:endParaRPr>
          </a:p>
          <a:p>
            <a:pPr marL="12700" marR="26670" indent="17145">
              <a:lnSpc>
                <a:spcPct val="150000"/>
              </a:lnSpc>
            </a:pPr>
            <a:r>
              <a:rPr sz="1800" dirty="0">
                <a:latin typeface="Tahoma"/>
                <a:cs typeface="Tahoma"/>
              </a:rPr>
              <a:t>A0 </a:t>
            </a:r>
            <a:r>
              <a:rPr sz="1800" spc="-55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RD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457200" y="984250"/>
            <a:ext cx="4876800" cy="4584700"/>
            <a:chOff x="457200" y="984250"/>
            <a:chExt cx="4876800" cy="4584700"/>
          </a:xfrm>
        </p:grpSpPr>
        <p:sp>
          <p:nvSpPr>
            <p:cNvPr id="37" name="object 37"/>
            <p:cNvSpPr/>
            <p:nvPr/>
          </p:nvSpPr>
          <p:spPr>
            <a:xfrm>
              <a:off x="1905000" y="3505200"/>
              <a:ext cx="381000" cy="0"/>
            </a:xfrm>
            <a:custGeom>
              <a:avLst/>
              <a:gdLst/>
              <a:ahLst/>
              <a:cxnLst/>
              <a:rect l="l" t="t" r="r" b="b"/>
              <a:pathLst>
                <a:path w="381000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41450" y="4870450"/>
              <a:ext cx="165100" cy="16510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65250" y="5251450"/>
              <a:ext cx="165100" cy="165100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457200" y="3657600"/>
              <a:ext cx="990600" cy="0"/>
            </a:xfrm>
            <a:custGeom>
              <a:avLst/>
              <a:gdLst/>
              <a:ahLst/>
              <a:cxnLst/>
              <a:rect l="l" t="t" r="r" b="b"/>
              <a:pathLst>
                <a:path w="990600">
                  <a:moveTo>
                    <a:pt x="9906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41450" y="3575050"/>
              <a:ext cx="165100" cy="165100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3429000" y="990600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429000" y="1828800"/>
              <a:ext cx="1752600" cy="0"/>
            </a:xfrm>
            <a:custGeom>
              <a:avLst/>
              <a:gdLst/>
              <a:ahLst/>
              <a:cxnLst/>
              <a:rect l="l" t="t" r="r" b="b"/>
              <a:pathLst>
                <a:path w="1752600">
                  <a:moveTo>
                    <a:pt x="0" y="0"/>
                  </a:moveTo>
                  <a:lnTo>
                    <a:pt x="17526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429000" y="2209800"/>
              <a:ext cx="1752600" cy="0"/>
            </a:xfrm>
            <a:custGeom>
              <a:avLst/>
              <a:gdLst/>
              <a:ahLst/>
              <a:cxnLst/>
              <a:rect l="l" t="t" r="r" b="b"/>
              <a:pathLst>
                <a:path w="1752600">
                  <a:moveTo>
                    <a:pt x="0" y="0"/>
                  </a:moveTo>
                  <a:lnTo>
                    <a:pt x="17526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29000" y="2971800"/>
              <a:ext cx="1752600" cy="0"/>
            </a:xfrm>
            <a:custGeom>
              <a:avLst/>
              <a:gdLst/>
              <a:ahLst/>
              <a:cxnLst/>
              <a:rect l="l" t="t" r="r" b="b"/>
              <a:pathLst>
                <a:path w="1752600">
                  <a:moveTo>
                    <a:pt x="0" y="0"/>
                  </a:moveTo>
                  <a:lnTo>
                    <a:pt x="17526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29000" y="3505200"/>
              <a:ext cx="1905000" cy="0"/>
            </a:xfrm>
            <a:custGeom>
              <a:avLst/>
              <a:gdLst/>
              <a:ahLst/>
              <a:cxnLst/>
              <a:rect l="l" t="t" r="r" b="b"/>
              <a:pathLst>
                <a:path w="1905000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429000" y="4343400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429000" y="4800600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429000" y="5562600"/>
              <a:ext cx="1676400" cy="0"/>
            </a:xfrm>
            <a:custGeom>
              <a:avLst/>
              <a:gdLst/>
              <a:ahLst/>
              <a:cxnLst/>
              <a:rect l="l" t="t" r="r" b="b"/>
              <a:pathLst>
                <a:path w="1676400">
                  <a:moveTo>
                    <a:pt x="0" y="0"/>
                  </a:moveTo>
                  <a:lnTo>
                    <a:pt x="1676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1145539" y="6280595"/>
            <a:ext cx="95250" cy="179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C4D6B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5825" y="1843087"/>
            <a:ext cx="8255000" cy="501491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833575"/>
            <a:ext cx="895350" cy="50244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76300" y="6350"/>
            <a:ext cx="19050" cy="150336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17612" y="1833562"/>
            <a:ext cx="7923212" cy="19050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552450" y="1509712"/>
            <a:ext cx="665480" cy="666750"/>
            <a:chOff x="552450" y="1509712"/>
            <a:chExt cx="665480" cy="666750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6300" y="1509712"/>
              <a:ext cx="19050" cy="6667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2450" y="1833562"/>
              <a:ext cx="665162" cy="19050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76705" y="6251447"/>
            <a:ext cx="250697" cy="219455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845057" y="67056"/>
            <a:ext cx="7199630" cy="1426845"/>
            <a:chOff x="845057" y="67056"/>
            <a:chExt cx="7199630" cy="1426845"/>
          </a:xfrm>
        </p:grpSpPr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45057" y="67056"/>
              <a:ext cx="7199375" cy="81686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45057" y="676655"/>
              <a:ext cx="2825495" cy="816863"/>
            </a:xfrm>
            <a:prstGeom prst="rect">
              <a:avLst/>
            </a:prstGeom>
          </p:spPr>
        </p:pic>
      </p:grpSp>
      <p:pic>
        <p:nvPicPr>
          <p:cNvPr id="14" name="object 1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67739" y="1959101"/>
            <a:ext cx="2327147" cy="499872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145539" y="212534"/>
            <a:ext cx="6410325" cy="1245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solidFill>
                  <a:srgbClr val="339966"/>
                </a:solidFill>
                <a:latin typeface="Tahoma"/>
                <a:cs typeface="Tahoma"/>
              </a:rPr>
              <a:t>Mode</a:t>
            </a:r>
            <a:r>
              <a:rPr sz="4000" b="1" spc="-25" dirty="0">
                <a:solidFill>
                  <a:srgbClr val="339966"/>
                </a:solidFill>
                <a:latin typeface="Tahoma"/>
                <a:cs typeface="Tahoma"/>
              </a:rPr>
              <a:t> </a:t>
            </a:r>
            <a:r>
              <a:rPr sz="4000" b="1" dirty="0">
                <a:solidFill>
                  <a:srgbClr val="339966"/>
                </a:solidFill>
                <a:latin typeface="Tahoma"/>
                <a:cs typeface="Tahoma"/>
              </a:rPr>
              <a:t>0</a:t>
            </a:r>
            <a:r>
              <a:rPr sz="4000" b="1" spc="-10" dirty="0">
                <a:solidFill>
                  <a:srgbClr val="339966"/>
                </a:solidFill>
                <a:latin typeface="Tahoma"/>
                <a:cs typeface="Tahoma"/>
              </a:rPr>
              <a:t> </a:t>
            </a:r>
            <a:r>
              <a:rPr sz="4000" b="1" dirty="0">
                <a:solidFill>
                  <a:srgbClr val="339966"/>
                </a:solidFill>
                <a:latin typeface="Tahoma"/>
                <a:cs typeface="Tahoma"/>
              </a:rPr>
              <a:t>(</a:t>
            </a:r>
            <a:r>
              <a:rPr sz="4000" b="1" spc="-20" dirty="0">
                <a:solidFill>
                  <a:srgbClr val="339966"/>
                </a:solidFill>
                <a:latin typeface="Tahoma"/>
                <a:cs typeface="Tahoma"/>
              </a:rPr>
              <a:t> </a:t>
            </a:r>
            <a:r>
              <a:rPr sz="4000" b="1" spc="-5" dirty="0">
                <a:solidFill>
                  <a:srgbClr val="339966"/>
                </a:solidFill>
                <a:latin typeface="Tahoma"/>
                <a:cs typeface="Tahoma"/>
              </a:rPr>
              <a:t>Simple</a:t>
            </a:r>
            <a:r>
              <a:rPr sz="4000" b="1" spc="-10" dirty="0">
                <a:solidFill>
                  <a:srgbClr val="339966"/>
                </a:solidFill>
                <a:latin typeface="Tahoma"/>
                <a:cs typeface="Tahoma"/>
              </a:rPr>
              <a:t> </a:t>
            </a:r>
            <a:r>
              <a:rPr sz="4000" b="1" dirty="0">
                <a:solidFill>
                  <a:srgbClr val="339966"/>
                </a:solidFill>
                <a:latin typeface="Tahoma"/>
                <a:cs typeface="Tahoma"/>
              </a:rPr>
              <a:t>Input</a:t>
            </a:r>
            <a:r>
              <a:rPr sz="4000" b="1" spc="-15" dirty="0">
                <a:solidFill>
                  <a:srgbClr val="339966"/>
                </a:solidFill>
                <a:latin typeface="Tahoma"/>
                <a:cs typeface="Tahoma"/>
              </a:rPr>
              <a:t> </a:t>
            </a:r>
            <a:r>
              <a:rPr sz="4000" b="1" dirty="0">
                <a:solidFill>
                  <a:srgbClr val="339966"/>
                </a:solidFill>
                <a:latin typeface="Tahoma"/>
                <a:cs typeface="Tahoma"/>
              </a:rPr>
              <a:t>or </a:t>
            </a:r>
            <a:r>
              <a:rPr sz="4000" b="1" spc="-1155" dirty="0">
                <a:solidFill>
                  <a:srgbClr val="339966"/>
                </a:solidFill>
                <a:latin typeface="Tahoma"/>
                <a:cs typeface="Tahoma"/>
              </a:rPr>
              <a:t> </a:t>
            </a:r>
            <a:r>
              <a:rPr sz="4000" b="1" spc="-5" dirty="0">
                <a:solidFill>
                  <a:srgbClr val="339966"/>
                </a:solidFill>
                <a:latin typeface="Tahoma"/>
                <a:cs typeface="Tahoma"/>
              </a:rPr>
              <a:t>Output</a:t>
            </a:r>
            <a:r>
              <a:rPr sz="4000" b="1" spc="-30" dirty="0">
                <a:solidFill>
                  <a:srgbClr val="339966"/>
                </a:solidFill>
                <a:latin typeface="Tahoma"/>
                <a:cs typeface="Tahoma"/>
              </a:rPr>
              <a:t> </a:t>
            </a:r>
            <a:r>
              <a:rPr sz="4000" b="1" dirty="0">
                <a:solidFill>
                  <a:srgbClr val="339966"/>
                </a:solidFill>
                <a:latin typeface="Tahoma"/>
                <a:cs typeface="Tahoma"/>
              </a:rPr>
              <a:t>)</a:t>
            </a:r>
            <a:endParaRPr sz="40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053845" y="2554223"/>
            <a:ext cx="7721600" cy="3405504"/>
            <a:chOff x="1053845" y="2554223"/>
            <a:chExt cx="7721600" cy="3405504"/>
          </a:xfrm>
        </p:grpSpPr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53845" y="2675381"/>
              <a:ext cx="361950" cy="29184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341881" y="2554223"/>
              <a:ext cx="1433322" cy="41757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433066" y="2554223"/>
              <a:ext cx="896873" cy="41757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988563" y="2554223"/>
              <a:ext cx="1069847" cy="41757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714749" y="2554223"/>
              <a:ext cx="974597" cy="41757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346447" y="2554223"/>
              <a:ext cx="3160775" cy="41757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165085" y="2554223"/>
              <a:ext cx="435101" cy="41757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257287" y="2554223"/>
              <a:ext cx="1321307" cy="41757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235695" y="2554223"/>
              <a:ext cx="435101" cy="417576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342644" y="2859023"/>
              <a:ext cx="5124449" cy="417576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124194" y="2859023"/>
              <a:ext cx="619505" cy="417576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401561" y="2859023"/>
              <a:ext cx="2173985" cy="417576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53845" y="3345941"/>
              <a:ext cx="361950" cy="29184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342644" y="3224783"/>
              <a:ext cx="6444233" cy="418338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53845" y="3711701"/>
              <a:ext cx="361950" cy="29184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421129" y="3590544"/>
              <a:ext cx="5246369" cy="418338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402323" y="3755897"/>
              <a:ext cx="244601" cy="245363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467855" y="3590544"/>
              <a:ext cx="2127503" cy="418338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342644" y="3895343"/>
              <a:ext cx="2779775" cy="418338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857243" y="4060697"/>
              <a:ext cx="303276" cy="245363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901439" y="3895343"/>
              <a:ext cx="2944367" cy="418338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504431" y="3895343"/>
              <a:ext cx="481583" cy="418338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6642353" y="3895343"/>
              <a:ext cx="419861" cy="418338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53845" y="4382262"/>
              <a:ext cx="361950" cy="291845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342644" y="4261103"/>
              <a:ext cx="6909815" cy="418338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342644" y="4565903"/>
              <a:ext cx="3255263" cy="418338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53845" y="5052822"/>
              <a:ext cx="361950" cy="291845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421129" y="4931663"/>
              <a:ext cx="6964679" cy="418338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342644" y="5236464"/>
              <a:ext cx="6797039" cy="418337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873745" y="5401817"/>
              <a:ext cx="244601" cy="245363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7938515" y="5236463"/>
              <a:ext cx="836675" cy="418338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341881" y="5541263"/>
              <a:ext cx="3534155" cy="418338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4612386" y="5706617"/>
              <a:ext cx="265176" cy="245363"/>
            </a:xfrm>
            <a:prstGeom prst="rect">
              <a:avLst/>
            </a:prstGeom>
          </p:spPr>
        </p:pic>
      </p:grpSp>
      <p:sp>
        <p:nvSpPr>
          <p:cNvPr id="50" name="object 50"/>
          <p:cNvSpPr txBox="1"/>
          <p:nvPr/>
        </p:nvSpPr>
        <p:spPr>
          <a:xfrm>
            <a:off x="1145539" y="2042858"/>
            <a:ext cx="7380605" cy="38976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339966"/>
                </a:solidFill>
                <a:latin typeface="Tahoma"/>
                <a:cs typeface="Tahoma"/>
              </a:rPr>
              <a:t>PROBLEM</a:t>
            </a:r>
            <a:r>
              <a:rPr sz="2400" b="1" spc="-100" dirty="0">
                <a:solidFill>
                  <a:srgbClr val="339966"/>
                </a:solidFill>
                <a:latin typeface="Tahoma"/>
                <a:cs typeface="Tahoma"/>
              </a:rPr>
              <a:t> </a:t>
            </a:r>
            <a:r>
              <a:rPr sz="2400" b="1" dirty="0">
                <a:solidFill>
                  <a:srgbClr val="339966"/>
                </a:solidFill>
                <a:latin typeface="Tahoma"/>
                <a:cs typeface="Tahoma"/>
              </a:rPr>
              <a:t>1)</a:t>
            </a:r>
            <a:endParaRPr sz="2400">
              <a:latin typeface="Tahoma"/>
              <a:cs typeface="Tahoma"/>
            </a:endParaRPr>
          </a:p>
          <a:p>
            <a:pPr marL="354965" marR="31115" indent="-342900">
              <a:lnSpc>
                <a:spcPct val="100000"/>
              </a:lnSpc>
              <a:spcBef>
                <a:spcPts val="1685"/>
              </a:spcBef>
              <a:buClr>
                <a:srgbClr val="009900"/>
              </a:buClr>
              <a:buSzPct val="70000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000" spc="-5" dirty="0">
                <a:latin typeface="Tahoma"/>
                <a:cs typeface="Tahoma"/>
              </a:rPr>
              <a:t>Interface</a:t>
            </a:r>
            <a:r>
              <a:rPr sz="2000" spc="1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8255a</a:t>
            </a:r>
            <a:r>
              <a:rPr sz="2000" spc="-1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to</a:t>
            </a:r>
            <a:r>
              <a:rPr sz="2000" spc="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a</a:t>
            </a:r>
            <a:r>
              <a:rPr sz="2000" spc="1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8085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microprocessor</a:t>
            </a:r>
            <a:r>
              <a:rPr sz="2000" spc="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using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I/O-mapped</a:t>
            </a:r>
            <a:r>
              <a:rPr sz="2000" spc="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- </a:t>
            </a:r>
            <a:r>
              <a:rPr sz="2000" spc="-61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I/O</a:t>
            </a:r>
            <a:r>
              <a:rPr sz="200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technique so</a:t>
            </a:r>
            <a:r>
              <a:rPr sz="200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that</a:t>
            </a:r>
            <a:r>
              <a:rPr sz="2000" spc="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Port</a:t>
            </a:r>
            <a:r>
              <a:rPr sz="2000" spc="1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a have</a:t>
            </a:r>
            <a:r>
              <a:rPr sz="200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address</a:t>
            </a:r>
            <a:r>
              <a:rPr sz="2000" spc="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80H in the</a:t>
            </a:r>
            <a:r>
              <a:rPr sz="2000" spc="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system.</a:t>
            </a:r>
            <a:endParaRPr sz="20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009900"/>
              </a:buClr>
              <a:buSzPct val="70000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000" spc="-5" dirty="0">
                <a:latin typeface="Tahoma"/>
                <a:cs typeface="Tahoma"/>
              </a:rPr>
              <a:t>Determine</a:t>
            </a:r>
            <a:r>
              <a:rPr sz="2000" spc="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addresses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of Ports</a:t>
            </a:r>
            <a:r>
              <a:rPr sz="2000" spc="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B,C</a:t>
            </a:r>
            <a:r>
              <a:rPr sz="2000" spc="-1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and control</a:t>
            </a:r>
            <a:r>
              <a:rPr sz="2000" spc="2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register.</a:t>
            </a:r>
            <a:endParaRPr sz="2000">
              <a:latin typeface="Tahoma"/>
              <a:cs typeface="Tahoma"/>
            </a:endParaRPr>
          </a:p>
          <a:p>
            <a:pPr marL="355600" marR="188595" indent="-343535">
              <a:lnSpc>
                <a:spcPct val="100000"/>
              </a:lnSpc>
              <a:spcBef>
                <a:spcPts val="480"/>
              </a:spcBef>
              <a:buClr>
                <a:srgbClr val="009900"/>
              </a:buClr>
              <a:buSzPct val="70000"/>
              <a:buFont typeface="Wingdings"/>
              <a:buChar char=""/>
              <a:tabLst>
                <a:tab pos="433705" algn="l"/>
                <a:tab pos="434340" algn="l"/>
              </a:tabLst>
            </a:pPr>
            <a:r>
              <a:rPr dirty="0"/>
              <a:t>	</a:t>
            </a:r>
            <a:r>
              <a:rPr sz="2000" spc="-5" dirty="0">
                <a:latin typeface="Tahoma"/>
                <a:cs typeface="Tahoma"/>
              </a:rPr>
              <a:t>Write</a:t>
            </a:r>
            <a:r>
              <a:rPr sz="2000" spc="2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an ALP</a:t>
            </a:r>
            <a:r>
              <a:rPr sz="2000" spc="1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to</a:t>
            </a:r>
            <a:r>
              <a:rPr sz="200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configure</a:t>
            </a:r>
            <a:r>
              <a:rPr sz="200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port</a:t>
            </a:r>
            <a:r>
              <a:rPr sz="2000" spc="1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A</a:t>
            </a:r>
            <a:r>
              <a:rPr sz="2000" spc="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and</a:t>
            </a:r>
            <a:r>
              <a:rPr sz="2000" spc="-1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port</a:t>
            </a:r>
            <a:r>
              <a:rPr sz="2000" spc="10" dirty="0">
                <a:latin typeface="Tahoma"/>
                <a:cs typeface="Tahoma"/>
              </a:rPr>
              <a:t> </a:t>
            </a:r>
            <a:r>
              <a:rPr sz="2000" spc="5" dirty="0">
                <a:latin typeface="Tahoma"/>
                <a:cs typeface="Tahoma"/>
              </a:rPr>
              <a:t>C</a:t>
            </a:r>
            <a:r>
              <a:rPr sz="1000" spc="5" dirty="0">
                <a:latin typeface="Tahoma"/>
                <a:cs typeface="Tahoma"/>
              </a:rPr>
              <a:t>L</a:t>
            </a:r>
            <a:r>
              <a:rPr sz="1000" spc="30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as output</a:t>
            </a:r>
            <a:r>
              <a:rPr sz="2000" spc="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ports </a:t>
            </a:r>
            <a:r>
              <a:rPr sz="2000" spc="-61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and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port</a:t>
            </a:r>
            <a:r>
              <a:rPr sz="2000" spc="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B and</a:t>
            </a:r>
            <a:r>
              <a:rPr sz="2000" spc="-1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port</a:t>
            </a:r>
            <a:r>
              <a:rPr sz="2000" spc="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C</a:t>
            </a:r>
            <a:r>
              <a:rPr sz="1000" dirty="0">
                <a:latin typeface="Tahoma"/>
                <a:cs typeface="Tahoma"/>
              </a:rPr>
              <a:t>U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as</a:t>
            </a:r>
            <a:r>
              <a:rPr sz="200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input ports</a:t>
            </a:r>
            <a:r>
              <a:rPr sz="2000" spc="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in</a:t>
            </a:r>
            <a:r>
              <a:rPr sz="2000" spc="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mode</a:t>
            </a:r>
            <a:r>
              <a:rPr sz="200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0.</a:t>
            </a:r>
            <a:endParaRPr sz="2000">
              <a:latin typeface="Tahoma"/>
              <a:cs typeface="Tahoma"/>
            </a:endParaRPr>
          </a:p>
          <a:p>
            <a:pPr marL="355600" marR="534035" indent="-342900">
              <a:lnSpc>
                <a:spcPct val="100000"/>
              </a:lnSpc>
              <a:spcBef>
                <a:spcPts val="480"/>
              </a:spcBef>
              <a:buClr>
                <a:srgbClr val="009900"/>
              </a:buClr>
              <a:buSzPct val="70000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000" spc="-5" dirty="0">
                <a:latin typeface="Tahoma"/>
                <a:cs typeface="Tahoma"/>
              </a:rPr>
              <a:t>Connect DIP</a:t>
            </a:r>
            <a:r>
              <a:rPr sz="2000" spc="1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switches</a:t>
            </a:r>
            <a:r>
              <a:rPr sz="2000" spc="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connected to</a:t>
            </a:r>
            <a:r>
              <a:rPr sz="2000" spc="1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the</a:t>
            </a:r>
            <a:r>
              <a:rPr sz="200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to</a:t>
            </a:r>
            <a:r>
              <a:rPr sz="2000" spc="1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input</a:t>
            </a:r>
            <a:r>
              <a:rPr sz="200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ports</a:t>
            </a:r>
            <a:r>
              <a:rPr sz="2000" spc="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and </a:t>
            </a:r>
            <a:r>
              <a:rPr sz="2000" spc="-61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LEDs to</a:t>
            </a:r>
            <a:r>
              <a:rPr sz="2000" spc="1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the</a:t>
            </a:r>
            <a:r>
              <a:rPr sz="200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output</a:t>
            </a:r>
            <a:r>
              <a:rPr sz="2000" spc="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ports</a:t>
            </a:r>
            <a:r>
              <a:rPr sz="200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.</a:t>
            </a:r>
            <a:endParaRPr sz="2000">
              <a:latin typeface="Tahoma"/>
              <a:cs typeface="Tahoma"/>
            </a:endParaRPr>
          </a:p>
          <a:p>
            <a:pPr marL="354965" marR="5080" indent="-342900">
              <a:lnSpc>
                <a:spcPct val="100000"/>
              </a:lnSpc>
              <a:spcBef>
                <a:spcPts val="480"/>
              </a:spcBef>
              <a:buClr>
                <a:srgbClr val="009900"/>
              </a:buClr>
              <a:buSzPct val="70000"/>
              <a:buFont typeface="Wingdings"/>
              <a:buChar char=""/>
              <a:tabLst>
                <a:tab pos="433705" algn="l"/>
                <a:tab pos="434340" algn="l"/>
              </a:tabLst>
            </a:pPr>
            <a:r>
              <a:rPr dirty="0"/>
              <a:t>	</a:t>
            </a:r>
            <a:r>
              <a:rPr sz="2000" spc="-5" dirty="0">
                <a:latin typeface="Tahoma"/>
                <a:cs typeface="Tahoma"/>
              </a:rPr>
              <a:t>Read</a:t>
            </a:r>
            <a:r>
              <a:rPr sz="2000" spc="-1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switch</a:t>
            </a:r>
            <a:r>
              <a:rPr sz="2000" spc="1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positions</a:t>
            </a:r>
            <a:r>
              <a:rPr sz="2000" spc="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connected to</a:t>
            </a:r>
            <a:r>
              <a:rPr sz="2000" spc="1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port</a:t>
            </a:r>
            <a:r>
              <a:rPr sz="2000" spc="1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A</a:t>
            </a:r>
            <a:r>
              <a:rPr sz="2000" spc="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and</a:t>
            </a:r>
            <a:r>
              <a:rPr sz="2000" spc="-1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turn</a:t>
            </a:r>
            <a:r>
              <a:rPr sz="2000" spc="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on</a:t>
            </a:r>
            <a:r>
              <a:rPr sz="200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the </a:t>
            </a:r>
            <a:r>
              <a:rPr sz="200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respective</a:t>
            </a:r>
            <a:r>
              <a:rPr sz="2000" spc="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LEDs</a:t>
            </a:r>
            <a:r>
              <a:rPr sz="2000" spc="1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of</a:t>
            </a:r>
            <a:r>
              <a:rPr sz="200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port</a:t>
            </a:r>
            <a:r>
              <a:rPr sz="2000" spc="1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b.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Read switch</a:t>
            </a:r>
            <a:r>
              <a:rPr sz="2000" spc="1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positions</a:t>
            </a:r>
            <a:r>
              <a:rPr sz="2000" spc="1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of</a:t>
            </a:r>
            <a:r>
              <a:rPr sz="2000" spc="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port</a:t>
            </a:r>
            <a:r>
              <a:rPr sz="2000" spc="5" dirty="0">
                <a:latin typeface="Tahoma"/>
                <a:cs typeface="Tahoma"/>
              </a:rPr>
              <a:t> </a:t>
            </a:r>
            <a:r>
              <a:rPr sz="2000" spc="10" dirty="0">
                <a:latin typeface="Tahoma"/>
                <a:cs typeface="Tahoma"/>
              </a:rPr>
              <a:t>C</a:t>
            </a:r>
            <a:r>
              <a:rPr sz="1000" spc="10" dirty="0">
                <a:latin typeface="Tahoma"/>
                <a:cs typeface="Tahoma"/>
              </a:rPr>
              <a:t>L</a:t>
            </a:r>
            <a:r>
              <a:rPr sz="1000" spc="31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and </a:t>
            </a:r>
            <a:r>
              <a:rPr sz="2000" spc="-61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display</a:t>
            </a:r>
            <a:r>
              <a:rPr sz="2000" spc="-1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the</a:t>
            </a:r>
            <a:r>
              <a:rPr sz="2000" spc="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reading at</a:t>
            </a:r>
            <a:r>
              <a:rPr sz="2000" spc="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port</a:t>
            </a:r>
            <a:r>
              <a:rPr sz="2000" spc="5" dirty="0">
                <a:latin typeface="Tahoma"/>
                <a:cs typeface="Tahoma"/>
              </a:rPr>
              <a:t> C</a:t>
            </a:r>
            <a:r>
              <a:rPr sz="1000" spc="5" dirty="0">
                <a:latin typeface="Tahoma"/>
                <a:cs typeface="Tahoma"/>
              </a:rPr>
              <a:t>U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145539" y="6280595"/>
            <a:ext cx="95250" cy="179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C4D6B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5825" y="1843087"/>
            <a:ext cx="8255000" cy="501491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833575"/>
            <a:ext cx="895350" cy="50244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76300" y="6350"/>
            <a:ext cx="19050" cy="150336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17612" y="1833562"/>
            <a:ext cx="7923212" cy="19050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552450" y="1509712"/>
            <a:ext cx="665480" cy="666750"/>
            <a:chOff x="552450" y="1509712"/>
            <a:chExt cx="665480" cy="666750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6300" y="1509712"/>
              <a:ext cx="19050" cy="6667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2450" y="1833562"/>
              <a:ext cx="665162" cy="19050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76705" y="6251447"/>
            <a:ext cx="250697" cy="21945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8016" y="507491"/>
            <a:ext cx="8497823" cy="896873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459740" y="669734"/>
            <a:ext cx="7630159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089650" algn="l"/>
              </a:tabLst>
            </a:pPr>
            <a:r>
              <a:rPr b="1" spc="-5" dirty="0">
                <a:solidFill>
                  <a:srgbClr val="339966"/>
                </a:solidFill>
                <a:latin typeface="Tahoma"/>
                <a:cs typeface="Tahoma"/>
              </a:rPr>
              <a:t>BSR (B</a:t>
            </a:r>
            <a:r>
              <a:rPr b="1" spc="-10" dirty="0">
                <a:solidFill>
                  <a:srgbClr val="339966"/>
                </a:solidFill>
                <a:latin typeface="Tahoma"/>
                <a:cs typeface="Tahoma"/>
              </a:rPr>
              <a:t>i</a:t>
            </a:r>
            <a:r>
              <a:rPr b="1" spc="-5" dirty="0">
                <a:solidFill>
                  <a:srgbClr val="339966"/>
                </a:solidFill>
                <a:latin typeface="Tahoma"/>
                <a:cs typeface="Tahoma"/>
              </a:rPr>
              <a:t>t</a:t>
            </a:r>
            <a:r>
              <a:rPr b="1" spc="-10" dirty="0">
                <a:solidFill>
                  <a:srgbClr val="339966"/>
                </a:solidFill>
                <a:latin typeface="Tahoma"/>
                <a:cs typeface="Tahoma"/>
              </a:rPr>
              <a:t> </a:t>
            </a:r>
            <a:r>
              <a:rPr b="1" spc="-5" dirty="0">
                <a:solidFill>
                  <a:srgbClr val="339966"/>
                </a:solidFill>
                <a:latin typeface="Tahoma"/>
                <a:cs typeface="Tahoma"/>
              </a:rPr>
              <a:t>S</a:t>
            </a:r>
            <a:r>
              <a:rPr b="1" spc="-10" dirty="0">
                <a:solidFill>
                  <a:srgbClr val="339966"/>
                </a:solidFill>
                <a:latin typeface="Tahoma"/>
                <a:cs typeface="Tahoma"/>
              </a:rPr>
              <a:t>e</a:t>
            </a:r>
            <a:r>
              <a:rPr b="1" spc="-5" dirty="0">
                <a:solidFill>
                  <a:srgbClr val="339966"/>
                </a:solidFill>
                <a:latin typeface="Tahoma"/>
                <a:cs typeface="Tahoma"/>
              </a:rPr>
              <a:t>t/R</a:t>
            </a:r>
            <a:r>
              <a:rPr b="1" spc="-10" dirty="0">
                <a:solidFill>
                  <a:srgbClr val="339966"/>
                </a:solidFill>
                <a:latin typeface="Tahoma"/>
                <a:cs typeface="Tahoma"/>
              </a:rPr>
              <a:t>ese</a:t>
            </a:r>
            <a:r>
              <a:rPr b="1" spc="-5" dirty="0">
                <a:solidFill>
                  <a:srgbClr val="339966"/>
                </a:solidFill>
                <a:latin typeface="Tahoma"/>
                <a:cs typeface="Tahoma"/>
              </a:rPr>
              <a:t>t</a:t>
            </a:r>
            <a:r>
              <a:rPr b="1" spc="10" dirty="0">
                <a:solidFill>
                  <a:srgbClr val="339966"/>
                </a:solidFill>
                <a:latin typeface="Tahoma"/>
                <a:cs typeface="Tahoma"/>
              </a:rPr>
              <a:t> </a:t>
            </a:r>
            <a:r>
              <a:rPr b="1" spc="-5" dirty="0">
                <a:solidFill>
                  <a:srgbClr val="339966"/>
                </a:solidFill>
                <a:latin typeface="Tahoma"/>
                <a:cs typeface="Tahoma"/>
              </a:rPr>
              <a:t>)</a:t>
            </a:r>
            <a:r>
              <a:rPr b="1" dirty="0">
                <a:solidFill>
                  <a:srgbClr val="339966"/>
                </a:solidFill>
                <a:latin typeface="Tahoma"/>
                <a:cs typeface="Tahoma"/>
              </a:rPr>
              <a:t>	</a:t>
            </a:r>
            <a:r>
              <a:rPr b="1" spc="-5" dirty="0">
                <a:solidFill>
                  <a:srgbClr val="339966"/>
                </a:solidFill>
                <a:latin typeface="Tahoma"/>
                <a:cs typeface="Tahoma"/>
              </a:rPr>
              <a:t>Mode</a:t>
            </a:r>
          </a:p>
        </p:txBody>
      </p:sp>
      <p:grpSp>
        <p:nvGrpSpPr>
          <p:cNvPr id="13" name="object 13"/>
          <p:cNvGrpSpPr/>
          <p:nvPr/>
        </p:nvGrpSpPr>
        <p:grpSpPr>
          <a:xfrm>
            <a:off x="831850" y="2965450"/>
            <a:ext cx="7251700" cy="469900"/>
            <a:chOff x="831850" y="2965450"/>
            <a:chExt cx="7251700" cy="469900"/>
          </a:xfrm>
        </p:grpSpPr>
        <p:sp>
          <p:nvSpPr>
            <p:cNvPr id="14" name="object 14"/>
            <p:cNvSpPr/>
            <p:nvPr/>
          </p:nvSpPr>
          <p:spPr>
            <a:xfrm>
              <a:off x="838200" y="2971800"/>
              <a:ext cx="7239000" cy="457200"/>
            </a:xfrm>
            <a:custGeom>
              <a:avLst/>
              <a:gdLst/>
              <a:ahLst/>
              <a:cxnLst/>
              <a:rect l="l" t="t" r="r" b="b"/>
              <a:pathLst>
                <a:path w="7239000" h="457200">
                  <a:moveTo>
                    <a:pt x="7239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7239000" y="457200"/>
                  </a:lnTo>
                  <a:lnTo>
                    <a:pt x="723900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38200" y="2971800"/>
              <a:ext cx="7239000" cy="457200"/>
            </a:xfrm>
            <a:custGeom>
              <a:avLst/>
              <a:gdLst/>
              <a:ahLst/>
              <a:cxnLst/>
              <a:rect l="l" t="t" r="r" b="b"/>
              <a:pathLst>
                <a:path w="7239000" h="457200">
                  <a:moveTo>
                    <a:pt x="0" y="0"/>
                  </a:moveTo>
                  <a:lnTo>
                    <a:pt x="7239000" y="0"/>
                  </a:lnTo>
                  <a:lnTo>
                    <a:pt x="72390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19600" y="2971800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362200" y="2971800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276600" y="2971800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524000" y="2971800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315200" y="2971800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951896" y="2622296"/>
            <a:ext cx="1067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</a:tabLst>
            </a:pPr>
            <a:r>
              <a:rPr sz="1800" spc="-10" dirty="0">
                <a:latin typeface="Tahoma"/>
                <a:cs typeface="Tahoma"/>
              </a:rPr>
              <a:t>D</a:t>
            </a:r>
            <a:r>
              <a:rPr sz="1800" spc="-5" dirty="0">
                <a:latin typeface="Tahoma"/>
                <a:cs typeface="Tahoma"/>
              </a:rPr>
              <a:t>7</a:t>
            </a:r>
            <a:r>
              <a:rPr sz="1800" dirty="0">
                <a:latin typeface="Tahoma"/>
                <a:cs typeface="Tahoma"/>
              </a:rPr>
              <a:t>	</a:t>
            </a:r>
            <a:r>
              <a:rPr sz="1800" spc="-10" dirty="0">
                <a:latin typeface="Tahoma"/>
                <a:cs typeface="Tahoma"/>
              </a:rPr>
              <a:t>D</a:t>
            </a:r>
            <a:r>
              <a:rPr sz="1800" dirty="0">
                <a:latin typeface="Tahoma"/>
                <a:cs typeface="Tahoma"/>
              </a:rPr>
              <a:t>6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628220" y="2622296"/>
            <a:ext cx="305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D</a:t>
            </a:r>
            <a:r>
              <a:rPr sz="1800" dirty="0">
                <a:latin typeface="Tahoma"/>
                <a:cs typeface="Tahoma"/>
              </a:rPr>
              <a:t>5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915570" y="2089657"/>
            <a:ext cx="2244725" cy="8324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Tahoma"/>
                <a:cs typeface="Tahoma"/>
              </a:rPr>
              <a:t>BSR</a:t>
            </a:r>
            <a:r>
              <a:rPr sz="2000" b="1" spc="-40" dirty="0">
                <a:latin typeface="Tahoma"/>
                <a:cs typeface="Tahoma"/>
              </a:rPr>
              <a:t> </a:t>
            </a:r>
            <a:r>
              <a:rPr sz="2000" b="1" spc="-5" dirty="0">
                <a:latin typeface="Tahoma"/>
                <a:cs typeface="Tahoma"/>
              </a:rPr>
              <a:t>control</a:t>
            </a:r>
            <a:r>
              <a:rPr sz="2000" b="1" spc="-50" dirty="0">
                <a:latin typeface="Tahoma"/>
                <a:cs typeface="Tahoma"/>
              </a:rPr>
              <a:t> </a:t>
            </a:r>
            <a:r>
              <a:rPr sz="2000" b="1" spc="-5" dirty="0">
                <a:latin typeface="Tahoma"/>
                <a:cs typeface="Tahoma"/>
              </a:rPr>
              <a:t>word</a:t>
            </a:r>
            <a:endParaRPr sz="2000">
              <a:latin typeface="Tahoma"/>
              <a:cs typeface="Tahoma"/>
            </a:endParaRPr>
          </a:p>
          <a:p>
            <a:pPr marL="639445">
              <a:lnSpc>
                <a:spcPct val="100000"/>
              </a:lnSpc>
              <a:spcBef>
                <a:spcPts val="1800"/>
              </a:spcBef>
              <a:tabLst>
                <a:tab pos="1782445" algn="l"/>
              </a:tabLst>
            </a:pPr>
            <a:r>
              <a:rPr sz="1800" spc="-5" dirty="0">
                <a:latin typeface="Tahoma"/>
                <a:cs typeface="Tahoma"/>
              </a:rPr>
              <a:t>D4	</a:t>
            </a:r>
            <a:r>
              <a:rPr sz="1800" spc="-10" dirty="0">
                <a:latin typeface="Tahoma"/>
                <a:cs typeface="Tahoma"/>
              </a:rPr>
              <a:t>D3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752496" y="2622296"/>
            <a:ext cx="305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D</a:t>
            </a:r>
            <a:r>
              <a:rPr sz="1800" dirty="0">
                <a:latin typeface="Tahoma"/>
                <a:cs typeface="Tahoma"/>
              </a:rPr>
              <a:t>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666896" y="2622296"/>
            <a:ext cx="304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D1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581296" y="2622296"/>
            <a:ext cx="305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D</a:t>
            </a:r>
            <a:r>
              <a:rPr sz="1800" dirty="0">
                <a:latin typeface="Tahoma"/>
                <a:cs typeface="Tahoma"/>
              </a:rPr>
              <a:t>0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63123" y="3079496"/>
            <a:ext cx="1504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0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787886" y="3079496"/>
            <a:ext cx="158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X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563984" y="3079496"/>
            <a:ext cx="158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X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730986" y="3093897"/>
            <a:ext cx="158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X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106473" y="3003372"/>
            <a:ext cx="12172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BIT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SELECT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581525" y="3003372"/>
            <a:ext cx="382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S/R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1181100" y="3429000"/>
            <a:ext cx="6553200" cy="1524000"/>
            <a:chOff x="1181100" y="3429000"/>
            <a:chExt cx="6553200" cy="1524000"/>
          </a:xfrm>
        </p:grpSpPr>
        <p:sp>
          <p:nvSpPr>
            <p:cNvPr id="34" name="object 34"/>
            <p:cNvSpPr/>
            <p:nvPr/>
          </p:nvSpPr>
          <p:spPr>
            <a:xfrm>
              <a:off x="1219200" y="3429000"/>
              <a:ext cx="0" cy="622300"/>
            </a:xfrm>
            <a:custGeom>
              <a:avLst/>
              <a:gdLst/>
              <a:ahLst/>
              <a:cxnLst/>
              <a:rect l="l" t="t" r="r" b="b"/>
              <a:pathLst>
                <a:path h="622300">
                  <a:moveTo>
                    <a:pt x="0" y="0"/>
                  </a:moveTo>
                  <a:lnTo>
                    <a:pt x="0" y="6223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181100" y="40386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971800" y="4038600"/>
              <a:ext cx="0" cy="850900"/>
            </a:xfrm>
            <a:custGeom>
              <a:avLst/>
              <a:gdLst/>
              <a:ahLst/>
              <a:cxnLst/>
              <a:rect l="l" t="t" r="r" b="b"/>
              <a:pathLst>
                <a:path h="850900">
                  <a:moveTo>
                    <a:pt x="0" y="0"/>
                  </a:moveTo>
                  <a:lnTo>
                    <a:pt x="0" y="850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933700" y="48768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057400" y="3810000"/>
              <a:ext cx="1981200" cy="152400"/>
            </a:xfrm>
            <a:custGeom>
              <a:avLst/>
              <a:gdLst/>
              <a:ahLst/>
              <a:cxnLst/>
              <a:rect l="l" t="t" r="r" b="b"/>
              <a:pathLst>
                <a:path w="1981200" h="152400">
                  <a:moveTo>
                    <a:pt x="1981200" y="0"/>
                  </a:moveTo>
                  <a:lnTo>
                    <a:pt x="1972783" y="48168"/>
                  </a:lnTo>
                  <a:lnTo>
                    <a:pt x="1949346" y="90003"/>
                  </a:lnTo>
                  <a:lnTo>
                    <a:pt x="1913607" y="122994"/>
                  </a:lnTo>
                  <a:lnTo>
                    <a:pt x="1868285" y="144630"/>
                  </a:lnTo>
                  <a:lnTo>
                    <a:pt x="1816100" y="152400"/>
                  </a:lnTo>
                  <a:lnTo>
                    <a:pt x="165100" y="152400"/>
                  </a:lnTo>
                  <a:lnTo>
                    <a:pt x="112914" y="144630"/>
                  </a:lnTo>
                  <a:lnTo>
                    <a:pt x="67592" y="122994"/>
                  </a:lnTo>
                  <a:lnTo>
                    <a:pt x="31853" y="90003"/>
                  </a:lnTo>
                  <a:lnTo>
                    <a:pt x="8416" y="48168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867400" y="3429000"/>
              <a:ext cx="0" cy="546100"/>
            </a:xfrm>
            <a:custGeom>
              <a:avLst/>
              <a:gdLst/>
              <a:ahLst/>
              <a:cxnLst/>
              <a:rect l="l" t="t" r="r" b="b"/>
              <a:pathLst>
                <a:path h="546100">
                  <a:moveTo>
                    <a:pt x="0" y="0"/>
                  </a:moveTo>
                  <a:lnTo>
                    <a:pt x="0" y="5461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829300" y="39624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696200" y="3429000"/>
              <a:ext cx="0" cy="622300"/>
            </a:xfrm>
            <a:custGeom>
              <a:avLst/>
              <a:gdLst/>
              <a:ahLst/>
              <a:cxnLst/>
              <a:rect l="l" t="t" r="r" b="b"/>
              <a:pathLst>
                <a:path h="622300">
                  <a:moveTo>
                    <a:pt x="0" y="0"/>
                  </a:moveTo>
                  <a:lnTo>
                    <a:pt x="0" y="6223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658100" y="40386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657733" y="4451095"/>
            <a:ext cx="10464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BSR</a:t>
            </a:r>
            <a:r>
              <a:rPr sz="1800" spc="-75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Mode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145539" y="6280595"/>
            <a:ext cx="95250" cy="179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969166" y="5075936"/>
            <a:ext cx="200469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04825">
              <a:lnSpc>
                <a:spcPct val="15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Not used, </a:t>
            </a:r>
            <a:r>
              <a:rPr sz="1800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Generally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reset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to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0</a:t>
            </a:r>
            <a:endParaRPr sz="1800">
              <a:latin typeface="Tahoma"/>
              <a:cs typeface="Tahoma"/>
            </a:endParaRPr>
          </a:p>
        </p:txBody>
      </p:sp>
      <p:graphicFrame>
        <p:nvGraphicFramePr>
          <p:cNvPr id="45" name="object 45"/>
          <p:cNvGraphicFramePr>
            <a:graphicFrameLocks noGrp="1"/>
          </p:cNvGraphicFramePr>
          <p:nvPr/>
        </p:nvGraphicFramePr>
        <p:xfrm>
          <a:off x="5327650" y="4108450"/>
          <a:ext cx="1162050" cy="2603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000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Bit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001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Bit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010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Bit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011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Bit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100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Bit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101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Bit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110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Bit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111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Bit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7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6" name="object 46"/>
          <p:cNvSpPr txBox="1"/>
          <p:nvPr/>
        </p:nvSpPr>
        <p:spPr>
          <a:xfrm>
            <a:off x="7377733" y="4237735"/>
            <a:ext cx="1017269" cy="84836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180"/>
              </a:spcBef>
            </a:pPr>
            <a:r>
              <a:rPr sz="1800" dirty="0">
                <a:latin typeface="Tahoma"/>
                <a:cs typeface="Tahoma"/>
              </a:rPr>
              <a:t>1=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Set</a:t>
            </a:r>
            <a:endParaRPr sz="18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Tahoma"/>
                <a:cs typeface="Tahoma"/>
              </a:rPr>
              <a:t>0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=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Reset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C4D6B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5825" y="1843087"/>
            <a:ext cx="8255000" cy="501491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833575"/>
            <a:ext cx="895350" cy="50244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76300" y="6350"/>
            <a:ext cx="19050" cy="150336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17612" y="1833562"/>
            <a:ext cx="7923212" cy="19050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552450" y="1509712"/>
            <a:ext cx="665480" cy="666750"/>
            <a:chOff x="552450" y="1509712"/>
            <a:chExt cx="665480" cy="666750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6300" y="1509712"/>
              <a:ext cx="19050" cy="6667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2450" y="1833562"/>
              <a:ext cx="665162" cy="19050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76705" y="6251447"/>
            <a:ext cx="250697" cy="219455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813816" y="507491"/>
            <a:ext cx="3839845" cy="897255"/>
            <a:chOff x="813816" y="507491"/>
            <a:chExt cx="3839845" cy="897255"/>
          </a:xfrm>
        </p:grpSpPr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13816" y="507491"/>
              <a:ext cx="3230879" cy="89687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315461" y="507491"/>
              <a:ext cx="1084325" cy="89687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671315" y="507491"/>
              <a:ext cx="982217" cy="896873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145539" y="669734"/>
            <a:ext cx="313753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5" dirty="0">
                <a:solidFill>
                  <a:srgbClr val="339966"/>
                </a:solidFill>
                <a:latin typeface="Tahoma"/>
                <a:cs typeface="Tahoma"/>
              </a:rPr>
              <a:t>Problem</a:t>
            </a:r>
            <a:r>
              <a:rPr b="1" spc="-90" dirty="0">
                <a:solidFill>
                  <a:srgbClr val="339966"/>
                </a:solidFill>
                <a:latin typeface="Tahoma"/>
                <a:cs typeface="Tahoma"/>
              </a:rPr>
              <a:t> </a:t>
            </a:r>
            <a:r>
              <a:rPr b="1" spc="-5" dirty="0">
                <a:solidFill>
                  <a:srgbClr val="339966"/>
                </a:solidFill>
                <a:latin typeface="Tahoma"/>
                <a:cs typeface="Tahoma"/>
              </a:rPr>
              <a:t>2)</a:t>
            </a:r>
          </a:p>
        </p:txBody>
      </p:sp>
      <p:grpSp>
        <p:nvGrpSpPr>
          <p:cNvPr id="16" name="object 16"/>
          <p:cNvGrpSpPr/>
          <p:nvPr/>
        </p:nvGrpSpPr>
        <p:grpSpPr>
          <a:xfrm>
            <a:off x="992885" y="1897380"/>
            <a:ext cx="7701280" cy="1633855"/>
            <a:chOff x="992885" y="1897380"/>
            <a:chExt cx="7701280" cy="1633855"/>
          </a:xfrm>
        </p:grpSpPr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92885" y="2090165"/>
              <a:ext cx="568451" cy="45796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249679" y="1897380"/>
              <a:ext cx="5358383" cy="65836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070853" y="1897380"/>
              <a:ext cx="885444" cy="65836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421373" y="1897380"/>
              <a:ext cx="1923287" cy="65836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807452" y="1897380"/>
              <a:ext cx="886205" cy="65836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249679" y="2385059"/>
              <a:ext cx="4359401" cy="65836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072633" y="2385059"/>
              <a:ext cx="1107947" cy="65836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644133" y="2385059"/>
              <a:ext cx="2478785" cy="658367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248917" y="2872739"/>
              <a:ext cx="1788413" cy="658367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1145539" y="2012695"/>
            <a:ext cx="7148830" cy="1488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95"/>
              </a:spcBef>
              <a:buClr>
                <a:srgbClr val="009900"/>
              </a:buClr>
              <a:buSzPct val="68750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3200" spc="-5" dirty="0">
                <a:latin typeface="Tahoma"/>
                <a:cs typeface="Tahoma"/>
              </a:rPr>
              <a:t>Write</a:t>
            </a:r>
            <a:r>
              <a:rPr sz="3200" spc="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an ALP to</a:t>
            </a:r>
            <a:r>
              <a:rPr sz="320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set</a:t>
            </a:r>
            <a:r>
              <a:rPr sz="320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bits</a:t>
            </a:r>
            <a:r>
              <a:rPr sz="3200" spc="1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PC7 </a:t>
            </a:r>
            <a:r>
              <a:rPr sz="3200" spc="-5" dirty="0">
                <a:latin typeface="Tahoma"/>
                <a:cs typeface="Tahoma"/>
              </a:rPr>
              <a:t>and</a:t>
            </a:r>
            <a:r>
              <a:rPr sz="320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PC</a:t>
            </a:r>
            <a:r>
              <a:rPr sz="320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3 </a:t>
            </a:r>
            <a:r>
              <a:rPr sz="3200" spc="-98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and reset</a:t>
            </a:r>
            <a:r>
              <a:rPr sz="320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them</a:t>
            </a:r>
            <a:r>
              <a:rPr sz="3200" spc="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after</a:t>
            </a:r>
            <a:r>
              <a:rPr sz="3200" spc="2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10</a:t>
            </a:r>
            <a:r>
              <a:rPr sz="3200" spc="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ms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in</a:t>
            </a:r>
            <a:r>
              <a:rPr sz="320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BSR </a:t>
            </a:r>
            <a:r>
              <a:rPr sz="320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mode.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45539" y="6280595"/>
            <a:ext cx="95250" cy="179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C4D6B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5825" y="1843087"/>
            <a:ext cx="8255000" cy="501491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833575"/>
            <a:ext cx="895350" cy="50244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76300" y="6350"/>
            <a:ext cx="19050" cy="150336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17612" y="1833562"/>
            <a:ext cx="7923212" cy="19050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552450" y="1509712"/>
            <a:ext cx="665480" cy="666750"/>
            <a:chOff x="552450" y="1509712"/>
            <a:chExt cx="665480" cy="666750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6300" y="1509712"/>
              <a:ext cx="19050" cy="6667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2450" y="1833562"/>
              <a:ext cx="665162" cy="19050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76705" y="6251447"/>
            <a:ext cx="250697" cy="21945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158239" y="6293295"/>
            <a:ext cx="6985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000" dirty="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75537" y="113538"/>
            <a:ext cx="7501255" cy="1346200"/>
            <a:chOff x="875537" y="113538"/>
            <a:chExt cx="7501255" cy="1346200"/>
          </a:xfrm>
        </p:grpSpPr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75537" y="113538"/>
              <a:ext cx="7501127" cy="73761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75537" y="711708"/>
              <a:ext cx="3151631" cy="747522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145539" y="193801"/>
            <a:ext cx="6792595" cy="1223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200"/>
              </a:lnSpc>
              <a:spcBef>
                <a:spcPts val="95"/>
              </a:spcBef>
            </a:pPr>
            <a:r>
              <a:rPr sz="3600" b="1" spc="-5" dirty="0">
                <a:solidFill>
                  <a:srgbClr val="339966"/>
                </a:solidFill>
                <a:latin typeface="Tahoma"/>
                <a:cs typeface="Tahoma"/>
              </a:rPr>
              <a:t>Mode</a:t>
            </a:r>
            <a:r>
              <a:rPr sz="3600" b="1" spc="-20" dirty="0">
                <a:solidFill>
                  <a:srgbClr val="339966"/>
                </a:solidFill>
                <a:latin typeface="Tahoma"/>
                <a:cs typeface="Tahoma"/>
              </a:rPr>
              <a:t> </a:t>
            </a:r>
            <a:r>
              <a:rPr sz="3600" b="1" spc="-5" dirty="0">
                <a:solidFill>
                  <a:srgbClr val="339966"/>
                </a:solidFill>
                <a:latin typeface="Tahoma"/>
                <a:cs typeface="Tahoma"/>
              </a:rPr>
              <a:t>1: Input</a:t>
            </a:r>
            <a:r>
              <a:rPr sz="3600" b="1" spc="-25" dirty="0">
                <a:solidFill>
                  <a:srgbClr val="339966"/>
                </a:solidFill>
                <a:latin typeface="Tahoma"/>
                <a:cs typeface="Tahoma"/>
              </a:rPr>
              <a:t> </a:t>
            </a:r>
            <a:r>
              <a:rPr sz="3600" b="1" spc="-5" dirty="0">
                <a:solidFill>
                  <a:srgbClr val="339966"/>
                </a:solidFill>
                <a:latin typeface="Tahoma"/>
                <a:cs typeface="Tahoma"/>
              </a:rPr>
              <a:t>or Output</a:t>
            </a:r>
            <a:r>
              <a:rPr sz="3600" b="1" spc="-15" dirty="0">
                <a:solidFill>
                  <a:srgbClr val="339966"/>
                </a:solidFill>
                <a:latin typeface="Tahoma"/>
                <a:cs typeface="Tahoma"/>
              </a:rPr>
              <a:t> </a:t>
            </a:r>
            <a:r>
              <a:rPr sz="3600" b="1" spc="-5" dirty="0">
                <a:solidFill>
                  <a:srgbClr val="339966"/>
                </a:solidFill>
                <a:latin typeface="Tahoma"/>
                <a:cs typeface="Tahoma"/>
              </a:rPr>
              <a:t>with </a:t>
            </a:r>
            <a:r>
              <a:rPr sz="3600" b="1" spc="-1035" dirty="0">
                <a:solidFill>
                  <a:srgbClr val="339966"/>
                </a:solidFill>
                <a:latin typeface="Tahoma"/>
                <a:cs typeface="Tahoma"/>
              </a:rPr>
              <a:t> </a:t>
            </a:r>
            <a:r>
              <a:rPr sz="3600" b="1" spc="-5" dirty="0">
                <a:solidFill>
                  <a:srgbClr val="339966"/>
                </a:solidFill>
                <a:latin typeface="Tahoma"/>
                <a:cs typeface="Tahoma"/>
              </a:rPr>
              <a:t>Handshake</a:t>
            </a:r>
            <a:endParaRPr sz="36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908050" y="1441450"/>
            <a:ext cx="1689100" cy="4737100"/>
            <a:chOff x="908050" y="1441450"/>
            <a:chExt cx="1689100" cy="4737100"/>
          </a:xfrm>
        </p:grpSpPr>
        <p:sp>
          <p:nvSpPr>
            <p:cNvPr id="17" name="object 17"/>
            <p:cNvSpPr/>
            <p:nvPr/>
          </p:nvSpPr>
          <p:spPr>
            <a:xfrm>
              <a:off x="914400" y="1447800"/>
              <a:ext cx="1676400" cy="4724400"/>
            </a:xfrm>
            <a:custGeom>
              <a:avLst/>
              <a:gdLst/>
              <a:ahLst/>
              <a:cxnLst/>
              <a:rect l="l" t="t" r="r" b="b"/>
              <a:pathLst>
                <a:path w="1676400" h="4724400">
                  <a:moveTo>
                    <a:pt x="1676400" y="0"/>
                  </a:moveTo>
                  <a:lnTo>
                    <a:pt x="0" y="0"/>
                  </a:lnTo>
                  <a:lnTo>
                    <a:pt x="0" y="4724400"/>
                  </a:lnTo>
                  <a:lnTo>
                    <a:pt x="1676400" y="4724400"/>
                  </a:lnTo>
                  <a:lnTo>
                    <a:pt x="167640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14400" y="1447800"/>
              <a:ext cx="1676400" cy="4724400"/>
            </a:xfrm>
            <a:custGeom>
              <a:avLst/>
              <a:gdLst/>
              <a:ahLst/>
              <a:cxnLst/>
              <a:rect l="l" t="t" r="r" b="b"/>
              <a:pathLst>
                <a:path w="1676400" h="4724400">
                  <a:moveTo>
                    <a:pt x="0" y="0"/>
                  </a:moveTo>
                  <a:lnTo>
                    <a:pt x="1676400" y="0"/>
                  </a:lnTo>
                  <a:lnTo>
                    <a:pt x="1676400" y="4724400"/>
                  </a:lnTo>
                  <a:lnTo>
                    <a:pt x="0" y="47244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14400" y="3803650"/>
              <a:ext cx="1676400" cy="12700"/>
            </a:xfrm>
            <a:custGeom>
              <a:avLst/>
              <a:gdLst/>
              <a:ahLst/>
              <a:cxnLst/>
              <a:rect l="l" t="t" r="r" b="b"/>
              <a:pathLst>
                <a:path w="1676400" h="12700">
                  <a:moveTo>
                    <a:pt x="0" y="12700"/>
                  </a:moveTo>
                  <a:lnTo>
                    <a:pt x="1676400" y="12700"/>
                  </a:lnTo>
                  <a:lnTo>
                    <a:pt x="1676400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447800" y="3048000"/>
              <a:ext cx="381000" cy="457200"/>
            </a:xfrm>
            <a:custGeom>
              <a:avLst/>
              <a:gdLst/>
              <a:ahLst/>
              <a:cxnLst/>
              <a:rect l="l" t="t" r="r" b="b"/>
              <a:pathLst>
                <a:path w="381000" h="457200">
                  <a:moveTo>
                    <a:pt x="3810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5031" y="281015"/>
                  </a:lnTo>
                  <a:lnTo>
                    <a:pt x="19363" y="329131"/>
                  </a:lnTo>
                  <a:lnTo>
                    <a:pt x="41851" y="371576"/>
                  </a:lnTo>
                  <a:lnTo>
                    <a:pt x="71353" y="406978"/>
                  </a:lnTo>
                  <a:lnTo>
                    <a:pt x="106724" y="433964"/>
                  </a:lnTo>
                  <a:lnTo>
                    <a:pt x="146821" y="451162"/>
                  </a:lnTo>
                  <a:lnTo>
                    <a:pt x="190500" y="457200"/>
                  </a:lnTo>
                  <a:lnTo>
                    <a:pt x="234178" y="451162"/>
                  </a:lnTo>
                  <a:lnTo>
                    <a:pt x="274275" y="433964"/>
                  </a:lnTo>
                  <a:lnTo>
                    <a:pt x="309646" y="406978"/>
                  </a:lnTo>
                  <a:lnTo>
                    <a:pt x="339148" y="371576"/>
                  </a:lnTo>
                  <a:lnTo>
                    <a:pt x="361636" y="329131"/>
                  </a:lnTo>
                  <a:lnTo>
                    <a:pt x="375968" y="281015"/>
                  </a:lnTo>
                  <a:lnTo>
                    <a:pt x="381000" y="2286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447800" y="3048000"/>
              <a:ext cx="381000" cy="457200"/>
            </a:xfrm>
            <a:custGeom>
              <a:avLst/>
              <a:gdLst/>
              <a:ahLst/>
              <a:cxnLst/>
              <a:rect l="l" t="t" r="r" b="b"/>
              <a:pathLst>
                <a:path w="381000" h="457200">
                  <a:moveTo>
                    <a:pt x="381000" y="0"/>
                  </a:moveTo>
                  <a:lnTo>
                    <a:pt x="381000" y="228600"/>
                  </a:lnTo>
                  <a:lnTo>
                    <a:pt x="375968" y="281015"/>
                  </a:lnTo>
                  <a:lnTo>
                    <a:pt x="361636" y="329131"/>
                  </a:lnTo>
                  <a:lnTo>
                    <a:pt x="339148" y="371576"/>
                  </a:lnTo>
                  <a:lnTo>
                    <a:pt x="309646" y="406978"/>
                  </a:lnTo>
                  <a:lnTo>
                    <a:pt x="274275" y="433964"/>
                  </a:lnTo>
                  <a:lnTo>
                    <a:pt x="234178" y="451162"/>
                  </a:lnTo>
                  <a:lnTo>
                    <a:pt x="190500" y="457200"/>
                  </a:lnTo>
                  <a:lnTo>
                    <a:pt x="146821" y="451162"/>
                  </a:lnTo>
                  <a:lnTo>
                    <a:pt x="106724" y="433964"/>
                  </a:lnTo>
                  <a:lnTo>
                    <a:pt x="71353" y="406978"/>
                  </a:lnTo>
                  <a:lnTo>
                    <a:pt x="41851" y="371576"/>
                  </a:lnTo>
                  <a:lnTo>
                    <a:pt x="19363" y="329131"/>
                  </a:lnTo>
                  <a:lnTo>
                    <a:pt x="5031" y="281015"/>
                  </a:lnTo>
                  <a:lnTo>
                    <a:pt x="0" y="228600"/>
                  </a:lnTo>
                  <a:lnTo>
                    <a:pt x="0" y="0"/>
                  </a:lnTo>
                  <a:lnTo>
                    <a:pt x="38100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371600" y="4953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4644" y="274670"/>
                  </a:lnTo>
                  <a:lnTo>
                    <a:pt x="17964" y="317580"/>
                  </a:lnTo>
                  <a:lnTo>
                    <a:pt x="39041" y="356411"/>
                  </a:lnTo>
                  <a:lnTo>
                    <a:pt x="66955" y="390244"/>
                  </a:lnTo>
                  <a:lnTo>
                    <a:pt x="100788" y="418158"/>
                  </a:lnTo>
                  <a:lnTo>
                    <a:pt x="139619" y="439235"/>
                  </a:lnTo>
                  <a:lnTo>
                    <a:pt x="182529" y="452555"/>
                  </a:lnTo>
                  <a:lnTo>
                    <a:pt x="228600" y="457200"/>
                  </a:lnTo>
                  <a:lnTo>
                    <a:pt x="274670" y="452555"/>
                  </a:lnTo>
                  <a:lnTo>
                    <a:pt x="317580" y="439235"/>
                  </a:lnTo>
                  <a:lnTo>
                    <a:pt x="356411" y="418158"/>
                  </a:lnTo>
                  <a:lnTo>
                    <a:pt x="390244" y="390244"/>
                  </a:lnTo>
                  <a:lnTo>
                    <a:pt x="418158" y="356411"/>
                  </a:lnTo>
                  <a:lnTo>
                    <a:pt x="439235" y="317580"/>
                  </a:lnTo>
                  <a:lnTo>
                    <a:pt x="452555" y="274670"/>
                  </a:lnTo>
                  <a:lnTo>
                    <a:pt x="457200" y="2286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371600" y="4953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457200" y="228600"/>
                  </a:lnTo>
                  <a:lnTo>
                    <a:pt x="452555" y="274670"/>
                  </a:lnTo>
                  <a:lnTo>
                    <a:pt x="439235" y="317580"/>
                  </a:lnTo>
                  <a:lnTo>
                    <a:pt x="418158" y="356411"/>
                  </a:lnTo>
                  <a:lnTo>
                    <a:pt x="390244" y="390244"/>
                  </a:lnTo>
                  <a:lnTo>
                    <a:pt x="356411" y="418158"/>
                  </a:lnTo>
                  <a:lnTo>
                    <a:pt x="317580" y="439235"/>
                  </a:lnTo>
                  <a:lnTo>
                    <a:pt x="274670" y="452555"/>
                  </a:lnTo>
                  <a:lnTo>
                    <a:pt x="228600" y="457200"/>
                  </a:lnTo>
                  <a:lnTo>
                    <a:pt x="182529" y="452555"/>
                  </a:lnTo>
                  <a:lnTo>
                    <a:pt x="139619" y="439235"/>
                  </a:lnTo>
                  <a:lnTo>
                    <a:pt x="100788" y="418158"/>
                  </a:lnTo>
                  <a:lnTo>
                    <a:pt x="66955" y="390244"/>
                  </a:lnTo>
                  <a:lnTo>
                    <a:pt x="39041" y="356411"/>
                  </a:lnTo>
                  <a:lnTo>
                    <a:pt x="17964" y="317580"/>
                  </a:lnTo>
                  <a:lnTo>
                    <a:pt x="4644" y="274670"/>
                  </a:lnTo>
                  <a:lnTo>
                    <a:pt x="0" y="228600"/>
                  </a:lnTo>
                  <a:lnTo>
                    <a:pt x="0" y="0"/>
                  </a:lnTo>
                  <a:lnTo>
                    <a:pt x="45720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286000" y="2209800"/>
              <a:ext cx="304800" cy="228600"/>
            </a:xfrm>
            <a:custGeom>
              <a:avLst/>
              <a:gdLst/>
              <a:ahLst/>
              <a:cxnLst/>
              <a:rect l="l" t="t" r="r" b="b"/>
              <a:pathLst>
                <a:path w="304800" h="228600">
                  <a:moveTo>
                    <a:pt x="0" y="0"/>
                  </a:moveTo>
                  <a:lnTo>
                    <a:pt x="304800" y="0"/>
                  </a:lnTo>
                  <a:lnTo>
                    <a:pt x="30480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2296763" y="2219197"/>
            <a:ext cx="2838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ahoma"/>
                <a:cs typeface="Tahoma"/>
              </a:rPr>
              <a:t>PC</a:t>
            </a:r>
            <a:r>
              <a:rPr sz="1200" dirty="0">
                <a:latin typeface="Tahoma"/>
                <a:cs typeface="Tahoma"/>
              </a:rPr>
              <a:t>4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286000" y="2743200"/>
            <a:ext cx="304800" cy="228600"/>
          </a:xfrm>
          <a:custGeom>
            <a:avLst/>
            <a:gdLst/>
            <a:ahLst/>
            <a:cxnLst/>
            <a:rect l="l" t="t" r="r" b="b"/>
            <a:pathLst>
              <a:path w="304800" h="228600">
                <a:moveTo>
                  <a:pt x="0" y="0"/>
                </a:moveTo>
                <a:lnTo>
                  <a:pt x="304800" y="0"/>
                </a:lnTo>
                <a:lnTo>
                  <a:pt x="3048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2296763" y="2752597"/>
            <a:ext cx="2838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ahoma"/>
                <a:cs typeface="Tahoma"/>
              </a:rPr>
              <a:t>PC</a:t>
            </a:r>
            <a:r>
              <a:rPr sz="1200" dirty="0">
                <a:latin typeface="Tahoma"/>
                <a:cs typeface="Tahoma"/>
              </a:rPr>
              <a:t>5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286000" y="3505200"/>
            <a:ext cx="304800" cy="228600"/>
          </a:xfrm>
          <a:custGeom>
            <a:avLst/>
            <a:gdLst/>
            <a:ahLst/>
            <a:cxnLst/>
            <a:rect l="l" t="t" r="r" b="b"/>
            <a:pathLst>
              <a:path w="304800" h="228600">
                <a:moveTo>
                  <a:pt x="0" y="0"/>
                </a:moveTo>
                <a:lnTo>
                  <a:pt x="304800" y="0"/>
                </a:lnTo>
                <a:lnTo>
                  <a:pt x="3048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2296763" y="3514597"/>
            <a:ext cx="2838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ahoma"/>
                <a:cs typeface="Tahoma"/>
              </a:rPr>
              <a:t>PC</a:t>
            </a:r>
            <a:r>
              <a:rPr sz="1200" dirty="0">
                <a:latin typeface="Tahoma"/>
                <a:cs typeface="Tahoma"/>
              </a:rPr>
              <a:t>3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2286000" y="4114800"/>
            <a:ext cx="304800" cy="228600"/>
          </a:xfrm>
          <a:custGeom>
            <a:avLst/>
            <a:gdLst/>
            <a:ahLst/>
            <a:cxnLst/>
            <a:rect l="l" t="t" r="r" b="b"/>
            <a:pathLst>
              <a:path w="304800" h="228600">
                <a:moveTo>
                  <a:pt x="0" y="0"/>
                </a:moveTo>
                <a:lnTo>
                  <a:pt x="304800" y="0"/>
                </a:lnTo>
                <a:lnTo>
                  <a:pt x="3048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2296763" y="4124197"/>
            <a:ext cx="2838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ahoma"/>
                <a:cs typeface="Tahoma"/>
              </a:rPr>
              <a:t>PC2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286000" y="4648200"/>
            <a:ext cx="304800" cy="228600"/>
          </a:xfrm>
          <a:custGeom>
            <a:avLst/>
            <a:gdLst/>
            <a:ahLst/>
            <a:cxnLst/>
            <a:rect l="l" t="t" r="r" b="b"/>
            <a:pathLst>
              <a:path w="304800" h="228600">
                <a:moveTo>
                  <a:pt x="0" y="0"/>
                </a:moveTo>
                <a:lnTo>
                  <a:pt x="304800" y="0"/>
                </a:lnTo>
                <a:lnTo>
                  <a:pt x="3048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2296763" y="4657597"/>
            <a:ext cx="2838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ahoma"/>
                <a:cs typeface="Tahoma"/>
              </a:rPr>
              <a:t>PC</a:t>
            </a:r>
            <a:r>
              <a:rPr sz="1200" dirty="0">
                <a:latin typeface="Tahoma"/>
                <a:cs typeface="Tahoma"/>
              </a:rPr>
              <a:t>1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2286000" y="5410200"/>
            <a:ext cx="304800" cy="228600"/>
          </a:xfrm>
          <a:custGeom>
            <a:avLst/>
            <a:gdLst/>
            <a:ahLst/>
            <a:cxnLst/>
            <a:rect l="l" t="t" r="r" b="b"/>
            <a:pathLst>
              <a:path w="304800" h="228600">
                <a:moveTo>
                  <a:pt x="0" y="0"/>
                </a:moveTo>
                <a:lnTo>
                  <a:pt x="304800" y="0"/>
                </a:lnTo>
                <a:lnTo>
                  <a:pt x="3048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2296763" y="5419597"/>
            <a:ext cx="2838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ahoma"/>
                <a:cs typeface="Tahoma"/>
              </a:rPr>
              <a:t>PC0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908050" y="1593850"/>
            <a:ext cx="3060700" cy="4965700"/>
            <a:chOff x="908050" y="1593850"/>
            <a:chExt cx="3060700" cy="4965700"/>
          </a:xfrm>
        </p:grpSpPr>
        <p:sp>
          <p:nvSpPr>
            <p:cNvPr id="37" name="object 37"/>
            <p:cNvSpPr/>
            <p:nvPr/>
          </p:nvSpPr>
          <p:spPr>
            <a:xfrm>
              <a:off x="914400" y="6172200"/>
              <a:ext cx="1676400" cy="381000"/>
            </a:xfrm>
            <a:custGeom>
              <a:avLst/>
              <a:gdLst/>
              <a:ahLst/>
              <a:cxnLst/>
              <a:rect l="l" t="t" r="r" b="b"/>
              <a:pathLst>
                <a:path w="1676400" h="381000">
                  <a:moveTo>
                    <a:pt x="16764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1676400" y="381000"/>
                  </a:lnTo>
                  <a:lnTo>
                    <a:pt x="167640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914400" y="6172200"/>
              <a:ext cx="1676400" cy="381000"/>
            </a:xfrm>
            <a:custGeom>
              <a:avLst/>
              <a:gdLst/>
              <a:ahLst/>
              <a:cxnLst/>
              <a:rect l="l" t="t" r="r" b="b"/>
              <a:pathLst>
                <a:path w="1676400" h="381000">
                  <a:moveTo>
                    <a:pt x="0" y="0"/>
                  </a:moveTo>
                  <a:lnTo>
                    <a:pt x="1676400" y="0"/>
                  </a:lnTo>
                  <a:lnTo>
                    <a:pt x="16764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676400" y="2286000"/>
              <a:ext cx="609600" cy="0"/>
            </a:xfrm>
            <a:custGeom>
              <a:avLst/>
              <a:gdLst/>
              <a:ahLst/>
              <a:cxnLst/>
              <a:rect l="l" t="t" r="r" b="b"/>
              <a:pathLst>
                <a:path w="609600">
                  <a:moveTo>
                    <a:pt x="6096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676400" y="2286000"/>
              <a:ext cx="0" cy="762000"/>
            </a:xfrm>
            <a:custGeom>
              <a:avLst/>
              <a:gdLst/>
              <a:ahLst/>
              <a:cxnLst/>
              <a:rect l="l" t="t" r="r" b="b"/>
              <a:pathLst>
                <a:path h="762000">
                  <a:moveTo>
                    <a:pt x="0" y="0"/>
                  </a:moveTo>
                  <a:lnTo>
                    <a:pt x="0" y="762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752600" y="2819400"/>
              <a:ext cx="533400" cy="0"/>
            </a:xfrm>
            <a:custGeom>
              <a:avLst/>
              <a:gdLst/>
              <a:ahLst/>
              <a:cxnLst/>
              <a:rect l="l" t="t" r="r" b="b"/>
              <a:pathLst>
                <a:path w="533400">
                  <a:moveTo>
                    <a:pt x="5334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752600" y="2819400"/>
              <a:ext cx="0" cy="228600"/>
            </a:xfrm>
            <a:custGeom>
              <a:avLst/>
              <a:gdLst/>
              <a:ahLst/>
              <a:cxnLst/>
              <a:rect l="l" t="t" r="r" b="b"/>
              <a:pathLst>
                <a:path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676400" y="3505200"/>
              <a:ext cx="0" cy="152400"/>
            </a:xfrm>
            <a:custGeom>
              <a:avLst/>
              <a:gdLst/>
              <a:ahLst/>
              <a:cxnLst/>
              <a:rect l="l" t="t" r="r" b="b"/>
              <a:pathLst>
                <a:path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676400" y="3657600"/>
              <a:ext cx="609600" cy="0"/>
            </a:xfrm>
            <a:custGeom>
              <a:avLst/>
              <a:gdLst/>
              <a:ahLst/>
              <a:cxnLst/>
              <a:rect l="l" t="t" r="r" b="b"/>
              <a:pathLst>
                <a:path w="609600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600200" y="5410200"/>
              <a:ext cx="0" cy="152400"/>
            </a:xfrm>
            <a:custGeom>
              <a:avLst/>
              <a:gdLst/>
              <a:ahLst/>
              <a:cxnLst/>
              <a:rect l="l" t="t" r="r" b="b"/>
              <a:pathLst>
                <a:path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600200" y="5562600"/>
              <a:ext cx="685800" cy="0"/>
            </a:xfrm>
            <a:custGeom>
              <a:avLst/>
              <a:gdLst/>
              <a:ahLst/>
              <a:cxnLst/>
              <a:rect l="l" t="t" r="r" b="b"/>
              <a:pathLst>
                <a:path w="685800">
                  <a:moveTo>
                    <a:pt x="0" y="0"/>
                  </a:moveTo>
                  <a:lnTo>
                    <a:pt x="6858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752600" y="4800600"/>
              <a:ext cx="0" cy="152400"/>
            </a:xfrm>
            <a:custGeom>
              <a:avLst/>
              <a:gdLst/>
              <a:ahLst/>
              <a:cxnLst/>
              <a:rect l="l" t="t" r="r" b="b"/>
              <a:pathLst>
                <a:path h="152400">
                  <a:moveTo>
                    <a:pt x="0" y="1524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752600" y="4800600"/>
              <a:ext cx="533400" cy="0"/>
            </a:xfrm>
            <a:custGeom>
              <a:avLst/>
              <a:gdLst/>
              <a:ahLst/>
              <a:cxnLst/>
              <a:rect l="l" t="t" r="r" b="b"/>
              <a:pathLst>
                <a:path w="533400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600200" y="4267200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6858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600200" y="4267200"/>
              <a:ext cx="685800" cy="0"/>
            </a:xfrm>
            <a:custGeom>
              <a:avLst/>
              <a:gdLst/>
              <a:ahLst/>
              <a:cxnLst/>
              <a:rect l="l" t="t" r="r" b="b"/>
              <a:pathLst>
                <a:path w="685800">
                  <a:moveTo>
                    <a:pt x="0" y="0"/>
                  </a:moveTo>
                  <a:lnTo>
                    <a:pt x="6858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447800" y="1905000"/>
              <a:ext cx="0" cy="1143000"/>
            </a:xfrm>
            <a:custGeom>
              <a:avLst/>
              <a:gdLst/>
              <a:ahLst/>
              <a:cxnLst/>
              <a:rect l="l" t="t" r="r" b="b"/>
              <a:pathLst>
                <a:path h="1143000">
                  <a:moveTo>
                    <a:pt x="0" y="0"/>
                  </a:moveTo>
                  <a:lnTo>
                    <a:pt x="0" y="1143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447800" y="4114800"/>
              <a:ext cx="0" cy="838200"/>
            </a:xfrm>
            <a:custGeom>
              <a:avLst/>
              <a:gdLst/>
              <a:ahLst/>
              <a:cxnLst/>
              <a:rect l="l" t="t" r="r" b="b"/>
              <a:pathLst>
                <a:path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590800" y="1600200"/>
              <a:ext cx="1371600" cy="457200"/>
            </a:xfrm>
            <a:custGeom>
              <a:avLst/>
              <a:gdLst/>
              <a:ahLst/>
              <a:cxnLst/>
              <a:rect l="l" t="t" r="r" b="b"/>
              <a:pathLst>
                <a:path w="1371600" h="457200">
                  <a:moveTo>
                    <a:pt x="1371600" y="0"/>
                  </a:moveTo>
                  <a:lnTo>
                    <a:pt x="342900" y="0"/>
                  </a:lnTo>
                  <a:lnTo>
                    <a:pt x="0" y="228600"/>
                  </a:lnTo>
                  <a:lnTo>
                    <a:pt x="342900" y="457200"/>
                  </a:lnTo>
                  <a:lnTo>
                    <a:pt x="1371600" y="457200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590800" y="1600200"/>
              <a:ext cx="1371600" cy="457200"/>
            </a:xfrm>
            <a:custGeom>
              <a:avLst/>
              <a:gdLst/>
              <a:ahLst/>
              <a:cxnLst/>
              <a:rect l="l" t="t" r="r" b="b"/>
              <a:pathLst>
                <a:path w="1371600" h="457200">
                  <a:moveTo>
                    <a:pt x="1371600" y="457200"/>
                  </a:moveTo>
                  <a:lnTo>
                    <a:pt x="342900" y="457200"/>
                  </a:lnTo>
                  <a:lnTo>
                    <a:pt x="0" y="228600"/>
                  </a:lnTo>
                  <a:lnTo>
                    <a:pt x="342900" y="0"/>
                  </a:lnTo>
                  <a:lnTo>
                    <a:pt x="1371600" y="0"/>
                  </a:lnTo>
                  <a:lnTo>
                    <a:pt x="13716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2803525" y="1692655"/>
            <a:ext cx="111760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5" dirty="0">
                <a:latin typeface="Tahoma"/>
                <a:cs typeface="Tahoma"/>
              </a:rPr>
              <a:t>Port</a:t>
            </a:r>
            <a:r>
              <a:rPr sz="1600" spc="-3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A</a:t>
            </a:r>
            <a:r>
              <a:rPr sz="1600" spc="-25" dirty="0">
                <a:latin typeface="Tahoma"/>
                <a:cs typeface="Tahoma"/>
              </a:rPr>
              <a:t> </a:t>
            </a:r>
            <a:r>
              <a:rPr sz="1600" spc="-5" dirty="0">
                <a:latin typeface="Tahoma"/>
                <a:cs typeface="Tahoma"/>
              </a:rPr>
              <a:t>Input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2584450" y="5632450"/>
            <a:ext cx="1384300" cy="469900"/>
            <a:chOff x="2584450" y="5632450"/>
            <a:chExt cx="1384300" cy="469900"/>
          </a:xfrm>
        </p:grpSpPr>
        <p:sp>
          <p:nvSpPr>
            <p:cNvPr id="57" name="object 57"/>
            <p:cNvSpPr/>
            <p:nvPr/>
          </p:nvSpPr>
          <p:spPr>
            <a:xfrm>
              <a:off x="2590800" y="5638800"/>
              <a:ext cx="1371600" cy="457200"/>
            </a:xfrm>
            <a:custGeom>
              <a:avLst/>
              <a:gdLst/>
              <a:ahLst/>
              <a:cxnLst/>
              <a:rect l="l" t="t" r="r" b="b"/>
              <a:pathLst>
                <a:path w="1371600" h="457200">
                  <a:moveTo>
                    <a:pt x="1371600" y="0"/>
                  </a:moveTo>
                  <a:lnTo>
                    <a:pt x="342900" y="0"/>
                  </a:lnTo>
                  <a:lnTo>
                    <a:pt x="0" y="228600"/>
                  </a:lnTo>
                  <a:lnTo>
                    <a:pt x="342900" y="457200"/>
                  </a:lnTo>
                  <a:lnTo>
                    <a:pt x="1371600" y="457200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2590800" y="5638800"/>
              <a:ext cx="1371600" cy="457200"/>
            </a:xfrm>
            <a:custGeom>
              <a:avLst/>
              <a:gdLst/>
              <a:ahLst/>
              <a:cxnLst/>
              <a:rect l="l" t="t" r="r" b="b"/>
              <a:pathLst>
                <a:path w="1371600" h="457200">
                  <a:moveTo>
                    <a:pt x="1371600" y="457200"/>
                  </a:moveTo>
                  <a:lnTo>
                    <a:pt x="342900" y="457200"/>
                  </a:lnTo>
                  <a:lnTo>
                    <a:pt x="0" y="228600"/>
                  </a:lnTo>
                  <a:lnTo>
                    <a:pt x="342900" y="0"/>
                  </a:lnTo>
                  <a:lnTo>
                    <a:pt x="1371600" y="0"/>
                  </a:lnTo>
                  <a:lnTo>
                    <a:pt x="13716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2805048" y="5731255"/>
            <a:ext cx="111442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5" dirty="0">
                <a:latin typeface="Tahoma"/>
                <a:cs typeface="Tahoma"/>
              </a:rPr>
              <a:t>Port</a:t>
            </a:r>
            <a:r>
              <a:rPr sz="1600" spc="-3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B</a:t>
            </a:r>
            <a:r>
              <a:rPr sz="1600" spc="-30" dirty="0">
                <a:latin typeface="Tahoma"/>
                <a:cs typeface="Tahoma"/>
              </a:rPr>
              <a:t> </a:t>
            </a:r>
            <a:r>
              <a:rPr sz="1600" spc="-5" dirty="0">
                <a:latin typeface="Tahoma"/>
                <a:cs typeface="Tahoma"/>
              </a:rPr>
              <a:t>Input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2584450" y="2247896"/>
            <a:ext cx="1149350" cy="4191000"/>
            <a:chOff x="2584450" y="2247896"/>
            <a:chExt cx="1149350" cy="4191000"/>
          </a:xfrm>
        </p:grpSpPr>
        <p:sp>
          <p:nvSpPr>
            <p:cNvPr id="61" name="object 61"/>
            <p:cNvSpPr/>
            <p:nvPr/>
          </p:nvSpPr>
          <p:spPr>
            <a:xfrm>
              <a:off x="2590800" y="2895599"/>
              <a:ext cx="927100" cy="0"/>
            </a:xfrm>
            <a:custGeom>
              <a:avLst/>
              <a:gdLst/>
              <a:ahLst/>
              <a:cxnLst/>
              <a:rect l="l" t="t" r="r" b="b"/>
              <a:pathLst>
                <a:path w="927100">
                  <a:moveTo>
                    <a:pt x="0" y="0"/>
                  </a:moveTo>
                  <a:lnTo>
                    <a:pt x="9271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3505202" y="28574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2590800" y="3657599"/>
              <a:ext cx="1003300" cy="0"/>
            </a:xfrm>
            <a:custGeom>
              <a:avLst/>
              <a:gdLst/>
              <a:ahLst/>
              <a:cxnLst/>
              <a:rect l="l" t="t" r="r" b="b"/>
              <a:pathLst>
                <a:path w="1003300">
                  <a:moveTo>
                    <a:pt x="0" y="0"/>
                  </a:moveTo>
                  <a:lnTo>
                    <a:pt x="10033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3581402" y="36194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2590800" y="4800600"/>
              <a:ext cx="1003300" cy="0"/>
            </a:xfrm>
            <a:custGeom>
              <a:avLst/>
              <a:gdLst/>
              <a:ahLst/>
              <a:cxnLst/>
              <a:rect l="l" t="t" r="r" b="b"/>
              <a:pathLst>
                <a:path w="1003300">
                  <a:moveTo>
                    <a:pt x="0" y="0"/>
                  </a:moveTo>
                  <a:lnTo>
                    <a:pt x="10033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3581402" y="47624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2590800" y="5562600"/>
              <a:ext cx="1079500" cy="0"/>
            </a:xfrm>
            <a:custGeom>
              <a:avLst/>
              <a:gdLst/>
              <a:ahLst/>
              <a:cxnLst/>
              <a:rect l="l" t="t" r="r" b="b"/>
              <a:pathLst>
                <a:path w="1079500">
                  <a:moveTo>
                    <a:pt x="0" y="0"/>
                  </a:moveTo>
                  <a:lnTo>
                    <a:pt x="10795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3657602" y="55244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199"/>
                  </a:lnTo>
                  <a:lnTo>
                    <a:pt x="76200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2654300" y="2285999"/>
              <a:ext cx="850900" cy="0"/>
            </a:xfrm>
            <a:custGeom>
              <a:avLst/>
              <a:gdLst/>
              <a:ahLst/>
              <a:cxnLst/>
              <a:rect l="l" t="t" r="r" b="b"/>
              <a:pathLst>
                <a:path w="850900">
                  <a:moveTo>
                    <a:pt x="8509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2590801" y="22478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2654300" y="4191000"/>
              <a:ext cx="1003300" cy="0"/>
            </a:xfrm>
            <a:custGeom>
              <a:avLst/>
              <a:gdLst/>
              <a:ahLst/>
              <a:cxnLst/>
              <a:rect l="l" t="t" r="r" b="b"/>
              <a:pathLst>
                <a:path w="1003300">
                  <a:moveTo>
                    <a:pt x="10033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2590801" y="41528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2590800" y="6400800"/>
              <a:ext cx="850900" cy="0"/>
            </a:xfrm>
            <a:custGeom>
              <a:avLst/>
              <a:gdLst/>
              <a:ahLst/>
              <a:cxnLst/>
              <a:rect l="l" t="t" r="r" b="b"/>
              <a:pathLst>
                <a:path w="850900">
                  <a:moveTo>
                    <a:pt x="0" y="0"/>
                  </a:moveTo>
                  <a:lnTo>
                    <a:pt x="8509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3429002" y="63626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199"/>
                  </a:lnTo>
                  <a:lnTo>
                    <a:pt x="76200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5" name="object 75"/>
          <p:cNvSpPr txBox="1"/>
          <p:nvPr/>
        </p:nvSpPr>
        <p:spPr>
          <a:xfrm>
            <a:off x="3637184" y="2088896"/>
            <a:ext cx="4972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S</a:t>
            </a:r>
            <a:r>
              <a:rPr sz="1800" spc="-10" dirty="0">
                <a:latin typeface="Tahoma"/>
                <a:cs typeface="Tahoma"/>
              </a:rPr>
              <a:t>T</a:t>
            </a:r>
            <a:r>
              <a:rPr sz="1800" spc="-5" dirty="0">
                <a:latin typeface="Tahoma"/>
                <a:cs typeface="Tahoma"/>
              </a:rPr>
              <a:t>B</a:t>
            </a:r>
            <a:r>
              <a:rPr sz="1000" dirty="0">
                <a:latin typeface="Tahoma"/>
                <a:cs typeface="Tahoma"/>
              </a:rPr>
              <a:t>A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3665345" y="2698496"/>
            <a:ext cx="441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IB</a:t>
            </a:r>
            <a:r>
              <a:rPr sz="1800" spc="-10" dirty="0">
                <a:latin typeface="Tahoma"/>
                <a:cs typeface="Tahoma"/>
              </a:rPr>
              <a:t>F</a:t>
            </a:r>
            <a:r>
              <a:rPr sz="1000" dirty="0">
                <a:latin typeface="Tahoma"/>
                <a:cs typeface="Tahoma"/>
              </a:rPr>
              <a:t>A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3807110" y="3536695"/>
            <a:ext cx="6146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INTR</a:t>
            </a:r>
            <a:r>
              <a:rPr sz="1000" dirty="0">
                <a:latin typeface="Tahoma"/>
                <a:cs typeface="Tahoma"/>
              </a:rPr>
              <a:t>A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3637915" y="3993895"/>
            <a:ext cx="4959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S</a:t>
            </a:r>
            <a:r>
              <a:rPr sz="1800" spc="-10" dirty="0">
                <a:latin typeface="Tahoma"/>
                <a:cs typeface="Tahoma"/>
              </a:rPr>
              <a:t>T</a:t>
            </a:r>
            <a:r>
              <a:rPr sz="1800" spc="-5" dirty="0">
                <a:latin typeface="Tahoma"/>
                <a:cs typeface="Tahoma"/>
              </a:rPr>
              <a:t>B</a:t>
            </a:r>
            <a:r>
              <a:rPr sz="1000" dirty="0">
                <a:latin typeface="Tahoma"/>
                <a:cs typeface="Tahoma"/>
              </a:rPr>
              <a:t>B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3742340" y="4603495"/>
            <a:ext cx="4400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IB</a:t>
            </a:r>
            <a:r>
              <a:rPr sz="1800" spc="-10" dirty="0">
                <a:latin typeface="Tahoma"/>
                <a:cs typeface="Tahoma"/>
              </a:rPr>
              <a:t>F</a:t>
            </a:r>
            <a:r>
              <a:rPr sz="1000" dirty="0">
                <a:latin typeface="Tahoma"/>
                <a:cs typeface="Tahoma"/>
              </a:rPr>
              <a:t>B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3807839" y="5289296"/>
            <a:ext cx="6134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INTR</a:t>
            </a:r>
            <a:r>
              <a:rPr sz="1000" dirty="0">
                <a:latin typeface="Tahoma"/>
                <a:cs typeface="Tahoma"/>
              </a:rPr>
              <a:t>B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81" name="object 81"/>
          <p:cNvGrpSpPr/>
          <p:nvPr/>
        </p:nvGrpSpPr>
        <p:grpSpPr>
          <a:xfrm>
            <a:off x="3651250" y="2127250"/>
            <a:ext cx="469900" cy="1917700"/>
            <a:chOff x="3651250" y="2127250"/>
            <a:chExt cx="469900" cy="1917700"/>
          </a:xfrm>
        </p:grpSpPr>
        <p:sp>
          <p:nvSpPr>
            <p:cNvPr id="82" name="object 82"/>
            <p:cNvSpPr/>
            <p:nvPr/>
          </p:nvSpPr>
          <p:spPr>
            <a:xfrm>
              <a:off x="3657600" y="2133600"/>
              <a:ext cx="457200" cy="0"/>
            </a:xfrm>
            <a:custGeom>
              <a:avLst/>
              <a:gdLst/>
              <a:ahLst/>
              <a:cxnLst/>
              <a:rect l="l" t="t" r="r" b="b"/>
              <a:pathLst>
                <a:path w="457200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3657600" y="4038600"/>
              <a:ext cx="381000" cy="0"/>
            </a:xfrm>
            <a:custGeom>
              <a:avLst/>
              <a:gdLst/>
              <a:ahLst/>
              <a:cxnLst/>
              <a:rect l="l" t="t" r="r" b="b"/>
              <a:pathLst>
                <a:path w="381000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4" name="object 84"/>
          <p:cNvSpPr txBox="1"/>
          <p:nvPr/>
        </p:nvSpPr>
        <p:spPr>
          <a:xfrm>
            <a:off x="1223168" y="1555496"/>
            <a:ext cx="6013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INTE</a:t>
            </a:r>
            <a:r>
              <a:rPr sz="1000" dirty="0">
                <a:latin typeface="Tahoma"/>
                <a:cs typeface="Tahoma"/>
              </a:rPr>
              <a:t>A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1261999" y="3841495"/>
            <a:ext cx="600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INTE</a:t>
            </a:r>
            <a:r>
              <a:rPr sz="1000" dirty="0">
                <a:latin typeface="Tahoma"/>
                <a:cs typeface="Tahoma"/>
              </a:rPr>
              <a:t>B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3667664" y="6203696"/>
            <a:ext cx="360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I/O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1598834" y="6127572"/>
            <a:ext cx="5365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PC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000" spc="-5" dirty="0">
                <a:latin typeface="Tahoma"/>
                <a:cs typeface="Tahoma"/>
              </a:rPr>
              <a:t>6,7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943514" y="5822696"/>
            <a:ext cx="321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RD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89" name="object 89"/>
          <p:cNvGrpSpPr/>
          <p:nvPr/>
        </p:nvGrpSpPr>
        <p:grpSpPr>
          <a:xfrm>
            <a:off x="222250" y="5861050"/>
            <a:ext cx="1003300" cy="165100"/>
            <a:chOff x="222250" y="5861050"/>
            <a:chExt cx="1003300" cy="165100"/>
          </a:xfrm>
        </p:grpSpPr>
        <p:sp>
          <p:nvSpPr>
            <p:cNvPr id="90" name="object 90"/>
            <p:cNvSpPr/>
            <p:nvPr/>
          </p:nvSpPr>
          <p:spPr>
            <a:xfrm>
              <a:off x="914400" y="5867400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1" name="object 9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55650" y="5861050"/>
              <a:ext cx="165100" cy="165100"/>
            </a:xfrm>
            <a:prstGeom prst="rect">
              <a:avLst/>
            </a:prstGeom>
          </p:spPr>
        </p:pic>
        <p:sp>
          <p:nvSpPr>
            <p:cNvPr id="92" name="object 92"/>
            <p:cNvSpPr/>
            <p:nvPr/>
          </p:nvSpPr>
          <p:spPr>
            <a:xfrm>
              <a:off x="228600" y="5943600"/>
              <a:ext cx="533400" cy="0"/>
            </a:xfrm>
            <a:custGeom>
              <a:avLst/>
              <a:gdLst/>
              <a:ahLst/>
              <a:cxnLst/>
              <a:rect l="l" t="t" r="r" b="b"/>
              <a:pathLst>
                <a:path w="533400">
                  <a:moveTo>
                    <a:pt x="5334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3" name="object 93"/>
          <p:cNvSpPr txBox="1"/>
          <p:nvPr/>
        </p:nvSpPr>
        <p:spPr>
          <a:xfrm>
            <a:off x="4172837" y="1614233"/>
            <a:ext cx="8737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ahoma"/>
                <a:cs typeface="Tahoma"/>
              </a:rPr>
              <a:t>P</a:t>
            </a:r>
            <a:r>
              <a:rPr sz="1800" dirty="0">
                <a:latin typeface="Tahoma"/>
                <a:cs typeface="Tahoma"/>
              </a:rPr>
              <a:t>A7</a:t>
            </a:r>
            <a:r>
              <a:rPr sz="1800" spc="-5" dirty="0">
                <a:latin typeface="Tahoma"/>
                <a:cs typeface="Tahoma"/>
              </a:rPr>
              <a:t>-</a:t>
            </a:r>
            <a:r>
              <a:rPr sz="1800" spc="-50" dirty="0">
                <a:latin typeface="Tahoma"/>
                <a:cs typeface="Tahoma"/>
              </a:rPr>
              <a:t>P</a:t>
            </a:r>
            <a:r>
              <a:rPr sz="1800" dirty="0">
                <a:latin typeface="Tahoma"/>
                <a:cs typeface="Tahoma"/>
              </a:rPr>
              <a:t>A0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4169866" y="5670283"/>
            <a:ext cx="8794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P</a:t>
            </a:r>
            <a:r>
              <a:rPr sz="1800" spc="-5" dirty="0">
                <a:latin typeface="Tahoma"/>
                <a:cs typeface="Tahoma"/>
              </a:rPr>
              <a:t>B</a:t>
            </a:r>
            <a:r>
              <a:rPr sz="1800" dirty="0">
                <a:latin typeface="Tahoma"/>
                <a:cs typeface="Tahoma"/>
              </a:rPr>
              <a:t>7</a:t>
            </a:r>
            <a:r>
              <a:rPr sz="1800" spc="-5" dirty="0">
                <a:latin typeface="Tahoma"/>
                <a:cs typeface="Tahoma"/>
              </a:rPr>
              <a:t>-</a:t>
            </a:r>
            <a:r>
              <a:rPr sz="1800" spc="-10" dirty="0">
                <a:latin typeface="Tahoma"/>
                <a:cs typeface="Tahoma"/>
              </a:rPr>
              <a:t>P</a:t>
            </a:r>
            <a:r>
              <a:rPr sz="1800" spc="-5" dirty="0">
                <a:latin typeface="Tahoma"/>
                <a:cs typeface="Tahoma"/>
              </a:rPr>
              <a:t>B</a:t>
            </a:r>
            <a:r>
              <a:rPr sz="1800" dirty="0">
                <a:latin typeface="Tahoma"/>
                <a:cs typeface="Tahoma"/>
              </a:rPr>
              <a:t>0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95" name="object 95"/>
          <p:cNvGrpSpPr/>
          <p:nvPr/>
        </p:nvGrpSpPr>
        <p:grpSpPr>
          <a:xfrm>
            <a:off x="5022850" y="1289050"/>
            <a:ext cx="88900" cy="4737100"/>
            <a:chOff x="5022850" y="1289050"/>
            <a:chExt cx="88900" cy="4737100"/>
          </a:xfrm>
        </p:grpSpPr>
        <p:sp>
          <p:nvSpPr>
            <p:cNvPr id="96" name="object 96"/>
            <p:cNvSpPr/>
            <p:nvPr/>
          </p:nvSpPr>
          <p:spPr>
            <a:xfrm>
              <a:off x="5029200" y="1295400"/>
              <a:ext cx="76200" cy="2286000"/>
            </a:xfrm>
            <a:custGeom>
              <a:avLst/>
              <a:gdLst/>
              <a:ahLst/>
              <a:cxnLst/>
              <a:rect l="l" t="t" r="r" b="b"/>
              <a:pathLst>
                <a:path w="76200" h="2286000">
                  <a:moveTo>
                    <a:pt x="0" y="0"/>
                  </a:moveTo>
                  <a:lnTo>
                    <a:pt x="45004" y="36756"/>
                  </a:lnTo>
                  <a:lnTo>
                    <a:pt x="61498" y="77994"/>
                  </a:lnTo>
                  <a:lnTo>
                    <a:pt x="72315" y="130288"/>
                  </a:lnTo>
                  <a:lnTo>
                    <a:pt x="76200" y="190500"/>
                  </a:lnTo>
                  <a:lnTo>
                    <a:pt x="76200" y="2095500"/>
                  </a:lnTo>
                  <a:lnTo>
                    <a:pt x="72315" y="2155711"/>
                  </a:lnTo>
                  <a:lnTo>
                    <a:pt x="61498" y="2208005"/>
                  </a:lnTo>
                  <a:lnTo>
                    <a:pt x="45004" y="2249243"/>
                  </a:lnTo>
                  <a:lnTo>
                    <a:pt x="24086" y="2276287"/>
                  </a:lnTo>
                  <a:lnTo>
                    <a:pt x="0" y="2286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029200" y="3733800"/>
              <a:ext cx="76200" cy="2286000"/>
            </a:xfrm>
            <a:custGeom>
              <a:avLst/>
              <a:gdLst/>
              <a:ahLst/>
              <a:cxnLst/>
              <a:rect l="l" t="t" r="r" b="b"/>
              <a:pathLst>
                <a:path w="76200" h="2286000">
                  <a:moveTo>
                    <a:pt x="0" y="0"/>
                  </a:moveTo>
                  <a:lnTo>
                    <a:pt x="45004" y="36756"/>
                  </a:lnTo>
                  <a:lnTo>
                    <a:pt x="61498" y="77994"/>
                  </a:lnTo>
                  <a:lnTo>
                    <a:pt x="72315" y="130288"/>
                  </a:lnTo>
                  <a:lnTo>
                    <a:pt x="76200" y="190500"/>
                  </a:lnTo>
                  <a:lnTo>
                    <a:pt x="76200" y="2095500"/>
                  </a:lnTo>
                  <a:lnTo>
                    <a:pt x="72315" y="2155711"/>
                  </a:lnTo>
                  <a:lnTo>
                    <a:pt x="61498" y="2208005"/>
                  </a:lnTo>
                  <a:lnTo>
                    <a:pt x="45004" y="2249243"/>
                  </a:lnTo>
                  <a:lnTo>
                    <a:pt x="24086" y="2276287"/>
                  </a:lnTo>
                  <a:lnTo>
                    <a:pt x="0" y="2286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8" name="object 98"/>
          <p:cNvSpPr txBox="1"/>
          <p:nvPr/>
        </p:nvSpPr>
        <p:spPr>
          <a:xfrm>
            <a:off x="6024530" y="1707896"/>
            <a:ext cx="11334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Tahoma"/>
                <a:cs typeface="Tahoma"/>
              </a:rPr>
              <a:t>Port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with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6023845" y="1845055"/>
            <a:ext cx="113411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4160" marR="5080" indent="-251460">
              <a:lnSpc>
                <a:spcPct val="15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Han</a:t>
            </a:r>
            <a:r>
              <a:rPr sz="1800" dirty="0">
                <a:latin typeface="Tahoma"/>
                <a:cs typeface="Tahoma"/>
              </a:rPr>
              <a:t>d</a:t>
            </a:r>
            <a:r>
              <a:rPr sz="1800" spc="-5" dirty="0">
                <a:latin typeface="Tahoma"/>
                <a:cs typeface="Tahoma"/>
              </a:rPr>
              <a:t>sha</a:t>
            </a:r>
            <a:r>
              <a:rPr sz="1800" spc="-20" dirty="0">
                <a:latin typeface="Tahoma"/>
                <a:cs typeface="Tahoma"/>
              </a:rPr>
              <a:t>k</a:t>
            </a:r>
            <a:r>
              <a:rPr sz="1800" spc="-5" dirty="0">
                <a:latin typeface="Tahoma"/>
                <a:cs typeface="Tahoma"/>
              </a:rPr>
              <a:t>e  Signal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5757297" y="4237811"/>
            <a:ext cx="1134110" cy="1259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50000"/>
              </a:lnSpc>
              <a:spcBef>
                <a:spcPts val="100"/>
              </a:spcBef>
            </a:pPr>
            <a:r>
              <a:rPr sz="1800" spc="-15" dirty="0">
                <a:latin typeface="Tahoma"/>
                <a:cs typeface="Tahoma"/>
              </a:rPr>
              <a:t>Port </a:t>
            </a:r>
            <a:r>
              <a:rPr sz="1800" dirty="0">
                <a:latin typeface="Tahoma"/>
                <a:cs typeface="Tahoma"/>
              </a:rPr>
              <a:t>b </a:t>
            </a:r>
            <a:r>
              <a:rPr sz="1800" spc="-5" dirty="0">
                <a:latin typeface="Tahoma"/>
                <a:cs typeface="Tahoma"/>
              </a:rPr>
              <a:t>with </a:t>
            </a:r>
            <a:r>
              <a:rPr sz="1800" spc="-550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Han</a:t>
            </a:r>
            <a:r>
              <a:rPr sz="1800" dirty="0">
                <a:latin typeface="Tahoma"/>
                <a:cs typeface="Tahoma"/>
              </a:rPr>
              <a:t>d</a:t>
            </a:r>
            <a:r>
              <a:rPr sz="1800" spc="-5" dirty="0">
                <a:latin typeface="Tahoma"/>
                <a:cs typeface="Tahoma"/>
              </a:rPr>
              <a:t>sha</a:t>
            </a:r>
            <a:r>
              <a:rPr sz="1800" spc="-20" dirty="0">
                <a:latin typeface="Tahoma"/>
                <a:cs typeface="Tahoma"/>
              </a:rPr>
              <a:t>k</a:t>
            </a:r>
            <a:r>
              <a:rPr sz="1800" spc="-5" dirty="0">
                <a:latin typeface="Tahoma"/>
                <a:cs typeface="Tahoma"/>
              </a:rPr>
              <a:t>e  Signal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5821076" y="6051296"/>
            <a:ext cx="27578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Tahoma"/>
                <a:cs typeface="Tahoma"/>
              </a:rPr>
              <a:t>Port</a:t>
            </a:r>
            <a:r>
              <a:rPr sz="2400" b="1" spc="-20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A</a:t>
            </a:r>
            <a:r>
              <a:rPr sz="2400" b="1" spc="-25" dirty="0">
                <a:latin typeface="Tahoma"/>
                <a:cs typeface="Tahoma"/>
              </a:rPr>
              <a:t> </a:t>
            </a:r>
            <a:r>
              <a:rPr sz="2400" b="1" spc="-5" dirty="0">
                <a:latin typeface="Tahoma"/>
                <a:cs typeface="Tahoma"/>
              </a:rPr>
              <a:t>&amp;</a:t>
            </a:r>
            <a:r>
              <a:rPr sz="2400" b="1" spc="-20" dirty="0">
                <a:latin typeface="Tahoma"/>
                <a:cs typeface="Tahoma"/>
              </a:rPr>
              <a:t> </a:t>
            </a:r>
            <a:r>
              <a:rPr sz="2400" b="1" spc="-5" dirty="0">
                <a:latin typeface="Tahoma"/>
                <a:cs typeface="Tahoma"/>
              </a:rPr>
              <a:t>Port</a:t>
            </a:r>
            <a:r>
              <a:rPr sz="2400" b="1" spc="-10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B</a:t>
            </a:r>
            <a:r>
              <a:rPr sz="2400" b="1" spc="-15" dirty="0">
                <a:latin typeface="Tahoma"/>
                <a:cs typeface="Tahoma"/>
              </a:rPr>
              <a:t> </a:t>
            </a:r>
            <a:r>
              <a:rPr sz="2400" b="1" spc="-5" dirty="0">
                <a:latin typeface="Tahoma"/>
                <a:cs typeface="Tahoma"/>
              </a:rPr>
              <a:t>as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5968904" y="6417055"/>
            <a:ext cx="2463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Tahoma"/>
                <a:cs typeface="Tahoma"/>
              </a:rPr>
              <a:t>Input</a:t>
            </a:r>
            <a:r>
              <a:rPr sz="2400" b="1" spc="-20" dirty="0">
                <a:latin typeface="Tahoma"/>
                <a:cs typeface="Tahoma"/>
              </a:rPr>
              <a:t> </a:t>
            </a:r>
            <a:r>
              <a:rPr sz="2400" b="1" spc="-5" dirty="0">
                <a:latin typeface="Tahoma"/>
                <a:cs typeface="Tahoma"/>
              </a:rPr>
              <a:t>in</a:t>
            </a:r>
            <a:r>
              <a:rPr sz="2400" b="1" spc="-30" dirty="0">
                <a:latin typeface="Tahoma"/>
                <a:cs typeface="Tahoma"/>
              </a:rPr>
              <a:t> </a:t>
            </a:r>
            <a:r>
              <a:rPr sz="2400" b="1" spc="-5" dirty="0">
                <a:latin typeface="Tahoma"/>
                <a:cs typeface="Tahoma"/>
              </a:rPr>
              <a:t>Mode</a:t>
            </a:r>
            <a:r>
              <a:rPr sz="2400" b="1" spc="-15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1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C4D6B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5825" y="1843087"/>
            <a:ext cx="8255000" cy="501491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833575"/>
            <a:ext cx="895350" cy="50244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76300" y="6350"/>
            <a:ext cx="19050" cy="150336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17612" y="1833562"/>
            <a:ext cx="7923212" cy="19050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552450" y="1509712"/>
            <a:ext cx="665480" cy="666750"/>
            <a:chOff x="552450" y="1509712"/>
            <a:chExt cx="665480" cy="666750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6300" y="1509712"/>
              <a:ext cx="19050" cy="6667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2450" y="1833562"/>
              <a:ext cx="665162" cy="19050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76705" y="6251447"/>
            <a:ext cx="250697" cy="21945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145539" y="6280658"/>
            <a:ext cx="9525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371600" y="304800"/>
            <a:ext cx="5943600" cy="466725"/>
          </a:xfrm>
          <a:prstGeom prst="rect">
            <a:avLst/>
          </a:prstGeom>
          <a:solidFill>
            <a:srgbClr val="C4D6BE"/>
          </a:solidFill>
          <a:ln w="12700">
            <a:solidFill>
              <a:srgbClr val="3366FF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45"/>
              </a:spcBef>
            </a:pPr>
            <a:r>
              <a:rPr sz="2400" b="1" spc="-5" dirty="0">
                <a:latin typeface="Tahoma"/>
                <a:cs typeface="Tahoma"/>
              </a:rPr>
              <a:t>Control word</a:t>
            </a:r>
            <a:r>
              <a:rPr sz="2400" b="1" dirty="0">
                <a:latin typeface="Tahoma"/>
                <a:cs typeface="Tahoma"/>
              </a:rPr>
              <a:t> – </a:t>
            </a:r>
            <a:r>
              <a:rPr sz="2400" b="1" spc="-5" dirty="0">
                <a:latin typeface="Tahoma"/>
                <a:cs typeface="Tahoma"/>
              </a:rPr>
              <a:t>mode </a:t>
            </a:r>
            <a:r>
              <a:rPr sz="2400" b="1" dirty="0">
                <a:latin typeface="Tahoma"/>
                <a:cs typeface="Tahoma"/>
              </a:rPr>
              <a:t>1</a:t>
            </a:r>
            <a:r>
              <a:rPr sz="2400" b="1" spc="-15" dirty="0">
                <a:latin typeface="Tahoma"/>
                <a:cs typeface="Tahoma"/>
              </a:rPr>
              <a:t> </a:t>
            </a:r>
            <a:r>
              <a:rPr sz="2400" b="1" spc="-5" dirty="0">
                <a:latin typeface="Tahoma"/>
                <a:cs typeface="Tahoma"/>
              </a:rPr>
              <a:t>input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31850" y="2965450"/>
            <a:ext cx="7251700" cy="469900"/>
            <a:chOff x="831850" y="2965450"/>
            <a:chExt cx="7251700" cy="469900"/>
          </a:xfrm>
        </p:grpSpPr>
        <p:sp>
          <p:nvSpPr>
            <p:cNvPr id="14" name="object 14"/>
            <p:cNvSpPr/>
            <p:nvPr/>
          </p:nvSpPr>
          <p:spPr>
            <a:xfrm>
              <a:off x="838200" y="2971800"/>
              <a:ext cx="7239000" cy="457200"/>
            </a:xfrm>
            <a:custGeom>
              <a:avLst/>
              <a:gdLst/>
              <a:ahLst/>
              <a:cxnLst/>
              <a:rect l="l" t="t" r="r" b="b"/>
              <a:pathLst>
                <a:path w="7239000" h="457200">
                  <a:moveTo>
                    <a:pt x="7239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7239000" y="457200"/>
                  </a:lnTo>
                  <a:lnTo>
                    <a:pt x="723900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38200" y="2971800"/>
              <a:ext cx="7239000" cy="457200"/>
            </a:xfrm>
            <a:custGeom>
              <a:avLst/>
              <a:gdLst/>
              <a:ahLst/>
              <a:cxnLst/>
              <a:rect l="l" t="t" r="r" b="b"/>
              <a:pathLst>
                <a:path w="7239000" h="457200">
                  <a:moveTo>
                    <a:pt x="0" y="0"/>
                  </a:moveTo>
                  <a:lnTo>
                    <a:pt x="7239000" y="0"/>
                  </a:lnTo>
                  <a:lnTo>
                    <a:pt x="72390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19600" y="2971800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362200" y="2971800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276600" y="2971800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524000" y="2971800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315200" y="2971800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951896" y="2622296"/>
            <a:ext cx="1066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</a:tabLst>
            </a:pPr>
            <a:r>
              <a:rPr sz="1800" spc="-10" dirty="0">
                <a:latin typeface="Tahoma"/>
                <a:cs typeface="Tahoma"/>
              </a:rPr>
              <a:t>D</a:t>
            </a:r>
            <a:r>
              <a:rPr sz="1800" spc="-5" dirty="0">
                <a:latin typeface="Tahoma"/>
                <a:cs typeface="Tahoma"/>
              </a:rPr>
              <a:t>7</a:t>
            </a:r>
            <a:r>
              <a:rPr sz="1800" dirty="0">
                <a:latin typeface="Tahoma"/>
                <a:cs typeface="Tahoma"/>
              </a:rPr>
              <a:t>	</a:t>
            </a:r>
            <a:r>
              <a:rPr sz="1800" spc="-10" dirty="0">
                <a:latin typeface="Tahoma"/>
                <a:cs typeface="Tahoma"/>
              </a:rPr>
              <a:t>D6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628220" y="2622296"/>
            <a:ext cx="304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D5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542620" y="2622296"/>
            <a:ext cx="305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D</a:t>
            </a:r>
            <a:r>
              <a:rPr sz="1800" dirty="0">
                <a:latin typeface="Tahoma"/>
                <a:cs typeface="Tahoma"/>
              </a:rPr>
              <a:t>4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85620" y="2622296"/>
            <a:ext cx="305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D</a:t>
            </a:r>
            <a:r>
              <a:rPr sz="1800" dirty="0">
                <a:latin typeface="Tahoma"/>
                <a:cs typeface="Tahoma"/>
              </a:rPr>
              <a:t>3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752496" y="2622296"/>
            <a:ext cx="305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D</a:t>
            </a:r>
            <a:r>
              <a:rPr sz="1800" dirty="0">
                <a:latin typeface="Tahoma"/>
                <a:cs typeface="Tahoma"/>
              </a:rPr>
              <a:t>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666896" y="2622296"/>
            <a:ext cx="305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D</a:t>
            </a:r>
            <a:r>
              <a:rPr sz="1800" dirty="0">
                <a:latin typeface="Tahoma"/>
                <a:cs typeface="Tahoma"/>
              </a:rPr>
              <a:t>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581296" y="2622296"/>
            <a:ext cx="305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D</a:t>
            </a:r>
            <a:r>
              <a:rPr sz="1800" dirty="0">
                <a:latin typeface="Tahoma"/>
                <a:cs typeface="Tahoma"/>
              </a:rPr>
              <a:t>0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702454" y="3003372"/>
            <a:ext cx="1390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x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85801" y="2965450"/>
            <a:ext cx="6705600" cy="3168650"/>
            <a:chOff x="685801" y="2965450"/>
            <a:chExt cx="6705600" cy="3168650"/>
          </a:xfrm>
        </p:grpSpPr>
        <p:sp>
          <p:nvSpPr>
            <p:cNvPr id="30" name="object 30"/>
            <p:cNvSpPr/>
            <p:nvPr/>
          </p:nvSpPr>
          <p:spPr>
            <a:xfrm>
              <a:off x="6400800" y="2971800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410200" y="2971800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219200" y="3429000"/>
              <a:ext cx="0" cy="762000"/>
            </a:xfrm>
            <a:custGeom>
              <a:avLst/>
              <a:gdLst/>
              <a:ahLst/>
              <a:cxnLst/>
              <a:rect l="l" t="t" r="r" b="b"/>
              <a:pathLst>
                <a:path h="762000">
                  <a:moveTo>
                    <a:pt x="0" y="0"/>
                  </a:moveTo>
                  <a:lnTo>
                    <a:pt x="0" y="762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362199" y="3810000"/>
              <a:ext cx="0" cy="1143000"/>
            </a:xfrm>
            <a:custGeom>
              <a:avLst/>
              <a:gdLst/>
              <a:ahLst/>
              <a:cxnLst/>
              <a:rect l="l" t="t" r="r" b="b"/>
              <a:pathLst>
                <a:path h="1143000">
                  <a:moveTo>
                    <a:pt x="0" y="0"/>
                  </a:moveTo>
                  <a:lnTo>
                    <a:pt x="0" y="1143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886199" y="3429000"/>
              <a:ext cx="0" cy="2590800"/>
            </a:xfrm>
            <a:custGeom>
              <a:avLst/>
              <a:gdLst/>
              <a:ahLst/>
              <a:cxnLst/>
              <a:rect l="l" t="t" r="r" b="b"/>
              <a:pathLst>
                <a:path h="2590800">
                  <a:moveTo>
                    <a:pt x="0" y="0"/>
                  </a:moveTo>
                  <a:lnTo>
                    <a:pt x="0" y="25908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029200" y="3429000"/>
              <a:ext cx="0" cy="2667000"/>
            </a:xfrm>
            <a:custGeom>
              <a:avLst/>
              <a:gdLst/>
              <a:ahLst/>
              <a:cxnLst/>
              <a:rect l="l" t="t" r="r" b="b"/>
              <a:pathLst>
                <a:path h="2667000">
                  <a:moveTo>
                    <a:pt x="0" y="0"/>
                  </a:moveTo>
                  <a:lnTo>
                    <a:pt x="0" y="2667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867400" y="3429000"/>
              <a:ext cx="0" cy="1371600"/>
            </a:xfrm>
            <a:custGeom>
              <a:avLst/>
              <a:gdLst/>
              <a:ahLst/>
              <a:cxnLst/>
              <a:rect l="l" t="t" r="r" b="b"/>
              <a:pathLst>
                <a:path h="1371600">
                  <a:moveTo>
                    <a:pt x="0" y="0"/>
                  </a:moveTo>
                  <a:lnTo>
                    <a:pt x="0" y="13716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858000" y="3429000"/>
              <a:ext cx="0" cy="533400"/>
            </a:xfrm>
            <a:custGeom>
              <a:avLst/>
              <a:gdLst/>
              <a:ahLst/>
              <a:cxnLst/>
              <a:rect l="l" t="t" r="r" b="b"/>
              <a:pathLst>
                <a:path h="533400">
                  <a:moveTo>
                    <a:pt x="0" y="0"/>
                  </a:moveTo>
                  <a:lnTo>
                    <a:pt x="0" y="5334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25499" y="4191000"/>
              <a:ext cx="393700" cy="0"/>
            </a:xfrm>
            <a:custGeom>
              <a:avLst/>
              <a:gdLst/>
              <a:ahLst/>
              <a:cxnLst/>
              <a:rect l="l" t="t" r="r" b="b"/>
              <a:pathLst>
                <a:path w="393700">
                  <a:moveTo>
                    <a:pt x="3937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62001" y="41528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49299" y="4953000"/>
              <a:ext cx="1612900" cy="0"/>
            </a:xfrm>
            <a:custGeom>
              <a:avLst/>
              <a:gdLst/>
              <a:ahLst/>
              <a:cxnLst/>
              <a:rect l="l" t="t" r="r" b="b"/>
              <a:pathLst>
                <a:path w="1612900">
                  <a:moveTo>
                    <a:pt x="16129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85801" y="49148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25499" y="6019800"/>
              <a:ext cx="3060700" cy="0"/>
            </a:xfrm>
            <a:custGeom>
              <a:avLst/>
              <a:gdLst/>
              <a:ahLst/>
              <a:cxnLst/>
              <a:rect l="l" t="t" r="r" b="b"/>
              <a:pathLst>
                <a:path w="3060700">
                  <a:moveTo>
                    <a:pt x="30607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62001" y="59816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858000" y="3962400"/>
              <a:ext cx="469900" cy="0"/>
            </a:xfrm>
            <a:custGeom>
              <a:avLst/>
              <a:gdLst/>
              <a:ahLst/>
              <a:cxnLst/>
              <a:rect l="l" t="t" r="r" b="b"/>
              <a:pathLst>
                <a:path w="469900">
                  <a:moveTo>
                    <a:pt x="0" y="0"/>
                  </a:moveTo>
                  <a:lnTo>
                    <a:pt x="4699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315202" y="39242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867400" y="4800600"/>
              <a:ext cx="1460500" cy="0"/>
            </a:xfrm>
            <a:custGeom>
              <a:avLst/>
              <a:gdLst/>
              <a:ahLst/>
              <a:cxnLst/>
              <a:rect l="l" t="t" r="r" b="b"/>
              <a:pathLst>
                <a:path w="1460500">
                  <a:moveTo>
                    <a:pt x="0" y="0"/>
                  </a:moveTo>
                  <a:lnTo>
                    <a:pt x="14605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315202" y="47624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029200" y="6096000"/>
              <a:ext cx="2298700" cy="0"/>
            </a:xfrm>
            <a:custGeom>
              <a:avLst/>
              <a:gdLst/>
              <a:ahLst/>
              <a:cxnLst/>
              <a:rect l="l" t="t" r="r" b="b"/>
              <a:pathLst>
                <a:path w="2298700">
                  <a:moveTo>
                    <a:pt x="0" y="0"/>
                  </a:moveTo>
                  <a:lnTo>
                    <a:pt x="22987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315202" y="60578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199"/>
                  </a:lnTo>
                  <a:lnTo>
                    <a:pt x="76200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6782720" y="3003296"/>
            <a:ext cx="1504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868320" y="3003296"/>
            <a:ext cx="1504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810920" y="3003296"/>
            <a:ext cx="1504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820397" y="3003296"/>
            <a:ext cx="1504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905997" y="3003296"/>
            <a:ext cx="1504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0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220196" y="3003296"/>
            <a:ext cx="1504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694916" y="3003296"/>
            <a:ext cx="3632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1/0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209022" y="3885945"/>
            <a:ext cx="5721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0541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I/O </a:t>
            </a:r>
            <a:r>
              <a:rPr sz="1800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Mode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77018" y="4571745"/>
            <a:ext cx="636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Tahoma"/>
                <a:cs typeface="Tahoma"/>
              </a:rPr>
              <a:t>Port</a:t>
            </a:r>
            <a:r>
              <a:rPr sz="1800" spc="-9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10724" y="4983226"/>
            <a:ext cx="7689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Mode</a:t>
            </a:r>
            <a:r>
              <a:rPr sz="1800" spc="-7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77018" y="5806185"/>
            <a:ext cx="6362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625" marR="5080" indent="-3556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Tahoma"/>
                <a:cs typeface="Tahoma"/>
              </a:rPr>
              <a:t>Port</a:t>
            </a:r>
            <a:r>
              <a:rPr sz="1800" spc="-10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 </a:t>
            </a:r>
            <a:r>
              <a:rPr sz="1800" spc="-55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Input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1905000" y="3657600"/>
            <a:ext cx="838200" cy="76200"/>
          </a:xfrm>
          <a:custGeom>
            <a:avLst/>
            <a:gdLst/>
            <a:ahLst/>
            <a:cxnLst/>
            <a:rect l="l" t="t" r="r" b="b"/>
            <a:pathLst>
              <a:path w="838200" h="76200">
                <a:moveTo>
                  <a:pt x="838200" y="0"/>
                </a:moveTo>
                <a:lnTo>
                  <a:pt x="832711" y="14831"/>
                </a:lnTo>
                <a:lnTo>
                  <a:pt x="817743" y="26941"/>
                </a:lnTo>
                <a:lnTo>
                  <a:pt x="795541" y="35106"/>
                </a:lnTo>
                <a:lnTo>
                  <a:pt x="768350" y="38100"/>
                </a:lnTo>
                <a:lnTo>
                  <a:pt x="488950" y="38100"/>
                </a:lnTo>
                <a:lnTo>
                  <a:pt x="461758" y="41093"/>
                </a:lnTo>
                <a:lnTo>
                  <a:pt x="439556" y="49258"/>
                </a:lnTo>
                <a:lnTo>
                  <a:pt x="424588" y="61368"/>
                </a:lnTo>
                <a:lnTo>
                  <a:pt x="419100" y="76200"/>
                </a:lnTo>
                <a:lnTo>
                  <a:pt x="413611" y="61368"/>
                </a:lnTo>
                <a:lnTo>
                  <a:pt x="398643" y="49258"/>
                </a:lnTo>
                <a:lnTo>
                  <a:pt x="376441" y="41093"/>
                </a:lnTo>
                <a:lnTo>
                  <a:pt x="349250" y="38100"/>
                </a:lnTo>
                <a:lnTo>
                  <a:pt x="69850" y="38100"/>
                </a:lnTo>
                <a:lnTo>
                  <a:pt x="42658" y="35106"/>
                </a:lnTo>
                <a:lnTo>
                  <a:pt x="20456" y="26941"/>
                </a:lnTo>
                <a:lnTo>
                  <a:pt x="5488" y="14831"/>
                </a:lnTo>
                <a:lnTo>
                  <a:pt x="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 txBox="1"/>
          <p:nvPr/>
        </p:nvSpPr>
        <p:spPr>
          <a:xfrm>
            <a:off x="7730539" y="3628135"/>
            <a:ext cx="768985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7310" algn="just">
              <a:lnSpc>
                <a:spcPct val="150000"/>
              </a:lnSpc>
              <a:spcBef>
                <a:spcPts val="100"/>
              </a:spcBef>
            </a:pPr>
            <a:r>
              <a:rPr sz="1800" spc="-15" dirty="0">
                <a:latin typeface="Tahoma"/>
                <a:cs typeface="Tahoma"/>
              </a:rPr>
              <a:t>Port </a:t>
            </a:r>
            <a:r>
              <a:rPr sz="1800" spc="-5" dirty="0">
                <a:latin typeface="Tahoma"/>
                <a:cs typeface="Tahoma"/>
              </a:rPr>
              <a:t>B </a:t>
            </a:r>
            <a:r>
              <a:rPr sz="1800" spc="-55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Input 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spc="-15" dirty="0">
                <a:latin typeface="Tahoma"/>
                <a:cs typeface="Tahoma"/>
              </a:rPr>
              <a:t>Port </a:t>
            </a:r>
            <a:r>
              <a:rPr sz="1800" spc="-5" dirty="0">
                <a:latin typeface="Tahoma"/>
                <a:cs typeface="Tahoma"/>
              </a:rPr>
              <a:t>B </a:t>
            </a:r>
            <a:r>
              <a:rPr sz="1800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Mode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7882101" y="5822696"/>
            <a:ext cx="4660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P</a:t>
            </a:r>
            <a:r>
              <a:rPr sz="1800" spc="-5" dirty="0">
                <a:latin typeface="Tahoma"/>
                <a:cs typeface="Tahoma"/>
              </a:rPr>
              <a:t>C</a:t>
            </a:r>
            <a:r>
              <a:rPr sz="1000" spc="-5" dirty="0">
                <a:latin typeface="Tahoma"/>
                <a:cs typeface="Tahoma"/>
              </a:rPr>
              <a:t>6</a:t>
            </a:r>
            <a:r>
              <a:rPr sz="1000" dirty="0">
                <a:latin typeface="Tahoma"/>
                <a:cs typeface="Tahoma"/>
              </a:rPr>
              <a:t>,7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7609458" y="6234176"/>
            <a:ext cx="10115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619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1=Input; </a:t>
            </a:r>
            <a:r>
              <a:rPr sz="1800" spc="-5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0</a:t>
            </a:r>
            <a:r>
              <a:rPr sz="1800" spc="-10" dirty="0">
                <a:latin typeface="Tahoma"/>
                <a:cs typeface="Tahoma"/>
              </a:rPr>
              <a:t>=Out</a:t>
            </a:r>
            <a:r>
              <a:rPr sz="1800" spc="-5" dirty="0">
                <a:latin typeface="Tahoma"/>
                <a:cs typeface="Tahoma"/>
              </a:rPr>
              <a:t>p</a:t>
            </a:r>
            <a:r>
              <a:rPr sz="1800" spc="-10" dirty="0">
                <a:latin typeface="Tahoma"/>
                <a:cs typeface="Tahoma"/>
              </a:rPr>
              <a:t>ut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C4D6B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5825" y="1843087"/>
            <a:ext cx="8255000" cy="501491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833575"/>
            <a:ext cx="895350" cy="50244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76300" y="6350"/>
            <a:ext cx="19050" cy="150336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17612" y="1833562"/>
            <a:ext cx="7923212" cy="19050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552450" y="1509712"/>
            <a:ext cx="665480" cy="666750"/>
            <a:chOff x="552450" y="1509712"/>
            <a:chExt cx="665480" cy="666750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6300" y="1509712"/>
              <a:ext cx="19050" cy="6667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2450" y="1833562"/>
              <a:ext cx="665162" cy="19050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76705" y="6251447"/>
            <a:ext cx="250697" cy="21945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145539" y="6280658"/>
            <a:ext cx="9525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14400" y="685800"/>
            <a:ext cx="6934200" cy="466725"/>
          </a:xfrm>
          <a:custGeom>
            <a:avLst/>
            <a:gdLst/>
            <a:ahLst/>
            <a:cxnLst/>
            <a:rect l="l" t="t" r="r" b="b"/>
            <a:pathLst>
              <a:path w="6934200" h="466725">
                <a:moveTo>
                  <a:pt x="0" y="0"/>
                </a:moveTo>
                <a:lnTo>
                  <a:pt x="6934200" y="0"/>
                </a:lnTo>
                <a:lnTo>
                  <a:pt x="6934200" y="466725"/>
                </a:lnTo>
                <a:lnTo>
                  <a:pt x="0" y="46672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3366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232056" y="717296"/>
            <a:ext cx="42989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Tahoma"/>
                <a:cs typeface="Tahoma"/>
              </a:rPr>
              <a:t>Status Word</a:t>
            </a:r>
            <a:r>
              <a:rPr sz="2400" b="1" dirty="0">
                <a:latin typeface="Tahoma"/>
                <a:cs typeface="Tahoma"/>
              </a:rPr>
              <a:t> –</a:t>
            </a:r>
            <a:r>
              <a:rPr sz="2400" b="1" spc="-20" dirty="0">
                <a:latin typeface="Tahoma"/>
                <a:cs typeface="Tahoma"/>
              </a:rPr>
              <a:t> </a:t>
            </a:r>
            <a:r>
              <a:rPr sz="2400" b="1" spc="-5" dirty="0">
                <a:latin typeface="Tahoma"/>
                <a:cs typeface="Tahoma"/>
              </a:rPr>
              <a:t>Mode</a:t>
            </a:r>
            <a:r>
              <a:rPr sz="2400" b="1" spc="-10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1</a:t>
            </a:r>
            <a:r>
              <a:rPr sz="2400" b="1" spc="-20" dirty="0">
                <a:latin typeface="Tahoma"/>
                <a:cs typeface="Tahoma"/>
              </a:rPr>
              <a:t> </a:t>
            </a:r>
            <a:r>
              <a:rPr sz="2400" b="1" spc="-5" dirty="0">
                <a:latin typeface="Tahoma"/>
                <a:cs typeface="Tahoma"/>
              </a:rPr>
              <a:t>input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31850" y="2965450"/>
            <a:ext cx="7251700" cy="469900"/>
            <a:chOff x="831850" y="2965450"/>
            <a:chExt cx="7251700" cy="469900"/>
          </a:xfrm>
        </p:grpSpPr>
        <p:sp>
          <p:nvSpPr>
            <p:cNvPr id="15" name="object 15"/>
            <p:cNvSpPr/>
            <p:nvPr/>
          </p:nvSpPr>
          <p:spPr>
            <a:xfrm>
              <a:off x="838200" y="2971800"/>
              <a:ext cx="7239000" cy="457200"/>
            </a:xfrm>
            <a:custGeom>
              <a:avLst/>
              <a:gdLst/>
              <a:ahLst/>
              <a:cxnLst/>
              <a:rect l="l" t="t" r="r" b="b"/>
              <a:pathLst>
                <a:path w="7239000" h="457200">
                  <a:moveTo>
                    <a:pt x="7239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7239000" y="457200"/>
                  </a:lnTo>
                  <a:lnTo>
                    <a:pt x="723900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38200" y="2971800"/>
              <a:ext cx="7239000" cy="457200"/>
            </a:xfrm>
            <a:custGeom>
              <a:avLst/>
              <a:gdLst/>
              <a:ahLst/>
              <a:cxnLst/>
              <a:rect l="l" t="t" r="r" b="b"/>
              <a:pathLst>
                <a:path w="7239000" h="457200">
                  <a:moveTo>
                    <a:pt x="0" y="0"/>
                  </a:moveTo>
                  <a:lnTo>
                    <a:pt x="7239000" y="0"/>
                  </a:lnTo>
                  <a:lnTo>
                    <a:pt x="72390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419600" y="2971800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362200" y="2971800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276600" y="2971800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24000" y="2971800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315200" y="2971800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951896" y="2622296"/>
            <a:ext cx="1067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700" algn="l"/>
              </a:tabLst>
            </a:pPr>
            <a:r>
              <a:rPr sz="1800" spc="-10" dirty="0">
                <a:latin typeface="Tahoma"/>
                <a:cs typeface="Tahoma"/>
              </a:rPr>
              <a:t>D</a:t>
            </a:r>
            <a:r>
              <a:rPr sz="1800" dirty="0">
                <a:latin typeface="Tahoma"/>
                <a:cs typeface="Tahoma"/>
              </a:rPr>
              <a:t>7	</a:t>
            </a:r>
            <a:r>
              <a:rPr sz="1800" spc="-10" dirty="0">
                <a:latin typeface="Tahoma"/>
                <a:cs typeface="Tahoma"/>
              </a:rPr>
              <a:t>D</a:t>
            </a:r>
            <a:r>
              <a:rPr sz="1800" dirty="0">
                <a:latin typeface="Tahoma"/>
                <a:cs typeface="Tahoma"/>
              </a:rPr>
              <a:t>6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628449" y="2622296"/>
            <a:ext cx="305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D</a:t>
            </a:r>
            <a:r>
              <a:rPr sz="1800" dirty="0">
                <a:latin typeface="Tahoma"/>
                <a:cs typeface="Tahoma"/>
              </a:rPr>
              <a:t>5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542849" y="2622296"/>
            <a:ext cx="305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D</a:t>
            </a:r>
            <a:r>
              <a:rPr sz="1800" dirty="0">
                <a:latin typeface="Tahoma"/>
                <a:cs typeface="Tahoma"/>
              </a:rPr>
              <a:t>4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685849" y="2622296"/>
            <a:ext cx="305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D</a:t>
            </a:r>
            <a:r>
              <a:rPr sz="1800" dirty="0">
                <a:latin typeface="Tahoma"/>
                <a:cs typeface="Tahoma"/>
              </a:rPr>
              <a:t>3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752725" y="2622296"/>
            <a:ext cx="304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D2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667125" y="2622296"/>
            <a:ext cx="305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D</a:t>
            </a:r>
            <a:r>
              <a:rPr sz="1800" dirty="0">
                <a:latin typeface="Tahoma"/>
                <a:cs typeface="Tahoma"/>
              </a:rPr>
              <a:t>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581525" y="2622296"/>
            <a:ext cx="304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D0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427677" y="3003372"/>
            <a:ext cx="6134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INTR</a:t>
            </a:r>
            <a:r>
              <a:rPr sz="1000" dirty="0">
                <a:latin typeface="Tahoma"/>
                <a:cs typeface="Tahoma"/>
              </a:rPr>
              <a:t>B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403850" y="2971800"/>
            <a:ext cx="1003300" cy="457200"/>
            <a:chOff x="5403850" y="2971800"/>
            <a:chExt cx="1003300" cy="457200"/>
          </a:xfrm>
        </p:grpSpPr>
        <p:sp>
          <p:nvSpPr>
            <p:cNvPr id="31" name="object 31"/>
            <p:cNvSpPr/>
            <p:nvPr/>
          </p:nvSpPr>
          <p:spPr>
            <a:xfrm>
              <a:off x="6400800" y="2971800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410200" y="2971800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6637940" y="3003296"/>
            <a:ext cx="4400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IB</a:t>
            </a:r>
            <a:r>
              <a:rPr sz="1800" spc="-10" dirty="0">
                <a:latin typeface="Tahoma"/>
                <a:cs typeface="Tahoma"/>
              </a:rPr>
              <a:t>F</a:t>
            </a:r>
            <a:r>
              <a:rPr sz="1000" dirty="0">
                <a:latin typeface="Tahoma"/>
                <a:cs typeface="Tahoma"/>
              </a:rPr>
              <a:t>B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585368" y="3003296"/>
            <a:ext cx="6013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INTE</a:t>
            </a:r>
            <a:r>
              <a:rPr sz="1000" dirty="0">
                <a:latin typeface="Tahoma"/>
                <a:cs typeface="Tahoma"/>
              </a:rPr>
              <a:t>A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674747" y="3003296"/>
            <a:ext cx="441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IB</a:t>
            </a:r>
            <a:r>
              <a:rPr sz="1800" spc="-10" dirty="0">
                <a:latin typeface="Tahoma"/>
                <a:cs typeface="Tahoma"/>
              </a:rPr>
              <a:t>F</a:t>
            </a:r>
            <a:r>
              <a:rPr sz="1000" dirty="0">
                <a:latin typeface="Tahoma"/>
                <a:cs typeface="Tahoma"/>
              </a:rPr>
              <a:t>A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114964" y="3003296"/>
            <a:ext cx="104584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7865" algn="l"/>
              </a:tabLst>
            </a:pPr>
            <a:r>
              <a:rPr sz="1800" spc="-5" dirty="0">
                <a:latin typeface="Tahoma"/>
                <a:cs typeface="Tahoma"/>
              </a:rPr>
              <a:t>I/O	I/O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530934" y="3003296"/>
            <a:ext cx="6146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INT</a:t>
            </a:r>
            <a:r>
              <a:rPr sz="1800" dirty="0">
                <a:latin typeface="Tahoma"/>
                <a:cs typeface="Tahoma"/>
              </a:rPr>
              <a:t>R</a:t>
            </a:r>
            <a:r>
              <a:rPr sz="1000" dirty="0">
                <a:latin typeface="Tahoma"/>
                <a:cs typeface="Tahoma"/>
              </a:rPr>
              <a:t>A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605397" y="3003296"/>
            <a:ext cx="600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INTE</a:t>
            </a:r>
            <a:r>
              <a:rPr sz="1000" dirty="0">
                <a:latin typeface="Tahoma"/>
                <a:cs typeface="Tahoma"/>
              </a:rPr>
              <a:t>B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C4D6B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5825" y="1843087"/>
            <a:ext cx="8255000" cy="501491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833575"/>
            <a:ext cx="895350" cy="50244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76300" y="6350"/>
            <a:ext cx="19050" cy="150336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17612" y="1833562"/>
            <a:ext cx="7923212" cy="19050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552450" y="1509712"/>
            <a:ext cx="665480" cy="666750"/>
            <a:chOff x="552450" y="1509712"/>
            <a:chExt cx="665480" cy="666750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6300" y="1509712"/>
              <a:ext cx="19050" cy="6667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2450" y="1833562"/>
              <a:ext cx="665162" cy="19050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1076705" y="6089650"/>
            <a:ext cx="7388225" cy="381635"/>
            <a:chOff x="1076705" y="6089650"/>
            <a:chExt cx="7388225" cy="381635"/>
          </a:xfrm>
        </p:grpSpPr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76705" y="6251447"/>
              <a:ext cx="250697" cy="21945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733800" y="6096000"/>
              <a:ext cx="990600" cy="304800"/>
            </a:xfrm>
            <a:custGeom>
              <a:avLst/>
              <a:gdLst/>
              <a:ahLst/>
              <a:cxnLst/>
              <a:rect l="l" t="t" r="r" b="b"/>
              <a:pathLst>
                <a:path w="990600" h="304800">
                  <a:moveTo>
                    <a:pt x="74295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742950" y="304800"/>
                  </a:lnTo>
                  <a:lnTo>
                    <a:pt x="990600" y="152400"/>
                  </a:lnTo>
                  <a:lnTo>
                    <a:pt x="74295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733800" y="6096000"/>
              <a:ext cx="990600" cy="304800"/>
            </a:xfrm>
            <a:custGeom>
              <a:avLst/>
              <a:gdLst/>
              <a:ahLst/>
              <a:cxnLst/>
              <a:rect l="l" t="t" r="r" b="b"/>
              <a:pathLst>
                <a:path w="990600" h="304800">
                  <a:moveTo>
                    <a:pt x="0" y="0"/>
                  </a:moveTo>
                  <a:lnTo>
                    <a:pt x="742950" y="0"/>
                  </a:lnTo>
                  <a:lnTo>
                    <a:pt x="990600" y="152400"/>
                  </a:lnTo>
                  <a:lnTo>
                    <a:pt x="74295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676400" y="6096000"/>
              <a:ext cx="2057400" cy="304800"/>
            </a:xfrm>
            <a:custGeom>
              <a:avLst/>
              <a:gdLst/>
              <a:ahLst/>
              <a:cxnLst/>
              <a:rect l="l" t="t" r="r" b="b"/>
              <a:pathLst>
                <a:path w="2057400" h="304800">
                  <a:moveTo>
                    <a:pt x="2057400" y="0"/>
                  </a:moveTo>
                  <a:lnTo>
                    <a:pt x="514350" y="0"/>
                  </a:lnTo>
                  <a:lnTo>
                    <a:pt x="0" y="152400"/>
                  </a:lnTo>
                  <a:lnTo>
                    <a:pt x="514350" y="304800"/>
                  </a:lnTo>
                  <a:lnTo>
                    <a:pt x="2057400" y="304800"/>
                  </a:lnTo>
                  <a:lnTo>
                    <a:pt x="205740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676400" y="6096000"/>
              <a:ext cx="2057400" cy="304800"/>
            </a:xfrm>
            <a:custGeom>
              <a:avLst/>
              <a:gdLst/>
              <a:ahLst/>
              <a:cxnLst/>
              <a:rect l="l" t="t" r="r" b="b"/>
              <a:pathLst>
                <a:path w="2057400" h="304800">
                  <a:moveTo>
                    <a:pt x="2057400" y="304800"/>
                  </a:moveTo>
                  <a:lnTo>
                    <a:pt x="514350" y="304800"/>
                  </a:lnTo>
                  <a:lnTo>
                    <a:pt x="0" y="152400"/>
                  </a:lnTo>
                  <a:lnTo>
                    <a:pt x="514350" y="0"/>
                  </a:lnTo>
                  <a:lnTo>
                    <a:pt x="2057400" y="0"/>
                  </a:lnTo>
                  <a:lnTo>
                    <a:pt x="2057400" y="3048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727450" y="6095999"/>
              <a:ext cx="12700" cy="304800"/>
            </a:xfrm>
            <a:custGeom>
              <a:avLst/>
              <a:gdLst/>
              <a:ahLst/>
              <a:cxnLst/>
              <a:rect l="l" t="t" r="r" b="b"/>
              <a:pathLst>
                <a:path w="12700" h="304800">
                  <a:moveTo>
                    <a:pt x="127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12700" y="304800"/>
                  </a:lnTo>
                  <a:lnTo>
                    <a:pt x="12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724400" y="6248400"/>
              <a:ext cx="3733800" cy="0"/>
            </a:xfrm>
            <a:custGeom>
              <a:avLst/>
              <a:gdLst/>
              <a:ahLst/>
              <a:cxnLst/>
              <a:rect l="l" t="t" r="r" b="b"/>
              <a:pathLst>
                <a:path w="3733800">
                  <a:moveTo>
                    <a:pt x="0" y="0"/>
                  </a:moveTo>
                  <a:lnTo>
                    <a:pt x="3733800" y="0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143000" y="6248400"/>
              <a:ext cx="533400" cy="0"/>
            </a:xfrm>
            <a:custGeom>
              <a:avLst/>
              <a:gdLst/>
              <a:ahLst/>
              <a:cxnLst/>
              <a:rect l="l" t="t" r="r" b="b"/>
              <a:pathLst>
                <a:path w="533400">
                  <a:moveTo>
                    <a:pt x="5334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1212850" y="831850"/>
            <a:ext cx="7708900" cy="4508500"/>
            <a:chOff x="1212850" y="831850"/>
            <a:chExt cx="7708900" cy="4508500"/>
          </a:xfrm>
        </p:grpSpPr>
        <p:sp>
          <p:nvSpPr>
            <p:cNvPr id="20" name="object 20"/>
            <p:cNvSpPr/>
            <p:nvPr/>
          </p:nvSpPr>
          <p:spPr>
            <a:xfrm>
              <a:off x="1219200" y="914400"/>
              <a:ext cx="914400" cy="0"/>
            </a:xfrm>
            <a:custGeom>
              <a:avLst/>
              <a:gdLst/>
              <a:ahLst/>
              <a:cxnLst/>
              <a:rect l="l" t="t" r="r" b="b"/>
              <a:pathLst>
                <a:path w="914400">
                  <a:moveTo>
                    <a:pt x="0" y="0"/>
                  </a:moveTo>
                  <a:lnTo>
                    <a:pt x="914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133600" y="914400"/>
              <a:ext cx="228600" cy="457200"/>
            </a:xfrm>
            <a:custGeom>
              <a:avLst/>
              <a:gdLst/>
              <a:ahLst/>
              <a:cxnLst/>
              <a:rect l="l" t="t" r="r" b="b"/>
              <a:pathLst>
                <a:path w="228600" h="457200">
                  <a:moveTo>
                    <a:pt x="0" y="0"/>
                  </a:moveTo>
                  <a:lnTo>
                    <a:pt x="228600" y="4572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362200" y="1371600"/>
              <a:ext cx="1219200" cy="0"/>
            </a:xfrm>
            <a:custGeom>
              <a:avLst/>
              <a:gdLst/>
              <a:ahLst/>
              <a:cxnLst/>
              <a:rect l="l" t="t" r="r" b="b"/>
              <a:pathLst>
                <a:path w="1219200">
                  <a:moveTo>
                    <a:pt x="0" y="0"/>
                  </a:moveTo>
                  <a:lnTo>
                    <a:pt x="12192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581400" y="914400"/>
              <a:ext cx="304800" cy="457200"/>
            </a:xfrm>
            <a:custGeom>
              <a:avLst/>
              <a:gdLst/>
              <a:ahLst/>
              <a:cxnLst/>
              <a:rect l="l" t="t" r="r" b="b"/>
              <a:pathLst>
                <a:path w="304800" h="457200">
                  <a:moveTo>
                    <a:pt x="0" y="457200"/>
                  </a:moveTo>
                  <a:lnTo>
                    <a:pt x="3048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886200" y="914400"/>
              <a:ext cx="4419600" cy="0"/>
            </a:xfrm>
            <a:custGeom>
              <a:avLst/>
              <a:gdLst/>
              <a:ahLst/>
              <a:cxnLst/>
              <a:rect l="l" t="t" r="r" b="b"/>
              <a:pathLst>
                <a:path w="4419600">
                  <a:moveTo>
                    <a:pt x="0" y="0"/>
                  </a:moveTo>
                  <a:lnTo>
                    <a:pt x="44196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295400" y="2362200"/>
              <a:ext cx="1295400" cy="0"/>
            </a:xfrm>
            <a:custGeom>
              <a:avLst/>
              <a:gdLst/>
              <a:ahLst/>
              <a:cxnLst/>
              <a:rect l="l" t="t" r="r" b="b"/>
              <a:pathLst>
                <a:path w="1295400">
                  <a:moveTo>
                    <a:pt x="0" y="0"/>
                  </a:moveTo>
                  <a:lnTo>
                    <a:pt x="1295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590800" y="1905000"/>
              <a:ext cx="381000" cy="457200"/>
            </a:xfrm>
            <a:custGeom>
              <a:avLst/>
              <a:gdLst/>
              <a:ahLst/>
              <a:cxnLst/>
              <a:rect l="l" t="t" r="r" b="b"/>
              <a:pathLst>
                <a:path w="381000" h="457200">
                  <a:moveTo>
                    <a:pt x="0" y="457200"/>
                  </a:moveTo>
                  <a:lnTo>
                    <a:pt x="3810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971800" y="1905000"/>
              <a:ext cx="4343400" cy="0"/>
            </a:xfrm>
            <a:custGeom>
              <a:avLst/>
              <a:gdLst/>
              <a:ahLst/>
              <a:cxnLst/>
              <a:rect l="l" t="t" r="r" b="b"/>
              <a:pathLst>
                <a:path w="4343400">
                  <a:moveTo>
                    <a:pt x="0" y="0"/>
                  </a:moveTo>
                  <a:lnTo>
                    <a:pt x="4343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543800" y="2362200"/>
              <a:ext cx="1371600" cy="0"/>
            </a:xfrm>
            <a:custGeom>
              <a:avLst/>
              <a:gdLst/>
              <a:ahLst/>
              <a:cxnLst/>
              <a:rect l="l" t="t" r="r" b="b"/>
              <a:pathLst>
                <a:path w="1371600">
                  <a:moveTo>
                    <a:pt x="0" y="0"/>
                  </a:moveTo>
                  <a:lnTo>
                    <a:pt x="13716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315200" y="1905000"/>
              <a:ext cx="228600" cy="457200"/>
            </a:xfrm>
            <a:custGeom>
              <a:avLst/>
              <a:gdLst/>
              <a:ahLst/>
              <a:cxnLst/>
              <a:rect l="l" t="t" r="r" b="b"/>
              <a:pathLst>
                <a:path w="228600" h="457200">
                  <a:moveTo>
                    <a:pt x="0" y="0"/>
                  </a:moveTo>
                  <a:lnTo>
                    <a:pt x="228600" y="4572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724400" y="914400"/>
              <a:ext cx="0" cy="2222500"/>
            </a:xfrm>
            <a:custGeom>
              <a:avLst/>
              <a:gdLst/>
              <a:ahLst/>
              <a:cxnLst/>
              <a:rect l="l" t="t" r="r" b="b"/>
              <a:pathLst>
                <a:path h="2222500">
                  <a:moveTo>
                    <a:pt x="0" y="0"/>
                  </a:moveTo>
                  <a:lnTo>
                    <a:pt x="0" y="22225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295400" y="3581400"/>
              <a:ext cx="3124200" cy="0"/>
            </a:xfrm>
            <a:custGeom>
              <a:avLst/>
              <a:gdLst/>
              <a:ahLst/>
              <a:cxnLst/>
              <a:rect l="l" t="t" r="r" b="b"/>
              <a:pathLst>
                <a:path w="3124200">
                  <a:moveTo>
                    <a:pt x="0" y="0"/>
                  </a:moveTo>
                  <a:lnTo>
                    <a:pt x="31242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419600" y="3200400"/>
              <a:ext cx="304800" cy="381000"/>
            </a:xfrm>
            <a:custGeom>
              <a:avLst/>
              <a:gdLst/>
              <a:ahLst/>
              <a:cxnLst/>
              <a:rect l="l" t="t" r="r" b="b"/>
              <a:pathLst>
                <a:path w="304800" h="381000">
                  <a:moveTo>
                    <a:pt x="0" y="381000"/>
                  </a:moveTo>
                  <a:lnTo>
                    <a:pt x="3048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724400" y="3200400"/>
              <a:ext cx="914400" cy="0"/>
            </a:xfrm>
            <a:custGeom>
              <a:avLst/>
              <a:gdLst/>
              <a:ahLst/>
              <a:cxnLst/>
              <a:rect l="l" t="t" r="r" b="b"/>
              <a:pathLst>
                <a:path w="914400">
                  <a:moveTo>
                    <a:pt x="0" y="0"/>
                  </a:moveTo>
                  <a:lnTo>
                    <a:pt x="914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638800" y="3200400"/>
              <a:ext cx="304800" cy="381000"/>
            </a:xfrm>
            <a:custGeom>
              <a:avLst/>
              <a:gdLst/>
              <a:ahLst/>
              <a:cxnLst/>
              <a:rect l="l" t="t" r="r" b="b"/>
              <a:pathLst>
                <a:path w="304800" h="381000">
                  <a:moveTo>
                    <a:pt x="0" y="0"/>
                  </a:moveTo>
                  <a:lnTo>
                    <a:pt x="304800" y="381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943600" y="3581400"/>
              <a:ext cx="2438400" cy="0"/>
            </a:xfrm>
            <a:custGeom>
              <a:avLst/>
              <a:gdLst/>
              <a:ahLst/>
              <a:cxnLst/>
              <a:rect l="l" t="t" r="r" b="b"/>
              <a:pathLst>
                <a:path w="2438400">
                  <a:moveTo>
                    <a:pt x="0" y="0"/>
                  </a:moveTo>
                  <a:lnTo>
                    <a:pt x="2438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686300" y="31242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641850" y="831850"/>
              <a:ext cx="88900" cy="8890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18050" y="1822450"/>
              <a:ext cx="88900" cy="88900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1295400" y="4876800"/>
              <a:ext cx="3886200" cy="0"/>
            </a:xfrm>
            <a:custGeom>
              <a:avLst/>
              <a:gdLst/>
              <a:ahLst/>
              <a:cxnLst/>
              <a:rect l="l" t="t" r="r" b="b"/>
              <a:pathLst>
                <a:path w="3886200">
                  <a:moveTo>
                    <a:pt x="0" y="0"/>
                  </a:moveTo>
                  <a:lnTo>
                    <a:pt x="38862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181600" y="4876800"/>
              <a:ext cx="304800" cy="457200"/>
            </a:xfrm>
            <a:custGeom>
              <a:avLst/>
              <a:gdLst/>
              <a:ahLst/>
              <a:cxnLst/>
              <a:rect l="l" t="t" r="r" b="b"/>
              <a:pathLst>
                <a:path w="304800" h="457200">
                  <a:moveTo>
                    <a:pt x="0" y="0"/>
                  </a:moveTo>
                  <a:lnTo>
                    <a:pt x="304800" y="4572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724400" y="3263900"/>
              <a:ext cx="0" cy="1612900"/>
            </a:xfrm>
            <a:custGeom>
              <a:avLst/>
              <a:gdLst/>
              <a:ahLst/>
              <a:cxnLst/>
              <a:rect l="l" t="t" r="r" b="b"/>
              <a:pathLst>
                <a:path h="1612900">
                  <a:moveTo>
                    <a:pt x="0" y="16129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686306" y="320040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087" y="0"/>
                  </a:moveTo>
                  <a:lnTo>
                    <a:pt x="0" y="76200"/>
                  </a:lnTo>
                  <a:lnTo>
                    <a:pt x="76200" y="76187"/>
                  </a:lnTo>
                  <a:lnTo>
                    <a:pt x="380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18050" y="4794250"/>
              <a:ext cx="88900" cy="88900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7620000" y="914400"/>
              <a:ext cx="0" cy="1384300"/>
            </a:xfrm>
            <a:custGeom>
              <a:avLst/>
              <a:gdLst/>
              <a:ahLst/>
              <a:cxnLst/>
              <a:rect l="l" t="t" r="r" b="b"/>
              <a:pathLst>
                <a:path h="1384300">
                  <a:moveTo>
                    <a:pt x="0" y="0"/>
                  </a:moveTo>
                  <a:lnTo>
                    <a:pt x="0" y="13843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581900" y="22860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613650" y="831850"/>
              <a:ext cx="88900" cy="88900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18050" y="3117850"/>
              <a:ext cx="88900" cy="88900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7620000" y="22860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23268" y="2993"/>
                  </a:lnTo>
                  <a:lnTo>
                    <a:pt x="11158" y="11158"/>
                  </a:lnTo>
                  <a:lnTo>
                    <a:pt x="2993" y="23268"/>
                  </a:lnTo>
                  <a:lnTo>
                    <a:pt x="0" y="38100"/>
                  </a:lnTo>
                  <a:lnTo>
                    <a:pt x="2993" y="52931"/>
                  </a:lnTo>
                  <a:lnTo>
                    <a:pt x="11158" y="65041"/>
                  </a:lnTo>
                  <a:lnTo>
                    <a:pt x="23268" y="73206"/>
                  </a:lnTo>
                  <a:lnTo>
                    <a:pt x="38100" y="76200"/>
                  </a:lnTo>
                  <a:lnTo>
                    <a:pt x="52931" y="73206"/>
                  </a:lnTo>
                  <a:lnTo>
                    <a:pt x="65041" y="65041"/>
                  </a:lnTo>
                  <a:lnTo>
                    <a:pt x="73206" y="52931"/>
                  </a:lnTo>
                  <a:lnTo>
                    <a:pt x="76200" y="38100"/>
                  </a:lnTo>
                  <a:lnTo>
                    <a:pt x="73206" y="23268"/>
                  </a:lnTo>
                  <a:lnTo>
                    <a:pt x="65041" y="11158"/>
                  </a:lnTo>
                  <a:lnTo>
                    <a:pt x="52931" y="2993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620000" y="22860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38100"/>
                  </a:moveTo>
                  <a:lnTo>
                    <a:pt x="2993" y="23268"/>
                  </a:lnTo>
                  <a:lnTo>
                    <a:pt x="11158" y="11158"/>
                  </a:lnTo>
                  <a:lnTo>
                    <a:pt x="23268" y="2993"/>
                  </a:lnTo>
                  <a:lnTo>
                    <a:pt x="38100" y="0"/>
                  </a:lnTo>
                  <a:lnTo>
                    <a:pt x="52931" y="2993"/>
                  </a:lnTo>
                  <a:lnTo>
                    <a:pt x="65041" y="11158"/>
                  </a:lnTo>
                  <a:lnTo>
                    <a:pt x="73206" y="23268"/>
                  </a:lnTo>
                  <a:lnTo>
                    <a:pt x="76200" y="38100"/>
                  </a:lnTo>
                  <a:lnTo>
                    <a:pt x="73206" y="52931"/>
                  </a:lnTo>
                  <a:lnTo>
                    <a:pt x="65041" y="65041"/>
                  </a:lnTo>
                  <a:lnTo>
                    <a:pt x="52931" y="73206"/>
                  </a:lnTo>
                  <a:lnTo>
                    <a:pt x="38100" y="76200"/>
                  </a:lnTo>
                  <a:lnTo>
                    <a:pt x="23268" y="73206"/>
                  </a:lnTo>
                  <a:lnTo>
                    <a:pt x="11158" y="65041"/>
                  </a:lnTo>
                  <a:lnTo>
                    <a:pt x="2993" y="52931"/>
                  </a:lnTo>
                  <a:lnTo>
                    <a:pt x="0" y="381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80050" y="5251450"/>
              <a:ext cx="88900" cy="88900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6477000" y="4953000"/>
              <a:ext cx="304800" cy="381000"/>
            </a:xfrm>
            <a:custGeom>
              <a:avLst/>
              <a:gdLst/>
              <a:ahLst/>
              <a:cxnLst/>
              <a:rect l="l" t="t" r="r" b="b"/>
              <a:pathLst>
                <a:path w="304800" h="381000">
                  <a:moveTo>
                    <a:pt x="0" y="381000"/>
                  </a:moveTo>
                  <a:lnTo>
                    <a:pt x="3048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781800" y="4953000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398652" y="564896"/>
            <a:ext cx="421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S</a:t>
            </a:r>
            <a:r>
              <a:rPr sz="1800" spc="-10" dirty="0">
                <a:latin typeface="Tahoma"/>
                <a:cs typeface="Tahoma"/>
              </a:rPr>
              <a:t>TB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26770" y="1799335"/>
            <a:ext cx="3651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IBF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39902" y="3033776"/>
            <a:ext cx="5384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INTR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48030" y="4679695"/>
            <a:ext cx="321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RD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5524" y="5914135"/>
            <a:ext cx="11849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530" marR="5080" indent="-3746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Input from </a:t>
            </a:r>
            <a:r>
              <a:rPr sz="1800" spc="-5" dirty="0">
                <a:latin typeface="Tahoma"/>
                <a:cs typeface="Tahoma"/>
              </a:rPr>
              <a:t> peri</a:t>
            </a:r>
            <a:r>
              <a:rPr sz="1800" dirty="0">
                <a:latin typeface="Tahoma"/>
                <a:cs typeface="Tahoma"/>
              </a:rPr>
              <a:t>p</a:t>
            </a:r>
            <a:r>
              <a:rPr sz="1800" spc="-5" dirty="0">
                <a:latin typeface="Tahoma"/>
                <a:cs typeface="Tahoma"/>
              </a:rPr>
              <a:t>he</a:t>
            </a:r>
            <a:r>
              <a:rPr sz="1800" spc="-40" dirty="0">
                <a:latin typeface="Tahoma"/>
                <a:cs typeface="Tahoma"/>
              </a:rPr>
              <a:t>r</a:t>
            </a:r>
            <a:r>
              <a:rPr sz="1800" spc="-5" dirty="0">
                <a:latin typeface="Tahoma"/>
                <a:cs typeface="Tahoma"/>
              </a:rPr>
              <a:t>a</a:t>
            </a:r>
            <a:r>
              <a:rPr sz="1800" dirty="0">
                <a:latin typeface="Tahoma"/>
                <a:cs typeface="Tahoma"/>
              </a:rPr>
              <a:t>l</a:t>
            </a:r>
            <a:r>
              <a:rPr sz="1800" spc="-195" dirty="0">
                <a:latin typeface="Tahoma"/>
                <a:cs typeface="Tahoma"/>
              </a:rPr>
              <a:t> </a:t>
            </a:r>
            <a:r>
              <a:rPr sz="1500" baseline="2777" dirty="0">
                <a:latin typeface="Tahoma"/>
                <a:cs typeface="Tahoma"/>
              </a:rPr>
              <a:t>1</a:t>
            </a:r>
            <a:endParaRPr sz="1500" baseline="2777">
              <a:latin typeface="Tahoma"/>
              <a:cs typeface="Tahoma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3733800" y="6096000"/>
            <a:ext cx="0" cy="228600"/>
          </a:xfrm>
          <a:custGeom>
            <a:avLst/>
            <a:gdLst/>
            <a:ahLst/>
            <a:cxnLst/>
            <a:rect l="l" t="t" r="r" b="b"/>
            <a:pathLst>
              <a:path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457200" y="609600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>
                <a:moveTo>
                  <a:pt x="0" y="0"/>
                </a:moveTo>
                <a:lnTo>
                  <a:pt x="3048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457200" y="4724400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6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5473700" y="5163294"/>
            <a:ext cx="1016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02665" algn="l"/>
              </a:tabLst>
            </a:pPr>
            <a:r>
              <a:rPr sz="1800" strike="sngStrike" spc="-200" dirty="0">
                <a:latin typeface="Tahoma"/>
                <a:cs typeface="Tahoma"/>
              </a:rPr>
              <a:t> </a:t>
            </a:r>
            <a:r>
              <a:rPr sz="1800" strike="sngStrike" dirty="0">
                <a:latin typeface="Tahoma"/>
                <a:cs typeface="Tahoma"/>
              </a:rPr>
              <a:t>v	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5556250" y="2362202"/>
            <a:ext cx="2073910" cy="2901950"/>
            <a:chOff x="5556250" y="2362202"/>
            <a:chExt cx="2073910" cy="2901950"/>
          </a:xfrm>
        </p:grpSpPr>
        <p:pic>
          <p:nvPicPr>
            <p:cNvPr id="63" name="object 6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937250" y="3498850"/>
              <a:ext cx="88900" cy="88900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623050" y="5099050"/>
              <a:ext cx="88900" cy="88900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5562600" y="3643325"/>
              <a:ext cx="367030" cy="1614805"/>
            </a:xfrm>
            <a:custGeom>
              <a:avLst/>
              <a:gdLst/>
              <a:ahLst/>
              <a:cxnLst/>
              <a:rect l="l" t="t" r="r" b="b"/>
              <a:pathLst>
                <a:path w="367029" h="1614804">
                  <a:moveTo>
                    <a:pt x="0" y="1614474"/>
                  </a:moveTo>
                  <a:lnTo>
                    <a:pt x="366928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5889557" y="3581396"/>
              <a:ext cx="74930" cy="83185"/>
            </a:xfrm>
            <a:custGeom>
              <a:avLst/>
              <a:gdLst/>
              <a:ahLst/>
              <a:cxnLst/>
              <a:rect l="l" t="t" r="r" b="b"/>
              <a:pathLst>
                <a:path w="74929" h="83185">
                  <a:moveTo>
                    <a:pt x="54038" y="0"/>
                  </a:moveTo>
                  <a:lnTo>
                    <a:pt x="0" y="65862"/>
                  </a:lnTo>
                  <a:lnTo>
                    <a:pt x="74307" y="82753"/>
                  </a:lnTo>
                  <a:lnTo>
                    <a:pt x="540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629400" y="2421928"/>
              <a:ext cx="969644" cy="2683510"/>
            </a:xfrm>
            <a:custGeom>
              <a:avLst/>
              <a:gdLst/>
              <a:ahLst/>
              <a:cxnLst/>
              <a:rect l="l" t="t" r="r" b="b"/>
              <a:pathLst>
                <a:path w="969645" h="2683510">
                  <a:moveTo>
                    <a:pt x="0" y="2683471"/>
                  </a:moveTo>
                  <a:lnTo>
                    <a:pt x="96903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558281" y="2362202"/>
              <a:ext cx="71755" cy="85090"/>
            </a:xfrm>
            <a:custGeom>
              <a:avLst/>
              <a:gdLst/>
              <a:ahLst/>
              <a:cxnLst/>
              <a:rect l="l" t="t" r="r" b="b"/>
              <a:pathLst>
                <a:path w="71754" h="85089">
                  <a:moveTo>
                    <a:pt x="61722" y="0"/>
                  </a:moveTo>
                  <a:lnTo>
                    <a:pt x="0" y="58724"/>
                  </a:lnTo>
                  <a:lnTo>
                    <a:pt x="71666" y="84607"/>
                  </a:lnTo>
                  <a:lnTo>
                    <a:pt x="6172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C4D6B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5825" y="1843087"/>
            <a:ext cx="8255000" cy="501491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833575"/>
            <a:ext cx="895350" cy="50244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76300" y="6350"/>
            <a:ext cx="19050" cy="150336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17612" y="1833562"/>
            <a:ext cx="7923212" cy="19050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552450" y="1509712"/>
            <a:ext cx="665480" cy="666750"/>
            <a:chOff x="552450" y="1509712"/>
            <a:chExt cx="665480" cy="666750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6300" y="1509712"/>
              <a:ext cx="19050" cy="6667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2450" y="1833562"/>
              <a:ext cx="665162" cy="19050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76705" y="6251447"/>
            <a:ext cx="250697" cy="21945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145539" y="6280658"/>
            <a:ext cx="9525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908050" y="831850"/>
            <a:ext cx="1689100" cy="4737100"/>
            <a:chOff x="908050" y="831850"/>
            <a:chExt cx="1689100" cy="4737100"/>
          </a:xfrm>
        </p:grpSpPr>
        <p:sp>
          <p:nvSpPr>
            <p:cNvPr id="13" name="object 13"/>
            <p:cNvSpPr/>
            <p:nvPr/>
          </p:nvSpPr>
          <p:spPr>
            <a:xfrm>
              <a:off x="914400" y="838200"/>
              <a:ext cx="1676400" cy="4724400"/>
            </a:xfrm>
            <a:custGeom>
              <a:avLst/>
              <a:gdLst/>
              <a:ahLst/>
              <a:cxnLst/>
              <a:rect l="l" t="t" r="r" b="b"/>
              <a:pathLst>
                <a:path w="1676400" h="4724400">
                  <a:moveTo>
                    <a:pt x="1676400" y="0"/>
                  </a:moveTo>
                  <a:lnTo>
                    <a:pt x="0" y="0"/>
                  </a:lnTo>
                  <a:lnTo>
                    <a:pt x="0" y="4724400"/>
                  </a:lnTo>
                  <a:lnTo>
                    <a:pt x="1676400" y="4724400"/>
                  </a:lnTo>
                  <a:lnTo>
                    <a:pt x="167640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14400" y="838200"/>
              <a:ext cx="1676400" cy="4724400"/>
            </a:xfrm>
            <a:custGeom>
              <a:avLst/>
              <a:gdLst/>
              <a:ahLst/>
              <a:cxnLst/>
              <a:rect l="l" t="t" r="r" b="b"/>
              <a:pathLst>
                <a:path w="1676400" h="4724400">
                  <a:moveTo>
                    <a:pt x="0" y="0"/>
                  </a:moveTo>
                  <a:lnTo>
                    <a:pt x="1676400" y="0"/>
                  </a:lnTo>
                  <a:lnTo>
                    <a:pt x="1676400" y="4724400"/>
                  </a:lnTo>
                  <a:lnTo>
                    <a:pt x="0" y="47244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14400" y="3194050"/>
              <a:ext cx="1676400" cy="12700"/>
            </a:xfrm>
            <a:custGeom>
              <a:avLst/>
              <a:gdLst/>
              <a:ahLst/>
              <a:cxnLst/>
              <a:rect l="l" t="t" r="r" b="b"/>
              <a:pathLst>
                <a:path w="1676400" h="12700">
                  <a:moveTo>
                    <a:pt x="0" y="12700"/>
                  </a:moveTo>
                  <a:lnTo>
                    <a:pt x="1676400" y="12700"/>
                  </a:lnTo>
                  <a:lnTo>
                    <a:pt x="1676400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447800" y="2438400"/>
              <a:ext cx="381000" cy="457200"/>
            </a:xfrm>
            <a:custGeom>
              <a:avLst/>
              <a:gdLst/>
              <a:ahLst/>
              <a:cxnLst/>
              <a:rect l="l" t="t" r="r" b="b"/>
              <a:pathLst>
                <a:path w="381000" h="457200">
                  <a:moveTo>
                    <a:pt x="3810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5031" y="281015"/>
                  </a:lnTo>
                  <a:lnTo>
                    <a:pt x="19363" y="329131"/>
                  </a:lnTo>
                  <a:lnTo>
                    <a:pt x="41851" y="371576"/>
                  </a:lnTo>
                  <a:lnTo>
                    <a:pt x="71353" y="406978"/>
                  </a:lnTo>
                  <a:lnTo>
                    <a:pt x="106724" y="433964"/>
                  </a:lnTo>
                  <a:lnTo>
                    <a:pt x="146821" y="451162"/>
                  </a:lnTo>
                  <a:lnTo>
                    <a:pt x="190500" y="457200"/>
                  </a:lnTo>
                  <a:lnTo>
                    <a:pt x="234178" y="451162"/>
                  </a:lnTo>
                  <a:lnTo>
                    <a:pt x="274275" y="433964"/>
                  </a:lnTo>
                  <a:lnTo>
                    <a:pt x="309646" y="406978"/>
                  </a:lnTo>
                  <a:lnTo>
                    <a:pt x="339148" y="371576"/>
                  </a:lnTo>
                  <a:lnTo>
                    <a:pt x="361636" y="329131"/>
                  </a:lnTo>
                  <a:lnTo>
                    <a:pt x="375968" y="281015"/>
                  </a:lnTo>
                  <a:lnTo>
                    <a:pt x="381000" y="2286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447800" y="2438400"/>
              <a:ext cx="381000" cy="457200"/>
            </a:xfrm>
            <a:custGeom>
              <a:avLst/>
              <a:gdLst/>
              <a:ahLst/>
              <a:cxnLst/>
              <a:rect l="l" t="t" r="r" b="b"/>
              <a:pathLst>
                <a:path w="381000" h="457200">
                  <a:moveTo>
                    <a:pt x="381000" y="0"/>
                  </a:moveTo>
                  <a:lnTo>
                    <a:pt x="381000" y="228600"/>
                  </a:lnTo>
                  <a:lnTo>
                    <a:pt x="375968" y="281015"/>
                  </a:lnTo>
                  <a:lnTo>
                    <a:pt x="361636" y="329131"/>
                  </a:lnTo>
                  <a:lnTo>
                    <a:pt x="339148" y="371576"/>
                  </a:lnTo>
                  <a:lnTo>
                    <a:pt x="309646" y="406978"/>
                  </a:lnTo>
                  <a:lnTo>
                    <a:pt x="274275" y="433964"/>
                  </a:lnTo>
                  <a:lnTo>
                    <a:pt x="234178" y="451162"/>
                  </a:lnTo>
                  <a:lnTo>
                    <a:pt x="190500" y="457200"/>
                  </a:lnTo>
                  <a:lnTo>
                    <a:pt x="146821" y="451162"/>
                  </a:lnTo>
                  <a:lnTo>
                    <a:pt x="106724" y="433964"/>
                  </a:lnTo>
                  <a:lnTo>
                    <a:pt x="71353" y="406978"/>
                  </a:lnTo>
                  <a:lnTo>
                    <a:pt x="41851" y="371576"/>
                  </a:lnTo>
                  <a:lnTo>
                    <a:pt x="19363" y="329131"/>
                  </a:lnTo>
                  <a:lnTo>
                    <a:pt x="5031" y="281015"/>
                  </a:lnTo>
                  <a:lnTo>
                    <a:pt x="0" y="228600"/>
                  </a:lnTo>
                  <a:lnTo>
                    <a:pt x="0" y="0"/>
                  </a:lnTo>
                  <a:lnTo>
                    <a:pt x="38100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371600" y="4343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4644" y="274670"/>
                  </a:lnTo>
                  <a:lnTo>
                    <a:pt x="17964" y="317580"/>
                  </a:lnTo>
                  <a:lnTo>
                    <a:pt x="39041" y="356411"/>
                  </a:lnTo>
                  <a:lnTo>
                    <a:pt x="66955" y="390244"/>
                  </a:lnTo>
                  <a:lnTo>
                    <a:pt x="100788" y="418158"/>
                  </a:lnTo>
                  <a:lnTo>
                    <a:pt x="139619" y="439235"/>
                  </a:lnTo>
                  <a:lnTo>
                    <a:pt x="182529" y="452555"/>
                  </a:lnTo>
                  <a:lnTo>
                    <a:pt x="228600" y="457200"/>
                  </a:lnTo>
                  <a:lnTo>
                    <a:pt x="274670" y="452555"/>
                  </a:lnTo>
                  <a:lnTo>
                    <a:pt x="317580" y="439235"/>
                  </a:lnTo>
                  <a:lnTo>
                    <a:pt x="356411" y="418158"/>
                  </a:lnTo>
                  <a:lnTo>
                    <a:pt x="390244" y="390244"/>
                  </a:lnTo>
                  <a:lnTo>
                    <a:pt x="418158" y="356411"/>
                  </a:lnTo>
                  <a:lnTo>
                    <a:pt x="439235" y="317580"/>
                  </a:lnTo>
                  <a:lnTo>
                    <a:pt x="452555" y="274670"/>
                  </a:lnTo>
                  <a:lnTo>
                    <a:pt x="457200" y="2286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71600" y="4343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457200" y="228600"/>
                  </a:lnTo>
                  <a:lnTo>
                    <a:pt x="452555" y="274670"/>
                  </a:lnTo>
                  <a:lnTo>
                    <a:pt x="439235" y="317580"/>
                  </a:lnTo>
                  <a:lnTo>
                    <a:pt x="418158" y="356411"/>
                  </a:lnTo>
                  <a:lnTo>
                    <a:pt x="390244" y="390244"/>
                  </a:lnTo>
                  <a:lnTo>
                    <a:pt x="356411" y="418158"/>
                  </a:lnTo>
                  <a:lnTo>
                    <a:pt x="317580" y="439235"/>
                  </a:lnTo>
                  <a:lnTo>
                    <a:pt x="274670" y="452555"/>
                  </a:lnTo>
                  <a:lnTo>
                    <a:pt x="228600" y="457200"/>
                  </a:lnTo>
                  <a:lnTo>
                    <a:pt x="182529" y="452555"/>
                  </a:lnTo>
                  <a:lnTo>
                    <a:pt x="139619" y="439235"/>
                  </a:lnTo>
                  <a:lnTo>
                    <a:pt x="100788" y="418158"/>
                  </a:lnTo>
                  <a:lnTo>
                    <a:pt x="66955" y="390244"/>
                  </a:lnTo>
                  <a:lnTo>
                    <a:pt x="39041" y="356411"/>
                  </a:lnTo>
                  <a:lnTo>
                    <a:pt x="17964" y="317580"/>
                  </a:lnTo>
                  <a:lnTo>
                    <a:pt x="4644" y="274670"/>
                  </a:lnTo>
                  <a:lnTo>
                    <a:pt x="0" y="228600"/>
                  </a:lnTo>
                  <a:lnTo>
                    <a:pt x="0" y="0"/>
                  </a:lnTo>
                  <a:lnTo>
                    <a:pt x="45720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286000" y="1600200"/>
              <a:ext cx="304800" cy="228600"/>
            </a:xfrm>
            <a:custGeom>
              <a:avLst/>
              <a:gdLst/>
              <a:ahLst/>
              <a:cxnLst/>
              <a:rect l="l" t="t" r="r" b="b"/>
              <a:pathLst>
                <a:path w="304800" h="228600">
                  <a:moveTo>
                    <a:pt x="0" y="0"/>
                  </a:moveTo>
                  <a:lnTo>
                    <a:pt x="304800" y="0"/>
                  </a:lnTo>
                  <a:lnTo>
                    <a:pt x="30480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296763" y="1609597"/>
            <a:ext cx="2838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ahoma"/>
                <a:cs typeface="Tahoma"/>
              </a:rPr>
              <a:t>PC7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286000" y="2133600"/>
            <a:ext cx="304800" cy="228600"/>
          </a:xfrm>
          <a:custGeom>
            <a:avLst/>
            <a:gdLst/>
            <a:ahLst/>
            <a:cxnLst/>
            <a:rect l="l" t="t" r="r" b="b"/>
            <a:pathLst>
              <a:path w="304800" h="228600">
                <a:moveTo>
                  <a:pt x="0" y="0"/>
                </a:moveTo>
                <a:lnTo>
                  <a:pt x="304800" y="0"/>
                </a:lnTo>
                <a:lnTo>
                  <a:pt x="3048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2296763" y="2142997"/>
            <a:ext cx="2838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ahoma"/>
                <a:cs typeface="Tahoma"/>
              </a:rPr>
              <a:t>PC</a:t>
            </a:r>
            <a:r>
              <a:rPr sz="1200" dirty="0">
                <a:latin typeface="Tahoma"/>
                <a:cs typeface="Tahoma"/>
              </a:rPr>
              <a:t>6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286000" y="2895600"/>
            <a:ext cx="304800" cy="228600"/>
          </a:xfrm>
          <a:custGeom>
            <a:avLst/>
            <a:gdLst/>
            <a:ahLst/>
            <a:cxnLst/>
            <a:rect l="l" t="t" r="r" b="b"/>
            <a:pathLst>
              <a:path w="304800" h="228600">
                <a:moveTo>
                  <a:pt x="0" y="0"/>
                </a:moveTo>
                <a:lnTo>
                  <a:pt x="304800" y="0"/>
                </a:lnTo>
                <a:lnTo>
                  <a:pt x="3048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2296763" y="2904997"/>
            <a:ext cx="2838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ahoma"/>
                <a:cs typeface="Tahoma"/>
              </a:rPr>
              <a:t>PC3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286000" y="3505200"/>
            <a:ext cx="304800" cy="228600"/>
          </a:xfrm>
          <a:custGeom>
            <a:avLst/>
            <a:gdLst/>
            <a:ahLst/>
            <a:cxnLst/>
            <a:rect l="l" t="t" r="r" b="b"/>
            <a:pathLst>
              <a:path w="304800" h="228600">
                <a:moveTo>
                  <a:pt x="0" y="0"/>
                </a:moveTo>
                <a:lnTo>
                  <a:pt x="304800" y="0"/>
                </a:lnTo>
                <a:lnTo>
                  <a:pt x="3048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2296763" y="3514597"/>
            <a:ext cx="2838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ahoma"/>
                <a:cs typeface="Tahoma"/>
              </a:rPr>
              <a:t>PC2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286000" y="4038600"/>
            <a:ext cx="304800" cy="228600"/>
          </a:xfrm>
          <a:custGeom>
            <a:avLst/>
            <a:gdLst/>
            <a:ahLst/>
            <a:cxnLst/>
            <a:rect l="l" t="t" r="r" b="b"/>
            <a:pathLst>
              <a:path w="304800" h="228600">
                <a:moveTo>
                  <a:pt x="0" y="0"/>
                </a:moveTo>
                <a:lnTo>
                  <a:pt x="304800" y="0"/>
                </a:lnTo>
                <a:lnTo>
                  <a:pt x="3048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2296763" y="4047997"/>
            <a:ext cx="2838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ahoma"/>
                <a:cs typeface="Tahoma"/>
              </a:rPr>
              <a:t>PC1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2286000" y="4800600"/>
            <a:ext cx="304800" cy="228600"/>
          </a:xfrm>
          <a:custGeom>
            <a:avLst/>
            <a:gdLst/>
            <a:ahLst/>
            <a:cxnLst/>
            <a:rect l="l" t="t" r="r" b="b"/>
            <a:pathLst>
              <a:path w="304800" h="228600">
                <a:moveTo>
                  <a:pt x="0" y="0"/>
                </a:moveTo>
                <a:lnTo>
                  <a:pt x="304800" y="0"/>
                </a:lnTo>
                <a:lnTo>
                  <a:pt x="3048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2296763" y="4809997"/>
            <a:ext cx="2838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ahoma"/>
                <a:cs typeface="Tahoma"/>
              </a:rPr>
              <a:t>PC</a:t>
            </a:r>
            <a:r>
              <a:rPr sz="1200" dirty="0">
                <a:latin typeface="Tahoma"/>
                <a:cs typeface="Tahoma"/>
              </a:rPr>
              <a:t>0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908050" y="984250"/>
            <a:ext cx="3060700" cy="4965700"/>
            <a:chOff x="908050" y="984250"/>
            <a:chExt cx="3060700" cy="4965700"/>
          </a:xfrm>
        </p:grpSpPr>
        <p:sp>
          <p:nvSpPr>
            <p:cNvPr id="33" name="object 33"/>
            <p:cNvSpPr/>
            <p:nvPr/>
          </p:nvSpPr>
          <p:spPr>
            <a:xfrm>
              <a:off x="914400" y="5562600"/>
              <a:ext cx="1676400" cy="381000"/>
            </a:xfrm>
            <a:custGeom>
              <a:avLst/>
              <a:gdLst/>
              <a:ahLst/>
              <a:cxnLst/>
              <a:rect l="l" t="t" r="r" b="b"/>
              <a:pathLst>
                <a:path w="1676400" h="381000">
                  <a:moveTo>
                    <a:pt x="16764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1676400" y="381000"/>
                  </a:lnTo>
                  <a:lnTo>
                    <a:pt x="167640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914400" y="5562600"/>
              <a:ext cx="1676400" cy="381000"/>
            </a:xfrm>
            <a:custGeom>
              <a:avLst/>
              <a:gdLst/>
              <a:ahLst/>
              <a:cxnLst/>
              <a:rect l="l" t="t" r="r" b="b"/>
              <a:pathLst>
                <a:path w="1676400" h="381000">
                  <a:moveTo>
                    <a:pt x="0" y="0"/>
                  </a:moveTo>
                  <a:lnTo>
                    <a:pt x="1676400" y="0"/>
                  </a:lnTo>
                  <a:lnTo>
                    <a:pt x="16764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676400" y="1676400"/>
              <a:ext cx="609600" cy="0"/>
            </a:xfrm>
            <a:custGeom>
              <a:avLst/>
              <a:gdLst/>
              <a:ahLst/>
              <a:cxnLst/>
              <a:rect l="l" t="t" r="r" b="b"/>
              <a:pathLst>
                <a:path w="609600">
                  <a:moveTo>
                    <a:pt x="6096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676400" y="1676400"/>
              <a:ext cx="0" cy="762000"/>
            </a:xfrm>
            <a:custGeom>
              <a:avLst/>
              <a:gdLst/>
              <a:ahLst/>
              <a:cxnLst/>
              <a:rect l="l" t="t" r="r" b="b"/>
              <a:pathLst>
                <a:path h="762000">
                  <a:moveTo>
                    <a:pt x="0" y="0"/>
                  </a:moveTo>
                  <a:lnTo>
                    <a:pt x="0" y="762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752600" y="2209800"/>
              <a:ext cx="533400" cy="0"/>
            </a:xfrm>
            <a:custGeom>
              <a:avLst/>
              <a:gdLst/>
              <a:ahLst/>
              <a:cxnLst/>
              <a:rect l="l" t="t" r="r" b="b"/>
              <a:pathLst>
                <a:path w="533400">
                  <a:moveTo>
                    <a:pt x="5334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752600" y="2209800"/>
              <a:ext cx="0" cy="228600"/>
            </a:xfrm>
            <a:custGeom>
              <a:avLst/>
              <a:gdLst/>
              <a:ahLst/>
              <a:cxnLst/>
              <a:rect l="l" t="t" r="r" b="b"/>
              <a:pathLst>
                <a:path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676400" y="2895600"/>
              <a:ext cx="0" cy="152400"/>
            </a:xfrm>
            <a:custGeom>
              <a:avLst/>
              <a:gdLst/>
              <a:ahLst/>
              <a:cxnLst/>
              <a:rect l="l" t="t" r="r" b="b"/>
              <a:pathLst>
                <a:path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676400" y="3048000"/>
              <a:ext cx="609600" cy="0"/>
            </a:xfrm>
            <a:custGeom>
              <a:avLst/>
              <a:gdLst/>
              <a:ahLst/>
              <a:cxnLst/>
              <a:rect l="l" t="t" r="r" b="b"/>
              <a:pathLst>
                <a:path w="609600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600200" y="4800600"/>
              <a:ext cx="0" cy="152400"/>
            </a:xfrm>
            <a:custGeom>
              <a:avLst/>
              <a:gdLst/>
              <a:ahLst/>
              <a:cxnLst/>
              <a:rect l="l" t="t" r="r" b="b"/>
              <a:pathLst>
                <a:path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600200" y="4953000"/>
              <a:ext cx="685800" cy="0"/>
            </a:xfrm>
            <a:custGeom>
              <a:avLst/>
              <a:gdLst/>
              <a:ahLst/>
              <a:cxnLst/>
              <a:rect l="l" t="t" r="r" b="b"/>
              <a:pathLst>
                <a:path w="685800">
                  <a:moveTo>
                    <a:pt x="0" y="0"/>
                  </a:moveTo>
                  <a:lnTo>
                    <a:pt x="6858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752600" y="4191000"/>
              <a:ext cx="0" cy="152400"/>
            </a:xfrm>
            <a:custGeom>
              <a:avLst/>
              <a:gdLst/>
              <a:ahLst/>
              <a:cxnLst/>
              <a:rect l="l" t="t" r="r" b="b"/>
              <a:pathLst>
                <a:path h="152400">
                  <a:moveTo>
                    <a:pt x="0" y="1524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752600" y="4191000"/>
              <a:ext cx="533400" cy="0"/>
            </a:xfrm>
            <a:custGeom>
              <a:avLst/>
              <a:gdLst/>
              <a:ahLst/>
              <a:cxnLst/>
              <a:rect l="l" t="t" r="r" b="b"/>
              <a:pathLst>
                <a:path w="533400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600200" y="3657600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6858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600200" y="3657600"/>
              <a:ext cx="685800" cy="0"/>
            </a:xfrm>
            <a:custGeom>
              <a:avLst/>
              <a:gdLst/>
              <a:ahLst/>
              <a:cxnLst/>
              <a:rect l="l" t="t" r="r" b="b"/>
              <a:pathLst>
                <a:path w="685800">
                  <a:moveTo>
                    <a:pt x="0" y="0"/>
                  </a:moveTo>
                  <a:lnTo>
                    <a:pt x="6858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447800" y="1295400"/>
              <a:ext cx="0" cy="1143000"/>
            </a:xfrm>
            <a:custGeom>
              <a:avLst/>
              <a:gdLst/>
              <a:ahLst/>
              <a:cxnLst/>
              <a:rect l="l" t="t" r="r" b="b"/>
              <a:pathLst>
                <a:path h="1143000">
                  <a:moveTo>
                    <a:pt x="0" y="0"/>
                  </a:moveTo>
                  <a:lnTo>
                    <a:pt x="0" y="1143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447800" y="3505200"/>
              <a:ext cx="0" cy="838200"/>
            </a:xfrm>
            <a:custGeom>
              <a:avLst/>
              <a:gdLst/>
              <a:ahLst/>
              <a:cxnLst/>
              <a:rect l="l" t="t" r="r" b="b"/>
              <a:pathLst>
                <a:path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590800" y="990600"/>
              <a:ext cx="1371600" cy="457200"/>
            </a:xfrm>
            <a:custGeom>
              <a:avLst/>
              <a:gdLst/>
              <a:ahLst/>
              <a:cxnLst/>
              <a:rect l="l" t="t" r="r" b="b"/>
              <a:pathLst>
                <a:path w="1371600" h="457200">
                  <a:moveTo>
                    <a:pt x="10287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028700" y="457200"/>
                  </a:lnTo>
                  <a:lnTo>
                    <a:pt x="1371600" y="228600"/>
                  </a:lnTo>
                  <a:lnTo>
                    <a:pt x="102870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590800" y="990600"/>
              <a:ext cx="1371600" cy="457200"/>
            </a:xfrm>
            <a:custGeom>
              <a:avLst/>
              <a:gdLst/>
              <a:ahLst/>
              <a:cxnLst/>
              <a:rect l="l" t="t" r="r" b="b"/>
              <a:pathLst>
                <a:path w="1371600" h="457200">
                  <a:moveTo>
                    <a:pt x="0" y="0"/>
                  </a:moveTo>
                  <a:lnTo>
                    <a:pt x="1028700" y="0"/>
                  </a:lnTo>
                  <a:lnTo>
                    <a:pt x="1371600" y="228600"/>
                  </a:lnTo>
                  <a:lnTo>
                    <a:pt x="10287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590800" y="5029200"/>
              <a:ext cx="1371600" cy="457200"/>
            </a:xfrm>
            <a:custGeom>
              <a:avLst/>
              <a:gdLst/>
              <a:ahLst/>
              <a:cxnLst/>
              <a:rect l="l" t="t" r="r" b="b"/>
              <a:pathLst>
                <a:path w="1371600" h="457200">
                  <a:moveTo>
                    <a:pt x="10287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028700" y="457200"/>
                  </a:lnTo>
                  <a:lnTo>
                    <a:pt x="1371600" y="228600"/>
                  </a:lnTo>
                  <a:lnTo>
                    <a:pt x="102870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590800" y="5029200"/>
              <a:ext cx="1371600" cy="457200"/>
            </a:xfrm>
            <a:custGeom>
              <a:avLst/>
              <a:gdLst/>
              <a:ahLst/>
              <a:cxnLst/>
              <a:rect l="l" t="t" r="r" b="b"/>
              <a:pathLst>
                <a:path w="1371600" h="457200">
                  <a:moveTo>
                    <a:pt x="0" y="0"/>
                  </a:moveTo>
                  <a:lnTo>
                    <a:pt x="1028700" y="0"/>
                  </a:lnTo>
                  <a:lnTo>
                    <a:pt x="1371600" y="228600"/>
                  </a:lnTo>
                  <a:lnTo>
                    <a:pt x="10287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654300" y="2286000"/>
              <a:ext cx="927100" cy="0"/>
            </a:xfrm>
            <a:custGeom>
              <a:avLst/>
              <a:gdLst/>
              <a:ahLst/>
              <a:cxnLst/>
              <a:rect l="l" t="t" r="r" b="b"/>
              <a:pathLst>
                <a:path w="927100">
                  <a:moveTo>
                    <a:pt x="9271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590801" y="22478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590800" y="3048000"/>
              <a:ext cx="1003300" cy="0"/>
            </a:xfrm>
            <a:custGeom>
              <a:avLst/>
              <a:gdLst/>
              <a:ahLst/>
              <a:cxnLst/>
              <a:rect l="l" t="t" r="r" b="b"/>
              <a:pathLst>
                <a:path w="1003300">
                  <a:moveTo>
                    <a:pt x="0" y="0"/>
                  </a:moveTo>
                  <a:lnTo>
                    <a:pt x="10033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581402" y="30098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2654300" y="4191000"/>
              <a:ext cx="1003300" cy="0"/>
            </a:xfrm>
            <a:custGeom>
              <a:avLst/>
              <a:gdLst/>
              <a:ahLst/>
              <a:cxnLst/>
              <a:rect l="l" t="t" r="r" b="b"/>
              <a:pathLst>
                <a:path w="1003300">
                  <a:moveTo>
                    <a:pt x="10033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2590801" y="41528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2590800" y="4953000"/>
              <a:ext cx="1079500" cy="0"/>
            </a:xfrm>
            <a:custGeom>
              <a:avLst/>
              <a:gdLst/>
              <a:ahLst/>
              <a:cxnLst/>
              <a:rect l="l" t="t" r="r" b="b"/>
              <a:pathLst>
                <a:path w="1079500">
                  <a:moveTo>
                    <a:pt x="0" y="0"/>
                  </a:moveTo>
                  <a:lnTo>
                    <a:pt x="10795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657602" y="49148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2590800" y="1676400"/>
              <a:ext cx="850900" cy="0"/>
            </a:xfrm>
            <a:custGeom>
              <a:avLst/>
              <a:gdLst/>
              <a:ahLst/>
              <a:cxnLst/>
              <a:rect l="l" t="t" r="r" b="b"/>
              <a:pathLst>
                <a:path w="850900">
                  <a:moveTo>
                    <a:pt x="0" y="0"/>
                  </a:moveTo>
                  <a:lnTo>
                    <a:pt x="8509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3429002" y="16382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2590800" y="3581400"/>
              <a:ext cx="1003300" cy="0"/>
            </a:xfrm>
            <a:custGeom>
              <a:avLst/>
              <a:gdLst/>
              <a:ahLst/>
              <a:cxnLst/>
              <a:rect l="l" t="t" r="r" b="b"/>
              <a:pathLst>
                <a:path w="1003300">
                  <a:moveTo>
                    <a:pt x="0" y="0"/>
                  </a:moveTo>
                  <a:lnTo>
                    <a:pt x="10033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3581402" y="35432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2590800" y="5791200"/>
              <a:ext cx="850900" cy="0"/>
            </a:xfrm>
            <a:custGeom>
              <a:avLst/>
              <a:gdLst/>
              <a:ahLst/>
              <a:cxnLst/>
              <a:rect l="l" t="t" r="r" b="b"/>
              <a:pathLst>
                <a:path w="850900">
                  <a:moveTo>
                    <a:pt x="0" y="0"/>
                  </a:moveTo>
                  <a:lnTo>
                    <a:pt x="8509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3429002" y="57530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199"/>
                  </a:lnTo>
                  <a:lnTo>
                    <a:pt x="76200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3627245" y="1479296"/>
            <a:ext cx="517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O</a:t>
            </a:r>
            <a:r>
              <a:rPr sz="1800" spc="-5" dirty="0">
                <a:latin typeface="Tahoma"/>
                <a:cs typeface="Tahoma"/>
              </a:rPr>
              <a:t>B</a:t>
            </a:r>
            <a:r>
              <a:rPr sz="1800" spc="-10" dirty="0">
                <a:latin typeface="Tahoma"/>
                <a:cs typeface="Tahoma"/>
              </a:rPr>
              <a:t>F</a:t>
            </a:r>
            <a:r>
              <a:rPr sz="1000" dirty="0">
                <a:latin typeface="Tahoma"/>
                <a:cs typeface="Tahoma"/>
              </a:rPr>
              <a:t>A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3631088" y="2088896"/>
            <a:ext cx="5105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A</a:t>
            </a:r>
            <a:r>
              <a:rPr sz="1800" spc="-5" dirty="0">
                <a:latin typeface="Tahoma"/>
                <a:cs typeface="Tahoma"/>
              </a:rPr>
              <a:t>CK</a:t>
            </a:r>
            <a:r>
              <a:rPr sz="1000" dirty="0">
                <a:latin typeface="Tahoma"/>
                <a:cs typeface="Tahoma"/>
              </a:rPr>
              <a:t>A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3628040" y="2927096"/>
            <a:ext cx="7937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1135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INTR</a:t>
            </a:r>
            <a:r>
              <a:rPr sz="1000" dirty="0">
                <a:latin typeface="Tahoma"/>
                <a:cs typeface="Tahoma"/>
              </a:rPr>
              <a:t>A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1800" spc="-5" dirty="0">
                <a:latin typeface="Tahoma"/>
                <a:cs typeface="Tahoma"/>
              </a:rPr>
              <a:t>OBF</a:t>
            </a:r>
            <a:r>
              <a:rPr sz="1000" spc="-5" dirty="0">
                <a:latin typeface="Tahoma"/>
                <a:cs typeface="Tahoma"/>
              </a:rPr>
              <a:t>B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708019" y="3993895"/>
            <a:ext cx="509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A</a:t>
            </a:r>
            <a:r>
              <a:rPr sz="1800" spc="-5" dirty="0">
                <a:latin typeface="Tahoma"/>
                <a:cs typeface="Tahoma"/>
              </a:rPr>
              <a:t>CK</a:t>
            </a:r>
            <a:r>
              <a:rPr sz="1000" dirty="0">
                <a:latin typeface="Tahoma"/>
                <a:cs typeface="Tahoma"/>
              </a:rPr>
              <a:t>B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3575050" y="1517650"/>
            <a:ext cx="469900" cy="1917700"/>
            <a:chOff x="3575050" y="1517650"/>
            <a:chExt cx="469900" cy="1917700"/>
          </a:xfrm>
        </p:grpSpPr>
        <p:sp>
          <p:nvSpPr>
            <p:cNvPr id="72" name="object 72"/>
            <p:cNvSpPr/>
            <p:nvPr/>
          </p:nvSpPr>
          <p:spPr>
            <a:xfrm>
              <a:off x="3581400" y="1524000"/>
              <a:ext cx="457200" cy="0"/>
            </a:xfrm>
            <a:custGeom>
              <a:avLst/>
              <a:gdLst/>
              <a:ahLst/>
              <a:cxnLst/>
              <a:rect l="l" t="t" r="r" b="b"/>
              <a:pathLst>
                <a:path w="457200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3657600" y="3429000"/>
              <a:ext cx="381000" cy="0"/>
            </a:xfrm>
            <a:custGeom>
              <a:avLst/>
              <a:gdLst/>
              <a:ahLst/>
              <a:cxnLst/>
              <a:rect l="l" t="t" r="r" b="b"/>
              <a:pathLst>
                <a:path w="381000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>
            <a:spLocks noGrp="1"/>
          </p:cNvSpPr>
          <p:nvPr>
            <p:ph type="title"/>
          </p:nvPr>
        </p:nvSpPr>
        <p:spPr>
          <a:xfrm>
            <a:off x="1223168" y="945896"/>
            <a:ext cx="6013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INTE</a:t>
            </a:r>
            <a:r>
              <a:rPr sz="1000" dirty="0">
                <a:latin typeface="Tahoma"/>
                <a:cs typeface="Tahoma"/>
              </a:rPr>
              <a:t>A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1261999" y="3231896"/>
            <a:ext cx="600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INTE</a:t>
            </a:r>
            <a:r>
              <a:rPr sz="1000" dirty="0">
                <a:latin typeface="Tahoma"/>
                <a:cs typeface="Tahoma"/>
              </a:rPr>
              <a:t>B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1598834" y="5517972"/>
            <a:ext cx="5365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PC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000" spc="-5" dirty="0">
                <a:latin typeface="Tahoma"/>
                <a:cs typeface="Tahoma"/>
              </a:rPr>
              <a:t>4,5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917606" y="5213096"/>
            <a:ext cx="3740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WR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228600" y="2127250"/>
            <a:ext cx="3886200" cy="3289300"/>
            <a:chOff x="228600" y="2127250"/>
            <a:chExt cx="3886200" cy="3289300"/>
          </a:xfrm>
        </p:grpSpPr>
        <p:sp>
          <p:nvSpPr>
            <p:cNvPr id="79" name="object 79"/>
            <p:cNvSpPr/>
            <p:nvPr/>
          </p:nvSpPr>
          <p:spPr>
            <a:xfrm>
              <a:off x="914400" y="5257800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0" name="object 8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5650" y="5251450"/>
              <a:ext cx="165100" cy="165100"/>
            </a:xfrm>
            <a:prstGeom prst="rect">
              <a:avLst/>
            </a:prstGeom>
          </p:spPr>
        </p:pic>
        <p:sp>
          <p:nvSpPr>
            <p:cNvPr id="81" name="object 81"/>
            <p:cNvSpPr/>
            <p:nvPr/>
          </p:nvSpPr>
          <p:spPr>
            <a:xfrm>
              <a:off x="228600" y="5334000"/>
              <a:ext cx="533400" cy="0"/>
            </a:xfrm>
            <a:custGeom>
              <a:avLst/>
              <a:gdLst/>
              <a:ahLst/>
              <a:cxnLst/>
              <a:rect l="l" t="t" r="r" b="b"/>
              <a:pathLst>
                <a:path w="533400">
                  <a:moveTo>
                    <a:pt x="5334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3581400" y="2133600"/>
              <a:ext cx="457200" cy="0"/>
            </a:xfrm>
            <a:custGeom>
              <a:avLst/>
              <a:gdLst/>
              <a:ahLst/>
              <a:cxnLst/>
              <a:rect l="l" t="t" r="r" b="b"/>
              <a:pathLst>
                <a:path w="457200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3657600" y="4038600"/>
              <a:ext cx="457200" cy="0"/>
            </a:xfrm>
            <a:custGeom>
              <a:avLst/>
              <a:gdLst/>
              <a:ahLst/>
              <a:cxnLst/>
              <a:rect l="l" t="t" r="r" b="b"/>
              <a:pathLst>
                <a:path w="457200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4" name="object 84"/>
          <p:cNvSpPr txBox="1"/>
          <p:nvPr/>
        </p:nvSpPr>
        <p:spPr>
          <a:xfrm>
            <a:off x="4172837" y="1004633"/>
            <a:ext cx="8737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ahoma"/>
                <a:cs typeface="Tahoma"/>
              </a:rPr>
              <a:t>P</a:t>
            </a:r>
            <a:r>
              <a:rPr sz="1800" dirty="0">
                <a:latin typeface="Tahoma"/>
                <a:cs typeface="Tahoma"/>
              </a:rPr>
              <a:t>A7</a:t>
            </a:r>
            <a:r>
              <a:rPr sz="1800" spc="-5" dirty="0">
                <a:latin typeface="Tahoma"/>
                <a:cs typeface="Tahoma"/>
              </a:rPr>
              <a:t>-</a:t>
            </a:r>
            <a:r>
              <a:rPr sz="1800" spc="-50" dirty="0">
                <a:latin typeface="Tahoma"/>
                <a:cs typeface="Tahoma"/>
              </a:rPr>
              <a:t>P</a:t>
            </a:r>
            <a:r>
              <a:rPr sz="1800" dirty="0">
                <a:latin typeface="Tahoma"/>
                <a:cs typeface="Tahoma"/>
              </a:rPr>
              <a:t>A0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5029200" y="685800"/>
            <a:ext cx="76200" cy="2286000"/>
          </a:xfrm>
          <a:custGeom>
            <a:avLst/>
            <a:gdLst/>
            <a:ahLst/>
            <a:cxnLst/>
            <a:rect l="l" t="t" r="r" b="b"/>
            <a:pathLst>
              <a:path w="76200" h="2286000">
                <a:moveTo>
                  <a:pt x="0" y="0"/>
                </a:moveTo>
                <a:lnTo>
                  <a:pt x="45004" y="36756"/>
                </a:lnTo>
                <a:lnTo>
                  <a:pt x="61498" y="77994"/>
                </a:lnTo>
                <a:lnTo>
                  <a:pt x="72315" y="130288"/>
                </a:lnTo>
                <a:lnTo>
                  <a:pt x="76200" y="190500"/>
                </a:lnTo>
                <a:lnTo>
                  <a:pt x="76200" y="2095500"/>
                </a:lnTo>
                <a:lnTo>
                  <a:pt x="72315" y="2155711"/>
                </a:lnTo>
                <a:lnTo>
                  <a:pt x="61498" y="2208005"/>
                </a:lnTo>
                <a:lnTo>
                  <a:pt x="45004" y="2249243"/>
                </a:lnTo>
                <a:lnTo>
                  <a:pt x="24086" y="2276287"/>
                </a:lnTo>
                <a:lnTo>
                  <a:pt x="0" y="22860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5029200" y="3124200"/>
            <a:ext cx="76200" cy="2286000"/>
          </a:xfrm>
          <a:custGeom>
            <a:avLst/>
            <a:gdLst/>
            <a:ahLst/>
            <a:cxnLst/>
            <a:rect l="l" t="t" r="r" b="b"/>
            <a:pathLst>
              <a:path w="76200" h="2286000">
                <a:moveTo>
                  <a:pt x="0" y="0"/>
                </a:moveTo>
                <a:lnTo>
                  <a:pt x="45004" y="36756"/>
                </a:lnTo>
                <a:lnTo>
                  <a:pt x="61498" y="77994"/>
                </a:lnTo>
                <a:lnTo>
                  <a:pt x="72315" y="130288"/>
                </a:lnTo>
                <a:lnTo>
                  <a:pt x="76200" y="190500"/>
                </a:lnTo>
                <a:lnTo>
                  <a:pt x="76200" y="2095500"/>
                </a:lnTo>
                <a:lnTo>
                  <a:pt x="72315" y="2155711"/>
                </a:lnTo>
                <a:lnTo>
                  <a:pt x="61498" y="2208005"/>
                </a:lnTo>
                <a:lnTo>
                  <a:pt x="45004" y="2249243"/>
                </a:lnTo>
                <a:lnTo>
                  <a:pt x="24086" y="2276287"/>
                </a:lnTo>
                <a:lnTo>
                  <a:pt x="0" y="22860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 txBox="1"/>
          <p:nvPr/>
        </p:nvSpPr>
        <p:spPr>
          <a:xfrm>
            <a:off x="6023845" y="1098296"/>
            <a:ext cx="1134110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Tahoma"/>
                <a:cs typeface="Tahoma"/>
              </a:rPr>
              <a:t>Port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with </a:t>
            </a:r>
            <a:r>
              <a:rPr sz="1800" spc="-545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Han</a:t>
            </a:r>
            <a:r>
              <a:rPr sz="1800" dirty="0">
                <a:latin typeface="Tahoma"/>
                <a:cs typeface="Tahoma"/>
              </a:rPr>
              <a:t>d</a:t>
            </a:r>
            <a:r>
              <a:rPr sz="1800" spc="-5" dirty="0">
                <a:latin typeface="Tahoma"/>
                <a:cs typeface="Tahoma"/>
              </a:rPr>
              <a:t>sha</a:t>
            </a:r>
            <a:r>
              <a:rPr sz="1800" spc="-20" dirty="0">
                <a:latin typeface="Tahoma"/>
                <a:cs typeface="Tahoma"/>
              </a:rPr>
              <a:t>k</a:t>
            </a:r>
            <a:r>
              <a:rPr sz="1800" spc="-5" dirty="0">
                <a:latin typeface="Tahoma"/>
                <a:cs typeface="Tahoma"/>
              </a:rPr>
              <a:t>e</a:t>
            </a:r>
            <a:endParaRPr sz="18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080"/>
              </a:spcBef>
            </a:pPr>
            <a:r>
              <a:rPr sz="1800" spc="-5" dirty="0">
                <a:latin typeface="Tahoma"/>
                <a:cs typeface="Tahoma"/>
              </a:rPr>
              <a:t>Signal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5762555" y="3765372"/>
            <a:ext cx="11239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Tahoma"/>
                <a:cs typeface="Tahoma"/>
              </a:rPr>
              <a:t>Port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b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with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5757297" y="4039692"/>
            <a:ext cx="113411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4160" marR="5080" indent="-251460">
              <a:lnSpc>
                <a:spcPct val="15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Han</a:t>
            </a:r>
            <a:r>
              <a:rPr sz="1800" dirty="0">
                <a:latin typeface="Tahoma"/>
                <a:cs typeface="Tahoma"/>
              </a:rPr>
              <a:t>d</a:t>
            </a:r>
            <a:r>
              <a:rPr sz="1800" spc="-5" dirty="0">
                <a:latin typeface="Tahoma"/>
                <a:cs typeface="Tahoma"/>
              </a:rPr>
              <a:t>sha</a:t>
            </a:r>
            <a:r>
              <a:rPr sz="1800" spc="-20" dirty="0">
                <a:latin typeface="Tahoma"/>
                <a:cs typeface="Tahoma"/>
              </a:rPr>
              <a:t>k</a:t>
            </a:r>
            <a:r>
              <a:rPr sz="1800" spc="-5" dirty="0">
                <a:latin typeface="Tahoma"/>
                <a:cs typeface="Tahoma"/>
              </a:rPr>
              <a:t>e  Signal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2573401" y="1098296"/>
            <a:ext cx="125412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5" dirty="0">
                <a:latin typeface="Tahoma"/>
                <a:cs typeface="Tahoma"/>
              </a:rPr>
              <a:t>Port</a:t>
            </a:r>
            <a:r>
              <a:rPr sz="1600" spc="-2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A</a:t>
            </a:r>
            <a:r>
              <a:rPr sz="1600" spc="-25" dirty="0">
                <a:latin typeface="Tahoma"/>
                <a:cs typeface="Tahoma"/>
              </a:rPr>
              <a:t> </a:t>
            </a:r>
            <a:r>
              <a:rPr sz="1600" spc="-5" dirty="0">
                <a:latin typeface="Tahoma"/>
                <a:cs typeface="Tahoma"/>
              </a:rPr>
              <a:t>Output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2614580" y="4573015"/>
            <a:ext cx="2435225" cy="132080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05865">
              <a:lnSpc>
                <a:spcPct val="100000"/>
              </a:lnSpc>
              <a:spcBef>
                <a:spcPts val="940"/>
              </a:spcBef>
            </a:pPr>
            <a:r>
              <a:rPr sz="1800" spc="-5" dirty="0">
                <a:latin typeface="Tahoma"/>
                <a:cs typeface="Tahoma"/>
              </a:rPr>
              <a:t>INTR</a:t>
            </a:r>
            <a:r>
              <a:rPr sz="1000" spc="-5" dirty="0">
                <a:latin typeface="Tahoma"/>
                <a:cs typeface="Tahoma"/>
              </a:rPr>
              <a:t>B</a:t>
            </a:r>
            <a:endParaRPr sz="10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840"/>
              </a:spcBef>
              <a:tabLst>
                <a:tab pos="1555115" algn="l"/>
              </a:tabLst>
            </a:pPr>
            <a:r>
              <a:rPr sz="1800" spc="-15" dirty="0">
                <a:latin typeface="Tahoma"/>
                <a:cs typeface="Tahoma"/>
              </a:rPr>
              <a:t>Port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B</a:t>
            </a:r>
            <a:r>
              <a:rPr sz="1800" spc="5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Output	PB7-PB0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50">
              <a:latin typeface="Tahoma"/>
              <a:cs typeface="Tahoma"/>
            </a:endParaRPr>
          </a:p>
          <a:p>
            <a:pPr marL="31115" algn="ctr">
              <a:lnSpc>
                <a:spcPct val="100000"/>
              </a:lnSpc>
            </a:pPr>
            <a:r>
              <a:rPr sz="1800" spc="-5" dirty="0">
                <a:latin typeface="Tahoma"/>
                <a:cs typeface="Tahoma"/>
              </a:rPr>
              <a:t>I/O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5145911" y="5746496"/>
            <a:ext cx="3269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58314" algn="l"/>
              </a:tabLst>
            </a:pPr>
            <a:r>
              <a:rPr sz="2400" b="1" spc="-5" dirty="0">
                <a:latin typeface="Tahoma"/>
                <a:cs typeface="Tahoma"/>
              </a:rPr>
              <a:t>Port </a:t>
            </a:r>
            <a:r>
              <a:rPr sz="2400" b="1" dirty="0">
                <a:latin typeface="Tahoma"/>
                <a:cs typeface="Tahoma"/>
              </a:rPr>
              <a:t>A</a:t>
            </a:r>
            <a:r>
              <a:rPr sz="2400" b="1" spc="-10" dirty="0">
                <a:latin typeface="Tahoma"/>
                <a:cs typeface="Tahoma"/>
              </a:rPr>
              <a:t> </a:t>
            </a:r>
            <a:r>
              <a:rPr sz="2400" b="1" spc="-5" dirty="0">
                <a:latin typeface="Tahoma"/>
                <a:cs typeface="Tahoma"/>
              </a:rPr>
              <a:t>&amp;</a:t>
            </a:r>
            <a:r>
              <a:rPr sz="2400" b="1" dirty="0">
                <a:latin typeface="Tahoma"/>
                <a:cs typeface="Tahoma"/>
              </a:rPr>
              <a:t> B	</a:t>
            </a:r>
            <a:r>
              <a:rPr sz="2400" b="1" spc="-5" dirty="0">
                <a:latin typeface="Tahoma"/>
                <a:cs typeface="Tahoma"/>
              </a:rPr>
              <a:t>as</a:t>
            </a:r>
            <a:r>
              <a:rPr sz="2400" b="1" spc="-70" dirty="0">
                <a:latin typeface="Tahoma"/>
                <a:cs typeface="Tahoma"/>
              </a:rPr>
              <a:t> </a:t>
            </a:r>
            <a:r>
              <a:rPr sz="2400" b="1" spc="-5" dirty="0">
                <a:latin typeface="Tahoma"/>
                <a:cs typeface="Tahoma"/>
              </a:rPr>
              <a:t>Output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5994779" y="6295135"/>
            <a:ext cx="15728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Tahoma"/>
                <a:cs typeface="Tahoma"/>
              </a:rPr>
              <a:t>In</a:t>
            </a:r>
            <a:r>
              <a:rPr sz="2400" b="1" spc="-45" dirty="0">
                <a:latin typeface="Tahoma"/>
                <a:cs typeface="Tahoma"/>
              </a:rPr>
              <a:t> </a:t>
            </a:r>
            <a:r>
              <a:rPr sz="2400" b="1" spc="-5" dirty="0">
                <a:latin typeface="Tahoma"/>
                <a:cs typeface="Tahoma"/>
              </a:rPr>
              <a:t>Mode</a:t>
            </a:r>
            <a:r>
              <a:rPr sz="2400" b="1" spc="-40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1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C4D6B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5825" y="1843087"/>
            <a:ext cx="8255000" cy="501491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833575"/>
            <a:ext cx="895350" cy="50244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76300" y="6350"/>
            <a:ext cx="19050" cy="150336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17612" y="1833562"/>
            <a:ext cx="7923212" cy="19050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552450" y="1509712"/>
            <a:ext cx="665480" cy="666750"/>
            <a:chOff x="552450" y="1509712"/>
            <a:chExt cx="665480" cy="666750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6300" y="1509712"/>
              <a:ext cx="19050" cy="6667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2450" y="1833562"/>
              <a:ext cx="665162" cy="19050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76705" y="6251447"/>
            <a:ext cx="250697" cy="21945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145539" y="6280658"/>
            <a:ext cx="9525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371600" y="304800"/>
            <a:ext cx="5943600" cy="466725"/>
          </a:xfrm>
          <a:prstGeom prst="rect">
            <a:avLst/>
          </a:prstGeom>
          <a:solidFill>
            <a:srgbClr val="C4D6BE"/>
          </a:solidFill>
          <a:ln w="12700">
            <a:solidFill>
              <a:srgbClr val="3366FF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638810">
              <a:lnSpc>
                <a:spcPct val="100000"/>
              </a:lnSpc>
              <a:spcBef>
                <a:spcPts val="345"/>
              </a:spcBef>
            </a:pPr>
            <a:r>
              <a:rPr sz="2400" b="1" spc="-5" dirty="0">
                <a:latin typeface="Tahoma"/>
                <a:cs typeface="Tahoma"/>
              </a:rPr>
              <a:t>Control word</a:t>
            </a:r>
            <a:r>
              <a:rPr sz="2400" b="1" dirty="0">
                <a:latin typeface="Tahoma"/>
                <a:cs typeface="Tahoma"/>
              </a:rPr>
              <a:t> – </a:t>
            </a:r>
            <a:r>
              <a:rPr sz="2400" b="1" spc="-5" dirty="0">
                <a:latin typeface="Tahoma"/>
                <a:cs typeface="Tahoma"/>
              </a:rPr>
              <a:t>mode </a:t>
            </a:r>
            <a:r>
              <a:rPr sz="2400" b="1" dirty="0">
                <a:latin typeface="Tahoma"/>
                <a:cs typeface="Tahoma"/>
              </a:rPr>
              <a:t>1</a:t>
            </a:r>
            <a:r>
              <a:rPr sz="2400" b="1" spc="-15" dirty="0">
                <a:latin typeface="Tahoma"/>
                <a:cs typeface="Tahoma"/>
              </a:rPr>
              <a:t> </a:t>
            </a:r>
            <a:r>
              <a:rPr sz="2400" b="1" spc="-5" dirty="0">
                <a:latin typeface="Tahoma"/>
                <a:cs typeface="Tahoma"/>
              </a:rPr>
              <a:t>Output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31850" y="2965450"/>
            <a:ext cx="7251700" cy="469900"/>
            <a:chOff x="831850" y="2965450"/>
            <a:chExt cx="7251700" cy="469900"/>
          </a:xfrm>
        </p:grpSpPr>
        <p:sp>
          <p:nvSpPr>
            <p:cNvPr id="14" name="object 14"/>
            <p:cNvSpPr/>
            <p:nvPr/>
          </p:nvSpPr>
          <p:spPr>
            <a:xfrm>
              <a:off x="838200" y="2971800"/>
              <a:ext cx="7239000" cy="457200"/>
            </a:xfrm>
            <a:custGeom>
              <a:avLst/>
              <a:gdLst/>
              <a:ahLst/>
              <a:cxnLst/>
              <a:rect l="l" t="t" r="r" b="b"/>
              <a:pathLst>
                <a:path w="7239000" h="457200">
                  <a:moveTo>
                    <a:pt x="7239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7239000" y="457200"/>
                  </a:lnTo>
                  <a:lnTo>
                    <a:pt x="723900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38200" y="2971800"/>
              <a:ext cx="7239000" cy="457200"/>
            </a:xfrm>
            <a:custGeom>
              <a:avLst/>
              <a:gdLst/>
              <a:ahLst/>
              <a:cxnLst/>
              <a:rect l="l" t="t" r="r" b="b"/>
              <a:pathLst>
                <a:path w="7239000" h="457200">
                  <a:moveTo>
                    <a:pt x="0" y="0"/>
                  </a:moveTo>
                  <a:lnTo>
                    <a:pt x="7239000" y="0"/>
                  </a:lnTo>
                  <a:lnTo>
                    <a:pt x="72390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19600" y="2971800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362200" y="2971800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276600" y="2971800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524000" y="2971800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315200" y="2971800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951896" y="2622296"/>
            <a:ext cx="1067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700" algn="l"/>
              </a:tabLst>
            </a:pPr>
            <a:r>
              <a:rPr sz="1800" spc="-10" dirty="0">
                <a:latin typeface="Tahoma"/>
                <a:cs typeface="Tahoma"/>
              </a:rPr>
              <a:t>D</a:t>
            </a:r>
            <a:r>
              <a:rPr sz="1800" dirty="0">
                <a:latin typeface="Tahoma"/>
                <a:cs typeface="Tahoma"/>
              </a:rPr>
              <a:t>7	</a:t>
            </a:r>
            <a:r>
              <a:rPr sz="1800" spc="-10" dirty="0">
                <a:latin typeface="Tahoma"/>
                <a:cs typeface="Tahoma"/>
              </a:rPr>
              <a:t>D</a:t>
            </a:r>
            <a:r>
              <a:rPr sz="1800" dirty="0">
                <a:latin typeface="Tahoma"/>
                <a:cs typeface="Tahoma"/>
              </a:rPr>
              <a:t>6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628449" y="2622296"/>
            <a:ext cx="304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D5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542849" y="2622296"/>
            <a:ext cx="305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D</a:t>
            </a:r>
            <a:r>
              <a:rPr sz="1800" dirty="0">
                <a:latin typeface="Tahoma"/>
                <a:cs typeface="Tahoma"/>
              </a:rPr>
              <a:t>4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85849" y="2622296"/>
            <a:ext cx="304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D3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752725" y="2622296"/>
            <a:ext cx="304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D2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667125" y="2622296"/>
            <a:ext cx="304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D1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581525" y="2622296"/>
            <a:ext cx="305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D</a:t>
            </a:r>
            <a:r>
              <a:rPr sz="1800" dirty="0">
                <a:latin typeface="Tahoma"/>
                <a:cs typeface="Tahoma"/>
              </a:rPr>
              <a:t>0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702683" y="3003372"/>
            <a:ext cx="1390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x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85801" y="2965450"/>
            <a:ext cx="6705600" cy="3168650"/>
            <a:chOff x="685801" y="2965450"/>
            <a:chExt cx="6705600" cy="3168650"/>
          </a:xfrm>
        </p:grpSpPr>
        <p:sp>
          <p:nvSpPr>
            <p:cNvPr id="30" name="object 30"/>
            <p:cNvSpPr/>
            <p:nvPr/>
          </p:nvSpPr>
          <p:spPr>
            <a:xfrm>
              <a:off x="6400800" y="2971800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410200" y="2971800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219200" y="3429000"/>
              <a:ext cx="0" cy="762000"/>
            </a:xfrm>
            <a:custGeom>
              <a:avLst/>
              <a:gdLst/>
              <a:ahLst/>
              <a:cxnLst/>
              <a:rect l="l" t="t" r="r" b="b"/>
              <a:pathLst>
                <a:path h="762000">
                  <a:moveTo>
                    <a:pt x="0" y="0"/>
                  </a:moveTo>
                  <a:lnTo>
                    <a:pt x="0" y="762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362199" y="3810000"/>
              <a:ext cx="0" cy="1143000"/>
            </a:xfrm>
            <a:custGeom>
              <a:avLst/>
              <a:gdLst/>
              <a:ahLst/>
              <a:cxnLst/>
              <a:rect l="l" t="t" r="r" b="b"/>
              <a:pathLst>
                <a:path h="1143000">
                  <a:moveTo>
                    <a:pt x="0" y="0"/>
                  </a:moveTo>
                  <a:lnTo>
                    <a:pt x="0" y="1143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886199" y="3429000"/>
              <a:ext cx="0" cy="2590800"/>
            </a:xfrm>
            <a:custGeom>
              <a:avLst/>
              <a:gdLst/>
              <a:ahLst/>
              <a:cxnLst/>
              <a:rect l="l" t="t" r="r" b="b"/>
              <a:pathLst>
                <a:path h="2590800">
                  <a:moveTo>
                    <a:pt x="0" y="0"/>
                  </a:moveTo>
                  <a:lnTo>
                    <a:pt x="0" y="25908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029200" y="3429000"/>
              <a:ext cx="0" cy="2667000"/>
            </a:xfrm>
            <a:custGeom>
              <a:avLst/>
              <a:gdLst/>
              <a:ahLst/>
              <a:cxnLst/>
              <a:rect l="l" t="t" r="r" b="b"/>
              <a:pathLst>
                <a:path h="2667000">
                  <a:moveTo>
                    <a:pt x="0" y="0"/>
                  </a:moveTo>
                  <a:lnTo>
                    <a:pt x="0" y="2667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867400" y="3429000"/>
              <a:ext cx="0" cy="1371600"/>
            </a:xfrm>
            <a:custGeom>
              <a:avLst/>
              <a:gdLst/>
              <a:ahLst/>
              <a:cxnLst/>
              <a:rect l="l" t="t" r="r" b="b"/>
              <a:pathLst>
                <a:path h="1371600">
                  <a:moveTo>
                    <a:pt x="0" y="0"/>
                  </a:moveTo>
                  <a:lnTo>
                    <a:pt x="0" y="13716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858000" y="3429000"/>
              <a:ext cx="0" cy="533400"/>
            </a:xfrm>
            <a:custGeom>
              <a:avLst/>
              <a:gdLst/>
              <a:ahLst/>
              <a:cxnLst/>
              <a:rect l="l" t="t" r="r" b="b"/>
              <a:pathLst>
                <a:path h="533400">
                  <a:moveTo>
                    <a:pt x="0" y="0"/>
                  </a:moveTo>
                  <a:lnTo>
                    <a:pt x="0" y="5334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25499" y="4191000"/>
              <a:ext cx="393700" cy="0"/>
            </a:xfrm>
            <a:custGeom>
              <a:avLst/>
              <a:gdLst/>
              <a:ahLst/>
              <a:cxnLst/>
              <a:rect l="l" t="t" r="r" b="b"/>
              <a:pathLst>
                <a:path w="393700">
                  <a:moveTo>
                    <a:pt x="3937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62001" y="41528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49299" y="4953000"/>
              <a:ext cx="1612900" cy="0"/>
            </a:xfrm>
            <a:custGeom>
              <a:avLst/>
              <a:gdLst/>
              <a:ahLst/>
              <a:cxnLst/>
              <a:rect l="l" t="t" r="r" b="b"/>
              <a:pathLst>
                <a:path w="1612900">
                  <a:moveTo>
                    <a:pt x="16129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85801" y="49148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25499" y="6019800"/>
              <a:ext cx="3060700" cy="0"/>
            </a:xfrm>
            <a:custGeom>
              <a:avLst/>
              <a:gdLst/>
              <a:ahLst/>
              <a:cxnLst/>
              <a:rect l="l" t="t" r="r" b="b"/>
              <a:pathLst>
                <a:path w="3060700">
                  <a:moveTo>
                    <a:pt x="30607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62001" y="59816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858000" y="3962400"/>
              <a:ext cx="469900" cy="0"/>
            </a:xfrm>
            <a:custGeom>
              <a:avLst/>
              <a:gdLst/>
              <a:ahLst/>
              <a:cxnLst/>
              <a:rect l="l" t="t" r="r" b="b"/>
              <a:pathLst>
                <a:path w="469900">
                  <a:moveTo>
                    <a:pt x="0" y="0"/>
                  </a:moveTo>
                  <a:lnTo>
                    <a:pt x="4699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315202" y="39242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867400" y="4800600"/>
              <a:ext cx="1460500" cy="0"/>
            </a:xfrm>
            <a:custGeom>
              <a:avLst/>
              <a:gdLst/>
              <a:ahLst/>
              <a:cxnLst/>
              <a:rect l="l" t="t" r="r" b="b"/>
              <a:pathLst>
                <a:path w="1460500">
                  <a:moveTo>
                    <a:pt x="0" y="0"/>
                  </a:moveTo>
                  <a:lnTo>
                    <a:pt x="14605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315202" y="47624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029200" y="6096000"/>
              <a:ext cx="2298700" cy="0"/>
            </a:xfrm>
            <a:custGeom>
              <a:avLst/>
              <a:gdLst/>
              <a:ahLst/>
              <a:cxnLst/>
              <a:rect l="l" t="t" r="r" b="b"/>
              <a:pathLst>
                <a:path w="2298700">
                  <a:moveTo>
                    <a:pt x="0" y="0"/>
                  </a:moveTo>
                  <a:lnTo>
                    <a:pt x="22987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315202" y="60578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199"/>
                  </a:lnTo>
                  <a:lnTo>
                    <a:pt x="76200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6782720" y="3003296"/>
            <a:ext cx="1504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0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868320" y="3003296"/>
            <a:ext cx="1504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810920" y="3003296"/>
            <a:ext cx="1504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0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820397" y="3003296"/>
            <a:ext cx="1504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905997" y="3003296"/>
            <a:ext cx="1504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0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220196" y="3003296"/>
            <a:ext cx="1504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694916" y="3003296"/>
            <a:ext cx="3632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1</a:t>
            </a:r>
            <a:r>
              <a:rPr sz="1800" spc="-5" dirty="0">
                <a:latin typeface="Tahoma"/>
                <a:cs typeface="Tahoma"/>
              </a:rPr>
              <a:t>/0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209022" y="3885945"/>
            <a:ext cx="5721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0541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I/O </a:t>
            </a:r>
            <a:r>
              <a:rPr sz="1800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Mode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77018" y="4571745"/>
            <a:ext cx="636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Tahoma"/>
                <a:cs typeface="Tahoma"/>
              </a:rPr>
              <a:t>Port</a:t>
            </a:r>
            <a:r>
              <a:rPr sz="1800" spc="-9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10724" y="4983226"/>
            <a:ext cx="7689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Mode</a:t>
            </a:r>
            <a:r>
              <a:rPr sz="1800" spc="-7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77018" y="5806185"/>
            <a:ext cx="636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Tahoma"/>
                <a:cs typeface="Tahoma"/>
              </a:rPr>
              <a:t>Port</a:t>
            </a:r>
            <a:r>
              <a:rPr sz="1800" spc="-9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35185" y="6080505"/>
            <a:ext cx="720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Out</a:t>
            </a:r>
            <a:r>
              <a:rPr sz="1800" spc="-5" dirty="0">
                <a:latin typeface="Tahoma"/>
                <a:cs typeface="Tahoma"/>
              </a:rPr>
              <a:t>p</a:t>
            </a:r>
            <a:r>
              <a:rPr sz="1800" spc="-10" dirty="0">
                <a:latin typeface="Tahoma"/>
                <a:cs typeface="Tahoma"/>
              </a:rPr>
              <a:t>ut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1905000" y="3657600"/>
            <a:ext cx="838200" cy="76200"/>
          </a:xfrm>
          <a:custGeom>
            <a:avLst/>
            <a:gdLst/>
            <a:ahLst/>
            <a:cxnLst/>
            <a:rect l="l" t="t" r="r" b="b"/>
            <a:pathLst>
              <a:path w="838200" h="76200">
                <a:moveTo>
                  <a:pt x="838200" y="0"/>
                </a:moveTo>
                <a:lnTo>
                  <a:pt x="832711" y="14831"/>
                </a:lnTo>
                <a:lnTo>
                  <a:pt x="817743" y="26941"/>
                </a:lnTo>
                <a:lnTo>
                  <a:pt x="795541" y="35106"/>
                </a:lnTo>
                <a:lnTo>
                  <a:pt x="768350" y="38100"/>
                </a:lnTo>
                <a:lnTo>
                  <a:pt x="488950" y="38100"/>
                </a:lnTo>
                <a:lnTo>
                  <a:pt x="461758" y="41093"/>
                </a:lnTo>
                <a:lnTo>
                  <a:pt x="439556" y="49258"/>
                </a:lnTo>
                <a:lnTo>
                  <a:pt x="424588" y="61368"/>
                </a:lnTo>
                <a:lnTo>
                  <a:pt x="419100" y="76200"/>
                </a:lnTo>
                <a:lnTo>
                  <a:pt x="413611" y="61368"/>
                </a:lnTo>
                <a:lnTo>
                  <a:pt x="398643" y="49258"/>
                </a:lnTo>
                <a:lnTo>
                  <a:pt x="376441" y="41093"/>
                </a:lnTo>
                <a:lnTo>
                  <a:pt x="349250" y="38100"/>
                </a:lnTo>
                <a:lnTo>
                  <a:pt x="69850" y="38100"/>
                </a:lnTo>
                <a:lnTo>
                  <a:pt x="42658" y="35106"/>
                </a:lnTo>
                <a:lnTo>
                  <a:pt x="20456" y="26941"/>
                </a:lnTo>
                <a:lnTo>
                  <a:pt x="5488" y="14831"/>
                </a:lnTo>
                <a:lnTo>
                  <a:pt x="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7730539" y="3628135"/>
            <a:ext cx="768985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7310" algn="just">
              <a:lnSpc>
                <a:spcPct val="150000"/>
              </a:lnSpc>
              <a:spcBef>
                <a:spcPts val="100"/>
              </a:spcBef>
            </a:pPr>
            <a:r>
              <a:rPr sz="1800" spc="-15" dirty="0">
                <a:latin typeface="Tahoma"/>
                <a:cs typeface="Tahoma"/>
              </a:rPr>
              <a:t>Port </a:t>
            </a:r>
            <a:r>
              <a:rPr sz="1800" spc="-5" dirty="0">
                <a:latin typeface="Tahoma"/>
                <a:cs typeface="Tahoma"/>
              </a:rPr>
              <a:t>B </a:t>
            </a:r>
            <a:r>
              <a:rPr sz="1800" spc="-550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Output </a:t>
            </a:r>
            <a:r>
              <a:rPr sz="1800" spc="-555" dirty="0">
                <a:latin typeface="Tahoma"/>
                <a:cs typeface="Tahoma"/>
              </a:rPr>
              <a:t> </a:t>
            </a:r>
            <a:r>
              <a:rPr sz="1800" spc="-15" dirty="0">
                <a:latin typeface="Tahoma"/>
                <a:cs typeface="Tahoma"/>
              </a:rPr>
              <a:t>Port </a:t>
            </a:r>
            <a:r>
              <a:rPr sz="1800" spc="-5" dirty="0">
                <a:latin typeface="Tahoma"/>
                <a:cs typeface="Tahoma"/>
              </a:rPr>
              <a:t>B </a:t>
            </a:r>
            <a:r>
              <a:rPr sz="1800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Mode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7882101" y="5822696"/>
            <a:ext cx="4660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P</a:t>
            </a:r>
            <a:r>
              <a:rPr sz="1800" spc="-5" dirty="0">
                <a:latin typeface="Tahoma"/>
                <a:cs typeface="Tahoma"/>
              </a:rPr>
              <a:t>C</a:t>
            </a:r>
            <a:r>
              <a:rPr sz="1000" spc="-5" dirty="0">
                <a:latin typeface="Tahoma"/>
                <a:cs typeface="Tahoma"/>
              </a:rPr>
              <a:t>4</a:t>
            </a:r>
            <a:r>
              <a:rPr sz="1000" dirty="0">
                <a:latin typeface="Tahoma"/>
                <a:cs typeface="Tahoma"/>
              </a:rPr>
              <a:t>,5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7609458" y="6234176"/>
            <a:ext cx="10115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619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1=Input; </a:t>
            </a:r>
            <a:r>
              <a:rPr sz="1800" spc="-5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0</a:t>
            </a:r>
            <a:r>
              <a:rPr sz="1800" spc="-10" dirty="0">
                <a:latin typeface="Tahoma"/>
                <a:cs typeface="Tahoma"/>
              </a:rPr>
              <a:t>=Out</a:t>
            </a:r>
            <a:r>
              <a:rPr sz="1800" spc="-5" dirty="0">
                <a:latin typeface="Tahoma"/>
                <a:cs typeface="Tahoma"/>
              </a:rPr>
              <a:t>p</a:t>
            </a:r>
            <a:r>
              <a:rPr sz="1800" spc="-10" dirty="0">
                <a:latin typeface="Tahoma"/>
                <a:cs typeface="Tahoma"/>
              </a:rPr>
              <a:t>ut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C4D6B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5825" y="1843087"/>
            <a:ext cx="8255000" cy="501491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833575"/>
            <a:ext cx="895350" cy="50244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76300" y="6350"/>
            <a:ext cx="19050" cy="150336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17612" y="1833562"/>
            <a:ext cx="7923212" cy="19050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552450" y="1509712"/>
            <a:ext cx="665480" cy="666750"/>
            <a:chOff x="552450" y="1509712"/>
            <a:chExt cx="665480" cy="666750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6300" y="1509712"/>
              <a:ext cx="19050" cy="6667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2450" y="1833562"/>
              <a:ext cx="665162" cy="19050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76705" y="6251447"/>
            <a:ext cx="250697" cy="21945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145539" y="6280658"/>
            <a:ext cx="9525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14400" y="685800"/>
            <a:ext cx="6934200" cy="466725"/>
          </a:xfrm>
          <a:custGeom>
            <a:avLst/>
            <a:gdLst/>
            <a:ahLst/>
            <a:cxnLst/>
            <a:rect l="l" t="t" r="r" b="b"/>
            <a:pathLst>
              <a:path w="6934200" h="466725">
                <a:moveTo>
                  <a:pt x="0" y="0"/>
                </a:moveTo>
                <a:lnTo>
                  <a:pt x="6934200" y="0"/>
                </a:lnTo>
                <a:lnTo>
                  <a:pt x="6934200" y="466725"/>
                </a:lnTo>
                <a:lnTo>
                  <a:pt x="0" y="46672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3366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097182" y="717296"/>
            <a:ext cx="45669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Tahoma"/>
                <a:cs typeface="Tahoma"/>
              </a:rPr>
              <a:t>Status Word</a:t>
            </a:r>
            <a:r>
              <a:rPr sz="2400" b="1" dirty="0">
                <a:latin typeface="Tahoma"/>
                <a:cs typeface="Tahoma"/>
              </a:rPr>
              <a:t> –</a:t>
            </a:r>
            <a:r>
              <a:rPr sz="2400" b="1" spc="-20" dirty="0">
                <a:latin typeface="Tahoma"/>
                <a:cs typeface="Tahoma"/>
              </a:rPr>
              <a:t> </a:t>
            </a:r>
            <a:r>
              <a:rPr sz="2400" b="1" spc="-5" dirty="0">
                <a:latin typeface="Tahoma"/>
                <a:cs typeface="Tahoma"/>
              </a:rPr>
              <a:t>Mode </a:t>
            </a:r>
            <a:r>
              <a:rPr sz="2400" b="1" dirty="0">
                <a:latin typeface="Tahoma"/>
                <a:cs typeface="Tahoma"/>
              </a:rPr>
              <a:t>1</a:t>
            </a:r>
            <a:r>
              <a:rPr sz="2400" b="1" spc="-25" dirty="0">
                <a:latin typeface="Tahoma"/>
                <a:cs typeface="Tahoma"/>
              </a:rPr>
              <a:t> </a:t>
            </a:r>
            <a:r>
              <a:rPr sz="2400" b="1" spc="-5" dirty="0">
                <a:latin typeface="Tahoma"/>
                <a:cs typeface="Tahoma"/>
              </a:rPr>
              <a:t>Output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31850" y="2965450"/>
            <a:ext cx="7251700" cy="469900"/>
            <a:chOff x="831850" y="2965450"/>
            <a:chExt cx="7251700" cy="469900"/>
          </a:xfrm>
        </p:grpSpPr>
        <p:sp>
          <p:nvSpPr>
            <p:cNvPr id="15" name="object 15"/>
            <p:cNvSpPr/>
            <p:nvPr/>
          </p:nvSpPr>
          <p:spPr>
            <a:xfrm>
              <a:off x="838200" y="2971800"/>
              <a:ext cx="7239000" cy="457200"/>
            </a:xfrm>
            <a:custGeom>
              <a:avLst/>
              <a:gdLst/>
              <a:ahLst/>
              <a:cxnLst/>
              <a:rect l="l" t="t" r="r" b="b"/>
              <a:pathLst>
                <a:path w="7239000" h="457200">
                  <a:moveTo>
                    <a:pt x="7239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7239000" y="457200"/>
                  </a:lnTo>
                  <a:lnTo>
                    <a:pt x="723900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38200" y="2971800"/>
              <a:ext cx="7239000" cy="457200"/>
            </a:xfrm>
            <a:custGeom>
              <a:avLst/>
              <a:gdLst/>
              <a:ahLst/>
              <a:cxnLst/>
              <a:rect l="l" t="t" r="r" b="b"/>
              <a:pathLst>
                <a:path w="7239000" h="457200">
                  <a:moveTo>
                    <a:pt x="0" y="0"/>
                  </a:moveTo>
                  <a:lnTo>
                    <a:pt x="7239000" y="0"/>
                  </a:lnTo>
                  <a:lnTo>
                    <a:pt x="72390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419600" y="2971800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362200" y="2971800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276600" y="2971800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24000" y="2971800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315200" y="2971800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951896" y="2622296"/>
            <a:ext cx="1066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</a:tabLst>
            </a:pPr>
            <a:r>
              <a:rPr sz="1800" spc="-10" dirty="0">
                <a:latin typeface="Tahoma"/>
                <a:cs typeface="Tahoma"/>
              </a:rPr>
              <a:t>D</a:t>
            </a:r>
            <a:r>
              <a:rPr sz="1800" spc="-5" dirty="0">
                <a:latin typeface="Tahoma"/>
                <a:cs typeface="Tahoma"/>
              </a:rPr>
              <a:t>7</a:t>
            </a:r>
            <a:r>
              <a:rPr sz="1800" dirty="0">
                <a:latin typeface="Tahoma"/>
                <a:cs typeface="Tahoma"/>
              </a:rPr>
              <a:t>	</a:t>
            </a:r>
            <a:r>
              <a:rPr sz="1800" spc="-10" dirty="0">
                <a:latin typeface="Tahoma"/>
                <a:cs typeface="Tahoma"/>
              </a:rPr>
              <a:t>D6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628220" y="2622296"/>
            <a:ext cx="304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D5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542620" y="2622296"/>
            <a:ext cx="305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D</a:t>
            </a:r>
            <a:r>
              <a:rPr sz="1800" dirty="0">
                <a:latin typeface="Tahoma"/>
                <a:cs typeface="Tahoma"/>
              </a:rPr>
              <a:t>4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685620" y="2622296"/>
            <a:ext cx="305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D</a:t>
            </a:r>
            <a:r>
              <a:rPr sz="1800" dirty="0">
                <a:latin typeface="Tahoma"/>
                <a:cs typeface="Tahoma"/>
              </a:rPr>
              <a:t>3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752496" y="2622296"/>
            <a:ext cx="305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D</a:t>
            </a:r>
            <a:r>
              <a:rPr sz="1800" dirty="0">
                <a:latin typeface="Tahoma"/>
                <a:cs typeface="Tahoma"/>
              </a:rPr>
              <a:t>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666896" y="2622296"/>
            <a:ext cx="305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D</a:t>
            </a:r>
            <a:r>
              <a:rPr sz="1800" dirty="0">
                <a:latin typeface="Tahoma"/>
                <a:cs typeface="Tahoma"/>
              </a:rPr>
              <a:t>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581296" y="2622296"/>
            <a:ext cx="305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D</a:t>
            </a:r>
            <a:r>
              <a:rPr sz="1800" dirty="0">
                <a:latin typeface="Tahoma"/>
                <a:cs typeface="Tahoma"/>
              </a:rPr>
              <a:t>0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427448" y="3003372"/>
            <a:ext cx="6134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INTR</a:t>
            </a:r>
            <a:r>
              <a:rPr sz="1000" dirty="0">
                <a:latin typeface="Tahoma"/>
                <a:cs typeface="Tahoma"/>
              </a:rPr>
              <a:t>B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403850" y="2965450"/>
            <a:ext cx="1003300" cy="469900"/>
            <a:chOff x="5403850" y="2965450"/>
            <a:chExt cx="1003300" cy="469900"/>
          </a:xfrm>
        </p:grpSpPr>
        <p:sp>
          <p:nvSpPr>
            <p:cNvPr id="31" name="object 31"/>
            <p:cNvSpPr/>
            <p:nvPr/>
          </p:nvSpPr>
          <p:spPr>
            <a:xfrm>
              <a:off x="6400800" y="2971800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410200" y="2971800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6599840" y="3003296"/>
            <a:ext cx="5162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O</a:t>
            </a:r>
            <a:r>
              <a:rPr sz="1800" spc="-5" dirty="0">
                <a:latin typeface="Tahoma"/>
                <a:cs typeface="Tahoma"/>
              </a:rPr>
              <a:t>B</a:t>
            </a:r>
            <a:r>
              <a:rPr sz="1800" spc="-10" dirty="0">
                <a:latin typeface="Tahoma"/>
                <a:cs typeface="Tahoma"/>
              </a:rPr>
              <a:t>F</a:t>
            </a:r>
            <a:r>
              <a:rPr sz="1000" dirty="0">
                <a:latin typeface="Tahoma"/>
                <a:cs typeface="Tahoma"/>
              </a:rPr>
              <a:t>B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684940" y="3003296"/>
            <a:ext cx="13906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42669" algn="l"/>
              </a:tabLst>
            </a:pPr>
            <a:r>
              <a:rPr sz="1800" spc="-5" dirty="0">
                <a:latin typeface="Tahoma"/>
                <a:cs typeface="Tahoma"/>
              </a:rPr>
              <a:t>INTE</a:t>
            </a:r>
            <a:r>
              <a:rPr sz="1000" dirty="0">
                <a:latin typeface="Tahoma"/>
                <a:cs typeface="Tahoma"/>
              </a:rPr>
              <a:t>a	</a:t>
            </a:r>
            <a:r>
              <a:rPr sz="1800" spc="-5" dirty="0">
                <a:latin typeface="Tahoma"/>
                <a:cs typeface="Tahoma"/>
              </a:rPr>
              <a:t>I/</a:t>
            </a:r>
            <a:r>
              <a:rPr sz="1800" dirty="0">
                <a:latin typeface="Tahoma"/>
                <a:cs typeface="Tahoma"/>
              </a:rPr>
              <a:t>O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60247" y="3003296"/>
            <a:ext cx="517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O</a:t>
            </a:r>
            <a:r>
              <a:rPr sz="1800" spc="-5" dirty="0">
                <a:latin typeface="Tahoma"/>
                <a:cs typeface="Tahoma"/>
              </a:rPr>
              <a:t>B</a:t>
            </a:r>
            <a:r>
              <a:rPr sz="1800" spc="-10" dirty="0">
                <a:latin typeface="Tahoma"/>
                <a:cs typeface="Tahoma"/>
              </a:rPr>
              <a:t>F</a:t>
            </a:r>
            <a:r>
              <a:rPr sz="1000" dirty="0">
                <a:latin typeface="Tahoma"/>
                <a:cs typeface="Tahoma"/>
              </a:rPr>
              <a:t>A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705764" y="3003296"/>
            <a:ext cx="24993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37565" algn="l"/>
                <a:tab pos="1911985" algn="l"/>
              </a:tabLst>
            </a:pPr>
            <a:r>
              <a:rPr sz="1800" spc="-5" dirty="0">
                <a:latin typeface="Tahoma"/>
                <a:cs typeface="Tahoma"/>
              </a:rPr>
              <a:t>I/O	INTR</a:t>
            </a:r>
            <a:r>
              <a:rPr sz="1000" dirty="0">
                <a:latin typeface="Tahoma"/>
                <a:cs typeface="Tahoma"/>
              </a:rPr>
              <a:t>A	</a:t>
            </a:r>
            <a:r>
              <a:rPr sz="1800" spc="-5" dirty="0">
                <a:latin typeface="Tahoma"/>
                <a:cs typeface="Tahoma"/>
              </a:rPr>
              <a:t>INTE</a:t>
            </a:r>
            <a:r>
              <a:rPr sz="1000" dirty="0">
                <a:latin typeface="Tahoma"/>
                <a:cs typeface="Tahoma"/>
              </a:rPr>
              <a:t>B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990600" y="3041650"/>
            <a:ext cx="6019800" cy="12700"/>
            <a:chOff x="990600" y="3041650"/>
            <a:chExt cx="6019800" cy="12700"/>
          </a:xfrm>
        </p:grpSpPr>
        <p:sp>
          <p:nvSpPr>
            <p:cNvPr id="38" name="object 38"/>
            <p:cNvSpPr/>
            <p:nvPr/>
          </p:nvSpPr>
          <p:spPr>
            <a:xfrm>
              <a:off x="990600" y="3048000"/>
              <a:ext cx="381000" cy="0"/>
            </a:xfrm>
            <a:custGeom>
              <a:avLst/>
              <a:gdLst/>
              <a:ahLst/>
              <a:cxnLst/>
              <a:rect l="l" t="t" r="r" b="b"/>
              <a:pathLst>
                <a:path w="381000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629400" y="3048000"/>
              <a:ext cx="381000" cy="0"/>
            </a:xfrm>
            <a:custGeom>
              <a:avLst/>
              <a:gdLst/>
              <a:ahLst/>
              <a:cxnLst/>
              <a:rect l="l" t="t" r="r" b="b"/>
              <a:pathLst>
                <a:path w="381000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C4D6B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5825" y="1843087"/>
            <a:ext cx="8255000" cy="501491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833575"/>
            <a:ext cx="895350" cy="50244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76300" y="6350"/>
            <a:ext cx="19050" cy="150336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17612" y="1833562"/>
            <a:ext cx="7923212" cy="19050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552450" y="1509712"/>
            <a:ext cx="665480" cy="666750"/>
            <a:chOff x="552450" y="1509712"/>
            <a:chExt cx="665480" cy="666750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6300" y="1509712"/>
              <a:ext cx="19050" cy="6667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2450" y="1833562"/>
              <a:ext cx="665162" cy="19050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76705" y="6251447"/>
            <a:ext cx="250697" cy="21945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145539" y="6280658"/>
            <a:ext cx="9525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990600" y="6089650"/>
            <a:ext cx="7924800" cy="469900"/>
            <a:chOff x="990600" y="6089650"/>
            <a:chExt cx="7924800" cy="469900"/>
          </a:xfrm>
        </p:grpSpPr>
        <p:sp>
          <p:nvSpPr>
            <p:cNvPr id="13" name="object 13"/>
            <p:cNvSpPr/>
            <p:nvPr/>
          </p:nvSpPr>
          <p:spPr>
            <a:xfrm>
              <a:off x="990600" y="6172200"/>
              <a:ext cx="2819400" cy="0"/>
            </a:xfrm>
            <a:custGeom>
              <a:avLst/>
              <a:gdLst/>
              <a:ahLst/>
              <a:cxnLst/>
              <a:rect l="l" t="t" r="r" b="b"/>
              <a:pathLst>
                <a:path w="2819400">
                  <a:moveTo>
                    <a:pt x="0" y="0"/>
                  </a:moveTo>
                  <a:lnTo>
                    <a:pt x="2819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10000" y="6172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114800" y="6477000"/>
              <a:ext cx="4800600" cy="0"/>
            </a:xfrm>
            <a:custGeom>
              <a:avLst/>
              <a:gdLst/>
              <a:ahLst/>
              <a:cxnLst/>
              <a:rect l="l" t="t" r="r" b="b"/>
              <a:pathLst>
                <a:path w="4800600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90600" y="6553200"/>
              <a:ext cx="2743200" cy="0"/>
            </a:xfrm>
            <a:custGeom>
              <a:avLst/>
              <a:gdLst/>
              <a:ahLst/>
              <a:cxnLst/>
              <a:rect l="l" t="t" r="r" b="b"/>
              <a:pathLst>
                <a:path w="2743200">
                  <a:moveTo>
                    <a:pt x="0" y="0"/>
                  </a:moveTo>
                  <a:lnTo>
                    <a:pt x="27432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733800" y="6096000"/>
              <a:ext cx="533400" cy="457200"/>
            </a:xfrm>
            <a:custGeom>
              <a:avLst/>
              <a:gdLst/>
              <a:ahLst/>
              <a:cxnLst/>
              <a:rect l="l" t="t" r="r" b="b"/>
              <a:pathLst>
                <a:path w="533400" h="457200">
                  <a:moveTo>
                    <a:pt x="0" y="457200"/>
                  </a:moveTo>
                  <a:lnTo>
                    <a:pt x="533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267200" y="6096000"/>
              <a:ext cx="4572000" cy="0"/>
            </a:xfrm>
            <a:custGeom>
              <a:avLst/>
              <a:gdLst/>
              <a:ahLst/>
              <a:cxnLst/>
              <a:rect l="l" t="t" r="r" b="b"/>
              <a:pathLst>
                <a:path w="4572000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762000" y="527050"/>
            <a:ext cx="8229600" cy="4737100"/>
            <a:chOff x="762000" y="527050"/>
            <a:chExt cx="8229600" cy="4737100"/>
          </a:xfrm>
        </p:grpSpPr>
        <p:sp>
          <p:nvSpPr>
            <p:cNvPr id="20" name="object 20"/>
            <p:cNvSpPr/>
            <p:nvPr/>
          </p:nvSpPr>
          <p:spPr>
            <a:xfrm>
              <a:off x="762000" y="609600"/>
              <a:ext cx="1295400" cy="0"/>
            </a:xfrm>
            <a:custGeom>
              <a:avLst/>
              <a:gdLst/>
              <a:ahLst/>
              <a:cxnLst/>
              <a:rect l="l" t="t" r="r" b="b"/>
              <a:pathLst>
                <a:path w="1295400">
                  <a:moveTo>
                    <a:pt x="0" y="0"/>
                  </a:moveTo>
                  <a:lnTo>
                    <a:pt x="1295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057400" y="609600"/>
              <a:ext cx="228600" cy="457200"/>
            </a:xfrm>
            <a:custGeom>
              <a:avLst/>
              <a:gdLst/>
              <a:ahLst/>
              <a:cxnLst/>
              <a:rect l="l" t="t" r="r" b="b"/>
              <a:pathLst>
                <a:path w="228600" h="457200">
                  <a:moveTo>
                    <a:pt x="0" y="0"/>
                  </a:moveTo>
                  <a:lnTo>
                    <a:pt x="228600" y="4572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286000" y="1066800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0" y="0"/>
                  </a:moveTo>
                  <a:lnTo>
                    <a:pt x="8382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124200" y="609600"/>
              <a:ext cx="228600" cy="457200"/>
            </a:xfrm>
            <a:custGeom>
              <a:avLst/>
              <a:gdLst/>
              <a:ahLst/>
              <a:cxnLst/>
              <a:rect l="l" t="t" r="r" b="b"/>
              <a:pathLst>
                <a:path w="228600" h="457200">
                  <a:moveTo>
                    <a:pt x="0" y="457200"/>
                  </a:moveTo>
                  <a:lnTo>
                    <a:pt x="2286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352800" y="609600"/>
              <a:ext cx="5486400" cy="0"/>
            </a:xfrm>
            <a:custGeom>
              <a:avLst/>
              <a:gdLst/>
              <a:ahLst/>
              <a:cxnLst/>
              <a:rect l="l" t="t" r="r" b="b"/>
              <a:pathLst>
                <a:path w="5486400">
                  <a:moveTo>
                    <a:pt x="0" y="0"/>
                  </a:moveTo>
                  <a:lnTo>
                    <a:pt x="5486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17850" y="831850"/>
              <a:ext cx="88900" cy="889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42250" y="527050"/>
              <a:ext cx="88900" cy="8890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762000" y="1828800"/>
              <a:ext cx="3048000" cy="0"/>
            </a:xfrm>
            <a:custGeom>
              <a:avLst/>
              <a:gdLst/>
              <a:ahLst/>
              <a:cxnLst/>
              <a:rect l="l" t="t" r="r" b="b"/>
              <a:pathLst>
                <a:path w="3048000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810000" y="1828800"/>
              <a:ext cx="304800" cy="381000"/>
            </a:xfrm>
            <a:custGeom>
              <a:avLst/>
              <a:gdLst/>
              <a:ahLst/>
              <a:cxnLst/>
              <a:rect l="l" t="t" r="r" b="b"/>
              <a:pathLst>
                <a:path w="304800" h="381000">
                  <a:moveTo>
                    <a:pt x="0" y="0"/>
                  </a:moveTo>
                  <a:lnTo>
                    <a:pt x="304800" y="381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114800" y="2209800"/>
              <a:ext cx="2514600" cy="0"/>
            </a:xfrm>
            <a:custGeom>
              <a:avLst/>
              <a:gdLst/>
              <a:ahLst/>
              <a:cxnLst/>
              <a:rect l="l" t="t" r="r" b="b"/>
              <a:pathLst>
                <a:path w="2514600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629400" y="1828800"/>
              <a:ext cx="304800" cy="381000"/>
            </a:xfrm>
            <a:custGeom>
              <a:avLst/>
              <a:gdLst/>
              <a:ahLst/>
              <a:cxnLst/>
              <a:rect l="l" t="t" r="r" b="b"/>
              <a:pathLst>
                <a:path w="304800" h="381000">
                  <a:moveTo>
                    <a:pt x="0" y="381000"/>
                  </a:moveTo>
                  <a:lnTo>
                    <a:pt x="3048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34200" y="1828800"/>
              <a:ext cx="1981200" cy="0"/>
            </a:xfrm>
            <a:custGeom>
              <a:avLst/>
              <a:gdLst/>
              <a:ahLst/>
              <a:cxnLst/>
              <a:rect l="l" t="t" r="r" b="b"/>
              <a:pathLst>
                <a:path w="1981200">
                  <a:moveTo>
                    <a:pt x="0" y="0"/>
                  </a:moveTo>
                  <a:lnTo>
                    <a:pt x="19812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108450" y="2127250"/>
              <a:ext cx="88900" cy="8890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927850" y="1822450"/>
              <a:ext cx="88900" cy="889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42250" y="1822450"/>
              <a:ext cx="88900" cy="88900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7848600" y="1905000"/>
              <a:ext cx="0" cy="1308100"/>
            </a:xfrm>
            <a:custGeom>
              <a:avLst/>
              <a:gdLst/>
              <a:ahLst/>
              <a:cxnLst/>
              <a:rect l="l" t="t" r="r" b="b"/>
              <a:pathLst>
                <a:path h="1308100">
                  <a:moveTo>
                    <a:pt x="0" y="0"/>
                  </a:moveTo>
                  <a:lnTo>
                    <a:pt x="0" y="13081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38200" y="3276600"/>
              <a:ext cx="2743200" cy="0"/>
            </a:xfrm>
            <a:custGeom>
              <a:avLst/>
              <a:gdLst/>
              <a:ahLst/>
              <a:cxnLst/>
              <a:rect l="l" t="t" r="r" b="b"/>
              <a:pathLst>
                <a:path w="2743200">
                  <a:moveTo>
                    <a:pt x="0" y="0"/>
                  </a:moveTo>
                  <a:lnTo>
                    <a:pt x="27432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581400" y="3276600"/>
              <a:ext cx="228600" cy="381000"/>
            </a:xfrm>
            <a:custGeom>
              <a:avLst/>
              <a:gdLst/>
              <a:ahLst/>
              <a:cxnLst/>
              <a:rect l="l" t="t" r="r" b="b"/>
              <a:pathLst>
                <a:path w="228600" h="381000">
                  <a:moveTo>
                    <a:pt x="0" y="0"/>
                  </a:moveTo>
                  <a:lnTo>
                    <a:pt x="228600" y="381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810000" y="3657600"/>
              <a:ext cx="3581400" cy="0"/>
            </a:xfrm>
            <a:custGeom>
              <a:avLst/>
              <a:gdLst/>
              <a:ahLst/>
              <a:cxnLst/>
              <a:rect l="l" t="t" r="r" b="b"/>
              <a:pathLst>
                <a:path w="3581400">
                  <a:moveTo>
                    <a:pt x="0" y="0"/>
                  </a:moveTo>
                  <a:lnTo>
                    <a:pt x="3581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391400" y="3352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304800"/>
                  </a:moveTo>
                  <a:lnTo>
                    <a:pt x="3048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696200" y="3352800"/>
              <a:ext cx="1219200" cy="0"/>
            </a:xfrm>
            <a:custGeom>
              <a:avLst/>
              <a:gdLst/>
              <a:ahLst/>
              <a:cxnLst/>
              <a:rect l="l" t="t" r="r" b="b"/>
              <a:pathLst>
                <a:path w="1219200">
                  <a:moveTo>
                    <a:pt x="0" y="0"/>
                  </a:moveTo>
                  <a:lnTo>
                    <a:pt x="12192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766050" y="3270250"/>
              <a:ext cx="88900" cy="8890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879850" y="3575050"/>
              <a:ext cx="88900" cy="88900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7810500" y="32004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848600" y="609600"/>
              <a:ext cx="0" cy="1219200"/>
            </a:xfrm>
            <a:custGeom>
              <a:avLst/>
              <a:gdLst/>
              <a:ahLst/>
              <a:cxnLst/>
              <a:rect l="l" t="t" r="r" b="b"/>
              <a:pathLst>
                <a:path h="1219200">
                  <a:moveTo>
                    <a:pt x="0" y="0"/>
                  </a:moveTo>
                  <a:lnTo>
                    <a:pt x="0" y="12192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914400" y="4876800"/>
              <a:ext cx="4114800" cy="0"/>
            </a:xfrm>
            <a:custGeom>
              <a:avLst/>
              <a:gdLst/>
              <a:ahLst/>
              <a:cxnLst/>
              <a:rect l="l" t="t" r="r" b="b"/>
              <a:pathLst>
                <a:path w="4114800">
                  <a:moveTo>
                    <a:pt x="0" y="0"/>
                  </a:moveTo>
                  <a:lnTo>
                    <a:pt x="41148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029200" y="4876800"/>
              <a:ext cx="304800" cy="381000"/>
            </a:xfrm>
            <a:custGeom>
              <a:avLst/>
              <a:gdLst/>
              <a:ahLst/>
              <a:cxnLst/>
              <a:rect l="l" t="t" r="r" b="b"/>
              <a:pathLst>
                <a:path w="304800" h="381000">
                  <a:moveTo>
                    <a:pt x="0" y="0"/>
                  </a:moveTo>
                  <a:lnTo>
                    <a:pt x="304800" y="381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334000" y="5257800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0" y="0"/>
                  </a:moveTo>
                  <a:lnTo>
                    <a:pt x="8382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172200" y="4876800"/>
              <a:ext cx="304800" cy="381000"/>
            </a:xfrm>
            <a:custGeom>
              <a:avLst/>
              <a:gdLst/>
              <a:ahLst/>
              <a:cxnLst/>
              <a:rect l="l" t="t" r="r" b="b"/>
              <a:pathLst>
                <a:path w="304800" h="381000">
                  <a:moveTo>
                    <a:pt x="0" y="381000"/>
                  </a:moveTo>
                  <a:lnTo>
                    <a:pt x="3048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477000" y="4876800"/>
              <a:ext cx="2514600" cy="0"/>
            </a:xfrm>
            <a:custGeom>
              <a:avLst/>
              <a:gdLst/>
              <a:ahLst/>
              <a:cxnLst/>
              <a:rect l="l" t="t" r="r" b="b"/>
              <a:pathLst>
                <a:path w="2514600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13250" y="4794250"/>
              <a:ext cx="88900" cy="8890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70650" y="4794250"/>
              <a:ext cx="88900" cy="8890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27650" y="5175250"/>
              <a:ext cx="88900" cy="88900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4122216" y="2272868"/>
              <a:ext cx="297815" cy="2527935"/>
            </a:xfrm>
            <a:custGeom>
              <a:avLst/>
              <a:gdLst/>
              <a:ahLst/>
              <a:cxnLst/>
              <a:rect l="l" t="t" r="r" b="b"/>
              <a:pathLst>
                <a:path w="297814" h="2527935">
                  <a:moveTo>
                    <a:pt x="297383" y="2527731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085868" y="2209793"/>
              <a:ext cx="76200" cy="80645"/>
            </a:xfrm>
            <a:custGeom>
              <a:avLst/>
              <a:gdLst/>
              <a:ahLst/>
              <a:cxnLst/>
              <a:rect l="l" t="t" r="r" b="b"/>
              <a:pathLst>
                <a:path w="76200" h="80644">
                  <a:moveTo>
                    <a:pt x="28930" y="0"/>
                  </a:moveTo>
                  <a:lnTo>
                    <a:pt x="0" y="80137"/>
                  </a:lnTo>
                  <a:lnTo>
                    <a:pt x="75679" y="71234"/>
                  </a:lnTo>
                  <a:lnTo>
                    <a:pt x="289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200400" y="838200"/>
              <a:ext cx="878205" cy="1243965"/>
            </a:xfrm>
            <a:custGeom>
              <a:avLst/>
              <a:gdLst/>
              <a:ahLst/>
              <a:cxnLst/>
              <a:rect l="l" t="t" r="r" b="b"/>
              <a:pathLst>
                <a:path w="878204" h="1243964">
                  <a:moveTo>
                    <a:pt x="0" y="0"/>
                  </a:moveTo>
                  <a:lnTo>
                    <a:pt x="877785" y="124352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039731" y="2049374"/>
              <a:ext cx="75565" cy="84455"/>
            </a:xfrm>
            <a:custGeom>
              <a:avLst/>
              <a:gdLst/>
              <a:ahLst/>
              <a:cxnLst/>
              <a:rect l="l" t="t" r="r" b="b"/>
              <a:pathLst>
                <a:path w="75564" h="84455">
                  <a:moveTo>
                    <a:pt x="62255" y="0"/>
                  </a:moveTo>
                  <a:lnTo>
                    <a:pt x="0" y="43942"/>
                  </a:lnTo>
                  <a:lnTo>
                    <a:pt x="75069" y="84226"/>
                  </a:lnTo>
                  <a:lnTo>
                    <a:pt x="622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200400" y="914400"/>
              <a:ext cx="670560" cy="2606040"/>
            </a:xfrm>
            <a:custGeom>
              <a:avLst/>
              <a:gdLst/>
              <a:ahLst/>
              <a:cxnLst/>
              <a:rect l="l" t="t" r="r" b="b"/>
              <a:pathLst>
                <a:path w="670560" h="2606040">
                  <a:moveTo>
                    <a:pt x="0" y="0"/>
                  </a:moveTo>
                  <a:lnTo>
                    <a:pt x="669988" y="2605506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830326" y="3498113"/>
              <a:ext cx="74295" cy="83820"/>
            </a:xfrm>
            <a:custGeom>
              <a:avLst/>
              <a:gdLst/>
              <a:ahLst/>
              <a:cxnLst/>
              <a:rect l="l" t="t" r="r" b="b"/>
              <a:pathLst>
                <a:path w="74295" h="83820">
                  <a:moveTo>
                    <a:pt x="73799" y="0"/>
                  </a:moveTo>
                  <a:lnTo>
                    <a:pt x="0" y="18973"/>
                  </a:lnTo>
                  <a:lnTo>
                    <a:pt x="55867" y="83286"/>
                  </a:lnTo>
                  <a:lnTo>
                    <a:pt x="737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553200" y="3401377"/>
              <a:ext cx="1178560" cy="1399540"/>
            </a:xfrm>
            <a:custGeom>
              <a:avLst/>
              <a:gdLst/>
              <a:ahLst/>
              <a:cxnLst/>
              <a:rect l="l" t="t" r="r" b="b"/>
              <a:pathLst>
                <a:path w="1178559" h="1399539">
                  <a:moveTo>
                    <a:pt x="0" y="1399222"/>
                  </a:moveTo>
                  <a:lnTo>
                    <a:pt x="1178293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694171" y="3352797"/>
              <a:ext cx="78740" cy="83185"/>
            </a:xfrm>
            <a:custGeom>
              <a:avLst/>
              <a:gdLst/>
              <a:ahLst/>
              <a:cxnLst/>
              <a:rect l="l" t="t" r="r" b="b"/>
              <a:pathLst>
                <a:path w="78740" h="83185">
                  <a:moveTo>
                    <a:pt x="78232" y="0"/>
                  </a:moveTo>
                  <a:lnTo>
                    <a:pt x="0" y="33743"/>
                  </a:lnTo>
                  <a:lnTo>
                    <a:pt x="58280" y="82829"/>
                  </a:lnTo>
                  <a:lnTo>
                    <a:pt x="782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410200" y="1962581"/>
              <a:ext cx="1497330" cy="3219450"/>
            </a:xfrm>
            <a:custGeom>
              <a:avLst/>
              <a:gdLst/>
              <a:ahLst/>
              <a:cxnLst/>
              <a:rect l="l" t="t" r="r" b="b"/>
              <a:pathLst>
                <a:path w="1497329" h="3219450">
                  <a:moveTo>
                    <a:pt x="0" y="3219018"/>
                  </a:moveTo>
                  <a:lnTo>
                    <a:pt x="149721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6867516" y="1904998"/>
              <a:ext cx="69215" cy="85725"/>
            </a:xfrm>
            <a:custGeom>
              <a:avLst/>
              <a:gdLst/>
              <a:ahLst/>
              <a:cxnLst/>
              <a:rect l="l" t="t" r="r" b="b"/>
              <a:pathLst>
                <a:path w="69215" h="85725">
                  <a:moveTo>
                    <a:pt x="66687" y="0"/>
                  </a:moveTo>
                  <a:lnTo>
                    <a:pt x="0" y="53022"/>
                  </a:lnTo>
                  <a:lnTo>
                    <a:pt x="69088" y="85166"/>
                  </a:lnTo>
                  <a:lnTo>
                    <a:pt x="666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231775" y="488696"/>
            <a:ext cx="3740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WR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98170" y="1723135"/>
            <a:ext cx="441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O</a:t>
            </a:r>
            <a:r>
              <a:rPr sz="1800" spc="-5" dirty="0">
                <a:latin typeface="Tahoma"/>
                <a:cs typeface="Tahoma"/>
              </a:rPr>
              <a:t>BF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49479" y="3369055"/>
            <a:ext cx="5384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INTR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202056" y="4603495"/>
            <a:ext cx="4343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A</a:t>
            </a:r>
            <a:r>
              <a:rPr sz="1800" spc="-5" dirty="0">
                <a:latin typeface="Tahoma"/>
                <a:cs typeface="Tahoma"/>
              </a:rPr>
              <a:t>CK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77012" y="6249415"/>
            <a:ext cx="6832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o</a:t>
            </a:r>
            <a:r>
              <a:rPr sz="1800" spc="-10" dirty="0">
                <a:latin typeface="Tahoma"/>
                <a:cs typeface="Tahoma"/>
              </a:rPr>
              <a:t>ut</a:t>
            </a:r>
            <a:r>
              <a:rPr sz="1800" spc="-5" dirty="0">
                <a:latin typeface="Tahoma"/>
                <a:cs typeface="Tahoma"/>
              </a:rPr>
              <a:t>p</a:t>
            </a:r>
            <a:r>
              <a:rPr sz="1800" spc="-10" dirty="0">
                <a:latin typeface="Tahoma"/>
                <a:cs typeface="Tahoma"/>
              </a:rPr>
              <a:t>ut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152400" y="533400"/>
            <a:ext cx="457200" cy="0"/>
          </a:xfrm>
          <a:custGeom>
            <a:avLst/>
            <a:gdLst/>
            <a:ahLst/>
            <a:cxnLst/>
            <a:rect l="l" t="t" r="r" b="b"/>
            <a:pathLst>
              <a:path w="457200">
                <a:moveTo>
                  <a:pt x="0" y="0"/>
                </a:moveTo>
                <a:lnTo>
                  <a:pt x="4572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52400" y="1752600"/>
            <a:ext cx="457200" cy="0"/>
          </a:xfrm>
          <a:custGeom>
            <a:avLst/>
            <a:gdLst/>
            <a:ahLst/>
            <a:cxnLst/>
            <a:rect l="l" t="t" r="r" b="b"/>
            <a:pathLst>
              <a:path w="457200">
                <a:moveTo>
                  <a:pt x="0" y="0"/>
                </a:moveTo>
                <a:lnTo>
                  <a:pt x="4572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152400" y="4648200"/>
            <a:ext cx="457200" cy="0"/>
          </a:xfrm>
          <a:custGeom>
            <a:avLst/>
            <a:gdLst/>
            <a:ahLst/>
            <a:cxnLst/>
            <a:rect l="l" t="t" r="r" b="b"/>
            <a:pathLst>
              <a:path w="457200">
                <a:moveTo>
                  <a:pt x="0" y="0"/>
                </a:moveTo>
                <a:lnTo>
                  <a:pt x="4572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C4D6B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5825" y="1843087"/>
            <a:ext cx="8255000" cy="501491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833575"/>
            <a:ext cx="895350" cy="50244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76300" y="6350"/>
            <a:ext cx="19050" cy="150336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17612" y="1833562"/>
            <a:ext cx="7923212" cy="19050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552450" y="1509712"/>
            <a:ext cx="665480" cy="666750"/>
            <a:chOff x="552450" y="1509712"/>
            <a:chExt cx="665480" cy="666750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6300" y="1509712"/>
              <a:ext cx="19050" cy="6667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2450" y="1833562"/>
              <a:ext cx="665162" cy="19050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76705" y="6251447"/>
            <a:ext cx="250697" cy="219455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755650" y="222250"/>
            <a:ext cx="1384300" cy="393700"/>
            <a:chOff x="755650" y="222250"/>
            <a:chExt cx="1384300" cy="393700"/>
          </a:xfrm>
        </p:grpSpPr>
        <p:sp>
          <p:nvSpPr>
            <p:cNvPr id="12" name="object 12"/>
            <p:cNvSpPr/>
            <p:nvPr/>
          </p:nvSpPr>
          <p:spPr>
            <a:xfrm>
              <a:off x="762000" y="228600"/>
              <a:ext cx="1371600" cy="381000"/>
            </a:xfrm>
            <a:custGeom>
              <a:avLst/>
              <a:gdLst/>
              <a:ahLst/>
              <a:cxnLst/>
              <a:rect l="l" t="t" r="r" b="b"/>
              <a:pathLst>
                <a:path w="1371600" h="381000">
                  <a:moveTo>
                    <a:pt x="1150937" y="0"/>
                  </a:moveTo>
                  <a:lnTo>
                    <a:pt x="220662" y="0"/>
                  </a:lnTo>
                  <a:lnTo>
                    <a:pt x="170066" y="5031"/>
                  </a:lnTo>
                  <a:lnTo>
                    <a:pt x="123620" y="19363"/>
                  </a:lnTo>
                  <a:lnTo>
                    <a:pt x="82649" y="41851"/>
                  </a:lnTo>
                  <a:lnTo>
                    <a:pt x="48476" y="71353"/>
                  </a:lnTo>
                  <a:lnTo>
                    <a:pt x="22428" y="106724"/>
                  </a:lnTo>
                  <a:lnTo>
                    <a:pt x="5827" y="146821"/>
                  </a:lnTo>
                  <a:lnTo>
                    <a:pt x="0" y="190500"/>
                  </a:lnTo>
                  <a:lnTo>
                    <a:pt x="5827" y="234178"/>
                  </a:lnTo>
                  <a:lnTo>
                    <a:pt x="22428" y="274275"/>
                  </a:lnTo>
                  <a:lnTo>
                    <a:pt x="48476" y="309646"/>
                  </a:lnTo>
                  <a:lnTo>
                    <a:pt x="82649" y="339148"/>
                  </a:lnTo>
                  <a:lnTo>
                    <a:pt x="123620" y="361636"/>
                  </a:lnTo>
                  <a:lnTo>
                    <a:pt x="170066" y="375968"/>
                  </a:lnTo>
                  <a:lnTo>
                    <a:pt x="220662" y="381000"/>
                  </a:lnTo>
                  <a:lnTo>
                    <a:pt x="1150937" y="381000"/>
                  </a:lnTo>
                  <a:lnTo>
                    <a:pt x="1201533" y="375968"/>
                  </a:lnTo>
                  <a:lnTo>
                    <a:pt x="1247979" y="361636"/>
                  </a:lnTo>
                  <a:lnTo>
                    <a:pt x="1288950" y="339148"/>
                  </a:lnTo>
                  <a:lnTo>
                    <a:pt x="1323123" y="309646"/>
                  </a:lnTo>
                  <a:lnTo>
                    <a:pt x="1349171" y="274275"/>
                  </a:lnTo>
                  <a:lnTo>
                    <a:pt x="1365772" y="234178"/>
                  </a:lnTo>
                  <a:lnTo>
                    <a:pt x="1371600" y="190500"/>
                  </a:lnTo>
                  <a:lnTo>
                    <a:pt x="1365772" y="146821"/>
                  </a:lnTo>
                  <a:lnTo>
                    <a:pt x="1349171" y="106724"/>
                  </a:lnTo>
                  <a:lnTo>
                    <a:pt x="1323123" y="71353"/>
                  </a:lnTo>
                  <a:lnTo>
                    <a:pt x="1288950" y="41851"/>
                  </a:lnTo>
                  <a:lnTo>
                    <a:pt x="1247979" y="19363"/>
                  </a:lnTo>
                  <a:lnTo>
                    <a:pt x="1201533" y="5031"/>
                  </a:lnTo>
                  <a:lnTo>
                    <a:pt x="1150937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62000" y="228600"/>
              <a:ext cx="1371600" cy="381000"/>
            </a:xfrm>
            <a:custGeom>
              <a:avLst/>
              <a:gdLst/>
              <a:ahLst/>
              <a:cxnLst/>
              <a:rect l="l" t="t" r="r" b="b"/>
              <a:pathLst>
                <a:path w="1371600" h="381000">
                  <a:moveTo>
                    <a:pt x="220662" y="0"/>
                  </a:moveTo>
                  <a:lnTo>
                    <a:pt x="1150937" y="0"/>
                  </a:lnTo>
                  <a:lnTo>
                    <a:pt x="1201533" y="5031"/>
                  </a:lnTo>
                  <a:lnTo>
                    <a:pt x="1247979" y="19363"/>
                  </a:lnTo>
                  <a:lnTo>
                    <a:pt x="1288950" y="41851"/>
                  </a:lnTo>
                  <a:lnTo>
                    <a:pt x="1323123" y="71353"/>
                  </a:lnTo>
                  <a:lnTo>
                    <a:pt x="1349171" y="106724"/>
                  </a:lnTo>
                  <a:lnTo>
                    <a:pt x="1365772" y="146821"/>
                  </a:lnTo>
                  <a:lnTo>
                    <a:pt x="1371600" y="190500"/>
                  </a:lnTo>
                  <a:lnTo>
                    <a:pt x="1365772" y="234178"/>
                  </a:lnTo>
                  <a:lnTo>
                    <a:pt x="1349171" y="274275"/>
                  </a:lnTo>
                  <a:lnTo>
                    <a:pt x="1323123" y="309646"/>
                  </a:lnTo>
                  <a:lnTo>
                    <a:pt x="1288950" y="339148"/>
                  </a:lnTo>
                  <a:lnTo>
                    <a:pt x="1247979" y="361636"/>
                  </a:lnTo>
                  <a:lnTo>
                    <a:pt x="1201533" y="375968"/>
                  </a:lnTo>
                  <a:lnTo>
                    <a:pt x="1150937" y="381000"/>
                  </a:lnTo>
                  <a:lnTo>
                    <a:pt x="220662" y="381000"/>
                  </a:lnTo>
                  <a:lnTo>
                    <a:pt x="170066" y="375968"/>
                  </a:lnTo>
                  <a:lnTo>
                    <a:pt x="123620" y="361636"/>
                  </a:lnTo>
                  <a:lnTo>
                    <a:pt x="82649" y="339148"/>
                  </a:lnTo>
                  <a:lnTo>
                    <a:pt x="48476" y="309646"/>
                  </a:lnTo>
                  <a:lnTo>
                    <a:pt x="22428" y="274275"/>
                  </a:lnTo>
                  <a:lnTo>
                    <a:pt x="5827" y="234178"/>
                  </a:lnTo>
                  <a:lnTo>
                    <a:pt x="0" y="190500"/>
                  </a:lnTo>
                  <a:lnTo>
                    <a:pt x="5827" y="146821"/>
                  </a:lnTo>
                  <a:lnTo>
                    <a:pt x="22428" y="106724"/>
                  </a:lnTo>
                  <a:lnTo>
                    <a:pt x="48476" y="71353"/>
                  </a:lnTo>
                  <a:lnTo>
                    <a:pt x="82649" y="41851"/>
                  </a:lnTo>
                  <a:lnTo>
                    <a:pt x="123620" y="19363"/>
                  </a:lnTo>
                  <a:lnTo>
                    <a:pt x="170066" y="5031"/>
                  </a:lnTo>
                  <a:lnTo>
                    <a:pt x="220662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120394" y="267715"/>
            <a:ext cx="6540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S</a:t>
            </a:r>
            <a:r>
              <a:rPr sz="1800" spc="-10" dirty="0">
                <a:latin typeface="Tahoma"/>
                <a:cs typeface="Tahoma"/>
              </a:rPr>
              <a:t>tatus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55650" y="1365250"/>
            <a:ext cx="1460500" cy="622300"/>
            <a:chOff x="755650" y="1365250"/>
            <a:chExt cx="1460500" cy="622300"/>
          </a:xfrm>
        </p:grpSpPr>
        <p:sp>
          <p:nvSpPr>
            <p:cNvPr id="16" name="object 16"/>
            <p:cNvSpPr/>
            <p:nvPr/>
          </p:nvSpPr>
          <p:spPr>
            <a:xfrm>
              <a:off x="762000" y="1371600"/>
              <a:ext cx="1447800" cy="609600"/>
            </a:xfrm>
            <a:custGeom>
              <a:avLst/>
              <a:gdLst/>
              <a:ahLst/>
              <a:cxnLst/>
              <a:rect l="l" t="t" r="r" b="b"/>
              <a:pathLst>
                <a:path w="1447800" h="609600">
                  <a:moveTo>
                    <a:pt x="1447800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1447800" y="609600"/>
                  </a:lnTo>
                  <a:lnTo>
                    <a:pt x="144780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62000" y="1371600"/>
              <a:ext cx="1447800" cy="609600"/>
            </a:xfrm>
            <a:custGeom>
              <a:avLst/>
              <a:gdLst/>
              <a:ahLst/>
              <a:cxnLst/>
              <a:rect l="l" t="t" r="r" b="b"/>
              <a:pathLst>
                <a:path w="1447800" h="609600">
                  <a:moveTo>
                    <a:pt x="0" y="0"/>
                  </a:moveTo>
                  <a:lnTo>
                    <a:pt x="1447800" y="0"/>
                  </a:lnTo>
                  <a:lnTo>
                    <a:pt x="14478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65175" y="1525015"/>
            <a:ext cx="14408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Initialize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-15" dirty="0">
                <a:latin typeface="Tahoma"/>
                <a:cs typeface="Tahoma"/>
              </a:rPr>
              <a:t>Ports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79450" y="2813050"/>
            <a:ext cx="1689100" cy="1003300"/>
            <a:chOff x="679450" y="2813050"/>
            <a:chExt cx="1689100" cy="1003300"/>
          </a:xfrm>
        </p:grpSpPr>
        <p:sp>
          <p:nvSpPr>
            <p:cNvPr id="20" name="object 20"/>
            <p:cNvSpPr/>
            <p:nvPr/>
          </p:nvSpPr>
          <p:spPr>
            <a:xfrm>
              <a:off x="685800" y="2819400"/>
              <a:ext cx="1676400" cy="990600"/>
            </a:xfrm>
            <a:custGeom>
              <a:avLst/>
              <a:gdLst/>
              <a:ahLst/>
              <a:cxnLst/>
              <a:rect l="l" t="t" r="r" b="b"/>
              <a:pathLst>
                <a:path w="1676400" h="990600">
                  <a:moveTo>
                    <a:pt x="16764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1676400" y="990600"/>
                  </a:lnTo>
                  <a:lnTo>
                    <a:pt x="167640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85800" y="2819400"/>
              <a:ext cx="1676400" cy="990600"/>
            </a:xfrm>
            <a:custGeom>
              <a:avLst/>
              <a:gdLst/>
              <a:ahLst/>
              <a:cxnLst/>
              <a:rect l="l" t="t" r="r" b="b"/>
              <a:pathLst>
                <a:path w="1676400" h="990600">
                  <a:moveTo>
                    <a:pt x="0" y="0"/>
                  </a:moveTo>
                  <a:lnTo>
                    <a:pt x="1676400" y="0"/>
                  </a:lnTo>
                  <a:lnTo>
                    <a:pt x="1676400" y="990600"/>
                  </a:lnTo>
                  <a:lnTo>
                    <a:pt x="0" y="9906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931322" y="3026155"/>
            <a:ext cx="11842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636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Tahoma"/>
                <a:cs typeface="Tahoma"/>
              </a:rPr>
              <a:t>Read </a:t>
            </a:r>
            <a:r>
              <a:rPr sz="1800" spc="-5" dirty="0">
                <a:latin typeface="Tahoma"/>
                <a:cs typeface="Tahoma"/>
              </a:rPr>
              <a:t>port </a:t>
            </a:r>
            <a:r>
              <a:rPr sz="1800" dirty="0">
                <a:latin typeface="Tahoma"/>
                <a:cs typeface="Tahoma"/>
              </a:rPr>
              <a:t> C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for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status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79450" y="4413250"/>
            <a:ext cx="1689100" cy="1384300"/>
            <a:chOff x="679450" y="4413250"/>
            <a:chExt cx="1689100" cy="1384300"/>
          </a:xfrm>
        </p:grpSpPr>
        <p:sp>
          <p:nvSpPr>
            <p:cNvPr id="24" name="object 24"/>
            <p:cNvSpPr/>
            <p:nvPr/>
          </p:nvSpPr>
          <p:spPr>
            <a:xfrm>
              <a:off x="685800" y="4419600"/>
              <a:ext cx="1676400" cy="1371600"/>
            </a:xfrm>
            <a:custGeom>
              <a:avLst/>
              <a:gdLst/>
              <a:ahLst/>
              <a:cxnLst/>
              <a:rect l="l" t="t" r="r" b="b"/>
              <a:pathLst>
                <a:path w="1676400" h="1371600">
                  <a:moveTo>
                    <a:pt x="838200" y="0"/>
                  </a:moveTo>
                  <a:lnTo>
                    <a:pt x="0" y="685800"/>
                  </a:lnTo>
                  <a:lnTo>
                    <a:pt x="838200" y="1371600"/>
                  </a:lnTo>
                  <a:lnTo>
                    <a:pt x="1676400" y="685800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85800" y="4419600"/>
              <a:ext cx="1676400" cy="1371600"/>
            </a:xfrm>
            <a:custGeom>
              <a:avLst/>
              <a:gdLst/>
              <a:ahLst/>
              <a:cxnLst/>
              <a:rect l="l" t="t" r="r" b="b"/>
              <a:pathLst>
                <a:path w="1676400" h="1371600">
                  <a:moveTo>
                    <a:pt x="0" y="685800"/>
                  </a:moveTo>
                  <a:lnTo>
                    <a:pt x="838200" y="0"/>
                  </a:lnTo>
                  <a:lnTo>
                    <a:pt x="1676400" y="685800"/>
                  </a:lnTo>
                  <a:lnTo>
                    <a:pt x="838200" y="1371600"/>
                  </a:lnTo>
                  <a:lnTo>
                    <a:pt x="0" y="6858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011300" y="4679695"/>
            <a:ext cx="102552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3810" algn="ctr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Tahoma"/>
                <a:cs typeface="Tahoma"/>
              </a:rPr>
              <a:t>Is 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P</a:t>
            </a:r>
            <a:r>
              <a:rPr sz="1800" spc="-5" dirty="0">
                <a:latin typeface="Tahoma"/>
                <a:cs typeface="Tahoma"/>
              </a:rPr>
              <a:t>eri</a:t>
            </a:r>
            <a:r>
              <a:rPr sz="1800" dirty="0">
                <a:latin typeface="Tahoma"/>
                <a:cs typeface="Tahoma"/>
              </a:rPr>
              <a:t>p</a:t>
            </a:r>
            <a:r>
              <a:rPr sz="1800" spc="-5" dirty="0">
                <a:latin typeface="Tahoma"/>
                <a:cs typeface="Tahoma"/>
              </a:rPr>
              <a:t>he</a:t>
            </a:r>
            <a:r>
              <a:rPr sz="1800" spc="-40" dirty="0">
                <a:latin typeface="Tahoma"/>
                <a:cs typeface="Tahoma"/>
              </a:rPr>
              <a:t>r</a:t>
            </a:r>
            <a:r>
              <a:rPr sz="1800" spc="-5" dirty="0">
                <a:latin typeface="Tahoma"/>
                <a:cs typeface="Tahoma"/>
              </a:rPr>
              <a:t>a</a:t>
            </a:r>
            <a:r>
              <a:rPr sz="1800" dirty="0">
                <a:latin typeface="Tahoma"/>
                <a:cs typeface="Tahoma"/>
              </a:rPr>
              <a:t>l  </a:t>
            </a:r>
            <a:r>
              <a:rPr sz="1800" spc="-10" dirty="0">
                <a:latin typeface="Tahoma"/>
                <a:cs typeface="Tahoma"/>
              </a:rPr>
              <a:t>Ready?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74650" y="609600"/>
            <a:ext cx="1187450" cy="6019800"/>
            <a:chOff x="374650" y="609600"/>
            <a:chExt cx="1187450" cy="6019800"/>
          </a:xfrm>
        </p:grpSpPr>
        <p:sp>
          <p:nvSpPr>
            <p:cNvPr id="28" name="object 28"/>
            <p:cNvSpPr/>
            <p:nvPr/>
          </p:nvSpPr>
          <p:spPr>
            <a:xfrm>
              <a:off x="1447800" y="609600"/>
              <a:ext cx="0" cy="774700"/>
            </a:xfrm>
            <a:custGeom>
              <a:avLst/>
              <a:gdLst/>
              <a:ahLst/>
              <a:cxnLst/>
              <a:rect l="l" t="t" r="r" b="b"/>
              <a:pathLst>
                <a:path h="774700">
                  <a:moveTo>
                    <a:pt x="0" y="0"/>
                  </a:moveTo>
                  <a:lnTo>
                    <a:pt x="0" y="7747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409700" y="13716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447800" y="1981200"/>
              <a:ext cx="0" cy="774700"/>
            </a:xfrm>
            <a:custGeom>
              <a:avLst/>
              <a:gdLst/>
              <a:ahLst/>
              <a:cxnLst/>
              <a:rect l="l" t="t" r="r" b="b"/>
              <a:pathLst>
                <a:path h="774700">
                  <a:moveTo>
                    <a:pt x="0" y="0"/>
                  </a:moveTo>
                  <a:lnTo>
                    <a:pt x="0" y="7747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409700" y="27432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524000" y="3810000"/>
              <a:ext cx="0" cy="546100"/>
            </a:xfrm>
            <a:custGeom>
              <a:avLst/>
              <a:gdLst/>
              <a:ahLst/>
              <a:cxnLst/>
              <a:rect l="l" t="t" r="r" b="b"/>
              <a:pathLst>
                <a:path h="546100">
                  <a:moveTo>
                    <a:pt x="0" y="0"/>
                  </a:moveTo>
                  <a:lnTo>
                    <a:pt x="0" y="5461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485900" y="43434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524000" y="5791200"/>
              <a:ext cx="0" cy="774700"/>
            </a:xfrm>
            <a:custGeom>
              <a:avLst/>
              <a:gdLst/>
              <a:ahLst/>
              <a:cxnLst/>
              <a:rect l="l" t="t" r="r" b="b"/>
              <a:pathLst>
                <a:path h="774700">
                  <a:moveTo>
                    <a:pt x="0" y="0"/>
                  </a:moveTo>
                  <a:lnTo>
                    <a:pt x="0" y="7747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485900" y="65532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81000" y="5105400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>
                  <a:moveTo>
                    <a:pt x="3048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81000" y="2286000"/>
              <a:ext cx="0" cy="2819400"/>
            </a:xfrm>
            <a:custGeom>
              <a:avLst/>
              <a:gdLst/>
              <a:ahLst/>
              <a:cxnLst/>
              <a:rect l="l" t="t" r="r" b="b"/>
              <a:pathLst>
                <a:path h="2819400">
                  <a:moveTo>
                    <a:pt x="0" y="28194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81000" y="2286000"/>
              <a:ext cx="1003300" cy="0"/>
            </a:xfrm>
            <a:custGeom>
              <a:avLst/>
              <a:gdLst/>
              <a:ahLst/>
              <a:cxnLst/>
              <a:rect l="l" t="t" r="r" b="b"/>
              <a:pathLst>
                <a:path w="1003300">
                  <a:moveTo>
                    <a:pt x="0" y="0"/>
                  </a:moveTo>
                  <a:lnTo>
                    <a:pt x="10033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371601" y="22478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" name="object 40"/>
          <p:cNvGrpSpPr/>
          <p:nvPr/>
        </p:nvGrpSpPr>
        <p:grpSpPr>
          <a:xfrm>
            <a:off x="5632450" y="450850"/>
            <a:ext cx="1384300" cy="393700"/>
            <a:chOff x="5632450" y="450850"/>
            <a:chExt cx="1384300" cy="393700"/>
          </a:xfrm>
        </p:grpSpPr>
        <p:sp>
          <p:nvSpPr>
            <p:cNvPr id="41" name="object 41"/>
            <p:cNvSpPr/>
            <p:nvPr/>
          </p:nvSpPr>
          <p:spPr>
            <a:xfrm>
              <a:off x="5638800" y="457200"/>
              <a:ext cx="1371600" cy="381000"/>
            </a:xfrm>
            <a:custGeom>
              <a:avLst/>
              <a:gdLst/>
              <a:ahLst/>
              <a:cxnLst/>
              <a:rect l="l" t="t" r="r" b="b"/>
              <a:pathLst>
                <a:path w="1371600" h="381000">
                  <a:moveTo>
                    <a:pt x="1150937" y="0"/>
                  </a:moveTo>
                  <a:lnTo>
                    <a:pt x="220662" y="0"/>
                  </a:lnTo>
                  <a:lnTo>
                    <a:pt x="170066" y="5031"/>
                  </a:lnTo>
                  <a:lnTo>
                    <a:pt x="123620" y="19363"/>
                  </a:lnTo>
                  <a:lnTo>
                    <a:pt x="82649" y="41851"/>
                  </a:lnTo>
                  <a:lnTo>
                    <a:pt x="48476" y="71353"/>
                  </a:lnTo>
                  <a:lnTo>
                    <a:pt x="22428" y="106724"/>
                  </a:lnTo>
                  <a:lnTo>
                    <a:pt x="5827" y="146821"/>
                  </a:lnTo>
                  <a:lnTo>
                    <a:pt x="0" y="190500"/>
                  </a:lnTo>
                  <a:lnTo>
                    <a:pt x="5827" y="234178"/>
                  </a:lnTo>
                  <a:lnTo>
                    <a:pt x="22428" y="274275"/>
                  </a:lnTo>
                  <a:lnTo>
                    <a:pt x="48476" y="309646"/>
                  </a:lnTo>
                  <a:lnTo>
                    <a:pt x="82649" y="339148"/>
                  </a:lnTo>
                  <a:lnTo>
                    <a:pt x="123620" y="361636"/>
                  </a:lnTo>
                  <a:lnTo>
                    <a:pt x="170066" y="375968"/>
                  </a:lnTo>
                  <a:lnTo>
                    <a:pt x="220662" y="381000"/>
                  </a:lnTo>
                  <a:lnTo>
                    <a:pt x="1150937" y="381000"/>
                  </a:lnTo>
                  <a:lnTo>
                    <a:pt x="1201533" y="375968"/>
                  </a:lnTo>
                  <a:lnTo>
                    <a:pt x="1247979" y="361636"/>
                  </a:lnTo>
                  <a:lnTo>
                    <a:pt x="1288950" y="339148"/>
                  </a:lnTo>
                  <a:lnTo>
                    <a:pt x="1323123" y="309646"/>
                  </a:lnTo>
                  <a:lnTo>
                    <a:pt x="1349171" y="274275"/>
                  </a:lnTo>
                  <a:lnTo>
                    <a:pt x="1365772" y="234178"/>
                  </a:lnTo>
                  <a:lnTo>
                    <a:pt x="1371600" y="190500"/>
                  </a:lnTo>
                  <a:lnTo>
                    <a:pt x="1365772" y="146821"/>
                  </a:lnTo>
                  <a:lnTo>
                    <a:pt x="1349171" y="106724"/>
                  </a:lnTo>
                  <a:lnTo>
                    <a:pt x="1323123" y="71353"/>
                  </a:lnTo>
                  <a:lnTo>
                    <a:pt x="1288950" y="41851"/>
                  </a:lnTo>
                  <a:lnTo>
                    <a:pt x="1247979" y="19363"/>
                  </a:lnTo>
                  <a:lnTo>
                    <a:pt x="1201533" y="5031"/>
                  </a:lnTo>
                  <a:lnTo>
                    <a:pt x="1150937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638800" y="457200"/>
              <a:ext cx="1371600" cy="381000"/>
            </a:xfrm>
            <a:custGeom>
              <a:avLst/>
              <a:gdLst/>
              <a:ahLst/>
              <a:cxnLst/>
              <a:rect l="l" t="t" r="r" b="b"/>
              <a:pathLst>
                <a:path w="1371600" h="381000">
                  <a:moveTo>
                    <a:pt x="220662" y="0"/>
                  </a:moveTo>
                  <a:lnTo>
                    <a:pt x="1150937" y="0"/>
                  </a:lnTo>
                  <a:lnTo>
                    <a:pt x="1201533" y="5031"/>
                  </a:lnTo>
                  <a:lnTo>
                    <a:pt x="1247979" y="19363"/>
                  </a:lnTo>
                  <a:lnTo>
                    <a:pt x="1288950" y="41851"/>
                  </a:lnTo>
                  <a:lnTo>
                    <a:pt x="1323123" y="71353"/>
                  </a:lnTo>
                  <a:lnTo>
                    <a:pt x="1349171" y="106724"/>
                  </a:lnTo>
                  <a:lnTo>
                    <a:pt x="1365772" y="146821"/>
                  </a:lnTo>
                  <a:lnTo>
                    <a:pt x="1371600" y="190500"/>
                  </a:lnTo>
                  <a:lnTo>
                    <a:pt x="1365772" y="234178"/>
                  </a:lnTo>
                  <a:lnTo>
                    <a:pt x="1349171" y="274275"/>
                  </a:lnTo>
                  <a:lnTo>
                    <a:pt x="1323123" y="309646"/>
                  </a:lnTo>
                  <a:lnTo>
                    <a:pt x="1288950" y="339148"/>
                  </a:lnTo>
                  <a:lnTo>
                    <a:pt x="1247979" y="361636"/>
                  </a:lnTo>
                  <a:lnTo>
                    <a:pt x="1201533" y="375968"/>
                  </a:lnTo>
                  <a:lnTo>
                    <a:pt x="1150937" y="381000"/>
                  </a:lnTo>
                  <a:lnTo>
                    <a:pt x="220662" y="381000"/>
                  </a:lnTo>
                  <a:lnTo>
                    <a:pt x="170066" y="375968"/>
                  </a:lnTo>
                  <a:lnTo>
                    <a:pt x="123620" y="361636"/>
                  </a:lnTo>
                  <a:lnTo>
                    <a:pt x="82649" y="339148"/>
                  </a:lnTo>
                  <a:lnTo>
                    <a:pt x="48476" y="309646"/>
                  </a:lnTo>
                  <a:lnTo>
                    <a:pt x="22428" y="274275"/>
                  </a:lnTo>
                  <a:lnTo>
                    <a:pt x="5827" y="234178"/>
                  </a:lnTo>
                  <a:lnTo>
                    <a:pt x="0" y="190500"/>
                  </a:lnTo>
                  <a:lnTo>
                    <a:pt x="5827" y="146821"/>
                  </a:lnTo>
                  <a:lnTo>
                    <a:pt x="22428" y="106724"/>
                  </a:lnTo>
                  <a:lnTo>
                    <a:pt x="48476" y="71353"/>
                  </a:lnTo>
                  <a:lnTo>
                    <a:pt x="82649" y="41851"/>
                  </a:lnTo>
                  <a:lnTo>
                    <a:pt x="123620" y="19363"/>
                  </a:lnTo>
                  <a:lnTo>
                    <a:pt x="170066" y="5031"/>
                  </a:lnTo>
                  <a:lnTo>
                    <a:pt x="220662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5860796" y="496315"/>
            <a:ext cx="92836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Tahoma"/>
                <a:cs typeface="Tahoma"/>
              </a:rPr>
              <a:t>I</a:t>
            </a:r>
            <a:r>
              <a:rPr sz="1800" spc="-10" dirty="0">
                <a:latin typeface="Tahoma"/>
                <a:cs typeface="Tahoma"/>
              </a:rPr>
              <a:t>nt</a:t>
            </a:r>
            <a:r>
              <a:rPr sz="1800" spc="-5" dirty="0">
                <a:latin typeface="Tahoma"/>
                <a:cs typeface="Tahoma"/>
              </a:rPr>
              <a:t>erru</a:t>
            </a:r>
            <a:r>
              <a:rPr sz="1800" dirty="0">
                <a:latin typeface="Tahoma"/>
                <a:cs typeface="Tahoma"/>
              </a:rPr>
              <a:t>p</a:t>
            </a:r>
            <a:r>
              <a:rPr sz="1800" spc="-5" dirty="0">
                <a:latin typeface="Tahoma"/>
                <a:cs typeface="Tahoma"/>
              </a:rPr>
              <a:t>t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5632450" y="1593850"/>
            <a:ext cx="1460500" cy="622300"/>
            <a:chOff x="5632450" y="1593850"/>
            <a:chExt cx="1460500" cy="622300"/>
          </a:xfrm>
        </p:grpSpPr>
        <p:sp>
          <p:nvSpPr>
            <p:cNvPr id="45" name="object 45"/>
            <p:cNvSpPr/>
            <p:nvPr/>
          </p:nvSpPr>
          <p:spPr>
            <a:xfrm>
              <a:off x="5638800" y="1600200"/>
              <a:ext cx="1447800" cy="609600"/>
            </a:xfrm>
            <a:custGeom>
              <a:avLst/>
              <a:gdLst/>
              <a:ahLst/>
              <a:cxnLst/>
              <a:rect l="l" t="t" r="r" b="b"/>
              <a:pathLst>
                <a:path w="1447800" h="609600">
                  <a:moveTo>
                    <a:pt x="1447800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1447800" y="609600"/>
                  </a:lnTo>
                  <a:lnTo>
                    <a:pt x="144780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638800" y="1600200"/>
              <a:ext cx="1447800" cy="609600"/>
            </a:xfrm>
            <a:custGeom>
              <a:avLst/>
              <a:gdLst/>
              <a:ahLst/>
              <a:cxnLst/>
              <a:rect l="l" t="t" r="r" b="b"/>
              <a:pathLst>
                <a:path w="1447800" h="609600">
                  <a:moveTo>
                    <a:pt x="0" y="0"/>
                  </a:moveTo>
                  <a:lnTo>
                    <a:pt x="1447800" y="0"/>
                  </a:lnTo>
                  <a:lnTo>
                    <a:pt x="14478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5641975" y="1753615"/>
            <a:ext cx="14408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Initialize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-15" dirty="0">
                <a:latin typeface="Tahoma"/>
                <a:cs typeface="Tahoma"/>
              </a:rPr>
              <a:t>Ports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5556250" y="3041650"/>
            <a:ext cx="1689100" cy="1003300"/>
            <a:chOff x="5556250" y="3041650"/>
            <a:chExt cx="1689100" cy="1003300"/>
          </a:xfrm>
        </p:grpSpPr>
        <p:sp>
          <p:nvSpPr>
            <p:cNvPr id="49" name="object 49"/>
            <p:cNvSpPr/>
            <p:nvPr/>
          </p:nvSpPr>
          <p:spPr>
            <a:xfrm>
              <a:off x="5562600" y="3048000"/>
              <a:ext cx="1676400" cy="990600"/>
            </a:xfrm>
            <a:custGeom>
              <a:avLst/>
              <a:gdLst/>
              <a:ahLst/>
              <a:cxnLst/>
              <a:rect l="l" t="t" r="r" b="b"/>
              <a:pathLst>
                <a:path w="1676400" h="990600">
                  <a:moveTo>
                    <a:pt x="16764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1676400" y="990600"/>
                  </a:lnTo>
                  <a:lnTo>
                    <a:pt x="167640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562600" y="3048000"/>
              <a:ext cx="1676400" cy="990600"/>
            </a:xfrm>
            <a:custGeom>
              <a:avLst/>
              <a:gdLst/>
              <a:ahLst/>
              <a:cxnLst/>
              <a:rect l="l" t="t" r="r" b="b"/>
              <a:pathLst>
                <a:path w="1676400" h="990600">
                  <a:moveTo>
                    <a:pt x="0" y="0"/>
                  </a:moveTo>
                  <a:lnTo>
                    <a:pt x="1676400" y="0"/>
                  </a:lnTo>
                  <a:lnTo>
                    <a:pt x="1676400" y="990600"/>
                  </a:lnTo>
                  <a:lnTo>
                    <a:pt x="0" y="9906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5764655" y="3391916"/>
            <a:ext cx="1271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Enable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INTE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5251450" y="838200"/>
            <a:ext cx="1187450" cy="3810000"/>
            <a:chOff x="5251450" y="838200"/>
            <a:chExt cx="1187450" cy="3810000"/>
          </a:xfrm>
        </p:grpSpPr>
        <p:sp>
          <p:nvSpPr>
            <p:cNvPr id="53" name="object 53"/>
            <p:cNvSpPr/>
            <p:nvPr/>
          </p:nvSpPr>
          <p:spPr>
            <a:xfrm>
              <a:off x="6324600" y="838200"/>
              <a:ext cx="0" cy="774700"/>
            </a:xfrm>
            <a:custGeom>
              <a:avLst/>
              <a:gdLst/>
              <a:ahLst/>
              <a:cxnLst/>
              <a:rect l="l" t="t" r="r" b="b"/>
              <a:pathLst>
                <a:path h="774700">
                  <a:moveTo>
                    <a:pt x="0" y="0"/>
                  </a:moveTo>
                  <a:lnTo>
                    <a:pt x="0" y="7747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286500" y="16002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324600" y="2209800"/>
              <a:ext cx="0" cy="774700"/>
            </a:xfrm>
            <a:custGeom>
              <a:avLst/>
              <a:gdLst/>
              <a:ahLst/>
              <a:cxnLst/>
              <a:rect l="l" t="t" r="r" b="b"/>
              <a:pathLst>
                <a:path h="774700">
                  <a:moveTo>
                    <a:pt x="0" y="0"/>
                  </a:moveTo>
                  <a:lnTo>
                    <a:pt x="0" y="7747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286500" y="29718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400800" y="4038600"/>
              <a:ext cx="0" cy="546100"/>
            </a:xfrm>
            <a:custGeom>
              <a:avLst/>
              <a:gdLst/>
              <a:ahLst/>
              <a:cxnLst/>
              <a:rect l="l" t="t" r="r" b="b"/>
              <a:pathLst>
                <a:path h="546100">
                  <a:moveTo>
                    <a:pt x="0" y="0"/>
                  </a:moveTo>
                  <a:lnTo>
                    <a:pt x="0" y="5461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362700" y="45720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257800" y="2514600"/>
              <a:ext cx="0" cy="1828800"/>
            </a:xfrm>
            <a:custGeom>
              <a:avLst/>
              <a:gdLst/>
              <a:ahLst/>
              <a:cxnLst/>
              <a:rect l="l" t="t" r="r" b="b"/>
              <a:pathLst>
                <a:path h="1828800">
                  <a:moveTo>
                    <a:pt x="0" y="18288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257800" y="2514600"/>
              <a:ext cx="1003300" cy="0"/>
            </a:xfrm>
            <a:custGeom>
              <a:avLst/>
              <a:gdLst/>
              <a:ahLst/>
              <a:cxnLst/>
              <a:rect l="l" t="t" r="r" b="b"/>
              <a:pathLst>
                <a:path w="1003300">
                  <a:moveTo>
                    <a:pt x="0" y="0"/>
                  </a:moveTo>
                  <a:lnTo>
                    <a:pt x="10033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6248402" y="24764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257800" y="4343400"/>
              <a:ext cx="1143000" cy="0"/>
            </a:xfrm>
            <a:custGeom>
              <a:avLst/>
              <a:gdLst/>
              <a:ahLst/>
              <a:cxnLst/>
              <a:rect l="l" t="t" r="r" b="b"/>
              <a:pathLst>
                <a:path w="1143000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572388" y="4527295"/>
            <a:ext cx="3022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No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145539" y="6280595"/>
            <a:ext cx="95250" cy="179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455117" y="6355984"/>
            <a:ext cx="917575" cy="301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C</a:t>
            </a:r>
            <a:r>
              <a:rPr sz="1800" dirty="0">
                <a:latin typeface="Tahoma"/>
                <a:cs typeface="Tahoma"/>
              </a:rPr>
              <a:t>o</a:t>
            </a:r>
            <a:r>
              <a:rPr sz="1800" spc="-10" dirty="0">
                <a:latin typeface="Tahoma"/>
                <a:cs typeface="Tahoma"/>
              </a:rPr>
              <a:t>nt</a:t>
            </a:r>
            <a:r>
              <a:rPr sz="1800" spc="-5" dirty="0">
                <a:latin typeface="Tahoma"/>
                <a:cs typeface="Tahoma"/>
              </a:rPr>
              <a:t>i</a:t>
            </a:r>
            <a:r>
              <a:rPr sz="1800" spc="-10" dirty="0">
                <a:latin typeface="Tahoma"/>
                <a:cs typeface="Tahoma"/>
              </a:rPr>
              <a:t>nue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724532" y="5760821"/>
            <a:ext cx="360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Tahoma"/>
                <a:cs typeface="Tahoma"/>
              </a:rPr>
              <a:t>y</a:t>
            </a:r>
            <a:r>
              <a:rPr sz="1800" spc="-5" dirty="0">
                <a:latin typeface="Tahoma"/>
                <a:cs typeface="Tahoma"/>
              </a:rPr>
              <a:t>es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4458589" y="4070095"/>
            <a:ext cx="3022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No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6826884" y="4222572"/>
            <a:ext cx="3663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14" dirty="0">
                <a:latin typeface="Tahoma"/>
                <a:cs typeface="Tahoma"/>
              </a:rPr>
              <a:t>Y</a:t>
            </a:r>
            <a:r>
              <a:rPr sz="1800" spc="-5" dirty="0">
                <a:latin typeface="Tahoma"/>
                <a:cs typeface="Tahoma"/>
              </a:rPr>
              <a:t>es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6093764" y="4984495"/>
            <a:ext cx="9175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C</a:t>
            </a:r>
            <a:r>
              <a:rPr sz="1800" dirty="0">
                <a:latin typeface="Tahoma"/>
                <a:cs typeface="Tahoma"/>
              </a:rPr>
              <a:t>o</a:t>
            </a:r>
            <a:r>
              <a:rPr sz="1800" spc="-10" dirty="0">
                <a:latin typeface="Tahoma"/>
                <a:cs typeface="Tahoma"/>
              </a:rPr>
              <a:t>nt</a:t>
            </a:r>
            <a:r>
              <a:rPr sz="1800" spc="-5" dirty="0">
                <a:latin typeface="Tahoma"/>
                <a:cs typeface="Tahoma"/>
              </a:rPr>
              <a:t>i</a:t>
            </a:r>
            <a:r>
              <a:rPr sz="1800" spc="-10" dirty="0">
                <a:latin typeface="Tahoma"/>
                <a:cs typeface="Tahoma"/>
              </a:rPr>
              <a:t>nue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C4D6B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833562"/>
            <a:ext cx="9140825" cy="5024437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552450" y="6350"/>
            <a:ext cx="665480" cy="2170430"/>
            <a:chOff x="552450" y="6350"/>
            <a:chExt cx="665480" cy="217043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6300" y="6350"/>
              <a:ext cx="19050" cy="150336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6300" y="1509712"/>
              <a:ext cx="19050" cy="66675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2450" y="1833562"/>
              <a:ext cx="665162" cy="19050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76705" y="6251447"/>
            <a:ext cx="250697" cy="21945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13816" y="172974"/>
            <a:ext cx="3840479" cy="896111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145539" y="334454"/>
            <a:ext cx="313817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5" dirty="0">
                <a:solidFill>
                  <a:srgbClr val="339966"/>
                </a:solidFill>
                <a:latin typeface="Tahoma"/>
                <a:cs typeface="Tahoma"/>
              </a:rPr>
              <a:t>Problem</a:t>
            </a:r>
            <a:r>
              <a:rPr b="1" spc="-85" dirty="0">
                <a:solidFill>
                  <a:srgbClr val="339966"/>
                </a:solidFill>
                <a:latin typeface="Tahoma"/>
                <a:cs typeface="Tahoma"/>
              </a:rPr>
              <a:t> </a:t>
            </a:r>
            <a:r>
              <a:rPr b="1" spc="-5" dirty="0">
                <a:solidFill>
                  <a:srgbClr val="339966"/>
                </a:solidFill>
                <a:latin typeface="Tahoma"/>
                <a:cs typeface="Tahoma"/>
              </a:rPr>
              <a:t>3)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1013459" y="1911858"/>
            <a:ext cx="7683500" cy="3310890"/>
            <a:chOff x="1013459" y="1911858"/>
            <a:chExt cx="7683500" cy="3310890"/>
          </a:xfrm>
        </p:grpSpPr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13459" y="2081021"/>
              <a:ext cx="499872" cy="40386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80922" y="1911858"/>
              <a:ext cx="7415783" cy="57911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80922" y="2338577"/>
              <a:ext cx="7255763" cy="57911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80159" y="2765298"/>
              <a:ext cx="1216151" cy="57911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13459" y="3446525"/>
              <a:ext cx="499872" cy="40386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80159" y="3277361"/>
              <a:ext cx="3530345" cy="57988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338827" y="3277361"/>
              <a:ext cx="601979" cy="57988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468367" y="3277361"/>
              <a:ext cx="784859" cy="57988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780788" y="3277361"/>
              <a:ext cx="601979" cy="57988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911089" y="3277361"/>
              <a:ext cx="2724911" cy="57988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280922" y="3704081"/>
              <a:ext cx="6979919" cy="57988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270254" y="4216145"/>
              <a:ext cx="7283195" cy="579881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280159" y="4642865"/>
              <a:ext cx="3268217" cy="579882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1145539" y="2011933"/>
            <a:ext cx="7198359" cy="3183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009900"/>
              </a:buClr>
              <a:buSzPct val="69642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>
                <a:latin typeface="Tahoma"/>
                <a:cs typeface="Tahoma"/>
              </a:rPr>
              <a:t>Initialize </a:t>
            </a:r>
            <a:r>
              <a:rPr sz="2800" dirty="0">
                <a:latin typeface="Tahoma"/>
                <a:cs typeface="Tahoma"/>
              </a:rPr>
              <a:t>8255A in </a:t>
            </a:r>
            <a:r>
              <a:rPr sz="2800" spc="-5" dirty="0">
                <a:latin typeface="Tahoma"/>
                <a:cs typeface="Tahoma"/>
              </a:rPr>
              <a:t>mode </a:t>
            </a:r>
            <a:r>
              <a:rPr sz="2800" dirty="0">
                <a:latin typeface="Tahoma"/>
                <a:cs typeface="Tahoma"/>
              </a:rPr>
              <a:t>1 to </a:t>
            </a:r>
            <a:r>
              <a:rPr sz="2800" spc="-5" dirty="0">
                <a:latin typeface="Tahoma"/>
                <a:cs typeface="Tahoma"/>
              </a:rPr>
              <a:t>configure Port </a:t>
            </a:r>
            <a:r>
              <a:rPr sz="2800" spc="-8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</a:t>
            </a:r>
            <a:r>
              <a:rPr sz="2800" spc="-2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as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an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input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port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and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Port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B</a:t>
            </a:r>
            <a:r>
              <a:rPr sz="2800" spc="-1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as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an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output 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port.</a:t>
            </a:r>
            <a:endParaRPr sz="2800">
              <a:latin typeface="Tahoma"/>
              <a:cs typeface="Tahoma"/>
            </a:endParaRPr>
          </a:p>
          <a:p>
            <a:pPr marL="354965" marR="327660" indent="-342900">
              <a:lnSpc>
                <a:spcPct val="100000"/>
              </a:lnSpc>
              <a:spcBef>
                <a:spcPts val="675"/>
              </a:spcBef>
              <a:buClr>
                <a:srgbClr val="009900"/>
              </a:buClr>
              <a:buSzPct val="69642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>
                <a:latin typeface="Tahoma"/>
                <a:cs typeface="Tahoma"/>
              </a:rPr>
              <a:t>Assuming that </a:t>
            </a:r>
            <a:r>
              <a:rPr sz="2800" dirty="0">
                <a:latin typeface="Tahoma"/>
                <a:cs typeface="Tahoma"/>
              </a:rPr>
              <a:t>an A-to-d </a:t>
            </a:r>
            <a:r>
              <a:rPr sz="2800" spc="-5" dirty="0">
                <a:latin typeface="Tahoma"/>
                <a:cs typeface="Tahoma"/>
              </a:rPr>
              <a:t>converter </a:t>
            </a:r>
            <a:r>
              <a:rPr sz="2800" dirty="0">
                <a:latin typeface="Tahoma"/>
                <a:cs typeface="Tahoma"/>
              </a:rPr>
              <a:t>is 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connected</a:t>
            </a:r>
            <a:r>
              <a:rPr sz="2800" spc="-1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with</a:t>
            </a:r>
            <a:r>
              <a:rPr sz="2800" spc="-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port</a:t>
            </a:r>
            <a:r>
              <a:rPr sz="2800" dirty="0">
                <a:latin typeface="Tahoma"/>
                <a:cs typeface="Tahoma"/>
              </a:rPr>
              <a:t> A</a:t>
            </a:r>
            <a:r>
              <a:rPr sz="2800" spc="-1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as an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interrupt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I/O</a:t>
            </a:r>
            <a:endParaRPr sz="2800">
              <a:latin typeface="Tahoma"/>
              <a:cs typeface="Tahoma"/>
            </a:endParaRPr>
          </a:p>
          <a:p>
            <a:pPr marL="354965" marR="146050" indent="-10160">
              <a:lnSpc>
                <a:spcPct val="100000"/>
              </a:lnSpc>
              <a:spcBef>
                <a:spcPts val="670"/>
              </a:spcBef>
            </a:pPr>
            <a:r>
              <a:rPr sz="2800" spc="-5" dirty="0">
                <a:latin typeface="Tahoma"/>
                <a:cs typeface="Tahoma"/>
              </a:rPr>
              <a:t>and</a:t>
            </a:r>
            <a:r>
              <a:rPr sz="2800" dirty="0">
                <a:latin typeface="Tahoma"/>
                <a:cs typeface="Tahoma"/>
              </a:rPr>
              <a:t> a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printer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is</a:t>
            </a:r>
            <a:r>
              <a:rPr sz="2800" spc="-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connected</a:t>
            </a:r>
            <a:r>
              <a:rPr sz="2800" dirty="0">
                <a:latin typeface="Tahoma"/>
                <a:cs typeface="Tahoma"/>
              </a:rPr>
              <a:t> with</a:t>
            </a:r>
            <a:r>
              <a:rPr sz="2800" spc="-1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port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B</a:t>
            </a:r>
            <a:r>
              <a:rPr sz="2800" spc="-1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as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 </a:t>
            </a:r>
            <a:r>
              <a:rPr sz="2800" spc="-86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status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check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I/O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45539" y="6280595"/>
            <a:ext cx="95250" cy="179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412" y="762000"/>
            <a:ext cx="6553187" cy="588486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85149" y="159004"/>
            <a:ext cx="486664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8086</a:t>
            </a:r>
            <a:r>
              <a:rPr sz="3200" b="1" u="heavy" spc="-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MICROPROCESSOR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673" y="0"/>
            <a:ext cx="170370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Pinouts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2625" y="25"/>
            <a:ext cx="7391374" cy="685797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470773" y="6567392"/>
            <a:ext cx="476884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70"/>
              </a:lnSpc>
            </a:pPr>
            <a:r>
              <a:rPr sz="1600" b="1" spc="-5" dirty="0">
                <a:latin typeface="Arial"/>
                <a:cs typeface="Arial"/>
              </a:rPr>
              <a:t>I-46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7470773" y="6567392"/>
            <a:ext cx="476884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70"/>
              </a:lnSpc>
            </a:pPr>
            <a:r>
              <a:rPr sz="1600" b="1" spc="-5" dirty="0">
                <a:latin typeface="Arial"/>
                <a:cs typeface="Arial"/>
              </a:rPr>
              <a:t>I-47</a:t>
            </a:r>
            <a:endParaRPr sz="16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20274" y="176783"/>
            <a:ext cx="163957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/>
              <a:t>8086</a:t>
            </a:r>
            <a:r>
              <a:rPr sz="3200" spc="-90" dirty="0"/>
              <a:t> </a:t>
            </a:r>
            <a:r>
              <a:rPr sz="3200" spc="-5" dirty="0"/>
              <a:t>Pins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558800" y="644334"/>
            <a:ext cx="8484235" cy="474408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13080">
              <a:lnSpc>
                <a:spcPts val="1939"/>
              </a:lnSpc>
              <a:spcBef>
                <a:spcPts val="345"/>
              </a:spcBef>
              <a:tabLst>
                <a:tab pos="4265930" algn="l"/>
              </a:tabLst>
            </a:pP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8086 comes in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40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pin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package which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means that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some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pins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have 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more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than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one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use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or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are</a:t>
            </a:r>
            <a:r>
              <a:rPr sz="1800" b="1" u="heavy" spc="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multiplexed</a:t>
            </a:r>
            <a:r>
              <a:rPr sz="1800" b="1" spc="-5" dirty="0">
                <a:latin typeface="Arial"/>
                <a:cs typeface="Arial"/>
              </a:rPr>
              <a:t>.	The packaging technology of time </a:t>
            </a:r>
            <a:r>
              <a:rPr sz="1800" b="1" spc="-484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limited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number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of pin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that could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be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used.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Arial"/>
              <a:cs typeface="Arial"/>
            </a:endParaRPr>
          </a:p>
          <a:p>
            <a:pPr marL="12700" marR="563880">
              <a:lnSpc>
                <a:spcPts val="1939"/>
              </a:lnSpc>
              <a:spcBef>
                <a:spcPts val="5"/>
              </a:spcBef>
              <a:tabLst>
                <a:tab pos="5893435" algn="l"/>
              </a:tabLst>
            </a:pPr>
            <a:r>
              <a:rPr sz="1800" b="1" spc="-5" dirty="0">
                <a:latin typeface="Arial"/>
                <a:cs typeface="Arial"/>
              </a:rPr>
              <a:t>In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15" dirty="0">
                <a:latin typeface="Arial"/>
                <a:cs typeface="Arial"/>
              </a:rPr>
              <a:t>particular,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address lines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0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-</a:t>
            </a:r>
            <a:r>
              <a:rPr sz="1800" b="1" spc="-5" dirty="0">
                <a:latin typeface="Arial"/>
                <a:cs typeface="Arial"/>
              </a:rPr>
              <a:t> 15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are multiplexed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with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data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lines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0-15, </a:t>
            </a:r>
            <a:r>
              <a:rPr sz="1800" b="1" spc="-484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address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lines</a:t>
            </a:r>
            <a:r>
              <a:rPr sz="1800" b="1" spc="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16-19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are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multiplexed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with</a:t>
            </a:r>
            <a:r>
              <a:rPr sz="1800" b="1" spc="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status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lines.	These pins are</a:t>
            </a:r>
            <a:endParaRPr sz="1800">
              <a:latin typeface="Arial"/>
              <a:cs typeface="Arial"/>
            </a:endParaRPr>
          </a:p>
          <a:p>
            <a:pPr marL="1841500">
              <a:lnSpc>
                <a:spcPct val="100000"/>
              </a:lnSpc>
              <a:spcBef>
                <a:spcPts val="1700"/>
              </a:spcBef>
            </a:pPr>
            <a:r>
              <a:rPr sz="1800" b="1" spc="-5" dirty="0">
                <a:latin typeface="Arial"/>
                <a:cs typeface="Arial"/>
              </a:rPr>
              <a:t>AD0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-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AD15,</a:t>
            </a:r>
            <a:r>
              <a:rPr sz="1800" b="1" spc="4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A16/S3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-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A19/S6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Arial"/>
              <a:cs typeface="Arial"/>
            </a:endParaRPr>
          </a:p>
          <a:p>
            <a:pPr marL="12700" marR="945515">
              <a:lnSpc>
                <a:spcPts val="1939"/>
              </a:lnSpc>
              <a:spcBef>
                <a:spcPts val="1620"/>
              </a:spcBef>
              <a:tabLst>
                <a:tab pos="3796665" algn="l"/>
              </a:tabLst>
            </a:pPr>
            <a:r>
              <a:rPr sz="1800" b="1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</a:t>
            </a:r>
            <a:r>
              <a:rPr sz="1800" b="1" i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8086 has</a:t>
            </a:r>
            <a:r>
              <a:rPr sz="1800" b="1" i="1" u="heavy" spc="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one</a:t>
            </a:r>
            <a:r>
              <a:rPr sz="1800" b="1" i="1" u="heavy" spc="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other</a:t>
            </a:r>
            <a:r>
              <a:rPr sz="1800" b="1" i="1" u="heavy" spc="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pin</a:t>
            </a:r>
            <a:r>
              <a:rPr sz="1800" b="1" i="1" u="heavy" spc="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that</a:t>
            </a:r>
            <a:r>
              <a:rPr sz="1800" b="1" i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is</a:t>
            </a:r>
            <a:r>
              <a:rPr sz="1800" b="1" i="1" u="heavy" spc="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multiplexed</a:t>
            </a:r>
            <a:r>
              <a:rPr sz="1800" b="1" i="1" u="heavy" spc="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and this</a:t>
            </a:r>
            <a:r>
              <a:rPr sz="1800" b="1" i="1" u="heavy" spc="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is</a:t>
            </a:r>
            <a:r>
              <a:rPr sz="1800" b="1" i="1" u="heavy" spc="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BHE’/S7. </a:t>
            </a:r>
            <a:r>
              <a:rPr sz="1800" b="1" i="1" dirty="0">
                <a:latin typeface="Arial"/>
                <a:cs typeface="Arial"/>
              </a:rPr>
              <a:t> </a:t>
            </a:r>
            <a:r>
              <a:rPr sz="1800" b="1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BHE</a:t>
            </a:r>
            <a:r>
              <a:rPr sz="1800" b="1" i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stands</a:t>
            </a:r>
            <a:r>
              <a:rPr sz="1800" b="1" i="1" u="heavy" spc="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for</a:t>
            </a:r>
            <a:r>
              <a:rPr sz="1800" b="1" i="1" u="heavy" spc="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Byte</a:t>
            </a:r>
            <a:r>
              <a:rPr sz="1800" b="1" i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High</a:t>
            </a:r>
            <a:r>
              <a:rPr sz="1800" b="1" i="1" u="heavy" spc="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Enable.	This</a:t>
            </a:r>
            <a:r>
              <a:rPr sz="1800" b="1" i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is</a:t>
            </a:r>
            <a:r>
              <a:rPr sz="1800" b="1" i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an</a:t>
            </a:r>
            <a:r>
              <a:rPr sz="1800" b="1" i="1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active</a:t>
            </a:r>
            <a:r>
              <a:rPr sz="1800" b="1" i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low signal that is </a:t>
            </a:r>
            <a:r>
              <a:rPr sz="1800" b="1" i="1" dirty="0">
                <a:latin typeface="Arial"/>
                <a:cs typeface="Arial"/>
              </a:rPr>
              <a:t> </a:t>
            </a:r>
            <a:r>
              <a:rPr sz="1800" b="1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asserted</a:t>
            </a:r>
            <a:r>
              <a:rPr sz="1800" b="1" i="1" u="heavy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when</a:t>
            </a:r>
            <a:r>
              <a:rPr sz="1800" b="1" i="1" u="heavy" spc="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there</a:t>
            </a:r>
            <a:r>
              <a:rPr sz="1800" b="1" i="1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is</a:t>
            </a:r>
            <a:r>
              <a:rPr sz="1800" b="1" i="1" u="heavy" spc="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data</a:t>
            </a:r>
            <a:r>
              <a:rPr sz="1800" b="1" i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on</a:t>
            </a:r>
            <a:r>
              <a:rPr sz="1800" b="1" i="1" u="heavy" spc="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</a:t>
            </a:r>
            <a:r>
              <a:rPr sz="1800" b="1" i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upper</a:t>
            </a:r>
            <a:r>
              <a:rPr sz="1800" b="1" i="1" u="heavy" spc="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half of</a:t>
            </a:r>
            <a:r>
              <a:rPr sz="1800" b="1" i="1" u="heavy" spc="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</a:t>
            </a:r>
            <a:r>
              <a:rPr sz="1800" b="1" i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data</a:t>
            </a:r>
            <a:r>
              <a:rPr sz="1800" b="1" i="1" u="heavy" spc="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bus.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Arial"/>
              <a:cs typeface="Arial"/>
            </a:endParaRPr>
          </a:p>
          <a:p>
            <a:pPr marL="12700" marR="5080">
              <a:lnSpc>
                <a:spcPts val="1939"/>
              </a:lnSpc>
              <a:spcBef>
                <a:spcPts val="5"/>
              </a:spcBef>
              <a:tabLst>
                <a:tab pos="926465" algn="l"/>
                <a:tab pos="5384800" algn="l"/>
                <a:tab pos="8089900" algn="l"/>
              </a:tabLst>
            </a:pP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8086 has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two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modes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of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operation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that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changes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function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of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some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pins. </a:t>
            </a:r>
            <a:r>
              <a:rPr sz="1800" b="1" spc="-484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SDK-86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uses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8086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in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minimum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mode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with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MN/MX’</a:t>
            </a:r>
            <a:r>
              <a:rPr sz="1800" b="1" spc="-9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pin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tied	</a:t>
            </a:r>
            <a:r>
              <a:rPr sz="1800" b="1" dirty="0">
                <a:latin typeface="Arial"/>
                <a:cs typeface="Arial"/>
              </a:rPr>
              <a:t>to 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5 volts.	This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is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simple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single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processor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mode.	The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IBM PC uses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an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8088</a:t>
            </a:r>
            <a:endParaRPr sz="1800">
              <a:latin typeface="Arial"/>
              <a:cs typeface="Arial"/>
            </a:endParaRPr>
          </a:p>
          <a:p>
            <a:pPr marL="12700" marR="182245">
              <a:lnSpc>
                <a:spcPts val="1939"/>
              </a:lnSpc>
              <a:spcBef>
                <a:spcPts val="10"/>
              </a:spcBef>
              <a:tabLst>
                <a:tab pos="6489700" algn="l"/>
              </a:tabLst>
            </a:pPr>
            <a:r>
              <a:rPr sz="1800" b="1" spc="-5" dirty="0">
                <a:latin typeface="Arial"/>
                <a:cs typeface="Arial"/>
              </a:rPr>
              <a:t>in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maximum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mode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with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MN/MX”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pin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tied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to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ground.	This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is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mode </a:t>
            </a:r>
            <a:r>
              <a:rPr sz="1800" b="1" spc="-484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required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for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coprocessor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like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8087.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/>
          <p:cNvSpPr txBox="1"/>
          <p:nvPr/>
        </p:nvSpPr>
        <p:spPr>
          <a:xfrm>
            <a:off x="7470773" y="6567392"/>
            <a:ext cx="476884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70"/>
              </a:lnSpc>
            </a:pPr>
            <a:r>
              <a:rPr sz="1600" b="1" spc="-5" dirty="0">
                <a:latin typeface="Arial"/>
                <a:cs typeface="Arial"/>
              </a:rPr>
              <a:t>I-48</a:t>
            </a:r>
            <a:endParaRPr sz="16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738" y="171450"/>
            <a:ext cx="224663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8086</a:t>
            </a:r>
            <a:r>
              <a:rPr spc="-85" dirty="0"/>
              <a:t> </a:t>
            </a:r>
            <a:r>
              <a:rPr spc="-5" dirty="0"/>
              <a:t>Pins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3550" y="758634"/>
            <a:ext cx="5893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In the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minimum</a:t>
            </a:r>
            <a:r>
              <a:rPr sz="1800" b="1" u="heavy" spc="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mode</a:t>
            </a:r>
            <a:r>
              <a:rPr sz="1800" b="1" spc="-5" dirty="0">
                <a:latin typeface="Arial"/>
                <a:cs typeface="Arial"/>
              </a:rPr>
              <a:t> the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following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pins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are available.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3473" y="1252410"/>
            <a:ext cx="673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H</a:t>
            </a:r>
            <a:r>
              <a:rPr sz="1800" b="1" spc="-10" dirty="0">
                <a:latin typeface="Arial"/>
                <a:cs typeface="Arial"/>
              </a:rPr>
              <a:t>OLD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77873" y="1252410"/>
            <a:ext cx="7112000" cy="54673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>
              <a:lnSpc>
                <a:spcPts val="1939"/>
              </a:lnSpc>
              <a:spcBef>
                <a:spcPts val="345"/>
              </a:spcBef>
            </a:pPr>
            <a:r>
              <a:rPr sz="1800" b="1" spc="-5" dirty="0">
                <a:latin typeface="Arial"/>
                <a:cs typeface="Arial"/>
              </a:rPr>
              <a:t>When this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pin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is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high,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another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master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is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requesting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control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of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 </a:t>
            </a:r>
            <a:r>
              <a:rPr sz="1800" b="1" spc="-484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local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bus,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e.g.,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DMA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spc="-15" dirty="0">
                <a:latin typeface="Arial"/>
                <a:cs typeface="Arial"/>
              </a:rPr>
              <a:t>controller.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3473" y="1993074"/>
            <a:ext cx="661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H</a:t>
            </a:r>
            <a:r>
              <a:rPr sz="1800" b="1" spc="-10" dirty="0">
                <a:latin typeface="Arial"/>
                <a:cs typeface="Arial"/>
              </a:rPr>
              <a:t>L</a:t>
            </a:r>
            <a:r>
              <a:rPr sz="1800" b="1" spc="-5" dirty="0">
                <a:latin typeface="Arial"/>
                <a:cs typeface="Arial"/>
              </a:rPr>
              <a:t>DA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77873" y="1993074"/>
            <a:ext cx="6557009" cy="54673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>
              <a:lnSpc>
                <a:spcPts val="1939"/>
              </a:lnSpc>
              <a:spcBef>
                <a:spcPts val="345"/>
              </a:spcBef>
            </a:pPr>
            <a:r>
              <a:rPr sz="1800" b="1" spc="-5" dirty="0">
                <a:latin typeface="Arial"/>
                <a:cs typeface="Arial"/>
              </a:rPr>
              <a:t>HOLD Acknowledge: the 8086 signals that it is going </a:t>
            </a:r>
            <a:r>
              <a:rPr sz="1800" b="1" dirty="0">
                <a:latin typeface="Arial"/>
                <a:cs typeface="Arial"/>
              </a:rPr>
              <a:t>to </a:t>
            </a:r>
            <a:r>
              <a:rPr sz="1800" b="1" spc="-5" dirty="0">
                <a:latin typeface="Arial"/>
                <a:cs typeface="Arial"/>
              </a:rPr>
              <a:t>float </a:t>
            </a:r>
            <a:r>
              <a:rPr sz="1800" b="1" spc="-49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local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bus.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3473" y="2733738"/>
            <a:ext cx="469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WR</a:t>
            </a:r>
            <a:r>
              <a:rPr sz="1800" b="1" dirty="0">
                <a:latin typeface="Arial"/>
                <a:cs typeface="Arial"/>
              </a:rPr>
              <a:t>’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77873" y="2733738"/>
            <a:ext cx="73367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Write:</a:t>
            </a:r>
            <a:r>
              <a:rPr sz="1800" b="1" spc="-5" dirty="0">
                <a:latin typeface="Arial"/>
                <a:cs typeface="Arial"/>
              </a:rPr>
              <a:t> the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processor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is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performing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write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memory or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I/O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operation.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3473" y="3227514"/>
            <a:ext cx="5835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M</a:t>
            </a:r>
            <a:r>
              <a:rPr sz="1800" b="1" spc="-5" dirty="0">
                <a:latin typeface="Arial"/>
                <a:cs typeface="Arial"/>
              </a:rPr>
              <a:t>/IO’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77873" y="3227514"/>
            <a:ext cx="27298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Memory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or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I/O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operation.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3473" y="3721290"/>
            <a:ext cx="622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D</a:t>
            </a:r>
            <a:r>
              <a:rPr sz="1800" b="1" spc="-10" dirty="0">
                <a:latin typeface="Arial"/>
                <a:cs typeface="Arial"/>
              </a:rPr>
              <a:t>T/</a:t>
            </a:r>
            <a:r>
              <a:rPr sz="1800" b="1" spc="-5" dirty="0">
                <a:latin typeface="Arial"/>
                <a:cs typeface="Arial"/>
              </a:rPr>
              <a:t>R</a:t>
            </a:r>
            <a:r>
              <a:rPr sz="1800" b="1" dirty="0">
                <a:latin typeface="Arial"/>
                <a:cs typeface="Arial"/>
              </a:rPr>
              <a:t>’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77873" y="3721290"/>
            <a:ext cx="2820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Data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15" dirty="0">
                <a:latin typeface="Arial"/>
                <a:cs typeface="Arial"/>
              </a:rPr>
              <a:t>Transmit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or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Receive.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63473" y="4215066"/>
            <a:ext cx="5727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DEN’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40281" y="4215066"/>
            <a:ext cx="6351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Data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Enable: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data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is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on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multiplexed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address/data pins.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63473" y="4708842"/>
            <a:ext cx="8357870" cy="793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50"/>
              </a:lnSpc>
              <a:spcBef>
                <a:spcPts val="100"/>
              </a:spcBef>
              <a:tabLst>
                <a:tab pos="926465" algn="l"/>
              </a:tabLst>
            </a:pPr>
            <a:r>
              <a:rPr sz="1800" b="1" spc="-5" dirty="0">
                <a:latin typeface="Arial"/>
                <a:cs typeface="Arial"/>
              </a:rPr>
              <a:t>ALE	Address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Latch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Enable: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address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is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on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address/data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pins.</a:t>
            </a:r>
            <a:endParaRPr sz="1800">
              <a:latin typeface="Arial"/>
              <a:cs typeface="Arial"/>
            </a:endParaRPr>
          </a:p>
          <a:p>
            <a:pPr marL="927100" marR="5080">
              <a:lnSpc>
                <a:spcPts val="1939"/>
              </a:lnSpc>
              <a:spcBef>
                <a:spcPts val="140"/>
              </a:spcBef>
            </a:pPr>
            <a:r>
              <a:rPr sz="1800" b="1" spc="-5" dirty="0">
                <a:latin typeface="Arial"/>
                <a:cs typeface="Arial"/>
              </a:rPr>
              <a:t>This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signal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is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used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to </a:t>
            </a:r>
            <a:r>
              <a:rPr sz="1800" b="1" spc="-5" dirty="0">
                <a:latin typeface="Arial"/>
                <a:cs typeface="Arial"/>
              </a:rPr>
              <a:t>capture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address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in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latches </a:t>
            </a:r>
            <a:r>
              <a:rPr sz="1800" b="1" dirty="0">
                <a:latin typeface="Arial"/>
                <a:cs typeface="Arial"/>
              </a:rPr>
              <a:t>to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establish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 </a:t>
            </a:r>
            <a:r>
              <a:rPr sz="1800" b="1" spc="-484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address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bus.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63473" y="5696394"/>
            <a:ext cx="5930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IN</a:t>
            </a:r>
            <a:r>
              <a:rPr sz="1800" b="1" spc="-140" dirty="0">
                <a:latin typeface="Arial"/>
                <a:cs typeface="Arial"/>
              </a:rPr>
              <a:t>T</a:t>
            </a:r>
            <a:r>
              <a:rPr sz="1800" b="1" spc="-105" dirty="0">
                <a:latin typeface="Arial"/>
                <a:cs typeface="Arial"/>
              </a:rPr>
              <a:t>A</a:t>
            </a:r>
            <a:r>
              <a:rPr sz="1800" b="1" dirty="0">
                <a:latin typeface="Arial"/>
                <a:cs typeface="Arial"/>
              </a:rPr>
              <a:t>’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77873" y="5696394"/>
            <a:ext cx="7253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53665" algn="l"/>
              </a:tabLst>
            </a:pPr>
            <a:r>
              <a:rPr sz="1800" b="1" spc="-5" dirty="0">
                <a:latin typeface="Arial"/>
                <a:cs typeface="Arial"/>
              </a:rPr>
              <a:t>Interrupt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acknowledge:	acknowledges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external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interrupt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requests.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/>
          <p:nvPr/>
        </p:nvSpPr>
        <p:spPr>
          <a:xfrm>
            <a:off x="7470773" y="6567392"/>
            <a:ext cx="476884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70"/>
              </a:lnSpc>
            </a:pPr>
            <a:r>
              <a:rPr sz="1600" b="1" spc="-5" dirty="0">
                <a:latin typeface="Arial"/>
                <a:cs typeface="Arial"/>
              </a:rPr>
              <a:t>I-49</a:t>
            </a:r>
            <a:endParaRPr sz="16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9849" y="171450"/>
            <a:ext cx="224726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8086</a:t>
            </a:r>
            <a:r>
              <a:rPr spc="-80" dirty="0"/>
              <a:t> </a:t>
            </a:r>
            <a:r>
              <a:rPr spc="-5" dirty="0"/>
              <a:t>Pins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0700" y="701484"/>
            <a:ext cx="8243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following</a:t>
            </a:r>
            <a:r>
              <a:rPr sz="1800" b="1" spc="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are pins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are available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in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both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minimum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and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maximum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modes.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0700" y="1195260"/>
            <a:ext cx="8279765" cy="20281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r>
              <a:rPr sz="1800" b="1" spc="-5" dirty="0">
                <a:latin typeface="Arial"/>
                <a:cs typeface="Arial"/>
              </a:rPr>
              <a:t>VCC	</a:t>
            </a:r>
            <a:r>
              <a:rPr sz="1800" b="1" dirty="0">
                <a:latin typeface="Arial"/>
                <a:cs typeface="Arial"/>
              </a:rPr>
              <a:t>+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5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volt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power supply pin.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25"/>
              </a:spcBef>
              <a:tabLst>
                <a:tab pos="926465" algn="l"/>
              </a:tabLst>
            </a:pPr>
            <a:r>
              <a:rPr sz="1800" b="1" spc="-5" dirty="0">
                <a:latin typeface="Arial"/>
                <a:cs typeface="Arial"/>
              </a:rPr>
              <a:t>GND	Ground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30"/>
              </a:spcBef>
              <a:tabLst>
                <a:tab pos="926465" algn="l"/>
              </a:tabLst>
            </a:pPr>
            <a:r>
              <a:rPr sz="1800" b="1" spc="-5" dirty="0">
                <a:latin typeface="Arial"/>
                <a:cs typeface="Arial"/>
              </a:rPr>
              <a:t>RD’	READ: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processor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is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performing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read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memory or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I/O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operation.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00">
              <a:latin typeface="Arial"/>
              <a:cs typeface="Arial"/>
            </a:endParaRPr>
          </a:p>
          <a:p>
            <a:pPr marL="926465" marR="271780" indent="-914400">
              <a:lnSpc>
                <a:spcPts val="1939"/>
              </a:lnSpc>
            </a:pPr>
            <a:r>
              <a:rPr sz="1800" b="1" spc="-5" dirty="0">
                <a:latin typeface="Arial"/>
                <a:cs typeface="Arial"/>
              </a:rPr>
              <a:t>READY</a:t>
            </a:r>
            <a:r>
              <a:rPr sz="1800" b="1" spc="40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Acknowledgement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from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wait-state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logic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that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data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transfer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will </a:t>
            </a:r>
            <a:r>
              <a:rPr sz="1800" b="1" spc="-484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be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completed.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0700" y="3417252"/>
            <a:ext cx="788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RESET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35100" y="3417252"/>
            <a:ext cx="7326630" cy="79375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>
              <a:lnSpc>
                <a:spcPts val="1939"/>
              </a:lnSpc>
              <a:spcBef>
                <a:spcPts val="345"/>
              </a:spcBef>
              <a:tabLst>
                <a:tab pos="1472565" algn="l"/>
                <a:tab pos="5904230" algn="l"/>
              </a:tabLst>
            </a:pPr>
            <a:r>
              <a:rPr sz="1800" b="1" spc="-5" dirty="0">
                <a:latin typeface="Arial"/>
                <a:cs typeface="Arial"/>
              </a:rPr>
              <a:t>Stops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processor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and</a:t>
            </a:r>
            <a:r>
              <a:rPr sz="1800" b="1" spc="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restarts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execution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from</a:t>
            </a:r>
            <a:r>
              <a:rPr sz="1800" b="1" spc="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FFFF:0.	Must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be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high </a:t>
            </a:r>
            <a:r>
              <a:rPr sz="1800" b="1" spc="-484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for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4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clocks.	CS </a:t>
            </a:r>
            <a:r>
              <a:rPr sz="1800" b="1" dirty="0">
                <a:latin typeface="Arial"/>
                <a:cs typeface="Arial"/>
              </a:rPr>
              <a:t>= </a:t>
            </a:r>
            <a:r>
              <a:rPr sz="1800" b="1" spc="-5" dirty="0">
                <a:latin typeface="Arial"/>
                <a:cs typeface="Arial"/>
              </a:rPr>
              <a:t>0FFFFH, IP = DS </a:t>
            </a:r>
            <a:r>
              <a:rPr sz="1800" b="1" dirty="0">
                <a:latin typeface="Arial"/>
                <a:cs typeface="Arial"/>
              </a:rPr>
              <a:t>= SS = ES = </a:t>
            </a:r>
            <a:r>
              <a:rPr sz="1800" b="1" spc="-5" dirty="0">
                <a:latin typeface="Arial"/>
                <a:cs typeface="Arial"/>
              </a:rPr>
              <a:t>Flags </a:t>
            </a:r>
            <a:r>
              <a:rPr sz="1800" b="1" dirty="0">
                <a:latin typeface="Arial"/>
                <a:cs typeface="Arial"/>
              </a:rPr>
              <a:t>= </a:t>
            </a:r>
            <a:r>
              <a:rPr sz="1800" b="1" spc="-5" dirty="0">
                <a:latin typeface="Arial"/>
                <a:cs typeface="Arial"/>
              </a:rPr>
              <a:t>0000H, no 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other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registers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are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affected.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0700" y="4404804"/>
            <a:ext cx="673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T</a:t>
            </a:r>
            <a:r>
              <a:rPr sz="1800" b="1" dirty="0">
                <a:latin typeface="Arial"/>
                <a:cs typeface="Arial"/>
              </a:rPr>
              <a:t>ES</a:t>
            </a:r>
            <a:r>
              <a:rPr sz="1800" b="1" spc="-5" dirty="0">
                <a:latin typeface="Arial"/>
                <a:cs typeface="Arial"/>
              </a:rPr>
              <a:t>T’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35100" y="4404804"/>
            <a:ext cx="7155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27345" algn="l"/>
              </a:tabLst>
            </a:pP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30" dirty="0">
                <a:latin typeface="Arial"/>
                <a:cs typeface="Arial"/>
              </a:rPr>
              <a:t>WAIT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instruction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waits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for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this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pin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to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go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20" dirty="0">
                <a:latin typeface="Arial"/>
                <a:cs typeface="Arial"/>
              </a:rPr>
              <a:t>low.	</a:t>
            </a:r>
            <a:r>
              <a:rPr sz="1800" b="1" spc="-5" dirty="0">
                <a:latin typeface="Arial"/>
                <a:cs typeface="Arial"/>
              </a:rPr>
              <a:t>Used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with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8087.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0700" y="4898580"/>
            <a:ext cx="4451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N</a:t>
            </a:r>
            <a:r>
              <a:rPr sz="1800" b="1" dirty="0">
                <a:latin typeface="Arial"/>
                <a:cs typeface="Arial"/>
              </a:rPr>
              <a:t>MI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35100" y="4898580"/>
            <a:ext cx="6820534" cy="54673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>
              <a:lnSpc>
                <a:spcPts val="1939"/>
              </a:lnSpc>
              <a:spcBef>
                <a:spcPts val="345"/>
              </a:spcBef>
              <a:tabLst>
                <a:tab pos="4876165" algn="l"/>
              </a:tabLst>
            </a:pPr>
            <a:r>
              <a:rPr sz="1800" b="1" spc="-5" dirty="0">
                <a:latin typeface="Arial"/>
                <a:cs typeface="Arial"/>
              </a:rPr>
              <a:t>Non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Maskable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Interrupt: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transition</a:t>
            </a:r>
            <a:r>
              <a:rPr sz="1800" b="1" spc="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from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low	</a:t>
            </a:r>
            <a:r>
              <a:rPr sz="1800" b="1" dirty="0">
                <a:latin typeface="Arial"/>
                <a:cs typeface="Arial"/>
              </a:rPr>
              <a:t>to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high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causes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an </a:t>
            </a:r>
            <a:r>
              <a:rPr sz="1800" b="1" spc="-484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interrupt.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Used for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emergencies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such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as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power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failure.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0700" y="5639244"/>
            <a:ext cx="558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I</a:t>
            </a:r>
            <a:r>
              <a:rPr sz="1800" b="1" spc="-5" dirty="0">
                <a:latin typeface="Arial"/>
                <a:cs typeface="Arial"/>
              </a:rPr>
              <a:t>N</a:t>
            </a:r>
            <a:r>
              <a:rPr sz="1800" b="1" spc="-10" dirty="0">
                <a:latin typeface="Arial"/>
                <a:cs typeface="Arial"/>
              </a:rPr>
              <a:t>TR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35100" y="5639244"/>
            <a:ext cx="6160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57165" algn="l"/>
              </a:tabLst>
            </a:pPr>
            <a:r>
              <a:rPr sz="1800" b="1" spc="-5" dirty="0">
                <a:latin typeface="Arial"/>
                <a:cs typeface="Arial"/>
              </a:rPr>
              <a:t>Interrupt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request: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masked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by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IF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bit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in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FLAG	</a:t>
            </a:r>
            <a:r>
              <a:rPr sz="1800" b="1" spc="-15" dirty="0">
                <a:latin typeface="Arial"/>
                <a:cs typeface="Arial"/>
              </a:rPr>
              <a:t>register.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0700" y="6133020"/>
            <a:ext cx="5778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r>
              <a:rPr sz="1800" b="1" spc="-5" dirty="0">
                <a:latin typeface="Arial"/>
                <a:cs typeface="Arial"/>
              </a:rPr>
              <a:t>CLK	Clock: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33%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duty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cycle, i.e.,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high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1/3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time.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7549388" y="6540404"/>
            <a:ext cx="288290" cy="34480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600" b="1" spc="-5" dirty="0">
                <a:latin typeface="Arial"/>
                <a:cs typeface="Arial"/>
              </a:rPr>
              <a:t>I-8</a:t>
            </a:r>
            <a:endParaRPr sz="16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215900" y="1005522"/>
            <a:ext cx="8700135" cy="4250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1140" indent="-14351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31775" algn="l"/>
              </a:tabLst>
            </a:pPr>
            <a:r>
              <a:rPr sz="1800" b="1" spc="-5" dirty="0">
                <a:latin typeface="Arial"/>
                <a:cs typeface="Arial"/>
              </a:rPr>
              <a:t>16-bit</a:t>
            </a:r>
            <a:r>
              <a:rPr sz="1800" b="1" spc="-8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Arithmetic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Logic Unit</a:t>
            </a:r>
            <a:endParaRPr sz="1800">
              <a:latin typeface="Arial"/>
              <a:cs typeface="Arial"/>
            </a:endParaRPr>
          </a:p>
          <a:p>
            <a:pPr marL="231140" indent="-142875">
              <a:lnSpc>
                <a:spcPct val="100000"/>
              </a:lnSpc>
              <a:spcBef>
                <a:spcPts val="1725"/>
              </a:spcBef>
              <a:buChar char="•"/>
              <a:tabLst>
                <a:tab pos="231775" algn="l"/>
                <a:tab pos="1971039" algn="l"/>
              </a:tabLst>
            </a:pPr>
            <a:r>
              <a:rPr sz="1800" b="1" spc="-5" dirty="0">
                <a:latin typeface="Arial"/>
                <a:cs typeface="Arial"/>
              </a:rPr>
              <a:t>16-bit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data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bus	(8088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has 8-bit data bus)</a:t>
            </a:r>
            <a:endParaRPr sz="1800">
              <a:latin typeface="Arial"/>
              <a:cs typeface="Arial"/>
            </a:endParaRPr>
          </a:p>
          <a:p>
            <a:pPr marL="231140" indent="-142875">
              <a:lnSpc>
                <a:spcPct val="100000"/>
              </a:lnSpc>
              <a:spcBef>
                <a:spcPts val="1730"/>
              </a:spcBef>
              <a:buChar char="•"/>
              <a:tabLst>
                <a:tab pos="231775" algn="l"/>
              </a:tabLst>
            </a:pPr>
            <a:r>
              <a:rPr sz="1800" b="1" spc="-5" dirty="0">
                <a:latin typeface="Arial"/>
                <a:cs typeface="Arial"/>
              </a:rPr>
              <a:t>20-bit address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bus</a:t>
            </a:r>
            <a:r>
              <a:rPr sz="1800" b="1" dirty="0">
                <a:latin typeface="Arial"/>
                <a:cs typeface="Arial"/>
              </a:rPr>
              <a:t> -</a:t>
            </a:r>
            <a:r>
              <a:rPr sz="1800" b="1" spc="-5" dirty="0">
                <a:latin typeface="Arial"/>
                <a:cs typeface="Arial"/>
              </a:rPr>
              <a:t> 2</a:t>
            </a:r>
            <a:r>
              <a:rPr sz="1800" b="1" spc="-7" baseline="25462" dirty="0">
                <a:latin typeface="Arial"/>
                <a:cs typeface="Arial"/>
              </a:rPr>
              <a:t>20</a:t>
            </a:r>
            <a:r>
              <a:rPr sz="1800" b="1" spc="232" baseline="25462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= </a:t>
            </a:r>
            <a:r>
              <a:rPr sz="1800" b="1" spc="-5" dirty="0">
                <a:latin typeface="Arial"/>
                <a:cs typeface="Arial"/>
              </a:rPr>
              <a:t>1,048,576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-5" dirty="0">
                <a:latin typeface="Arial"/>
                <a:cs typeface="Arial"/>
              </a:rPr>
              <a:t> 1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meg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Arial"/>
              <a:cs typeface="Arial"/>
            </a:endParaRPr>
          </a:p>
          <a:p>
            <a:pPr marL="88900" marR="43180">
              <a:lnSpc>
                <a:spcPts val="1939"/>
              </a:lnSpc>
              <a:spcBef>
                <a:spcPts val="1620"/>
              </a:spcBef>
              <a:tabLst>
                <a:tab pos="2170430" algn="l"/>
              </a:tabLst>
            </a:pP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address refers </a:t>
            </a:r>
            <a:r>
              <a:rPr sz="1800" b="1" dirty="0">
                <a:latin typeface="Arial"/>
                <a:cs typeface="Arial"/>
              </a:rPr>
              <a:t>to </a:t>
            </a:r>
            <a:r>
              <a:rPr sz="1800" b="1" spc="-5" dirty="0">
                <a:latin typeface="Arial"/>
                <a:cs typeface="Arial"/>
              </a:rPr>
              <a:t>a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byte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in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memory.</a:t>
            </a:r>
            <a:r>
              <a:rPr sz="1800" b="1" spc="50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In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8088,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these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bytes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come in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on 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 8-bit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data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bus.	In</a:t>
            </a:r>
            <a:r>
              <a:rPr sz="1800" b="1" spc="3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3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8086,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bytes</a:t>
            </a:r>
            <a:r>
              <a:rPr sz="1800" b="1" spc="2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at</a:t>
            </a:r>
            <a:r>
              <a:rPr sz="1800" b="1" spc="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even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addresses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come</a:t>
            </a:r>
            <a:r>
              <a:rPr sz="1800" b="1" spc="2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in</a:t>
            </a:r>
            <a:r>
              <a:rPr sz="1800" b="1" spc="2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on</a:t>
            </a:r>
            <a:r>
              <a:rPr sz="1800" b="1" spc="3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2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low 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half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of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data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bus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(bits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0-7)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and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bytes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at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odd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addresses come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in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on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upper </a:t>
            </a:r>
            <a:r>
              <a:rPr sz="1800" b="1" spc="-484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half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of the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data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bus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(bits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8-15).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700">
              <a:latin typeface="Arial"/>
              <a:cs typeface="Arial"/>
            </a:endParaRPr>
          </a:p>
          <a:p>
            <a:pPr marL="88900" marR="116839">
              <a:lnSpc>
                <a:spcPts val="1939"/>
              </a:lnSpc>
              <a:tabLst>
                <a:tab pos="3594100" algn="l"/>
              </a:tabLst>
            </a:pP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8086 can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read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16-bit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word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at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an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even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address in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one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operation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and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at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an </a:t>
            </a:r>
            <a:r>
              <a:rPr sz="1800" b="1" spc="-484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odd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address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in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two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operations.	The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8088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needs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two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operations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in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either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case.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650">
              <a:latin typeface="Arial"/>
              <a:cs typeface="Arial"/>
            </a:endParaRPr>
          </a:p>
          <a:p>
            <a:pPr marL="88900" marR="106045">
              <a:lnSpc>
                <a:spcPts val="1939"/>
              </a:lnSpc>
            </a:pP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least significant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byte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of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word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on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an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8086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family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microprocessor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is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at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 </a:t>
            </a:r>
            <a:r>
              <a:rPr sz="1800" b="1" spc="-484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lower address.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51961" y="171450"/>
            <a:ext cx="317436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8086</a:t>
            </a:r>
            <a:r>
              <a:rPr spc="-75" dirty="0"/>
              <a:t> </a:t>
            </a:r>
            <a:r>
              <a:rPr spc="-5" dirty="0"/>
              <a:t>Features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7549388" y="6540404"/>
            <a:ext cx="288290" cy="34480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600" b="1" spc="-5" dirty="0">
                <a:latin typeface="Arial"/>
                <a:cs typeface="Arial"/>
              </a:rPr>
              <a:t>I-9</a:t>
            </a:r>
            <a:endParaRPr sz="16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09875" y="0"/>
            <a:ext cx="407352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8086</a:t>
            </a:r>
            <a:r>
              <a:rPr spc="-65" dirty="0"/>
              <a:t> </a:t>
            </a:r>
            <a:r>
              <a:rPr spc="-5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9250" y="929322"/>
            <a:ext cx="8421370" cy="499110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469900" marR="1311275">
              <a:lnSpc>
                <a:spcPts val="1939"/>
              </a:lnSpc>
              <a:spcBef>
                <a:spcPts val="345"/>
              </a:spcBef>
              <a:buChar char="•"/>
              <a:tabLst>
                <a:tab pos="612775" algn="l"/>
              </a:tabLst>
            </a:pP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8086 has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two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parts,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Bus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Interface Unit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(BIU)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and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 </a:t>
            </a:r>
            <a:r>
              <a:rPr sz="1800" b="1" spc="-484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Execution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Unit (EU).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1700">
              <a:latin typeface="Arial"/>
              <a:cs typeface="Arial"/>
            </a:endParaRPr>
          </a:p>
          <a:p>
            <a:pPr marL="469900" marR="154305">
              <a:lnSpc>
                <a:spcPts val="1939"/>
              </a:lnSpc>
              <a:buChar char="•"/>
              <a:tabLst>
                <a:tab pos="612775" algn="l"/>
              </a:tabLst>
            </a:pP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BIU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fetches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instructions,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reads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and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writes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data,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and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computes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 </a:t>
            </a:r>
            <a:r>
              <a:rPr sz="1800" b="1" spc="-484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20-bit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address.</a:t>
            </a:r>
            <a:endParaRPr sz="1800">
              <a:latin typeface="Arial"/>
              <a:cs typeface="Arial"/>
            </a:endParaRPr>
          </a:p>
          <a:p>
            <a:pPr marL="612140" indent="-142875">
              <a:lnSpc>
                <a:spcPct val="100000"/>
              </a:lnSpc>
              <a:spcBef>
                <a:spcPts val="1705"/>
              </a:spcBef>
              <a:buChar char="•"/>
              <a:tabLst>
                <a:tab pos="612775" algn="l"/>
              </a:tabLst>
            </a:pP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EU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decodes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and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executes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instructions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using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16-bit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ALU.</a:t>
            </a:r>
            <a:endParaRPr sz="1800">
              <a:latin typeface="Arial"/>
              <a:cs typeface="Arial"/>
            </a:endParaRPr>
          </a:p>
          <a:p>
            <a:pPr marL="989330" marR="3354070" indent="-520065">
              <a:lnSpc>
                <a:spcPct val="180000"/>
              </a:lnSpc>
              <a:buChar char="•"/>
              <a:tabLst>
                <a:tab pos="612775" algn="l"/>
              </a:tabLst>
            </a:pPr>
            <a:r>
              <a:rPr sz="1800" b="1" spc="-5" dirty="0">
                <a:latin typeface="Arial"/>
                <a:cs typeface="Arial"/>
              </a:rPr>
              <a:t>The BIU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contains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 following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registers: </a:t>
            </a:r>
            <a:r>
              <a:rPr sz="1800" b="1" spc="-484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IP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-</a:t>
            </a:r>
            <a:r>
              <a:rPr sz="1800" b="1" spc="-5" dirty="0">
                <a:latin typeface="Arial"/>
                <a:cs typeface="Arial"/>
              </a:rPr>
              <a:t> the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Instruction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Pointer</a:t>
            </a:r>
            <a:endParaRPr sz="1800">
              <a:latin typeface="Arial"/>
              <a:cs typeface="Arial"/>
            </a:endParaRPr>
          </a:p>
          <a:p>
            <a:pPr marL="927100" marR="3954779">
              <a:lnSpc>
                <a:spcPts val="1939"/>
              </a:lnSpc>
              <a:spcBef>
                <a:spcPts val="30"/>
              </a:spcBef>
            </a:pPr>
            <a:r>
              <a:rPr sz="1800" b="1" spc="-5" dirty="0">
                <a:latin typeface="Arial"/>
                <a:cs typeface="Arial"/>
              </a:rPr>
              <a:t>CS </a:t>
            </a:r>
            <a:r>
              <a:rPr sz="1800" b="1" dirty="0">
                <a:latin typeface="Arial"/>
                <a:cs typeface="Arial"/>
              </a:rPr>
              <a:t>- </a:t>
            </a:r>
            <a:r>
              <a:rPr sz="1800" b="1" spc="-5" dirty="0">
                <a:latin typeface="Arial"/>
                <a:cs typeface="Arial"/>
              </a:rPr>
              <a:t>the Code Segment Register </a:t>
            </a:r>
            <a:r>
              <a:rPr sz="1800" b="1" spc="-49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DS </a:t>
            </a:r>
            <a:r>
              <a:rPr sz="1800" b="1" dirty="0">
                <a:latin typeface="Arial"/>
                <a:cs typeface="Arial"/>
              </a:rPr>
              <a:t>- </a:t>
            </a:r>
            <a:r>
              <a:rPr sz="1800" b="1" spc="-5" dirty="0">
                <a:latin typeface="Arial"/>
                <a:cs typeface="Arial"/>
              </a:rPr>
              <a:t>the Data Segment Register </a:t>
            </a:r>
            <a:r>
              <a:rPr sz="1800" b="1" dirty="0">
                <a:latin typeface="Arial"/>
                <a:cs typeface="Arial"/>
              </a:rPr>
              <a:t> SS - </a:t>
            </a:r>
            <a:r>
              <a:rPr sz="1800" b="1" spc="-5" dirty="0">
                <a:latin typeface="Arial"/>
                <a:cs typeface="Arial"/>
              </a:rPr>
              <a:t>the Stack Segment Register </a:t>
            </a:r>
            <a:r>
              <a:rPr sz="1800" b="1" spc="-49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ES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- </a:t>
            </a:r>
            <a:r>
              <a:rPr sz="1800" b="1" spc="-5" dirty="0">
                <a:latin typeface="Arial"/>
                <a:cs typeface="Arial"/>
              </a:rPr>
              <a:t>the Extra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Segment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Register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700">
              <a:latin typeface="Arial"/>
              <a:cs typeface="Arial"/>
            </a:endParaRPr>
          </a:p>
          <a:p>
            <a:pPr marL="12700" marR="5080">
              <a:lnSpc>
                <a:spcPts val="1939"/>
              </a:lnSpc>
            </a:pP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BIU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fetches instructions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using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CS and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80" dirty="0">
                <a:latin typeface="Arial"/>
                <a:cs typeface="Arial"/>
              </a:rPr>
              <a:t>IP,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written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40" dirty="0">
                <a:latin typeface="Arial"/>
                <a:cs typeface="Arial"/>
              </a:rPr>
              <a:t>CS:IP,</a:t>
            </a:r>
            <a:r>
              <a:rPr sz="1800" b="1" dirty="0">
                <a:latin typeface="Arial"/>
                <a:cs typeface="Arial"/>
              </a:rPr>
              <a:t> to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contruct 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20-bit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address.</a:t>
            </a:r>
            <a:r>
              <a:rPr sz="1800" b="1" spc="2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Data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is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fetched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using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segment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register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(usually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DS) 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and an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effective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address (EA) computed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by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EU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depending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on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 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addressing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mode.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59232" y="142748"/>
            <a:ext cx="300609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8086</a:t>
            </a:r>
            <a:r>
              <a:rPr sz="2800" spc="-45" dirty="0"/>
              <a:t> </a:t>
            </a:r>
            <a:r>
              <a:rPr sz="2800" spc="-5" dirty="0"/>
              <a:t>Block</a:t>
            </a:r>
            <a:r>
              <a:rPr sz="2800" spc="-40" dirty="0"/>
              <a:t> </a:t>
            </a:r>
            <a:r>
              <a:rPr sz="2800" spc="-5" dirty="0"/>
              <a:t>Diagram</a:t>
            </a:r>
            <a:endParaRPr sz="2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2400"/>
            <a:ext cx="8877299" cy="67056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606665" y="6614414"/>
            <a:ext cx="258445" cy="1885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50" b="1" dirty="0">
                <a:latin typeface="Arial"/>
                <a:cs typeface="Arial"/>
              </a:rPr>
              <a:t>I-</a:t>
            </a:r>
            <a:r>
              <a:rPr sz="1050" b="1" spc="5" dirty="0">
                <a:latin typeface="Arial"/>
                <a:cs typeface="Arial"/>
              </a:rPr>
              <a:t>10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26561" y="24383"/>
            <a:ext cx="297053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/>
              <a:t>8086</a:t>
            </a:r>
            <a:r>
              <a:rPr sz="3200" spc="-60" dirty="0"/>
              <a:t> </a:t>
            </a:r>
            <a:r>
              <a:rPr sz="3200" spc="-5" dirty="0"/>
              <a:t>Architecture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06400" y="549084"/>
            <a:ext cx="5068570" cy="1534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EU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contains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following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16-bit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registers: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00">
              <a:latin typeface="Arial"/>
              <a:cs typeface="Arial"/>
            </a:endParaRPr>
          </a:p>
          <a:p>
            <a:pPr marL="1841500" marR="653415">
              <a:lnSpc>
                <a:spcPts val="1939"/>
              </a:lnSpc>
            </a:pPr>
            <a:r>
              <a:rPr sz="1800" b="1" spc="-5" dirty="0">
                <a:latin typeface="Arial"/>
                <a:cs typeface="Arial"/>
              </a:rPr>
              <a:t>AX </a:t>
            </a:r>
            <a:r>
              <a:rPr sz="1800" b="1" dirty="0">
                <a:latin typeface="Arial"/>
                <a:cs typeface="Arial"/>
              </a:rPr>
              <a:t>- </a:t>
            </a:r>
            <a:r>
              <a:rPr sz="1800" b="1" spc="-5" dirty="0">
                <a:latin typeface="Arial"/>
                <a:cs typeface="Arial"/>
              </a:rPr>
              <a:t>the Accumulator 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BX </a:t>
            </a:r>
            <a:r>
              <a:rPr sz="1800" b="1" dirty="0">
                <a:latin typeface="Arial"/>
                <a:cs typeface="Arial"/>
              </a:rPr>
              <a:t>- </a:t>
            </a:r>
            <a:r>
              <a:rPr sz="1800" b="1" spc="-5" dirty="0">
                <a:latin typeface="Arial"/>
                <a:cs typeface="Arial"/>
              </a:rPr>
              <a:t>the Base Register 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CX </a:t>
            </a:r>
            <a:r>
              <a:rPr sz="1800" b="1" dirty="0">
                <a:latin typeface="Arial"/>
                <a:cs typeface="Arial"/>
              </a:rPr>
              <a:t>- </a:t>
            </a:r>
            <a:r>
              <a:rPr sz="1800" b="1" spc="-5" dirty="0">
                <a:latin typeface="Arial"/>
                <a:cs typeface="Arial"/>
              </a:rPr>
              <a:t>the Count Register </a:t>
            </a:r>
            <a:r>
              <a:rPr sz="1800" b="1" spc="-49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DX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-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Data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Register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35200" y="2138540"/>
            <a:ext cx="23958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SP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-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 Stack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Pointer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70120" y="2214817"/>
            <a:ext cx="3176270" cy="3098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  <a:tabLst>
                <a:tab pos="229870" algn="l"/>
              </a:tabLst>
            </a:pPr>
            <a:r>
              <a:rPr sz="2700" b="1" baseline="20061" dirty="0">
                <a:latin typeface="Arial"/>
                <a:cs typeface="Arial"/>
              </a:rPr>
              <a:t>\	</a:t>
            </a:r>
            <a:r>
              <a:rPr sz="1850" b="1" spc="5" dirty="0">
                <a:latin typeface="Arial"/>
                <a:cs typeface="Arial"/>
              </a:rPr>
              <a:t>defaults</a:t>
            </a:r>
            <a:r>
              <a:rPr sz="1850" b="1" spc="-25" dirty="0">
                <a:latin typeface="Arial"/>
                <a:cs typeface="Arial"/>
              </a:rPr>
              <a:t> </a:t>
            </a:r>
            <a:r>
              <a:rPr sz="1850" b="1" spc="5" dirty="0">
                <a:latin typeface="Arial"/>
                <a:cs typeface="Arial"/>
              </a:rPr>
              <a:t>to</a:t>
            </a:r>
            <a:r>
              <a:rPr sz="1850" b="1" spc="-10" dirty="0">
                <a:latin typeface="Arial"/>
                <a:cs typeface="Arial"/>
              </a:rPr>
              <a:t> </a:t>
            </a:r>
            <a:r>
              <a:rPr sz="1850" b="1" spc="5" dirty="0">
                <a:latin typeface="Arial"/>
                <a:cs typeface="Arial"/>
              </a:rPr>
              <a:t>stack</a:t>
            </a:r>
            <a:r>
              <a:rPr sz="1850" b="1" spc="-15" dirty="0">
                <a:latin typeface="Arial"/>
                <a:cs typeface="Arial"/>
              </a:rPr>
              <a:t> </a:t>
            </a:r>
            <a:r>
              <a:rPr sz="1850" b="1" spc="5" dirty="0">
                <a:latin typeface="Arial"/>
                <a:cs typeface="Arial"/>
              </a:rPr>
              <a:t>segment</a:t>
            </a:r>
            <a:endParaRPr sz="18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35200" y="2414460"/>
            <a:ext cx="26631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86355" algn="l"/>
              </a:tabLst>
            </a:pPr>
            <a:r>
              <a:rPr sz="1800" b="1" spc="-5" dirty="0">
                <a:latin typeface="Arial"/>
                <a:cs typeface="Arial"/>
              </a:rPr>
              <a:t>BP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-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</a:t>
            </a:r>
            <a:r>
              <a:rPr sz="1800" b="1" spc="-5" dirty="0">
                <a:latin typeface="Arial"/>
                <a:cs typeface="Arial"/>
              </a:rPr>
              <a:t>he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Base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</a:t>
            </a:r>
            <a:r>
              <a:rPr sz="1800" b="1" spc="-5" dirty="0">
                <a:latin typeface="Arial"/>
                <a:cs typeface="Arial"/>
              </a:rPr>
              <a:t>oin</a:t>
            </a:r>
            <a:r>
              <a:rPr sz="1800" b="1" dirty="0">
                <a:latin typeface="Arial"/>
                <a:cs typeface="Arial"/>
              </a:rPr>
              <a:t>t</a:t>
            </a:r>
            <a:r>
              <a:rPr sz="1800" b="1" spc="-5" dirty="0">
                <a:latin typeface="Arial"/>
                <a:cs typeface="Arial"/>
              </a:rPr>
              <a:t>er</a:t>
            </a:r>
            <a:r>
              <a:rPr sz="1800" b="1" dirty="0">
                <a:latin typeface="Arial"/>
                <a:cs typeface="Arial"/>
              </a:rPr>
              <a:t>	/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5942" y="2661348"/>
            <a:ext cx="8522970" cy="412813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841500" marR="3433445">
              <a:lnSpc>
                <a:spcPts val="1939"/>
              </a:lnSpc>
              <a:spcBef>
                <a:spcPts val="345"/>
              </a:spcBef>
            </a:pPr>
            <a:r>
              <a:rPr sz="1800" b="1" dirty="0">
                <a:latin typeface="Arial"/>
                <a:cs typeface="Arial"/>
              </a:rPr>
              <a:t>SI - </a:t>
            </a:r>
            <a:r>
              <a:rPr sz="1800" b="1" spc="-5" dirty="0">
                <a:latin typeface="Arial"/>
                <a:cs typeface="Arial"/>
              </a:rPr>
              <a:t>the Source Index Register </a:t>
            </a:r>
            <a:r>
              <a:rPr sz="1800" b="1" spc="-49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DI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-</a:t>
            </a:r>
            <a:r>
              <a:rPr sz="1800" b="1" spc="-5" dirty="0">
                <a:latin typeface="Arial"/>
                <a:cs typeface="Arial"/>
              </a:rPr>
              <a:t> the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Destination Register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Arial"/>
              <a:cs typeface="Arial"/>
            </a:endParaRPr>
          </a:p>
          <a:p>
            <a:pPr marL="74930" marR="424815" indent="-62865">
              <a:lnSpc>
                <a:spcPts val="1939"/>
              </a:lnSpc>
            </a:pPr>
            <a:r>
              <a:rPr sz="1800" b="1" spc="-5" dirty="0">
                <a:latin typeface="Arial"/>
                <a:cs typeface="Arial"/>
              </a:rPr>
              <a:t>These are referred </a:t>
            </a:r>
            <a:r>
              <a:rPr sz="1800" b="1" dirty="0">
                <a:latin typeface="Arial"/>
                <a:cs typeface="Arial"/>
              </a:rPr>
              <a:t>to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as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general-purpose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registers, although,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as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seen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by </a:t>
            </a:r>
            <a:r>
              <a:rPr sz="1800" b="1" spc="-5" dirty="0">
                <a:latin typeface="Arial"/>
                <a:cs typeface="Arial"/>
              </a:rPr>
              <a:t> their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names, they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often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have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special-purpose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use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for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some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instructions.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50">
              <a:latin typeface="Arial"/>
              <a:cs typeface="Arial"/>
            </a:endParaRPr>
          </a:p>
          <a:p>
            <a:pPr marL="12700" marR="5080">
              <a:lnSpc>
                <a:spcPts val="1939"/>
              </a:lnSpc>
              <a:spcBef>
                <a:spcPts val="5"/>
              </a:spcBef>
              <a:tabLst>
                <a:tab pos="2959100" algn="l"/>
              </a:tabLst>
            </a:pP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AX,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BX,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CX,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and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DX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registers can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be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considers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as two 8-bit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registers, a 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High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byte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and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Low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byte.	This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allows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byte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operations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and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compatibility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with 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 previous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generation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of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8-bit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processors, the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8080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and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8085.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8085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source 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code could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be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translated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in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8086 code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and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assembled.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 8-bit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registers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are: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700">
              <a:latin typeface="Arial"/>
              <a:cs typeface="Arial"/>
            </a:endParaRPr>
          </a:p>
          <a:p>
            <a:pPr marL="1841500" marR="5244465" algn="just">
              <a:lnSpc>
                <a:spcPts val="1939"/>
              </a:lnSpc>
            </a:pPr>
            <a:r>
              <a:rPr sz="1800" b="1" spc="-5" dirty="0">
                <a:latin typeface="Arial"/>
                <a:cs typeface="Arial"/>
              </a:rPr>
              <a:t>AX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--&gt;</a:t>
            </a:r>
            <a:r>
              <a:rPr sz="1800" b="1" spc="-10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AH,AL </a:t>
            </a:r>
            <a:r>
              <a:rPr sz="1800" b="1" spc="-49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BX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--&gt;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BH,BL </a:t>
            </a:r>
            <a:r>
              <a:rPr sz="1800" b="1" spc="-49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CX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--&gt;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CH,CL </a:t>
            </a:r>
            <a:r>
              <a:rPr sz="1800" b="1" spc="-49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DX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--&gt;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DH,DL</a:t>
            </a:r>
            <a:endParaRPr sz="1800">
              <a:latin typeface="Arial"/>
              <a:cs typeface="Arial"/>
            </a:endParaRPr>
          </a:p>
          <a:p>
            <a:pPr marR="1087755" algn="r">
              <a:lnSpc>
                <a:spcPct val="100000"/>
              </a:lnSpc>
              <a:spcBef>
                <a:spcPts val="990"/>
              </a:spcBef>
            </a:pPr>
            <a:r>
              <a:rPr sz="1600" b="1" spc="-50" dirty="0">
                <a:latin typeface="Arial"/>
                <a:cs typeface="Arial"/>
              </a:rPr>
              <a:t>I-11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70306" y="628904"/>
            <a:ext cx="22040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/>
              <a:t>Flag</a:t>
            </a:r>
            <a:r>
              <a:rPr sz="3200" spc="-70" dirty="0"/>
              <a:t> </a:t>
            </a:r>
            <a:r>
              <a:rPr sz="3200" spc="-5" dirty="0"/>
              <a:t>Register</a:t>
            </a:r>
            <a:endParaRPr sz="32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212850" y="2813050"/>
          <a:ext cx="6496050" cy="469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sz="1400" dirty="0">
                          <a:latin typeface="Symbol"/>
                          <a:cs typeface="Symbol"/>
                        </a:rPr>
                        <a:t></a:t>
                      </a:r>
                      <a:endParaRPr sz="1400">
                        <a:latin typeface="Symbol"/>
                        <a:cs typeface="Symbol"/>
                      </a:endParaRPr>
                    </a:p>
                  </a:txBody>
                  <a:tcPr marL="0" marR="0" marT="1162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NT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149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7804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IOPL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149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OF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149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DF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149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IF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149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TF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149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SF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149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ZF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149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855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sz="1400" dirty="0">
                          <a:latin typeface="Symbol"/>
                          <a:cs typeface="Symbol"/>
                        </a:rPr>
                        <a:t></a:t>
                      </a:r>
                      <a:endParaRPr sz="1400">
                        <a:latin typeface="Symbol"/>
                        <a:cs typeface="Symbol"/>
                      </a:endParaRPr>
                    </a:p>
                  </a:txBody>
                  <a:tcPr marL="0" marR="0" marT="1162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AF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149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855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sz="1400" dirty="0">
                          <a:latin typeface="Symbol"/>
                          <a:cs typeface="Symbol"/>
                        </a:rPr>
                        <a:t></a:t>
                      </a:r>
                      <a:endParaRPr sz="1400">
                        <a:latin typeface="Symbol"/>
                        <a:cs typeface="Symbol"/>
                      </a:endParaRPr>
                    </a:p>
                  </a:txBody>
                  <a:tcPr marL="0" marR="0" marT="1162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PF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149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sz="1400" dirty="0">
                          <a:latin typeface="Symbol"/>
                          <a:cs typeface="Symbol"/>
                        </a:rPr>
                        <a:t></a:t>
                      </a:r>
                      <a:endParaRPr sz="1400">
                        <a:latin typeface="Symbol"/>
                        <a:cs typeface="Symbol"/>
                      </a:endParaRPr>
                    </a:p>
                  </a:txBody>
                  <a:tcPr marL="0" marR="0" marT="1162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CF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149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688340" y="1456563"/>
            <a:ext cx="7027545" cy="1353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5430" marR="5080" indent="-253365">
              <a:lnSpc>
                <a:spcPct val="100000"/>
              </a:lnSpc>
              <a:spcBef>
                <a:spcPts val="95"/>
              </a:spcBef>
              <a:buFont typeface="Wingdings"/>
              <a:buChar char=""/>
              <a:tabLst>
                <a:tab pos="302260" algn="l"/>
              </a:tabLst>
            </a:pPr>
            <a:r>
              <a:rPr dirty="0"/>
              <a:t>	</a:t>
            </a:r>
            <a:r>
              <a:rPr sz="2000" spc="-5" dirty="0">
                <a:latin typeface="Times New Roman"/>
                <a:cs typeface="Times New Roman"/>
              </a:rPr>
              <a:t>Flag register contains information reflecting the current status of a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microprocessor. </a:t>
            </a:r>
            <a:r>
              <a:rPr sz="2000" spc="-5" dirty="0">
                <a:latin typeface="Times New Roman"/>
                <a:cs typeface="Times New Roman"/>
              </a:rPr>
              <a:t>It also contains information which controls the 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operation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microprocessor.</a:t>
            </a:r>
            <a:endParaRPr sz="2000">
              <a:latin typeface="Times New Roman"/>
              <a:cs typeface="Times New Roman"/>
            </a:endParaRPr>
          </a:p>
          <a:p>
            <a:pPr marL="622300">
              <a:lnSpc>
                <a:spcPct val="100000"/>
              </a:lnSpc>
              <a:spcBef>
                <a:spcPts val="1340"/>
              </a:spcBef>
              <a:tabLst>
                <a:tab pos="6743065" algn="l"/>
              </a:tabLst>
            </a:pPr>
            <a:r>
              <a:rPr sz="1600" dirty="0">
                <a:latin typeface="Times New Roman"/>
                <a:cs typeface="Times New Roman"/>
              </a:rPr>
              <a:t>15	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9339" y="3628263"/>
            <a:ext cx="167830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6860" indent="-264795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277495" algn="l"/>
              </a:tabLst>
            </a:pPr>
            <a:r>
              <a:rPr sz="2000" spc="-5" dirty="0">
                <a:latin typeface="Times New Roman"/>
                <a:cs typeface="Times New Roman"/>
              </a:rPr>
              <a:t>Control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Flags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50711" y="3599589"/>
            <a:ext cx="152209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6860" indent="-264795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277495" algn="l"/>
              </a:tabLst>
            </a:pPr>
            <a:r>
              <a:rPr sz="2000" spc="-5" dirty="0">
                <a:latin typeface="Times New Roman"/>
                <a:cs typeface="Times New Roman"/>
              </a:rPr>
              <a:t>Status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Flags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3502" y="4150486"/>
            <a:ext cx="34163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Times New Roman"/>
                <a:cs typeface="Times New Roman"/>
              </a:rPr>
              <a:t>IF: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D</a:t>
            </a:r>
            <a:r>
              <a:rPr sz="1600" spc="-5" dirty="0">
                <a:latin typeface="Times New Roman"/>
                <a:cs typeface="Times New Roman"/>
              </a:rPr>
              <a:t>F: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latin typeface="Times New Roman"/>
                <a:cs typeface="Times New Roman"/>
              </a:rPr>
              <a:t>TF: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67824" y="4150486"/>
            <a:ext cx="168973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Interrupt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enable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flag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Direction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flag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ts val="1920"/>
              </a:lnSpc>
            </a:pPr>
            <a:r>
              <a:rPr sz="1600" spc="-15" dirty="0">
                <a:latin typeface="Times New Roman"/>
                <a:cs typeface="Times New Roman"/>
              </a:rPr>
              <a:t>Trap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flag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06216" y="4073988"/>
            <a:ext cx="534035" cy="1976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Times New Roman"/>
                <a:cs typeface="Times New Roman"/>
              </a:rPr>
              <a:t>CF: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latin typeface="Times New Roman"/>
                <a:cs typeface="Times New Roman"/>
              </a:rPr>
              <a:t>PF: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latin typeface="Times New Roman"/>
                <a:cs typeface="Times New Roman"/>
              </a:rPr>
              <a:t>AF: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latin typeface="Times New Roman"/>
                <a:cs typeface="Times New Roman"/>
              </a:rPr>
              <a:t>ZF: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latin typeface="Times New Roman"/>
                <a:cs typeface="Times New Roman"/>
              </a:rPr>
              <a:t>SF: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latin typeface="Times New Roman"/>
                <a:cs typeface="Times New Roman"/>
              </a:rPr>
              <a:t>OF:</a:t>
            </a:r>
            <a:endParaRPr sz="16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1600" spc="-55" dirty="0">
                <a:latin typeface="Times New Roman"/>
                <a:cs typeface="Times New Roman"/>
              </a:rPr>
              <a:t>NT: 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IO</a:t>
            </a:r>
            <a:r>
              <a:rPr sz="1600" spc="-5" dirty="0">
                <a:latin typeface="Times New Roman"/>
                <a:cs typeface="Times New Roman"/>
              </a:rPr>
              <a:t>PL</a:t>
            </a:r>
            <a:r>
              <a:rPr sz="1600" dirty="0">
                <a:latin typeface="Times New Roman"/>
                <a:cs typeface="Times New Roman"/>
              </a:rPr>
              <a:t>: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20538" y="4073988"/>
            <a:ext cx="2256790" cy="1976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8176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Carry </a:t>
            </a:r>
            <a:r>
              <a:rPr sz="1600" spc="-5" dirty="0">
                <a:latin typeface="Times New Roman"/>
                <a:cs typeface="Times New Roman"/>
              </a:rPr>
              <a:t>flag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Parity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flag</a:t>
            </a:r>
            <a:endParaRPr sz="1600">
              <a:latin typeface="Times New Roman"/>
              <a:cs typeface="Times New Roman"/>
            </a:endParaRPr>
          </a:p>
          <a:p>
            <a:pPr marL="12700" marR="617855">
              <a:lnSpc>
                <a:spcPts val="1920"/>
              </a:lnSpc>
              <a:spcBef>
                <a:spcPts val="65"/>
              </a:spcBef>
            </a:pPr>
            <a:r>
              <a:rPr sz="1600" spc="-5" dirty="0">
                <a:latin typeface="Times New Roman"/>
                <a:cs typeface="Times New Roman"/>
              </a:rPr>
              <a:t>Auxiliary </a:t>
            </a:r>
            <a:r>
              <a:rPr sz="1600" dirty="0">
                <a:latin typeface="Times New Roman"/>
                <a:cs typeface="Times New Roman"/>
              </a:rPr>
              <a:t>carry </a:t>
            </a:r>
            <a:r>
              <a:rPr sz="1600" spc="-5" dirty="0">
                <a:latin typeface="Times New Roman"/>
                <a:cs typeface="Times New Roman"/>
              </a:rPr>
              <a:t>flag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Zero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flag</a:t>
            </a:r>
            <a:endParaRPr sz="1600">
              <a:latin typeface="Times New Roman"/>
              <a:cs typeface="Times New Roman"/>
            </a:endParaRPr>
          </a:p>
          <a:p>
            <a:pPr marL="12700" marR="923925">
              <a:lnSpc>
                <a:spcPts val="1920"/>
              </a:lnSpc>
            </a:pPr>
            <a:r>
              <a:rPr sz="1600" spc="-5" dirty="0">
                <a:latin typeface="Times New Roman"/>
                <a:cs typeface="Times New Roman"/>
              </a:rPr>
              <a:t>Sign flag </a:t>
            </a:r>
            <a:r>
              <a:rPr sz="1600" dirty="0">
                <a:latin typeface="Times New Roman"/>
                <a:cs typeface="Times New Roman"/>
              </a:rPr>
              <a:t> Overflow </a:t>
            </a:r>
            <a:r>
              <a:rPr sz="1600" spc="-5" dirty="0">
                <a:latin typeface="Times New Roman"/>
                <a:cs typeface="Times New Roman"/>
              </a:rPr>
              <a:t>flag </a:t>
            </a:r>
            <a:r>
              <a:rPr sz="1600" dirty="0">
                <a:latin typeface="Times New Roman"/>
                <a:cs typeface="Times New Roman"/>
              </a:rPr>
              <a:t> Nested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task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flag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ts val="1855"/>
              </a:lnSpc>
            </a:pPr>
            <a:r>
              <a:rPr sz="1600" spc="-5" dirty="0">
                <a:latin typeface="Times New Roman"/>
                <a:cs typeface="Times New Roman"/>
              </a:rPr>
              <a:t>Input/output privilege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level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1592" y="277231"/>
            <a:ext cx="7018020" cy="976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9540" marR="5080" indent="-2657475">
              <a:lnSpc>
                <a:spcPct val="111400"/>
              </a:lnSpc>
              <a:spcBef>
                <a:spcPts val="100"/>
              </a:spcBef>
            </a:pPr>
            <a:r>
              <a:rPr sz="2800" spc="-5" dirty="0"/>
              <a:t>Flags</a:t>
            </a:r>
            <a:r>
              <a:rPr sz="2800" spc="-20" dirty="0"/>
              <a:t> </a:t>
            </a:r>
            <a:r>
              <a:rPr sz="2800" spc="-5" dirty="0"/>
              <a:t>Commonly</a:t>
            </a:r>
            <a:r>
              <a:rPr sz="2800" spc="-80" dirty="0"/>
              <a:t> </a:t>
            </a:r>
            <a:r>
              <a:rPr sz="2800" spc="-35" dirty="0"/>
              <a:t>Tested</a:t>
            </a:r>
            <a:r>
              <a:rPr sz="2800" spc="-15" dirty="0"/>
              <a:t> </a:t>
            </a:r>
            <a:r>
              <a:rPr sz="2800" dirty="0"/>
              <a:t>During</a:t>
            </a:r>
            <a:r>
              <a:rPr sz="2800" spc="-10" dirty="0"/>
              <a:t> </a:t>
            </a:r>
            <a:r>
              <a:rPr sz="2800" dirty="0"/>
              <a:t>the</a:t>
            </a:r>
            <a:r>
              <a:rPr sz="2800" spc="-20" dirty="0"/>
              <a:t> </a:t>
            </a:r>
            <a:r>
              <a:rPr sz="2800" spc="-5" dirty="0"/>
              <a:t>Execution</a:t>
            </a:r>
            <a:r>
              <a:rPr sz="2800" spc="-25" dirty="0"/>
              <a:t> </a:t>
            </a:r>
            <a:r>
              <a:rPr sz="2800" dirty="0"/>
              <a:t>of </a:t>
            </a:r>
            <a:r>
              <a:rPr sz="2800" spc="-685" dirty="0"/>
              <a:t> </a:t>
            </a:r>
            <a:r>
              <a:rPr sz="2800" spc="-5" dirty="0"/>
              <a:t>Instructions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88340" y="1456563"/>
            <a:ext cx="7433945" cy="11550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7815" marR="57785" indent="-297815">
              <a:lnSpc>
                <a:spcPct val="100000"/>
              </a:lnSpc>
              <a:spcBef>
                <a:spcPts val="95"/>
              </a:spcBef>
              <a:buFont typeface="Wingdings"/>
              <a:buChar char=""/>
              <a:tabLst>
                <a:tab pos="297815" algn="l"/>
              </a:tabLst>
            </a:pPr>
            <a:r>
              <a:rPr sz="2000" spc="-5" dirty="0">
                <a:latin typeface="Times New Roman"/>
                <a:cs typeface="Times New Roman"/>
              </a:rPr>
              <a:t>There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are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five flag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bits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that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are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commonly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tested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during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execution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instructions</a:t>
            </a:r>
            <a:endParaRPr sz="2000">
              <a:latin typeface="Times New Roman"/>
              <a:cs typeface="Times New Roman"/>
            </a:endParaRPr>
          </a:p>
          <a:p>
            <a:pPr marL="716280" lvl="1" indent="-342265">
              <a:lnSpc>
                <a:spcPct val="100000"/>
              </a:lnSpc>
              <a:spcBef>
                <a:spcPts val="1935"/>
              </a:spcBef>
              <a:buFont typeface="Symbol"/>
              <a:buChar char=""/>
              <a:tabLst>
                <a:tab pos="716915" algn="l"/>
                <a:tab pos="2977515" algn="l"/>
              </a:tabLst>
            </a:pPr>
            <a:r>
              <a:rPr sz="1800" spc="-5" dirty="0">
                <a:latin typeface="Times New Roman"/>
                <a:cs typeface="Times New Roman"/>
              </a:rPr>
              <a:t>Sign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Flag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(Bit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7),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SF:	</a:t>
            </a:r>
            <a:r>
              <a:rPr sz="1800" dirty="0">
                <a:latin typeface="Times New Roman"/>
                <a:cs typeface="Times New Roman"/>
              </a:rPr>
              <a:t>0 for </a:t>
            </a:r>
            <a:r>
              <a:rPr sz="1800" spc="-5" dirty="0">
                <a:latin typeface="Times New Roman"/>
                <a:cs typeface="Times New Roman"/>
              </a:rPr>
              <a:t>positive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number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and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 for</a:t>
            </a:r>
            <a:r>
              <a:rPr sz="1800" spc="-5" dirty="0">
                <a:latin typeface="Times New Roman"/>
                <a:cs typeface="Times New Roman"/>
              </a:rPr>
              <a:t> negative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number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9492" y="2935249"/>
            <a:ext cx="2368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330" indent="-342265">
              <a:lnSpc>
                <a:spcPct val="100000"/>
              </a:lnSpc>
              <a:spcBef>
                <a:spcPts val="100"/>
              </a:spcBef>
              <a:buFont typeface="Symbol"/>
              <a:buChar char=""/>
              <a:tabLst>
                <a:tab pos="354965" algn="l"/>
              </a:tabLst>
            </a:pPr>
            <a:r>
              <a:rPr sz="1800" spc="-5" dirty="0">
                <a:latin typeface="Times New Roman"/>
                <a:cs typeface="Times New Roman"/>
              </a:rPr>
              <a:t>Zero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Flag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(Bit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6),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ZF: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40519" y="2935249"/>
            <a:ext cx="47047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If </a:t>
            </a:r>
            <a:r>
              <a:rPr sz="1800" spc="-5" dirty="0">
                <a:latin typeface="Times New Roman"/>
                <a:cs typeface="Times New Roman"/>
              </a:rPr>
              <a:t>the ALU output is </a:t>
            </a:r>
            <a:r>
              <a:rPr sz="1800" dirty="0">
                <a:latin typeface="Times New Roman"/>
                <a:cs typeface="Times New Roman"/>
              </a:rPr>
              <a:t>0, </a:t>
            </a:r>
            <a:r>
              <a:rPr sz="1800" spc="-5" dirty="0">
                <a:latin typeface="Times New Roman"/>
                <a:cs typeface="Times New Roman"/>
              </a:rPr>
              <a:t>this bit is set </a:t>
            </a:r>
            <a:r>
              <a:rPr sz="1800" dirty="0">
                <a:latin typeface="Times New Roman"/>
                <a:cs typeface="Times New Roman"/>
              </a:rPr>
              <a:t>(1); </a:t>
            </a:r>
            <a:r>
              <a:rPr sz="1800" spc="-5" dirty="0">
                <a:latin typeface="Times New Roman"/>
                <a:cs typeface="Times New Roman"/>
              </a:rPr>
              <a:t>otherwise,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it is</a:t>
            </a:r>
            <a:r>
              <a:rPr sz="1800" dirty="0">
                <a:latin typeface="Times New Roman"/>
                <a:cs typeface="Times New Roman"/>
              </a:rPr>
              <a:t> 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69492" y="3713175"/>
            <a:ext cx="72866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330" indent="-342265">
              <a:lnSpc>
                <a:spcPct val="100000"/>
              </a:lnSpc>
              <a:spcBef>
                <a:spcPts val="100"/>
              </a:spcBef>
              <a:buFont typeface="Symbol"/>
              <a:buChar char=""/>
              <a:tabLst>
                <a:tab pos="354965" algn="l"/>
              </a:tabLst>
            </a:pPr>
            <a:r>
              <a:rPr sz="1800" spc="-5" dirty="0">
                <a:latin typeface="Times New Roman"/>
                <a:cs typeface="Times New Roman"/>
              </a:rPr>
              <a:t>Carry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Flag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(Bit</a:t>
            </a:r>
            <a:r>
              <a:rPr sz="1800" dirty="0">
                <a:latin typeface="Times New Roman"/>
                <a:cs typeface="Times New Roman"/>
              </a:rPr>
              <a:t> 0),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CF:</a:t>
            </a:r>
            <a:r>
              <a:rPr sz="1800" spc="459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It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contains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carry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generated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during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execution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69492" y="4322851"/>
            <a:ext cx="22523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1630" indent="-329565">
              <a:lnSpc>
                <a:spcPct val="100000"/>
              </a:lnSpc>
              <a:spcBef>
                <a:spcPts val="100"/>
              </a:spcBef>
              <a:buFont typeface="Symbol"/>
              <a:buChar char=""/>
              <a:tabLst>
                <a:tab pos="342265" algn="l"/>
              </a:tabLst>
            </a:pPr>
            <a:r>
              <a:rPr sz="1800" spc="-5" dirty="0">
                <a:latin typeface="Times New Roman"/>
                <a:cs typeface="Times New Roman"/>
              </a:rPr>
              <a:t>A</a:t>
            </a:r>
            <a:r>
              <a:rPr sz="1800" dirty="0">
                <a:latin typeface="Times New Roman"/>
                <a:cs typeface="Times New Roman"/>
              </a:rPr>
              <a:t>ux</a:t>
            </a:r>
            <a:r>
              <a:rPr sz="1800" spc="-5" dirty="0">
                <a:latin typeface="Times New Roman"/>
                <a:cs typeface="Times New Roman"/>
              </a:rPr>
              <a:t>ilia</a:t>
            </a:r>
            <a:r>
              <a:rPr sz="1800" dirty="0">
                <a:latin typeface="Times New Roman"/>
                <a:cs typeface="Times New Roman"/>
              </a:rPr>
              <a:t>ry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</a:t>
            </a:r>
            <a:r>
              <a:rPr sz="1800" spc="-5" dirty="0">
                <a:latin typeface="Times New Roman"/>
                <a:cs typeface="Times New Roman"/>
              </a:rPr>
              <a:t>a</a:t>
            </a:r>
            <a:r>
              <a:rPr sz="1800" dirty="0">
                <a:latin typeface="Times New Roman"/>
                <a:cs typeface="Times New Roman"/>
              </a:rPr>
              <a:t>rr</a:t>
            </a:r>
            <a:r>
              <a:rPr sz="1800" spc="-125" dirty="0">
                <a:latin typeface="Times New Roman"/>
                <a:cs typeface="Times New Roman"/>
              </a:rPr>
              <a:t>y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AF</a:t>
            </a:r>
            <a:r>
              <a:rPr sz="1800" dirty="0">
                <a:latin typeface="Times New Roman"/>
                <a:cs typeface="Times New Roman"/>
              </a:rPr>
              <a:t>:</a:t>
            </a:r>
            <a:endParaRPr sz="1800">
              <a:latin typeface="Times New Roman"/>
              <a:cs typeface="Times New Roman"/>
            </a:endParaRPr>
          </a:p>
          <a:p>
            <a:pPr marL="1211580">
              <a:lnSpc>
                <a:spcPct val="100000"/>
              </a:lnSpc>
            </a:pPr>
            <a:r>
              <a:rPr sz="1800" spc="-5" dirty="0">
                <a:latin typeface="Times New Roman"/>
                <a:cs typeface="Times New Roman"/>
              </a:rPr>
              <a:t>(Bit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4)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80743" y="4322851"/>
            <a:ext cx="458343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 marR="5080" indent="-3175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Depending </a:t>
            </a:r>
            <a:r>
              <a:rPr sz="1800" dirty="0">
                <a:latin typeface="Times New Roman"/>
                <a:cs typeface="Times New Roman"/>
              </a:rPr>
              <a:t>on </a:t>
            </a:r>
            <a:r>
              <a:rPr sz="1800" spc="-5" dirty="0">
                <a:latin typeface="Times New Roman"/>
                <a:cs typeface="Times New Roman"/>
              </a:rPr>
              <a:t>the width </a:t>
            </a:r>
            <a:r>
              <a:rPr sz="1800" dirty="0">
                <a:latin typeface="Times New Roman"/>
                <a:cs typeface="Times New Roman"/>
              </a:rPr>
              <a:t>of </a:t>
            </a:r>
            <a:r>
              <a:rPr sz="1800" spc="-5" dirty="0">
                <a:latin typeface="Times New Roman"/>
                <a:cs typeface="Times New Roman"/>
              </a:rPr>
              <a:t>ALU inputs, this flag 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bit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contains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carry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generated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at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bit</a:t>
            </a:r>
            <a:r>
              <a:rPr sz="1800" dirty="0">
                <a:latin typeface="Times New Roman"/>
                <a:cs typeface="Times New Roman"/>
              </a:rPr>
              <a:t> 3 </a:t>
            </a:r>
            <a:r>
              <a:rPr sz="1800" spc="-20" dirty="0">
                <a:latin typeface="Times New Roman"/>
                <a:cs typeface="Times New Roman"/>
              </a:rPr>
              <a:t>(or,</a:t>
            </a:r>
            <a:r>
              <a:rPr sz="1800" dirty="0">
                <a:latin typeface="Times New Roman"/>
                <a:cs typeface="Times New Roman"/>
              </a:rPr>
              <a:t> 7, 15)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5" dirty="0">
                <a:latin typeface="Times New Roman"/>
                <a:cs typeface="Times New Roman"/>
              </a:rPr>
              <a:t> the</a:t>
            </a:r>
            <a:r>
              <a:rPr sz="1800" dirty="0">
                <a:latin typeface="Times New Roman"/>
                <a:cs typeface="Times New Roman"/>
              </a:rPr>
              <a:t> 8088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ALU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69492" y="5403900"/>
            <a:ext cx="2375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330" indent="-342265">
              <a:lnSpc>
                <a:spcPct val="100000"/>
              </a:lnSpc>
              <a:spcBef>
                <a:spcPts val="100"/>
              </a:spcBef>
              <a:buFont typeface="Symbol"/>
              <a:buChar char=""/>
              <a:tabLst>
                <a:tab pos="354965" algn="l"/>
              </a:tabLst>
            </a:pPr>
            <a:r>
              <a:rPr sz="1800" spc="-5" dirty="0">
                <a:latin typeface="Times New Roman"/>
                <a:cs typeface="Times New Roman"/>
              </a:rPr>
              <a:t>Parity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Flag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(bit2), PF: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83406" y="5403900"/>
            <a:ext cx="48945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71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It </a:t>
            </a:r>
            <a:r>
              <a:rPr sz="1800" spc="-5" dirty="0">
                <a:latin typeface="Times New Roman"/>
                <a:cs typeface="Times New Roman"/>
              </a:rPr>
              <a:t>is set </a:t>
            </a:r>
            <a:r>
              <a:rPr sz="1800" dirty="0">
                <a:latin typeface="Times New Roman"/>
                <a:cs typeface="Times New Roman"/>
              </a:rPr>
              <a:t>(1) </a:t>
            </a:r>
            <a:r>
              <a:rPr sz="1800" spc="-5" dirty="0">
                <a:latin typeface="Times New Roman"/>
                <a:cs typeface="Times New Roman"/>
              </a:rPr>
              <a:t>if the output </a:t>
            </a:r>
            <a:r>
              <a:rPr sz="1800" dirty="0">
                <a:latin typeface="Times New Roman"/>
                <a:cs typeface="Times New Roman"/>
              </a:rPr>
              <a:t>of </a:t>
            </a:r>
            <a:r>
              <a:rPr sz="1800" spc="-5" dirty="0">
                <a:latin typeface="Times New Roman"/>
                <a:cs typeface="Times New Roman"/>
              </a:rPr>
              <a:t>the ALU has even number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5" dirty="0">
                <a:latin typeface="Times New Roman"/>
                <a:cs typeface="Times New Roman"/>
              </a:rPr>
              <a:t> ones; otherwise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it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is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zero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79596" y="628904"/>
            <a:ext cx="238379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/>
              <a:t>Direction</a:t>
            </a:r>
            <a:r>
              <a:rPr sz="3200" spc="-65" dirty="0"/>
              <a:t> </a:t>
            </a:r>
            <a:r>
              <a:rPr sz="3200" spc="-5" dirty="0"/>
              <a:t>Flag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612140" y="1320800"/>
            <a:ext cx="7719695" cy="2023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6715" marR="5080" indent="-38671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86715" algn="l"/>
                <a:tab pos="387350" algn="l"/>
              </a:tabLst>
            </a:pPr>
            <a:r>
              <a:rPr sz="1800" spc="-5" dirty="0">
                <a:latin typeface="Times New Roman"/>
                <a:cs typeface="Times New Roman"/>
              </a:rPr>
              <a:t>Direction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Flag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(DF)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is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used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to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control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way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SI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and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DI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are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adjusted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during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execution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 a</a:t>
            </a:r>
            <a:r>
              <a:rPr sz="1800" spc="-5" dirty="0">
                <a:latin typeface="Times New Roman"/>
                <a:cs typeface="Times New Roman"/>
              </a:rPr>
              <a:t> string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instruction</a:t>
            </a:r>
            <a:endParaRPr sz="1800">
              <a:latin typeface="Times New Roman"/>
              <a:cs typeface="Times New Roman"/>
            </a:endParaRPr>
          </a:p>
          <a:p>
            <a:pPr marL="740410" marR="431165" lvl="1" indent="-253365">
              <a:lnSpc>
                <a:spcPct val="100000"/>
              </a:lnSpc>
              <a:spcBef>
                <a:spcPts val="1435"/>
              </a:spcBef>
              <a:buChar char="—"/>
              <a:tabLst>
                <a:tab pos="741680" algn="l"/>
              </a:tabLst>
            </a:pPr>
            <a:r>
              <a:rPr sz="1600" spc="-5" dirty="0">
                <a:latin typeface="Times New Roman"/>
                <a:cs typeface="Times New Roman"/>
              </a:rPr>
              <a:t>DF=0,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SI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DI </a:t>
            </a:r>
            <a:r>
              <a:rPr sz="1600" spc="-5" dirty="0">
                <a:latin typeface="Times New Roman"/>
                <a:cs typeface="Times New Roman"/>
              </a:rPr>
              <a:t>will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auto-increment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during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execution;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otherwise, SI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DI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auto-decrement</a:t>
            </a:r>
            <a:endParaRPr sz="1600">
              <a:latin typeface="Times New Roman"/>
              <a:cs typeface="Times New Roman"/>
            </a:endParaRPr>
          </a:p>
          <a:p>
            <a:pPr marL="782320" lvl="1" indent="-254635">
              <a:lnSpc>
                <a:spcPct val="100000"/>
              </a:lnSpc>
              <a:spcBef>
                <a:spcPts val="960"/>
              </a:spcBef>
              <a:buChar char="—"/>
              <a:tabLst>
                <a:tab pos="782955" algn="l"/>
                <a:tab pos="2672080" algn="l"/>
              </a:tabLst>
            </a:pPr>
            <a:r>
              <a:rPr sz="1600" spc="-5" dirty="0">
                <a:latin typeface="Times New Roman"/>
                <a:cs typeface="Times New Roman"/>
              </a:rPr>
              <a:t>Instruction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set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DF:	</a:t>
            </a:r>
            <a:r>
              <a:rPr sz="1600" b="1" spc="-5" dirty="0">
                <a:latin typeface="Times New Roman"/>
                <a:cs typeface="Times New Roman"/>
              </a:rPr>
              <a:t>STD</a:t>
            </a:r>
            <a:r>
              <a:rPr sz="1600" spc="-5" dirty="0">
                <a:latin typeface="Times New Roman"/>
                <a:cs typeface="Times New Roman"/>
              </a:rPr>
              <a:t>;</a:t>
            </a:r>
            <a:r>
              <a:rPr sz="1600" spc="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Instruction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clear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DF: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CLD</a:t>
            </a:r>
            <a:endParaRPr sz="1600">
              <a:latin typeface="Times New Roman"/>
              <a:cs typeface="Times New Roman"/>
            </a:endParaRPr>
          </a:p>
          <a:p>
            <a:pPr marL="799465" lvl="1" indent="-254000">
              <a:lnSpc>
                <a:spcPct val="100000"/>
              </a:lnSpc>
              <a:spcBef>
                <a:spcPts val="1330"/>
              </a:spcBef>
              <a:buChar char="—"/>
              <a:tabLst>
                <a:tab pos="800100" algn="l"/>
              </a:tabLst>
            </a:pPr>
            <a:r>
              <a:rPr sz="1600" spc="-5" dirty="0">
                <a:latin typeface="Times New Roman"/>
                <a:cs typeface="Times New Roman"/>
              </a:rPr>
              <a:t>Example: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6539" y="3529838"/>
            <a:ext cx="1447800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Times New Roman"/>
                <a:cs typeface="Times New Roman"/>
              </a:rPr>
              <a:t>CLD</a:t>
            </a: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MOV CX, 5 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spc="-5" dirty="0">
                <a:latin typeface="Times New Roman"/>
                <a:cs typeface="Times New Roman"/>
              </a:rPr>
              <a:t>P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</a:t>
            </a:r>
            <a:r>
              <a:rPr sz="2000" spc="-10" dirty="0">
                <a:latin typeface="Times New Roman"/>
                <a:cs typeface="Times New Roman"/>
              </a:rPr>
              <a:t>OV</a:t>
            </a:r>
            <a:r>
              <a:rPr sz="2000" spc="-5" dirty="0">
                <a:latin typeface="Times New Roman"/>
                <a:cs typeface="Times New Roman"/>
              </a:rPr>
              <a:t>SB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74139" y="4979161"/>
            <a:ext cx="250952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At </a:t>
            </a:r>
            <a:r>
              <a:rPr sz="1600" spc="-5" dirty="0">
                <a:latin typeface="Times New Roman"/>
                <a:cs typeface="Times New Roman"/>
              </a:rPr>
              <a:t>the beginning </a:t>
            </a:r>
            <a:r>
              <a:rPr sz="1600" dirty="0">
                <a:latin typeface="Times New Roman"/>
                <a:cs typeface="Times New Roman"/>
              </a:rPr>
              <a:t>of </a:t>
            </a:r>
            <a:r>
              <a:rPr sz="1600" spc="-5" dirty="0">
                <a:latin typeface="Times New Roman"/>
                <a:cs typeface="Times New Roman"/>
              </a:rPr>
              <a:t>execution,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DS=0510H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SI=0000H</a:t>
            </a:r>
            <a:endParaRPr sz="1600">
              <a:latin typeface="Times New Roman"/>
              <a:cs typeface="Times New Roman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530850" y="3657600"/>
          <a:ext cx="857250" cy="2444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194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53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194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48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194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4F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194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50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194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50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194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45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0353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52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6504951" y="3746845"/>
            <a:ext cx="198120" cy="2173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5080" indent="-15875">
              <a:lnSpc>
                <a:spcPct val="1308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S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</a:t>
            </a:r>
            <a:endParaRPr sz="1600">
              <a:latin typeface="Times New Roman"/>
              <a:cs typeface="Times New Roman"/>
            </a:endParaRPr>
          </a:p>
          <a:p>
            <a:pPr marL="22225" indent="-10160">
              <a:lnSpc>
                <a:spcPct val="100000"/>
              </a:lnSpc>
              <a:spcBef>
                <a:spcPts val="830"/>
              </a:spcBef>
            </a:pPr>
            <a:r>
              <a:rPr sz="1600" dirty="0">
                <a:latin typeface="Times New Roman"/>
                <a:cs typeface="Times New Roman"/>
              </a:rPr>
              <a:t>O</a:t>
            </a:r>
            <a:endParaRPr sz="1600">
              <a:latin typeface="Times New Roman"/>
              <a:cs typeface="Times New Roman"/>
            </a:endParaRPr>
          </a:p>
          <a:p>
            <a:pPr marL="38100" marR="38735" indent="-15875">
              <a:lnSpc>
                <a:spcPts val="1800"/>
              </a:lnSpc>
              <a:spcBef>
                <a:spcPts val="775"/>
              </a:spcBef>
            </a:pPr>
            <a:r>
              <a:rPr sz="1600" dirty="0">
                <a:latin typeface="Times New Roman"/>
                <a:cs typeface="Times New Roman"/>
              </a:rPr>
              <a:t>P  P</a:t>
            </a:r>
            <a:endParaRPr sz="1600">
              <a:latin typeface="Times New Roman"/>
              <a:cs typeface="Times New Roman"/>
            </a:endParaRPr>
          </a:p>
          <a:p>
            <a:pPr marL="22225" marR="31750">
              <a:lnSpc>
                <a:spcPts val="2400"/>
              </a:lnSpc>
              <a:spcBef>
                <a:spcPts val="65"/>
              </a:spcBef>
            </a:pPr>
            <a:r>
              <a:rPr sz="1600" dirty="0">
                <a:latin typeface="Times New Roman"/>
                <a:cs typeface="Times New Roman"/>
              </a:rPr>
              <a:t>E  R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49142" y="3470664"/>
            <a:ext cx="910590" cy="2463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7145" indent="55244">
              <a:lnSpc>
                <a:spcPct val="125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DS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: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SI </a:t>
            </a:r>
            <a:r>
              <a:rPr sz="1600" dirty="0">
                <a:latin typeface="Times New Roman"/>
                <a:cs typeface="Times New Roman"/>
              </a:rPr>
              <a:t> 0510</a:t>
            </a:r>
            <a:r>
              <a:rPr sz="1600" spc="-5" dirty="0">
                <a:latin typeface="Times New Roman"/>
                <a:cs typeface="Times New Roman"/>
              </a:rPr>
              <a:t>:</a:t>
            </a:r>
            <a:r>
              <a:rPr sz="1600" dirty="0">
                <a:latin typeface="Times New Roman"/>
                <a:cs typeface="Times New Roman"/>
              </a:rPr>
              <a:t>00</a:t>
            </a:r>
            <a:r>
              <a:rPr sz="1600" spc="-5" dirty="0">
                <a:latin typeface="Times New Roman"/>
                <a:cs typeface="Times New Roman"/>
              </a:rPr>
              <a:t>0</a:t>
            </a:r>
            <a:r>
              <a:rPr sz="1600" dirty="0">
                <a:latin typeface="Times New Roman"/>
                <a:cs typeface="Times New Roman"/>
              </a:rPr>
              <a:t>0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spc="-5" dirty="0">
                <a:latin typeface="Times New Roman"/>
                <a:cs typeface="Times New Roman"/>
              </a:rPr>
              <a:t>0510:0001</a:t>
            </a:r>
            <a:endParaRPr sz="1600">
              <a:latin typeface="Times New Roman"/>
              <a:cs typeface="Times New Roman"/>
            </a:endParaRPr>
          </a:p>
          <a:p>
            <a:pPr marL="24765">
              <a:lnSpc>
                <a:spcPct val="100000"/>
              </a:lnSpc>
              <a:spcBef>
                <a:spcPts val="475"/>
              </a:spcBef>
            </a:pPr>
            <a:r>
              <a:rPr sz="1600" spc="-5" dirty="0">
                <a:latin typeface="Times New Roman"/>
                <a:cs typeface="Times New Roman"/>
              </a:rPr>
              <a:t>0510:0002</a:t>
            </a:r>
            <a:endParaRPr sz="1600">
              <a:latin typeface="Times New Roman"/>
              <a:cs typeface="Times New Roman"/>
            </a:endParaRPr>
          </a:p>
          <a:p>
            <a:pPr marL="24765">
              <a:lnSpc>
                <a:spcPct val="100000"/>
              </a:lnSpc>
              <a:spcBef>
                <a:spcPts val="835"/>
              </a:spcBef>
            </a:pPr>
            <a:r>
              <a:rPr sz="1600" spc="-5" dirty="0">
                <a:latin typeface="Times New Roman"/>
                <a:cs typeface="Times New Roman"/>
              </a:rPr>
              <a:t>0510:0003</a:t>
            </a:r>
            <a:endParaRPr sz="1600">
              <a:latin typeface="Times New Roman"/>
              <a:cs typeface="Times New Roman"/>
            </a:endParaRPr>
          </a:p>
          <a:p>
            <a:pPr marL="24765">
              <a:lnSpc>
                <a:spcPct val="100000"/>
              </a:lnSpc>
              <a:spcBef>
                <a:spcPts val="480"/>
              </a:spcBef>
            </a:pPr>
            <a:r>
              <a:rPr sz="1600" spc="-5" dirty="0">
                <a:latin typeface="Times New Roman"/>
                <a:cs typeface="Times New Roman"/>
              </a:rPr>
              <a:t>0510:0004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spc="-5" dirty="0">
                <a:latin typeface="Times New Roman"/>
                <a:cs typeface="Times New Roman"/>
              </a:rPr>
              <a:t>0510:0005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spc="-5" dirty="0">
                <a:latin typeface="Times New Roman"/>
                <a:cs typeface="Times New Roman"/>
              </a:rPr>
              <a:t>0510:0006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36509" y="6031540"/>
            <a:ext cx="113792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Source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String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781802" y="3924296"/>
            <a:ext cx="533400" cy="76200"/>
            <a:chOff x="6781802" y="3924296"/>
            <a:chExt cx="533400" cy="76200"/>
          </a:xfrm>
        </p:grpSpPr>
        <p:sp>
          <p:nvSpPr>
            <p:cNvPr id="11" name="object 11"/>
            <p:cNvSpPr/>
            <p:nvPr/>
          </p:nvSpPr>
          <p:spPr>
            <a:xfrm>
              <a:off x="6845299" y="3962399"/>
              <a:ext cx="469900" cy="0"/>
            </a:xfrm>
            <a:custGeom>
              <a:avLst/>
              <a:gdLst/>
              <a:ahLst/>
              <a:cxnLst/>
              <a:rect l="l" t="t" r="r" b="b"/>
              <a:pathLst>
                <a:path w="469900">
                  <a:moveTo>
                    <a:pt x="4699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781802" y="39242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368540" y="3825798"/>
            <a:ext cx="640080" cy="154940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80"/>
              </a:spcBef>
            </a:pPr>
            <a:r>
              <a:rPr sz="2400" spc="-7" baseline="13888" dirty="0">
                <a:latin typeface="Times New Roman"/>
                <a:cs typeface="Times New Roman"/>
              </a:rPr>
              <a:t>SI</a:t>
            </a:r>
            <a:r>
              <a:rPr sz="2400" spc="-127" baseline="13888" dirty="0">
                <a:latin typeface="Times New Roman"/>
                <a:cs typeface="Times New Roman"/>
              </a:rPr>
              <a:t> </a:t>
            </a:r>
            <a:r>
              <a:rPr sz="1050" spc="5" dirty="0">
                <a:latin typeface="Times New Roman"/>
                <a:cs typeface="Times New Roman"/>
              </a:rPr>
              <a:t>CX=5</a:t>
            </a:r>
            <a:endParaRPr sz="105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480"/>
              </a:spcBef>
            </a:pPr>
            <a:r>
              <a:rPr sz="2400" spc="-7" baseline="13888" dirty="0">
                <a:latin typeface="Times New Roman"/>
                <a:cs typeface="Times New Roman"/>
              </a:rPr>
              <a:t>SI</a:t>
            </a:r>
            <a:r>
              <a:rPr sz="2400" spc="-127" baseline="13888" dirty="0">
                <a:latin typeface="Times New Roman"/>
                <a:cs typeface="Times New Roman"/>
              </a:rPr>
              <a:t> </a:t>
            </a:r>
            <a:r>
              <a:rPr sz="1050" spc="5" dirty="0">
                <a:latin typeface="Times New Roman"/>
                <a:cs typeface="Times New Roman"/>
              </a:rPr>
              <a:t>CX=4</a:t>
            </a:r>
            <a:endParaRPr sz="105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830"/>
              </a:spcBef>
            </a:pPr>
            <a:r>
              <a:rPr sz="2400" spc="-7" baseline="13888" dirty="0">
                <a:latin typeface="Times New Roman"/>
                <a:cs typeface="Times New Roman"/>
              </a:rPr>
              <a:t>SI</a:t>
            </a:r>
            <a:r>
              <a:rPr sz="2400" spc="-120" baseline="13888" dirty="0">
                <a:latin typeface="Times New Roman"/>
                <a:cs typeface="Times New Roman"/>
              </a:rPr>
              <a:t> </a:t>
            </a:r>
            <a:r>
              <a:rPr sz="1050" spc="5" dirty="0">
                <a:latin typeface="Times New Roman"/>
                <a:cs typeface="Times New Roman"/>
              </a:rPr>
              <a:t>CX=3</a:t>
            </a:r>
            <a:endParaRPr sz="1050">
              <a:latin typeface="Times New Roman"/>
              <a:cs typeface="Times New Roman"/>
            </a:endParaRPr>
          </a:p>
          <a:p>
            <a:pPr marL="38100">
              <a:lnSpc>
                <a:spcPts val="1860"/>
              </a:lnSpc>
              <a:spcBef>
                <a:spcPts val="730"/>
              </a:spcBef>
            </a:pPr>
            <a:r>
              <a:rPr sz="2400" spc="-7" baseline="13888" dirty="0">
                <a:latin typeface="Times New Roman"/>
                <a:cs typeface="Times New Roman"/>
              </a:rPr>
              <a:t>SI</a:t>
            </a:r>
            <a:r>
              <a:rPr sz="2400" spc="-120" baseline="13888" dirty="0">
                <a:latin typeface="Times New Roman"/>
                <a:cs typeface="Times New Roman"/>
              </a:rPr>
              <a:t> </a:t>
            </a:r>
            <a:r>
              <a:rPr sz="1050" spc="5" dirty="0">
                <a:latin typeface="Times New Roman"/>
                <a:cs typeface="Times New Roman"/>
              </a:rPr>
              <a:t>CX=2</a:t>
            </a:r>
            <a:endParaRPr sz="1050">
              <a:latin typeface="Times New Roman"/>
              <a:cs typeface="Times New Roman"/>
            </a:endParaRPr>
          </a:p>
          <a:p>
            <a:pPr marL="38100">
              <a:lnSpc>
                <a:spcPts val="1860"/>
              </a:lnSpc>
            </a:pPr>
            <a:r>
              <a:rPr sz="2400" spc="-7" baseline="13888" dirty="0">
                <a:latin typeface="Times New Roman"/>
                <a:cs typeface="Times New Roman"/>
              </a:rPr>
              <a:t>SI</a:t>
            </a:r>
            <a:r>
              <a:rPr sz="2400" spc="-120" baseline="13888" dirty="0">
                <a:latin typeface="Times New Roman"/>
                <a:cs typeface="Times New Roman"/>
              </a:rPr>
              <a:t> </a:t>
            </a:r>
            <a:r>
              <a:rPr sz="1050" spc="5" dirty="0">
                <a:latin typeface="Times New Roman"/>
                <a:cs typeface="Times New Roman"/>
              </a:rPr>
              <a:t>CX=1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781802" y="4229096"/>
            <a:ext cx="533400" cy="76200"/>
            <a:chOff x="6781802" y="4229096"/>
            <a:chExt cx="533400" cy="76200"/>
          </a:xfrm>
        </p:grpSpPr>
        <p:sp>
          <p:nvSpPr>
            <p:cNvPr id="15" name="object 15"/>
            <p:cNvSpPr/>
            <p:nvPr/>
          </p:nvSpPr>
          <p:spPr>
            <a:xfrm>
              <a:off x="6845299" y="4267199"/>
              <a:ext cx="469900" cy="0"/>
            </a:xfrm>
            <a:custGeom>
              <a:avLst/>
              <a:gdLst/>
              <a:ahLst/>
              <a:cxnLst/>
              <a:rect l="l" t="t" r="r" b="b"/>
              <a:pathLst>
                <a:path w="469900">
                  <a:moveTo>
                    <a:pt x="4699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781802" y="42290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6781802" y="4578346"/>
            <a:ext cx="533400" cy="76200"/>
            <a:chOff x="6781802" y="4578346"/>
            <a:chExt cx="533400" cy="76200"/>
          </a:xfrm>
        </p:grpSpPr>
        <p:sp>
          <p:nvSpPr>
            <p:cNvPr id="18" name="object 18"/>
            <p:cNvSpPr/>
            <p:nvPr/>
          </p:nvSpPr>
          <p:spPr>
            <a:xfrm>
              <a:off x="6845299" y="4616449"/>
              <a:ext cx="469900" cy="0"/>
            </a:xfrm>
            <a:custGeom>
              <a:avLst/>
              <a:gdLst/>
              <a:ahLst/>
              <a:cxnLst/>
              <a:rect l="l" t="t" r="r" b="b"/>
              <a:pathLst>
                <a:path w="469900">
                  <a:moveTo>
                    <a:pt x="4699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781802" y="457834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6781802" y="4914896"/>
            <a:ext cx="533400" cy="76200"/>
            <a:chOff x="6781802" y="4914896"/>
            <a:chExt cx="533400" cy="76200"/>
          </a:xfrm>
        </p:grpSpPr>
        <p:sp>
          <p:nvSpPr>
            <p:cNvPr id="21" name="object 21"/>
            <p:cNvSpPr/>
            <p:nvPr/>
          </p:nvSpPr>
          <p:spPr>
            <a:xfrm>
              <a:off x="6845299" y="4952999"/>
              <a:ext cx="469900" cy="0"/>
            </a:xfrm>
            <a:custGeom>
              <a:avLst/>
              <a:gdLst/>
              <a:ahLst/>
              <a:cxnLst/>
              <a:rect l="l" t="t" r="r" b="b"/>
              <a:pathLst>
                <a:path w="469900">
                  <a:moveTo>
                    <a:pt x="4699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781802" y="49148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6781802" y="5143496"/>
            <a:ext cx="533400" cy="76200"/>
            <a:chOff x="6781802" y="5143496"/>
            <a:chExt cx="533400" cy="76200"/>
          </a:xfrm>
        </p:grpSpPr>
        <p:sp>
          <p:nvSpPr>
            <p:cNvPr id="24" name="object 24"/>
            <p:cNvSpPr/>
            <p:nvPr/>
          </p:nvSpPr>
          <p:spPr>
            <a:xfrm>
              <a:off x="6845299" y="5181599"/>
              <a:ext cx="469900" cy="0"/>
            </a:xfrm>
            <a:custGeom>
              <a:avLst/>
              <a:gdLst/>
              <a:ahLst/>
              <a:cxnLst/>
              <a:rect l="l" t="t" r="r" b="b"/>
              <a:pathLst>
                <a:path w="469900">
                  <a:moveTo>
                    <a:pt x="4699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781802" y="51434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6781802" y="5492746"/>
            <a:ext cx="533400" cy="76200"/>
            <a:chOff x="6781802" y="5492746"/>
            <a:chExt cx="533400" cy="76200"/>
          </a:xfrm>
        </p:grpSpPr>
        <p:sp>
          <p:nvSpPr>
            <p:cNvPr id="27" name="object 27"/>
            <p:cNvSpPr/>
            <p:nvPr/>
          </p:nvSpPr>
          <p:spPr>
            <a:xfrm>
              <a:off x="6845299" y="5530849"/>
              <a:ext cx="469900" cy="0"/>
            </a:xfrm>
            <a:custGeom>
              <a:avLst/>
              <a:gdLst/>
              <a:ahLst/>
              <a:cxnLst/>
              <a:rect l="l" t="t" r="r" b="b"/>
              <a:pathLst>
                <a:path w="469900">
                  <a:moveTo>
                    <a:pt x="4699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781802" y="549274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38099"/>
                  </a:lnTo>
                  <a:lnTo>
                    <a:pt x="76200" y="76199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7393940" y="5404611"/>
            <a:ext cx="20574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Times New Roman"/>
                <a:cs typeface="Times New Roman"/>
              </a:rPr>
              <a:t>SI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624826" y="5522722"/>
            <a:ext cx="358775" cy="1885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50" spc="10" dirty="0">
                <a:latin typeface="Times New Roman"/>
                <a:cs typeface="Times New Roman"/>
              </a:rPr>
              <a:t>CX</a:t>
            </a:r>
            <a:r>
              <a:rPr sz="1050" spc="5" dirty="0">
                <a:latin typeface="Times New Roman"/>
                <a:cs typeface="Times New Roman"/>
              </a:rPr>
              <a:t>=0</a:t>
            </a:r>
            <a:endParaRPr sz="1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9561" y="174497"/>
            <a:ext cx="49752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8086</a:t>
            </a:r>
            <a:r>
              <a:rPr sz="3600" spc="-30" dirty="0"/>
              <a:t> </a:t>
            </a:r>
            <a:r>
              <a:rPr sz="3600" spc="-5" dirty="0"/>
              <a:t>Programmer’s</a:t>
            </a:r>
            <a:r>
              <a:rPr sz="3600" spc="-25" dirty="0"/>
              <a:t> </a:t>
            </a:r>
            <a:r>
              <a:rPr sz="3600" spc="-5" dirty="0"/>
              <a:t>Model</a:t>
            </a:r>
            <a:endParaRPr sz="36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359025" y="831850"/>
          <a:ext cx="3359150" cy="15113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4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1330325">
                        <a:lnSpc>
                          <a:spcPts val="208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ES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134874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CS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13487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SS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136779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DS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140589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IP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343150" y="2800350"/>
          <a:ext cx="3359150" cy="2743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93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R="10795"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AH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marL="64706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AL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1079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BH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marL="62865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BL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1079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CH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marL="60960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CL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DH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marL="62865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DL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 gridSpan="2">
                  <a:txBody>
                    <a:bodyPr/>
                    <a:lstStyle/>
                    <a:p>
                      <a:pPr marR="6794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SP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 gridSpan="2">
                  <a:txBody>
                    <a:bodyPr/>
                    <a:lstStyle/>
                    <a:p>
                      <a:pPr marR="9334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BP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 gridSpan="2">
                  <a:txBody>
                    <a:bodyPr/>
                    <a:lstStyle/>
                    <a:p>
                      <a:pPr marR="194945" algn="ctr">
                        <a:lnSpc>
                          <a:spcPts val="2080"/>
                        </a:lnSpc>
                        <a:spcBef>
                          <a:spcPts val="219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SI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 gridSpan="2">
                  <a:txBody>
                    <a:bodyPr/>
                    <a:lstStyle/>
                    <a:p>
                      <a:pPr marR="14414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DI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8450">
                <a:tc gridSpan="2">
                  <a:txBody>
                    <a:bodyPr/>
                    <a:lstStyle/>
                    <a:p>
                      <a:pPr marL="109791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FLAGS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739976" y="2796298"/>
            <a:ext cx="362585" cy="123380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5080" indent="18415">
              <a:lnSpc>
                <a:spcPct val="104200"/>
              </a:lnSpc>
              <a:spcBef>
                <a:spcPts val="10"/>
              </a:spcBef>
            </a:pPr>
            <a:r>
              <a:rPr sz="1800" b="1" spc="-5" dirty="0">
                <a:latin typeface="Arial"/>
                <a:cs typeface="Arial"/>
              </a:rPr>
              <a:t>AX  BX</a:t>
            </a:r>
            <a:endParaRPr sz="1800">
              <a:latin typeface="Arial"/>
              <a:cs typeface="Arial"/>
            </a:endParaRPr>
          </a:p>
          <a:p>
            <a:pPr marL="31115" marR="5080" indent="-19050">
              <a:lnSpc>
                <a:spcPct val="118100"/>
              </a:lnSpc>
            </a:pPr>
            <a:r>
              <a:rPr sz="1800" b="1" spc="-5" dirty="0">
                <a:latin typeface="Arial"/>
                <a:cs typeface="Arial"/>
              </a:rPr>
              <a:t>CX </a:t>
            </a:r>
            <a:r>
              <a:rPr sz="1800" b="1" spc="-49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DX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92723" y="784846"/>
            <a:ext cx="2113915" cy="1587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115" marR="474345" indent="-19050">
              <a:lnSpc>
                <a:spcPct val="1111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Extra Segment </a:t>
            </a:r>
            <a:r>
              <a:rPr sz="1800" b="1" spc="-49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Code</a:t>
            </a:r>
            <a:r>
              <a:rPr sz="1800" b="1" spc="-7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Segment</a:t>
            </a:r>
            <a:endParaRPr sz="1800">
              <a:latin typeface="Arial"/>
              <a:cs typeface="Arial"/>
            </a:endParaRPr>
          </a:p>
          <a:p>
            <a:pPr marL="50800" marR="5080" indent="-38735">
              <a:lnSpc>
                <a:spcPct val="111100"/>
              </a:lnSpc>
              <a:spcBef>
                <a:spcPts val="300"/>
              </a:spcBef>
            </a:pPr>
            <a:r>
              <a:rPr sz="1800" b="1" spc="-5" dirty="0">
                <a:latin typeface="Arial"/>
                <a:cs typeface="Arial"/>
              </a:rPr>
              <a:t>Stack Segment 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Data Segment 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Instruction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Pointer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68847" y="2727718"/>
            <a:ext cx="2947035" cy="2501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287780">
              <a:lnSpc>
                <a:spcPct val="125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Accumulator 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Base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Register</a:t>
            </a:r>
            <a:endParaRPr sz="1800">
              <a:latin typeface="Arial"/>
              <a:cs typeface="Arial"/>
            </a:endParaRPr>
          </a:p>
          <a:p>
            <a:pPr marL="31115" marR="1287780" indent="-19050">
              <a:lnSpc>
                <a:spcPct val="1065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Count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Register </a:t>
            </a:r>
            <a:r>
              <a:rPr sz="1800" b="1" spc="-484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Data Register 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Stack Pointer 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Base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Pointer</a:t>
            </a:r>
            <a:endParaRPr sz="1800">
              <a:latin typeface="Arial"/>
              <a:cs typeface="Arial"/>
            </a:endParaRPr>
          </a:p>
          <a:p>
            <a:pPr marL="50800" marR="5080" indent="-38735">
              <a:lnSpc>
                <a:spcPct val="111100"/>
              </a:lnSpc>
            </a:pPr>
            <a:r>
              <a:rPr sz="1800" b="1" spc="-5" dirty="0">
                <a:latin typeface="Arial"/>
                <a:cs typeface="Arial"/>
              </a:rPr>
              <a:t>Source Index Register 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Destination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Index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Register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36433" y="6613080"/>
            <a:ext cx="37528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latin typeface="Arial"/>
                <a:cs typeface="Arial"/>
              </a:rPr>
              <a:t>I</a:t>
            </a:r>
            <a:r>
              <a:rPr sz="1600" b="1" dirty="0">
                <a:latin typeface="Arial"/>
                <a:cs typeface="Arial"/>
              </a:rPr>
              <a:t>-</a:t>
            </a:r>
            <a:r>
              <a:rPr sz="1600" b="1" spc="-5" dirty="0">
                <a:latin typeface="Arial"/>
                <a:cs typeface="Arial"/>
              </a:rPr>
              <a:t>13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3550" y="1032700"/>
            <a:ext cx="1089025" cy="41148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>
              <a:lnSpc>
                <a:spcPts val="1440"/>
              </a:lnSpc>
              <a:spcBef>
                <a:spcPts val="280"/>
              </a:spcBef>
            </a:pPr>
            <a:r>
              <a:rPr sz="1300" b="1" spc="15" dirty="0">
                <a:latin typeface="Arial"/>
                <a:cs typeface="Arial"/>
              </a:rPr>
              <a:t>BIU </a:t>
            </a:r>
            <a:r>
              <a:rPr sz="1300" b="1" spc="10" dirty="0">
                <a:latin typeface="Arial"/>
                <a:cs typeface="Arial"/>
              </a:rPr>
              <a:t>registers </a:t>
            </a:r>
            <a:r>
              <a:rPr sz="1300" b="1" spc="-350" dirty="0">
                <a:latin typeface="Arial"/>
                <a:cs typeface="Arial"/>
              </a:rPr>
              <a:t> </a:t>
            </a:r>
            <a:r>
              <a:rPr sz="1300" b="1" spc="10" dirty="0">
                <a:latin typeface="Arial"/>
                <a:cs typeface="Arial"/>
              </a:rPr>
              <a:t>(20</a:t>
            </a:r>
            <a:r>
              <a:rPr sz="1300" b="1" spc="-25" dirty="0">
                <a:latin typeface="Arial"/>
                <a:cs typeface="Arial"/>
              </a:rPr>
              <a:t> </a:t>
            </a:r>
            <a:r>
              <a:rPr sz="1300" b="1" spc="10" dirty="0">
                <a:latin typeface="Arial"/>
                <a:cs typeface="Arial"/>
              </a:rPr>
              <a:t>bit</a:t>
            </a:r>
            <a:r>
              <a:rPr sz="1300" b="1" spc="-10" dirty="0">
                <a:latin typeface="Arial"/>
                <a:cs typeface="Arial"/>
              </a:rPr>
              <a:t> </a:t>
            </a:r>
            <a:r>
              <a:rPr sz="1300" b="1" spc="10" dirty="0">
                <a:latin typeface="Arial"/>
                <a:cs typeface="Arial"/>
              </a:rPr>
              <a:t>adder)</a:t>
            </a:r>
            <a:endParaRPr sz="13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6372" y="4785604"/>
            <a:ext cx="1323340" cy="4114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1500"/>
              </a:lnSpc>
              <a:spcBef>
                <a:spcPts val="130"/>
              </a:spcBef>
            </a:pPr>
            <a:r>
              <a:rPr sz="1300" b="1" spc="20" dirty="0">
                <a:latin typeface="Arial"/>
                <a:cs typeface="Arial"/>
              </a:rPr>
              <a:t>EU</a:t>
            </a:r>
            <a:r>
              <a:rPr sz="1300" b="1" spc="-35" dirty="0">
                <a:latin typeface="Arial"/>
                <a:cs typeface="Arial"/>
              </a:rPr>
              <a:t> </a:t>
            </a:r>
            <a:r>
              <a:rPr sz="1300" b="1" spc="10" dirty="0">
                <a:latin typeface="Arial"/>
                <a:cs typeface="Arial"/>
              </a:rPr>
              <a:t>registers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ts val="1500"/>
              </a:lnSpc>
            </a:pPr>
            <a:r>
              <a:rPr sz="1300" b="1" spc="15" dirty="0">
                <a:latin typeface="Arial"/>
                <a:cs typeface="Arial"/>
              </a:rPr>
              <a:t>16</a:t>
            </a:r>
            <a:r>
              <a:rPr sz="1300" b="1" spc="-25" dirty="0">
                <a:latin typeface="Arial"/>
                <a:cs typeface="Arial"/>
              </a:rPr>
              <a:t> </a:t>
            </a:r>
            <a:r>
              <a:rPr sz="1300" b="1" spc="10" dirty="0">
                <a:latin typeface="Arial"/>
                <a:cs typeface="Arial"/>
              </a:rPr>
              <a:t>bit</a:t>
            </a:r>
            <a:r>
              <a:rPr sz="1300" b="1" spc="-10" dirty="0">
                <a:latin typeface="Arial"/>
                <a:cs typeface="Arial"/>
              </a:rPr>
              <a:t> </a:t>
            </a:r>
            <a:r>
              <a:rPr sz="1300" b="1" spc="10" dirty="0">
                <a:latin typeface="Arial"/>
                <a:cs typeface="Arial"/>
              </a:rPr>
              <a:t>arithmetic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11045" y="628904"/>
            <a:ext cx="512254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latin typeface="Times New Roman"/>
                <a:cs typeface="Times New Roman"/>
              </a:rPr>
              <a:t>Memory</a:t>
            </a:r>
            <a:r>
              <a:rPr sz="3200" b="1" spc="-185" dirty="0">
                <a:latin typeface="Times New Roman"/>
                <a:cs typeface="Times New Roman"/>
              </a:rPr>
              <a:t> </a:t>
            </a:r>
            <a:r>
              <a:rPr sz="3200" b="1" spc="-15" dirty="0">
                <a:latin typeface="Times New Roman"/>
                <a:cs typeface="Times New Roman"/>
              </a:rPr>
              <a:t>Address</a:t>
            </a:r>
            <a:r>
              <a:rPr sz="3200" b="1" spc="10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Calculation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85163"/>
            <a:ext cx="4537710" cy="1701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2260" marR="544195" indent="-302260">
              <a:lnSpc>
                <a:spcPct val="100000"/>
              </a:lnSpc>
              <a:spcBef>
                <a:spcPts val="95"/>
              </a:spcBef>
              <a:buFont typeface="Wingdings"/>
              <a:buChar char=""/>
              <a:tabLst>
                <a:tab pos="302260" algn="l"/>
              </a:tabLst>
            </a:pPr>
            <a:r>
              <a:rPr sz="2000" b="1" spc="-5" dirty="0">
                <a:latin typeface="Times New Roman"/>
                <a:cs typeface="Times New Roman"/>
              </a:rPr>
              <a:t>Segment </a:t>
            </a:r>
            <a:r>
              <a:rPr sz="2000" b="1" spc="-10" dirty="0">
                <a:latin typeface="Times New Roman"/>
                <a:cs typeface="Times New Roman"/>
              </a:rPr>
              <a:t>addresses </a:t>
            </a:r>
            <a:r>
              <a:rPr sz="2000" b="1" spc="-5" dirty="0">
                <a:latin typeface="Times New Roman"/>
                <a:cs typeface="Times New Roman"/>
              </a:rPr>
              <a:t>must be </a:t>
            </a:r>
            <a:r>
              <a:rPr sz="2000" b="1" spc="-10" dirty="0">
                <a:latin typeface="Times New Roman"/>
                <a:cs typeface="Times New Roman"/>
              </a:rPr>
              <a:t>stored </a:t>
            </a:r>
            <a:r>
              <a:rPr sz="2000" b="1" spc="-484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in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segment</a:t>
            </a:r>
            <a:r>
              <a:rPr sz="2000" b="1" spc="-10" dirty="0">
                <a:latin typeface="Times New Roman"/>
                <a:cs typeface="Times New Roman"/>
              </a:rPr>
              <a:t> registers</a:t>
            </a:r>
            <a:endParaRPr sz="2000">
              <a:latin typeface="Times New Roman"/>
              <a:cs typeface="Times New Roman"/>
            </a:endParaRPr>
          </a:p>
          <a:p>
            <a:pPr marL="302260" marR="5080" indent="-302260">
              <a:lnSpc>
                <a:spcPct val="100000"/>
              </a:lnSpc>
              <a:spcBef>
                <a:spcPts val="955"/>
              </a:spcBef>
              <a:buFont typeface="Wingdings"/>
              <a:buChar char=""/>
              <a:tabLst>
                <a:tab pos="302260" algn="l"/>
              </a:tabLst>
            </a:pPr>
            <a:r>
              <a:rPr sz="2000" b="1" spc="-5" dirty="0">
                <a:latin typeface="Times New Roman"/>
                <a:cs typeface="Times New Roman"/>
              </a:rPr>
              <a:t>Offset</a:t>
            </a:r>
            <a:r>
              <a:rPr sz="2000" b="1" spc="3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is</a:t>
            </a:r>
            <a:r>
              <a:rPr sz="2200" b="1" spc="-5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derived</a:t>
            </a:r>
            <a:r>
              <a:rPr sz="2000" b="1" spc="45" dirty="0">
                <a:latin typeface="Times New Roman"/>
                <a:cs typeface="Times New Roman"/>
              </a:rPr>
              <a:t> </a:t>
            </a:r>
            <a:r>
              <a:rPr sz="2000" b="1" spc="-15" dirty="0">
                <a:latin typeface="Times New Roman"/>
                <a:cs typeface="Times New Roman"/>
              </a:rPr>
              <a:t>from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the combination </a:t>
            </a:r>
            <a:r>
              <a:rPr sz="2000" b="1" spc="-484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of pointer registers, the Instruction </a:t>
            </a:r>
            <a:r>
              <a:rPr sz="2000" b="1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Pointer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(IP), and</a:t>
            </a:r>
            <a:r>
              <a:rPr sz="2000" b="1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immediate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values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03771" y="1778761"/>
            <a:ext cx="43434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Times New Roman"/>
                <a:cs typeface="Times New Roman"/>
              </a:rPr>
              <a:t>0000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97606" y="2244915"/>
            <a:ext cx="22860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Times New Roman"/>
                <a:cs typeface="Times New Roman"/>
              </a:rPr>
              <a:t>+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334000" y="2743200"/>
            <a:ext cx="3276600" cy="0"/>
          </a:xfrm>
          <a:custGeom>
            <a:avLst/>
            <a:gdLst/>
            <a:ahLst/>
            <a:cxnLst/>
            <a:rect l="l" t="t" r="r" b="b"/>
            <a:pathLst>
              <a:path w="3276600">
                <a:moveTo>
                  <a:pt x="0" y="0"/>
                </a:moveTo>
                <a:lnTo>
                  <a:pt x="32766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865342" y="1828800"/>
            <a:ext cx="1859914" cy="3048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05"/>
              </a:spcBef>
            </a:pPr>
            <a:r>
              <a:rPr sz="1600" b="1" spc="-5" dirty="0">
                <a:latin typeface="Times New Roman"/>
                <a:cs typeface="Times New Roman"/>
              </a:rPr>
              <a:t>Segment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address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96685" y="2317750"/>
            <a:ext cx="1859914" cy="3048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6985" rIns="0" bIns="0" rtlCol="0">
            <a:spAutoFit/>
          </a:bodyPr>
          <a:lstStyle/>
          <a:p>
            <a:pPr marL="436245">
              <a:lnSpc>
                <a:spcPct val="100000"/>
              </a:lnSpc>
              <a:spcBef>
                <a:spcPts val="55"/>
              </a:spcBef>
            </a:pPr>
            <a:r>
              <a:rPr sz="1600" b="1" dirty="0">
                <a:latin typeface="Times New Roman"/>
                <a:cs typeface="Times New Roman"/>
              </a:rPr>
              <a:t>Offset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88228" y="2927350"/>
            <a:ext cx="2568575" cy="3048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6985" rIns="0" bIns="0" rtlCol="0">
            <a:spAutoFit/>
          </a:bodyPr>
          <a:lstStyle/>
          <a:p>
            <a:pPr marL="622300">
              <a:lnSpc>
                <a:spcPct val="100000"/>
              </a:lnSpc>
              <a:spcBef>
                <a:spcPts val="55"/>
              </a:spcBef>
            </a:pPr>
            <a:r>
              <a:rPr sz="1600" b="1" dirty="0">
                <a:latin typeface="Times New Roman"/>
                <a:cs typeface="Times New Roman"/>
              </a:rPr>
              <a:t>Memory</a:t>
            </a:r>
            <a:r>
              <a:rPr sz="1600" b="1" spc="-5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address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5940" y="3606038"/>
            <a:ext cx="143700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5760" indent="-353695">
              <a:lnSpc>
                <a:spcPct val="100000"/>
              </a:lnSpc>
              <a:spcBef>
                <a:spcPts val="95"/>
              </a:spcBef>
              <a:buFont typeface="Wingdings"/>
              <a:buChar char=""/>
              <a:tabLst>
                <a:tab pos="365760" algn="l"/>
                <a:tab pos="366395" algn="l"/>
              </a:tabLst>
            </a:pPr>
            <a:r>
              <a:rPr sz="2000" b="1" spc="-5" dirty="0">
                <a:latin typeface="Times New Roman"/>
                <a:cs typeface="Times New Roman"/>
              </a:rPr>
              <a:t>Examples</a:t>
            </a:r>
            <a:endParaRPr sz="2000">
              <a:latin typeface="Times New Roman"/>
              <a:cs typeface="Times New Roman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2660650" y="4140200"/>
          <a:ext cx="1543050" cy="927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3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4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8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85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4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4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3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8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B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4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916891" y="4112071"/>
            <a:ext cx="1711960" cy="908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31900" marR="45085">
              <a:lnSpc>
                <a:spcPct val="125000"/>
              </a:lnSpc>
              <a:spcBef>
                <a:spcPts val="100"/>
              </a:spcBef>
            </a:pPr>
            <a:r>
              <a:rPr sz="1600" b="1" dirty="0">
                <a:latin typeface="Times New Roman"/>
                <a:cs typeface="Times New Roman"/>
              </a:rPr>
              <a:t>CS </a:t>
            </a:r>
            <a:r>
              <a:rPr sz="1600" b="1" spc="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IP</a:t>
            </a:r>
            <a:r>
              <a:rPr sz="1600" b="1" spc="3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+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600" b="1" spc="-5" dirty="0">
                <a:latin typeface="Times New Roman"/>
                <a:cs typeface="Times New Roman"/>
              </a:rPr>
              <a:t>Instruction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address</a:t>
            </a:r>
            <a:endParaRPr sz="1600">
              <a:latin typeface="Times New Roman"/>
              <a:cs typeface="Times New Roman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6169025" y="4140200"/>
          <a:ext cx="1543050" cy="927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5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85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F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F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5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F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F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4803081" y="4112071"/>
            <a:ext cx="1294130" cy="908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4075" marR="5080">
              <a:lnSpc>
                <a:spcPct val="125000"/>
              </a:lnSpc>
              <a:spcBef>
                <a:spcPts val="100"/>
              </a:spcBef>
            </a:pPr>
            <a:r>
              <a:rPr sz="1600" b="1" spc="-5" dirty="0">
                <a:latin typeface="Times New Roman"/>
                <a:cs typeface="Times New Roman"/>
              </a:rPr>
              <a:t>SS </a:t>
            </a:r>
            <a:r>
              <a:rPr sz="1600" b="1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SP</a:t>
            </a:r>
            <a:r>
              <a:rPr sz="1600" b="1" spc="9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+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600" b="1" spc="-5" dirty="0">
                <a:latin typeface="Times New Roman"/>
                <a:cs typeface="Times New Roman"/>
              </a:rPr>
              <a:t>Stack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address</a:t>
            </a:r>
            <a:endParaRPr sz="1600">
              <a:latin typeface="Times New Roman"/>
              <a:cs typeface="Times New Roman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2660650" y="5327650"/>
          <a:ext cx="1543050" cy="927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3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85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4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3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6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" name="object 16"/>
          <p:cNvSpPr txBox="1"/>
          <p:nvPr/>
        </p:nvSpPr>
        <p:spPr>
          <a:xfrm>
            <a:off x="1286771" y="5299521"/>
            <a:ext cx="1302385" cy="908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1694" marR="5080">
              <a:lnSpc>
                <a:spcPct val="125000"/>
              </a:lnSpc>
              <a:spcBef>
                <a:spcPts val="100"/>
              </a:spcBef>
            </a:pPr>
            <a:r>
              <a:rPr sz="1600" b="1" dirty="0">
                <a:latin typeface="Times New Roman"/>
                <a:cs typeface="Times New Roman"/>
              </a:rPr>
              <a:t>DS </a:t>
            </a:r>
            <a:r>
              <a:rPr sz="1600" b="1" spc="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DI</a:t>
            </a:r>
            <a:r>
              <a:rPr sz="1600" b="1" spc="17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+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600" b="1" dirty="0">
                <a:latin typeface="Times New Roman"/>
                <a:cs typeface="Times New Roman"/>
              </a:rPr>
              <a:t>Data</a:t>
            </a:r>
            <a:r>
              <a:rPr sz="1600" b="1" spc="-6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address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89700" y="24892"/>
            <a:ext cx="114427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5" dirty="0">
                <a:latin typeface="Arial"/>
                <a:cs typeface="Arial"/>
              </a:rPr>
              <a:t>EEE/CSE</a:t>
            </a:r>
            <a:r>
              <a:rPr sz="1400" b="1" spc="-60" dirty="0">
                <a:latin typeface="Arial"/>
                <a:cs typeface="Arial"/>
              </a:rPr>
              <a:t> </a:t>
            </a:r>
            <a:r>
              <a:rPr sz="1400" b="1" spc="-5" dirty="0">
                <a:latin typeface="Arial"/>
                <a:cs typeface="Arial"/>
              </a:rPr>
              <a:t>226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295400" y="781050"/>
            <a:ext cx="5257800" cy="5181600"/>
            <a:chOff x="1295400" y="781050"/>
            <a:chExt cx="5257800" cy="5181600"/>
          </a:xfrm>
        </p:grpSpPr>
        <p:sp>
          <p:nvSpPr>
            <p:cNvPr id="4" name="object 4"/>
            <p:cNvSpPr/>
            <p:nvPr/>
          </p:nvSpPr>
          <p:spPr>
            <a:xfrm>
              <a:off x="1301750" y="1492250"/>
              <a:ext cx="1701800" cy="2406650"/>
            </a:xfrm>
            <a:custGeom>
              <a:avLst/>
              <a:gdLst/>
              <a:ahLst/>
              <a:cxnLst/>
              <a:rect l="l" t="t" r="r" b="b"/>
              <a:pathLst>
                <a:path w="1701800" h="2406650">
                  <a:moveTo>
                    <a:pt x="1701800" y="0"/>
                  </a:moveTo>
                  <a:lnTo>
                    <a:pt x="0" y="0"/>
                  </a:lnTo>
                  <a:lnTo>
                    <a:pt x="0" y="2406650"/>
                  </a:lnTo>
                  <a:lnTo>
                    <a:pt x="1701800" y="2406650"/>
                  </a:lnTo>
                  <a:lnTo>
                    <a:pt x="1701800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01750" y="1492250"/>
              <a:ext cx="1701800" cy="2406650"/>
            </a:xfrm>
            <a:custGeom>
              <a:avLst/>
              <a:gdLst/>
              <a:ahLst/>
              <a:cxnLst/>
              <a:rect l="l" t="t" r="r" b="b"/>
              <a:pathLst>
                <a:path w="1701800" h="2406650">
                  <a:moveTo>
                    <a:pt x="0" y="0"/>
                  </a:moveTo>
                  <a:lnTo>
                    <a:pt x="1701800" y="0"/>
                  </a:lnTo>
                  <a:lnTo>
                    <a:pt x="1701800" y="2406650"/>
                  </a:lnTo>
                  <a:lnTo>
                    <a:pt x="0" y="240665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711700" y="787400"/>
              <a:ext cx="1835150" cy="5168900"/>
            </a:xfrm>
            <a:custGeom>
              <a:avLst/>
              <a:gdLst/>
              <a:ahLst/>
              <a:cxnLst/>
              <a:rect l="l" t="t" r="r" b="b"/>
              <a:pathLst>
                <a:path w="1835150" h="5168900">
                  <a:moveTo>
                    <a:pt x="1835150" y="0"/>
                  </a:moveTo>
                  <a:lnTo>
                    <a:pt x="0" y="0"/>
                  </a:lnTo>
                  <a:lnTo>
                    <a:pt x="0" y="5168900"/>
                  </a:lnTo>
                  <a:lnTo>
                    <a:pt x="1835150" y="5168900"/>
                  </a:lnTo>
                  <a:lnTo>
                    <a:pt x="1835150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711700" y="787400"/>
              <a:ext cx="1835150" cy="5168900"/>
            </a:xfrm>
            <a:custGeom>
              <a:avLst/>
              <a:gdLst/>
              <a:ahLst/>
              <a:cxnLst/>
              <a:rect l="l" t="t" r="r" b="b"/>
              <a:pathLst>
                <a:path w="1835150" h="5168900">
                  <a:moveTo>
                    <a:pt x="0" y="0"/>
                  </a:moveTo>
                  <a:lnTo>
                    <a:pt x="1835150" y="0"/>
                  </a:lnTo>
                  <a:lnTo>
                    <a:pt x="1835150" y="5168900"/>
                  </a:lnTo>
                  <a:lnTo>
                    <a:pt x="0" y="51689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20800" y="4096829"/>
            <a:ext cx="1412875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425"/>
              </a:spcBef>
            </a:pPr>
            <a:r>
              <a:rPr sz="2400" b="1" spc="-5" dirty="0">
                <a:latin typeface="Arial"/>
                <a:cs typeface="Arial"/>
              </a:rPr>
              <a:t>Segment </a:t>
            </a:r>
            <a:r>
              <a:rPr sz="2400" b="1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R</a:t>
            </a:r>
            <a:r>
              <a:rPr sz="2400" b="1" spc="-10" dirty="0">
                <a:latin typeface="Arial"/>
                <a:cs typeface="Arial"/>
              </a:rPr>
              <a:t>egiste</a:t>
            </a:r>
            <a:r>
              <a:rPr sz="2400" b="1" spc="-5" dirty="0">
                <a:latin typeface="Arial"/>
                <a:cs typeface="Arial"/>
              </a:rPr>
              <a:t>rs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01750" y="1492250"/>
            <a:ext cx="1701800" cy="622300"/>
          </a:xfrm>
          <a:prstGeom prst="rect">
            <a:avLst/>
          </a:prstGeom>
          <a:solidFill>
            <a:srgbClr val="00CC99"/>
          </a:solidFill>
          <a:ln w="12700">
            <a:solidFill>
              <a:srgbClr val="000000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1700">
              <a:latin typeface="Times New Roman"/>
              <a:cs typeface="Times New Roman"/>
            </a:endParaRPr>
          </a:p>
          <a:p>
            <a:pPr marL="279400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CODE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01750" y="2114550"/>
            <a:ext cx="1701800" cy="590550"/>
          </a:xfrm>
          <a:prstGeom prst="rect">
            <a:avLst/>
          </a:prstGeom>
          <a:solidFill>
            <a:srgbClr val="00CC99"/>
          </a:solidFill>
          <a:ln w="12700">
            <a:solidFill>
              <a:srgbClr val="000000"/>
            </a:solidFill>
          </a:ln>
        </p:spPr>
        <p:txBody>
          <a:bodyPr vert="horz" wrap="square" lIns="0" tIns="142240" rIns="0" bIns="0" rtlCol="0">
            <a:spAutoFit/>
          </a:bodyPr>
          <a:lstStyle/>
          <a:p>
            <a:pPr marL="183515">
              <a:lnSpc>
                <a:spcPct val="100000"/>
              </a:lnSpc>
              <a:spcBef>
                <a:spcPts val="1120"/>
              </a:spcBef>
            </a:pPr>
            <a:r>
              <a:rPr sz="1800" b="1" spc="-30" dirty="0">
                <a:latin typeface="Arial"/>
                <a:cs typeface="Arial"/>
              </a:rPr>
              <a:t>STACK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01750" y="2705100"/>
            <a:ext cx="1701800" cy="685800"/>
          </a:xfrm>
          <a:prstGeom prst="rect">
            <a:avLst/>
          </a:prstGeom>
          <a:solidFill>
            <a:srgbClr val="00CC99"/>
          </a:solidFill>
          <a:ln w="12700">
            <a:solidFill>
              <a:srgbClr val="000000"/>
            </a:solidFill>
          </a:ln>
        </p:spPr>
        <p:txBody>
          <a:bodyPr vert="horz" wrap="square" lIns="0" tIns="219075" rIns="0" bIns="0" rtlCol="0">
            <a:spAutoFit/>
          </a:bodyPr>
          <a:lstStyle/>
          <a:p>
            <a:pPr marL="183515">
              <a:lnSpc>
                <a:spcPct val="100000"/>
              </a:lnSpc>
              <a:spcBef>
                <a:spcPts val="1725"/>
              </a:spcBef>
            </a:pPr>
            <a:r>
              <a:rPr sz="1800" b="1" spc="-105" dirty="0">
                <a:latin typeface="Arial"/>
                <a:cs typeface="Arial"/>
              </a:rPr>
              <a:t>DATA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01750" y="3390900"/>
            <a:ext cx="1701800" cy="508000"/>
          </a:xfrm>
          <a:prstGeom prst="rect">
            <a:avLst/>
          </a:prstGeom>
          <a:solidFill>
            <a:srgbClr val="00CC99"/>
          </a:solidFill>
          <a:ln w="12700">
            <a:solidFill>
              <a:srgbClr val="000000"/>
            </a:solidFill>
          </a:ln>
        </p:spPr>
        <p:txBody>
          <a:bodyPr vert="horz" wrap="square" lIns="0" tIns="142875" rIns="0" bIns="0" rtlCol="0">
            <a:spAutoFit/>
          </a:bodyPr>
          <a:lstStyle/>
          <a:p>
            <a:pPr marL="126364">
              <a:lnSpc>
                <a:spcPct val="100000"/>
              </a:lnSpc>
              <a:spcBef>
                <a:spcPts val="1125"/>
              </a:spcBef>
            </a:pPr>
            <a:r>
              <a:rPr sz="1800" b="1" spc="-5" dirty="0">
                <a:latin typeface="Arial"/>
                <a:cs typeface="Arial"/>
              </a:rPr>
              <a:t>EXTRA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49800" y="6039929"/>
            <a:ext cx="13849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Arial"/>
                <a:cs typeface="Arial"/>
              </a:rPr>
              <a:t>M</a:t>
            </a:r>
            <a:r>
              <a:rPr sz="2400" b="1" dirty="0">
                <a:latin typeface="Arial"/>
                <a:cs typeface="Arial"/>
              </a:rPr>
              <a:t>E</a:t>
            </a:r>
            <a:r>
              <a:rPr sz="2400" b="1" spc="-5" dirty="0">
                <a:latin typeface="Arial"/>
                <a:cs typeface="Arial"/>
              </a:rPr>
              <a:t>MO</a:t>
            </a:r>
            <a:r>
              <a:rPr sz="2400" b="1" spc="-95" dirty="0">
                <a:latin typeface="Arial"/>
                <a:cs typeface="Arial"/>
              </a:rPr>
              <a:t>R</a:t>
            </a:r>
            <a:r>
              <a:rPr sz="2400" b="1" dirty="0">
                <a:latin typeface="Arial"/>
                <a:cs typeface="Arial"/>
              </a:rPr>
              <a:t>Y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54800" y="472884"/>
            <a:ext cx="941069" cy="54673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265430" marR="5080" indent="-253365">
              <a:lnSpc>
                <a:spcPts val="1939"/>
              </a:lnSpc>
              <a:spcBef>
                <a:spcPts val="345"/>
              </a:spcBef>
            </a:pPr>
            <a:r>
              <a:rPr sz="1800" b="1" spc="-5" dirty="0">
                <a:latin typeface="Arial"/>
                <a:cs typeface="Arial"/>
              </a:rPr>
              <a:t>A</a:t>
            </a:r>
            <a:r>
              <a:rPr sz="1800" b="1" spc="-10" dirty="0">
                <a:latin typeface="Arial"/>
                <a:cs typeface="Arial"/>
              </a:rPr>
              <a:t>d</a:t>
            </a:r>
            <a:r>
              <a:rPr sz="1800" b="1" spc="-5" dirty="0">
                <a:latin typeface="Arial"/>
                <a:cs typeface="Arial"/>
              </a:rPr>
              <a:t>dress  0H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692975" y="5711710"/>
            <a:ext cx="10147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0FFFFFH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706937" y="2051050"/>
            <a:ext cx="1846580" cy="12700"/>
          </a:xfrm>
          <a:custGeom>
            <a:avLst/>
            <a:gdLst/>
            <a:ahLst/>
            <a:cxnLst/>
            <a:rect l="l" t="t" r="r" b="b"/>
            <a:pathLst>
              <a:path w="1846579" h="12700">
                <a:moveTo>
                  <a:pt x="0" y="12700"/>
                </a:moveTo>
                <a:lnTo>
                  <a:pt x="1846262" y="12700"/>
                </a:lnTo>
                <a:lnTo>
                  <a:pt x="1846262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721225" y="2063750"/>
            <a:ext cx="1819275" cy="558800"/>
          </a:xfrm>
          <a:prstGeom prst="rect">
            <a:avLst/>
          </a:prstGeom>
          <a:solidFill>
            <a:srgbClr val="00CC99"/>
          </a:solidFill>
        </p:spPr>
        <p:txBody>
          <a:bodyPr vert="horz" wrap="square" lIns="0" tIns="34290" rIns="0" bIns="0" rtlCol="0">
            <a:spAutoFit/>
          </a:bodyPr>
          <a:lstStyle/>
          <a:p>
            <a:pPr marL="136525" marR="697230">
              <a:lnSpc>
                <a:spcPts val="1939"/>
              </a:lnSpc>
              <a:spcBef>
                <a:spcPts val="270"/>
              </a:spcBef>
            </a:pPr>
            <a:r>
              <a:rPr sz="1800" b="1" spc="-5" dirty="0">
                <a:latin typeface="Arial"/>
                <a:cs typeface="Arial"/>
              </a:rPr>
              <a:t>64K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Data </a:t>
            </a:r>
            <a:r>
              <a:rPr sz="1800" b="1" spc="-484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Segment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711700" y="3733800"/>
            <a:ext cx="1835150" cy="552450"/>
          </a:xfrm>
          <a:prstGeom prst="rect">
            <a:avLst/>
          </a:prstGeom>
          <a:solidFill>
            <a:srgbClr val="00CC99"/>
          </a:solidFill>
          <a:ln w="12700">
            <a:solidFill>
              <a:srgbClr val="000000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284480" marR="552450" indent="-62865">
              <a:lnSpc>
                <a:spcPts val="1939"/>
              </a:lnSpc>
              <a:spcBef>
                <a:spcPts val="470"/>
              </a:spcBef>
            </a:pPr>
            <a:r>
              <a:rPr sz="1800" b="1" spc="-5" dirty="0">
                <a:latin typeface="Arial"/>
                <a:cs typeface="Arial"/>
              </a:rPr>
              <a:t>64K</a:t>
            </a:r>
            <a:r>
              <a:rPr sz="1800" b="1" spc="-9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Code </a:t>
            </a:r>
            <a:r>
              <a:rPr sz="1800" b="1" spc="-484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Segment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011487" y="1803400"/>
            <a:ext cx="3561079" cy="2489200"/>
            <a:chOff x="3011487" y="1803400"/>
            <a:chExt cx="3561079" cy="2489200"/>
          </a:xfrm>
        </p:grpSpPr>
        <p:sp>
          <p:nvSpPr>
            <p:cNvPr id="20" name="object 20"/>
            <p:cNvSpPr/>
            <p:nvPr/>
          </p:nvSpPr>
          <p:spPr>
            <a:xfrm>
              <a:off x="3011487" y="1809750"/>
              <a:ext cx="398780" cy="0"/>
            </a:xfrm>
            <a:custGeom>
              <a:avLst/>
              <a:gdLst/>
              <a:ahLst/>
              <a:cxnLst/>
              <a:rect l="l" t="t" r="r" b="b"/>
              <a:pathLst>
                <a:path w="398779">
                  <a:moveTo>
                    <a:pt x="0" y="0"/>
                  </a:moveTo>
                  <a:lnTo>
                    <a:pt x="39846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429000" y="1811338"/>
              <a:ext cx="0" cy="1922780"/>
            </a:xfrm>
            <a:custGeom>
              <a:avLst/>
              <a:gdLst/>
              <a:ahLst/>
              <a:cxnLst/>
              <a:rect l="l" t="t" r="r" b="b"/>
              <a:pathLst>
                <a:path h="1922779">
                  <a:moveTo>
                    <a:pt x="0" y="0"/>
                  </a:moveTo>
                  <a:lnTo>
                    <a:pt x="0" y="1922462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011487" y="3067050"/>
              <a:ext cx="817880" cy="0"/>
            </a:xfrm>
            <a:custGeom>
              <a:avLst/>
              <a:gdLst/>
              <a:ahLst/>
              <a:cxnLst/>
              <a:rect l="l" t="t" r="r" b="b"/>
              <a:pathLst>
                <a:path w="817879">
                  <a:moveTo>
                    <a:pt x="0" y="0"/>
                  </a:moveTo>
                  <a:lnTo>
                    <a:pt x="81756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811587" y="2058987"/>
              <a:ext cx="17780" cy="1008380"/>
            </a:xfrm>
            <a:custGeom>
              <a:avLst/>
              <a:gdLst/>
              <a:ahLst/>
              <a:cxnLst/>
              <a:rect l="l" t="t" r="r" b="b"/>
              <a:pathLst>
                <a:path w="17779" h="1008380">
                  <a:moveTo>
                    <a:pt x="17462" y="1008062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411537" y="3752850"/>
              <a:ext cx="1230630" cy="0"/>
            </a:xfrm>
            <a:custGeom>
              <a:avLst/>
              <a:gdLst/>
              <a:ahLst/>
              <a:cxnLst/>
              <a:rect l="l" t="t" r="r" b="b"/>
              <a:pathLst>
                <a:path w="1230629">
                  <a:moveTo>
                    <a:pt x="0" y="0"/>
                  </a:moveTo>
                  <a:lnTo>
                    <a:pt x="123031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725987" y="4286250"/>
              <a:ext cx="1846580" cy="0"/>
            </a:xfrm>
            <a:custGeom>
              <a:avLst/>
              <a:gdLst/>
              <a:ahLst/>
              <a:cxnLst/>
              <a:rect l="l" t="t" r="r" b="b"/>
              <a:pathLst>
                <a:path w="1846579">
                  <a:moveTo>
                    <a:pt x="0" y="0"/>
                  </a:moveTo>
                  <a:lnTo>
                    <a:pt x="184626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705350" y="2554288"/>
              <a:ext cx="0" cy="36830"/>
            </a:xfrm>
            <a:custGeom>
              <a:avLst/>
              <a:gdLst/>
              <a:ahLst/>
              <a:cxnLst/>
              <a:rect l="l" t="t" r="r" b="b"/>
              <a:pathLst>
                <a:path h="36830">
                  <a:moveTo>
                    <a:pt x="0" y="0"/>
                  </a:moveTo>
                  <a:lnTo>
                    <a:pt x="0" y="36512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706937" y="2622550"/>
              <a:ext cx="1846580" cy="12700"/>
            </a:xfrm>
            <a:custGeom>
              <a:avLst/>
              <a:gdLst/>
              <a:ahLst/>
              <a:cxnLst/>
              <a:rect l="l" t="t" r="r" b="b"/>
              <a:pathLst>
                <a:path w="1846579" h="12700">
                  <a:moveTo>
                    <a:pt x="0" y="12700"/>
                  </a:moveTo>
                  <a:lnTo>
                    <a:pt x="1846262" y="12700"/>
                  </a:lnTo>
                  <a:lnTo>
                    <a:pt x="1846262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629152" y="371474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811587" y="2057400"/>
              <a:ext cx="849630" cy="0"/>
            </a:xfrm>
            <a:custGeom>
              <a:avLst/>
              <a:gdLst/>
              <a:ahLst/>
              <a:cxnLst/>
              <a:rect l="l" t="t" r="r" b="b"/>
              <a:pathLst>
                <a:path w="849629">
                  <a:moveTo>
                    <a:pt x="0" y="0"/>
                  </a:moveTo>
                  <a:lnTo>
                    <a:pt x="84931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648202" y="20192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501650" y="5178234"/>
            <a:ext cx="3455670" cy="793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5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Segments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are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&lt;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or</a:t>
            </a:r>
            <a:r>
              <a:rPr sz="1800" b="1" dirty="0">
                <a:latin typeface="Arial"/>
                <a:cs typeface="Arial"/>
              </a:rPr>
              <a:t> =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64K,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ts val="1939"/>
              </a:lnSpc>
              <a:spcBef>
                <a:spcPts val="140"/>
              </a:spcBef>
            </a:pPr>
            <a:r>
              <a:rPr sz="1800" b="1" spc="-5" dirty="0">
                <a:latin typeface="Arial"/>
                <a:cs typeface="Arial"/>
              </a:rPr>
              <a:t>can overlap, start at an address </a:t>
            </a:r>
            <a:r>
              <a:rPr sz="1800" b="1" spc="-49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that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ends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in 0H.</a:t>
            </a:r>
            <a:endParaRPr sz="18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607300" y="6562503"/>
            <a:ext cx="400685" cy="28321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600" b="1" spc="-5" dirty="0">
                <a:latin typeface="Arial"/>
                <a:cs typeface="Arial"/>
              </a:rPr>
              <a:t>I-14</a:t>
            </a:r>
            <a:endParaRPr sz="1600">
              <a:latin typeface="Arial"/>
              <a:cs typeface="Arial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title"/>
          </p:nvPr>
        </p:nvSpPr>
        <p:spPr>
          <a:xfrm>
            <a:off x="1130300" y="195517"/>
            <a:ext cx="14808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heavy" dirty="0">
                <a:solidFill>
                  <a:srgbClr val="CCCCFF"/>
                </a:solidFill>
                <a:uFill>
                  <a:solidFill>
                    <a:srgbClr val="CCCCFF"/>
                  </a:solidFill>
                </a:uFill>
                <a:latin typeface="Arial"/>
                <a:cs typeface="Arial"/>
              </a:rPr>
              <a:t>S</a:t>
            </a:r>
            <a:r>
              <a:rPr sz="2400" b="1" u="heavy" spc="-10" dirty="0">
                <a:solidFill>
                  <a:srgbClr val="CCCCFF"/>
                </a:solidFill>
                <a:uFill>
                  <a:solidFill>
                    <a:srgbClr val="CCCCFF"/>
                  </a:solidFill>
                </a:uFill>
                <a:latin typeface="Arial"/>
                <a:cs typeface="Arial"/>
              </a:rPr>
              <a:t>eg</a:t>
            </a:r>
            <a:r>
              <a:rPr sz="2400" b="1" u="heavy" spc="-5" dirty="0">
                <a:solidFill>
                  <a:srgbClr val="CCCCFF"/>
                </a:solidFill>
                <a:uFill>
                  <a:solidFill>
                    <a:srgbClr val="CCCCFF"/>
                  </a:solidFill>
                </a:uFill>
                <a:latin typeface="Arial"/>
                <a:cs typeface="Arial"/>
              </a:rPr>
              <a:t>m</a:t>
            </a:r>
            <a:r>
              <a:rPr sz="2400" b="1" u="heavy" spc="-10" dirty="0">
                <a:solidFill>
                  <a:srgbClr val="CCCCFF"/>
                </a:solidFill>
                <a:uFill>
                  <a:solidFill>
                    <a:srgbClr val="CCCCFF"/>
                  </a:solidFill>
                </a:uFill>
                <a:latin typeface="Arial"/>
                <a:cs typeface="Arial"/>
              </a:rPr>
              <a:t>ents</a:t>
            </a:r>
            <a:endParaRPr sz="24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845300" y="3602482"/>
            <a:ext cx="74612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Symbol"/>
                <a:cs typeface="Symbol"/>
              </a:rPr>
              <a:t>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Arial"/>
                <a:cs typeface="Arial"/>
              </a:rPr>
              <a:t>CS:0</a:t>
            </a:r>
            <a:endParaRPr sz="16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82559" y="819662"/>
            <a:ext cx="4073525" cy="489584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68580" marR="5080" indent="-56515">
              <a:lnSpc>
                <a:spcPts val="1730"/>
              </a:lnSpc>
              <a:spcBef>
                <a:spcPts val="315"/>
              </a:spcBef>
            </a:pPr>
            <a:r>
              <a:rPr sz="1600" b="1" spc="-5" dirty="0">
                <a:latin typeface="Arial"/>
                <a:cs typeface="Arial"/>
              </a:rPr>
              <a:t>Segment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Starting</a:t>
            </a:r>
            <a:r>
              <a:rPr sz="1600" b="1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address is</a:t>
            </a:r>
            <a:r>
              <a:rPr sz="1600" b="1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segment </a:t>
            </a:r>
            <a:r>
              <a:rPr sz="1600" b="1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register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value</a:t>
            </a:r>
            <a:r>
              <a:rPr sz="1600" b="1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shifted</a:t>
            </a:r>
            <a:r>
              <a:rPr sz="1600" b="1" spc="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4 </a:t>
            </a:r>
            <a:r>
              <a:rPr sz="1600" b="1" spc="-5" dirty="0">
                <a:latin typeface="Arial"/>
                <a:cs typeface="Arial"/>
              </a:rPr>
              <a:t>places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to </a:t>
            </a:r>
            <a:r>
              <a:rPr sz="1600" b="1" spc="-5" dirty="0">
                <a:latin typeface="Arial"/>
                <a:cs typeface="Arial"/>
              </a:rPr>
              <a:t>the</a:t>
            </a:r>
            <a:r>
              <a:rPr sz="1600" b="1" spc="1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left.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648200" y="1447800"/>
          <a:ext cx="2444750" cy="3962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25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75882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800" b="1" spc="-105" dirty="0">
                          <a:latin typeface="Arial"/>
                          <a:cs typeface="Arial"/>
                        </a:rPr>
                        <a:t>DATA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67437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800" b="1" spc="-30" dirty="0">
                          <a:latin typeface="Arial"/>
                          <a:cs typeface="Arial"/>
                        </a:rPr>
                        <a:t>STACK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67246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EXTRA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73025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CODE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2063750" y="1987550"/>
            <a:ext cx="977900" cy="444500"/>
          </a:xfrm>
          <a:prstGeom prst="rect">
            <a:avLst/>
          </a:prstGeom>
          <a:solidFill>
            <a:srgbClr val="00CC99"/>
          </a:solidFill>
          <a:ln w="12700">
            <a:solidFill>
              <a:srgbClr val="000000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620"/>
              </a:spcBef>
            </a:pPr>
            <a:r>
              <a:rPr sz="1800" b="1" spc="-5" dirty="0">
                <a:latin typeface="Arial"/>
                <a:cs typeface="Arial"/>
              </a:rPr>
              <a:t>0100H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63750" y="2978150"/>
            <a:ext cx="977900" cy="444500"/>
          </a:xfrm>
          <a:prstGeom prst="rect">
            <a:avLst/>
          </a:prstGeom>
          <a:solidFill>
            <a:srgbClr val="00CC99"/>
          </a:solidFill>
          <a:ln w="12700">
            <a:solidFill>
              <a:srgbClr val="000000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marL="106680">
              <a:lnSpc>
                <a:spcPct val="100000"/>
              </a:lnSpc>
              <a:spcBef>
                <a:spcPts val="620"/>
              </a:spcBef>
            </a:pPr>
            <a:r>
              <a:rPr sz="1800" b="1" spc="-5" dirty="0">
                <a:latin typeface="Arial"/>
                <a:cs typeface="Arial"/>
              </a:rPr>
              <a:t>0B200H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63750" y="3740150"/>
            <a:ext cx="977900" cy="444500"/>
          </a:xfrm>
          <a:prstGeom prst="rect">
            <a:avLst/>
          </a:prstGeom>
          <a:solidFill>
            <a:srgbClr val="00CC99"/>
          </a:solidFill>
          <a:ln w="12700">
            <a:solidFill>
              <a:srgbClr val="000000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marL="101600">
              <a:lnSpc>
                <a:spcPct val="100000"/>
              </a:lnSpc>
              <a:spcBef>
                <a:spcPts val="620"/>
              </a:spcBef>
            </a:pPr>
            <a:r>
              <a:rPr sz="1800" b="1" spc="-5" dirty="0">
                <a:latin typeface="Arial"/>
                <a:cs typeface="Arial"/>
              </a:rPr>
              <a:t>0CF00H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39950" y="4578350"/>
            <a:ext cx="901700" cy="444500"/>
          </a:xfrm>
          <a:prstGeom prst="rect">
            <a:avLst/>
          </a:prstGeom>
          <a:solidFill>
            <a:srgbClr val="00CC99"/>
          </a:solidFill>
          <a:ln w="12700">
            <a:solidFill>
              <a:srgbClr val="000000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20"/>
              </a:spcBef>
            </a:pPr>
            <a:r>
              <a:rPr sz="1800" b="1" spc="-5" dirty="0">
                <a:latin typeface="Arial"/>
                <a:cs typeface="Arial"/>
              </a:rPr>
              <a:t>0FF00H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38681" y="2054034"/>
            <a:ext cx="4197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D</a:t>
            </a:r>
            <a:r>
              <a:rPr sz="1800" b="1" dirty="0">
                <a:latin typeface="Arial"/>
                <a:cs typeface="Arial"/>
              </a:rPr>
              <a:t>S: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55598" y="3044558"/>
            <a:ext cx="4070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SS: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44853" y="3806482"/>
            <a:ext cx="4070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ES: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14805" y="4720882"/>
            <a:ext cx="4197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C</a:t>
            </a:r>
            <a:r>
              <a:rPr sz="1800" b="1" dirty="0">
                <a:latin typeface="Arial"/>
                <a:cs typeface="Arial"/>
              </a:rPr>
              <a:t>S: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049587" y="1993023"/>
            <a:ext cx="1599565" cy="217170"/>
          </a:xfrm>
          <a:custGeom>
            <a:avLst/>
            <a:gdLst/>
            <a:ahLst/>
            <a:cxnLst/>
            <a:rect l="l" t="t" r="r" b="b"/>
            <a:pathLst>
              <a:path w="1599564" h="217169">
                <a:moveTo>
                  <a:pt x="0" y="216776"/>
                </a:moveTo>
                <a:lnTo>
                  <a:pt x="15992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593428" y="1962082"/>
            <a:ext cx="131445" cy="75565"/>
          </a:xfrm>
          <a:custGeom>
            <a:avLst/>
            <a:gdLst/>
            <a:ahLst/>
            <a:cxnLst/>
            <a:rect l="l" t="t" r="r" b="b"/>
            <a:pathLst>
              <a:path w="131445" h="75564">
                <a:moveTo>
                  <a:pt x="0" y="0"/>
                </a:moveTo>
                <a:lnTo>
                  <a:pt x="55460" y="30937"/>
                </a:lnTo>
                <a:lnTo>
                  <a:pt x="10236" y="75514"/>
                </a:lnTo>
                <a:lnTo>
                  <a:pt x="130975" y="207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049587" y="3056420"/>
            <a:ext cx="1598930" cy="144145"/>
          </a:xfrm>
          <a:custGeom>
            <a:avLst/>
            <a:gdLst/>
            <a:ahLst/>
            <a:cxnLst/>
            <a:rect l="l" t="t" r="r" b="b"/>
            <a:pathLst>
              <a:path w="1598929" h="144144">
                <a:moveTo>
                  <a:pt x="0" y="143979"/>
                </a:moveTo>
                <a:lnTo>
                  <a:pt x="1598917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594492" y="3023030"/>
            <a:ext cx="130175" cy="76200"/>
          </a:xfrm>
          <a:custGeom>
            <a:avLst/>
            <a:gdLst/>
            <a:ahLst/>
            <a:cxnLst/>
            <a:rect l="l" t="t" r="r" b="b"/>
            <a:pathLst>
              <a:path w="130175" h="76200">
                <a:moveTo>
                  <a:pt x="0" y="0"/>
                </a:moveTo>
                <a:lnTo>
                  <a:pt x="54013" y="33388"/>
                </a:lnTo>
                <a:lnTo>
                  <a:pt x="6832" y="75882"/>
                </a:lnTo>
                <a:lnTo>
                  <a:pt x="129908" y="2655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3043237" y="4795837"/>
            <a:ext cx="1605280" cy="253365"/>
            <a:chOff x="3043237" y="4795837"/>
            <a:chExt cx="1605280" cy="253365"/>
          </a:xfrm>
        </p:grpSpPr>
        <p:sp>
          <p:nvSpPr>
            <p:cNvPr id="16" name="object 16"/>
            <p:cNvSpPr/>
            <p:nvPr/>
          </p:nvSpPr>
          <p:spPr>
            <a:xfrm>
              <a:off x="3049587" y="4802187"/>
              <a:ext cx="1523365" cy="216535"/>
            </a:xfrm>
            <a:custGeom>
              <a:avLst/>
              <a:gdLst/>
              <a:ahLst/>
              <a:cxnLst/>
              <a:rect l="l" t="t" r="r" b="b"/>
              <a:pathLst>
                <a:path w="1523364" h="216535">
                  <a:moveTo>
                    <a:pt x="0" y="0"/>
                  </a:moveTo>
                  <a:lnTo>
                    <a:pt x="1523174" y="216293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517106" y="4973614"/>
              <a:ext cx="131445" cy="75565"/>
            </a:xfrm>
            <a:custGeom>
              <a:avLst/>
              <a:gdLst/>
              <a:ahLst/>
              <a:cxnLst/>
              <a:rect l="l" t="t" r="r" b="b"/>
              <a:pathLst>
                <a:path w="131445" h="75564">
                  <a:moveTo>
                    <a:pt x="10718" y="0"/>
                  </a:moveTo>
                  <a:lnTo>
                    <a:pt x="55651" y="44869"/>
                  </a:lnTo>
                  <a:lnTo>
                    <a:pt x="0" y="75450"/>
                  </a:lnTo>
                  <a:lnTo>
                    <a:pt x="131089" y="55587"/>
                  </a:lnTo>
                  <a:lnTo>
                    <a:pt x="107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3043237" y="3957637"/>
            <a:ext cx="1605280" cy="113664"/>
            <a:chOff x="3043237" y="3957637"/>
            <a:chExt cx="1605280" cy="113664"/>
          </a:xfrm>
        </p:grpSpPr>
        <p:sp>
          <p:nvSpPr>
            <p:cNvPr id="19" name="object 19"/>
            <p:cNvSpPr/>
            <p:nvPr/>
          </p:nvSpPr>
          <p:spPr>
            <a:xfrm>
              <a:off x="3049587" y="3963987"/>
              <a:ext cx="1522730" cy="71120"/>
            </a:xfrm>
            <a:custGeom>
              <a:avLst/>
              <a:gdLst/>
              <a:ahLst/>
              <a:cxnLst/>
              <a:rect l="l" t="t" r="r" b="b"/>
              <a:pathLst>
                <a:path w="1522729" h="71120">
                  <a:moveTo>
                    <a:pt x="0" y="0"/>
                  </a:moveTo>
                  <a:lnTo>
                    <a:pt x="1522488" y="71056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519555" y="3994619"/>
              <a:ext cx="128905" cy="76200"/>
            </a:xfrm>
            <a:custGeom>
              <a:avLst/>
              <a:gdLst/>
              <a:ahLst/>
              <a:cxnLst/>
              <a:rect l="l" t="t" r="r" b="b"/>
              <a:pathLst>
                <a:path w="128904" h="76200">
                  <a:moveTo>
                    <a:pt x="3556" y="0"/>
                  </a:moveTo>
                  <a:lnTo>
                    <a:pt x="52527" y="40424"/>
                  </a:lnTo>
                  <a:lnTo>
                    <a:pt x="0" y="76111"/>
                  </a:lnTo>
                  <a:lnTo>
                    <a:pt x="128638" y="43980"/>
                  </a:lnTo>
                  <a:lnTo>
                    <a:pt x="355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7226300" y="1718906"/>
            <a:ext cx="863600" cy="787400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1800" b="1" spc="-5" dirty="0">
                <a:latin typeface="Arial"/>
                <a:cs typeface="Arial"/>
              </a:rPr>
              <a:t>01000H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800" b="1" spc="-5" dirty="0">
                <a:latin typeface="Arial"/>
                <a:cs typeface="Arial"/>
              </a:rPr>
              <a:t>10</a:t>
            </a:r>
            <a:r>
              <a:rPr sz="1800" b="1" spc="-10" dirty="0">
                <a:latin typeface="Arial"/>
                <a:cs typeface="Arial"/>
              </a:rPr>
              <a:t>FFFH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607300" y="6562503"/>
            <a:ext cx="400685" cy="28321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600" b="1" spc="-5" dirty="0">
                <a:latin typeface="Arial"/>
                <a:cs typeface="Arial"/>
              </a:rPr>
              <a:t>I-15</a:t>
            </a:r>
            <a:endParaRPr sz="1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276363" y="2785783"/>
            <a:ext cx="1054735" cy="787400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1800" b="1" spc="-5" dirty="0">
                <a:latin typeface="Arial"/>
                <a:cs typeface="Arial"/>
              </a:rPr>
              <a:t>0B2000H</a:t>
            </a:r>
            <a:endParaRPr sz="1800">
              <a:latin typeface="Arial"/>
              <a:cs typeface="Arial"/>
            </a:endParaRPr>
          </a:p>
          <a:p>
            <a:pPr marL="38735">
              <a:lnSpc>
                <a:spcPct val="100000"/>
              </a:lnSpc>
              <a:spcBef>
                <a:spcPts val="840"/>
              </a:spcBef>
            </a:pPr>
            <a:r>
              <a:rPr sz="1800" b="1" spc="-5" dirty="0">
                <a:latin typeface="Arial"/>
                <a:cs typeface="Arial"/>
              </a:rPr>
              <a:t>0C1</a:t>
            </a:r>
            <a:r>
              <a:rPr sz="1800" b="1" spc="-10" dirty="0">
                <a:latin typeface="Arial"/>
                <a:cs typeface="Arial"/>
              </a:rPr>
              <a:t>FFFH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302424" y="3776306"/>
            <a:ext cx="1054100" cy="787400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1800" b="1" spc="-5" dirty="0">
                <a:latin typeface="Arial"/>
                <a:cs typeface="Arial"/>
              </a:rPr>
              <a:t>0CF000H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800" b="1" spc="-5" dirty="0">
                <a:latin typeface="Arial"/>
                <a:cs typeface="Arial"/>
              </a:rPr>
              <a:t>0DEFFFH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302424" y="4842954"/>
            <a:ext cx="1014730" cy="6350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800" b="1" spc="-5" dirty="0">
                <a:latin typeface="Arial"/>
                <a:cs typeface="Arial"/>
              </a:rPr>
              <a:t>0FF000H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800" b="1" spc="-5" dirty="0">
                <a:latin typeface="Arial"/>
                <a:cs typeface="Arial"/>
              </a:rPr>
              <a:t>0FFFFFH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150175" y="1291881"/>
            <a:ext cx="318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0H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968500" y="1291881"/>
            <a:ext cx="1068070" cy="54673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>
              <a:lnSpc>
                <a:spcPts val="1939"/>
              </a:lnSpc>
              <a:spcBef>
                <a:spcPts val="345"/>
              </a:spcBef>
            </a:pPr>
            <a:r>
              <a:rPr sz="1800" b="1" spc="-5" dirty="0">
                <a:latin typeface="Arial"/>
                <a:cs typeface="Arial"/>
              </a:rPr>
              <a:t>Segment 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Re</a:t>
            </a:r>
            <a:r>
              <a:rPr sz="1800" b="1" spc="-10" dirty="0">
                <a:latin typeface="Arial"/>
                <a:cs typeface="Arial"/>
              </a:rPr>
              <a:t>g</a:t>
            </a:r>
            <a:r>
              <a:rPr sz="1800" b="1" spc="-5" dirty="0">
                <a:latin typeface="Arial"/>
                <a:cs typeface="Arial"/>
              </a:rPr>
              <a:t>isters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787823" y="910806"/>
            <a:ext cx="2057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Memory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Segments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96900" y="5757049"/>
            <a:ext cx="8237855" cy="78803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155065">
              <a:lnSpc>
                <a:spcPct val="100000"/>
              </a:lnSpc>
              <a:spcBef>
                <a:spcPts val="940"/>
              </a:spcBef>
            </a:pPr>
            <a:r>
              <a:rPr sz="1800" b="1" spc="-5" dirty="0">
                <a:latin typeface="Arial"/>
                <a:cs typeface="Arial"/>
              </a:rPr>
              <a:t>Segments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are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&lt;</a:t>
            </a:r>
            <a:r>
              <a:rPr sz="1800" b="1" spc="-5" dirty="0">
                <a:latin typeface="Arial"/>
                <a:cs typeface="Arial"/>
              </a:rPr>
              <a:t> or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= </a:t>
            </a:r>
            <a:r>
              <a:rPr sz="1800" b="1" spc="-5" dirty="0">
                <a:latin typeface="Arial"/>
                <a:cs typeface="Arial"/>
              </a:rPr>
              <a:t>64K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and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can overlap.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800" b="1" spc="-5" dirty="0">
                <a:latin typeface="Arial"/>
                <a:cs typeface="Arial"/>
              </a:rPr>
              <a:t>Note that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Code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segment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is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&lt; </a:t>
            </a:r>
            <a:r>
              <a:rPr sz="1800" b="1" spc="-5" dirty="0">
                <a:latin typeface="Arial"/>
                <a:cs typeface="Arial"/>
              </a:rPr>
              <a:t>64K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since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0FFFFFH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is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highest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address.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title"/>
          </p:nvPr>
        </p:nvSpPr>
        <p:spPr>
          <a:xfrm>
            <a:off x="1381125" y="171450"/>
            <a:ext cx="626554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8086</a:t>
            </a:r>
            <a:r>
              <a:rPr spc="-25" dirty="0"/>
              <a:t> </a:t>
            </a:r>
            <a:r>
              <a:rPr spc="-5" dirty="0"/>
              <a:t>Memory</a:t>
            </a:r>
            <a:r>
              <a:rPr spc="-15" dirty="0"/>
              <a:t> </a:t>
            </a:r>
            <a:r>
              <a:rPr spc="-5" dirty="0"/>
              <a:t>Terminology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8287" y="171450"/>
            <a:ext cx="430720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The</a:t>
            </a:r>
            <a:r>
              <a:rPr spc="-45" dirty="0"/>
              <a:t> </a:t>
            </a:r>
            <a:r>
              <a:rPr spc="-5" dirty="0"/>
              <a:t>Code</a:t>
            </a:r>
            <a:r>
              <a:rPr spc="-30" dirty="0"/>
              <a:t> </a:t>
            </a:r>
            <a:r>
              <a:rPr spc="-5" dirty="0"/>
              <a:t>Segment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357437" y="533400"/>
            <a:ext cx="4272280" cy="3581400"/>
            <a:chOff x="2357437" y="533400"/>
            <a:chExt cx="4272280" cy="3581400"/>
          </a:xfrm>
        </p:grpSpPr>
        <p:sp>
          <p:nvSpPr>
            <p:cNvPr id="4" name="object 4"/>
            <p:cNvSpPr/>
            <p:nvPr/>
          </p:nvSpPr>
          <p:spPr>
            <a:xfrm>
              <a:off x="5035550" y="539750"/>
              <a:ext cx="1587500" cy="3568700"/>
            </a:xfrm>
            <a:custGeom>
              <a:avLst/>
              <a:gdLst/>
              <a:ahLst/>
              <a:cxnLst/>
              <a:rect l="l" t="t" r="r" b="b"/>
              <a:pathLst>
                <a:path w="1587500" h="3568700">
                  <a:moveTo>
                    <a:pt x="1587500" y="0"/>
                  </a:moveTo>
                  <a:lnTo>
                    <a:pt x="0" y="0"/>
                  </a:lnTo>
                  <a:lnTo>
                    <a:pt x="0" y="3568700"/>
                  </a:lnTo>
                  <a:lnTo>
                    <a:pt x="1587500" y="3568700"/>
                  </a:lnTo>
                  <a:lnTo>
                    <a:pt x="1587500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035550" y="539750"/>
              <a:ext cx="1587500" cy="3568700"/>
            </a:xfrm>
            <a:custGeom>
              <a:avLst/>
              <a:gdLst/>
              <a:ahLst/>
              <a:cxnLst/>
              <a:rect l="l" t="t" r="r" b="b"/>
              <a:pathLst>
                <a:path w="1587500" h="3568700">
                  <a:moveTo>
                    <a:pt x="0" y="0"/>
                  </a:moveTo>
                  <a:lnTo>
                    <a:pt x="1587500" y="0"/>
                  </a:lnTo>
                  <a:lnTo>
                    <a:pt x="1587500" y="3568700"/>
                  </a:lnTo>
                  <a:lnTo>
                    <a:pt x="0" y="35687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363787" y="1295400"/>
              <a:ext cx="2665730" cy="0"/>
            </a:xfrm>
            <a:custGeom>
              <a:avLst/>
              <a:gdLst/>
              <a:ahLst/>
              <a:cxnLst/>
              <a:rect l="l" t="t" r="r" b="b"/>
              <a:pathLst>
                <a:path w="2665729">
                  <a:moveTo>
                    <a:pt x="0" y="0"/>
                  </a:moveTo>
                  <a:lnTo>
                    <a:pt x="266541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78400" y="1257296"/>
              <a:ext cx="127000" cy="76200"/>
            </a:xfrm>
            <a:custGeom>
              <a:avLst/>
              <a:gdLst/>
              <a:ahLst/>
              <a:cxnLst/>
              <a:rect l="l" t="t" r="r" b="b"/>
              <a:pathLst>
                <a:path w="127000" h="76200">
                  <a:moveTo>
                    <a:pt x="0" y="0"/>
                  </a:moveTo>
                  <a:lnTo>
                    <a:pt x="50800" y="38100"/>
                  </a:lnTo>
                  <a:lnTo>
                    <a:pt x="0" y="76200"/>
                  </a:lnTo>
                  <a:lnTo>
                    <a:pt x="1270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24200" y="1296987"/>
              <a:ext cx="0" cy="455930"/>
            </a:xfrm>
            <a:custGeom>
              <a:avLst/>
              <a:gdLst/>
              <a:ahLst/>
              <a:cxnLst/>
              <a:rect l="l" t="t" r="r" b="b"/>
              <a:pathLst>
                <a:path h="455930">
                  <a:moveTo>
                    <a:pt x="0" y="0"/>
                  </a:moveTo>
                  <a:lnTo>
                    <a:pt x="0" y="455612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86100" y="1701800"/>
              <a:ext cx="76200" cy="127000"/>
            </a:xfrm>
            <a:custGeom>
              <a:avLst/>
              <a:gdLst/>
              <a:ahLst/>
              <a:cxnLst/>
              <a:rect l="l" t="t" r="r" b="b"/>
              <a:pathLst>
                <a:path w="76200" h="127000">
                  <a:moveTo>
                    <a:pt x="76200" y="0"/>
                  </a:moveTo>
                  <a:lnTo>
                    <a:pt x="38100" y="50800"/>
                  </a:lnTo>
                  <a:lnTo>
                    <a:pt x="0" y="0"/>
                  </a:lnTo>
                  <a:lnTo>
                    <a:pt x="38100" y="1270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582987" y="1981200"/>
              <a:ext cx="1370330" cy="0"/>
            </a:xfrm>
            <a:custGeom>
              <a:avLst/>
              <a:gdLst/>
              <a:ahLst/>
              <a:cxnLst/>
              <a:rect l="l" t="t" r="r" b="b"/>
              <a:pathLst>
                <a:path w="1370329">
                  <a:moveTo>
                    <a:pt x="0" y="0"/>
                  </a:moveTo>
                  <a:lnTo>
                    <a:pt x="137001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902200" y="1943096"/>
              <a:ext cx="127000" cy="76200"/>
            </a:xfrm>
            <a:custGeom>
              <a:avLst/>
              <a:gdLst/>
              <a:ahLst/>
              <a:cxnLst/>
              <a:rect l="l" t="t" r="r" b="b"/>
              <a:pathLst>
                <a:path w="127000" h="76200">
                  <a:moveTo>
                    <a:pt x="0" y="0"/>
                  </a:moveTo>
                  <a:lnTo>
                    <a:pt x="50800" y="38100"/>
                  </a:lnTo>
                  <a:lnTo>
                    <a:pt x="0" y="76200"/>
                  </a:lnTo>
                  <a:lnTo>
                    <a:pt x="1270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035550" y="1301750"/>
              <a:ext cx="1587500" cy="63500"/>
            </a:xfrm>
            <a:custGeom>
              <a:avLst/>
              <a:gdLst/>
              <a:ahLst/>
              <a:cxnLst/>
              <a:rect l="l" t="t" r="r" b="b"/>
              <a:pathLst>
                <a:path w="1587500" h="63500">
                  <a:moveTo>
                    <a:pt x="1587500" y="0"/>
                  </a:moveTo>
                  <a:lnTo>
                    <a:pt x="0" y="0"/>
                  </a:lnTo>
                  <a:lnTo>
                    <a:pt x="0" y="63500"/>
                  </a:lnTo>
                  <a:lnTo>
                    <a:pt x="1587500" y="63500"/>
                  </a:lnTo>
                  <a:lnTo>
                    <a:pt x="1587500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035550" y="1301750"/>
              <a:ext cx="1587500" cy="749300"/>
            </a:xfrm>
            <a:custGeom>
              <a:avLst/>
              <a:gdLst/>
              <a:ahLst/>
              <a:cxnLst/>
              <a:rect l="l" t="t" r="r" b="b"/>
              <a:pathLst>
                <a:path w="1587500" h="749300">
                  <a:moveTo>
                    <a:pt x="0" y="0"/>
                  </a:moveTo>
                  <a:lnTo>
                    <a:pt x="1587500" y="0"/>
                  </a:lnTo>
                  <a:lnTo>
                    <a:pt x="1587500" y="63500"/>
                  </a:lnTo>
                  <a:lnTo>
                    <a:pt x="0" y="63500"/>
                  </a:lnTo>
                  <a:lnTo>
                    <a:pt x="0" y="0"/>
                  </a:lnTo>
                  <a:close/>
                </a:path>
                <a:path w="1587500" h="749300">
                  <a:moveTo>
                    <a:pt x="0" y="685800"/>
                  </a:moveTo>
                  <a:lnTo>
                    <a:pt x="1587500" y="685800"/>
                  </a:lnTo>
                  <a:lnTo>
                    <a:pt x="1587500" y="749300"/>
                  </a:lnTo>
                  <a:lnTo>
                    <a:pt x="0" y="749300"/>
                  </a:lnTo>
                  <a:lnTo>
                    <a:pt x="0" y="6858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035550" y="2051050"/>
            <a:ext cx="1587500" cy="2057400"/>
          </a:xfrm>
          <a:prstGeom prst="rect">
            <a:avLst/>
          </a:prstGeom>
          <a:solidFill>
            <a:srgbClr val="00CC99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250">
              <a:latin typeface="Times New Roman"/>
              <a:cs typeface="Times New Roman"/>
            </a:endParaRPr>
          </a:p>
          <a:p>
            <a:pPr marL="298450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Memory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44576" y="3044710"/>
            <a:ext cx="1969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Segment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Register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4576" y="3538486"/>
            <a:ext cx="686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Offse</a:t>
            </a:r>
            <a:r>
              <a:rPr sz="1800" b="1" dirty="0">
                <a:latin typeface="Arial"/>
                <a:cs typeface="Arial"/>
              </a:rPr>
              <a:t>t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44576" y="4032262"/>
            <a:ext cx="1973580" cy="54673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>
              <a:lnSpc>
                <a:spcPts val="1939"/>
              </a:lnSpc>
              <a:spcBef>
                <a:spcPts val="345"/>
              </a:spcBef>
            </a:pPr>
            <a:r>
              <a:rPr sz="1800" b="1" spc="-5" dirty="0">
                <a:latin typeface="Arial"/>
                <a:cs typeface="Arial"/>
              </a:rPr>
              <a:t>Physical </a:t>
            </a:r>
            <a:r>
              <a:rPr sz="1800" b="1" spc="-10" dirty="0">
                <a:latin typeface="Arial"/>
                <a:cs typeface="Arial"/>
              </a:rPr>
              <a:t>or </a:t>
            </a:r>
            <a:r>
              <a:rPr sz="1800" b="1" spc="-5" dirty="0">
                <a:latin typeface="Arial"/>
                <a:cs typeface="Arial"/>
              </a:rPr>
              <a:t> A</a:t>
            </a:r>
            <a:r>
              <a:rPr sz="1800" b="1" spc="-10" dirty="0">
                <a:latin typeface="Arial"/>
                <a:cs typeface="Arial"/>
              </a:rPr>
              <a:t>b</a:t>
            </a:r>
            <a:r>
              <a:rPr sz="1800" b="1" spc="-5" dirty="0">
                <a:latin typeface="Arial"/>
                <a:cs typeface="Arial"/>
              </a:rPr>
              <a:t>s</a:t>
            </a:r>
            <a:r>
              <a:rPr sz="1800" b="1" spc="-10" dirty="0">
                <a:latin typeface="Arial"/>
                <a:cs typeface="Arial"/>
              </a:rPr>
              <a:t>o</a:t>
            </a:r>
            <a:r>
              <a:rPr sz="1800" b="1" spc="-5" dirty="0">
                <a:latin typeface="Arial"/>
                <a:cs typeface="Arial"/>
              </a:rPr>
              <a:t>lu</a:t>
            </a:r>
            <a:r>
              <a:rPr sz="1800" b="1" dirty="0">
                <a:latin typeface="Arial"/>
                <a:cs typeface="Arial"/>
              </a:rPr>
              <a:t>t</a:t>
            </a:r>
            <a:r>
              <a:rPr sz="1800" b="1" spc="-5" dirty="0">
                <a:latin typeface="Arial"/>
                <a:cs typeface="Arial"/>
              </a:rPr>
              <a:t>e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</a:t>
            </a:r>
            <a:r>
              <a:rPr sz="1800" b="1" spc="-10" dirty="0">
                <a:latin typeface="Arial"/>
                <a:cs typeface="Arial"/>
              </a:rPr>
              <a:t>d</a:t>
            </a:r>
            <a:r>
              <a:rPr sz="1800" b="1" spc="-5" dirty="0">
                <a:latin typeface="Arial"/>
                <a:cs typeface="Arial"/>
              </a:rPr>
              <a:t>dress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816350" y="2901950"/>
            <a:ext cx="215900" cy="368300"/>
          </a:xfrm>
          <a:prstGeom prst="rect">
            <a:avLst/>
          </a:prstGeom>
          <a:solidFill>
            <a:srgbClr val="00CC99"/>
          </a:solidFill>
          <a:ln w="12700">
            <a:solidFill>
              <a:srgbClr val="000000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215"/>
              </a:spcBef>
            </a:pPr>
            <a:r>
              <a:rPr sz="1800" b="1" spc="-5" dirty="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287587" y="1289050"/>
            <a:ext cx="1979930" cy="2679700"/>
            <a:chOff x="2287587" y="1289050"/>
            <a:chExt cx="1979930" cy="2679700"/>
          </a:xfrm>
        </p:grpSpPr>
        <p:sp>
          <p:nvSpPr>
            <p:cNvPr id="20" name="object 20"/>
            <p:cNvSpPr/>
            <p:nvPr/>
          </p:nvSpPr>
          <p:spPr>
            <a:xfrm>
              <a:off x="2668587" y="3962400"/>
              <a:ext cx="1598930" cy="0"/>
            </a:xfrm>
            <a:custGeom>
              <a:avLst/>
              <a:gdLst/>
              <a:ahLst/>
              <a:cxnLst/>
              <a:rect l="l" t="t" r="r" b="b"/>
              <a:pathLst>
                <a:path w="1598929">
                  <a:moveTo>
                    <a:pt x="0" y="0"/>
                  </a:moveTo>
                  <a:lnTo>
                    <a:pt x="159861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287587" y="1295400"/>
              <a:ext cx="74930" cy="0"/>
            </a:xfrm>
            <a:custGeom>
              <a:avLst/>
              <a:gdLst/>
              <a:ahLst/>
              <a:cxnLst/>
              <a:rect l="l" t="t" r="r" b="b"/>
              <a:pathLst>
                <a:path w="74930">
                  <a:moveTo>
                    <a:pt x="0" y="0"/>
                  </a:moveTo>
                  <a:lnTo>
                    <a:pt x="7461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882900" y="3501834"/>
            <a:ext cx="159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+</a:t>
            </a:r>
            <a:endParaRPr sz="18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607300" y="6562503"/>
            <a:ext cx="400685" cy="28321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600" b="1" spc="-5" dirty="0">
                <a:latin typeface="Arial"/>
                <a:cs typeface="Arial"/>
              </a:rPr>
              <a:t>I-16</a:t>
            </a:r>
            <a:endParaRPr sz="16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96900" y="1139634"/>
            <a:ext cx="4197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C</a:t>
            </a:r>
            <a:r>
              <a:rPr sz="1800" b="1" dirty="0">
                <a:latin typeface="Arial"/>
                <a:cs typeface="Arial"/>
              </a:rPr>
              <a:t>S: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044623" y="1825434"/>
            <a:ext cx="241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IP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25550" y="1149350"/>
            <a:ext cx="1054100" cy="368300"/>
          </a:xfrm>
          <a:prstGeom prst="rect">
            <a:avLst/>
          </a:prstGeom>
          <a:solidFill>
            <a:srgbClr val="00CC99"/>
          </a:solidFill>
          <a:ln w="12700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 marL="145415">
              <a:lnSpc>
                <a:spcPct val="100000"/>
              </a:lnSpc>
              <a:spcBef>
                <a:spcPts val="20"/>
              </a:spcBef>
            </a:pPr>
            <a:r>
              <a:rPr sz="1800" b="1" spc="-5" dirty="0">
                <a:latin typeface="Arial"/>
                <a:cs typeface="Arial"/>
              </a:rPr>
              <a:t>0400H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673350" y="1835150"/>
            <a:ext cx="901700" cy="368300"/>
          </a:xfrm>
          <a:prstGeom prst="rect">
            <a:avLst/>
          </a:prstGeom>
          <a:solidFill>
            <a:srgbClr val="00CC99"/>
          </a:solidFill>
          <a:ln w="12700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 marL="69215">
              <a:lnSpc>
                <a:spcPct val="100000"/>
              </a:lnSpc>
              <a:spcBef>
                <a:spcPts val="20"/>
              </a:spcBef>
            </a:pPr>
            <a:r>
              <a:rPr sz="1800" b="1" spc="-5" dirty="0">
                <a:latin typeface="Arial"/>
                <a:cs typeface="Arial"/>
              </a:rPr>
              <a:t>0056H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178147" y="987158"/>
            <a:ext cx="6997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4000H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178147" y="1749081"/>
            <a:ext cx="6997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4056H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901950" y="2901950"/>
            <a:ext cx="825500" cy="368300"/>
          </a:xfrm>
          <a:prstGeom prst="rect">
            <a:avLst/>
          </a:prstGeom>
          <a:solidFill>
            <a:srgbClr val="00CC99"/>
          </a:solidFill>
          <a:ln w="12700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 marL="297815">
              <a:lnSpc>
                <a:spcPct val="100000"/>
              </a:lnSpc>
              <a:spcBef>
                <a:spcPts val="20"/>
              </a:spcBef>
            </a:pPr>
            <a:r>
              <a:rPr sz="1800" b="1" spc="-5" dirty="0">
                <a:latin typeface="Arial"/>
                <a:cs typeface="Arial"/>
              </a:rPr>
              <a:t>0400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130550" y="3511550"/>
            <a:ext cx="901700" cy="368300"/>
          </a:xfrm>
          <a:prstGeom prst="rect">
            <a:avLst/>
          </a:prstGeom>
          <a:solidFill>
            <a:srgbClr val="00CC99"/>
          </a:solidFill>
          <a:ln w="12700">
            <a:solidFill>
              <a:srgbClr val="000000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marL="297815">
              <a:lnSpc>
                <a:spcPct val="100000"/>
              </a:lnSpc>
              <a:spcBef>
                <a:spcPts val="620"/>
              </a:spcBef>
            </a:pPr>
            <a:r>
              <a:rPr sz="1800" b="1" spc="-5" dirty="0">
                <a:latin typeface="Arial"/>
                <a:cs typeface="Arial"/>
              </a:rPr>
              <a:t>0056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901950" y="4044950"/>
            <a:ext cx="1130300" cy="368300"/>
          </a:xfrm>
          <a:prstGeom prst="rect">
            <a:avLst/>
          </a:prstGeom>
          <a:solidFill>
            <a:srgbClr val="00CC99"/>
          </a:solidFill>
          <a:ln w="12700">
            <a:solidFill>
              <a:srgbClr val="000000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marL="222250">
              <a:lnSpc>
                <a:spcPct val="100000"/>
              </a:lnSpc>
              <a:spcBef>
                <a:spcPts val="620"/>
              </a:spcBef>
            </a:pPr>
            <a:r>
              <a:rPr sz="1800" b="1" spc="-5" dirty="0">
                <a:latin typeface="Arial"/>
                <a:cs typeface="Arial"/>
              </a:rPr>
              <a:t>04056H</a:t>
            </a:r>
            <a:endParaRPr sz="18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130223" y="4873129"/>
            <a:ext cx="6986270" cy="149352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>
              <a:lnSpc>
                <a:spcPts val="1939"/>
              </a:lnSpc>
              <a:spcBef>
                <a:spcPts val="345"/>
              </a:spcBef>
            </a:pP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offset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is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distance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in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bytes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from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start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of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segment. </a:t>
            </a:r>
            <a:r>
              <a:rPr sz="1800" b="1" spc="-484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offset is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given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by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IP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for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Code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Segment.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1920"/>
              </a:lnSpc>
              <a:tabLst>
                <a:tab pos="4737100" algn="l"/>
              </a:tabLst>
            </a:pPr>
            <a:r>
              <a:rPr sz="1800" b="1" spc="-5" dirty="0">
                <a:latin typeface="Arial"/>
                <a:cs typeface="Arial"/>
              </a:rPr>
              <a:t>Instructions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are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always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fetched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with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using	the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CS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15" dirty="0">
                <a:latin typeface="Arial"/>
                <a:cs typeface="Arial"/>
              </a:rPr>
              <a:t>register.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Arial"/>
              <a:cs typeface="Arial"/>
            </a:endParaRPr>
          </a:p>
          <a:p>
            <a:pPr marL="31750">
              <a:lnSpc>
                <a:spcPct val="100000"/>
              </a:lnSpc>
              <a:spcBef>
                <a:spcPts val="1290"/>
              </a:spcBef>
            </a:pPr>
            <a:r>
              <a:rPr sz="1600" b="1" spc="-5" dirty="0">
                <a:latin typeface="Arial"/>
                <a:cs typeface="Arial"/>
              </a:rPr>
              <a:t>The</a:t>
            </a:r>
            <a:r>
              <a:rPr sz="1600" b="1" spc="-10" dirty="0">
                <a:latin typeface="Arial"/>
                <a:cs typeface="Arial"/>
              </a:rPr>
              <a:t> </a:t>
            </a:r>
            <a:r>
              <a:rPr sz="16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physical</a:t>
            </a:r>
            <a:r>
              <a:rPr sz="1600" b="1" u="heavy" spc="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6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address</a:t>
            </a:r>
            <a:r>
              <a:rPr sz="1600" b="1" u="heavy" spc="4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is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also</a:t>
            </a:r>
            <a:r>
              <a:rPr sz="1600" b="1" spc="1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called</a:t>
            </a:r>
            <a:r>
              <a:rPr sz="1600" b="1" spc="1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the</a:t>
            </a:r>
            <a:r>
              <a:rPr sz="16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6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absolute</a:t>
            </a:r>
            <a:r>
              <a:rPr sz="1600" b="1" u="heavy" spc="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6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address</a:t>
            </a:r>
            <a:r>
              <a:rPr sz="1600" b="1" spc="-5" dirty="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769100" y="1901634"/>
            <a:ext cx="1795145" cy="546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5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CS:IP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400:56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050"/>
              </a:lnSpc>
            </a:pPr>
            <a:r>
              <a:rPr sz="1800" b="1" spc="-5" dirty="0">
                <a:latin typeface="Arial"/>
                <a:cs typeface="Arial"/>
              </a:rPr>
              <a:t>Logical</a:t>
            </a:r>
            <a:r>
              <a:rPr sz="1800" b="1" spc="-1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Address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768338" y="533717"/>
            <a:ext cx="198755" cy="1885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50" b="1" spc="10" dirty="0">
                <a:latin typeface="Arial"/>
                <a:cs typeface="Arial"/>
              </a:rPr>
              <a:t>0H</a:t>
            </a:r>
            <a:endParaRPr sz="105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731037" y="4077072"/>
            <a:ext cx="613410" cy="1885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50" b="1" spc="5" dirty="0">
                <a:latin typeface="Arial"/>
                <a:cs typeface="Arial"/>
              </a:rPr>
              <a:t>0</a:t>
            </a:r>
            <a:r>
              <a:rPr sz="1050" b="1" spc="10" dirty="0">
                <a:latin typeface="Arial"/>
                <a:cs typeface="Arial"/>
              </a:rPr>
              <a:t>FFF</a:t>
            </a:r>
            <a:r>
              <a:rPr sz="1050" b="1" spc="5" dirty="0">
                <a:latin typeface="Arial"/>
                <a:cs typeface="Arial"/>
              </a:rPr>
              <a:t>F</a:t>
            </a:r>
            <a:r>
              <a:rPr sz="1050" b="1" spc="10" dirty="0">
                <a:latin typeface="Arial"/>
                <a:cs typeface="Arial"/>
              </a:rPr>
              <a:t>FH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6374" y="171450"/>
            <a:ext cx="436880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The</a:t>
            </a:r>
            <a:r>
              <a:rPr spc="-50" dirty="0"/>
              <a:t> </a:t>
            </a:r>
            <a:r>
              <a:rPr spc="-5" dirty="0"/>
              <a:t>Stack</a:t>
            </a:r>
            <a:r>
              <a:rPr spc="-30" dirty="0"/>
              <a:t> </a:t>
            </a:r>
            <a:r>
              <a:rPr spc="-5" dirty="0"/>
              <a:t>Segment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357437" y="533400"/>
            <a:ext cx="4272280" cy="3581400"/>
            <a:chOff x="2357437" y="533400"/>
            <a:chExt cx="4272280" cy="3581400"/>
          </a:xfrm>
        </p:grpSpPr>
        <p:sp>
          <p:nvSpPr>
            <p:cNvPr id="4" name="object 4"/>
            <p:cNvSpPr/>
            <p:nvPr/>
          </p:nvSpPr>
          <p:spPr>
            <a:xfrm>
              <a:off x="5035550" y="539750"/>
              <a:ext cx="1587500" cy="3568700"/>
            </a:xfrm>
            <a:custGeom>
              <a:avLst/>
              <a:gdLst/>
              <a:ahLst/>
              <a:cxnLst/>
              <a:rect l="l" t="t" r="r" b="b"/>
              <a:pathLst>
                <a:path w="1587500" h="3568700">
                  <a:moveTo>
                    <a:pt x="1587500" y="0"/>
                  </a:moveTo>
                  <a:lnTo>
                    <a:pt x="0" y="0"/>
                  </a:lnTo>
                  <a:lnTo>
                    <a:pt x="0" y="3568700"/>
                  </a:lnTo>
                  <a:lnTo>
                    <a:pt x="1587500" y="3568700"/>
                  </a:lnTo>
                  <a:lnTo>
                    <a:pt x="1587500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035550" y="539750"/>
              <a:ext cx="1587500" cy="3568700"/>
            </a:xfrm>
            <a:custGeom>
              <a:avLst/>
              <a:gdLst/>
              <a:ahLst/>
              <a:cxnLst/>
              <a:rect l="l" t="t" r="r" b="b"/>
              <a:pathLst>
                <a:path w="1587500" h="3568700">
                  <a:moveTo>
                    <a:pt x="0" y="0"/>
                  </a:moveTo>
                  <a:lnTo>
                    <a:pt x="1587500" y="0"/>
                  </a:lnTo>
                  <a:lnTo>
                    <a:pt x="1587500" y="3568700"/>
                  </a:lnTo>
                  <a:lnTo>
                    <a:pt x="0" y="35687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363787" y="1295400"/>
              <a:ext cx="2665730" cy="0"/>
            </a:xfrm>
            <a:custGeom>
              <a:avLst/>
              <a:gdLst/>
              <a:ahLst/>
              <a:cxnLst/>
              <a:rect l="l" t="t" r="r" b="b"/>
              <a:pathLst>
                <a:path w="2665729">
                  <a:moveTo>
                    <a:pt x="0" y="0"/>
                  </a:moveTo>
                  <a:lnTo>
                    <a:pt x="266541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78400" y="1257296"/>
              <a:ext cx="127000" cy="76200"/>
            </a:xfrm>
            <a:custGeom>
              <a:avLst/>
              <a:gdLst/>
              <a:ahLst/>
              <a:cxnLst/>
              <a:rect l="l" t="t" r="r" b="b"/>
              <a:pathLst>
                <a:path w="127000" h="76200">
                  <a:moveTo>
                    <a:pt x="0" y="0"/>
                  </a:moveTo>
                  <a:lnTo>
                    <a:pt x="50800" y="38100"/>
                  </a:lnTo>
                  <a:lnTo>
                    <a:pt x="0" y="76200"/>
                  </a:lnTo>
                  <a:lnTo>
                    <a:pt x="1270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24200" y="1296987"/>
              <a:ext cx="0" cy="455930"/>
            </a:xfrm>
            <a:custGeom>
              <a:avLst/>
              <a:gdLst/>
              <a:ahLst/>
              <a:cxnLst/>
              <a:rect l="l" t="t" r="r" b="b"/>
              <a:pathLst>
                <a:path h="455930">
                  <a:moveTo>
                    <a:pt x="0" y="0"/>
                  </a:moveTo>
                  <a:lnTo>
                    <a:pt x="0" y="455612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86100" y="1701800"/>
              <a:ext cx="76200" cy="127000"/>
            </a:xfrm>
            <a:custGeom>
              <a:avLst/>
              <a:gdLst/>
              <a:ahLst/>
              <a:cxnLst/>
              <a:rect l="l" t="t" r="r" b="b"/>
              <a:pathLst>
                <a:path w="76200" h="127000">
                  <a:moveTo>
                    <a:pt x="76200" y="0"/>
                  </a:moveTo>
                  <a:lnTo>
                    <a:pt x="38100" y="50800"/>
                  </a:lnTo>
                  <a:lnTo>
                    <a:pt x="0" y="0"/>
                  </a:lnTo>
                  <a:lnTo>
                    <a:pt x="38100" y="1270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582987" y="1981200"/>
              <a:ext cx="1370330" cy="0"/>
            </a:xfrm>
            <a:custGeom>
              <a:avLst/>
              <a:gdLst/>
              <a:ahLst/>
              <a:cxnLst/>
              <a:rect l="l" t="t" r="r" b="b"/>
              <a:pathLst>
                <a:path w="1370329">
                  <a:moveTo>
                    <a:pt x="0" y="0"/>
                  </a:moveTo>
                  <a:lnTo>
                    <a:pt x="137001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902200" y="1943096"/>
              <a:ext cx="127000" cy="76200"/>
            </a:xfrm>
            <a:custGeom>
              <a:avLst/>
              <a:gdLst/>
              <a:ahLst/>
              <a:cxnLst/>
              <a:rect l="l" t="t" r="r" b="b"/>
              <a:pathLst>
                <a:path w="127000" h="76200">
                  <a:moveTo>
                    <a:pt x="0" y="0"/>
                  </a:moveTo>
                  <a:lnTo>
                    <a:pt x="50800" y="38100"/>
                  </a:lnTo>
                  <a:lnTo>
                    <a:pt x="0" y="76200"/>
                  </a:lnTo>
                  <a:lnTo>
                    <a:pt x="1270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035550" y="1301750"/>
              <a:ext cx="1587500" cy="63500"/>
            </a:xfrm>
            <a:custGeom>
              <a:avLst/>
              <a:gdLst/>
              <a:ahLst/>
              <a:cxnLst/>
              <a:rect l="l" t="t" r="r" b="b"/>
              <a:pathLst>
                <a:path w="1587500" h="63500">
                  <a:moveTo>
                    <a:pt x="1587500" y="0"/>
                  </a:moveTo>
                  <a:lnTo>
                    <a:pt x="0" y="0"/>
                  </a:lnTo>
                  <a:lnTo>
                    <a:pt x="0" y="63500"/>
                  </a:lnTo>
                  <a:lnTo>
                    <a:pt x="1587500" y="63500"/>
                  </a:lnTo>
                  <a:lnTo>
                    <a:pt x="1587500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035550" y="1301750"/>
              <a:ext cx="1587500" cy="749300"/>
            </a:xfrm>
            <a:custGeom>
              <a:avLst/>
              <a:gdLst/>
              <a:ahLst/>
              <a:cxnLst/>
              <a:rect l="l" t="t" r="r" b="b"/>
              <a:pathLst>
                <a:path w="1587500" h="749300">
                  <a:moveTo>
                    <a:pt x="0" y="0"/>
                  </a:moveTo>
                  <a:lnTo>
                    <a:pt x="1587500" y="0"/>
                  </a:lnTo>
                  <a:lnTo>
                    <a:pt x="1587500" y="63500"/>
                  </a:lnTo>
                  <a:lnTo>
                    <a:pt x="0" y="63500"/>
                  </a:lnTo>
                  <a:lnTo>
                    <a:pt x="0" y="0"/>
                  </a:lnTo>
                  <a:close/>
                </a:path>
                <a:path w="1587500" h="749300">
                  <a:moveTo>
                    <a:pt x="0" y="685800"/>
                  </a:moveTo>
                  <a:lnTo>
                    <a:pt x="1587500" y="685800"/>
                  </a:lnTo>
                  <a:lnTo>
                    <a:pt x="1587500" y="749300"/>
                  </a:lnTo>
                  <a:lnTo>
                    <a:pt x="0" y="749300"/>
                  </a:lnTo>
                  <a:lnTo>
                    <a:pt x="0" y="6858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035550" y="2051050"/>
            <a:ext cx="1587500" cy="2057400"/>
          </a:xfrm>
          <a:prstGeom prst="rect">
            <a:avLst/>
          </a:prstGeom>
          <a:solidFill>
            <a:srgbClr val="00CC99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250">
              <a:latin typeface="Times New Roman"/>
              <a:cs typeface="Times New Roman"/>
            </a:endParaRPr>
          </a:p>
          <a:p>
            <a:pPr marL="298450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Memory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44576" y="3044710"/>
            <a:ext cx="1969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Segment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Register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4576" y="3538486"/>
            <a:ext cx="686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Offse</a:t>
            </a:r>
            <a:r>
              <a:rPr sz="1800" b="1" dirty="0">
                <a:latin typeface="Arial"/>
                <a:cs typeface="Arial"/>
              </a:rPr>
              <a:t>t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44576" y="4032262"/>
            <a:ext cx="1922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Physical</a:t>
            </a:r>
            <a:r>
              <a:rPr sz="1800" b="1" spc="-1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Address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287587" y="1289050"/>
            <a:ext cx="1979930" cy="2679700"/>
            <a:chOff x="2287587" y="1289050"/>
            <a:chExt cx="1979930" cy="2679700"/>
          </a:xfrm>
        </p:grpSpPr>
        <p:sp>
          <p:nvSpPr>
            <p:cNvPr id="19" name="object 19"/>
            <p:cNvSpPr/>
            <p:nvPr/>
          </p:nvSpPr>
          <p:spPr>
            <a:xfrm>
              <a:off x="2668587" y="3962400"/>
              <a:ext cx="1598930" cy="0"/>
            </a:xfrm>
            <a:custGeom>
              <a:avLst/>
              <a:gdLst/>
              <a:ahLst/>
              <a:cxnLst/>
              <a:rect l="l" t="t" r="r" b="b"/>
              <a:pathLst>
                <a:path w="1598929">
                  <a:moveTo>
                    <a:pt x="0" y="0"/>
                  </a:moveTo>
                  <a:lnTo>
                    <a:pt x="159861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287587" y="1295400"/>
              <a:ext cx="74930" cy="0"/>
            </a:xfrm>
            <a:custGeom>
              <a:avLst/>
              <a:gdLst/>
              <a:ahLst/>
              <a:cxnLst/>
              <a:rect l="l" t="t" r="r" b="b"/>
              <a:pathLst>
                <a:path w="74930">
                  <a:moveTo>
                    <a:pt x="74612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882900" y="3501834"/>
            <a:ext cx="159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+</a:t>
            </a:r>
            <a:endParaRPr sz="18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607300" y="6562503"/>
            <a:ext cx="400685" cy="28321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600" b="1" spc="-5" dirty="0">
                <a:latin typeface="Arial"/>
                <a:cs typeface="Arial"/>
              </a:rPr>
              <a:t>I-17</a:t>
            </a:r>
            <a:endParaRPr sz="1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49376" y="1215834"/>
            <a:ext cx="4070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SS: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120976" y="1901634"/>
            <a:ext cx="330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SP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25550" y="1149350"/>
            <a:ext cx="1054100" cy="368300"/>
          </a:xfrm>
          <a:prstGeom prst="rect">
            <a:avLst/>
          </a:prstGeom>
          <a:solidFill>
            <a:srgbClr val="00CC99"/>
          </a:solidFill>
          <a:ln w="12700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 marL="222250">
              <a:lnSpc>
                <a:spcPct val="100000"/>
              </a:lnSpc>
              <a:spcBef>
                <a:spcPts val="20"/>
              </a:spcBef>
            </a:pPr>
            <a:r>
              <a:rPr sz="1800" b="1" spc="-5" dirty="0">
                <a:latin typeface="Arial"/>
                <a:cs typeface="Arial"/>
              </a:rPr>
              <a:t>0A00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673350" y="1835150"/>
            <a:ext cx="901700" cy="368300"/>
          </a:xfrm>
          <a:prstGeom prst="rect">
            <a:avLst/>
          </a:prstGeom>
          <a:solidFill>
            <a:srgbClr val="00CC99"/>
          </a:solidFill>
          <a:ln w="12700">
            <a:solidFill>
              <a:srgbClr val="000000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marL="221615">
              <a:lnSpc>
                <a:spcPct val="100000"/>
              </a:lnSpc>
              <a:spcBef>
                <a:spcPts val="620"/>
              </a:spcBef>
            </a:pPr>
            <a:r>
              <a:rPr sz="1800" b="1" spc="-5" dirty="0">
                <a:latin typeface="Arial"/>
                <a:cs typeface="Arial"/>
              </a:rPr>
              <a:t>0100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178300" y="914234"/>
            <a:ext cx="8655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0A000H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178300" y="1672958"/>
            <a:ext cx="8655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0A100H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901950" y="2901950"/>
            <a:ext cx="825500" cy="368300"/>
          </a:xfrm>
          <a:prstGeom prst="rect">
            <a:avLst/>
          </a:prstGeom>
          <a:solidFill>
            <a:srgbClr val="00CC99"/>
          </a:solidFill>
          <a:ln w="12700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 marL="221615">
              <a:lnSpc>
                <a:spcPct val="100000"/>
              </a:lnSpc>
              <a:spcBef>
                <a:spcPts val="20"/>
              </a:spcBef>
            </a:pPr>
            <a:r>
              <a:rPr sz="1800" b="1" spc="-5" dirty="0">
                <a:latin typeface="Arial"/>
                <a:cs typeface="Arial"/>
              </a:rPr>
              <a:t>0A00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816350" y="2901950"/>
            <a:ext cx="215900" cy="368300"/>
          </a:xfrm>
          <a:prstGeom prst="rect">
            <a:avLst/>
          </a:prstGeom>
          <a:solidFill>
            <a:srgbClr val="00CC99"/>
          </a:solidFill>
          <a:ln w="12700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 marL="69215">
              <a:lnSpc>
                <a:spcPct val="100000"/>
              </a:lnSpc>
              <a:spcBef>
                <a:spcPts val="20"/>
              </a:spcBef>
            </a:pPr>
            <a:r>
              <a:rPr sz="1800" b="1" spc="-5" dirty="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130550" y="3511550"/>
            <a:ext cx="901700" cy="368300"/>
          </a:xfrm>
          <a:prstGeom prst="rect">
            <a:avLst/>
          </a:prstGeom>
          <a:solidFill>
            <a:srgbClr val="00CC99"/>
          </a:solidFill>
          <a:ln w="12700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 marL="221615">
              <a:lnSpc>
                <a:spcPct val="100000"/>
              </a:lnSpc>
              <a:spcBef>
                <a:spcPts val="20"/>
              </a:spcBef>
            </a:pPr>
            <a:r>
              <a:rPr sz="1800" b="1" spc="-5" dirty="0">
                <a:latin typeface="Arial"/>
                <a:cs typeface="Arial"/>
              </a:rPr>
              <a:t>0100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901950" y="4044950"/>
            <a:ext cx="1130300" cy="368300"/>
          </a:xfrm>
          <a:prstGeom prst="rect">
            <a:avLst/>
          </a:prstGeom>
          <a:solidFill>
            <a:srgbClr val="00CC99"/>
          </a:solidFill>
          <a:ln w="12700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 marL="221615">
              <a:lnSpc>
                <a:spcPct val="100000"/>
              </a:lnSpc>
              <a:spcBef>
                <a:spcPts val="20"/>
              </a:spcBef>
            </a:pPr>
            <a:r>
              <a:rPr sz="1800" b="1" spc="-5" dirty="0">
                <a:latin typeface="Arial"/>
                <a:cs typeface="Arial"/>
              </a:rPr>
              <a:t>0A100H</a:t>
            </a:r>
            <a:endParaRPr sz="18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72947" y="4568405"/>
            <a:ext cx="8065770" cy="174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98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The offset is given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by the</a:t>
            </a:r>
            <a:r>
              <a:rPr sz="1800" b="1" dirty="0">
                <a:latin typeface="Arial"/>
                <a:cs typeface="Arial"/>
              </a:rPr>
              <a:t> SP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5" dirty="0">
                <a:latin typeface="Arial"/>
                <a:cs typeface="Arial"/>
              </a:rPr>
              <a:t>register.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ts val="1800"/>
              </a:lnSpc>
              <a:spcBef>
                <a:spcPts val="180"/>
              </a:spcBef>
            </a:pP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stack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is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always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referenced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with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respect</a:t>
            </a:r>
            <a:r>
              <a:rPr sz="1800" b="1" dirty="0">
                <a:latin typeface="Arial"/>
                <a:cs typeface="Arial"/>
              </a:rPr>
              <a:t> to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stack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segment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15" dirty="0">
                <a:latin typeface="Arial"/>
                <a:cs typeface="Arial"/>
              </a:rPr>
              <a:t>register. </a:t>
            </a:r>
            <a:r>
              <a:rPr sz="1800" b="1" spc="-484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stack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grows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toward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decreasing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memory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locations.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1945"/>
              </a:lnSpc>
            </a:pP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SP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points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to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last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or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top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item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on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stack.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00">
              <a:latin typeface="Arial"/>
              <a:cs typeface="Arial"/>
            </a:endParaRPr>
          </a:p>
          <a:p>
            <a:pPr marL="12700" marR="4810760">
              <a:lnSpc>
                <a:spcPts val="1939"/>
              </a:lnSpc>
              <a:tabLst>
                <a:tab pos="680720" algn="l"/>
              </a:tabLst>
            </a:pPr>
            <a:r>
              <a:rPr sz="1800" b="1" spc="-5" dirty="0">
                <a:latin typeface="Arial"/>
                <a:cs typeface="Arial"/>
              </a:rPr>
              <a:t>PUSH </a:t>
            </a:r>
            <a:r>
              <a:rPr sz="1800" b="1" dirty="0">
                <a:latin typeface="Arial"/>
                <a:cs typeface="Arial"/>
              </a:rPr>
              <a:t>- </a:t>
            </a:r>
            <a:r>
              <a:rPr sz="1800" b="1" spc="-5" dirty="0">
                <a:latin typeface="Arial"/>
                <a:cs typeface="Arial"/>
              </a:rPr>
              <a:t>pre-decrement the </a:t>
            </a:r>
            <a:r>
              <a:rPr sz="1800" b="1" dirty="0">
                <a:latin typeface="Arial"/>
                <a:cs typeface="Arial"/>
              </a:rPr>
              <a:t>SP </a:t>
            </a:r>
            <a:r>
              <a:rPr sz="1800" b="1" spc="-49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POP	</a:t>
            </a:r>
            <a:r>
              <a:rPr sz="1800" b="1" dirty="0">
                <a:latin typeface="Arial"/>
                <a:cs typeface="Arial"/>
              </a:rPr>
              <a:t>-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post-increment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SP</a:t>
            </a:r>
            <a:endParaRPr sz="18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845300" y="1901634"/>
            <a:ext cx="711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SS:SP</a:t>
            </a:r>
            <a:endParaRPr sz="18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692900" y="506604"/>
            <a:ext cx="2203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0</a:t>
            </a:r>
            <a:r>
              <a:rPr sz="1200" b="1" spc="-5" dirty="0"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750050" y="4011804"/>
            <a:ext cx="6851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0FFFFFH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099" y="171450"/>
            <a:ext cx="418147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The</a:t>
            </a:r>
            <a:r>
              <a:rPr spc="-45" dirty="0"/>
              <a:t> </a:t>
            </a:r>
            <a:r>
              <a:rPr spc="-5" dirty="0"/>
              <a:t>Data</a:t>
            </a:r>
            <a:r>
              <a:rPr spc="-40" dirty="0"/>
              <a:t> </a:t>
            </a:r>
            <a:r>
              <a:rPr spc="-5" dirty="0"/>
              <a:t>Segment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357437" y="533400"/>
            <a:ext cx="4272280" cy="3581400"/>
            <a:chOff x="2357437" y="533400"/>
            <a:chExt cx="4272280" cy="3581400"/>
          </a:xfrm>
        </p:grpSpPr>
        <p:sp>
          <p:nvSpPr>
            <p:cNvPr id="4" name="object 4"/>
            <p:cNvSpPr/>
            <p:nvPr/>
          </p:nvSpPr>
          <p:spPr>
            <a:xfrm>
              <a:off x="5035550" y="539750"/>
              <a:ext cx="1587500" cy="3568700"/>
            </a:xfrm>
            <a:custGeom>
              <a:avLst/>
              <a:gdLst/>
              <a:ahLst/>
              <a:cxnLst/>
              <a:rect l="l" t="t" r="r" b="b"/>
              <a:pathLst>
                <a:path w="1587500" h="3568700">
                  <a:moveTo>
                    <a:pt x="1587500" y="0"/>
                  </a:moveTo>
                  <a:lnTo>
                    <a:pt x="0" y="0"/>
                  </a:lnTo>
                  <a:lnTo>
                    <a:pt x="0" y="3568700"/>
                  </a:lnTo>
                  <a:lnTo>
                    <a:pt x="1587500" y="3568700"/>
                  </a:lnTo>
                  <a:lnTo>
                    <a:pt x="1587500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035550" y="539750"/>
              <a:ext cx="1587500" cy="3568700"/>
            </a:xfrm>
            <a:custGeom>
              <a:avLst/>
              <a:gdLst/>
              <a:ahLst/>
              <a:cxnLst/>
              <a:rect l="l" t="t" r="r" b="b"/>
              <a:pathLst>
                <a:path w="1587500" h="3568700">
                  <a:moveTo>
                    <a:pt x="0" y="0"/>
                  </a:moveTo>
                  <a:lnTo>
                    <a:pt x="1587500" y="0"/>
                  </a:lnTo>
                  <a:lnTo>
                    <a:pt x="1587500" y="3568700"/>
                  </a:lnTo>
                  <a:lnTo>
                    <a:pt x="0" y="35687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363787" y="1295400"/>
              <a:ext cx="2665730" cy="0"/>
            </a:xfrm>
            <a:custGeom>
              <a:avLst/>
              <a:gdLst/>
              <a:ahLst/>
              <a:cxnLst/>
              <a:rect l="l" t="t" r="r" b="b"/>
              <a:pathLst>
                <a:path w="2665729">
                  <a:moveTo>
                    <a:pt x="0" y="0"/>
                  </a:moveTo>
                  <a:lnTo>
                    <a:pt x="266541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78400" y="1257296"/>
              <a:ext cx="127000" cy="76200"/>
            </a:xfrm>
            <a:custGeom>
              <a:avLst/>
              <a:gdLst/>
              <a:ahLst/>
              <a:cxnLst/>
              <a:rect l="l" t="t" r="r" b="b"/>
              <a:pathLst>
                <a:path w="127000" h="76200">
                  <a:moveTo>
                    <a:pt x="0" y="0"/>
                  </a:moveTo>
                  <a:lnTo>
                    <a:pt x="50800" y="38100"/>
                  </a:lnTo>
                  <a:lnTo>
                    <a:pt x="0" y="76200"/>
                  </a:lnTo>
                  <a:lnTo>
                    <a:pt x="1270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24200" y="1296987"/>
              <a:ext cx="0" cy="455930"/>
            </a:xfrm>
            <a:custGeom>
              <a:avLst/>
              <a:gdLst/>
              <a:ahLst/>
              <a:cxnLst/>
              <a:rect l="l" t="t" r="r" b="b"/>
              <a:pathLst>
                <a:path h="455930">
                  <a:moveTo>
                    <a:pt x="0" y="0"/>
                  </a:moveTo>
                  <a:lnTo>
                    <a:pt x="0" y="455612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86100" y="1701800"/>
              <a:ext cx="76200" cy="127000"/>
            </a:xfrm>
            <a:custGeom>
              <a:avLst/>
              <a:gdLst/>
              <a:ahLst/>
              <a:cxnLst/>
              <a:rect l="l" t="t" r="r" b="b"/>
              <a:pathLst>
                <a:path w="76200" h="127000">
                  <a:moveTo>
                    <a:pt x="76200" y="0"/>
                  </a:moveTo>
                  <a:lnTo>
                    <a:pt x="38100" y="50800"/>
                  </a:lnTo>
                  <a:lnTo>
                    <a:pt x="0" y="0"/>
                  </a:lnTo>
                  <a:lnTo>
                    <a:pt x="38100" y="1270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582987" y="1981200"/>
              <a:ext cx="1370330" cy="0"/>
            </a:xfrm>
            <a:custGeom>
              <a:avLst/>
              <a:gdLst/>
              <a:ahLst/>
              <a:cxnLst/>
              <a:rect l="l" t="t" r="r" b="b"/>
              <a:pathLst>
                <a:path w="1370329">
                  <a:moveTo>
                    <a:pt x="0" y="0"/>
                  </a:moveTo>
                  <a:lnTo>
                    <a:pt x="137001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902200" y="1943096"/>
              <a:ext cx="127000" cy="76200"/>
            </a:xfrm>
            <a:custGeom>
              <a:avLst/>
              <a:gdLst/>
              <a:ahLst/>
              <a:cxnLst/>
              <a:rect l="l" t="t" r="r" b="b"/>
              <a:pathLst>
                <a:path w="127000" h="76200">
                  <a:moveTo>
                    <a:pt x="0" y="0"/>
                  </a:moveTo>
                  <a:lnTo>
                    <a:pt x="50800" y="38100"/>
                  </a:lnTo>
                  <a:lnTo>
                    <a:pt x="0" y="76200"/>
                  </a:lnTo>
                  <a:lnTo>
                    <a:pt x="1270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035550" y="1301750"/>
              <a:ext cx="1587500" cy="63500"/>
            </a:xfrm>
            <a:custGeom>
              <a:avLst/>
              <a:gdLst/>
              <a:ahLst/>
              <a:cxnLst/>
              <a:rect l="l" t="t" r="r" b="b"/>
              <a:pathLst>
                <a:path w="1587500" h="63500">
                  <a:moveTo>
                    <a:pt x="1587500" y="0"/>
                  </a:moveTo>
                  <a:lnTo>
                    <a:pt x="0" y="0"/>
                  </a:lnTo>
                  <a:lnTo>
                    <a:pt x="0" y="63500"/>
                  </a:lnTo>
                  <a:lnTo>
                    <a:pt x="1587500" y="63500"/>
                  </a:lnTo>
                  <a:lnTo>
                    <a:pt x="1587500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035550" y="1301750"/>
              <a:ext cx="1587500" cy="749300"/>
            </a:xfrm>
            <a:custGeom>
              <a:avLst/>
              <a:gdLst/>
              <a:ahLst/>
              <a:cxnLst/>
              <a:rect l="l" t="t" r="r" b="b"/>
              <a:pathLst>
                <a:path w="1587500" h="749300">
                  <a:moveTo>
                    <a:pt x="0" y="0"/>
                  </a:moveTo>
                  <a:lnTo>
                    <a:pt x="1587500" y="0"/>
                  </a:lnTo>
                  <a:lnTo>
                    <a:pt x="1587500" y="63500"/>
                  </a:lnTo>
                  <a:lnTo>
                    <a:pt x="0" y="63500"/>
                  </a:lnTo>
                  <a:lnTo>
                    <a:pt x="0" y="0"/>
                  </a:lnTo>
                  <a:close/>
                </a:path>
                <a:path w="1587500" h="749300">
                  <a:moveTo>
                    <a:pt x="0" y="685800"/>
                  </a:moveTo>
                  <a:lnTo>
                    <a:pt x="1587500" y="685800"/>
                  </a:lnTo>
                  <a:lnTo>
                    <a:pt x="1587500" y="749300"/>
                  </a:lnTo>
                  <a:lnTo>
                    <a:pt x="0" y="749300"/>
                  </a:lnTo>
                  <a:lnTo>
                    <a:pt x="0" y="6858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035550" y="2051050"/>
            <a:ext cx="1587500" cy="2057400"/>
          </a:xfrm>
          <a:prstGeom prst="rect">
            <a:avLst/>
          </a:prstGeom>
          <a:solidFill>
            <a:srgbClr val="00CC99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250">
              <a:latin typeface="Times New Roman"/>
              <a:cs typeface="Times New Roman"/>
            </a:endParaRPr>
          </a:p>
          <a:p>
            <a:pPr marL="298450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Memory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44576" y="3044710"/>
            <a:ext cx="1969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Segment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Register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4576" y="3538486"/>
            <a:ext cx="686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Offse</a:t>
            </a:r>
            <a:r>
              <a:rPr sz="1800" b="1" dirty="0">
                <a:latin typeface="Arial"/>
                <a:cs typeface="Arial"/>
              </a:rPr>
              <a:t>t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44576" y="4032262"/>
            <a:ext cx="1922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Physical</a:t>
            </a:r>
            <a:r>
              <a:rPr sz="1800" b="1" spc="-1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Address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287587" y="1289050"/>
            <a:ext cx="1979930" cy="2679700"/>
            <a:chOff x="2287587" y="1289050"/>
            <a:chExt cx="1979930" cy="2679700"/>
          </a:xfrm>
        </p:grpSpPr>
        <p:sp>
          <p:nvSpPr>
            <p:cNvPr id="19" name="object 19"/>
            <p:cNvSpPr/>
            <p:nvPr/>
          </p:nvSpPr>
          <p:spPr>
            <a:xfrm>
              <a:off x="2668587" y="3962400"/>
              <a:ext cx="1598930" cy="0"/>
            </a:xfrm>
            <a:custGeom>
              <a:avLst/>
              <a:gdLst/>
              <a:ahLst/>
              <a:cxnLst/>
              <a:rect l="l" t="t" r="r" b="b"/>
              <a:pathLst>
                <a:path w="1598929">
                  <a:moveTo>
                    <a:pt x="0" y="0"/>
                  </a:moveTo>
                  <a:lnTo>
                    <a:pt x="159861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287587" y="1295400"/>
              <a:ext cx="74930" cy="0"/>
            </a:xfrm>
            <a:custGeom>
              <a:avLst/>
              <a:gdLst/>
              <a:ahLst/>
              <a:cxnLst/>
              <a:rect l="l" t="t" r="r" b="b"/>
              <a:pathLst>
                <a:path w="74930">
                  <a:moveTo>
                    <a:pt x="0" y="0"/>
                  </a:moveTo>
                  <a:lnTo>
                    <a:pt x="7461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882900" y="3501834"/>
            <a:ext cx="159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+</a:t>
            </a:r>
            <a:endParaRPr sz="18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607300" y="6562503"/>
            <a:ext cx="400685" cy="28321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600" b="1" spc="-5" dirty="0">
                <a:latin typeface="Arial"/>
                <a:cs typeface="Arial"/>
              </a:rPr>
              <a:t>I-18</a:t>
            </a:r>
            <a:endParaRPr sz="1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96900" y="1215834"/>
            <a:ext cx="4197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D</a:t>
            </a:r>
            <a:r>
              <a:rPr sz="1800" b="1" dirty="0">
                <a:latin typeface="Arial"/>
                <a:cs typeface="Arial"/>
              </a:rPr>
              <a:t>S: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197100" y="1901634"/>
            <a:ext cx="34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EA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25550" y="1149350"/>
            <a:ext cx="1054100" cy="368300"/>
          </a:xfrm>
          <a:prstGeom prst="rect">
            <a:avLst/>
          </a:prstGeom>
          <a:solidFill>
            <a:srgbClr val="00CC99"/>
          </a:solidFill>
          <a:ln w="12700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 marL="298450">
              <a:lnSpc>
                <a:spcPct val="100000"/>
              </a:lnSpc>
              <a:spcBef>
                <a:spcPts val="20"/>
              </a:spcBef>
            </a:pPr>
            <a:r>
              <a:rPr sz="1800" b="1" spc="-5" dirty="0">
                <a:latin typeface="Arial"/>
                <a:cs typeface="Arial"/>
              </a:rPr>
              <a:t>05C0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673350" y="1835150"/>
            <a:ext cx="901700" cy="368300"/>
          </a:xfrm>
          <a:prstGeom prst="rect">
            <a:avLst/>
          </a:prstGeom>
          <a:solidFill>
            <a:srgbClr val="00CC99"/>
          </a:solidFill>
          <a:ln w="12700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 marL="222250">
              <a:lnSpc>
                <a:spcPct val="100000"/>
              </a:lnSpc>
              <a:spcBef>
                <a:spcPts val="20"/>
              </a:spcBef>
            </a:pPr>
            <a:r>
              <a:rPr sz="1800" b="1" spc="-5" dirty="0">
                <a:latin typeface="Arial"/>
                <a:cs typeface="Arial"/>
              </a:rPr>
              <a:t>0050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178376" y="987158"/>
            <a:ext cx="8655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05C00H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178376" y="1596834"/>
            <a:ext cx="8655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05C50H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901950" y="2901950"/>
            <a:ext cx="825500" cy="368300"/>
          </a:xfrm>
          <a:prstGeom prst="rect">
            <a:avLst/>
          </a:prstGeom>
          <a:solidFill>
            <a:srgbClr val="00CC99"/>
          </a:solidFill>
          <a:ln w="12700">
            <a:solidFill>
              <a:srgbClr val="000000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 marL="146050">
              <a:lnSpc>
                <a:spcPct val="100000"/>
              </a:lnSpc>
              <a:spcBef>
                <a:spcPts val="25"/>
              </a:spcBef>
            </a:pPr>
            <a:r>
              <a:rPr sz="1800" b="1" spc="-5" dirty="0">
                <a:latin typeface="Arial"/>
                <a:cs typeface="Arial"/>
              </a:rPr>
              <a:t>05C0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816350" y="2901950"/>
            <a:ext cx="215900" cy="368300"/>
          </a:xfrm>
          <a:prstGeom prst="rect">
            <a:avLst/>
          </a:prstGeom>
          <a:solidFill>
            <a:srgbClr val="00CC99"/>
          </a:solidFill>
          <a:ln w="12700">
            <a:solidFill>
              <a:srgbClr val="000000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25"/>
              </a:spcBef>
            </a:pPr>
            <a:r>
              <a:rPr sz="1800" b="1" spc="-5" dirty="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130550" y="3511550"/>
            <a:ext cx="901700" cy="368300"/>
          </a:xfrm>
          <a:prstGeom prst="rect">
            <a:avLst/>
          </a:prstGeom>
          <a:solidFill>
            <a:srgbClr val="00CC99"/>
          </a:solidFill>
          <a:ln w="12700">
            <a:solidFill>
              <a:srgbClr val="000000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 marL="222250">
              <a:lnSpc>
                <a:spcPct val="100000"/>
              </a:lnSpc>
              <a:spcBef>
                <a:spcPts val="25"/>
              </a:spcBef>
            </a:pPr>
            <a:r>
              <a:rPr sz="1800" b="1" spc="-5" dirty="0">
                <a:latin typeface="Arial"/>
                <a:cs typeface="Arial"/>
              </a:rPr>
              <a:t>0050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901950" y="4044950"/>
            <a:ext cx="1130300" cy="368300"/>
          </a:xfrm>
          <a:prstGeom prst="rect">
            <a:avLst/>
          </a:prstGeom>
          <a:solidFill>
            <a:srgbClr val="00CC99"/>
          </a:solidFill>
          <a:ln w="12700">
            <a:solidFill>
              <a:srgbClr val="000000"/>
            </a:solidFill>
          </a:ln>
        </p:spPr>
        <p:txBody>
          <a:bodyPr vert="horz" wrap="square" lIns="0" tIns="79375" rIns="0" bIns="0" rtlCol="0">
            <a:spAutoFit/>
          </a:bodyPr>
          <a:lstStyle/>
          <a:p>
            <a:pPr marL="146050">
              <a:lnSpc>
                <a:spcPct val="100000"/>
              </a:lnSpc>
              <a:spcBef>
                <a:spcPts val="625"/>
              </a:spcBef>
            </a:pPr>
            <a:r>
              <a:rPr sz="1800" b="1" spc="-5" dirty="0">
                <a:latin typeface="Arial"/>
                <a:cs typeface="Arial"/>
              </a:rPr>
              <a:t>05C50H</a:t>
            </a:r>
            <a:endParaRPr sz="18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359280" y="4873587"/>
            <a:ext cx="5919470" cy="79375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>
              <a:lnSpc>
                <a:spcPts val="1939"/>
              </a:lnSpc>
              <a:spcBef>
                <a:spcPts val="345"/>
              </a:spcBef>
            </a:pPr>
            <a:r>
              <a:rPr sz="1800" b="1" spc="-5" dirty="0">
                <a:latin typeface="Arial"/>
                <a:cs typeface="Arial"/>
              </a:rPr>
              <a:t>Data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is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usually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fetched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with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respect </a:t>
            </a:r>
            <a:r>
              <a:rPr sz="1800" b="1" dirty="0">
                <a:latin typeface="Arial"/>
                <a:cs typeface="Arial"/>
              </a:rPr>
              <a:t>to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DS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15" dirty="0">
                <a:latin typeface="Arial"/>
                <a:cs typeface="Arial"/>
              </a:rPr>
              <a:t>register. </a:t>
            </a:r>
            <a:r>
              <a:rPr sz="1800" b="1" spc="-484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effective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address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(EA) is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offset.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1920"/>
              </a:lnSpc>
            </a:pPr>
            <a:r>
              <a:rPr sz="1800" b="1" spc="-5" dirty="0">
                <a:latin typeface="Arial"/>
                <a:cs typeface="Arial"/>
              </a:rPr>
              <a:t>The EA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depends on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addressing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mode.</a:t>
            </a:r>
            <a:endParaRPr sz="18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769100" y="1901634"/>
            <a:ext cx="737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DS:EA</a:t>
            </a:r>
            <a:endParaRPr sz="18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692900" y="556450"/>
            <a:ext cx="241300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b="1" spc="15" dirty="0">
                <a:latin typeface="Arial"/>
                <a:cs typeface="Arial"/>
              </a:rPr>
              <a:t>0H</a:t>
            </a:r>
            <a:endParaRPr sz="13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712015" y="4023466"/>
            <a:ext cx="760095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b="1" spc="15" dirty="0">
                <a:latin typeface="Arial"/>
                <a:cs typeface="Arial"/>
              </a:rPr>
              <a:t>0FFFFFH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57200"/>
            <a:ext cx="8229599" cy="64008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01264" y="0"/>
            <a:ext cx="478980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latin typeface="Times New Roman"/>
                <a:cs typeface="Times New Roman"/>
              </a:rPr>
              <a:t>8086</a:t>
            </a:r>
            <a:r>
              <a:rPr sz="3200" b="1" spc="-30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memory</a:t>
            </a:r>
            <a:r>
              <a:rPr sz="3200" b="1" spc="-15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Organization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9700" y="289051"/>
            <a:ext cx="6803390" cy="5389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320" marR="12065" algn="ctr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latin typeface="Arial"/>
                <a:cs typeface="Arial"/>
              </a:rPr>
              <a:t>Even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addresses</a:t>
            </a:r>
            <a:r>
              <a:rPr sz="3200" b="1" spc="-3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are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on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the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low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half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of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the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data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bus</a:t>
            </a:r>
            <a:r>
              <a:rPr sz="3200" b="1" spc="-3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(D0-D7).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300">
              <a:latin typeface="Arial"/>
              <a:cs typeface="Arial"/>
            </a:endParaRPr>
          </a:p>
          <a:p>
            <a:pPr marL="290830" marR="282575" algn="ctr">
              <a:lnSpc>
                <a:spcPct val="100000"/>
              </a:lnSpc>
            </a:pPr>
            <a:r>
              <a:rPr sz="3200" b="1" spc="-5" dirty="0">
                <a:latin typeface="Arial"/>
                <a:cs typeface="Arial"/>
              </a:rPr>
              <a:t>Odd</a:t>
            </a:r>
            <a:r>
              <a:rPr sz="3200" b="1" spc="-3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addresses</a:t>
            </a:r>
            <a:r>
              <a:rPr sz="3200" b="1" spc="-3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are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on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the</a:t>
            </a:r>
            <a:r>
              <a:rPr sz="3200" b="1" spc="-3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upper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half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of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the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data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bus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(D8-D15).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300">
              <a:latin typeface="Arial"/>
              <a:cs typeface="Arial"/>
            </a:endParaRPr>
          </a:p>
          <a:p>
            <a:pPr marL="464820" marR="456565" algn="ctr">
              <a:lnSpc>
                <a:spcPct val="100000"/>
              </a:lnSpc>
            </a:pPr>
            <a:r>
              <a:rPr sz="3200" b="1" spc="-5" dirty="0">
                <a:latin typeface="Arial"/>
                <a:cs typeface="Arial"/>
              </a:rPr>
              <a:t>A0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=</a:t>
            </a:r>
            <a:r>
              <a:rPr sz="3200" b="1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0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when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data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is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on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the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low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half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of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the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data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bus.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300">
              <a:latin typeface="Arial"/>
              <a:cs typeface="Arial"/>
            </a:endParaRPr>
          </a:p>
          <a:p>
            <a:pPr marL="12700" marR="5080" algn="ctr">
              <a:lnSpc>
                <a:spcPct val="100000"/>
              </a:lnSpc>
              <a:spcBef>
                <a:spcPts val="5"/>
              </a:spcBef>
            </a:pPr>
            <a:r>
              <a:rPr sz="3200" b="1" spc="-5" dirty="0">
                <a:latin typeface="Arial"/>
                <a:cs typeface="Arial"/>
              </a:rPr>
              <a:t>BHE’ = 0 when data is on the upper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half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of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the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data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bus.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1264" y="814069"/>
            <a:ext cx="516064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MAX</a:t>
            </a:r>
            <a:r>
              <a:rPr spc="-30" dirty="0"/>
              <a:t> </a:t>
            </a:r>
            <a:r>
              <a:rPr spc="-5" dirty="0"/>
              <a:t>and</a:t>
            </a:r>
            <a:r>
              <a:rPr spc="-25" dirty="0"/>
              <a:t> </a:t>
            </a:r>
            <a:r>
              <a:rPr spc="-5" dirty="0"/>
              <a:t>MIN</a:t>
            </a:r>
            <a:r>
              <a:rPr spc="-20" dirty="0"/>
              <a:t> </a:t>
            </a:r>
            <a:r>
              <a:rPr spc="-5" dirty="0"/>
              <a:t>Modes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2000504"/>
            <a:ext cx="7403465" cy="40246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243204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In minmode,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9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signals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correspond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to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control signals</a:t>
            </a:r>
            <a:r>
              <a:rPr sz="3200" b="1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that are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needed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to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operate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memory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and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I/O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devices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connected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to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8088.</a:t>
            </a:r>
            <a:endParaRPr sz="3200">
              <a:latin typeface="Times New Roman"/>
              <a:cs typeface="Times New Roman"/>
            </a:endParaRPr>
          </a:p>
          <a:p>
            <a:pPr marL="354965" marR="5080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In maxmode,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 9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signals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change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their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functions; the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8088 now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requires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use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8288 bus</a:t>
            </a:r>
            <a:r>
              <a:rPr sz="3200" b="1" spc="5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controller</a:t>
            </a:r>
            <a:r>
              <a:rPr sz="3200" b="1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to generate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memory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and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I/O read/write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signals.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6383" y="814069"/>
            <a:ext cx="657225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Why</a:t>
            </a:r>
            <a:r>
              <a:rPr spc="-25" dirty="0"/>
              <a:t> </a:t>
            </a:r>
            <a:r>
              <a:rPr spc="-5" dirty="0"/>
              <a:t>MIN</a:t>
            </a:r>
            <a:r>
              <a:rPr spc="-10" dirty="0"/>
              <a:t> </a:t>
            </a:r>
            <a:r>
              <a:rPr spc="-5" dirty="0"/>
              <a:t>and</a:t>
            </a:r>
            <a:r>
              <a:rPr spc="-15" dirty="0"/>
              <a:t> </a:t>
            </a:r>
            <a:r>
              <a:rPr spc="-5" dirty="0"/>
              <a:t>MAX</a:t>
            </a:r>
            <a:r>
              <a:rPr spc="-15" dirty="0"/>
              <a:t> </a:t>
            </a:r>
            <a:r>
              <a:rPr spc="-5" dirty="0"/>
              <a:t>modes?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2000504"/>
            <a:ext cx="7573009" cy="40246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39116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Minmode signals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can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directly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decoded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by memory and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I/O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circuits,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resulting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 a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system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with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minimal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hardware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requirements.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Maxmode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systems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are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more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complicated,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but obtain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new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signals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that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allow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for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bus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grants (e.g. DMA),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and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use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an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8087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coprocessor.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9225" y="814069"/>
            <a:ext cx="376618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The</a:t>
            </a:r>
            <a:r>
              <a:rPr spc="-35" dirty="0"/>
              <a:t> </a:t>
            </a:r>
            <a:r>
              <a:rPr spc="-5" dirty="0"/>
              <a:t>9</a:t>
            </a:r>
            <a:r>
              <a:rPr spc="-15" dirty="0"/>
              <a:t> </a:t>
            </a:r>
            <a:r>
              <a:rPr spc="-5" dirty="0"/>
              <a:t>pins</a:t>
            </a:r>
            <a:r>
              <a:rPr spc="-20" dirty="0"/>
              <a:t> </a:t>
            </a:r>
            <a:r>
              <a:rPr spc="-5" dirty="0"/>
              <a:t>(min)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17008"/>
            <a:ext cx="6526530" cy="425005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434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**ALE: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address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latch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enable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(AD0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–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AD7)</a:t>
            </a:r>
            <a:endParaRPr sz="280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33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latin typeface="Times New Roman"/>
                <a:cs typeface="Times New Roman"/>
              </a:rPr>
              <a:t>**DEN: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data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enable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(connect/disc.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buffer)</a:t>
            </a:r>
            <a:endParaRPr sz="280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33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latin typeface="Times New Roman"/>
                <a:cs typeface="Times New Roman"/>
              </a:rPr>
              <a:t>**WR: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write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(writing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indication)</a:t>
            </a:r>
            <a:endParaRPr sz="280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33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latin typeface="Times New Roman"/>
                <a:cs typeface="Times New Roman"/>
              </a:rPr>
              <a:t>*HOLD</a:t>
            </a:r>
            <a:endParaRPr sz="280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33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latin typeface="Times New Roman"/>
                <a:cs typeface="Times New Roman"/>
              </a:rPr>
              <a:t>*HDLA: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hold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acknowledge</a:t>
            </a:r>
            <a:endParaRPr sz="280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340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latin typeface="Times New Roman"/>
                <a:cs typeface="Times New Roman"/>
              </a:rPr>
              <a:t>*INTA: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interrupt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acknowledge</a:t>
            </a:r>
            <a:endParaRPr sz="280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33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latin typeface="Times New Roman"/>
                <a:cs typeface="Times New Roman"/>
              </a:rPr>
              <a:t>IO/M: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memory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access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I/O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access</a:t>
            </a:r>
            <a:endParaRPr sz="280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33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DT/R: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data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transmit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/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receive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(direction)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33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SSO: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status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3504" y="814069"/>
            <a:ext cx="385826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The</a:t>
            </a:r>
            <a:r>
              <a:rPr spc="-30" dirty="0"/>
              <a:t> </a:t>
            </a:r>
            <a:r>
              <a:rPr spc="-5" dirty="0"/>
              <a:t>9</a:t>
            </a:r>
            <a:r>
              <a:rPr spc="-20" dirty="0"/>
              <a:t> </a:t>
            </a:r>
            <a:r>
              <a:rPr spc="-5" dirty="0"/>
              <a:t>pins</a:t>
            </a:r>
            <a:r>
              <a:rPr spc="-20" dirty="0"/>
              <a:t> </a:t>
            </a:r>
            <a:r>
              <a:rPr spc="-5" dirty="0"/>
              <a:t>(max)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02622"/>
            <a:ext cx="7390765" cy="343979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86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S0,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S1,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S2: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status</a:t>
            </a:r>
            <a:endParaRPr sz="3200">
              <a:latin typeface="Times New Roman"/>
              <a:cs typeface="Times New Roman"/>
            </a:endParaRPr>
          </a:p>
          <a:p>
            <a:pPr marL="354965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*RQ/GT0,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RQ/GT1: request/grant</a:t>
            </a:r>
            <a:endParaRPr sz="3200">
              <a:latin typeface="Times New Roman"/>
              <a:cs typeface="Times New Roman"/>
            </a:endParaRPr>
          </a:p>
          <a:p>
            <a:pPr marL="354965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*LOCK: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locking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control of the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sys.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bus</a:t>
            </a:r>
            <a:endParaRPr sz="3200">
              <a:latin typeface="Times New Roman"/>
              <a:cs typeface="Times New Roman"/>
            </a:endParaRPr>
          </a:p>
          <a:p>
            <a:pPr marL="354965" marR="953135" indent="-342900">
              <a:lnSpc>
                <a:spcPct val="100000"/>
              </a:lnSpc>
              <a:spcBef>
                <a:spcPts val="76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*QS1,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QS0: queue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status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(tracking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internal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instruction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queue).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HIGH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37490" y="628904"/>
            <a:ext cx="306895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latin typeface="Times New Roman"/>
                <a:cs typeface="Times New Roman"/>
              </a:rPr>
              <a:t>Instruction</a:t>
            </a:r>
            <a:r>
              <a:rPr sz="3200" b="1" spc="-114" dirty="0">
                <a:latin typeface="Times New Roman"/>
                <a:cs typeface="Times New Roman"/>
              </a:rPr>
              <a:t> </a:t>
            </a:r>
            <a:r>
              <a:rPr sz="3200" b="1" spc="-55" dirty="0">
                <a:latin typeface="Times New Roman"/>
                <a:cs typeface="Times New Roman"/>
              </a:rPr>
              <a:t>Types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3139" y="1355356"/>
            <a:ext cx="6172200" cy="4507230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330835" indent="-318770">
              <a:lnSpc>
                <a:spcPct val="100000"/>
              </a:lnSpc>
              <a:spcBef>
                <a:spcPts val="1780"/>
              </a:spcBef>
              <a:buSzPct val="78571"/>
              <a:buFont typeface="Wingdings"/>
              <a:buChar char=""/>
              <a:tabLst>
                <a:tab pos="331470" algn="l"/>
              </a:tabLst>
            </a:pPr>
            <a:r>
              <a:rPr sz="2800" b="1" dirty="0">
                <a:latin typeface="Times New Roman"/>
                <a:cs typeface="Times New Roman"/>
              </a:rPr>
              <a:t>Data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transfer</a:t>
            </a:r>
            <a:r>
              <a:rPr sz="2800" b="1" spc="-7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instructions</a:t>
            </a:r>
            <a:endParaRPr sz="2800">
              <a:latin typeface="Times New Roman"/>
              <a:cs typeface="Times New Roman"/>
            </a:endParaRPr>
          </a:p>
          <a:p>
            <a:pPr marL="418465" indent="-406400">
              <a:lnSpc>
                <a:spcPct val="100000"/>
              </a:lnSpc>
              <a:spcBef>
                <a:spcPts val="1680"/>
              </a:spcBef>
              <a:buFont typeface="Wingdings"/>
              <a:buChar char=""/>
              <a:tabLst>
                <a:tab pos="419100" algn="l"/>
              </a:tabLst>
            </a:pPr>
            <a:r>
              <a:rPr sz="2800" b="1" spc="-5" dirty="0">
                <a:latin typeface="Times New Roman"/>
                <a:cs typeface="Times New Roman"/>
              </a:rPr>
              <a:t>String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instructions</a:t>
            </a:r>
            <a:endParaRPr sz="2800">
              <a:latin typeface="Times New Roman"/>
              <a:cs typeface="Times New Roman"/>
            </a:endParaRPr>
          </a:p>
          <a:p>
            <a:pPr marL="398780" indent="-386715">
              <a:lnSpc>
                <a:spcPct val="100000"/>
              </a:lnSpc>
              <a:spcBef>
                <a:spcPts val="1680"/>
              </a:spcBef>
              <a:buFont typeface="Wingdings"/>
              <a:buChar char=""/>
              <a:tabLst>
                <a:tab pos="399415" algn="l"/>
              </a:tabLst>
            </a:pPr>
            <a:r>
              <a:rPr sz="2800" b="1" spc="-5" dirty="0">
                <a:latin typeface="Times New Roman"/>
                <a:cs typeface="Times New Roman"/>
              </a:rPr>
              <a:t>Arithmetic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instructions</a:t>
            </a:r>
            <a:endParaRPr sz="2800">
              <a:latin typeface="Times New Roman"/>
              <a:cs typeface="Times New Roman"/>
            </a:endParaRPr>
          </a:p>
          <a:p>
            <a:pPr marL="418465" indent="-406400">
              <a:lnSpc>
                <a:spcPct val="100000"/>
              </a:lnSpc>
              <a:spcBef>
                <a:spcPts val="1680"/>
              </a:spcBef>
              <a:buFont typeface="Wingdings"/>
              <a:buChar char=""/>
              <a:tabLst>
                <a:tab pos="419100" algn="l"/>
              </a:tabLst>
            </a:pPr>
            <a:r>
              <a:rPr sz="2800" b="1" spc="-5" dirty="0">
                <a:latin typeface="Times New Roman"/>
                <a:cs typeface="Times New Roman"/>
              </a:rPr>
              <a:t>Bit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manipulation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instructions</a:t>
            </a:r>
            <a:endParaRPr sz="2800">
              <a:latin typeface="Times New Roman"/>
              <a:cs typeface="Times New Roman"/>
            </a:endParaRPr>
          </a:p>
          <a:p>
            <a:pPr marL="418465" indent="-406400">
              <a:lnSpc>
                <a:spcPct val="100000"/>
              </a:lnSpc>
              <a:spcBef>
                <a:spcPts val="1680"/>
              </a:spcBef>
              <a:buFont typeface="Wingdings"/>
              <a:buChar char=""/>
              <a:tabLst>
                <a:tab pos="419100" algn="l"/>
              </a:tabLst>
            </a:pPr>
            <a:r>
              <a:rPr sz="2800" b="1" spc="-5" dirty="0">
                <a:latin typeface="Times New Roman"/>
                <a:cs typeface="Times New Roman"/>
              </a:rPr>
              <a:t>Loop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and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jump</a:t>
            </a:r>
            <a:r>
              <a:rPr sz="2800" b="1" spc="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instructions</a:t>
            </a:r>
            <a:endParaRPr sz="2800">
              <a:latin typeface="Times New Roman"/>
              <a:cs typeface="Times New Roman"/>
            </a:endParaRPr>
          </a:p>
          <a:p>
            <a:pPr marL="418465" indent="-406400">
              <a:lnSpc>
                <a:spcPct val="100000"/>
              </a:lnSpc>
              <a:spcBef>
                <a:spcPts val="1685"/>
              </a:spcBef>
              <a:buFont typeface="Wingdings"/>
              <a:buChar char=""/>
              <a:tabLst>
                <a:tab pos="419100" algn="l"/>
              </a:tabLst>
            </a:pPr>
            <a:r>
              <a:rPr sz="2800" b="1" spc="-5" dirty="0">
                <a:latin typeface="Times New Roman"/>
                <a:cs typeface="Times New Roman"/>
              </a:rPr>
              <a:t>Subroutine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and</a:t>
            </a:r>
            <a:r>
              <a:rPr sz="2800" b="1" spc="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interrupt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instructions</a:t>
            </a:r>
            <a:endParaRPr sz="2800">
              <a:latin typeface="Times New Roman"/>
              <a:cs typeface="Times New Roman"/>
            </a:endParaRPr>
          </a:p>
          <a:p>
            <a:pPr marL="418465" indent="-406400">
              <a:lnSpc>
                <a:spcPct val="100000"/>
              </a:lnSpc>
              <a:spcBef>
                <a:spcPts val="1680"/>
              </a:spcBef>
              <a:buFont typeface="Wingdings"/>
              <a:buChar char=""/>
              <a:tabLst>
                <a:tab pos="419100" algn="l"/>
              </a:tabLst>
            </a:pPr>
            <a:r>
              <a:rPr sz="2800" b="1" spc="-10" dirty="0">
                <a:latin typeface="Times New Roman"/>
                <a:cs typeface="Times New Roman"/>
              </a:rPr>
              <a:t>Processor</a:t>
            </a:r>
            <a:r>
              <a:rPr sz="2800" b="1" spc="-8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control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instructions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98875" y="635000"/>
            <a:ext cx="174561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/>
              <a:t>Addressing</a:t>
            </a:r>
            <a:r>
              <a:rPr sz="1800" spc="-55" dirty="0"/>
              <a:t> </a:t>
            </a:r>
            <a:r>
              <a:rPr sz="1800" spc="-5" dirty="0"/>
              <a:t>Modes</a:t>
            </a:r>
            <a:endParaRPr sz="1800"/>
          </a:p>
        </p:txBody>
      </p:sp>
      <p:sp>
        <p:nvSpPr>
          <p:cNvPr id="3" name="object 3"/>
          <p:cNvSpPr txBox="1"/>
          <p:nvPr/>
        </p:nvSpPr>
        <p:spPr>
          <a:xfrm>
            <a:off x="910640" y="1806346"/>
            <a:ext cx="4386580" cy="276860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272415" indent="-260350">
              <a:lnSpc>
                <a:spcPct val="100000"/>
              </a:lnSpc>
              <a:spcBef>
                <a:spcPts val="640"/>
              </a:spcBef>
              <a:buFont typeface="Wingdings"/>
              <a:buChar char=""/>
              <a:tabLst>
                <a:tab pos="273050" algn="l"/>
              </a:tabLst>
            </a:pPr>
            <a:r>
              <a:rPr sz="1800" spc="-5" dirty="0">
                <a:latin typeface="Times New Roman"/>
                <a:cs typeface="Times New Roman"/>
              </a:rPr>
              <a:t>Immediate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addressing</a:t>
            </a:r>
            <a:endParaRPr sz="1800">
              <a:latin typeface="Times New Roman"/>
              <a:cs typeface="Times New Roman"/>
            </a:endParaRPr>
          </a:p>
          <a:p>
            <a:pPr marL="272415" indent="-260350">
              <a:lnSpc>
                <a:spcPct val="100000"/>
              </a:lnSpc>
              <a:spcBef>
                <a:spcPts val="540"/>
              </a:spcBef>
              <a:buFont typeface="Wingdings"/>
              <a:buChar char=""/>
              <a:tabLst>
                <a:tab pos="273050" algn="l"/>
              </a:tabLst>
            </a:pPr>
            <a:r>
              <a:rPr sz="1800" spc="-5" dirty="0">
                <a:latin typeface="Times New Roman"/>
                <a:cs typeface="Times New Roman"/>
              </a:rPr>
              <a:t>Register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addressing</a:t>
            </a:r>
            <a:endParaRPr sz="1800">
              <a:latin typeface="Times New Roman"/>
              <a:cs typeface="Times New Roman"/>
            </a:endParaRPr>
          </a:p>
          <a:p>
            <a:pPr marL="272415" indent="-260350">
              <a:lnSpc>
                <a:spcPct val="100000"/>
              </a:lnSpc>
              <a:spcBef>
                <a:spcPts val="540"/>
              </a:spcBef>
              <a:buFont typeface="Wingdings"/>
              <a:buChar char=""/>
              <a:tabLst>
                <a:tab pos="273050" algn="l"/>
              </a:tabLst>
            </a:pPr>
            <a:r>
              <a:rPr sz="1800" spc="-5" dirty="0">
                <a:latin typeface="Times New Roman"/>
                <a:cs typeface="Times New Roman"/>
              </a:rPr>
              <a:t>Direct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addressing</a:t>
            </a:r>
            <a:endParaRPr sz="1800">
              <a:latin typeface="Times New Roman"/>
              <a:cs typeface="Times New Roman"/>
            </a:endParaRPr>
          </a:p>
          <a:p>
            <a:pPr marL="272415" indent="-260350">
              <a:lnSpc>
                <a:spcPct val="100000"/>
              </a:lnSpc>
              <a:spcBef>
                <a:spcPts val="540"/>
              </a:spcBef>
              <a:buFont typeface="Wingdings"/>
              <a:buChar char=""/>
              <a:tabLst>
                <a:tab pos="273050" algn="l"/>
              </a:tabLst>
            </a:pPr>
            <a:r>
              <a:rPr sz="1800" spc="-5" dirty="0">
                <a:latin typeface="Times New Roman"/>
                <a:cs typeface="Times New Roman"/>
              </a:rPr>
              <a:t>Register Indirect addressing</a:t>
            </a:r>
            <a:endParaRPr sz="1800">
              <a:latin typeface="Times New Roman"/>
              <a:cs typeface="Times New Roman"/>
            </a:endParaRPr>
          </a:p>
          <a:p>
            <a:pPr marL="272415" indent="-260350">
              <a:lnSpc>
                <a:spcPct val="100000"/>
              </a:lnSpc>
              <a:spcBef>
                <a:spcPts val="540"/>
              </a:spcBef>
              <a:buFont typeface="Wingdings"/>
              <a:buChar char=""/>
              <a:tabLst>
                <a:tab pos="273050" algn="l"/>
              </a:tabLst>
            </a:pPr>
            <a:r>
              <a:rPr sz="1800" spc="-5" dirty="0">
                <a:latin typeface="Times New Roman"/>
                <a:cs typeface="Times New Roman"/>
              </a:rPr>
              <a:t>Based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addressing</a:t>
            </a:r>
            <a:endParaRPr sz="1800">
              <a:latin typeface="Times New Roman"/>
              <a:cs typeface="Times New Roman"/>
            </a:endParaRPr>
          </a:p>
          <a:p>
            <a:pPr marL="272415" indent="-260350">
              <a:lnSpc>
                <a:spcPct val="100000"/>
              </a:lnSpc>
              <a:spcBef>
                <a:spcPts val="540"/>
              </a:spcBef>
              <a:buFont typeface="Wingdings"/>
              <a:buChar char=""/>
              <a:tabLst>
                <a:tab pos="273050" algn="l"/>
              </a:tabLst>
            </a:pPr>
            <a:r>
              <a:rPr sz="1800" spc="-5" dirty="0">
                <a:latin typeface="Times New Roman"/>
                <a:cs typeface="Times New Roman"/>
              </a:rPr>
              <a:t>Indexed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addressing</a:t>
            </a:r>
            <a:endParaRPr sz="1800">
              <a:latin typeface="Times New Roman"/>
              <a:cs typeface="Times New Roman"/>
            </a:endParaRPr>
          </a:p>
          <a:p>
            <a:pPr marL="272415" indent="-260350">
              <a:lnSpc>
                <a:spcPct val="100000"/>
              </a:lnSpc>
              <a:spcBef>
                <a:spcPts val="540"/>
              </a:spcBef>
              <a:buFont typeface="Wingdings"/>
              <a:buChar char=""/>
              <a:tabLst>
                <a:tab pos="273050" algn="l"/>
              </a:tabLst>
            </a:pPr>
            <a:r>
              <a:rPr sz="1800" spc="-5" dirty="0">
                <a:latin typeface="Times New Roman"/>
                <a:cs typeface="Times New Roman"/>
              </a:rPr>
              <a:t>Based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indexed addressing</a:t>
            </a:r>
            <a:endParaRPr sz="1800">
              <a:latin typeface="Times New Roman"/>
              <a:cs typeface="Times New Roman"/>
            </a:endParaRPr>
          </a:p>
          <a:p>
            <a:pPr marL="272415" indent="-260350">
              <a:lnSpc>
                <a:spcPct val="100000"/>
              </a:lnSpc>
              <a:spcBef>
                <a:spcPts val="540"/>
              </a:spcBef>
              <a:buFont typeface="Wingdings"/>
              <a:buChar char=""/>
              <a:tabLst>
                <a:tab pos="273050" algn="l"/>
              </a:tabLst>
            </a:pPr>
            <a:r>
              <a:rPr sz="1800" spc="-5" dirty="0">
                <a:latin typeface="Times New Roman"/>
                <a:cs typeface="Times New Roman"/>
              </a:rPr>
              <a:t>Based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indexed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with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displacement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addressing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97040" y="1806346"/>
            <a:ext cx="2101215" cy="2768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99720">
              <a:lnSpc>
                <a:spcPct val="125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MOV</a:t>
            </a:r>
            <a:r>
              <a:rPr sz="1800" spc="-1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</a:t>
            </a:r>
            <a:r>
              <a:rPr sz="1800" spc="-10" dirty="0">
                <a:latin typeface="Times New Roman"/>
                <a:cs typeface="Times New Roman"/>
              </a:rPr>
              <a:t>L</a:t>
            </a:r>
            <a:r>
              <a:rPr sz="1800" dirty="0">
                <a:latin typeface="Times New Roman"/>
                <a:cs typeface="Times New Roman"/>
              </a:rPr>
              <a:t>, 12</a:t>
            </a:r>
            <a:r>
              <a:rPr sz="1800" spc="-5" dirty="0">
                <a:latin typeface="Times New Roman"/>
                <a:cs typeface="Times New Roman"/>
              </a:rPr>
              <a:t>H  MOV</a:t>
            </a:r>
            <a:r>
              <a:rPr sz="1800" spc="-1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</a:t>
            </a:r>
            <a:r>
              <a:rPr sz="1800" spc="-10" dirty="0">
                <a:latin typeface="Times New Roman"/>
                <a:cs typeface="Times New Roman"/>
              </a:rPr>
              <a:t>L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spc="-114" dirty="0">
                <a:latin typeface="Times New Roman"/>
                <a:cs typeface="Times New Roman"/>
              </a:rPr>
              <a:t> </a:t>
            </a:r>
            <a:r>
              <a:rPr sz="1800" spc="110" dirty="0">
                <a:latin typeface="Times New Roman"/>
                <a:cs typeface="Times New Roman"/>
              </a:rPr>
              <a:t>B</a:t>
            </a:r>
            <a:r>
              <a:rPr sz="1800" dirty="0">
                <a:latin typeface="Times New Roman"/>
                <a:cs typeface="Times New Roman"/>
              </a:rPr>
              <a:t>L  </a:t>
            </a:r>
            <a:r>
              <a:rPr sz="1800" spc="-5" dirty="0">
                <a:latin typeface="Times New Roman"/>
                <a:cs typeface="Times New Roman"/>
              </a:rPr>
              <a:t>MOV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[500</a:t>
            </a:r>
            <a:r>
              <a:rPr sz="1800" spc="-5" dirty="0">
                <a:latin typeface="Times New Roman"/>
                <a:cs typeface="Times New Roman"/>
              </a:rPr>
              <a:t>H</a:t>
            </a:r>
            <a:r>
              <a:rPr sz="1800" dirty="0">
                <a:latin typeface="Times New Roman"/>
                <a:cs typeface="Times New Roman"/>
              </a:rPr>
              <a:t>],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</a:t>
            </a:r>
            <a:r>
              <a:rPr sz="1800" dirty="0">
                <a:latin typeface="Times New Roman"/>
                <a:cs typeface="Times New Roman"/>
              </a:rPr>
              <a:t>L  </a:t>
            </a:r>
            <a:r>
              <a:rPr sz="1800" spc="-5" dirty="0">
                <a:latin typeface="Times New Roman"/>
                <a:cs typeface="Times New Roman"/>
              </a:rPr>
              <a:t>MOV DL, </a:t>
            </a:r>
            <a:r>
              <a:rPr sz="1800" dirty="0">
                <a:latin typeface="Times New Roman"/>
                <a:cs typeface="Times New Roman"/>
              </a:rPr>
              <a:t>[SI] 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MOV</a:t>
            </a:r>
            <a:r>
              <a:rPr sz="1800" spc="-1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AX,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[B</a:t>
            </a:r>
            <a:r>
              <a:rPr sz="1800" spc="-5" dirty="0">
                <a:latin typeface="Times New Roman"/>
                <a:cs typeface="Times New Roman"/>
              </a:rPr>
              <a:t>X+</a:t>
            </a:r>
            <a:r>
              <a:rPr sz="1800" dirty="0">
                <a:latin typeface="Times New Roman"/>
                <a:cs typeface="Times New Roman"/>
              </a:rPr>
              <a:t>4]  </a:t>
            </a:r>
            <a:r>
              <a:rPr sz="1800" spc="-5" dirty="0">
                <a:latin typeface="Times New Roman"/>
                <a:cs typeface="Times New Roman"/>
              </a:rPr>
              <a:t>MOV [DI-8], </a:t>
            </a:r>
            <a:r>
              <a:rPr sz="1800" dirty="0">
                <a:latin typeface="Times New Roman"/>
                <a:cs typeface="Times New Roman"/>
              </a:rPr>
              <a:t>BL 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MOV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[BP+S</a:t>
            </a:r>
            <a:r>
              <a:rPr sz="1800" dirty="0">
                <a:latin typeface="Times New Roman"/>
                <a:cs typeface="Times New Roman"/>
              </a:rPr>
              <a:t>I],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AH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800" spc="-5" dirty="0">
                <a:latin typeface="Times New Roman"/>
                <a:cs typeface="Times New Roman"/>
              </a:rPr>
              <a:t>MOV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CL,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[BX+DI+2]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939" y="4857115"/>
            <a:ext cx="3587750" cy="1221740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sz="18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Exceptions</a:t>
            </a:r>
            <a:endParaRPr sz="1800">
              <a:latin typeface="Times New Roman"/>
              <a:cs typeface="Times New Roman"/>
            </a:endParaRPr>
          </a:p>
          <a:p>
            <a:pPr marL="348615" indent="-260350">
              <a:lnSpc>
                <a:spcPct val="100000"/>
              </a:lnSpc>
              <a:spcBef>
                <a:spcPts val="930"/>
              </a:spcBef>
              <a:buFont typeface="Wingdings"/>
              <a:buChar char=""/>
              <a:tabLst>
                <a:tab pos="349250" algn="l"/>
              </a:tabLst>
            </a:pPr>
            <a:r>
              <a:rPr sz="1800" spc="-5" dirty="0">
                <a:latin typeface="Times New Roman"/>
                <a:cs typeface="Times New Roman"/>
              </a:rPr>
              <a:t>String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addressing</a:t>
            </a:r>
            <a:endParaRPr sz="1800">
              <a:latin typeface="Times New Roman"/>
              <a:cs typeface="Times New Roman"/>
            </a:endParaRPr>
          </a:p>
          <a:p>
            <a:pPr marL="348615" indent="-260985">
              <a:lnSpc>
                <a:spcPct val="100000"/>
              </a:lnSpc>
              <a:spcBef>
                <a:spcPts val="1080"/>
              </a:spcBef>
              <a:buFont typeface="Wingdings"/>
              <a:buChar char=""/>
              <a:tabLst>
                <a:tab pos="349250" algn="l"/>
                <a:tab pos="1935480" algn="l"/>
              </a:tabLst>
            </a:pPr>
            <a:r>
              <a:rPr sz="1800" spc="-5" dirty="0">
                <a:latin typeface="Times New Roman"/>
                <a:cs typeface="Times New Roman"/>
              </a:rPr>
              <a:t>P</a:t>
            </a:r>
            <a:r>
              <a:rPr sz="1800" dirty="0">
                <a:latin typeface="Times New Roman"/>
                <a:cs typeface="Times New Roman"/>
              </a:rPr>
              <a:t>ort</a:t>
            </a:r>
            <a:r>
              <a:rPr sz="1800" spc="-5" dirty="0">
                <a:latin typeface="Times New Roman"/>
                <a:cs typeface="Times New Roman"/>
              </a:rPr>
              <a:t> a</a:t>
            </a:r>
            <a:r>
              <a:rPr sz="1800" dirty="0">
                <a:latin typeface="Times New Roman"/>
                <a:cs typeface="Times New Roman"/>
              </a:rPr>
              <a:t>ddr</a:t>
            </a:r>
            <a:r>
              <a:rPr sz="1800" spc="-5" dirty="0">
                <a:latin typeface="Times New Roman"/>
                <a:cs typeface="Times New Roman"/>
              </a:rPr>
              <a:t>essi</a:t>
            </a:r>
            <a:r>
              <a:rPr sz="1800" dirty="0">
                <a:latin typeface="Times New Roman"/>
                <a:cs typeface="Times New Roman"/>
              </a:rPr>
              <a:t>ng	(</a:t>
            </a:r>
            <a:r>
              <a:rPr sz="1800" i="1" spc="-5" dirty="0">
                <a:latin typeface="Times New Roman"/>
                <a:cs typeface="Times New Roman"/>
              </a:rPr>
              <a:t>e</a:t>
            </a:r>
            <a:r>
              <a:rPr sz="1800" i="1" dirty="0">
                <a:latin typeface="Times New Roman"/>
                <a:cs typeface="Times New Roman"/>
              </a:rPr>
              <a:t>.g.</a:t>
            </a:r>
            <a:r>
              <a:rPr sz="1800" i="1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IN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AL</a:t>
            </a:r>
            <a:r>
              <a:rPr sz="1800" dirty="0">
                <a:latin typeface="Times New Roman"/>
                <a:cs typeface="Times New Roman"/>
              </a:rPr>
              <a:t>, 79</a:t>
            </a:r>
            <a:r>
              <a:rPr sz="1800" spc="-5" dirty="0">
                <a:latin typeface="Times New Roman"/>
                <a:cs typeface="Times New Roman"/>
              </a:rPr>
              <a:t>H)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62000" y="4648200"/>
            <a:ext cx="7543800" cy="0"/>
          </a:xfrm>
          <a:custGeom>
            <a:avLst/>
            <a:gdLst/>
            <a:ahLst/>
            <a:cxnLst/>
            <a:rect l="l" t="t" r="r" b="b"/>
            <a:pathLst>
              <a:path w="7543800">
                <a:moveTo>
                  <a:pt x="0" y="0"/>
                </a:moveTo>
                <a:lnTo>
                  <a:pt x="75438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38200" y="1828800"/>
            <a:ext cx="7467600" cy="0"/>
          </a:xfrm>
          <a:custGeom>
            <a:avLst/>
            <a:gdLst/>
            <a:ahLst/>
            <a:cxnLst/>
            <a:rect l="l" t="t" r="r" b="b"/>
            <a:pathLst>
              <a:path w="7467600">
                <a:moveTo>
                  <a:pt x="0" y="0"/>
                </a:moveTo>
                <a:lnTo>
                  <a:pt x="74676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297939" y="1473200"/>
            <a:ext cx="1711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latin typeface="Times New Roman"/>
                <a:cs typeface="Times New Roman"/>
              </a:rPr>
              <a:t>Addressing</a:t>
            </a:r>
            <a:r>
              <a:rPr sz="1800" i="1" spc="-60" dirty="0">
                <a:latin typeface="Times New Roman"/>
                <a:cs typeface="Times New Roman"/>
              </a:rPr>
              <a:t> </a:t>
            </a:r>
            <a:r>
              <a:rPr sz="1800" i="1" spc="-5" dirty="0">
                <a:latin typeface="Times New Roman"/>
                <a:cs typeface="Times New Roman"/>
              </a:rPr>
              <a:t>Modes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79616" y="1473200"/>
            <a:ext cx="913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" dirty="0">
                <a:latin typeface="Times New Roman"/>
                <a:cs typeface="Times New Roman"/>
              </a:rPr>
              <a:t>Exam</a:t>
            </a:r>
            <a:r>
              <a:rPr sz="1800" i="1" dirty="0">
                <a:latin typeface="Times New Roman"/>
                <a:cs typeface="Times New Roman"/>
              </a:rPr>
              <a:t>p</a:t>
            </a:r>
            <a:r>
              <a:rPr sz="1800" i="1" spc="-5" dirty="0">
                <a:latin typeface="Times New Roman"/>
                <a:cs typeface="Times New Roman"/>
              </a:rPr>
              <a:t>les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37034" y="628904"/>
            <a:ext cx="427037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/>
              <a:t>Data</a:t>
            </a:r>
            <a:r>
              <a:rPr sz="3200" spc="-70" dirty="0"/>
              <a:t> </a:t>
            </a:r>
            <a:r>
              <a:rPr sz="3200" spc="-20" dirty="0"/>
              <a:t>Transfer</a:t>
            </a:r>
            <a:r>
              <a:rPr sz="3200" spc="-10" dirty="0"/>
              <a:t> </a:t>
            </a:r>
            <a:r>
              <a:rPr sz="3200" spc="-5" dirty="0"/>
              <a:t>Instructions</a:t>
            </a:r>
            <a:endParaRPr sz="3200"/>
          </a:p>
        </p:txBody>
      </p:sp>
      <p:grpSp>
        <p:nvGrpSpPr>
          <p:cNvPr id="3" name="object 3"/>
          <p:cNvGrpSpPr/>
          <p:nvPr/>
        </p:nvGrpSpPr>
        <p:grpSpPr>
          <a:xfrm>
            <a:off x="4848225" y="3171825"/>
            <a:ext cx="438150" cy="438150"/>
            <a:chOff x="4848225" y="3171825"/>
            <a:chExt cx="438150" cy="438150"/>
          </a:xfrm>
        </p:grpSpPr>
        <p:sp>
          <p:nvSpPr>
            <p:cNvPr id="4" name="object 4"/>
            <p:cNvSpPr/>
            <p:nvPr/>
          </p:nvSpPr>
          <p:spPr>
            <a:xfrm>
              <a:off x="4876800" y="32004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0"/>
                  </a:moveTo>
                  <a:lnTo>
                    <a:pt x="0" y="381000"/>
                  </a:lnTo>
                </a:path>
              </a:pathLst>
            </a:custGeom>
            <a:ln w="571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876800" y="32004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0"/>
                  </a:moveTo>
                  <a:lnTo>
                    <a:pt x="381000" y="381000"/>
                  </a:lnTo>
                </a:path>
              </a:pathLst>
            </a:custGeom>
            <a:ln w="571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4724400" y="4191000"/>
            <a:ext cx="381000" cy="342900"/>
          </a:xfrm>
          <a:custGeom>
            <a:avLst/>
            <a:gdLst/>
            <a:ahLst/>
            <a:cxnLst/>
            <a:rect l="l" t="t" r="r" b="b"/>
            <a:pathLst>
              <a:path w="381000" h="342900">
                <a:moveTo>
                  <a:pt x="109994" y="260337"/>
                </a:moveTo>
                <a:lnTo>
                  <a:pt x="250329" y="260337"/>
                </a:lnTo>
                <a:lnTo>
                  <a:pt x="250329" y="342900"/>
                </a:lnTo>
                <a:lnTo>
                  <a:pt x="109994" y="342900"/>
                </a:lnTo>
                <a:lnTo>
                  <a:pt x="109994" y="260337"/>
                </a:lnTo>
                <a:close/>
              </a:path>
              <a:path w="381000" h="342900">
                <a:moveTo>
                  <a:pt x="196875" y="0"/>
                </a:moveTo>
                <a:lnTo>
                  <a:pt x="264801" y="5230"/>
                </a:lnTo>
                <a:lnTo>
                  <a:pt x="318249" y="20929"/>
                </a:lnTo>
                <a:lnTo>
                  <a:pt x="365312" y="53933"/>
                </a:lnTo>
                <a:lnTo>
                  <a:pt x="381000" y="96367"/>
                </a:lnTo>
                <a:lnTo>
                  <a:pt x="379987" y="106054"/>
                </a:lnTo>
                <a:lnTo>
                  <a:pt x="354578" y="143663"/>
                </a:lnTo>
                <a:lnTo>
                  <a:pt x="321478" y="165856"/>
                </a:lnTo>
                <a:lnTo>
                  <a:pt x="298589" y="178460"/>
                </a:lnTo>
                <a:lnTo>
                  <a:pt x="282783" y="187208"/>
                </a:lnTo>
                <a:lnTo>
                  <a:pt x="250634" y="214016"/>
                </a:lnTo>
                <a:lnTo>
                  <a:pt x="245490" y="237108"/>
                </a:lnTo>
                <a:lnTo>
                  <a:pt x="114477" y="237108"/>
                </a:lnTo>
                <a:lnTo>
                  <a:pt x="114477" y="228371"/>
                </a:lnTo>
                <a:lnTo>
                  <a:pt x="114951" y="217741"/>
                </a:lnTo>
                <a:lnTo>
                  <a:pt x="131497" y="178835"/>
                </a:lnTo>
                <a:lnTo>
                  <a:pt x="168992" y="150868"/>
                </a:lnTo>
                <a:lnTo>
                  <a:pt x="212051" y="126263"/>
                </a:lnTo>
                <a:lnTo>
                  <a:pt x="224270" y="118829"/>
                </a:lnTo>
                <a:lnTo>
                  <a:pt x="232997" y="111712"/>
                </a:lnTo>
                <a:lnTo>
                  <a:pt x="238233" y="104914"/>
                </a:lnTo>
                <a:lnTo>
                  <a:pt x="239979" y="98437"/>
                </a:lnTo>
                <a:lnTo>
                  <a:pt x="239979" y="90004"/>
                </a:lnTo>
                <a:lnTo>
                  <a:pt x="205464" y="72193"/>
                </a:lnTo>
                <a:lnTo>
                  <a:pt x="194805" y="71755"/>
                </a:lnTo>
                <a:lnTo>
                  <a:pt x="183094" y="72431"/>
                </a:lnTo>
                <a:lnTo>
                  <a:pt x="147001" y="88970"/>
                </a:lnTo>
                <a:lnTo>
                  <a:pt x="133781" y="120281"/>
                </a:lnTo>
                <a:lnTo>
                  <a:pt x="100337" y="117519"/>
                </a:lnTo>
                <a:lnTo>
                  <a:pt x="66890" y="114758"/>
                </a:lnTo>
                <a:lnTo>
                  <a:pt x="33444" y="112000"/>
                </a:lnTo>
                <a:lnTo>
                  <a:pt x="0" y="109245"/>
                </a:lnTo>
                <a:lnTo>
                  <a:pt x="5936" y="85834"/>
                </a:lnTo>
                <a:lnTo>
                  <a:pt x="32745" y="46219"/>
                </a:lnTo>
                <a:lnTo>
                  <a:pt x="80089" y="16882"/>
                </a:lnTo>
                <a:lnTo>
                  <a:pt x="151717" y="1876"/>
                </a:lnTo>
                <a:lnTo>
                  <a:pt x="196875" y="0"/>
                </a:lnTo>
                <a:close/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88340" y="1243484"/>
            <a:ext cx="7082790" cy="3288029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443865" indent="-431800">
              <a:lnSpc>
                <a:spcPct val="100000"/>
              </a:lnSpc>
              <a:spcBef>
                <a:spcPts val="1300"/>
              </a:spcBef>
              <a:buSzPct val="90000"/>
              <a:buFont typeface="Wingdings"/>
              <a:buChar char=""/>
              <a:tabLst>
                <a:tab pos="443865" algn="l"/>
                <a:tab pos="444500" algn="l"/>
              </a:tabLst>
            </a:pPr>
            <a:r>
              <a:rPr sz="2000" spc="-5" dirty="0">
                <a:latin typeface="Times New Roman"/>
                <a:cs typeface="Times New Roman"/>
              </a:rPr>
              <a:t>MOV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Destination,</a:t>
            </a:r>
            <a:r>
              <a:rPr sz="2000" i="1" spc="-45" dirty="0">
                <a:latin typeface="Times New Roman"/>
                <a:cs typeface="Times New Roman"/>
              </a:rPr>
              <a:t> </a:t>
            </a:r>
            <a:r>
              <a:rPr sz="2000" i="1" spc="-15" dirty="0">
                <a:latin typeface="Times New Roman"/>
                <a:cs typeface="Times New Roman"/>
              </a:rPr>
              <a:t>Source</a:t>
            </a:r>
            <a:endParaRPr sz="2000">
              <a:latin typeface="Times New Roman"/>
              <a:cs typeface="Times New Roman"/>
            </a:endParaRPr>
          </a:p>
          <a:p>
            <a:pPr marL="850265" lvl="1" indent="-304800">
              <a:lnSpc>
                <a:spcPct val="100000"/>
              </a:lnSpc>
              <a:spcBef>
                <a:spcPts val="965"/>
              </a:spcBef>
              <a:buChar char="—"/>
              <a:tabLst>
                <a:tab pos="850900" algn="l"/>
              </a:tabLst>
            </a:pPr>
            <a:r>
              <a:rPr sz="1600" spc="-5" dirty="0">
                <a:latin typeface="Times New Roman"/>
                <a:cs typeface="Times New Roman"/>
              </a:rPr>
              <a:t>Move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data </a:t>
            </a:r>
            <a:r>
              <a:rPr sz="1600" dirty="0">
                <a:latin typeface="Times New Roman"/>
                <a:cs typeface="Times New Roman"/>
              </a:rPr>
              <a:t>from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source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destination;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e.g</a:t>
            </a:r>
            <a:r>
              <a:rPr sz="1600" dirty="0">
                <a:latin typeface="Times New Roman"/>
                <a:cs typeface="Times New Roman"/>
              </a:rPr>
              <a:t>.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MOV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[DI+100H],</a:t>
            </a:r>
            <a:r>
              <a:rPr sz="1600" b="1" spc="-10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AH</a:t>
            </a:r>
            <a:endParaRPr sz="1600">
              <a:latin typeface="Times New Roman"/>
              <a:cs typeface="Times New Roman"/>
            </a:endParaRPr>
          </a:p>
          <a:p>
            <a:pPr marL="850900" lvl="1" indent="-305435">
              <a:lnSpc>
                <a:spcPct val="100000"/>
              </a:lnSpc>
              <a:spcBef>
                <a:spcPts val="130"/>
              </a:spcBef>
              <a:buChar char="—"/>
              <a:tabLst>
                <a:tab pos="851535" algn="l"/>
              </a:tabLst>
            </a:pPr>
            <a:r>
              <a:rPr sz="1600" dirty="0">
                <a:latin typeface="Times New Roman"/>
                <a:cs typeface="Times New Roman"/>
              </a:rPr>
              <a:t>It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does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not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modify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flags</a:t>
            </a:r>
            <a:endParaRPr sz="1600">
              <a:latin typeface="Times New Roman"/>
              <a:cs typeface="Times New Roman"/>
            </a:endParaRPr>
          </a:p>
          <a:p>
            <a:pPr marL="732155" marR="5080" indent="-227965">
              <a:lnSpc>
                <a:spcPct val="100000"/>
              </a:lnSpc>
              <a:spcBef>
                <a:spcPts val="1070"/>
              </a:spcBef>
              <a:buFont typeface="Wingdings"/>
              <a:buChar char=""/>
              <a:tabLst>
                <a:tab pos="742950" algn="l"/>
              </a:tabLst>
            </a:pPr>
            <a:r>
              <a:rPr sz="1800" spc="-5" dirty="0">
                <a:latin typeface="Times New Roman"/>
                <a:cs typeface="Times New Roman"/>
              </a:rPr>
              <a:t>For</a:t>
            </a:r>
            <a:r>
              <a:rPr sz="1800" dirty="0">
                <a:latin typeface="Times New Roman"/>
                <a:cs typeface="Times New Roman"/>
              </a:rPr>
              <a:t> 80x86 </a:t>
            </a:r>
            <a:r>
              <a:rPr sz="1800" spc="-25" dirty="0">
                <a:latin typeface="Times New Roman"/>
                <a:cs typeface="Times New Roman"/>
              </a:rPr>
              <a:t>family,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directly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moving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data</a:t>
            </a:r>
            <a:r>
              <a:rPr sz="1800" dirty="0">
                <a:latin typeface="Times New Roman"/>
                <a:cs typeface="Times New Roman"/>
              </a:rPr>
              <a:t> from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one</a:t>
            </a:r>
            <a:r>
              <a:rPr sz="1800" spc="-5" dirty="0">
                <a:latin typeface="Times New Roman"/>
                <a:cs typeface="Times New Roman"/>
              </a:rPr>
              <a:t> memory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location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to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another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memory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location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is</a:t>
            </a:r>
            <a:r>
              <a:rPr sz="1800" dirty="0">
                <a:latin typeface="Times New Roman"/>
                <a:cs typeface="Times New Roman"/>
              </a:rPr>
              <a:t> not</a:t>
            </a:r>
            <a:r>
              <a:rPr sz="1800" spc="-5" dirty="0">
                <a:latin typeface="Times New Roman"/>
                <a:cs typeface="Times New Roman"/>
              </a:rPr>
              <a:t> allowed</a:t>
            </a:r>
            <a:endParaRPr sz="1800">
              <a:latin typeface="Times New Roman"/>
              <a:cs typeface="Times New Roman"/>
            </a:endParaRPr>
          </a:p>
          <a:p>
            <a:pPr marL="2070100">
              <a:lnSpc>
                <a:spcPct val="100000"/>
              </a:lnSpc>
              <a:spcBef>
                <a:spcPts val="1689"/>
              </a:spcBef>
            </a:pPr>
            <a:r>
              <a:rPr sz="1600" b="1" dirty="0">
                <a:latin typeface="Times New Roman"/>
                <a:cs typeface="Times New Roman"/>
              </a:rPr>
              <a:t>MOV</a:t>
            </a:r>
            <a:r>
              <a:rPr sz="1600" b="1" spc="33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[SI],</a:t>
            </a:r>
            <a:r>
              <a:rPr sz="1600" b="1" spc="38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[5000H]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950">
              <a:latin typeface="Times New Roman"/>
              <a:cs typeface="Times New Roman"/>
            </a:endParaRPr>
          </a:p>
          <a:p>
            <a:pPr marL="738505" indent="-234315">
              <a:lnSpc>
                <a:spcPct val="100000"/>
              </a:lnSpc>
              <a:buFont typeface="Wingdings"/>
              <a:buChar char=""/>
              <a:tabLst>
                <a:tab pos="739140" algn="l"/>
              </a:tabLst>
            </a:pPr>
            <a:r>
              <a:rPr sz="1800" spc="-5" dirty="0">
                <a:latin typeface="Times New Roman"/>
                <a:cs typeface="Times New Roman"/>
              </a:rPr>
              <a:t>When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size</a:t>
            </a:r>
            <a:r>
              <a:rPr sz="1800" dirty="0">
                <a:latin typeface="Times New Roman"/>
                <a:cs typeface="Times New Roman"/>
              </a:rPr>
              <a:t> of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data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is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not </a:t>
            </a:r>
            <a:r>
              <a:rPr sz="1800" spc="-20" dirty="0">
                <a:latin typeface="Times New Roman"/>
                <a:cs typeface="Times New Roman"/>
              </a:rPr>
              <a:t>clear,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assembler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directives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are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used</a:t>
            </a:r>
            <a:endParaRPr sz="1800">
              <a:latin typeface="Times New Roman"/>
              <a:cs typeface="Times New Roman"/>
            </a:endParaRPr>
          </a:p>
          <a:p>
            <a:pPr marL="2298700">
              <a:lnSpc>
                <a:spcPct val="100000"/>
              </a:lnSpc>
              <a:spcBef>
                <a:spcPts val="1800"/>
              </a:spcBef>
            </a:pPr>
            <a:r>
              <a:rPr sz="1600" b="1" dirty="0">
                <a:latin typeface="Times New Roman"/>
                <a:cs typeface="Times New Roman"/>
              </a:rPr>
              <a:t>MOV</a:t>
            </a:r>
            <a:r>
              <a:rPr sz="1600" b="1" spc="33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[SI],</a:t>
            </a:r>
            <a:r>
              <a:rPr sz="1600" b="1" spc="38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50339" y="4572599"/>
            <a:ext cx="1478280" cy="90360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07645" indent="-195580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208279" algn="l"/>
              </a:tabLst>
            </a:pPr>
            <a:r>
              <a:rPr sz="1600" b="1" dirty="0">
                <a:latin typeface="Times New Roman"/>
                <a:cs typeface="Times New Roman"/>
              </a:rPr>
              <a:t>BYTE</a:t>
            </a:r>
            <a:r>
              <a:rPr sz="1600" b="1" spc="-6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PTR</a:t>
            </a:r>
            <a:endParaRPr sz="1600">
              <a:latin typeface="Times New Roman"/>
              <a:cs typeface="Times New Roman"/>
            </a:endParaRPr>
          </a:p>
          <a:p>
            <a:pPr marL="207645" indent="-195580">
              <a:lnSpc>
                <a:spcPct val="100000"/>
              </a:lnSpc>
              <a:spcBef>
                <a:spcPts val="385"/>
              </a:spcBef>
              <a:buFont typeface="Wingdings"/>
              <a:buChar char=""/>
              <a:tabLst>
                <a:tab pos="208279" algn="l"/>
              </a:tabLst>
            </a:pPr>
            <a:r>
              <a:rPr sz="1600" b="1" dirty="0">
                <a:latin typeface="Times New Roman"/>
                <a:cs typeface="Times New Roman"/>
              </a:rPr>
              <a:t>WORD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P</a:t>
            </a:r>
            <a:r>
              <a:rPr sz="1600" b="1" dirty="0">
                <a:latin typeface="Times New Roman"/>
                <a:cs typeface="Times New Roman"/>
              </a:rPr>
              <a:t>TR</a:t>
            </a:r>
            <a:endParaRPr sz="1600">
              <a:latin typeface="Times New Roman"/>
              <a:cs typeface="Times New Roman"/>
            </a:endParaRPr>
          </a:p>
          <a:p>
            <a:pPr marL="207645" indent="-195580">
              <a:lnSpc>
                <a:spcPct val="100000"/>
              </a:lnSpc>
              <a:spcBef>
                <a:spcPts val="385"/>
              </a:spcBef>
              <a:buFont typeface="Wingdings"/>
              <a:buChar char=""/>
              <a:tabLst>
                <a:tab pos="208279" algn="l"/>
              </a:tabLst>
            </a:pPr>
            <a:r>
              <a:rPr sz="1600" b="1" dirty="0">
                <a:latin typeface="Times New Roman"/>
                <a:cs typeface="Times New Roman"/>
              </a:rPr>
              <a:t>DWORD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P</a:t>
            </a:r>
            <a:r>
              <a:rPr sz="1600" b="1" dirty="0">
                <a:latin typeface="Times New Roman"/>
                <a:cs typeface="Times New Roman"/>
              </a:rPr>
              <a:t>TR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08035" y="4572599"/>
            <a:ext cx="2604770" cy="903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>
              <a:lnSpc>
                <a:spcPct val="120000"/>
              </a:lnSpc>
              <a:spcBef>
                <a:spcPts val="100"/>
              </a:spcBef>
            </a:pPr>
            <a:r>
              <a:rPr sz="1600" spc="-5" dirty="0">
                <a:latin typeface="Times New Roman"/>
                <a:cs typeface="Times New Roman"/>
              </a:rPr>
              <a:t>MOV</a:t>
            </a:r>
            <a:r>
              <a:rPr sz="1600" dirty="0">
                <a:latin typeface="Times New Roman"/>
                <a:cs typeface="Times New Roman"/>
              </a:rPr>
              <a:t> BYTE </a:t>
            </a:r>
            <a:r>
              <a:rPr sz="1600" spc="-5" dirty="0">
                <a:latin typeface="Times New Roman"/>
                <a:cs typeface="Times New Roman"/>
              </a:rPr>
              <a:t>PTR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[SI],</a:t>
            </a:r>
            <a:r>
              <a:rPr sz="1600" dirty="0">
                <a:latin typeface="Times New Roman"/>
                <a:cs typeface="Times New Roman"/>
              </a:rPr>
              <a:t> 12H 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MOV</a:t>
            </a:r>
            <a:r>
              <a:rPr sz="1600" dirty="0">
                <a:latin typeface="Times New Roman"/>
                <a:cs typeface="Times New Roman"/>
              </a:rPr>
              <a:t> WORD </a:t>
            </a:r>
            <a:r>
              <a:rPr sz="1600" spc="-5" dirty="0">
                <a:latin typeface="Times New Roman"/>
                <a:cs typeface="Times New Roman"/>
              </a:rPr>
              <a:t>PTR [SI], </a:t>
            </a:r>
            <a:r>
              <a:rPr sz="1600" dirty="0">
                <a:latin typeface="Times New Roman"/>
                <a:cs typeface="Times New Roman"/>
              </a:rPr>
              <a:t>12H 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MOV</a:t>
            </a:r>
            <a:r>
              <a:rPr sz="1600" spc="3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DWORD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PTR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[SI],</a:t>
            </a:r>
            <a:r>
              <a:rPr sz="1600" dirty="0">
                <a:latin typeface="Times New Roman"/>
                <a:cs typeface="Times New Roman"/>
              </a:rPr>
              <a:t> 12H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18564" y="5524893"/>
            <a:ext cx="6321425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2570" marR="5080" indent="-242570">
              <a:lnSpc>
                <a:spcPct val="144400"/>
              </a:lnSpc>
              <a:spcBef>
                <a:spcPts val="100"/>
              </a:spcBef>
              <a:buFont typeface="Wingdings"/>
              <a:buChar char=""/>
              <a:tabLst>
                <a:tab pos="242570" algn="l"/>
              </a:tabLst>
            </a:pPr>
            <a:r>
              <a:rPr sz="1800" spc="-65" dirty="0">
                <a:latin typeface="Times New Roman"/>
                <a:cs typeface="Times New Roman"/>
              </a:rPr>
              <a:t>You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can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not</a:t>
            </a:r>
            <a:r>
              <a:rPr sz="1800" spc="-5" dirty="0">
                <a:latin typeface="Times New Roman"/>
                <a:cs typeface="Times New Roman"/>
              </a:rPr>
              <a:t> move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an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immediate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data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to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segment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register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by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MOV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MOV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DS,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1234H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467225" y="5973763"/>
            <a:ext cx="438150" cy="438150"/>
            <a:chOff x="4467225" y="5973763"/>
            <a:chExt cx="438150" cy="438150"/>
          </a:xfrm>
        </p:grpSpPr>
        <p:sp>
          <p:nvSpPr>
            <p:cNvPr id="12" name="object 12"/>
            <p:cNvSpPr/>
            <p:nvPr/>
          </p:nvSpPr>
          <p:spPr>
            <a:xfrm>
              <a:off x="4495800" y="6002338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0"/>
                  </a:moveTo>
                  <a:lnTo>
                    <a:pt x="0" y="381000"/>
                  </a:lnTo>
                </a:path>
              </a:pathLst>
            </a:custGeom>
            <a:ln w="571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495800" y="6002338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0"/>
                  </a:moveTo>
                  <a:lnTo>
                    <a:pt x="381000" y="381000"/>
                  </a:lnTo>
                </a:path>
              </a:pathLst>
            </a:custGeom>
            <a:ln w="571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7789" y="628904"/>
            <a:ext cx="540956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/>
              <a:t>Instructions</a:t>
            </a:r>
            <a:r>
              <a:rPr sz="3200" spc="-10" dirty="0"/>
              <a:t> </a:t>
            </a:r>
            <a:r>
              <a:rPr sz="3200" spc="-5" dirty="0"/>
              <a:t>for</a:t>
            </a:r>
            <a:r>
              <a:rPr sz="3200" spc="-15" dirty="0"/>
              <a:t> </a:t>
            </a:r>
            <a:r>
              <a:rPr sz="3200" spc="-5" dirty="0"/>
              <a:t>Stack</a:t>
            </a:r>
            <a:r>
              <a:rPr sz="3200" spc="5" dirty="0"/>
              <a:t> </a:t>
            </a:r>
            <a:r>
              <a:rPr sz="3200" spc="-5" dirty="0"/>
              <a:t>Operations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688340" y="1298921"/>
            <a:ext cx="7375525" cy="228854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440055" indent="-427990">
              <a:lnSpc>
                <a:spcPct val="100000"/>
              </a:lnSpc>
              <a:spcBef>
                <a:spcPts val="865"/>
              </a:spcBef>
              <a:buFont typeface="Wingdings"/>
              <a:buChar char=""/>
              <a:tabLst>
                <a:tab pos="440055" algn="l"/>
                <a:tab pos="440690" algn="l"/>
              </a:tabLst>
            </a:pPr>
            <a:r>
              <a:rPr sz="1800" spc="-5" dirty="0">
                <a:latin typeface="Times New Roman"/>
                <a:cs typeface="Times New Roman"/>
              </a:rPr>
              <a:t>What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Stack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?</a:t>
            </a:r>
            <a:endParaRPr sz="2000">
              <a:latin typeface="Times New Roman"/>
              <a:cs typeface="Times New Roman"/>
            </a:endParaRPr>
          </a:p>
          <a:p>
            <a:pPr marL="824865" marR="581025" lvl="1" indent="-203200">
              <a:lnSpc>
                <a:spcPct val="100000"/>
              </a:lnSpc>
              <a:spcBef>
                <a:spcPts val="615"/>
              </a:spcBef>
              <a:buChar char="—"/>
              <a:tabLst>
                <a:tab pos="864869" algn="l"/>
              </a:tabLst>
            </a:pP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9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stack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 </a:t>
            </a:r>
            <a:r>
              <a:rPr sz="1600" spc="-5" dirty="0">
                <a:latin typeface="Times New Roman"/>
                <a:cs typeface="Times New Roman"/>
              </a:rPr>
              <a:t>collection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memory </a:t>
            </a:r>
            <a:r>
              <a:rPr sz="1600" spc="-5" dirty="0">
                <a:latin typeface="Times New Roman"/>
                <a:cs typeface="Times New Roman"/>
              </a:rPr>
              <a:t>locations.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It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always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follows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rule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last-in-firs-out</a:t>
            </a:r>
            <a:endParaRPr sz="1600">
              <a:latin typeface="Times New Roman"/>
              <a:cs typeface="Times New Roman"/>
            </a:endParaRPr>
          </a:p>
          <a:p>
            <a:pPr marL="875665" lvl="1" indent="-254635">
              <a:lnSpc>
                <a:spcPts val="1920"/>
              </a:lnSpc>
              <a:buChar char="—"/>
              <a:tabLst>
                <a:tab pos="876300" algn="l"/>
              </a:tabLst>
            </a:pPr>
            <a:r>
              <a:rPr sz="1600" spc="-15" dirty="0">
                <a:latin typeface="Times New Roman"/>
                <a:cs typeface="Times New Roman"/>
              </a:rPr>
              <a:t>Generally,</a:t>
            </a:r>
            <a:r>
              <a:rPr sz="1600" spc="-5" dirty="0">
                <a:latin typeface="Times New Roman"/>
                <a:cs typeface="Times New Roman"/>
              </a:rPr>
              <a:t> SS</a:t>
            </a:r>
            <a:r>
              <a:rPr sz="1600" dirty="0">
                <a:latin typeface="Times New Roman"/>
                <a:cs typeface="Times New Roman"/>
              </a:rPr>
              <a:t> and</a:t>
            </a:r>
            <a:r>
              <a:rPr sz="1600" spc="-5" dirty="0">
                <a:latin typeface="Times New Roman"/>
                <a:cs typeface="Times New Roman"/>
              </a:rPr>
              <a:t> SP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used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trace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where</a:t>
            </a:r>
            <a:r>
              <a:rPr sz="1600" spc="-5" dirty="0">
                <a:latin typeface="Times New Roman"/>
                <a:cs typeface="Times New Roman"/>
              </a:rPr>
              <a:t> is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latest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date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written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into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stack</a:t>
            </a:r>
            <a:endParaRPr sz="1600">
              <a:latin typeface="Times New Roman"/>
              <a:cs typeface="Times New Roman"/>
            </a:endParaRPr>
          </a:p>
          <a:p>
            <a:pPr marL="443865" indent="-431800">
              <a:lnSpc>
                <a:spcPct val="100000"/>
              </a:lnSpc>
              <a:spcBef>
                <a:spcPts val="1430"/>
              </a:spcBef>
              <a:buFont typeface="Wingdings"/>
              <a:buChar char=""/>
              <a:tabLst>
                <a:tab pos="443865" algn="l"/>
                <a:tab pos="444500" algn="l"/>
                <a:tab pos="1256665" algn="l"/>
              </a:tabLst>
            </a:pPr>
            <a:r>
              <a:rPr sz="1800" spc="-5" dirty="0">
                <a:latin typeface="Times New Roman"/>
                <a:cs typeface="Times New Roman"/>
              </a:rPr>
              <a:t>PUSH	</a:t>
            </a:r>
            <a:r>
              <a:rPr sz="1800" i="1" spc="-15" dirty="0">
                <a:latin typeface="Times New Roman"/>
                <a:cs typeface="Times New Roman"/>
              </a:rPr>
              <a:t>Source</a:t>
            </a:r>
            <a:endParaRPr sz="1800">
              <a:latin typeface="Times New Roman"/>
              <a:cs typeface="Times New Roman"/>
            </a:endParaRPr>
          </a:p>
          <a:p>
            <a:pPr marL="875665" lvl="1" indent="-254000">
              <a:lnSpc>
                <a:spcPct val="100000"/>
              </a:lnSpc>
              <a:spcBef>
                <a:spcPts val="850"/>
              </a:spcBef>
              <a:buChar char="—"/>
              <a:tabLst>
                <a:tab pos="876300" algn="l"/>
              </a:tabLst>
            </a:pPr>
            <a:r>
              <a:rPr sz="1600" spc="-5" dirty="0">
                <a:latin typeface="Times New Roman"/>
                <a:cs typeface="Times New Roman"/>
              </a:rPr>
              <a:t>Push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data</a:t>
            </a:r>
            <a:r>
              <a:rPr sz="1600" dirty="0">
                <a:latin typeface="Times New Roman"/>
                <a:cs typeface="Times New Roman"/>
              </a:rPr>
              <a:t> (</a:t>
            </a:r>
            <a:r>
              <a:rPr sz="1600" b="1" dirty="0">
                <a:latin typeface="Times New Roman"/>
                <a:cs typeface="Times New Roman"/>
              </a:rPr>
              <a:t>word</a:t>
            </a:r>
            <a:r>
              <a:rPr sz="1600" dirty="0">
                <a:latin typeface="Times New Roman"/>
                <a:cs typeface="Times New Roman"/>
              </a:rPr>
              <a:t>)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onto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stack</a:t>
            </a:r>
            <a:endParaRPr sz="1600">
              <a:latin typeface="Times New Roman"/>
              <a:cs typeface="Times New Roman"/>
            </a:endParaRPr>
          </a:p>
          <a:p>
            <a:pPr marL="875665" lvl="1" indent="-254635">
              <a:lnSpc>
                <a:spcPct val="100000"/>
              </a:lnSpc>
              <a:buChar char="—"/>
              <a:tabLst>
                <a:tab pos="876300" algn="l"/>
              </a:tabLst>
            </a:pPr>
            <a:r>
              <a:rPr sz="1600" dirty="0">
                <a:latin typeface="Times New Roman"/>
                <a:cs typeface="Times New Roman"/>
              </a:rPr>
              <a:t>It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does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not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modify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flags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97939" y="3561637"/>
            <a:ext cx="229552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—</a:t>
            </a:r>
            <a:r>
              <a:rPr sz="1600" spc="-5" dirty="0">
                <a:latin typeface="Times New Roman"/>
                <a:cs typeface="Times New Roman"/>
              </a:rPr>
              <a:t> F</a:t>
            </a:r>
            <a:r>
              <a:rPr sz="1600" dirty="0">
                <a:latin typeface="Times New Roman"/>
                <a:cs typeface="Times New Roman"/>
              </a:rPr>
              <a:t>or</a:t>
            </a:r>
            <a:r>
              <a:rPr sz="1600" spc="-5" dirty="0">
                <a:latin typeface="Times New Roman"/>
                <a:cs typeface="Times New Roman"/>
              </a:rPr>
              <a:t> E</a:t>
            </a:r>
            <a:r>
              <a:rPr sz="1600" dirty="0">
                <a:latin typeface="Times New Roman"/>
                <a:cs typeface="Times New Roman"/>
              </a:rPr>
              <a:t>xamp</a:t>
            </a:r>
            <a:r>
              <a:rPr sz="1600" spc="-5" dirty="0">
                <a:latin typeface="Times New Roman"/>
                <a:cs typeface="Times New Roman"/>
              </a:rPr>
              <a:t>l</a:t>
            </a:r>
            <a:r>
              <a:rPr sz="1600" dirty="0">
                <a:latin typeface="Times New Roman"/>
                <a:cs typeface="Times New Roman"/>
              </a:rPr>
              <a:t>e: </a:t>
            </a:r>
            <a:r>
              <a:rPr sz="1600" spc="-5" dirty="0">
                <a:latin typeface="Times New Roman"/>
                <a:cs typeface="Times New Roman"/>
              </a:rPr>
              <a:t>P</a:t>
            </a:r>
            <a:r>
              <a:rPr sz="1600" dirty="0">
                <a:latin typeface="Times New Roman"/>
                <a:cs typeface="Times New Roman"/>
              </a:rPr>
              <a:t>U</a:t>
            </a:r>
            <a:r>
              <a:rPr sz="1600" spc="-5" dirty="0">
                <a:latin typeface="Times New Roman"/>
                <a:cs typeface="Times New Roman"/>
              </a:rPr>
              <a:t>S</a:t>
            </a:r>
            <a:r>
              <a:rPr sz="1600" dirty="0">
                <a:latin typeface="Times New Roman"/>
                <a:cs typeface="Times New Roman"/>
              </a:rPr>
              <a:t>H</a:t>
            </a:r>
            <a:r>
              <a:rPr sz="1600" spc="-10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AX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68942" y="3561637"/>
            <a:ext cx="359473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(assume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ax=1234H,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SS=1000H,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SP=2000H</a:t>
            </a:r>
            <a:endParaRPr sz="1600">
              <a:latin typeface="Times New Roman"/>
              <a:cs typeface="Times New Roman"/>
            </a:endParaRPr>
          </a:p>
          <a:p>
            <a:pPr marL="8001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before</a:t>
            </a:r>
            <a:r>
              <a:rPr sz="1600" spc="-5" dirty="0">
                <a:latin typeface="Times New Roman"/>
                <a:cs typeface="Times New Roman"/>
              </a:rPr>
              <a:t> P</a:t>
            </a:r>
            <a:r>
              <a:rPr sz="1600" dirty="0">
                <a:latin typeface="Times New Roman"/>
                <a:cs typeface="Times New Roman"/>
              </a:rPr>
              <a:t>U</a:t>
            </a:r>
            <a:r>
              <a:rPr sz="1600" spc="-5" dirty="0">
                <a:latin typeface="Times New Roman"/>
                <a:cs typeface="Times New Roman"/>
              </a:rPr>
              <a:t>S</a:t>
            </a:r>
            <a:r>
              <a:rPr sz="1600" dirty="0">
                <a:latin typeface="Times New Roman"/>
                <a:cs typeface="Times New Roman"/>
              </a:rPr>
              <a:t>H</a:t>
            </a:r>
            <a:r>
              <a:rPr sz="1600" spc="-1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AX)</a:t>
            </a:r>
            <a:endParaRPr sz="1600">
              <a:latin typeface="Times New Roman"/>
              <a:cs typeface="Times New Roman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660650" y="4260850"/>
          <a:ext cx="1009650" cy="13843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3956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??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956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??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956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??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956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??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2667000" y="4191000"/>
            <a:ext cx="0" cy="1447800"/>
          </a:xfrm>
          <a:custGeom>
            <a:avLst/>
            <a:gdLst/>
            <a:ahLst/>
            <a:cxnLst/>
            <a:rect l="l" t="t" r="r" b="b"/>
            <a:pathLst>
              <a:path h="1447800">
                <a:moveTo>
                  <a:pt x="0" y="0"/>
                </a:moveTo>
                <a:lnTo>
                  <a:pt x="0" y="14478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657600" y="4191000"/>
            <a:ext cx="0" cy="1447800"/>
          </a:xfrm>
          <a:custGeom>
            <a:avLst/>
            <a:gdLst/>
            <a:ahLst/>
            <a:cxnLst/>
            <a:rect l="l" t="t" r="r" b="b"/>
            <a:pathLst>
              <a:path h="1447800">
                <a:moveTo>
                  <a:pt x="0" y="0"/>
                </a:moveTo>
                <a:lnTo>
                  <a:pt x="0" y="14478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755139" y="4202193"/>
            <a:ext cx="846455" cy="1245235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1400" spc="-5" dirty="0">
                <a:latin typeface="Times New Roman"/>
                <a:cs typeface="Times New Roman"/>
              </a:rPr>
              <a:t>1000:1FFD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400" spc="-5" dirty="0">
                <a:latin typeface="Times New Roman"/>
                <a:cs typeface="Times New Roman"/>
              </a:rPr>
              <a:t>1000:1FFE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400" spc="-5" dirty="0">
                <a:latin typeface="Times New Roman"/>
                <a:cs typeface="Times New Roman"/>
              </a:rPr>
              <a:t>1000:1FFF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400" spc="-5" dirty="0">
                <a:latin typeface="Times New Roman"/>
                <a:cs typeface="Times New Roman"/>
              </a:rPr>
              <a:t>1000:2000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79239" y="4506684"/>
            <a:ext cx="826769" cy="940435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1400" spc="-5" dirty="0">
                <a:latin typeface="Times New Roman"/>
                <a:cs typeface="Times New Roman"/>
              </a:rPr>
              <a:t>1000:1FFE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400" spc="-5" dirty="0">
                <a:latin typeface="Times New Roman"/>
                <a:cs typeface="Times New Roman"/>
              </a:rPr>
              <a:t>1000:1FFF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400" spc="-5" dirty="0">
                <a:latin typeface="Times New Roman"/>
                <a:cs typeface="Times New Roman"/>
              </a:rPr>
              <a:t>1000:2000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79239" y="4293629"/>
            <a:ext cx="84645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Times New Roman"/>
                <a:cs typeface="Times New Roman"/>
              </a:rPr>
              <a:t>1000:1FFD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5708650" y="4114800"/>
          <a:ext cx="1009650" cy="15303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353695" algn="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??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332105" algn="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34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332105" algn="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12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353695" algn="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??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3" name="object 13"/>
          <p:cNvGrpSpPr/>
          <p:nvPr/>
        </p:nvGrpSpPr>
        <p:grpSpPr>
          <a:xfrm>
            <a:off x="1371600" y="5295896"/>
            <a:ext cx="304800" cy="76200"/>
            <a:chOff x="1371600" y="5295896"/>
            <a:chExt cx="304800" cy="76200"/>
          </a:xfrm>
        </p:grpSpPr>
        <p:sp>
          <p:nvSpPr>
            <p:cNvPr id="14" name="object 14"/>
            <p:cNvSpPr/>
            <p:nvPr/>
          </p:nvSpPr>
          <p:spPr>
            <a:xfrm>
              <a:off x="1371600" y="5333999"/>
              <a:ext cx="241300" cy="0"/>
            </a:xfrm>
            <a:custGeom>
              <a:avLst/>
              <a:gdLst/>
              <a:ahLst/>
              <a:cxnLst/>
              <a:rect l="l" t="t" r="r" b="b"/>
              <a:pathLst>
                <a:path w="241300">
                  <a:moveTo>
                    <a:pt x="0" y="0"/>
                  </a:moveTo>
                  <a:lnTo>
                    <a:pt x="2413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600201" y="52958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199"/>
                  </a:lnTo>
                  <a:lnTo>
                    <a:pt x="76200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916939" y="5208523"/>
            <a:ext cx="47180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Times New Roman"/>
                <a:cs typeface="Times New Roman"/>
              </a:rPr>
              <a:t>SS:SP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495800" y="4686296"/>
            <a:ext cx="304800" cy="76200"/>
            <a:chOff x="4495800" y="4686296"/>
            <a:chExt cx="304800" cy="76200"/>
          </a:xfrm>
        </p:grpSpPr>
        <p:sp>
          <p:nvSpPr>
            <p:cNvPr id="18" name="object 18"/>
            <p:cNvSpPr/>
            <p:nvPr/>
          </p:nvSpPr>
          <p:spPr>
            <a:xfrm>
              <a:off x="4495800" y="4724399"/>
              <a:ext cx="241300" cy="0"/>
            </a:xfrm>
            <a:custGeom>
              <a:avLst/>
              <a:gdLst/>
              <a:ahLst/>
              <a:cxnLst/>
              <a:rect l="l" t="t" r="r" b="b"/>
              <a:pathLst>
                <a:path w="241300">
                  <a:moveTo>
                    <a:pt x="0" y="0"/>
                  </a:moveTo>
                  <a:lnTo>
                    <a:pt x="2413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724402" y="46862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041140" y="4598923"/>
            <a:ext cx="47180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Times New Roman"/>
                <a:cs typeface="Times New Roman"/>
              </a:rPr>
              <a:t>SS:SP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918577" y="5665797"/>
            <a:ext cx="530542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36265" algn="l"/>
              </a:tabLst>
            </a:pPr>
            <a:r>
              <a:rPr sz="1400" spc="-10" dirty="0">
                <a:latin typeface="Times New Roman"/>
                <a:cs typeface="Times New Roman"/>
              </a:rPr>
              <a:t>Be</a:t>
            </a:r>
            <a:r>
              <a:rPr sz="1400" spc="-5" dirty="0">
                <a:latin typeface="Times New Roman"/>
                <a:cs typeface="Times New Roman"/>
              </a:rPr>
              <a:t>fore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P</a:t>
            </a:r>
            <a:r>
              <a:rPr sz="1400" spc="-10" dirty="0">
                <a:latin typeface="Times New Roman"/>
                <a:cs typeface="Times New Roman"/>
              </a:rPr>
              <a:t>U</a:t>
            </a:r>
            <a:r>
              <a:rPr sz="1400" spc="-5" dirty="0">
                <a:latin typeface="Times New Roman"/>
                <a:cs typeface="Times New Roman"/>
              </a:rPr>
              <a:t>SH</a:t>
            </a:r>
            <a:r>
              <a:rPr sz="1400" spc="-8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AX</a:t>
            </a:r>
            <a:r>
              <a:rPr sz="1400" spc="-5" dirty="0">
                <a:latin typeface="Times New Roman"/>
                <a:cs typeface="Times New Roman"/>
              </a:rPr>
              <a:t>,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SP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=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2000H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10" dirty="0">
                <a:latin typeface="Times New Roman"/>
                <a:cs typeface="Times New Roman"/>
              </a:rPr>
              <a:t>A</a:t>
            </a:r>
            <a:r>
              <a:rPr sz="1400" spc="-5" dirty="0">
                <a:latin typeface="Times New Roman"/>
                <a:cs typeface="Times New Roman"/>
              </a:rPr>
              <a:t>ft</a:t>
            </a:r>
            <a:r>
              <a:rPr sz="1400" spc="-10" dirty="0">
                <a:latin typeface="Times New Roman"/>
                <a:cs typeface="Times New Roman"/>
              </a:rPr>
              <a:t>e</a:t>
            </a:r>
            <a:r>
              <a:rPr sz="1400" spc="-5" dirty="0">
                <a:latin typeface="Times New Roman"/>
                <a:cs typeface="Times New Roman"/>
              </a:rPr>
              <a:t>r P</a:t>
            </a:r>
            <a:r>
              <a:rPr sz="1400" spc="-10" dirty="0">
                <a:latin typeface="Times New Roman"/>
                <a:cs typeface="Times New Roman"/>
              </a:rPr>
              <a:t>U</a:t>
            </a:r>
            <a:r>
              <a:rPr sz="1400" spc="-5" dirty="0">
                <a:latin typeface="Times New Roman"/>
                <a:cs typeface="Times New Roman"/>
              </a:rPr>
              <a:t>SH</a:t>
            </a:r>
            <a:r>
              <a:rPr sz="1400" spc="-8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AX</a:t>
            </a:r>
            <a:r>
              <a:rPr sz="1400" spc="-5" dirty="0">
                <a:latin typeface="Times New Roman"/>
                <a:cs typeface="Times New Roman"/>
              </a:rPr>
              <a:t>,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SP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= 1FF</a:t>
            </a:r>
            <a:r>
              <a:rPr sz="1400" spc="-10" dirty="0">
                <a:latin typeface="Times New Roman"/>
                <a:cs typeface="Times New Roman"/>
              </a:rPr>
              <a:t>E</a:t>
            </a:r>
            <a:r>
              <a:rPr sz="1400" spc="-5" dirty="0">
                <a:latin typeface="Times New Roman"/>
                <a:cs typeface="Times New Roman"/>
              </a:rPr>
              <a:t>H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698740" y="5589523"/>
            <a:ext cx="28194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Times New Roman"/>
                <a:cs typeface="Times New Roman"/>
              </a:rPr>
              <a:t>AX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162800" y="5181600"/>
            <a:ext cx="533400" cy="3048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39369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309"/>
              </a:spcBef>
            </a:pPr>
            <a:r>
              <a:rPr sz="1400" spc="-5" dirty="0">
                <a:latin typeface="Times New Roman"/>
                <a:cs typeface="Times New Roman"/>
              </a:rPr>
              <a:t>12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696200" y="5181600"/>
            <a:ext cx="457200" cy="3048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39369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309"/>
              </a:spcBef>
            </a:pPr>
            <a:r>
              <a:rPr sz="1400" spc="-5" dirty="0">
                <a:latin typeface="Times New Roman"/>
                <a:cs typeface="Times New Roman"/>
              </a:rPr>
              <a:t>34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858002" y="4991096"/>
            <a:ext cx="539750" cy="190500"/>
            <a:chOff x="6858002" y="4991096"/>
            <a:chExt cx="539750" cy="190500"/>
          </a:xfrm>
        </p:grpSpPr>
        <p:sp>
          <p:nvSpPr>
            <p:cNvPr id="26" name="object 26"/>
            <p:cNvSpPr/>
            <p:nvPr/>
          </p:nvSpPr>
          <p:spPr>
            <a:xfrm>
              <a:off x="7391399" y="5029199"/>
              <a:ext cx="0" cy="152400"/>
            </a:xfrm>
            <a:custGeom>
              <a:avLst/>
              <a:gdLst/>
              <a:ahLst/>
              <a:cxnLst/>
              <a:rect l="l" t="t" r="r" b="b"/>
              <a:pathLst>
                <a:path h="152400">
                  <a:moveTo>
                    <a:pt x="0" y="1524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B3B3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921499" y="5029199"/>
              <a:ext cx="469900" cy="0"/>
            </a:xfrm>
            <a:custGeom>
              <a:avLst/>
              <a:gdLst/>
              <a:ahLst/>
              <a:cxnLst/>
              <a:rect l="l" t="t" r="r" b="b"/>
              <a:pathLst>
                <a:path w="469900">
                  <a:moveTo>
                    <a:pt x="4699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B3B3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858002" y="49910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6781802" y="4762496"/>
            <a:ext cx="1073150" cy="419100"/>
            <a:chOff x="6781802" y="4762496"/>
            <a:chExt cx="1073150" cy="419100"/>
          </a:xfrm>
        </p:grpSpPr>
        <p:sp>
          <p:nvSpPr>
            <p:cNvPr id="30" name="object 30"/>
            <p:cNvSpPr/>
            <p:nvPr/>
          </p:nvSpPr>
          <p:spPr>
            <a:xfrm>
              <a:off x="7848599" y="4800599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3810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B3B3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845299" y="4800599"/>
              <a:ext cx="1003300" cy="0"/>
            </a:xfrm>
            <a:custGeom>
              <a:avLst/>
              <a:gdLst/>
              <a:ahLst/>
              <a:cxnLst/>
              <a:rect l="l" t="t" r="r" b="b"/>
              <a:pathLst>
                <a:path w="1003300">
                  <a:moveTo>
                    <a:pt x="10033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B3B3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781802" y="47624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916939" y="6046723"/>
            <a:ext cx="73647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6850" indent="-184785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197485" algn="l"/>
              </a:tabLst>
            </a:pPr>
            <a:r>
              <a:rPr sz="1400" spc="-5" dirty="0">
                <a:latin typeface="Times New Roman"/>
                <a:cs typeface="Times New Roman"/>
              </a:rPr>
              <a:t>Decrementing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the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stack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pointer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during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a</a:t>
            </a:r>
            <a:r>
              <a:rPr sz="1400" spc="36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push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is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a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standard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way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of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implementing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stacks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in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hardware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7789" y="628904"/>
            <a:ext cx="540956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/>
              <a:t>Instructions</a:t>
            </a:r>
            <a:r>
              <a:rPr sz="3200" spc="-10" dirty="0"/>
              <a:t> </a:t>
            </a:r>
            <a:r>
              <a:rPr sz="3200" spc="-5" dirty="0"/>
              <a:t>for</a:t>
            </a:r>
            <a:r>
              <a:rPr sz="3200" spc="-15" dirty="0"/>
              <a:t> </a:t>
            </a:r>
            <a:r>
              <a:rPr sz="3200" spc="-5" dirty="0"/>
              <a:t>Stack</a:t>
            </a:r>
            <a:r>
              <a:rPr sz="3200" spc="5" dirty="0"/>
              <a:t> </a:t>
            </a:r>
            <a:r>
              <a:rPr sz="3200" spc="-5" dirty="0"/>
              <a:t>Operations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688340" y="1283930"/>
            <a:ext cx="4488815" cy="216662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386715" indent="-374650">
              <a:lnSpc>
                <a:spcPct val="100000"/>
              </a:lnSpc>
              <a:spcBef>
                <a:spcPts val="500"/>
              </a:spcBef>
              <a:buFont typeface="Wingdings"/>
              <a:buChar char=""/>
              <a:tabLst>
                <a:tab pos="386715" algn="l"/>
                <a:tab pos="387350" algn="l"/>
              </a:tabLst>
            </a:pPr>
            <a:r>
              <a:rPr sz="1800" spc="-5" dirty="0">
                <a:latin typeface="Times New Roman"/>
                <a:cs typeface="Times New Roman"/>
              </a:rPr>
              <a:t>PUSHF</a:t>
            </a:r>
            <a:endParaRPr sz="1800">
              <a:latin typeface="Times New Roman"/>
              <a:cs typeface="Times New Roman"/>
            </a:endParaRPr>
          </a:p>
          <a:p>
            <a:pPr marL="774065" lvl="1" indent="-304800">
              <a:lnSpc>
                <a:spcPct val="100000"/>
              </a:lnSpc>
              <a:spcBef>
                <a:spcPts val="360"/>
              </a:spcBef>
              <a:buChar char="—"/>
              <a:tabLst>
                <a:tab pos="774700" algn="l"/>
              </a:tabLst>
            </a:pPr>
            <a:r>
              <a:rPr sz="1600" spc="-5" dirty="0">
                <a:latin typeface="Times New Roman"/>
                <a:cs typeface="Times New Roman"/>
              </a:rPr>
              <a:t>Push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values of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flag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register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onto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stack</a:t>
            </a:r>
            <a:endParaRPr sz="1600">
              <a:latin typeface="Times New Roman"/>
              <a:cs typeface="Times New Roman"/>
            </a:endParaRPr>
          </a:p>
          <a:p>
            <a:pPr marL="723265" lvl="1" indent="-254635">
              <a:lnSpc>
                <a:spcPct val="100000"/>
              </a:lnSpc>
              <a:buChar char="—"/>
              <a:tabLst>
                <a:tab pos="723900" algn="l"/>
              </a:tabLst>
            </a:pPr>
            <a:r>
              <a:rPr sz="1600" dirty="0">
                <a:latin typeface="Times New Roman"/>
                <a:cs typeface="Times New Roman"/>
              </a:rPr>
              <a:t>It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does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not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modify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flags</a:t>
            </a:r>
            <a:endParaRPr sz="1600">
              <a:latin typeface="Times New Roman"/>
              <a:cs typeface="Times New Roman"/>
            </a:endParaRPr>
          </a:p>
          <a:p>
            <a:pPr marL="443865" indent="-431800">
              <a:lnSpc>
                <a:spcPct val="100000"/>
              </a:lnSpc>
              <a:spcBef>
                <a:spcPts val="1330"/>
              </a:spcBef>
              <a:buFont typeface="Wingdings"/>
              <a:buChar char=""/>
              <a:tabLst>
                <a:tab pos="443865" algn="l"/>
                <a:tab pos="444500" algn="l"/>
                <a:tab pos="1026160" algn="l"/>
              </a:tabLst>
            </a:pPr>
            <a:r>
              <a:rPr sz="1800" spc="-5" dirty="0">
                <a:latin typeface="Times New Roman"/>
                <a:cs typeface="Times New Roman"/>
              </a:rPr>
              <a:t>POP	</a:t>
            </a:r>
            <a:r>
              <a:rPr sz="1800" i="1" spc="-5" dirty="0">
                <a:latin typeface="Times New Roman"/>
                <a:cs typeface="Times New Roman"/>
              </a:rPr>
              <a:t>Destination</a:t>
            </a:r>
            <a:endParaRPr sz="1800">
              <a:latin typeface="Times New Roman"/>
              <a:cs typeface="Times New Roman"/>
            </a:endParaRPr>
          </a:p>
          <a:p>
            <a:pPr marL="850265" lvl="1" indent="-304800">
              <a:lnSpc>
                <a:spcPct val="100000"/>
              </a:lnSpc>
              <a:spcBef>
                <a:spcPts val="844"/>
              </a:spcBef>
              <a:buChar char="—"/>
              <a:tabLst>
                <a:tab pos="850900" algn="l"/>
              </a:tabLst>
            </a:pPr>
            <a:r>
              <a:rPr sz="1600" spc="-5" dirty="0">
                <a:latin typeface="Times New Roman"/>
                <a:cs typeface="Times New Roman"/>
              </a:rPr>
              <a:t>Pop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word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off</a:t>
            </a:r>
            <a:r>
              <a:rPr sz="1600" spc="-5" dirty="0">
                <a:latin typeface="Times New Roman"/>
                <a:cs typeface="Times New Roman"/>
              </a:rPr>
              <a:t> stack</a:t>
            </a:r>
            <a:endParaRPr sz="1600">
              <a:latin typeface="Times New Roman"/>
              <a:cs typeface="Times New Roman"/>
            </a:endParaRPr>
          </a:p>
          <a:p>
            <a:pPr marL="850265" lvl="1" indent="-305435">
              <a:lnSpc>
                <a:spcPct val="100000"/>
              </a:lnSpc>
              <a:buChar char="—"/>
              <a:tabLst>
                <a:tab pos="850900" algn="l"/>
              </a:tabLst>
            </a:pPr>
            <a:r>
              <a:rPr sz="1600" dirty="0">
                <a:latin typeface="Times New Roman"/>
                <a:cs typeface="Times New Roman"/>
              </a:rPr>
              <a:t>It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does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not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modify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flags</a:t>
            </a:r>
            <a:endParaRPr sz="1600">
              <a:latin typeface="Times New Roman"/>
              <a:cs typeface="Times New Roman"/>
            </a:endParaRPr>
          </a:p>
          <a:p>
            <a:pPr marL="850265" lvl="1" indent="-305435">
              <a:lnSpc>
                <a:spcPct val="100000"/>
              </a:lnSpc>
              <a:buChar char="—"/>
              <a:tabLst>
                <a:tab pos="850900" algn="l"/>
                <a:tab pos="2185035" algn="l"/>
                <a:tab pos="2720975" algn="l"/>
              </a:tabLst>
            </a:pPr>
            <a:r>
              <a:rPr sz="1600" spc="-5" dirty="0">
                <a:latin typeface="Times New Roman"/>
                <a:cs typeface="Times New Roman"/>
              </a:rPr>
              <a:t>For </a:t>
            </a:r>
            <a:r>
              <a:rPr sz="1600" dirty="0">
                <a:latin typeface="Times New Roman"/>
                <a:cs typeface="Times New Roman"/>
              </a:rPr>
              <a:t>example:	</a:t>
            </a:r>
            <a:r>
              <a:rPr sz="1600" b="1" spc="-5" dirty="0">
                <a:latin typeface="Times New Roman"/>
                <a:cs typeface="Times New Roman"/>
              </a:rPr>
              <a:t>POP	</a:t>
            </a:r>
            <a:r>
              <a:rPr sz="1600" b="1" dirty="0">
                <a:latin typeface="Times New Roman"/>
                <a:cs typeface="Times New Roman"/>
              </a:rPr>
              <a:t>AX</a:t>
            </a:r>
            <a:endParaRPr sz="16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584450" y="3727450"/>
          <a:ext cx="1009650" cy="13843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3956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??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956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34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956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12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956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EC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2590800" y="3657600"/>
            <a:ext cx="0" cy="1447800"/>
          </a:xfrm>
          <a:custGeom>
            <a:avLst/>
            <a:gdLst/>
            <a:ahLst/>
            <a:cxnLst/>
            <a:rect l="l" t="t" r="r" b="b"/>
            <a:pathLst>
              <a:path h="1447800">
                <a:moveTo>
                  <a:pt x="0" y="0"/>
                </a:moveTo>
                <a:lnTo>
                  <a:pt x="0" y="14478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581400" y="3657600"/>
            <a:ext cx="0" cy="1447800"/>
          </a:xfrm>
          <a:custGeom>
            <a:avLst/>
            <a:gdLst/>
            <a:ahLst/>
            <a:cxnLst/>
            <a:rect l="l" t="t" r="r" b="b"/>
            <a:pathLst>
              <a:path h="1447800">
                <a:moveTo>
                  <a:pt x="0" y="0"/>
                </a:moveTo>
                <a:lnTo>
                  <a:pt x="0" y="14478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678939" y="3668793"/>
            <a:ext cx="846455" cy="1245235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1400" spc="-5" dirty="0">
                <a:latin typeface="Times New Roman"/>
                <a:cs typeface="Times New Roman"/>
              </a:rPr>
              <a:t>1000:1FFD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400" spc="-5" dirty="0">
                <a:latin typeface="Times New Roman"/>
                <a:cs typeface="Times New Roman"/>
              </a:rPr>
              <a:t>1000:1FFE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400" spc="-5" dirty="0">
                <a:latin typeface="Times New Roman"/>
                <a:cs typeface="Times New Roman"/>
              </a:rPr>
              <a:t>1000:1FFF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400" spc="-5" dirty="0">
                <a:latin typeface="Times New Roman"/>
                <a:cs typeface="Times New Roman"/>
              </a:rPr>
              <a:t>1000:2000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03039" y="3973284"/>
            <a:ext cx="826769" cy="940435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1400" spc="-5" dirty="0">
                <a:latin typeface="Times New Roman"/>
                <a:cs typeface="Times New Roman"/>
              </a:rPr>
              <a:t>1000:1FFE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400" spc="-5" dirty="0">
                <a:latin typeface="Times New Roman"/>
                <a:cs typeface="Times New Roman"/>
              </a:rPr>
              <a:t>1000:1FFF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400" spc="-5" dirty="0">
                <a:latin typeface="Times New Roman"/>
                <a:cs typeface="Times New Roman"/>
              </a:rPr>
              <a:t>1000:2000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03039" y="3760229"/>
            <a:ext cx="84645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Times New Roman"/>
                <a:cs typeface="Times New Roman"/>
              </a:rPr>
              <a:t>1000:1FFD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5632450" y="3581400"/>
          <a:ext cx="1009650" cy="15303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4718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??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4718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34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4718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12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4718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EC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1" name="object 11"/>
          <p:cNvGrpSpPr/>
          <p:nvPr/>
        </p:nvGrpSpPr>
        <p:grpSpPr>
          <a:xfrm>
            <a:off x="1295400" y="4152896"/>
            <a:ext cx="304800" cy="76200"/>
            <a:chOff x="1295400" y="4152896"/>
            <a:chExt cx="304800" cy="76200"/>
          </a:xfrm>
        </p:grpSpPr>
        <p:sp>
          <p:nvSpPr>
            <p:cNvPr id="12" name="object 12"/>
            <p:cNvSpPr/>
            <p:nvPr/>
          </p:nvSpPr>
          <p:spPr>
            <a:xfrm>
              <a:off x="1295400" y="4190999"/>
              <a:ext cx="241300" cy="0"/>
            </a:xfrm>
            <a:custGeom>
              <a:avLst/>
              <a:gdLst/>
              <a:ahLst/>
              <a:cxnLst/>
              <a:rect l="l" t="t" r="r" b="b"/>
              <a:pathLst>
                <a:path w="241300">
                  <a:moveTo>
                    <a:pt x="0" y="0"/>
                  </a:moveTo>
                  <a:lnTo>
                    <a:pt x="2413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24001" y="41528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069339" y="4065523"/>
            <a:ext cx="224154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Times New Roman"/>
                <a:cs typeface="Times New Roman"/>
              </a:rPr>
              <a:t>SP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419600" y="4762496"/>
            <a:ext cx="304800" cy="76200"/>
            <a:chOff x="4419600" y="4762496"/>
            <a:chExt cx="304800" cy="76200"/>
          </a:xfrm>
        </p:grpSpPr>
        <p:sp>
          <p:nvSpPr>
            <p:cNvPr id="16" name="object 16"/>
            <p:cNvSpPr/>
            <p:nvPr/>
          </p:nvSpPr>
          <p:spPr>
            <a:xfrm>
              <a:off x="4419600" y="4800599"/>
              <a:ext cx="241300" cy="0"/>
            </a:xfrm>
            <a:custGeom>
              <a:avLst/>
              <a:gdLst/>
              <a:ahLst/>
              <a:cxnLst/>
              <a:rect l="l" t="t" r="r" b="b"/>
              <a:pathLst>
                <a:path w="241300">
                  <a:moveTo>
                    <a:pt x="0" y="0"/>
                  </a:moveTo>
                  <a:lnTo>
                    <a:pt x="2413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648202" y="47624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193540" y="4675123"/>
            <a:ext cx="224154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Times New Roman"/>
                <a:cs typeface="Times New Roman"/>
              </a:rPr>
              <a:t>SP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831290" y="5208472"/>
            <a:ext cx="1850389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Times New Roman"/>
                <a:cs typeface="Times New Roman"/>
              </a:rPr>
              <a:t>Before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45" dirty="0">
                <a:latin typeface="Times New Roman"/>
                <a:cs typeface="Times New Roman"/>
              </a:rPr>
              <a:t>POP,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SP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=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1FFEH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966575" y="5132304"/>
            <a:ext cx="109791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Times New Roman"/>
                <a:cs typeface="Times New Roman"/>
              </a:rPr>
              <a:t>A</a:t>
            </a:r>
            <a:r>
              <a:rPr sz="1400" spc="-5" dirty="0">
                <a:latin typeface="Times New Roman"/>
                <a:cs typeface="Times New Roman"/>
              </a:rPr>
              <a:t>ft</a:t>
            </a:r>
            <a:r>
              <a:rPr sz="1400" spc="-10" dirty="0">
                <a:latin typeface="Times New Roman"/>
                <a:cs typeface="Times New Roman"/>
              </a:rPr>
              <a:t>e</a:t>
            </a:r>
            <a:r>
              <a:rPr sz="1400" spc="-5" dirty="0">
                <a:latin typeface="Times New Roman"/>
                <a:cs typeface="Times New Roman"/>
              </a:rPr>
              <a:t>r P</a:t>
            </a:r>
            <a:r>
              <a:rPr sz="1400" spc="-10" dirty="0">
                <a:latin typeface="Times New Roman"/>
                <a:cs typeface="Times New Roman"/>
              </a:rPr>
              <a:t>O</a:t>
            </a:r>
            <a:r>
              <a:rPr sz="1400" spc="-5" dirty="0">
                <a:latin typeface="Times New Roman"/>
                <a:cs typeface="Times New Roman"/>
              </a:rPr>
              <a:t>P</a:t>
            </a:r>
            <a:r>
              <a:rPr sz="1400" spc="-1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AX</a:t>
            </a:r>
            <a:r>
              <a:rPr sz="1400" spc="-5" dirty="0">
                <a:latin typeface="Times New Roman"/>
                <a:cs typeface="Times New Roman"/>
              </a:rPr>
              <a:t>,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173489" y="5132304"/>
            <a:ext cx="88963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Times New Roman"/>
                <a:cs typeface="Times New Roman"/>
              </a:rPr>
              <a:t>SP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= 2000H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622540" y="5056123"/>
            <a:ext cx="28194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Times New Roman"/>
                <a:cs typeface="Times New Roman"/>
              </a:rPr>
              <a:t>AX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086600" y="4648200"/>
            <a:ext cx="533400" cy="3048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39369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309"/>
              </a:spcBef>
            </a:pPr>
            <a:r>
              <a:rPr sz="1400" spc="-5" dirty="0">
                <a:latin typeface="Times New Roman"/>
                <a:cs typeface="Times New Roman"/>
              </a:rPr>
              <a:t>12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620000" y="4648200"/>
            <a:ext cx="457200" cy="3048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39369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309"/>
              </a:spcBef>
            </a:pPr>
            <a:r>
              <a:rPr sz="1400" spc="-5" dirty="0">
                <a:latin typeface="Times New Roman"/>
                <a:cs typeface="Times New Roman"/>
              </a:rPr>
              <a:t>34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781800" y="4489450"/>
            <a:ext cx="571500" cy="158750"/>
            <a:chOff x="6781800" y="4489450"/>
            <a:chExt cx="571500" cy="158750"/>
          </a:xfrm>
        </p:grpSpPr>
        <p:sp>
          <p:nvSpPr>
            <p:cNvPr id="26" name="object 26"/>
            <p:cNvSpPr/>
            <p:nvPr/>
          </p:nvSpPr>
          <p:spPr>
            <a:xfrm>
              <a:off x="7315197" y="4495800"/>
              <a:ext cx="0" cy="88900"/>
            </a:xfrm>
            <a:custGeom>
              <a:avLst/>
              <a:gdLst/>
              <a:ahLst/>
              <a:cxnLst/>
              <a:rect l="l" t="t" r="r" b="b"/>
              <a:pathLst>
                <a:path h="88900">
                  <a:moveTo>
                    <a:pt x="0" y="889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B3B3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277100" y="45720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781800" y="4495800"/>
              <a:ext cx="533400" cy="0"/>
            </a:xfrm>
            <a:custGeom>
              <a:avLst/>
              <a:gdLst/>
              <a:ahLst/>
              <a:cxnLst/>
              <a:rect l="l" t="t" r="r" b="b"/>
              <a:pathLst>
                <a:path w="533400">
                  <a:moveTo>
                    <a:pt x="5334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B3B3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6705600" y="4260850"/>
            <a:ext cx="1104900" cy="387350"/>
            <a:chOff x="6705600" y="4260850"/>
            <a:chExt cx="1104900" cy="387350"/>
          </a:xfrm>
        </p:grpSpPr>
        <p:sp>
          <p:nvSpPr>
            <p:cNvPr id="30" name="object 30"/>
            <p:cNvSpPr/>
            <p:nvPr/>
          </p:nvSpPr>
          <p:spPr>
            <a:xfrm>
              <a:off x="7772397" y="4267200"/>
              <a:ext cx="0" cy="317500"/>
            </a:xfrm>
            <a:custGeom>
              <a:avLst/>
              <a:gdLst/>
              <a:ahLst/>
              <a:cxnLst/>
              <a:rect l="l" t="t" r="r" b="b"/>
              <a:pathLst>
                <a:path h="317500">
                  <a:moveTo>
                    <a:pt x="0" y="3175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B3B3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734300" y="45720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705600" y="4267200"/>
              <a:ext cx="1066800" cy="0"/>
            </a:xfrm>
            <a:custGeom>
              <a:avLst/>
              <a:gdLst/>
              <a:ahLst/>
              <a:cxnLst/>
              <a:rect l="l" t="t" r="r" b="b"/>
              <a:pathLst>
                <a:path w="1066800">
                  <a:moveTo>
                    <a:pt x="10668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B3B3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688340" y="5551130"/>
            <a:ext cx="4328795" cy="88455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386715" indent="-374650">
              <a:lnSpc>
                <a:spcPct val="100000"/>
              </a:lnSpc>
              <a:spcBef>
                <a:spcPts val="500"/>
              </a:spcBef>
              <a:buFont typeface="Wingdings"/>
              <a:buChar char=""/>
              <a:tabLst>
                <a:tab pos="386715" algn="l"/>
                <a:tab pos="387350" algn="l"/>
              </a:tabLst>
            </a:pPr>
            <a:r>
              <a:rPr sz="1800" spc="-5" dirty="0">
                <a:latin typeface="Times New Roman"/>
                <a:cs typeface="Times New Roman"/>
              </a:rPr>
              <a:t>POPF</a:t>
            </a:r>
            <a:endParaRPr sz="1800">
              <a:latin typeface="Times New Roman"/>
              <a:cs typeface="Times New Roman"/>
            </a:endParaRPr>
          </a:p>
          <a:p>
            <a:pPr marL="774065" lvl="1" indent="-304800">
              <a:lnSpc>
                <a:spcPct val="100000"/>
              </a:lnSpc>
              <a:spcBef>
                <a:spcPts val="360"/>
              </a:spcBef>
              <a:buChar char="—"/>
              <a:tabLst>
                <a:tab pos="774700" algn="l"/>
              </a:tabLst>
            </a:pPr>
            <a:r>
              <a:rPr sz="1600" spc="-5" dirty="0">
                <a:latin typeface="Times New Roman"/>
                <a:cs typeface="Times New Roman"/>
              </a:rPr>
              <a:t>Pop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word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from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 stack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flag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register</a:t>
            </a:r>
            <a:endParaRPr sz="1600">
              <a:latin typeface="Times New Roman"/>
              <a:cs typeface="Times New Roman"/>
            </a:endParaRPr>
          </a:p>
          <a:p>
            <a:pPr marL="774065" lvl="1" indent="-305435">
              <a:lnSpc>
                <a:spcPct val="100000"/>
              </a:lnSpc>
              <a:buChar char="—"/>
              <a:tabLst>
                <a:tab pos="774700" algn="l"/>
              </a:tabLst>
            </a:pPr>
            <a:r>
              <a:rPr sz="1600" dirty="0">
                <a:latin typeface="Times New Roman"/>
                <a:cs typeface="Times New Roman"/>
              </a:rPr>
              <a:t>It</a:t>
            </a:r>
            <a:r>
              <a:rPr sz="1600" spc="3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modifies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all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flags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37034" y="628904"/>
            <a:ext cx="427037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/>
              <a:t>Data</a:t>
            </a:r>
            <a:r>
              <a:rPr sz="3200" spc="-70" dirty="0"/>
              <a:t> </a:t>
            </a:r>
            <a:r>
              <a:rPr sz="3200" spc="-20" dirty="0"/>
              <a:t>Transfer</a:t>
            </a:r>
            <a:r>
              <a:rPr sz="3200" spc="-10" dirty="0"/>
              <a:t> </a:t>
            </a:r>
            <a:r>
              <a:rPr sz="3200" spc="-5" dirty="0"/>
              <a:t>Instructions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612140" y="1360130"/>
            <a:ext cx="7391400" cy="489458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386715" indent="-374650">
              <a:lnSpc>
                <a:spcPct val="100000"/>
              </a:lnSpc>
              <a:spcBef>
                <a:spcPts val="500"/>
              </a:spcBef>
              <a:buFont typeface="Wingdings"/>
              <a:buChar char=""/>
              <a:tabLst>
                <a:tab pos="386715" algn="l"/>
                <a:tab pos="387350" algn="l"/>
              </a:tabLst>
            </a:pPr>
            <a:r>
              <a:rPr sz="1800" spc="-5" dirty="0">
                <a:latin typeface="Times New Roman"/>
                <a:cs typeface="Times New Roman"/>
              </a:rPr>
              <a:t>SAHF</a:t>
            </a:r>
            <a:endParaRPr sz="1800">
              <a:latin typeface="Times New Roman"/>
              <a:cs typeface="Times New Roman"/>
            </a:endParaRPr>
          </a:p>
          <a:p>
            <a:pPr marL="774065" lvl="1" indent="-304800">
              <a:lnSpc>
                <a:spcPct val="100000"/>
              </a:lnSpc>
              <a:spcBef>
                <a:spcPts val="360"/>
              </a:spcBef>
              <a:buChar char="—"/>
              <a:tabLst>
                <a:tab pos="774700" algn="l"/>
              </a:tabLst>
            </a:pPr>
            <a:r>
              <a:rPr sz="1600" spc="-5" dirty="0">
                <a:latin typeface="Times New Roman"/>
                <a:cs typeface="Times New Roman"/>
              </a:rPr>
              <a:t>Store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data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spc="-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AH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low</a:t>
            </a:r>
            <a:r>
              <a:rPr sz="1600" dirty="0">
                <a:latin typeface="Times New Roman"/>
                <a:cs typeface="Times New Roman"/>
              </a:rPr>
              <a:t> 8 </a:t>
            </a:r>
            <a:r>
              <a:rPr sz="1600" spc="-5" dirty="0">
                <a:latin typeface="Times New Roman"/>
                <a:cs typeface="Times New Roman"/>
              </a:rPr>
              <a:t>bits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flag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register</a:t>
            </a:r>
            <a:endParaRPr sz="1600">
              <a:latin typeface="Times New Roman"/>
              <a:cs typeface="Times New Roman"/>
            </a:endParaRPr>
          </a:p>
          <a:p>
            <a:pPr marL="723265" lvl="1" indent="-254635">
              <a:lnSpc>
                <a:spcPct val="100000"/>
              </a:lnSpc>
              <a:buChar char="—"/>
              <a:tabLst>
                <a:tab pos="723900" algn="l"/>
              </a:tabLst>
            </a:pPr>
            <a:r>
              <a:rPr sz="1600" dirty="0">
                <a:latin typeface="Times New Roman"/>
                <a:cs typeface="Times New Roman"/>
              </a:rPr>
              <a:t>It </a:t>
            </a:r>
            <a:r>
              <a:rPr sz="1600" spc="-5" dirty="0">
                <a:latin typeface="Times New Roman"/>
                <a:cs typeface="Times New Roman"/>
              </a:rPr>
              <a:t>modifies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flags:</a:t>
            </a:r>
            <a:r>
              <a:rPr sz="1600" spc="-80" dirty="0">
                <a:latin typeface="Times New Roman"/>
                <a:cs typeface="Times New Roman"/>
              </a:rPr>
              <a:t> </a:t>
            </a:r>
            <a:r>
              <a:rPr sz="1600" spc="-45" dirty="0">
                <a:latin typeface="Times New Roman"/>
                <a:cs typeface="Times New Roman"/>
              </a:rPr>
              <a:t>AF,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45" dirty="0">
                <a:latin typeface="Times New Roman"/>
                <a:cs typeface="Times New Roman"/>
              </a:rPr>
              <a:t>CF,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45" dirty="0">
                <a:latin typeface="Times New Roman"/>
                <a:cs typeface="Times New Roman"/>
              </a:rPr>
              <a:t>PF,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45" dirty="0">
                <a:latin typeface="Times New Roman"/>
                <a:cs typeface="Times New Roman"/>
              </a:rPr>
              <a:t>SF,</a:t>
            </a:r>
            <a:r>
              <a:rPr sz="1600" spc="-5" dirty="0">
                <a:latin typeface="Times New Roman"/>
                <a:cs typeface="Times New Roman"/>
              </a:rPr>
              <a:t> ZF</a:t>
            </a:r>
            <a:endParaRPr sz="16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Font typeface="Times New Roman"/>
              <a:buChar char="—"/>
            </a:pPr>
            <a:endParaRPr sz="1750">
              <a:latin typeface="Times New Roman"/>
              <a:cs typeface="Times New Roman"/>
            </a:endParaRPr>
          </a:p>
          <a:p>
            <a:pPr marL="386715" indent="-374650">
              <a:lnSpc>
                <a:spcPct val="100000"/>
              </a:lnSpc>
              <a:buFont typeface="Wingdings"/>
              <a:buChar char=""/>
              <a:tabLst>
                <a:tab pos="386715" algn="l"/>
                <a:tab pos="387350" algn="l"/>
              </a:tabLst>
            </a:pPr>
            <a:r>
              <a:rPr sz="1800" spc="-5" dirty="0">
                <a:latin typeface="Times New Roman"/>
                <a:cs typeface="Times New Roman"/>
              </a:rPr>
              <a:t>LAHF</a:t>
            </a:r>
            <a:endParaRPr sz="1800">
              <a:latin typeface="Times New Roman"/>
              <a:cs typeface="Times New Roman"/>
            </a:endParaRPr>
          </a:p>
          <a:p>
            <a:pPr marL="774065" lvl="1" indent="-305435">
              <a:lnSpc>
                <a:spcPct val="100000"/>
              </a:lnSpc>
              <a:spcBef>
                <a:spcPts val="735"/>
              </a:spcBef>
              <a:buChar char="—"/>
              <a:tabLst>
                <a:tab pos="774700" algn="l"/>
              </a:tabLst>
            </a:pPr>
            <a:r>
              <a:rPr sz="1600" dirty="0">
                <a:latin typeface="Times New Roman"/>
                <a:cs typeface="Times New Roman"/>
              </a:rPr>
              <a:t>Copies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bits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0-7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5" dirty="0">
                <a:latin typeface="Times New Roman"/>
                <a:cs typeface="Times New Roman"/>
              </a:rPr>
              <a:t> the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flags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register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into</a:t>
            </a:r>
            <a:r>
              <a:rPr sz="1600" spc="-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AH</a:t>
            </a:r>
            <a:endParaRPr sz="1600">
              <a:latin typeface="Times New Roman"/>
              <a:cs typeface="Times New Roman"/>
            </a:endParaRPr>
          </a:p>
          <a:p>
            <a:pPr marL="723265" lvl="1" indent="-254000">
              <a:lnSpc>
                <a:spcPct val="100000"/>
              </a:lnSpc>
              <a:buChar char="—"/>
              <a:tabLst>
                <a:tab pos="723900" algn="l"/>
              </a:tabLst>
            </a:pPr>
            <a:r>
              <a:rPr sz="1600" dirty="0">
                <a:latin typeface="Times New Roman"/>
                <a:cs typeface="Times New Roman"/>
              </a:rPr>
              <a:t>It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does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not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modify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flags</a:t>
            </a:r>
            <a:endParaRPr sz="16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Times New Roman"/>
              <a:buChar char="—"/>
            </a:pPr>
            <a:endParaRPr sz="1500">
              <a:latin typeface="Times New Roman"/>
              <a:cs typeface="Times New Roman"/>
            </a:endParaRPr>
          </a:p>
          <a:p>
            <a:pPr marL="386715" indent="-374650">
              <a:lnSpc>
                <a:spcPct val="100000"/>
              </a:lnSpc>
              <a:buFont typeface="Wingdings"/>
              <a:buChar char=""/>
              <a:tabLst>
                <a:tab pos="386715" algn="l"/>
                <a:tab pos="387350" algn="l"/>
              </a:tabLst>
            </a:pPr>
            <a:r>
              <a:rPr sz="1800" spc="-5" dirty="0">
                <a:latin typeface="Times New Roman"/>
                <a:cs typeface="Times New Roman"/>
              </a:rPr>
              <a:t>LDS</a:t>
            </a:r>
            <a:r>
              <a:rPr sz="1800" spc="430" dirty="0">
                <a:latin typeface="Times New Roman"/>
                <a:cs typeface="Times New Roman"/>
              </a:rPr>
              <a:t> </a:t>
            </a:r>
            <a:r>
              <a:rPr sz="1800" i="1" spc="-5" dirty="0">
                <a:latin typeface="Times New Roman"/>
                <a:cs typeface="Times New Roman"/>
              </a:rPr>
              <a:t>Destination </a:t>
            </a:r>
            <a:r>
              <a:rPr sz="1800" i="1" spc="-15" dirty="0">
                <a:latin typeface="Times New Roman"/>
                <a:cs typeface="Times New Roman"/>
              </a:rPr>
              <a:t>Source</a:t>
            </a:r>
            <a:endParaRPr sz="1800">
              <a:latin typeface="Times New Roman"/>
              <a:cs typeface="Times New Roman"/>
            </a:endParaRPr>
          </a:p>
          <a:p>
            <a:pPr marL="774065" lvl="1" indent="-304800">
              <a:lnSpc>
                <a:spcPct val="100000"/>
              </a:lnSpc>
              <a:spcBef>
                <a:spcPts val="1075"/>
              </a:spcBef>
              <a:buChar char="—"/>
              <a:tabLst>
                <a:tab pos="774700" algn="l"/>
              </a:tabLst>
            </a:pPr>
            <a:r>
              <a:rPr sz="1600" spc="-5" dirty="0">
                <a:latin typeface="Times New Roman"/>
                <a:cs typeface="Times New Roman"/>
              </a:rPr>
              <a:t>Load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4-byte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data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(pointer)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memory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two</a:t>
            </a:r>
            <a:r>
              <a:rPr sz="1600" dirty="0">
                <a:latin typeface="Times New Roman"/>
                <a:cs typeface="Times New Roman"/>
              </a:rPr>
              <a:t> 16-bit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registers</a:t>
            </a:r>
            <a:endParaRPr sz="1600">
              <a:latin typeface="Times New Roman"/>
              <a:cs typeface="Times New Roman"/>
            </a:endParaRPr>
          </a:p>
          <a:p>
            <a:pPr marL="774065" lvl="1" indent="-304800">
              <a:lnSpc>
                <a:spcPct val="100000"/>
              </a:lnSpc>
              <a:buChar char="—"/>
              <a:tabLst>
                <a:tab pos="774700" algn="l"/>
              </a:tabLst>
            </a:pPr>
            <a:r>
              <a:rPr sz="1600" dirty="0">
                <a:latin typeface="Times New Roman"/>
                <a:cs typeface="Times New Roman"/>
              </a:rPr>
              <a:t>Source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operand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gives the</a:t>
            </a:r>
            <a:r>
              <a:rPr sz="1600" dirty="0">
                <a:latin typeface="Times New Roman"/>
                <a:cs typeface="Times New Roman"/>
              </a:rPr>
              <a:t> memory</a:t>
            </a:r>
            <a:r>
              <a:rPr sz="1600" spc="-5" dirty="0">
                <a:latin typeface="Times New Roman"/>
                <a:cs typeface="Times New Roman"/>
              </a:rPr>
              <a:t> location</a:t>
            </a:r>
            <a:endParaRPr sz="1600">
              <a:latin typeface="Times New Roman"/>
              <a:cs typeface="Times New Roman"/>
            </a:endParaRPr>
          </a:p>
          <a:p>
            <a:pPr marL="773430" marR="5080" lvl="1" indent="-304165">
              <a:lnSpc>
                <a:spcPct val="100000"/>
              </a:lnSpc>
              <a:buChar char="—"/>
              <a:tabLst>
                <a:tab pos="770890" algn="l"/>
              </a:tabLst>
            </a:pP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first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two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bytes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copied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register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specified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destination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operand;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second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two bytes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copied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register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DS</a:t>
            </a:r>
            <a:endParaRPr sz="1600">
              <a:latin typeface="Times New Roman"/>
              <a:cs typeface="Times New Roman"/>
            </a:endParaRPr>
          </a:p>
          <a:p>
            <a:pPr marL="723265" lvl="1" indent="-254000">
              <a:lnSpc>
                <a:spcPct val="100000"/>
              </a:lnSpc>
              <a:buChar char="—"/>
              <a:tabLst>
                <a:tab pos="723900" algn="l"/>
              </a:tabLst>
            </a:pPr>
            <a:r>
              <a:rPr sz="1600" dirty="0">
                <a:latin typeface="Times New Roman"/>
                <a:cs typeface="Times New Roman"/>
              </a:rPr>
              <a:t>It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does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not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modify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flags</a:t>
            </a:r>
            <a:endParaRPr sz="1600">
              <a:latin typeface="Times New Roman"/>
              <a:cs typeface="Times New Roman"/>
            </a:endParaRPr>
          </a:p>
          <a:p>
            <a:pPr marL="386715" indent="-374650">
              <a:lnSpc>
                <a:spcPct val="100000"/>
              </a:lnSpc>
              <a:spcBef>
                <a:spcPts val="1455"/>
              </a:spcBef>
              <a:buFont typeface="Wingdings"/>
              <a:buChar char=""/>
              <a:tabLst>
                <a:tab pos="386715" algn="l"/>
                <a:tab pos="387350" algn="l"/>
              </a:tabLst>
            </a:pPr>
            <a:r>
              <a:rPr sz="1800" spc="-5" dirty="0">
                <a:latin typeface="Times New Roman"/>
                <a:cs typeface="Times New Roman"/>
              </a:rPr>
              <a:t>LES</a:t>
            </a:r>
            <a:r>
              <a:rPr sz="1800" spc="425" dirty="0">
                <a:latin typeface="Times New Roman"/>
                <a:cs typeface="Times New Roman"/>
              </a:rPr>
              <a:t> </a:t>
            </a:r>
            <a:r>
              <a:rPr sz="1800" i="1" spc="-5" dirty="0">
                <a:latin typeface="Times New Roman"/>
                <a:cs typeface="Times New Roman"/>
              </a:rPr>
              <a:t>Destination </a:t>
            </a:r>
            <a:r>
              <a:rPr sz="1800" i="1" spc="-15" dirty="0">
                <a:latin typeface="Times New Roman"/>
                <a:cs typeface="Times New Roman"/>
              </a:rPr>
              <a:t>Source</a:t>
            </a:r>
            <a:endParaRPr sz="1800">
              <a:latin typeface="Times New Roman"/>
              <a:cs typeface="Times New Roman"/>
            </a:endParaRPr>
          </a:p>
          <a:p>
            <a:pPr marL="774065" lvl="1" indent="-304800">
              <a:lnSpc>
                <a:spcPct val="100000"/>
              </a:lnSpc>
              <a:spcBef>
                <a:spcPts val="735"/>
              </a:spcBef>
              <a:buChar char="—"/>
              <a:tabLst>
                <a:tab pos="774700" algn="l"/>
              </a:tabLst>
            </a:pPr>
            <a:r>
              <a:rPr sz="1600" dirty="0">
                <a:latin typeface="Times New Roman"/>
                <a:cs typeface="Times New Roman"/>
              </a:rPr>
              <a:t>It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identical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LDS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except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that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second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two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bytes</a:t>
            </a:r>
            <a:r>
              <a:rPr sz="1600" dirty="0">
                <a:latin typeface="Times New Roman"/>
                <a:cs typeface="Times New Roman"/>
              </a:rPr>
              <a:t> are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copied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ES</a:t>
            </a:r>
            <a:endParaRPr sz="1600">
              <a:latin typeface="Times New Roman"/>
              <a:cs typeface="Times New Roman"/>
            </a:endParaRPr>
          </a:p>
          <a:p>
            <a:pPr marL="774065" lvl="1" indent="-305435">
              <a:lnSpc>
                <a:spcPct val="100000"/>
              </a:lnSpc>
              <a:buChar char="—"/>
              <a:tabLst>
                <a:tab pos="774700" algn="l"/>
              </a:tabLst>
            </a:pPr>
            <a:r>
              <a:rPr sz="1600" dirty="0">
                <a:latin typeface="Times New Roman"/>
                <a:cs typeface="Times New Roman"/>
              </a:rPr>
              <a:t>It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does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not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modify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flags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37034" y="628904"/>
            <a:ext cx="427037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/>
              <a:t>Data</a:t>
            </a:r>
            <a:r>
              <a:rPr sz="3200" spc="-70" dirty="0"/>
              <a:t> </a:t>
            </a:r>
            <a:r>
              <a:rPr sz="3200" spc="-20" dirty="0"/>
              <a:t>Transfer</a:t>
            </a:r>
            <a:r>
              <a:rPr sz="3200" spc="-10" dirty="0"/>
              <a:t> </a:t>
            </a:r>
            <a:r>
              <a:rPr sz="3200" spc="-5" dirty="0"/>
              <a:t>Instructions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612140" y="1200078"/>
            <a:ext cx="7172325" cy="4700270"/>
          </a:xfrm>
          <a:prstGeom prst="rect">
            <a:avLst/>
          </a:prstGeom>
        </p:spPr>
        <p:txBody>
          <a:bodyPr vert="horz" wrap="square" lIns="0" tIns="133350" rIns="0" bIns="0" rtlCol="0">
            <a:spAutoFit/>
          </a:bodyPr>
          <a:lstStyle/>
          <a:p>
            <a:pPr marL="386715" indent="-374650">
              <a:lnSpc>
                <a:spcPct val="100000"/>
              </a:lnSpc>
              <a:spcBef>
                <a:spcPts val="1050"/>
              </a:spcBef>
              <a:buFont typeface="Wingdings"/>
              <a:buChar char=""/>
              <a:tabLst>
                <a:tab pos="386715" algn="l"/>
                <a:tab pos="387350" algn="l"/>
              </a:tabLst>
            </a:pPr>
            <a:r>
              <a:rPr sz="1800" spc="-5" dirty="0">
                <a:latin typeface="Times New Roman"/>
                <a:cs typeface="Times New Roman"/>
              </a:rPr>
              <a:t>LEA</a:t>
            </a:r>
            <a:r>
              <a:rPr sz="1800" spc="335" dirty="0">
                <a:latin typeface="Times New Roman"/>
                <a:cs typeface="Times New Roman"/>
              </a:rPr>
              <a:t> </a:t>
            </a:r>
            <a:r>
              <a:rPr sz="1800" i="1" spc="-5" dirty="0">
                <a:latin typeface="Times New Roman"/>
                <a:cs typeface="Times New Roman"/>
              </a:rPr>
              <a:t>Destination</a:t>
            </a:r>
            <a:r>
              <a:rPr sz="1800" i="1" spc="-10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Times New Roman"/>
                <a:cs typeface="Times New Roman"/>
              </a:rPr>
              <a:t>Source</a:t>
            </a:r>
            <a:endParaRPr sz="1800">
              <a:latin typeface="Times New Roman"/>
              <a:cs typeface="Times New Roman"/>
            </a:endParaRPr>
          </a:p>
          <a:p>
            <a:pPr marL="773430" marR="437515" lvl="1" indent="-304165">
              <a:lnSpc>
                <a:spcPct val="100000"/>
              </a:lnSpc>
              <a:spcBef>
                <a:spcPts val="844"/>
              </a:spcBef>
              <a:buChar char="—"/>
              <a:tabLst>
                <a:tab pos="770890" algn="l"/>
              </a:tabLst>
            </a:pPr>
            <a:r>
              <a:rPr sz="1600" spc="-10" dirty="0">
                <a:latin typeface="Times New Roman"/>
                <a:cs typeface="Times New Roman"/>
              </a:rPr>
              <a:t>Transfers</a:t>
            </a:r>
            <a:r>
              <a:rPr sz="1600" spc="-5" dirty="0">
                <a:latin typeface="Times New Roman"/>
                <a:cs typeface="Times New Roman"/>
              </a:rPr>
              <a:t> 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offset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address of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source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(must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 a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memory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location)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destination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register</a:t>
            </a:r>
            <a:endParaRPr sz="1600">
              <a:latin typeface="Times New Roman"/>
              <a:cs typeface="Times New Roman"/>
            </a:endParaRPr>
          </a:p>
          <a:p>
            <a:pPr marL="723265" lvl="1" indent="-254000">
              <a:lnSpc>
                <a:spcPts val="1920"/>
              </a:lnSpc>
              <a:buChar char="—"/>
              <a:tabLst>
                <a:tab pos="723900" algn="l"/>
              </a:tabLst>
            </a:pPr>
            <a:r>
              <a:rPr sz="1600" dirty="0">
                <a:latin typeface="Times New Roman"/>
                <a:cs typeface="Times New Roman"/>
              </a:rPr>
              <a:t>It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does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not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modify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flags</a:t>
            </a:r>
            <a:endParaRPr sz="1600">
              <a:latin typeface="Times New Roman"/>
              <a:cs typeface="Times New Roman"/>
            </a:endParaRPr>
          </a:p>
          <a:p>
            <a:pPr marL="386715" indent="-374650">
              <a:lnSpc>
                <a:spcPct val="100000"/>
              </a:lnSpc>
              <a:spcBef>
                <a:spcPts val="1435"/>
              </a:spcBef>
              <a:buFont typeface="Wingdings"/>
              <a:buChar char=""/>
              <a:tabLst>
                <a:tab pos="386715" algn="l"/>
                <a:tab pos="387350" algn="l"/>
              </a:tabLst>
            </a:pPr>
            <a:r>
              <a:rPr sz="1800" spc="-5" dirty="0">
                <a:latin typeface="Times New Roman"/>
                <a:cs typeface="Times New Roman"/>
              </a:rPr>
              <a:t>XCHG</a:t>
            </a:r>
            <a:r>
              <a:rPr sz="1800" spc="430" dirty="0">
                <a:latin typeface="Times New Roman"/>
                <a:cs typeface="Times New Roman"/>
              </a:rPr>
              <a:t> </a:t>
            </a:r>
            <a:r>
              <a:rPr sz="1800" i="1" spc="-5" dirty="0">
                <a:latin typeface="Times New Roman"/>
                <a:cs typeface="Times New Roman"/>
              </a:rPr>
              <a:t>Destination </a:t>
            </a:r>
            <a:r>
              <a:rPr sz="1800" i="1" spc="-15" dirty="0">
                <a:latin typeface="Times New Roman"/>
                <a:cs typeface="Times New Roman"/>
              </a:rPr>
              <a:t>Source</a:t>
            </a:r>
            <a:endParaRPr sz="1800">
              <a:latin typeface="Times New Roman"/>
              <a:cs typeface="Times New Roman"/>
            </a:endParaRPr>
          </a:p>
          <a:p>
            <a:pPr marL="774065" lvl="1" indent="-304800">
              <a:lnSpc>
                <a:spcPct val="100000"/>
              </a:lnSpc>
              <a:spcBef>
                <a:spcPts val="1075"/>
              </a:spcBef>
              <a:buChar char="—"/>
              <a:tabLst>
                <a:tab pos="774700" algn="l"/>
              </a:tabLst>
            </a:pPr>
            <a:r>
              <a:rPr sz="1600" dirty="0">
                <a:latin typeface="Times New Roman"/>
                <a:cs typeface="Times New Roman"/>
              </a:rPr>
              <a:t>It exchanges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content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5" dirty="0">
                <a:latin typeface="Times New Roman"/>
                <a:cs typeface="Times New Roman"/>
              </a:rPr>
              <a:t> destination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source</a:t>
            </a:r>
            <a:endParaRPr sz="1600">
              <a:latin typeface="Times New Roman"/>
              <a:cs typeface="Times New Roman"/>
            </a:endParaRPr>
          </a:p>
          <a:p>
            <a:pPr marL="773430" marR="5080" lvl="1" indent="-304165">
              <a:lnSpc>
                <a:spcPct val="100000"/>
              </a:lnSpc>
              <a:buChar char="—"/>
              <a:tabLst>
                <a:tab pos="774700" algn="l"/>
              </a:tabLst>
            </a:pPr>
            <a:r>
              <a:rPr sz="1600" dirty="0">
                <a:latin typeface="Times New Roman"/>
                <a:cs typeface="Times New Roman"/>
              </a:rPr>
              <a:t>One operand must be a microprocessor </a:t>
            </a:r>
            <a:r>
              <a:rPr sz="1600" spc="-10" dirty="0">
                <a:latin typeface="Times New Roman"/>
                <a:cs typeface="Times New Roman"/>
              </a:rPr>
              <a:t>register, </a:t>
            </a:r>
            <a:r>
              <a:rPr sz="1600" spc="-5" dirty="0">
                <a:latin typeface="Times New Roman"/>
                <a:cs typeface="Times New Roman"/>
              </a:rPr>
              <a:t>the other </a:t>
            </a:r>
            <a:r>
              <a:rPr sz="1600" dirty="0">
                <a:latin typeface="Times New Roman"/>
                <a:cs typeface="Times New Roman"/>
              </a:rPr>
              <a:t>one can be a </a:t>
            </a:r>
            <a:r>
              <a:rPr sz="1600" spc="-5" dirty="0">
                <a:latin typeface="Times New Roman"/>
                <a:cs typeface="Times New Roman"/>
              </a:rPr>
              <a:t>register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or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memory</a:t>
            </a:r>
            <a:r>
              <a:rPr sz="1600" spc="-5" dirty="0">
                <a:latin typeface="Times New Roman"/>
                <a:cs typeface="Times New Roman"/>
              </a:rPr>
              <a:t> location</a:t>
            </a:r>
            <a:endParaRPr sz="1600">
              <a:latin typeface="Times New Roman"/>
              <a:cs typeface="Times New Roman"/>
            </a:endParaRPr>
          </a:p>
          <a:p>
            <a:pPr marL="723265" lvl="1" indent="-254635">
              <a:lnSpc>
                <a:spcPts val="1920"/>
              </a:lnSpc>
              <a:buChar char="—"/>
              <a:tabLst>
                <a:tab pos="723900" algn="l"/>
              </a:tabLst>
            </a:pPr>
            <a:r>
              <a:rPr sz="1600" dirty="0">
                <a:latin typeface="Times New Roman"/>
                <a:cs typeface="Times New Roman"/>
              </a:rPr>
              <a:t>It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does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not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modify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flags</a:t>
            </a:r>
            <a:endParaRPr sz="16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Font typeface="Times New Roman"/>
              <a:buChar char="—"/>
            </a:pPr>
            <a:endParaRPr sz="1300">
              <a:latin typeface="Times New Roman"/>
              <a:cs typeface="Times New Roman"/>
            </a:endParaRPr>
          </a:p>
          <a:p>
            <a:pPr marL="386715" indent="-374650">
              <a:lnSpc>
                <a:spcPct val="100000"/>
              </a:lnSpc>
              <a:buFont typeface="Wingdings"/>
              <a:buChar char=""/>
              <a:tabLst>
                <a:tab pos="386715" algn="l"/>
                <a:tab pos="387350" algn="l"/>
              </a:tabLst>
            </a:pPr>
            <a:r>
              <a:rPr sz="1800" spc="-105" dirty="0">
                <a:latin typeface="Times New Roman"/>
                <a:cs typeface="Times New Roman"/>
              </a:rPr>
              <a:t>XLAT</a:t>
            </a:r>
            <a:endParaRPr sz="1800">
              <a:latin typeface="Times New Roman"/>
              <a:cs typeface="Times New Roman"/>
            </a:endParaRPr>
          </a:p>
          <a:p>
            <a:pPr marL="774065" lvl="1" indent="-304800">
              <a:lnSpc>
                <a:spcPct val="100000"/>
              </a:lnSpc>
              <a:spcBef>
                <a:spcPts val="1450"/>
              </a:spcBef>
              <a:buChar char="—"/>
              <a:tabLst>
                <a:tab pos="774700" algn="l"/>
              </a:tabLst>
            </a:pPr>
            <a:r>
              <a:rPr sz="1600" dirty="0">
                <a:latin typeface="Times New Roman"/>
                <a:cs typeface="Times New Roman"/>
              </a:rPr>
              <a:t>Replace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data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spc="-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with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5" dirty="0">
                <a:latin typeface="Times New Roman"/>
                <a:cs typeface="Times New Roman"/>
              </a:rPr>
              <a:t> data in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user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defined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look-up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table</a:t>
            </a:r>
            <a:endParaRPr sz="1600">
              <a:latin typeface="Times New Roman"/>
              <a:cs typeface="Times New Roman"/>
            </a:endParaRPr>
          </a:p>
          <a:p>
            <a:pPr marL="774065" lvl="1" indent="-305435">
              <a:lnSpc>
                <a:spcPct val="100000"/>
              </a:lnSpc>
              <a:buChar char="—"/>
              <a:tabLst>
                <a:tab pos="774700" algn="l"/>
              </a:tabLst>
            </a:pPr>
            <a:r>
              <a:rPr sz="1600" dirty="0">
                <a:latin typeface="Times New Roman"/>
                <a:cs typeface="Times New Roman"/>
              </a:rPr>
              <a:t>BX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stores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beginning </a:t>
            </a:r>
            <a:r>
              <a:rPr sz="1600" dirty="0">
                <a:latin typeface="Times New Roman"/>
                <a:cs typeface="Times New Roman"/>
              </a:rPr>
              <a:t>address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table</a:t>
            </a:r>
            <a:endParaRPr sz="1600">
              <a:latin typeface="Times New Roman"/>
              <a:cs typeface="Times New Roman"/>
            </a:endParaRPr>
          </a:p>
          <a:p>
            <a:pPr marL="773430" marR="1002030" lvl="1" indent="-304165">
              <a:lnSpc>
                <a:spcPct val="100000"/>
              </a:lnSpc>
              <a:buChar char="—"/>
              <a:tabLst>
                <a:tab pos="763905" algn="l"/>
              </a:tabLst>
            </a:pPr>
            <a:r>
              <a:rPr sz="1600" dirty="0">
                <a:latin typeface="Times New Roman"/>
                <a:cs typeface="Times New Roman"/>
              </a:rPr>
              <a:t>At </a:t>
            </a:r>
            <a:r>
              <a:rPr sz="1600" spc="-5" dirty="0">
                <a:latin typeface="Times New Roman"/>
                <a:cs typeface="Times New Roman"/>
              </a:rPr>
              <a:t>the beginning </a:t>
            </a:r>
            <a:r>
              <a:rPr sz="1600" dirty="0">
                <a:latin typeface="Times New Roman"/>
                <a:cs typeface="Times New Roman"/>
              </a:rPr>
              <a:t>of </a:t>
            </a:r>
            <a:r>
              <a:rPr sz="1600" spc="-5" dirty="0">
                <a:latin typeface="Times New Roman"/>
                <a:cs typeface="Times New Roman"/>
              </a:rPr>
              <a:t>the execution, the </a:t>
            </a:r>
            <a:r>
              <a:rPr sz="1600" dirty="0">
                <a:latin typeface="Times New Roman"/>
                <a:cs typeface="Times New Roman"/>
              </a:rPr>
              <a:t>number </a:t>
            </a:r>
            <a:r>
              <a:rPr sz="1600" spc="-5" dirty="0">
                <a:latin typeface="Times New Roman"/>
                <a:cs typeface="Times New Roman"/>
              </a:rPr>
              <a:t>in </a:t>
            </a:r>
            <a:r>
              <a:rPr sz="1600" dirty="0">
                <a:latin typeface="Times New Roman"/>
                <a:cs typeface="Times New Roman"/>
              </a:rPr>
              <a:t>AL </a:t>
            </a:r>
            <a:r>
              <a:rPr sz="1600" spc="-5" dirty="0">
                <a:latin typeface="Times New Roman"/>
                <a:cs typeface="Times New Roman"/>
              </a:rPr>
              <a:t>is </a:t>
            </a:r>
            <a:r>
              <a:rPr sz="1600" dirty="0">
                <a:latin typeface="Times New Roman"/>
                <a:cs typeface="Times New Roman"/>
              </a:rPr>
              <a:t>used as </a:t>
            </a:r>
            <a:r>
              <a:rPr sz="1600" spc="-5" dirty="0">
                <a:latin typeface="Times New Roman"/>
                <a:cs typeface="Times New Roman"/>
              </a:rPr>
              <a:t>the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index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look-up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table</a:t>
            </a:r>
            <a:endParaRPr sz="1600">
              <a:latin typeface="Times New Roman"/>
              <a:cs typeface="Times New Roman"/>
            </a:endParaRPr>
          </a:p>
          <a:p>
            <a:pPr marL="723265" lvl="1" indent="-254635">
              <a:lnSpc>
                <a:spcPct val="100000"/>
              </a:lnSpc>
              <a:buChar char="—"/>
              <a:tabLst>
                <a:tab pos="723900" algn="l"/>
              </a:tabLst>
            </a:pPr>
            <a:r>
              <a:rPr sz="1600" dirty="0">
                <a:latin typeface="Times New Roman"/>
                <a:cs typeface="Times New Roman"/>
              </a:rPr>
              <a:t>It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does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not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modify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flags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53460" y="628904"/>
            <a:ext cx="303720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/>
              <a:t>String</a:t>
            </a:r>
            <a:r>
              <a:rPr sz="3200" spc="-70" dirty="0"/>
              <a:t> </a:t>
            </a:r>
            <a:r>
              <a:rPr sz="3200" spc="-5" dirty="0"/>
              <a:t>Instructions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612140" y="1320800"/>
            <a:ext cx="7621270" cy="2343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6715" marR="304800" indent="-38671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86715" algn="l"/>
                <a:tab pos="387350" algn="l"/>
              </a:tabLst>
            </a:pPr>
            <a:r>
              <a:rPr sz="1800" spc="-5" dirty="0">
                <a:latin typeface="Times New Roman"/>
                <a:cs typeface="Times New Roman"/>
              </a:rPr>
              <a:t>String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is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collection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bytes,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words,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or </a:t>
            </a:r>
            <a:r>
              <a:rPr sz="1800" spc="-5" dirty="0">
                <a:latin typeface="Times New Roman"/>
                <a:cs typeface="Times New Roman"/>
              </a:rPr>
              <a:t>long-words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that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can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 up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to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64KB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in length</a:t>
            </a:r>
            <a:endParaRPr sz="1800">
              <a:latin typeface="Times New Roman"/>
              <a:cs typeface="Times New Roman"/>
            </a:endParaRPr>
          </a:p>
          <a:p>
            <a:pPr marL="386715" marR="52705" indent="-386715">
              <a:lnSpc>
                <a:spcPct val="100000"/>
              </a:lnSpc>
              <a:spcBef>
                <a:spcPts val="1080"/>
              </a:spcBef>
              <a:buFont typeface="Wingdings"/>
              <a:buChar char=""/>
              <a:tabLst>
                <a:tab pos="386715" algn="l"/>
                <a:tab pos="387350" algn="l"/>
              </a:tabLst>
            </a:pPr>
            <a:r>
              <a:rPr sz="1800" spc="-5" dirty="0">
                <a:latin typeface="Times New Roman"/>
                <a:cs typeface="Times New Roman"/>
              </a:rPr>
              <a:t>String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instructions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can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have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at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most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two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operands.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One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is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referred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to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as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source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string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and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 other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one</a:t>
            </a:r>
            <a:r>
              <a:rPr sz="1800" spc="-5" dirty="0">
                <a:latin typeface="Times New Roman"/>
                <a:cs typeface="Times New Roman"/>
              </a:rPr>
              <a:t> is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called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destination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string</a:t>
            </a:r>
            <a:endParaRPr sz="1800">
              <a:latin typeface="Times New Roman"/>
              <a:cs typeface="Times New Roman"/>
            </a:endParaRPr>
          </a:p>
          <a:p>
            <a:pPr marL="739775" marR="469900" lvl="1" indent="-253365">
              <a:lnSpc>
                <a:spcPct val="100000"/>
              </a:lnSpc>
              <a:spcBef>
                <a:spcPts val="484"/>
              </a:spcBef>
              <a:buChar char="—"/>
              <a:tabLst>
                <a:tab pos="741680" algn="l"/>
              </a:tabLst>
            </a:pPr>
            <a:r>
              <a:rPr sz="1600" dirty="0">
                <a:latin typeface="Times New Roman"/>
                <a:cs typeface="Times New Roman"/>
              </a:rPr>
              <a:t>Source</a:t>
            </a:r>
            <a:r>
              <a:rPr sz="1600" spc="-5" dirty="0">
                <a:latin typeface="Times New Roman"/>
                <a:cs typeface="Times New Roman"/>
              </a:rPr>
              <a:t> string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must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locate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Data</a:t>
            </a:r>
            <a:r>
              <a:rPr sz="1600" dirty="0">
                <a:latin typeface="Times New Roman"/>
                <a:cs typeface="Times New Roman"/>
              </a:rPr>
              <a:t> Segment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5" dirty="0">
                <a:latin typeface="Times New Roman"/>
                <a:cs typeface="Times New Roman"/>
              </a:rPr>
              <a:t> SI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register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points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dirty="0">
                <a:latin typeface="Times New Roman"/>
                <a:cs typeface="Times New Roman"/>
              </a:rPr>
              <a:t> current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element of </a:t>
            </a:r>
            <a:r>
              <a:rPr sz="1600" spc="-5" dirty="0">
                <a:latin typeface="Times New Roman"/>
                <a:cs typeface="Times New Roman"/>
              </a:rPr>
              <a:t>the </a:t>
            </a:r>
            <a:r>
              <a:rPr sz="1600" dirty="0">
                <a:latin typeface="Times New Roman"/>
                <a:cs typeface="Times New Roman"/>
              </a:rPr>
              <a:t>source</a:t>
            </a:r>
            <a:r>
              <a:rPr sz="1600" spc="-5" dirty="0">
                <a:latin typeface="Times New Roman"/>
                <a:cs typeface="Times New Roman"/>
              </a:rPr>
              <a:t> string</a:t>
            </a:r>
            <a:endParaRPr sz="1600">
              <a:latin typeface="Times New Roman"/>
              <a:cs typeface="Times New Roman"/>
            </a:endParaRPr>
          </a:p>
          <a:p>
            <a:pPr marL="739775" marR="5080" lvl="1" indent="-253365">
              <a:lnSpc>
                <a:spcPct val="100000"/>
              </a:lnSpc>
              <a:spcBef>
                <a:spcPts val="360"/>
              </a:spcBef>
              <a:buChar char="—"/>
              <a:tabLst>
                <a:tab pos="741680" algn="l"/>
              </a:tabLst>
            </a:pPr>
            <a:r>
              <a:rPr sz="1600" spc="-5" dirty="0">
                <a:latin typeface="Times New Roman"/>
                <a:cs typeface="Times New Roman"/>
              </a:rPr>
              <a:t>Destination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string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must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locate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Extra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Segment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DI</a:t>
            </a:r>
            <a:r>
              <a:rPr sz="1600" spc="-5" dirty="0">
                <a:latin typeface="Times New Roman"/>
                <a:cs typeface="Times New Roman"/>
              </a:rPr>
              <a:t> register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points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current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element of </a:t>
            </a:r>
            <a:r>
              <a:rPr sz="1600" spc="-5" dirty="0">
                <a:latin typeface="Times New Roman"/>
                <a:cs typeface="Times New Roman"/>
              </a:rPr>
              <a:t>the destination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string</a:t>
            </a:r>
            <a:endParaRPr sz="16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559050" y="3886200"/>
          <a:ext cx="857250" cy="2444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194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53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194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48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194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4F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194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50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194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50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194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45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0353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52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533151" y="3975445"/>
            <a:ext cx="198120" cy="2173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5080" indent="-15875">
              <a:lnSpc>
                <a:spcPct val="1308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S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</a:t>
            </a:r>
            <a:endParaRPr sz="1600">
              <a:latin typeface="Times New Roman"/>
              <a:cs typeface="Times New Roman"/>
            </a:endParaRPr>
          </a:p>
          <a:p>
            <a:pPr marL="22225" indent="-10160">
              <a:lnSpc>
                <a:spcPct val="100000"/>
              </a:lnSpc>
              <a:spcBef>
                <a:spcPts val="830"/>
              </a:spcBef>
            </a:pPr>
            <a:r>
              <a:rPr sz="1600" dirty="0">
                <a:latin typeface="Times New Roman"/>
                <a:cs typeface="Times New Roman"/>
              </a:rPr>
              <a:t>O</a:t>
            </a:r>
            <a:endParaRPr sz="1600">
              <a:latin typeface="Times New Roman"/>
              <a:cs typeface="Times New Roman"/>
            </a:endParaRPr>
          </a:p>
          <a:p>
            <a:pPr marL="38100" marR="38735" indent="-15875">
              <a:lnSpc>
                <a:spcPts val="1800"/>
              </a:lnSpc>
              <a:spcBef>
                <a:spcPts val="775"/>
              </a:spcBef>
            </a:pPr>
            <a:r>
              <a:rPr sz="1600" dirty="0">
                <a:latin typeface="Times New Roman"/>
                <a:cs typeface="Times New Roman"/>
              </a:rPr>
              <a:t>P  P</a:t>
            </a:r>
            <a:endParaRPr sz="1600">
              <a:latin typeface="Times New Roman"/>
              <a:cs typeface="Times New Roman"/>
            </a:endParaRPr>
          </a:p>
          <a:p>
            <a:pPr marL="22225" marR="31750">
              <a:lnSpc>
                <a:spcPts val="2400"/>
              </a:lnSpc>
              <a:spcBef>
                <a:spcPts val="65"/>
              </a:spcBef>
            </a:pPr>
            <a:r>
              <a:rPr sz="1600" dirty="0">
                <a:latin typeface="Times New Roman"/>
                <a:cs typeface="Times New Roman"/>
              </a:rPr>
              <a:t>E  R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77342" y="3699264"/>
            <a:ext cx="910590" cy="2463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7145" indent="55880">
              <a:lnSpc>
                <a:spcPct val="125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DS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: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SI </a:t>
            </a:r>
            <a:r>
              <a:rPr sz="1600" dirty="0">
                <a:latin typeface="Times New Roman"/>
                <a:cs typeface="Times New Roman"/>
              </a:rPr>
              <a:t> 0510</a:t>
            </a:r>
            <a:r>
              <a:rPr sz="1600" spc="-5" dirty="0">
                <a:latin typeface="Times New Roman"/>
                <a:cs typeface="Times New Roman"/>
              </a:rPr>
              <a:t>:</a:t>
            </a:r>
            <a:r>
              <a:rPr sz="1600" dirty="0">
                <a:latin typeface="Times New Roman"/>
                <a:cs typeface="Times New Roman"/>
              </a:rPr>
              <a:t>00</a:t>
            </a:r>
            <a:r>
              <a:rPr sz="1600" spc="-5" dirty="0">
                <a:latin typeface="Times New Roman"/>
                <a:cs typeface="Times New Roman"/>
              </a:rPr>
              <a:t>0</a:t>
            </a:r>
            <a:r>
              <a:rPr sz="1600" dirty="0">
                <a:latin typeface="Times New Roman"/>
                <a:cs typeface="Times New Roman"/>
              </a:rPr>
              <a:t>0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spc="-5" dirty="0">
                <a:latin typeface="Times New Roman"/>
                <a:cs typeface="Times New Roman"/>
              </a:rPr>
              <a:t>0510:0001</a:t>
            </a:r>
            <a:endParaRPr sz="1600">
              <a:latin typeface="Times New Roman"/>
              <a:cs typeface="Times New Roman"/>
            </a:endParaRPr>
          </a:p>
          <a:p>
            <a:pPr marL="24765">
              <a:lnSpc>
                <a:spcPct val="100000"/>
              </a:lnSpc>
              <a:spcBef>
                <a:spcPts val="475"/>
              </a:spcBef>
            </a:pPr>
            <a:r>
              <a:rPr sz="1600" spc="-5" dirty="0">
                <a:latin typeface="Times New Roman"/>
                <a:cs typeface="Times New Roman"/>
              </a:rPr>
              <a:t>0510:0002</a:t>
            </a:r>
            <a:endParaRPr sz="1600">
              <a:latin typeface="Times New Roman"/>
              <a:cs typeface="Times New Roman"/>
            </a:endParaRPr>
          </a:p>
          <a:p>
            <a:pPr marL="24765">
              <a:lnSpc>
                <a:spcPct val="100000"/>
              </a:lnSpc>
              <a:spcBef>
                <a:spcPts val="835"/>
              </a:spcBef>
            </a:pPr>
            <a:r>
              <a:rPr sz="1600" spc="-5" dirty="0">
                <a:latin typeface="Times New Roman"/>
                <a:cs typeface="Times New Roman"/>
              </a:rPr>
              <a:t>0510:0003</a:t>
            </a:r>
            <a:endParaRPr sz="1600">
              <a:latin typeface="Times New Roman"/>
              <a:cs typeface="Times New Roman"/>
            </a:endParaRPr>
          </a:p>
          <a:p>
            <a:pPr marL="24765">
              <a:lnSpc>
                <a:spcPct val="100000"/>
              </a:lnSpc>
              <a:spcBef>
                <a:spcPts val="480"/>
              </a:spcBef>
            </a:pPr>
            <a:r>
              <a:rPr sz="1600" spc="-5" dirty="0">
                <a:latin typeface="Times New Roman"/>
                <a:cs typeface="Times New Roman"/>
              </a:rPr>
              <a:t>0510:0004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spc="-5" dirty="0">
                <a:latin typeface="Times New Roman"/>
                <a:cs typeface="Times New Roman"/>
              </a:rPr>
              <a:t>0510:0005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spc="-5" dirty="0">
                <a:latin typeface="Times New Roman"/>
                <a:cs typeface="Times New Roman"/>
              </a:rPr>
              <a:t>0510:0006</a:t>
            </a:r>
            <a:endParaRPr sz="1600">
              <a:latin typeface="Times New Roman"/>
              <a:cs typeface="Times New Roman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5683250" y="3886200"/>
          <a:ext cx="857250" cy="2444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194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53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194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48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194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4F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194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50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194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50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194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49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0353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4E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6657351" y="3975445"/>
            <a:ext cx="198120" cy="2173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5080" indent="-15875">
              <a:lnSpc>
                <a:spcPct val="1308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S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</a:t>
            </a:r>
            <a:endParaRPr sz="1600">
              <a:latin typeface="Times New Roman"/>
              <a:cs typeface="Times New Roman"/>
            </a:endParaRPr>
          </a:p>
          <a:p>
            <a:pPr marL="22225" indent="-10160">
              <a:lnSpc>
                <a:spcPct val="100000"/>
              </a:lnSpc>
              <a:spcBef>
                <a:spcPts val="830"/>
              </a:spcBef>
            </a:pPr>
            <a:r>
              <a:rPr sz="1600" dirty="0">
                <a:latin typeface="Times New Roman"/>
                <a:cs typeface="Times New Roman"/>
              </a:rPr>
              <a:t>O</a:t>
            </a:r>
            <a:endParaRPr sz="1600">
              <a:latin typeface="Times New Roman"/>
              <a:cs typeface="Times New Roman"/>
            </a:endParaRPr>
          </a:p>
          <a:p>
            <a:pPr marL="38100" marR="38735" indent="-15875">
              <a:lnSpc>
                <a:spcPts val="1800"/>
              </a:lnSpc>
              <a:spcBef>
                <a:spcPts val="775"/>
              </a:spcBef>
            </a:pPr>
            <a:r>
              <a:rPr sz="1600" dirty="0">
                <a:latin typeface="Times New Roman"/>
                <a:cs typeface="Times New Roman"/>
              </a:rPr>
              <a:t>P  P</a:t>
            </a:r>
            <a:endParaRPr sz="1600">
              <a:latin typeface="Times New Roman"/>
              <a:cs typeface="Times New Roman"/>
            </a:endParaRPr>
          </a:p>
          <a:p>
            <a:pPr marL="22225" marR="20955">
              <a:lnSpc>
                <a:spcPts val="2400"/>
              </a:lnSpc>
              <a:spcBef>
                <a:spcPts val="65"/>
              </a:spcBef>
            </a:pPr>
            <a:r>
              <a:rPr sz="1600" dirty="0">
                <a:latin typeface="Times New Roman"/>
                <a:cs typeface="Times New Roman"/>
              </a:rPr>
              <a:t>I 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01542" y="3836189"/>
            <a:ext cx="956310" cy="232727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17780" indent="101600">
              <a:lnSpc>
                <a:spcPts val="1800"/>
              </a:lnSpc>
              <a:spcBef>
                <a:spcPts val="260"/>
              </a:spcBef>
            </a:pPr>
            <a:r>
              <a:rPr sz="1600" spc="-5" dirty="0">
                <a:latin typeface="Times New Roman"/>
                <a:cs typeface="Times New Roman"/>
              </a:rPr>
              <a:t>ES</a:t>
            </a:r>
            <a:r>
              <a:rPr sz="1600" dirty="0">
                <a:latin typeface="Times New Roman"/>
                <a:cs typeface="Times New Roman"/>
              </a:rPr>
              <a:t> :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DI 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02A8</a:t>
            </a:r>
            <a:r>
              <a:rPr sz="1600" spc="-5" dirty="0">
                <a:latin typeface="Times New Roman"/>
                <a:cs typeface="Times New Roman"/>
              </a:rPr>
              <a:t>:</a:t>
            </a:r>
            <a:r>
              <a:rPr sz="1600" dirty="0">
                <a:latin typeface="Times New Roman"/>
                <a:cs typeface="Times New Roman"/>
              </a:rPr>
              <a:t>2</a:t>
            </a:r>
            <a:r>
              <a:rPr sz="1600" spc="-5" dirty="0">
                <a:latin typeface="Times New Roman"/>
                <a:cs typeface="Times New Roman"/>
              </a:rPr>
              <a:t>0</a:t>
            </a:r>
            <a:r>
              <a:rPr sz="1600" dirty="0">
                <a:latin typeface="Times New Roman"/>
                <a:cs typeface="Times New Roman"/>
              </a:rPr>
              <a:t>00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1600" spc="-5" dirty="0">
                <a:latin typeface="Times New Roman"/>
                <a:cs typeface="Times New Roman"/>
              </a:rPr>
              <a:t>02A8:2001</a:t>
            </a:r>
            <a:endParaRPr sz="16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480"/>
              </a:spcBef>
            </a:pPr>
            <a:r>
              <a:rPr sz="1600" spc="-5" dirty="0">
                <a:latin typeface="Times New Roman"/>
                <a:cs typeface="Times New Roman"/>
              </a:rPr>
              <a:t>02A8:2002</a:t>
            </a:r>
            <a:endParaRPr sz="16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830"/>
              </a:spcBef>
            </a:pPr>
            <a:r>
              <a:rPr sz="1600" spc="-5" dirty="0">
                <a:latin typeface="Times New Roman"/>
                <a:cs typeface="Times New Roman"/>
              </a:rPr>
              <a:t>02A8:2003</a:t>
            </a:r>
            <a:endParaRPr sz="16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480"/>
              </a:spcBef>
            </a:pPr>
            <a:r>
              <a:rPr sz="1600" spc="-5" dirty="0">
                <a:latin typeface="Times New Roman"/>
                <a:cs typeface="Times New Roman"/>
              </a:rPr>
              <a:t>02A8:2004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spc="-5" dirty="0">
                <a:latin typeface="Times New Roman"/>
                <a:cs typeface="Times New Roman"/>
              </a:rPr>
              <a:t>02A8:2005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spc="-5" dirty="0">
                <a:latin typeface="Times New Roman"/>
                <a:cs typeface="Times New Roman"/>
              </a:rPr>
              <a:t>02A8:2006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65077" y="6260343"/>
            <a:ext cx="113792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Source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String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36929" y="6274585"/>
            <a:ext cx="151257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Times New Roman"/>
                <a:cs typeface="Times New Roman"/>
              </a:rPr>
              <a:t>Destination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String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37764" y="628904"/>
            <a:ext cx="426974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/>
              <a:t>Repeat</a:t>
            </a:r>
            <a:r>
              <a:rPr sz="3200" spc="-20" dirty="0"/>
              <a:t> </a:t>
            </a:r>
            <a:r>
              <a:rPr sz="3200" spc="-5" dirty="0"/>
              <a:t>Prefix</a:t>
            </a:r>
            <a:r>
              <a:rPr sz="3200" spc="-20" dirty="0"/>
              <a:t> </a:t>
            </a:r>
            <a:r>
              <a:rPr sz="3200" spc="-5" dirty="0"/>
              <a:t>Instructions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612140" y="1320800"/>
            <a:ext cx="8019415" cy="3089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6715" indent="-37465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86715" algn="l"/>
                <a:tab pos="387350" algn="l"/>
              </a:tabLst>
            </a:pPr>
            <a:r>
              <a:rPr sz="1800" spc="-5" dirty="0">
                <a:latin typeface="Times New Roman"/>
                <a:cs typeface="Times New Roman"/>
              </a:rPr>
              <a:t>REP</a:t>
            </a:r>
            <a:r>
              <a:rPr sz="1800" spc="365" dirty="0">
                <a:latin typeface="Times New Roman"/>
                <a:cs typeface="Times New Roman"/>
              </a:rPr>
              <a:t> </a:t>
            </a:r>
            <a:r>
              <a:rPr sz="1800" i="1" spc="-5" dirty="0">
                <a:latin typeface="Times New Roman"/>
                <a:cs typeface="Times New Roman"/>
              </a:rPr>
              <a:t>String Instruction</a:t>
            </a:r>
            <a:endParaRPr sz="1800">
              <a:latin typeface="Times New Roman"/>
              <a:cs typeface="Times New Roman"/>
            </a:endParaRPr>
          </a:p>
          <a:p>
            <a:pPr marL="739775" marR="5080" lvl="1" indent="-253365" algn="just">
              <a:lnSpc>
                <a:spcPct val="100000"/>
              </a:lnSpc>
              <a:spcBef>
                <a:spcPts val="1445"/>
              </a:spcBef>
              <a:buChar char="—"/>
              <a:tabLst>
                <a:tab pos="737235" algn="l"/>
              </a:tabLst>
            </a:pPr>
            <a:r>
              <a:rPr sz="1600" spc="-5" dirty="0">
                <a:latin typeface="Times New Roman"/>
                <a:cs typeface="Times New Roman"/>
              </a:rPr>
              <a:t>The </a:t>
            </a:r>
            <a:r>
              <a:rPr sz="1600" dirty="0">
                <a:latin typeface="Times New Roman"/>
                <a:cs typeface="Times New Roman"/>
              </a:rPr>
              <a:t>prefix </a:t>
            </a:r>
            <a:r>
              <a:rPr sz="1600" spc="-5" dirty="0">
                <a:latin typeface="Times New Roman"/>
                <a:cs typeface="Times New Roman"/>
              </a:rPr>
              <a:t>instruction </a:t>
            </a:r>
            <a:r>
              <a:rPr sz="1600" dirty="0">
                <a:latin typeface="Times New Roman"/>
                <a:cs typeface="Times New Roman"/>
              </a:rPr>
              <a:t>makes </a:t>
            </a:r>
            <a:r>
              <a:rPr sz="1600" spc="-5" dirty="0">
                <a:latin typeface="Times New Roman"/>
                <a:cs typeface="Times New Roman"/>
              </a:rPr>
              <a:t>the </a:t>
            </a:r>
            <a:r>
              <a:rPr sz="1600" dirty="0">
                <a:latin typeface="Times New Roman"/>
                <a:cs typeface="Times New Roman"/>
              </a:rPr>
              <a:t>microprocessor </a:t>
            </a:r>
            <a:r>
              <a:rPr sz="1600" spc="-5" dirty="0">
                <a:latin typeface="Times New Roman"/>
                <a:cs typeface="Times New Roman"/>
              </a:rPr>
              <a:t>repeatedly </a:t>
            </a:r>
            <a:r>
              <a:rPr sz="1600" dirty="0">
                <a:latin typeface="Times New Roman"/>
                <a:cs typeface="Times New Roman"/>
              </a:rPr>
              <a:t>execute </a:t>
            </a:r>
            <a:r>
              <a:rPr sz="1600" spc="-5" dirty="0">
                <a:latin typeface="Times New Roman"/>
                <a:cs typeface="Times New Roman"/>
              </a:rPr>
              <a:t>the string instruction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until </a:t>
            </a:r>
            <a:r>
              <a:rPr sz="1600" dirty="0">
                <a:latin typeface="Times New Roman"/>
                <a:cs typeface="Times New Roman"/>
              </a:rPr>
              <a:t>CX decrements </a:t>
            </a:r>
            <a:r>
              <a:rPr sz="1600" spc="-5" dirty="0">
                <a:latin typeface="Times New Roman"/>
                <a:cs typeface="Times New Roman"/>
              </a:rPr>
              <a:t>to </a:t>
            </a:r>
            <a:r>
              <a:rPr sz="1600" dirty="0">
                <a:latin typeface="Times New Roman"/>
                <a:cs typeface="Times New Roman"/>
              </a:rPr>
              <a:t>0 (During </a:t>
            </a:r>
            <a:r>
              <a:rPr sz="1600" spc="-5" dirty="0">
                <a:latin typeface="Times New Roman"/>
                <a:cs typeface="Times New Roman"/>
              </a:rPr>
              <a:t>the execution, </a:t>
            </a:r>
            <a:r>
              <a:rPr sz="1600" dirty="0">
                <a:latin typeface="Times New Roman"/>
                <a:cs typeface="Times New Roman"/>
              </a:rPr>
              <a:t>CX </a:t>
            </a:r>
            <a:r>
              <a:rPr sz="1600" spc="-5" dirty="0">
                <a:latin typeface="Times New Roman"/>
                <a:cs typeface="Times New Roman"/>
              </a:rPr>
              <a:t>is </a:t>
            </a:r>
            <a:r>
              <a:rPr sz="1600" dirty="0">
                <a:latin typeface="Times New Roman"/>
                <a:cs typeface="Times New Roman"/>
              </a:rPr>
              <a:t>decreased by one when </a:t>
            </a:r>
            <a:r>
              <a:rPr sz="1600" spc="-5" dirty="0">
                <a:latin typeface="Times New Roman"/>
                <a:cs typeface="Times New Roman"/>
              </a:rPr>
              <a:t>the string 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instruction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executed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time).</a:t>
            </a:r>
            <a:endParaRPr sz="1600">
              <a:latin typeface="Times New Roman"/>
              <a:cs typeface="Times New Roman"/>
            </a:endParaRPr>
          </a:p>
          <a:p>
            <a:pPr marL="741045" lvl="1" indent="-254635">
              <a:lnSpc>
                <a:spcPct val="100000"/>
              </a:lnSpc>
              <a:spcBef>
                <a:spcPts val="1190"/>
              </a:spcBef>
              <a:buChar char="—"/>
              <a:tabLst>
                <a:tab pos="741680" algn="l"/>
              </a:tabLst>
            </a:pPr>
            <a:r>
              <a:rPr sz="1600" spc="-5" dirty="0">
                <a:latin typeface="Times New Roman"/>
                <a:cs typeface="Times New Roman"/>
              </a:rPr>
              <a:t>For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Example:</a:t>
            </a:r>
            <a:endParaRPr sz="1600">
              <a:latin typeface="Times New Roman"/>
              <a:cs typeface="Times New Roman"/>
            </a:endParaRPr>
          </a:p>
          <a:p>
            <a:pPr marL="1993900" marR="4678045">
              <a:lnSpc>
                <a:spcPct val="100000"/>
              </a:lnSpc>
              <a:spcBef>
                <a:spcPts val="1325"/>
              </a:spcBef>
            </a:pPr>
            <a:r>
              <a:rPr sz="1800" b="1" spc="-5" dirty="0">
                <a:latin typeface="Times New Roman"/>
                <a:cs typeface="Times New Roman"/>
              </a:rPr>
              <a:t>MOV CX, </a:t>
            </a:r>
            <a:r>
              <a:rPr sz="1800" b="1" dirty="0">
                <a:latin typeface="Times New Roman"/>
                <a:cs typeface="Times New Roman"/>
              </a:rPr>
              <a:t>5 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RE</a:t>
            </a:r>
            <a:r>
              <a:rPr sz="1800" b="1" dirty="0">
                <a:latin typeface="Times New Roman"/>
                <a:cs typeface="Times New Roman"/>
              </a:rPr>
              <a:t>P</a:t>
            </a:r>
            <a:r>
              <a:rPr sz="1800" b="1" spc="-11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MOVSB</a:t>
            </a:r>
            <a:endParaRPr sz="1800">
              <a:latin typeface="Times New Roman"/>
              <a:cs typeface="Times New Roman"/>
            </a:endParaRPr>
          </a:p>
          <a:p>
            <a:pPr marL="850900">
              <a:lnSpc>
                <a:spcPct val="100000"/>
              </a:lnSpc>
              <a:spcBef>
                <a:spcPts val="484"/>
              </a:spcBef>
            </a:pPr>
            <a:r>
              <a:rPr sz="1600" dirty="0">
                <a:latin typeface="Times New Roman"/>
                <a:cs typeface="Times New Roman"/>
              </a:rPr>
              <a:t>By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above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two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instructions,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microprocessor </a:t>
            </a:r>
            <a:r>
              <a:rPr sz="1600" spc="-5" dirty="0">
                <a:latin typeface="Times New Roman"/>
                <a:cs typeface="Times New Roman"/>
              </a:rPr>
              <a:t>will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execute</a:t>
            </a:r>
            <a:r>
              <a:rPr sz="1600" spc="-5" dirty="0">
                <a:latin typeface="Times New Roman"/>
                <a:cs typeface="Times New Roman"/>
              </a:rPr>
              <a:t> MOVSB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5 </a:t>
            </a:r>
            <a:r>
              <a:rPr sz="1600" spc="-5" dirty="0">
                <a:latin typeface="Times New Roman"/>
                <a:cs typeface="Times New Roman"/>
              </a:rPr>
              <a:t>times.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450">
              <a:latin typeface="Times New Roman"/>
              <a:cs typeface="Times New Roman"/>
            </a:endParaRPr>
          </a:p>
          <a:p>
            <a:pPr marL="723265" lvl="1" indent="-254635">
              <a:lnSpc>
                <a:spcPct val="100000"/>
              </a:lnSpc>
              <a:buChar char="—"/>
              <a:tabLst>
                <a:tab pos="723900" algn="l"/>
              </a:tabLst>
            </a:pPr>
            <a:r>
              <a:rPr sz="1600" spc="-5" dirty="0">
                <a:latin typeface="Times New Roman"/>
                <a:cs typeface="Times New Roman"/>
              </a:rPr>
              <a:t>Execution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flow </a:t>
            </a:r>
            <a:r>
              <a:rPr sz="1600" dirty="0">
                <a:latin typeface="Times New Roman"/>
                <a:cs typeface="Times New Roman"/>
              </a:rPr>
              <a:t>of </a:t>
            </a:r>
            <a:r>
              <a:rPr sz="1600" spc="-5" dirty="0">
                <a:latin typeface="Times New Roman"/>
                <a:cs typeface="Times New Roman"/>
              </a:rPr>
              <a:t>REP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MOVSB::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78818" y="4674379"/>
            <a:ext cx="1408430" cy="1245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5" dirty="0">
                <a:latin typeface="Times New Roman"/>
                <a:cs typeface="Times New Roman"/>
              </a:rPr>
              <a:t>While</a:t>
            </a:r>
            <a:r>
              <a:rPr sz="1600" i="1" spc="-15" dirty="0">
                <a:latin typeface="Times New Roman"/>
                <a:cs typeface="Times New Roman"/>
              </a:rPr>
              <a:t> </a:t>
            </a:r>
            <a:r>
              <a:rPr sz="1600" i="1" spc="-5" dirty="0">
                <a:latin typeface="Times New Roman"/>
                <a:cs typeface="Times New Roman"/>
              </a:rPr>
              <a:t>(CX!=0)</a:t>
            </a:r>
            <a:endParaRPr sz="1600">
              <a:latin typeface="Times New Roman"/>
              <a:cs typeface="Times New Roman"/>
            </a:endParaRPr>
          </a:p>
          <a:p>
            <a:pPr marL="163830">
              <a:lnSpc>
                <a:spcPct val="100000"/>
              </a:lnSpc>
            </a:pPr>
            <a:r>
              <a:rPr sz="1600" i="1" dirty="0">
                <a:latin typeface="Times New Roman"/>
                <a:cs typeface="Times New Roman"/>
              </a:rPr>
              <a:t>{</a:t>
            </a:r>
            <a:endParaRPr sz="1600">
              <a:latin typeface="Times New Roman"/>
              <a:cs typeface="Times New Roman"/>
            </a:endParaRPr>
          </a:p>
          <a:p>
            <a:pPr marL="316230" marR="5080" indent="-635">
              <a:lnSpc>
                <a:spcPct val="100000"/>
              </a:lnSpc>
            </a:pPr>
            <a:r>
              <a:rPr sz="1600" i="1" dirty="0">
                <a:latin typeface="Times New Roman"/>
                <a:cs typeface="Times New Roman"/>
              </a:rPr>
              <a:t>CX</a:t>
            </a:r>
            <a:r>
              <a:rPr sz="1600" i="1" spc="-45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=</a:t>
            </a:r>
            <a:r>
              <a:rPr sz="1600" i="1" spc="-40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CX</a:t>
            </a:r>
            <a:r>
              <a:rPr sz="1600" i="1" spc="-40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–1; </a:t>
            </a:r>
            <a:r>
              <a:rPr sz="1600" i="1" spc="-385" dirty="0">
                <a:latin typeface="Times New Roman"/>
                <a:cs typeface="Times New Roman"/>
              </a:rPr>
              <a:t> </a:t>
            </a:r>
            <a:r>
              <a:rPr sz="1600" i="1" spc="-5" dirty="0">
                <a:latin typeface="Times New Roman"/>
                <a:cs typeface="Times New Roman"/>
              </a:rPr>
              <a:t>MOVSB;</a:t>
            </a:r>
            <a:endParaRPr sz="1600">
              <a:latin typeface="Times New Roman"/>
              <a:cs typeface="Times New Roman"/>
            </a:endParaRPr>
          </a:p>
          <a:p>
            <a:pPr marL="164465">
              <a:lnSpc>
                <a:spcPts val="1920"/>
              </a:lnSpc>
            </a:pPr>
            <a:r>
              <a:rPr sz="1600" i="1" dirty="0">
                <a:latin typeface="Times New Roman"/>
                <a:cs typeface="Times New Roman"/>
              </a:rPr>
              <a:t>}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26966" y="4674175"/>
            <a:ext cx="2748915" cy="1245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5" dirty="0">
                <a:latin typeface="Times New Roman"/>
                <a:cs typeface="Times New Roman"/>
              </a:rPr>
              <a:t>Check_CX:</a:t>
            </a:r>
            <a:r>
              <a:rPr sz="1600" i="1" spc="370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If </a:t>
            </a:r>
            <a:r>
              <a:rPr sz="1600" i="1" spc="-5" dirty="0">
                <a:latin typeface="Times New Roman"/>
                <a:cs typeface="Times New Roman"/>
              </a:rPr>
              <a:t>CX!=0</a:t>
            </a:r>
            <a:r>
              <a:rPr sz="1600" i="1" spc="-20" dirty="0">
                <a:latin typeface="Times New Roman"/>
                <a:cs typeface="Times New Roman"/>
              </a:rPr>
              <a:t> </a:t>
            </a:r>
            <a:r>
              <a:rPr sz="1600" i="1" spc="-5" dirty="0">
                <a:latin typeface="Times New Roman"/>
                <a:cs typeface="Times New Roman"/>
              </a:rPr>
              <a:t>Then</a:t>
            </a:r>
            <a:endParaRPr sz="1600">
              <a:latin typeface="Times New Roman"/>
              <a:cs typeface="Times New Roman"/>
            </a:endParaRPr>
          </a:p>
          <a:p>
            <a:pPr marL="1383665" marR="278765" indent="-635">
              <a:lnSpc>
                <a:spcPct val="100000"/>
              </a:lnSpc>
            </a:pPr>
            <a:r>
              <a:rPr sz="1600" i="1" dirty="0">
                <a:latin typeface="Times New Roman"/>
                <a:cs typeface="Times New Roman"/>
              </a:rPr>
              <a:t>CX</a:t>
            </a:r>
            <a:r>
              <a:rPr sz="1600" i="1" spc="-45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=</a:t>
            </a:r>
            <a:r>
              <a:rPr sz="1600" i="1" spc="-40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CX</a:t>
            </a:r>
            <a:r>
              <a:rPr sz="1600" i="1" spc="-40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–1; </a:t>
            </a:r>
            <a:r>
              <a:rPr sz="1600" i="1" spc="-385" dirty="0">
                <a:latin typeface="Times New Roman"/>
                <a:cs typeface="Times New Roman"/>
              </a:rPr>
              <a:t> </a:t>
            </a:r>
            <a:r>
              <a:rPr sz="1600" i="1" spc="-5" dirty="0">
                <a:latin typeface="Times New Roman"/>
                <a:cs typeface="Times New Roman"/>
              </a:rPr>
              <a:t>MOVSB;</a:t>
            </a:r>
            <a:endParaRPr sz="1600">
              <a:latin typeface="Times New Roman"/>
              <a:cs typeface="Times New Roman"/>
            </a:endParaRPr>
          </a:p>
          <a:p>
            <a:pPr marL="1028700" marR="5080" indent="354965">
              <a:lnSpc>
                <a:spcPct val="100000"/>
              </a:lnSpc>
            </a:pPr>
            <a:r>
              <a:rPr sz="1600" i="1" spc="-5" dirty="0">
                <a:latin typeface="Times New Roman"/>
                <a:cs typeface="Times New Roman"/>
              </a:rPr>
              <a:t>goto Check_CX; </a:t>
            </a:r>
            <a:r>
              <a:rPr sz="1600" i="1" spc="-390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end</a:t>
            </a:r>
            <a:r>
              <a:rPr sz="1600" i="1" spc="-20" dirty="0">
                <a:latin typeface="Times New Roman"/>
                <a:cs typeface="Times New Roman"/>
              </a:rPr>
              <a:t> </a:t>
            </a:r>
            <a:r>
              <a:rPr sz="1600" i="1" spc="-5" dirty="0">
                <a:latin typeface="Times New Roman"/>
                <a:cs typeface="Times New Roman"/>
              </a:rPr>
              <a:t>if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36340" y="5206238"/>
            <a:ext cx="37782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i="1" spc="-10" dirty="0">
                <a:latin typeface="Times New Roman"/>
                <a:cs typeface="Times New Roman"/>
              </a:rPr>
              <a:t>OR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53460" y="628904"/>
            <a:ext cx="303720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/>
              <a:t>String</a:t>
            </a:r>
            <a:r>
              <a:rPr sz="3200" spc="-70" dirty="0"/>
              <a:t> </a:t>
            </a:r>
            <a:r>
              <a:rPr sz="3200" spc="-5" dirty="0"/>
              <a:t>Instructions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612140" y="1167972"/>
            <a:ext cx="7018020" cy="156400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86715" indent="-374650">
              <a:lnSpc>
                <a:spcPct val="100000"/>
              </a:lnSpc>
              <a:spcBef>
                <a:spcPts val="1300"/>
              </a:spcBef>
              <a:buFont typeface="Wingdings"/>
              <a:buChar char=""/>
              <a:tabLst>
                <a:tab pos="386715" algn="l"/>
                <a:tab pos="387350" algn="l"/>
              </a:tabLst>
            </a:pPr>
            <a:r>
              <a:rPr sz="1800" spc="-5" dirty="0">
                <a:latin typeface="Times New Roman"/>
                <a:cs typeface="Times New Roman"/>
              </a:rPr>
              <a:t>MOVSB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(MOVSW)</a:t>
            </a:r>
            <a:endParaRPr sz="1800">
              <a:latin typeface="Times New Roman"/>
              <a:cs typeface="Times New Roman"/>
            </a:endParaRPr>
          </a:p>
          <a:p>
            <a:pPr marL="739775" marR="5080" lvl="1" indent="-253365">
              <a:lnSpc>
                <a:spcPct val="100000"/>
              </a:lnSpc>
              <a:spcBef>
                <a:spcPts val="1075"/>
              </a:spcBef>
              <a:buChar char="—"/>
              <a:tabLst>
                <a:tab pos="741680" algn="l"/>
              </a:tabLst>
            </a:pPr>
            <a:r>
              <a:rPr sz="1600" spc="-5" dirty="0">
                <a:latin typeface="Times New Roman"/>
                <a:cs typeface="Times New Roman"/>
              </a:rPr>
              <a:t>Move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byte</a:t>
            </a:r>
            <a:r>
              <a:rPr sz="1600" dirty="0">
                <a:latin typeface="Times New Roman"/>
                <a:cs typeface="Times New Roman"/>
              </a:rPr>
              <a:t> (word) at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memory </a:t>
            </a:r>
            <a:r>
              <a:rPr sz="1600" spc="-5" dirty="0">
                <a:latin typeface="Times New Roman"/>
                <a:cs typeface="Times New Roman"/>
              </a:rPr>
              <a:t>location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DS:SI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memory </a:t>
            </a:r>
            <a:r>
              <a:rPr sz="1600" spc="-5" dirty="0">
                <a:latin typeface="Times New Roman"/>
                <a:cs typeface="Times New Roman"/>
              </a:rPr>
              <a:t>location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ES:DI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 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update</a:t>
            </a:r>
            <a:r>
              <a:rPr sz="1600" spc="-5" dirty="0">
                <a:latin typeface="Times New Roman"/>
                <a:cs typeface="Times New Roman"/>
              </a:rPr>
              <a:t> SI</a:t>
            </a:r>
            <a:r>
              <a:rPr sz="1600" dirty="0">
                <a:latin typeface="Times New Roman"/>
                <a:cs typeface="Times New Roman"/>
              </a:rPr>
              <a:t> and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DI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according</a:t>
            </a:r>
            <a:r>
              <a:rPr sz="1600" spc="-5" dirty="0">
                <a:latin typeface="Times New Roman"/>
                <a:cs typeface="Times New Roman"/>
              </a:rPr>
              <a:t> to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DF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width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5" dirty="0">
                <a:latin typeface="Times New Roman"/>
                <a:cs typeface="Times New Roman"/>
              </a:rPr>
              <a:t> the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data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being </a:t>
            </a:r>
            <a:r>
              <a:rPr sz="1600" dirty="0">
                <a:latin typeface="Times New Roman"/>
                <a:cs typeface="Times New Roman"/>
              </a:rPr>
              <a:t>transferred</a:t>
            </a:r>
            <a:endParaRPr sz="1600">
              <a:latin typeface="Times New Roman"/>
              <a:cs typeface="Times New Roman"/>
            </a:endParaRPr>
          </a:p>
          <a:p>
            <a:pPr marL="741045" lvl="1" indent="-254635">
              <a:lnSpc>
                <a:spcPts val="1920"/>
              </a:lnSpc>
              <a:buChar char="—"/>
              <a:tabLst>
                <a:tab pos="741680" algn="l"/>
              </a:tabLst>
            </a:pPr>
            <a:r>
              <a:rPr sz="1600" dirty="0">
                <a:latin typeface="Times New Roman"/>
                <a:cs typeface="Times New Roman"/>
              </a:rPr>
              <a:t>It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does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not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modify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flags</a:t>
            </a:r>
            <a:endParaRPr sz="1600">
              <a:latin typeface="Times New Roman"/>
              <a:cs typeface="Times New Roman"/>
            </a:endParaRPr>
          </a:p>
          <a:p>
            <a:pPr marL="487045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—Example:</a:t>
            </a:r>
            <a:endParaRPr sz="16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978650" y="3276600"/>
          <a:ext cx="857250" cy="2444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4041136" y="5650837"/>
            <a:ext cx="113792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Source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String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31920" y="5665079"/>
            <a:ext cx="151257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Times New Roman"/>
                <a:cs typeface="Times New Roman"/>
              </a:rPr>
              <a:t>Destination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String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21671" y="4186579"/>
            <a:ext cx="148336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Times New Roman"/>
                <a:cs typeface="Times New Roman"/>
              </a:rPr>
              <a:t>M</a:t>
            </a:r>
            <a:r>
              <a:rPr sz="1600" dirty="0">
                <a:latin typeface="Times New Roman"/>
                <a:cs typeface="Times New Roman"/>
              </a:rPr>
              <a:t>OV</a:t>
            </a:r>
            <a:r>
              <a:rPr sz="1600" spc="-1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AX,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0300H</a:t>
            </a:r>
            <a:endParaRPr sz="1600">
              <a:latin typeface="Times New Roman"/>
              <a:cs typeface="Times New Roman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202621" y="3185241"/>
          <a:ext cx="5711190" cy="2529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1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6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75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16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09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1358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00">
                        <a:lnSpc>
                          <a:spcPts val="103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DS</a:t>
                      </a:r>
                      <a:r>
                        <a:rPr sz="1600" spc="3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:</a:t>
                      </a:r>
                      <a:r>
                        <a:rPr sz="1600" spc="3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SI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ts val="1100"/>
                        </a:lnSpc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ES</a:t>
                      </a:r>
                      <a:r>
                        <a:rPr sz="1600" spc="3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:</a:t>
                      </a:r>
                      <a:r>
                        <a:rPr sz="1600" spc="3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DI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MOV</a:t>
                      </a:r>
                      <a:r>
                        <a:rPr sz="1600" spc="22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AX,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0510H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/>
                </a:tc>
                <a:tc>
                  <a:txBody>
                    <a:bodyPr/>
                    <a:lstStyle/>
                    <a:p>
                      <a:pPr marR="95250" algn="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0510:0000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194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53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0300:0100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1750">
                        <a:lnSpc>
                          <a:spcPts val="1750"/>
                        </a:lnSpc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OV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1600" spc="-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AX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5250" algn="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0510:0001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194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48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76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H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1750">
                        <a:lnSpc>
                          <a:spcPts val="1270"/>
                        </a:lnSpc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MOV</a:t>
                      </a:r>
                      <a:r>
                        <a:rPr sz="16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SI,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0510:0002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194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4F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2240">
                        <a:lnSpc>
                          <a:spcPts val="1645"/>
                        </a:lnSpc>
                        <a:spcBef>
                          <a:spcPts val="65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O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83185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3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428">
                <a:tc>
                  <a:txBody>
                    <a:bodyPr/>
                    <a:lstStyle/>
                    <a:p>
                      <a:pPr marL="31750">
                        <a:lnSpc>
                          <a:spcPts val="1480"/>
                        </a:lnSpc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OV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ES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1600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AX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ts val="1480"/>
                        </a:lnSpc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0510:0003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19405">
                        <a:lnSpc>
                          <a:spcPts val="140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50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ts val="148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P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98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9816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MOV</a:t>
                      </a:r>
                      <a:r>
                        <a:rPr sz="16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DI,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100H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ts val="1645"/>
                        </a:lnSpc>
                        <a:spcBef>
                          <a:spcPts val="300"/>
                        </a:spcBef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0510:0004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19405">
                        <a:lnSpc>
                          <a:spcPts val="187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50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7640">
                        <a:lnSpc>
                          <a:spcPts val="176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P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4946">
                <a:tc>
                  <a:txBody>
                    <a:bodyPr/>
                    <a:lstStyle/>
                    <a:p>
                      <a:pPr marL="31750">
                        <a:lnSpc>
                          <a:spcPts val="1745"/>
                        </a:lnSpc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CLD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5250" algn="r">
                        <a:lnSpc>
                          <a:spcPts val="1680"/>
                        </a:lnSpc>
                        <a:spcBef>
                          <a:spcPts val="305"/>
                        </a:spcBef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0510:0005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19405">
                        <a:lnSpc>
                          <a:spcPts val="1680"/>
                        </a:lnSpc>
                        <a:spcBef>
                          <a:spcPts val="30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45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ts val="1789"/>
                        </a:lnSpc>
                        <a:spcBef>
                          <a:spcPts val="19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85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1750">
                        <a:lnSpc>
                          <a:spcPts val="1265"/>
                        </a:lnSpc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MOV</a:t>
                      </a:r>
                      <a:r>
                        <a:rPr sz="16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CX,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5250" algn="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0510:0006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353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52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R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1221671" y="5405471"/>
            <a:ext cx="116268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R</a:t>
            </a:r>
            <a:r>
              <a:rPr sz="1600" spc="-5" dirty="0">
                <a:latin typeface="Times New Roman"/>
                <a:cs typeface="Times New Roman"/>
              </a:rPr>
              <a:t>E</a:t>
            </a:r>
            <a:r>
              <a:rPr sz="1600" dirty="0">
                <a:latin typeface="Times New Roman"/>
                <a:cs typeface="Times New Roman"/>
              </a:rPr>
              <a:t>P</a:t>
            </a:r>
            <a:r>
              <a:rPr sz="1600" spc="-8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</a:t>
            </a:r>
            <a:r>
              <a:rPr sz="1600" dirty="0">
                <a:latin typeface="Times New Roman"/>
                <a:cs typeface="Times New Roman"/>
              </a:rPr>
              <a:t>OV</a:t>
            </a:r>
            <a:r>
              <a:rPr sz="1600" spc="-5" dirty="0">
                <a:latin typeface="Times New Roman"/>
                <a:cs typeface="Times New Roman"/>
              </a:rPr>
              <a:t>S</a:t>
            </a:r>
            <a:r>
              <a:rPr sz="1600" dirty="0">
                <a:latin typeface="Times New Roman"/>
                <a:cs typeface="Times New Roman"/>
              </a:rPr>
              <a:t>B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53460" y="628904"/>
            <a:ext cx="303720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/>
              <a:t>String</a:t>
            </a:r>
            <a:r>
              <a:rPr sz="3200" spc="-70" dirty="0"/>
              <a:t> </a:t>
            </a:r>
            <a:r>
              <a:rPr sz="3200" spc="-5" dirty="0"/>
              <a:t>Instructions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612140" y="1167972"/>
            <a:ext cx="6846570" cy="156400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86715" indent="-374650">
              <a:lnSpc>
                <a:spcPct val="100000"/>
              </a:lnSpc>
              <a:spcBef>
                <a:spcPts val="1300"/>
              </a:spcBef>
              <a:buFont typeface="Wingdings"/>
              <a:buChar char=""/>
              <a:tabLst>
                <a:tab pos="386715" algn="l"/>
                <a:tab pos="387350" algn="l"/>
              </a:tabLst>
            </a:pPr>
            <a:r>
              <a:rPr sz="1800" spc="-5" dirty="0">
                <a:latin typeface="Times New Roman"/>
                <a:cs typeface="Times New Roman"/>
              </a:rPr>
              <a:t>CMPSB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(CMPSW)</a:t>
            </a:r>
            <a:endParaRPr sz="1800">
              <a:latin typeface="Times New Roman"/>
              <a:cs typeface="Times New Roman"/>
            </a:endParaRPr>
          </a:p>
          <a:p>
            <a:pPr marL="647065" lvl="1" indent="-254000">
              <a:lnSpc>
                <a:spcPct val="100000"/>
              </a:lnSpc>
              <a:spcBef>
                <a:spcPts val="1075"/>
              </a:spcBef>
              <a:buChar char="—"/>
              <a:tabLst>
                <a:tab pos="647700" algn="l"/>
              </a:tabLst>
            </a:pPr>
            <a:r>
              <a:rPr sz="1600" dirty="0">
                <a:latin typeface="Times New Roman"/>
                <a:cs typeface="Times New Roman"/>
              </a:rPr>
              <a:t>Compare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bytes </a:t>
            </a:r>
            <a:r>
              <a:rPr sz="1600" dirty="0">
                <a:latin typeface="Times New Roman"/>
                <a:cs typeface="Times New Roman"/>
              </a:rPr>
              <a:t>(words) at memory </a:t>
            </a:r>
            <a:r>
              <a:rPr sz="1600" spc="-5" dirty="0">
                <a:latin typeface="Times New Roman"/>
                <a:cs typeface="Times New Roman"/>
              </a:rPr>
              <a:t>locations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DS:SI</a:t>
            </a:r>
            <a:r>
              <a:rPr sz="1600" dirty="0">
                <a:latin typeface="Times New Roman"/>
                <a:cs typeface="Times New Roman"/>
              </a:rPr>
              <a:t> and</a:t>
            </a:r>
            <a:r>
              <a:rPr sz="1600" spc="-5" dirty="0">
                <a:latin typeface="Times New Roman"/>
                <a:cs typeface="Times New Roman"/>
              </a:rPr>
              <a:t> ES:DI;</a:t>
            </a:r>
            <a:endParaRPr sz="1600">
              <a:latin typeface="Times New Roman"/>
              <a:cs typeface="Times New Roman"/>
            </a:endParaRPr>
          </a:p>
          <a:p>
            <a:pPr marL="64643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update</a:t>
            </a:r>
            <a:r>
              <a:rPr sz="1600" spc="-5" dirty="0">
                <a:latin typeface="Times New Roman"/>
                <a:cs typeface="Times New Roman"/>
              </a:rPr>
              <a:t> SI</a:t>
            </a:r>
            <a:r>
              <a:rPr sz="1600" dirty="0">
                <a:latin typeface="Times New Roman"/>
                <a:cs typeface="Times New Roman"/>
              </a:rPr>
              <a:t> and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DI according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DF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width</a:t>
            </a:r>
            <a:r>
              <a:rPr sz="1600" dirty="0">
                <a:latin typeface="Times New Roman"/>
                <a:cs typeface="Times New Roman"/>
              </a:rPr>
              <a:t> of</a:t>
            </a:r>
            <a:r>
              <a:rPr sz="1600" spc="-5" dirty="0">
                <a:latin typeface="Times New Roman"/>
                <a:cs typeface="Times New Roman"/>
              </a:rPr>
              <a:t> the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data being</a:t>
            </a:r>
            <a:r>
              <a:rPr sz="1600" dirty="0">
                <a:latin typeface="Times New Roman"/>
                <a:cs typeface="Times New Roman"/>
              </a:rPr>
              <a:t> compared</a:t>
            </a:r>
            <a:endParaRPr sz="1600">
              <a:latin typeface="Times New Roman"/>
              <a:cs typeface="Times New Roman"/>
            </a:endParaRPr>
          </a:p>
          <a:p>
            <a:pPr marL="647065" lvl="1" indent="-254000">
              <a:lnSpc>
                <a:spcPct val="100000"/>
              </a:lnSpc>
              <a:buChar char="—"/>
              <a:tabLst>
                <a:tab pos="647700" algn="l"/>
              </a:tabLst>
            </a:pPr>
            <a:r>
              <a:rPr sz="1600" dirty="0">
                <a:latin typeface="Times New Roman"/>
                <a:cs typeface="Times New Roman"/>
              </a:rPr>
              <a:t>It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modifies flags</a:t>
            </a:r>
            <a:endParaRPr sz="1600">
              <a:latin typeface="Times New Roman"/>
              <a:cs typeface="Times New Roman"/>
            </a:endParaRPr>
          </a:p>
          <a:p>
            <a:pPr marL="39370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—Example: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5527" y="2997638"/>
            <a:ext cx="73914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Assume: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59849" y="2997638"/>
            <a:ext cx="1078230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Times New Roman"/>
                <a:cs typeface="Times New Roman"/>
              </a:rPr>
              <a:t>ES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=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02A8H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DI = 2000H 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DS = 0510H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SI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=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0000H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74139" y="4216400"/>
            <a:ext cx="140398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CLD</a:t>
            </a:r>
            <a:endParaRPr sz="18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1800" spc="-5" dirty="0">
                <a:latin typeface="Times New Roman"/>
                <a:cs typeface="Times New Roman"/>
              </a:rPr>
              <a:t>MOV CX, </a:t>
            </a:r>
            <a:r>
              <a:rPr sz="1800" dirty="0">
                <a:latin typeface="Times New Roman"/>
                <a:cs typeface="Times New Roman"/>
              </a:rPr>
              <a:t>9 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REPZ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CMPSB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3139" y="5436361"/>
            <a:ext cx="245110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spc="-15" dirty="0">
                <a:latin typeface="Times New Roman"/>
                <a:cs typeface="Times New Roman"/>
              </a:rPr>
              <a:t>What’s </a:t>
            </a:r>
            <a:r>
              <a:rPr sz="1600" spc="-5" dirty="0">
                <a:latin typeface="Times New Roman"/>
                <a:cs typeface="Times New Roman"/>
              </a:rPr>
              <a:t>the </a:t>
            </a:r>
            <a:r>
              <a:rPr sz="1600" dirty="0">
                <a:latin typeface="Times New Roman"/>
                <a:cs typeface="Times New Roman"/>
              </a:rPr>
              <a:t>values of CX </a:t>
            </a:r>
            <a:r>
              <a:rPr sz="1600" spc="-5" dirty="0">
                <a:latin typeface="Times New Roman"/>
                <a:cs typeface="Times New Roman"/>
              </a:rPr>
              <a:t>after </a:t>
            </a:r>
            <a:r>
              <a:rPr sz="1600" spc="-3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execution?</a:t>
            </a:r>
            <a:endParaRPr sz="1600">
              <a:latin typeface="Times New Roman"/>
              <a:cs typeface="Times New Roman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4718050" y="3200400"/>
          <a:ext cx="857250" cy="2444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194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53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194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48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194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4F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194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50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194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50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194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45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0353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52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5692151" y="3289645"/>
            <a:ext cx="198120" cy="2173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5080" indent="-15875">
              <a:lnSpc>
                <a:spcPct val="1308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S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</a:t>
            </a:r>
            <a:endParaRPr sz="1600">
              <a:latin typeface="Times New Roman"/>
              <a:cs typeface="Times New Roman"/>
            </a:endParaRPr>
          </a:p>
          <a:p>
            <a:pPr marL="22225" indent="-10160">
              <a:lnSpc>
                <a:spcPct val="100000"/>
              </a:lnSpc>
              <a:spcBef>
                <a:spcPts val="830"/>
              </a:spcBef>
            </a:pPr>
            <a:r>
              <a:rPr sz="1600" dirty="0">
                <a:latin typeface="Times New Roman"/>
                <a:cs typeface="Times New Roman"/>
              </a:rPr>
              <a:t>O</a:t>
            </a:r>
            <a:endParaRPr sz="1600">
              <a:latin typeface="Times New Roman"/>
              <a:cs typeface="Times New Roman"/>
            </a:endParaRPr>
          </a:p>
          <a:p>
            <a:pPr marL="38100" marR="38735" indent="-15875">
              <a:lnSpc>
                <a:spcPts val="1800"/>
              </a:lnSpc>
              <a:spcBef>
                <a:spcPts val="775"/>
              </a:spcBef>
            </a:pPr>
            <a:r>
              <a:rPr sz="1600" dirty="0">
                <a:latin typeface="Times New Roman"/>
                <a:cs typeface="Times New Roman"/>
              </a:rPr>
              <a:t>P  P</a:t>
            </a:r>
            <a:endParaRPr sz="1600">
              <a:latin typeface="Times New Roman"/>
              <a:cs typeface="Times New Roman"/>
            </a:endParaRPr>
          </a:p>
          <a:p>
            <a:pPr marL="22225" marR="31750">
              <a:lnSpc>
                <a:spcPts val="2400"/>
              </a:lnSpc>
              <a:spcBef>
                <a:spcPts val="65"/>
              </a:spcBef>
            </a:pPr>
            <a:r>
              <a:rPr sz="1600" dirty="0">
                <a:latin typeface="Times New Roman"/>
                <a:cs typeface="Times New Roman"/>
              </a:rPr>
              <a:t>E  R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36342" y="3013461"/>
            <a:ext cx="910590" cy="2463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7780" indent="55244">
              <a:lnSpc>
                <a:spcPct val="125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DS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: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SI </a:t>
            </a:r>
            <a:r>
              <a:rPr sz="1600" dirty="0">
                <a:latin typeface="Times New Roman"/>
                <a:cs typeface="Times New Roman"/>
              </a:rPr>
              <a:t> 0510</a:t>
            </a:r>
            <a:r>
              <a:rPr sz="1600" spc="-5" dirty="0">
                <a:latin typeface="Times New Roman"/>
                <a:cs typeface="Times New Roman"/>
              </a:rPr>
              <a:t>:</a:t>
            </a:r>
            <a:r>
              <a:rPr sz="1600" dirty="0">
                <a:latin typeface="Times New Roman"/>
                <a:cs typeface="Times New Roman"/>
              </a:rPr>
              <a:t>00</a:t>
            </a:r>
            <a:r>
              <a:rPr sz="1600" spc="-5" dirty="0">
                <a:latin typeface="Times New Roman"/>
                <a:cs typeface="Times New Roman"/>
              </a:rPr>
              <a:t>0</a:t>
            </a:r>
            <a:r>
              <a:rPr sz="1600" dirty="0">
                <a:latin typeface="Times New Roman"/>
                <a:cs typeface="Times New Roman"/>
              </a:rPr>
              <a:t>0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spc="-5" dirty="0">
                <a:latin typeface="Times New Roman"/>
                <a:cs typeface="Times New Roman"/>
              </a:rPr>
              <a:t>0510:0001</a:t>
            </a:r>
            <a:endParaRPr sz="16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475"/>
              </a:spcBef>
            </a:pPr>
            <a:r>
              <a:rPr sz="1600" spc="-5" dirty="0">
                <a:latin typeface="Times New Roman"/>
                <a:cs typeface="Times New Roman"/>
              </a:rPr>
              <a:t>0510:0002</a:t>
            </a:r>
            <a:endParaRPr sz="16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835"/>
              </a:spcBef>
            </a:pPr>
            <a:r>
              <a:rPr sz="1600" spc="-5" dirty="0">
                <a:latin typeface="Times New Roman"/>
                <a:cs typeface="Times New Roman"/>
              </a:rPr>
              <a:t>0510:0003</a:t>
            </a:r>
            <a:endParaRPr sz="16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480"/>
              </a:spcBef>
            </a:pPr>
            <a:r>
              <a:rPr sz="1600" spc="-5" dirty="0">
                <a:latin typeface="Times New Roman"/>
                <a:cs typeface="Times New Roman"/>
              </a:rPr>
              <a:t>0510:0004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spc="-5" dirty="0">
                <a:latin typeface="Times New Roman"/>
                <a:cs typeface="Times New Roman"/>
              </a:rPr>
              <a:t>0510:0005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spc="-5" dirty="0">
                <a:latin typeface="Times New Roman"/>
                <a:cs typeface="Times New Roman"/>
              </a:rPr>
              <a:t>0510:0006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47801" y="3226479"/>
            <a:ext cx="974725" cy="232727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43815" marR="5080" indent="100965">
              <a:lnSpc>
                <a:spcPts val="1800"/>
              </a:lnSpc>
              <a:spcBef>
                <a:spcPts val="260"/>
              </a:spcBef>
            </a:pPr>
            <a:r>
              <a:rPr sz="1600" spc="-5" dirty="0">
                <a:latin typeface="Times New Roman"/>
                <a:cs typeface="Times New Roman"/>
              </a:rPr>
              <a:t>ES</a:t>
            </a:r>
            <a:r>
              <a:rPr sz="1600" dirty="0">
                <a:latin typeface="Times New Roman"/>
                <a:cs typeface="Times New Roman"/>
              </a:rPr>
              <a:t> :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DI 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02A8</a:t>
            </a:r>
            <a:r>
              <a:rPr sz="1600" spc="-5" dirty="0">
                <a:latin typeface="Times New Roman"/>
                <a:cs typeface="Times New Roman"/>
              </a:rPr>
              <a:t>:</a:t>
            </a:r>
            <a:r>
              <a:rPr sz="1600" dirty="0">
                <a:latin typeface="Times New Roman"/>
                <a:cs typeface="Times New Roman"/>
              </a:rPr>
              <a:t>2</a:t>
            </a:r>
            <a:r>
              <a:rPr sz="1600" spc="-5" dirty="0">
                <a:latin typeface="Times New Roman"/>
                <a:cs typeface="Times New Roman"/>
              </a:rPr>
              <a:t>0</a:t>
            </a:r>
            <a:r>
              <a:rPr sz="1600" dirty="0">
                <a:latin typeface="Times New Roman"/>
                <a:cs typeface="Times New Roman"/>
              </a:rPr>
              <a:t>00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1600" spc="-5" dirty="0">
                <a:latin typeface="Times New Roman"/>
                <a:cs typeface="Times New Roman"/>
              </a:rPr>
              <a:t>02A8:2001</a:t>
            </a:r>
            <a:endParaRPr sz="1600">
              <a:latin typeface="Times New Roman"/>
              <a:cs typeface="Times New Roman"/>
            </a:endParaRPr>
          </a:p>
          <a:p>
            <a:pPr marL="43815">
              <a:lnSpc>
                <a:spcPct val="100000"/>
              </a:lnSpc>
              <a:spcBef>
                <a:spcPts val="480"/>
              </a:spcBef>
            </a:pPr>
            <a:r>
              <a:rPr sz="1600" spc="-5" dirty="0">
                <a:latin typeface="Times New Roman"/>
                <a:cs typeface="Times New Roman"/>
              </a:rPr>
              <a:t>02A8:2002</a:t>
            </a:r>
            <a:endParaRPr sz="1600">
              <a:latin typeface="Times New Roman"/>
              <a:cs typeface="Times New Roman"/>
            </a:endParaRPr>
          </a:p>
          <a:p>
            <a:pPr marL="43815">
              <a:lnSpc>
                <a:spcPct val="100000"/>
              </a:lnSpc>
              <a:spcBef>
                <a:spcPts val="830"/>
              </a:spcBef>
            </a:pPr>
            <a:r>
              <a:rPr sz="1600" spc="-5" dirty="0">
                <a:latin typeface="Times New Roman"/>
                <a:cs typeface="Times New Roman"/>
              </a:rPr>
              <a:t>02A8:2003</a:t>
            </a:r>
            <a:endParaRPr sz="1600">
              <a:latin typeface="Times New Roman"/>
              <a:cs typeface="Times New Roman"/>
            </a:endParaRPr>
          </a:p>
          <a:p>
            <a:pPr marL="43815">
              <a:lnSpc>
                <a:spcPct val="100000"/>
              </a:lnSpc>
              <a:spcBef>
                <a:spcPts val="480"/>
              </a:spcBef>
            </a:pPr>
            <a:r>
              <a:rPr sz="1600" spc="-5" dirty="0">
                <a:latin typeface="Times New Roman"/>
                <a:cs typeface="Times New Roman"/>
              </a:rPr>
              <a:t>02A8:2004</a:t>
            </a:r>
            <a:endParaRPr sz="1600">
              <a:latin typeface="Times New Roman"/>
              <a:cs typeface="Times New Roman"/>
            </a:endParaRPr>
          </a:p>
          <a:p>
            <a:pPr marL="43815">
              <a:lnSpc>
                <a:spcPct val="100000"/>
              </a:lnSpc>
              <a:spcBef>
                <a:spcPts val="480"/>
              </a:spcBef>
            </a:pPr>
            <a:r>
              <a:rPr sz="1600" spc="-5" dirty="0">
                <a:latin typeface="Times New Roman"/>
                <a:cs typeface="Times New Roman"/>
              </a:rPr>
              <a:t>02A8:2005</a:t>
            </a:r>
            <a:endParaRPr sz="1600">
              <a:latin typeface="Times New Roman"/>
              <a:cs typeface="Times New Roman"/>
            </a:endParaRPr>
          </a:p>
          <a:p>
            <a:pPr marL="43815">
              <a:lnSpc>
                <a:spcPct val="100000"/>
              </a:lnSpc>
              <a:spcBef>
                <a:spcPts val="130"/>
              </a:spcBef>
            </a:pPr>
            <a:r>
              <a:rPr sz="1600" spc="-5" dirty="0">
                <a:latin typeface="Times New Roman"/>
                <a:cs typeface="Times New Roman"/>
              </a:rPr>
              <a:t>02A8:2006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23736" y="5574338"/>
            <a:ext cx="113792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Source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String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114520" y="5664875"/>
            <a:ext cx="151257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Times New Roman"/>
                <a:cs typeface="Times New Roman"/>
              </a:rPr>
              <a:t>Destination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String</a:t>
            </a:r>
            <a:endParaRPr sz="1600">
              <a:latin typeface="Times New Roman"/>
              <a:cs typeface="Times New Roman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7461250" y="3276600"/>
          <a:ext cx="857250" cy="2444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294005">
                        <a:lnSpc>
                          <a:spcPts val="1739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53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294005">
                        <a:lnSpc>
                          <a:spcPts val="1739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48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294005">
                        <a:lnSpc>
                          <a:spcPts val="1739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4F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294005">
                        <a:lnSpc>
                          <a:spcPts val="1739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50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294005">
                        <a:lnSpc>
                          <a:spcPts val="1739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50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294005">
                        <a:lnSpc>
                          <a:spcPts val="1739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49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278130">
                        <a:lnSpc>
                          <a:spcPts val="163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4E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8409911" y="3303996"/>
            <a:ext cx="198120" cy="2173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5080" indent="-15875">
              <a:lnSpc>
                <a:spcPct val="1308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S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</a:t>
            </a:r>
            <a:endParaRPr sz="1600">
              <a:latin typeface="Times New Roman"/>
              <a:cs typeface="Times New Roman"/>
            </a:endParaRPr>
          </a:p>
          <a:p>
            <a:pPr marL="22225" indent="-10160">
              <a:lnSpc>
                <a:spcPct val="100000"/>
              </a:lnSpc>
              <a:spcBef>
                <a:spcPts val="830"/>
              </a:spcBef>
            </a:pPr>
            <a:r>
              <a:rPr sz="1600" dirty="0">
                <a:latin typeface="Times New Roman"/>
                <a:cs typeface="Times New Roman"/>
              </a:rPr>
              <a:t>O</a:t>
            </a:r>
            <a:endParaRPr sz="1600">
              <a:latin typeface="Times New Roman"/>
              <a:cs typeface="Times New Roman"/>
            </a:endParaRPr>
          </a:p>
          <a:p>
            <a:pPr marL="38100" marR="38735" indent="-15875">
              <a:lnSpc>
                <a:spcPts val="1800"/>
              </a:lnSpc>
              <a:spcBef>
                <a:spcPts val="775"/>
              </a:spcBef>
            </a:pPr>
            <a:r>
              <a:rPr sz="1600" dirty="0">
                <a:latin typeface="Times New Roman"/>
                <a:cs typeface="Times New Roman"/>
              </a:rPr>
              <a:t>P  P</a:t>
            </a:r>
            <a:endParaRPr sz="1600">
              <a:latin typeface="Times New Roman"/>
              <a:cs typeface="Times New Roman"/>
            </a:endParaRPr>
          </a:p>
          <a:p>
            <a:pPr marL="22225" marR="21590">
              <a:lnSpc>
                <a:spcPts val="2400"/>
              </a:lnSpc>
              <a:spcBef>
                <a:spcPts val="65"/>
              </a:spcBef>
            </a:pPr>
            <a:r>
              <a:rPr sz="1600" dirty="0">
                <a:latin typeface="Times New Roman"/>
                <a:cs typeface="Times New Roman"/>
              </a:rPr>
              <a:t>I 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53460" y="628904"/>
            <a:ext cx="303720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/>
              <a:t>String</a:t>
            </a:r>
            <a:r>
              <a:rPr sz="3200" spc="-70" dirty="0"/>
              <a:t> </a:t>
            </a:r>
            <a:r>
              <a:rPr sz="3200" spc="-5" dirty="0"/>
              <a:t>Instructions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612140" y="1167972"/>
            <a:ext cx="6442075" cy="412432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86715" indent="-374650">
              <a:lnSpc>
                <a:spcPct val="100000"/>
              </a:lnSpc>
              <a:spcBef>
                <a:spcPts val="1300"/>
              </a:spcBef>
              <a:buFont typeface="Wingdings"/>
              <a:buChar char=""/>
              <a:tabLst>
                <a:tab pos="386715" algn="l"/>
                <a:tab pos="387350" algn="l"/>
              </a:tabLst>
            </a:pPr>
            <a:r>
              <a:rPr sz="1800" spc="-5" dirty="0">
                <a:latin typeface="Times New Roman"/>
                <a:cs typeface="Times New Roman"/>
              </a:rPr>
              <a:t>SCASB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(SCASW)</a:t>
            </a:r>
            <a:endParaRPr sz="1800">
              <a:latin typeface="Times New Roman"/>
              <a:cs typeface="Times New Roman"/>
            </a:endParaRPr>
          </a:p>
          <a:p>
            <a:pPr marL="739775" marR="83185" lvl="1" indent="-253365">
              <a:lnSpc>
                <a:spcPct val="100000"/>
              </a:lnSpc>
              <a:spcBef>
                <a:spcPts val="1075"/>
              </a:spcBef>
              <a:buChar char="—"/>
              <a:tabLst>
                <a:tab pos="741680" algn="l"/>
              </a:tabLst>
            </a:pPr>
            <a:r>
              <a:rPr sz="1600" spc="-5" dirty="0">
                <a:latin typeface="Times New Roman"/>
                <a:cs typeface="Times New Roman"/>
              </a:rPr>
              <a:t>Move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byte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(word)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(AX)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at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memory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location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ES:DI; </a:t>
            </a:r>
            <a:r>
              <a:rPr sz="1600" dirty="0">
                <a:latin typeface="Times New Roman"/>
                <a:cs typeface="Times New Roman"/>
              </a:rPr>
              <a:t> update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DI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according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DF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 width </a:t>
            </a:r>
            <a:r>
              <a:rPr sz="1600" dirty="0">
                <a:latin typeface="Times New Roman"/>
                <a:cs typeface="Times New Roman"/>
              </a:rPr>
              <a:t>of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data being </a:t>
            </a:r>
            <a:r>
              <a:rPr sz="1600" dirty="0">
                <a:latin typeface="Times New Roman"/>
                <a:cs typeface="Times New Roman"/>
              </a:rPr>
              <a:t>compared</a:t>
            </a:r>
            <a:endParaRPr sz="1600">
              <a:latin typeface="Times New Roman"/>
              <a:cs typeface="Times New Roman"/>
            </a:endParaRPr>
          </a:p>
          <a:p>
            <a:pPr marL="741045" lvl="1" indent="-254635">
              <a:lnSpc>
                <a:spcPts val="1920"/>
              </a:lnSpc>
              <a:buChar char="—"/>
              <a:tabLst>
                <a:tab pos="741680" algn="l"/>
              </a:tabLst>
            </a:pPr>
            <a:r>
              <a:rPr sz="1600" dirty="0">
                <a:latin typeface="Times New Roman"/>
                <a:cs typeface="Times New Roman"/>
              </a:rPr>
              <a:t>It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modifies flags</a:t>
            </a:r>
            <a:endParaRPr sz="16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Font typeface="Times New Roman"/>
              <a:buChar char="—"/>
            </a:pPr>
            <a:endParaRPr sz="1550">
              <a:latin typeface="Times New Roman"/>
              <a:cs typeface="Times New Roman"/>
            </a:endParaRPr>
          </a:p>
          <a:p>
            <a:pPr marL="386715" indent="-374650">
              <a:lnSpc>
                <a:spcPct val="100000"/>
              </a:lnSpc>
              <a:buFont typeface="Wingdings"/>
              <a:buChar char=""/>
              <a:tabLst>
                <a:tab pos="386715" algn="l"/>
                <a:tab pos="387350" algn="l"/>
              </a:tabLst>
            </a:pPr>
            <a:r>
              <a:rPr sz="1800" spc="-5" dirty="0">
                <a:latin typeface="Times New Roman"/>
                <a:cs typeface="Times New Roman"/>
              </a:rPr>
              <a:t>LODSB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(LODSW)</a:t>
            </a:r>
            <a:endParaRPr sz="1800">
              <a:latin typeface="Times New Roman"/>
              <a:cs typeface="Times New Roman"/>
            </a:endParaRPr>
          </a:p>
          <a:p>
            <a:pPr marL="741045" lvl="1" indent="-254635">
              <a:lnSpc>
                <a:spcPct val="100000"/>
              </a:lnSpc>
              <a:spcBef>
                <a:spcPts val="1075"/>
              </a:spcBef>
              <a:buChar char="—"/>
              <a:tabLst>
                <a:tab pos="741680" algn="l"/>
              </a:tabLst>
            </a:pPr>
            <a:r>
              <a:rPr sz="1600" spc="-5" dirty="0">
                <a:latin typeface="Times New Roman"/>
                <a:cs typeface="Times New Roman"/>
              </a:rPr>
              <a:t>Load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byte </a:t>
            </a:r>
            <a:r>
              <a:rPr sz="1600" dirty="0">
                <a:latin typeface="Times New Roman"/>
                <a:cs typeface="Times New Roman"/>
              </a:rPr>
              <a:t>(word)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at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memory</a:t>
            </a:r>
            <a:r>
              <a:rPr sz="1600" spc="-5" dirty="0">
                <a:latin typeface="Times New Roman"/>
                <a:cs typeface="Times New Roman"/>
              </a:rPr>
              <a:t> location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DS:SI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-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(AX);</a:t>
            </a:r>
            <a:endParaRPr sz="1600">
              <a:latin typeface="Times New Roman"/>
              <a:cs typeface="Times New Roman"/>
            </a:endParaRPr>
          </a:p>
          <a:p>
            <a:pPr marL="739775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update</a:t>
            </a:r>
            <a:r>
              <a:rPr sz="1600" spc="-5" dirty="0">
                <a:latin typeface="Times New Roman"/>
                <a:cs typeface="Times New Roman"/>
              </a:rPr>
              <a:t> SI</a:t>
            </a:r>
            <a:r>
              <a:rPr sz="1600" dirty="0">
                <a:latin typeface="Times New Roman"/>
                <a:cs typeface="Times New Roman"/>
              </a:rPr>
              <a:t> according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DF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5" dirty="0">
                <a:latin typeface="Times New Roman"/>
                <a:cs typeface="Times New Roman"/>
              </a:rPr>
              <a:t> the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width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5" dirty="0">
                <a:latin typeface="Times New Roman"/>
                <a:cs typeface="Times New Roman"/>
              </a:rPr>
              <a:t> the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data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being </a:t>
            </a:r>
            <a:r>
              <a:rPr sz="1600" dirty="0">
                <a:latin typeface="Times New Roman"/>
                <a:cs typeface="Times New Roman"/>
              </a:rPr>
              <a:t>transferred</a:t>
            </a:r>
            <a:endParaRPr sz="1600">
              <a:latin typeface="Times New Roman"/>
              <a:cs typeface="Times New Roman"/>
            </a:endParaRPr>
          </a:p>
          <a:p>
            <a:pPr marL="741045" lvl="1" indent="-254635">
              <a:lnSpc>
                <a:spcPct val="100000"/>
              </a:lnSpc>
              <a:buChar char="—"/>
              <a:tabLst>
                <a:tab pos="741680" algn="l"/>
              </a:tabLst>
            </a:pPr>
            <a:r>
              <a:rPr sz="1600" dirty="0">
                <a:latin typeface="Times New Roman"/>
                <a:cs typeface="Times New Roman"/>
              </a:rPr>
              <a:t>It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does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not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modify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flags</a:t>
            </a:r>
            <a:endParaRPr sz="16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Font typeface="Times New Roman"/>
              <a:buChar char="—"/>
            </a:pPr>
            <a:endParaRPr sz="1950">
              <a:latin typeface="Times New Roman"/>
              <a:cs typeface="Times New Roman"/>
            </a:endParaRPr>
          </a:p>
          <a:p>
            <a:pPr marL="386715" indent="-374650">
              <a:lnSpc>
                <a:spcPct val="100000"/>
              </a:lnSpc>
              <a:buFont typeface="Wingdings"/>
              <a:buChar char=""/>
              <a:tabLst>
                <a:tab pos="386715" algn="l"/>
                <a:tab pos="387350" algn="l"/>
              </a:tabLst>
            </a:pPr>
            <a:r>
              <a:rPr sz="1800" spc="-10" dirty="0">
                <a:latin typeface="Times New Roman"/>
                <a:cs typeface="Times New Roman"/>
              </a:rPr>
              <a:t>STOSB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(STOSW)</a:t>
            </a:r>
            <a:endParaRPr sz="1800">
              <a:latin typeface="Times New Roman"/>
              <a:cs typeface="Times New Roman"/>
            </a:endParaRPr>
          </a:p>
          <a:p>
            <a:pPr marL="741045" lvl="1" indent="-254635">
              <a:lnSpc>
                <a:spcPct val="100000"/>
              </a:lnSpc>
              <a:spcBef>
                <a:spcPts val="1070"/>
              </a:spcBef>
              <a:buChar char="—"/>
              <a:tabLst>
                <a:tab pos="741680" algn="l"/>
              </a:tabLst>
            </a:pPr>
            <a:r>
              <a:rPr sz="1600" spc="-5" dirty="0">
                <a:latin typeface="Times New Roman"/>
                <a:cs typeface="Times New Roman"/>
              </a:rPr>
              <a:t>Store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byte </a:t>
            </a:r>
            <a:r>
              <a:rPr sz="1600" dirty="0">
                <a:latin typeface="Times New Roman"/>
                <a:cs typeface="Times New Roman"/>
              </a:rPr>
              <a:t>(word) at </a:t>
            </a: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spc="-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</a:t>
            </a:r>
            <a:r>
              <a:rPr sz="1600" spc="-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(AX)</a:t>
            </a:r>
            <a:r>
              <a:rPr sz="1600" spc="-5" dirty="0">
                <a:latin typeface="Times New Roman"/>
                <a:cs typeface="Times New Roman"/>
              </a:rPr>
              <a:t> to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memory </a:t>
            </a:r>
            <a:r>
              <a:rPr sz="1600" spc="-5" dirty="0">
                <a:latin typeface="Times New Roman"/>
                <a:cs typeface="Times New Roman"/>
              </a:rPr>
              <a:t>location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ES:DI;</a:t>
            </a:r>
            <a:endParaRPr sz="1600">
              <a:latin typeface="Times New Roman"/>
              <a:cs typeface="Times New Roman"/>
            </a:endParaRPr>
          </a:p>
          <a:p>
            <a:pPr marL="739775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update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DI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according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DF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 width</a:t>
            </a:r>
            <a:r>
              <a:rPr sz="1600" dirty="0">
                <a:latin typeface="Times New Roman"/>
                <a:cs typeface="Times New Roman"/>
              </a:rPr>
              <a:t> of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data being </a:t>
            </a:r>
            <a:r>
              <a:rPr sz="1600" dirty="0">
                <a:latin typeface="Times New Roman"/>
                <a:cs typeface="Times New Roman"/>
              </a:rPr>
              <a:t>transferred</a:t>
            </a:r>
            <a:endParaRPr sz="1600">
              <a:latin typeface="Times New Roman"/>
              <a:cs typeface="Times New Roman"/>
            </a:endParaRPr>
          </a:p>
          <a:p>
            <a:pPr marL="741045" lvl="1" indent="-254635">
              <a:lnSpc>
                <a:spcPct val="100000"/>
              </a:lnSpc>
              <a:buChar char="—"/>
              <a:tabLst>
                <a:tab pos="741680" algn="l"/>
              </a:tabLst>
            </a:pPr>
            <a:r>
              <a:rPr sz="1600" dirty="0">
                <a:latin typeface="Times New Roman"/>
                <a:cs typeface="Times New Roman"/>
              </a:rPr>
              <a:t>It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does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not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modify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flags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37764" y="628904"/>
            <a:ext cx="426974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/>
              <a:t>Repeat</a:t>
            </a:r>
            <a:r>
              <a:rPr sz="3200" spc="-20" dirty="0"/>
              <a:t> </a:t>
            </a:r>
            <a:r>
              <a:rPr sz="3200" spc="-5" dirty="0"/>
              <a:t>Prefix</a:t>
            </a:r>
            <a:r>
              <a:rPr sz="3200" spc="-20" dirty="0"/>
              <a:t> </a:t>
            </a:r>
            <a:r>
              <a:rPr sz="3200" spc="-5" dirty="0"/>
              <a:t>Instructions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612140" y="1200078"/>
            <a:ext cx="7021195" cy="3667760"/>
          </a:xfrm>
          <a:prstGeom prst="rect">
            <a:avLst/>
          </a:prstGeom>
        </p:spPr>
        <p:txBody>
          <a:bodyPr vert="horz" wrap="square" lIns="0" tIns="133350" rIns="0" bIns="0" rtlCol="0">
            <a:spAutoFit/>
          </a:bodyPr>
          <a:lstStyle/>
          <a:p>
            <a:pPr marL="386715" indent="-374650">
              <a:lnSpc>
                <a:spcPct val="100000"/>
              </a:lnSpc>
              <a:spcBef>
                <a:spcPts val="1050"/>
              </a:spcBef>
              <a:buFont typeface="Wingdings"/>
              <a:buChar char=""/>
              <a:tabLst>
                <a:tab pos="386715" algn="l"/>
                <a:tab pos="387350" algn="l"/>
              </a:tabLst>
            </a:pPr>
            <a:r>
              <a:rPr sz="1800" spc="-5" dirty="0">
                <a:latin typeface="Times New Roman"/>
                <a:cs typeface="Times New Roman"/>
              </a:rPr>
              <a:t>REPZ</a:t>
            </a:r>
            <a:r>
              <a:rPr sz="1800" spc="430" dirty="0">
                <a:latin typeface="Times New Roman"/>
                <a:cs typeface="Times New Roman"/>
              </a:rPr>
              <a:t> </a:t>
            </a:r>
            <a:r>
              <a:rPr sz="1800" i="1" spc="-5" dirty="0">
                <a:latin typeface="Times New Roman"/>
                <a:cs typeface="Times New Roman"/>
              </a:rPr>
              <a:t>String Instruction</a:t>
            </a:r>
            <a:endParaRPr sz="1800">
              <a:latin typeface="Times New Roman"/>
              <a:cs typeface="Times New Roman"/>
            </a:endParaRPr>
          </a:p>
          <a:p>
            <a:pPr marL="741045" lvl="1" indent="-254635">
              <a:lnSpc>
                <a:spcPct val="100000"/>
              </a:lnSpc>
              <a:spcBef>
                <a:spcPts val="844"/>
              </a:spcBef>
              <a:buChar char="—"/>
              <a:tabLst>
                <a:tab pos="741680" algn="l"/>
              </a:tabLst>
            </a:pPr>
            <a:r>
              <a:rPr sz="1600" dirty="0">
                <a:latin typeface="Times New Roman"/>
                <a:cs typeface="Times New Roman"/>
              </a:rPr>
              <a:t>Repeat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execution</a:t>
            </a:r>
            <a:r>
              <a:rPr sz="1600" dirty="0">
                <a:latin typeface="Times New Roman"/>
                <a:cs typeface="Times New Roman"/>
              </a:rPr>
              <a:t> of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string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instruction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until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CX=0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or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zero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flag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clear</a:t>
            </a:r>
            <a:endParaRPr sz="16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Font typeface="Times New Roman"/>
              <a:buChar char="—"/>
            </a:pPr>
            <a:endParaRPr sz="1950">
              <a:latin typeface="Times New Roman"/>
              <a:cs typeface="Times New Roman"/>
            </a:endParaRPr>
          </a:p>
          <a:p>
            <a:pPr marL="386715" indent="-374650">
              <a:lnSpc>
                <a:spcPct val="100000"/>
              </a:lnSpc>
              <a:buFont typeface="Wingdings"/>
              <a:buChar char=""/>
              <a:tabLst>
                <a:tab pos="386715" algn="l"/>
                <a:tab pos="387350" algn="l"/>
              </a:tabLst>
            </a:pPr>
            <a:r>
              <a:rPr sz="1800" spc="-5" dirty="0">
                <a:latin typeface="Times New Roman"/>
                <a:cs typeface="Times New Roman"/>
              </a:rPr>
              <a:t>REPNZ</a:t>
            </a:r>
            <a:r>
              <a:rPr sz="1800" spc="430" dirty="0">
                <a:latin typeface="Times New Roman"/>
                <a:cs typeface="Times New Roman"/>
              </a:rPr>
              <a:t> </a:t>
            </a:r>
            <a:r>
              <a:rPr sz="1800" i="1" spc="-5" dirty="0">
                <a:latin typeface="Times New Roman"/>
                <a:cs typeface="Times New Roman"/>
              </a:rPr>
              <a:t>String Instruction</a:t>
            </a:r>
            <a:endParaRPr sz="1800">
              <a:latin typeface="Times New Roman"/>
              <a:cs typeface="Times New Roman"/>
            </a:endParaRPr>
          </a:p>
          <a:p>
            <a:pPr marL="741045" lvl="1" indent="-254635">
              <a:lnSpc>
                <a:spcPct val="100000"/>
              </a:lnSpc>
              <a:spcBef>
                <a:spcPts val="850"/>
              </a:spcBef>
              <a:buChar char="—"/>
              <a:tabLst>
                <a:tab pos="741680" algn="l"/>
              </a:tabLst>
            </a:pPr>
            <a:r>
              <a:rPr sz="1600" dirty="0">
                <a:latin typeface="Times New Roman"/>
                <a:cs typeface="Times New Roman"/>
              </a:rPr>
              <a:t>Repeat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execution</a:t>
            </a:r>
            <a:r>
              <a:rPr sz="1600" dirty="0">
                <a:latin typeface="Times New Roman"/>
                <a:cs typeface="Times New Roman"/>
              </a:rPr>
              <a:t> of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string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instruction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until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CX=0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or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zero </a:t>
            </a:r>
            <a:r>
              <a:rPr sz="1600" spc="-5" dirty="0">
                <a:latin typeface="Times New Roman"/>
                <a:cs typeface="Times New Roman"/>
              </a:rPr>
              <a:t>flag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set</a:t>
            </a:r>
            <a:endParaRPr sz="16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Font typeface="Times New Roman"/>
              <a:buChar char="—"/>
            </a:pPr>
            <a:endParaRPr sz="1950">
              <a:latin typeface="Times New Roman"/>
              <a:cs typeface="Times New Roman"/>
            </a:endParaRPr>
          </a:p>
          <a:p>
            <a:pPr marL="386715" indent="-374650">
              <a:lnSpc>
                <a:spcPct val="100000"/>
              </a:lnSpc>
              <a:buFont typeface="Wingdings"/>
              <a:buChar char=""/>
              <a:tabLst>
                <a:tab pos="386715" algn="l"/>
                <a:tab pos="387350" algn="l"/>
              </a:tabLst>
            </a:pPr>
            <a:r>
              <a:rPr sz="1800" spc="-5" dirty="0">
                <a:latin typeface="Times New Roman"/>
                <a:cs typeface="Times New Roman"/>
              </a:rPr>
              <a:t>REPE</a:t>
            </a:r>
            <a:r>
              <a:rPr sz="1800" spc="430" dirty="0">
                <a:latin typeface="Times New Roman"/>
                <a:cs typeface="Times New Roman"/>
              </a:rPr>
              <a:t> </a:t>
            </a:r>
            <a:r>
              <a:rPr sz="1800" i="1" spc="-5" dirty="0">
                <a:latin typeface="Times New Roman"/>
                <a:cs typeface="Times New Roman"/>
              </a:rPr>
              <a:t>String Instruction</a:t>
            </a:r>
            <a:endParaRPr sz="1800">
              <a:latin typeface="Times New Roman"/>
              <a:cs typeface="Times New Roman"/>
            </a:endParaRPr>
          </a:p>
          <a:p>
            <a:pPr marL="741045" lvl="1" indent="-254635">
              <a:lnSpc>
                <a:spcPct val="100000"/>
              </a:lnSpc>
              <a:spcBef>
                <a:spcPts val="844"/>
              </a:spcBef>
              <a:buChar char="—"/>
              <a:tabLst>
                <a:tab pos="741680" algn="l"/>
              </a:tabLst>
            </a:pPr>
            <a:r>
              <a:rPr sz="1600" dirty="0">
                <a:latin typeface="Times New Roman"/>
                <a:cs typeface="Times New Roman"/>
              </a:rPr>
              <a:t>Repeat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execution</a:t>
            </a:r>
            <a:r>
              <a:rPr sz="1600" dirty="0">
                <a:latin typeface="Times New Roman"/>
                <a:cs typeface="Times New Roman"/>
              </a:rPr>
              <a:t> of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string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instruction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until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CX=0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or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zero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flag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clear</a:t>
            </a:r>
            <a:endParaRPr sz="16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buFont typeface="Times New Roman"/>
              <a:buChar char="—"/>
            </a:pPr>
            <a:endParaRPr sz="1700">
              <a:latin typeface="Times New Roman"/>
              <a:cs typeface="Times New Roman"/>
            </a:endParaRPr>
          </a:p>
          <a:p>
            <a:pPr marL="386715" indent="-374650">
              <a:lnSpc>
                <a:spcPct val="100000"/>
              </a:lnSpc>
              <a:spcBef>
                <a:spcPts val="1520"/>
              </a:spcBef>
              <a:buFont typeface="Wingdings"/>
              <a:buChar char=""/>
              <a:tabLst>
                <a:tab pos="386715" algn="l"/>
                <a:tab pos="387350" algn="l"/>
              </a:tabLst>
            </a:pPr>
            <a:r>
              <a:rPr sz="1800" spc="-5" dirty="0">
                <a:latin typeface="Times New Roman"/>
                <a:cs typeface="Times New Roman"/>
              </a:rPr>
              <a:t>REPNE</a:t>
            </a:r>
            <a:r>
              <a:rPr sz="1800" spc="430" dirty="0">
                <a:latin typeface="Times New Roman"/>
                <a:cs typeface="Times New Roman"/>
              </a:rPr>
              <a:t> </a:t>
            </a:r>
            <a:r>
              <a:rPr sz="1800" i="1" spc="-5" dirty="0">
                <a:latin typeface="Times New Roman"/>
                <a:cs typeface="Times New Roman"/>
              </a:rPr>
              <a:t>String Instruction</a:t>
            </a:r>
            <a:endParaRPr sz="1800">
              <a:latin typeface="Times New Roman"/>
              <a:cs typeface="Times New Roman"/>
            </a:endParaRPr>
          </a:p>
          <a:p>
            <a:pPr marL="741045" lvl="1" indent="-254635">
              <a:lnSpc>
                <a:spcPct val="100000"/>
              </a:lnSpc>
              <a:spcBef>
                <a:spcPts val="850"/>
              </a:spcBef>
              <a:buChar char="—"/>
              <a:tabLst>
                <a:tab pos="741680" algn="l"/>
              </a:tabLst>
            </a:pPr>
            <a:r>
              <a:rPr sz="1600" dirty="0">
                <a:latin typeface="Times New Roman"/>
                <a:cs typeface="Times New Roman"/>
              </a:rPr>
              <a:t>Repeat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execution</a:t>
            </a:r>
            <a:r>
              <a:rPr sz="1600" dirty="0">
                <a:latin typeface="Times New Roman"/>
                <a:cs typeface="Times New Roman"/>
              </a:rPr>
              <a:t> of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string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instruction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until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CX=0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or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zero </a:t>
            </a:r>
            <a:r>
              <a:rPr sz="1600" spc="-5" dirty="0">
                <a:latin typeface="Times New Roman"/>
                <a:cs typeface="Times New Roman"/>
              </a:rPr>
              <a:t>flag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set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7470773" y="6567392"/>
            <a:ext cx="476884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70"/>
              </a:lnSpc>
            </a:pPr>
            <a:r>
              <a:rPr sz="1600" b="1" spc="-5" dirty="0">
                <a:latin typeface="Arial"/>
                <a:cs typeface="Arial"/>
              </a:rPr>
              <a:t>I-39</a:t>
            </a:r>
            <a:endParaRPr sz="16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34249" y="0"/>
            <a:ext cx="67163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Loops</a:t>
            </a:r>
            <a:r>
              <a:rPr spc="-15" dirty="0"/>
              <a:t> </a:t>
            </a:r>
            <a:r>
              <a:rPr spc="-5" dirty="0"/>
              <a:t>and</a:t>
            </a:r>
            <a:r>
              <a:rPr spc="-10" dirty="0"/>
              <a:t> </a:t>
            </a:r>
            <a:r>
              <a:rPr spc="-5" dirty="0"/>
              <a:t>Conditional</a:t>
            </a:r>
            <a:r>
              <a:rPr spc="-10" dirty="0"/>
              <a:t> </a:t>
            </a:r>
            <a:r>
              <a:rPr spc="-5" dirty="0"/>
              <a:t>Jumps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6450" y="625284"/>
            <a:ext cx="8065770" cy="597852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360045">
              <a:lnSpc>
                <a:spcPts val="1939"/>
              </a:lnSpc>
              <a:spcBef>
                <a:spcPts val="345"/>
              </a:spcBef>
            </a:pPr>
            <a:r>
              <a:rPr sz="1800" b="1" spc="-5" dirty="0">
                <a:latin typeface="Arial"/>
                <a:cs typeface="Arial"/>
              </a:rPr>
              <a:t>All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loops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and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conditional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jumps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are SHORT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jumps,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i.e.,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target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must </a:t>
            </a:r>
            <a:r>
              <a:rPr sz="1800" b="1" spc="-484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be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in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range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of an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8-bit signed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displacement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(-128</a:t>
            </a:r>
            <a:r>
              <a:rPr sz="1800" b="1" dirty="0">
                <a:latin typeface="Arial"/>
                <a:cs typeface="Arial"/>
              </a:rPr>
              <a:t> to</a:t>
            </a:r>
            <a:r>
              <a:rPr sz="1800" b="1" spc="-5" dirty="0">
                <a:latin typeface="Arial"/>
                <a:cs typeface="Arial"/>
              </a:rPr>
              <a:t> +127).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Arial"/>
              <a:cs typeface="Arial"/>
            </a:endParaRPr>
          </a:p>
          <a:p>
            <a:pPr marL="12700" marR="224790">
              <a:lnSpc>
                <a:spcPts val="1939"/>
              </a:lnSpc>
            </a:pP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displacement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is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number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that,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when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added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to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85" dirty="0">
                <a:latin typeface="Arial"/>
                <a:cs typeface="Arial"/>
              </a:rPr>
              <a:t>IP,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changes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 </a:t>
            </a:r>
            <a:r>
              <a:rPr sz="1800" b="1" spc="-484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IP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to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point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at the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jump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target.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Remember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IP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is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pointing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at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next 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instruction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when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this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occurs.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Arial"/>
              <a:cs typeface="Arial"/>
            </a:endParaRPr>
          </a:p>
          <a:p>
            <a:pPr marL="12700" marR="259715">
              <a:lnSpc>
                <a:spcPts val="1939"/>
              </a:lnSpc>
            </a:pP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loop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instructions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perform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several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operations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at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one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time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but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do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not </a:t>
            </a:r>
            <a:r>
              <a:rPr sz="1800" b="1" spc="-484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change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any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flags.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050"/>
              </a:lnSpc>
              <a:spcBef>
                <a:spcPts val="1705"/>
              </a:spcBef>
            </a:pPr>
            <a:r>
              <a:rPr sz="1800" b="1" spc="-5" dirty="0">
                <a:latin typeface="Arial"/>
                <a:cs typeface="Arial"/>
              </a:rPr>
              <a:t>LOOP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decrements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CX and jumps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if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CX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is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not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zero.</a:t>
            </a:r>
            <a:endParaRPr sz="1800">
              <a:latin typeface="Arial"/>
              <a:cs typeface="Arial"/>
            </a:endParaRPr>
          </a:p>
          <a:p>
            <a:pPr marL="12700" marR="246379">
              <a:lnSpc>
                <a:spcPts val="1939"/>
              </a:lnSpc>
              <a:spcBef>
                <a:spcPts val="140"/>
              </a:spcBef>
            </a:pPr>
            <a:r>
              <a:rPr sz="1800" b="1" spc="-5" dirty="0">
                <a:latin typeface="Arial"/>
                <a:cs typeface="Arial"/>
              </a:rPr>
              <a:t>LOOPNZ or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LOOPNE</a:t>
            </a:r>
            <a:r>
              <a:rPr sz="1800" b="1" dirty="0">
                <a:latin typeface="Arial"/>
                <a:cs typeface="Arial"/>
              </a:rPr>
              <a:t> -- </a:t>
            </a:r>
            <a:r>
              <a:rPr sz="1800" b="1" spc="-5" dirty="0">
                <a:latin typeface="Arial"/>
                <a:cs typeface="Arial"/>
              </a:rPr>
              <a:t>loop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while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not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zero or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not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equal: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decrements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CX </a:t>
            </a:r>
            <a:r>
              <a:rPr sz="1800" b="1" spc="-484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and jumps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if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CX is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not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zero or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zero flag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ZF</a:t>
            </a:r>
            <a:r>
              <a:rPr sz="1800" b="1" dirty="0">
                <a:latin typeface="Arial"/>
                <a:cs typeface="Arial"/>
              </a:rPr>
              <a:t> =</a:t>
            </a:r>
            <a:r>
              <a:rPr sz="1800" b="1" spc="-5" dirty="0">
                <a:latin typeface="Arial"/>
                <a:cs typeface="Arial"/>
              </a:rPr>
              <a:t> 0.</a:t>
            </a:r>
            <a:endParaRPr sz="1800">
              <a:latin typeface="Arial"/>
              <a:cs typeface="Arial"/>
            </a:endParaRPr>
          </a:p>
          <a:p>
            <a:pPr marL="12700" marR="208915">
              <a:lnSpc>
                <a:spcPts val="1939"/>
              </a:lnSpc>
              <a:spcBef>
                <a:spcPts val="5"/>
              </a:spcBef>
            </a:pPr>
            <a:r>
              <a:rPr sz="1800" b="1" spc="-5" dirty="0">
                <a:latin typeface="Arial"/>
                <a:cs typeface="Arial"/>
              </a:rPr>
              <a:t>LOOPZ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or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LOOPE</a:t>
            </a:r>
            <a:r>
              <a:rPr sz="1800" b="1" dirty="0">
                <a:latin typeface="Arial"/>
                <a:cs typeface="Arial"/>
              </a:rPr>
              <a:t> --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loop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while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zero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or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equal: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decrements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CX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and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jumps </a:t>
            </a:r>
            <a:r>
              <a:rPr sz="1800" b="1" spc="-484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if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CX is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zero or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zero flag ZF</a:t>
            </a:r>
            <a:r>
              <a:rPr sz="1800" b="1" dirty="0">
                <a:latin typeface="Arial"/>
                <a:cs typeface="Arial"/>
              </a:rPr>
              <a:t> = </a:t>
            </a:r>
            <a:r>
              <a:rPr sz="1800" b="1" spc="-5" dirty="0">
                <a:latin typeface="Arial"/>
                <a:cs typeface="Arial"/>
              </a:rPr>
              <a:t>1.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Arial"/>
              <a:cs typeface="Arial"/>
            </a:endParaRPr>
          </a:p>
          <a:p>
            <a:pPr marL="12700" marR="5080">
              <a:lnSpc>
                <a:spcPts val="1939"/>
              </a:lnSpc>
              <a:tabLst>
                <a:tab pos="1383665" algn="l"/>
                <a:tab pos="1827530" algn="l"/>
              </a:tabLst>
            </a:pP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conditional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jump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instructions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often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follow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compare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CMP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or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TEST 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instruction.	These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two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instructions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only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affect the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FLAG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register and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not 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destination.	CMP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does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SUBtract (dest</a:t>
            </a:r>
            <a:r>
              <a:rPr sz="1800" b="1" dirty="0">
                <a:latin typeface="Arial"/>
                <a:cs typeface="Arial"/>
              </a:rPr>
              <a:t> - </a:t>
            </a:r>
            <a:r>
              <a:rPr sz="1800" b="1" spc="-5" dirty="0">
                <a:latin typeface="Arial"/>
                <a:cs typeface="Arial"/>
              </a:rPr>
              <a:t>src)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and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TEST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does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an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AND.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Arial"/>
              <a:cs typeface="Arial"/>
            </a:endParaRPr>
          </a:p>
          <a:p>
            <a:pPr marL="12700" marR="377825">
              <a:lnSpc>
                <a:spcPts val="1939"/>
              </a:lnSpc>
            </a:pPr>
            <a:r>
              <a:rPr sz="1800" b="1" spc="-5" dirty="0">
                <a:latin typeface="Arial"/>
                <a:cs typeface="Arial"/>
              </a:rPr>
              <a:t>For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example,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if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CMP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is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followed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by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JG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(jump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greater than),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then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 </a:t>
            </a:r>
            <a:r>
              <a:rPr sz="1800" b="1" spc="-484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jump is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taken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if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destination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is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greater than the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source.</a:t>
            </a:r>
            <a:endParaRPr sz="1800">
              <a:latin typeface="Arial"/>
              <a:cs typeface="Arial"/>
            </a:endParaRPr>
          </a:p>
          <a:p>
            <a:pPr marL="12700" marR="263525">
              <a:lnSpc>
                <a:spcPts val="1939"/>
              </a:lnSpc>
              <a:spcBef>
                <a:spcPts val="10"/>
              </a:spcBef>
            </a:pPr>
            <a:r>
              <a:rPr sz="1800" b="1" spc="-35" dirty="0">
                <a:latin typeface="Arial"/>
                <a:cs typeface="Arial"/>
              </a:rPr>
              <a:t>Test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is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used</a:t>
            </a:r>
            <a:r>
              <a:rPr sz="1800" b="1" dirty="0">
                <a:latin typeface="Arial"/>
                <a:cs typeface="Arial"/>
              </a:rPr>
              <a:t> to </a:t>
            </a:r>
            <a:r>
              <a:rPr sz="1800" b="1" spc="-5" dirty="0">
                <a:latin typeface="Arial"/>
                <a:cs typeface="Arial"/>
              </a:rPr>
              <a:t>see if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bit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or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bits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are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set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in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word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or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byte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such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as when </a:t>
            </a:r>
            <a:r>
              <a:rPr sz="1800" b="1" spc="-484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determining the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status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of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peripheral device.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7470773" y="6567392"/>
            <a:ext cx="476884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70"/>
              </a:lnSpc>
            </a:pPr>
            <a:r>
              <a:rPr sz="1600" b="1" spc="-5" dirty="0">
                <a:latin typeface="Arial"/>
                <a:cs typeface="Arial"/>
              </a:rPr>
              <a:t>I-40</a:t>
            </a:r>
            <a:endParaRPr sz="16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93099" y="0"/>
            <a:ext cx="423354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Conditional</a:t>
            </a:r>
            <a:r>
              <a:rPr spc="-55" dirty="0"/>
              <a:t> </a:t>
            </a:r>
            <a:r>
              <a:rPr spc="-5" dirty="0"/>
              <a:t>Jumps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42950" y="716788"/>
          <a:ext cx="7936865" cy="50425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3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88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5389">
                <a:tc>
                  <a:txBody>
                    <a:bodyPr/>
                    <a:lstStyle/>
                    <a:p>
                      <a:pPr>
                        <a:lnSpc>
                          <a:spcPts val="1814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Name/Alt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265">
                        <a:lnSpc>
                          <a:spcPts val="1814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Meaning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814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Flag</a:t>
                      </a:r>
                      <a:r>
                        <a:rPr sz="1800" b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setting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649">
                <a:tc>
                  <a:txBody>
                    <a:bodyPr/>
                    <a:lstStyle/>
                    <a:p>
                      <a:pPr>
                        <a:lnSpc>
                          <a:spcPts val="2050"/>
                        </a:lnSpc>
                        <a:spcBef>
                          <a:spcPts val="615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JE/JZ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ts val="2050"/>
                        </a:lnSpc>
                        <a:spcBef>
                          <a:spcPts val="615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Jump</a:t>
                      </a:r>
                      <a:r>
                        <a:rPr sz="18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equal/zero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2050"/>
                        </a:lnSpc>
                        <a:spcBef>
                          <a:spcPts val="615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ZF</a:t>
                      </a:r>
                      <a:r>
                        <a:rPr sz="18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18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7">
                <a:tc>
                  <a:txBody>
                    <a:bodyPr/>
                    <a:lstStyle/>
                    <a:p>
                      <a:pPr>
                        <a:lnSpc>
                          <a:spcPts val="1845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JNE/JNZ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ts val="1845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Jump</a:t>
                      </a:r>
                      <a:r>
                        <a:rPr sz="18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not</a:t>
                      </a:r>
                      <a:r>
                        <a:rPr sz="18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equal/zero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845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ZF</a:t>
                      </a:r>
                      <a:r>
                        <a:rPr sz="18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18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>
                        <a:lnSpc>
                          <a:spcPts val="1845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JL/JNGE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ts val="1845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Jump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less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than/not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greater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than or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 =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84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(SF</a:t>
                      </a:r>
                      <a:r>
                        <a:rPr sz="18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xor</a:t>
                      </a:r>
                      <a:r>
                        <a:rPr sz="18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OF)</a:t>
                      </a:r>
                      <a:r>
                        <a:rPr sz="18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18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7">
                <a:tc>
                  <a:txBody>
                    <a:bodyPr/>
                    <a:lstStyle/>
                    <a:p>
                      <a:pPr>
                        <a:lnSpc>
                          <a:spcPts val="1845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JNL/JGE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ts val="1845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Jump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not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less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than/greater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than or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 =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84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(SF</a:t>
                      </a:r>
                      <a:r>
                        <a:rPr sz="18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xor</a:t>
                      </a:r>
                      <a:r>
                        <a:rPr sz="18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OF)</a:t>
                      </a:r>
                      <a:r>
                        <a:rPr sz="18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18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>
                        <a:lnSpc>
                          <a:spcPts val="1845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JG/JNLE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ts val="1845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Jump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greater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than/not</a:t>
                      </a:r>
                      <a:r>
                        <a:rPr sz="1800" b="1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less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than or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 =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84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((SF</a:t>
                      </a:r>
                      <a:r>
                        <a:rPr sz="18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xor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OF)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or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ZF)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18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7">
                <a:tc>
                  <a:txBody>
                    <a:bodyPr/>
                    <a:lstStyle/>
                    <a:p>
                      <a:pPr>
                        <a:lnSpc>
                          <a:spcPts val="1845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JNG/JLE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ts val="1845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Jump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not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greater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than/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less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than or</a:t>
                      </a:r>
                      <a:r>
                        <a:rPr sz="1800" b="1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=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84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((SF</a:t>
                      </a:r>
                      <a:r>
                        <a:rPr sz="18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xor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OF)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or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ZF)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18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>
                        <a:lnSpc>
                          <a:spcPts val="1845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JB/JNAE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6530">
                        <a:lnSpc>
                          <a:spcPts val="1845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Jump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below/not above or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equal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845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CF</a:t>
                      </a:r>
                      <a:r>
                        <a:rPr sz="1800" b="1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18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7">
                <a:tc>
                  <a:txBody>
                    <a:bodyPr/>
                    <a:lstStyle/>
                    <a:p>
                      <a:pPr>
                        <a:lnSpc>
                          <a:spcPts val="1845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JNB/JAE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6530">
                        <a:lnSpc>
                          <a:spcPts val="1845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Jump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not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below/above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or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equal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845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CF</a:t>
                      </a:r>
                      <a:r>
                        <a:rPr sz="1800" b="1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18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>
                        <a:lnSpc>
                          <a:spcPts val="1845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JA/JNBE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6530">
                        <a:lnSpc>
                          <a:spcPts val="1845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Jump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above/not below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or equal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845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(CF</a:t>
                      </a:r>
                      <a:r>
                        <a:rPr sz="18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or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ZF)</a:t>
                      </a:r>
                      <a:r>
                        <a:rPr sz="18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18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331">
                <a:tc>
                  <a:txBody>
                    <a:bodyPr/>
                    <a:lstStyle/>
                    <a:p>
                      <a:pPr>
                        <a:lnSpc>
                          <a:spcPts val="1955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JNA/JBE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6530">
                        <a:lnSpc>
                          <a:spcPts val="1955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Jump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not above/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below or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equal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955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(CF</a:t>
                      </a:r>
                      <a:r>
                        <a:rPr sz="18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or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ZF)</a:t>
                      </a:r>
                      <a:r>
                        <a:rPr sz="18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18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331">
                <a:tc>
                  <a:txBody>
                    <a:bodyPr/>
                    <a:lstStyle/>
                    <a:p>
                      <a:pPr>
                        <a:lnSpc>
                          <a:spcPts val="2050"/>
                        </a:lnSpc>
                        <a:spcBef>
                          <a:spcPts val="765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JS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97155" marB="0"/>
                </a:tc>
                <a:tc>
                  <a:txBody>
                    <a:bodyPr/>
                    <a:lstStyle/>
                    <a:p>
                      <a:pPr marL="189230">
                        <a:lnSpc>
                          <a:spcPts val="2050"/>
                        </a:lnSpc>
                        <a:spcBef>
                          <a:spcPts val="765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Jump</a:t>
                      </a:r>
                      <a:r>
                        <a:rPr sz="18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on sign (jump negative)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97155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2050"/>
                        </a:lnSpc>
                        <a:spcBef>
                          <a:spcPts val="76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SF</a:t>
                      </a:r>
                      <a:r>
                        <a:rPr sz="18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18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97155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887">
                <a:tc>
                  <a:txBody>
                    <a:bodyPr/>
                    <a:lstStyle/>
                    <a:p>
                      <a:pPr>
                        <a:lnSpc>
                          <a:spcPts val="1845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JNS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ts val="1845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Jump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on not sign (jump positive)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84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SF</a:t>
                      </a:r>
                      <a:r>
                        <a:rPr sz="18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18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887">
                <a:tc>
                  <a:txBody>
                    <a:bodyPr/>
                    <a:lstStyle/>
                    <a:p>
                      <a:pPr>
                        <a:lnSpc>
                          <a:spcPts val="1845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JO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ts val="1845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Jump</a:t>
                      </a:r>
                      <a:r>
                        <a:rPr sz="18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on</a:t>
                      </a:r>
                      <a:r>
                        <a:rPr sz="18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overflow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845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18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18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887">
                <a:tc>
                  <a:txBody>
                    <a:bodyPr/>
                    <a:lstStyle/>
                    <a:p>
                      <a:pPr>
                        <a:lnSpc>
                          <a:spcPts val="1845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JNO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ts val="1845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Jump</a:t>
                      </a:r>
                      <a:r>
                        <a:rPr sz="18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on</a:t>
                      </a:r>
                      <a:r>
                        <a:rPr sz="18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no</a:t>
                      </a:r>
                      <a:r>
                        <a:rPr sz="18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overflow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845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18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18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6887">
                <a:tc>
                  <a:txBody>
                    <a:bodyPr/>
                    <a:lstStyle/>
                    <a:p>
                      <a:pPr>
                        <a:lnSpc>
                          <a:spcPts val="1845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JP/JPE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ts val="1845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Jump</a:t>
                      </a:r>
                      <a:r>
                        <a:rPr sz="18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parity/parity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even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84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PF</a:t>
                      </a:r>
                      <a:r>
                        <a:rPr sz="18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18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70331">
                <a:tc>
                  <a:txBody>
                    <a:bodyPr/>
                    <a:lstStyle/>
                    <a:p>
                      <a:pPr>
                        <a:lnSpc>
                          <a:spcPts val="1955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JNP/JPO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3664">
                        <a:lnSpc>
                          <a:spcPts val="1955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Jump</a:t>
                      </a:r>
                      <a:r>
                        <a:rPr sz="18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no</a:t>
                      </a:r>
                      <a:r>
                        <a:rPr sz="18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parity/parity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odd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95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PF</a:t>
                      </a:r>
                      <a:r>
                        <a:rPr sz="18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18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74582">
                <a:tc>
                  <a:txBody>
                    <a:bodyPr/>
                    <a:lstStyle/>
                    <a:p>
                      <a:pPr>
                        <a:lnSpc>
                          <a:spcPts val="2080"/>
                        </a:lnSpc>
                        <a:spcBef>
                          <a:spcPts val="765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JCXZ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97155" marB="0"/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ts val="2080"/>
                        </a:lnSpc>
                        <a:spcBef>
                          <a:spcPts val="765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Jump</a:t>
                      </a:r>
                      <a:r>
                        <a:rPr sz="18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on</a:t>
                      </a:r>
                      <a:r>
                        <a:rPr sz="18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CX</a:t>
                      </a:r>
                      <a:r>
                        <a:rPr sz="18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18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97155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2080"/>
                        </a:lnSpc>
                        <a:spcBef>
                          <a:spcPts val="76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---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97155" marB="0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96516" y="204469"/>
            <a:ext cx="594995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8254</a:t>
            </a:r>
            <a:r>
              <a:rPr spc="-30" dirty="0"/>
              <a:t> </a:t>
            </a:r>
            <a:r>
              <a:rPr spc="-5" dirty="0"/>
              <a:t>Internal</a:t>
            </a:r>
            <a:r>
              <a:rPr spc="-15" dirty="0"/>
              <a:t> </a:t>
            </a:r>
            <a:r>
              <a:rPr spc="-5" dirty="0"/>
              <a:t>Architecture</a:t>
            </a:r>
          </a:p>
        </p:txBody>
      </p:sp>
      <p:sp>
        <p:nvSpPr>
          <p:cNvPr id="3" name="object 3"/>
          <p:cNvSpPr/>
          <p:nvPr/>
        </p:nvSpPr>
        <p:spPr>
          <a:xfrm>
            <a:off x="2990850" y="4806950"/>
            <a:ext cx="990600" cy="1295400"/>
          </a:xfrm>
          <a:custGeom>
            <a:avLst/>
            <a:gdLst/>
            <a:ahLst/>
            <a:cxnLst/>
            <a:rect l="l" t="t" r="r" b="b"/>
            <a:pathLst>
              <a:path w="990600" h="1295400">
                <a:moveTo>
                  <a:pt x="0" y="0"/>
                </a:moveTo>
                <a:lnTo>
                  <a:pt x="990600" y="0"/>
                </a:lnTo>
                <a:lnTo>
                  <a:pt x="9906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89100" y="1576388"/>
            <a:ext cx="1295400" cy="533400"/>
          </a:xfrm>
          <a:custGeom>
            <a:avLst/>
            <a:gdLst/>
            <a:ahLst/>
            <a:cxnLst/>
            <a:rect l="l" t="t" r="r" b="b"/>
            <a:pathLst>
              <a:path w="1295400" h="533400">
                <a:moveTo>
                  <a:pt x="0" y="266700"/>
                </a:moveTo>
                <a:lnTo>
                  <a:pt x="259079" y="0"/>
                </a:lnTo>
                <a:lnTo>
                  <a:pt x="259079" y="133350"/>
                </a:lnTo>
                <a:lnTo>
                  <a:pt x="1036319" y="133350"/>
                </a:lnTo>
                <a:lnTo>
                  <a:pt x="1036319" y="0"/>
                </a:lnTo>
                <a:lnTo>
                  <a:pt x="1295400" y="266700"/>
                </a:lnTo>
                <a:lnTo>
                  <a:pt x="1036319" y="533400"/>
                </a:lnTo>
                <a:lnTo>
                  <a:pt x="1036319" y="400050"/>
                </a:lnTo>
                <a:lnTo>
                  <a:pt x="259079" y="400050"/>
                </a:lnTo>
                <a:lnTo>
                  <a:pt x="259079" y="533400"/>
                </a:lnTo>
                <a:lnTo>
                  <a:pt x="0" y="26670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260409" y="1669605"/>
            <a:ext cx="152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Times New Roman"/>
                <a:cs typeface="Times New Roman"/>
              </a:rPr>
              <a:t>8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72200" y="1143000"/>
            <a:ext cx="990600" cy="1295400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230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</a:pPr>
            <a:r>
              <a:rPr sz="2000" b="1" spc="-5" dirty="0">
                <a:latin typeface="Times New Roman"/>
                <a:cs typeface="Times New Roman"/>
              </a:rPr>
              <a:t>Counter</a:t>
            </a:r>
            <a:endParaRPr sz="2000">
              <a:latin typeface="Times New Roman"/>
              <a:cs typeface="Times New Roman"/>
            </a:endParaRPr>
          </a:p>
          <a:p>
            <a:pPr marR="6985" algn="ctr">
              <a:lnSpc>
                <a:spcPct val="100000"/>
              </a:lnSpc>
            </a:pPr>
            <a:r>
              <a:rPr sz="2000" b="1" spc="-5" dirty="0">
                <a:latin typeface="Times New Roman"/>
                <a:cs typeface="Times New Roman"/>
              </a:rPr>
              <a:t>=0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96012" y="2971800"/>
            <a:ext cx="990600" cy="1295400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2150">
              <a:latin typeface="Times New Roman"/>
              <a:cs typeface="Times New Roman"/>
            </a:endParaRPr>
          </a:p>
          <a:p>
            <a:pPr marR="28575" algn="ctr">
              <a:lnSpc>
                <a:spcPct val="100000"/>
              </a:lnSpc>
            </a:pPr>
            <a:r>
              <a:rPr sz="2000" b="1" spc="-5" dirty="0">
                <a:latin typeface="Times New Roman"/>
                <a:cs typeface="Times New Roman"/>
              </a:rPr>
              <a:t>Counter</a:t>
            </a:r>
            <a:endParaRPr sz="2000">
              <a:latin typeface="Times New Roman"/>
              <a:cs typeface="Times New Roman"/>
            </a:endParaRPr>
          </a:p>
          <a:p>
            <a:pPr marR="29209" algn="ctr">
              <a:lnSpc>
                <a:spcPct val="100000"/>
              </a:lnSpc>
            </a:pPr>
            <a:r>
              <a:rPr sz="2000" b="1" spc="-5" dirty="0">
                <a:latin typeface="Times New Roman"/>
                <a:cs typeface="Times New Roman"/>
              </a:rPr>
              <a:t>=1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96012" y="4759325"/>
            <a:ext cx="990600" cy="1295400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23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000" b="1" spc="-5" dirty="0">
                <a:latin typeface="Times New Roman"/>
                <a:cs typeface="Times New Roman"/>
              </a:rPr>
              <a:t>Counter</a:t>
            </a: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000" b="1" spc="-5" dirty="0">
                <a:latin typeface="Times New Roman"/>
                <a:cs typeface="Times New Roman"/>
              </a:rPr>
              <a:t>=2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949700" y="831850"/>
            <a:ext cx="2218055" cy="6032500"/>
            <a:chOff x="3949700" y="831850"/>
            <a:chExt cx="2218055" cy="6032500"/>
          </a:xfrm>
        </p:grpSpPr>
        <p:sp>
          <p:nvSpPr>
            <p:cNvPr id="10" name="object 10"/>
            <p:cNvSpPr/>
            <p:nvPr/>
          </p:nvSpPr>
          <p:spPr>
            <a:xfrm>
              <a:off x="4935537" y="838200"/>
              <a:ext cx="322580" cy="6019800"/>
            </a:xfrm>
            <a:custGeom>
              <a:avLst/>
              <a:gdLst/>
              <a:ahLst/>
              <a:cxnLst/>
              <a:rect l="l" t="t" r="r" b="b"/>
              <a:pathLst>
                <a:path w="322579" h="6019800">
                  <a:moveTo>
                    <a:pt x="322262" y="0"/>
                  </a:moveTo>
                  <a:lnTo>
                    <a:pt x="0" y="0"/>
                  </a:lnTo>
                  <a:lnTo>
                    <a:pt x="0" y="6019800"/>
                  </a:lnTo>
                  <a:lnTo>
                    <a:pt x="322262" y="6019800"/>
                  </a:lnTo>
                  <a:lnTo>
                    <a:pt x="322262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935537" y="838200"/>
              <a:ext cx="322580" cy="6019800"/>
            </a:xfrm>
            <a:custGeom>
              <a:avLst/>
              <a:gdLst/>
              <a:ahLst/>
              <a:cxnLst/>
              <a:rect l="l" t="t" r="r" b="b"/>
              <a:pathLst>
                <a:path w="322579" h="6019800">
                  <a:moveTo>
                    <a:pt x="0" y="0"/>
                  </a:moveTo>
                  <a:lnTo>
                    <a:pt x="322262" y="0"/>
                  </a:lnTo>
                  <a:lnTo>
                    <a:pt x="322262" y="6019800"/>
                  </a:lnTo>
                  <a:lnTo>
                    <a:pt x="0" y="60198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992562" y="1676400"/>
              <a:ext cx="914400" cy="304800"/>
            </a:xfrm>
            <a:custGeom>
              <a:avLst/>
              <a:gdLst/>
              <a:ahLst/>
              <a:cxnLst/>
              <a:rect l="l" t="t" r="r" b="b"/>
              <a:pathLst>
                <a:path w="914400" h="304800">
                  <a:moveTo>
                    <a:pt x="731520" y="0"/>
                  </a:moveTo>
                  <a:lnTo>
                    <a:pt x="731520" y="76200"/>
                  </a:lnTo>
                  <a:lnTo>
                    <a:pt x="182880" y="76200"/>
                  </a:lnTo>
                  <a:lnTo>
                    <a:pt x="182880" y="0"/>
                  </a:lnTo>
                  <a:lnTo>
                    <a:pt x="0" y="152400"/>
                  </a:lnTo>
                  <a:lnTo>
                    <a:pt x="182880" y="304800"/>
                  </a:lnTo>
                  <a:lnTo>
                    <a:pt x="182880" y="228600"/>
                  </a:lnTo>
                  <a:lnTo>
                    <a:pt x="731520" y="228600"/>
                  </a:lnTo>
                  <a:lnTo>
                    <a:pt x="731520" y="304800"/>
                  </a:lnTo>
                  <a:lnTo>
                    <a:pt x="914400" y="152400"/>
                  </a:lnTo>
                  <a:lnTo>
                    <a:pt x="731520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992562" y="1676400"/>
              <a:ext cx="914400" cy="304800"/>
            </a:xfrm>
            <a:custGeom>
              <a:avLst/>
              <a:gdLst/>
              <a:ahLst/>
              <a:cxnLst/>
              <a:rect l="l" t="t" r="r" b="b"/>
              <a:pathLst>
                <a:path w="914400" h="304800">
                  <a:moveTo>
                    <a:pt x="0" y="152400"/>
                  </a:moveTo>
                  <a:lnTo>
                    <a:pt x="182880" y="0"/>
                  </a:lnTo>
                  <a:lnTo>
                    <a:pt x="182880" y="76200"/>
                  </a:lnTo>
                  <a:lnTo>
                    <a:pt x="731520" y="76200"/>
                  </a:lnTo>
                  <a:lnTo>
                    <a:pt x="731520" y="0"/>
                  </a:lnTo>
                  <a:lnTo>
                    <a:pt x="914400" y="152400"/>
                  </a:lnTo>
                  <a:lnTo>
                    <a:pt x="731520" y="304800"/>
                  </a:lnTo>
                  <a:lnTo>
                    <a:pt x="731520" y="228600"/>
                  </a:lnTo>
                  <a:lnTo>
                    <a:pt x="182880" y="228600"/>
                  </a:lnTo>
                  <a:lnTo>
                    <a:pt x="182880" y="304800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246687" y="1676400"/>
              <a:ext cx="914400" cy="304800"/>
            </a:xfrm>
            <a:custGeom>
              <a:avLst/>
              <a:gdLst/>
              <a:ahLst/>
              <a:cxnLst/>
              <a:rect l="l" t="t" r="r" b="b"/>
              <a:pathLst>
                <a:path w="914400" h="304800">
                  <a:moveTo>
                    <a:pt x="731520" y="0"/>
                  </a:moveTo>
                  <a:lnTo>
                    <a:pt x="731520" y="76200"/>
                  </a:lnTo>
                  <a:lnTo>
                    <a:pt x="182880" y="76200"/>
                  </a:lnTo>
                  <a:lnTo>
                    <a:pt x="182880" y="0"/>
                  </a:lnTo>
                  <a:lnTo>
                    <a:pt x="0" y="152400"/>
                  </a:lnTo>
                  <a:lnTo>
                    <a:pt x="182880" y="304800"/>
                  </a:lnTo>
                  <a:lnTo>
                    <a:pt x="182880" y="228600"/>
                  </a:lnTo>
                  <a:lnTo>
                    <a:pt x="731520" y="228600"/>
                  </a:lnTo>
                  <a:lnTo>
                    <a:pt x="731520" y="304800"/>
                  </a:lnTo>
                  <a:lnTo>
                    <a:pt x="914400" y="152400"/>
                  </a:lnTo>
                  <a:lnTo>
                    <a:pt x="731520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246687" y="1676400"/>
              <a:ext cx="914400" cy="304800"/>
            </a:xfrm>
            <a:custGeom>
              <a:avLst/>
              <a:gdLst/>
              <a:ahLst/>
              <a:cxnLst/>
              <a:rect l="l" t="t" r="r" b="b"/>
              <a:pathLst>
                <a:path w="914400" h="304800">
                  <a:moveTo>
                    <a:pt x="0" y="152400"/>
                  </a:moveTo>
                  <a:lnTo>
                    <a:pt x="182880" y="0"/>
                  </a:lnTo>
                  <a:lnTo>
                    <a:pt x="182880" y="76200"/>
                  </a:lnTo>
                  <a:lnTo>
                    <a:pt x="731520" y="76200"/>
                  </a:lnTo>
                  <a:lnTo>
                    <a:pt x="731520" y="0"/>
                  </a:lnTo>
                  <a:lnTo>
                    <a:pt x="914400" y="152400"/>
                  </a:lnTo>
                  <a:lnTo>
                    <a:pt x="731520" y="304800"/>
                  </a:lnTo>
                  <a:lnTo>
                    <a:pt x="731520" y="228600"/>
                  </a:lnTo>
                  <a:lnTo>
                    <a:pt x="182880" y="228600"/>
                  </a:lnTo>
                  <a:lnTo>
                    <a:pt x="182880" y="304800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246687" y="3505200"/>
              <a:ext cx="914400" cy="304800"/>
            </a:xfrm>
            <a:custGeom>
              <a:avLst/>
              <a:gdLst/>
              <a:ahLst/>
              <a:cxnLst/>
              <a:rect l="l" t="t" r="r" b="b"/>
              <a:pathLst>
                <a:path w="914400" h="304800">
                  <a:moveTo>
                    <a:pt x="731520" y="0"/>
                  </a:moveTo>
                  <a:lnTo>
                    <a:pt x="731520" y="76200"/>
                  </a:lnTo>
                  <a:lnTo>
                    <a:pt x="182880" y="76200"/>
                  </a:lnTo>
                  <a:lnTo>
                    <a:pt x="182880" y="0"/>
                  </a:lnTo>
                  <a:lnTo>
                    <a:pt x="0" y="152400"/>
                  </a:lnTo>
                  <a:lnTo>
                    <a:pt x="182880" y="304800"/>
                  </a:lnTo>
                  <a:lnTo>
                    <a:pt x="182880" y="228600"/>
                  </a:lnTo>
                  <a:lnTo>
                    <a:pt x="731520" y="228600"/>
                  </a:lnTo>
                  <a:lnTo>
                    <a:pt x="731520" y="304800"/>
                  </a:lnTo>
                  <a:lnTo>
                    <a:pt x="914400" y="152400"/>
                  </a:lnTo>
                  <a:lnTo>
                    <a:pt x="731520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246687" y="3505200"/>
              <a:ext cx="914400" cy="304800"/>
            </a:xfrm>
            <a:custGeom>
              <a:avLst/>
              <a:gdLst/>
              <a:ahLst/>
              <a:cxnLst/>
              <a:rect l="l" t="t" r="r" b="b"/>
              <a:pathLst>
                <a:path w="914400" h="304800">
                  <a:moveTo>
                    <a:pt x="0" y="152400"/>
                  </a:moveTo>
                  <a:lnTo>
                    <a:pt x="182880" y="0"/>
                  </a:lnTo>
                  <a:lnTo>
                    <a:pt x="182880" y="76200"/>
                  </a:lnTo>
                  <a:lnTo>
                    <a:pt x="731520" y="76200"/>
                  </a:lnTo>
                  <a:lnTo>
                    <a:pt x="731520" y="0"/>
                  </a:lnTo>
                  <a:lnTo>
                    <a:pt x="914400" y="152400"/>
                  </a:lnTo>
                  <a:lnTo>
                    <a:pt x="731520" y="304800"/>
                  </a:lnTo>
                  <a:lnTo>
                    <a:pt x="731520" y="228600"/>
                  </a:lnTo>
                  <a:lnTo>
                    <a:pt x="182880" y="228600"/>
                  </a:lnTo>
                  <a:lnTo>
                    <a:pt x="182880" y="304800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246687" y="5257800"/>
              <a:ext cx="914400" cy="304800"/>
            </a:xfrm>
            <a:custGeom>
              <a:avLst/>
              <a:gdLst/>
              <a:ahLst/>
              <a:cxnLst/>
              <a:rect l="l" t="t" r="r" b="b"/>
              <a:pathLst>
                <a:path w="914400" h="304800">
                  <a:moveTo>
                    <a:pt x="731520" y="0"/>
                  </a:moveTo>
                  <a:lnTo>
                    <a:pt x="731520" y="76200"/>
                  </a:lnTo>
                  <a:lnTo>
                    <a:pt x="182880" y="76200"/>
                  </a:lnTo>
                  <a:lnTo>
                    <a:pt x="182880" y="0"/>
                  </a:lnTo>
                  <a:lnTo>
                    <a:pt x="0" y="152400"/>
                  </a:lnTo>
                  <a:lnTo>
                    <a:pt x="182880" y="304800"/>
                  </a:lnTo>
                  <a:lnTo>
                    <a:pt x="182880" y="228600"/>
                  </a:lnTo>
                  <a:lnTo>
                    <a:pt x="731520" y="228600"/>
                  </a:lnTo>
                  <a:lnTo>
                    <a:pt x="731520" y="304800"/>
                  </a:lnTo>
                  <a:lnTo>
                    <a:pt x="914400" y="152400"/>
                  </a:lnTo>
                  <a:lnTo>
                    <a:pt x="731520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246687" y="5257800"/>
              <a:ext cx="914400" cy="304800"/>
            </a:xfrm>
            <a:custGeom>
              <a:avLst/>
              <a:gdLst/>
              <a:ahLst/>
              <a:cxnLst/>
              <a:rect l="l" t="t" r="r" b="b"/>
              <a:pathLst>
                <a:path w="914400" h="304800">
                  <a:moveTo>
                    <a:pt x="0" y="152400"/>
                  </a:moveTo>
                  <a:lnTo>
                    <a:pt x="182880" y="0"/>
                  </a:lnTo>
                  <a:lnTo>
                    <a:pt x="182880" y="76200"/>
                  </a:lnTo>
                  <a:lnTo>
                    <a:pt x="731520" y="76200"/>
                  </a:lnTo>
                  <a:lnTo>
                    <a:pt x="731520" y="0"/>
                  </a:lnTo>
                  <a:lnTo>
                    <a:pt x="914400" y="152400"/>
                  </a:lnTo>
                  <a:lnTo>
                    <a:pt x="731520" y="304800"/>
                  </a:lnTo>
                  <a:lnTo>
                    <a:pt x="731520" y="228600"/>
                  </a:lnTo>
                  <a:lnTo>
                    <a:pt x="182880" y="228600"/>
                  </a:lnTo>
                  <a:lnTo>
                    <a:pt x="182880" y="304800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956050" y="5218107"/>
              <a:ext cx="990600" cy="421005"/>
            </a:xfrm>
            <a:custGeom>
              <a:avLst/>
              <a:gdLst/>
              <a:ahLst/>
              <a:cxnLst/>
              <a:rect l="l" t="t" r="r" b="b"/>
              <a:pathLst>
                <a:path w="990600" h="421004">
                  <a:moveTo>
                    <a:pt x="247650" y="0"/>
                  </a:moveTo>
                  <a:lnTo>
                    <a:pt x="0" y="210350"/>
                  </a:lnTo>
                  <a:lnTo>
                    <a:pt x="247650" y="420687"/>
                  </a:lnTo>
                  <a:lnTo>
                    <a:pt x="247650" y="315518"/>
                  </a:lnTo>
                  <a:lnTo>
                    <a:pt x="990600" y="315518"/>
                  </a:lnTo>
                  <a:lnTo>
                    <a:pt x="990600" y="105181"/>
                  </a:lnTo>
                  <a:lnTo>
                    <a:pt x="247650" y="105181"/>
                  </a:lnTo>
                  <a:lnTo>
                    <a:pt x="247650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956050" y="5218107"/>
              <a:ext cx="990600" cy="421005"/>
            </a:xfrm>
            <a:custGeom>
              <a:avLst/>
              <a:gdLst/>
              <a:ahLst/>
              <a:cxnLst/>
              <a:rect l="l" t="t" r="r" b="b"/>
              <a:pathLst>
                <a:path w="990600" h="421004">
                  <a:moveTo>
                    <a:pt x="0" y="210350"/>
                  </a:moveTo>
                  <a:lnTo>
                    <a:pt x="247650" y="0"/>
                  </a:lnTo>
                  <a:lnTo>
                    <a:pt x="247650" y="105181"/>
                  </a:lnTo>
                  <a:lnTo>
                    <a:pt x="990600" y="105181"/>
                  </a:lnTo>
                  <a:lnTo>
                    <a:pt x="990600" y="315518"/>
                  </a:lnTo>
                  <a:lnTo>
                    <a:pt x="247650" y="315518"/>
                  </a:lnTo>
                  <a:lnTo>
                    <a:pt x="247650" y="420687"/>
                  </a:lnTo>
                  <a:lnTo>
                    <a:pt x="0" y="21035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990850" y="4806950"/>
            <a:ext cx="990600" cy="1295400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vert="horz" wrap="square" lIns="0" tIns="138430" rIns="0" bIns="0" rtlCol="0">
            <a:spAutoFit/>
          </a:bodyPr>
          <a:lstStyle/>
          <a:p>
            <a:pPr marL="51435" marR="28575" algn="ctr">
              <a:lnSpc>
                <a:spcPct val="100000"/>
              </a:lnSpc>
              <a:spcBef>
                <a:spcPts val="1090"/>
              </a:spcBef>
            </a:pPr>
            <a:r>
              <a:rPr sz="2000" b="1" spc="-10" dirty="0">
                <a:latin typeface="Times New Roman"/>
                <a:cs typeface="Times New Roman"/>
              </a:rPr>
              <a:t>Control </a:t>
            </a:r>
            <a:r>
              <a:rPr sz="2000" b="1" spc="-484" dirty="0">
                <a:latin typeface="Times New Roman"/>
                <a:cs typeface="Times New Roman"/>
              </a:rPr>
              <a:t> </a:t>
            </a:r>
            <a:r>
              <a:rPr sz="2000" b="1" spc="-30" dirty="0">
                <a:latin typeface="Times New Roman"/>
                <a:cs typeface="Times New Roman"/>
              </a:rPr>
              <a:t>Word 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R</a:t>
            </a:r>
            <a:r>
              <a:rPr sz="2000" b="1" spc="-5" dirty="0">
                <a:latin typeface="Times New Roman"/>
                <a:cs typeface="Times New Roman"/>
              </a:rPr>
              <a:t>egister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990850" y="3019425"/>
            <a:ext cx="1008380" cy="1295400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vert="horz" wrap="square" lIns="0" tIns="97155" rIns="0" bIns="0" rtlCol="0">
            <a:spAutoFit/>
          </a:bodyPr>
          <a:lstStyle/>
          <a:p>
            <a:pPr marL="211454" marR="156210" indent="-2540" algn="just">
              <a:lnSpc>
                <a:spcPct val="100000"/>
              </a:lnSpc>
              <a:spcBef>
                <a:spcPts val="765"/>
              </a:spcBef>
            </a:pPr>
            <a:r>
              <a:rPr sz="2000" b="1" spc="-10" dirty="0">
                <a:latin typeface="Times New Roman"/>
                <a:cs typeface="Times New Roman"/>
              </a:rPr>
              <a:t>R</a:t>
            </a:r>
            <a:r>
              <a:rPr sz="2000" b="1" spc="-5" dirty="0">
                <a:latin typeface="Times New Roman"/>
                <a:cs typeface="Times New Roman"/>
              </a:rPr>
              <a:t>ead/  </a:t>
            </a:r>
            <a:r>
              <a:rPr sz="2000" b="1" spc="-45" dirty="0">
                <a:latin typeface="Times New Roman"/>
                <a:cs typeface="Times New Roman"/>
              </a:rPr>
              <a:t>W</a:t>
            </a:r>
            <a:r>
              <a:rPr sz="2000" b="1" spc="-5" dirty="0">
                <a:latin typeface="Times New Roman"/>
                <a:cs typeface="Times New Roman"/>
              </a:rPr>
              <a:t>rite  Logic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990850" y="1190625"/>
            <a:ext cx="984250" cy="1295400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 marL="148590" marR="123189" indent="91440" algn="just">
              <a:lnSpc>
                <a:spcPct val="100000"/>
              </a:lnSpc>
              <a:spcBef>
                <a:spcPts val="990"/>
              </a:spcBef>
            </a:pPr>
            <a:r>
              <a:rPr sz="2000" b="1" spc="-5" dirty="0">
                <a:latin typeface="Times New Roman"/>
                <a:cs typeface="Times New Roman"/>
              </a:rPr>
              <a:t>Data </a:t>
            </a:r>
            <a:r>
              <a:rPr sz="2000" b="1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Bus </a:t>
            </a:r>
            <a:r>
              <a:rPr sz="2000" b="1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B</a:t>
            </a:r>
            <a:r>
              <a:rPr sz="2000" b="1" spc="-10" dirty="0">
                <a:latin typeface="Times New Roman"/>
                <a:cs typeface="Times New Roman"/>
              </a:rPr>
              <a:t>u</a:t>
            </a:r>
            <a:r>
              <a:rPr sz="2000" b="1" spc="-5" dirty="0">
                <a:latin typeface="Times New Roman"/>
                <a:cs typeface="Times New Roman"/>
              </a:rPr>
              <a:t>ffer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7162802" y="1308093"/>
            <a:ext cx="685800" cy="127000"/>
            <a:chOff x="7162802" y="1308093"/>
            <a:chExt cx="685800" cy="127000"/>
          </a:xfrm>
        </p:grpSpPr>
        <p:sp>
          <p:nvSpPr>
            <p:cNvPr id="26" name="object 26"/>
            <p:cNvSpPr/>
            <p:nvPr/>
          </p:nvSpPr>
          <p:spPr>
            <a:xfrm>
              <a:off x="7277099" y="1371599"/>
              <a:ext cx="571500" cy="0"/>
            </a:xfrm>
            <a:custGeom>
              <a:avLst/>
              <a:gdLst/>
              <a:ahLst/>
              <a:cxnLst/>
              <a:rect l="l" t="t" r="r" b="b"/>
              <a:pathLst>
                <a:path w="571500">
                  <a:moveTo>
                    <a:pt x="5715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162802" y="1308093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127000" y="0"/>
                  </a:moveTo>
                  <a:lnTo>
                    <a:pt x="0" y="63500"/>
                  </a:lnTo>
                  <a:lnTo>
                    <a:pt x="127000" y="127000"/>
                  </a:lnTo>
                  <a:lnTo>
                    <a:pt x="127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7156447" y="1690387"/>
            <a:ext cx="692150" cy="127000"/>
            <a:chOff x="7156447" y="1690387"/>
            <a:chExt cx="692150" cy="127000"/>
          </a:xfrm>
        </p:grpSpPr>
        <p:sp>
          <p:nvSpPr>
            <p:cNvPr id="29" name="object 29"/>
            <p:cNvSpPr/>
            <p:nvPr/>
          </p:nvSpPr>
          <p:spPr>
            <a:xfrm>
              <a:off x="7270750" y="1752599"/>
              <a:ext cx="571500" cy="1905"/>
            </a:xfrm>
            <a:custGeom>
              <a:avLst/>
              <a:gdLst/>
              <a:ahLst/>
              <a:cxnLst/>
              <a:rect l="l" t="t" r="r" b="b"/>
              <a:pathLst>
                <a:path w="571500" h="1905">
                  <a:moveTo>
                    <a:pt x="571500" y="0"/>
                  </a:moveTo>
                  <a:lnTo>
                    <a:pt x="0" y="132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156447" y="1690387"/>
              <a:ext cx="127635" cy="127000"/>
            </a:xfrm>
            <a:custGeom>
              <a:avLst/>
              <a:gdLst/>
              <a:ahLst/>
              <a:cxnLst/>
              <a:rect l="l" t="t" r="r" b="b"/>
              <a:pathLst>
                <a:path w="127634" h="127000">
                  <a:moveTo>
                    <a:pt x="126847" y="0"/>
                  </a:moveTo>
                  <a:lnTo>
                    <a:pt x="0" y="63804"/>
                  </a:lnTo>
                  <a:lnTo>
                    <a:pt x="127152" y="127000"/>
                  </a:lnTo>
                  <a:lnTo>
                    <a:pt x="12684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7162800" y="2070093"/>
            <a:ext cx="685800" cy="127000"/>
            <a:chOff x="7162800" y="2070093"/>
            <a:chExt cx="685800" cy="127000"/>
          </a:xfrm>
        </p:grpSpPr>
        <p:sp>
          <p:nvSpPr>
            <p:cNvPr id="32" name="object 32"/>
            <p:cNvSpPr/>
            <p:nvPr/>
          </p:nvSpPr>
          <p:spPr>
            <a:xfrm>
              <a:off x="7162800" y="2133599"/>
              <a:ext cx="571500" cy="0"/>
            </a:xfrm>
            <a:custGeom>
              <a:avLst/>
              <a:gdLst/>
              <a:ahLst/>
              <a:cxnLst/>
              <a:rect l="l" t="t" r="r" b="b"/>
              <a:pathLst>
                <a:path w="571500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721602" y="2070093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0" y="0"/>
                  </a:moveTo>
                  <a:lnTo>
                    <a:pt x="0" y="127000"/>
                  </a:lnTo>
                  <a:lnTo>
                    <a:pt x="127000" y="63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7175502" y="3171818"/>
            <a:ext cx="685800" cy="127000"/>
            <a:chOff x="7175502" y="3171818"/>
            <a:chExt cx="685800" cy="127000"/>
          </a:xfrm>
        </p:grpSpPr>
        <p:sp>
          <p:nvSpPr>
            <p:cNvPr id="35" name="object 35"/>
            <p:cNvSpPr/>
            <p:nvPr/>
          </p:nvSpPr>
          <p:spPr>
            <a:xfrm>
              <a:off x="7289799" y="3235324"/>
              <a:ext cx="571500" cy="0"/>
            </a:xfrm>
            <a:custGeom>
              <a:avLst/>
              <a:gdLst/>
              <a:ahLst/>
              <a:cxnLst/>
              <a:rect l="l" t="t" r="r" b="b"/>
              <a:pathLst>
                <a:path w="571500">
                  <a:moveTo>
                    <a:pt x="5715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175502" y="3171818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127000" y="0"/>
                  </a:moveTo>
                  <a:lnTo>
                    <a:pt x="0" y="63500"/>
                  </a:lnTo>
                  <a:lnTo>
                    <a:pt x="127000" y="127000"/>
                  </a:lnTo>
                  <a:lnTo>
                    <a:pt x="127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7169147" y="3554112"/>
            <a:ext cx="692150" cy="127000"/>
            <a:chOff x="7169147" y="3554112"/>
            <a:chExt cx="692150" cy="127000"/>
          </a:xfrm>
        </p:grpSpPr>
        <p:sp>
          <p:nvSpPr>
            <p:cNvPr id="38" name="object 38"/>
            <p:cNvSpPr/>
            <p:nvPr/>
          </p:nvSpPr>
          <p:spPr>
            <a:xfrm>
              <a:off x="7283450" y="3616325"/>
              <a:ext cx="571500" cy="1905"/>
            </a:xfrm>
            <a:custGeom>
              <a:avLst/>
              <a:gdLst/>
              <a:ahLst/>
              <a:cxnLst/>
              <a:rect l="l" t="t" r="r" b="b"/>
              <a:pathLst>
                <a:path w="571500" h="1904">
                  <a:moveTo>
                    <a:pt x="571500" y="0"/>
                  </a:moveTo>
                  <a:lnTo>
                    <a:pt x="0" y="132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169147" y="3554112"/>
              <a:ext cx="127635" cy="127000"/>
            </a:xfrm>
            <a:custGeom>
              <a:avLst/>
              <a:gdLst/>
              <a:ahLst/>
              <a:cxnLst/>
              <a:rect l="l" t="t" r="r" b="b"/>
              <a:pathLst>
                <a:path w="127634" h="127000">
                  <a:moveTo>
                    <a:pt x="126847" y="0"/>
                  </a:moveTo>
                  <a:lnTo>
                    <a:pt x="0" y="63804"/>
                  </a:lnTo>
                  <a:lnTo>
                    <a:pt x="127152" y="127000"/>
                  </a:lnTo>
                  <a:lnTo>
                    <a:pt x="12684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" name="object 40"/>
          <p:cNvGrpSpPr/>
          <p:nvPr/>
        </p:nvGrpSpPr>
        <p:grpSpPr>
          <a:xfrm>
            <a:off x="7175500" y="3933818"/>
            <a:ext cx="685800" cy="127000"/>
            <a:chOff x="7175500" y="3933818"/>
            <a:chExt cx="685800" cy="127000"/>
          </a:xfrm>
        </p:grpSpPr>
        <p:sp>
          <p:nvSpPr>
            <p:cNvPr id="41" name="object 41"/>
            <p:cNvSpPr/>
            <p:nvPr/>
          </p:nvSpPr>
          <p:spPr>
            <a:xfrm>
              <a:off x="7175500" y="3997325"/>
              <a:ext cx="571500" cy="0"/>
            </a:xfrm>
            <a:custGeom>
              <a:avLst/>
              <a:gdLst/>
              <a:ahLst/>
              <a:cxnLst/>
              <a:rect l="l" t="t" r="r" b="b"/>
              <a:pathLst>
                <a:path w="571500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734302" y="3933818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0" y="0"/>
                  </a:moveTo>
                  <a:lnTo>
                    <a:pt x="0" y="127000"/>
                  </a:lnTo>
                  <a:lnTo>
                    <a:pt x="127000" y="63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3" name="object 43"/>
          <p:cNvGrpSpPr/>
          <p:nvPr/>
        </p:nvGrpSpPr>
        <p:grpSpPr>
          <a:xfrm>
            <a:off x="7192966" y="4983157"/>
            <a:ext cx="685800" cy="127000"/>
            <a:chOff x="7192966" y="4983157"/>
            <a:chExt cx="685800" cy="127000"/>
          </a:xfrm>
        </p:grpSpPr>
        <p:sp>
          <p:nvSpPr>
            <p:cNvPr id="44" name="object 44"/>
            <p:cNvSpPr/>
            <p:nvPr/>
          </p:nvSpPr>
          <p:spPr>
            <a:xfrm>
              <a:off x="7307263" y="5046662"/>
              <a:ext cx="571500" cy="0"/>
            </a:xfrm>
            <a:custGeom>
              <a:avLst/>
              <a:gdLst/>
              <a:ahLst/>
              <a:cxnLst/>
              <a:rect l="l" t="t" r="r" b="b"/>
              <a:pathLst>
                <a:path w="571500">
                  <a:moveTo>
                    <a:pt x="5715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192966" y="4983157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127000" y="0"/>
                  </a:moveTo>
                  <a:lnTo>
                    <a:pt x="0" y="63500"/>
                  </a:lnTo>
                  <a:lnTo>
                    <a:pt x="127000" y="127000"/>
                  </a:lnTo>
                  <a:lnTo>
                    <a:pt x="127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6" name="object 46"/>
          <p:cNvGrpSpPr/>
          <p:nvPr/>
        </p:nvGrpSpPr>
        <p:grpSpPr>
          <a:xfrm>
            <a:off x="7186610" y="5365450"/>
            <a:ext cx="692150" cy="127000"/>
            <a:chOff x="7186610" y="5365450"/>
            <a:chExt cx="692150" cy="127000"/>
          </a:xfrm>
        </p:grpSpPr>
        <p:sp>
          <p:nvSpPr>
            <p:cNvPr id="47" name="object 47"/>
            <p:cNvSpPr/>
            <p:nvPr/>
          </p:nvSpPr>
          <p:spPr>
            <a:xfrm>
              <a:off x="7300913" y="5427662"/>
              <a:ext cx="571500" cy="1905"/>
            </a:xfrm>
            <a:custGeom>
              <a:avLst/>
              <a:gdLst/>
              <a:ahLst/>
              <a:cxnLst/>
              <a:rect l="l" t="t" r="r" b="b"/>
              <a:pathLst>
                <a:path w="571500" h="1904">
                  <a:moveTo>
                    <a:pt x="571500" y="0"/>
                  </a:moveTo>
                  <a:lnTo>
                    <a:pt x="0" y="132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186610" y="5365450"/>
              <a:ext cx="127635" cy="127000"/>
            </a:xfrm>
            <a:custGeom>
              <a:avLst/>
              <a:gdLst/>
              <a:ahLst/>
              <a:cxnLst/>
              <a:rect l="l" t="t" r="r" b="b"/>
              <a:pathLst>
                <a:path w="127634" h="127000">
                  <a:moveTo>
                    <a:pt x="126847" y="0"/>
                  </a:moveTo>
                  <a:lnTo>
                    <a:pt x="0" y="63804"/>
                  </a:lnTo>
                  <a:lnTo>
                    <a:pt x="127152" y="126999"/>
                  </a:lnTo>
                  <a:lnTo>
                    <a:pt x="12684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9" name="object 49"/>
          <p:cNvGrpSpPr/>
          <p:nvPr/>
        </p:nvGrpSpPr>
        <p:grpSpPr>
          <a:xfrm>
            <a:off x="7192964" y="5745157"/>
            <a:ext cx="685800" cy="127000"/>
            <a:chOff x="7192964" y="5745157"/>
            <a:chExt cx="685800" cy="127000"/>
          </a:xfrm>
        </p:grpSpPr>
        <p:sp>
          <p:nvSpPr>
            <p:cNvPr id="50" name="object 50"/>
            <p:cNvSpPr/>
            <p:nvPr/>
          </p:nvSpPr>
          <p:spPr>
            <a:xfrm>
              <a:off x="7192964" y="5808663"/>
              <a:ext cx="571500" cy="0"/>
            </a:xfrm>
            <a:custGeom>
              <a:avLst/>
              <a:gdLst/>
              <a:ahLst/>
              <a:cxnLst/>
              <a:rect l="l" t="t" r="r" b="b"/>
              <a:pathLst>
                <a:path w="571500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751766" y="5745157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0" y="0"/>
                  </a:moveTo>
                  <a:lnTo>
                    <a:pt x="0" y="127000"/>
                  </a:lnTo>
                  <a:lnTo>
                    <a:pt x="127000" y="63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8063865" y="1105294"/>
            <a:ext cx="916940" cy="116903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000" b="1" spc="-5" dirty="0">
                <a:latin typeface="Times New Roman"/>
                <a:cs typeface="Times New Roman"/>
              </a:rPr>
              <a:t>CLK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000" b="1" spc="-45" dirty="0">
                <a:latin typeface="Times New Roman"/>
                <a:cs typeface="Times New Roman"/>
              </a:rPr>
              <a:t>GATE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  <a:p>
            <a:pPr marL="17780">
              <a:lnSpc>
                <a:spcPct val="100000"/>
              </a:lnSpc>
              <a:spcBef>
                <a:spcPts val="600"/>
              </a:spcBef>
            </a:pPr>
            <a:r>
              <a:rPr sz="2000" b="1" spc="-5" dirty="0">
                <a:latin typeface="Times New Roman"/>
                <a:cs typeface="Times New Roman"/>
              </a:rPr>
              <a:t>OUT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089239" y="2958147"/>
            <a:ext cx="916940" cy="116903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000" b="1" spc="-5" dirty="0">
                <a:latin typeface="Times New Roman"/>
                <a:cs typeface="Times New Roman"/>
              </a:rPr>
              <a:t>CLK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000" b="1" spc="-45" dirty="0">
                <a:latin typeface="Times New Roman"/>
                <a:cs typeface="Times New Roman"/>
              </a:rPr>
              <a:t>GATE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  <a:p>
            <a:pPr marL="17780">
              <a:lnSpc>
                <a:spcPct val="100000"/>
              </a:lnSpc>
              <a:spcBef>
                <a:spcPts val="600"/>
              </a:spcBef>
            </a:pPr>
            <a:r>
              <a:rPr sz="2000" b="1" spc="-5" dirty="0">
                <a:latin typeface="Times New Roman"/>
                <a:cs typeface="Times New Roman"/>
              </a:rPr>
              <a:t>OUT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8089239" y="4790447"/>
            <a:ext cx="916940" cy="116903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000" b="1" spc="-5" dirty="0">
                <a:latin typeface="Times New Roman"/>
                <a:cs typeface="Times New Roman"/>
              </a:rPr>
              <a:t>CLK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000" b="1" spc="-45" dirty="0">
                <a:latin typeface="Times New Roman"/>
                <a:cs typeface="Times New Roman"/>
              </a:rPr>
              <a:t>GATE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  <a:p>
            <a:pPr marL="17780">
              <a:lnSpc>
                <a:spcPct val="100000"/>
              </a:lnSpc>
              <a:spcBef>
                <a:spcPts val="600"/>
              </a:spcBef>
            </a:pPr>
            <a:r>
              <a:rPr sz="2000" b="1" spc="-5" dirty="0">
                <a:latin typeface="Times New Roman"/>
                <a:cs typeface="Times New Roman"/>
              </a:rPr>
              <a:t>OUT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1746250" y="3136893"/>
            <a:ext cx="1765300" cy="1517650"/>
            <a:chOff x="1746250" y="3136893"/>
            <a:chExt cx="1765300" cy="1517650"/>
          </a:xfrm>
        </p:grpSpPr>
        <p:sp>
          <p:nvSpPr>
            <p:cNvPr id="56" name="object 56"/>
            <p:cNvSpPr/>
            <p:nvPr/>
          </p:nvSpPr>
          <p:spPr>
            <a:xfrm>
              <a:off x="1866900" y="3943349"/>
              <a:ext cx="1028700" cy="0"/>
            </a:xfrm>
            <a:custGeom>
              <a:avLst/>
              <a:gdLst/>
              <a:ahLst/>
              <a:cxnLst/>
              <a:rect l="l" t="t" r="r" b="b"/>
              <a:pathLst>
                <a:path w="1028700">
                  <a:moveTo>
                    <a:pt x="0" y="0"/>
                  </a:moveTo>
                  <a:lnTo>
                    <a:pt x="10287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2882902" y="3879843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0" y="0"/>
                  </a:moveTo>
                  <a:lnTo>
                    <a:pt x="0" y="127000"/>
                  </a:lnTo>
                  <a:lnTo>
                    <a:pt x="127000" y="63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866900" y="4171950"/>
              <a:ext cx="1028700" cy="0"/>
            </a:xfrm>
            <a:custGeom>
              <a:avLst/>
              <a:gdLst/>
              <a:ahLst/>
              <a:cxnLst/>
              <a:rect l="l" t="t" r="r" b="b"/>
              <a:pathLst>
                <a:path w="1028700">
                  <a:moveTo>
                    <a:pt x="0" y="0"/>
                  </a:moveTo>
                  <a:lnTo>
                    <a:pt x="10287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2882902" y="4108443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0" y="0"/>
                  </a:moveTo>
                  <a:lnTo>
                    <a:pt x="0" y="127000"/>
                  </a:lnTo>
                  <a:lnTo>
                    <a:pt x="127000" y="63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752600" y="3200399"/>
              <a:ext cx="1028700" cy="0"/>
            </a:xfrm>
            <a:custGeom>
              <a:avLst/>
              <a:gdLst/>
              <a:ahLst/>
              <a:cxnLst/>
              <a:rect l="l" t="t" r="r" b="b"/>
              <a:pathLst>
                <a:path w="1028700">
                  <a:moveTo>
                    <a:pt x="0" y="0"/>
                  </a:moveTo>
                  <a:lnTo>
                    <a:pt x="10287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2768602" y="3136893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0" y="0"/>
                  </a:moveTo>
                  <a:lnTo>
                    <a:pt x="0" y="127000"/>
                  </a:lnTo>
                  <a:lnTo>
                    <a:pt x="127000" y="63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89250" y="3155949"/>
              <a:ext cx="88900" cy="88900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1752600" y="3448049"/>
              <a:ext cx="1028700" cy="0"/>
            </a:xfrm>
            <a:custGeom>
              <a:avLst/>
              <a:gdLst/>
              <a:ahLst/>
              <a:cxnLst/>
              <a:rect l="l" t="t" r="r" b="b"/>
              <a:pathLst>
                <a:path w="1028700">
                  <a:moveTo>
                    <a:pt x="0" y="0"/>
                  </a:moveTo>
                  <a:lnTo>
                    <a:pt x="10287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2768602" y="3384543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0" y="0"/>
                  </a:moveTo>
                  <a:lnTo>
                    <a:pt x="0" y="127000"/>
                  </a:lnTo>
                  <a:lnTo>
                    <a:pt x="127000" y="63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89250" y="3422649"/>
              <a:ext cx="88900" cy="88900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22650" y="4318000"/>
              <a:ext cx="88900" cy="88900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1828800" y="4648200"/>
              <a:ext cx="1676400" cy="0"/>
            </a:xfrm>
            <a:custGeom>
              <a:avLst/>
              <a:gdLst/>
              <a:ahLst/>
              <a:cxnLst/>
              <a:rect l="l" t="t" r="r" b="b"/>
              <a:pathLst>
                <a:path w="1676400">
                  <a:moveTo>
                    <a:pt x="0" y="0"/>
                  </a:moveTo>
                  <a:lnTo>
                    <a:pt x="1676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3470275" y="4419600"/>
              <a:ext cx="0" cy="228600"/>
            </a:xfrm>
            <a:custGeom>
              <a:avLst/>
              <a:gdLst/>
              <a:ahLst/>
              <a:cxnLst/>
              <a:rect l="l" t="t" r="r" b="b"/>
              <a:pathLst>
                <a:path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1225613" y="3010725"/>
            <a:ext cx="39179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10" dirty="0">
                <a:latin typeface="Times New Roman"/>
                <a:cs typeface="Times New Roman"/>
              </a:rPr>
              <a:t>RD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174103" y="3353536"/>
            <a:ext cx="46291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Times New Roman"/>
                <a:cs typeface="Times New Roman"/>
              </a:rPr>
              <a:t>WR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1477583" y="3737707"/>
            <a:ext cx="340360" cy="61087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5080" indent="4445">
              <a:lnSpc>
                <a:spcPts val="2210"/>
              </a:lnSpc>
              <a:spcBef>
                <a:spcPts val="330"/>
              </a:spcBef>
            </a:pPr>
            <a:r>
              <a:rPr sz="2000" b="1" spc="-10" dirty="0">
                <a:latin typeface="Times New Roman"/>
                <a:cs typeface="Times New Roman"/>
              </a:rPr>
              <a:t>A</a:t>
            </a:r>
            <a:r>
              <a:rPr sz="2000" b="1" spc="-5" dirty="0">
                <a:latin typeface="Times New Roman"/>
                <a:cs typeface="Times New Roman"/>
              </a:rPr>
              <a:t>0  </a:t>
            </a:r>
            <a:r>
              <a:rPr sz="2000" b="1" spc="-10" dirty="0">
                <a:latin typeface="Times New Roman"/>
                <a:cs typeface="Times New Roman"/>
              </a:rPr>
              <a:t>A</a:t>
            </a:r>
            <a:r>
              <a:rPr sz="2000" b="1" spc="-5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1219200" y="3048000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>
                <a:moveTo>
                  <a:pt x="0" y="0"/>
                </a:moveTo>
                <a:lnTo>
                  <a:pt x="3048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1184275" y="3387725"/>
            <a:ext cx="381000" cy="0"/>
          </a:xfrm>
          <a:custGeom>
            <a:avLst/>
            <a:gdLst/>
            <a:ahLst/>
            <a:cxnLst/>
            <a:rect l="l" t="t" r="r" b="b"/>
            <a:pathLst>
              <a:path w="381000">
                <a:moveTo>
                  <a:pt x="0" y="0"/>
                </a:moveTo>
                <a:lnTo>
                  <a:pt x="3810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 txBox="1"/>
          <p:nvPr/>
        </p:nvSpPr>
        <p:spPr>
          <a:xfrm>
            <a:off x="1447164" y="4464875"/>
            <a:ext cx="3492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10" dirty="0">
                <a:latin typeface="Times New Roman"/>
                <a:cs typeface="Times New Roman"/>
              </a:rPr>
              <a:t>CS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1471612" y="2438406"/>
            <a:ext cx="5297805" cy="4126229"/>
            <a:chOff x="1471612" y="2438406"/>
            <a:chExt cx="5297805" cy="4126229"/>
          </a:xfrm>
        </p:grpSpPr>
        <p:sp>
          <p:nvSpPr>
            <p:cNvPr id="76" name="object 76"/>
            <p:cNvSpPr/>
            <p:nvPr/>
          </p:nvSpPr>
          <p:spPr>
            <a:xfrm>
              <a:off x="1471612" y="4495800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3429000" y="6096000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3429000" y="6553200"/>
              <a:ext cx="1524000" cy="0"/>
            </a:xfrm>
            <a:custGeom>
              <a:avLst/>
              <a:gdLst/>
              <a:ahLst/>
              <a:cxnLst/>
              <a:rect l="l" t="t" r="r" b="b"/>
              <a:pathLst>
                <a:path w="1524000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257800" y="6553200"/>
              <a:ext cx="1447800" cy="0"/>
            </a:xfrm>
            <a:custGeom>
              <a:avLst/>
              <a:gdLst/>
              <a:ahLst/>
              <a:cxnLst/>
              <a:rect l="l" t="t" r="r" b="b"/>
              <a:pathLst>
                <a:path w="1447800">
                  <a:moveTo>
                    <a:pt x="0" y="0"/>
                  </a:moveTo>
                  <a:lnTo>
                    <a:pt x="14478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705600" y="6145213"/>
              <a:ext cx="0" cy="419100"/>
            </a:xfrm>
            <a:custGeom>
              <a:avLst/>
              <a:gdLst/>
              <a:ahLst/>
              <a:cxnLst/>
              <a:rect l="l" t="t" r="r" b="b"/>
              <a:pathLst>
                <a:path h="419100">
                  <a:moveTo>
                    <a:pt x="0" y="4191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642112" y="6030918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63487" y="0"/>
                  </a:moveTo>
                  <a:lnTo>
                    <a:pt x="0" y="127000"/>
                  </a:lnTo>
                  <a:lnTo>
                    <a:pt x="127000" y="126987"/>
                  </a:lnTo>
                  <a:lnTo>
                    <a:pt x="634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5715000" y="2667000"/>
              <a:ext cx="0" cy="3886200"/>
            </a:xfrm>
            <a:custGeom>
              <a:avLst/>
              <a:gdLst/>
              <a:ahLst/>
              <a:cxnLst/>
              <a:rect l="l" t="t" r="r" b="b"/>
              <a:pathLst>
                <a:path h="3886200">
                  <a:moveTo>
                    <a:pt x="0" y="38862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5715000" y="2667000"/>
              <a:ext cx="990600" cy="0"/>
            </a:xfrm>
            <a:custGeom>
              <a:avLst/>
              <a:gdLst/>
              <a:ahLst/>
              <a:cxnLst/>
              <a:rect l="l" t="t" r="r" b="b"/>
              <a:pathLst>
                <a:path w="990600">
                  <a:moveTo>
                    <a:pt x="0" y="0"/>
                  </a:moveTo>
                  <a:lnTo>
                    <a:pt x="9906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5715000" y="4495800"/>
              <a:ext cx="990600" cy="0"/>
            </a:xfrm>
            <a:custGeom>
              <a:avLst/>
              <a:gdLst/>
              <a:ahLst/>
              <a:cxnLst/>
              <a:rect l="l" t="t" r="r" b="b"/>
              <a:pathLst>
                <a:path w="990600">
                  <a:moveTo>
                    <a:pt x="0" y="0"/>
                  </a:moveTo>
                  <a:lnTo>
                    <a:pt x="9906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6705600" y="2552700"/>
              <a:ext cx="0" cy="114300"/>
            </a:xfrm>
            <a:custGeom>
              <a:avLst/>
              <a:gdLst/>
              <a:ahLst/>
              <a:cxnLst/>
              <a:rect l="l" t="t" r="r" b="b"/>
              <a:pathLst>
                <a:path h="114300">
                  <a:moveTo>
                    <a:pt x="0" y="1143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6642112" y="2438406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63487" y="0"/>
                  </a:moveTo>
                  <a:lnTo>
                    <a:pt x="0" y="127000"/>
                  </a:lnTo>
                  <a:lnTo>
                    <a:pt x="127000" y="126987"/>
                  </a:lnTo>
                  <a:lnTo>
                    <a:pt x="634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6705600" y="4381500"/>
              <a:ext cx="0" cy="114300"/>
            </a:xfrm>
            <a:custGeom>
              <a:avLst/>
              <a:gdLst/>
              <a:ahLst/>
              <a:cxnLst/>
              <a:rect l="l" t="t" r="r" b="b"/>
              <a:pathLst>
                <a:path h="114300">
                  <a:moveTo>
                    <a:pt x="0" y="1143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6642112" y="4267206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63487" y="0"/>
                  </a:moveTo>
                  <a:lnTo>
                    <a:pt x="0" y="127000"/>
                  </a:lnTo>
                  <a:lnTo>
                    <a:pt x="127000" y="126987"/>
                  </a:lnTo>
                  <a:lnTo>
                    <a:pt x="634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446462" y="2497138"/>
              <a:ext cx="0" cy="533400"/>
            </a:xfrm>
            <a:custGeom>
              <a:avLst/>
              <a:gdLst/>
              <a:ahLst/>
              <a:cxnLst/>
              <a:rect l="l" t="t" r="r" b="b"/>
              <a:pathLst>
                <a:path h="533400">
                  <a:moveTo>
                    <a:pt x="0" y="0"/>
                  </a:moveTo>
                  <a:lnTo>
                    <a:pt x="0" y="5334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986212" y="3429000"/>
              <a:ext cx="609600" cy="0"/>
            </a:xfrm>
            <a:custGeom>
              <a:avLst/>
              <a:gdLst/>
              <a:ahLst/>
              <a:cxnLst/>
              <a:rect l="l" t="t" r="r" b="b"/>
              <a:pathLst>
                <a:path w="609600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572000" y="3429000"/>
              <a:ext cx="0" cy="1600200"/>
            </a:xfrm>
            <a:custGeom>
              <a:avLst/>
              <a:gdLst/>
              <a:ahLst/>
              <a:cxnLst/>
              <a:rect l="l" t="t" r="r" b="b"/>
              <a:pathLst>
                <a:path h="1600200">
                  <a:moveTo>
                    <a:pt x="0" y="0"/>
                  </a:moveTo>
                  <a:lnTo>
                    <a:pt x="0" y="16002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076700" y="5029200"/>
              <a:ext cx="495300" cy="0"/>
            </a:xfrm>
            <a:custGeom>
              <a:avLst/>
              <a:gdLst/>
              <a:ahLst/>
              <a:cxnLst/>
              <a:rect l="l" t="t" r="r" b="b"/>
              <a:pathLst>
                <a:path w="495300">
                  <a:moveTo>
                    <a:pt x="4953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3962402" y="4965693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127000" y="0"/>
                  </a:moveTo>
                  <a:lnTo>
                    <a:pt x="0" y="63500"/>
                  </a:lnTo>
                  <a:lnTo>
                    <a:pt x="127000" y="127000"/>
                  </a:lnTo>
                  <a:lnTo>
                    <a:pt x="127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4" name="object 94"/>
          <p:cNvSpPr txBox="1"/>
          <p:nvPr/>
        </p:nvSpPr>
        <p:spPr>
          <a:xfrm>
            <a:off x="824864" y="1645475"/>
            <a:ext cx="72961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10" dirty="0">
                <a:latin typeface="Times New Roman"/>
                <a:cs typeface="Times New Roman"/>
              </a:rPr>
              <a:t>D</a:t>
            </a:r>
            <a:r>
              <a:rPr sz="2000" b="1" spc="-5" dirty="0">
                <a:latin typeface="Times New Roman"/>
                <a:cs typeface="Times New Roman"/>
              </a:rPr>
              <a:t>7-</a:t>
            </a:r>
            <a:r>
              <a:rPr sz="2000" b="1" spc="-10" dirty="0">
                <a:latin typeface="Times New Roman"/>
                <a:cs typeface="Times New Roman"/>
              </a:rPr>
              <a:t>D0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4490" y="1393952"/>
            <a:ext cx="746125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Times New Roman"/>
                <a:cs typeface="Times New Roman"/>
              </a:rPr>
              <a:t>THE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CONTROL</a:t>
            </a:r>
            <a:r>
              <a:rPr sz="2400" b="1" spc="-18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WORD</a:t>
            </a:r>
            <a:r>
              <a:rPr sz="2400" b="1" spc="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REGISTER</a:t>
            </a:r>
            <a:r>
              <a:rPr sz="2400" b="1" spc="-12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AND</a:t>
            </a:r>
            <a:r>
              <a:rPr sz="2400" b="1" spc="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COUNTERS </a:t>
            </a:r>
            <a:r>
              <a:rPr sz="2400" b="1" spc="-58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ARE SELECTED</a:t>
            </a:r>
            <a:endParaRPr sz="2400">
              <a:latin typeface="Times New Roman"/>
              <a:cs typeface="Times New Roman"/>
            </a:endParaRPr>
          </a:p>
          <a:p>
            <a:pPr marL="818515" marR="732155" algn="ctr">
              <a:lnSpc>
                <a:spcPct val="100000"/>
              </a:lnSpc>
            </a:pPr>
            <a:r>
              <a:rPr sz="2400" b="1" spc="-5" dirty="0">
                <a:latin typeface="Times New Roman"/>
                <a:cs typeface="Times New Roman"/>
              </a:rPr>
              <a:t>ACCORDING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TO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THE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SIGNALS</a:t>
            </a:r>
            <a:r>
              <a:rPr sz="2400" b="1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ON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spc="10" dirty="0">
                <a:latin typeface="Times New Roman"/>
                <a:cs typeface="Times New Roman"/>
              </a:rPr>
              <a:t>LINE </a:t>
            </a:r>
            <a:r>
              <a:rPr sz="2400" b="1" spc="-58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A0 and</a:t>
            </a:r>
            <a:r>
              <a:rPr sz="2400" b="1" spc="-13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A1</a:t>
            </a:r>
            <a:r>
              <a:rPr sz="2400" b="1" spc="-13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AS</a:t>
            </a:r>
            <a:r>
              <a:rPr sz="2400" b="1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SHOWN BELOW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82225" y="3225038"/>
            <a:ext cx="2481580" cy="1854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9215">
              <a:lnSpc>
                <a:spcPct val="100000"/>
              </a:lnSpc>
              <a:spcBef>
                <a:spcPts val="95"/>
              </a:spcBef>
              <a:tabLst>
                <a:tab pos="526415" algn="l"/>
                <a:tab pos="983615" algn="l"/>
              </a:tabLst>
            </a:pPr>
            <a:r>
              <a:rPr sz="2000" b="1" spc="-5" dirty="0">
                <a:latin typeface="Times New Roman"/>
                <a:cs typeface="Times New Roman"/>
              </a:rPr>
              <a:t>A1	A0	Selection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469265" algn="l"/>
                <a:tab pos="927100" algn="l"/>
              </a:tabLst>
            </a:pPr>
            <a:r>
              <a:rPr sz="2000" b="1" spc="-5" dirty="0">
                <a:latin typeface="Times New Roman"/>
                <a:cs typeface="Times New Roman"/>
              </a:rPr>
              <a:t>0	0	Counter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  <a:p>
            <a:pPr marL="469900" indent="-457834">
              <a:lnSpc>
                <a:spcPct val="100000"/>
              </a:lnSpc>
              <a:buAutoNum type="arabicPlain"/>
              <a:tabLst>
                <a:tab pos="469265" algn="l"/>
                <a:tab pos="470534" algn="l"/>
                <a:tab pos="927100" algn="l"/>
              </a:tabLst>
            </a:pPr>
            <a:r>
              <a:rPr sz="2000" b="1" spc="-5" dirty="0">
                <a:latin typeface="Times New Roman"/>
                <a:cs typeface="Times New Roman"/>
              </a:rPr>
              <a:t>1	Counter</a:t>
            </a:r>
            <a:r>
              <a:rPr sz="2000" b="1" spc="-110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  <a:p>
            <a:pPr marL="469900" indent="-457834">
              <a:lnSpc>
                <a:spcPct val="100000"/>
              </a:lnSpc>
              <a:buAutoNum type="arabicPlain"/>
              <a:tabLst>
                <a:tab pos="469265" algn="l"/>
                <a:tab pos="470534" algn="l"/>
                <a:tab pos="927100" algn="l"/>
              </a:tabLst>
            </a:pPr>
            <a:r>
              <a:rPr sz="2000" b="1" spc="-5" dirty="0">
                <a:latin typeface="Times New Roman"/>
                <a:cs typeface="Times New Roman"/>
              </a:rPr>
              <a:t>0	Counter</a:t>
            </a:r>
            <a:r>
              <a:rPr sz="2000" b="1" spc="-110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  <a:p>
            <a:pPr marL="14604">
              <a:lnSpc>
                <a:spcPct val="100000"/>
              </a:lnSpc>
              <a:tabLst>
                <a:tab pos="471805" algn="l"/>
              </a:tabLst>
            </a:pPr>
            <a:r>
              <a:rPr sz="2000" b="1" spc="-5" dirty="0">
                <a:latin typeface="Times New Roman"/>
                <a:cs typeface="Times New Roman"/>
              </a:rPr>
              <a:t>1	1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Control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Register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94408" y="814069"/>
            <a:ext cx="615569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8254</a:t>
            </a:r>
            <a:r>
              <a:rPr spc="-25" dirty="0"/>
              <a:t> </a:t>
            </a:r>
            <a:r>
              <a:rPr spc="-5" dirty="0"/>
              <a:t>Control</a:t>
            </a:r>
            <a:r>
              <a:rPr spc="-10" dirty="0"/>
              <a:t> </a:t>
            </a:r>
            <a:r>
              <a:rPr spc="-5" dirty="0"/>
              <a:t>Word</a:t>
            </a:r>
            <a:r>
              <a:rPr spc="-15" dirty="0"/>
              <a:t> </a:t>
            </a:r>
            <a:r>
              <a:rPr spc="-5" dirty="0"/>
              <a:t>Format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517650" y="1896268"/>
          <a:ext cx="6498590" cy="7867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3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3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3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45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38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38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6453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238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238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7238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7238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72389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72389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72389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72389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751204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74929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</a:tblGrid>
              <a:tr h="76914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000" spc="-5" dirty="0">
                          <a:latin typeface="Times New Roman"/>
                          <a:cs typeface="Times New Roman"/>
                        </a:rPr>
                        <a:t>SC1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000" spc="-5" dirty="0">
                          <a:latin typeface="Times New Roman"/>
                          <a:cs typeface="Times New Roman"/>
                        </a:rPr>
                        <a:t>SC0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000" spc="-40" dirty="0">
                          <a:latin typeface="Times New Roman"/>
                          <a:cs typeface="Times New Roman"/>
                        </a:rPr>
                        <a:t>RW1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000" spc="-40" dirty="0">
                          <a:latin typeface="Times New Roman"/>
                          <a:cs typeface="Times New Roman"/>
                        </a:rPr>
                        <a:t>RW0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000" spc="-5" dirty="0">
                          <a:latin typeface="Times New Roman"/>
                          <a:cs typeface="Times New Roman"/>
                        </a:rPr>
                        <a:t>M2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000" spc="-5" dirty="0">
                          <a:latin typeface="Times New Roman"/>
                          <a:cs typeface="Times New Roman"/>
                        </a:rPr>
                        <a:t>M1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000" spc="-5" dirty="0">
                          <a:latin typeface="Times New Roman"/>
                          <a:cs typeface="Times New Roman"/>
                        </a:rPr>
                        <a:t>M0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000" spc="-5" dirty="0">
                          <a:latin typeface="Times New Roman"/>
                          <a:cs typeface="Times New Roman"/>
                        </a:rPr>
                        <a:t>BCD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4889" y="3052762"/>
            <a:ext cx="1329055" cy="701675"/>
          </a:xfrm>
          <a:custGeom>
            <a:avLst/>
            <a:gdLst/>
            <a:ahLst/>
            <a:cxnLst/>
            <a:rect l="l" t="t" r="r" b="b"/>
            <a:pathLst>
              <a:path w="1329055" h="701675">
                <a:moveTo>
                  <a:pt x="70116" y="0"/>
                </a:moveTo>
                <a:lnTo>
                  <a:pt x="629437" y="0"/>
                </a:lnTo>
                <a:lnTo>
                  <a:pt x="629437" y="701675"/>
                </a:lnTo>
                <a:lnTo>
                  <a:pt x="70116" y="701675"/>
                </a:lnTo>
                <a:lnTo>
                  <a:pt x="70116" y="0"/>
                </a:lnTo>
                <a:close/>
              </a:path>
              <a:path w="1329055" h="701675">
                <a:moveTo>
                  <a:pt x="0" y="0"/>
                </a:moveTo>
                <a:lnTo>
                  <a:pt x="699554" y="0"/>
                </a:lnTo>
                <a:lnTo>
                  <a:pt x="699554" y="701675"/>
                </a:lnTo>
                <a:lnTo>
                  <a:pt x="0" y="701675"/>
                </a:lnTo>
                <a:lnTo>
                  <a:pt x="0" y="0"/>
                </a:lnTo>
                <a:close/>
              </a:path>
              <a:path w="1329055" h="701675">
                <a:moveTo>
                  <a:pt x="769683" y="0"/>
                </a:moveTo>
                <a:lnTo>
                  <a:pt x="1329004" y="0"/>
                </a:lnTo>
                <a:lnTo>
                  <a:pt x="1329004" y="701675"/>
                </a:lnTo>
                <a:lnTo>
                  <a:pt x="769683" y="701675"/>
                </a:lnTo>
                <a:lnTo>
                  <a:pt x="769683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3751" y="3078924"/>
            <a:ext cx="108712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1835" algn="l"/>
              </a:tabLst>
            </a:pPr>
            <a:r>
              <a:rPr sz="1600" b="1" spc="-5" dirty="0">
                <a:latin typeface="Times New Roman"/>
                <a:cs typeface="Times New Roman"/>
              </a:rPr>
              <a:t>S</a:t>
            </a:r>
            <a:r>
              <a:rPr sz="1600" b="1" dirty="0">
                <a:latin typeface="Times New Roman"/>
                <a:cs typeface="Times New Roman"/>
              </a:rPr>
              <a:t>C1	</a:t>
            </a:r>
            <a:r>
              <a:rPr sz="1600" b="1" spc="-5" dirty="0">
                <a:latin typeface="Times New Roman"/>
                <a:cs typeface="Times New Roman"/>
              </a:rPr>
              <a:t>S</a:t>
            </a:r>
            <a:r>
              <a:rPr sz="1600" b="1" dirty="0">
                <a:latin typeface="Times New Roman"/>
                <a:cs typeface="Times New Roman"/>
              </a:rPr>
              <a:t>C0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5006" y="3052762"/>
            <a:ext cx="3578225" cy="1403350"/>
          </a:xfrm>
          <a:custGeom>
            <a:avLst/>
            <a:gdLst/>
            <a:ahLst/>
            <a:cxnLst/>
            <a:rect l="l" t="t" r="r" b="b"/>
            <a:pathLst>
              <a:path w="3578225" h="1403350">
                <a:moveTo>
                  <a:pt x="629450" y="0"/>
                </a:moveTo>
                <a:lnTo>
                  <a:pt x="1329004" y="0"/>
                </a:lnTo>
                <a:lnTo>
                  <a:pt x="1329004" y="701675"/>
                </a:lnTo>
                <a:lnTo>
                  <a:pt x="629450" y="701675"/>
                </a:lnTo>
                <a:lnTo>
                  <a:pt x="629450" y="0"/>
                </a:lnTo>
                <a:close/>
              </a:path>
              <a:path w="3578225" h="1403350">
                <a:moveTo>
                  <a:pt x="1399120" y="0"/>
                </a:moveTo>
                <a:lnTo>
                  <a:pt x="3507574" y="0"/>
                </a:lnTo>
                <a:lnTo>
                  <a:pt x="3507574" y="701675"/>
                </a:lnTo>
                <a:lnTo>
                  <a:pt x="1399120" y="701675"/>
                </a:lnTo>
                <a:lnTo>
                  <a:pt x="1399120" y="0"/>
                </a:lnTo>
                <a:close/>
              </a:path>
              <a:path w="3578225" h="1403350">
                <a:moveTo>
                  <a:pt x="1329004" y="0"/>
                </a:moveTo>
                <a:lnTo>
                  <a:pt x="3577704" y="0"/>
                </a:lnTo>
                <a:lnTo>
                  <a:pt x="3577704" y="701675"/>
                </a:lnTo>
                <a:lnTo>
                  <a:pt x="1329004" y="701675"/>
                </a:lnTo>
                <a:lnTo>
                  <a:pt x="1329004" y="0"/>
                </a:lnTo>
                <a:close/>
              </a:path>
              <a:path w="3578225" h="1403350">
                <a:moveTo>
                  <a:pt x="0" y="701675"/>
                </a:moveTo>
                <a:lnTo>
                  <a:pt x="559320" y="701675"/>
                </a:lnTo>
                <a:lnTo>
                  <a:pt x="559320" y="1403350"/>
                </a:lnTo>
                <a:lnTo>
                  <a:pt x="0" y="1403350"/>
                </a:lnTo>
                <a:lnTo>
                  <a:pt x="0" y="70167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53751" y="3780599"/>
            <a:ext cx="12763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Times New Roman"/>
                <a:cs typeface="Times New Roman"/>
              </a:rPr>
              <a:t>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889" y="3754437"/>
            <a:ext cx="1329055" cy="701675"/>
          </a:xfrm>
          <a:custGeom>
            <a:avLst/>
            <a:gdLst/>
            <a:ahLst/>
            <a:cxnLst/>
            <a:rect l="l" t="t" r="r" b="b"/>
            <a:pathLst>
              <a:path w="1329055" h="701675">
                <a:moveTo>
                  <a:pt x="0" y="0"/>
                </a:moveTo>
                <a:lnTo>
                  <a:pt x="699554" y="0"/>
                </a:lnTo>
                <a:lnTo>
                  <a:pt x="699554" y="701675"/>
                </a:lnTo>
                <a:lnTo>
                  <a:pt x="0" y="701675"/>
                </a:lnTo>
                <a:lnTo>
                  <a:pt x="0" y="0"/>
                </a:lnTo>
                <a:close/>
              </a:path>
              <a:path w="1329055" h="701675">
                <a:moveTo>
                  <a:pt x="769683" y="0"/>
                </a:moveTo>
                <a:lnTo>
                  <a:pt x="1329004" y="0"/>
                </a:lnTo>
                <a:lnTo>
                  <a:pt x="1329004" y="701675"/>
                </a:lnTo>
                <a:lnTo>
                  <a:pt x="769683" y="701675"/>
                </a:lnTo>
                <a:lnTo>
                  <a:pt x="769683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53310" y="3780599"/>
            <a:ext cx="12763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Times New Roman"/>
                <a:cs typeface="Times New Roman"/>
              </a:rPr>
              <a:t>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04456" y="3754437"/>
            <a:ext cx="2878455" cy="701675"/>
          </a:xfrm>
          <a:custGeom>
            <a:avLst/>
            <a:gdLst/>
            <a:ahLst/>
            <a:cxnLst/>
            <a:rect l="l" t="t" r="r" b="b"/>
            <a:pathLst>
              <a:path w="2878454" h="701675">
                <a:moveTo>
                  <a:pt x="0" y="0"/>
                </a:moveTo>
                <a:lnTo>
                  <a:pt x="699554" y="0"/>
                </a:lnTo>
                <a:lnTo>
                  <a:pt x="699554" y="701675"/>
                </a:lnTo>
                <a:lnTo>
                  <a:pt x="0" y="701675"/>
                </a:lnTo>
                <a:lnTo>
                  <a:pt x="0" y="0"/>
                </a:lnTo>
                <a:close/>
              </a:path>
              <a:path w="2878454" h="701675">
                <a:moveTo>
                  <a:pt x="769670" y="0"/>
                </a:moveTo>
                <a:lnTo>
                  <a:pt x="2878124" y="0"/>
                </a:lnTo>
                <a:lnTo>
                  <a:pt x="2878124" y="701675"/>
                </a:lnTo>
                <a:lnTo>
                  <a:pt x="769670" y="701675"/>
                </a:lnTo>
                <a:lnTo>
                  <a:pt x="76967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552868" y="3780599"/>
            <a:ext cx="140081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latin typeface="Times New Roman"/>
                <a:cs typeface="Times New Roman"/>
              </a:rPr>
              <a:t>Select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counter</a:t>
            </a:r>
            <a:r>
              <a:rPr sz="1600" b="1" spc="-5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5006" y="3754437"/>
            <a:ext cx="3578225" cy="1403350"/>
          </a:xfrm>
          <a:custGeom>
            <a:avLst/>
            <a:gdLst/>
            <a:ahLst/>
            <a:cxnLst/>
            <a:rect l="l" t="t" r="r" b="b"/>
            <a:pathLst>
              <a:path w="3578225" h="1403350">
                <a:moveTo>
                  <a:pt x="1329004" y="0"/>
                </a:moveTo>
                <a:lnTo>
                  <a:pt x="3577704" y="0"/>
                </a:lnTo>
                <a:lnTo>
                  <a:pt x="3577704" y="701675"/>
                </a:lnTo>
                <a:lnTo>
                  <a:pt x="1329004" y="701675"/>
                </a:lnTo>
                <a:lnTo>
                  <a:pt x="1329004" y="0"/>
                </a:lnTo>
                <a:close/>
              </a:path>
              <a:path w="3578225" h="1403350">
                <a:moveTo>
                  <a:pt x="0" y="701675"/>
                </a:moveTo>
                <a:lnTo>
                  <a:pt x="559320" y="701675"/>
                </a:lnTo>
                <a:lnTo>
                  <a:pt x="559320" y="1403350"/>
                </a:lnTo>
                <a:lnTo>
                  <a:pt x="0" y="1403350"/>
                </a:lnTo>
                <a:lnTo>
                  <a:pt x="0" y="70167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53751" y="4482274"/>
            <a:ext cx="12763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Times New Roman"/>
                <a:cs typeface="Times New Roman"/>
              </a:rPr>
              <a:t>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889" y="4456112"/>
            <a:ext cx="1329055" cy="701675"/>
          </a:xfrm>
          <a:custGeom>
            <a:avLst/>
            <a:gdLst/>
            <a:ahLst/>
            <a:cxnLst/>
            <a:rect l="l" t="t" r="r" b="b"/>
            <a:pathLst>
              <a:path w="1329055" h="701675">
                <a:moveTo>
                  <a:pt x="0" y="0"/>
                </a:moveTo>
                <a:lnTo>
                  <a:pt x="699554" y="0"/>
                </a:lnTo>
                <a:lnTo>
                  <a:pt x="699554" y="701675"/>
                </a:lnTo>
                <a:lnTo>
                  <a:pt x="0" y="701675"/>
                </a:lnTo>
                <a:lnTo>
                  <a:pt x="0" y="0"/>
                </a:lnTo>
                <a:close/>
              </a:path>
              <a:path w="1329055" h="701675">
                <a:moveTo>
                  <a:pt x="769683" y="0"/>
                </a:moveTo>
                <a:lnTo>
                  <a:pt x="1329004" y="0"/>
                </a:lnTo>
                <a:lnTo>
                  <a:pt x="1329004" y="701675"/>
                </a:lnTo>
                <a:lnTo>
                  <a:pt x="769683" y="701675"/>
                </a:lnTo>
                <a:lnTo>
                  <a:pt x="769683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53310" y="4482274"/>
            <a:ext cx="12763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04456" y="4456112"/>
            <a:ext cx="2878455" cy="701675"/>
          </a:xfrm>
          <a:custGeom>
            <a:avLst/>
            <a:gdLst/>
            <a:ahLst/>
            <a:cxnLst/>
            <a:rect l="l" t="t" r="r" b="b"/>
            <a:pathLst>
              <a:path w="2878454" h="701675">
                <a:moveTo>
                  <a:pt x="0" y="0"/>
                </a:moveTo>
                <a:lnTo>
                  <a:pt x="699554" y="0"/>
                </a:lnTo>
                <a:lnTo>
                  <a:pt x="699554" y="701675"/>
                </a:lnTo>
                <a:lnTo>
                  <a:pt x="0" y="701675"/>
                </a:lnTo>
                <a:lnTo>
                  <a:pt x="0" y="0"/>
                </a:lnTo>
                <a:close/>
              </a:path>
              <a:path w="2878454" h="701675">
                <a:moveTo>
                  <a:pt x="769670" y="0"/>
                </a:moveTo>
                <a:lnTo>
                  <a:pt x="2878124" y="0"/>
                </a:lnTo>
                <a:lnTo>
                  <a:pt x="2878124" y="701675"/>
                </a:lnTo>
                <a:lnTo>
                  <a:pt x="769670" y="701675"/>
                </a:lnTo>
                <a:lnTo>
                  <a:pt x="76967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552868" y="4482274"/>
            <a:ext cx="140081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latin typeface="Times New Roman"/>
                <a:cs typeface="Times New Roman"/>
              </a:rPr>
              <a:t>Select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counter</a:t>
            </a:r>
            <a:r>
              <a:rPr sz="1600" b="1" spc="-5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5006" y="4456112"/>
            <a:ext cx="3578225" cy="1403350"/>
          </a:xfrm>
          <a:custGeom>
            <a:avLst/>
            <a:gdLst/>
            <a:ahLst/>
            <a:cxnLst/>
            <a:rect l="l" t="t" r="r" b="b"/>
            <a:pathLst>
              <a:path w="3578225" h="1403350">
                <a:moveTo>
                  <a:pt x="1329004" y="0"/>
                </a:moveTo>
                <a:lnTo>
                  <a:pt x="3577704" y="0"/>
                </a:lnTo>
                <a:lnTo>
                  <a:pt x="3577704" y="701675"/>
                </a:lnTo>
                <a:lnTo>
                  <a:pt x="1329004" y="701675"/>
                </a:lnTo>
                <a:lnTo>
                  <a:pt x="1329004" y="0"/>
                </a:lnTo>
                <a:close/>
              </a:path>
              <a:path w="3578225" h="1403350">
                <a:moveTo>
                  <a:pt x="0" y="701675"/>
                </a:moveTo>
                <a:lnTo>
                  <a:pt x="559320" y="701675"/>
                </a:lnTo>
                <a:lnTo>
                  <a:pt x="559320" y="1403350"/>
                </a:lnTo>
                <a:lnTo>
                  <a:pt x="0" y="1403350"/>
                </a:lnTo>
                <a:lnTo>
                  <a:pt x="0" y="70167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53751" y="5183949"/>
            <a:ext cx="12763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889" y="5157787"/>
            <a:ext cx="1329055" cy="701675"/>
          </a:xfrm>
          <a:custGeom>
            <a:avLst/>
            <a:gdLst/>
            <a:ahLst/>
            <a:cxnLst/>
            <a:rect l="l" t="t" r="r" b="b"/>
            <a:pathLst>
              <a:path w="1329055" h="701675">
                <a:moveTo>
                  <a:pt x="0" y="0"/>
                </a:moveTo>
                <a:lnTo>
                  <a:pt x="699554" y="0"/>
                </a:lnTo>
                <a:lnTo>
                  <a:pt x="699554" y="701675"/>
                </a:lnTo>
                <a:lnTo>
                  <a:pt x="0" y="701675"/>
                </a:lnTo>
                <a:lnTo>
                  <a:pt x="0" y="0"/>
                </a:lnTo>
                <a:close/>
              </a:path>
              <a:path w="1329055" h="701675">
                <a:moveTo>
                  <a:pt x="769683" y="0"/>
                </a:moveTo>
                <a:lnTo>
                  <a:pt x="1329004" y="0"/>
                </a:lnTo>
                <a:lnTo>
                  <a:pt x="1329004" y="701675"/>
                </a:lnTo>
                <a:lnTo>
                  <a:pt x="769683" y="701675"/>
                </a:lnTo>
                <a:lnTo>
                  <a:pt x="769683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53310" y="5183949"/>
            <a:ext cx="12763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Times New Roman"/>
                <a:cs typeface="Times New Roman"/>
              </a:rPr>
              <a:t>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04456" y="5157787"/>
            <a:ext cx="2878455" cy="701675"/>
          </a:xfrm>
          <a:custGeom>
            <a:avLst/>
            <a:gdLst/>
            <a:ahLst/>
            <a:cxnLst/>
            <a:rect l="l" t="t" r="r" b="b"/>
            <a:pathLst>
              <a:path w="2878454" h="701675">
                <a:moveTo>
                  <a:pt x="0" y="0"/>
                </a:moveTo>
                <a:lnTo>
                  <a:pt x="699554" y="0"/>
                </a:lnTo>
                <a:lnTo>
                  <a:pt x="699554" y="701675"/>
                </a:lnTo>
                <a:lnTo>
                  <a:pt x="0" y="701675"/>
                </a:lnTo>
                <a:lnTo>
                  <a:pt x="0" y="0"/>
                </a:lnTo>
                <a:close/>
              </a:path>
              <a:path w="2878454" h="701675">
                <a:moveTo>
                  <a:pt x="769670" y="0"/>
                </a:moveTo>
                <a:lnTo>
                  <a:pt x="2878124" y="0"/>
                </a:lnTo>
                <a:lnTo>
                  <a:pt x="2878124" y="701675"/>
                </a:lnTo>
                <a:lnTo>
                  <a:pt x="769670" y="701675"/>
                </a:lnTo>
                <a:lnTo>
                  <a:pt x="76967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552868" y="5183949"/>
            <a:ext cx="145669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latin typeface="Times New Roman"/>
                <a:cs typeface="Times New Roman"/>
              </a:rPr>
              <a:t>Select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Counter</a:t>
            </a:r>
            <a:r>
              <a:rPr sz="1600" b="1" spc="-6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2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5006" y="5157787"/>
            <a:ext cx="3578225" cy="1403350"/>
          </a:xfrm>
          <a:custGeom>
            <a:avLst/>
            <a:gdLst/>
            <a:ahLst/>
            <a:cxnLst/>
            <a:rect l="l" t="t" r="r" b="b"/>
            <a:pathLst>
              <a:path w="3578225" h="1403350">
                <a:moveTo>
                  <a:pt x="1329004" y="0"/>
                </a:moveTo>
                <a:lnTo>
                  <a:pt x="3577704" y="0"/>
                </a:lnTo>
                <a:lnTo>
                  <a:pt x="3577704" y="701675"/>
                </a:lnTo>
                <a:lnTo>
                  <a:pt x="1329004" y="701675"/>
                </a:lnTo>
                <a:lnTo>
                  <a:pt x="1329004" y="0"/>
                </a:lnTo>
                <a:close/>
              </a:path>
              <a:path w="3578225" h="1403350">
                <a:moveTo>
                  <a:pt x="0" y="701675"/>
                </a:moveTo>
                <a:lnTo>
                  <a:pt x="559320" y="701675"/>
                </a:lnTo>
                <a:lnTo>
                  <a:pt x="559320" y="1403350"/>
                </a:lnTo>
                <a:lnTo>
                  <a:pt x="0" y="1403350"/>
                </a:lnTo>
                <a:lnTo>
                  <a:pt x="0" y="70167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53751" y="5885624"/>
            <a:ext cx="12763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889" y="5859462"/>
            <a:ext cx="1329055" cy="701675"/>
          </a:xfrm>
          <a:custGeom>
            <a:avLst/>
            <a:gdLst/>
            <a:ahLst/>
            <a:cxnLst/>
            <a:rect l="l" t="t" r="r" b="b"/>
            <a:pathLst>
              <a:path w="1329055" h="701675">
                <a:moveTo>
                  <a:pt x="0" y="0"/>
                </a:moveTo>
                <a:lnTo>
                  <a:pt x="699554" y="0"/>
                </a:lnTo>
                <a:lnTo>
                  <a:pt x="699554" y="701675"/>
                </a:lnTo>
                <a:lnTo>
                  <a:pt x="0" y="701675"/>
                </a:lnTo>
                <a:lnTo>
                  <a:pt x="0" y="0"/>
                </a:lnTo>
                <a:close/>
              </a:path>
              <a:path w="1329055" h="701675">
                <a:moveTo>
                  <a:pt x="769683" y="0"/>
                </a:moveTo>
                <a:lnTo>
                  <a:pt x="1329004" y="0"/>
                </a:lnTo>
                <a:lnTo>
                  <a:pt x="1329004" y="701675"/>
                </a:lnTo>
                <a:lnTo>
                  <a:pt x="769683" y="701675"/>
                </a:lnTo>
                <a:lnTo>
                  <a:pt x="769683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853310" y="5885624"/>
            <a:ext cx="12763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04456" y="5859462"/>
            <a:ext cx="2878455" cy="701675"/>
          </a:xfrm>
          <a:custGeom>
            <a:avLst/>
            <a:gdLst/>
            <a:ahLst/>
            <a:cxnLst/>
            <a:rect l="l" t="t" r="r" b="b"/>
            <a:pathLst>
              <a:path w="2878454" h="701675">
                <a:moveTo>
                  <a:pt x="0" y="0"/>
                </a:moveTo>
                <a:lnTo>
                  <a:pt x="699554" y="0"/>
                </a:lnTo>
                <a:lnTo>
                  <a:pt x="699554" y="701675"/>
                </a:lnTo>
                <a:lnTo>
                  <a:pt x="0" y="701675"/>
                </a:lnTo>
                <a:lnTo>
                  <a:pt x="0" y="0"/>
                </a:lnTo>
                <a:close/>
              </a:path>
              <a:path w="2878454" h="701675">
                <a:moveTo>
                  <a:pt x="769670" y="0"/>
                </a:moveTo>
                <a:lnTo>
                  <a:pt x="2878124" y="0"/>
                </a:lnTo>
                <a:lnTo>
                  <a:pt x="2878124" y="701675"/>
                </a:lnTo>
                <a:lnTo>
                  <a:pt x="769670" y="701675"/>
                </a:lnTo>
                <a:lnTo>
                  <a:pt x="76967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1552868" y="5885624"/>
            <a:ext cx="189293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latin typeface="Times New Roman"/>
                <a:cs typeface="Times New Roman"/>
              </a:rPr>
              <a:t>Read-Back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command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0" y="2747962"/>
            <a:ext cx="4238625" cy="3818254"/>
          </a:xfrm>
          <a:custGeom>
            <a:avLst/>
            <a:gdLst/>
            <a:ahLst/>
            <a:cxnLst/>
            <a:rect l="l" t="t" r="r" b="b"/>
            <a:pathLst>
              <a:path w="4238625" h="3818254">
                <a:moveTo>
                  <a:pt x="1404010" y="3111500"/>
                </a:moveTo>
                <a:lnTo>
                  <a:pt x="3652710" y="3111500"/>
                </a:lnTo>
                <a:lnTo>
                  <a:pt x="3652710" y="3813175"/>
                </a:lnTo>
                <a:lnTo>
                  <a:pt x="1404010" y="3813175"/>
                </a:lnTo>
                <a:lnTo>
                  <a:pt x="1404010" y="3111500"/>
                </a:lnTo>
                <a:close/>
              </a:path>
              <a:path w="4238625" h="3818254">
                <a:moveTo>
                  <a:pt x="0" y="300037"/>
                </a:moveTo>
                <a:lnTo>
                  <a:pt x="3657600" y="300037"/>
                </a:lnTo>
                <a:lnTo>
                  <a:pt x="3657600" y="3817937"/>
                </a:lnTo>
                <a:lnTo>
                  <a:pt x="0" y="3817937"/>
                </a:lnTo>
                <a:lnTo>
                  <a:pt x="0" y="300037"/>
                </a:lnTo>
                <a:close/>
              </a:path>
              <a:path w="4238625" h="3818254">
                <a:moveTo>
                  <a:pt x="3673475" y="0"/>
                </a:moveTo>
                <a:lnTo>
                  <a:pt x="4238625" y="0"/>
                </a:lnTo>
                <a:lnTo>
                  <a:pt x="4238625" y="731837"/>
                </a:lnTo>
                <a:lnTo>
                  <a:pt x="3673475" y="731837"/>
                </a:lnTo>
                <a:lnTo>
                  <a:pt x="3673475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3660776" y="2726880"/>
            <a:ext cx="58039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80" dirty="0">
                <a:latin typeface="Times New Roman"/>
                <a:cs typeface="Times New Roman"/>
              </a:rPr>
              <a:t>R</a:t>
            </a:r>
            <a:r>
              <a:rPr sz="2000" b="1" spc="-5" dirty="0">
                <a:latin typeface="Times New Roman"/>
                <a:cs typeface="Times New Roman"/>
              </a:rPr>
              <a:t>W1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605212" y="2747962"/>
            <a:ext cx="1462405" cy="732155"/>
          </a:xfrm>
          <a:custGeom>
            <a:avLst/>
            <a:gdLst/>
            <a:ahLst/>
            <a:cxnLst/>
            <a:rect l="l" t="t" r="r" b="b"/>
            <a:pathLst>
              <a:path w="1462404" h="732154">
                <a:moveTo>
                  <a:pt x="0" y="0"/>
                </a:moveTo>
                <a:lnTo>
                  <a:pt x="701675" y="0"/>
                </a:lnTo>
                <a:lnTo>
                  <a:pt x="701675" y="731837"/>
                </a:lnTo>
                <a:lnTo>
                  <a:pt x="0" y="731837"/>
                </a:lnTo>
                <a:lnTo>
                  <a:pt x="0" y="0"/>
                </a:lnTo>
                <a:close/>
              </a:path>
              <a:path w="1462404" h="732154">
                <a:moveTo>
                  <a:pt x="769937" y="0"/>
                </a:moveTo>
                <a:lnTo>
                  <a:pt x="1462087" y="0"/>
                </a:lnTo>
                <a:lnTo>
                  <a:pt x="1462087" y="731837"/>
                </a:lnTo>
                <a:lnTo>
                  <a:pt x="769937" y="731837"/>
                </a:lnTo>
                <a:lnTo>
                  <a:pt x="769937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4453891" y="2773362"/>
            <a:ext cx="5099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70" dirty="0">
                <a:latin typeface="Times New Roman"/>
                <a:cs typeface="Times New Roman"/>
              </a:rPr>
              <a:t>RW0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673475" y="2747962"/>
            <a:ext cx="5470525" cy="1463675"/>
          </a:xfrm>
          <a:custGeom>
            <a:avLst/>
            <a:gdLst/>
            <a:ahLst/>
            <a:cxnLst/>
            <a:rect l="l" t="t" r="r" b="b"/>
            <a:pathLst>
              <a:path w="5470525" h="1463675">
                <a:moveTo>
                  <a:pt x="633412" y="0"/>
                </a:moveTo>
                <a:lnTo>
                  <a:pt x="1462087" y="0"/>
                </a:lnTo>
                <a:lnTo>
                  <a:pt x="1462087" y="731837"/>
                </a:lnTo>
                <a:lnTo>
                  <a:pt x="633412" y="731837"/>
                </a:lnTo>
                <a:lnTo>
                  <a:pt x="633412" y="0"/>
                </a:lnTo>
                <a:close/>
              </a:path>
              <a:path w="5470525" h="1463675">
                <a:moveTo>
                  <a:pt x="1530350" y="0"/>
                </a:moveTo>
                <a:lnTo>
                  <a:pt x="5429250" y="0"/>
                </a:lnTo>
                <a:lnTo>
                  <a:pt x="5429250" y="731837"/>
                </a:lnTo>
                <a:lnTo>
                  <a:pt x="1530350" y="731837"/>
                </a:lnTo>
                <a:lnTo>
                  <a:pt x="1530350" y="0"/>
                </a:lnTo>
                <a:close/>
              </a:path>
              <a:path w="5470525" h="1463675">
                <a:moveTo>
                  <a:pt x="1462087" y="0"/>
                </a:moveTo>
                <a:lnTo>
                  <a:pt x="5470525" y="0"/>
                </a:lnTo>
              </a:path>
              <a:path w="5470525" h="1463675">
                <a:moveTo>
                  <a:pt x="5470525" y="731837"/>
                </a:moveTo>
                <a:lnTo>
                  <a:pt x="1462087" y="731837"/>
                </a:lnTo>
                <a:lnTo>
                  <a:pt x="1462087" y="0"/>
                </a:lnTo>
              </a:path>
              <a:path w="5470525" h="1463675">
                <a:moveTo>
                  <a:pt x="0" y="731837"/>
                </a:moveTo>
                <a:lnTo>
                  <a:pt x="565150" y="731837"/>
                </a:lnTo>
                <a:lnTo>
                  <a:pt x="565150" y="1463675"/>
                </a:lnTo>
                <a:lnTo>
                  <a:pt x="0" y="1463675"/>
                </a:lnTo>
                <a:lnTo>
                  <a:pt x="0" y="731837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3752216" y="35052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605212" y="3479800"/>
            <a:ext cx="1462405" cy="732155"/>
          </a:xfrm>
          <a:custGeom>
            <a:avLst/>
            <a:gdLst/>
            <a:ahLst/>
            <a:cxnLst/>
            <a:rect l="l" t="t" r="r" b="b"/>
            <a:pathLst>
              <a:path w="1462404" h="732154">
                <a:moveTo>
                  <a:pt x="0" y="0"/>
                </a:moveTo>
                <a:lnTo>
                  <a:pt x="701675" y="0"/>
                </a:lnTo>
                <a:lnTo>
                  <a:pt x="701675" y="731837"/>
                </a:lnTo>
                <a:lnTo>
                  <a:pt x="0" y="731837"/>
                </a:lnTo>
                <a:lnTo>
                  <a:pt x="0" y="0"/>
                </a:lnTo>
                <a:close/>
              </a:path>
              <a:path w="1462404" h="732154">
                <a:moveTo>
                  <a:pt x="769937" y="0"/>
                </a:moveTo>
                <a:lnTo>
                  <a:pt x="1462087" y="0"/>
                </a:lnTo>
                <a:lnTo>
                  <a:pt x="1462087" y="731837"/>
                </a:lnTo>
                <a:lnTo>
                  <a:pt x="769937" y="731837"/>
                </a:lnTo>
                <a:lnTo>
                  <a:pt x="769937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4453891" y="35052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4306887" y="3479800"/>
            <a:ext cx="4796155" cy="732155"/>
          </a:xfrm>
          <a:custGeom>
            <a:avLst/>
            <a:gdLst/>
            <a:ahLst/>
            <a:cxnLst/>
            <a:rect l="l" t="t" r="r" b="b"/>
            <a:pathLst>
              <a:path w="4796155" h="732154">
                <a:moveTo>
                  <a:pt x="0" y="0"/>
                </a:moveTo>
                <a:lnTo>
                  <a:pt x="828675" y="0"/>
                </a:lnTo>
                <a:lnTo>
                  <a:pt x="828675" y="731837"/>
                </a:lnTo>
                <a:lnTo>
                  <a:pt x="0" y="731837"/>
                </a:lnTo>
                <a:lnTo>
                  <a:pt x="0" y="0"/>
                </a:lnTo>
                <a:close/>
              </a:path>
              <a:path w="4796155" h="732154">
                <a:moveTo>
                  <a:pt x="896937" y="0"/>
                </a:moveTo>
                <a:lnTo>
                  <a:pt x="4795837" y="0"/>
                </a:lnTo>
                <a:lnTo>
                  <a:pt x="4795837" y="731837"/>
                </a:lnTo>
                <a:lnTo>
                  <a:pt x="896937" y="731837"/>
                </a:lnTo>
                <a:lnTo>
                  <a:pt x="896937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5282566" y="3505200"/>
            <a:ext cx="25482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Times New Roman"/>
                <a:cs typeface="Times New Roman"/>
              </a:rPr>
              <a:t>Counter</a:t>
            </a:r>
            <a:r>
              <a:rPr sz="1800" b="1" spc="-6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Latch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Command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3673475" y="3479800"/>
            <a:ext cx="5470525" cy="1463675"/>
          </a:xfrm>
          <a:custGeom>
            <a:avLst/>
            <a:gdLst/>
            <a:ahLst/>
            <a:cxnLst/>
            <a:rect l="l" t="t" r="r" b="b"/>
            <a:pathLst>
              <a:path w="5470525" h="1463675">
                <a:moveTo>
                  <a:pt x="1462087" y="0"/>
                </a:moveTo>
                <a:lnTo>
                  <a:pt x="5470525" y="0"/>
                </a:lnTo>
              </a:path>
              <a:path w="5470525" h="1463675">
                <a:moveTo>
                  <a:pt x="5470525" y="731837"/>
                </a:moveTo>
                <a:lnTo>
                  <a:pt x="1462087" y="731837"/>
                </a:lnTo>
                <a:lnTo>
                  <a:pt x="1462087" y="0"/>
                </a:lnTo>
              </a:path>
              <a:path w="5470525" h="1463675">
                <a:moveTo>
                  <a:pt x="0" y="731837"/>
                </a:moveTo>
                <a:lnTo>
                  <a:pt x="565150" y="731837"/>
                </a:lnTo>
                <a:lnTo>
                  <a:pt x="565150" y="1463675"/>
                </a:lnTo>
                <a:lnTo>
                  <a:pt x="0" y="1463675"/>
                </a:lnTo>
                <a:lnTo>
                  <a:pt x="0" y="731837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3752216" y="4237037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3605212" y="4211637"/>
            <a:ext cx="1462405" cy="732155"/>
          </a:xfrm>
          <a:custGeom>
            <a:avLst/>
            <a:gdLst/>
            <a:ahLst/>
            <a:cxnLst/>
            <a:rect l="l" t="t" r="r" b="b"/>
            <a:pathLst>
              <a:path w="1462404" h="732154">
                <a:moveTo>
                  <a:pt x="0" y="0"/>
                </a:moveTo>
                <a:lnTo>
                  <a:pt x="701675" y="0"/>
                </a:lnTo>
                <a:lnTo>
                  <a:pt x="701675" y="731837"/>
                </a:lnTo>
                <a:lnTo>
                  <a:pt x="0" y="731837"/>
                </a:lnTo>
                <a:lnTo>
                  <a:pt x="0" y="0"/>
                </a:lnTo>
                <a:close/>
              </a:path>
              <a:path w="1462404" h="732154">
                <a:moveTo>
                  <a:pt x="769937" y="0"/>
                </a:moveTo>
                <a:lnTo>
                  <a:pt x="1462087" y="0"/>
                </a:lnTo>
                <a:lnTo>
                  <a:pt x="1462087" y="731837"/>
                </a:lnTo>
                <a:lnTo>
                  <a:pt x="769937" y="731837"/>
                </a:lnTo>
                <a:lnTo>
                  <a:pt x="769937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4453891" y="4237037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4306887" y="4211637"/>
            <a:ext cx="4796155" cy="732155"/>
          </a:xfrm>
          <a:custGeom>
            <a:avLst/>
            <a:gdLst/>
            <a:ahLst/>
            <a:cxnLst/>
            <a:rect l="l" t="t" r="r" b="b"/>
            <a:pathLst>
              <a:path w="4796155" h="732154">
                <a:moveTo>
                  <a:pt x="0" y="0"/>
                </a:moveTo>
                <a:lnTo>
                  <a:pt x="828675" y="0"/>
                </a:lnTo>
                <a:lnTo>
                  <a:pt x="828675" y="731837"/>
                </a:lnTo>
                <a:lnTo>
                  <a:pt x="0" y="731837"/>
                </a:lnTo>
                <a:lnTo>
                  <a:pt x="0" y="0"/>
                </a:lnTo>
                <a:close/>
              </a:path>
              <a:path w="4796155" h="732154">
                <a:moveTo>
                  <a:pt x="896937" y="0"/>
                </a:moveTo>
                <a:lnTo>
                  <a:pt x="4795837" y="0"/>
                </a:lnTo>
                <a:lnTo>
                  <a:pt x="4795837" y="731837"/>
                </a:lnTo>
                <a:lnTo>
                  <a:pt x="896937" y="731837"/>
                </a:lnTo>
                <a:lnTo>
                  <a:pt x="896937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5282566" y="4237037"/>
            <a:ext cx="3690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Times New Roman"/>
                <a:cs typeface="Times New Roman"/>
              </a:rPr>
              <a:t>Read/Write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least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significant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byte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only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3673475" y="4211637"/>
            <a:ext cx="5470525" cy="1463675"/>
          </a:xfrm>
          <a:custGeom>
            <a:avLst/>
            <a:gdLst/>
            <a:ahLst/>
            <a:cxnLst/>
            <a:rect l="l" t="t" r="r" b="b"/>
            <a:pathLst>
              <a:path w="5470525" h="1463675">
                <a:moveTo>
                  <a:pt x="1462087" y="0"/>
                </a:moveTo>
                <a:lnTo>
                  <a:pt x="5470525" y="0"/>
                </a:lnTo>
              </a:path>
              <a:path w="5470525" h="1463675">
                <a:moveTo>
                  <a:pt x="5470525" y="731837"/>
                </a:moveTo>
                <a:lnTo>
                  <a:pt x="1462087" y="731837"/>
                </a:lnTo>
                <a:lnTo>
                  <a:pt x="1462087" y="0"/>
                </a:lnTo>
              </a:path>
              <a:path w="5470525" h="1463675">
                <a:moveTo>
                  <a:pt x="0" y="731837"/>
                </a:moveTo>
                <a:lnTo>
                  <a:pt x="565150" y="731837"/>
                </a:lnTo>
                <a:lnTo>
                  <a:pt x="565150" y="1463675"/>
                </a:lnTo>
                <a:lnTo>
                  <a:pt x="0" y="1463675"/>
                </a:lnTo>
                <a:lnTo>
                  <a:pt x="0" y="731837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3752216" y="4968876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3605212" y="4943475"/>
            <a:ext cx="1462405" cy="732155"/>
          </a:xfrm>
          <a:custGeom>
            <a:avLst/>
            <a:gdLst/>
            <a:ahLst/>
            <a:cxnLst/>
            <a:rect l="l" t="t" r="r" b="b"/>
            <a:pathLst>
              <a:path w="1462404" h="732154">
                <a:moveTo>
                  <a:pt x="0" y="0"/>
                </a:moveTo>
                <a:lnTo>
                  <a:pt x="701675" y="0"/>
                </a:lnTo>
                <a:lnTo>
                  <a:pt x="701675" y="731837"/>
                </a:lnTo>
                <a:lnTo>
                  <a:pt x="0" y="731837"/>
                </a:lnTo>
                <a:lnTo>
                  <a:pt x="0" y="0"/>
                </a:lnTo>
                <a:close/>
              </a:path>
              <a:path w="1462404" h="732154">
                <a:moveTo>
                  <a:pt x="769937" y="0"/>
                </a:moveTo>
                <a:lnTo>
                  <a:pt x="1462087" y="0"/>
                </a:lnTo>
                <a:lnTo>
                  <a:pt x="1462087" y="731837"/>
                </a:lnTo>
                <a:lnTo>
                  <a:pt x="769937" y="731837"/>
                </a:lnTo>
                <a:lnTo>
                  <a:pt x="769937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4453891" y="4968876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4306887" y="4943475"/>
            <a:ext cx="4796155" cy="732155"/>
          </a:xfrm>
          <a:custGeom>
            <a:avLst/>
            <a:gdLst/>
            <a:ahLst/>
            <a:cxnLst/>
            <a:rect l="l" t="t" r="r" b="b"/>
            <a:pathLst>
              <a:path w="4796155" h="732154">
                <a:moveTo>
                  <a:pt x="0" y="0"/>
                </a:moveTo>
                <a:lnTo>
                  <a:pt x="828675" y="0"/>
                </a:lnTo>
                <a:lnTo>
                  <a:pt x="828675" y="731837"/>
                </a:lnTo>
                <a:lnTo>
                  <a:pt x="0" y="731837"/>
                </a:lnTo>
                <a:lnTo>
                  <a:pt x="0" y="0"/>
                </a:lnTo>
                <a:close/>
              </a:path>
              <a:path w="4796155" h="732154">
                <a:moveTo>
                  <a:pt x="896937" y="0"/>
                </a:moveTo>
                <a:lnTo>
                  <a:pt x="4795837" y="0"/>
                </a:lnTo>
                <a:lnTo>
                  <a:pt x="4795837" y="731837"/>
                </a:lnTo>
                <a:lnTo>
                  <a:pt x="896937" y="731837"/>
                </a:lnTo>
                <a:lnTo>
                  <a:pt x="896937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5282566" y="4968876"/>
            <a:ext cx="371665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Times New Roman"/>
                <a:cs typeface="Times New Roman"/>
              </a:rPr>
              <a:t>Read/Write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most</a:t>
            </a:r>
            <a:r>
              <a:rPr sz="1800" b="1" spc="-5" dirty="0">
                <a:latin typeface="Times New Roman"/>
                <a:cs typeface="Times New Roman"/>
              </a:rPr>
              <a:t> significant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byte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only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3673475" y="4943475"/>
            <a:ext cx="5470525" cy="1738630"/>
          </a:xfrm>
          <a:custGeom>
            <a:avLst/>
            <a:gdLst/>
            <a:ahLst/>
            <a:cxnLst/>
            <a:rect l="l" t="t" r="r" b="b"/>
            <a:pathLst>
              <a:path w="5470525" h="1738629">
                <a:moveTo>
                  <a:pt x="1462087" y="0"/>
                </a:moveTo>
                <a:lnTo>
                  <a:pt x="5470525" y="0"/>
                </a:lnTo>
              </a:path>
              <a:path w="5470525" h="1738629">
                <a:moveTo>
                  <a:pt x="5470525" y="731837"/>
                </a:moveTo>
                <a:lnTo>
                  <a:pt x="1462087" y="731837"/>
                </a:lnTo>
                <a:lnTo>
                  <a:pt x="1462087" y="0"/>
                </a:lnTo>
              </a:path>
              <a:path w="5470525" h="1738629">
                <a:moveTo>
                  <a:pt x="0" y="731837"/>
                </a:moveTo>
                <a:lnTo>
                  <a:pt x="565150" y="731837"/>
                </a:lnTo>
                <a:lnTo>
                  <a:pt x="565150" y="1738312"/>
                </a:lnTo>
                <a:lnTo>
                  <a:pt x="0" y="1738312"/>
                </a:lnTo>
                <a:lnTo>
                  <a:pt x="0" y="731837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3752216" y="5700712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3605212" y="5675312"/>
            <a:ext cx="1462405" cy="1006475"/>
          </a:xfrm>
          <a:custGeom>
            <a:avLst/>
            <a:gdLst/>
            <a:ahLst/>
            <a:cxnLst/>
            <a:rect l="l" t="t" r="r" b="b"/>
            <a:pathLst>
              <a:path w="1462404" h="1006475">
                <a:moveTo>
                  <a:pt x="0" y="0"/>
                </a:moveTo>
                <a:lnTo>
                  <a:pt x="701675" y="0"/>
                </a:lnTo>
                <a:lnTo>
                  <a:pt x="701675" y="1006475"/>
                </a:lnTo>
                <a:lnTo>
                  <a:pt x="0" y="1006475"/>
                </a:lnTo>
                <a:lnTo>
                  <a:pt x="0" y="0"/>
                </a:lnTo>
                <a:close/>
              </a:path>
              <a:path w="1462404" h="1006475">
                <a:moveTo>
                  <a:pt x="769937" y="0"/>
                </a:moveTo>
                <a:lnTo>
                  <a:pt x="1462087" y="0"/>
                </a:lnTo>
                <a:lnTo>
                  <a:pt x="1462087" y="1006475"/>
                </a:lnTo>
                <a:lnTo>
                  <a:pt x="769937" y="1006475"/>
                </a:lnTo>
                <a:lnTo>
                  <a:pt x="769937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4453891" y="5700712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4306887" y="5675312"/>
            <a:ext cx="4796155" cy="1006475"/>
          </a:xfrm>
          <a:custGeom>
            <a:avLst/>
            <a:gdLst/>
            <a:ahLst/>
            <a:cxnLst/>
            <a:rect l="l" t="t" r="r" b="b"/>
            <a:pathLst>
              <a:path w="4796155" h="1006475">
                <a:moveTo>
                  <a:pt x="0" y="0"/>
                </a:moveTo>
                <a:lnTo>
                  <a:pt x="828675" y="0"/>
                </a:lnTo>
                <a:lnTo>
                  <a:pt x="828675" y="1006475"/>
                </a:lnTo>
                <a:lnTo>
                  <a:pt x="0" y="1006475"/>
                </a:lnTo>
                <a:lnTo>
                  <a:pt x="0" y="0"/>
                </a:lnTo>
                <a:close/>
              </a:path>
              <a:path w="4796155" h="1006475">
                <a:moveTo>
                  <a:pt x="896937" y="0"/>
                </a:moveTo>
                <a:lnTo>
                  <a:pt x="4795837" y="0"/>
                </a:lnTo>
                <a:lnTo>
                  <a:pt x="4795837" y="1006475"/>
                </a:lnTo>
                <a:lnTo>
                  <a:pt x="896937" y="1006475"/>
                </a:lnTo>
                <a:lnTo>
                  <a:pt x="896937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5282566" y="5700712"/>
            <a:ext cx="37344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Times New Roman"/>
                <a:cs typeface="Times New Roman"/>
              </a:rPr>
              <a:t>Read/Write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least</a:t>
            </a:r>
            <a:r>
              <a:rPr sz="1800" b="1" spc="1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significant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byte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first, </a:t>
            </a:r>
            <a:r>
              <a:rPr sz="1800" b="1" spc="-434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Then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the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most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significant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byte.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3600450" y="2743200"/>
            <a:ext cx="5543550" cy="3943350"/>
          </a:xfrm>
          <a:custGeom>
            <a:avLst/>
            <a:gdLst/>
            <a:ahLst/>
            <a:cxnLst/>
            <a:rect l="l" t="t" r="r" b="b"/>
            <a:pathLst>
              <a:path w="5543550" h="3943350">
                <a:moveTo>
                  <a:pt x="1535112" y="2932112"/>
                </a:moveTo>
                <a:lnTo>
                  <a:pt x="5543550" y="2932112"/>
                </a:lnTo>
              </a:path>
              <a:path w="5543550" h="3943350">
                <a:moveTo>
                  <a:pt x="5543550" y="3938587"/>
                </a:moveTo>
                <a:lnTo>
                  <a:pt x="1535112" y="3938587"/>
                </a:lnTo>
                <a:lnTo>
                  <a:pt x="1535112" y="2932112"/>
                </a:lnTo>
              </a:path>
              <a:path w="5543550" h="3943350">
                <a:moveTo>
                  <a:pt x="0" y="0"/>
                </a:moveTo>
                <a:lnTo>
                  <a:pt x="5543550" y="0"/>
                </a:lnTo>
              </a:path>
              <a:path w="5543550" h="3943350">
                <a:moveTo>
                  <a:pt x="5543550" y="3943350"/>
                </a:moveTo>
                <a:lnTo>
                  <a:pt x="0" y="3943350"/>
                </a:lnTo>
                <a:lnTo>
                  <a:pt x="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288381" y="2686050"/>
          <a:ext cx="4573905" cy="1485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0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07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4218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A1A1A1"/>
                      </a:solidFill>
                      <a:prstDash val="solid"/>
                    </a:lnL>
                    <a:lnR w="12700">
                      <a:solidFill>
                        <a:srgbClr val="A1A1A1"/>
                      </a:solidFill>
                      <a:prstDash val="solid"/>
                    </a:lnR>
                    <a:lnT w="19050">
                      <a:solidFill>
                        <a:srgbClr val="A1A1A1"/>
                      </a:solidFill>
                      <a:prstDash val="solid"/>
                    </a:lnT>
                    <a:lnB w="12700">
                      <a:solidFill>
                        <a:srgbClr val="A1A1A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Binary</a:t>
                      </a: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Counter</a:t>
                      </a:r>
                      <a:r>
                        <a:rPr sz="18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16-bits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A1A1A1"/>
                      </a:solidFill>
                      <a:prstDash val="solid"/>
                    </a:lnL>
                    <a:lnR w="19050">
                      <a:solidFill>
                        <a:srgbClr val="A1A1A1"/>
                      </a:solidFill>
                      <a:prstDash val="solid"/>
                    </a:lnR>
                    <a:lnT w="19050">
                      <a:solidFill>
                        <a:srgbClr val="A1A1A1"/>
                      </a:solidFill>
                      <a:prstDash val="solid"/>
                    </a:lnT>
                    <a:lnB w="12700">
                      <a:solidFill>
                        <a:srgbClr val="A1A1A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4218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9050">
                      <a:solidFill>
                        <a:srgbClr val="A1A1A1"/>
                      </a:solidFill>
                      <a:prstDash val="solid"/>
                    </a:lnL>
                    <a:lnR w="12700">
                      <a:solidFill>
                        <a:srgbClr val="A1A1A1"/>
                      </a:solidFill>
                      <a:prstDash val="solid"/>
                    </a:lnR>
                    <a:lnT w="12700">
                      <a:solidFill>
                        <a:srgbClr val="A1A1A1"/>
                      </a:solidFill>
                      <a:prstDash val="solid"/>
                    </a:lnT>
                    <a:lnB w="19050">
                      <a:solidFill>
                        <a:srgbClr val="A1A1A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Binary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Coded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Decimal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(BCD) Counter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A1A1A1"/>
                      </a:solidFill>
                      <a:prstDash val="solid"/>
                    </a:lnL>
                    <a:lnR w="19050">
                      <a:solidFill>
                        <a:srgbClr val="A1A1A1"/>
                      </a:solidFill>
                      <a:prstDash val="solid"/>
                    </a:lnR>
                    <a:lnT w="12700">
                      <a:solidFill>
                        <a:srgbClr val="A1A1A1"/>
                      </a:solidFill>
                      <a:prstDash val="solid"/>
                    </a:lnT>
                    <a:lnB w="19050">
                      <a:solidFill>
                        <a:srgbClr val="A1A1A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72664" y="1663827"/>
            <a:ext cx="7708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Times New Roman"/>
                <a:cs typeface="Times New Roman"/>
              </a:rPr>
              <a:t>BCD: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275852" y="748506"/>
          <a:ext cx="5132070" cy="53587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5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5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5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75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5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85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775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858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858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58622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1239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76676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M2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M1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M0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Mode</a:t>
                      </a:r>
                      <a:r>
                        <a:rPr sz="20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Mode</a:t>
                      </a:r>
                      <a:r>
                        <a:rPr sz="20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Mode</a:t>
                      </a:r>
                      <a:r>
                        <a:rPr sz="20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Mode</a:t>
                      </a:r>
                      <a:r>
                        <a:rPr sz="20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Mode</a:t>
                      </a:r>
                      <a:r>
                        <a:rPr sz="20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6438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Mode</a:t>
                      </a:r>
                      <a:r>
                        <a:rPr sz="20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4864" y="697103"/>
            <a:ext cx="59334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MODE</a:t>
            </a:r>
            <a:r>
              <a:rPr sz="2800" b="1" u="heavy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</a:t>
            </a:r>
            <a:r>
              <a:rPr sz="28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:</a:t>
            </a:r>
            <a:r>
              <a:rPr sz="2800" b="1" u="heavy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Interrupt</a:t>
            </a:r>
            <a:r>
              <a:rPr sz="28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on</a:t>
            </a:r>
            <a:r>
              <a:rPr sz="28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terminal</a:t>
            </a:r>
            <a:r>
              <a:rPr sz="2800" b="1" u="heavy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count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593850" y="1974850"/>
            <a:ext cx="6032500" cy="393700"/>
            <a:chOff x="1593850" y="1974850"/>
            <a:chExt cx="6032500" cy="393700"/>
          </a:xfrm>
        </p:grpSpPr>
        <p:sp>
          <p:nvSpPr>
            <p:cNvPr id="4" name="object 4"/>
            <p:cNvSpPr/>
            <p:nvPr/>
          </p:nvSpPr>
          <p:spPr>
            <a:xfrm>
              <a:off x="1600200" y="19812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3810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00200" y="1981200"/>
              <a:ext cx="533400" cy="0"/>
            </a:xfrm>
            <a:custGeom>
              <a:avLst/>
              <a:gdLst/>
              <a:ahLst/>
              <a:cxnLst/>
              <a:rect l="l" t="t" r="r" b="b"/>
              <a:pathLst>
                <a:path w="533400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133600" y="19812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33600" y="2362200"/>
              <a:ext cx="381000" cy="0"/>
            </a:xfrm>
            <a:custGeom>
              <a:avLst/>
              <a:gdLst/>
              <a:ahLst/>
              <a:cxnLst/>
              <a:rect l="l" t="t" r="r" b="b"/>
              <a:pathLst>
                <a:path w="381000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514600" y="19812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3810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14600" y="1981200"/>
              <a:ext cx="533400" cy="0"/>
            </a:xfrm>
            <a:custGeom>
              <a:avLst/>
              <a:gdLst/>
              <a:ahLst/>
              <a:cxnLst/>
              <a:rect l="l" t="t" r="r" b="b"/>
              <a:pathLst>
                <a:path w="533400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48000" y="19812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48000" y="2362200"/>
              <a:ext cx="381000" cy="0"/>
            </a:xfrm>
            <a:custGeom>
              <a:avLst/>
              <a:gdLst/>
              <a:ahLst/>
              <a:cxnLst/>
              <a:rect l="l" t="t" r="r" b="b"/>
              <a:pathLst>
                <a:path w="381000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429000" y="19812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3810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429000" y="1981200"/>
              <a:ext cx="533400" cy="0"/>
            </a:xfrm>
            <a:custGeom>
              <a:avLst/>
              <a:gdLst/>
              <a:ahLst/>
              <a:cxnLst/>
              <a:rect l="l" t="t" r="r" b="b"/>
              <a:pathLst>
                <a:path w="533400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962400" y="19812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962400" y="2362200"/>
              <a:ext cx="381000" cy="0"/>
            </a:xfrm>
            <a:custGeom>
              <a:avLst/>
              <a:gdLst/>
              <a:ahLst/>
              <a:cxnLst/>
              <a:rect l="l" t="t" r="r" b="b"/>
              <a:pathLst>
                <a:path w="381000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343400" y="19812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3810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343400" y="1981200"/>
              <a:ext cx="533400" cy="0"/>
            </a:xfrm>
            <a:custGeom>
              <a:avLst/>
              <a:gdLst/>
              <a:ahLst/>
              <a:cxnLst/>
              <a:rect l="l" t="t" r="r" b="b"/>
              <a:pathLst>
                <a:path w="533400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876800" y="19812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76800" y="2362200"/>
              <a:ext cx="381000" cy="0"/>
            </a:xfrm>
            <a:custGeom>
              <a:avLst/>
              <a:gdLst/>
              <a:ahLst/>
              <a:cxnLst/>
              <a:rect l="l" t="t" r="r" b="b"/>
              <a:pathLst>
                <a:path w="381000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257800" y="19812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3810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257800" y="1981200"/>
              <a:ext cx="533400" cy="0"/>
            </a:xfrm>
            <a:custGeom>
              <a:avLst/>
              <a:gdLst/>
              <a:ahLst/>
              <a:cxnLst/>
              <a:rect l="l" t="t" r="r" b="b"/>
              <a:pathLst>
                <a:path w="533400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791200" y="19812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791200" y="2362200"/>
              <a:ext cx="381000" cy="0"/>
            </a:xfrm>
            <a:custGeom>
              <a:avLst/>
              <a:gdLst/>
              <a:ahLst/>
              <a:cxnLst/>
              <a:rect l="l" t="t" r="r" b="b"/>
              <a:pathLst>
                <a:path w="381000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172200" y="19812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3810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172200" y="1981200"/>
              <a:ext cx="533400" cy="0"/>
            </a:xfrm>
            <a:custGeom>
              <a:avLst/>
              <a:gdLst/>
              <a:ahLst/>
              <a:cxnLst/>
              <a:rect l="l" t="t" r="r" b="b"/>
              <a:pathLst>
                <a:path w="533400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705600" y="19812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705600" y="2362200"/>
              <a:ext cx="381000" cy="0"/>
            </a:xfrm>
            <a:custGeom>
              <a:avLst/>
              <a:gdLst/>
              <a:ahLst/>
              <a:cxnLst/>
              <a:rect l="l" t="t" r="r" b="b"/>
              <a:pathLst>
                <a:path w="381000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086600" y="19812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3810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086600" y="1981200"/>
              <a:ext cx="533400" cy="0"/>
            </a:xfrm>
            <a:custGeom>
              <a:avLst/>
              <a:gdLst/>
              <a:ahLst/>
              <a:cxnLst/>
              <a:rect l="l" t="t" r="r" b="b"/>
              <a:pathLst>
                <a:path w="533400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620000" y="19812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43865" y="2096325"/>
            <a:ext cx="116903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74700" algn="l"/>
                <a:tab pos="1155700" algn="l"/>
              </a:tabLst>
            </a:pPr>
            <a:r>
              <a:rPr sz="2000" b="1" spc="-5" dirty="0">
                <a:latin typeface="Times New Roman"/>
                <a:cs typeface="Times New Roman"/>
              </a:rPr>
              <a:t>Clk	</a:t>
            </a: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295400" y="2736850"/>
            <a:ext cx="6324600" cy="393700"/>
            <a:chOff x="1295400" y="2736850"/>
            <a:chExt cx="6324600" cy="393700"/>
          </a:xfrm>
        </p:grpSpPr>
        <p:sp>
          <p:nvSpPr>
            <p:cNvPr id="33" name="object 33"/>
            <p:cNvSpPr/>
            <p:nvPr/>
          </p:nvSpPr>
          <p:spPr>
            <a:xfrm>
              <a:off x="1295400" y="2743200"/>
              <a:ext cx="533400" cy="0"/>
            </a:xfrm>
            <a:custGeom>
              <a:avLst/>
              <a:gdLst/>
              <a:ahLst/>
              <a:cxnLst/>
              <a:rect l="l" t="t" r="r" b="b"/>
              <a:pathLst>
                <a:path w="533400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28800" y="27432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28800" y="3124200"/>
              <a:ext cx="914400" cy="0"/>
            </a:xfrm>
            <a:custGeom>
              <a:avLst/>
              <a:gdLst/>
              <a:ahLst/>
              <a:cxnLst/>
              <a:rect l="l" t="t" r="r" b="b"/>
              <a:pathLst>
                <a:path w="914400">
                  <a:moveTo>
                    <a:pt x="0" y="0"/>
                  </a:moveTo>
                  <a:lnTo>
                    <a:pt x="914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743200" y="27432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3810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743200" y="2743200"/>
              <a:ext cx="4876800" cy="0"/>
            </a:xfrm>
            <a:custGeom>
              <a:avLst/>
              <a:gdLst/>
              <a:ahLst/>
              <a:cxnLst/>
              <a:rect l="l" t="t" r="r" b="b"/>
              <a:pathLst>
                <a:path w="4876800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8" name="object 38"/>
          <p:cNvGrpSpPr/>
          <p:nvPr/>
        </p:nvGrpSpPr>
        <p:grpSpPr>
          <a:xfrm>
            <a:off x="1295400" y="3276600"/>
            <a:ext cx="6324600" cy="463550"/>
            <a:chOff x="1295400" y="3276600"/>
            <a:chExt cx="6324600" cy="463550"/>
          </a:xfrm>
        </p:grpSpPr>
        <p:sp>
          <p:nvSpPr>
            <p:cNvPr id="39" name="object 39"/>
            <p:cNvSpPr/>
            <p:nvPr/>
          </p:nvSpPr>
          <p:spPr>
            <a:xfrm>
              <a:off x="1295400" y="3733800"/>
              <a:ext cx="4876800" cy="0"/>
            </a:xfrm>
            <a:custGeom>
              <a:avLst/>
              <a:gdLst/>
              <a:ahLst/>
              <a:cxnLst/>
              <a:rect l="l" t="t" r="r" b="b"/>
              <a:pathLst>
                <a:path w="4876800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172200" y="3276600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h="457200">
                  <a:moveTo>
                    <a:pt x="0" y="4572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172200" y="3295650"/>
              <a:ext cx="1447800" cy="0"/>
            </a:xfrm>
            <a:custGeom>
              <a:avLst/>
              <a:gdLst/>
              <a:ahLst/>
              <a:cxnLst/>
              <a:rect l="l" t="t" r="r" b="b"/>
              <a:pathLst>
                <a:path w="1447800">
                  <a:moveTo>
                    <a:pt x="0" y="0"/>
                  </a:moveTo>
                  <a:lnTo>
                    <a:pt x="14478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3644265" y="2782125"/>
            <a:ext cx="152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558765" y="2782125"/>
            <a:ext cx="152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473266" y="2782125"/>
            <a:ext cx="152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387766" y="2782125"/>
            <a:ext cx="152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20397" y="2706001"/>
            <a:ext cx="46291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Times New Roman"/>
                <a:cs typeface="Times New Roman"/>
              </a:rPr>
              <a:t>WR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552450" y="2686050"/>
            <a:ext cx="381000" cy="0"/>
          </a:xfrm>
          <a:custGeom>
            <a:avLst/>
            <a:gdLst/>
            <a:ahLst/>
            <a:cxnLst/>
            <a:rect l="l" t="t" r="r" b="b"/>
            <a:pathLst>
              <a:path w="381000">
                <a:moveTo>
                  <a:pt x="0" y="0"/>
                </a:moveTo>
                <a:lnTo>
                  <a:pt x="3810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85089" y="3296475"/>
            <a:ext cx="10541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Times New Roman"/>
                <a:cs typeface="Times New Roman"/>
              </a:rPr>
              <a:t>Output </a:t>
            </a:r>
            <a:r>
              <a:rPr sz="2000" b="1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I</a:t>
            </a:r>
            <a:r>
              <a:rPr sz="2000" b="1" spc="-10" dirty="0">
                <a:latin typeface="Times New Roman"/>
                <a:cs typeface="Times New Roman"/>
              </a:rPr>
              <a:t>n</a:t>
            </a:r>
            <a:r>
              <a:rPr sz="2000" b="1" spc="-5" dirty="0">
                <a:latin typeface="Times New Roman"/>
                <a:cs typeface="Times New Roman"/>
              </a:rPr>
              <a:t>terr</a:t>
            </a:r>
            <a:r>
              <a:rPr sz="2000" b="1" spc="-10" dirty="0">
                <a:latin typeface="Times New Roman"/>
                <a:cs typeface="Times New Roman"/>
              </a:rPr>
              <a:t>u</a:t>
            </a:r>
            <a:r>
              <a:rPr sz="2000" b="1" spc="-5" dirty="0">
                <a:latin typeface="Times New Roman"/>
                <a:cs typeface="Times New Roman"/>
              </a:rPr>
              <a:t>pt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8158" y="729487"/>
            <a:ext cx="7107555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14295" marR="5080" indent="-2602230">
              <a:lnSpc>
                <a:spcPct val="100000"/>
              </a:lnSpc>
              <a:spcBef>
                <a:spcPts val="100"/>
              </a:spcBef>
            </a:pPr>
            <a:r>
              <a:rPr sz="28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MODE 1 : </a:t>
            </a:r>
            <a:r>
              <a:rPr sz="28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HARDWARE-RETRIGGERABLE </a:t>
            </a:r>
            <a:r>
              <a:rPr sz="2800" b="1" spc="-685" dirty="0">
                <a:latin typeface="Times New Roman"/>
                <a:cs typeface="Times New Roman"/>
              </a:rPr>
              <a:t> </a:t>
            </a:r>
            <a:r>
              <a:rPr sz="28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ONE-SHOT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593850" y="1974850"/>
            <a:ext cx="6032500" cy="393700"/>
            <a:chOff x="1593850" y="1974850"/>
            <a:chExt cx="6032500" cy="393700"/>
          </a:xfrm>
        </p:grpSpPr>
        <p:sp>
          <p:nvSpPr>
            <p:cNvPr id="4" name="object 4"/>
            <p:cNvSpPr/>
            <p:nvPr/>
          </p:nvSpPr>
          <p:spPr>
            <a:xfrm>
              <a:off x="1600200" y="19812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3810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00200" y="1981200"/>
              <a:ext cx="533400" cy="0"/>
            </a:xfrm>
            <a:custGeom>
              <a:avLst/>
              <a:gdLst/>
              <a:ahLst/>
              <a:cxnLst/>
              <a:rect l="l" t="t" r="r" b="b"/>
              <a:pathLst>
                <a:path w="533400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133600" y="19812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33600" y="2362200"/>
              <a:ext cx="381000" cy="0"/>
            </a:xfrm>
            <a:custGeom>
              <a:avLst/>
              <a:gdLst/>
              <a:ahLst/>
              <a:cxnLst/>
              <a:rect l="l" t="t" r="r" b="b"/>
              <a:pathLst>
                <a:path w="381000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514600" y="19812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3810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14600" y="1981200"/>
              <a:ext cx="533400" cy="0"/>
            </a:xfrm>
            <a:custGeom>
              <a:avLst/>
              <a:gdLst/>
              <a:ahLst/>
              <a:cxnLst/>
              <a:rect l="l" t="t" r="r" b="b"/>
              <a:pathLst>
                <a:path w="533400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48000" y="19812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48000" y="2362200"/>
              <a:ext cx="381000" cy="0"/>
            </a:xfrm>
            <a:custGeom>
              <a:avLst/>
              <a:gdLst/>
              <a:ahLst/>
              <a:cxnLst/>
              <a:rect l="l" t="t" r="r" b="b"/>
              <a:pathLst>
                <a:path w="381000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429000" y="19812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3810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429000" y="1981200"/>
              <a:ext cx="533400" cy="0"/>
            </a:xfrm>
            <a:custGeom>
              <a:avLst/>
              <a:gdLst/>
              <a:ahLst/>
              <a:cxnLst/>
              <a:rect l="l" t="t" r="r" b="b"/>
              <a:pathLst>
                <a:path w="533400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962400" y="19812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962400" y="2362200"/>
              <a:ext cx="381000" cy="0"/>
            </a:xfrm>
            <a:custGeom>
              <a:avLst/>
              <a:gdLst/>
              <a:ahLst/>
              <a:cxnLst/>
              <a:rect l="l" t="t" r="r" b="b"/>
              <a:pathLst>
                <a:path w="381000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343400" y="19812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3810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343400" y="1981200"/>
              <a:ext cx="533400" cy="0"/>
            </a:xfrm>
            <a:custGeom>
              <a:avLst/>
              <a:gdLst/>
              <a:ahLst/>
              <a:cxnLst/>
              <a:rect l="l" t="t" r="r" b="b"/>
              <a:pathLst>
                <a:path w="533400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876800" y="19812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76800" y="2362200"/>
              <a:ext cx="381000" cy="0"/>
            </a:xfrm>
            <a:custGeom>
              <a:avLst/>
              <a:gdLst/>
              <a:ahLst/>
              <a:cxnLst/>
              <a:rect l="l" t="t" r="r" b="b"/>
              <a:pathLst>
                <a:path w="381000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257800" y="19812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3810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257800" y="1981200"/>
              <a:ext cx="533400" cy="0"/>
            </a:xfrm>
            <a:custGeom>
              <a:avLst/>
              <a:gdLst/>
              <a:ahLst/>
              <a:cxnLst/>
              <a:rect l="l" t="t" r="r" b="b"/>
              <a:pathLst>
                <a:path w="533400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791200" y="19812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791200" y="2362200"/>
              <a:ext cx="381000" cy="0"/>
            </a:xfrm>
            <a:custGeom>
              <a:avLst/>
              <a:gdLst/>
              <a:ahLst/>
              <a:cxnLst/>
              <a:rect l="l" t="t" r="r" b="b"/>
              <a:pathLst>
                <a:path w="381000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172200" y="19812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3810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172200" y="1981200"/>
              <a:ext cx="533400" cy="0"/>
            </a:xfrm>
            <a:custGeom>
              <a:avLst/>
              <a:gdLst/>
              <a:ahLst/>
              <a:cxnLst/>
              <a:rect l="l" t="t" r="r" b="b"/>
              <a:pathLst>
                <a:path w="533400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705600" y="19812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705600" y="2362200"/>
              <a:ext cx="381000" cy="0"/>
            </a:xfrm>
            <a:custGeom>
              <a:avLst/>
              <a:gdLst/>
              <a:ahLst/>
              <a:cxnLst/>
              <a:rect l="l" t="t" r="r" b="b"/>
              <a:pathLst>
                <a:path w="381000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086600" y="19812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3810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086600" y="1981200"/>
              <a:ext cx="533400" cy="0"/>
            </a:xfrm>
            <a:custGeom>
              <a:avLst/>
              <a:gdLst/>
              <a:ahLst/>
              <a:cxnLst/>
              <a:rect l="l" t="t" r="r" b="b"/>
              <a:pathLst>
                <a:path w="533400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620000" y="19812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43865" y="2096325"/>
            <a:ext cx="116903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74700" algn="l"/>
                <a:tab pos="1155700" algn="l"/>
              </a:tabLst>
            </a:pPr>
            <a:r>
              <a:rPr sz="2000" b="1" spc="-5" dirty="0">
                <a:latin typeface="Times New Roman"/>
                <a:cs typeface="Times New Roman"/>
              </a:rPr>
              <a:t>Clk	</a:t>
            </a: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19988" y="2705823"/>
            <a:ext cx="46291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Times New Roman"/>
                <a:cs typeface="Times New Roman"/>
              </a:rPr>
              <a:t>WR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52450" y="2686050"/>
            <a:ext cx="381000" cy="0"/>
          </a:xfrm>
          <a:custGeom>
            <a:avLst/>
            <a:gdLst/>
            <a:ahLst/>
            <a:cxnLst/>
            <a:rect l="l" t="t" r="r" b="b"/>
            <a:pathLst>
              <a:path w="381000">
                <a:moveTo>
                  <a:pt x="0" y="0"/>
                </a:moveTo>
                <a:lnTo>
                  <a:pt x="3810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4" name="object 34"/>
          <p:cNvGrpSpPr/>
          <p:nvPr/>
        </p:nvGrpSpPr>
        <p:grpSpPr>
          <a:xfrm>
            <a:off x="1295400" y="2736850"/>
            <a:ext cx="6324600" cy="393700"/>
            <a:chOff x="1295400" y="2736850"/>
            <a:chExt cx="6324600" cy="393700"/>
          </a:xfrm>
        </p:grpSpPr>
        <p:sp>
          <p:nvSpPr>
            <p:cNvPr id="35" name="object 35"/>
            <p:cNvSpPr/>
            <p:nvPr/>
          </p:nvSpPr>
          <p:spPr>
            <a:xfrm>
              <a:off x="1295400" y="2743200"/>
              <a:ext cx="533400" cy="0"/>
            </a:xfrm>
            <a:custGeom>
              <a:avLst/>
              <a:gdLst/>
              <a:ahLst/>
              <a:cxnLst/>
              <a:rect l="l" t="t" r="r" b="b"/>
              <a:pathLst>
                <a:path w="533400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828800" y="27432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828800" y="3124200"/>
              <a:ext cx="914400" cy="0"/>
            </a:xfrm>
            <a:custGeom>
              <a:avLst/>
              <a:gdLst/>
              <a:ahLst/>
              <a:cxnLst/>
              <a:rect l="l" t="t" r="r" b="b"/>
              <a:pathLst>
                <a:path w="914400">
                  <a:moveTo>
                    <a:pt x="0" y="0"/>
                  </a:moveTo>
                  <a:lnTo>
                    <a:pt x="914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743200" y="27432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3810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743200" y="2743200"/>
              <a:ext cx="4876800" cy="0"/>
            </a:xfrm>
            <a:custGeom>
              <a:avLst/>
              <a:gdLst/>
              <a:ahLst/>
              <a:cxnLst/>
              <a:rect l="l" t="t" r="r" b="b"/>
              <a:pathLst>
                <a:path w="4876800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3644265" y="2782125"/>
            <a:ext cx="152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558765" y="2782125"/>
            <a:ext cx="152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473266" y="2782125"/>
            <a:ext cx="152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387766" y="2782125"/>
            <a:ext cx="152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1295400" y="3498850"/>
            <a:ext cx="6248400" cy="469900"/>
            <a:chOff x="1295400" y="3498850"/>
            <a:chExt cx="6248400" cy="469900"/>
          </a:xfrm>
        </p:grpSpPr>
        <p:sp>
          <p:nvSpPr>
            <p:cNvPr id="45" name="object 45"/>
            <p:cNvSpPr/>
            <p:nvPr/>
          </p:nvSpPr>
          <p:spPr>
            <a:xfrm>
              <a:off x="1295400" y="3505200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29000" y="3505200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429000" y="3962400"/>
              <a:ext cx="2819400" cy="0"/>
            </a:xfrm>
            <a:custGeom>
              <a:avLst/>
              <a:gdLst/>
              <a:ahLst/>
              <a:cxnLst/>
              <a:rect l="l" t="t" r="r" b="b"/>
              <a:pathLst>
                <a:path w="2819400">
                  <a:moveTo>
                    <a:pt x="0" y="0"/>
                  </a:moveTo>
                  <a:lnTo>
                    <a:pt x="2819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248400" y="3505200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h="457200">
                  <a:moveTo>
                    <a:pt x="0" y="4572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248400" y="3505200"/>
              <a:ext cx="1295400" cy="0"/>
            </a:xfrm>
            <a:custGeom>
              <a:avLst/>
              <a:gdLst/>
              <a:ahLst/>
              <a:cxnLst/>
              <a:rect l="l" t="t" r="r" b="b"/>
              <a:pathLst>
                <a:path w="1295400">
                  <a:moveTo>
                    <a:pt x="0" y="0"/>
                  </a:moveTo>
                  <a:lnTo>
                    <a:pt x="1295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326390" y="3320288"/>
            <a:ext cx="81470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Times New Roman"/>
                <a:cs typeface="Times New Roman"/>
              </a:rPr>
              <a:t>O</a:t>
            </a:r>
            <a:r>
              <a:rPr sz="2000" b="1" spc="-10" dirty="0">
                <a:latin typeface="Times New Roman"/>
                <a:cs typeface="Times New Roman"/>
              </a:rPr>
              <a:t>u</a:t>
            </a:r>
            <a:r>
              <a:rPr sz="2000" b="1" spc="-5" dirty="0">
                <a:latin typeface="Times New Roman"/>
                <a:cs typeface="Times New Roman"/>
              </a:rPr>
              <a:t>tp</a:t>
            </a:r>
            <a:r>
              <a:rPr sz="2000" b="1" spc="-10" dirty="0">
                <a:latin typeface="Times New Roman"/>
                <a:cs typeface="Times New Roman"/>
              </a:rPr>
              <a:t>ut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45088" y="942848"/>
            <a:ext cx="645350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MODE</a:t>
            </a:r>
            <a:r>
              <a:rPr sz="2800" b="1" u="heavy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</a:t>
            </a:r>
            <a:r>
              <a:rPr sz="2800" b="1" u="heavy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: </a:t>
            </a:r>
            <a:r>
              <a:rPr sz="28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RATE</a:t>
            </a:r>
            <a:r>
              <a:rPr sz="2800" b="1" u="heavy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GENERATOR</a:t>
            </a:r>
            <a:r>
              <a:rPr sz="2800" b="1" u="heavy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CLOCK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593850" y="1974850"/>
            <a:ext cx="6032500" cy="393700"/>
            <a:chOff x="1593850" y="1974850"/>
            <a:chExt cx="6032500" cy="393700"/>
          </a:xfrm>
        </p:grpSpPr>
        <p:sp>
          <p:nvSpPr>
            <p:cNvPr id="4" name="object 4"/>
            <p:cNvSpPr/>
            <p:nvPr/>
          </p:nvSpPr>
          <p:spPr>
            <a:xfrm>
              <a:off x="1600200" y="19812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3810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00200" y="1981200"/>
              <a:ext cx="533400" cy="0"/>
            </a:xfrm>
            <a:custGeom>
              <a:avLst/>
              <a:gdLst/>
              <a:ahLst/>
              <a:cxnLst/>
              <a:rect l="l" t="t" r="r" b="b"/>
              <a:pathLst>
                <a:path w="533400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133600" y="19812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33600" y="2362200"/>
              <a:ext cx="381000" cy="0"/>
            </a:xfrm>
            <a:custGeom>
              <a:avLst/>
              <a:gdLst/>
              <a:ahLst/>
              <a:cxnLst/>
              <a:rect l="l" t="t" r="r" b="b"/>
              <a:pathLst>
                <a:path w="381000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514600" y="19812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3810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14600" y="1981200"/>
              <a:ext cx="533400" cy="0"/>
            </a:xfrm>
            <a:custGeom>
              <a:avLst/>
              <a:gdLst/>
              <a:ahLst/>
              <a:cxnLst/>
              <a:rect l="l" t="t" r="r" b="b"/>
              <a:pathLst>
                <a:path w="533400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48000" y="19812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48000" y="2362200"/>
              <a:ext cx="381000" cy="0"/>
            </a:xfrm>
            <a:custGeom>
              <a:avLst/>
              <a:gdLst/>
              <a:ahLst/>
              <a:cxnLst/>
              <a:rect l="l" t="t" r="r" b="b"/>
              <a:pathLst>
                <a:path w="381000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429000" y="19812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3810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429000" y="1981200"/>
              <a:ext cx="533400" cy="0"/>
            </a:xfrm>
            <a:custGeom>
              <a:avLst/>
              <a:gdLst/>
              <a:ahLst/>
              <a:cxnLst/>
              <a:rect l="l" t="t" r="r" b="b"/>
              <a:pathLst>
                <a:path w="533400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962400" y="19812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962400" y="2362200"/>
              <a:ext cx="381000" cy="0"/>
            </a:xfrm>
            <a:custGeom>
              <a:avLst/>
              <a:gdLst/>
              <a:ahLst/>
              <a:cxnLst/>
              <a:rect l="l" t="t" r="r" b="b"/>
              <a:pathLst>
                <a:path w="381000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343400" y="19812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3810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343400" y="1981200"/>
              <a:ext cx="533400" cy="0"/>
            </a:xfrm>
            <a:custGeom>
              <a:avLst/>
              <a:gdLst/>
              <a:ahLst/>
              <a:cxnLst/>
              <a:rect l="l" t="t" r="r" b="b"/>
              <a:pathLst>
                <a:path w="533400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876800" y="19812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76800" y="2362200"/>
              <a:ext cx="381000" cy="0"/>
            </a:xfrm>
            <a:custGeom>
              <a:avLst/>
              <a:gdLst/>
              <a:ahLst/>
              <a:cxnLst/>
              <a:rect l="l" t="t" r="r" b="b"/>
              <a:pathLst>
                <a:path w="381000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257800" y="19812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3810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257800" y="1981200"/>
              <a:ext cx="533400" cy="0"/>
            </a:xfrm>
            <a:custGeom>
              <a:avLst/>
              <a:gdLst/>
              <a:ahLst/>
              <a:cxnLst/>
              <a:rect l="l" t="t" r="r" b="b"/>
              <a:pathLst>
                <a:path w="533400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791200" y="19812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791200" y="2362200"/>
              <a:ext cx="381000" cy="0"/>
            </a:xfrm>
            <a:custGeom>
              <a:avLst/>
              <a:gdLst/>
              <a:ahLst/>
              <a:cxnLst/>
              <a:rect l="l" t="t" r="r" b="b"/>
              <a:pathLst>
                <a:path w="381000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172200" y="19812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3810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172200" y="1981200"/>
              <a:ext cx="533400" cy="0"/>
            </a:xfrm>
            <a:custGeom>
              <a:avLst/>
              <a:gdLst/>
              <a:ahLst/>
              <a:cxnLst/>
              <a:rect l="l" t="t" r="r" b="b"/>
              <a:pathLst>
                <a:path w="533400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705600" y="19812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705600" y="2362200"/>
              <a:ext cx="381000" cy="0"/>
            </a:xfrm>
            <a:custGeom>
              <a:avLst/>
              <a:gdLst/>
              <a:ahLst/>
              <a:cxnLst/>
              <a:rect l="l" t="t" r="r" b="b"/>
              <a:pathLst>
                <a:path w="381000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086600" y="19812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3810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086600" y="1981200"/>
              <a:ext cx="533400" cy="0"/>
            </a:xfrm>
            <a:custGeom>
              <a:avLst/>
              <a:gdLst/>
              <a:ahLst/>
              <a:cxnLst/>
              <a:rect l="l" t="t" r="r" b="b"/>
              <a:pathLst>
                <a:path w="533400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620000" y="19812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31" name="object 31"/>
          <p:cNvGraphicFramePr>
            <a:graphicFrameLocks noGrp="1"/>
          </p:cNvGraphicFramePr>
          <p:nvPr/>
        </p:nvGraphicFramePr>
        <p:xfrm>
          <a:off x="1289050" y="2736850"/>
          <a:ext cx="5810250" cy="393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44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01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313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143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143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57480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1435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2" name="object 32"/>
          <p:cNvSpPr txBox="1"/>
          <p:nvPr/>
        </p:nvSpPr>
        <p:spPr>
          <a:xfrm>
            <a:off x="460006" y="2024947"/>
            <a:ext cx="115316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58825" algn="l"/>
                <a:tab pos="1139825" algn="l"/>
              </a:tabLst>
            </a:pPr>
            <a:r>
              <a:rPr sz="2000" b="1" spc="-5" dirty="0">
                <a:latin typeface="Times New Roman"/>
                <a:cs typeface="Times New Roman"/>
              </a:rPr>
              <a:t>Clk	</a:t>
            </a: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36130" y="2634445"/>
            <a:ext cx="46291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Times New Roman"/>
                <a:cs typeface="Times New Roman"/>
              </a:rPr>
              <a:t>WR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68325" y="2614613"/>
            <a:ext cx="381000" cy="0"/>
          </a:xfrm>
          <a:custGeom>
            <a:avLst/>
            <a:gdLst/>
            <a:ahLst/>
            <a:cxnLst/>
            <a:rect l="l" t="t" r="r" b="b"/>
            <a:pathLst>
              <a:path w="381000">
                <a:moveTo>
                  <a:pt x="0" y="0"/>
                </a:moveTo>
                <a:lnTo>
                  <a:pt x="3810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5" name="object 35"/>
          <p:cNvGrpSpPr/>
          <p:nvPr/>
        </p:nvGrpSpPr>
        <p:grpSpPr>
          <a:xfrm>
            <a:off x="1371600" y="3575050"/>
            <a:ext cx="7772400" cy="469900"/>
            <a:chOff x="1371600" y="3575050"/>
            <a:chExt cx="7772400" cy="469900"/>
          </a:xfrm>
        </p:grpSpPr>
        <p:sp>
          <p:nvSpPr>
            <p:cNvPr id="36" name="object 36"/>
            <p:cNvSpPr/>
            <p:nvPr/>
          </p:nvSpPr>
          <p:spPr>
            <a:xfrm>
              <a:off x="1371600" y="3581400"/>
              <a:ext cx="5715000" cy="0"/>
            </a:xfrm>
            <a:custGeom>
              <a:avLst/>
              <a:gdLst/>
              <a:ahLst/>
              <a:cxnLst/>
              <a:rect l="l" t="t" r="r" b="b"/>
              <a:pathLst>
                <a:path w="5715000">
                  <a:moveTo>
                    <a:pt x="0" y="0"/>
                  </a:moveTo>
                  <a:lnTo>
                    <a:pt x="57150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086600" y="3581400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086600" y="4038600"/>
              <a:ext cx="914400" cy="0"/>
            </a:xfrm>
            <a:custGeom>
              <a:avLst/>
              <a:gdLst/>
              <a:ahLst/>
              <a:cxnLst/>
              <a:rect l="l" t="t" r="r" b="b"/>
              <a:pathLst>
                <a:path w="914400">
                  <a:moveTo>
                    <a:pt x="0" y="0"/>
                  </a:moveTo>
                  <a:lnTo>
                    <a:pt x="914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001000" y="3581400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h="457200">
                  <a:moveTo>
                    <a:pt x="0" y="4572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001000" y="3581400"/>
              <a:ext cx="1143000" cy="0"/>
            </a:xfrm>
            <a:custGeom>
              <a:avLst/>
              <a:gdLst/>
              <a:ahLst/>
              <a:cxnLst/>
              <a:rect l="l" t="t" r="r" b="b"/>
              <a:pathLst>
                <a:path w="1143000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1" name="object 41"/>
          <p:cNvGrpSpPr/>
          <p:nvPr/>
        </p:nvGrpSpPr>
        <p:grpSpPr>
          <a:xfrm>
            <a:off x="7620000" y="1974850"/>
            <a:ext cx="1524000" cy="393700"/>
            <a:chOff x="7620000" y="1974850"/>
            <a:chExt cx="1524000" cy="393700"/>
          </a:xfrm>
        </p:grpSpPr>
        <p:sp>
          <p:nvSpPr>
            <p:cNvPr id="42" name="object 42"/>
            <p:cNvSpPr/>
            <p:nvPr/>
          </p:nvSpPr>
          <p:spPr>
            <a:xfrm>
              <a:off x="7620000" y="2362200"/>
              <a:ext cx="457200" cy="0"/>
            </a:xfrm>
            <a:custGeom>
              <a:avLst/>
              <a:gdLst/>
              <a:ahLst/>
              <a:cxnLst/>
              <a:rect l="l" t="t" r="r" b="b"/>
              <a:pathLst>
                <a:path w="457200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077200" y="19812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3810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077200" y="1981200"/>
              <a:ext cx="609600" cy="0"/>
            </a:xfrm>
            <a:custGeom>
              <a:avLst/>
              <a:gdLst/>
              <a:ahLst/>
              <a:cxnLst/>
              <a:rect l="l" t="t" r="r" b="b"/>
              <a:pathLst>
                <a:path w="609600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686800" y="19812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686800" y="2362200"/>
              <a:ext cx="457200" cy="0"/>
            </a:xfrm>
            <a:custGeom>
              <a:avLst/>
              <a:gdLst/>
              <a:ahLst/>
              <a:cxnLst/>
              <a:rect l="l" t="t" r="r" b="b"/>
              <a:pathLst>
                <a:path w="457200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7" name="object 47"/>
          <p:cNvGrpSpPr/>
          <p:nvPr/>
        </p:nvGrpSpPr>
        <p:grpSpPr>
          <a:xfrm>
            <a:off x="7080250" y="2724150"/>
            <a:ext cx="2063750" cy="476250"/>
            <a:chOff x="7080250" y="2724150"/>
            <a:chExt cx="2063750" cy="476250"/>
          </a:xfrm>
        </p:grpSpPr>
        <p:sp>
          <p:nvSpPr>
            <p:cNvPr id="48" name="object 48"/>
            <p:cNvSpPr/>
            <p:nvPr/>
          </p:nvSpPr>
          <p:spPr>
            <a:xfrm>
              <a:off x="7086600" y="2743200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124700" y="3181350"/>
              <a:ext cx="914400" cy="0"/>
            </a:xfrm>
            <a:custGeom>
              <a:avLst/>
              <a:gdLst/>
              <a:ahLst/>
              <a:cxnLst/>
              <a:rect l="l" t="t" r="r" b="b"/>
              <a:pathLst>
                <a:path w="914400">
                  <a:moveTo>
                    <a:pt x="0" y="0"/>
                  </a:moveTo>
                  <a:lnTo>
                    <a:pt x="914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8039100" y="2724150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h="457200">
                  <a:moveTo>
                    <a:pt x="0" y="4572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8077200" y="2743200"/>
              <a:ext cx="1066800" cy="0"/>
            </a:xfrm>
            <a:custGeom>
              <a:avLst/>
              <a:gdLst/>
              <a:ahLst/>
              <a:cxnLst/>
              <a:rect l="l" t="t" r="r" b="b"/>
              <a:pathLst>
                <a:path w="1066800">
                  <a:moveTo>
                    <a:pt x="0" y="0"/>
                  </a:moveTo>
                  <a:lnTo>
                    <a:pt x="10668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8292465" y="2782125"/>
            <a:ext cx="152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01036" y="3391623"/>
            <a:ext cx="108331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Times New Roman"/>
                <a:cs typeface="Times New Roman"/>
              </a:rPr>
              <a:t>O</a:t>
            </a:r>
            <a:r>
              <a:rPr sz="2000" b="1" spc="-10" dirty="0">
                <a:latin typeface="Times New Roman"/>
                <a:cs typeface="Times New Roman"/>
              </a:rPr>
              <a:t>U</a:t>
            </a:r>
            <a:r>
              <a:rPr sz="2000" b="1" spc="-5" dirty="0">
                <a:latin typeface="Times New Roman"/>
                <a:cs typeface="Times New Roman"/>
              </a:rPr>
              <a:t>T</a:t>
            </a:r>
            <a:r>
              <a:rPr sz="2000" b="1" spc="-10" dirty="0">
                <a:latin typeface="Times New Roman"/>
                <a:cs typeface="Times New Roman"/>
              </a:rPr>
              <a:t>P</a:t>
            </a:r>
            <a:r>
              <a:rPr sz="2000" b="1" spc="-5" dirty="0">
                <a:latin typeface="Times New Roman"/>
                <a:cs typeface="Times New Roman"/>
              </a:rPr>
              <a:t>UT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7820" y="942848"/>
            <a:ext cx="54076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MODE</a:t>
            </a:r>
            <a:r>
              <a:rPr sz="2800" b="1" u="heavy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3</a:t>
            </a:r>
            <a:r>
              <a:rPr sz="2800" b="1" u="heavy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:</a:t>
            </a:r>
            <a:r>
              <a:rPr sz="2800" b="1" u="heavy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Square</a:t>
            </a:r>
            <a:r>
              <a:rPr sz="2800" b="1" u="heavy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Wave</a:t>
            </a:r>
            <a:r>
              <a:rPr sz="2800" b="1" u="heavy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Generator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593850" y="1974850"/>
            <a:ext cx="6489700" cy="393700"/>
            <a:chOff x="1593850" y="1974850"/>
            <a:chExt cx="6489700" cy="393700"/>
          </a:xfrm>
        </p:grpSpPr>
        <p:sp>
          <p:nvSpPr>
            <p:cNvPr id="4" name="object 4"/>
            <p:cNvSpPr/>
            <p:nvPr/>
          </p:nvSpPr>
          <p:spPr>
            <a:xfrm>
              <a:off x="1600200" y="19812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3810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00200" y="1981200"/>
              <a:ext cx="533400" cy="0"/>
            </a:xfrm>
            <a:custGeom>
              <a:avLst/>
              <a:gdLst/>
              <a:ahLst/>
              <a:cxnLst/>
              <a:rect l="l" t="t" r="r" b="b"/>
              <a:pathLst>
                <a:path w="533400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133600" y="19812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33600" y="2362200"/>
              <a:ext cx="381000" cy="0"/>
            </a:xfrm>
            <a:custGeom>
              <a:avLst/>
              <a:gdLst/>
              <a:ahLst/>
              <a:cxnLst/>
              <a:rect l="l" t="t" r="r" b="b"/>
              <a:pathLst>
                <a:path w="381000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514600" y="19812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3810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14600" y="1981200"/>
              <a:ext cx="533400" cy="0"/>
            </a:xfrm>
            <a:custGeom>
              <a:avLst/>
              <a:gdLst/>
              <a:ahLst/>
              <a:cxnLst/>
              <a:rect l="l" t="t" r="r" b="b"/>
              <a:pathLst>
                <a:path w="533400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48000" y="19812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48000" y="2362200"/>
              <a:ext cx="381000" cy="0"/>
            </a:xfrm>
            <a:custGeom>
              <a:avLst/>
              <a:gdLst/>
              <a:ahLst/>
              <a:cxnLst/>
              <a:rect l="l" t="t" r="r" b="b"/>
              <a:pathLst>
                <a:path w="381000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429000" y="19812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3810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429000" y="1981200"/>
              <a:ext cx="533400" cy="0"/>
            </a:xfrm>
            <a:custGeom>
              <a:avLst/>
              <a:gdLst/>
              <a:ahLst/>
              <a:cxnLst/>
              <a:rect l="l" t="t" r="r" b="b"/>
              <a:pathLst>
                <a:path w="533400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962400" y="19812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962400" y="2362200"/>
              <a:ext cx="381000" cy="0"/>
            </a:xfrm>
            <a:custGeom>
              <a:avLst/>
              <a:gdLst/>
              <a:ahLst/>
              <a:cxnLst/>
              <a:rect l="l" t="t" r="r" b="b"/>
              <a:pathLst>
                <a:path w="381000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343400" y="19812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3810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343400" y="1981200"/>
              <a:ext cx="533400" cy="0"/>
            </a:xfrm>
            <a:custGeom>
              <a:avLst/>
              <a:gdLst/>
              <a:ahLst/>
              <a:cxnLst/>
              <a:rect l="l" t="t" r="r" b="b"/>
              <a:pathLst>
                <a:path w="533400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876800" y="19812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76800" y="2362200"/>
              <a:ext cx="381000" cy="0"/>
            </a:xfrm>
            <a:custGeom>
              <a:avLst/>
              <a:gdLst/>
              <a:ahLst/>
              <a:cxnLst/>
              <a:rect l="l" t="t" r="r" b="b"/>
              <a:pathLst>
                <a:path w="381000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257800" y="19812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3810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257800" y="1981200"/>
              <a:ext cx="533400" cy="0"/>
            </a:xfrm>
            <a:custGeom>
              <a:avLst/>
              <a:gdLst/>
              <a:ahLst/>
              <a:cxnLst/>
              <a:rect l="l" t="t" r="r" b="b"/>
              <a:pathLst>
                <a:path w="533400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791200" y="19812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791200" y="2362200"/>
              <a:ext cx="381000" cy="0"/>
            </a:xfrm>
            <a:custGeom>
              <a:avLst/>
              <a:gdLst/>
              <a:ahLst/>
              <a:cxnLst/>
              <a:rect l="l" t="t" r="r" b="b"/>
              <a:pathLst>
                <a:path w="381000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172200" y="19812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3810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172200" y="1981200"/>
              <a:ext cx="533400" cy="0"/>
            </a:xfrm>
            <a:custGeom>
              <a:avLst/>
              <a:gdLst/>
              <a:ahLst/>
              <a:cxnLst/>
              <a:rect l="l" t="t" r="r" b="b"/>
              <a:pathLst>
                <a:path w="533400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705600" y="19812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705600" y="2362200"/>
              <a:ext cx="381000" cy="0"/>
            </a:xfrm>
            <a:custGeom>
              <a:avLst/>
              <a:gdLst/>
              <a:ahLst/>
              <a:cxnLst/>
              <a:rect l="l" t="t" r="r" b="b"/>
              <a:pathLst>
                <a:path w="381000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086600" y="19812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3810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086600" y="1981200"/>
              <a:ext cx="533400" cy="0"/>
            </a:xfrm>
            <a:custGeom>
              <a:avLst/>
              <a:gdLst/>
              <a:ahLst/>
              <a:cxnLst/>
              <a:rect l="l" t="t" r="r" b="b"/>
              <a:pathLst>
                <a:path w="533400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620000" y="19812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620000" y="2362200"/>
              <a:ext cx="457200" cy="0"/>
            </a:xfrm>
            <a:custGeom>
              <a:avLst/>
              <a:gdLst/>
              <a:ahLst/>
              <a:cxnLst/>
              <a:rect l="l" t="t" r="r" b="b"/>
              <a:pathLst>
                <a:path w="457200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459740" y="2024888"/>
            <a:ext cx="115316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58825" algn="l"/>
                <a:tab pos="1139825" algn="l"/>
              </a:tabLst>
            </a:pPr>
            <a:r>
              <a:rPr sz="2000" b="1" spc="-5" dirty="0">
                <a:latin typeface="Times New Roman"/>
                <a:cs typeface="Times New Roman"/>
              </a:rPr>
              <a:t>Clk	</a:t>
            </a: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8070850" y="1974850"/>
            <a:ext cx="1073150" cy="393700"/>
            <a:chOff x="8070850" y="1974850"/>
            <a:chExt cx="1073150" cy="393700"/>
          </a:xfrm>
        </p:grpSpPr>
        <p:sp>
          <p:nvSpPr>
            <p:cNvPr id="34" name="object 34"/>
            <p:cNvSpPr/>
            <p:nvPr/>
          </p:nvSpPr>
          <p:spPr>
            <a:xfrm>
              <a:off x="8077200" y="19812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3810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077200" y="1981200"/>
              <a:ext cx="609600" cy="0"/>
            </a:xfrm>
            <a:custGeom>
              <a:avLst/>
              <a:gdLst/>
              <a:ahLst/>
              <a:cxnLst/>
              <a:rect l="l" t="t" r="r" b="b"/>
              <a:pathLst>
                <a:path w="609600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686800" y="19812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686800" y="2362200"/>
              <a:ext cx="457200" cy="0"/>
            </a:xfrm>
            <a:custGeom>
              <a:avLst/>
              <a:gdLst/>
              <a:ahLst/>
              <a:cxnLst/>
              <a:rect l="l" t="t" r="r" b="b"/>
              <a:pathLst>
                <a:path w="457200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8" name="object 38"/>
          <p:cNvGrpSpPr/>
          <p:nvPr/>
        </p:nvGrpSpPr>
        <p:grpSpPr>
          <a:xfrm>
            <a:off x="1295400" y="2736850"/>
            <a:ext cx="7467600" cy="469900"/>
            <a:chOff x="1295400" y="2736850"/>
            <a:chExt cx="7467600" cy="469900"/>
          </a:xfrm>
        </p:grpSpPr>
        <p:sp>
          <p:nvSpPr>
            <p:cNvPr id="39" name="object 39"/>
            <p:cNvSpPr/>
            <p:nvPr/>
          </p:nvSpPr>
          <p:spPr>
            <a:xfrm>
              <a:off x="1295400" y="3200400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600200" y="2743200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h="457200">
                  <a:moveTo>
                    <a:pt x="0" y="4572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600200" y="2743200"/>
              <a:ext cx="1828800" cy="0"/>
            </a:xfrm>
            <a:custGeom>
              <a:avLst/>
              <a:gdLst/>
              <a:ahLst/>
              <a:cxnLst/>
              <a:rect l="l" t="t" r="r" b="b"/>
              <a:pathLst>
                <a:path w="1828800">
                  <a:moveTo>
                    <a:pt x="0" y="0"/>
                  </a:moveTo>
                  <a:lnTo>
                    <a:pt x="18288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429000" y="2743200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429000" y="3200400"/>
              <a:ext cx="1828800" cy="0"/>
            </a:xfrm>
            <a:custGeom>
              <a:avLst/>
              <a:gdLst/>
              <a:ahLst/>
              <a:cxnLst/>
              <a:rect l="l" t="t" r="r" b="b"/>
              <a:pathLst>
                <a:path w="1828800">
                  <a:moveTo>
                    <a:pt x="0" y="0"/>
                  </a:moveTo>
                  <a:lnTo>
                    <a:pt x="18288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257800" y="2743200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h="457200">
                  <a:moveTo>
                    <a:pt x="0" y="4572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257800" y="2743200"/>
              <a:ext cx="1828800" cy="0"/>
            </a:xfrm>
            <a:custGeom>
              <a:avLst/>
              <a:gdLst/>
              <a:ahLst/>
              <a:cxnLst/>
              <a:rect l="l" t="t" r="r" b="b"/>
              <a:pathLst>
                <a:path w="1828800">
                  <a:moveTo>
                    <a:pt x="0" y="0"/>
                  </a:moveTo>
                  <a:lnTo>
                    <a:pt x="18288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086600" y="2743200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086600" y="3162300"/>
              <a:ext cx="1676400" cy="0"/>
            </a:xfrm>
            <a:custGeom>
              <a:avLst/>
              <a:gdLst/>
              <a:ahLst/>
              <a:cxnLst/>
              <a:rect l="l" t="t" r="r" b="b"/>
              <a:pathLst>
                <a:path w="1676400">
                  <a:moveTo>
                    <a:pt x="0" y="0"/>
                  </a:moveTo>
                  <a:lnTo>
                    <a:pt x="1676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1755139" y="2858325"/>
            <a:ext cx="152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Times New Roman"/>
                <a:cs typeface="Times New Roman"/>
              </a:rPr>
              <a:t>4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669640" y="2858325"/>
            <a:ext cx="152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568155" y="2782201"/>
            <a:ext cx="152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Times New Roman"/>
                <a:cs typeface="Times New Roman"/>
              </a:rPr>
              <a:t>4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482655" y="2782201"/>
            <a:ext cx="152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549403" y="2801232"/>
            <a:ext cx="152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Times New Roman"/>
                <a:cs typeface="Times New Roman"/>
              </a:rPr>
              <a:t>4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463904" y="2801232"/>
            <a:ext cx="152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378405" y="2782201"/>
            <a:ext cx="152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Times New Roman"/>
                <a:cs typeface="Times New Roman"/>
              </a:rPr>
              <a:t>4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8292905" y="2782201"/>
            <a:ext cx="152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00964" y="2806700"/>
            <a:ext cx="15024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Times New Roman"/>
                <a:cs typeface="Times New Roman"/>
              </a:rPr>
              <a:t>OUTPUT(n=4)</a:t>
            </a:r>
            <a:endParaRPr sz="1800">
              <a:latin typeface="Times New Roman"/>
              <a:cs typeface="Times New Roman"/>
            </a:endParaRPr>
          </a:p>
        </p:txBody>
      </p:sp>
      <p:graphicFrame>
        <p:nvGraphicFramePr>
          <p:cNvPr id="57" name="object 57"/>
          <p:cNvGraphicFramePr>
            <a:graphicFrameLocks noGrp="1"/>
          </p:cNvGraphicFramePr>
          <p:nvPr/>
        </p:nvGraphicFramePr>
        <p:xfrm>
          <a:off x="1289050" y="3540918"/>
          <a:ext cx="7835900" cy="4743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8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6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15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0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82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05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6588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4370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7005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2192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2192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84785" algn="ctr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2192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08915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2192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5580" algn="ctr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2192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9230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93700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" name="object 58"/>
          <p:cNvSpPr txBox="1"/>
          <p:nvPr/>
        </p:nvSpPr>
        <p:spPr>
          <a:xfrm>
            <a:off x="116839" y="3621087"/>
            <a:ext cx="15024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Times New Roman"/>
                <a:cs typeface="Times New Roman"/>
              </a:rPr>
              <a:t>OUTPUT(n=5)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818" y="942848"/>
            <a:ext cx="8359775" cy="2553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6255">
              <a:lnSpc>
                <a:spcPct val="100000"/>
              </a:lnSpc>
              <a:spcBef>
                <a:spcPts val="100"/>
              </a:spcBef>
            </a:pPr>
            <a:r>
              <a:rPr sz="28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MODE</a:t>
            </a:r>
            <a:r>
              <a:rPr sz="2800" b="1" u="heavy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4</a:t>
            </a:r>
            <a:r>
              <a:rPr sz="28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: </a:t>
            </a:r>
            <a:r>
              <a:rPr sz="28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SOFTWARE</a:t>
            </a:r>
            <a:r>
              <a:rPr sz="28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TRIGGERED</a:t>
            </a:r>
            <a:r>
              <a:rPr sz="2800" b="1" u="heavy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STROBE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 marL="12065" marR="5080" indent="-88900" algn="ctr">
              <a:lnSpc>
                <a:spcPct val="100000"/>
              </a:lnSpc>
            </a:pPr>
            <a:r>
              <a:rPr sz="2800" b="1" dirty="0">
                <a:latin typeface="Times New Roman"/>
                <a:cs typeface="Times New Roman"/>
              </a:rPr>
              <a:t>In this mode </a:t>
            </a:r>
            <a:r>
              <a:rPr sz="2800" b="1" spc="-5" dirty="0">
                <a:latin typeface="Times New Roman"/>
                <a:cs typeface="Times New Roman"/>
              </a:rPr>
              <a:t>OUT </a:t>
            </a:r>
            <a:r>
              <a:rPr sz="2800" b="1" dirty="0">
                <a:latin typeface="Times New Roman"/>
                <a:cs typeface="Times New Roman"/>
              </a:rPr>
              <a:t>is initially high; it </a:t>
            </a:r>
            <a:r>
              <a:rPr sz="2800" b="1" spc="-5" dirty="0">
                <a:latin typeface="Times New Roman"/>
                <a:cs typeface="Times New Roman"/>
              </a:rPr>
              <a:t>goes </a:t>
            </a:r>
            <a:r>
              <a:rPr sz="2800" b="1" dirty="0">
                <a:latin typeface="Times New Roman"/>
                <a:cs typeface="Times New Roman"/>
              </a:rPr>
              <a:t>low for one </a:t>
            </a:r>
            <a:r>
              <a:rPr sz="2800" b="1" spc="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clock period </a:t>
            </a:r>
            <a:r>
              <a:rPr sz="2800" b="1" dirty="0">
                <a:latin typeface="Times New Roman"/>
                <a:cs typeface="Times New Roman"/>
              </a:rPr>
              <a:t>at the </a:t>
            </a:r>
            <a:r>
              <a:rPr sz="2800" b="1" spc="-5" dirty="0">
                <a:latin typeface="Times New Roman"/>
                <a:cs typeface="Times New Roman"/>
              </a:rPr>
              <a:t>end </a:t>
            </a:r>
            <a:r>
              <a:rPr sz="2800" b="1" dirty="0">
                <a:latin typeface="Times New Roman"/>
                <a:cs typeface="Times New Roman"/>
              </a:rPr>
              <a:t>of the </a:t>
            </a:r>
            <a:r>
              <a:rPr sz="2800" b="1" spc="-5" dirty="0">
                <a:latin typeface="Times New Roman"/>
                <a:cs typeface="Times New Roman"/>
              </a:rPr>
              <a:t>count. The count </a:t>
            </a:r>
            <a:r>
              <a:rPr sz="2800" b="1" dirty="0">
                <a:latin typeface="Times New Roman"/>
                <a:cs typeface="Times New Roman"/>
              </a:rPr>
              <a:t>must be </a:t>
            </a:r>
            <a:r>
              <a:rPr sz="2800" b="1" spc="-68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RELOADED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-(</a:t>
            </a:r>
            <a:r>
              <a:rPr sz="2800" b="1" i="1" spc="-5" dirty="0">
                <a:latin typeface="Times New Roman"/>
                <a:cs typeface="Times New Roman"/>
              </a:rPr>
              <a:t>UNLIKE </a:t>
            </a:r>
            <a:r>
              <a:rPr sz="2800" b="1" i="1" dirty="0">
                <a:latin typeface="Times New Roman"/>
                <a:cs typeface="Times New Roman"/>
              </a:rPr>
              <a:t>MODE 2)</a:t>
            </a:r>
            <a:endParaRPr sz="2800">
              <a:latin typeface="Times New Roman"/>
              <a:cs typeface="Times New Roman"/>
            </a:endParaRPr>
          </a:p>
          <a:p>
            <a:pPr marL="89535" algn="ctr">
              <a:lnSpc>
                <a:spcPts val="3360"/>
              </a:lnSpc>
            </a:pPr>
            <a:r>
              <a:rPr sz="2800" b="1" dirty="0">
                <a:latin typeface="Times New Roman"/>
                <a:cs typeface="Times New Roman"/>
              </a:rPr>
              <a:t>for</a:t>
            </a:r>
            <a:r>
              <a:rPr sz="2800" b="1" spc="-8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subsequent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outputs.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0236" y="942848"/>
            <a:ext cx="738378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MODE</a:t>
            </a:r>
            <a:r>
              <a:rPr sz="2800" b="1" u="heavy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5</a:t>
            </a:r>
            <a:r>
              <a:rPr sz="2800" b="1" u="heavy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: HARWARE</a:t>
            </a:r>
            <a:r>
              <a:rPr sz="28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TRIGGERED</a:t>
            </a:r>
            <a:r>
              <a:rPr sz="2800" b="1" u="heavy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STROBE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540" y="2000504"/>
            <a:ext cx="7595234" cy="29521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This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mode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similar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to MODE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4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except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that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it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triggered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by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rising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pulse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at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gate.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Initially,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OUT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is low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and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when the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GATE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pulse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is triggered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from low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to high ,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 count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begins.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At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end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count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OUT goes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low for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one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clock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period.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71371" y="942848"/>
            <a:ext cx="600138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READ</a:t>
            </a:r>
            <a:r>
              <a:rPr sz="2800" b="1" u="heavy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BACK</a:t>
            </a:r>
            <a:r>
              <a:rPr sz="2800" b="1" u="heavy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COMMAND</a:t>
            </a:r>
            <a:r>
              <a:rPr sz="2800" b="1" u="heavy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FORMAT: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540" y="2000504"/>
            <a:ext cx="7437120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95"/>
              </a:spcBef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sz="3200" b="1" i="1" spc="-5" dirty="0">
                <a:latin typeface="Times New Roman"/>
                <a:cs typeface="Times New Roman"/>
              </a:rPr>
              <a:t>THIS FEATURE AVAILABLE ONLY IN </a:t>
            </a:r>
            <a:r>
              <a:rPr sz="3200" b="1" i="1" spc="-785" dirty="0">
                <a:latin typeface="Times New Roman"/>
                <a:cs typeface="Times New Roman"/>
              </a:rPr>
              <a:t> </a:t>
            </a:r>
            <a:r>
              <a:rPr sz="3200" b="1" i="1" spc="-5" dirty="0">
                <a:latin typeface="Times New Roman"/>
                <a:cs typeface="Times New Roman"/>
              </a:rPr>
              <a:t>8254</a:t>
            </a:r>
            <a:r>
              <a:rPr sz="3200" b="1" i="1" spc="-20" dirty="0">
                <a:latin typeface="Times New Roman"/>
                <a:cs typeface="Times New Roman"/>
              </a:rPr>
              <a:t> </a:t>
            </a:r>
            <a:r>
              <a:rPr sz="3200" b="1" i="1" spc="-5" dirty="0">
                <a:latin typeface="Times New Roman"/>
                <a:cs typeface="Times New Roman"/>
              </a:rPr>
              <a:t>and</a:t>
            </a:r>
            <a:r>
              <a:rPr sz="3200" b="1" i="1" dirty="0">
                <a:latin typeface="Times New Roman"/>
                <a:cs typeface="Times New Roman"/>
              </a:rPr>
              <a:t> </a:t>
            </a:r>
            <a:r>
              <a:rPr sz="3200" b="1" i="1" spc="-5" dirty="0">
                <a:latin typeface="Times New Roman"/>
                <a:cs typeface="Times New Roman"/>
              </a:rPr>
              <a:t>not</a:t>
            </a:r>
            <a:r>
              <a:rPr sz="3200" b="1" i="1" spc="-10" dirty="0">
                <a:latin typeface="Times New Roman"/>
                <a:cs typeface="Times New Roman"/>
              </a:rPr>
              <a:t> </a:t>
            </a:r>
            <a:r>
              <a:rPr sz="3200" b="1" i="1" spc="-5" dirty="0">
                <a:latin typeface="Times New Roman"/>
                <a:cs typeface="Times New Roman"/>
              </a:rPr>
              <a:t>in</a:t>
            </a:r>
            <a:r>
              <a:rPr sz="3200" b="1" i="1" spc="-10" dirty="0">
                <a:latin typeface="Times New Roman"/>
                <a:cs typeface="Times New Roman"/>
              </a:rPr>
              <a:t> </a:t>
            </a:r>
            <a:r>
              <a:rPr sz="3200" b="1" i="1" spc="-5" dirty="0">
                <a:latin typeface="Times New Roman"/>
                <a:cs typeface="Times New Roman"/>
              </a:rPr>
              <a:t>8253.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9275" y="3586162"/>
            <a:ext cx="869950" cy="1158875"/>
          </a:xfrm>
          <a:custGeom>
            <a:avLst/>
            <a:gdLst/>
            <a:ahLst/>
            <a:cxnLst/>
            <a:rect l="l" t="t" r="r" b="b"/>
            <a:pathLst>
              <a:path w="869950" h="1158875">
                <a:moveTo>
                  <a:pt x="0" y="0"/>
                </a:moveTo>
                <a:lnTo>
                  <a:pt x="869721" y="0"/>
                </a:lnTo>
                <a:lnTo>
                  <a:pt x="869721" y="1158875"/>
                </a:lnTo>
                <a:lnTo>
                  <a:pt x="0" y="115887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5625" y="3607752"/>
            <a:ext cx="85725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95"/>
              </a:spcBef>
            </a:pPr>
            <a:r>
              <a:rPr sz="2600" spc="-5" dirty="0">
                <a:latin typeface="Times New Roman"/>
                <a:cs typeface="Times New Roman"/>
              </a:rPr>
              <a:t>1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476" y="3586162"/>
            <a:ext cx="2188845" cy="1158875"/>
          </a:xfrm>
          <a:custGeom>
            <a:avLst/>
            <a:gdLst/>
            <a:ahLst/>
            <a:cxnLst/>
            <a:rect l="l" t="t" r="r" b="b"/>
            <a:pathLst>
              <a:path w="2188845" h="1158875">
                <a:moveTo>
                  <a:pt x="0" y="0"/>
                </a:moveTo>
                <a:lnTo>
                  <a:pt x="1055331" y="0"/>
                </a:lnTo>
                <a:lnTo>
                  <a:pt x="1055331" y="1158875"/>
                </a:lnTo>
                <a:lnTo>
                  <a:pt x="0" y="1158875"/>
                </a:lnTo>
                <a:lnTo>
                  <a:pt x="0" y="0"/>
                </a:lnTo>
                <a:close/>
              </a:path>
              <a:path w="2188845" h="1158875">
                <a:moveTo>
                  <a:pt x="1148118" y="0"/>
                </a:moveTo>
                <a:lnTo>
                  <a:pt x="2188337" y="0"/>
                </a:lnTo>
                <a:lnTo>
                  <a:pt x="2188337" y="1158875"/>
                </a:lnTo>
                <a:lnTo>
                  <a:pt x="1148118" y="1158875"/>
                </a:lnTo>
                <a:lnTo>
                  <a:pt x="1148118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60945" y="3607752"/>
            <a:ext cx="102806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95"/>
              </a:spcBef>
            </a:pPr>
            <a:r>
              <a:rPr sz="2600" spc="-5" dirty="0">
                <a:latin typeface="Times New Roman"/>
                <a:cs typeface="Times New Roman"/>
              </a:rPr>
              <a:t>1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1796" y="3586162"/>
            <a:ext cx="6841490" cy="1158875"/>
          </a:xfrm>
          <a:custGeom>
            <a:avLst/>
            <a:gdLst/>
            <a:ahLst/>
            <a:cxnLst/>
            <a:rect l="l" t="t" r="r" b="b"/>
            <a:pathLst>
              <a:path w="6841490" h="1158875">
                <a:moveTo>
                  <a:pt x="0" y="0"/>
                </a:moveTo>
                <a:lnTo>
                  <a:pt x="1225816" y="0"/>
                </a:lnTo>
                <a:lnTo>
                  <a:pt x="1225816" y="1158875"/>
                </a:lnTo>
                <a:lnTo>
                  <a:pt x="0" y="1158875"/>
                </a:lnTo>
                <a:lnTo>
                  <a:pt x="0" y="0"/>
                </a:lnTo>
                <a:close/>
              </a:path>
              <a:path w="6841490" h="1158875">
                <a:moveTo>
                  <a:pt x="1318615" y="0"/>
                </a:moveTo>
                <a:lnTo>
                  <a:pt x="2274671" y="0"/>
                </a:lnTo>
                <a:lnTo>
                  <a:pt x="2274671" y="1158875"/>
                </a:lnTo>
                <a:lnTo>
                  <a:pt x="1318615" y="1158875"/>
                </a:lnTo>
                <a:lnTo>
                  <a:pt x="1318615" y="0"/>
                </a:lnTo>
                <a:close/>
              </a:path>
              <a:path w="6841490" h="1158875">
                <a:moveTo>
                  <a:pt x="1225816" y="0"/>
                </a:moveTo>
                <a:lnTo>
                  <a:pt x="2367470" y="0"/>
                </a:lnTo>
                <a:lnTo>
                  <a:pt x="2367470" y="1158875"/>
                </a:lnTo>
                <a:lnTo>
                  <a:pt x="1225816" y="1158875"/>
                </a:lnTo>
                <a:lnTo>
                  <a:pt x="1225816" y="0"/>
                </a:lnTo>
                <a:close/>
              </a:path>
              <a:path w="6841490" h="1158875">
                <a:moveTo>
                  <a:pt x="2460269" y="0"/>
                </a:moveTo>
                <a:lnTo>
                  <a:pt x="3416325" y="0"/>
                </a:lnTo>
                <a:lnTo>
                  <a:pt x="3416325" y="1158875"/>
                </a:lnTo>
                <a:lnTo>
                  <a:pt x="2460269" y="1158875"/>
                </a:lnTo>
                <a:lnTo>
                  <a:pt x="2460269" y="0"/>
                </a:lnTo>
                <a:close/>
              </a:path>
              <a:path w="6841490" h="1158875">
                <a:moveTo>
                  <a:pt x="2367470" y="0"/>
                </a:moveTo>
                <a:lnTo>
                  <a:pt x="3509124" y="0"/>
                </a:lnTo>
                <a:lnTo>
                  <a:pt x="3509124" y="1158875"/>
                </a:lnTo>
                <a:lnTo>
                  <a:pt x="2367470" y="1158875"/>
                </a:lnTo>
                <a:lnTo>
                  <a:pt x="2367470" y="0"/>
                </a:lnTo>
                <a:close/>
              </a:path>
              <a:path w="6841490" h="1158875">
                <a:moveTo>
                  <a:pt x="3601923" y="0"/>
                </a:moveTo>
                <a:lnTo>
                  <a:pt x="4557979" y="0"/>
                </a:lnTo>
                <a:lnTo>
                  <a:pt x="4557979" y="1158875"/>
                </a:lnTo>
                <a:lnTo>
                  <a:pt x="3601923" y="1158875"/>
                </a:lnTo>
                <a:lnTo>
                  <a:pt x="3601923" y="0"/>
                </a:lnTo>
                <a:close/>
              </a:path>
              <a:path w="6841490" h="1158875">
                <a:moveTo>
                  <a:pt x="3509124" y="0"/>
                </a:moveTo>
                <a:lnTo>
                  <a:pt x="4650778" y="0"/>
                </a:lnTo>
                <a:lnTo>
                  <a:pt x="4650778" y="1158875"/>
                </a:lnTo>
                <a:lnTo>
                  <a:pt x="3509124" y="1158875"/>
                </a:lnTo>
                <a:lnTo>
                  <a:pt x="3509124" y="0"/>
                </a:lnTo>
                <a:close/>
              </a:path>
              <a:path w="6841490" h="1158875">
                <a:moveTo>
                  <a:pt x="4743577" y="0"/>
                </a:moveTo>
                <a:lnTo>
                  <a:pt x="5699633" y="0"/>
                </a:lnTo>
                <a:lnTo>
                  <a:pt x="5699633" y="1158875"/>
                </a:lnTo>
                <a:lnTo>
                  <a:pt x="4743577" y="1158875"/>
                </a:lnTo>
                <a:lnTo>
                  <a:pt x="4743577" y="0"/>
                </a:lnTo>
                <a:close/>
              </a:path>
              <a:path w="6841490" h="1158875">
                <a:moveTo>
                  <a:pt x="4650778" y="0"/>
                </a:moveTo>
                <a:lnTo>
                  <a:pt x="5792431" y="0"/>
                </a:lnTo>
                <a:lnTo>
                  <a:pt x="5792431" y="1158875"/>
                </a:lnTo>
                <a:lnTo>
                  <a:pt x="4650778" y="1158875"/>
                </a:lnTo>
                <a:lnTo>
                  <a:pt x="4650778" y="0"/>
                </a:lnTo>
                <a:close/>
              </a:path>
              <a:path w="6841490" h="1158875">
                <a:moveTo>
                  <a:pt x="5885230" y="0"/>
                </a:moveTo>
                <a:lnTo>
                  <a:pt x="6841286" y="0"/>
                </a:lnTo>
                <a:lnTo>
                  <a:pt x="6841286" y="1158875"/>
                </a:lnTo>
                <a:lnTo>
                  <a:pt x="5885230" y="1158875"/>
                </a:lnTo>
                <a:lnTo>
                  <a:pt x="588523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380418" y="3562032"/>
            <a:ext cx="5516880" cy="817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79375">
              <a:lnSpc>
                <a:spcPct val="100000"/>
              </a:lnSpc>
              <a:spcBef>
                <a:spcPts val="95"/>
              </a:spcBef>
              <a:tabLst>
                <a:tab pos="1141095" algn="l"/>
                <a:tab pos="2282825" algn="l"/>
                <a:tab pos="3424554" algn="l"/>
                <a:tab pos="4566285" algn="l"/>
              </a:tabLst>
            </a:pPr>
            <a:r>
              <a:rPr sz="2600" b="1" spc="-5" dirty="0">
                <a:latin typeface="Times New Roman"/>
                <a:cs typeface="Times New Roman"/>
              </a:rPr>
              <a:t>COU	S</a:t>
            </a:r>
            <a:r>
              <a:rPr sz="2600" b="1" spc="-200" dirty="0">
                <a:latin typeface="Times New Roman"/>
                <a:cs typeface="Times New Roman"/>
              </a:rPr>
              <a:t>T</a:t>
            </a:r>
            <a:r>
              <a:rPr sz="2600" b="1" spc="-195" dirty="0">
                <a:latin typeface="Times New Roman"/>
                <a:cs typeface="Times New Roman"/>
              </a:rPr>
              <a:t>A</a:t>
            </a:r>
            <a:r>
              <a:rPr sz="2600" b="1" spc="-5" dirty="0">
                <a:latin typeface="Times New Roman"/>
                <a:cs typeface="Times New Roman"/>
              </a:rPr>
              <a:t>T</a:t>
            </a:r>
            <a:r>
              <a:rPr sz="2600" b="1" dirty="0">
                <a:latin typeface="Times New Roman"/>
                <a:cs typeface="Times New Roman"/>
              </a:rPr>
              <a:t>	</a:t>
            </a:r>
            <a:r>
              <a:rPr sz="2600" b="1" spc="-5" dirty="0">
                <a:latin typeface="Times New Roman"/>
                <a:cs typeface="Times New Roman"/>
              </a:rPr>
              <a:t>CNT2</a:t>
            </a:r>
            <a:r>
              <a:rPr sz="2600" b="1" dirty="0">
                <a:latin typeface="Times New Roman"/>
                <a:cs typeface="Times New Roman"/>
              </a:rPr>
              <a:t>	</a:t>
            </a:r>
            <a:r>
              <a:rPr sz="2600" b="1" spc="-5" dirty="0">
                <a:latin typeface="Times New Roman"/>
                <a:cs typeface="Times New Roman"/>
              </a:rPr>
              <a:t>CNT1</a:t>
            </a:r>
            <a:r>
              <a:rPr sz="2600" b="1" dirty="0">
                <a:latin typeface="Times New Roman"/>
                <a:cs typeface="Times New Roman"/>
              </a:rPr>
              <a:t>	</a:t>
            </a:r>
            <a:r>
              <a:rPr sz="2600" b="1" spc="-5" dirty="0">
                <a:latin typeface="Times New Roman"/>
                <a:cs typeface="Times New Roman"/>
              </a:rPr>
              <a:t>CNT0  NT	US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854228" y="3586162"/>
            <a:ext cx="2190750" cy="1158875"/>
          </a:xfrm>
          <a:custGeom>
            <a:avLst/>
            <a:gdLst/>
            <a:ahLst/>
            <a:cxnLst/>
            <a:rect l="l" t="t" r="r" b="b"/>
            <a:pathLst>
              <a:path w="2190750" h="1158875">
                <a:moveTo>
                  <a:pt x="0" y="0"/>
                </a:moveTo>
                <a:lnTo>
                  <a:pt x="1141653" y="0"/>
                </a:lnTo>
                <a:lnTo>
                  <a:pt x="1141653" y="1158875"/>
                </a:lnTo>
                <a:lnTo>
                  <a:pt x="0" y="1158875"/>
                </a:lnTo>
                <a:lnTo>
                  <a:pt x="0" y="0"/>
                </a:lnTo>
                <a:close/>
              </a:path>
              <a:path w="2190750" h="1158875">
                <a:moveTo>
                  <a:pt x="1234452" y="0"/>
                </a:moveTo>
                <a:lnTo>
                  <a:pt x="2190508" y="0"/>
                </a:lnTo>
                <a:lnTo>
                  <a:pt x="2190508" y="1158875"/>
                </a:lnTo>
                <a:lnTo>
                  <a:pt x="1234452" y="1158875"/>
                </a:lnTo>
                <a:lnTo>
                  <a:pt x="1234452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095030" y="3607752"/>
            <a:ext cx="94361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latin typeface="Times New Roman"/>
                <a:cs typeface="Times New Roman"/>
              </a:rPr>
              <a:t>0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3581400"/>
            <a:ext cx="9144000" cy="1168400"/>
          </a:xfrm>
          <a:custGeom>
            <a:avLst/>
            <a:gdLst/>
            <a:ahLst/>
            <a:cxnLst/>
            <a:rect l="l" t="t" r="r" b="b"/>
            <a:pathLst>
              <a:path w="9144000" h="1168400">
                <a:moveTo>
                  <a:pt x="7995869" y="4762"/>
                </a:moveTo>
                <a:lnTo>
                  <a:pt x="9137523" y="4762"/>
                </a:lnTo>
                <a:lnTo>
                  <a:pt x="9137523" y="1163637"/>
                </a:lnTo>
                <a:lnTo>
                  <a:pt x="7995869" y="1163637"/>
                </a:lnTo>
                <a:lnTo>
                  <a:pt x="7995869" y="4762"/>
                </a:lnTo>
                <a:close/>
              </a:path>
              <a:path w="9144000" h="1168400">
                <a:moveTo>
                  <a:pt x="0" y="0"/>
                </a:moveTo>
                <a:lnTo>
                  <a:pt x="9144000" y="0"/>
                </a:lnTo>
                <a:lnTo>
                  <a:pt x="9144000" y="1168400"/>
                </a:lnTo>
                <a:lnTo>
                  <a:pt x="0" y="11684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95804" y="1194625"/>
            <a:ext cx="5151120" cy="249047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120775" marR="5080" indent="-1108710">
              <a:lnSpc>
                <a:spcPts val="9810"/>
              </a:lnSpc>
              <a:spcBef>
                <a:spcPts val="50"/>
              </a:spcBef>
            </a:pPr>
            <a:r>
              <a:rPr sz="8000" b="1" i="1" u="heavy" spc="-19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Da</a:t>
            </a:r>
            <a:r>
              <a:rPr sz="8000" b="1" i="1" u="heavy" spc="-9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</a:t>
            </a:r>
            <a:r>
              <a:rPr sz="8000" b="1" i="1" u="heavy" spc="-6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8000" b="1" i="1" u="heavy" spc="-2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8000" b="1" i="1" u="heavy" spc="-7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Tran</a:t>
            </a:r>
            <a:r>
              <a:rPr sz="8000" b="1" i="1" u="heavy" spc="-5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</a:t>
            </a:r>
            <a:r>
              <a:rPr sz="8000" b="1" i="1" u="heavy" spc="-1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</a:t>
            </a:r>
            <a:r>
              <a:rPr sz="8000" b="1" i="1" u="heavy" spc="-6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er </a:t>
            </a:r>
            <a:r>
              <a:rPr sz="8000" b="1" i="1" spc="-455" dirty="0">
                <a:latin typeface="Times New Roman"/>
                <a:cs typeface="Times New Roman"/>
              </a:rPr>
              <a:t> </a:t>
            </a:r>
            <a:r>
              <a:rPr sz="8000" b="1" i="1" u="heavy" spc="-8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Schemes</a:t>
            </a:r>
            <a:endParaRPr sz="8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7700" y="0"/>
            <a:ext cx="7327265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25395" marR="5080" indent="-2513330">
              <a:lnSpc>
                <a:spcPct val="100000"/>
              </a:lnSpc>
              <a:spcBef>
                <a:spcPts val="100"/>
              </a:spcBef>
            </a:pPr>
            <a:r>
              <a:rPr sz="5400" b="1" i="1" u="heavy" spc="-3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Wh</a:t>
            </a:r>
            <a:r>
              <a:rPr sz="5400" b="1" i="1" u="heavy" spc="-2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y</a:t>
            </a:r>
            <a:r>
              <a:rPr sz="5400" b="1" i="1" u="heavy" spc="-18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5400" b="1" i="1" u="heavy" spc="-3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</a:t>
            </a:r>
            <a:r>
              <a:rPr sz="5400" b="1" i="1" u="heavy" spc="-5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</a:t>
            </a:r>
            <a:r>
              <a:rPr sz="5400" b="1" i="1" u="heavy" spc="-1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5400" b="1" i="1" u="heavy" spc="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</a:t>
            </a:r>
            <a:r>
              <a:rPr sz="5400" b="1" i="1" u="heavy" spc="-5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</a:t>
            </a:r>
            <a:r>
              <a:rPr sz="5400" b="1" i="1" u="heavy" spc="-1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5400" b="1" i="1" u="heavy" spc="-5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nee</a:t>
            </a:r>
            <a:r>
              <a:rPr sz="5400" b="1" i="1" u="heavy" spc="-3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</a:t>
            </a:r>
            <a:r>
              <a:rPr sz="5400" b="1" i="1" u="heavy" spc="-17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dat</a:t>
            </a:r>
            <a:r>
              <a:rPr sz="5400" b="1" i="1" u="heavy" spc="-43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5400" b="1" i="1" u="heavy" spc="-17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5400" b="1" i="1" u="heavy" spc="-28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trans</a:t>
            </a:r>
            <a:r>
              <a:rPr sz="5400" b="1" i="1" u="heavy" spc="-229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</a:t>
            </a:r>
            <a:r>
              <a:rPr sz="5400" b="1" i="1" u="heavy" spc="-5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</a:t>
            </a:r>
            <a:r>
              <a:rPr sz="5400" b="1" i="1" u="heavy" spc="-4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 </a:t>
            </a:r>
            <a:r>
              <a:rPr sz="5400" b="1" i="1" spc="-310" dirty="0">
                <a:latin typeface="Times New Roman"/>
                <a:cs typeface="Times New Roman"/>
              </a:rPr>
              <a:t> </a:t>
            </a:r>
            <a:r>
              <a:rPr sz="5400" b="1" i="1" u="heavy" spc="-3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</a:t>
            </a:r>
            <a:r>
              <a:rPr sz="5400" b="1" i="1" u="heavy" spc="-5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</a:t>
            </a:r>
            <a:r>
              <a:rPr sz="5400" b="1" i="1" u="heavy" spc="-6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</a:t>
            </a:r>
            <a:r>
              <a:rPr sz="5400" b="1" i="1" u="heavy" spc="-6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eme</a:t>
            </a:r>
            <a:r>
              <a:rPr sz="5400" b="1" i="1" u="heavy" spc="-37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</a:t>
            </a:r>
            <a:r>
              <a:rPr sz="5400" b="1" i="1" u="heavy" spc="-18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5400" b="1" i="1" u="heavy" spc="-6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?</a:t>
            </a:r>
            <a:endParaRPr sz="5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9740" y="1902968"/>
            <a:ext cx="7968615" cy="3782060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355600" marR="5080" indent="-342900">
              <a:lnSpc>
                <a:spcPts val="3070"/>
              </a:lnSpc>
              <a:spcBef>
                <a:spcPts val="84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Availability of wide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variety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 I/O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devices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because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variations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manufacturing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technologies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e.g.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electromechanical,</a:t>
            </a:r>
            <a:r>
              <a:rPr sz="3200" spc="3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electrical,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mechanical, electronic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etc.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</a:pPr>
            <a:endParaRPr sz="33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Enormous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variation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 the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range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speed.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Times New Roman"/>
              <a:buChar char="•"/>
            </a:pPr>
            <a:endParaRPr sz="3300">
              <a:latin typeface="Times New Roman"/>
              <a:cs typeface="Times New Roman"/>
            </a:endParaRPr>
          </a:p>
          <a:p>
            <a:pPr marL="354965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Wide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variation in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 format of data.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900" spc="-5" dirty="0">
                <a:latin typeface="Arial MT"/>
                <a:cs typeface="Arial MT"/>
              </a:rPr>
              <a:t>•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1970" y="0"/>
            <a:ext cx="7576184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07335" marR="5080" indent="-2795270">
              <a:lnSpc>
                <a:spcPct val="100000"/>
              </a:lnSpc>
              <a:spcBef>
                <a:spcPts val="100"/>
              </a:spcBef>
            </a:pPr>
            <a:r>
              <a:rPr sz="5400" b="1" i="1" u="heavy" spc="-4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Class</a:t>
            </a:r>
            <a:r>
              <a:rPr sz="5400" b="1" i="1" u="heavy" spc="-27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sz="5400" b="1" i="1" u="heavy" spc="-7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</a:t>
            </a:r>
            <a:r>
              <a:rPr sz="5400" b="1" i="1" u="heavy" spc="-2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sz="5400" b="1" i="1" u="heavy" spc="-4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</a:t>
            </a:r>
            <a:r>
              <a:rPr sz="5400" b="1" i="1" u="heavy" spc="-5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5400" b="1" i="1" u="heavy" spc="2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</a:t>
            </a:r>
            <a:r>
              <a:rPr sz="5400" b="1" i="1" u="heavy" spc="-2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sz="5400" b="1" i="1" u="heavy" spc="-48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</a:t>
            </a:r>
            <a:r>
              <a:rPr sz="5400" b="1" i="1" u="heavy" spc="-5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5400" b="1" i="1" u="heavy" spc="-18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5400" b="1" i="1" u="heavy" spc="-5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</a:t>
            </a:r>
            <a:r>
              <a:rPr sz="5400" b="1" i="1" u="heavy" spc="-7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</a:t>
            </a:r>
            <a:r>
              <a:rPr sz="5400" b="1" i="1" u="heavy" spc="-1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5400" b="1" i="1" u="heavy" spc="-1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Dat</a:t>
            </a:r>
            <a:r>
              <a:rPr sz="5400" b="1" i="1" u="heavy" spc="-43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5400" b="1" i="1" u="heavy" spc="-1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5400" b="1" i="1" u="heavy" spc="-43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Trans</a:t>
            </a:r>
            <a:r>
              <a:rPr sz="5400" b="1" i="1" u="heavy" spc="-3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</a:t>
            </a:r>
            <a:r>
              <a:rPr sz="5400" b="1" i="1" u="heavy" spc="-4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er </a:t>
            </a:r>
            <a:r>
              <a:rPr sz="5400" b="1" i="1" spc="-310" dirty="0">
                <a:latin typeface="Times New Roman"/>
                <a:cs typeface="Times New Roman"/>
              </a:rPr>
              <a:t> </a:t>
            </a:r>
            <a:r>
              <a:rPr sz="5400" b="1" i="1" u="heavy" spc="-58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Schemes</a:t>
            </a:r>
            <a:endParaRPr sz="54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220787" y="2357433"/>
            <a:ext cx="6863080" cy="2077720"/>
            <a:chOff x="1220787" y="2357433"/>
            <a:chExt cx="6863080" cy="2077720"/>
          </a:xfrm>
        </p:grpSpPr>
        <p:sp>
          <p:nvSpPr>
            <p:cNvPr id="5" name="object 5"/>
            <p:cNvSpPr/>
            <p:nvPr/>
          </p:nvSpPr>
          <p:spPr>
            <a:xfrm>
              <a:off x="7215188" y="4191000"/>
              <a:ext cx="854075" cy="228600"/>
            </a:xfrm>
            <a:custGeom>
              <a:avLst/>
              <a:gdLst/>
              <a:ahLst/>
              <a:cxnLst/>
              <a:rect l="l" t="t" r="r" b="b"/>
              <a:pathLst>
                <a:path w="854075" h="228600">
                  <a:moveTo>
                    <a:pt x="854075" y="228600"/>
                  </a:moveTo>
                  <a:lnTo>
                    <a:pt x="854075" y="114300"/>
                  </a:lnTo>
                  <a:lnTo>
                    <a:pt x="0" y="114300"/>
                  </a:lnTo>
                  <a:lnTo>
                    <a:pt x="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361113" y="4191000"/>
              <a:ext cx="854075" cy="228600"/>
            </a:xfrm>
            <a:custGeom>
              <a:avLst/>
              <a:gdLst/>
              <a:ahLst/>
              <a:cxnLst/>
              <a:rect l="l" t="t" r="r" b="b"/>
              <a:pathLst>
                <a:path w="854075" h="228600">
                  <a:moveTo>
                    <a:pt x="0" y="228600"/>
                  </a:moveTo>
                  <a:lnTo>
                    <a:pt x="0" y="114300"/>
                  </a:lnTo>
                  <a:lnTo>
                    <a:pt x="854075" y="114300"/>
                  </a:lnTo>
                  <a:lnTo>
                    <a:pt x="854075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943225" y="4191000"/>
              <a:ext cx="1710055" cy="228600"/>
            </a:xfrm>
            <a:custGeom>
              <a:avLst/>
              <a:gdLst/>
              <a:ahLst/>
              <a:cxnLst/>
              <a:rect l="l" t="t" r="r" b="b"/>
              <a:pathLst>
                <a:path w="1710054" h="228600">
                  <a:moveTo>
                    <a:pt x="1709737" y="228600"/>
                  </a:moveTo>
                  <a:lnTo>
                    <a:pt x="1709737" y="114300"/>
                  </a:lnTo>
                  <a:lnTo>
                    <a:pt x="0" y="114300"/>
                  </a:lnTo>
                  <a:lnTo>
                    <a:pt x="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43225" y="4191000"/>
              <a:ext cx="1905" cy="228600"/>
            </a:xfrm>
            <a:custGeom>
              <a:avLst/>
              <a:gdLst/>
              <a:ahLst/>
              <a:cxnLst/>
              <a:rect l="l" t="t" r="r" b="b"/>
              <a:pathLst>
                <a:path w="1905" h="228600">
                  <a:moveTo>
                    <a:pt x="793" y="-14287"/>
                  </a:moveTo>
                  <a:lnTo>
                    <a:pt x="793" y="242887"/>
                  </a:lnTo>
                </a:path>
              </a:pathLst>
            </a:custGeom>
            <a:ln w="301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35075" y="4191000"/>
              <a:ext cx="1708150" cy="228600"/>
            </a:xfrm>
            <a:custGeom>
              <a:avLst/>
              <a:gdLst/>
              <a:ahLst/>
              <a:cxnLst/>
              <a:rect l="l" t="t" r="r" b="b"/>
              <a:pathLst>
                <a:path w="1708150" h="228600">
                  <a:moveTo>
                    <a:pt x="0" y="228600"/>
                  </a:moveTo>
                  <a:lnTo>
                    <a:pt x="0" y="114300"/>
                  </a:lnTo>
                  <a:lnTo>
                    <a:pt x="1708150" y="114300"/>
                  </a:lnTo>
                  <a:lnTo>
                    <a:pt x="170815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652963" y="2959099"/>
              <a:ext cx="2562225" cy="228600"/>
            </a:xfrm>
            <a:custGeom>
              <a:avLst/>
              <a:gdLst/>
              <a:ahLst/>
              <a:cxnLst/>
              <a:rect l="l" t="t" r="r" b="b"/>
              <a:pathLst>
                <a:path w="2562225" h="228600">
                  <a:moveTo>
                    <a:pt x="2562225" y="228600"/>
                  </a:moveTo>
                  <a:lnTo>
                    <a:pt x="2562225" y="114300"/>
                  </a:lnTo>
                  <a:lnTo>
                    <a:pt x="0" y="114300"/>
                  </a:lnTo>
                  <a:lnTo>
                    <a:pt x="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943225" y="2959099"/>
              <a:ext cx="1710055" cy="228600"/>
            </a:xfrm>
            <a:custGeom>
              <a:avLst/>
              <a:gdLst/>
              <a:ahLst/>
              <a:cxnLst/>
              <a:rect l="l" t="t" r="r" b="b"/>
              <a:pathLst>
                <a:path w="1710054" h="228600">
                  <a:moveTo>
                    <a:pt x="0" y="228600"/>
                  </a:moveTo>
                  <a:lnTo>
                    <a:pt x="0" y="114300"/>
                  </a:lnTo>
                  <a:lnTo>
                    <a:pt x="1709737" y="114300"/>
                  </a:lnTo>
                  <a:lnTo>
                    <a:pt x="1709737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76537" y="2363783"/>
              <a:ext cx="3751579" cy="595630"/>
            </a:xfrm>
            <a:custGeom>
              <a:avLst/>
              <a:gdLst/>
              <a:ahLst/>
              <a:cxnLst/>
              <a:rect l="l" t="t" r="r" b="b"/>
              <a:pathLst>
                <a:path w="3751579" h="595630">
                  <a:moveTo>
                    <a:pt x="3652037" y="0"/>
                  </a:moveTo>
                  <a:lnTo>
                    <a:pt x="99225" y="0"/>
                  </a:lnTo>
                  <a:lnTo>
                    <a:pt x="60602" y="7797"/>
                  </a:lnTo>
                  <a:lnTo>
                    <a:pt x="29062" y="29062"/>
                  </a:lnTo>
                  <a:lnTo>
                    <a:pt x="7797" y="60602"/>
                  </a:lnTo>
                  <a:lnTo>
                    <a:pt x="0" y="99225"/>
                  </a:lnTo>
                  <a:lnTo>
                    <a:pt x="0" y="496100"/>
                  </a:lnTo>
                  <a:lnTo>
                    <a:pt x="7797" y="534715"/>
                  </a:lnTo>
                  <a:lnTo>
                    <a:pt x="29062" y="566251"/>
                  </a:lnTo>
                  <a:lnTo>
                    <a:pt x="60602" y="587515"/>
                  </a:lnTo>
                  <a:lnTo>
                    <a:pt x="99225" y="595312"/>
                  </a:lnTo>
                  <a:lnTo>
                    <a:pt x="3652037" y="595312"/>
                  </a:lnTo>
                  <a:lnTo>
                    <a:pt x="3690660" y="587515"/>
                  </a:lnTo>
                  <a:lnTo>
                    <a:pt x="3722200" y="566251"/>
                  </a:lnTo>
                  <a:lnTo>
                    <a:pt x="3743464" y="534715"/>
                  </a:lnTo>
                  <a:lnTo>
                    <a:pt x="3751262" y="496100"/>
                  </a:lnTo>
                  <a:lnTo>
                    <a:pt x="3751262" y="99225"/>
                  </a:lnTo>
                  <a:lnTo>
                    <a:pt x="3743464" y="60602"/>
                  </a:lnTo>
                  <a:lnTo>
                    <a:pt x="3722200" y="29062"/>
                  </a:lnTo>
                  <a:lnTo>
                    <a:pt x="3690660" y="7797"/>
                  </a:lnTo>
                  <a:lnTo>
                    <a:pt x="3652037" y="0"/>
                  </a:lnTo>
                  <a:close/>
                </a:path>
              </a:pathLst>
            </a:custGeom>
            <a:solidFill>
              <a:srgbClr val="BBE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76537" y="2363783"/>
              <a:ext cx="3751579" cy="595630"/>
            </a:xfrm>
            <a:custGeom>
              <a:avLst/>
              <a:gdLst/>
              <a:ahLst/>
              <a:cxnLst/>
              <a:rect l="l" t="t" r="r" b="b"/>
              <a:pathLst>
                <a:path w="3751579" h="595630">
                  <a:moveTo>
                    <a:pt x="0" y="99225"/>
                  </a:moveTo>
                  <a:lnTo>
                    <a:pt x="7797" y="60602"/>
                  </a:lnTo>
                  <a:lnTo>
                    <a:pt x="29062" y="29062"/>
                  </a:lnTo>
                  <a:lnTo>
                    <a:pt x="60602" y="7797"/>
                  </a:lnTo>
                  <a:lnTo>
                    <a:pt x="99225" y="0"/>
                  </a:lnTo>
                  <a:lnTo>
                    <a:pt x="3652037" y="0"/>
                  </a:lnTo>
                  <a:lnTo>
                    <a:pt x="3690660" y="7797"/>
                  </a:lnTo>
                  <a:lnTo>
                    <a:pt x="3722200" y="29062"/>
                  </a:lnTo>
                  <a:lnTo>
                    <a:pt x="3743464" y="60602"/>
                  </a:lnTo>
                  <a:lnTo>
                    <a:pt x="3751262" y="99225"/>
                  </a:lnTo>
                  <a:lnTo>
                    <a:pt x="3751262" y="496100"/>
                  </a:lnTo>
                  <a:lnTo>
                    <a:pt x="3743464" y="534715"/>
                  </a:lnTo>
                  <a:lnTo>
                    <a:pt x="3722200" y="566251"/>
                  </a:lnTo>
                  <a:lnTo>
                    <a:pt x="3690660" y="587515"/>
                  </a:lnTo>
                  <a:lnTo>
                    <a:pt x="3652037" y="595312"/>
                  </a:lnTo>
                  <a:lnTo>
                    <a:pt x="99225" y="595312"/>
                  </a:lnTo>
                  <a:lnTo>
                    <a:pt x="60602" y="587515"/>
                  </a:lnTo>
                  <a:lnTo>
                    <a:pt x="29062" y="566251"/>
                  </a:lnTo>
                  <a:lnTo>
                    <a:pt x="7797" y="534715"/>
                  </a:lnTo>
                  <a:lnTo>
                    <a:pt x="0" y="496100"/>
                  </a:lnTo>
                  <a:lnTo>
                    <a:pt x="0" y="9922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845180" y="2391187"/>
            <a:ext cx="361569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latin typeface="Times New Roman"/>
                <a:cs typeface="Times New Roman"/>
              </a:rPr>
              <a:t>Data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transfer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schemes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917700" y="3181348"/>
            <a:ext cx="2051050" cy="1016000"/>
            <a:chOff x="1917700" y="3181348"/>
            <a:chExt cx="2051050" cy="1016000"/>
          </a:xfrm>
        </p:grpSpPr>
        <p:sp>
          <p:nvSpPr>
            <p:cNvPr id="16" name="object 16"/>
            <p:cNvSpPr/>
            <p:nvPr/>
          </p:nvSpPr>
          <p:spPr>
            <a:xfrm>
              <a:off x="1924050" y="3187698"/>
              <a:ext cx="2038350" cy="1003300"/>
            </a:xfrm>
            <a:custGeom>
              <a:avLst/>
              <a:gdLst/>
              <a:ahLst/>
              <a:cxnLst/>
              <a:rect l="l" t="t" r="r" b="b"/>
              <a:pathLst>
                <a:path w="2038350" h="1003300">
                  <a:moveTo>
                    <a:pt x="1871129" y="0"/>
                  </a:moveTo>
                  <a:lnTo>
                    <a:pt x="167220" y="0"/>
                  </a:lnTo>
                  <a:lnTo>
                    <a:pt x="122766" y="5973"/>
                  </a:lnTo>
                  <a:lnTo>
                    <a:pt x="82820" y="22830"/>
                  </a:lnTo>
                  <a:lnTo>
                    <a:pt x="48977" y="48977"/>
                  </a:lnTo>
                  <a:lnTo>
                    <a:pt x="22830" y="82820"/>
                  </a:lnTo>
                  <a:lnTo>
                    <a:pt x="5973" y="122766"/>
                  </a:lnTo>
                  <a:lnTo>
                    <a:pt x="0" y="167220"/>
                  </a:lnTo>
                  <a:lnTo>
                    <a:pt x="0" y="836079"/>
                  </a:lnTo>
                  <a:lnTo>
                    <a:pt x="5973" y="880533"/>
                  </a:lnTo>
                  <a:lnTo>
                    <a:pt x="22830" y="920479"/>
                  </a:lnTo>
                  <a:lnTo>
                    <a:pt x="48977" y="954322"/>
                  </a:lnTo>
                  <a:lnTo>
                    <a:pt x="82820" y="980469"/>
                  </a:lnTo>
                  <a:lnTo>
                    <a:pt x="122766" y="997326"/>
                  </a:lnTo>
                  <a:lnTo>
                    <a:pt x="167220" y="1003299"/>
                  </a:lnTo>
                  <a:lnTo>
                    <a:pt x="1871129" y="1003299"/>
                  </a:lnTo>
                  <a:lnTo>
                    <a:pt x="1915583" y="997326"/>
                  </a:lnTo>
                  <a:lnTo>
                    <a:pt x="1955529" y="980469"/>
                  </a:lnTo>
                  <a:lnTo>
                    <a:pt x="1989372" y="954322"/>
                  </a:lnTo>
                  <a:lnTo>
                    <a:pt x="2015519" y="920479"/>
                  </a:lnTo>
                  <a:lnTo>
                    <a:pt x="2032376" y="880533"/>
                  </a:lnTo>
                  <a:lnTo>
                    <a:pt x="2038350" y="836079"/>
                  </a:lnTo>
                  <a:lnTo>
                    <a:pt x="2038350" y="167220"/>
                  </a:lnTo>
                  <a:lnTo>
                    <a:pt x="2032376" y="122766"/>
                  </a:lnTo>
                  <a:lnTo>
                    <a:pt x="2015519" y="82820"/>
                  </a:lnTo>
                  <a:lnTo>
                    <a:pt x="1989372" y="48977"/>
                  </a:lnTo>
                  <a:lnTo>
                    <a:pt x="1955529" y="22830"/>
                  </a:lnTo>
                  <a:lnTo>
                    <a:pt x="1915583" y="5973"/>
                  </a:lnTo>
                  <a:lnTo>
                    <a:pt x="1871129" y="0"/>
                  </a:lnTo>
                  <a:close/>
                </a:path>
              </a:pathLst>
            </a:custGeom>
            <a:solidFill>
              <a:srgbClr val="BBE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924050" y="3187698"/>
              <a:ext cx="2038350" cy="1003300"/>
            </a:xfrm>
            <a:custGeom>
              <a:avLst/>
              <a:gdLst/>
              <a:ahLst/>
              <a:cxnLst/>
              <a:rect l="l" t="t" r="r" b="b"/>
              <a:pathLst>
                <a:path w="2038350" h="1003300">
                  <a:moveTo>
                    <a:pt x="0" y="167220"/>
                  </a:moveTo>
                  <a:lnTo>
                    <a:pt x="5973" y="122766"/>
                  </a:lnTo>
                  <a:lnTo>
                    <a:pt x="22830" y="82820"/>
                  </a:lnTo>
                  <a:lnTo>
                    <a:pt x="48977" y="48977"/>
                  </a:lnTo>
                  <a:lnTo>
                    <a:pt x="82820" y="22830"/>
                  </a:lnTo>
                  <a:lnTo>
                    <a:pt x="122766" y="5973"/>
                  </a:lnTo>
                  <a:lnTo>
                    <a:pt x="167220" y="0"/>
                  </a:lnTo>
                  <a:lnTo>
                    <a:pt x="1871129" y="0"/>
                  </a:lnTo>
                  <a:lnTo>
                    <a:pt x="1915583" y="5973"/>
                  </a:lnTo>
                  <a:lnTo>
                    <a:pt x="1955529" y="22830"/>
                  </a:lnTo>
                  <a:lnTo>
                    <a:pt x="1989372" y="48977"/>
                  </a:lnTo>
                  <a:lnTo>
                    <a:pt x="2015519" y="82820"/>
                  </a:lnTo>
                  <a:lnTo>
                    <a:pt x="2032376" y="122766"/>
                  </a:lnTo>
                  <a:lnTo>
                    <a:pt x="2038350" y="167220"/>
                  </a:lnTo>
                  <a:lnTo>
                    <a:pt x="2038350" y="836079"/>
                  </a:lnTo>
                  <a:lnTo>
                    <a:pt x="2032376" y="880533"/>
                  </a:lnTo>
                  <a:lnTo>
                    <a:pt x="2015519" y="920479"/>
                  </a:lnTo>
                  <a:lnTo>
                    <a:pt x="1989372" y="954322"/>
                  </a:lnTo>
                  <a:lnTo>
                    <a:pt x="1955529" y="980469"/>
                  </a:lnTo>
                  <a:lnTo>
                    <a:pt x="1915583" y="997326"/>
                  </a:lnTo>
                  <a:lnTo>
                    <a:pt x="1871129" y="1003299"/>
                  </a:lnTo>
                  <a:lnTo>
                    <a:pt x="167220" y="1003299"/>
                  </a:lnTo>
                  <a:lnTo>
                    <a:pt x="122766" y="997326"/>
                  </a:lnTo>
                  <a:lnTo>
                    <a:pt x="82820" y="980469"/>
                  </a:lnTo>
                  <a:lnTo>
                    <a:pt x="48977" y="954322"/>
                  </a:lnTo>
                  <a:lnTo>
                    <a:pt x="22830" y="920479"/>
                  </a:lnTo>
                  <a:lnTo>
                    <a:pt x="5973" y="880533"/>
                  </a:lnTo>
                  <a:lnTo>
                    <a:pt x="0" y="836079"/>
                  </a:lnTo>
                  <a:lnTo>
                    <a:pt x="0" y="16722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007067" y="3237737"/>
            <a:ext cx="1870710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81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Progr</a:t>
            </a:r>
            <a:r>
              <a:rPr sz="2800" spc="-5" dirty="0">
                <a:latin typeface="Times New Roman"/>
                <a:cs typeface="Times New Roman"/>
              </a:rPr>
              <a:t>amme</a:t>
            </a:r>
            <a:r>
              <a:rPr sz="2800" dirty="0">
                <a:latin typeface="Times New Roman"/>
                <a:cs typeface="Times New Roman"/>
              </a:rPr>
              <a:t>d  </a:t>
            </a:r>
            <a:r>
              <a:rPr sz="2800" spc="-5" dirty="0">
                <a:latin typeface="Times New Roman"/>
                <a:cs typeface="Times New Roman"/>
              </a:rPr>
              <a:t>Data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transfer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189663" y="3181348"/>
            <a:ext cx="2051050" cy="1016000"/>
            <a:chOff x="6189663" y="3181348"/>
            <a:chExt cx="2051050" cy="1016000"/>
          </a:xfrm>
        </p:grpSpPr>
        <p:sp>
          <p:nvSpPr>
            <p:cNvPr id="20" name="object 20"/>
            <p:cNvSpPr/>
            <p:nvPr/>
          </p:nvSpPr>
          <p:spPr>
            <a:xfrm>
              <a:off x="6196013" y="3187698"/>
              <a:ext cx="2038350" cy="1003300"/>
            </a:xfrm>
            <a:custGeom>
              <a:avLst/>
              <a:gdLst/>
              <a:ahLst/>
              <a:cxnLst/>
              <a:rect l="l" t="t" r="r" b="b"/>
              <a:pathLst>
                <a:path w="2038350" h="1003300">
                  <a:moveTo>
                    <a:pt x="1871129" y="0"/>
                  </a:moveTo>
                  <a:lnTo>
                    <a:pt x="167220" y="0"/>
                  </a:lnTo>
                  <a:lnTo>
                    <a:pt x="122766" y="5973"/>
                  </a:lnTo>
                  <a:lnTo>
                    <a:pt x="82820" y="22830"/>
                  </a:lnTo>
                  <a:lnTo>
                    <a:pt x="48977" y="48977"/>
                  </a:lnTo>
                  <a:lnTo>
                    <a:pt x="22830" y="82820"/>
                  </a:lnTo>
                  <a:lnTo>
                    <a:pt x="5973" y="122766"/>
                  </a:lnTo>
                  <a:lnTo>
                    <a:pt x="0" y="167220"/>
                  </a:lnTo>
                  <a:lnTo>
                    <a:pt x="0" y="836079"/>
                  </a:lnTo>
                  <a:lnTo>
                    <a:pt x="5973" y="880533"/>
                  </a:lnTo>
                  <a:lnTo>
                    <a:pt x="22830" y="920479"/>
                  </a:lnTo>
                  <a:lnTo>
                    <a:pt x="48977" y="954322"/>
                  </a:lnTo>
                  <a:lnTo>
                    <a:pt x="82820" y="980469"/>
                  </a:lnTo>
                  <a:lnTo>
                    <a:pt x="122766" y="997326"/>
                  </a:lnTo>
                  <a:lnTo>
                    <a:pt x="167220" y="1003299"/>
                  </a:lnTo>
                  <a:lnTo>
                    <a:pt x="1871129" y="1003299"/>
                  </a:lnTo>
                  <a:lnTo>
                    <a:pt x="1915583" y="997326"/>
                  </a:lnTo>
                  <a:lnTo>
                    <a:pt x="1955529" y="980469"/>
                  </a:lnTo>
                  <a:lnTo>
                    <a:pt x="1989372" y="954322"/>
                  </a:lnTo>
                  <a:lnTo>
                    <a:pt x="2015519" y="920479"/>
                  </a:lnTo>
                  <a:lnTo>
                    <a:pt x="2032376" y="880533"/>
                  </a:lnTo>
                  <a:lnTo>
                    <a:pt x="2038350" y="836079"/>
                  </a:lnTo>
                  <a:lnTo>
                    <a:pt x="2038350" y="167220"/>
                  </a:lnTo>
                  <a:lnTo>
                    <a:pt x="2032376" y="122766"/>
                  </a:lnTo>
                  <a:lnTo>
                    <a:pt x="2015519" y="82820"/>
                  </a:lnTo>
                  <a:lnTo>
                    <a:pt x="1989372" y="48977"/>
                  </a:lnTo>
                  <a:lnTo>
                    <a:pt x="1955529" y="22830"/>
                  </a:lnTo>
                  <a:lnTo>
                    <a:pt x="1915583" y="5973"/>
                  </a:lnTo>
                  <a:lnTo>
                    <a:pt x="1871129" y="0"/>
                  </a:lnTo>
                  <a:close/>
                </a:path>
              </a:pathLst>
            </a:custGeom>
            <a:solidFill>
              <a:srgbClr val="BBE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196013" y="3187698"/>
              <a:ext cx="2038350" cy="1003300"/>
            </a:xfrm>
            <a:custGeom>
              <a:avLst/>
              <a:gdLst/>
              <a:ahLst/>
              <a:cxnLst/>
              <a:rect l="l" t="t" r="r" b="b"/>
              <a:pathLst>
                <a:path w="2038350" h="1003300">
                  <a:moveTo>
                    <a:pt x="0" y="167220"/>
                  </a:moveTo>
                  <a:lnTo>
                    <a:pt x="5973" y="122766"/>
                  </a:lnTo>
                  <a:lnTo>
                    <a:pt x="22830" y="82820"/>
                  </a:lnTo>
                  <a:lnTo>
                    <a:pt x="48977" y="48977"/>
                  </a:lnTo>
                  <a:lnTo>
                    <a:pt x="82820" y="22830"/>
                  </a:lnTo>
                  <a:lnTo>
                    <a:pt x="122766" y="5973"/>
                  </a:lnTo>
                  <a:lnTo>
                    <a:pt x="167220" y="0"/>
                  </a:lnTo>
                  <a:lnTo>
                    <a:pt x="1871129" y="0"/>
                  </a:lnTo>
                  <a:lnTo>
                    <a:pt x="1915583" y="5973"/>
                  </a:lnTo>
                  <a:lnTo>
                    <a:pt x="1955529" y="22830"/>
                  </a:lnTo>
                  <a:lnTo>
                    <a:pt x="1989372" y="48977"/>
                  </a:lnTo>
                  <a:lnTo>
                    <a:pt x="2015519" y="82820"/>
                  </a:lnTo>
                  <a:lnTo>
                    <a:pt x="2032376" y="122766"/>
                  </a:lnTo>
                  <a:lnTo>
                    <a:pt x="2038350" y="167220"/>
                  </a:lnTo>
                  <a:lnTo>
                    <a:pt x="2038350" y="836079"/>
                  </a:lnTo>
                  <a:lnTo>
                    <a:pt x="2032376" y="880533"/>
                  </a:lnTo>
                  <a:lnTo>
                    <a:pt x="2015519" y="920479"/>
                  </a:lnTo>
                  <a:lnTo>
                    <a:pt x="1989372" y="954322"/>
                  </a:lnTo>
                  <a:lnTo>
                    <a:pt x="1955529" y="980469"/>
                  </a:lnTo>
                  <a:lnTo>
                    <a:pt x="1915583" y="997326"/>
                  </a:lnTo>
                  <a:lnTo>
                    <a:pt x="1871129" y="1003299"/>
                  </a:lnTo>
                  <a:lnTo>
                    <a:pt x="167220" y="1003299"/>
                  </a:lnTo>
                  <a:lnTo>
                    <a:pt x="122766" y="997326"/>
                  </a:lnTo>
                  <a:lnTo>
                    <a:pt x="82820" y="980469"/>
                  </a:lnTo>
                  <a:lnTo>
                    <a:pt x="48977" y="954322"/>
                  </a:lnTo>
                  <a:lnTo>
                    <a:pt x="22830" y="920479"/>
                  </a:lnTo>
                  <a:lnTo>
                    <a:pt x="5973" y="880533"/>
                  </a:lnTo>
                  <a:lnTo>
                    <a:pt x="0" y="836079"/>
                  </a:lnTo>
                  <a:lnTo>
                    <a:pt x="0" y="16722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279229" y="3237737"/>
            <a:ext cx="1870710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DMA</a:t>
            </a:r>
            <a:endParaRPr sz="2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800" spc="-5" dirty="0">
                <a:latin typeface="Times New Roman"/>
                <a:cs typeface="Times New Roman"/>
              </a:rPr>
              <a:t>Data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transfer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50850" y="4413256"/>
            <a:ext cx="1568450" cy="676275"/>
            <a:chOff x="450850" y="4413256"/>
            <a:chExt cx="1568450" cy="676275"/>
          </a:xfrm>
        </p:grpSpPr>
        <p:sp>
          <p:nvSpPr>
            <p:cNvPr id="24" name="object 24"/>
            <p:cNvSpPr/>
            <p:nvPr/>
          </p:nvSpPr>
          <p:spPr>
            <a:xfrm>
              <a:off x="457200" y="4419606"/>
              <a:ext cx="1555750" cy="663575"/>
            </a:xfrm>
            <a:custGeom>
              <a:avLst/>
              <a:gdLst/>
              <a:ahLst/>
              <a:cxnLst/>
              <a:rect l="l" t="t" r="r" b="b"/>
              <a:pathLst>
                <a:path w="1555750" h="663575">
                  <a:moveTo>
                    <a:pt x="1445145" y="0"/>
                  </a:moveTo>
                  <a:lnTo>
                    <a:pt x="110604" y="0"/>
                  </a:lnTo>
                  <a:lnTo>
                    <a:pt x="67551" y="8689"/>
                  </a:lnTo>
                  <a:lnTo>
                    <a:pt x="32394" y="32388"/>
                  </a:lnTo>
                  <a:lnTo>
                    <a:pt x="8691" y="67540"/>
                  </a:lnTo>
                  <a:lnTo>
                    <a:pt x="0" y="110591"/>
                  </a:lnTo>
                  <a:lnTo>
                    <a:pt x="0" y="552970"/>
                  </a:lnTo>
                  <a:lnTo>
                    <a:pt x="8691" y="596023"/>
                  </a:lnTo>
                  <a:lnTo>
                    <a:pt x="32394" y="631180"/>
                  </a:lnTo>
                  <a:lnTo>
                    <a:pt x="67551" y="654883"/>
                  </a:lnTo>
                  <a:lnTo>
                    <a:pt x="110604" y="663575"/>
                  </a:lnTo>
                  <a:lnTo>
                    <a:pt x="1445158" y="663575"/>
                  </a:lnTo>
                  <a:lnTo>
                    <a:pt x="1488204" y="654883"/>
                  </a:lnTo>
                  <a:lnTo>
                    <a:pt x="1523357" y="631180"/>
                  </a:lnTo>
                  <a:lnTo>
                    <a:pt x="1547058" y="596023"/>
                  </a:lnTo>
                  <a:lnTo>
                    <a:pt x="1555750" y="552970"/>
                  </a:lnTo>
                  <a:lnTo>
                    <a:pt x="1555750" y="110591"/>
                  </a:lnTo>
                  <a:lnTo>
                    <a:pt x="1547058" y="67540"/>
                  </a:lnTo>
                  <a:lnTo>
                    <a:pt x="1523355" y="32388"/>
                  </a:lnTo>
                  <a:lnTo>
                    <a:pt x="1488198" y="8689"/>
                  </a:lnTo>
                  <a:lnTo>
                    <a:pt x="1445145" y="0"/>
                  </a:lnTo>
                  <a:close/>
                </a:path>
              </a:pathLst>
            </a:custGeom>
            <a:solidFill>
              <a:srgbClr val="BBE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7200" y="4419606"/>
              <a:ext cx="1555750" cy="663575"/>
            </a:xfrm>
            <a:custGeom>
              <a:avLst/>
              <a:gdLst/>
              <a:ahLst/>
              <a:cxnLst/>
              <a:rect l="l" t="t" r="r" b="b"/>
              <a:pathLst>
                <a:path w="1555750" h="663575">
                  <a:moveTo>
                    <a:pt x="0" y="110591"/>
                  </a:moveTo>
                  <a:lnTo>
                    <a:pt x="8691" y="67540"/>
                  </a:lnTo>
                  <a:lnTo>
                    <a:pt x="32394" y="32388"/>
                  </a:lnTo>
                  <a:lnTo>
                    <a:pt x="67551" y="8689"/>
                  </a:lnTo>
                  <a:lnTo>
                    <a:pt x="110604" y="0"/>
                  </a:lnTo>
                  <a:lnTo>
                    <a:pt x="1445158" y="0"/>
                  </a:lnTo>
                  <a:lnTo>
                    <a:pt x="1488198" y="8689"/>
                  </a:lnTo>
                  <a:lnTo>
                    <a:pt x="1523355" y="32388"/>
                  </a:lnTo>
                  <a:lnTo>
                    <a:pt x="1547058" y="67540"/>
                  </a:lnTo>
                  <a:lnTo>
                    <a:pt x="1555750" y="110591"/>
                  </a:lnTo>
                  <a:lnTo>
                    <a:pt x="1555750" y="552970"/>
                  </a:lnTo>
                  <a:lnTo>
                    <a:pt x="1547058" y="596023"/>
                  </a:lnTo>
                  <a:lnTo>
                    <a:pt x="1523357" y="631180"/>
                  </a:lnTo>
                  <a:lnTo>
                    <a:pt x="1488204" y="654883"/>
                  </a:lnTo>
                  <a:lnTo>
                    <a:pt x="1445158" y="663575"/>
                  </a:lnTo>
                  <a:lnTo>
                    <a:pt x="110604" y="663575"/>
                  </a:lnTo>
                  <a:lnTo>
                    <a:pt x="67551" y="654883"/>
                  </a:lnTo>
                  <a:lnTo>
                    <a:pt x="32394" y="631180"/>
                  </a:lnTo>
                  <a:lnTo>
                    <a:pt x="8691" y="596023"/>
                  </a:lnTo>
                  <a:lnTo>
                    <a:pt x="0" y="552970"/>
                  </a:lnTo>
                  <a:lnTo>
                    <a:pt x="0" y="11059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96963" y="4456747"/>
            <a:ext cx="1219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4175" marR="5080" indent="-37211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Sync</a:t>
            </a:r>
            <a:r>
              <a:rPr sz="1800" dirty="0">
                <a:latin typeface="Times New Roman"/>
                <a:cs typeface="Times New Roman"/>
              </a:rPr>
              <a:t>hronous  </a:t>
            </a:r>
            <a:r>
              <a:rPr sz="1800" spc="-5" dirty="0">
                <a:latin typeface="Times New Roman"/>
                <a:cs typeface="Times New Roman"/>
              </a:rPr>
              <a:t>mode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159000" y="4413256"/>
            <a:ext cx="1568450" cy="676275"/>
            <a:chOff x="2159000" y="4413256"/>
            <a:chExt cx="1568450" cy="676275"/>
          </a:xfrm>
        </p:grpSpPr>
        <p:sp>
          <p:nvSpPr>
            <p:cNvPr id="28" name="object 28"/>
            <p:cNvSpPr/>
            <p:nvPr/>
          </p:nvSpPr>
          <p:spPr>
            <a:xfrm>
              <a:off x="2165350" y="4419606"/>
              <a:ext cx="1555750" cy="663575"/>
            </a:xfrm>
            <a:custGeom>
              <a:avLst/>
              <a:gdLst/>
              <a:ahLst/>
              <a:cxnLst/>
              <a:rect l="l" t="t" r="r" b="b"/>
              <a:pathLst>
                <a:path w="1555750" h="663575">
                  <a:moveTo>
                    <a:pt x="1445158" y="0"/>
                  </a:moveTo>
                  <a:lnTo>
                    <a:pt x="110604" y="0"/>
                  </a:lnTo>
                  <a:lnTo>
                    <a:pt x="67551" y="8689"/>
                  </a:lnTo>
                  <a:lnTo>
                    <a:pt x="32394" y="32388"/>
                  </a:lnTo>
                  <a:lnTo>
                    <a:pt x="8691" y="67540"/>
                  </a:lnTo>
                  <a:lnTo>
                    <a:pt x="0" y="110591"/>
                  </a:lnTo>
                  <a:lnTo>
                    <a:pt x="0" y="552970"/>
                  </a:lnTo>
                  <a:lnTo>
                    <a:pt x="8691" y="596023"/>
                  </a:lnTo>
                  <a:lnTo>
                    <a:pt x="32394" y="631180"/>
                  </a:lnTo>
                  <a:lnTo>
                    <a:pt x="67551" y="654883"/>
                  </a:lnTo>
                  <a:lnTo>
                    <a:pt x="110604" y="663575"/>
                  </a:lnTo>
                  <a:lnTo>
                    <a:pt x="1445158" y="663575"/>
                  </a:lnTo>
                  <a:lnTo>
                    <a:pt x="1488204" y="654883"/>
                  </a:lnTo>
                  <a:lnTo>
                    <a:pt x="1523357" y="631180"/>
                  </a:lnTo>
                  <a:lnTo>
                    <a:pt x="1547058" y="596023"/>
                  </a:lnTo>
                  <a:lnTo>
                    <a:pt x="1555750" y="552970"/>
                  </a:lnTo>
                  <a:lnTo>
                    <a:pt x="1555750" y="110591"/>
                  </a:lnTo>
                  <a:lnTo>
                    <a:pt x="1547058" y="67540"/>
                  </a:lnTo>
                  <a:lnTo>
                    <a:pt x="1523357" y="32388"/>
                  </a:lnTo>
                  <a:lnTo>
                    <a:pt x="1488204" y="8689"/>
                  </a:lnTo>
                  <a:lnTo>
                    <a:pt x="1445158" y="0"/>
                  </a:lnTo>
                  <a:close/>
                </a:path>
              </a:pathLst>
            </a:custGeom>
            <a:solidFill>
              <a:srgbClr val="BBE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165350" y="4419606"/>
              <a:ext cx="1555750" cy="663575"/>
            </a:xfrm>
            <a:custGeom>
              <a:avLst/>
              <a:gdLst/>
              <a:ahLst/>
              <a:cxnLst/>
              <a:rect l="l" t="t" r="r" b="b"/>
              <a:pathLst>
                <a:path w="1555750" h="663575">
                  <a:moveTo>
                    <a:pt x="0" y="110591"/>
                  </a:moveTo>
                  <a:lnTo>
                    <a:pt x="8691" y="67540"/>
                  </a:lnTo>
                  <a:lnTo>
                    <a:pt x="32394" y="32388"/>
                  </a:lnTo>
                  <a:lnTo>
                    <a:pt x="67551" y="8689"/>
                  </a:lnTo>
                  <a:lnTo>
                    <a:pt x="110604" y="0"/>
                  </a:lnTo>
                  <a:lnTo>
                    <a:pt x="1445158" y="0"/>
                  </a:lnTo>
                  <a:lnTo>
                    <a:pt x="1488204" y="8689"/>
                  </a:lnTo>
                  <a:lnTo>
                    <a:pt x="1523357" y="32388"/>
                  </a:lnTo>
                  <a:lnTo>
                    <a:pt x="1547058" y="67540"/>
                  </a:lnTo>
                  <a:lnTo>
                    <a:pt x="1555750" y="110591"/>
                  </a:lnTo>
                  <a:lnTo>
                    <a:pt x="1555750" y="552970"/>
                  </a:lnTo>
                  <a:lnTo>
                    <a:pt x="1547058" y="596023"/>
                  </a:lnTo>
                  <a:lnTo>
                    <a:pt x="1523357" y="631180"/>
                  </a:lnTo>
                  <a:lnTo>
                    <a:pt x="1488204" y="654883"/>
                  </a:lnTo>
                  <a:lnTo>
                    <a:pt x="1445158" y="663575"/>
                  </a:lnTo>
                  <a:lnTo>
                    <a:pt x="110604" y="663575"/>
                  </a:lnTo>
                  <a:lnTo>
                    <a:pt x="67551" y="654883"/>
                  </a:lnTo>
                  <a:lnTo>
                    <a:pt x="32394" y="631180"/>
                  </a:lnTo>
                  <a:lnTo>
                    <a:pt x="8691" y="596023"/>
                  </a:lnTo>
                  <a:lnTo>
                    <a:pt x="0" y="552970"/>
                  </a:lnTo>
                  <a:lnTo>
                    <a:pt x="0" y="11059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241866" y="4456747"/>
            <a:ext cx="13468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7675" marR="5080" indent="-435609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Async</a:t>
            </a:r>
            <a:r>
              <a:rPr sz="1800" dirty="0">
                <a:latin typeface="Times New Roman"/>
                <a:cs typeface="Times New Roman"/>
              </a:rPr>
              <a:t>hronous  </a:t>
            </a:r>
            <a:r>
              <a:rPr sz="1800" spc="-5" dirty="0">
                <a:latin typeface="Times New Roman"/>
                <a:cs typeface="Times New Roman"/>
              </a:rPr>
              <a:t>mode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867150" y="4413256"/>
            <a:ext cx="1570355" cy="676275"/>
            <a:chOff x="3867150" y="4413256"/>
            <a:chExt cx="1570355" cy="676275"/>
          </a:xfrm>
        </p:grpSpPr>
        <p:sp>
          <p:nvSpPr>
            <p:cNvPr id="32" name="object 32"/>
            <p:cNvSpPr/>
            <p:nvPr/>
          </p:nvSpPr>
          <p:spPr>
            <a:xfrm>
              <a:off x="3873500" y="4419606"/>
              <a:ext cx="1557655" cy="663575"/>
            </a:xfrm>
            <a:custGeom>
              <a:avLst/>
              <a:gdLst/>
              <a:ahLst/>
              <a:cxnLst/>
              <a:rect l="l" t="t" r="r" b="b"/>
              <a:pathLst>
                <a:path w="1557654" h="663575">
                  <a:moveTo>
                    <a:pt x="1446745" y="0"/>
                  </a:moveTo>
                  <a:lnTo>
                    <a:pt x="110591" y="0"/>
                  </a:lnTo>
                  <a:lnTo>
                    <a:pt x="67545" y="8689"/>
                  </a:lnTo>
                  <a:lnTo>
                    <a:pt x="32392" y="32388"/>
                  </a:lnTo>
                  <a:lnTo>
                    <a:pt x="8691" y="67540"/>
                  </a:lnTo>
                  <a:lnTo>
                    <a:pt x="0" y="110591"/>
                  </a:lnTo>
                  <a:lnTo>
                    <a:pt x="0" y="552970"/>
                  </a:lnTo>
                  <a:lnTo>
                    <a:pt x="8691" y="596023"/>
                  </a:lnTo>
                  <a:lnTo>
                    <a:pt x="32392" y="631180"/>
                  </a:lnTo>
                  <a:lnTo>
                    <a:pt x="67545" y="654883"/>
                  </a:lnTo>
                  <a:lnTo>
                    <a:pt x="110591" y="663575"/>
                  </a:lnTo>
                  <a:lnTo>
                    <a:pt x="1446745" y="663575"/>
                  </a:lnTo>
                  <a:lnTo>
                    <a:pt x="1489791" y="654883"/>
                  </a:lnTo>
                  <a:lnTo>
                    <a:pt x="1524944" y="631180"/>
                  </a:lnTo>
                  <a:lnTo>
                    <a:pt x="1548646" y="596023"/>
                  </a:lnTo>
                  <a:lnTo>
                    <a:pt x="1557337" y="552970"/>
                  </a:lnTo>
                  <a:lnTo>
                    <a:pt x="1557337" y="110591"/>
                  </a:lnTo>
                  <a:lnTo>
                    <a:pt x="1548646" y="67540"/>
                  </a:lnTo>
                  <a:lnTo>
                    <a:pt x="1524944" y="32388"/>
                  </a:lnTo>
                  <a:lnTo>
                    <a:pt x="1489791" y="8689"/>
                  </a:lnTo>
                  <a:lnTo>
                    <a:pt x="1446745" y="0"/>
                  </a:lnTo>
                  <a:close/>
                </a:path>
              </a:pathLst>
            </a:custGeom>
            <a:solidFill>
              <a:srgbClr val="BBE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873500" y="4419606"/>
              <a:ext cx="1557655" cy="663575"/>
            </a:xfrm>
            <a:custGeom>
              <a:avLst/>
              <a:gdLst/>
              <a:ahLst/>
              <a:cxnLst/>
              <a:rect l="l" t="t" r="r" b="b"/>
              <a:pathLst>
                <a:path w="1557654" h="663575">
                  <a:moveTo>
                    <a:pt x="0" y="110591"/>
                  </a:moveTo>
                  <a:lnTo>
                    <a:pt x="8691" y="67540"/>
                  </a:lnTo>
                  <a:lnTo>
                    <a:pt x="32392" y="32388"/>
                  </a:lnTo>
                  <a:lnTo>
                    <a:pt x="67545" y="8689"/>
                  </a:lnTo>
                  <a:lnTo>
                    <a:pt x="110591" y="0"/>
                  </a:lnTo>
                  <a:lnTo>
                    <a:pt x="1446745" y="0"/>
                  </a:lnTo>
                  <a:lnTo>
                    <a:pt x="1489791" y="8689"/>
                  </a:lnTo>
                  <a:lnTo>
                    <a:pt x="1524944" y="32388"/>
                  </a:lnTo>
                  <a:lnTo>
                    <a:pt x="1548646" y="67540"/>
                  </a:lnTo>
                  <a:lnTo>
                    <a:pt x="1557337" y="110591"/>
                  </a:lnTo>
                  <a:lnTo>
                    <a:pt x="1557337" y="552970"/>
                  </a:lnTo>
                  <a:lnTo>
                    <a:pt x="1548646" y="596023"/>
                  </a:lnTo>
                  <a:lnTo>
                    <a:pt x="1524944" y="631180"/>
                  </a:lnTo>
                  <a:lnTo>
                    <a:pt x="1489791" y="654883"/>
                  </a:lnTo>
                  <a:lnTo>
                    <a:pt x="1446745" y="663575"/>
                  </a:lnTo>
                  <a:lnTo>
                    <a:pt x="110591" y="663575"/>
                  </a:lnTo>
                  <a:lnTo>
                    <a:pt x="67545" y="654883"/>
                  </a:lnTo>
                  <a:lnTo>
                    <a:pt x="32392" y="631180"/>
                  </a:lnTo>
                  <a:lnTo>
                    <a:pt x="8691" y="596023"/>
                  </a:lnTo>
                  <a:lnTo>
                    <a:pt x="0" y="552970"/>
                  </a:lnTo>
                  <a:lnTo>
                    <a:pt x="0" y="11059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4073259" y="4472749"/>
            <a:ext cx="1157605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61925">
              <a:lnSpc>
                <a:spcPct val="100000"/>
              </a:lnSpc>
              <a:spcBef>
                <a:spcPts val="95"/>
              </a:spcBef>
            </a:pPr>
            <a:r>
              <a:rPr sz="1700" spc="-5" dirty="0">
                <a:latin typeface="Times New Roman"/>
                <a:cs typeface="Times New Roman"/>
              </a:rPr>
              <a:t>Interrupt 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Driven</a:t>
            </a:r>
            <a:r>
              <a:rPr sz="1700" spc="-8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mode</a:t>
            </a:r>
            <a:endParaRPr sz="1700">
              <a:latin typeface="Times New Roman"/>
              <a:cs typeface="Times New Roman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5576888" y="4413256"/>
            <a:ext cx="1568450" cy="676275"/>
            <a:chOff x="5576888" y="4413256"/>
            <a:chExt cx="1568450" cy="676275"/>
          </a:xfrm>
        </p:grpSpPr>
        <p:sp>
          <p:nvSpPr>
            <p:cNvPr id="36" name="object 36"/>
            <p:cNvSpPr/>
            <p:nvPr/>
          </p:nvSpPr>
          <p:spPr>
            <a:xfrm>
              <a:off x="5583238" y="4419606"/>
              <a:ext cx="1555750" cy="663575"/>
            </a:xfrm>
            <a:custGeom>
              <a:avLst/>
              <a:gdLst/>
              <a:ahLst/>
              <a:cxnLst/>
              <a:rect l="l" t="t" r="r" b="b"/>
              <a:pathLst>
                <a:path w="1555750" h="663575">
                  <a:moveTo>
                    <a:pt x="1445158" y="0"/>
                  </a:moveTo>
                  <a:lnTo>
                    <a:pt x="110591" y="0"/>
                  </a:lnTo>
                  <a:lnTo>
                    <a:pt x="67545" y="8689"/>
                  </a:lnTo>
                  <a:lnTo>
                    <a:pt x="32392" y="32388"/>
                  </a:lnTo>
                  <a:lnTo>
                    <a:pt x="8691" y="67540"/>
                  </a:lnTo>
                  <a:lnTo>
                    <a:pt x="0" y="110591"/>
                  </a:lnTo>
                  <a:lnTo>
                    <a:pt x="0" y="552970"/>
                  </a:lnTo>
                  <a:lnTo>
                    <a:pt x="8691" y="596023"/>
                  </a:lnTo>
                  <a:lnTo>
                    <a:pt x="32392" y="631180"/>
                  </a:lnTo>
                  <a:lnTo>
                    <a:pt x="67545" y="654883"/>
                  </a:lnTo>
                  <a:lnTo>
                    <a:pt x="110591" y="663575"/>
                  </a:lnTo>
                  <a:lnTo>
                    <a:pt x="1445158" y="663575"/>
                  </a:lnTo>
                  <a:lnTo>
                    <a:pt x="1488204" y="654883"/>
                  </a:lnTo>
                  <a:lnTo>
                    <a:pt x="1523357" y="631180"/>
                  </a:lnTo>
                  <a:lnTo>
                    <a:pt x="1547058" y="596023"/>
                  </a:lnTo>
                  <a:lnTo>
                    <a:pt x="1555750" y="552970"/>
                  </a:lnTo>
                  <a:lnTo>
                    <a:pt x="1555750" y="110591"/>
                  </a:lnTo>
                  <a:lnTo>
                    <a:pt x="1547058" y="67540"/>
                  </a:lnTo>
                  <a:lnTo>
                    <a:pt x="1523357" y="32388"/>
                  </a:lnTo>
                  <a:lnTo>
                    <a:pt x="1488204" y="8689"/>
                  </a:lnTo>
                  <a:lnTo>
                    <a:pt x="1445158" y="0"/>
                  </a:lnTo>
                  <a:close/>
                </a:path>
              </a:pathLst>
            </a:custGeom>
            <a:solidFill>
              <a:srgbClr val="BBE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583238" y="4419606"/>
              <a:ext cx="1555750" cy="663575"/>
            </a:xfrm>
            <a:custGeom>
              <a:avLst/>
              <a:gdLst/>
              <a:ahLst/>
              <a:cxnLst/>
              <a:rect l="l" t="t" r="r" b="b"/>
              <a:pathLst>
                <a:path w="1555750" h="663575">
                  <a:moveTo>
                    <a:pt x="0" y="110591"/>
                  </a:moveTo>
                  <a:lnTo>
                    <a:pt x="8691" y="67540"/>
                  </a:lnTo>
                  <a:lnTo>
                    <a:pt x="32392" y="32388"/>
                  </a:lnTo>
                  <a:lnTo>
                    <a:pt x="67545" y="8689"/>
                  </a:lnTo>
                  <a:lnTo>
                    <a:pt x="110591" y="0"/>
                  </a:lnTo>
                  <a:lnTo>
                    <a:pt x="1445158" y="0"/>
                  </a:lnTo>
                  <a:lnTo>
                    <a:pt x="1488204" y="8689"/>
                  </a:lnTo>
                  <a:lnTo>
                    <a:pt x="1523357" y="32388"/>
                  </a:lnTo>
                  <a:lnTo>
                    <a:pt x="1547058" y="67540"/>
                  </a:lnTo>
                  <a:lnTo>
                    <a:pt x="1555750" y="110591"/>
                  </a:lnTo>
                  <a:lnTo>
                    <a:pt x="1555750" y="552970"/>
                  </a:lnTo>
                  <a:lnTo>
                    <a:pt x="1547058" y="596023"/>
                  </a:lnTo>
                  <a:lnTo>
                    <a:pt x="1523357" y="631180"/>
                  </a:lnTo>
                  <a:lnTo>
                    <a:pt x="1488204" y="654883"/>
                  </a:lnTo>
                  <a:lnTo>
                    <a:pt x="1445158" y="663575"/>
                  </a:lnTo>
                  <a:lnTo>
                    <a:pt x="110591" y="663575"/>
                  </a:lnTo>
                  <a:lnTo>
                    <a:pt x="67545" y="654883"/>
                  </a:lnTo>
                  <a:lnTo>
                    <a:pt x="32392" y="631180"/>
                  </a:lnTo>
                  <a:lnTo>
                    <a:pt x="8691" y="596023"/>
                  </a:lnTo>
                  <a:lnTo>
                    <a:pt x="0" y="552970"/>
                  </a:lnTo>
                  <a:lnTo>
                    <a:pt x="0" y="11059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5803076" y="4472749"/>
            <a:ext cx="1115695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87020">
              <a:lnSpc>
                <a:spcPct val="100000"/>
              </a:lnSpc>
              <a:spcBef>
                <a:spcPts val="95"/>
              </a:spcBef>
            </a:pPr>
            <a:r>
              <a:rPr sz="1700" spc="-5" dirty="0">
                <a:latin typeface="Times New Roman"/>
                <a:cs typeface="Times New Roman"/>
              </a:rPr>
              <a:t>Block 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DMA</a:t>
            </a:r>
            <a:r>
              <a:rPr sz="1700" spc="33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mode</a:t>
            </a:r>
            <a:endParaRPr sz="1700">
              <a:latin typeface="Times New Roman"/>
              <a:cs typeface="Times New Roman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7285039" y="4413256"/>
            <a:ext cx="1568450" cy="676275"/>
            <a:chOff x="7285039" y="4413256"/>
            <a:chExt cx="1568450" cy="676275"/>
          </a:xfrm>
        </p:grpSpPr>
        <p:sp>
          <p:nvSpPr>
            <p:cNvPr id="40" name="object 40"/>
            <p:cNvSpPr/>
            <p:nvPr/>
          </p:nvSpPr>
          <p:spPr>
            <a:xfrm>
              <a:off x="7291389" y="4419606"/>
              <a:ext cx="1555750" cy="663575"/>
            </a:xfrm>
            <a:custGeom>
              <a:avLst/>
              <a:gdLst/>
              <a:ahLst/>
              <a:cxnLst/>
              <a:rect l="l" t="t" r="r" b="b"/>
              <a:pathLst>
                <a:path w="1555750" h="663575">
                  <a:moveTo>
                    <a:pt x="1445158" y="0"/>
                  </a:moveTo>
                  <a:lnTo>
                    <a:pt x="110591" y="0"/>
                  </a:lnTo>
                  <a:lnTo>
                    <a:pt x="67545" y="8689"/>
                  </a:lnTo>
                  <a:lnTo>
                    <a:pt x="32392" y="32388"/>
                  </a:lnTo>
                  <a:lnTo>
                    <a:pt x="8691" y="67540"/>
                  </a:lnTo>
                  <a:lnTo>
                    <a:pt x="0" y="110591"/>
                  </a:lnTo>
                  <a:lnTo>
                    <a:pt x="0" y="552970"/>
                  </a:lnTo>
                  <a:lnTo>
                    <a:pt x="8691" y="596023"/>
                  </a:lnTo>
                  <a:lnTo>
                    <a:pt x="32392" y="631180"/>
                  </a:lnTo>
                  <a:lnTo>
                    <a:pt x="67545" y="654883"/>
                  </a:lnTo>
                  <a:lnTo>
                    <a:pt x="110591" y="663575"/>
                  </a:lnTo>
                  <a:lnTo>
                    <a:pt x="1445158" y="663575"/>
                  </a:lnTo>
                  <a:lnTo>
                    <a:pt x="1488204" y="654883"/>
                  </a:lnTo>
                  <a:lnTo>
                    <a:pt x="1523357" y="631180"/>
                  </a:lnTo>
                  <a:lnTo>
                    <a:pt x="1547058" y="596023"/>
                  </a:lnTo>
                  <a:lnTo>
                    <a:pt x="1555750" y="552970"/>
                  </a:lnTo>
                  <a:lnTo>
                    <a:pt x="1555750" y="110591"/>
                  </a:lnTo>
                  <a:lnTo>
                    <a:pt x="1547058" y="67540"/>
                  </a:lnTo>
                  <a:lnTo>
                    <a:pt x="1523357" y="32388"/>
                  </a:lnTo>
                  <a:lnTo>
                    <a:pt x="1488204" y="8689"/>
                  </a:lnTo>
                  <a:lnTo>
                    <a:pt x="1445158" y="0"/>
                  </a:lnTo>
                  <a:close/>
                </a:path>
              </a:pathLst>
            </a:custGeom>
            <a:solidFill>
              <a:srgbClr val="BBE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291389" y="4419606"/>
              <a:ext cx="1555750" cy="663575"/>
            </a:xfrm>
            <a:custGeom>
              <a:avLst/>
              <a:gdLst/>
              <a:ahLst/>
              <a:cxnLst/>
              <a:rect l="l" t="t" r="r" b="b"/>
              <a:pathLst>
                <a:path w="1555750" h="663575">
                  <a:moveTo>
                    <a:pt x="0" y="110591"/>
                  </a:moveTo>
                  <a:lnTo>
                    <a:pt x="8691" y="67540"/>
                  </a:lnTo>
                  <a:lnTo>
                    <a:pt x="32392" y="32388"/>
                  </a:lnTo>
                  <a:lnTo>
                    <a:pt x="67545" y="8689"/>
                  </a:lnTo>
                  <a:lnTo>
                    <a:pt x="110591" y="0"/>
                  </a:lnTo>
                  <a:lnTo>
                    <a:pt x="1445158" y="0"/>
                  </a:lnTo>
                  <a:lnTo>
                    <a:pt x="1488204" y="8689"/>
                  </a:lnTo>
                  <a:lnTo>
                    <a:pt x="1523357" y="32388"/>
                  </a:lnTo>
                  <a:lnTo>
                    <a:pt x="1547058" y="67540"/>
                  </a:lnTo>
                  <a:lnTo>
                    <a:pt x="1555750" y="110591"/>
                  </a:lnTo>
                  <a:lnTo>
                    <a:pt x="1555750" y="552970"/>
                  </a:lnTo>
                  <a:lnTo>
                    <a:pt x="1547058" y="596023"/>
                  </a:lnTo>
                  <a:lnTo>
                    <a:pt x="1523357" y="631180"/>
                  </a:lnTo>
                  <a:lnTo>
                    <a:pt x="1488204" y="654883"/>
                  </a:lnTo>
                  <a:lnTo>
                    <a:pt x="1445158" y="663575"/>
                  </a:lnTo>
                  <a:lnTo>
                    <a:pt x="110591" y="663575"/>
                  </a:lnTo>
                  <a:lnTo>
                    <a:pt x="67545" y="654883"/>
                  </a:lnTo>
                  <a:lnTo>
                    <a:pt x="32392" y="631180"/>
                  </a:lnTo>
                  <a:lnTo>
                    <a:pt x="8691" y="596023"/>
                  </a:lnTo>
                  <a:lnTo>
                    <a:pt x="0" y="552970"/>
                  </a:lnTo>
                  <a:lnTo>
                    <a:pt x="0" y="11059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7441818" y="4472749"/>
            <a:ext cx="1254125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1915" marR="5080" indent="-69850">
              <a:lnSpc>
                <a:spcPct val="100000"/>
              </a:lnSpc>
              <a:spcBef>
                <a:spcPts val="95"/>
              </a:spcBef>
            </a:pPr>
            <a:r>
              <a:rPr sz="1700" spc="-5" dirty="0">
                <a:latin typeface="Times New Roman"/>
                <a:cs typeface="Times New Roman"/>
              </a:rPr>
              <a:t>Cycle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stealing </a:t>
            </a:r>
            <a:r>
              <a:rPr sz="1700" spc="-40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DMA</a:t>
            </a:r>
            <a:r>
              <a:rPr sz="1700" spc="36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mode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47521" y="0"/>
            <a:ext cx="6645275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50465" marR="5080" indent="-2438400">
              <a:lnSpc>
                <a:spcPct val="100000"/>
              </a:lnSpc>
              <a:spcBef>
                <a:spcPts val="100"/>
              </a:spcBef>
            </a:pPr>
            <a:r>
              <a:rPr sz="5400" b="1" i="1" u="heavy" spc="-5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Programme</a:t>
            </a:r>
            <a:r>
              <a:rPr sz="5400" b="1" i="1" u="heavy" spc="-3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</a:t>
            </a:r>
            <a:r>
              <a:rPr sz="5400" b="1" i="1" u="heavy" spc="-18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5400" b="1" i="1" u="heavy" spc="-1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Dat</a:t>
            </a:r>
            <a:r>
              <a:rPr sz="5400" b="1" i="1" u="heavy" spc="-43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5400" b="1" i="1" u="heavy" spc="-1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5400" b="1" i="1" u="heavy" spc="-43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Trans</a:t>
            </a:r>
            <a:r>
              <a:rPr sz="5400" b="1" i="1" u="heavy" spc="-3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</a:t>
            </a:r>
            <a:r>
              <a:rPr sz="5400" b="1" i="1" u="heavy" spc="-4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er </a:t>
            </a:r>
            <a:r>
              <a:rPr sz="5400" b="1" i="1" spc="-310" dirty="0">
                <a:latin typeface="Times New Roman"/>
                <a:cs typeface="Times New Roman"/>
              </a:rPr>
              <a:t> </a:t>
            </a:r>
            <a:r>
              <a:rPr sz="5400" b="1" i="1" u="heavy" spc="-6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Scheme</a:t>
            </a:r>
            <a:endParaRPr sz="5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1826768"/>
            <a:ext cx="8011159" cy="4999990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355600" marR="113664" indent="-342900">
              <a:lnSpc>
                <a:spcPts val="3070"/>
              </a:lnSpc>
              <a:spcBef>
                <a:spcPts val="84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data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transfer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takes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place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under the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control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program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residing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main memory.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Times New Roman"/>
              <a:buChar char="•"/>
            </a:pPr>
            <a:endParaRPr sz="4000">
              <a:latin typeface="Times New Roman"/>
              <a:cs typeface="Times New Roman"/>
            </a:endParaRPr>
          </a:p>
          <a:p>
            <a:pPr marL="355600" marR="453390" indent="-342900">
              <a:lnSpc>
                <a:spcPts val="3070"/>
              </a:lnSpc>
              <a:spcBef>
                <a:spcPts val="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These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programs are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executed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by the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CPU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when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an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I/O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device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ready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to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transfer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data.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Times New Roman"/>
              <a:buChar char="•"/>
            </a:pPr>
            <a:endParaRPr sz="4000">
              <a:latin typeface="Times New Roman"/>
              <a:cs typeface="Times New Roman"/>
            </a:endParaRPr>
          </a:p>
          <a:p>
            <a:pPr marL="355600" marR="1166495" indent="-342900">
              <a:lnSpc>
                <a:spcPts val="3070"/>
              </a:lnSpc>
              <a:buChar char="•"/>
              <a:tabLst>
                <a:tab pos="354965" algn="l"/>
                <a:tab pos="355600" algn="l"/>
                <a:tab pos="5490845" algn="l"/>
              </a:tabLst>
            </a:pPr>
            <a:r>
              <a:rPr sz="3200" spc="-5" dirty="0">
                <a:latin typeface="Times New Roman"/>
                <a:cs typeface="Times New Roman"/>
              </a:rPr>
              <a:t>To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transfer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one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byte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data,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it	needs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to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execute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several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instructions.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Times New Roman"/>
              <a:buChar char="•"/>
            </a:pPr>
            <a:endParaRPr sz="4000">
              <a:latin typeface="Times New Roman"/>
              <a:cs typeface="Times New Roman"/>
            </a:endParaRPr>
          </a:p>
          <a:p>
            <a:pPr marL="354965" marR="5080" indent="-342900">
              <a:lnSpc>
                <a:spcPts val="3070"/>
              </a:lnSpc>
              <a:spcBef>
                <a:spcPts val="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This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scheme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is very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slow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and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thus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suitable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when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small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amount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data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is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to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transferred.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29994" y="0"/>
            <a:ext cx="6681470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24100" marR="5080" indent="-2312035">
              <a:lnSpc>
                <a:spcPct val="100000"/>
              </a:lnSpc>
              <a:spcBef>
                <a:spcPts val="100"/>
              </a:spcBef>
            </a:pPr>
            <a:r>
              <a:rPr sz="5400" b="1" i="1" u="heavy" spc="-49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Synchr</a:t>
            </a:r>
            <a:r>
              <a:rPr sz="5400" b="1" i="1" u="heavy" spc="-509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</a:t>
            </a:r>
            <a:r>
              <a:rPr sz="5400" b="1" i="1" u="heavy" spc="-5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5400" b="1" i="1" u="heavy" spc="-50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</a:t>
            </a:r>
            <a:r>
              <a:rPr sz="5400" b="1" i="1" u="heavy" spc="-5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</a:t>
            </a:r>
            <a:r>
              <a:rPr sz="5400" b="1" i="1" u="heavy" spc="-37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</a:t>
            </a:r>
            <a:r>
              <a:rPr sz="5400" b="1" i="1" u="heavy" spc="-1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5400" b="1" i="1" u="heavy" spc="-37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Mod</a:t>
            </a:r>
            <a:r>
              <a:rPr sz="5400" b="1" i="1" u="heavy" spc="-5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</a:t>
            </a:r>
            <a:r>
              <a:rPr sz="5400" b="1" i="1" u="heavy" spc="-17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5400" b="1" i="1" u="heavy" spc="-5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</a:t>
            </a:r>
            <a:r>
              <a:rPr sz="5400" b="1" i="1" u="heavy" spc="-7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</a:t>
            </a:r>
            <a:r>
              <a:rPr sz="5400" b="1" i="1" u="heavy" spc="-17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Data </a:t>
            </a:r>
            <a:r>
              <a:rPr sz="5400" b="1" i="1" spc="-95" dirty="0">
                <a:latin typeface="Times New Roman"/>
                <a:cs typeface="Times New Roman"/>
              </a:rPr>
              <a:t> </a:t>
            </a:r>
            <a:r>
              <a:rPr sz="5400" b="1" i="1" u="heavy" spc="-4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Transfer</a:t>
            </a:r>
            <a:endParaRPr sz="5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1875536"/>
            <a:ext cx="7676515" cy="485330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4965" marR="5080" indent="-342900">
              <a:lnSpc>
                <a:spcPts val="3460"/>
              </a:lnSpc>
              <a:spcBef>
                <a:spcPts val="53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Its used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for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I/O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devices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whose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i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timing </a:t>
            </a:r>
            <a:r>
              <a:rPr sz="3200" i="1" dirty="0">
                <a:latin typeface="Times New Roman"/>
                <a:cs typeface="Times New Roman"/>
              </a:rPr>
              <a:t> </a:t>
            </a:r>
            <a:r>
              <a:rPr sz="3200" i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characteristics</a:t>
            </a:r>
            <a:r>
              <a:rPr sz="3200" i="1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are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fast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enough to be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compatible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speed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with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communicating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MPU.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Times New Roman"/>
              <a:buChar char="•"/>
            </a:pPr>
            <a:endParaRPr sz="4300">
              <a:latin typeface="Times New Roman"/>
              <a:cs typeface="Times New Roman"/>
            </a:endParaRPr>
          </a:p>
          <a:p>
            <a:pPr marL="355600" marR="15875" indent="-342900">
              <a:lnSpc>
                <a:spcPts val="3460"/>
              </a:lnSpc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In this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case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status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 the I/O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device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not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checked before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data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transfer.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Times New Roman"/>
              <a:buChar char="•"/>
            </a:pPr>
            <a:endParaRPr sz="4300">
              <a:latin typeface="Times New Roman"/>
              <a:cs typeface="Times New Roman"/>
            </a:endParaRPr>
          </a:p>
          <a:p>
            <a:pPr marL="354965" marR="434975" indent="-342900">
              <a:lnSpc>
                <a:spcPts val="3460"/>
              </a:lnSpc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The data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transfer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is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executed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using IN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and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OUT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instructions.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35940" y="1619503"/>
            <a:ext cx="7753350" cy="3634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Memory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compatible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with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MPU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are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available.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Hence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this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method is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invariably used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with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compatible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memory devices.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Times New Roman"/>
              <a:buChar char="•"/>
            </a:pPr>
            <a:endParaRPr sz="4650">
              <a:latin typeface="Times New Roman"/>
              <a:cs typeface="Times New Roman"/>
            </a:endParaRPr>
          </a:p>
          <a:p>
            <a:pPr marL="354965" marR="511809" indent="-342900" algn="just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The I/O devices compatible in speed with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MPU are usually not available. Hence this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technique is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rarely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used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 practice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63878" y="331279"/>
            <a:ext cx="701167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i="1" u="heavy" spc="-40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Asyn</a:t>
            </a:r>
            <a:r>
              <a:rPr sz="5400" b="1" i="1" u="heavy" spc="-3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</a:t>
            </a:r>
            <a:r>
              <a:rPr sz="5400" b="1" i="1" u="heavy" spc="-6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</a:t>
            </a:r>
            <a:r>
              <a:rPr sz="5400" b="1" i="1" u="heavy" spc="-4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</a:t>
            </a:r>
            <a:r>
              <a:rPr sz="5400" b="1" i="1" u="heavy" spc="-58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</a:t>
            </a:r>
            <a:r>
              <a:rPr sz="5400" b="1" i="1" u="heavy" spc="-5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5400" b="1" i="1" u="heavy" spc="-50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</a:t>
            </a:r>
            <a:r>
              <a:rPr sz="5400" b="1" i="1" u="heavy" spc="-5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</a:t>
            </a:r>
            <a:r>
              <a:rPr sz="5400" b="1" i="1" u="heavy" spc="-37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</a:t>
            </a:r>
            <a:r>
              <a:rPr sz="5400" b="1" i="1" u="heavy" spc="-1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5400" b="1" i="1" u="heavy" spc="-1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Dat</a:t>
            </a:r>
            <a:r>
              <a:rPr sz="5400" b="1" i="1" u="heavy" spc="-43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5400" b="1" i="1" u="heavy" spc="-1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5400" b="1" i="1" u="heavy" spc="-43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Transf</a:t>
            </a:r>
            <a:r>
              <a:rPr sz="5400" b="1" i="1" u="heavy" spc="-4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</a:t>
            </a:r>
            <a:r>
              <a:rPr sz="5400" b="1" i="1" u="heavy" spc="-48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</a:t>
            </a:r>
            <a:endParaRPr sz="5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1570736"/>
            <a:ext cx="8038465" cy="441452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5600" marR="866775" indent="-342900">
              <a:lnSpc>
                <a:spcPts val="3460"/>
              </a:lnSpc>
              <a:spcBef>
                <a:spcPts val="53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This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method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 data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transfer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also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called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Handshaking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mode.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Char char="•"/>
            </a:pPr>
            <a:endParaRPr sz="4300">
              <a:latin typeface="Times New Roman"/>
              <a:cs typeface="Times New Roman"/>
            </a:endParaRPr>
          </a:p>
          <a:p>
            <a:pPr marL="355600" marR="152400" indent="-342900">
              <a:lnSpc>
                <a:spcPts val="3460"/>
              </a:lnSpc>
              <a:spcBef>
                <a:spcPts val="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This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scheme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is used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when speed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 I/O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device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does not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match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with that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 MPU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and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timing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characteristics</a:t>
            </a:r>
            <a:r>
              <a:rPr sz="3200" spc="3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are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not predictable.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Times New Roman"/>
              <a:buChar char="•"/>
            </a:pPr>
            <a:endParaRPr sz="430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3460"/>
              </a:lnSpc>
              <a:spcBef>
                <a:spcPts val="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The MPU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fist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sends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request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to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device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and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then keeps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on checking its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status.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35940" y="1619503"/>
            <a:ext cx="7856855" cy="3634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The data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transfer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instructions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are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executed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only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when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I/O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device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ready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to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accept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or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supply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data.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Times New Roman"/>
              <a:buChar char="•"/>
            </a:pPr>
            <a:endParaRPr sz="4650">
              <a:latin typeface="Times New Roman"/>
              <a:cs typeface="Times New Roman"/>
            </a:endParaRPr>
          </a:p>
          <a:p>
            <a:pPr marL="354965" marR="28575" indent="-342900" algn="just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Each data transfer is preceded by a requesting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signal sent by MPU and READY signal from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device.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59329" y="331279"/>
            <a:ext cx="362331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i="1" u="heavy" spc="-3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Disadvantages</a:t>
            </a:r>
            <a:endParaRPr sz="5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1619503"/>
            <a:ext cx="7981950" cy="3634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2159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A lot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MPU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time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is wasted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during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looping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to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check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device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status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which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may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be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prohibitive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many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situations.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Times New Roman"/>
              <a:buChar char="•"/>
            </a:pPr>
            <a:endParaRPr sz="4650">
              <a:latin typeface="Times New Roman"/>
              <a:cs typeface="Times New Roman"/>
            </a:endParaRPr>
          </a:p>
          <a:p>
            <a:pPr marL="354965" marR="508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  <a:tab pos="5144770" algn="l"/>
              </a:tabLst>
            </a:pPr>
            <a:r>
              <a:rPr sz="3200" spc="-5" dirty="0">
                <a:latin typeface="Times New Roman"/>
                <a:cs typeface="Times New Roman"/>
              </a:rPr>
              <a:t>Some simple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devices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may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not have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status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signals.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such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case</a:t>
            </a:r>
            <a:r>
              <a:rPr sz="3200" spc="3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MPU	goes on checking </a:t>
            </a:r>
            <a:r>
              <a:rPr sz="3200" spc="-79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whether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data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available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on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port or not.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5926" y="331279"/>
            <a:ext cx="7766684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i="1" u="heavy" spc="-2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Int</a:t>
            </a:r>
            <a:r>
              <a:rPr sz="5400" b="1" i="1" u="heavy" spc="-2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</a:t>
            </a:r>
            <a:r>
              <a:rPr sz="5400" b="1" i="1" u="heavy" spc="-4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rr</a:t>
            </a:r>
            <a:r>
              <a:rPr sz="5400" b="1" i="1" u="heavy" spc="-6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</a:t>
            </a:r>
            <a:r>
              <a:rPr sz="5400" b="1" i="1" u="heavy" spc="-3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</a:t>
            </a:r>
            <a:r>
              <a:rPr sz="5400" b="1" i="1" u="heavy" spc="2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</a:t>
            </a:r>
            <a:r>
              <a:rPr sz="5400" b="1" i="1" u="heavy" spc="-1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5400" b="1" i="1" u="heavy" spc="-28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Drive</a:t>
            </a:r>
            <a:r>
              <a:rPr sz="5400" b="1" i="1" u="heavy" spc="-5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5400" b="1" i="1" u="heavy" spc="-17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5400" b="1" i="1" u="heavy" spc="-1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Dat</a:t>
            </a:r>
            <a:r>
              <a:rPr sz="5400" b="1" i="1" u="heavy" spc="-43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5400" b="1" i="1" u="heavy" spc="-1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5400" b="1" i="1" u="heavy" spc="-43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Trans</a:t>
            </a:r>
            <a:r>
              <a:rPr sz="5400" b="1" i="1" u="heavy" spc="-3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</a:t>
            </a:r>
            <a:r>
              <a:rPr sz="5400" b="1" i="1" u="heavy" spc="-5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er</a:t>
            </a:r>
            <a:endParaRPr sz="5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1570736"/>
            <a:ext cx="7980680" cy="529209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5600" marR="5080" indent="-342900">
              <a:lnSpc>
                <a:spcPts val="3460"/>
              </a:lnSpc>
              <a:spcBef>
                <a:spcPts val="53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In this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scheme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MPU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initiates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an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I/O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device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to get ready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and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then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it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executes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its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main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program instead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remaining in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loop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to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check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status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 device.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Times New Roman"/>
              <a:buChar char="•"/>
            </a:pPr>
            <a:endParaRPr sz="4300">
              <a:latin typeface="Times New Roman"/>
              <a:cs typeface="Times New Roman"/>
            </a:endParaRPr>
          </a:p>
          <a:p>
            <a:pPr marL="355600" marR="118745" indent="-342900">
              <a:lnSpc>
                <a:spcPts val="3460"/>
              </a:lnSpc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When the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device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gets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ready,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it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sends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signal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to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 MPU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through a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special</a:t>
            </a:r>
            <a:r>
              <a:rPr sz="3200" spc="2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input line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called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an interrupt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line.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Char char="•"/>
            </a:pPr>
            <a:endParaRPr sz="4300">
              <a:latin typeface="Times New Roman"/>
              <a:cs typeface="Times New Roman"/>
            </a:endParaRPr>
          </a:p>
          <a:p>
            <a:pPr marL="355600" marR="571500" indent="-342900">
              <a:lnSpc>
                <a:spcPts val="3460"/>
              </a:lnSpc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The MPU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answers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interrupt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signal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after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executing the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current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instruction.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2140" y="427736"/>
            <a:ext cx="8070215" cy="636524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5600" marR="5080" indent="-342900">
              <a:lnSpc>
                <a:spcPts val="3460"/>
              </a:lnSpc>
              <a:spcBef>
                <a:spcPts val="530"/>
              </a:spcBef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The MPU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saves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contents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PC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on the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stack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first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and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then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takes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up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subroutine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called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ISS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(Interrupt Service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Subroutine).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Char char="•"/>
            </a:pPr>
            <a:endParaRPr sz="4300">
              <a:latin typeface="Times New Roman"/>
              <a:cs typeface="Times New Roman"/>
            </a:endParaRPr>
          </a:p>
          <a:p>
            <a:pPr marL="355600" marR="60960" indent="-342900">
              <a:lnSpc>
                <a:spcPts val="3460"/>
              </a:lnSpc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After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returning from ISS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MPU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again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loads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 PC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with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address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that is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just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loaded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 stack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and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thus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returns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to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main program.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Char char="•"/>
            </a:pPr>
            <a:endParaRPr sz="4300">
              <a:latin typeface="Times New Roman"/>
              <a:cs typeface="Times New Roman"/>
            </a:endParaRPr>
          </a:p>
          <a:p>
            <a:pPr marL="355600" marR="141605" indent="-342900">
              <a:lnSpc>
                <a:spcPts val="3460"/>
              </a:lnSpc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It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efficient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because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precious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time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MPU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is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not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wasted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while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I/O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device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gets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ready.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Times New Roman"/>
              <a:buChar char="•"/>
            </a:pPr>
            <a:endParaRPr sz="4300">
              <a:latin typeface="Times New Roman"/>
              <a:cs typeface="Times New Roman"/>
            </a:endParaRPr>
          </a:p>
          <a:p>
            <a:pPr marL="354965" marR="591185" indent="-342900">
              <a:lnSpc>
                <a:spcPts val="3460"/>
              </a:lnSpc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In this scheme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 data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transfer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may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also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be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initiated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by the I/O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device.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63476" y="331279"/>
            <a:ext cx="481711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i="1" u="heavy" spc="-2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Multi</a:t>
            </a:r>
            <a:r>
              <a:rPr sz="5400" b="1" i="1" u="heavy" spc="-2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</a:t>
            </a:r>
            <a:r>
              <a:rPr sz="5400" b="1" i="1" u="heavy" spc="-2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</a:t>
            </a:r>
            <a:r>
              <a:rPr sz="5400" b="1" i="1" u="heavy" spc="-5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</a:t>
            </a:r>
            <a:r>
              <a:rPr sz="5400" b="1" i="1" u="heavy" spc="-18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5400" b="1" i="1" u="heavy" spc="-3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Interr</a:t>
            </a:r>
            <a:r>
              <a:rPr sz="5400" b="1" i="1" u="heavy" spc="-4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</a:t>
            </a:r>
            <a:r>
              <a:rPr sz="5400" b="1" i="1" u="heavy" spc="-3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</a:t>
            </a:r>
            <a:r>
              <a:rPr sz="5400" b="1" i="1" u="heavy" spc="2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</a:t>
            </a:r>
            <a:r>
              <a:rPr sz="5400" b="1" i="1" u="heavy" spc="-37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</a:t>
            </a:r>
            <a:endParaRPr sz="5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2140" y="1799336"/>
            <a:ext cx="7867015" cy="3342004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5600" marR="221615" indent="-342900">
              <a:lnSpc>
                <a:spcPts val="3460"/>
              </a:lnSpc>
              <a:spcBef>
                <a:spcPts val="53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The MPU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has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one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interrupt level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and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several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I/O devices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to be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connected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to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it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which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are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attended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 the order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priority.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Char char="•"/>
            </a:pPr>
            <a:endParaRPr sz="43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ts val="3460"/>
              </a:lnSpc>
              <a:buChar char="•"/>
              <a:tabLst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The MPU has several interrupt levels and one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I/O device is to be connected to each interrupt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level.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35940" y="1028953"/>
            <a:ext cx="7958455" cy="425005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355600" marR="5080" indent="-342900">
              <a:lnSpc>
                <a:spcPts val="3890"/>
              </a:lnSpc>
              <a:spcBef>
                <a:spcPts val="585"/>
              </a:spcBef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sz="3600" dirty="0">
                <a:latin typeface="Times New Roman"/>
                <a:cs typeface="Times New Roman"/>
              </a:rPr>
              <a:t>The</a:t>
            </a:r>
            <a:r>
              <a:rPr sz="3600" spc="-1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MPU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has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several</a:t>
            </a:r>
            <a:r>
              <a:rPr sz="3600" spc="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interrupt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levels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and </a:t>
            </a:r>
            <a:r>
              <a:rPr sz="3600" spc="-88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more </a:t>
            </a:r>
            <a:r>
              <a:rPr sz="3600" spc="-5" dirty="0">
                <a:latin typeface="Times New Roman"/>
                <a:cs typeface="Times New Roman"/>
              </a:rPr>
              <a:t>than </a:t>
            </a:r>
            <a:r>
              <a:rPr sz="3600" dirty="0">
                <a:latin typeface="Times New Roman"/>
                <a:cs typeface="Times New Roman"/>
              </a:rPr>
              <a:t>one I/O </a:t>
            </a:r>
            <a:r>
              <a:rPr sz="3600" spc="-5" dirty="0">
                <a:latin typeface="Times New Roman"/>
                <a:cs typeface="Times New Roman"/>
              </a:rPr>
              <a:t>devices are </a:t>
            </a:r>
            <a:r>
              <a:rPr sz="3600" dirty="0">
                <a:latin typeface="Times New Roman"/>
                <a:cs typeface="Times New Roman"/>
              </a:rPr>
              <a:t>to be 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connected</a:t>
            </a:r>
            <a:r>
              <a:rPr sz="3600" dirty="0">
                <a:latin typeface="Times New Roman"/>
                <a:cs typeface="Times New Roman"/>
              </a:rPr>
              <a:t> to </a:t>
            </a:r>
            <a:r>
              <a:rPr sz="3600" spc="-5" dirty="0">
                <a:latin typeface="Times New Roman"/>
                <a:cs typeface="Times New Roman"/>
              </a:rPr>
              <a:t>each</a:t>
            </a:r>
            <a:r>
              <a:rPr sz="3600" spc="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interrupt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level.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Char char="•"/>
            </a:pPr>
            <a:endParaRPr sz="4850">
              <a:latin typeface="Times New Roman"/>
              <a:cs typeface="Times New Roman"/>
            </a:endParaRPr>
          </a:p>
          <a:p>
            <a:pPr marL="355600" marR="17780" indent="-342900">
              <a:lnSpc>
                <a:spcPts val="3890"/>
              </a:lnSpc>
              <a:buChar char="•"/>
              <a:tabLst>
                <a:tab pos="354965" algn="l"/>
                <a:tab pos="355600" algn="l"/>
              </a:tabLst>
            </a:pPr>
            <a:r>
              <a:rPr sz="3600" dirty="0">
                <a:latin typeface="Times New Roman"/>
                <a:cs typeface="Times New Roman"/>
              </a:rPr>
              <a:t>The</a:t>
            </a:r>
            <a:r>
              <a:rPr sz="3600" spc="-2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MPU</a:t>
            </a:r>
            <a:r>
              <a:rPr sz="3600" spc="-1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executes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multiple</a:t>
            </a:r>
            <a:r>
              <a:rPr sz="3600" spc="-2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interrupts</a:t>
            </a:r>
            <a:r>
              <a:rPr sz="3600" spc="-2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by </a:t>
            </a:r>
            <a:r>
              <a:rPr sz="3600" spc="-88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using </a:t>
            </a:r>
            <a:r>
              <a:rPr sz="3600" dirty="0">
                <a:latin typeface="Times New Roman"/>
                <a:cs typeface="Times New Roman"/>
              </a:rPr>
              <a:t>a 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device </a:t>
            </a:r>
            <a:r>
              <a:rPr sz="36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polling 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technique</a:t>
            </a:r>
            <a:r>
              <a:rPr sz="3600" spc="-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to know </a:t>
            </a:r>
            <a:r>
              <a:rPr sz="3600" spc="-88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which</a:t>
            </a:r>
            <a:r>
              <a:rPr sz="3600" spc="-1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device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connected</a:t>
            </a:r>
            <a:r>
              <a:rPr sz="3600" spc="1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to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which 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interrupt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level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has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interrupted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08225" y="331279"/>
            <a:ext cx="452755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i="1" u="heavy" spc="-2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Int</a:t>
            </a:r>
            <a:r>
              <a:rPr sz="5400" b="1" i="1" u="heavy" spc="-2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</a:t>
            </a:r>
            <a:r>
              <a:rPr sz="5400" b="1" i="1" u="heavy" spc="-4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rr</a:t>
            </a:r>
            <a:r>
              <a:rPr sz="5400" b="1" i="1" u="heavy" spc="-6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</a:t>
            </a:r>
            <a:r>
              <a:rPr sz="5400" b="1" i="1" u="heavy" spc="-3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</a:t>
            </a:r>
            <a:r>
              <a:rPr sz="5400" b="1" i="1" u="heavy" spc="2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</a:t>
            </a:r>
            <a:r>
              <a:rPr sz="5400" b="1" i="1" u="heavy" spc="-37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</a:t>
            </a:r>
            <a:r>
              <a:rPr sz="5400" b="1" i="1" u="heavy" spc="-19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5400" b="1" i="1" u="heavy" spc="-5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</a:t>
            </a:r>
            <a:r>
              <a:rPr sz="5400" b="1" i="1" u="heavy" spc="-7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</a:t>
            </a:r>
            <a:r>
              <a:rPr sz="5400" b="1" i="1" u="heavy" spc="-1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5400" b="1" i="1" u="heavy" spc="-3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8085</a:t>
            </a:r>
            <a:endParaRPr sz="5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1521968"/>
            <a:ext cx="8028305" cy="5194935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355600" marR="5080" indent="-39370">
              <a:lnSpc>
                <a:spcPts val="3070"/>
              </a:lnSpc>
              <a:spcBef>
                <a:spcPts val="840"/>
              </a:spcBef>
            </a:pPr>
            <a:r>
              <a:rPr sz="3200" spc="-5" dirty="0">
                <a:latin typeface="Times New Roman"/>
                <a:cs typeface="Times New Roman"/>
              </a:rPr>
              <a:t>On the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basis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 priority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interrupt signals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are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as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follows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350">
              <a:latin typeface="Times New Roman"/>
              <a:cs typeface="Times New Roman"/>
            </a:endParaRPr>
          </a:p>
          <a:p>
            <a:pPr marL="354965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TRAP</a:t>
            </a:r>
            <a:endParaRPr sz="3200">
              <a:latin typeface="Times New Roman"/>
              <a:cs typeface="Times New Roman"/>
            </a:endParaRPr>
          </a:p>
          <a:p>
            <a:pPr marL="354965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RST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7.5</a:t>
            </a:r>
            <a:endParaRPr sz="320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5"/>
              </a:spcBef>
              <a:buChar char="•"/>
              <a:tabLst>
                <a:tab pos="355600" algn="l"/>
                <a:tab pos="356235" algn="l"/>
              </a:tabLst>
            </a:pPr>
            <a:r>
              <a:rPr sz="3200" spc="-5" dirty="0">
                <a:latin typeface="Times New Roman"/>
                <a:cs typeface="Times New Roman"/>
              </a:rPr>
              <a:t>RST6.5</a:t>
            </a:r>
            <a:endParaRPr sz="320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buChar char="•"/>
              <a:tabLst>
                <a:tab pos="355600" algn="l"/>
                <a:tab pos="356235" algn="l"/>
              </a:tabLst>
            </a:pPr>
            <a:r>
              <a:rPr sz="3200" spc="-5" dirty="0">
                <a:latin typeface="Times New Roman"/>
                <a:cs typeface="Times New Roman"/>
              </a:rPr>
              <a:t>RST5.5</a:t>
            </a:r>
            <a:endParaRPr sz="320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buChar char="•"/>
              <a:tabLst>
                <a:tab pos="355600" algn="l"/>
                <a:tab pos="356235" algn="l"/>
              </a:tabLst>
            </a:pPr>
            <a:r>
              <a:rPr sz="3200" spc="-5" dirty="0">
                <a:latin typeface="Times New Roman"/>
                <a:cs typeface="Times New Roman"/>
              </a:rPr>
              <a:t>INTR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950">
              <a:latin typeface="Times New Roman"/>
              <a:cs typeface="Times New Roman"/>
            </a:endParaRPr>
          </a:p>
          <a:p>
            <a:pPr marL="355600" marR="1446530" indent="-342900">
              <a:lnSpc>
                <a:spcPts val="3070"/>
              </a:lnSpc>
            </a:pPr>
            <a:r>
              <a:rPr sz="3200" spc="-5" dirty="0">
                <a:latin typeface="Times New Roman"/>
                <a:cs typeface="Times New Roman"/>
              </a:rPr>
              <a:t>These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interrupts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are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implemented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by the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hardware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85524" y="361441"/>
            <a:ext cx="541909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i="1" u="heavy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sz="5400" b="1" i="1" u="heavy" spc="-5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5400" b="1" i="1" u="heavy" spc="229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</a:t>
            </a:r>
            <a:r>
              <a:rPr sz="5400" b="1" i="1" u="heavy" spc="-5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</a:t>
            </a:r>
            <a:r>
              <a:rPr sz="5400" b="1" i="1" u="heavy" spc="-48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</a:t>
            </a:r>
            <a:r>
              <a:rPr sz="5400" b="1" i="1" u="heavy" spc="-48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</a:t>
            </a:r>
            <a:r>
              <a:rPr sz="5400" b="1" i="1" u="heavy" spc="-4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up</a:t>
            </a:r>
            <a:r>
              <a:rPr sz="5400" b="1" i="1" u="heavy" spc="2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</a:t>
            </a:r>
            <a:r>
              <a:rPr sz="5400" b="1" i="1" u="heavy" spc="-1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5400" b="1" i="1" u="heavy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sz="5400" b="1" i="1" u="heavy" spc="-5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5400" b="1" i="1" u="heavy" spc="-3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</a:t>
            </a:r>
            <a:r>
              <a:rPr sz="5400" b="1" i="1" u="heavy" spc="-1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</a:t>
            </a:r>
            <a:r>
              <a:rPr sz="5400" b="1" i="1" u="heavy" spc="-1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</a:t>
            </a:r>
            <a:r>
              <a:rPr sz="5400" b="1" i="1" u="heavy" spc="-29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uct</a:t>
            </a:r>
            <a:r>
              <a:rPr sz="5400" b="1" i="1" u="heavy" spc="-18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sz="5400" b="1" i="1" u="heavy" spc="-48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ons</a:t>
            </a:r>
            <a:endParaRPr sz="5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2140" y="1502155"/>
            <a:ext cx="7626350" cy="425069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4965" marR="5080" indent="-342900">
              <a:lnSpc>
                <a:spcPts val="3020"/>
              </a:lnSpc>
              <a:spcBef>
                <a:spcPts val="484"/>
              </a:spcBef>
              <a:buChar char="•"/>
              <a:tabLst>
                <a:tab pos="354965" algn="l"/>
                <a:tab pos="355600" algn="l"/>
                <a:tab pos="3670300" algn="l"/>
              </a:tabLst>
            </a:pPr>
            <a:r>
              <a:rPr sz="2800" spc="-5" dirty="0">
                <a:latin typeface="Times New Roman"/>
                <a:cs typeface="Times New Roman"/>
              </a:rPr>
              <a:t>EI</a:t>
            </a:r>
            <a:r>
              <a:rPr sz="2800" dirty="0">
                <a:latin typeface="Times New Roman"/>
                <a:cs typeface="Times New Roman"/>
              </a:rPr>
              <a:t> (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Enable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Interrupt)	</a:t>
            </a:r>
            <a:r>
              <a:rPr sz="2800" spc="-5" dirty="0">
                <a:latin typeface="Times New Roman"/>
                <a:cs typeface="Times New Roman"/>
              </a:rPr>
              <a:t>This instruction sets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interrupt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enable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Flip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Flop to</a:t>
            </a:r>
            <a:r>
              <a:rPr sz="2800" spc="-5" dirty="0">
                <a:latin typeface="Times New Roman"/>
                <a:cs typeface="Times New Roman"/>
              </a:rPr>
              <a:t> activate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interrupts.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Times New Roman"/>
              <a:buChar char="•"/>
            </a:pPr>
            <a:endParaRPr sz="3800">
              <a:latin typeface="Times New Roman"/>
              <a:cs typeface="Times New Roman"/>
            </a:endParaRPr>
          </a:p>
          <a:p>
            <a:pPr marL="354965" marR="288925" indent="-342900">
              <a:lnSpc>
                <a:spcPts val="3020"/>
              </a:lnSpc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DI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 Disable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Interrupt)</a:t>
            </a:r>
            <a:r>
              <a:rPr sz="2800" spc="114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This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instruction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resets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interrupt enable </a:t>
            </a:r>
            <a:r>
              <a:rPr sz="2800" dirty="0">
                <a:latin typeface="Times New Roman"/>
                <a:cs typeface="Times New Roman"/>
              </a:rPr>
              <a:t>Flip Flop </a:t>
            </a:r>
            <a:r>
              <a:rPr sz="2800" spc="-5" dirty="0">
                <a:latin typeface="Times New Roman"/>
                <a:cs typeface="Times New Roman"/>
              </a:rPr>
              <a:t>and deactivates all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interrupts except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non-maskable </a:t>
            </a:r>
            <a:r>
              <a:rPr sz="2800" dirty="0">
                <a:latin typeface="Times New Roman"/>
                <a:cs typeface="Times New Roman"/>
              </a:rPr>
              <a:t>interrupt </a:t>
            </a:r>
            <a:r>
              <a:rPr sz="2800" spc="-5" dirty="0">
                <a:latin typeface="Times New Roman"/>
                <a:cs typeface="Times New Roman"/>
              </a:rPr>
              <a:t>i.e. 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TRAP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Times New Roman"/>
              <a:buChar char="•"/>
            </a:pPr>
            <a:endParaRPr sz="3800">
              <a:latin typeface="Times New Roman"/>
              <a:cs typeface="Times New Roman"/>
            </a:endParaRPr>
          </a:p>
          <a:p>
            <a:pPr marL="355600" marR="78105" indent="-342900">
              <a:lnSpc>
                <a:spcPts val="3020"/>
              </a:lnSpc>
              <a:buChar char="•"/>
              <a:tabLst>
                <a:tab pos="354965" algn="l"/>
                <a:tab pos="355600" algn="l"/>
                <a:tab pos="1841500" algn="l"/>
              </a:tabLst>
            </a:pPr>
            <a:r>
              <a:rPr sz="2800" spc="-5" dirty="0">
                <a:latin typeface="Times New Roman"/>
                <a:cs typeface="Times New Roman"/>
              </a:rPr>
              <a:t>RESET	This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also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resets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interrupt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enable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Flip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Flop.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2140" y="1086103"/>
            <a:ext cx="8062595" cy="3634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95"/>
              </a:spcBef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SIM (Set Interrupt Mask) This enables\disables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interrupts according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to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 bit pattern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accumulator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obtained through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masking.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Times New Roman"/>
              <a:buChar char="•"/>
            </a:pPr>
            <a:endParaRPr sz="4650">
              <a:latin typeface="Times New Roman"/>
              <a:cs typeface="Times New Roman"/>
            </a:endParaRPr>
          </a:p>
          <a:p>
            <a:pPr marL="354965" marR="271145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  <a:tab pos="5498465" algn="l"/>
              </a:tabLst>
            </a:pPr>
            <a:r>
              <a:rPr sz="3200" spc="-5" dirty="0">
                <a:latin typeface="Times New Roman"/>
                <a:cs typeface="Times New Roman"/>
              </a:rPr>
              <a:t>RIM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(Read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Interrupt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Mask)	This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instruction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helps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programmer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to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know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current status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pending interrupt.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7648" y="0"/>
            <a:ext cx="764857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i="1" u="heavy" spc="-47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Cal</a:t>
            </a:r>
            <a:r>
              <a:rPr sz="5400" b="1" i="1" u="heavy" spc="-2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</a:t>
            </a:r>
            <a:r>
              <a:rPr sz="5400" b="1" i="1" u="heavy" spc="-1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5400" b="1" i="1" u="heavy" spc="-3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Location</a:t>
            </a:r>
            <a:r>
              <a:rPr sz="5400" b="1" i="1" u="heavy" spc="-37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</a:t>
            </a:r>
            <a:r>
              <a:rPr sz="5400" b="1" i="1" u="heavy" spc="-18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5400" b="1" i="1" u="heavy" spc="-47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</a:t>
            </a:r>
            <a:r>
              <a:rPr sz="5400" b="1" i="1" u="heavy" spc="-3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</a:t>
            </a:r>
            <a:r>
              <a:rPr sz="5400" b="1" i="1" u="heavy" spc="-1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5400" b="1" i="1" u="heavy" spc="-5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He</a:t>
            </a:r>
            <a:r>
              <a:rPr sz="5400" b="1" i="1" u="heavy" spc="-43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x</a:t>
            </a:r>
            <a:r>
              <a:rPr sz="5400" b="1" i="1" u="heavy" spc="-1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5400" b="1" i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–</a:t>
            </a:r>
            <a:r>
              <a:rPr sz="5400" b="1" i="1" u="heavy" spc="-1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5400" b="1" i="1" u="heavy" spc="-4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codes</a:t>
            </a:r>
            <a:endParaRPr sz="5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65119" y="742759"/>
            <a:ext cx="241236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i="1" u="heavy" spc="-30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fo</a:t>
            </a:r>
            <a:r>
              <a:rPr sz="5400" b="1" i="1" u="heavy" spc="-48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</a:t>
            </a:r>
            <a:r>
              <a:rPr sz="5400" b="1" i="1" u="heavy" spc="-17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5400" b="1" i="1" u="heavy" spc="-4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RS</a:t>
            </a:r>
            <a:r>
              <a:rPr sz="5400" b="1" i="1" u="heavy" spc="-6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</a:t>
            </a:r>
            <a:r>
              <a:rPr sz="5400" b="1" i="1" u="heavy" spc="-17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5400" b="1" i="1" u="heavy" spc="-5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</a:t>
            </a:r>
            <a:endParaRPr sz="54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42912" y="1585912"/>
          <a:ext cx="8272780" cy="46920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800" spc="-5" dirty="0">
                          <a:latin typeface="Arial MT"/>
                          <a:cs typeface="Arial MT"/>
                        </a:rPr>
                        <a:t>RST</a:t>
                      </a:r>
                      <a:r>
                        <a:rPr sz="2800" spc="-10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800" dirty="0">
                          <a:latin typeface="Arial MT"/>
                          <a:cs typeface="Arial MT"/>
                        </a:rPr>
                        <a:t>n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355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800" dirty="0">
                          <a:latin typeface="Arial MT"/>
                          <a:cs typeface="Arial MT"/>
                        </a:rPr>
                        <a:t>Hex</a:t>
                      </a:r>
                      <a:r>
                        <a:rPr sz="28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80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2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800" dirty="0">
                          <a:latin typeface="Arial MT"/>
                          <a:cs typeface="Arial MT"/>
                        </a:rPr>
                        <a:t>code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800" dirty="0">
                          <a:latin typeface="Arial MT"/>
                          <a:cs typeface="Arial MT"/>
                        </a:rPr>
                        <a:t>Call</a:t>
                      </a:r>
                      <a:r>
                        <a:rPr sz="28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800" dirty="0">
                          <a:latin typeface="Arial MT"/>
                          <a:cs typeface="Arial MT"/>
                        </a:rPr>
                        <a:t>location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800" spc="-5" dirty="0">
                          <a:latin typeface="Arial MT"/>
                          <a:cs typeface="Arial MT"/>
                        </a:rPr>
                        <a:t>RST</a:t>
                      </a:r>
                      <a:r>
                        <a:rPr sz="2800" spc="-10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800" dirty="0">
                          <a:latin typeface="Arial MT"/>
                          <a:cs typeface="Arial MT"/>
                        </a:rPr>
                        <a:t>0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355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800" dirty="0">
                          <a:latin typeface="Arial MT"/>
                          <a:cs typeface="Arial MT"/>
                        </a:rPr>
                        <a:t>C7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800" dirty="0">
                          <a:latin typeface="Arial MT"/>
                          <a:cs typeface="Arial MT"/>
                        </a:rPr>
                        <a:t>0000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800" spc="-5" dirty="0">
                          <a:latin typeface="Arial MT"/>
                          <a:cs typeface="Arial MT"/>
                        </a:rPr>
                        <a:t>RST</a:t>
                      </a:r>
                      <a:r>
                        <a:rPr sz="2800" spc="-10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800" dirty="0">
                          <a:latin typeface="Arial MT"/>
                          <a:cs typeface="Arial MT"/>
                        </a:rPr>
                        <a:t>1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355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800" dirty="0">
                          <a:latin typeface="Arial MT"/>
                          <a:cs typeface="Arial MT"/>
                        </a:rPr>
                        <a:t>CF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800" dirty="0">
                          <a:latin typeface="Arial MT"/>
                          <a:cs typeface="Arial MT"/>
                        </a:rPr>
                        <a:t>0008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800" spc="-5" dirty="0">
                          <a:latin typeface="Arial MT"/>
                          <a:cs typeface="Arial MT"/>
                        </a:rPr>
                        <a:t>RST</a:t>
                      </a:r>
                      <a:r>
                        <a:rPr sz="2800" spc="-10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800" dirty="0">
                          <a:latin typeface="Arial MT"/>
                          <a:cs typeface="Arial MT"/>
                        </a:rPr>
                        <a:t>2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355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800" dirty="0">
                          <a:latin typeface="Arial MT"/>
                          <a:cs typeface="Arial MT"/>
                        </a:rPr>
                        <a:t>D7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800" dirty="0">
                          <a:latin typeface="Arial MT"/>
                          <a:cs typeface="Arial MT"/>
                        </a:rPr>
                        <a:t>0010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800" spc="-5" dirty="0">
                          <a:latin typeface="Arial MT"/>
                          <a:cs typeface="Arial MT"/>
                        </a:rPr>
                        <a:t>RST</a:t>
                      </a:r>
                      <a:r>
                        <a:rPr sz="2800" spc="-10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800" dirty="0">
                          <a:latin typeface="Arial MT"/>
                          <a:cs typeface="Arial MT"/>
                        </a:rPr>
                        <a:t>3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355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800" dirty="0">
                          <a:latin typeface="Arial MT"/>
                          <a:cs typeface="Arial MT"/>
                        </a:rPr>
                        <a:t>DF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800" dirty="0">
                          <a:latin typeface="Arial MT"/>
                          <a:cs typeface="Arial MT"/>
                        </a:rPr>
                        <a:t>0018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800" spc="-5" dirty="0">
                          <a:latin typeface="Arial MT"/>
                          <a:cs typeface="Arial MT"/>
                        </a:rPr>
                        <a:t>RST</a:t>
                      </a:r>
                      <a:r>
                        <a:rPr sz="2800" spc="-10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800" dirty="0">
                          <a:latin typeface="Arial MT"/>
                          <a:cs typeface="Arial MT"/>
                        </a:rPr>
                        <a:t>4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355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800" spc="-5" dirty="0">
                          <a:latin typeface="Arial MT"/>
                          <a:cs typeface="Arial MT"/>
                        </a:rPr>
                        <a:t>E7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800" dirty="0">
                          <a:latin typeface="Arial MT"/>
                          <a:cs typeface="Arial MT"/>
                        </a:rPr>
                        <a:t>0020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800" spc="-5" dirty="0">
                          <a:latin typeface="Arial MT"/>
                          <a:cs typeface="Arial MT"/>
                        </a:rPr>
                        <a:t>RST</a:t>
                      </a:r>
                      <a:r>
                        <a:rPr sz="2800" spc="-10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800" dirty="0">
                          <a:latin typeface="Arial MT"/>
                          <a:cs typeface="Arial MT"/>
                        </a:rPr>
                        <a:t>5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355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800" spc="-5" dirty="0">
                          <a:latin typeface="Arial MT"/>
                          <a:cs typeface="Arial MT"/>
                        </a:rPr>
                        <a:t>EF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800" dirty="0">
                          <a:latin typeface="Arial MT"/>
                          <a:cs typeface="Arial MT"/>
                        </a:rPr>
                        <a:t>0028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800" spc="-5" dirty="0">
                          <a:latin typeface="Arial MT"/>
                          <a:cs typeface="Arial MT"/>
                        </a:rPr>
                        <a:t>RST</a:t>
                      </a:r>
                      <a:r>
                        <a:rPr sz="2800" spc="-10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800" dirty="0">
                          <a:latin typeface="Arial MT"/>
                          <a:cs typeface="Arial MT"/>
                        </a:rPr>
                        <a:t>6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355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800" spc="-5" dirty="0">
                          <a:latin typeface="Arial MT"/>
                          <a:cs typeface="Arial MT"/>
                        </a:rPr>
                        <a:t>F7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800" dirty="0">
                          <a:latin typeface="Arial MT"/>
                          <a:cs typeface="Arial MT"/>
                        </a:rPr>
                        <a:t>0030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800" spc="-5" dirty="0">
                          <a:latin typeface="Arial MT"/>
                          <a:cs typeface="Arial MT"/>
                        </a:rPr>
                        <a:t>RST</a:t>
                      </a:r>
                      <a:r>
                        <a:rPr sz="2800" spc="-10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800" dirty="0">
                          <a:latin typeface="Arial MT"/>
                          <a:cs typeface="Arial MT"/>
                        </a:rPr>
                        <a:t>7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355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800" spc="-5" dirty="0">
                          <a:latin typeface="Arial MT"/>
                          <a:cs typeface="Arial MT"/>
                        </a:rPr>
                        <a:t>FF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800" dirty="0">
                          <a:latin typeface="Arial MT"/>
                          <a:cs typeface="Arial MT"/>
                        </a:rPr>
                        <a:t>0038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78739" y="6297866"/>
            <a:ext cx="84251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latin typeface="Times New Roman"/>
                <a:cs typeface="Times New Roman"/>
              </a:rPr>
              <a:t>These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instructions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are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implemented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by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software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11916" y="56641"/>
            <a:ext cx="691705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i="1" u="heavy" spc="-19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DM</a:t>
            </a:r>
            <a:r>
              <a:rPr sz="5400" b="1" i="1" u="heavy" spc="-25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5400" b="1" i="1" u="heavy" spc="-1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5400" b="1" i="1" u="heavy" spc="-1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Dat</a:t>
            </a:r>
            <a:r>
              <a:rPr sz="5400" b="1" i="1" u="heavy" spc="-43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5400" b="1" i="1" u="heavy" spc="-1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5400" b="1" i="1" u="heavy" spc="-43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Trans</a:t>
            </a:r>
            <a:r>
              <a:rPr sz="5400" b="1" i="1" u="heavy" spc="-3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</a:t>
            </a:r>
            <a:r>
              <a:rPr sz="5400" b="1" i="1" u="heavy" spc="-5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</a:t>
            </a:r>
            <a:r>
              <a:rPr sz="5400" b="1" i="1" u="heavy" spc="-48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</a:t>
            </a:r>
            <a:r>
              <a:rPr sz="5400" b="1" i="1" u="heavy" spc="-18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5400" b="1" i="1" u="heavy" spc="-58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scheme</a:t>
            </a:r>
            <a:endParaRPr sz="5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1086103"/>
            <a:ext cx="7787005" cy="5683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Data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transfer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from I/O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device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to memory or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vice-versa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controlled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by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DMA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controller.</a:t>
            </a:r>
            <a:endParaRPr sz="3200">
              <a:latin typeface="Times New Roman"/>
              <a:cs typeface="Times New Roman"/>
            </a:endParaRPr>
          </a:p>
          <a:p>
            <a:pPr marL="354965" marR="81280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This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scheme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is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employed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when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large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amount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data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is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to be transferred.</a:t>
            </a:r>
            <a:endParaRPr sz="3200">
              <a:latin typeface="Times New Roman"/>
              <a:cs typeface="Times New Roman"/>
            </a:endParaRPr>
          </a:p>
          <a:p>
            <a:pPr marL="354965" marR="648335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The DMA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requests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 control of buses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through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 HOLD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signal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and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MPU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acknowledges the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request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through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HLDA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signal and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releases</a:t>
            </a:r>
            <a:r>
              <a:rPr sz="3200" spc="2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control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buses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to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DMA.</a:t>
            </a:r>
            <a:endParaRPr sz="3200">
              <a:latin typeface="Times New Roman"/>
              <a:cs typeface="Times New Roman"/>
            </a:endParaRPr>
          </a:p>
          <a:p>
            <a:pPr marL="354965" marR="285115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It’s a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faster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scheme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and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hence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used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for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high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speed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printers.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97939" y="323341"/>
            <a:ext cx="674941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i="1" u="heavy" spc="-4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Bloc</a:t>
            </a:r>
            <a:r>
              <a:rPr sz="5400" b="1" i="1" u="heavy" spc="-3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k</a:t>
            </a:r>
            <a:r>
              <a:rPr sz="5400" b="1" i="1" u="heavy" spc="-18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5400" b="1" i="1" u="heavy" spc="-57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mod</a:t>
            </a:r>
            <a:r>
              <a:rPr sz="5400" b="1" i="1" u="heavy" spc="-5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</a:t>
            </a:r>
            <a:r>
              <a:rPr sz="5400" b="1" i="1" u="heavy" spc="-18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5400" b="1" i="1" u="heavy" spc="-5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</a:t>
            </a:r>
            <a:r>
              <a:rPr sz="5400" b="1" i="1" u="heavy" spc="-7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</a:t>
            </a:r>
            <a:r>
              <a:rPr sz="5400" b="1" i="1" u="heavy" spc="-1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5400" b="1" i="1" u="heavy" spc="-17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dat</a:t>
            </a:r>
            <a:r>
              <a:rPr sz="5400" b="1" i="1" u="heavy" spc="-43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5400" b="1" i="1" u="heavy" spc="-1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5400" b="1" i="1" u="heavy" spc="-28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trans</a:t>
            </a:r>
            <a:r>
              <a:rPr sz="5400" b="1" i="1" u="heavy" spc="-229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</a:t>
            </a:r>
            <a:r>
              <a:rPr sz="5400" b="1" i="1" u="heavy" spc="-5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</a:t>
            </a:r>
            <a:r>
              <a:rPr sz="5400" b="1" i="1" u="heavy" spc="-48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</a:t>
            </a:r>
            <a:endParaRPr sz="5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3505" y="1622551"/>
            <a:ext cx="7678420" cy="4945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 marR="509905" indent="-5715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latin typeface="Arial MT"/>
                <a:cs typeface="Arial MT"/>
              </a:rPr>
              <a:t>In this scheme the I/O device withdraws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the DMA request only after all the data 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bytes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have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been </a:t>
            </a:r>
            <a:r>
              <a:rPr sz="3200" spc="-5" dirty="0">
                <a:latin typeface="Arial MT"/>
                <a:cs typeface="Arial MT"/>
              </a:rPr>
              <a:t>transferred.</a:t>
            </a:r>
            <a:endParaRPr sz="3200">
              <a:latin typeface="Arial MT"/>
              <a:cs typeface="Arial MT"/>
            </a:endParaRPr>
          </a:p>
          <a:p>
            <a:pPr marL="436880">
              <a:lnSpc>
                <a:spcPct val="100000"/>
              </a:lnSpc>
              <a:spcBef>
                <a:spcPts val="2255"/>
              </a:spcBef>
            </a:pPr>
            <a:r>
              <a:rPr sz="5400" b="1" i="1" u="heavy" spc="-4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Cycl</a:t>
            </a:r>
            <a:r>
              <a:rPr sz="5400" b="1" i="1" u="heavy" spc="-5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</a:t>
            </a:r>
            <a:r>
              <a:rPr sz="5400" b="1" i="1" u="heavy" spc="-18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5400" b="1" i="1" u="heavy" spc="-29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stealin</a:t>
            </a:r>
            <a:r>
              <a:rPr sz="5400" b="1" i="1" u="heavy" spc="-5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g</a:t>
            </a:r>
            <a:r>
              <a:rPr sz="5400" b="1" i="1" u="heavy" spc="-1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5400" b="1" i="1" u="heavy" spc="-38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tech</a:t>
            </a:r>
            <a:r>
              <a:rPr sz="5400" b="1" i="1" u="heavy" spc="-5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5400" b="1" i="1" u="heavy" spc="-2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sz="5400" b="1" i="1" u="heavy" spc="-48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q</a:t>
            </a:r>
            <a:r>
              <a:rPr sz="5400" b="1" i="1" u="heavy" spc="-5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ue</a:t>
            </a:r>
            <a:endParaRPr sz="5400">
              <a:latin typeface="Times New Roman"/>
              <a:cs typeface="Times New Roman"/>
            </a:endParaRPr>
          </a:p>
          <a:p>
            <a:pPr marL="132080" marR="5080">
              <a:lnSpc>
                <a:spcPct val="100000"/>
              </a:lnSpc>
              <a:spcBef>
                <a:spcPts val="3125"/>
              </a:spcBef>
            </a:pPr>
            <a:r>
              <a:rPr sz="3200" spc="-5" dirty="0">
                <a:latin typeface="Times New Roman"/>
                <a:cs typeface="Times New Roman"/>
              </a:rPr>
              <a:t>In this scheme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bytes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are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divided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into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several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parts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and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after transferring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every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part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 control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buses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given back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to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MPU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and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later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stolen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back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when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MPU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does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not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need it.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19323</Words>
  <Application>Microsoft Office PowerPoint</Application>
  <PresentationFormat>On-screen Show (4:3)</PresentationFormat>
  <Paragraphs>3884</Paragraphs>
  <Slides>330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330</vt:i4>
      </vt:variant>
    </vt:vector>
  </HeadingPairs>
  <TitlesOfParts>
    <vt:vector size="338" baseType="lpstr">
      <vt:lpstr>Arial</vt:lpstr>
      <vt:lpstr>Arial MT</vt:lpstr>
      <vt:lpstr>Calibri</vt:lpstr>
      <vt:lpstr>Symbol</vt:lpstr>
      <vt:lpstr>Tahoma</vt:lpstr>
      <vt:lpstr>Times New Roman</vt:lpstr>
      <vt:lpstr>Wingdings</vt:lpstr>
      <vt:lpstr>Office Theme</vt:lpstr>
      <vt:lpstr>PowerPoint Presentation</vt:lpstr>
      <vt:lpstr>MICROPROCESSOR 8085</vt:lpstr>
      <vt:lpstr>Basic Concepts of Microprocessors</vt:lpstr>
      <vt:lpstr>What is a Microprocessor?</vt:lpstr>
      <vt:lpstr>What about micro?</vt:lpstr>
      <vt:lpstr>Was there ever a “mini”-  processor?</vt:lpstr>
      <vt:lpstr>Definition of the Microprocessor</vt:lpstr>
      <vt:lpstr>Definition (Contd.)</vt:lpstr>
      <vt:lpstr>Definition (Contd.)</vt:lpstr>
      <vt:lpstr>Definition (Contd.)</vt:lpstr>
      <vt:lpstr>Definition (Contd.)</vt:lpstr>
      <vt:lpstr>Definition (Contd.)</vt:lpstr>
      <vt:lpstr>Definition (Contd.)</vt:lpstr>
      <vt:lpstr>Definition (Contd.)</vt:lpstr>
      <vt:lpstr>Definition (Contd.)</vt:lpstr>
      <vt:lpstr>A Microprocessor-based system</vt:lpstr>
      <vt:lpstr>Inside The Microprocessor</vt:lpstr>
      <vt:lpstr>Organization of a microprocessor-  based system</vt:lpstr>
      <vt:lpstr>Memory</vt:lpstr>
      <vt:lpstr>Memory Map and Addresses</vt:lpstr>
      <vt:lpstr>Memory</vt:lpstr>
      <vt:lpstr>The three cycle instruction  execution model</vt:lpstr>
      <vt:lpstr>Machine Language</vt:lpstr>
      <vt:lpstr>The 8085 Machine Language</vt:lpstr>
      <vt:lpstr>Assembly Language</vt:lpstr>
      <vt:lpstr>Assembly Language</vt:lpstr>
      <vt:lpstr>Assembly Language</vt:lpstr>
      <vt:lpstr>“Assembling” The Program</vt:lpstr>
      <vt:lpstr>8085 Microprocessor  Architecture</vt:lpstr>
      <vt:lpstr>Pins</vt:lpstr>
      <vt:lpstr>PowerPoint Presentation</vt:lpstr>
      <vt:lpstr>PowerPoint Presentation</vt:lpstr>
      <vt:lpstr>Architecture of Intel 8085 Microprocessor</vt:lpstr>
      <vt:lpstr>Intel 8085 Microprocessor</vt:lpstr>
      <vt:lpstr>The ALU</vt:lpstr>
      <vt:lpstr>PowerPoint Presentation</vt:lpstr>
      <vt:lpstr>PowerPoint Presentation</vt:lpstr>
      <vt:lpstr>PowerPoint Presentation</vt:lpstr>
      <vt:lpstr>PowerPoint Presentation</vt:lpstr>
      <vt:lpstr>The Internal Architecture</vt:lpstr>
      <vt:lpstr>The Internal Architecture</vt:lpstr>
      <vt:lpstr>Non Programmable Registers</vt:lpstr>
      <vt:lpstr>The Address and Data Busses</vt:lpstr>
      <vt:lpstr>Demultiplexing AD7-AD0</vt:lpstr>
      <vt:lpstr>Demultiplexing AD7-AD0</vt:lpstr>
      <vt:lpstr>Demultiplexing the Bus AD7 – AD0</vt:lpstr>
      <vt:lpstr>PowerPoint Presentation</vt:lpstr>
      <vt:lpstr>The Overall Picture</vt:lpstr>
      <vt:lpstr>Introduction to 8085 Instructions</vt:lpstr>
      <vt:lpstr>The 8085 Instructions</vt:lpstr>
      <vt:lpstr>Instruction and Data Formats</vt:lpstr>
      <vt:lpstr>Data Transfer Operations</vt:lpstr>
      <vt:lpstr>The LXI instruction</vt:lpstr>
      <vt:lpstr>The Memory “Register”</vt:lpstr>
      <vt:lpstr>Using the Other Register Pairs</vt:lpstr>
      <vt:lpstr>Indirect Addressing Mode</vt:lpstr>
      <vt:lpstr>Arithmetic Operations</vt:lpstr>
      <vt:lpstr>Arithmetic Operations Related to  Memory</vt:lpstr>
      <vt:lpstr>Arithmetic Operations</vt:lpstr>
      <vt:lpstr>Manipulating Addresses</vt:lpstr>
      <vt:lpstr>Logic Operations</vt:lpstr>
      <vt:lpstr>Logic Operations</vt:lpstr>
      <vt:lpstr>Additional Logic Operations</vt:lpstr>
      <vt:lpstr>RLC vs. RLA</vt:lpstr>
      <vt:lpstr>Logical Operations</vt:lpstr>
      <vt:lpstr>Branch Operations</vt:lpstr>
      <vt:lpstr>Unconditional Branch</vt:lpstr>
      <vt:lpstr>Conditional Branch</vt:lpstr>
      <vt:lpstr>Machine Control</vt:lpstr>
      <vt:lpstr>Operand Types</vt:lpstr>
      <vt:lpstr>Instruction Size</vt:lpstr>
      <vt:lpstr>Instruction with Immediate Date</vt:lpstr>
      <vt:lpstr>Instruction with a Memory  Address</vt:lpstr>
      <vt:lpstr>Addressing Modes</vt:lpstr>
      <vt:lpstr>Data Formats</vt:lpstr>
      <vt:lpstr>Data Formats</vt:lpstr>
      <vt:lpstr>PowerPoint Presentation</vt:lpstr>
      <vt:lpstr>Counters &amp; Time Delays</vt:lpstr>
      <vt:lpstr>Counters</vt:lpstr>
      <vt:lpstr>Counters</vt:lpstr>
      <vt:lpstr>Sample ALP for implementing a loop  Using DCR instruction</vt:lpstr>
      <vt:lpstr>Using a Register Pair as a Loop  Counter</vt:lpstr>
      <vt:lpstr>Using a Register Pair as a Loop  Counter</vt:lpstr>
      <vt:lpstr>Delays</vt:lpstr>
      <vt:lpstr>Delays</vt:lpstr>
      <vt:lpstr>Delay loops</vt:lpstr>
      <vt:lpstr>Delay Loops (Contd.)</vt:lpstr>
      <vt:lpstr>Delay Loops (Contd.)</vt:lpstr>
      <vt:lpstr>Using a Register Pair as a Loop  Counter</vt:lpstr>
      <vt:lpstr>Using a Register Pair as a Loop  Counter</vt:lpstr>
      <vt:lpstr>Using a Register Pair as a Loop  Counter</vt:lpstr>
      <vt:lpstr>Nested Loops</vt:lpstr>
      <vt:lpstr>Nested Loops for Delay</vt:lpstr>
      <vt:lpstr>Delay Calculation of Nested  Loops</vt:lpstr>
      <vt:lpstr>Delay Calculation of Nested  Loops</vt:lpstr>
      <vt:lpstr>Increasing the delay</vt:lpstr>
      <vt:lpstr>PowerPoint Presentation</vt:lpstr>
      <vt:lpstr>Timing Diagram</vt:lpstr>
      <vt:lpstr>Timing Diagram</vt:lpstr>
      <vt:lpstr>Timing Diagram</vt:lpstr>
      <vt:lpstr>Timing Diagram</vt:lpstr>
      <vt:lpstr>Timing Diagram</vt:lpstr>
      <vt:lpstr>Timing Diagram</vt:lpstr>
      <vt:lpstr>Timing Diagram</vt:lpstr>
      <vt:lpstr>Timing Diagram</vt:lpstr>
      <vt:lpstr>Timing Diagram</vt:lpstr>
      <vt:lpstr>Memory Read Cycle</vt:lpstr>
      <vt:lpstr>Timing Diagram</vt:lpstr>
      <vt:lpstr>Timing Diagram</vt:lpstr>
      <vt:lpstr>Timing Diagram</vt:lpstr>
      <vt:lpstr>Timing Diagram</vt:lpstr>
      <vt:lpstr>Timing Diagram</vt:lpstr>
      <vt:lpstr>Timing Diagram</vt:lpstr>
      <vt:lpstr>Chapter 9 Stack and Subroutines</vt:lpstr>
      <vt:lpstr>The Stack</vt:lpstr>
      <vt:lpstr>The Stack</vt:lpstr>
      <vt:lpstr>Saving Information on the Stack</vt:lpstr>
      <vt:lpstr>The PUSH Instruction</vt:lpstr>
      <vt:lpstr>The POP Instruction</vt:lpstr>
      <vt:lpstr>Operation of the Stack</vt:lpstr>
      <vt:lpstr>LIFO</vt:lpstr>
      <vt:lpstr>The PSW Register Pair</vt:lpstr>
      <vt:lpstr>Subroutines</vt:lpstr>
      <vt:lpstr>Subroutines</vt:lpstr>
      <vt:lpstr>The CALL Instruction</vt:lpstr>
      <vt:lpstr>The RTE Instruction</vt:lpstr>
      <vt:lpstr>Cautions</vt:lpstr>
      <vt:lpstr>Passing Data to a Subroutine</vt:lpstr>
      <vt:lpstr>Call by Reference and Call by  Value</vt:lpstr>
      <vt:lpstr>Cautions with PUSH and POP</vt:lpstr>
      <vt:lpstr>Conditional CALL and RTE  Instructions</vt:lpstr>
      <vt:lpstr>A Proper Subroutine</vt:lpstr>
      <vt:lpstr>PowerPoint Presentation</vt:lpstr>
      <vt:lpstr>The Design and Operation of Memory</vt:lpstr>
      <vt:lpstr>Accessing Information in Memory</vt:lpstr>
      <vt:lpstr>Tri-State Buffers</vt:lpstr>
      <vt:lpstr>The Tri-State Buffer</vt:lpstr>
      <vt:lpstr>The Basic Memory Element</vt:lpstr>
      <vt:lpstr>The Basic Memory Element</vt:lpstr>
      <vt:lpstr>The Basic Memory Element</vt:lpstr>
      <vt:lpstr>A Memory “Register”</vt:lpstr>
      <vt:lpstr>A group of memory registers</vt:lpstr>
      <vt:lpstr>Externally Initiated Operations</vt:lpstr>
      <vt:lpstr>A group of Memory Registers</vt:lpstr>
      <vt:lpstr>The Design of a Memory Chip</vt:lpstr>
      <vt:lpstr>The Enable Inputs</vt:lpstr>
      <vt:lpstr>The Design of a Memory Chip</vt:lpstr>
      <vt:lpstr>The Design of a Memory Chip</vt:lpstr>
      <vt:lpstr>The steps of writing into Memory</vt:lpstr>
      <vt:lpstr>Dimensions of Memory</vt:lpstr>
      <vt:lpstr>The 8085 and Memory</vt:lpstr>
      <vt:lpstr>Chip Select</vt:lpstr>
      <vt:lpstr>Chip Selection Example</vt:lpstr>
      <vt:lpstr>Chip Selection Example</vt:lpstr>
      <vt:lpstr>Memory Map and Addresses</vt:lpstr>
      <vt:lpstr>Address Range of a Memory Chip</vt:lpstr>
      <vt:lpstr>Address Range of a Memory Chip</vt:lpstr>
      <vt:lpstr>The 8085 and Address Ranges</vt:lpstr>
      <vt:lpstr>The 8085 and Address Ranges</vt:lpstr>
      <vt:lpstr>Chip Select Example</vt:lpstr>
      <vt:lpstr>Chip Select Example</vt:lpstr>
      <vt:lpstr>Chip Select Example</vt:lpstr>
      <vt:lpstr>High-Order vs. Low-Order Address Lines</vt:lpstr>
      <vt:lpstr>Data Lines</vt:lpstr>
      <vt:lpstr>Data Lines</vt:lpstr>
      <vt:lpstr>Interrupts</vt:lpstr>
      <vt:lpstr>Interrupts</vt:lpstr>
      <vt:lpstr>Interrupts</vt:lpstr>
      <vt:lpstr>Responding to Interrupts</vt:lpstr>
      <vt:lpstr>The 8085 Interrupts</vt:lpstr>
      <vt:lpstr>The 8085 Interrupts</vt:lpstr>
      <vt:lpstr>The 8085 Interrupts</vt:lpstr>
      <vt:lpstr>Interrupt Vectors and the Vector  Table</vt:lpstr>
      <vt:lpstr>The 8085 Non-Vectored Interrupt  Process</vt:lpstr>
      <vt:lpstr>The 8085 Non-Vectored Interrupt  Process</vt:lpstr>
      <vt:lpstr>The 8085 Non-Vectored Interrupt Process</vt:lpstr>
      <vt:lpstr>Restart Sequence</vt:lpstr>
      <vt:lpstr>Restart Sequence</vt:lpstr>
      <vt:lpstr>Hardware Generation of RST  Opcode</vt:lpstr>
      <vt:lpstr>Hardware Generation of RST</vt:lpstr>
      <vt:lpstr>Hardware Generation of RST  Opcode</vt:lpstr>
      <vt:lpstr>Issues in Implementing INTR  Interrupts</vt:lpstr>
      <vt:lpstr>Issues in Implementing INTR  Interrupts</vt:lpstr>
      <vt:lpstr>Issues in Implementing INTR  Interrupts</vt:lpstr>
      <vt:lpstr>Multiple Interrupts &amp; Priorities</vt:lpstr>
      <vt:lpstr>The Priority Encoder</vt:lpstr>
      <vt:lpstr>Multiple Interrupts &amp; Priorities</vt:lpstr>
      <vt:lpstr>Multiple Interrupts and Priority</vt:lpstr>
      <vt:lpstr>The 8085 Maskable/Vectored  Interrupts</vt:lpstr>
      <vt:lpstr>Masking RST 5.5, RST 6.5 and RST 7.5</vt:lpstr>
      <vt:lpstr>Maskable Interrupts</vt:lpstr>
      <vt:lpstr>The 8085 Maskable/Vectored  Interrupt Process</vt:lpstr>
      <vt:lpstr>The 8085 Maskable/Vectored  Interrupt Process</vt:lpstr>
      <vt:lpstr>Manipulating the Masks</vt:lpstr>
      <vt:lpstr>How SIM Interprets the  Accumulator 7 6 5 4 3 2 1 0</vt:lpstr>
      <vt:lpstr>SIM and the Interrupt Mask</vt:lpstr>
      <vt:lpstr>SIM and the Interrupt Mask</vt:lpstr>
      <vt:lpstr>SIM and the Interrupt Mask</vt:lpstr>
      <vt:lpstr>Using the SIM Instruction to Modify the  Interrupt Masks</vt:lpstr>
      <vt:lpstr>Triggering Levels</vt:lpstr>
      <vt:lpstr>Determining the Current Mask  Settings</vt:lpstr>
      <vt:lpstr>How RIM sets the Accumulator’s  different bits</vt:lpstr>
      <vt:lpstr>The RIM Instruction and the  Masks</vt:lpstr>
      <vt:lpstr>The RIM Instruction and the  Masks</vt:lpstr>
      <vt:lpstr>Pending Interrupts</vt:lpstr>
      <vt:lpstr>Using RIM and SIM to set Individual Masks</vt:lpstr>
      <vt:lpstr>Using RIM and SIM to set Individual Masks</vt:lpstr>
      <vt:lpstr>TRAP</vt:lpstr>
      <vt:lpstr>Internal Interrupt Priority</vt:lpstr>
      <vt:lpstr>The 8085 Interrupts</vt:lpstr>
      <vt:lpstr>Additional Concepts and  Processes</vt:lpstr>
      <vt:lpstr>The Need for the 8259A</vt:lpstr>
      <vt:lpstr>Interfacing the 8259A to the 8085</vt:lpstr>
      <vt:lpstr>Operating of the 8259A</vt:lpstr>
      <vt:lpstr>Operating of the 8259A</vt:lpstr>
      <vt:lpstr>Direct Memory Access</vt:lpstr>
      <vt:lpstr>Serial I/O and Data  Communication</vt:lpstr>
      <vt:lpstr>Basic Concepts in Serial I/O</vt:lpstr>
      <vt:lpstr>Basic Concepts in Serial I/O</vt:lpstr>
      <vt:lpstr>Synchronous Data Transmission</vt:lpstr>
      <vt:lpstr>Asynchronous Data Transmission</vt:lpstr>
      <vt:lpstr>Asynchronous Data Transmission</vt:lpstr>
      <vt:lpstr>Simplex and Duplex  Transmission</vt:lpstr>
      <vt:lpstr>Rate of Transmission</vt:lpstr>
      <vt:lpstr>Length of Each Bit</vt:lpstr>
      <vt:lpstr>Transmitting a Character</vt:lpstr>
      <vt:lpstr>Error Checking</vt:lpstr>
      <vt:lpstr>Parity Checking</vt:lpstr>
      <vt:lpstr>Checksum</vt:lpstr>
      <vt:lpstr>RS 232</vt:lpstr>
      <vt:lpstr>Software-Controlled Serial  Transmission</vt:lpstr>
      <vt:lpstr>Serial Transmission</vt:lpstr>
      <vt:lpstr>Flowchart of Serial Transmission</vt:lpstr>
      <vt:lpstr>Software-Controlled Serial  Reception</vt:lpstr>
      <vt:lpstr>Serial Reception</vt:lpstr>
      <vt:lpstr>Flowchart of Serial Reception</vt:lpstr>
      <vt:lpstr>The 8085 Serial I/O Lines</vt:lpstr>
      <vt:lpstr>SIM and Serial Output</vt:lpstr>
      <vt:lpstr>RIM and Serial Input</vt:lpstr>
      <vt:lpstr>Ports?</vt:lpstr>
      <vt:lpstr>Example</vt:lpstr>
      <vt:lpstr>PowerPoint Presentation</vt:lpstr>
      <vt:lpstr>CONTROL WORD</vt:lpstr>
      <vt:lpstr>8255A</vt:lpstr>
      <vt:lpstr>Control Word Format for  I/O Mode</vt:lpstr>
      <vt:lpstr>PowerPoint Presentation</vt:lpstr>
      <vt:lpstr>Mode 0 ( Simple Input or  Output )</vt:lpstr>
      <vt:lpstr>BSR (Bit Set/Reset ) Mode</vt:lpstr>
      <vt:lpstr>Problem 2)</vt:lpstr>
      <vt:lpstr>Mode 1: Input or Output with  Handshake</vt:lpstr>
      <vt:lpstr>Control word – mode 1 input</vt:lpstr>
      <vt:lpstr>Status Word – Mode 1 input</vt:lpstr>
      <vt:lpstr>PowerPoint Presentation</vt:lpstr>
      <vt:lpstr>INTEA</vt:lpstr>
      <vt:lpstr>Control word – mode 1 Output</vt:lpstr>
      <vt:lpstr>Status Word – Mode 1 Output</vt:lpstr>
      <vt:lpstr>PowerPoint Presentation</vt:lpstr>
      <vt:lpstr>Status</vt:lpstr>
      <vt:lpstr>Problem 3)</vt:lpstr>
      <vt:lpstr>8086 MICROPROCESSOR</vt:lpstr>
      <vt:lpstr>Pinouts</vt:lpstr>
      <vt:lpstr>8086 Pins</vt:lpstr>
      <vt:lpstr>8086 Pins</vt:lpstr>
      <vt:lpstr>8086 Pins</vt:lpstr>
      <vt:lpstr>8086 Features</vt:lpstr>
      <vt:lpstr>8086 Architecture</vt:lpstr>
      <vt:lpstr>8086 Block Diagram</vt:lpstr>
      <vt:lpstr>8086 Architecture</vt:lpstr>
      <vt:lpstr>Flag Register</vt:lpstr>
      <vt:lpstr>Flags Commonly Tested During the Execution of  Instructions</vt:lpstr>
      <vt:lpstr>Direction Flag</vt:lpstr>
      <vt:lpstr>8086 Programmer’s Model</vt:lpstr>
      <vt:lpstr>Memory Address Calculation</vt:lpstr>
      <vt:lpstr>Segments</vt:lpstr>
      <vt:lpstr>8086 Memory Terminology</vt:lpstr>
      <vt:lpstr>The Code Segment</vt:lpstr>
      <vt:lpstr>The Stack Segment</vt:lpstr>
      <vt:lpstr>The Data Segment</vt:lpstr>
      <vt:lpstr>8086 memory Organization</vt:lpstr>
      <vt:lpstr>PowerPoint Presentation</vt:lpstr>
      <vt:lpstr>MAX and MIN Modes</vt:lpstr>
      <vt:lpstr>Why MIN and MAX modes?</vt:lpstr>
      <vt:lpstr>The 9 pins (min)</vt:lpstr>
      <vt:lpstr>The 9 pins (max)</vt:lpstr>
      <vt:lpstr>Instruction Types</vt:lpstr>
      <vt:lpstr>Addressing Modes</vt:lpstr>
      <vt:lpstr>Data Transfer Instructions</vt:lpstr>
      <vt:lpstr>Instructions for Stack Operations</vt:lpstr>
      <vt:lpstr>Instructions for Stack Operations</vt:lpstr>
      <vt:lpstr>Data Transfer Instructions</vt:lpstr>
      <vt:lpstr>Data Transfer Instructions</vt:lpstr>
      <vt:lpstr>String Instructions</vt:lpstr>
      <vt:lpstr>Repeat Prefix Instructions</vt:lpstr>
      <vt:lpstr>String Instructions</vt:lpstr>
      <vt:lpstr>String Instructions</vt:lpstr>
      <vt:lpstr>String Instructions</vt:lpstr>
      <vt:lpstr>Repeat Prefix Instructions</vt:lpstr>
      <vt:lpstr>Loops and Conditional Jumps</vt:lpstr>
      <vt:lpstr>Conditional Jumps</vt:lpstr>
      <vt:lpstr>8254 Internal Architecture</vt:lpstr>
      <vt:lpstr>THE CONTROL WORD REGISTER AND COUNTERS  ARE SELECTED ACCORDING TO THE SIGNALS ON LINE  A0 and A1 AS SHOWN BELOW</vt:lpstr>
      <vt:lpstr>8254 Control Word Format</vt:lpstr>
      <vt:lpstr>BCD:</vt:lpstr>
      <vt:lpstr>PowerPoint Presentation</vt:lpstr>
      <vt:lpstr>MODE 0 : Interrupt on terminal count</vt:lpstr>
      <vt:lpstr>MODE 1 : HARDWARE-RETRIGGERABLE  ONE-SHOT</vt:lpstr>
      <vt:lpstr>MODE 2 : RATE GENERATOR CLOCK</vt:lpstr>
      <vt:lpstr>MODE 3 : Square Wave Generator</vt:lpstr>
      <vt:lpstr>PowerPoint Presentation</vt:lpstr>
      <vt:lpstr>MODE 5 : HARWARE TRIGGERED STROBE</vt:lpstr>
      <vt:lpstr>READ BACK COMMAND FORMAT:</vt:lpstr>
      <vt:lpstr>Data Transfer  Schemes</vt:lpstr>
      <vt:lpstr>Why do we need data transfer  schemes ?</vt:lpstr>
      <vt:lpstr>Classification of Data Transfer  Schemes</vt:lpstr>
      <vt:lpstr>Programmed Data Transfer  Scheme</vt:lpstr>
      <vt:lpstr>Synchronous Mode of Data  Transfer</vt:lpstr>
      <vt:lpstr>PowerPoint Presentation</vt:lpstr>
      <vt:lpstr>Asynchronous Data Transfer</vt:lpstr>
      <vt:lpstr>PowerPoint Presentation</vt:lpstr>
      <vt:lpstr>Disadvantages</vt:lpstr>
      <vt:lpstr>Interrupt Driven Data Transfer</vt:lpstr>
      <vt:lpstr>PowerPoint Presentation</vt:lpstr>
      <vt:lpstr>Multiple Interrupts</vt:lpstr>
      <vt:lpstr>PowerPoint Presentation</vt:lpstr>
      <vt:lpstr>Interrupts of 8085</vt:lpstr>
      <vt:lpstr>Interrupt Instructions</vt:lpstr>
      <vt:lpstr>PowerPoint Presentation</vt:lpstr>
      <vt:lpstr>Call Locations and Hex – codes</vt:lpstr>
      <vt:lpstr>DMA Data Transfer scheme</vt:lpstr>
      <vt:lpstr>Block mode of data transfer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Concepts of Microprocessors</dc:title>
  <dc:creator>saharoy</dc:creator>
  <cp:lastModifiedBy>Shiva Ram Dam</cp:lastModifiedBy>
  <cp:revision>2</cp:revision>
  <dcterms:created xsi:type="dcterms:W3CDTF">2023-05-16T16:47:09Z</dcterms:created>
  <dcterms:modified xsi:type="dcterms:W3CDTF">2023-07-17T11:50:45Z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2009-02-17T00:00:00Z</vt:filetime>
  </property>
  <property fmtid="{D5CDD505-2E9C-101B-9397-08002B2CF9AE}" pid="3" name="Creator">
    <vt:lpwstr>Acrobat PDFMaker 9.0 for PowerPoint</vt:lpwstr>
  </property>
  <property fmtid="{D5CDD505-2E9C-101B-9397-08002B2CF9AE}" pid="4" name="LastSaved">
    <vt:filetime>2023-05-16T00:00:00Z</vt:filetime>
  </property>
</Properties>
</file>