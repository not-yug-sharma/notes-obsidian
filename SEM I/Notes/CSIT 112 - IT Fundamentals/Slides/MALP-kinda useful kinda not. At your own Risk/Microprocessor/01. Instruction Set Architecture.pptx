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52"/>
  </p:notesMasterIdLst>
  <p:sldIdLst>
    <p:sldId id="256" r:id="rId2"/>
    <p:sldId id="404" r:id="rId3"/>
    <p:sldId id="257" r:id="rId4"/>
    <p:sldId id="305" r:id="rId5"/>
    <p:sldId id="351" r:id="rId6"/>
    <p:sldId id="352" r:id="rId7"/>
    <p:sldId id="402" r:id="rId8"/>
    <p:sldId id="353" r:id="rId9"/>
    <p:sldId id="354" r:id="rId10"/>
    <p:sldId id="355" r:id="rId11"/>
    <p:sldId id="356" r:id="rId12"/>
    <p:sldId id="357" r:id="rId13"/>
    <p:sldId id="358" r:id="rId14"/>
    <p:sldId id="359" r:id="rId15"/>
    <p:sldId id="360" r:id="rId16"/>
    <p:sldId id="361" r:id="rId17"/>
    <p:sldId id="362" r:id="rId18"/>
    <p:sldId id="363" r:id="rId19"/>
    <p:sldId id="403" r:id="rId20"/>
    <p:sldId id="364" r:id="rId21"/>
    <p:sldId id="365" r:id="rId22"/>
    <p:sldId id="396" r:id="rId23"/>
    <p:sldId id="366" r:id="rId24"/>
    <p:sldId id="397" r:id="rId25"/>
    <p:sldId id="369" r:id="rId26"/>
    <p:sldId id="370" r:id="rId27"/>
    <p:sldId id="372" r:id="rId28"/>
    <p:sldId id="373" r:id="rId29"/>
    <p:sldId id="374" r:id="rId30"/>
    <p:sldId id="375" r:id="rId31"/>
    <p:sldId id="376" r:id="rId32"/>
    <p:sldId id="377" r:id="rId33"/>
    <p:sldId id="378" r:id="rId34"/>
    <p:sldId id="379" r:id="rId35"/>
    <p:sldId id="380" r:id="rId36"/>
    <p:sldId id="381" r:id="rId37"/>
    <p:sldId id="382" r:id="rId38"/>
    <p:sldId id="383" r:id="rId39"/>
    <p:sldId id="384" r:id="rId40"/>
    <p:sldId id="385" r:id="rId41"/>
    <p:sldId id="386" r:id="rId42"/>
    <p:sldId id="387" r:id="rId43"/>
    <p:sldId id="388" r:id="rId44"/>
    <p:sldId id="389" r:id="rId45"/>
    <p:sldId id="390" r:id="rId46"/>
    <p:sldId id="391" r:id="rId47"/>
    <p:sldId id="392" r:id="rId48"/>
    <p:sldId id="398" r:id="rId49"/>
    <p:sldId id="399" r:id="rId50"/>
    <p:sldId id="350" r:id="rId51"/>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94638" autoAdjust="0"/>
  </p:normalViewPr>
  <p:slideViewPr>
    <p:cSldViewPr>
      <p:cViewPr varScale="1">
        <p:scale>
          <a:sx n="95" d="100"/>
          <a:sy n="95" d="100"/>
        </p:scale>
        <p:origin x="797" y="62"/>
      </p:cViewPr>
      <p:guideLst>
        <p:guide orient="horz" pos="1620"/>
        <p:guide pos="2880"/>
      </p:guideLst>
    </p:cSldViewPr>
  </p:slideViewPr>
  <p:outlineViewPr>
    <p:cViewPr>
      <p:scale>
        <a:sx n="33" d="100"/>
        <a:sy n="33" d="100"/>
      </p:scale>
      <p:origin x="0" y="-32525"/>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A898897-BDF1-4279-BA28-06DD7EC1DE0C}" type="datetimeFigureOut">
              <a:rPr lang="en-US" smtClean="0"/>
              <a:pPr/>
              <a:t>5/4/2023</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378CF50-4ED8-4D7B-8802-3C44BEF0A8F3}"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6B8C4268-A110-4A9B-B088-1DA41F2A9BFE}" type="datetime1">
              <a:rPr lang="en-US" smtClean="0"/>
              <a:t>5/4/2023</a:t>
            </a:fld>
            <a:endParaRPr lang="en-US"/>
          </a:p>
        </p:txBody>
      </p:sp>
      <p:sp>
        <p:nvSpPr>
          <p:cNvPr id="5" name="Footer Placeholder 4"/>
          <p:cNvSpPr>
            <a:spLocks noGrp="1"/>
          </p:cNvSpPr>
          <p:nvPr>
            <p:ph type="ftr" sz="quarter" idx="11"/>
          </p:nvPr>
        </p:nvSpPr>
        <p:spPr/>
        <p:txBody>
          <a:bodyPr/>
          <a:lstStyle/>
          <a:p>
            <a:r>
              <a:rPr lang="en-US"/>
              <a:t>Instruction Set Architecture, COA, BSE VI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6A3F229-DF89-45F9-AFD0-99E451AA70A6}" type="datetime1">
              <a:rPr lang="en-US" smtClean="0"/>
              <a:t>5/4/2023</a:t>
            </a:fld>
            <a:endParaRPr lang="en-US"/>
          </a:p>
        </p:txBody>
      </p:sp>
      <p:sp>
        <p:nvSpPr>
          <p:cNvPr id="5" name="Footer Placeholder 4"/>
          <p:cNvSpPr>
            <a:spLocks noGrp="1"/>
          </p:cNvSpPr>
          <p:nvPr>
            <p:ph type="ftr" sz="quarter" idx="11"/>
          </p:nvPr>
        </p:nvSpPr>
        <p:spPr/>
        <p:txBody>
          <a:bodyPr/>
          <a:lstStyle/>
          <a:p>
            <a:r>
              <a:rPr lang="en-US"/>
              <a:t>Instruction Set Architecture, COA, BSE VI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EBDBBB5-94C3-4160-9188-6027E0196AE2}" type="datetime1">
              <a:rPr lang="en-US" smtClean="0"/>
              <a:t>5/4/2023</a:t>
            </a:fld>
            <a:endParaRPr lang="en-US"/>
          </a:p>
        </p:txBody>
      </p:sp>
      <p:sp>
        <p:nvSpPr>
          <p:cNvPr id="5" name="Footer Placeholder 4"/>
          <p:cNvSpPr>
            <a:spLocks noGrp="1"/>
          </p:cNvSpPr>
          <p:nvPr>
            <p:ph type="ftr" sz="quarter" idx="11"/>
          </p:nvPr>
        </p:nvSpPr>
        <p:spPr/>
        <p:txBody>
          <a:bodyPr/>
          <a:lstStyle/>
          <a:p>
            <a:r>
              <a:rPr lang="en-US"/>
              <a:t>Instruction Set Architecture, COA, BSE VI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DEAB934-400F-4666-90A2-77F71E6DCB56}" type="datetime1">
              <a:rPr lang="en-US" smtClean="0"/>
              <a:t>5/4/2023</a:t>
            </a:fld>
            <a:endParaRPr lang="en-US"/>
          </a:p>
        </p:txBody>
      </p:sp>
      <p:sp>
        <p:nvSpPr>
          <p:cNvPr id="6" name="Footer Placeholder 5"/>
          <p:cNvSpPr>
            <a:spLocks noGrp="1"/>
          </p:cNvSpPr>
          <p:nvPr>
            <p:ph type="ftr" sz="quarter" idx="11"/>
          </p:nvPr>
        </p:nvSpPr>
        <p:spPr/>
        <p:txBody>
          <a:bodyPr/>
          <a:lstStyle/>
          <a:p>
            <a:r>
              <a:rPr lang="en-US"/>
              <a:t>Instruction Set Architecture, COA, BSE VI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1074534-C9E1-41C6-AD47-EA5281682636}" type="datetime1">
              <a:rPr lang="en-US" smtClean="0"/>
              <a:t>5/4/2023</a:t>
            </a:fld>
            <a:endParaRPr lang="en-US"/>
          </a:p>
        </p:txBody>
      </p:sp>
      <p:sp>
        <p:nvSpPr>
          <p:cNvPr id="8" name="Footer Placeholder 7"/>
          <p:cNvSpPr>
            <a:spLocks noGrp="1"/>
          </p:cNvSpPr>
          <p:nvPr>
            <p:ph type="ftr" sz="quarter" idx="11"/>
          </p:nvPr>
        </p:nvSpPr>
        <p:spPr/>
        <p:txBody>
          <a:bodyPr/>
          <a:lstStyle/>
          <a:p>
            <a:r>
              <a:rPr lang="en-US"/>
              <a:t>Instruction Set Architecture, COA, BSE VI</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C5D6E7A-6ABE-42B3-99DC-7D0478B9FF2C}" type="datetime1">
              <a:rPr lang="en-US" smtClean="0"/>
              <a:t>5/4/2023</a:t>
            </a:fld>
            <a:endParaRPr lang="en-US"/>
          </a:p>
        </p:txBody>
      </p:sp>
      <p:sp>
        <p:nvSpPr>
          <p:cNvPr id="4" name="Footer Placeholder 3"/>
          <p:cNvSpPr>
            <a:spLocks noGrp="1"/>
          </p:cNvSpPr>
          <p:nvPr>
            <p:ph type="ftr" sz="quarter" idx="11"/>
          </p:nvPr>
        </p:nvSpPr>
        <p:spPr/>
        <p:txBody>
          <a:bodyPr/>
          <a:lstStyle/>
          <a:p>
            <a:r>
              <a:rPr lang="en-US"/>
              <a:t>Instruction Set Architecture, COA, BSE VI</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30CF436-E72E-4DFE-B411-2A58AD2400E7}" type="datetime1">
              <a:rPr lang="en-US" smtClean="0"/>
              <a:t>5/4/2023</a:t>
            </a:fld>
            <a:endParaRPr lang="en-US"/>
          </a:p>
        </p:txBody>
      </p:sp>
      <p:sp>
        <p:nvSpPr>
          <p:cNvPr id="3" name="Footer Placeholder 2"/>
          <p:cNvSpPr>
            <a:spLocks noGrp="1"/>
          </p:cNvSpPr>
          <p:nvPr>
            <p:ph type="ftr" sz="quarter" idx="11"/>
          </p:nvPr>
        </p:nvSpPr>
        <p:spPr/>
        <p:txBody>
          <a:bodyPr/>
          <a:lstStyle/>
          <a:p>
            <a:r>
              <a:rPr lang="en-US"/>
              <a:t>Instruction Set Architecture, COA, BSE VI</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4782CF6-9C9A-4C41-AFAD-5C4D8E0C1126}" type="datetime1">
              <a:rPr lang="en-US" smtClean="0"/>
              <a:t>5/4/2023</a:t>
            </a:fld>
            <a:endParaRPr lang="en-US"/>
          </a:p>
        </p:txBody>
      </p:sp>
      <p:sp>
        <p:nvSpPr>
          <p:cNvPr id="6" name="Footer Placeholder 5"/>
          <p:cNvSpPr>
            <a:spLocks noGrp="1"/>
          </p:cNvSpPr>
          <p:nvPr>
            <p:ph type="ftr" sz="quarter" idx="11"/>
          </p:nvPr>
        </p:nvSpPr>
        <p:spPr/>
        <p:txBody>
          <a:bodyPr/>
          <a:lstStyle/>
          <a:p>
            <a:r>
              <a:rPr lang="en-US"/>
              <a:t>Instruction Set Architecture, COA, BSE VI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B80D3-E976-4A34-B2B6-6FE897916392}" type="datetime1">
              <a:rPr lang="en-US" smtClean="0"/>
              <a:t>5/4/2023</a:t>
            </a:fld>
            <a:endParaRPr lang="en-US"/>
          </a:p>
        </p:txBody>
      </p:sp>
      <p:sp>
        <p:nvSpPr>
          <p:cNvPr id="6" name="Footer Placeholder 5"/>
          <p:cNvSpPr>
            <a:spLocks noGrp="1"/>
          </p:cNvSpPr>
          <p:nvPr>
            <p:ph type="ftr" sz="quarter" idx="11"/>
          </p:nvPr>
        </p:nvSpPr>
        <p:spPr/>
        <p:txBody>
          <a:bodyPr/>
          <a:lstStyle/>
          <a:p>
            <a:r>
              <a:rPr lang="en-US"/>
              <a:t>Instruction Set Architecture, COA, BSE VI</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EDEA1E-E354-4643-A896-E7240789625F}" type="datetime1">
              <a:rPr lang="en-US" smtClean="0"/>
              <a:t>5/4/2023</a:t>
            </a:fld>
            <a:endParaRPr lang="en-US"/>
          </a:p>
        </p:txBody>
      </p:sp>
      <p:sp>
        <p:nvSpPr>
          <p:cNvPr id="5" name="Footer Placeholder 4"/>
          <p:cNvSpPr>
            <a:spLocks noGrp="1"/>
          </p:cNvSpPr>
          <p:nvPr>
            <p:ph type="ftr" sz="quarter" idx="11"/>
          </p:nvPr>
        </p:nvSpPr>
        <p:spPr/>
        <p:txBody>
          <a:bodyPr/>
          <a:lstStyle/>
          <a:p>
            <a:r>
              <a:rPr lang="en-US"/>
              <a:t>Instruction Set Architecture, COA, BSE VI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C805849-A07A-48A9-89AE-0F69559F07DD}" type="datetime1">
              <a:rPr lang="en-US" smtClean="0"/>
              <a:t>5/4/2023</a:t>
            </a:fld>
            <a:endParaRPr lang="en-US"/>
          </a:p>
        </p:txBody>
      </p:sp>
      <p:sp>
        <p:nvSpPr>
          <p:cNvPr id="5" name="Footer Placeholder 4"/>
          <p:cNvSpPr>
            <a:spLocks noGrp="1"/>
          </p:cNvSpPr>
          <p:nvPr>
            <p:ph type="ftr" sz="quarter" idx="11"/>
          </p:nvPr>
        </p:nvSpPr>
        <p:spPr/>
        <p:txBody>
          <a:bodyPr/>
          <a:lstStyle/>
          <a:p>
            <a:r>
              <a:rPr lang="en-US"/>
              <a:t>Instruction Set Architecture, COA, BSE VI</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7B13538C-38CB-49ED-BDBB-89D468DA5906}" type="datetime1">
              <a:rPr lang="en-US" smtClean="0"/>
              <a:t>5/4/2023</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Instruction Set Architecture, COA, BSE VI</a:t>
            </a:r>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learncomputerscienceonline.com/instruction-set-architecture/"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3100" b="1" dirty="0"/>
              <a:t>Chapter 1</a:t>
            </a:r>
            <a:br>
              <a:rPr lang="en-US" b="1" dirty="0"/>
            </a:br>
            <a:r>
              <a:rPr lang="en-US" b="1" dirty="0">
                <a:solidFill>
                  <a:srgbClr val="FF0000"/>
                </a:solidFill>
              </a:rPr>
              <a:t>Instruction Set Architecture</a:t>
            </a:r>
          </a:p>
        </p:txBody>
      </p:sp>
      <p:sp>
        <p:nvSpPr>
          <p:cNvPr id="5" name="Subtitle 4"/>
          <p:cNvSpPr>
            <a:spLocks noGrp="1"/>
          </p:cNvSpPr>
          <p:nvPr>
            <p:ph type="subTitle" idx="1"/>
          </p:nvPr>
        </p:nvSpPr>
        <p:spPr/>
        <p:txBody>
          <a:bodyPr>
            <a:normAutofit/>
          </a:bodyPr>
          <a:lstStyle/>
          <a:p>
            <a:endParaRPr lang="en-US" sz="1800" dirty="0">
              <a:solidFill>
                <a:schemeClr val="bg1">
                  <a:lumMod val="5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8DEAE-7DC9-4290-9726-94AD32DD40C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E118157-9297-4140-A91D-E27B585CB564}"/>
              </a:ext>
            </a:extLst>
          </p:cNvPr>
          <p:cNvSpPr>
            <a:spLocks noGrp="1"/>
          </p:cNvSpPr>
          <p:nvPr>
            <p:ph idx="1"/>
          </p:nvPr>
        </p:nvSpPr>
        <p:spPr/>
        <p:txBody>
          <a:bodyPr/>
          <a:lstStyle/>
          <a:p>
            <a:r>
              <a:rPr lang="en-US" dirty="0"/>
              <a:t>Google Classroom code: </a:t>
            </a:r>
          </a:p>
          <a:p>
            <a:r>
              <a:rPr lang="en-US" dirty="0" err="1"/>
              <a:t>kzlxphr</a:t>
            </a:r>
            <a:endParaRPr lang="en-US" dirty="0"/>
          </a:p>
        </p:txBody>
      </p:sp>
      <p:sp>
        <p:nvSpPr>
          <p:cNvPr id="4" name="Date Placeholder 3">
            <a:extLst>
              <a:ext uri="{FF2B5EF4-FFF2-40B4-BE49-F238E27FC236}">
                <a16:creationId xmlns:a16="http://schemas.microsoft.com/office/drawing/2014/main" id="{8A57343B-BB73-44FB-86A7-BB594F3193E3}"/>
              </a:ext>
            </a:extLst>
          </p:cNvPr>
          <p:cNvSpPr>
            <a:spLocks noGrp="1"/>
          </p:cNvSpPr>
          <p:nvPr>
            <p:ph type="dt" sz="half" idx="10"/>
          </p:nvPr>
        </p:nvSpPr>
        <p:spPr/>
        <p:txBody>
          <a:bodyPr/>
          <a:lstStyle/>
          <a:p>
            <a:fld id="{06A3F229-DF89-45F9-AFD0-99E451AA70A6}" type="datetime1">
              <a:rPr lang="en-US" smtClean="0"/>
              <a:t>5/4/2023</a:t>
            </a:fld>
            <a:endParaRPr lang="en-US"/>
          </a:p>
        </p:txBody>
      </p:sp>
      <p:sp>
        <p:nvSpPr>
          <p:cNvPr id="5" name="Footer Placeholder 4">
            <a:extLst>
              <a:ext uri="{FF2B5EF4-FFF2-40B4-BE49-F238E27FC236}">
                <a16:creationId xmlns:a16="http://schemas.microsoft.com/office/drawing/2014/main" id="{E2F16410-F0A0-41F6-96E1-522C54A17D7B}"/>
              </a:ext>
            </a:extLst>
          </p:cNvPr>
          <p:cNvSpPr>
            <a:spLocks noGrp="1"/>
          </p:cNvSpPr>
          <p:nvPr>
            <p:ph type="ftr" sz="quarter" idx="11"/>
          </p:nvPr>
        </p:nvSpPr>
        <p:spPr/>
        <p:txBody>
          <a:bodyPr/>
          <a:lstStyle/>
          <a:p>
            <a:r>
              <a:rPr lang="en-US"/>
              <a:t>Instruction Set Architecture, COA, BSE VI</a:t>
            </a:r>
          </a:p>
        </p:txBody>
      </p:sp>
      <p:sp>
        <p:nvSpPr>
          <p:cNvPr id="6" name="Slide Number Placeholder 5">
            <a:extLst>
              <a:ext uri="{FF2B5EF4-FFF2-40B4-BE49-F238E27FC236}">
                <a16:creationId xmlns:a16="http://schemas.microsoft.com/office/drawing/2014/main" id="{0A83F598-26A3-4F58-9AA9-7D3CC18D886E}"/>
              </a:ext>
            </a:extLst>
          </p:cNvPr>
          <p:cNvSpPr>
            <a:spLocks noGrp="1"/>
          </p:cNvSpPr>
          <p:nvPr>
            <p:ph type="sldNum" sz="quarter" idx="12"/>
          </p:nvPr>
        </p:nvSpPr>
        <p:spPr/>
        <p:txBody>
          <a:bodyPr/>
          <a:lstStyle/>
          <a:p>
            <a:fld id="{B6F15528-21DE-4FAA-801E-634DDDAF4B2B}" type="slidenum">
              <a:rPr lang="en-US" smtClean="0"/>
              <a:pPr/>
              <a:t>2</a:t>
            </a:fld>
            <a:endParaRPr lang="en-US"/>
          </a:p>
        </p:txBody>
      </p:sp>
    </p:spTree>
    <p:extLst>
      <p:ext uri="{BB962C8B-B14F-4D97-AF65-F5344CB8AC3E}">
        <p14:creationId xmlns:p14="http://schemas.microsoft.com/office/powerpoint/2010/main" val="30724994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r>
              <a:rPr lang="en-US" sz="3200" b="1" dirty="0">
                <a:solidFill>
                  <a:srgbClr val="FF0000"/>
                </a:solidFill>
              </a:rPr>
              <a:t>Contents:</a:t>
            </a:r>
          </a:p>
        </p:txBody>
      </p:sp>
      <p:sp>
        <p:nvSpPr>
          <p:cNvPr id="3" name="Content Placeholder 2"/>
          <p:cNvSpPr>
            <a:spLocks noGrp="1"/>
          </p:cNvSpPr>
          <p:nvPr>
            <p:ph idx="1"/>
          </p:nvPr>
        </p:nvSpPr>
        <p:spPr>
          <a:xfrm>
            <a:off x="457200" y="742950"/>
            <a:ext cx="8229600" cy="3851673"/>
          </a:xfrm>
        </p:spPr>
        <p:txBody>
          <a:bodyPr>
            <a:normAutofit/>
          </a:bodyPr>
          <a:lstStyle/>
          <a:p>
            <a:pPr marL="457200" indent="-457200">
              <a:buFont typeface="+mj-lt"/>
              <a:buAutoNum type="arabicPeriod"/>
              <a:tabLst>
                <a:tab pos="463550" algn="l"/>
              </a:tabLst>
            </a:pPr>
            <a:r>
              <a:rPr lang="en-US" sz="2000" dirty="0"/>
              <a:t>Computer Organization and Architecture</a:t>
            </a:r>
          </a:p>
          <a:p>
            <a:pPr marL="457200" indent="-457200">
              <a:buFont typeface="+mj-lt"/>
              <a:buAutoNum type="arabicPeriod"/>
              <a:tabLst>
                <a:tab pos="463550" algn="l"/>
              </a:tabLst>
            </a:pPr>
            <a:r>
              <a:rPr lang="en-US" sz="2000" dirty="0"/>
              <a:t>Levels of programming language</a:t>
            </a:r>
          </a:p>
          <a:p>
            <a:pPr marL="457200" indent="-457200">
              <a:buFont typeface="+mj-lt"/>
              <a:buAutoNum type="arabicPeriod"/>
              <a:tabLst>
                <a:tab pos="463550" algn="l"/>
              </a:tabLst>
            </a:pPr>
            <a:r>
              <a:rPr lang="en-US" sz="2000" dirty="0"/>
              <a:t>The compilation process</a:t>
            </a:r>
          </a:p>
          <a:p>
            <a:pPr marL="457200" indent="-457200">
              <a:buFont typeface="+mj-lt"/>
              <a:buAutoNum type="arabicPeriod"/>
              <a:tabLst>
                <a:tab pos="463550" algn="l"/>
              </a:tabLst>
            </a:pPr>
            <a:r>
              <a:rPr lang="en-US" sz="2000" dirty="0"/>
              <a:t>Instruction set architecture</a:t>
            </a:r>
          </a:p>
          <a:p>
            <a:pPr marL="457200" indent="-457200">
              <a:buFont typeface="+mj-lt"/>
              <a:buAutoNum type="arabicPeriod"/>
              <a:tabLst>
                <a:tab pos="463550" algn="l"/>
              </a:tabLst>
            </a:pPr>
            <a:r>
              <a:rPr lang="en-US" sz="2000" dirty="0"/>
              <a:t>Instruction and its elements</a:t>
            </a:r>
          </a:p>
          <a:p>
            <a:pPr marL="457200" indent="-457200">
              <a:buFont typeface="+mj-lt"/>
              <a:buAutoNum type="arabicPeriod"/>
              <a:tabLst>
                <a:tab pos="463550" algn="l"/>
              </a:tabLst>
            </a:pPr>
            <a:r>
              <a:rPr lang="en-US" sz="2000" dirty="0"/>
              <a:t>Operand datatypes</a:t>
            </a:r>
          </a:p>
          <a:p>
            <a:pPr marL="457200" indent="-457200">
              <a:buFont typeface="+mj-lt"/>
              <a:buAutoNum type="arabicPeriod"/>
              <a:tabLst>
                <a:tab pos="463550" algn="l"/>
              </a:tabLst>
            </a:pPr>
            <a:r>
              <a:rPr lang="en-US" sz="2000" dirty="0"/>
              <a:t>Instruction types</a:t>
            </a:r>
          </a:p>
          <a:p>
            <a:pPr marL="457200" indent="-457200">
              <a:buFont typeface="+mj-lt"/>
              <a:buAutoNum type="arabicPeriod"/>
              <a:tabLst>
                <a:tab pos="463550" algn="l"/>
              </a:tabLst>
            </a:pPr>
            <a:r>
              <a:rPr lang="en-US" sz="2000" dirty="0"/>
              <a:t>Instruction format</a:t>
            </a:r>
          </a:p>
          <a:p>
            <a:pPr marL="457200" indent="-457200">
              <a:buFont typeface="+mj-lt"/>
              <a:buAutoNum type="arabicPeriod"/>
              <a:tabLst>
                <a:tab pos="463550" algn="l"/>
              </a:tabLst>
            </a:pPr>
            <a:r>
              <a:rPr lang="en-US" sz="2000" dirty="0"/>
              <a:t>Addressing modes</a:t>
            </a:r>
          </a:p>
          <a:p>
            <a:pPr marL="457200" indent="-457200">
              <a:buFont typeface="+mj-lt"/>
              <a:buAutoNum type="arabicPeriod"/>
              <a:tabLst>
                <a:tab pos="463550" algn="l"/>
              </a:tabLst>
            </a:pPr>
            <a:r>
              <a:rPr lang="en-US" sz="2000" dirty="0"/>
              <a:t>Design issues of ISA</a:t>
            </a:r>
          </a:p>
        </p:txBody>
      </p:sp>
      <p:sp>
        <p:nvSpPr>
          <p:cNvPr id="4" name="Date Placeholder 3"/>
          <p:cNvSpPr>
            <a:spLocks noGrp="1"/>
          </p:cNvSpPr>
          <p:nvPr>
            <p:ph type="dt" sz="half" idx="10"/>
          </p:nvPr>
        </p:nvSpPr>
        <p:spPr/>
        <p:txBody>
          <a:bodyPr/>
          <a:lstStyle/>
          <a:p>
            <a:fld id="{5D58299E-E007-4502-B02B-E332EBB05E51}" type="datetime1">
              <a:rPr lang="en-US" smtClean="0"/>
              <a:t>5/4/2023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3</a:t>
            </a:fld>
            <a:endParaRPr lang="en-US"/>
          </a:p>
        </p:txBody>
      </p:sp>
      <p:sp>
        <p:nvSpPr>
          <p:cNvPr id="6" name="Footer Placeholder 5"/>
          <p:cNvSpPr>
            <a:spLocks noGrp="1"/>
          </p:cNvSpPr>
          <p:nvPr>
            <p:ph type="ftr" sz="quarter" idx="11"/>
          </p:nvPr>
        </p:nvSpPr>
        <p:spPr/>
        <p:txBody>
          <a:bodyPr/>
          <a:lstStyle/>
          <a:p>
            <a:r>
              <a:rPr lang="en-US"/>
              <a:t>Instruction Set Architecture, COA, BSE VI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1.1 Computer Organization</a:t>
            </a:r>
          </a:p>
        </p:txBody>
      </p:sp>
      <p:sp>
        <p:nvSpPr>
          <p:cNvPr id="3" name="Content Placeholder 2"/>
          <p:cNvSpPr>
            <a:spLocks noGrp="1"/>
          </p:cNvSpPr>
          <p:nvPr>
            <p:ph idx="1"/>
          </p:nvPr>
        </p:nvSpPr>
        <p:spPr>
          <a:xfrm>
            <a:off x="457200" y="742950"/>
            <a:ext cx="8229600" cy="3851673"/>
          </a:xfrm>
        </p:spPr>
        <p:txBody>
          <a:bodyPr>
            <a:normAutofit fontScale="92500" lnSpcReduction="20000"/>
          </a:bodyPr>
          <a:lstStyle/>
          <a:p>
            <a:r>
              <a:rPr lang="en-US" sz="1800" b="1" dirty="0"/>
              <a:t>Computer organization</a:t>
            </a:r>
            <a:r>
              <a:rPr lang="en-US" sz="1800" dirty="0"/>
              <a:t> refers to the operational units and their interconnection to form the computer system that can perform as intended. </a:t>
            </a:r>
          </a:p>
          <a:p>
            <a:r>
              <a:rPr lang="en-US" sz="1800" dirty="0"/>
              <a:t>Computer organization refers to the way in which the hardware components of a computer system are arranged and interconnected to form a functional system. </a:t>
            </a:r>
          </a:p>
          <a:p>
            <a:r>
              <a:rPr lang="en-US" sz="1800" dirty="0"/>
              <a:t>It deals with the macro-level details of the system design, such as the way in which the CPU, memory, and I/O devices are connected to each other, the bus structure, and the memory hierarchy.</a:t>
            </a:r>
          </a:p>
          <a:p>
            <a:r>
              <a:rPr lang="en-US" sz="1800" dirty="0"/>
              <a:t>The goal of computer organization is to optimize the performance of a computer system by designing efficient hardware components and organizing them in an optimal way to minimize the overall system cost and maximize the system's processing speed, reliability, and scalability.</a:t>
            </a:r>
          </a:p>
          <a:p>
            <a:r>
              <a:rPr lang="en-US" sz="1800" dirty="0"/>
              <a:t>Organizational attributes include the hardware detail such as:</a:t>
            </a:r>
          </a:p>
          <a:p>
            <a:pPr lvl="1"/>
            <a:r>
              <a:rPr lang="en-US" sz="1800" dirty="0"/>
              <a:t>Control signal computer</a:t>
            </a:r>
          </a:p>
          <a:p>
            <a:pPr lvl="1"/>
            <a:r>
              <a:rPr lang="en-US" sz="1800" dirty="0"/>
              <a:t>Interfaces between the computer and peripherals</a:t>
            </a:r>
          </a:p>
          <a:p>
            <a:pPr lvl="1"/>
            <a:r>
              <a:rPr lang="en-US" sz="1800" dirty="0"/>
              <a:t>Memory technology used, </a:t>
            </a:r>
            <a:r>
              <a:rPr lang="en-US" sz="1800" dirty="0" err="1"/>
              <a:t>etc</a:t>
            </a:r>
            <a:endParaRPr lang="en-US" sz="1800" dirty="0"/>
          </a:p>
        </p:txBody>
      </p:sp>
      <p:sp>
        <p:nvSpPr>
          <p:cNvPr id="4" name="Date Placeholder 3"/>
          <p:cNvSpPr>
            <a:spLocks noGrp="1"/>
          </p:cNvSpPr>
          <p:nvPr>
            <p:ph type="dt" sz="half" idx="10"/>
          </p:nvPr>
        </p:nvSpPr>
        <p:spPr/>
        <p:txBody>
          <a:bodyPr/>
          <a:lstStyle/>
          <a:p>
            <a:fld id="{14AEF661-11A9-4AF0-86E7-368412D7FE0E}"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2474836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1.2 Computer Architecture</a:t>
            </a:r>
          </a:p>
        </p:txBody>
      </p:sp>
      <p:sp>
        <p:nvSpPr>
          <p:cNvPr id="3" name="Content Placeholder 2"/>
          <p:cNvSpPr>
            <a:spLocks noGrp="1"/>
          </p:cNvSpPr>
          <p:nvPr>
            <p:ph idx="1"/>
          </p:nvPr>
        </p:nvSpPr>
        <p:spPr>
          <a:xfrm>
            <a:off x="457200" y="742950"/>
            <a:ext cx="8229600" cy="3851673"/>
          </a:xfrm>
        </p:spPr>
        <p:txBody>
          <a:bodyPr>
            <a:normAutofit fontScale="62500" lnSpcReduction="20000"/>
          </a:bodyPr>
          <a:lstStyle/>
          <a:p>
            <a:r>
              <a:rPr lang="en-US" b="1" dirty="0"/>
              <a:t>Computer architecture</a:t>
            </a:r>
            <a:r>
              <a:rPr lang="en-US" dirty="0"/>
              <a:t> refers to those attributes of a system that have a direct impact on the logical execution of a program. </a:t>
            </a:r>
          </a:p>
          <a:p>
            <a:r>
              <a:rPr lang="en-US" dirty="0"/>
              <a:t>It is concerned with the structure and behavior of the computer as seen by the user, i.e. those attributes of a system visible to a programmer. </a:t>
            </a:r>
          </a:p>
          <a:p>
            <a:r>
              <a:rPr lang="en-US" dirty="0"/>
              <a:t>It deals with the structure of behavior of various functional modules and how they interact to provide the processing needs of the computer. </a:t>
            </a:r>
          </a:p>
          <a:p>
            <a:r>
              <a:rPr lang="en-US" dirty="0"/>
              <a:t>It includes:</a:t>
            </a:r>
          </a:p>
          <a:p>
            <a:pPr lvl="1"/>
            <a:r>
              <a:rPr lang="en-US" dirty="0"/>
              <a:t>The instruction set</a:t>
            </a:r>
          </a:p>
          <a:p>
            <a:pPr lvl="1"/>
            <a:r>
              <a:rPr lang="en-US" dirty="0"/>
              <a:t>The no. of bits used to represent various data types.</a:t>
            </a:r>
          </a:p>
          <a:p>
            <a:pPr lvl="1"/>
            <a:r>
              <a:rPr lang="en-US" dirty="0"/>
              <a:t>I/O mechanism</a:t>
            </a:r>
          </a:p>
          <a:p>
            <a:pPr lvl="1"/>
            <a:r>
              <a:rPr lang="en-US" dirty="0"/>
              <a:t>Memory addressing techniques</a:t>
            </a:r>
          </a:p>
          <a:p>
            <a:endParaRPr lang="en-US" sz="2000" dirty="0"/>
          </a:p>
        </p:txBody>
      </p:sp>
      <p:sp>
        <p:nvSpPr>
          <p:cNvPr id="4" name="Date Placeholder 3"/>
          <p:cNvSpPr>
            <a:spLocks noGrp="1"/>
          </p:cNvSpPr>
          <p:nvPr>
            <p:ph type="dt" sz="half" idx="10"/>
          </p:nvPr>
        </p:nvSpPr>
        <p:spPr/>
        <p:txBody>
          <a:bodyPr/>
          <a:lstStyle/>
          <a:p>
            <a:fld id="{E7C54CD8-FE32-4217-A946-187321C07FF5}"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40698704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CO vs CA</a:t>
            </a:r>
          </a:p>
        </p:txBody>
      </p:sp>
      <p:sp>
        <p:nvSpPr>
          <p:cNvPr id="3" name="Content Placeholder 2"/>
          <p:cNvSpPr>
            <a:spLocks noGrp="1"/>
          </p:cNvSpPr>
          <p:nvPr>
            <p:ph idx="1"/>
          </p:nvPr>
        </p:nvSpPr>
        <p:spPr>
          <a:xfrm>
            <a:off x="457200" y="742950"/>
            <a:ext cx="8229600" cy="3851673"/>
          </a:xfrm>
        </p:spPr>
        <p:txBody>
          <a:bodyPr>
            <a:normAutofit fontScale="25000" lnSpcReduction="20000"/>
          </a:bodyPr>
          <a:lstStyle/>
          <a:p>
            <a:r>
              <a:rPr lang="en-US" sz="8400" dirty="0"/>
              <a:t>The difference between architecture and organization is best described by a non-computer example. </a:t>
            </a:r>
          </a:p>
          <a:p>
            <a:pPr lvl="1"/>
            <a:r>
              <a:rPr lang="en-US" sz="8000" dirty="0"/>
              <a:t>Is the gear level in a motorcycle part of it is architecture or organization? </a:t>
            </a:r>
          </a:p>
          <a:p>
            <a:pPr lvl="1"/>
            <a:r>
              <a:rPr lang="en-US" sz="8000" dirty="0"/>
              <a:t>The architecture of a motorcycle is simple; it transports you from A to B. </a:t>
            </a:r>
          </a:p>
          <a:p>
            <a:pPr lvl="1"/>
            <a:r>
              <a:rPr lang="en-US" sz="8000" dirty="0"/>
              <a:t>The gear level belongs to the motorcycle’s organization because it implements the function of a motorcycle but is not part of that function.</a:t>
            </a:r>
          </a:p>
          <a:p>
            <a:r>
              <a:rPr lang="en-US" sz="8400" dirty="0"/>
              <a:t>We can take another example of multiplying two numbers. </a:t>
            </a:r>
          </a:p>
          <a:p>
            <a:pPr lvl="1"/>
            <a:r>
              <a:rPr lang="en-US" sz="8000" dirty="0"/>
              <a:t>Computer architecture defines whether direct multiplication instruction is used or multiply by repeated addition. </a:t>
            </a:r>
          </a:p>
          <a:p>
            <a:pPr lvl="1"/>
            <a:r>
              <a:rPr lang="en-US" sz="8000" dirty="0"/>
              <a:t>Whereas, computer organization defines whether multiplication unit is used or repeated addition by adder.</a:t>
            </a:r>
          </a:p>
          <a:p>
            <a:endParaRPr lang="en-US" sz="2000" dirty="0"/>
          </a:p>
        </p:txBody>
      </p:sp>
      <p:sp>
        <p:nvSpPr>
          <p:cNvPr id="4" name="Date Placeholder 3"/>
          <p:cNvSpPr>
            <a:spLocks noGrp="1"/>
          </p:cNvSpPr>
          <p:nvPr>
            <p:ph type="dt" sz="half" idx="10"/>
          </p:nvPr>
        </p:nvSpPr>
        <p:spPr/>
        <p:txBody>
          <a:bodyPr/>
          <a:lstStyle/>
          <a:p>
            <a:fld id="{EC0A4FEC-14CE-4578-8B93-709308F8703C}"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25683840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CO vs CA</a:t>
            </a:r>
          </a:p>
        </p:txBody>
      </p:sp>
      <p:sp>
        <p:nvSpPr>
          <p:cNvPr id="3" name="Content Placeholder 2"/>
          <p:cNvSpPr>
            <a:spLocks noGrp="1"/>
          </p:cNvSpPr>
          <p:nvPr>
            <p:ph idx="1"/>
          </p:nvPr>
        </p:nvSpPr>
        <p:spPr>
          <a:xfrm>
            <a:off x="457200" y="742950"/>
            <a:ext cx="8229600" cy="3851673"/>
          </a:xfrm>
        </p:spPr>
        <p:txBody>
          <a:bodyPr>
            <a:normAutofit fontScale="92500" lnSpcReduction="10000"/>
          </a:bodyPr>
          <a:lstStyle/>
          <a:p>
            <a:pPr marL="514350" indent="-514350">
              <a:buFont typeface="+mj-lt"/>
              <a:buAutoNum type="arabicPeriod"/>
            </a:pPr>
            <a:r>
              <a:rPr lang="en-US" sz="1600" b="1" dirty="0"/>
              <a:t>Scope: </a:t>
            </a:r>
            <a:r>
              <a:rPr lang="en-US" sz="1600" dirty="0"/>
              <a:t>Computer organization deals with the physical and logical arrangement of the hardware components of a computer system, while computer architecture deals with the design of those components and their interconnections.</a:t>
            </a:r>
          </a:p>
          <a:p>
            <a:pPr marL="514350" indent="-514350">
              <a:buFont typeface="+mj-lt"/>
              <a:buAutoNum type="arabicPeriod"/>
            </a:pPr>
            <a:r>
              <a:rPr lang="en-US" sz="1600" b="1" dirty="0"/>
              <a:t>Level of Detail: </a:t>
            </a:r>
            <a:r>
              <a:rPr lang="en-US" sz="1600" dirty="0"/>
              <a:t>Computer organization deals with the lower-level details of a computer system, such as the way in which the CPU, memory, and I/O devices are connected to each other, the bus structure, and the memory hierarchy. Computer architecture deals with higher-level details, such as the design of the instruction set architecture (ISA), cache memory, and pipelining.</a:t>
            </a:r>
          </a:p>
          <a:p>
            <a:pPr marL="514350" indent="-514350">
              <a:buFont typeface="+mj-lt"/>
              <a:buAutoNum type="arabicPeriod"/>
            </a:pPr>
            <a:r>
              <a:rPr lang="en-US" sz="1600" b="1" dirty="0"/>
              <a:t>Focus: </a:t>
            </a:r>
            <a:r>
              <a:rPr lang="en-US" sz="1600" dirty="0"/>
              <a:t>Computer organization focuses on the functional operation of a computer system, while computer architecture focuses on the performance and efficiency of the system.</a:t>
            </a:r>
          </a:p>
          <a:p>
            <a:pPr marL="514350" indent="-514350">
              <a:buFont typeface="+mj-lt"/>
              <a:buAutoNum type="arabicPeriod"/>
            </a:pPr>
            <a:r>
              <a:rPr lang="en-US" sz="1600" b="1" dirty="0"/>
              <a:t>Goal: </a:t>
            </a:r>
            <a:r>
              <a:rPr lang="en-US" sz="1600" dirty="0"/>
              <a:t>The goal of computer organization is to optimize the functional operation of a computer system by designing efficient hardware components and organizing them in an optimal way. The goal of computer architecture is to design an efficient and scalable computer system that can meet the performance requirements of a wide range of applications.</a:t>
            </a:r>
          </a:p>
          <a:p>
            <a:pPr marL="514350" indent="-514350">
              <a:buFont typeface="+mj-lt"/>
              <a:buAutoNum type="arabicPeriod"/>
            </a:pPr>
            <a:r>
              <a:rPr lang="en-US" sz="1600" b="1" dirty="0"/>
              <a:t>Application: </a:t>
            </a:r>
            <a:r>
              <a:rPr lang="en-US" sz="1600" dirty="0"/>
              <a:t>Computer organization is more applicable to specific systems, while computer architecture is applicable to a wide range of computer systems, from embedded systems to supercomputers.</a:t>
            </a:r>
          </a:p>
          <a:p>
            <a:pPr marL="457200" indent="-457200">
              <a:buFont typeface="+mj-lt"/>
              <a:buAutoNum type="arabicPeriod"/>
            </a:pPr>
            <a:endParaRPr lang="en-US" sz="1100" dirty="0"/>
          </a:p>
        </p:txBody>
      </p:sp>
      <p:sp>
        <p:nvSpPr>
          <p:cNvPr id="4" name="Date Placeholder 3"/>
          <p:cNvSpPr>
            <a:spLocks noGrp="1"/>
          </p:cNvSpPr>
          <p:nvPr>
            <p:ph type="dt" sz="half" idx="10"/>
          </p:nvPr>
        </p:nvSpPr>
        <p:spPr/>
        <p:txBody>
          <a:bodyPr/>
          <a:lstStyle/>
          <a:p>
            <a:fld id="{EC0A4FEC-14CE-4578-8B93-709308F8703C}"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1700440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45956" y="173848"/>
            <a:ext cx="8450394" cy="552891"/>
          </a:xfrm>
        </p:spPr>
        <p:txBody>
          <a:bodyPr>
            <a:noAutofit/>
          </a:bodyPr>
          <a:lstStyle/>
          <a:p>
            <a:pPr algn="l">
              <a:tabLst>
                <a:tab pos="463550" algn="l"/>
              </a:tabLst>
            </a:pPr>
            <a:r>
              <a:rPr lang="en-US" sz="3200" b="1" dirty="0">
                <a:solidFill>
                  <a:srgbClr val="FF0000"/>
                </a:solidFill>
              </a:rPr>
              <a:t>1.3 Levels of Programming language</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B4C56E51-8E9A-4FE6-8E07-A33531728889}"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1026" name="Picture 2" descr="Low-level Programming Language High-level Programming Language High- And  Low-level Computer Programming, PNG, 750x337px,">
            <a:extLst>
              <a:ext uri="{FF2B5EF4-FFF2-40B4-BE49-F238E27FC236}">
                <a16:creationId xmlns:a16="http://schemas.microsoft.com/office/drawing/2014/main" id="{C22BE94D-8AE0-40C0-8806-4C83DB55D6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650" y="742950"/>
            <a:ext cx="8355150" cy="38516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953917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1. Low-level language</a:t>
            </a:r>
          </a:p>
        </p:txBody>
      </p:sp>
      <p:sp>
        <p:nvSpPr>
          <p:cNvPr id="3" name="Content Placeholder 2"/>
          <p:cNvSpPr>
            <a:spLocks noGrp="1"/>
          </p:cNvSpPr>
          <p:nvPr>
            <p:ph idx="1"/>
          </p:nvPr>
        </p:nvSpPr>
        <p:spPr>
          <a:xfrm>
            <a:off x="457200" y="742950"/>
            <a:ext cx="8229600" cy="3851673"/>
          </a:xfrm>
        </p:spPr>
        <p:txBody>
          <a:bodyPr>
            <a:normAutofit fontScale="92500" lnSpcReduction="10000"/>
          </a:bodyPr>
          <a:lstStyle/>
          <a:p>
            <a:r>
              <a:rPr lang="en-US" sz="2400" dirty="0"/>
              <a:t>Low-level language is a programming language in which each statement or instruction is directly translated into a single machine code. </a:t>
            </a:r>
          </a:p>
          <a:p>
            <a:r>
              <a:rPr lang="en-US" sz="2400" dirty="0"/>
              <a:t>LLL are much closer to the computer or hardware. </a:t>
            </a:r>
          </a:p>
          <a:p>
            <a:r>
              <a:rPr lang="en-US" sz="2400" dirty="0"/>
              <a:t>Before creating a program for hardware, it is required to have through or sound knowledge of that hardware.</a:t>
            </a:r>
          </a:p>
          <a:p>
            <a:r>
              <a:rPr lang="en-US" sz="2400" dirty="0"/>
              <a:t> A program cannot be run on different hardware, which means LLL are specific to the hardware. </a:t>
            </a:r>
          </a:p>
          <a:p>
            <a:r>
              <a:rPr lang="en-US" sz="2400" dirty="0"/>
              <a:t>LLL is also divided into two types:</a:t>
            </a:r>
          </a:p>
          <a:p>
            <a:pPr lvl="1"/>
            <a:r>
              <a:rPr lang="en-US" sz="2000" dirty="0"/>
              <a:t>Machine language </a:t>
            </a:r>
          </a:p>
          <a:p>
            <a:pPr lvl="1"/>
            <a:r>
              <a:rPr lang="en-US" sz="2000" dirty="0"/>
              <a:t>Assembly language</a:t>
            </a:r>
          </a:p>
          <a:p>
            <a:endParaRPr lang="en-US" sz="1400" dirty="0"/>
          </a:p>
        </p:txBody>
      </p:sp>
      <p:sp>
        <p:nvSpPr>
          <p:cNvPr id="4" name="Date Placeholder 3"/>
          <p:cNvSpPr>
            <a:spLocks noGrp="1"/>
          </p:cNvSpPr>
          <p:nvPr>
            <p:ph type="dt" sz="half" idx="10"/>
          </p:nvPr>
        </p:nvSpPr>
        <p:spPr/>
        <p:txBody>
          <a:bodyPr/>
          <a:lstStyle/>
          <a:p>
            <a:fld id="{C279EA95-BFEF-439B-B0B1-E1B00894D474}"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22042432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70C0"/>
                </a:solidFill>
              </a:rPr>
              <a:t>a) Machine language</a:t>
            </a:r>
          </a:p>
        </p:txBody>
      </p:sp>
      <p:sp>
        <p:nvSpPr>
          <p:cNvPr id="3" name="Content Placeholder 2"/>
          <p:cNvSpPr>
            <a:spLocks noGrp="1"/>
          </p:cNvSpPr>
          <p:nvPr>
            <p:ph idx="1"/>
          </p:nvPr>
        </p:nvSpPr>
        <p:spPr>
          <a:xfrm>
            <a:off x="457200" y="742950"/>
            <a:ext cx="8229600" cy="3851673"/>
          </a:xfrm>
        </p:spPr>
        <p:txBody>
          <a:bodyPr>
            <a:normAutofit lnSpcReduction="10000"/>
          </a:bodyPr>
          <a:lstStyle/>
          <a:p>
            <a:r>
              <a:rPr lang="en-US" sz="2000" dirty="0"/>
              <a:t>Machine languages are the lowest level programming languages. </a:t>
            </a:r>
          </a:p>
          <a:p>
            <a:r>
              <a:rPr lang="en-US" sz="2000" dirty="0"/>
              <a:t>A computer understands the programs written only in the machine language. </a:t>
            </a:r>
          </a:p>
          <a:p>
            <a:r>
              <a:rPr lang="en-US" sz="2000" dirty="0"/>
              <a:t>While easily understood for humans to use, they consist entirely of numbers.</a:t>
            </a:r>
          </a:p>
          <a:p>
            <a:r>
              <a:rPr lang="en-US" sz="2000" dirty="0"/>
              <a:t>Ultimately, machine code consists entirely of 0’s and 1’s of the binary system which are also called bits. </a:t>
            </a:r>
          </a:p>
          <a:p>
            <a:r>
              <a:rPr lang="en-US" sz="2000" dirty="0"/>
              <a:t>The machine code may be different from machine to machine, i.e. they are hardware dependent. </a:t>
            </a:r>
          </a:p>
          <a:p>
            <a:r>
              <a:rPr lang="en-US" sz="2000" dirty="0"/>
              <a:t>Programs written in machine language are faster and efficient. </a:t>
            </a:r>
          </a:p>
          <a:p>
            <a:r>
              <a:rPr lang="en-US" sz="2000" dirty="0"/>
              <a:t>Writing programs in machine language is very tedious, time consuming, difficult to find bugs in longer programs.</a:t>
            </a:r>
          </a:p>
          <a:p>
            <a:endParaRPr lang="en-US" sz="1200" dirty="0"/>
          </a:p>
        </p:txBody>
      </p:sp>
      <p:sp>
        <p:nvSpPr>
          <p:cNvPr id="4" name="Date Placeholder 3"/>
          <p:cNvSpPr>
            <a:spLocks noGrp="1"/>
          </p:cNvSpPr>
          <p:nvPr>
            <p:ph type="dt" sz="half" idx="10"/>
          </p:nvPr>
        </p:nvSpPr>
        <p:spPr/>
        <p:txBody>
          <a:bodyPr/>
          <a:lstStyle/>
          <a:p>
            <a:fld id="{A798534C-0A8F-4C5D-ABAC-138421719CB0}"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42310816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3886200" cy="3851673"/>
          </a:xfrm>
        </p:spPr>
        <p:txBody>
          <a:bodyPr>
            <a:normAutofit/>
          </a:bodyPr>
          <a:lstStyle/>
          <a:p>
            <a:pPr marL="0" indent="0">
              <a:buNone/>
            </a:pPr>
            <a:r>
              <a:rPr lang="en-US" sz="2000" b="1" dirty="0"/>
              <a:t>Merits:</a:t>
            </a:r>
            <a:endParaRPr lang="en-US" sz="2000" dirty="0"/>
          </a:p>
          <a:p>
            <a:pPr lvl="0"/>
            <a:r>
              <a:rPr lang="en-US" sz="2000" dirty="0"/>
              <a:t>It is directly understood by the processor so has faster execution time since the programs written in this language need not to be translated.</a:t>
            </a:r>
          </a:p>
          <a:p>
            <a:pPr lvl="0"/>
            <a:r>
              <a:rPr lang="en-US" sz="2000" dirty="0"/>
              <a:t>It doesn’t need larger memory.</a:t>
            </a:r>
          </a:p>
          <a:p>
            <a:endParaRPr lang="en-US" sz="2000" dirty="0"/>
          </a:p>
        </p:txBody>
      </p:sp>
      <p:sp>
        <p:nvSpPr>
          <p:cNvPr id="4" name="Date Placeholder 3"/>
          <p:cNvSpPr>
            <a:spLocks noGrp="1"/>
          </p:cNvSpPr>
          <p:nvPr>
            <p:ph type="dt" sz="half" idx="10"/>
          </p:nvPr>
        </p:nvSpPr>
        <p:spPr/>
        <p:txBody>
          <a:bodyPr/>
          <a:lstStyle/>
          <a:p>
            <a:fld id="{A3EB599E-8C20-4115-85CF-E67741DFB1FC}"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
        <p:nvSpPr>
          <p:cNvPr id="7" name="Content Placeholder 2">
            <a:extLst>
              <a:ext uri="{FF2B5EF4-FFF2-40B4-BE49-F238E27FC236}">
                <a16:creationId xmlns:a16="http://schemas.microsoft.com/office/drawing/2014/main" id="{F867DEB0-BCB9-4AAD-805B-D9F5C3523B92}"/>
              </a:ext>
            </a:extLst>
          </p:cNvPr>
          <p:cNvSpPr txBox="1">
            <a:spLocks/>
          </p:cNvSpPr>
          <p:nvPr/>
        </p:nvSpPr>
        <p:spPr>
          <a:xfrm>
            <a:off x="4610100" y="763155"/>
            <a:ext cx="3886200" cy="3851673"/>
          </a:xfrm>
          <a:prstGeom prst="rect">
            <a:avLst/>
          </a:prstGeom>
        </p:spPr>
        <p:txBody>
          <a:bodyPr vert="horz" lIns="91440" tIns="45720" rIns="91440" bIns="45720" rtlCol="0">
            <a:normAutofit fontScale="70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b="1" dirty="0"/>
              <a:t>Demerits:</a:t>
            </a:r>
            <a:endParaRPr lang="en-US" dirty="0"/>
          </a:p>
          <a:p>
            <a:r>
              <a:rPr lang="en-US" dirty="0"/>
              <a:t>It is very difficult to program using 1GL since all the instructions are to be represented by 0s and 1s.</a:t>
            </a:r>
          </a:p>
          <a:p>
            <a:r>
              <a:rPr lang="en-US" dirty="0"/>
              <a:t>Use of this language makes programming time consuming.</a:t>
            </a:r>
          </a:p>
          <a:p>
            <a:r>
              <a:rPr lang="en-US" dirty="0"/>
              <a:t>It is difficult to find error and to debug.</a:t>
            </a:r>
          </a:p>
          <a:p>
            <a:r>
              <a:rPr lang="en-US" dirty="0"/>
              <a:t>It can be used by experts only.</a:t>
            </a:r>
          </a:p>
          <a:p>
            <a:endParaRPr lang="en-US" sz="2000" dirty="0"/>
          </a:p>
        </p:txBody>
      </p:sp>
    </p:spTree>
    <p:extLst>
      <p:ext uri="{BB962C8B-B14F-4D97-AF65-F5344CB8AC3E}">
        <p14:creationId xmlns:p14="http://schemas.microsoft.com/office/powerpoint/2010/main" val="17342206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70C0"/>
                </a:solidFill>
              </a:rPr>
              <a:t>b) Assembly language</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fontScale="25000" lnSpcReduction="20000"/>
          </a:bodyPr>
          <a:lstStyle/>
          <a:p>
            <a:r>
              <a:rPr lang="en-US" sz="7600" dirty="0"/>
              <a:t>To overcome the difficulties of programming in machine language, assembly languages were developed. </a:t>
            </a:r>
          </a:p>
          <a:p>
            <a:r>
              <a:rPr lang="en-US" sz="7600" dirty="0"/>
              <a:t>An assembly language contains the same instruction as a machine language. </a:t>
            </a:r>
          </a:p>
          <a:p>
            <a:r>
              <a:rPr lang="en-US" sz="7600" dirty="0"/>
              <a:t>But each instruction and variable have a symbol instead of being just numbers. </a:t>
            </a:r>
          </a:p>
          <a:p>
            <a:r>
              <a:rPr lang="en-US" sz="7600" dirty="0"/>
              <a:t>And these symbols are called ‘mnemonics’. </a:t>
            </a:r>
          </a:p>
          <a:p>
            <a:r>
              <a:rPr lang="en-US" sz="7600" dirty="0"/>
              <a:t>For e.g., if 78 is the number to command “Add two numbers”, ADD could be used to replace it. </a:t>
            </a:r>
          </a:p>
          <a:p>
            <a:r>
              <a:rPr lang="en-US" sz="7600" dirty="0"/>
              <a:t>After developing assembly language, it was easier to program using symbols instead of numbers. </a:t>
            </a:r>
          </a:p>
          <a:p>
            <a:r>
              <a:rPr lang="en-US" sz="7600" dirty="0"/>
              <a:t>But the programs written in assembly language, however, must be converted to machine language, which could be done by assembler. </a:t>
            </a:r>
          </a:p>
          <a:p>
            <a:r>
              <a:rPr lang="en-US" sz="7600" dirty="0"/>
              <a:t>They are also machine-dependent.</a:t>
            </a:r>
          </a:p>
          <a:p>
            <a:endParaRPr lang="en-US" sz="2000" dirty="0"/>
          </a:p>
        </p:txBody>
      </p:sp>
      <p:sp>
        <p:nvSpPr>
          <p:cNvPr id="4" name="Date Placeholder 3"/>
          <p:cNvSpPr>
            <a:spLocks noGrp="1"/>
          </p:cNvSpPr>
          <p:nvPr>
            <p:ph type="dt" sz="half" idx="10"/>
          </p:nvPr>
        </p:nvSpPr>
        <p:spPr/>
        <p:txBody>
          <a:bodyPr/>
          <a:lstStyle/>
          <a:p>
            <a:fld id="{A644873F-904E-4885-A796-6F4408DC9FE1}"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16341396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4114800" cy="3851673"/>
          </a:xfrm>
        </p:spPr>
        <p:txBody>
          <a:bodyPr>
            <a:normAutofit/>
          </a:bodyPr>
          <a:lstStyle/>
          <a:p>
            <a:pPr marL="0" indent="0">
              <a:buNone/>
            </a:pPr>
            <a:r>
              <a:rPr lang="en-US" sz="1800" b="1" dirty="0"/>
              <a:t>Merits:</a:t>
            </a:r>
            <a:endParaRPr lang="en-US" sz="1800" dirty="0"/>
          </a:p>
          <a:p>
            <a:pPr lvl="0"/>
            <a:r>
              <a:rPr lang="en-US" sz="1800" dirty="0"/>
              <a:t>It makes programming easier than 1GL since it uses mnemonics code for programming. </a:t>
            </a:r>
            <a:r>
              <a:rPr lang="en-US" sz="1800" dirty="0" err="1"/>
              <a:t>Eg</a:t>
            </a:r>
            <a:r>
              <a:rPr lang="en-US" sz="1800" dirty="0"/>
              <a:t>: ADD for addition, SUB for subtraction, DIV for division, etc.</a:t>
            </a:r>
          </a:p>
          <a:p>
            <a:pPr lvl="0"/>
            <a:r>
              <a:rPr lang="en-US" sz="1800" dirty="0"/>
              <a:t>It makes programming process faster.</a:t>
            </a:r>
          </a:p>
          <a:p>
            <a:pPr lvl="0"/>
            <a:r>
              <a:rPr lang="en-US" sz="1800" dirty="0"/>
              <a:t>Error can be identified much easily compared to 1GL.</a:t>
            </a:r>
          </a:p>
          <a:p>
            <a:pPr lvl="0"/>
            <a:r>
              <a:rPr lang="en-US" sz="1800" dirty="0"/>
              <a:t>It is easier to debug than machine language.</a:t>
            </a:r>
          </a:p>
          <a:p>
            <a:endParaRPr lang="en-US" sz="1100" dirty="0"/>
          </a:p>
        </p:txBody>
      </p:sp>
      <p:sp>
        <p:nvSpPr>
          <p:cNvPr id="4" name="Date Placeholder 3"/>
          <p:cNvSpPr>
            <a:spLocks noGrp="1"/>
          </p:cNvSpPr>
          <p:nvPr>
            <p:ph type="dt" sz="half" idx="10"/>
          </p:nvPr>
        </p:nvSpPr>
        <p:spPr/>
        <p:txBody>
          <a:bodyPr/>
          <a:lstStyle/>
          <a:p>
            <a:fld id="{D2260534-4B6C-42C0-B271-408C03F9E74B}"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
        <p:nvSpPr>
          <p:cNvPr id="7" name="Content Placeholder 2">
            <a:extLst>
              <a:ext uri="{FF2B5EF4-FFF2-40B4-BE49-F238E27FC236}">
                <a16:creationId xmlns:a16="http://schemas.microsoft.com/office/drawing/2014/main" id="{012F98A6-8211-425F-BE95-F5738FF1B63B}"/>
              </a:ext>
            </a:extLst>
          </p:cNvPr>
          <p:cNvSpPr txBox="1">
            <a:spLocks/>
          </p:cNvSpPr>
          <p:nvPr/>
        </p:nvSpPr>
        <p:spPr>
          <a:xfrm>
            <a:off x="4616824" y="839390"/>
            <a:ext cx="4114800" cy="3851673"/>
          </a:xfrm>
          <a:prstGeom prst="rect">
            <a:avLst/>
          </a:prstGeom>
        </p:spPr>
        <p:txBody>
          <a:bodyPr vert="horz" lIns="91440" tIns="45720" rIns="91440" bIns="45720" rtlCol="0">
            <a:normAutofit fontScale="55000" lnSpcReduction="20000"/>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b="1" dirty="0"/>
              <a:t>Demerits:</a:t>
            </a:r>
            <a:endParaRPr lang="en-US" dirty="0"/>
          </a:p>
          <a:p>
            <a:r>
              <a:rPr lang="en-US" dirty="0"/>
              <a:t>Programs written in this language is not directly understandable by computer so translators should be used.</a:t>
            </a:r>
          </a:p>
          <a:p>
            <a:r>
              <a:rPr lang="en-US" dirty="0"/>
              <a:t>It is hardware dependent language so programmers are forced to think in terms of computer’s architecture rather than to the problem being solved.</a:t>
            </a:r>
          </a:p>
          <a:p>
            <a:r>
              <a:rPr lang="en-US" dirty="0"/>
              <a:t>Being machine dependent language, programs written in this language are very less or not portable.</a:t>
            </a:r>
          </a:p>
          <a:p>
            <a:r>
              <a:rPr lang="en-US" dirty="0"/>
              <a:t>Programmers must know its mnemonics codes to perform any task.</a:t>
            </a:r>
          </a:p>
          <a:p>
            <a:endParaRPr lang="en-US" sz="2000" dirty="0"/>
          </a:p>
        </p:txBody>
      </p:sp>
    </p:spTree>
    <p:extLst>
      <p:ext uri="{BB962C8B-B14F-4D97-AF65-F5344CB8AC3E}">
        <p14:creationId xmlns:p14="http://schemas.microsoft.com/office/powerpoint/2010/main" val="1404369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2. High Level Language</a:t>
            </a:r>
          </a:p>
        </p:txBody>
      </p:sp>
      <p:sp>
        <p:nvSpPr>
          <p:cNvPr id="3" name="Content Placeholder 2"/>
          <p:cNvSpPr>
            <a:spLocks noGrp="1"/>
          </p:cNvSpPr>
          <p:nvPr>
            <p:ph idx="1"/>
          </p:nvPr>
        </p:nvSpPr>
        <p:spPr>
          <a:xfrm>
            <a:off x="457200" y="742950"/>
            <a:ext cx="8229600" cy="3851673"/>
          </a:xfrm>
        </p:spPr>
        <p:txBody>
          <a:bodyPr>
            <a:normAutofit fontScale="40000" lnSpcReduction="20000"/>
          </a:bodyPr>
          <a:lstStyle/>
          <a:p>
            <a:r>
              <a:rPr lang="en-US" sz="4800" dirty="0"/>
              <a:t>The programming languages are called HLL if their syntax is closer to the human languages. </a:t>
            </a:r>
          </a:p>
          <a:p>
            <a:r>
              <a:rPr lang="en-US" sz="4800" dirty="0"/>
              <a:t>HLL were developed to make programs easier. </a:t>
            </a:r>
          </a:p>
          <a:p>
            <a:r>
              <a:rPr lang="en-US" sz="4800" dirty="0"/>
              <a:t>Most of the HLL are English-like language. </a:t>
            </a:r>
          </a:p>
          <a:p>
            <a:r>
              <a:rPr lang="en-US" sz="4800" dirty="0"/>
              <a:t>They use familiar English words, special symbols and mathematical symbols in their syntax. </a:t>
            </a:r>
          </a:p>
          <a:p>
            <a:r>
              <a:rPr lang="en-US" sz="4800" dirty="0"/>
              <a:t>Therefore, HLL are easier to read, write, understand and program. </a:t>
            </a:r>
          </a:p>
          <a:p>
            <a:r>
              <a:rPr lang="en-US" sz="4800" dirty="0"/>
              <a:t>Each HLL has their own set of grammar and rules to represent a set of instructions. </a:t>
            </a:r>
          </a:p>
          <a:p>
            <a:r>
              <a:rPr lang="en-US" sz="4800" dirty="0"/>
              <a:t>Programming languages such as C, C++, Java, etc. are some examples of HLL. </a:t>
            </a:r>
          </a:p>
          <a:p>
            <a:r>
              <a:rPr lang="en-US" sz="4800" dirty="0"/>
              <a:t>Like an assembly language programs, programs written in HLL also need to be translated into machine language. </a:t>
            </a:r>
          </a:p>
          <a:p>
            <a:r>
              <a:rPr lang="en-US" sz="4800" dirty="0"/>
              <a:t>This can be done either by a compiler or an interpreter.</a:t>
            </a:r>
          </a:p>
          <a:p>
            <a:endParaRPr lang="en-US" sz="2000" dirty="0"/>
          </a:p>
        </p:txBody>
      </p:sp>
      <p:sp>
        <p:nvSpPr>
          <p:cNvPr id="4" name="Date Placeholder 3"/>
          <p:cNvSpPr>
            <a:spLocks noGrp="1"/>
          </p:cNvSpPr>
          <p:nvPr>
            <p:ph type="dt" sz="half" idx="10"/>
          </p:nvPr>
        </p:nvSpPr>
        <p:spPr/>
        <p:txBody>
          <a:bodyPr/>
          <a:lstStyle/>
          <a:p>
            <a:fld id="{3963E6A5-0360-4205-956E-2CA54B15ED19}"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1362842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4114800" cy="3851673"/>
          </a:xfrm>
        </p:spPr>
        <p:txBody>
          <a:bodyPr>
            <a:normAutofit fontScale="70000" lnSpcReduction="20000"/>
          </a:bodyPr>
          <a:lstStyle/>
          <a:p>
            <a:pPr marL="0" indent="0">
              <a:buNone/>
            </a:pPr>
            <a:r>
              <a:rPr lang="en-US" b="1" dirty="0"/>
              <a:t>Merits:</a:t>
            </a:r>
            <a:endParaRPr lang="en-US" dirty="0"/>
          </a:p>
          <a:p>
            <a:pPr lvl="0"/>
            <a:r>
              <a:rPr lang="en-US" dirty="0"/>
              <a:t>Because of their flexibility, procedural languages are able to solve a variety of problems.</a:t>
            </a:r>
          </a:p>
          <a:p>
            <a:pPr lvl="0"/>
            <a:r>
              <a:rPr lang="en-US" dirty="0"/>
              <a:t>Programmer does not need to think in term of computer architecture which makes them focused on the problem.</a:t>
            </a:r>
          </a:p>
          <a:p>
            <a:pPr lvl="0"/>
            <a:r>
              <a:rPr lang="en-US" dirty="0"/>
              <a:t>Programs written in this language are portable.</a:t>
            </a:r>
          </a:p>
          <a:p>
            <a:endParaRPr lang="en-US" sz="2000" dirty="0"/>
          </a:p>
        </p:txBody>
      </p:sp>
      <p:sp>
        <p:nvSpPr>
          <p:cNvPr id="4" name="Date Placeholder 3"/>
          <p:cNvSpPr>
            <a:spLocks noGrp="1"/>
          </p:cNvSpPr>
          <p:nvPr>
            <p:ph type="dt" sz="half" idx="10"/>
          </p:nvPr>
        </p:nvSpPr>
        <p:spPr/>
        <p:txBody>
          <a:bodyPr/>
          <a:lstStyle/>
          <a:p>
            <a:fld id="{E7C87873-BA0C-4B1F-96B0-63325C5548EF}"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
        <p:nvSpPr>
          <p:cNvPr id="7" name="Content Placeholder 2">
            <a:extLst>
              <a:ext uri="{FF2B5EF4-FFF2-40B4-BE49-F238E27FC236}">
                <a16:creationId xmlns:a16="http://schemas.microsoft.com/office/drawing/2014/main" id="{11A396D6-D392-4455-9CC3-216533590E2A}"/>
              </a:ext>
            </a:extLst>
          </p:cNvPr>
          <p:cNvSpPr txBox="1">
            <a:spLocks/>
          </p:cNvSpPr>
          <p:nvPr/>
        </p:nvSpPr>
        <p:spPr>
          <a:xfrm>
            <a:off x="4724400" y="767638"/>
            <a:ext cx="4114800" cy="3851673"/>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2000" b="1" dirty="0"/>
              <a:t>Demerits:</a:t>
            </a:r>
            <a:endParaRPr lang="en-US" sz="2000" dirty="0"/>
          </a:p>
          <a:p>
            <a:r>
              <a:rPr lang="en-US" sz="2000" dirty="0"/>
              <a:t>It is easier but needs higher processor and larger memory.</a:t>
            </a:r>
          </a:p>
          <a:p>
            <a:r>
              <a:rPr lang="en-US" sz="2000" dirty="0"/>
              <a:t>It needs to be translated therefore its execution time is more.</a:t>
            </a:r>
          </a:p>
          <a:p>
            <a:endParaRPr lang="en-US" sz="2000" dirty="0"/>
          </a:p>
        </p:txBody>
      </p:sp>
    </p:spTree>
    <p:extLst>
      <p:ext uri="{BB962C8B-B14F-4D97-AF65-F5344CB8AC3E}">
        <p14:creationId xmlns:p14="http://schemas.microsoft.com/office/powerpoint/2010/main" val="32363914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1.4 The Compilation process</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5577E17E-9C0C-43BF-9312-C1DD3FBB5AA7}"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descr="https://img.brainkart.com/imagebk12/CGTJQ1r.jpg">
            <a:extLst>
              <a:ext uri="{FF2B5EF4-FFF2-40B4-BE49-F238E27FC236}">
                <a16:creationId xmlns:a16="http://schemas.microsoft.com/office/drawing/2014/main" id="{1E79E077-53EF-422C-8BCE-41202A424F93}"/>
              </a:ext>
            </a:extLst>
          </p:cNvPr>
          <p:cNvPicPr/>
          <p:nvPr/>
        </p:nvPicPr>
        <p:blipFill rotWithShape="1">
          <a:blip r:embed="rId2">
            <a:extLst>
              <a:ext uri="{28A0092B-C50C-407E-A947-70E740481C1C}">
                <a14:useLocalDpi xmlns:a14="http://schemas.microsoft.com/office/drawing/2010/main" val="0"/>
              </a:ext>
            </a:extLst>
          </a:blip>
          <a:srcRect b="16072"/>
          <a:stretch/>
        </p:blipFill>
        <p:spPr bwMode="auto">
          <a:xfrm>
            <a:off x="698350" y="773206"/>
            <a:ext cx="7607449" cy="3246344"/>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908561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41C0D110-E211-4C5E-ACD2-39FF0F3F59D1}"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C97A658D-C50B-451F-9255-E08660861366}"/>
              </a:ext>
            </a:extLst>
          </p:cNvPr>
          <p:cNvPicPr>
            <a:picLocks noChangeAspect="1"/>
          </p:cNvPicPr>
          <p:nvPr/>
        </p:nvPicPr>
        <p:blipFill>
          <a:blip r:embed="rId2"/>
          <a:stretch>
            <a:fillRect/>
          </a:stretch>
        </p:blipFill>
        <p:spPr>
          <a:xfrm>
            <a:off x="493059" y="223838"/>
            <a:ext cx="7486650" cy="4543425"/>
          </a:xfrm>
          <a:prstGeom prst="rect">
            <a:avLst/>
          </a:prstGeom>
        </p:spPr>
      </p:pic>
    </p:spTree>
    <p:extLst>
      <p:ext uri="{BB962C8B-B14F-4D97-AF65-F5344CB8AC3E}">
        <p14:creationId xmlns:p14="http://schemas.microsoft.com/office/powerpoint/2010/main" val="46793245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1.5 Instruction set Architecture (ISA)</a:t>
            </a:r>
          </a:p>
        </p:txBody>
      </p:sp>
      <p:sp>
        <p:nvSpPr>
          <p:cNvPr id="3" name="Content Placeholder 2"/>
          <p:cNvSpPr>
            <a:spLocks noGrp="1"/>
          </p:cNvSpPr>
          <p:nvPr>
            <p:ph idx="1"/>
          </p:nvPr>
        </p:nvSpPr>
        <p:spPr>
          <a:xfrm>
            <a:off x="457200" y="742950"/>
            <a:ext cx="8229600" cy="3851673"/>
          </a:xfrm>
        </p:spPr>
        <p:txBody>
          <a:bodyPr>
            <a:normAutofit fontScale="92500" lnSpcReduction="10000"/>
          </a:bodyPr>
          <a:lstStyle/>
          <a:p>
            <a:r>
              <a:rPr lang="en-US" sz="1800" i="1" dirty="0"/>
              <a:t>Instruction Set Architecture (ISA) refers to the overall design of the instruction set, including the types of instructions available, the way they are encoded, and the underlying hardware that supports them.</a:t>
            </a:r>
            <a:endParaRPr lang="en-US" sz="900" i="1" dirty="0"/>
          </a:p>
          <a:p>
            <a:r>
              <a:rPr lang="en-US" sz="1800" dirty="0"/>
              <a:t>The Instruction Set Architecture (ISA) is the part of the processor that is visible to the programmer or compiler designer. </a:t>
            </a:r>
          </a:p>
          <a:p>
            <a:r>
              <a:rPr lang="en-US" sz="1800" dirty="0"/>
              <a:t>They are the parts of a processor design that need to be understood in order to write assembly language, such as the machine language instructions and registers. </a:t>
            </a:r>
          </a:p>
          <a:p>
            <a:r>
              <a:rPr lang="en-US" sz="1800" dirty="0"/>
              <a:t>The ISA serves as the boundary between software and hardware.</a:t>
            </a:r>
          </a:p>
          <a:p>
            <a:r>
              <a:rPr lang="en-US" sz="1800" dirty="0"/>
              <a:t>The ISA defines</a:t>
            </a:r>
          </a:p>
          <a:p>
            <a:pPr lvl="1"/>
            <a:r>
              <a:rPr lang="en-US" sz="1600" dirty="0"/>
              <a:t>the supported data types, </a:t>
            </a:r>
          </a:p>
          <a:p>
            <a:pPr lvl="1"/>
            <a:r>
              <a:rPr lang="en-US" sz="1600" dirty="0"/>
              <a:t>the registers, </a:t>
            </a:r>
          </a:p>
          <a:p>
            <a:pPr lvl="1"/>
            <a:r>
              <a:rPr lang="en-US" sz="1600" dirty="0"/>
              <a:t>how the hardware manages main memory, </a:t>
            </a:r>
          </a:p>
          <a:p>
            <a:pPr lvl="1"/>
            <a:r>
              <a:rPr lang="en-US" sz="1600" dirty="0"/>
              <a:t>key features (such as virtual memory), which instructions a microprocessor can execute, and </a:t>
            </a:r>
          </a:p>
          <a:p>
            <a:pPr lvl="1"/>
            <a:r>
              <a:rPr lang="en-US" sz="1600" dirty="0"/>
              <a:t>the input/output model of multiple ISA implementations.</a:t>
            </a:r>
          </a:p>
          <a:p>
            <a:endParaRPr lang="en-US" sz="1800" dirty="0"/>
          </a:p>
          <a:p>
            <a:endParaRPr lang="en-US" sz="1200" dirty="0"/>
          </a:p>
        </p:txBody>
      </p:sp>
      <p:sp>
        <p:nvSpPr>
          <p:cNvPr id="4" name="Date Placeholder 3"/>
          <p:cNvSpPr>
            <a:spLocks noGrp="1"/>
          </p:cNvSpPr>
          <p:nvPr>
            <p:ph type="dt" sz="half" idx="10"/>
          </p:nvPr>
        </p:nvSpPr>
        <p:spPr/>
        <p:txBody>
          <a:bodyPr/>
          <a:lstStyle/>
          <a:p>
            <a:fld id="{F919694C-FA63-45BE-ABC6-F005C36DF7EC}"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3009118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1.5 Instruction set Architecture (ISA)</a:t>
            </a:r>
          </a:p>
        </p:txBody>
      </p:sp>
      <p:sp>
        <p:nvSpPr>
          <p:cNvPr id="3" name="Content Placeholder 2"/>
          <p:cNvSpPr>
            <a:spLocks noGrp="1"/>
          </p:cNvSpPr>
          <p:nvPr>
            <p:ph idx="1"/>
          </p:nvPr>
        </p:nvSpPr>
        <p:spPr>
          <a:xfrm>
            <a:off x="457200" y="742950"/>
            <a:ext cx="8229600" cy="3851673"/>
          </a:xfrm>
        </p:spPr>
        <p:txBody>
          <a:bodyPr>
            <a:normAutofit/>
          </a:bodyPr>
          <a:lstStyle/>
          <a:p>
            <a:r>
              <a:rPr lang="en-US" i="1" dirty="0"/>
              <a:t>Instruction Set Architecture (ISA) refers to the overall design of the instruction set, including the types of instructions available, the way they are encoded, and the underlying hardware that supports them.</a:t>
            </a:r>
            <a:endParaRPr lang="en-US" sz="1200" i="1" dirty="0"/>
          </a:p>
        </p:txBody>
      </p:sp>
      <p:sp>
        <p:nvSpPr>
          <p:cNvPr id="4" name="Date Placeholder 3"/>
          <p:cNvSpPr>
            <a:spLocks noGrp="1"/>
          </p:cNvSpPr>
          <p:nvPr>
            <p:ph type="dt" sz="half" idx="10"/>
          </p:nvPr>
        </p:nvSpPr>
        <p:spPr/>
        <p:txBody>
          <a:bodyPr/>
          <a:lstStyle/>
          <a:p>
            <a:fld id="{F919694C-FA63-45BE-ABC6-F005C36DF7EC}"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19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
        <p:nvSpPr>
          <p:cNvPr id="7" name="Rectangle 6">
            <a:extLst>
              <a:ext uri="{FF2B5EF4-FFF2-40B4-BE49-F238E27FC236}">
                <a16:creationId xmlns:a16="http://schemas.microsoft.com/office/drawing/2014/main" id="{588EF04D-E29E-4610-89EF-8F2B89804A2C}"/>
              </a:ext>
            </a:extLst>
          </p:cNvPr>
          <p:cNvSpPr/>
          <p:nvPr/>
        </p:nvSpPr>
        <p:spPr>
          <a:xfrm rot="10800000" flipV="1">
            <a:off x="1143000" y="4182487"/>
            <a:ext cx="7543800" cy="523220"/>
          </a:xfrm>
          <a:prstGeom prst="rect">
            <a:avLst/>
          </a:prstGeom>
        </p:spPr>
        <p:txBody>
          <a:bodyPr wrap="square">
            <a:spAutoFit/>
          </a:bodyPr>
          <a:lstStyle/>
          <a:p>
            <a:r>
              <a:rPr lang="en-US" sz="1400" dirty="0"/>
              <a:t>Further study: </a:t>
            </a:r>
            <a:r>
              <a:rPr lang="en-US" sz="1400" dirty="0">
                <a:hlinkClick r:id="rId2"/>
              </a:rPr>
              <a:t>https://www.learncomputerscienceonline.com/instruction-set-architecture/</a:t>
            </a:r>
            <a:endParaRPr lang="en-US" sz="1400" dirty="0"/>
          </a:p>
          <a:p>
            <a:endParaRPr lang="en-US" sz="1400" dirty="0"/>
          </a:p>
        </p:txBody>
      </p:sp>
    </p:spTree>
    <p:extLst>
      <p:ext uri="{BB962C8B-B14F-4D97-AF65-F5344CB8AC3E}">
        <p14:creationId xmlns:p14="http://schemas.microsoft.com/office/powerpoint/2010/main" val="2001341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 </a:t>
            </a:r>
            <a:r>
              <a:rPr lang="en-US" sz="3200" b="1" dirty="0">
                <a:solidFill>
                  <a:srgbClr val="00B050"/>
                </a:solidFill>
              </a:rPr>
              <a:t>Instruction Set </a:t>
            </a:r>
          </a:p>
        </p:txBody>
      </p:sp>
      <p:sp>
        <p:nvSpPr>
          <p:cNvPr id="3" name="Content Placeholder 2"/>
          <p:cNvSpPr>
            <a:spLocks noGrp="1"/>
          </p:cNvSpPr>
          <p:nvPr>
            <p:ph idx="1"/>
          </p:nvPr>
        </p:nvSpPr>
        <p:spPr>
          <a:xfrm>
            <a:off x="457200" y="742950"/>
            <a:ext cx="8229600" cy="3851673"/>
          </a:xfrm>
        </p:spPr>
        <p:txBody>
          <a:bodyPr>
            <a:normAutofit/>
          </a:bodyPr>
          <a:lstStyle/>
          <a:p>
            <a:r>
              <a:rPr lang="en-US" sz="2800" dirty="0"/>
              <a:t>The </a:t>
            </a:r>
            <a:r>
              <a:rPr lang="en-US" sz="2800" b="1" dirty="0"/>
              <a:t>collection of different instructions </a:t>
            </a:r>
            <a:r>
              <a:rPr lang="en-US" sz="2800" dirty="0"/>
              <a:t>that the processor can execute is referred to as the processor’s instruction set. </a:t>
            </a:r>
          </a:p>
          <a:p>
            <a:r>
              <a:rPr lang="en-US" sz="2800" dirty="0"/>
              <a:t>The instruction format involves:</a:t>
            </a:r>
          </a:p>
          <a:p>
            <a:pPr lvl="1"/>
            <a:r>
              <a:rPr lang="en-US" sz="2400" dirty="0"/>
              <a:t>The instruction length,</a:t>
            </a:r>
          </a:p>
          <a:p>
            <a:pPr lvl="1"/>
            <a:r>
              <a:rPr lang="en-US" sz="2400" dirty="0"/>
              <a:t>the type; </a:t>
            </a:r>
          </a:p>
          <a:p>
            <a:pPr lvl="1"/>
            <a:r>
              <a:rPr lang="en-US" sz="2400" dirty="0"/>
              <a:t>length and position of operation codes in an instruction; </a:t>
            </a:r>
          </a:p>
          <a:p>
            <a:pPr lvl="1"/>
            <a:r>
              <a:rPr lang="en-US" sz="2400" dirty="0"/>
              <a:t>and the number and length of operand addresses, </a:t>
            </a:r>
            <a:r>
              <a:rPr lang="en-US" sz="2400" dirty="0" err="1"/>
              <a:t>etc</a:t>
            </a:r>
            <a:endParaRPr lang="en-US" sz="1400" dirty="0"/>
          </a:p>
        </p:txBody>
      </p:sp>
      <p:sp>
        <p:nvSpPr>
          <p:cNvPr id="4" name="Date Placeholder 3"/>
          <p:cNvSpPr>
            <a:spLocks noGrp="1"/>
          </p:cNvSpPr>
          <p:nvPr>
            <p:ph type="dt" sz="half" idx="10"/>
          </p:nvPr>
        </p:nvSpPr>
        <p:spPr/>
        <p:txBody>
          <a:bodyPr/>
          <a:lstStyle/>
          <a:p>
            <a:fld id="{2E550C74-AB2B-472F-AB15-06B779FD3A4C}"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31976665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1.6. Opcode and Operands</a:t>
            </a:r>
          </a:p>
        </p:txBody>
      </p:sp>
      <p:sp>
        <p:nvSpPr>
          <p:cNvPr id="3" name="Content Placeholder 2"/>
          <p:cNvSpPr>
            <a:spLocks noGrp="1"/>
          </p:cNvSpPr>
          <p:nvPr>
            <p:ph idx="1"/>
          </p:nvPr>
        </p:nvSpPr>
        <p:spPr>
          <a:xfrm>
            <a:off x="457200" y="742950"/>
            <a:ext cx="8229600" cy="3851673"/>
          </a:xfrm>
        </p:spPr>
        <p:txBody>
          <a:bodyPr>
            <a:normAutofit fontScale="85000" lnSpcReduction="10000"/>
          </a:bodyPr>
          <a:lstStyle/>
          <a:p>
            <a:r>
              <a:rPr lang="en-US" sz="2400" b="1" dirty="0">
                <a:solidFill>
                  <a:srgbClr val="0070C0"/>
                </a:solidFill>
              </a:rPr>
              <a:t>Opcode: (What operation to perform?) </a:t>
            </a:r>
            <a:endParaRPr lang="en-US" sz="2400" dirty="0">
              <a:solidFill>
                <a:srgbClr val="0070C0"/>
              </a:solidFill>
            </a:endParaRPr>
          </a:p>
          <a:p>
            <a:pPr lvl="1"/>
            <a:r>
              <a:rPr lang="en-US" sz="2000" dirty="0"/>
              <a:t>An operation code field termed as </a:t>
            </a:r>
            <a:r>
              <a:rPr lang="en-US" sz="2000" b="1" dirty="0"/>
              <a:t>opcode</a:t>
            </a:r>
            <a:r>
              <a:rPr lang="en-US" sz="2000" dirty="0"/>
              <a:t> that specifies the operation to be performed. </a:t>
            </a:r>
          </a:p>
          <a:p>
            <a:pPr lvl="1"/>
            <a:endParaRPr lang="en-US" sz="2000" dirty="0"/>
          </a:p>
          <a:p>
            <a:r>
              <a:rPr lang="en-US" sz="2400" b="1" dirty="0">
                <a:solidFill>
                  <a:srgbClr val="0070C0"/>
                </a:solidFill>
              </a:rPr>
              <a:t>Operands: (Where are the operands?) </a:t>
            </a:r>
            <a:endParaRPr lang="en-US" sz="2400" dirty="0">
              <a:solidFill>
                <a:srgbClr val="0070C0"/>
              </a:solidFill>
            </a:endParaRPr>
          </a:p>
          <a:p>
            <a:pPr lvl="1"/>
            <a:r>
              <a:rPr lang="en-US" sz="2000" b="1" dirty="0"/>
              <a:t>An address field </a:t>
            </a:r>
            <a:r>
              <a:rPr lang="en-US" sz="2000" dirty="0"/>
              <a:t>of operand on which data processing is to be performed. </a:t>
            </a:r>
          </a:p>
          <a:p>
            <a:pPr lvl="1"/>
            <a:r>
              <a:rPr lang="en-US" sz="2000" dirty="0"/>
              <a:t>An operand can reside in the memory or a processor register or can be incorporated within the operand field of instruction as an immediate constant. </a:t>
            </a:r>
          </a:p>
          <a:p>
            <a:pPr lvl="1"/>
            <a:r>
              <a:rPr lang="en-US" sz="2000" dirty="0"/>
              <a:t>Therefore, a mode field is needed that specifies the way the operand or its address is to be determined. </a:t>
            </a:r>
          </a:p>
          <a:p>
            <a:pPr marL="514350" indent="-457200"/>
            <a:endParaRPr lang="en-US" sz="2000" dirty="0"/>
          </a:p>
          <a:p>
            <a:pPr marL="514350" indent="-457200"/>
            <a:r>
              <a:rPr lang="en-US" sz="2000" b="1" dirty="0" err="1"/>
              <a:t>Eg</a:t>
            </a:r>
            <a:r>
              <a:rPr lang="en-US" sz="2000" b="1" dirty="0"/>
              <a:t>: MOV A, B</a:t>
            </a:r>
          </a:p>
          <a:p>
            <a:pPr marL="57150" indent="0">
              <a:buNone/>
            </a:pPr>
            <a:r>
              <a:rPr lang="en-US" sz="2000" dirty="0"/>
              <a:t>	Here MOV is opcode and A, B are operands</a:t>
            </a:r>
          </a:p>
          <a:p>
            <a:endParaRPr lang="en-US" sz="1400" dirty="0"/>
          </a:p>
        </p:txBody>
      </p:sp>
      <p:sp>
        <p:nvSpPr>
          <p:cNvPr id="4" name="Date Placeholder 3"/>
          <p:cNvSpPr>
            <a:spLocks noGrp="1"/>
          </p:cNvSpPr>
          <p:nvPr>
            <p:ph type="dt" sz="half" idx="10"/>
          </p:nvPr>
        </p:nvSpPr>
        <p:spPr/>
        <p:txBody>
          <a:bodyPr/>
          <a:lstStyle/>
          <a:p>
            <a:fld id="{3904A0B8-405F-477F-8143-BC92D01542D7}"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27560010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Elements of an instruction</a:t>
            </a:r>
          </a:p>
        </p:txBody>
      </p:sp>
      <p:sp>
        <p:nvSpPr>
          <p:cNvPr id="3" name="Content Placeholder 2"/>
          <p:cNvSpPr>
            <a:spLocks noGrp="1"/>
          </p:cNvSpPr>
          <p:nvPr>
            <p:ph idx="1"/>
          </p:nvPr>
        </p:nvSpPr>
        <p:spPr>
          <a:xfrm>
            <a:off x="457200" y="742951"/>
            <a:ext cx="8229600" cy="2514600"/>
          </a:xfrm>
        </p:spPr>
        <p:txBody>
          <a:bodyPr>
            <a:normAutofit fontScale="85000" lnSpcReduction="10000"/>
          </a:bodyPr>
          <a:lstStyle/>
          <a:p>
            <a:pPr lvl="0"/>
            <a:r>
              <a:rPr lang="en-US" sz="2400" b="1" dirty="0"/>
              <a:t>Operation code:</a:t>
            </a:r>
            <a:r>
              <a:rPr lang="en-US" sz="2400" dirty="0"/>
              <a:t> Specifies the operation to be performed (e.g., ADD, I/O). The operation is specified by a binary code, known as the operation code, or opcode. </a:t>
            </a:r>
          </a:p>
          <a:p>
            <a:pPr lvl="0"/>
            <a:r>
              <a:rPr lang="en-US" sz="2400" b="1" dirty="0"/>
              <a:t>Source operand reference:</a:t>
            </a:r>
            <a:r>
              <a:rPr lang="en-US" sz="2400" dirty="0"/>
              <a:t> The operation may involve one or more source operands, that is, operands that are inputs for the operation. </a:t>
            </a:r>
          </a:p>
          <a:p>
            <a:pPr lvl="0"/>
            <a:r>
              <a:rPr lang="en-US" sz="2400" b="1" dirty="0"/>
              <a:t>Result operand reference:</a:t>
            </a:r>
            <a:r>
              <a:rPr lang="en-US" sz="2400" dirty="0"/>
              <a:t> The operation may produce a result. </a:t>
            </a:r>
          </a:p>
          <a:p>
            <a:pPr lvl="0"/>
            <a:r>
              <a:rPr lang="en-US" sz="2400" b="1" dirty="0"/>
              <a:t>Next instruction reference:</a:t>
            </a:r>
            <a:r>
              <a:rPr lang="en-US" sz="2400" dirty="0"/>
              <a:t> This tells the processor where to fetch the next instruction after the execution of this instruction is complete.</a:t>
            </a:r>
          </a:p>
          <a:p>
            <a:endParaRPr lang="en-US" sz="2000" dirty="0"/>
          </a:p>
        </p:txBody>
      </p:sp>
      <p:sp>
        <p:nvSpPr>
          <p:cNvPr id="4" name="Date Placeholder 3"/>
          <p:cNvSpPr>
            <a:spLocks noGrp="1"/>
          </p:cNvSpPr>
          <p:nvPr>
            <p:ph type="dt" sz="half" idx="10"/>
          </p:nvPr>
        </p:nvSpPr>
        <p:spPr/>
        <p:txBody>
          <a:bodyPr/>
          <a:lstStyle/>
          <a:p>
            <a:fld id="{3904A0B8-405F-477F-8143-BC92D01542D7}"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F8915026-C2FF-4688-BD05-BDDE7E8A8022}"/>
              </a:ext>
            </a:extLst>
          </p:cNvPr>
          <p:cNvPicPr/>
          <p:nvPr/>
        </p:nvPicPr>
        <p:blipFill>
          <a:blip r:embed="rId2"/>
          <a:stretch>
            <a:fillRect/>
          </a:stretch>
        </p:blipFill>
        <p:spPr>
          <a:xfrm>
            <a:off x="2057400" y="3265395"/>
            <a:ext cx="4705350" cy="847725"/>
          </a:xfrm>
          <a:prstGeom prst="rect">
            <a:avLst/>
          </a:prstGeom>
        </p:spPr>
      </p:pic>
      <p:sp>
        <p:nvSpPr>
          <p:cNvPr id="8" name="Rectangle 7">
            <a:extLst>
              <a:ext uri="{FF2B5EF4-FFF2-40B4-BE49-F238E27FC236}">
                <a16:creationId xmlns:a16="http://schemas.microsoft.com/office/drawing/2014/main" id="{061E78C0-937C-48B1-9DAF-F0DF39049340}"/>
              </a:ext>
            </a:extLst>
          </p:cNvPr>
          <p:cNvSpPr/>
          <p:nvPr/>
        </p:nvSpPr>
        <p:spPr>
          <a:xfrm>
            <a:off x="2895600" y="4231153"/>
            <a:ext cx="3489160" cy="369332"/>
          </a:xfrm>
          <a:prstGeom prst="rect">
            <a:avLst/>
          </a:prstGeom>
        </p:spPr>
        <p:txBody>
          <a:bodyPr wrap="none">
            <a:spAutoFit/>
          </a:bodyPr>
          <a:lstStyle/>
          <a:p>
            <a:r>
              <a:rPr lang="en-US" i="1" dirty="0">
                <a:latin typeface="Times New Roman" panose="02020603050405020304" pitchFamily="18" charset="0"/>
                <a:ea typeface="Times New Roman" panose="02020603050405020304" pitchFamily="18" charset="0"/>
              </a:rPr>
              <a:t>Figure: A Simple instruction format</a:t>
            </a:r>
            <a:endParaRPr lang="en-US" dirty="0"/>
          </a:p>
        </p:txBody>
      </p:sp>
    </p:spTree>
    <p:extLst>
      <p:ext uri="{BB962C8B-B14F-4D97-AF65-F5344CB8AC3E}">
        <p14:creationId xmlns:p14="http://schemas.microsoft.com/office/powerpoint/2010/main" val="23339863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1.7. Operands data types</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63B6789D-BC0D-42E1-AB39-69ABFE37F134}"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98551022-082B-4DC6-B24E-334E372771C2}"/>
              </a:ext>
            </a:extLst>
          </p:cNvPr>
          <p:cNvPicPr/>
          <p:nvPr/>
        </p:nvPicPr>
        <p:blipFill>
          <a:blip r:embed="rId2"/>
          <a:stretch>
            <a:fillRect/>
          </a:stretch>
        </p:blipFill>
        <p:spPr>
          <a:xfrm>
            <a:off x="1524000" y="886182"/>
            <a:ext cx="5791200" cy="3285767"/>
          </a:xfrm>
          <a:prstGeom prst="rect">
            <a:avLst/>
          </a:prstGeom>
        </p:spPr>
      </p:pic>
    </p:spTree>
    <p:extLst>
      <p:ext uri="{BB962C8B-B14F-4D97-AF65-F5344CB8AC3E}">
        <p14:creationId xmlns:p14="http://schemas.microsoft.com/office/powerpoint/2010/main" val="2098487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1.7. Operands data types (Contd.)</a:t>
            </a:r>
          </a:p>
        </p:txBody>
      </p:sp>
      <p:sp>
        <p:nvSpPr>
          <p:cNvPr id="3" name="Content Placeholder 2"/>
          <p:cNvSpPr>
            <a:spLocks noGrp="1"/>
          </p:cNvSpPr>
          <p:nvPr>
            <p:ph idx="1"/>
          </p:nvPr>
        </p:nvSpPr>
        <p:spPr>
          <a:xfrm>
            <a:off x="457200" y="742950"/>
            <a:ext cx="8229600" cy="3851673"/>
          </a:xfrm>
        </p:spPr>
        <p:txBody>
          <a:bodyPr>
            <a:normAutofit lnSpcReduction="10000"/>
          </a:bodyPr>
          <a:lstStyle/>
          <a:p>
            <a:r>
              <a:rPr lang="en-US" sz="2400" b="1" dirty="0"/>
              <a:t>Address: </a:t>
            </a:r>
            <a:r>
              <a:rPr lang="en-US" sz="2400" dirty="0"/>
              <a:t>Addresses provided in the instruction are operand references. </a:t>
            </a:r>
          </a:p>
          <a:p>
            <a:r>
              <a:rPr lang="en-US" sz="2400" b="1" dirty="0"/>
              <a:t>Numbers:</a:t>
            </a:r>
            <a:r>
              <a:rPr lang="en-US" sz="2400" dirty="0"/>
              <a:t> All machine languages include numeric data types like floating-point numbers, fixed-point numbers, binary coded decimal numbers</a:t>
            </a:r>
          </a:p>
          <a:p>
            <a:r>
              <a:rPr lang="en-US" sz="2400" b="1" dirty="0"/>
              <a:t>Characters:</a:t>
            </a:r>
            <a:r>
              <a:rPr lang="en-US" sz="2400" dirty="0"/>
              <a:t> A common form of data is text or character strings.  Represented in ASCII, EBCDIC</a:t>
            </a:r>
          </a:p>
          <a:p>
            <a:r>
              <a:rPr lang="en-US" sz="2400" b="1" dirty="0"/>
              <a:t>Logical data: </a:t>
            </a:r>
            <a:r>
              <a:rPr lang="en-US" sz="2400" dirty="0"/>
              <a:t>Normally, each word or other addressable unit (byte, halfword, and so on) is treated as a single unit of data. </a:t>
            </a:r>
          </a:p>
          <a:p>
            <a:pPr marL="0" indent="0" algn="r">
              <a:buNone/>
            </a:pPr>
            <a:r>
              <a:rPr lang="en-US" sz="1200" i="1" dirty="0"/>
              <a:t>EBCDIC: Extended Binary Coded Decimal Interchange Code</a:t>
            </a:r>
          </a:p>
          <a:p>
            <a:pPr marL="0" indent="0" algn="r">
              <a:buNone/>
            </a:pPr>
            <a:r>
              <a:rPr lang="en-US" sz="1200" i="1" dirty="0"/>
              <a:t>ASCII: or American Standard Code for Information Interchange</a:t>
            </a:r>
            <a:r>
              <a:rPr lang="en-US" sz="1200" dirty="0"/>
              <a:t>. </a:t>
            </a:r>
          </a:p>
        </p:txBody>
      </p:sp>
      <p:sp>
        <p:nvSpPr>
          <p:cNvPr id="4" name="Date Placeholder 3"/>
          <p:cNvSpPr>
            <a:spLocks noGrp="1"/>
          </p:cNvSpPr>
          <p:nvPr>
            <p:ph type="dt" sz="half" idx="10"/>
          </p:nvPr>
        </p:nvSpPr>
        <p:spPr/>
        <p:txBody>
          <a:bodyPr/>
          <a:lstStyle/>
          <a:p>
            <a:fld id="{63B6789D-BC0D-42E1-AB39-69ABFE37F134}"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131877151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1.8 Instruction type</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E5DFA42F-A061-4AA1-916A-F8715340A435}"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D89AFCAD-CB8C-4C2F-B93C-CEC7ABFA0963}"/>
              </a:ext>
            </a:extLst>
          </p:cNvPr>
          <p:cNvPicPr/>
          <p:nvPr/>
        </p:nvPicPr>
        <p:blipFill>
          <a:blip r:embed="rId2"/>
          <a:stretch>
            <a:fillRect/>
          </a:stretch>
        </p:blipFill>
        <p:spPr>
          <a:xfrm>
            <a:off x="1143000" y="851716"/>
            <a:ext cx="6858000" cy="2770505"/>
          </a:xfrm>
          <a:prstGeom prst="rect">
            <a:avLst/>
          </a:prstGeom>
        </p:spPr>
      </p:pic>
    </p:spTree>
    <p:extLst>
      <p:ext uri="{BB962C8B-B14F-4D97-AF65-F5344CB8AC3E}">
        <p14:creationId xmlns:p14="http://schemas.microsoft.com/office/powerpoint/2010/main" val="142316910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1. Data Transfer Instructions</a:t>
            </a:r>
          </a:p>
        </p:txBody>
      </p:sp>
      <p:sp>
        <p:nvSpPr>
          <p:cNvPr id="3" name="Content Placeholder 2"/>
          <p:cNvSpPr>
            <a:spLocks noGrp="1"/>
          </p:cNvSpPr>
          <p:nvPr>
            <p:ph idx="1"/>
          </p:nvPr>
        </p:nvSpPr>
        <p:spPr>
          <a:xfrm>
            <a:off x="457200" y="742950"/>
            <a:ext cx="8229600" cy="3851673"/>
          </a:xfrm>
        </p:spPr>
        <p:txBody>
          <a:bodyPr>
            <a:normAutofit/>
          </a:bodyPr>
          <a:lstStyle/>
          <a:p>
            <a:r>
              <a:rPr lang="en-US" sz="2000" dirty="0"/>
              <a:t>These instructions transfer data from one location in the computer to another location without changing the data content. </a:t>
            </a:r>
            <a:endParaRPr lang="en-US" sz="1400" dirty="0"/>
          </a:p>
        </p:txBody>
      </p:sp>
      <p:sp>
        <p:nvSpPr>
          <p:cNvPr id="4" name="Date Placeholder 3"/>
          <p:cNvSpPr>
            <a:spLocks noGrp="1"/>
          </p:cNvSpPr>
          <p:nvPr>
            <p:ph type="dt" sz="half" idx="10"/>
          </p:nvPr>
        </p:nvSpPr>
        <p:spPr/>
        <p:txBody>
          <a:bodyPr/>
          <a:lstStyle/>
          <a:p>
            <a:fld id="{092D419C-CB33-4A9A-95E9-843DA046E8E3}"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9B1F672D-08E1-4654-9B37-D8FEAC045494}"/>
              </a:ext>
            </a:extLst>
          </p:cNvPr>
          <p:cNvPicPr>
            <a:picLocks noChangeAspect="1"/>
          </p:cNvPicPr>
          <p:nvPr/>
        </p:nvPicPr>
        <p:blipFill>
          <a:blip r:embed="rId2"/>
          <a:stretch>
            <a:fillRect/>
          </a:stretch>
        </p:blipFill>
        <p:spPr>
          <a:xfrm>
            <a:off x="1497106" y="1551143"/>
            <a:ext cx="6324600" cy="3006501"/>
          </a:xfrm>
          <a:prstGeom prst="rect">
            <a:avLst/>
          </a:prstGeom>
        </p:spPr>
      </p:pic>
    </p:spTree>
    <p:extLst>
      <p:ext uri="{BB962C8B-B14F-4D97-AF65-F5344CB8AC3E}">
        <p14:creationId xmlns:p14="http://schemas.microsoft.com/office/powerpoint/2010/main" val="38996092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2800" b="1" dirty="0">
                <a:solidFill>
                  <a:srgbClr val="00B050"/>
                </a:solidFill>
              </a:rPr>
              <a:t>2. Data Processing (or manipulation) instructions</a:t>
            </a:r>
            <a:endParaRPr lang="en-US" sz="3200" b="1" dirty="0">
              <a:solidFill>
                <a:srgbClr val="00B050"/>
              </a:solidFill>
            </a:endParaRPr>
          </a:p>
        </p:txBody>
      </p:sp>
      <p:sp>
        <p:nvSpPr>
          <p:cNvPr id="3" name="Content Placeholder 2"/>
          <p:cNvSpPr>
            <a:spLocks noGrp="1"/>
          </p:cNvSpPr>
          <p:nvPr>
            <p:ph idx="1"/>
          </p:nvPr>
        </p:nvSpPr>
        <p:spPr>
          <a:xfrm>
            <a:off x="457200" y="742950"/>
            <a:ext cx="8229600" cy="3851673"/>
          </a:xfrm>
        </p:spPr>
        <p:txBody>
          <a:bodyPr>
            <a:normAutofit/>
          </a:bodyPr>
          <a:lstStyle/>
          <a:p>
            <a:r>
              <a:rPr lang="en-US" sz="2400" dirty="0"/>
              <a:t>These instructions perform arithmetic and logical operations on data. </a:t>
            </a:r>
          </a:p>
          <a:p>
            <a:r>
              <a:rPr lang="en-US" sz="2400" dirty="0"/>
              <a:t>Data manipulation Instructions can be divided into three basic types: </a:t>
            </a:r>
          </a:p>
          <a:p>
            <a:pPr lvl="1"/>
            <a:r>
              <a:rPr lang="en-US" sz="2000" dirty="0"/>
              <a:t>Arithmetic</a:t>
            </a:r>
          </a:p>
          <a:p>
            <a:pPr lvl="1"/>
            <a:r>
              <a:rPr lang="en-US" sz="2000" dirty="0"/>
              <a:t>Logical</a:t>
            </a:r>
          </a:p>
          <a:p>
            <a:pPr lvl="1"/>
            <a:r>
              <a:rPr lang="en-US" sz="2000" dirty="0"/>
              <a:t>Shift</a:t>
            </a:r>
          </a:p>
        </p:txBody>
      </p:sp>
      <p:sp>
        <p:nvSpPr>
          <p:cNvPr id="4" name="Date Placeholder 3"/>
          <p:cNvSpPr>
            <a:spLocks noGrp="1"/>
          </p:cNvSpPr>
          <p:nvPr>
            <p:ph type="dt" sz="half" idx="10"/>
          </p:nvPr>
        </p:nvSpPr>
        <p:spPr/>
        <p:txBody>
          <a:bodyPr/>
          <a:lstStyle/>
          <a:p>
            <a:fld id="{3556E4A2-F4EF-4D87-8A7C-D5B177737276}"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336593677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2. Data Processing instructions (Contd.)</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028631F2-2026-4926-8392-6AECBBB26347}"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8" name="Picture 7">
            <a:extLst>
              <a:ext uri="{FF2B5EF4-FFF2-40B4-BE49-F238E27FC236}">
                <a16:creationId xmlns:a16="http://schemas.microsoft.com/office/drawing/2014/main" id="{02F73993-D955-4306-82C5-C47B47BD0ADA}"/>
              </a:ext>
            </a:extLst>
          </p:cNvPr>
          <p:cNvPicPr>
            <a:picLocks noChangeAspect="1"/>
          </p:cNvPicPr>
          <p:nvPr/>
        </p:nvPicPr>
        <p:blipFill>
          <a:blip r:embed="rId2"/>
          <a:stretch>
            <a:fillRect/>
          </a:stretch>
        </p:blipFill>
        <p:spPr>
          <a:xfrm>
            <a:off x="466165" y="714934"/>
            <a:ext cx="8190215" cy="3851673"/>
          </a:xfrm>
          <a:prstGeom prst="rect">
            <a:avLst/>
          </a:prstGeom>
        </p:spPr>
      </p:pic>
    </p:spTree>
    <p:extLst>
      <p:ext uri="{BB962C8B-B14F-4D97-AF65-F5344CB8AC3E}">
        <p14:creationId xmlns:p14="http://schemas.microsoft.com/office/powerpoint/2010/main" val="382153084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2. Data Processing instructions (Contd.)</a:t>
            </a: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B2F4C84C-2E90-4F14-91F0-C51D23888C4B}"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29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8" name="Picture 7">
            <a:extLst>
              <a:ext uri="{FF2B5EF4-FFF2-40B4-BE49-F238E27FC236}">
                <a16:creationId xmlns:a16="http://schemas.microsoft.com/office/drawing/2014/main" id="{8FF59CD0-B090-415D-941E-8244F41DCAE9}"/>
              </a:ext>
            </a:extLst>
          </p:cNvPr>
          <p:cNvPicPr>
            <a:picLocks noChangeAspect="1"/>
          </p:cNvPicPr>
          <p:nvPr/>
        </p:nvPicPr>
        <p:blipFill>
          <a:blip r:embed="rId2"/>
          <a:stretch>
            <a:fillRect/>
          </a:stretch>
        </p:blipFill>
        <p:spPr>
          <a:xfrm>
            <a:off x="176188" y="701488"/>
            <a:ext cx="8791623" cy="2305050"/>
          </a:xfrm>
          <a:prstGeom prst="rect">
            <a:avLst/>
          </a:prstGeom>
        </p:spPr>
      </p:pic>
    </p:spTree>
    <p:extLst>
      <p:ext uri="{BB962C8B-B14F-4D97-AF65-F5344CB8AC3E}">
        <p14:creationId xmlns:p14="http://schemas.microsoft.com/office/powerpoint/2010/main" val="606745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70C0"/>
                </a:solidFill>
              </a:rPr>
              <a:t>Logical shift operations</a:t>
            </a:r>
          </a:p>
        </p:txBody>
      </p:sp>
      <p:pic>
        <p:nvPicPr>
          <p:cNvPr id="7" name="Content Placeholder 6">
            <a:extLst>
              <a:ext uri="{FF2B5EF4-FFF2-40B4-BE49-F238E27FC236}">
                <a16:creationId xmlns:a16="http://schemas.microsoft.com/office/drawing/2014/main" id="{801393F1-72B4-46F2-8276-6D6F7428075A}"/>
              </a:ext>
            </a:extLst>
          </p:cNvPr>
          <p:cNvPicPr>
            <a:picLocks noGrp="1" noChangeAspect="1"/>
          </p:cNvPicPr>
          <p:nvPr>
            <p:ph idx="1"/>
          </p:nvPr>
        </p:nvPicPr>
        <p:blipFill>
          <a:blip r:embed="rId2"/>
          <a:stretch>
            <a:fillRect/>
          </a:stretch>
        </p:blipFill>
        <p:spPr>
          <a:xfrm>
            <a:off x="0" y="1138377"/>
            <a:ext cx="3249751" cy="2866745"/>
          </a:xfrm>
          <a:prstGeom prst="rect">
            <a:avLst/>
          </a:prstGeom>
        </p:spPr>
      </p:pic>
      <p:sp>
        <p:nvSpPr>
          <p:cNvPr id="4" name="Date Placeholder 3"/>
          <p:cNvSpPr>
            <a:spLocks noGrp="1"/>
          </p:cNvSpPr>
          <p:nvPr>
            <p:ph type="dt" sz="half" idx="10"/>
          </p:nvPr>
        </p:nvSpPr>
        <p:spPr/>
        <p:txBody>
          <a:bodyPr/>
          <a:lstStyle/>
          <a:p>
            <a:fld id="{D981D9AC-F28D-47BA-A064-D7E7F34929DF}"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8" name="Picture 7">
            <a:extLst>
              <a:ext uri="{FF2B5EF4-FFF2-40B4-BE49-F238E27FC236}">
                <a16:creationId xmlns:a16="http://schemas.microsoft.com/office/drawing/2014/main" id="{06DD80A8-C124-411C-B8DC-549A338A438B}"/>
              </a:ext>
            </a:extLst>
          </p:cNvPr>
          <p:cNvPicPr>
            <a:picLocks noChangeAspect="1"/>
          </p:cNvPicPr>
          <p:nvPr/>
        </p:nvPicPr>
        <p:blipFill>
          <a:blip r:embed="rId3"/>
          <a:stretch>
            <a:fillRect/>
          </a:stretch>
        </p:blipFill>
        <p:spPr>
          <a:xfrm>
            <a:off x="3352800" y="1138377"/>
            <a:ext cx="2694230" cy="2728773"/>
          </a:xfrm>
          <a:prstGeom prst="rect">
            <a:avLst/>
          </a:prstGeom>
        </p:spPr>
      </p:pic>
      <p:pic>
        <p:nvPicPr>
          <p:cNvPr id="2054" name="Picture 6" descr="Lightbox">
            <a:extLst>
              <a:ext uri="{FF2B5EF4-FFF2-40B4-BE49-F238E27FC236}">
                <a16:creationId xmlns:a16="http://schemas.microsoft.com/office/drawing/2014/main" id="{C58B9F4D-3FBE-42A4-A508-C6AE26AED66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63027" y="316122"/>
            <a:ext cx="2986240" cy="2072728"/>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Lightbox">
            <a:extLst>
              <a:ext uri="{FF2B5EF4-FFF2-40B4-BE49-F238E27FC236}">
                <a16:creationId xmlns:a16="http://schemas.microsoft.com/office/drawing/2014/main" id="{99E66C04-C06C-4CE7-83F2-0BD19F3A2EA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27481" y="2571750"/>
            <a:ext cx="3249751" cy="2255629"/>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Shift Micro Operations - Coding Ninjas">
            <a:extLst>
              <a:ext uri="{FF2B5EF4-FFF2-40B4-BE49-F238E27FC236}">
                <a16:creationId xmlns:a16="http://schemas.microsoft.com/office/drawing/2014/main" id="{13972F78-FE93-4C5F-8910-B0BB7BD5216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8693" r="7647"/>
          <a:stretch/>
        </p:blipFill>
        <p:spPr bwMode="auto">
          <a:xfrm>
            <a:off x="6023809" y="2827364"/>
            <a:ext cx="2891592" cy="17261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610396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3. Program sequencing and control instructions</a:t>
            </a:r>
            <a:endParaRPr lang="en-US" sz="2000" b="1" dirty="0">
              <a:solidFill>
                <a:srgbClr val="00B050"/>
              </a:solidFill>
            </a:endParaRPr>
          </a:p>
        </p:txBody>
      </p:sp>
      <p:pic>
        <p:nvPicPr>
          <p:cNvPr id="7" name="Content Placeholder 6">
            <a:extLst>
              <a:ext uri="{FF2B5EF4-FFF2-40B4-BE49-F238E27FC236}">
                <a16:creationId xmlns:a16="http://schemas.microsoft.com/office/drawing/2014/main" id="{33EDF825-7E5A-48F3-B6FE-B7938285BC7A}"/>
              </a:ext>
            </a:extLst>
          </p:cNvPr>
          <p:cNvPicPr>
            <a:picLocks noGrp="1" noChangeAspect="1"/>
          </p:cNvPicPr>
          <p:nvPr>
            <p:ph idx="1"/>
          </p:nvPr>
        </p:nvPicPr>
        <p:blipFill>
          <a:blip r:embed="rId2"/>
          <a:stretch>
            <a:fillRect/>
          </a:stretch>
        </p:blipFill>
        <p:spPr>
          <a:xfrm>
            <a:off x="1524000" y="1885950"/>
            <a:ext cx="5564431" cy="2721235"/>
          </a:xfrm>
          <a:prstGeom prst="rect">
            <a:avLst/>
          </a:prstGeom>
        </p:spPr>
      </p:pic>
      <p:sp>
        <p:nvSpPr>
          <p:cNvPr id="4" name="Date Placeholder 3"/>
          <p:cNvSpPr>
            <a:spLocks noGrp="1"/>
          </p:cNvSpPr>
          <p:nvPr>
            <p:ph type="dt" sz="half" idx="10"/>
          </p:nvPr>
        </p:nvSpPr>
        <p:spPr/>
        <p:txBody>
          <a:bodyPr/>
          <a:lstStyle/>
          <a:p>
            <a:fld id="{076EBEEA-6249-4D1D-A02E-B167D884DEDA}"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
        <p:nvSpPr>
          <p:cNvPr id="8" name="Rectangle 7">
            <a:extLst>
              <a:ext uri="{FF2B5EF4-FFF2-40B4-BE49-F238E27FC236}">
                <a16:creationId xmlns:a16="http://schemas.microsoft.com/office/drawing/2014/main" id="{370D78EC-1A6F-47CE-A02E-FF17E13E9F55}"/>
              </a:ext>
            </a:extLst>
          </p:cNvPr>
          <p:cNvSpPr/>
          <p:nvPr/>
        </p:nvSpPr>
        <p:spPr>
          <a:xfrm>
            <a:off x="443753" y="666750"/>
            <a:ext cx="7604872" cy="1015663"/>
          </a:xfrm>
          <a:prstGeom prst="rect">
            <a:avLst/>
          </a:prstGeom>
        </p:spPr>
        <p:txBody>
          <a:bodyPr wrap="square">
            <a:spAutoFit/>
          </a:bodyPr>
          <a:lstStyle/>
          <a:p>
            <a:pPr marL="228600" marR="0" algn="just">
              <a:spcBef>
                <a:spcPts val="0"/>
              </a:spcBef>
              <a:spcAft>
                <a:spcPts val="600"/>
              </a:spcAft>
            </a:pPr>
            <a:r>
              <a:rPr lang="en-US" sz="2000" dirty="0">
                <a:ea typeface="Times New Roman" panose="02020603050405020304" pitchFamily="18" charset="0"/>
                <a:cs typeface="Mangal" panose="02040503050203030202" pitchFamily="18" charset="0"/>
              </a:rPr>
              <a:t>T</a:t>
            </a:r>
            <a:r>
              <a:rPr lang="en-US" sz="2000" dirty="0">
                <a:solidFill>
                  <a:srgbClr val="000000"/>
                </a:solidFill>
                <a:ea typeface="Times New Roman" panose="02020603050405020304" pitchFamily="18" charset="0"/>
                <a:cs typeface="Mangal" panose="02040503050203030202" pitchFamily="18" charset="0"/>
              </a:rPr>
              <a:t>he program control instructions control the flow of program execution and are capable of branching to different program segments.</a:t>
            </a:r>
            <a:endParaRPr lang="en-US" dirty="0">
              <a:effectLst/>
              <a:ea typeface="Times New Roman" panose="02020603050405020304" pitchFamily="18" charset="0"/>
              <a:cs typeface="Mangal" panose="02040503050203030202" pitchFamily="18" charset="0"/>
            </a:endParaRPr>
          </a:p>
        </p:txBody>
      </p:sp>
    </p:spTree>
    <p:extLst>
      <p:ext uri="{BB962C8B-B14F-4D97-AF65-F5344CB8AC3E}">
        <p14:creationId xmlns:p14="http://schemas.microsoft.com/office/powerpoint/2010/main" val="234492825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00B050"/>
                </a:solidFill>
              </a:rPr>
              <a:t>4. Miscellaneous Instructions</a:t>
            </a:r>
          </a:p>
        </p:txBody>
      </p:sp>
      <p:sp>
        <p:nvSpPr>
          <p:cNvPr id="3" name="Content Placeholder 2"/>
          <p:cNvSpPr>
            <a:spLocks noGrp="1"/>
          </p:cNvSpPr>
          <p:nvPr>
            <p:ph idx="1"/>
          </p:nvPr>
        </p:nvSpPr>
        <p:spPr>
          <a:xfrm>
            <a:off x="457200" y="742950"/>
            <a:ext cx="8229600" cy="3851673"/>
          </a:xfrm>
        </p:spPr>
        <p:txBody>
          <a:bodyPr>
            <a:normAutofit/>
          </a:bodyPr>
          <a:lstStyle/>
          <a:p>
            <a:r>
              <a:rPr lang="en-US" sz="2400" dirty="0"/>
              <a:t>These instructions do not fit in any of the above categories. </a:t>
            </a:r>
          </a:p>
          <a:p>
            <a:r>
              <a:rPr lang="en-US" sz="2400" dirty="0"/>
              <a:t>Those instructions for I/O, interrupt, halt, timer setting, memory clearing, </a:t>
            </a:r>
            <a:r>
              <a:rPr lang="en-US" sz="2400" dirty="0" err="1"/>
              <a:t>etc</a:t>
            </a:r>
            <a:r>
              <a:rPr lang="en-US" sz="2400" dirty="0"/>
              <a:t> fall in this category.</a:t>
            </a:r>
          </a:p>
        </p:txBody>
      </p:sp>
      <p:sp>
        <p:nvSpPr>
          <p:cNvPr id="4" name="Date Placeholder 3"/>
          <p:cNvSpPr>
            <a:spLocks noGrp="1"/>
          </p:cNvSpPr>
          <p:nvPr>
            <p:ph type="dt" sz="half" idx="10"/>
          </p:nvPr>
        </p:nvSpPr>
        <p:spPr/>
        <p:txBody>
          <a:bodyPr/>
          <a:lstStyle/>
          <a:p>
            <a:fld id="{721D6F07-7EED-4720-8B2F-95380DE209B8}"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30721758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1.9  Address Instruction Formats</a:t>
            </a:r>
          </a:p>
        </p:txBody>
      </p:sp>
      <p:sp>
        <p:nvSpPr>
          <p:cNvPr id="3" name="Content Placeholder 2"/>
          <p:cNvSpPr>
            <a:spLocks noGrp="1"/>
          </p:cNvSpPr>
          <p:nvPr>
            <p:ph idx="1"/>
          </p:nvPr>
        </p:nvSpPr>
        <p:spPr>
          <a:xfrm>
            <a:off x="457200" y="742950"/>
            <a:ext cx="8229600" cy="3851673"/>
          </a:xfrm>
        </p:spPr>
        <p:txBody>
          <a:bodyPr>
            <a:normAutofit/>
          </a:bodyPr>
          <a:lstStyle/>
          <a:p>
            <a:r>
              <a:rPr lang="en-US" sz="2400" dirty="0"/>
              <a:t>An Instruction Format defines the layout of the bits of an instruction in terms of its constituent fields. </a:t>
            </a:r>
          </a:p>
          <a:p>
            <a:r>
              <a:rPr lang="en-US" sz="2400" dirty="0"/>
              <a:t>An Instruction must include an opcode and zero or more operands either implicitly or explicitly.</a:t>
            </a:r>
          </a:p>
          <a:p>
            <a:r>
              <a:rPr lang="en-US" sz="2400" dirty="0"/>
              <a:t>Four types:</a:t>
            </a:r>
          </a:p>
          <a:p>
            <a:pPr lvl="1"/>
            <a:r>
              <a:rPr lang="en-US" sz="2000" dirty="0"/>
              <a:t>Zero-Address instruction</a:t>
            </a:r>
          </a:p>
          <a:p>
            <a:pPr lvl="1"/>
            <a:r>
              <a:rPr lang="en-US" sz="2000" dirty="0"/>
              <a:t>One-Address instruction</a:t>
            </a:r>
          </a:p>
          <a:p>
            <a:pPr lvl="1"/>
            <a:r>
              <a:rPr lang="en-US" sz="2000" dirty="0"/>
              <a:t>Two-Address instruction</a:t>
            </a:r>
          </a:p>
          <a:p>
            <a:pPr lvl="1"/>
            <a:r>
              <a:rPr lang="en-US" sz="2000" dirty="0"/>
              <a:t>Three-Address instruction</a:t>
            </a:r>
          </a:p>
          <a:p>
            <a:endParaRPr lang="en-US" sz="2400" dirty="0"/>
          </a:p>
          <a:p>
            <a:endParaRPr lang="en-US" sz="1600" dirty="0"/>
          </a:p>
        </p:txBody>
      </p:sp>
      <p:sp>
        <p:nvSpPr>
          <p:cNvPr id="4" name="Date Placeholder 3"/>
          <p:cNvSpPr>
            <a:spLocks noGrp="1"/>
          </p:cNvSpPr>
          <p:nvPr>
            <p:ph type="dt" sz="half" idx="10"/>
          </p:nvPr>
        </p:nvSpPr>
        <p:spPr/>
        <p:txBody>
          <a:bodyPr/>
          <a:lstStyle/>
          <a:p>
            <a:fld id="{D1CC617D-E6DF-4B62-8675-A0458FB5D5AD}"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dirty="0">
                <a:solidFill>
                  <a:srgbClr val="00B050"/>
                </a:solidFill>
              </a:rPr>
              <a:t>Instruction Set Architecture, COA, BSE VI</a:t>
            </a:r>
          </a:p>
        </p:txBody>
      </p:sp>
    </p:spTree>
    <p:extLst>
      <p:ext uri="{BB962C8B-B14F-4D97-AF65-F5344CB8AC3E}">
        <p14:creationId xmlns:p14="http://schemas.microsoft.com/office/powerpoint/2010/main" val="2003732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C8D73386-8BF6-4F63-847F-5DA658575B97}"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B5CB73A3-BBDC-4C40-8E11-E26CD163C5C6}"/>
              </a:ext>
            </a:extLst>
          </p:cNvPr>
          <p:cNvPicPr>
            <a:picLocks noChangeAspect="1"/>
          </p:cNvPicPr>
          <p:nvPr/>
        </p:nvPicPr>
        <p:blipFill>
          <a:blip r:embed="rId2"/>
          <a:stretch>
            <a:fillRect/>
          </a:stretch>
        </p:blipFill>
        <p:spPr>
          <a:xfrm>
            <a:off x="533400" y="570310"/>
            <a:ext cx="8001000" cy="4010811"/>
          </a:xfrm>
          <a:prstGeom prst="rect">
            <a:avLst/>
          </a:prstGeom>
        </p:spPr>
      </p:pic>
    </p:spTree>
    <p:extLst>
      <p:ext uri="{BB962C8B-B14F-4D97-AF65-F5344CB8AC3E}">
        <p14:creationId xmlns:p14="http://schemas.microsoft.com/office/powerpoint/2010/main" val="22746458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DB80C9DC-8B93-4BFE-B2A8-00C29A8311C4}"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6EA91E0A-5878-4F54-B106-E70BE40FDA0A}"/>
              </a:ext>
            </a:extLst>
          </p:cNvPr>
          <p:cNvPicPr>
            <a:picLocks noChangeAspect="1"/>
          </p:cNvPicPr>
          <p:nvPr/>
        </p:nvPicPr>
        <p:blipFill>
          <a:blip r:embed="rId2"/>
          <a:stretch>
            <a:fillRect/>
          </a:stretch>
        </p:blipFill>
        <p:spPr>
          <a:xfrm>
            <a:off x="434787" y="436364"/>
            <a:ext cx="8417007" cy="3851673"/>
          </a:xfrm>
          <a:prstGeom prst="rect">
            <a:avLst/>
          </a:prstGeom>
        </p:spPr>
      </p:pic>
    </p:spTree>
    <p:extLst>
      <p:ext uri="{BB962C8B-B14F-4D97-AF65-F5344CB8AC3E}">
        <p14:creationId xmlns:p14="http://schemas.microsoft.com/office/powerpoint/2010/main" val="103386564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04C45936-952A-40A9-B383-EE4ECDC65E58}"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55094568-CE84-4CC1-9926-83F1E8B1E1DA}"/>
              </a:ext>
            </a:extLst>
          </p:cNvPr>
          <p:cNvPicPr>
            <a:picLocks noChangeAspect="1"/>
          </p:cNvPicPr>
          <p:nvPr/>
        </p:nvPicPr>
        <p:blipFill>
          <a:blip r:embed="rId2"/>
          <a:stretch>
            <a:fillRect/>
          </a:stretch>
        </p:blipFill>
        <p:spPr>
          <a:xfrm>
            <a:off x="609600" y="205979"/>
            <a:ext cx="7958762" cy="3851673"/>
          </a:xfrm>
          <a:prstGeom prst="rect">
            <a:avLst/>
          </a:prstGeom>
        </p:spPr>
      </p:pic>
    </p:spTree>
    <p:extLst>
      <p:ext uri="{BB962C8B-B14F-4D97-AF65-F5344CB8AC3E}">
        <p14:creationId xmlns:p14="http://schemas.microsoft.com/office/powerpoint/2010/main" val="20997889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9F66BE90-A6CF-4ACB-83A8-C33BA4E3E4F9}"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2A35A0C6-9486-442F-A982-070967E98C39}"/>
              </a:ext>
            </a:extLst>
          </p:cNvPr>
          <p:cNvPicPr>
            <a:picLocks noChangeAspect="1"/>
          </p:cNvPicPr>
          <p:nvPr/>
        </p:nvPicPr>
        <p:blipFill>
          <a:blip r:embed="rId2"/>
          <a:stretch>
            <a:fillRect/>
          </a:stretch>
        </p:blipFill>
        <p:spPr>
          <a:xfrm>
            <a:off x="430306" y="263128"/>
            <a:ext cx="8614472" cy="3223021"/>
          </a:xfrm>
          <a:prstGeom prst="rect">
            <a:avLst/>
          </a:prstGeom>
        </p:spPr>
      </p:pic>
    </p:spTree>
    <p:extLst>
      <p:ext uri="{BB962C8B-B14F-4D97-AF65-F5344CB8AC3E}">
        <p14:creationId xmlns:p14="http://schemas.microsoft.com/office/powerpoint/2010/main" val="56743837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1.10  Addressing Modes</a:t>
            </a:r>
          </a:p>
        </p:txBody>
      </p:sp>
      <p:sp>
        <p:nvSpPr>
          <p:cNvPr id="3" name="Content Placeholder 2"/>
          <p:cNvSpPr>
            <a:spLocks noGrp="1"/>
          </p:cNvSpPr>
          <p:nvPr>
            <p:ph idx="1"/>
          </p:nvPr>
        </p:nvSpPr>
        <p:spPr>
          <a:xfrm>
            <a:off x="457200" y="742950"/>
            <a:ext cx="8229600" cy="3851673"/>
          </a:xfrm>
        </p:spPr>
        <p:txBody>
          <a:bodyPr>
            <a:normAutofit/>
          </a:bodyPr>
          <a:lstStyle/>
          <a:p>
            <a:r>
              <a:rPr lang="en-US" sz="2400" dirty="0"/>
              <a:t>Addressing mode refers to the way of assigning the address of the operand in memory. </a:t>
            </a:r>
            <a:endParaRPr lang="en-US" sz="1600" dirty="0"/>
          </a:p>
        </p:txBody>
      </p:sp>
      <p:sp>
        <p:nvSpPr>
          <p:cNvPr id="4" name="Date Placeholder 3"/>
          <p:cNvSpPr>
            <a:spLocks noGrp="1"/>
          </p:cNvSpPr>
          <p:nvPr>
            <p:ph type="dt" sz="half" idx="10"/>
          </p:nvPr>
        </p:nvSpPr>
        <p:spPr/>
        <p:txBody>
          <a:bodyPr/>
          <a:lstStyle/>
          <a:p>
            <a:fld id="{ACBD41C0-6C87-4D55-A226-D4C98CB458A0}"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EC33766F-CD5E-4CAE-9047-D8B1C603B361}"/>
              </a:ext>
            </a:extLst>
          </p:cNvPr>
          <p:cNvPicPr/>
          <p:nvPr/>
        </p:nvPicPr>
        <p:blipFill rotWithShape="1">
          <a:blip r:embed="rId2"/>
          <a:srcRect b="10067"/>
          <a:stretch/>
        </p:blipFill>
        <p:spPr>
          <a:xfrm>
            <a:off x="1600200" y="1543049"/>
            <a:ext cx="5532120" cy="3224213"/>
          </a:xfrm>
          <a:prstGeom prst="rect">
            <a:avLst/>
          </a:prstGeom>
        </p:spPr>
      </p:pic>
    </p:spTree>
    <p:extLst>
      <p:ext uri="{BB962C8B-B14F-4D97-AF65-F5344CB8AC3E}">
        <p14:creationId xmlns:p14="http://schemas.microsoft.com/office/powerpoint/2010/main" val="27614185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031D0FC1-FD5C-4666-9DFF-D8B1F803E9A3}"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39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A83AC57A-553F-4E32-9958-965A58FF5AE7}"/>
              </a:ext>
            </a:extLst>
          </p:cNvPr>
          <p:cNvPicPr>
            <a:picLocks noChangeAspect="1"/>
          </p:cNvPicPr>
          <p:nvPr/>
        </p:nvPicPr>
        <p:blipFill>
          <a:blip r:embed="rId2"/>
          <a:stretch>
            <a:fillRect/>
          </a:stretch>
        </p:blipFill>
        <p:spPr>
          <a:xfrm>
            <a:off x="457200" y="666750"/>
            <a:ext cx="7505700" cy="2943225"/>
          </a:xfrm>
          <a:prstGeom prst="rect">
            <a:avLst/>
          </a:prstGeom>
        </p:spPr>
      </p:pic>
    </p:spTree>
    <p:extLst>
      <p:ext uri="{BB962C8B-B14F-4D97-AF65-F5344CB8AC3E}">
        <p14:creationId xmlns:p14="http://schemas.microsoft.com/office/powerpoint/2010/main" val="3827384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127AC224-347B-47DC-B45B-B6CF9B89BC8B}"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40</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8AE018E9-CD6B-402F-A433-44D01B6D453B}"/>
              </a:ext>
            </a:extLst>
          </p:cNvPr>
          <p:cNvPicPr>
            <a:picLocks noChangeAspect="1"/>
          </p:cNvPicPr>
          <p:nvPr/>
        </p:nvPicPr>
        <p:blipFill>
          <a:blip r:embed="rId2"/>
          <a:stretch>
            <a:fillRect/>
          </a:stretch>
        </p:blipFill>
        <p:spPr>
          <a:xfrm>
            <a:off x="488576" y="436364"/>
            <a:ext cx="8080360" cy="3851672"/>
          </a:xfrm>
          <a:prstGeom prst="rect">
            <a:avLst/>
          </a:prstGeom>
        </p:spPr>
      </p:pic>
    </p:spTree>
    <p:extLst>
      <p:ext uri="{BB962C8B-B14F-4D97-AF65-F5344CB8AC3E}">
        <p14:creationId xmlns:p14="http://schemas.microsoft.com/office/powerpoint/2010/main" val="332878400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5F334FBC-87C6-4F16-B8D2-8B1E0B85623F}"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41</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1831BDA5-8BD5-4EBB-80BA-732C375B0606}"/>
              </a:ext>
            </a:extLst>
          </p:cNvPr>
          <p:cNvPicPr>
            <a:picLocks noChangeAspect="1"/>
          </p:cNvPicPr>
          <p:nvPr/>
        </p:nvPicPr>
        <p:blipFill>
          <a:blip r:embed="rId2"/>
          <a:stretch>
            <a:fillRect/>
          </a:stretch>
        </p:blipFill>
        <p:spPr>
          <a:xfrm>
            <a:off x="479612" y="205979"/>
            <a:ext cx="8277368" cy="3508771"/>
          </a:xfrm>
          <a:prstGeom prst="rect">
            <a:avLst/>
          </a:prstGeom>
        </p:spPr>
      </p:pic>
    </p:spTree>
    <p:extLst>
      <p:ext uri="{BB962C8B-B14F-4D97-AF65-F5344CB8AC3E}">
        <p14:creationId xmlns:p14="http://schemas.microsoft.com/office/powerpoint/2010/main" val="14434487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0202090D-AF4B-4731-AD7E-5F0CBE392721}"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42</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979065B5-3E78-4904-A4AB-13F1236B1A64}"/>
              </a:ext>
            </a:extLst>
          </p:cNvPr>
          <p:cNvPicPr>
            <a:picLocks noChangeAspect="1"/>
          </p:cNvPicPr>
          <p:nvPr/>
        </p:nvPicPr>
        <p:blipFill>
          <a:blip r:embed="rId2"/>
          <a:stretch>
            <a:fillRect/>
          </a:stretch>
        </p:blipFill>
        <p:spPr>
          <a:xfrm>
            <a:off x="213351" y="274439"/>
            <a:ext cx="8717298" cy="3223021"/>
          </a:xfrm>
          <a:prstGeom prst="rect">
            <a:avLst/>
          </a:prstGeom>
        </p:spPr>
      </p:pic>
      <p:sp>
        <p:nvSpPr>
          <p:cNvPr id="8" name="TextBox 7">
            <a:extLst>
              <a:ext uri="{FF2B5EF4-FFF2-40B4-BE49-F238E27FC236}">
                <a16:creationId xmlns:a16="http://schemas.microsoft.com/office/drawing/2014/main" id="{792E7071-5980-4BAB-A949-5624D5A9D2FC}"/>
              </a:ext>
            </a:extLst>
          </p:cNvPr>
          <p:cNvSpPr txBox="1"/>
          <p:nvPr/>
        </p:nvSpPr>
        <p:spPr>
          <a:xfrm>
            <a:off x="3733800" y="1962150"/>
            <a:ext cx="381000" cy="307777"/>
          </a:xfrm>
          <a:prstGeom prst="rect">
            <a:avLst/>
          </a:prstGeom>
          <a:solidFill>
            <a:schemeClr val="bg1"/>
          </a:solidFill>
        </p:spPr>
        <p:txBody>
          <a:bodyPr wrap="square" rtlCol="0">
            <a:spAutoFit/>
          </a:bodyPr>
          <a:lstStyle/>
          <a:p>
            <a:r>
              <a:rPr lang="en-US" sz="1400" b="1" dirty="0"/>
              <a:t>R0</a:t>
            </a:r>
          </a:p>
        </p:txBody>
      </p:sp>
    </p:spTree>
    <p:extLst>
      <p:ext uri="{BB962C8B-B14F-4D97-AF65-F5344CB8AC3E}">
        <p14:creationId xmlns:p14="http://schemas.microsoft.com/office/powerpoint/2010/main" val="157625099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AE759E14-02DA-44D1-8587-93DF00C597B3}"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43</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A1E1AEDD-846B-4C6F-BF09-0FFCC70AE1E3}"/>
              </a:ext>
            </a:extLst>
          </p:cNvPr>
          <p:cNvPicPr>
            <a:picLocks noChangeAspect="1"/>
          </p:cNvPicPr>
          <p:nvPr/>
        </p:nvPicPr>
        <p:blipFill>
          <a:blip r:embed="rId2"/>
          <a:stretch>
            <a:fillRect/>
          </a:stretch>
        </p:blipFill>
        <p:spPr>
          <a:xfrm>
            <a:off x="457200" y="285750"/>
            <a:ext cx="8375480" cy="2649280"/>
          </a:xfrm>
          <a:prstGeom prst="rect">
            <a:avLst/>
          </a:prstGeom>
        </p:spPr>
      </p:pic>
    </p:spTree>
    <p:extLst>
      <p:ext uri="{BB962C8B-B14F-4D97-AF65-F5344CB8AC3E}">
        <p14:creationId xmlns:p14="http://schemas.microsoft.com/office/powerpoint/2010/main" val="102013787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4" name="Date Placeholder 3"/>
          <p:cNvSpPr>
            <a:spLocks noGrp="1"/>
          </p:cNvSpPr>
          <p:nvPr>
            <p:ph type="dt" sz="half" idx="10"/>
          </p:nvPr>
        </p:nvSpPr>
        <p:spPr/>
        <p:txBody>
          <a:bodyPr/>
          <a:lstStyle/>
          <a:p>
            <a:fld id="{EEC0A4A9-4560-4E70-8AE9-A6DCC421B99E}"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44</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
        <p:nvSpPr>
          <p:cNvPr id="9" name="Content Placeholder 8">
            <a:extLst>
              <a:ext uri="{FF2B5EF4-FFF2-40B4-BE49-F238E27FC236}">
                <a16:creationId xmlns:a16="http://schemas.microsoft.com/office/drawing/2014/main" id="{2B5C94FA-3358-4033-AB9D-0BAA57DBC671}"/>
              </a:ext>
            </a:extLst>
          </p:cNvPr>
          <p:cNvSpPr>
            <a:spLocks noGrp="1"/>
          </p:cNvSpPr>
          <p:nvPr>
            <p:ph idx="1"/>
          </p:nvPr>
        </p:nvSpPr>
        <p:spPr/>
        <p:txBody>
          <a:bodyPr/>
          <a:lstStyle/>
          <a:p>
            <a:endParaRPr lang="en-US"/>
          </a:p>
        </p:txBody>
      </p:sp>
      <p:pic>
        <p:nvPicPr>
          <p:cNvPr id="10" name="Picture 9">
            <a:extLst>
              <a:ext uri="{FF2B5EF4-FFF2-40B4-BE49-F238E27FC236}">
                <a16:creationId xmlns:a16="http://schemas.microsoft.com/office/drawing/2014/main" id="{C086FC1E-2F58-4A43-A198-DCD95C67B6A7}"/>
              </a:ext>
            </a:extLst>
          </p:cNvPr>
          <p:cNvPicPr>
            <a:picLocks noChangeAspect="1"/>
          </p:cNvPicPr>
          <p:nvPr/>
        </p:nvPicPr>
        <p:blipFill>
          <a:blip r:embed="rId2"/>
          <a:stretch>
            <a:fillRect/>
          </a:stretch>
        </p:blipFill>
        <p:spPr>
          <a:xfrm>
            <a:off x="457199" y="209340"/>
            <a:ext cx="8243385" cy="4267409"/>
          </a:xfrm>
          <a:prstGeom prst="rect">
            <a:avLst/>
          </a:prstGeom>
        </p:spPr>
      </p:pic>
    </p:spTree>
    <p:extLst>
      <p:ext uri="{BB962C8B-B14F-4D97-AF65-F5344CB8AC3E}">
        <p14:creationId xmlns:p14="http://schemas.microsoft.com/office/powerpoint/2010/main" val="20719304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2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C42ED48D-8BF1-4AF9-87C0-92187D0E0260}"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45</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B20E3B9D-2481-4336-9EA4-6254FA7AD9F8}"/>
              </a:ext>
            </a:extLst>
          </p:cNvPr>
          <p:cNvPicPr>
            <a:picLocks noChangeAspect="1"/>
          </p:cNvPicPr>
          <p:nvPr/>
        </p:nvPicPr>
        <p:blipFill>
          <a:blip r:embed="rId2"/>
          <a:stretch>
            <a:fillRect/>
          </a:stretch>
        </p:blipFill>
        <p:spPr>
          <a:xfrm>
            <a:off x="457200" y="436364"/>
            <a:ext cx="8194114" cy="2516386"/>
          </a:xfrm>
          <a:prstGeom prst="rect">
            <a:avLst/>
          </a:prstGeom>
        </p:spPr>
      </p:pic>
    </p:spTree>
    <p:extLst>
      <p:ext uri="{BB962C8B-B14F-4D97-AF65-F5344CB8AC3E}">
        <p14:creationId xmlns:p14="http://schemas.microsoft.com/office/powerpoint/2010/main" val="256885810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Summary</a:t>
            </a:r>
          </a:p>
        </p:txBody>
      </p:sp>
      <p:sp>
        <p:nvSpPr>
          <p:cNvPr id="3" name="Content Placeholder 2"/>
          <p:cNvSpPr>
            <a:spLocks noGrp="1"/>
          </p:cNvSpPr>
          <p:nvPr>
            <p:ph idx="1"/>
          </p:nvPr>
        </p:nvSpPr>
        <p:spPr>
          <a:xfrm>
            <a:off x="457200" y="742950"/>
            <a:ext cx="8229600" cy="3851673"/>
          </a:xfrm>
        </p:spPr>
        <p:txBody>
          <a:bodyPr>
            <a:normAutofit/>
          </a:bodyPr>
          <a:lstStyle/>
          <a:p>
            <a:endParaRPr lang="en-US" sz="2000" dirty="0"/>
          </a:p>
        </p:txBody>
      </p:sp>
      <p:sp>
        <p:nvSpPr>
          <p:cNvPr id="4" name="Date Placeholder 3"/>
          <p:cNvSpPr>
            <a:spLocks noGrp="1"/>
          </p:cNvSpPr>
          <p:nvPr>
            <p:ph type="dt" sz="half" idx="10"/>
          </p:nvPr>
        </p:nvSpPr>
        <p:spPr/>
        <p:txBody>
          <a:bodyPr/>
          <a:lstStyle/>
          <a:p>
            <a:fld id="{DB5491FF-9B5E-40D8-9C6B-B94B78DB7789}"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46</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pic>
        <p:nvPicPr>
          <p:cNvPr id="7" name="Picture 6">
            <a:extLst>
              <a:ext uri="{FF2B5EF4-FFF2-40B4-BE49-F238E27FC236}">
                <a16:creationId xmlns:a16="http://schemas.microsoft.com/office/drawing/2014/main" id="{D4B2B184-E31B-4EAE-9194-E0C7D10ACA5F}"/>
              </a:ext>
            </a:extLst>
          </p:cNvPr>
          <p:cNvPicPr/>
          <p:nvPr/>
        </p:nvPicPr>
        <p:blipFill>
          <a:blip r:embed="rId2"/>
          <a:stretch>
            <a:fillRect/>
          </a:stretch>
        </p:blipFill>
        <p:spPr>
          <a:xfrm>
            <a:off x="470646" y="742950"/>
            <a:ext cx="8229599" cy="3505200"/>
          </a:xfrm>
          <a:prstGeom prst="rect">
            <a:avLst/>
          </a:prstGeom>
        </p:spPr>
      </p:pic>
    </p:spTree>
    <p:extLst>
      <p:ext uri="{BB962C8B-B14F-4D97-AF65-F5344CB8AC3E}">
        <p14:creationId xmlns:p14="http://schemas.microsoft.com/office/powerpoint/2010/main" val="79896505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1.11  Design Issues for ISA</a:t>
            </a:r>
          </a:p>
        </p:txBody>
      </p:sp>
      <p:sp>
        <p:nvSpPr>
          <p:cNvPr id="3" name="Content Placeholder 2"/>
          <p:cNvSpPr>
            <a:spLocks noGrp="1"/>
          </p:cNvSpPr>
          <p:nvPr>
            <p:ph idx="1"/>
          </p:nvPr>
        </p:nvSpPr>
        <p:spPr>
          <a:xfrm>
            <a:off x="457200" y="742950"/>
            <a:ext cx="8229600" cy="3851673"/>
          </a:xfrm>
        </p:spPr>
        <p:txBody>
          <a:bodyPr>
            <a:normAutofit/>
          </a:bodyPr>
          <a:lstStyle/>
          <a:p>
            <a:pPr lvl="0"/>
            <a:r>
              <a:rPr lang="en-US" sz="2000" b="1" dirty="0"/>
              <a:t>Operation repertoire:</a:t>
            </a:r>
            <a:r>
              <a:rPr lang="en-US" sz="2000" dirty="0"/>
              <a:t> How many and which operations to provide, and how complex operations should be </a:t>
            </a:r>
          </a:p>
          <a:p>
            <a:pPr lvl="0"/>
            <a:r>
              <a:rPr lang="en-US" sz="2000" b="1" dirty="0"/>
              <a:t>Data types:</a:t>
            </a:r>
            <a:r>
              <a:rPr lang="en-US" sz="2000" dirty="0"/>
              <a:t> The various types of data upon which operations are performed </a:t>
            </a:r>
          </a:p>
          <a:p>
            <a:pPr lvl="0"/>
            <a:r>
              <a:rPr lang="en-US" sz="2000" b="1" dirty="0"/>
              <a:t>Instruction format:</a:t>
            </a:r>
            <a:r>
              <a:rPr lang="en-US" sz="2000" dirty="0"/>
              <a:t> Instruction length (in bits), number of addresses, size of various fields, and so on</a:t>
            </a:r>
          </a:p>
          <a:p>
            <a:pPr lvl="0"/>
            <a:r>
              <a:rPr lang="en-US" sz="2000" b="1" dirty="0"/>
              <a:t>Registers:</a:t>
            </a:r>
            <a:r>
              <a:rPr lang="en-US" sz="2000" dirty="0"/>
              <a:t> Number of processor registers that can be referenced by instructions, and their use </a:t>
            </a:r>
          </a:p>
          <a:p>
            <a:pPr lvl="0"/>
            <a:r>
              <a:rPr lang="en-US" sz="2000" b="1" dirty="0"/>
              <a:t>Addressing:</a:t>
            </a:r>
            <a:r>
              <a:rPr lang="en-US" sz="2000" dirty="0"/>
              <a:t> The mode or modes by which the address of an operand is specified </a:t>
            </a:r>
          </a:p>
        </p:txBody>
      </p:sp>
      <p:sp>
        <p:nvSpPr>
          <p:cNvPr id="4" name="Date Placeholder 3"/>
          <p:cNvSpPr>
            <a:spLocks noGrp="1"/>
          </p:cNvSpPr>
          <p:nvPr>
            <p:ph type="dt" sz="half" idx="10"/>
          </p:nvPr>
        </p:nvSpPr>
        <p:spPr/>
        <p:txBody>
          <a:bodyPr/>
          <a:lstStyle/>
          <a:p>
            <a:fld id="{9485BE9D-1098-4505-8F6A-F004B6C10E93}"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47</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145239448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Assignment:</a:t>
            </a:r>
          </a:p>
        </p:txBody>
      </p:sp>
      <p:sp>
        <p:nvSpPr>
          <p:cNvPr id="3" name="Content Placeholder 2"/>
          <p:cNvSpPr>
            <a:spLocks noGrp="1"/>
          </p:cNvSpPr>
          <p:nvPr>
            <p:ph idx="1"/>
          </p:nvPr>
        </p:nvSpPr>
        <p:spPr>
          <a:xfrm>
            <a:off x="457200" y="742950"/>
            <a:ext cx="8229600" cy="3851673"/>
          </a:xfrm>
        </p:spPr>
        <p:txBody>
          <a:bodyPr>
            <a:normAutofit/>
          </a:bodyPr>
          <a:lstStyle/>
          <a:p>
            <a:pPr marL="457200" indent="-457200">
              <a:buFont typeface="+mj-lt"/>
              <a:buAutoNum type="arabicPeriod"/>
            </a:pPr>
            <a:r>
              <a:rPr lang="en-US" sz="2000" dirty="0"/>
              <a:t>Show the code to perform the computation X=A+(B*C)+D  using microprocessors that use the following instruction format.</a:t>
            </a:r>
          </a:p>
          <a:p>
            <a:pPr marL="857250" lvl="1" indent="-457200">
              <a:buFont typeface="+mj-lt"/>
              <a:buAutoNum type="alphaLcParenR"/>
            </a:pPr>
            <a:r>
              <a:rPr lang="en-US" sz="1600" dirty="0"/>
              <a:t>Three-operand instructions</a:t>
            </a:r>
          </a:p>
          <a:p>
            <a:pPr marL="857250" lvl="1" indent="-457200">
              <a:buFont typeface="+mj-lt"/>
              <a:buAutoNum type="alphaLcParenR"/>
            </a:pPr>
            <a:r>
              <a:rPr lang="en-US" sz="1600" dirty="0"/>
              <a:t>Two-operand instructions</a:t>
            </a:r>
          </a:p>
          <a:p>
            <a:pPr marL="857250" lvl="1" indent="-457200">
              <a:buFont typeface="+mj-lt"/>
              <a:buAutoNum type="alphaLcParenR"/>
            </a:pPr>
            <a:r>
              <a:rPr lang="en-US" sz="1600" dirty="0"/>
              <a:t>One-operand instructions</a:t>
            </a:r>
          </a:p>
          <a:p>
            <a:pPr marL="857250" lvl="1" indent="-457200">
              <a:buFont typeface="+mj-lt"/>
              <a:buAutoNum type="alphaLcParenR"/>
            </a:pPr>
            <a:r>
              <a:rPr lang="en-US" sz="1600" dirty="0"/>
              <a:t>Zero-operand instructions</a:t>
            </a:r>
          </a:p>
          <a:p>
            <a:pPr marL="457200" indent="-457200">
              <a:buFont typeface="+mj-lt"/>
              <a:buAutoNum type="arabicPeriod"/>
            </a:pPr>
            <a:r>
              <a:rPr lang="en-US" sz="2000" dirty="0"/>
              <a:t>What is ISA? Write down the factors to be considered while designing ISA.</a:t>
            </a:r>
          </a:p>
          <a:p>
            <a:pPr marL="457200" indent="-457200">
              <a:buFont typeface="+mj-lt"/>
              <a:buAutoNum type="arabicPeriod"/>
            </a:pPr>
            <a:r>
              <a:rPr lang="en-US" sz="2000" dirty="0"/>
              <a:t>Explain the Assembling and the Compiling process with block diagram.</a:t>
            </a:r>
          </a:p>
        </p:txBody>
      </p:sp>
      <p:sp>
        <p:nvSpPr>
          <p:cNvPr id="4" name="Date Placeholder 3"/>
          <p:cNvSpPr>
            <a:spLocks noGrp="1"/>
          </p:cNvSpPr>
          <p:nvPr>
            <p:ph type="dt" sz="half" idx="10"/>
          </p:nvPr>
        </p:nvSpPr>
        <p:spPr/>
        <p:txBody>
          <a:bodyPr/>
          <a:lstStyle/>
          <a:p>
            <a:fld id="{9485BE9D-1098-4505-8F6A-F004B6C10E93}"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48</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153751499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r>
              <a:rPr lang="en-US" sz="3200" b="1" dirty="0">
                <a:solidFill>
                  <a:srgbClr val="FF0000"/>
                </a:solidFill>
              </a:rPr>
              <a:t>Exam questions:</a:t>
            </a:r>
          </a:p>
        </p:txBody>
      </p:sp>
      <p:sp>
        <p:nvSpPr>
          <p:cNvPr id="3" name="Content Placeholder 2"/>
          <p:cNvSpPr>
            <a:spLocks noGrp="1"/>
          </p:cNvSpPr>
          <p:nvPr>
            <p:ph idx="1"/>
          </p:nvPr>
        </p:nvSpPr>
        <p:spPr>
          <a:xfrm>
            <a:off x="457200" y="742950"/>
            <a:ext cx="8229600" cy="3851673"/>
          </a:xfrm>
        </p:spPr>
        <p:txBody>
          <a:bodyPr>
            <a:normAutofit/>
          </a:bodyPr>
          <a:lstStyle/>
          <a:p>
            <a:pPr marL="514350" indent="-514350">
              <a:buFont typeface="+mj-lt"/>
              <a:buAutoNum type="arabicPeriod"/>
            </a:pPr>
            <a:r>
              <a:rPr lang="en-US" sz="2000" dirty="0"/>
              <a:t>Describe the process of assembling the program in low level language. [PU 2017 Fall]</a:t>
            </a:r>
          </a:p>
          <a:p>
            <a:pPr marL="514350" indent="-514350">
              <a:buFont typeface="+mj-lt"/>
              <a:buAutoNum type="arabicPeriod"/>
            </a:pPr>
            <a:r>
              <a:rPr lang="en-US" sz="2000" dirty="0"/>
              <a:t>Describe in brief with an arbitrary illustration, how addressing modes works. [PU 2017 Spring]</a:t>
            </a:r>
          </a:p>
          <a:p>
            <a:pPr marL="514350" indent="-514350">
              <a:buFont typeface="+mj-lt"/>
              <a:buAutoNum type="arabicPeriod"/>
            </a:pPr>
            <a:r>
              <a:rPr lang="en-US" sz="2000" dirty="0"/>
              <a:t>Describe about ISA. What are the considerations to be made while ISA design? [PU 2018 Fall]</a:t>
            </a:r>
          </a:p>
          <a:p>
            <a:pPr marL="514350" indent="-514350">
              <a:buFont typeface="+mj-lt"/>
              <a:buAutoNum type="arabicPeriod"/>
            </a:pPr>
            <a:r>
              <a:rPr lang="en-US" sz="2000" dirty="0"/>
              <a:t>Describe the different types of addressing modes with illustration. [PU 2018 Spring]</a:t>
            </a:r>
          </a:p>
          <a:p>
            <a:pPr marL="514350" indent="-514350">
              <a:buFont typeface="+mj-lt"/>
              <a:buAutoNum type="arabicPeriod"/>
            </a:pPr>
            <a:r>
              <a:rPr lang="en-US" sz="2000" dirty="0"/>
              <a:t>Describe the different types of instruction formats. [PU 2019 Spring]</a:t>
            </a:r>
          </a:p>
          <a:p>
            <a:pPr marL="514350" indent="-514350">
              <a:buFont typeface="+mj-lt"/>
              <a:buAutoNum type="arabicPeriod"/>
            </a:pPr>
            <a:r>
              <a:rPr lang="en-US" sz="2000" dirty="0"/>
              <a:t>Explain different types of addressing modes used in computer system, along with their usages and application [PU 2020 </a:t>
            </a:r>
            <a:r>
              <a:rPr lang="en-US" sz="2000"/>
              <a:t>Spring]</a:t>
            </a:r>
            <a:endParaRPr lang="en-US" sz="2000" dirty="0"/>
          </a:p>
        </p:txBody>
      </p:sp>
      <p:sp>
        <p:nvSpPr>
          <p:cNvPr id="4" name="Date Placeholder 3"/>
          <p:cNvSpPr>
            <a:spLocks noGrp="1"/>
          </p:cNvSpPr>
          <p:nvPr>
            <p:ph type="dt" sz="half" idx="10"/>
          </p:nvPr>
        </p:nvSpPr>
        <p:spPr/>
        <p:txBody>
          <a:bodyPr/>
          <a:lstStyle/>
          <a:p>
            <a:fld id="{9485BE9D-1098-4505-8F6A-F004B6C10E93}" type="datetime1">
              <a:rPr lang="en-US" smtClean="0">
                <a:solidFill>
                  <a:srgbClr val="00B050"/>
                </a:solidFill>
              </a:rPr>
              <a:t>5/4/2023</a:t>
            </a:fld>
            <a:endParaRPr lang="en-US" dirty="0">
              <a:solidFill>
                <a:srgbClr val="00B050"/>
              </a:solidFill>
            </a:endParaRPr>
          </a:p>
        </p:txBody>
      </p:sp>
      <p:sp>
        <p:nvSpPr>
          <p:cNvPr id="5" name="Slide Number Placeholder 4"/>
          <p:cNvSpPr>
            <a:spLocks noGrp="1"/>
          </p:cNvSpPr>
          <p:nvPr>
            <p:ph type="sldNum" sz="quarter" idx="12"/>
          </p:nvPr>
        </p:nvSpPr>
        <p:spPr/>
        <p:txBody>
          <a:bodyPr/>
          <a:lstStyle/>
          <a:p>
            <a:fld id="{B6F15528-21DE-4FAA-801E-634DDDAF4B2B}" type="slidenum">
              <a:rPr lang="en-US" smtClean="0">
                <a:solidFill>
                  <a:srgbClr val="00B050"/>
                </a:solidFill>
              </a:rPr>
              <a:pPr/>
              <a:t>49</a:t>
            </a:fld>
            <a:endParaRPr lang="en-US" dirty="0">
              <a:solidFill>
                <a:srgbClr val="00B050"/>
              </a:solidFill>
            </a:endParaRPr>
          </a:p>
        </p:txBody>
      </p:sp>
      <p:sp>
        <p:nvSpPr>
          <p:cNvPr id="6" name="Footer Placeholder 5"/>
          <p:cNvSpPr>
            <a:spLocks noGrp="1"/>
          </p:cNvSpPr>
          <p:nvPr>
            <p:ph type="ftr" sz="quarter" idx="11"/>
          </p:nvPr>
        </p:nvSpPr>
        <p:spPr/>
        <p:txBody>
          <a:bodyPr/>
          <a:lstStyle/>
          <a:p>
            <a:r>
              <a:rPr lang="en-US">
                <a:solidFill>
                  <a:srgbClr val="00B050"/>
                </a:solidFill>
              </a:rPr>
              <a:t>Instruction Set Architecture, COA, BSE VI</a:t>
            </a:r>
            <a:endParaRPr lang="en-US" dirty="0">
              <a:solidFill>
                <a:srgbClr val="00B050"/>
              </a:solidFill>
            </a:endParaRPr>
          </a:p>
        </p:txBody>
      </p:sp>
    </p:spTree>
    <p:extLst>
      <p:ext uri="{BB962C8B-B14F-4D97-AF65-F5344CB8AC3E}">
        <p14:creationId xmlns:p14="http://schemas.microsoft.com/office/powerpoint/2010/main" val="379257214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460771"/>
          </a:xfrm>
        </p:spPr>
        <p:txBody>
          <a:bodyPr>
            <a:noAutofit/>
          </a:bodyPr>
          <a:lstStyle/>
          <a:p>
            <a:pPr algn="l">
              <a:tabLst>
                <a:tab pos="463550" algn="l"/>
              </a:tabLst>
            </a:pPr>
            <a:endParaRPr lang="en-US" sz="3600" b="1" dirty="0">
              <a:solidFill>
                <a:srgbClr val="FF0000"/>
              </a:solidFill>
            </a:endParaRPr>
          </a:p>
        </p:txBody>
      </p:sp>
      <p:sp>
        <p:nvSpPr>
          <p:cNvPr id="3" name="Content Placeholder 2"/>
          <p:cNvSpPr>
            <a:spLocks noGrp="1"/>
          </p:cNvSpPr>
          <p:nvPr>
            <p:ph idx="1"/>
          </p:nvPr>
        </p:nvSpPr>
        <p:spPr>
          <a:xfrm>
            <a:off x="457200" y="742950"/>
            <a:ext cx="8229600" cy="3851673"/>
          </a:xfrm>
        </p:spPr>
        <p:txBody>
          <a:bodyPr>
            <a:normAutofit/>
          </a:bodyPr>
          <a:lstStyle/>
          <a:p>
            <a:pPr marL="0" indent="0">
              <a:buNone/>
            </a:pPr>
            <a:endParaRPr lang="en-US" sz="3600" b="1" dirty="0">
              <a:solidFill>
                <a:srgbClr val="00B050"/>
              </a:solidFill>
            </a:endParaRPr>
          </a:p>
          <a:p>
            <a:pPr marL="0" indent="0" algn="ctr">
              <a:buNone/>
            </a:pPr>
            <a:endParaRPr lang="en-US" sz="3600" b="1" dirty="0">
              <a:solidFill>
                <a:srgbClr val="00B050"/>
              </a:solidFill>
            </a:endParaRPr>
          </a:p>
          <a:p>
            <a:pPr marL="0" indent="0" algn="ctr">
              <a:buNone/>
            </a:pPr>
            <a:r>
              <a:rPr lang="en-US" sz="3600" b="1" dirty="0">
                <a:solidFill>
                  <a:srgbClr val="00B050"/>
                </a:solidFill>
              </a:rPr>
              <a:t>End of chapter 1</a:t>
            </a:r>
            <a:endParaRPr lang="en-US" sz="3600" dirty="0">
              <a:solidFill>
                <a:srgbClr val="00B050"/>
              </a:solidFill>
            </a:endParaRPr>
          </a:p>
        </p:txBody>
      </p:sp>
      <p:sp>
        <p:nvSpPr>
          <p:cNvPr id="4" name="Date Placeholder 3"/>
          <p:cNvSpPr>
            <a:spLocks noGrp="1"/>
          </p:cNvSpPr>
          <p:nvPr>
            <p:ph type="dt" sz="half" idx="10"/>
          </p:nvPr>
        </p:nvSpPr>
        <p:spPr/>
        <p:txBody>
          <a:bodyPr/>
          <a:lstStyle/>
          <a:p>
            <a:fld id="{E475E5EE-002F-451F-8838-00ADD1877DE1}" type="datetime1">
              <a:rPr lang="en-US" smtClean="0"/>
              <a:t>5/4/2023</a:t>
            </a:fld>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50</a:t>
            </a:fld>
            <a:endParaRPr lang="en-US"/>
          </a:p>
        </p:txBody>
      </p:sp>
      <p:sp>
        <p:nvSpPr>
          <p:cNvPr id="6" name="Footer Placeholder 5"/>
          <p:cNvSpPr>
            <a:spLocks noGrp="1"/>
          </p:cNvSpPr>
          <p:nvPr>
            <p:ph type="ftr" sz="quarter" idx="11"/>
          </p:nvPr>
        </p:nvSpPr>
        <p:spPr/>
        <p:txBody>
          <a:bodyPr/>
          <a:lstStyle/>
          <a:p>
            <a:r>
              <a:rPr lang="en-US"/>
              <a:t>Instruction Set Architecture, COA, BSE VI</a:t>
            </a:r>
          </a:p>
        </p:txBody>
      </p:sp>
    </p:spTree>
    <p:extLst>
      <p:ext uri="{BB962C8B-B14F-4D97-AF65-F5344CB8AC3E}">
        <p14:creationId xmlns:p14="http://schemas.microsoft.com/office/powerpoint/2010/main" val="394211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2066</TotalTime>
  <Words>2925</Words>
  <Application>Microsoft Office PowerPoint</Application>
  <PresentationFormat>On-screen Show (16:9)</PresentationFormat>
  <Paragraphs>354</Paragraphs>
  <Slides>50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50</vt:i4>
      </vt:variant>
    </vt:vector>
  </HeadingPairs>
  <TitlesOfParts>
    <vt:vector size="54" baseType="lpstr">
      <vt:lpstr>Arial</vt:lpstr>
      <vt:lpstr>Calibri</vt:lpstr>
      <vt:lpstr>Times New Roman</vt:lpstr>
      <vt:lpstr>Office Theme</vt:lpstr>
      <vt:lpstr>Chapter 1 Instruction Set Architecture</vt:lpstr>
      <vt:lpstr>PowerPoint Presentation</vt:lpstr>
      <vt:lpstr>Contents:</vt:lpstr>
      <vt:lpstr>1.1 Computer Organization</vt:lpstr>
      <vt:lpstr>1.2 Computer Architecture</vt:lpstr>
      <vt:lpstr>CO vs CA</vt:lpstr>
      <vt:lpstr>CO vs CA</vt:lpstr>
      <vt:lpstr>1.3 Levels of Programming language</vt:lpstr>
      <vt:lpstr>1. Low-level language</vt:lpstr>
      <vt:lpstr>a) Machine language</vt:lpstr>
      <vt:lpstr>PowerPoint Presentation</vt:lpstr>
      <vt:lpstr>b) Assembly language</vt:lpstr>
      <vt:lpstr>PowerPoint Presentation</vt:lpstr>
      <vt:lpstr>2. High Level Language</vt:lpstr>
      <vt:lpstr>PowerPoint Presentation</vt:lpstr>
      <vt:lpstr>1.4 The Compilation process</vt:lpstr>
      <vt:lpstr>PowerPoint Presentation</vt:lpstr>
      <vt:lpstr>1.5 Instruction set Architecture (ISA)</vt:lpstr>
      <vt:lpstr>1.5 Instruction set Architecture (ISA)</vt:lpstr>
      <vt:lpstr> Instruction Set </vt:lpstr>
      <vt:lpstr>1.6. Opcode and Operands</vt:lpstr>
      <vt:lpstr>Elements of an instruction</vt:lpstr>
      <vt:lpstr>1.7. Operands data types</vt:lpstr>
      <vt:lpstr>1.7. Operands data types (Contd.)</vt:lpstr>
      <vt:lpstr>1.8 Instruction type</vt:lpstr>
      <vt:lpstr>1. Data Transfer Instructions</vt:lpstr>
      <vt:lpstr>2. Data Processing (or manipulation) instructions</vt:lpstr>
      <vt:lpstr>2. Data Processing instructions (Contd.)</vt:lpstr>
      <vt:lpstr>2. Data Processing instructions (Contd.)</vt:lpstr>
      <vt:lpstr>Logical shift operations</vt:lpstr>
      <vt:lpstr>3. Program sequencing and control instructions</vt:lpstr>
      <vt:lpstr>4. Miscellaneous Instructions</vt:lpstr>
      <vt:lpstr>1.9  Address Instruction Formats</vt:lpstr>
      <vt:lpstr>PowerPoint Presentation</vt:lpstr>
      <vt:lpstr>PowerPoint Presentation</vt:lpstr>
      <vt:lpstr>PowerPoint Presentation</vt:lpstr>
      <vt:lpstr>PowerPoint Presentation</vt:lpstr>
      <vt:lpstr>1.10  Addressing Modes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lpstr>1.11  Design Issues for ISA</vt:lpstr>
      <vt:lpstr>Assignment:</vt:lpstr>
      <vt:lpstr>Exam questions: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shiva</dc:creator>
  <cp:lastModifiedBy>Shiva Ram Dam</cp:lastModifiedBy>
  <cp:revision>150</cp:revision>
  <dcterms:created xsi:type="dcterms:W3CDTF">2006-08-16T00:00:00Z</dcterms:created>
  <dcterms:modified xsi:type="dcterms:W3CDTF">2023-05-04T08:55:13Z</dcterms:modified>
</cp:coreProperties>
</file>