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256" r:id="rId2"/>
    <p:sldId id="257" r:id="rId3"/>
    <p:sldId id="351" r:id="rId4"/>
    <p:sldId id="305" r:id="rId5"/>
    <p:sldId id="352" r:id="rId6"/>
    <p:sldId id="379" r:id="rId7"/>
    <p:sldId id="380" r:id="rId8"/>
    <p:sldId id="374" r:id="rId9"/>
    <p:sldId id="399" r:id="rId10"/>
    <p:sldId id="383" r:id="rId11"/>
    <p:sldId id="382" r:id="rId12"/>
    <p:sldId id="388" r:id="rId13"/>
    <p:sldId id="391" r:id="rId14"/>
    <p:sldId id="392" r:id="rId15"/>
    <p:sldId id="393" r:id="rId16"/>
    <p:sldId id="396" r:id="rId17"/>
    <p:sldId id="376" r:id="rId18"/>
    <p:sldId id="400" r:id="rId19"/>
    <p:sldId id="402" r:id="rId20"/>
    <p:sldId id="403" r:id="rId21"/>
    <p:sldId id="404" r:id="rId22"/>
    <p:sldId id="377" r:id="rId23"/>
    <p:sldId id="397" r:id="rId24"/>
    <p:sldId id="398" r:id="rId25"/>
    <p:sldId id="353" r:id="rId26"/>
    <p:sldId id="354" r:id="rId27"/>
    <p:sldId id="355" r:id="rId28"/>
    <p:sldId id="405" r:id="rId29"/>
    <p:sldId id="407" r:id="rId30"/>
    <p:sldId id="378" r:id="rId31"/>
    <p:sldId id="357" r:id="rId32"/>
    <p:sldId id="356" r:id="rId33"/>
    <p:sldId id="358" r:id="rId34"/>
    <p:sldId id="365" r:id="rId35"/>
    <p:sldId id="401" r:id="rId36"/>
    <p:sldId id="410" r:id="rId37"/>
    <p:sldId id="408" r:id="rId38"/>
    <p:sldId id="409" r:id="rId39"/>
    <p:sldId id="367" r:id="rId40"/>
    <p:sldId id="368" r:id="rId41"/>
    <p:sldId id="411" r:id="rId42"/>
    <p:sldId id="369" r:id="rId43"/>
    <p:sldId id="370" r:id="rId44"/>
    <p:sldId id="394" r:id="rId45"/>
    <p:sldId id="395" r:id="rId46"/>
    <p:sldId id="413" r:id="rId47"/>
    <p:sldId id="414" r:id="rId48"/>
    <p:sldId id="415" r:id="rId49"/>
    <p:sldId id="359" r:id="rId50"/>
    <p:sldId id="416" r:id="rId51"/>
    <p:sldId id="360" r:id="rId52"/>
    <p:sldId id="361" r:id="rId53"/>
    <p:sldId id="362" r:id="rId54"/>
    <p:sldId id="363" r:id="rId55"/>
    <p:sldId id="364" r:id="rId56"/>
    <p:sldId id="350" r:id="rId5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FB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38" autoAdjust="0"/>
  </p:normalViewPr>
  <p:slideViewPr>
    <p:cSldViewPr>
      <p:cViewPr varScale="1">
        <p:scale>
          <a:sx n="95" d="100"/>
          <a:sy n="95" d="100"/>
        </p:scale>
        <p:origin x="115" y="62"/>
      </p:cViewPr>
      <p:guideLst>
        <p:guide orient="horz" pos="1620"/>
        <p:guide pos="2880"/>
      </p:guideLst>
    </p:cSldViewPr>
  </p:slideViewPr>
  <p:outlineViewPr>
    <p:cViewPr>
      <p:scale>
        <a:sx n="33" d="100"/>
        <a:sy n="33" d="100"/>
      </p:scale>
      <p:origin x="0" y="-32525"/>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98897-BDF1-4279-BA28-06DD7EC1DE0C}" type="datetimeFigureOut">
              <a:rPr lang="en-US" smtClean="0"/>
              <a:pPr/>
              <a:t>7/31/2023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78CF50-4ED8-4D7B-8802-3C44BEF0A8F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JREL </a:t>
            </a:r>
          </a:p>
        </p:txBody>
      </p:sp>
      <p:sp>
        <p:nvSpPr>
          <p:cNvPr id="4" name="Slide Number Placeholder 3"/>
          <p:cNvSpPr>
            <a:spLocks noGrp="1"/>
          </p:cNvSpPr>
          <p:nvPr>
            <p:ph type="sldNum" sz="quarter" idx="5"/>
          </p:nvPr>
        </p:nvSpPr>
        <p:spPr/>
        <p:txBody>
          <a:bodyPr/>
          <a:lstStyle/>
          <a:p>
            <a:fld id="{0378CF50-4ED8-4D7B-8802-3C44BEF0A8F3}" type="slidenum">
              <a:rPr lang="en-US" smtClean="0"/>
              <a:pPr/>
              <a:t>45</a:t>
            </a:fld>
            <a:endParaRPr lang="en-US"/>
          </a:p>
        </p:txBody>
      </p:sp>
    </p:spTree>
    <p:extLst>
      <p:ext uri="{BB962C8B-B14F-4D97-AF65-F5344CB8AC3E}">
        <p14:creationId xmlns:p14="http://schemas.microsoft.com/office/powerpoint/2010/main" val="791350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B48D9A4-7BD6-4F3D-A434-86755F4A74DD}" type="datetime1">
              <a:rPr lang="en-US" smtClean="0"/>
              <a:t>7/31/2023</a:t>
            </a:fld>
            <a:endParaRPr lang="en-US"/>
          </a:p>
        </p:txBody>
      </p:sp>
      <p:sp>
        <p:nvSpPr>
          <p:cNvPr id="5" name="Footer Placeholder 4"/>
          <p:cNvSpPr>
            <a:spLocks noGrp="1"/>
          </p:cNvSpPr>
          <p:nvPr>
            <p:ph type="ftr" sz="quarter" idx="11"/>
          </p:nvPr>
        </p:nvSpPr>
        <p:spPr/>
        <p:txBody>
          <a:bodyPr/>
          <a:lstStyle/>
          <a:p>
            <a:r>
              <a:rPr lang="en-US"/>
              <a:t>CPU Design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E2F6CD-1A96-4433-A5BB-CF2D6EEEA668}" type="datetime1">
              <a:rPr lang="en-US" smtClean="0"/>
              <a:t>7/31/2023</a:t>
            </a:fld>
            <a:endParaRPr lang="en-US"/>
          </a:p>
        </p:txBody>
      </p:sp>
      <p:sp>
        <p:nvSpPr>
          <p:cNvPr id="5" name="Footer Placeholder 4"/>
          <p:cNvSpPr>
            <a:spLocks noGrp="1"/>
          </p:cNvSpPr>
          <p:nvPr>
            <p:ph type="ftr" sz="quarter" idx="11"/>
          </p:nvPr>
        </p:nvSpPr>
        <p:spPr/>
        <p:txBody>
          <a:bodyPr/>
          <a:lstStyle/>
          <a:p>
            <a:r>
              <a:rPr lang="en-US"/>
              <a:t>CPU Design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5FDC40-8302-46C2-974D-E118F2613152}" type="datetime1">
              <a:rPr lang="en-US" smtClean="0"/>
              <a:t>7/31/2023</a:t>
            </a:fld>
            <a:endParaRPr lang="en-US"/>
          </a:p>
        </p:txBody>
      </p:sp>
      <p:sp>
        <p:nvSpPr>
          <p:cNvPr id="5" name="Footer Placeholder 4"/>
          <p:cNvSpPr>
            <a:spLocks noGrp="1"/>
          </p:cNvSpPr>
          <p:nvPr>
            <p:ph type="ftr" sz="quarter" idx="11"/>
          </p:nvPr>
        </p:nvSpPr>
        <p:spPr/>
        <p:txBody>
          <a:bodyPr/>
          <a:lstStyle/>
          <a:p>
            <a:r>
              <a:rPr lang="en-US"/>
              <a:t>CPU Design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47FFCF-B8EB-4CE7-B303-50BBB5D2DC1B}" type="datetime1">
              <a:rPr lang="en-US" smtClean="0"/>
              <a:t>7/31/2023</a:t>
            </a:fld>
            <a:endParaRPr lang="en-US"/>
          </a:p>
        </p:txBody>
      </p:sp>
      <p:sp>
        <p:nvSpPr>
          <p:cNvPr id="6" name="Footer Placeholder 5"/>
          <p:cNvSpPr>
            <a:spLocks noGrp="1"/>
          </p:cNvSpPr>
          <p:nvPr>
            <p:ph type="ftr" sz="quarter" idx="11"/>
          </p:nvPr>
        </p:nvSpPr>
        <p:spPr/>
        <p:txBody>
          <a:bodyPr/>
          <a:lstStyle/>
          <a:p>
            <a:r>
              <a:rPr lang="en-US"/>
              <a:t>CPU Design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447789-D97F-47D8-8A81-4832ADE77434}" type="datetime1">
              <a:rPr lang="en-US" smtClean="0"/>
              <a:t>7/31/2023</a:t>
            </a:fld>
            <a:endParaRPr lang="en-US"/>
          </a:p>
        </p:txBody>
      </p:sp>
      <p:sp>
        <p:nvSpPr>
          <p:cNvPr id="8" name="Footer Placeholder 7"/>
          <p:cNvSpPr>
            <a:spLocks noGrp="1"/>
          </p:cNvSpPr>
          <p:nvPr>
            <p:ph type="ftr" sz="quarter" idx="11"/>
          </p:nvPr>
        </p:nvSpPr>
        <p:spPr/>
        <p:txBody>
          <a:bodyPr/>
          <a:lstStyle/>
          <a:p>
            <a:r>
              <a:rPr lang="en-US"/>
              <a:t>CPU Design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8AE42E-BB4D-4E74-8B0F-5EB21591C3E1}" type="datetime1">
              <a:rPr lang="en-US" smtClean="0"/>
              <a:t>7/31/2023</a:t>
            </a:fld>
            <a:endParaRPr lang="en-US"/>
          </a:p>
        </p:txBody>
      </p:sp>
      <p:sp>
        <p:nvSpPr>
          <p:cNvPr id="4" name="Footer Placeholder 3"/>
          <p:cNvSpPr>
            <a:spLocks noGrp="1"/>
          </p:cNvSpPr>
          <p:nvPr>
            <p:ph type="ftr" sz="quarter" idx="11"/>
          </p:nvPr>
        </p:nvSpPr>
        <p:spPr/>
        <p:txBody>
          <a:bodyPr/>
          <a:lstStyle/>
          <a:p>
            <a:r>
              <a:rPr lang="en-US"/>
              <a:t>CPU Design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F0D346-5C56-4BCB-A660-66ADE9B392F9}" type="datetime1">
              <a:rPr lang="en-US" smtClean="0"/>
              <a:t>7/31/2023</a:t>
            </a:fld>
            <a:endParaRPr lang="en-US"/>
          </a:p>
        </p:txBody>
      </p:sp>
      <p:sp>
        <p:nvSpPr>
          <p:cNvPr id="3" name="Footer Placeholder 2"/>
          <p:cNvSpPr>
            <a:spLocks noGrp="1"/>
          </p:cNvSpPr>
          <p:nvPr>
            <p:ph type="ftr" sz="quarter" idx="11"/>
          </p:nvPr>
        </p:nvSpPr>
        <p:spPr/>
        <p:txBody>
          <a:bodyPr/>
          <a:lstStyle/>
          <a:p>
            <a:r>
              <a:rPr lang="en-US"/>
              <a:t>CPU Design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7A8617-2594-4855-BF19-D249B42C4667}" type="datetime1">
              <a:rPr lang="en-US" smtClean="0"/>
              <a:t>7/31/2023</a:t>
            </a:fld>
            <a:endParaRPr lang="en-US"/>
          </a:p>
        </p:txBody>
      </p:sp>
      <p:sp>
        <p:nvSpPr>
          <p:cNvPr id="6" name="Footer Placeholder 5"/>
          <p:cNvSpPr>
            <a:spLocks noGrp="1"/>
          </p:cNvSpPr>
          <p:nvPr>
            <p:ph type="ftr" sz="quarter" idx="11"/>
          </p:nvPr>
        </p:nvSpPr>
        <p:spPr/>
        <p:txBody>
          <a:bodyPr/>
          <a:lstStyle/>
          <a:p>
            <a:r>
              <a:rPr lang="en-US"/>
              <a:t>CPU Design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3693A9-FB9B-4E83-9679-5E3A6A35A82E}" type="datetime1">
              <a:rPr lang="en-US" smtClean="0"/>
              <a:t>7/31/2023</a:t>
            </a:fld>
            <a:endParaRPr lang="en-US"/>
          </a:p>
        </p:txBody>
      </p:sp>
      <p:sp>
        <p:nvSpPr>
          <p:cNvPr id="6" name="Footer Placeholder 5"/>
          <p:cNvSpPr>
            <a:spLocks noGrp="1"/>
          </p:cNvSpPr>
          <p:nvPr>
            <p:ph type="ftr" sz="quarter" idx="11"/>
          </p:nvPr>
        </p:nvSpPr>
        <p:spPr/>
        <p:txBody>
          <a:bodyPr/>
          <a:lstStyle/>
          <a:p>
            <a:r>
              <a:rPr lang="en-US"/>
              <a:t>CPU Design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2C4595-AB27-4676-8878-C56445365F56}" type="datetime1">
              <a:rPr lang="en-US" smtClean="0"/>
              <a:t>7/31/2023</a:t>
            </a:fld>
            <a:endParaRPr lang="en-US"/>
          </a:p>
        </p:txBody>
      </p:sp>
      <p:sp>
        <p:nvSpPr>
          <p:cNvPr id="5" name="Footer Placeholder 4"/>
          <p:cNvSpPr>
            <a:spLocks noGrp="1"/>
          </p:cNvSpPr>
          <p:nvPr>
            <p:ph type="ftr" sz="quarter" idx="11"/>
          </p:nvPr>
        </p:nvSpPr>
        <p:spPr/>
        <p:txBody>
          <a:bodyPr/>
          <a:lstStyle/>
          <a:p>
            <a:r>
              <a:rPr lang="en-US"/>
              <a:t>CPU Design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90DB2-3C10-442B-83E2-7728D1889D52}" type="datetime1">
              <a:rPr lang="en-US" smtClean="0"/>
              <a:t>7/31/2023</a:t>
            </a:fld>
            <a:endParaRPr lang="en-US"/>
          </a:p>
        </p:txBody>
      </p:sp>
      <p:sp>
        <p:nvSpPr>
          <p:cNvPr id="5" name="Footer Placeholder 4"/>
          <p:cNvSpPr>
            <a:spLocks noGrp="1"/>
          </p:cNvSpPr>
          <p:nvPr>
            <p:ph type="ftr" sz="quarter" idx="11"/>
          </p:nvPr>
        </p:nvSpPr>
        <p:spPr/>
        <p:txBody>
          <a:bodyPr/>
          <a:lstStyle/>
          <a:p>
            <a:r>
              <a:rPr lang="en-US"/>
              <a:t>CPU Design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C2E0EA3D-6CB0-4816-AB99-20D44BAE781A}" type="datetime1">
              <a:rPr lang="en-US" smtClean="0"/>
              <a:t>7/31/2023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CPU Design</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7"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4.wdp"/><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microsoft.com/office/2007/relationships/hdphoto" Target="../media/hdphoto5.wdp"/><Relationship Id="rId7"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6.wdp"/><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7.wdp"/><Relationship Id="rId7" Type="http://schemas.microsoft.com/office/2007/relationships/hdphoto" Target="../media/hdphoto8.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1.png"/><Relationship Id="rId1" Type="http://schemas.openxmlformats.org/officeDocument/2006/relationships/slideLayout" Target="../slideLayouts/slideLayout2.xml"/><Relationship Id="rId5" Type="http://schemas.microsoft.com/office/2007/relationships/hdphoto" Target="../media/hdphoto9.wdp"/><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microsoft.com/office/2007/relationships/hdphoto" Target="../media/hdphoto10.wdp"/><Relationship Id="rId7" Type="http://schemas.microsoft.com/office/2007/relationships/hdphoto" Target="../media/hdphoto9.wdp"/><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1.wdp"/><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5.png"/><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Layout" Target="../slideLayouts/slideLayout2.xml"/><Relationship Id="rId4" Type="http://schemas.microsoft.com/office/2007/relationships/hdphoto" Target="../media/hdphoto12.wdp"/></Relationships>
</file>

<file path=ppt/slides/_rels/slide19.xml.rels><?xml version="1.0" encoding="UTF-8" standalone="yes"?>
<Relationships xmlns="http://schemas.openxmlformats.org/package/2006/relationships"><Relationship Id="rId3" Type="http://schemas.microsoft.com/office/2007/relationships/hdphoto" Target="../media/hdphoto7.wdp"/><Relationship Id="rId7" Type="http://schemas.microsoft.com/office/2007/relationships/hdphoto" Target="../media/hdphoto8.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microsoft.com/office/2007/relationships/hdphoto" Target="../media/hdphoto7.wdp"/><Relationship Id="rId7" Type="http://schemas.microsoft.com/office/2007/relationships/hdphoto" Target="../media/hdphoto12.wdp"/><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microsoft.com/office/2007/relationships/hdphoto" Target="../media/hdphoto9.wdp"/><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9.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microsoft.com/office/2007/relationships/hdphoto" Target="../media/hdphoto8.wdp"/><Relationship Id="rId7" Type="http://schemas.microsoft.com/office/2007/relationships/hdphoto" Target="../media/hdphoto7.wdp"/><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9.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27.png"/><Relationship Id="rId1" Type="http://schemas.openxmlformats.org/officeDocument/2006/relationships/slideLayout" Target="../slideLayouts/slideLayout2.xml"/><Relationship Id="rId5" Type="http://schemas.microsoft.com/office/2007/relationships/hdphoto" Target="../media/hdphoto16.wdp"/><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9.png"/><Relationship Id="rId1" Type="http://schemas.openxmlformats.org/officeDocument/2006/relationships/slideLayout" Target="../slideLayouts/slideLayout2.xml"/><Relationship Id="rId5" Type="http://schemas.microsoft.com/office/2007/relationships/hdphoto" Target="../media/hdphoto16.wdp"/><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21.wdp"/><Relationship Id="rId2" Type="http://schemas.openxmlformats.org/officeDocument/2006/relationships/image" Target="../media/image34.png"/><Relationship Id="rId1" Type="http://schemas.openxmlformats.org/officeDocument/2006/relationships/slideLayout" Target="../slideLayouts/slideLayout2.xml"/><Relationship Id="rId5" Type="http://schemas.microsoft.com/office/2007/relationships/hdphoto" Target="../media/hdphoto22.wdp"/><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23.wdp"/><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3100" b="1" dirty="0"/>
              <a:t>Chapter 4</a:t>
            </a:r>
            <a:br>
              <a:rPr lang="en-US" b="1" dirty="0"/>
            </a:br>
            <a:r>
              <a:rPr lang="en-US" b="1" dirty="0">
                <a:solidFill>
                  <a:srgbClr val="FF0000"/>
                </a:solidFill>
              </a:rPr>
              <a:t>CPU DESIGN</a:t>
            </a:r>
          </a:p>
        </p:txBody>
      </p:sp>
      <p:sp>
        <p:nvSpPr>
          <p:cNvPr id="5" name="Subtitle 4"/>
          <p:cNvSpPr>
            <a:spLocks noGrp="1"/>
          </p:cNvSpPr>
          <p:nvPr>
            <p:ph type="subTitle" idx="1"/>
          </p:nvPr>
        </p:nvSpPr>
        <p:spPr/>
        <p:txBody>
          <a:bodyPr>
            <a:normAutofit/>
          </a:bodyPr>
          <a:lstStyle/>
          <a:p>
            <a:endParaRPr lang="en-US" sz="180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r>
              <a:rPr lang="en-US" sz="3200" b="1" dirty="0">
                <a:solidFill>
                  <a:srgbClr val="FF0000"/>
                </a:solidFill>
              </a:rPr>
              <a:t>Contents:</a:t>
            </a:r>
          </a:p>
        </p:txBody>
      </p:sp>
      <p:sp>
        <p:nvSpPr>
          <p:cNvPr id="3" name="Content Placeholder 2"/>
          <p:cNvSpPr>
            <a:spLocks noGrp="1"/>
          </p:cNvSpPr>
          <p:nvPr>
            <p:ph idx="1"/>
          </p:nvPr>
        </p:nvSpPr>
        <p:spPr>
          <a:xfrm>
            <a:off x="457200" y="742950"/>
            <a:ext cx="8229600" cy="3851673"/>
          </a:xfrm>
        </p:spPr>
        <p:txBody>
          <a:bodyPr>
            <a:normAutofit/>
          </a:bodyPr>
          <a:lstStyle/>
          <a:p>
            <a:pPr marL="457200" indent="-457200">
              <a:buFont typeface="+mj-lt"/>
              <a:buAutoNum type="arabicPeriod"/>
              <a:tabLst>
                <a:tab pos="463550" algn="l"/>
              </a:tabLst>
            </a:pPr>
            <a:r>
              <a:rPr lang="en-US" sz="2000" dirty="0"/>
              <a:t>Introduction to CPU</a:t>
            </a:r>
          </a:p>
          <a:p>
            <a:pPr marL="457200" indent="-457200">
              <a:buFont typeface="+mj-lt"/>
              <a:buAutoNum type="arabicPeriod"/>
              <a:tabLst>
                <a:tab pos="463550" algn="l"/>
              </a:tabLst>
            </a:pPr>
            <a:r>
              <a:rPr lang="en-US" sz="2000" dirty="0"/>
              <a:t>Specifying  a CPU</a:t>
            </a:r>
          </a:p>
          <a:p>
            <a:pPr marL="457200" indent="-457200">
              <a:buFont typeface="+mj-lt"/>
              <a:buAutoNum type="arabicPeriod"/>
              <a:tabLst>
                <a:tab pos="463550" algn="l"/>
              </a:tabLst>
            </a:pPr>
            <a:r>
              <a:rPr lang="en-US" sz="2000" dirty="0"/>
              <a:t>Design and Implementation of a Very Simple and Relatively Simple CPU</a:t>
            </a:r>
          </a:p>
          <a:p>
            <a:pPr marL="457200" indent="-457200">
              <a:buFont typeface="+mj-lt"/>
              <a:buAutoNum type="arabicPeriod"/>
              <a:tabLst>
                <a:tab pos="463550" algn="l"/>
              </a:tabLst>
            </a:pPr>
            <a:r>
              <a:rPr lang="en-US" sz="2000" dirty="0"/>
              <a:t>Instruction Execution, Fetch, Decode , Data path</a:t>
            </a:r>
          </a:p>
          <a:p>
            <a:pPr marL="457200" indent="-457200">
              <a:buFont typeface="+mj-lt"/>
              <a:buAutoNum type="arabicPeriod"/>
              <a:tabLst>
                <a:tab pos="463550" algn="l"/>
              </a:tabLst>
            </a:pPr>
            <a:r>
              <a:rPr lang="en-US" sz="2000" dirty="0"/>
              <a:t>ALU Design</a:t>
            </a:r>
          </a:p>
          <a:p>
            <a:pPr marL="457200" indent="-457200">
              <a:buFont typeface="+mj-lt"/>
              <a:buAutoNum type="arabicPeriod"/>
              <a:tabLst>
                <a:tab pos="463550" algn="l"/>
              </a:tabLst>
            </a:pPr>
            <a:r>
              <a:rPr lang="en-US" sz="2000" dirty="0"/>
              <a:t>Designing Hardwired Control Unit</a:t>
            </a:r>
          </a:p>
          <a:p>
            <a:pPr marL="457200" indent="-457200">
              <a:buFont typeface="+mj-lt"/>
              <a:buAutoNum type="arabicPeriod"/>
              <a:tabLst>
                <a:tab pos="463550" algn="l"/>
              </a:tabLst>
            </a:pPr>
            <a:r>
              <a:rPr lang="en-US" sz="2000" dirty="0"/>
              <a:t>Design Verification</a:t>
            </a:r>
          </a:p>
        </p:txBody>
      </p:sp>
      <p:sp>
        <p:nvSpPr>
          <p:cNvPr id="4" name="Date Placeholder 3"/>
          <p:cNvSpPr>
            <a:spLocks noGrp="1"/>
          </p:cNvSpPr>
          <p:nvPr>
            <p:ph type="dt" sz="half" idx="10"/>
          </p:nvPr>
        </p:nvSpPr>
        <p:spPr/>
        <p:txBody>
          <a:bodyPr/>
          <a:lstStyle/>
          <a:p>
            <a:fld id="{14BB28E9-BA4C-41D8-9C18-88C3388D3034}" type="datetime1">
              <a:rPr lang="en-US" smtClean="0"/>
              <a:t>7/31/2023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US"/>
              <a:t>CPU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4.1 Introduction to CPU</a:t>
            </a:r>
          </a:p>
        </p:txBody>
      </p:sp>
      <p:sp>
        <p:nvSpPr>
          <p:cNvPr id="3" name="Content Placeholder 2"/>
          <p:cNvSpPr>
            <a:spLocks noGrp="1"/>
          </p:cNvSpPr>
          <p:nvPr>
            <p:ph idx="1"/>
          </p:nvPr>
        </p:nvSpPr>
        <p:spPr>
          <a:xfrm>
            <a:off x="457200" y="742950"/>
            <a:ext cx="8229600" cy="3851673"/>
          </a:xfrm>
        </p:spPr>
        <p:txBody>
          <a:bodyPr>
            <a:normAutofit/>
          </a:bodyPr>
          <a:lstStyle/>
          <a:p>
            <a:r>
              <a:rPr lang="en-US" sz="2000" dirty="0"/>
              <a:t>Central Processing Unit</a:t>
            </a:r>
          </a:p>
          <a:p>
            <a:r>
              <a:rPr lang="en-US" sz="2000" b="1" dirty="0"/>
              <a:t>CPU = ALU </a:t>
            </a:r>
            <a:r>
              <a:rPr lang="en-US" sz="2000" dirty="0"/>
              <a:t>+ </a:t>
            </a:r>
            <a:r>
              <a:rPr lang="en-US" sz="2000" b="1" dirty="0"/>
              <a:t>Registers</a:t>
            </a:r>
            <a:r>
              <a:rPr lang="en-US" sz="2000" dirty="0"/>
              <a:t> + </a:t>
            </a:r>
            <a:r>
              <a:rPr lang="en-US" sz="2000" b="1" dirty="0"/>
              <a:t>Control Unit</a:t>
            </a:r>
          </a:p>
          <a:p>
            <a:r>
              <a:rPr lang="en-US" sz="2000" dirty="0"/>
              <a:t>Performs sequences of microoperations needed to perform </a:t>
            </a:r>
            <a:r>
              <a:rPr lang="en-US" sz="2000" b="1" dirty="0"/>
              <a:t>fetch</a:t>
            </a:r>
            <a:r>
              <a:rPr lang="en-US" sz="2000" dirty="0"/>
              <a:t>, </a:t>
            </a:r>
            <a:r>
              <a:rPr lang="en-US" sz="2000" b="1" dirty="0"/>
              <a:t>decode</a:t>
            </a:r>
            <a:r>
              <a:rPr lang="en-US" sz="2000" dirty="0"/>
              <a:t> and </a:t>
            </a:r>
            <a:r>
              <a:rPr lang="en-US" sz="2000" b="1" dirty="0"/>
              <a:t>execute</a:t>
            </a:r>
            <a:r>
              <a:rPr lang="en-US" sz="2000" dirty="0"/>
              <a:t> cycles of every instructions in CPU instruction set.</a:t>
            </a:r>
          </a:p>
        </p:txBody>
      </p:sp>
      <p:sp>
        <p:nvSpPr>
          <p:cNvPr id="4" name="Date Placeholder 3"/>
          <p:cNvSpPr>
            <a:spLocks noGrp="1"/>
          </p:cNvSpPr>
          <p:nvPr>
            <p:ph type="dt" sz="half" idx="10"/>
          </p:nvPr>
        </p:nvSpPr>
        <p:spPr/>
        <p:txBody>
          <a:bodyPr/>
          <a:lstStyle/>
          <a:p>
            <a:fld id="{F46EC758-2899-4A14-B1D1-E75673ED3629}"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553762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4.2 Specifying a CPU</a:t>
            </a:r>
          </a:p>
        </p:txBody>
      </p:sp>
      <p:sp>
        <p:nvSpPr>
          <p:cNvPr id="3" name="Content Placeholder 2"/>
          <p:cNvSpPr>
            <a:spLocks noGrp="1"/>
          </p:cNvSpPr>
          <p:nvPr>
            <p:ph idx="1"/>
          </p:nvPr>
        </p:nvSpPr>
        <p:spPr>
          <a:xfrm>
            <a:off x="457200" y="742950"/>
            <a:ext cx="8229600" cy="3851673"/>
          </a:xfrm>
        </p:spPr>
        <p:txBody>
          <a:bodyPr>
            <a:normAutofit/>
          </a:bodyPr>
          <a:lstStyle/>
          <a:p>
            <a:r>
              <a:rPr lang="en-US" sz="2000" dirty="0"/>
              <a:t>The first step in designing CPU is to </a:t>
            </a:r>
            <a:r>
              <a:rPr lang="en-US" sz="2000" b="1" dirty="0"/>
              <a:t>determine its applications</a:t>
            </a:r>
            <a:r>
              <a:rPr lang="en-US" sz="2000" dirty="0"/>
              <a:t>. The key is to match the capabilities of the CPU to the tasks it will perform.</a:t>
            </a:r>
          </a:p>
          <a:p>
            <a:r>
              <a:rPr lang="en-US" sz="2000" dirty="0"/>
              <a:t>Second step is to </a:t>
            </a:r>
            <a:r>
              <a:rPr lang="en-US" sz="2000" b="1" dirty="0"/>
              <a:t>design a Instruction Set  Architecture </a:t>
            </a:r>
            <a:r>
              <a:rPr lang="en-US" sz="2000" dirty="0"/>
              <a:t>(ISA) which can handle the given tasks.</a:t>
            </a:r>
          </a:p>
          <a:p>
            <a:r>
              <a:rPr lang="en-US" sz="2000" dirty="0"/>
              <a:t>Third step is to </a:t>
            </a:r>
            <a:r>
              <a:rPr lang="en-US" sz="2000" b="1" dirty="0"/>
              <a:t>design State diagram for </a:t>
            </a:r>
            <a:r>
              <a:rPr lang="en-US" sz="2000" dirty="0"/>
              <a:t>CPU. Here the different microoperation are shown, which are performed during each stat and the conditions that cause CPU to go from one state to another. CPU is a complex Finite State Machine.</a:t>
            </a:r>
          </a:p>
          <a:p>
            <a:r>
              <a:rPr lang="en-US" sz="2000" dirty="0"/>
              <a:t>Then, specifying the steps the CPU must perform in order to fetch, decode and execute every instructions in its instruction set.</a:t>
            </a:r>
          </a:p>
        </p:txBody>
      </p:sp>
      <p:sp>
        <p:nvSpPr>
          <p:cNvPr id="4" name="Date Placeholder 3"/>
          <p:cNvSpPr>
            <a:spLocks noGrp="1"/>
          </p:cNvSpPr>
          <p:nvPr>
            <p:ph type="dt" sz="half" idx="10"/>
          </p:nvPr>
        </p:nvSpPr>
        <p:spPr/>
        <p:txBody>
          <a:bodyPr/>
          <a:lstStyle/>
          <a:p>
            <a:fld id="{89A04F72-07B6-46EC-8C79-C2F723A25C58}"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2474836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3733800" cy="3851673"/>
          </a:xfrm>
        </p:spPr>
        <p:txBody>
          <a:bodyPr>
            <a:normAutofit fontScale="92500" lnSpcReduction="10000"/>
          </a:bodyPr>
          <a:lstStyle/>
          <a:p>
            <a:r>
              <a:rPr lang="en-US" sz="2400" dirty="0"/>
              <a:t>In general, a CPU performs following sequence of operations.</a:t>
            </a:r>
          </a:p>
          <a:p>
            <a:pPr marL="857250" lvl="1" indent="-457200">
              <a:buFont typeface="+mj-lt"/>
              <a:buAutoNum type="arabicPeriod"/>
            </a:pPr>
            <a:r>
              <a:rPr lang="en-US" sz="1800" b="1" dirty="0"/>
              <a:t>Fetch Cycle: </a:t>
            </a:r>
            <a:r>
              <a:rPr lang="en-US" sz="1800" dirty="0"/>
              <a:t>Fetching an instruction from memory, then go to decode cycle.</a:t>
            </a:r>
          </a:p>
          <a:p>
            <a:pPr marL="857250" lvl="1" indent="-457200">
              <a:buFont typeface="+mj-lt"/>
              <a:buAutoNum type="arabicPeriod"/>
            </a:pPr>
            <a:r>
              <a:rPr lang="en-US" sz="1800" b="1" dirty="0"/>
              <a:t>Decode Cycle: </a:t>
            </a:r>
            <a:r>
              <a:rPr lang="en-US" sz="1800" dirty="0"/>
              <a:t>Decoding an instruction- that is, determine which instruction has been fetched.</a:t>
            </a:r>
          </a:p>
          <a:p>
            <a:pPr marL="857250" lvl="1" indent="-457200">
              <a:buFont typeface="+mj-lt"/>
              <a:buAutoNum type="arabicPeriod"/>
            </a:pPr>
            <a:r>
              <a:rPr lang="en-US" sz="1800" b="1" dirty="0"/>
              <a:t>Execute cycle: </a:t>
            </a:r>
            <a:r>
              <a:rPr lang="en-US" sz="1800" dirty="0"/>
              <a:t>Executing the instruction . Then go to the fetch cycle and fetch the next instruction.</a:t>
            </a:r>
          </a:p>
          <a:p>
            <a:endParaRPr lang="en-US" sz="2400" dirty="0"/>
          </a:p>
        </p:txBody>
      </p:sp>
      <p:sp>
        <p:nvSpPr>
          <p:cNvPr id="4" name="Date Placeholder 3"/>
          <p:cNvSpPr>
            <a:spLocks noGrp="1"/>
          </p:cNvSpPr>
          <p:nvPr>
            <p:ph type="dt" sz="half" idx="10"/>
          </p:nvPr>
        </p:nvSpPr>
        <p:spPr/>
        <p:txBody>
          <a:bodyPr/>
          <a:lstStyle/>
          <a:p>
            <a:fld id="{4E92DD4E-451C-4860-951F-39DDE6A93168}"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2FCA13CE-91B1-40D1-8EA7-8288084DB261}"/>
              </a:ext>
            </a:extLst>
          </p:cNvPr>
          <p:cNvPicPr>
            <a:picLocks noChangeAspect="1"/>
          </p:cNvPicPr>
          <p:nvPr/>
        </p:nvPicPr>
        <p:blipFill rotWithShape="1">
          <a:blip r:embed="rId2"/>
          <a:srcRect l="3548" t="9944" r="1828"/>
          <a:stretch/>
        </p:blipFill>
        <p:spPr>
          <a:xfrm>
            <a:off x="4495800" y="748622"/>
            <a:ext cx="4191000" cy="3450423"/>
          </a:xfrm>
          <a:prstGeom prst="rect">
            <a:avLst/>
          </a:prstGeom>
        </p:spPr>
      </p:pic>
      <p:pic>
        <p:nvPicPr>
          <p:cNvPr id="8" name="Picture 7">
            <a:extLst>
              <a:ext uri="{FF2B5EF4-FFF2-40B4-BE49-F238E27FC236}">
                <a16:creationId xmlns:a16="http://schemas.microsoft.com/office/drawing/2014/main" id="{BA20FC5A-5391-49A8-AB3C-0054EB283D82}"/>
              </a:ext>
            </a:extLst>
          </p:cNvPr>
          <p:cNvPicPr>
            <a:picLocks noChangeAspect="1"/>
          </p:cNvPicPr>
          <p:nvPr/>
        </p:nvPicPr>
        <p:blipFill>
          <a:blip r:embed="rId3"/>
          <a:stretch>
            <a:fillRect/>
          </a:stretch>
        </p:blipFill>
        <p:spPr>
          <a:xfrm>
            <a:off x="5710237" y="4371685"/>
            <a:ext cx="1762125" cy="190500"/>
          </a:xfrm>
          <a:prstGeom prst="rect">
            <a:avLst/>
          </a:prstGeom>
        </p:spPr>
      </p:pic>
    </p:spTree>
    <p:extLst>
      <p:ext uri="{BB962C8B-B14F-4D97-AF65-F5344CB8AC3E}">
        <p14:creationId xmlns:p14="http://schemas.microsoft.com/office/powerpoint/2010/main" val="2806059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algn="l">
              <a:tabLst>
                <a:tab pos="463550" algn="l"/>
              </a:tabLst>
            </a:pPr>
            <a:r>
              <a:rPr lang="en-US" sz="3200" b="1" dirty="0">
                <a:solidFill>
                  <a:srgbClr val="FF0000"/>
                </a:solidFill>
              </a:rPr>
              <a:t>4.3 Design and Implementation of a Very Simple and Relatively Simple CPU</a:t>
            </a:r>
          </a:p>
        </p:txBody>
      </p:sp>
      <p:sp>
        <p:nvSpPr>
          <p:cNvPr id="3" name="Content Placeholder 2"/>
          <p:cNvSpPr>
            <a:spLocks noGrp="1"/>
          </p:cNvSpPr>
          <p:nvPr>
            <p:ph idx="1"/>
          </p:nvPr>
        </p:nvSpPr>
        <p:spPr>
          <a:xfrm>
            <a:off x="457200" y="971550"/>
            <a:ext cx="8229600" cy="3623073"/>
          </a:xfrm>
        </p:spPr>
        <p:txBody>
          <a:bodyPr>
            <a:normAutofit/>
          </a:bodyPr>
          <a:lstStyle/>
          <a:p>
            <a:r>
              <a:rPr lang="en-US" sz="1800" dirty="0"/>
              <a:t>To illustrate the CPU design process, </a:t>
            </a:r>
          </a:p>
          <a:p>
            <a:r>
              <a:rPr lang="en-US" sz="1800" dirty="0"/>
              <a:t>lets us consider:</a:t>
            </a:r>
          </a:p>
          <a:p>
            <a:pPr lvl="1"/>
            <a:r>
              <a:rPr lang="en-US" sz="1400" dirty="0"/>
              <a:t>A small and somewhat impractical CPU.</a:t>
            </a:r>
          </a:p>
          <a:p>
            <a:pPr lvl="1"/>
            <a:r>
              <a:rPr lang="en-US" sz="1400" dirty="0"/>
              <a:t>It can access 64 bytes of memory, each byte being 8 bits wide. </a:t>
            </a:r>
          </a:p>
          <a:p>
            <a:pPr lvl="1"/>
            <a:r>
              <a:rPr lang="en-US" sz="1400" dirty="0"/>
              <a:t>The CPU does this by outputting a 6-bit address on its output pins A[5..0], and reading in the 8-bit value from memory on its inputs D[7…0].</a:t>
            </a:r>
          </a:p>
          <a:p>
            <a:pPr lvl="1"/>
            <a:r>
              <a:rPr lang="en-US" sz="1400" dirty="0"/>
              <a:t>The CPU has:  one programmable register,    8-bit accumulator (AC). </a:t>
            </a:r>
          </a:p>
          <a:p>
            <a:pPr lvl="1"/>
            <a:r>
              <a:rPr lang="en-US" sz="1400" dirty="0"/>
              <a:t>It has only four instructions in its instruction set.</a:t>
            </a:r>
          </a:p>
          <a:p>
            <a:endParaRPr lang="en-US" sz="1600" dirty="0"/>
          </a:p>
          <a:p>
            <a:endParaRPr lang="en-US" sz="1600" dirty="0"/>
          </a:p>
        </p:txBody>
      </p:sp>
      <p:sp>
        <p:nvSpPr>
          <p:cNvPr id="4" name="Date Placeholder 3"/>
          <p:cNvSpPr>
            <a:spLocks noGrp="1"/>
          </p:cNvSpPr>
          <p:nvPr>
            <p:ph type="dt" sz="half" idx="10"/>
          </p:nvPr>
        </p:nvSpPr>
        <p:spPr/>
        <p:txBody>
          <a:bodyPr/>
          <a:lstStyle/>
          <a:p>
            <a:fld id="{20B2D251-0751-4A4B-835A-3750CDF43658}"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CFF02D4F-438A-4D14-AFE5-FB66AEADF5E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2209799" y="3246728"/>
            <a:ext cx="4114800" cy="1290387"/>
          </a:xfrm>
          <a:prstGeom prst="rect">
            <a:avLst/>
          </a:prstGeom>
        </p:spPr>
      </p:pic>
      <p:pic>
        <p:nvPicPr>
          <p:cNvPr id="8" name="Picture 7">
            <a:extLst>
              <a:ext uri="{FF2B5EF4-FFF2-40B4-BE49-F238E27FC236}">
                <a16:creationId xmlns:a16="http://schemas.microsoft.com/office/drawing/2014/main" id="{10FB9C95-BADB-4CF5-9436-215BEE6EDC3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74000"/>
                    </a14:imgEffect>
                  </a14:imgLayer>
                </a14:imgProps>
              </a:ext>
            </a:extLst>
          </a:blip>
          <a:stretch>
            <a:fillRect/>
          </a:stretch>
        </p:blipFill>
        <p:spPr>
          <a:xfrm>
            <a:off x="3024187" y="4461868"/>
            <a:ext cx="2486025" cy="219075"/>
          </a:xfrm>
          <a:prstGeom prst="rect">
            <a:avLst/>
          </a:prstGeom>
        </p:spPr>
      </p:pic>
    </p:spTree>
    <p:extLst>
      <p:ext uri="{BB962C8B-B14F-4D97-AF65-F5344CB8AC3E}">
        <p14:creationId xmlns:p14="http://schemas.microsoft.com/office/powerpoint/2010/main" val="3287156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2000" b="1" dirty="0">
                <a:solidFill>
                  <a:srgbClr val="00B050"/>
                </a:solidFill>
              </a:rPr>
              <a:t>Design and Implementation of a Very Simple and Relatively Simple CPU</a:t>
            </a:r>
            <a:endParaRPr lang="en-US" sz="2000" dirty="0">
              <a:solidFill>
                <a:srgbClr val="00B050"/>
              </a:solidFill>
            </a:endParaRPr>
          </a:p>
        </p:txBody>
      </p:sp>
      <p:sp>
        <p:nvSpPr>
          <p:cNvPr id="3" name="Content Placeholder 2"/>
          <p:cNvSpPr>
            <a:spLocks noGrp="1"/>
          </p:cNvSpPr>
          <p:nvPr>
            <p:ph idx="1"/>
          </p:nvPr>
        </p:nvSpPr>
        <p:spPr>
          <a:xfrm>
            <a:off x="457200" y="742950"/>
            <a:ext cx="8229600" cy="3851673"/>
          </a:xfrm>
        </p:spPr>
        <p:txBody>
          <a:bodyPr>
            <a:normAutofit fontScale="92500" lnSpcReduction="10000"/>
          </a:bodyPr>
          <a:lstStyle/>
          <a:p>
            <a:r>
              <a:rPr lang="en-US" sz="2400" dirty="0"/>
              <a:t>In addition to AC, the CPU contains the following registers:</a:t>
            </a:r>
          </a:p>
          <a:p>
            <a:pPr marL="857250" lvl="1" indent="-457200">
              <a:buFont typeface="+mj-lt"/>
              <a:buAutoNum type="arabicPeriod"/>
            </a:pPr>
            <a:r>
              <a:rPr lang="en-US" sz="2000" b="1" dirty="0"/>
              <a:t>Address Register (AR):</a:t>
            </a:r>
          </a:p>
          <a:p>
            <a:pPr lvl="2"/>
            <a:r>
              <a:rPr lang="en-US" sz="1600" dirty="0"/>
              <a:t>6-bit </a:t>
            </a:r>
          </a:p>
          <a:p>
            <a:pPr lvl="2"/>
            <a:r>
              <a:rPr lang="en-US" sz="1600" dirty="0"/>
              <a:t>Supplies an address to memory via A[5..0].</a:t>
            </a:r>
          </a:p>
          <a:p>
            <a:pPr marL="857250" lvl="1" indent="-457200">
              <a:buFont typeface="+mj-lt"/>
              <a:buAutoNum type="arabicPeriod"/>
            </a:pPr>
            <a:r>
              <a:rPr lang="en-US" sz="2000" b="1" dirty="0"/>
              <a:t>Program Counter(PC):</a:t>
            </a:r>
          </a:p>
          <a:p>
            <a:pPr lvl="2"/>
            <a:r>
              <a:rPr lang="en-US" sz="1600" dirty="0"/>
              <a:t>6-bit </a:t>
            </a:r>
          </a:p>
          <a:p>
            <a:pPr lvl="2"/>
            <a:r>
              <a:rPr lang="en-US" sz="1600" dirty="0"/>
              <a:t>Contains the address of the next instruction to be executed.</a:t>
            </a:r>
          </a:p>
          <a:p>
            <a:pPr marL="857250" lvl="1" indent="-457200">
              <a:buFont typeface="+mj-lt"/>
              <a:buAutoNum type="arabicPeriod"/>
            </a:pPr>
            <a:r>
              <a:rPr lang="en-US" sz="2000" b="1" dirty="0"/>
              <a:t>Data Register(DR):</a:t>
            </a:r>
          </a:p>
          <a:p>
            <a:pPr lvl="2"/>
            <a:r>
              <a:rPr lang="en-US" sz="1600" dirty="0"/>
              <a:t>8-bit </a:t>
            </a:r>
          </a:p>
          <a:p>
            <a:pPr lvl="2"/>
            <a:r>
              <a:rPr lang="en-US" sz="1600" dirty="0"/>
              <a:t>Receives instructions and data from memory via D[7…0]</a:t>
            </a:r>
          </a:p>
          <a:p>
            <a:pPr marL="857250" lvl="1" indent="-457200">
              <a:buFont typeface="+mj-lt"/>
              <a:buAutoNum type="arabicPeriod"/>
            </a:pPr>
            <a:r>
              <a:rPr lang="en-US" sz="2000" b="1" dirty="0"/>
              <a:t>Instruction Register(IR):</a:t>
            </a:r>
          </a:p>
          <a:p>
            <a:pPr lvl="2"/>
            <a:r>
              <a:rPr lang="en-US" sz="1600" dirty="0"/>
              <a:t>2-bit </a:t>
            </a:r>
          </a:p>
          <a:p>
            <a:pPr lvl="2"/>
            <a:r>
              <a:rPr lang="en-US" sz="1600" dirty="0"/>
              <a:t>Stores the opcode portion of the instruction code fetched from memory.</a:t>
            </a:r>
          </a:p>
          <a:p>
            <a:endParaRPr lang="en-US" sz="2400" dirty="0"/>
          </a:p>
          <a:p>
            <a:endParaRPr lang="en-US" sz="2400" dirty="0"/>
          </a:p>
        </p:txBody>
      </p:sp>
      <p:sp>
        <p:nvSpPr>
          <p:cNvPr id="4" name="Date Placeholder 3"/>
          <p:cNvSpPr>
            <a:spLocks noGrp="1"/>
          </p:cNvSpPr>
          <p:nvPr>
            <p:ph type="dt" sz="half" idx="10"/>
          </p:nvPr>
        </p:nvSpPr>
        <p:spPr/>
        <p:txBody>
          <a:bodyPr/>
          <a:lstStyle/>
          <a:p>
            <a:fld id="{47991F07-1769-4828-B62D-9BDF9D129E42}"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3129886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2800" b="1" dirty="0">
                <a:solidFill>
                  <a:srgbClr val="FF0000"/>
                </a:solidFill>
              </a:rPr>
              <a:t>4.4 Instruction Execution, Fetch, Decode and Datapath </a:t>
            </a:r>
            <a:endParaRPr lang="en-US" sz="2800" dirty="0">
              <a:solidFill>
                <a:srgbClr val="FF0000"/>
              </a:solidFill>
            </a:endParaRPr>
          </a:p>
        </p:txBody>
      </p:sp>
      <p:sp>
        <p:nvSpPr>
          <p:cNvPr id="3" name="Content Placeholder 2"/>
          <p:cNvSpPr>
            <a:spLocks noGrp="1"/>
          </p:cNvSpPr>
          <p:nvPr>
            <p:ph idx="1"/>
          </p:nvPr>
        </p:nvSpPr>
        <p:spPr>
          <a:xfrm>
            <a:off x="457200" y="742950"/>
            <a:ext cx="5867400" cy="3851673"/>
          </a:xfrm>
        </p:spPr>
        <p:txBody>
          <a:bodyPr>
            <a:normAutofit/>
          </a:bodyPr>
          <a:lstStyle/>
          <a:p>
            <a:r>
              <a:rPr lang="en-US" sz="2000" dirty="0"/>
              <a:t>Fetching instructions from memory</a:t>
            </a:r>
          </a:p>
          <a:p>
            <a:r>
              <a:rPr lang="en-US" sz="2000" dirty="0"/>
              <a:t>Decoding instructions</a:t>
            </a:r>
          </a:p>
          <a:p>
            <a:r>
              <a:rPr lang="en-US" sz="2000" dirty="0"/>
              <a:t>Executing instructions</a:t>
            </a:r>
          </a:p>
          <a:p>
            <a:r>
              <a:rPr lang="en-US" sz="2000" dirty="0"/>
              <a:t>Constructing Datapath</a:t>
            </a:r>
          </a:p>
          <a:p>
            <a:endParaRPr lang="en-US" sz="1400" dirty="0"/>
          </a:p>
        </p:txBody>
      </p:sp>
      <p:sp>
        <p:nvSpPr>
          <p:cNvPr id="4" name="Date Placeholder 3"/>
          <p:cNvSpPr>
            <a:spLocks noGrp="1"/>
          </p:cNvSpPr>
          <p:nvPr>
            <p:ph type="dt" sz="half" idx="10"/>
          </p:nvPr>
        </p:nvSpPr>
        <p:spPr/>
        <p:txBody>
          <a:bodyPr/>
          <a:lstStyle/>
          <a:p>
            <a:fld id="{187DEA44-D7D7-4C9B-ADAC-4B9DC1975CCB}"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2213144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2400" b="1" dirty="0">
                <a:solidFill>
                  <a:srgbClr val="00B050"/>
                </a:solidFill>
              </a:rPr>
              <a:t>1. Fetching instructions from Memory.</a:t>
            </a:r>
            <a:endParaRPr lang="en-US" sz="2400" dirty="0">
              <a:solidFill>
                <a:srgbClr val="00B050"/>
              </a:solidFill>
            </a:endParaRPr>
          </a:p>
        </p:txBody>
      </p:sp>
      <p:sp>
        <p:nvSpPr>
          <p:cNvPr id="3" name="Content Placeholder 2"/>
          <p:cNvSpPr>
            <a:spLocks noGrp="1"/>
          </p:cNvSpPr>
          <p:nvPr>
            <p:ph idx="1"/>
          </p:nvPr>
        </p:nvSpPr>
        <p:spPr>
          <a:xfrm>
            <a:off x="457199" y="742950"/>
            <a:ext cx="6132095" cy="3851673"/>
          </a:xfrm>
        </p:spPr>
        <p:txBody>
          <a:bodyPr>
            <a:normAutofit fontScale="70000" lnSpcReduction="20000"/>
          </a:bodyPr>
          <a:lstStyle/>
          <a:p>
            <a:pPr lvl="0"/>
            <a:r>
              <a:rPr lang="en-US" sz="2000" b="1" dirty="0"/>
              <a:t>The address of instruction to be fetched is stored in the PC</a:t>
            </a:r>
            <a:r>
              <a:rPr lang="en-US" sz="2000" dirty="0"/>
              <a:t>. </a:t>
            </a:r>
          </a:p>
          <a:p>
            <a:pPr lvl="0"/>
            <a:r>
              <a:rPr lang="en-US" sz="2000" dirty="0"/>
              <a:t>Since, address register (AR) supplies an address to memory through A [5……0] pins</a:t>
            </a:r>
          </a:p>
          <a:p>
            <a:pPr lvl="0"/>
            <a:r>
              <a:rPr lang="en-US" sz="2000" dirty="0"/>
              <a:t>Firstly, copy the content of PC to AR. Thus, the first state of the fetch cycle is:</a:t>
            </a:r>
          </a:p>
          <a:p>
            <a:pPr marL="0" indent="0">
              <a:buNone/>
            </a:pPr>
            <a:r>
              <a:rPr lang="en-US" sz="2000" dirty="0"/>
              <a:t>	</a:t>
            </a:r>
            <a:r>
              <a:rPr lang="en-US" sz="2000" b="1" dirty="0"/>
              <a:t>Fetch 1: 	AR </a:t>
            </a:r>
            <a:r>
              <a:rPr lang="en-US" sz="2000" b="1" dirty="0">
                <a:sym typeface="Wingdings" panose="05000000000000000000" pitchFamily="2" charset="2"/>
              </a:rPr>
              <a:t></a:t>
            </a:r>
            <a:r>
              <a:rPr lang="en-US" sz="2000" b="1" dirty="0"/>
              <a:t> PC </a:t>
            </a:r>
          </a:p>
          <a:p>
            <a:pPr marL="0" indent="0">
              <a:buNone/>
            </a:pPr>
            <a:endParaRPr lang="en-US" sz="2000" dirty="0"/>
          </a:p>
          <a:p>
            <a:pPr lvl="0"/>
            <a:r>
              <a:rPr lang="en-US" sz="2000" dirty="0"/>
              <a:t>Next, the CPU reads the instructions from the memory. The CPU must assert READ signal, which is output from the CPU to memory. This causes memory to  store in Data Register (DR). </a:t>
            </a:r>
          </a:p>
          <a:p>
            <a:pPr marL="0" indent="0">
              <a:buNone/>
            </a:pPr>
            <a:r>
              <a:rPr lang="en-US" sz="2000" dirty="0"/>
              <a:t>	</a:t>
            </a:r>
            <a:r>
              <a:rPr lang="en-US" sz="2000" b="1" dirty="0"/>
              <a:t>Fetch 2: 	DR </a:t>
            </a:r>
            <a:r>
              <a:rPr lang="en-US" sz="2000" b="1" dirty="0">
                <a:sym typeface="Wingdings" panose="05000000000000000000" pitchFamily="2" charset="2"/>
              </a:rPr>
              <a:t></a:t>
            </a:r>
            <a:r>
              <a:rPr lang="en-US" sz="2000" b="1" dirty="0"/>
              <a:t>M</a:t>
            </a:r>
          </a:p>
          <a:p>
            <a:pPr marL="0" indent="0">
              <a:buNone/>
            </a:pPr>
            <a:r>
              <a:rPr lang="en-US" sz="2000" b="1" dirty="0"/>
              <a:t>		PC </a:t>
            </a:r>
            <a:r>
              <a:rPr lang="en-US" sz="2000" b="1" dirty="0">
                <a:sym typeface="Wingdings" panose="05000000000000000000" pitchFamily="2" charset="2"/>
              </a:rPr>
              <a:t></a:t>
            </a:r>
            <a:r>
              <a:rPr lang="en-US" sz="2000" b="1" dirty="0"/>
              <a:t>PC + 1 </a:t>
            </a:r>
          </a:p>
          <a:p>
            <a:pPr marL="0" indent="0">
              <a:buNone/>
            </a:pPr>
            <a:endParaRPr lang="en-US" sz="2000" dirty="0"/>
          </a:p>
          <a:p>
            <a:pPr lvl="0"/>
            <a:r>
              <a:rPr lang="en-US" sz="2000" dirty="0"/>
              <a:t>Finally, two higher order bits of DR are copied into Instruction Register (IR); these two bits indicate which instruction is to be executed, </a:t>
            </a:r>
          </a:p>
          <a:p>
            <a:pPr marL="0" lvl="0" indent="0">
              <a:buNone/>
            </a:pPr>
            <a:r>
              <a:rPr lang="en-US" sz="2000" dirty="0"/>
              <a:t>         and the CPU copies the lower order 6-bit of DR into AR. </a:t>
            </a:r>
          </a:p>
          <a:p>
            <a:pPr marL="0" indent="0">
              <a:buNone/>
            </a:pPr>
            <a:r>
              <a:rPr lang="en-US" sz="2000" dirty="0"/>
              <a:t>	</a:t>
            </a:r>
            <a:r>
              <a:rPr lang="en-US" sz="2000" b="1" dirty="0"/>
              <a:t>Fetch 3: 	IR </a:t>
            </a:r>
            <a:r>
              <a:rPr lang="en-US" sz="2000" b="1" dirty="0">
                <a:sym typeface="Wingdings" panose="05000000000000000000" pitchFamily="2" charset="2"/>
              </a:rPr>
              <a:t></a:t>
            </a:r>
            <a:r>
              <a:rPr lang="en-US" sz="2000" b="1" dirty="0"/>
              <a:t>DR [7,6]</a:t>
            </a:r>
          </a:p>
          <a:p>
            <a:pPr marL="0" indent="0">
              <a:buNone/>
            </a:pPr>
            <a:r>
              <a:rPr lang="en-US" sz="2000" b="1" dirty="0"/>
              <a:t>		AR </a:t>
            </a:r>
            <a:r>
              <a:rPr lang="en-US" sz="2000" b="1" dirty="0">
                <a:sym typeface="Wingdings" panose="05000000000000000000" pitchFamily="2" charset="2"/>
              </a:rPr>
              <a:t></a:t>
            </a:r>
            <a:r>
              <a:rPr lang="en-US" sz="2000" b="1" dirty="0"/>
              <a:t> DR [5….0]</a:t>
            </a:r>
          </a:p>
          <a:p>
            <a:r>
              <a:rPr lang="en-US" sz="2300" dirty="0"/>
              <a:t>The state diagram for the fetch cycle is shown aside.</a:t>
            </a:r>
          </a:p>
        </p:txBody>
      </p:sp>
      <p:sp>
        <p:nvSpPr>
          <p:cNvPr id="4" name="Date Placeholder 3"/>
          <p:cNvSpPr>
            <a:spLocks noGrp="1"/>
          </p:cNvSpPr>
          <p:nvPr>
            <p:ph type="dt" sz="half" idx="10"/>
          </p:nvPr>
        </p:nvSpPr>
        <p:spPr/>
        <p:txBody>
          <a:bodyPr/>
          <a:lstStyle/>
          <a:p>
            <a:fld id="{ADD16F9E-4AFF-4D84-ABCD-6DDF7EAE9535}"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8" name="Picture 7">
            <a:extLst>
              <a:ext uri="{FF2B5EF4-FFF2-40B4-BE49-F238E27FC236}">
                <a16:creationId xmlns:a16="http://schemas.microsoft.com/office/drawing/2014/main" id="{8C70F253-4290-4E00-85C3-DDD9F68F68C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7051258" y="2266950"/>
            <a:ext cx="1333500" cy="1885950"/>
          </a:xfrm>
          <a:prstGeom prst="rect">
            <a:avLst/>
          </a:prstGeom>
        </p:spPr>
      </p:pic>
      <p:pic>
        <p:nvPicPr>
          <p:cNvPr id="9" name="Picture 8">
            <a:extLst>
              <a:ext uri="{FF2B5EF4-FFF2-40B4-BE49-F238E27FC236}">
                <a16:creationId xmlns:a16="http://schemas.microsoft.com/office/drawing/2014/main" id="{E7CE9FA5-F819-4368-84FB-7EB0B893F9C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6589295" y="4336971"/>
            <a:ext cx="2257425" cy="209550"/>
          </a:xfrm>
          <a:prstGeom prst="rect">
            <a:avLst/>
          </a:prstGeom>
        </p:spPr>
      </p:pic>
      <p:pic>
        <p:nvPicPr>
          <p:cNvPr id="10" name="Picture 9">
            <a:extLst>
              <a:ext uri="{FF2B5EF4-FFF2-40B4-BE49-F238E27FC236}">
                <a16:creationId xmlns:a16="http://schemas.microsoft.com/office/drawing/2014/main" id="{0575EC6B-8BE7-483D-A45D-DF34E602CD22}"/>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100000"/>
                    </a14:imgEffect>
                  </a14:imgLayer>
                </a14:imgProps>
              </a:ext>
            </a:extLst>
          </a:blip>
          <a:stretch>
            <a:fillRect/>
          </a:stretch>
        </p:blipFill>
        <p:spPr>
          <a:xfrm>
            <a:off x="6901860" y="39823"/>
            <a:ext cx="2242139" cy="703127"/>
          </a:xfrm>
          <a:prstGeom prst="rect">
            <a:avLst/>
          </a:prstGeom>
        </p:spPr>
      </p:pic>
    </p:spTree>
    <p:extLst>
      <p:ext uri="{BB962C8B-B14F-4D97-AF65-F5344CB8AC3E}">
        <p14:creationId xmlns:p14="http://schemas.microsoft.com/office/powerpoint/2010/main" val="2276349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2400" b="1" dirty="0">
                <a:solidFill>
                  <a:srgbClr val="00B050"/>
                </a:solidFill>
              </a:rPr>
              <a:t>2. Decoding instructions</a:t>
            </a:r>
          </a:p>
        </p:txBody>
      </p:sp>
      <p:sp>
        <p:nvSpPr>
          <p:cNvPr id="3" name="Content Placeholder 2"/>
          <p:cNvSpPr>
            <a:spLocks noGrp="1"/>
          </p:cNvSpPr>
          <p:nvPr>
            <p:ph idx="1"/>
          </p:nvPr>
        </p:nvSpPr>
        <p:spPr>
          <a:xfrm>
            <a:off x="457200" y="742950"/>
            <a:ext cx="3657600" cy="3851673"/>
          </a:xfrm>
        </p:spPr>
        <p:txBody>
          <a:bodyPr>
            <a:normAutofit/>
          </a:bodyPr>
          <a:lstStyle/>
          <a:p>
            <a:r>
              <a:rPr lang="en-US" sz="1800" dirty="0"/>
              <a:t>After CPU has fetched an instruction from memory, it must determine which instruction it has fetched so that it may invoke the correct </a:t>
            </a:r>
            <a:r>
              <a:rPr lang="en-US" sz="1800" b="1" dirty="0"/>
              <a:t>execute routine. </a:t>
            </a:r>
          </a:p>
          <a:p>
            <a:r>
              <a:rPr lang="en-US" sz="1800" dirty="0"/>
              <a:t>For this CPU, there are four instructions and thus, four executer routines.</a:t>
            </a:r>
          </a:p>
          <a:p>
            <a:r>
              <a:rPr lang="en-US" sz="1800" dirty="0"/>
              <a:t>The value in IR (00,01,10 or 11) determines which execute routine is invoked.</a:t>
            </a:r>
          </a:p>
        </p:txBody>
      </p:sp>
      <p:sp>
        <p:nvSpPr>
          <p:cNvPr id="4" name="Date Placeholder 3"/>
          <p:cNvSpPr>
            <a:spLocks noGrp="1"/>
          </p:cNvSpPr>
          <p:nvPr>
            <p:ph type="dt" sz="half" idx="10"/>
          </p:nvPr>
        </p:nvSpPr>
        <p:spPr/>
        <p:txBody>
          <a:bodyPr/>
          <a:lstStyle/>
          <a:p>
            <a:fld id="{C3F2E2AE-93B6-464B-A3DC-7AABC72CDAD5}"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F6ED608A-CB13-4A94-8EB0-49A64D9EB8D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4352925" y="1059061"/>
            <a:ext cx="4333875" cy="3219450"/>
          </a:xfrm>
          <a:prstGeom prst="rect">
            <a:avLst/>
          </a:prstGeom>
        </p:spPr>
      </p:pic>
      <p:pic>
        <p:nvPicPr>
          <p:cNvPr id="8" name="Picture 7">
            <a:extLst>
              <a:ext uri="{FF2B5EF4-FFF2-40B4-BE49-F238E27FC236}">
                <a16:creationId xmlns:a16="http://schemas.microsoft.com/office/drawing/2014/main" id="{2BFBA037-42E4-4937-B9BD-F4C042F927A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4583178" y="4373667"/>
            <a:ext cx="3496777" cy="273844"/>
          </a:xfrm>
          <a:prstGeom prst="rect">
            <a:avLst/>
          </a:prstGeom>
        </p:spPr>
      </p:pic>
      <p:pic>
        <p:nvPicPr>
          <p:cNvPr id="9" name="Picture 8">
            <a:extLst>
              <a:ext uri="{FF2B5EF4-FFF2-40B4-BE49-F238E27FC236}">
                <a16:creationId xmlns:a16="http://schemas.microsoft.com/office/drawing/2014/main" id="{6D66C7D5-E65E-4A71-AB47-15ED61C6466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100000"/>
                    </a14:imgEffect>
                  </a14:imgLayer>
                </a14:imgProps>
              </a:ext>
            </a:extLst>
          </a:blip>
          <a:stretch>
            <a:fillRect/>
          </a:stretch>
        </p:blipFill>
        <p:spPr>
          <a:xfrm>
            <a:off x="6901860" y="39823"/>
            <a:ext cx="2242139" cy="703127"/>
          </a:xfrm>
          <a:prstGeom prst="rect">
            <a:avLst/>
          </a:prstGeom>
        </p:spPr>
      </p:pic>
    </p:spTree>
    <p:extLst>
      <p:ext uri="{BB962C8B-B14F-4D97-AF65-F5344CB8AC3E}">
        <p14:creationId xmlns:p14="http://schemas.microsoft.com/office/powerpoint/2010/main" val="70830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algn="just"/>
            <a:r>
              <a:rPr lang="en-US" sz="2400" b="1" dirty="0">
                <a:solidFill>
                  <a:srgbClr val="00B050"/>
                </a:solidFill>
              </a:rPr>
              <a:t>3. Executing instructions</a:t>
            </a:r>
            <a:endParaRPr lang="en-US" sz="2400" dirty="0">
              <a:solidFill>
                <a:srgbClr val="00B050"/>
              </a:solidFill>
            </a:endParaRPr>
          </a:p>
        </p:txBody>
      </p:sp>
      <p:sp>
        <p:nvSpPr>
          <p:cNvPr id="3" name="Content Placeholder 2"/>
          <p:cNvSpPr>
            <a:spLocks noGrp="1"/>
          </p:cNvSpPr>
          <p:nvPr>
            <p:ph idx="1"/>
          </p:nvPr>
        </p:nvSpPr>
        <p:spPr>
          <a:xfrm>
            <a:off x="457200" y="742950"/>
            <a:ext cx="8229600" cy="3851673"/>
          </a:xfrm>
        </p:spPr>
        <p:txBody>
          <a:bodyPr>
            <a:normAutofit/>
          </a:bodyPr>
          <a:lstStyle/>
          <a:p>
            <a:pPr lvl="0"/>
            <a:r>
              <a:rPr lang="en-US" sz="1400" dirty="0"/>
              <a:t>To complete the state diagram for this CPU, we must </a:t>
            </a:r>
            <a:r>
              <a:rPr lang="en-US" sz="1400" b="1" dirty="0"/>
              <a:t>develop the state diagram for each execute routine</a:t>
            </a:r>
            <a:r>
              <a:rPr lang="en-US" sz="1400" dirty="0"/>
              <a:t>.</a:t>
            </a:r>
          </a:p>
          <a:p>
            <a:pPr lvl="0"/>
            <a:r>
              <a:rPr lang="en-US" sz="1400" dirty="0"/>
              <a:t>Now, we design the portion of the state diagram for each routine and the overall design for the CPU.</a:t>
            </a:r>
          </a:p>
          <a:p>
            <a:pPr lvl="0"/>
            <a:r>
              <a:rPr lang="en-US" sz="1400" dirty="0"/>
              <a:t>The state diagrams for the individual execute routines are fairly simple, so they are only included in the diagram of the finite state machine for the entire CPU.</a:t>
            </a:r>
          </a:p>
        </p:txBody>
      </p:sp>
      <p:sp>
        <p:nvSpPr>
          <p:cNvPr id="4" name="Date Placeholder 3"/>
          <p:cNvSpPr>
            <a:spLocks noGrp="1"/>
          </p:cNvSpPr>
          <p:nvPr>
            <p:ph type="dt" sz="half" idx="10"/>
          </p:nvPr>
        </p:nvSpPr>
        <p:spPr/>
        <p:txBody>
          <a:bodyPr/>
          <a:lstStyle/>
          <a:p>
            <a:fld id="{BDC32F5F-FCDD-47C9-A5DC-F4A0FEF9C6FC}"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9" name="Content Placeholder 2">
            <a:extLst>
              <a:ext uri="{FF2B5EF4-FFF2-40B4-BE49-F238E27FC236}">
                <a16:creationId xmlns:a16="http://schemas.microsoft.com/office/drawing/2014/main" id="{BC291796-A7F2-4EDA-B9DD-B5895ABEE959}"/>
              </a:ext>
            </a:extLst>
          </p:cNvPr>
          <p:cNvSpPr txBox="1">
            <a:spLocks/>
          </p:cNvSpPr>
          <p:nvPr/>
        </p:nvSpPr>
        <p:spPr>
          <a:xfrm>
            <a:off x="457200" y="3562350"/>
            <a:ext cx="4114800" cy="1032273"/>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b="1" dirty="0">
                <a:solidFill>
                  <a:srgbClr val="0070C0"/>
                </a:solidFill>
              </a:rPr>
              <a:t>c) JMP instruction</a:t>
            </a:r>
          </a:p>
          <a:p>
            <a:r>
              <a:rPr lang="en-US" sz="2000" dirty="0">
                <a:sym typeface="Wingdings" panose="05000000000000000000" pitchFamily="2" charset="2"/>
              </a:rPr>
              <a:t>The address to which the CPU must jump is copied into the PC.</a:t>
            </a:r>
          </a:p>
          <a:p>
            <a:r>
              <a:rPr lang="en-US" sz="2000" dirty="0">
                <a:sym typeface="Wingdings" panose="05000000000000000000" pitchFamily="2" charset="2"/>
              </a:rPr>
              <a:t>Then CPU fetches the next instruction.</a:t>
            </a:r>
          </a:p>
          <a:p>
            <a:pPr marL="0" indent="0">
              <a:buFont typeface="Arial" pitchFamily="34" charset="0"/>
              <a:buNone/>
            </a:pPr>
            <a:r>
              <a:rPr lang="en-US" sz="2000" dirty="0">
                <a:sym typeface="Wingdings" panose="05000000000000000000" pitchFamily="2" charset="2"/>
              </a:rPr>
              <a:t>	</a:t>
            </a:r>
            <a:r>
              <a:rPr lang="en-US" sz="2000" b="1" dirty="0">
                <a:sym typeface="Wingdings" panose="05000000000000000000" pitchFamily="2" charset="2"/>
              </a:rPr>
              <a:t>JMP1: PC DR [5..0]</a:t>
            </a:r>
          </a:p>
        </p:txBody>
      </p:sp>
      <p:sp>
        <p:nvSpPr>
          <p:cNvPr id="10" name="Content Placeholder 2">
            <a:extLst>
              <a:ext uri="{FF2B5EF4-FFF2-40B4-BE49-F238E27FC236}">
                <a16:creationId xmlns:a16="http://schemas.microsoft.com/office/drawing/2014/main" id="{9D7CA809-70E5-41B4-8C88-F22E1D867BAB}"/>
              </a:ext>
            </a:extLst>
          </p:cNvPr>
          <p:cNvSpPr txBox="1">
            <a:spLocks/>
          </p:cNvSpPr>
          <p:nvPr/>
        </p:nvSpPr>
        <p:spPr>
          <a:xfrm>
            <a:off x="4648200" y="3562349"/>
            <a:ext cx="4038600" cy="120491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b="1" dirty="0">
                <a:solidFill>
                  <a:srgbClr val="0070C0"/>
                </a:solidFill>
              </a:rPr>
              <a:t>d) INC instruction</a:t>
            </a:r>
          </a:p>
          <a:p>
            <a:r>
              <a:rPr lang="en-US" sz="1400" dirty="0">
                <a:sym typeface="Wingdings" panose="05000000000000000000" pitchFamily="2" charset="2"/>
              </a:rPr>
              <a:t>CPU simply adds 1 to contents of AC and goes to fetch routine.</a:t>
            </a:r>
          </a:p>
          <a:p>
            <a:pPr marL="400050" lvl="1" indent="0">
              <a:buFont typeface="Arial" pitchFamily="34" charset="0"/>
              <a:buNone/>
            </a:pPr>
            <a:r>
              <a:rPr lang="en-US" sz="1200" b="1" dirty="0">
                <a:sym typeface="Wingdings" panose="05000000000000000000" pitchFamily="2" charset="2"/>
              </a:rPr>
              <a:t>	INC1: AC AC + 1</a:t>
            </a:r>
          </a:p>
        </p:txBody>
      </p:sp>
      <p:sp>
        <p:nvSpPr>
          <p:cNvPr id="11" name="Content Placeholder 2">
            <a:extLst>
              <a:ext uri="{FF2B5EF4-FFF2-40B4-BE49-F238E27FC236}">
                <a16:creationId xmlns:a16="http://schemas.microsoft.com/office/drawing/2014/main" id="{6F236E0B-DD1B-426E-B4FE-8B064A0C7FC6}"/>
              </a:ext>
            </a:extLst>
          </p:cNvPr>
          <p:cNvSpPr txBox="1">
            <a:spLocks/>
          </p:cNvSpPr>
          <p:nvPr/>
        </p:nvSpPr>
        <p:spPr>
          <a:xfrm>
            <a:off x="533400" y="1962149"/>
            <a:ext cx="3733800" cy="1413273"/>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dirty="0">
                <a:solidFill>
                  <a:srgbClr val="0070C0"/>
                </a:solidFill>
              </a:rPr>
              <a:t>a) ADD instruction</a:t>
            </a:r>
          </a:p>
          <a:p>
            <a:r>
              <a:rPr lang="en-US" sz="2400" dirty="0"/>
              <a:t>To perform ADD instruction, CPU must :</a:t>
            </a:r>
          </a:p>
          <a:p>
            <a:r>
              <a:rPr lang="en-US" sz="2400" dirty="0"/>
              <a:t>First, fetch one operand from memory.</a:t>
            </a:r>
          </a:p>
          <a:p>
            <a:r>
              <a:rPr lang="en-US" sz="2400" dirty="0"/>
              <a:t>Then add this operand to current contents in AC and store result back in the AC.</a:t>
            </a:r>
          </a:p>
          <a:p>
            <a:pPr marL="857250" lvl="2" indent="0">
              <a:buFont typeface="Arial" pitchFamily="34" charset="0"/>
              <a:buNone/>
            </a:pPr>
            <a:r>
              <a:rPr lang="en-US" b="1" dirty="0"/>
              <a:t>ADD1: DR</a:t>
            </a:r>
            <a:r>
              <a:rPr lang="en-US" b="1" dirty="0">
                <a:sym typeface="Wingdings" panose="05000000000000000000" pitchFamily="2" charset="2"/>
              </a:rPr>
              <a:t>M</a:t>
            </a:r>
          </a:p>
          <a:p>
            <a:pPr marL="857250" lvl="2" indent="0">
              <a:buFont typeface="Arial" pitchFamily="34" charset="0"/>
              <a:buNone/>
            </a:pPr>
            <a:r>
              <a:rPr lang="en-US" b="1" dirty="0">
                <a:sym typeface="Wingdings" panose="05000000000000000000" pitchFamily="2" charset="2"/>
              </a:rPr>
              <a:t>ADD2: ACAC+DR</a:t>
            </a:r>
          </a:p>
        </p:txBody>
      </p:sp>
      <p:sp>
        <p:nvSpPr>
          <p:cNvPr id="12" name="Content Placeholder 2">
            <a:extLst>
              <a:ext uri="{FF2B5EF4-FFF2-40B4-BE49-F238E27FC236}">
                <a16:creationId xmlns:a16="http://schemas.microsoft.com/office/drawing/2014/main" id="{D14AAE7E-53B5-4B2A-BD05-CD4F2F1943CA}"/>
              </a:ext>
            </a:extLst>
          </p:cNvPr>
          <p:cNvSpPr txBox="1">
            <a:spLocks/>
          </p:cNvSpPr>
          <p:nvPr/>
        </p:nvSpPr>
        <p:spPr>
          <a:xfrm>
            <a:off x="4664242" y="1961554"/>
            <a:ext cx="4022558" cy="141327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b="1" dirty="0">
                <a:solidFill>
                  <a:srgbClr val="0070C0"/>
                </a:solidFill>
              </a:rPr>
              <a:t>b) AND instruction</a:t>
            </a:r>
          </a:p>
          <a:p>
            <a:r>
              <a:rPr lang="en-US" sz="1600" dirty="0">
                <a:sym typeface="Wingdings" panose="05000000000000000000" pitchFamily="2" charset="2"/>
              </a:rPr>
              <a:t>Virtually similar to ADD instruction.</a:t>
            </a:r>
          </a:p>
          <a:p>
            <a:r>
              <a:rPr lang="en-US" sz="1600" dirty="0">
                <a:sym typeface="Wingdings" panose="05000000000000000000" pitchFamily="2" charset="2"/>
              </a:rPr>
              <a:t>First, fetch an operand from memory.</a:t>
            </a:r>
          </a:p>
          <a:p>
            <a:r>
              <a:rPr lang="en-US" sz="1600" dirty="0">
                <a:sym typeface="Wingdings" panose="05000000000000000000" pitchFamily="2" charset="2"/>
              </a:rPr>
              <a:t>Logically AND the two values and store it in AC.</a:t>
            </a:r>
          </a:p>
          <a:p>
            <a:pPr marL="1257300" lvl="3" indent="0">
              <a:buFont typeface="Arial" pitchFamily="34" charset="0"/>
              <a:buNone/>
            </a:pPr>
            <a:r>
              <a:rPr lang="en-US" sz="1400" b="1" dirty="0">
                <a:sym typeface="Wingdings" panose="05000000000000000000" pitchFamily="2" charset="2"/>
              </a:rPr>
              <a:t>AND1: DRM</a:t>
            </a:r>
          </a:p>
          <a:p>
            <a:pPr marL="1257300" lvl="3" indent="0">
              <a:buFont typeface="Arial" pitchFamily="34" charset="0"/>
              <a:buNone/>
            </a:pPr>
            <a:r>
              <a:rPr lang="en-US" sz="1400" b="1" dirty="0">
                <a:sym typeface="Wingdings" panose="05000000000000000000" pitchFamily="2" charset="2"/>
              </a:rPr>
              <a:t>AND2: AC AC^DR</a:t>
            </a:r>
          </a:p>
          <a:p>
            <a:endParaRPr lang="en-US" sz="1600" dirty="0">
              <a:sym typeface="Wingdings" panose="05000000000000000000" pitchFamily="2" charset="2"/>
            </a:endParaRPr>
          </a:p>
        </p:txBody>
      </p:sp>
    </p:spTree>
    <p:extLst>
      <p:ext uri="{BB962C8B-B14F-4D97-AF65-F5344CB8AC3E}">
        <p14:creationId xmlns:p14="http://schemas.microsoft.com/office/powerpoint/2010/main" val="418219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2400" b="1" dirty="0">
                <a:solidFill>
                  <a:srgbClr val="00B050"/>
                </a:solidFill>
              </a:rPr>
              <a:t>Establishing required Data paths</a:t>
            </a:r>
          </a:p>
        </p:txBody>
      </p:sp>
      <p:sp>
        <p:nvSpPr>
          <p:cNvPr id="3" name="Content Placeholder 2"/>
          <p:cNvSpPr>
            <a:spLocks noGrp="1"/>
          </p:cNvSpPr>
          <p:nvPr>
            <p:ph idx="1"/>
          </p:nvPr>
        </p:nvSpPr>
        <p:spPr>
          <a:xfrm>
            <a:off x="457200" y="819150"/>
            <a:ext cx="4114800" cy="3775473"/>
          </a:xfrm>
        </p:spPr>
        <p:txBody>
          <a:bodyPr>
            <a:normAutofit/>
          </a:bodyPr>
          <a:lstStyle/>
          <a:p>
            <a:r>
              <a:rPr lang="en-US" sz="1400" dirty="0">
                <a:sym typeface="Wingdings" panose="05000000000000000000" pitchFamily="2" charset="2"/>
              </a:rPr>
              <a:t>The state diagram and register transfers specify what must be done in order to realize this CPU.</a:t>
            </a:r>
          </a:p>
          <a:p>
            <a:r>
              <a:rPr lang="en-US" sz="1400" dirty="0">
                <a:sym typeface="Wingdings" panose="05000000000000000000" pitchFamily="2" charset="2"/>
              </a:rPr>
              <a:t>Now we must design the CPU so that it actually does these things.</a:t>
            </a:r>
          </a:p>
          <a:p>
            <a:r>
              <a:rPr lang="en-US" sz="1400" b="1" dirty="0">
                <a:sym typeface="Wingdings" panose="05000000000000000000" pitchFamily="2" charset="2"/>
              </a:rPr>
              <a:t>First, we look at what data transfers can take place and design the internal data paths of the CPU so this can be done.</a:t>
            </a:r>
          </a:p>
          <a:p>
            <a:r>
              <a:rPr lang="en-US" sz="1400" dirty="0">
                <a:sym typeface="Wingdings" panose="05000000000000000000" pitchFamily="2" charset="2"/>
              </a:rPr>
              <a:t>The operations associated with each state for this CPU are:</a:t>
            </a:r>
          </a:p>
          <a:p>
            <a:endParaRPr lang="en-US" sz="1400" dirty="0">
              <a:sym typeface="Wingdings" panose="05000000000000000000" pitchFamily="2" charset="2"/>
            </a:endParaRPr>
          </a:p>
        </p:txBody>
      </p:sp>
      <p:sp>
        <p:nvSpPr>
          <p:cNvPr id="4" name="Date Placeholder 3"/>
          <p:cNvSpPr>
            <a:spLocks noGrp="1"/>
          </p:cNvSpPr>
          <p:nvPr>
            <p:ph type="dt" sz="half" idx="10"/>
          </p:nvPr>
        </p:nvSpPr>
        <p:spPr/>
        <p:txBody>
          <a:bodyPr/>
          <a:lstStyle/>
          <a:p>
            <a:fld id="{1073E11B-4F62-4ADD-9C75-FD7070404F0D}"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7" name="Content Placeholder 2">
            <a:extLst>
              <a:ext uri="{FF2B5EF4-FFF2-40B4-BE49-F238E27FC236}">
                <a16:creationId xmlns:a16="http://schemas.microsoft.com/office/drawing/2014/main" id="{8FF3323E-217D-4314-A868-AF01381F29A7}"/>
              </a:ext>
            </a:extLst>
          </p:cNvPr>
          <p:cNvSpPr txBox="1">
            <a:spLocks/>
          </p:cNvSpPr>
          <p:nvPr/>
        </p:nvSpPr>
        <p:spPr>
          <a:xfrm>
            <a:off x="5029200" y="819149"/>
            <a:ext cx="3429000" cy="37754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800" dirty="0">
              <a:sym typeface="Wingdings" panose="05000000000000000000" pitchFamily="2" charset="2"/>
            </a:endParaRPr>
          </a:p>
        </p:txBody>
      </p:sp>
      <p:pic>
        <p:nvPicPr>
          <p:cNvPr id="8" name="Picture 7">
            <a:extLst>
              <a:ext uri="{FF2B5EF4-FFF2-40B4-BE49-F238E27FC236}">
                <a16:creationId xmlns:a16="http://schemas.microsoft.com/office/drawing/2014/main" id="{2F1DDF8E-7B2F-4991-8778-A1AE15468DC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62000"/>
                    </a14:imgEffect>
                  </a14:imgLayer>
                </a14:imgProps>
              </a:ext>
            </a:extLst>
          </a:blip>
          <a:stretch>
            <a:fillRect/>
          </a:stretch>
        </p:blipFill>
        <p:spPr>
          <a:xfrm>
            <a:off x="1399674" y="3115014"/>
            <a:ext cx="2743200" cy="1903032"/>
          </a:xfrm>
          <a:prstGeom prst="rect">
            <a:avLst/>
          </a:prstGeom>
        </p:spPr>
      </p:pic>
      <p:pic>
        <p:nvPicPr>
          <p:cNvPr id="9" name="Picture 8">
            <a:extLst>
              <a:ext uri="{FF2B5EF4-FFF2-40B4-BE49-F238E27FC236}">
                <a16:creationId xmlns:a16="http://schemas.microsoft.com/office/drawing/2014/main" id="{8B0067C4-1F68-40C7-838C-977AA86D02A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6901860" y="39823"/>
            <a:ext cx="2242139" cy="703127"/>
          </a:xfrm>
          <a:prstGeom prst="rect">
            <a:avLst/>
          </a:prstGeom>
        </p:spPr>
      </p:pic>
      <p:pic>
        <p:nvPicPr>
          <p:cNvPr id="10" name="Picture 9">
            <a:extLst>
              <a:ext uri="{FF2B5EF4-FFF2-40B4-BE49-F238E27FC236}">
                <a16:creationId xmlns:a16="http://schemas.microsoft.com/office/drawing/2014/main" id="{6A1529D4-5013-4FFD-9E18-7248DEC691CE}"/>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81000"/>
                    </a14:imgEffect>
                  </a14:imgLayer>
                </a14:imgProps>
              </a:ext>
            </a:extLst>
          </a:blip>
          <a:stretch>
            <a:fillRect/>
          </a:stretch>
        </p:blipFill>
        <p:spPr>
          <a:xfrm>
            <a:off x="4871512" y="1581150"/>
            <a:ext cx="3815288" cy="2863096"/>
          </a:xfrm>
          <a:prstGeom prst="rect">
            <a:avLst/>
          </a:prstGeom>
        </p:spPr>
      </p:pic>
    </p:spTree>
    <p:extLst>
      <p:ext uri="{BB962C8B-B14F-4D97-AF65-F5344CB8AC3E}">
        <p14:creationId xmlns:p14="http://schemas.microsoft.com/office/powerpoint/2010/main" val="1997875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endParaRPr lang="en-US" sz="3200" b="1" dirty="0">
              <a:solidFill>
                <a:srgbClr val="00B050"/>
              </a:solidFill>
            </a:endParaRPr>
          </a:p>
        </p:txBody>
      </p:sp>
      <p:sp>
        <p:nvSpPr>
          <p:cNvPr id="3" name="Content Placeholder 2"/>
          <p:cNvSpPr>
            <a:spLocks noGrp="1"/>
          </p:cNvSpPr>
          <p:nvPr>
            <p:ph idx="1"/>
          </p:nvPr>
        </p:nvSpPr>
        <p:spPr>
          <a:xfrm>
            <a:off x="457200" y="819150"/>
            <a:ext cx="8229600" cy="3775473"/>
          </a:xfrm>
        </p:spPr>
        <p:txBody>
          <a:bodyPr>
            <a:normAutofit/>
          </a:bodyPr>
          <a:lstStyle/>
          <a:p>
            <a:r>
              <a:rPr lang="en-US" sz="1800" dirty="0">
                <a:sym typeface="Wingdings" panose="05000000000000000000" pitchFamily="2" charset="2"/>
              </a:rPr>
              <a:t>To design the data paths, we can take one of two approaches.</a:t>
            </a:r>
          </a:p>
          <a:p>
            <a:pPr lvl="1"/>
            <a:r>
              <a:rPr lang="en-US" sz="1600" dirty="0">
                <a:sym typeface="Wingdings" panose="05000000000000000000" pitchFamily="2" charset="2"/>
              </a:rPr>
              <a:t>Create </a:t>
            </a:r>
            <a:r>
              <a:rPr lang="en-US" sz="1600" b="1" dirty="0">
                <a:sym typeface="Wingdings" panose="05000000000000000000" pitchFamily="2" charset="2"/>
              </a:rPr>
              <a:t>direct paths </a:t>
            </a:r>
            <a:r>
              <a:rPr lang="en-US" sz="1600" dirty="0">
                <a:sym typeface="Wingdings" panose="05000000000000000000" pitchFamily="2" charset="2"/>
              </a:rPr>
              <a:t>between each pair of components that transfer data.</a:t>
            </a:r>
          </a:p>
          <a:p>
            <a:pPr lvl="1"/>
            <a:r>
              <a:rPr lang="en-US" sz="1600" dirty="0">
                <a:sym typeface="Wingdings" panose="05000000000000000000" pitchFamily="2" charset="2"/>
              </a:rPr>
              <a:t>Create a </a:t>
            </a:r>
            <a:r>
              <a:rPr lang="en-US" sz="1600" b="1" dirty="0">
                <a:sym typeface="Wingdings" panose="05000000000000000000" pitchFamily="2" charset="2"/>
              </a:rPr>
              <a:t>bus</a:t>
            </a:r>
            <a:r>
              <a:rPr lang="en-US" sz="1600" dirty="0">
                <a:sym typeface="Wingdings" panose="05000000000000000000" pitchFamily="2" charset="2"/>
              </a:rPr>
              <a:t> within the CPU and route data between components via the bus.</a:t>
            </a:r>
          </a:p>
          <a:p>
            <a:r>
              <a:rPr lang="en-US" sz="1800" dirty="0">
                <a:sym typeface="Wingdings" panose="05000000000000000000" pitchFamily="2" charset="2"/>
              </a:rPr>
              <a:t>Now we regroup the operations, without regard for the cycles in which they occur, by the register whose contents they modify.  This result in the following:</a:t>
            </a:r>
          </a:p>
          <a:p>
            <a:endParaRPr lang="en-US" sz="2000" dirty="0">
              <a:sym typeface="Wingdings" panose="05000000000000000000" pitchFamily="2" charset="2"/>
            </a:endParaRPr>
          </a:p>
        </p:txBody>
      </p:sp>
      <p:sp>
        <p:nvSpPr>
          <p:cNvPr id="4" name="Date Placeholder 3"/>
          <p:cNvSpPr>
            <a:spLocks noGrp="1"/>
          </p:cNvSpPr>
          <p:nvPr>
            <p:ph type="dt" sz="half" idx="10"/>
          </p:nvPr>
        </p:nvSpPr>
        <p:spPr/>
        <p:txBody>
          <a:bodyPr/>
          <a:lstStyle/>
          <a:p>
            <a:fld id="{3F5283A5-6BFE-41C7-840F-4BEC66074C32}"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Content Placeholder 7">
            <a:extLst>
              <a:ext uri="{FF2B5EF4-FFF2-40B4-BE49-F238E27FC236}">
                <a16:creationId xmlns:a16="http://schemas.microsoft.com/office/drawing/2014/main" id="{DD431954-501A-4536-AF39-F8F8A1D770E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8000"/>
                    </a14:imgEffect>
                  </a14:imgLayer>
                </a14:imgProps>
              </a:ext>
            </a:extLst>
          </a:blip>
          <a:stretch>
            <a:fillRect/>
          </a:stretch>
        </p:blipFill>
        <p:spPr>
          <a:xfrm>
            <a:off x="628090" y="2832999"/>
            <a:ext cx="2581275" cy="1790700"/>
          </a:xfrm>
          <a:prstGeom prst="rect">
            <a:avLst/>
          </a:prstGeom>
        </p:spPr>
      </p:pic>
      <p:pic>
        <p:nvPicPr>
          <p:cNvPr id="8" name="Picture 7">
            <a:extLst>
              <a:ext uri="{FF2B5EF4-FFF2-40B4-BE49-F238E27FC236}">
                <a16:creationId xmlns:a16="http://schemas.microsoft.com/office/drawing/2014/main" id="{31CE623C-4A02-49F5-8DD1-02E4562BF6F4}"/>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2000"/>
                    </a14:imgEffect>
                  </a14:imgLayer>
                </a14:imgProps>
              </a:ext>
            </a:extLst>
          </a:blip>
          <a:srcRect r="7483"/>
          <a:stretch/>
        </p:blipFill>
        <p:spPr>
          <a:xfrm>
            <a:off x="4648200" y="2901244"/>
            <a:ext cx="4370854" cy="1447002"/>
          </a:xfrm>
          <a:prstGeom prst="rect">
            <a:avLst/>
          </a:prstGeom>
        </p:spPr>
      </p:pic>
      <p:sp>
        <p:nvSpPr>
          <p:cNvPr id="9" name="Arrow: Right 8">
            <a:extLst>
              <a:ext uri="{FF2B5EF4-FFF2-40B4-BE49-F238E27FC236}">
                <a16:creationId xmlns:a16="http://schemas.microsoft.com/office/drawing/2014/main" id="{A4B753C0-F41F-4A9E-91A8-6B683FF095F3}"/>
              </a:ext>
            </a:extLst>
          </p:cNvPr>
          <p:cNvSpPr/>
          <p:nvPr/>
        </p:nvSpPr>
        <p:spPr>
          <a:xfrm>
            <a:off x="3422703" y="3382429"/>
            <a:ext cx="978408" cy="484632"/>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3010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endParaRPr lang="en-US" sz="3200" b="1" dirty="0">
              <a:solidFill>
                <a:srgbClr val="00B050"/>
              </a:solidFill>
            </a:endParaRPr>
          </a:p>
        </p:txBody>
      </p:sp>
      <p:sp>
        <p:nvSpPr>
          <p:cNvPr id="3" name="Content Placeholder 2"/>
          <p:cNvSpPr>
            <a:spLocks noGrp="1"/>
          </p:cNvSpPr>
          <p:nvPr>
            <p:ph idx="1"/>
          </p:nvPr>
        </p:nvSpPr>
        <p:spPr>
          <a:xfrm>
            <a:off x="457200" y="1742332"/>
            <a:ext cx="4495800" cy="2852291"/>
          </a:xfrm>
        </p:spPr>
        <p:txBody>
          <a:bodyPr>
            <a:normAutofit fontScale="62500" lnSpcReduction="20000"/>
          </a:bodyPr>
          <a:lstStyle/>
          <a:p>
            <a:r>
              <a:rPr lang="en-US" dirty="0">
                <a:sym typeface="Wingdings" panose="05000000000000000000" pitchFamily="2" charset="2"/>
              </a:rPr>
              <a:t>AR, DR and IR always load data from some other component. </a:t>
            </a:r>
          </a:p>
          <a:p>
            <a:r>
              <a:rPr lang="en-US" dirty="0">
                <a:sym typeface="Wingdings" panose="05000000000000000000" pitchFamily="2" charset="2"/>
              </a:rPr>
              <a:t>We connect every component to the system bus, as shown in figure.</a:t>
            </a:r>
          </a:p>
          <a:p>
            <a:r>
              <a:rPr lang="en-US" dirty="0">
                <a:sym typeface="Wingdings" panose="05000000000000000000" pitchFamily="2" charset="2"/>
              </a:rPr>
              <a:t>We </a:t>
            </a:r>
            <a:r>
              <a:rPr lang="en-US" b="1" dirty="0">
                <a:sym typeface="Wingdings" panose="05000000000000000000" pitchFamily="2" charset="2"/>
              </a:rPr>
              <a:t>include tri-state buffers </a:t>
            </a:r>
            <a:r>
              <a:rPr lang="en-US" dirty="0">
                <a:sym typeface="Wingdings" panose="05000000000000000000" pitchFamily="2" charset="2"/>
              </a:rPr>
              <a:t>to restrict data being placed all the times by everyone.</a:t>
            </a:r>
          </a:p>
          <a:p>
            <a:r>
              <a:rPr lang="en-US" dirty="0">
                <a:sym typeface="Wingdings" panose="05000000000000000000" pitchFamily="2" charset="2"/>
              </a:rPr>
              <a:t>Also, the output of AR are connected to pins A[5..0], as required in the CPU specification. </a:t>
            </a:r>
          </a:p>
          <a:p>
            <a:endParaRPr lang="en-US" dirty="0">
              <a:sym typeface="Wingdings" panose="05000000000000000000" pitchFamily="2" charset="2"/>
            </a:endParaRPr>
          </a:p>
        </p:txBody>
      </p:sp>
      <p:sp>
        <p:nvSpPr>
          <p:cNvPr id="4" name="Date Placeholder 3"/>
          <p:cNvSpPr>
            <a:spLocks noGrp="1"/>
          </p:cNvSpPr>
          <p:nvPr>
            <p:ph type="dt" sz="half" idx="10"/>
          </p:nvPr>
        </p:nvSpPr>
        <p:spPr/>
        <p:txBody>
          <a:bodyPr/>
          <a:lstStyle/>
          <a:p>
            <a:fld id="{64C8C041-523A-4E0F-9374-F083FCB366BA}"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8" name="Picture 7">
            <a:extLst>
              <a:ext uri="{FF2B5EF4-FFF2-40B4-BE49-F238E27FC236}">
                <a16:creationId xmlns:a16="http://schemas.microsoft.com/office/drawing/2014/main" id="{4CF1FA31-4108-49FC-A7CF-D0D4E1B87B0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334002" y="0"/>
            <a:ext cx="3619498" cy="4782687"/>
          </a:xfrm>
          <a:prstGeom prst="rect">
            <a:avLst/>
          </a:prstGeom>
        </p:spPr>
      </p:pic>
      <p:pic>
        <p:nvPicPr>
          <p:cNvPr id="9" name="Picture 8">
            <a:extLst>
              <a:ext uri="{FF2B5EF4-FFF2-40B4-BE49-F238E27FC236}">
                <a16:creationId xmlns:a16="http://schemas.microsoft.com/office/drawing/2014/main" id="{1F09FF85-4577-4244-928F-DA9527774394}"/>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5462588" y="4677912"/>
            <a:ext cx="3362325" cy="209550"/>
          </a:xfrm>
          <a:prstGeom prst="rect">
            <a:avLst/>
          </a:prstGeom>
        </p:spPr>
      </p:pic>
      <p:pic>
        <p:nvPicPr>
          <p:cNvPr id="10" name="Picture 9">
            <a:extLst>
              <a:ext uri="{FF2B5EF4-FFF2-40B4-BE49-F238E27FC236}">
                <a16:creationId xmlns:a16="http://schemas.microsoft.com/office/drawing/2014/main" id="{33D5E577-DE7A-407E-B805-39E964B3BCCC}"/>
              </a:ext>
            </a:extLst>
          </p:cNvPr>
          <p:cNvPicPr>
            <a:picLocks noChangeAspect="1"/>
          </p:cNvPicPr>
          <p:nvPr/>
        </p:nvPicPr>
        <p:blipFill rotWithShape="1">
          <a:blip r:embed="rId6">
            <a:extLst>
              <a:ext uri="{BEBA8EAE-BF5A-486C-A8C5-ECC9F3942E4B}">
                <a14:imgProps xmlns:a14="http://schemas.microsoft.com/office/drawing/2010/main">
                  <a14:imgLayer r:embed="rId7">
                    <a14:imgEffect>
                      <a14:sharpenSoften amount="2000"/>
                    </a14:imgEffect>
                  </a14:imgLayer>
                </a14:imgProps>
              </a:ext>
            </a:extLst>
          </a:blip>
          <a:srcRect r="7483"/>
          <a:stretch/>
        </p:blipFill>
        <p:spPr>
          <a:xfrm>
            <a:off x="457199" y="205979"/>
            <a:ext cx="4149213" cy="1373626"/>
          </a:xfrm>
          <a:prstGeom prst="rect">
            <a:avLst/>
          </a:prstGeom>
        </p:spPr>
      </p:pic>
    </p:spTree>
    <p:extLst>
      <p:ext uri="{BB962C8B-B14F-4D97-AF65-F5344CB8AC3E}">
        <p14:creationId xmlns:p14="http://schemas.microsoft.com/office/powerpoint/2010/main" val="3535322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endParaRPr lang="en-US" sz="3200" b="1" dirty="0">
              <a:solidFill>
                <a:srgbClr val="00B050"/>
              </a:solidFill>
            </a:endParaRPr>
          </a:p>
        </p:txBody>
      </p:sp>
      <p:sp>
        <p:nvSpPr>
          <p:cNvPr id="3" name="Content Placeholder 2"/>
          <p:cNvSpPr>
            <a:spLocks noGrp="1"/>
          </p:cNvSpPr>
          <p:nvPr>
            <p:ph idx="1"/>
          </p:nvPr>
        </p:nvSpPr>
        <p:spPr>
          <a:xfrm>
            <a:off x="457200" y="1581150"/>
            <a:ext cx="4419600" cy="3013473"/>
          </a:xfrm>
        </p:spPr>
        <p:txBody>
          <a:bodyPr>
            <a:normAutofit/>
          </a:bodyPr>
          <a:lstStyle/>
          <a:p>
            <a:r>
              <a:rPr lang="en-US" sz="2000" dirty="0">
                <a:sym typeface="Wingdings" panose="05000000000000000000" pitchFamily="2" charset="2"/>
              </a:rPr>
              <a:t>AC can load in one of two values, either AC+DR or AC^DR.</a:t>
            </a:r>
          </a:p>
          <a:p>
            <a:r>
              <a:rPr lang="en-US" sz="2000" dirty="0">
                <a:sym typeface="Wingdings" panose="05000000000000000000" pitchFamily="2" charset="2"/>
              </a:rPr>
              <a:t>The CPU must incorporate some arithmetic and logic circuitry to generate these values.</a:t>
            </a:r>
          </a:p>
          <a:p>
            <a:pPr lvl="1"/>
            <a:r>
              <a:rPr lang="en-US" sz="1600" dirty="0">
                <a:sym typeface="Wingdings" panose="05000000000000000000" pitchFamily="2" charset="2"/>
              </a:rPr>
              <a:t>When ALUSEL = 0, the output of ALU is arithmetic sum of its input, (i.e. AC+DR)</a:t>
            </a:r>
          </a:p>
          <a:p>
            <a:pPr lvl="1"/>
            <a:r>
              <a:rPr lang="en-US" sz="1600" dirty="0">
                <a:sym typeface="Wingdings" panose="05000000000000000000" pitchFamily="2" charset="2"/>
              </a:rPr>
              <a:t>When ALUSEL = 1, the output of ALU is logical AND of its input. (i.e. AC^DR)</a:t>
            </a:r>
          </a:p>
        </p:txBody>
      </p:sp>
      <p:sp>
        <p:nvSpPr>
          <p:cNvPr id="4" name="Date Placeholder 3"/>
          <p:cNvSpPr>
            <a:spLocks noGrp="1"/>
          </p:cNvSpPr>
          <p:nvPr>
            <p:ph type="dt" sz="half" idx="10"/>
          </p:nvPr>
        </p:nvSpPr>
        <p:spPr/>
        <p:txBody>
          <a:bodyPr/>
          <a:lstStyle/>
          <a:p>
            <a:fld id="{A1DD8A41-0A19-471B-9BA0-05720F5DDC62}"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9F698F51-A989-4D43-A9C1-7CA45F2B64F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238750" y="226373"/>
            <a:ext cx="3695700" cy="4368250"/>
          </a:xfrm>
          <a:prstGeom prst="rect">
            <a:avLst/>
          </a:prstGeom>
        </p:spPr>
      </p:pic>
      <p:pic>
        <p:nvPicPr>
          <p:cNvPr id="8" name="Picture 7">
            <a:extLst>
              <a:ext uri="{FF2B5EF4-FFF2-40B4-BE49-F238E27FC236}">
                <a16:creationId xmlns:a16="http://schemas.microsoft.com/office/drawing/2014/main" id="{0FF0DBFC-DF35-48DF-9793-B473A2F1987B}"/>
              </a:ext>
            </a:extLst>
          </p:cNvPr>
          <p:cNvPicPr>
            <a:picLocks noChangeAspect="1"/>
          </p:cNvPicPr>
          <p:nvPr/>
        </p:nvPicPr>
        <p:blipFill rotWithShape="1">
          <a:blip r:embed="rId4"/>
          <a:srcRect r="7483"/>
          <a:stretch/>
        </p:blipFill>
        <p:spPr>
          <a:xfrm>
            <a:off x="76200" y="88598"/>
            <a:ext cx="3817929" cy="1263952"/>
          </a:xfrm>
          <a:prstGeom prst="rect">
            <a:avLst/>
          </a:prstGeom>
        </p:spPr>
      </p:pic>
      <p:pic>
        <p:nvPicPr>
          <p:cNvPr id="9" name="Picture 8">
            <a:extLst>
              <a:ext uri="{FF2B5EF4-FFF2-40B4-BE49-F238E27FC236}">
                <a16:creationId xmlns:a16="http://schemas.microsoft.com/office/drawing/2014/main" id="{7FA4827E-9EE9-428D-8A46-5867A6C2AABB}"/>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100000"/>
                    </a14:imgEffect>
                  </a14:imgLayer>
                </a14:imgProps>
              </a:ext>
            </a:extLst>
          </a:blip>
          <a:stretch>
            <a:fillRect/>
          </a:stretch>
        </p:blipFill>
        <p:spPr>
          <a:xfrm>
            <a:off x="5562600" y="4616348"/>
            <a:ext cx="2819400" cy="219075"/>
          </a:xfrm>
          <a:prstGeom prst="rect">
            <a:avLst/>
          </a:prstGeom>
        </p:spPr>
      </p:pic>
    </p:spTree>
    <p:extLst>
      <p:ext uri="{BB962C8B-B14F-4D97-AF65-F5344CB8AC3E}">
        <p14:creationId xmlns:p14="http://schemas.microsoft.com/office/powerpoint/2010/main" val="3515248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4.5 ALU Design</a:t>
            </a:r>
          </a:p>
        </p:txBody>
      </p:sp>
      <p:sp>
        <p:nvSpPr>
          <p:cNvPr id="3" name="Content Placeholder 2"/>
          <p:cNvSpPr>
            <a:spLocks noGrp="1"/>
          </p:cNvSpPr>
          <p:nvPr>
            <p:ph idx="1"/>
          </p:nvPr>
        </p:nvSpPr>
        <p:spPr>
          <a:xfrm>
            <a:off x="457200" y="742950"/>
            <a:ext cx="2362200" cy="3958829"/>
          </a:xfrm>
          <a:solidFill>
            <a:schemeClr val="bg1"/>
          </a:solidFill>
        </p:spPr>
        <p:txBody>
          <a:bodyPr>
            <a:normAutofit/>
          </a:bodyPr>
          <a:lstStyle/>
          <a:p>
            <a:r>
              <a:rPr lang="en-US" sz="2000" dirty="0"/>
              <a:t>The circuit diagram for the relatively simple CPU  is shown in figure below:</a:t>
            </a:r>
          </a:p>
        </p:txBody>
      </p:sp>
      <p:sp>
        <p:nvSpPr>
          <p:cNvPr id="4" name="Date Placeholder 3"/>
          <p:cNvSpPr>
            <a:spLocks noGrp="1"/>
          </p:cNvSpPr>
          <p:nvPr>
            <p:ph type="dt" sz="half" idx="10"/>
          </p:nvPr>
        </p:nvSpPr>
        <p:spPr/>
        <p:txBody>
          <a:bodyPr/>
          <a:lstStyle/>
          <a:p>
            <a:fld id="{C362F209-94E9-45C4-A9ED-4D6D4DBE48A9}"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8" name="Picture 7">
            <a:extLst>
              <a:ext uri="{FF2B5EF4-FFF2-40B4-BE49-F238E27FC236}">
                <a16:creationId xmlns:a16="http://schemas.microsoft.com/office/drawing/2014/main" id="{88FEBC16-8E88-420E-B4A9-73A4A80843F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3886199" y="122672"/>
            <a:ext cx="4247805" cy="5020828"/>
          </a:xfrm>
          <a:prstGeom prst="rect">
            <a:avLst/>
          </a:prstGeom>
        </p:spPr>
      </p:pic>
    </p:spTree>
    <p:extLst>
      <p:ext uri="{BB962C8B-B14F-4D97-AF65-F5344CB8AC3E}">
        <p14:creationId xmlns:p14="http://schemas.microsoft.com/office/powerpoint/2010/main" val="3886360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B050"/>
                </a:solidFill>
              </a:rPr>
              <a:t>ALU for relatively simple CPU</a:t>
            </a:r>
          </a:p>
        </p:txBody>
      </p:sp>
      <p:sp>
        <p:nvSpPr>
          <p:cNvPr id="3" name="Content Placeholder 2"/>
          <p:cNvSpPr>
            <a:spLocks noGrp="1"/>
          </p:cNvSpPr>
          <p:nvPr>
            <p:ph idx="1"/>
          </p:nvPr>
        </p:nvSpPr>
        <p:spPr>
          <a:xfrm>
            <a:off x="457200" y="742950"/>
            <a:ext cx="4419600" cy="3851673"/>
          </a:xfrm>
          <a:solidFill>
            <a:schemeClr val="bg1"/>
          </a:solidFill>
        </p:spPr>
        <p:txBody>
          <a:bodyPr>
            <a:normAutofit fontScale="85000" lnSpcReduction="10000"/>
          </a:bodyPr>
          <a:lstStyle/>
          <a:p>
            <a:r>
              <a:rPr lang="en-US" sz="2000" dirty="0"/>
              <a:t>The ALU for this CPU performs only two functions:</a:t>
            </a:r>
          </a:p>
          <a:p>
            <a:pPr lvl="1"/>
            <a:r>
              <a:rPr lang="en-US" sz="1600" dirty="0"/>
              <a:t>Adds its two inputs or </a:t>
            </a:r>
          </a:p>
          <a:p>
            <a:pPr lvl="1"/>
            <a:r>
              <a:rPr lang="en-US" sz="1600" dirty="0"/>
              <a:t>logically ANDs its two inputs.</a:t>
            </a:r>
          </a:p>
          <a:p>
            <a:r>
              <a:rPr lang="en-US" sz="2000" dirty="0"/>
              <a:t>The simplest way to design this ALU is to create separate hardware to perform each function and then use a multiplexer to output one of the two results.</a:t>
            </a:r>
          </a:p>
          <a:p>
            <a:pPr lvl="1"/>
            <a:r>
              <a:rPr lang="en-US" sz="1600" dirty="0"/>
              <a:t>The addition is implemented using a standard 8-bit parallel adder.</a:t>
            </a:r>
          </a:p>
          <a:p>
            <a:pPr lvl="1"/>
            <a:r>
              <a:rPr lang="en-US" sz="1600" dirty="0"/>
              <a:t>The logical AND operation is implemented using eight bits 2-input  AND gates.</a:t>
            </a:r>
          </a:p>
          <a:p>
            <a:pPr lvl="1"/>
            <a:r>
              <a:rPr lang="en-US" sz="1600" dirty="0"/>
              <a:t>The outputs of the parallel adder and the AND gates are input to an 8-bit 2 to 1 multiplexer.</a:t>
            </a:r>
          </a:p>
          <a:p>
            <a:pPr lvl="1"/>
            <a:r>
              <a:rPr lang="en-US" sz="1600" dirty="0"/>
              <a:t>The control unit of the MUX is called S (for select). </a:t>
            </a:r>
          </a:p>
        </p:txBody>
      </p:sp>
      <p:sp>
        <p:nvSpPr>
          <p:cNvPr id="4" name="Date Placeholder 3"/>
          <p:cNvSpPr>
            <a:spLocks noGrp="1"/>
          </p:cNvSpPr>
          <p:nvPr>
            <p:ph type="dt" sz="half" idx="10"/>
          </p:nvPr>
        </p:nvSpPr>
        <p:spPr/>
        <p:txBody>
          <a:bodyPr/>
          <a:lstStyle/>
          <a:p>
            <a:fld id="{69B4B076-D21E-4A8D-9AA5-4CA6BD6E730B}"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D51C8B39-DFAF-4C28-8590-67391C396B1A}"/>
              </a:ext>
            </a:extLst>
          </p:cNvPr>
          <p:cNvPicPr>
            <a:picLocks noChangeAspect="1"/>
          </p:cNvPicPr>
          <p:nvPr/>
        </p:nvPicPr>
        <p:blipFill>
          <a:blip r:embed="rId2"/>
          <a:stretch>
            <a:fillRect/>
          </a:stretch>
        </p:blipFill>
        <p:spPr>
          <a:xfrm>
            <a:off x="4911520" y="666750"/>
            <a:ext cx="4200525" cy="3038475"/>
          </a:xfrm>
          <a:prstGeom prst="rect">
            <a:avLst/>
          </a:prstGeom>
        </p:spPr>
      </p:pic>
      <p:sp>
        <p:nvSpPr>
          <p:cNvPr id="8" name="Rectangle 7">
            <a:extLst>
              <a:ext uri="{FF2B5EF4-FFF2-40B4-BE49-F238E27FC236}">
                <a16:creationId xmlns:a16="http://schemas.microsoft.com/office/drawing/2014/main" id="{2C4AA755-1B59-47C5-9F40-DA0CCB195CDD}"/>
              </a:ext>
            </a:extLst>
          </p:cNvPr>
          <p:cNvSpPr/>
          <p:nvPr/>
        </p:nvSpPr>
        <p:spPr>
          <a:xfrm>
            <a:off x="6400800" y="4107418"/>
            <a:ext cx="1549014" cy="307777"/>
          </a:xfrm>
          <a:prstGeom prst="rect">
            <a:avLst/>
          </a:prstGeom>
        </p:spPr>
        <p:txBody>
          <a:bodyPr wrap="none">
            <a:spAutoFit/>
          </a:bodyPr>
          <a:lstStyle/>
          <a:p>
            <a:r>
              <a:rPr lang="en-US" sz="1400" i="1" dirty="0"/>
              <a:t>Figure: ALU Design</a:t>
            </a:r>
          </a:p>
        </p:txBody>
      </p:sp>
    </p:spTree>
    <p:extLst>
      <p:ext uri="{BB962C8B-B14F-4D97-AF65-F5344CB8AC3E}">
        <p14:creationId xmlns:p14="http://schemas.microsoft.com/office/powerpoint/2010/main" val="246978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A613343C-66C2-4054-AA4A-D35FD7B187BC}"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D51C8B39-DFAF-4C28-8590-67391C396B1A}"/>
              </a:ext>
            </a:extLst>
          </p:cNvPr>
          <p:cNvPicPr>
            <a:picLocks noChangeAspect="1"/>
          </p:cNvPicPr>
          <p:nvPr/>
        </p:nvPicPr>
        <p:blipFill>
          <a:blip r:embed="rId2"/>
          <a:stretch>
            <a:fillRect/>
          </a:stretch>
        </p:blipFill>
        <p:spPr>
          <a:xfrm>
            <a:off x="4724400" y="1197769"/>
            <a:ext cx="4200525" cy="3038475"/>
          </a:xfrm>
          <a:prstGeom prst="rect">
            <a:avLst/>
          </a:prstGeom>
        </p:spPr>
      </p:pic>
      <p:pic>
        <p:nvPicPr>
          <p:cNvPr id="10" name="Picture 9">
            <a:extLst>
              <a:ext uri="{FF2B5EF4-FFF2-40B4-BE49-F238E27FC236}">
                <a16:creationId xmlns:a16="http://schemas.microsoft.com/office/drawing/2014/main" id="{8E2B60E1-B135-4404-9172-6B6C0A6A875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tretch>
            <a:fillRect/>
          </a:stretch>
        </p:blipFill>
        <p:spPr>
          <a:xfrm>
            <a:off x="609600" y="809830"/>
            <a:ext cx="3128436" cy="3697754"/>
          </a:xfrm>
          <a:prstGeom prst="rect">
            <a:avLst/>
          </a:prstGeom>
        </p:spPr>
      </p:pic>
      <p:sp>
        <p:nvSpPr>
          <p:cNvPr id="11" name="Rectangle 10">
            <a:extLst>
              <a:ext uri="{FF2B5EF4-FFF2-40B4-BE49-F238E27FC236}">
                <a16:creationId xmlns:a16="http://schemas.microsoft.com/office/drawing/2014/main" id="{C9114709-7083-46EC-9E65-299F811F96F2}"/>
              </a:ext>
            </a:extLst>
          </p:cNvPr>
          <p:cNvSpPr/>
          <p:nvPr/>
        </p:nvSpPr>
        <p:spPr>
          <a:xfrm>
            <a:off x="914400" y="2800350"/>
            <a:ext cx="762000" cy="685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367ECB68-0246-413B-A114-2F70E5F5FD36}"/>
              </a:ext>
            </a:extLst>
          </p:cNvPr>
          <p:cNvCxnSpPr/>
          <p:nvPr/>
        </p:nvCxnSpPr>
        <p:spPr>
          <a:xfrm flipV="1">
            <a:off x="1676400" y="2717006"/>
            <a:ext cx="3810000" cy="304800"/>
          </a:xfrm>
          <a:prstGeom prst="straightConnector1">
            <a:avLst/>
          </a:prstGeom>
          <a:ln w="127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181267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2400" b="1" dirty="0">
                <a:solidFill>
                  <a:srgbClr val="7030A0"/>
                </a:solidFill>
              </a:rPr>
              <a:t>Summary:</a:t>
            </a:r>
          </a:p>
        </p:txBody>
      </p:sp>
      <p:sp>
        <p:nvSpPr>
          <p:cNvPr id="3" name="Content Placeholder 2"/>
          <p:cNvSpPr>
            <a:spLocks noGrp="1"/>
          </p:cNvSpPr>
          <p:nvPr>
            <p:ph idx="1"/>
          </p:nvPr>
        </p:nvSpPr>
        <p:spPr>
          <a:xfrm>
            <a:off x="457200" y="819150"/>
            <a:ext cx="4114800" cy="3775473"/>
          </a:xfrm>
        </p:spPr>
        <p:txBody>
          <a:bodyPr>
            <a:normAutofit/>
          </a:bodyPr>
          <a:lstStyle/>
          <a:p>
            <a:r>
              <a:rPr lang="en-US" sz="1400" dirty="0">
                <a:sym typeface="Wingdings" panose="05000000000000000000" pitchFamily="2" charset="2"/>
              </a:rPr>
              <a:t>The state diagram and RTL code for the micro-operation for our required CPU is as shown below:</a:t>
            </a:r>
          </a:p>
          <a:p>
            <a:pPr marL="0" indent="0">
              <a:buNone/>
            </a:pPr>
            <a:endParaRPr lang="en-US" sz="1400" b="1" dirty="0">
              <a:sym typeface="Wingdings" panose="05000000000000000000" pitchFamily="2" charset="2"/>
            </a:endParaRPr>
          </a:p>
          <a:p>
            <a:pPr marL="0" indent="0">
              <a:buNone/>
            </a:pPr>
            <a:r>
              <a:rPr lang="en-US" sz="1400" b="1" dirty="0">
                <a:sym typeface="Wingdings" panose="05000000000000000000" pitchFamily="2" charset="2"/>
              </a:rPr>
              <a:t>RTL Code:</a:t>
            </a:r>
          </a:p>
        </p:txBody>
      </p:sp>
      <p:sp>
        <p:nvSpPr>
          <p:cNvPr id="4" name="Date Placeholder 3"/>
          <p:cNvSpPr>
            <a:spLocks noGrp="1"/>
          </p:cNvSpPr>
          <p:nvPr>
            <p:ph type="dt" sz="half" idx="10"/>
          </p:nvPr>
        </p:nvSpPr>
        <p:spPr/>
        <p:txBody>
          <a:bodyPr/>
          <a:lstStyle/>
          <a:p>
            <a:fld id="{C49BD9EE-6816-4457-B71F-01D9521E0C0C}"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7" name="Content Placeholder 2">
            <a:extLst>
              <a:ext uri="{FF2B5EF4-FFF2-40B4-BE49-F238E27FC236}">
                <a16:creationId xmlns:a16="http://schemas.microsoft.com/office/drawing/2014/main" id="{8FF3323E-217D-4314-A868-AF01381F29A7}"/>
              </a:ext>
            </a:extLst>
          </p:cNvPr>
          <p:cNvSpPr txBox="1">
            <a:spLocks/>
          </p:cNvSpPr>
          <p:nvPr/>
        </p:nvSpPr>
        <p:spPr>
          <a:xfrm>
            <a:off x="5029200" y="819149"/>
            <a:ext cx="3429000" cy="37754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800" dirty="0">
              <a:sym typeface="Wingdings" panose="05000000000000000000" pitchFamily="2" charset="2"/>
            </a:endParaRPr>
          </a:p>
        </p:txBody>
      </p:sp>
      <p:pic>
        <p:nvPicPr>
          <p:cNvPr id="8" name="Picture 7">
            <a:extLst>
              <a:ext uri="{FF2B5EF4-FFF2-40B4-BE49-F238E27FC236}">
                <a16:creationId xmlns:a16="http://schemas.microsoft.com/office/drawing/2014/main" id="{2F1DDF8E-7B2F-4991-8778-A1AE15468DC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62000"/>
                    </a14:imgEffect>
                  </a14:imgLayer>
                </a14:imgProps>
              </a:ext>
            </a:extLst>
          </a:blip>
          <a:stretch>
            <a:fillRect/>
          </a:stretch>
        </p:blipFill>
        <p:spPr>
          <a:xfrm>
            <a:off x="1219200" y="2114550"/>
            <a:ext cx="2743200" cy="1903032"/>
          </a:xfrm>
          <a:prstGeom prst="rect">
            <a:avLst/>
          </a:prstGeom>
        </p:spPr>
      </p:pic>
      <p:pic>
        <p:nvPicPr>
          <p:cNvPr id="9" name="Picture 8">
            <a:extLst>
              <a:ext uri="{FF2B5EF4-FFF2-40B4-BE49-F238E27FC236}">
                <a16:creationId xmlns:a16="http://schemas.microsoft.com/office/drawing/2014/main" id="{8B0067C4-1F68-40C7-838C-977AA86D02A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6901860" y="39823"/>
            <a:ext cx="2242139" cy="703127"/>
          </a:xfrm>
          <a:prstGeom prst="rect">
            <a:avLst/>
          </a:prstGeom>
        </p:spPr>
      </p:pic>
      <p:pic>
        <p:nvPicPr>
          <p:cNvPr id="10" name="Picture 9">
            <a:extLst>
              <a:ext uri="{FF2B5EF4-FFF2-40B4-BE49-F238E27FC236}">
                <a16:creationId xmlns:a16="http://schemas.microsoft.com/office/drawing/2014/main" id="{6A1529D4-5013-4FFD-9E18-7248DEC691CE}"/>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81000"/>
                    </a14:imgEffect>
                  </a14:imgLayer>
                </a14:imgProps>
              </a:ext>
            </a:extLst>
          </a:blip>
          <a:stretch>
            <a:fillRect/>
          </a:stretch>
        </p:blipFill>
        <p:spPr>
          <a:xfrm>
            <a:off x="4768790" y="1212621"/>
            <a:ext cx="4146610" cy="3111729"/>
          </a:xfrm>
          <a:prstGeom prst="rect">
            <a:avLst/>
          </a:prstGeom>
        </p:spPr>
      </p:pic>
      <p:sp>
        <p:nvSpPr>
          <p:cNvPr id="11" name="Rectangle 10">
            <a:extLst>
              <a:ext uri="{FF2B5EF4-FFF2-40B4-BE49-F238E27FC236}">
                <a16:creationId xmlns:a16="http://schemas.microsoft.com/office/drawing/2014/main" id="{2DFA346F-F122-4425-BAAB-1313C9A65217}"/>
              </a:ext>
            </a:extLst>
          </p:cNvPr>
          <p:cNvSpPr/>
          <p:nvPr/>
        </p:nvSpPr>
        <p:spPr>
          <a:xfrm>
            <a:off x="4695347" y="814327"/>
            <a:ext cx="1123897" cy="276999"/>
          </a:xfrm>
          <a:prstGeom prst="rect">
            <a:avLst/>
          </a:prstGeom>
        </p:spPr>
        <p:txBody>
          <a:bodyPr wrap="none">
            <a:spAutoFit/>
          </a:bodyPr>
          <a:lstStyle/>
          <a:p>
            <a:r>
              <a:rPr lang="en-US" sz="1200" b="1" dirty="0">
                <a:sym typeface="Wingdings" panose="05000000000000000000" pitchFamily="2" charset="2"/>
              </a:rPr>
              <a:t>State Diagram:</a:t>
            </a:r>
          </a:p>
        </p:txBody>
      </p:sp>
    </p:spTree>
    <p:extLst>
      <p:ext uri="{BB962C8B-B14F-4D97-AF65-F5344CB8AC3E}">
        <p14:creationId xmlns:p14="http://schemas.microsoft.com/office/powerpoint/2010/main" val="2241243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2400" b="1" dirty="0">
                <a:solidFill>
                  <a:srgbClr val="7030A0"/>
                </a:solidFill>
              </a:rPr>
              <a:t>Summary (Contd.)</a:t>
            </a:r>
            <a:endParaRPr lang="en-US" sz="2400" b="1" dirty="0">
              <a:solidFill>
                <a:srgbClr val="00B050"/>
              </a:solidFill>
            </a:endParaRPr>
          </a:p>
        </p:txBody>
      </p:sp>
      <p:sp>
        <p:nvSpPr>
          <p:cNvPr id="3" name="Content Placeholder 2"/>
          <p:cNvSpPr>
            <a:spLocks noGrp="1"/>
          </p:cNvSpPr>
          <p:nvPr>
            <p:ph idx="1"/>
          </p:nvPr>
        </p:nvSpPr>
        <p:spPr>
          <a:xfrm>
            <a:off x="457200" y="819150"/>
            <a:ext cx="4648200" cy="3775473"/>
          </a:xfrm>
        </p:spPr>
        <p:txBody>
          <a:bodyPr>
            <a:normAutofit/>
          </a:bodyPr>
          <a:lstStyle/>
          <a:p>
            <a:r>
              <a:rPr lang="en-US" sz="1400" dirty="0">
                <a:sym typeface="Wingdings" panose="05000000000000000000" pitchFamily="2" charset="2"/>
              </a:rPr>
              <a:t>After regrouping the operations, the RTL codes are:</a:t>
            </a: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r>
              <a:rPr lang="en-US" sz="1400" dirty="0">
                <a:sym typeface="Wingdings" panose="05000000000000000000" pitchFamily="2" charset="2"/>
              </a:rPr>
              <a:t>Considering the regrouped RTL codes, our required register organization and </a:t>
            </a:r>
            <a:r>
              <a:rPr lang="en-US" sz="1400" dirty="0" err="1">
                <a:sym typeface="Wingdings" panose="05000000000000000000" pitchFamily="2" charset="2"/>
              </a:rPr>
              <a:t>datapath</a:t>
            </a:r>
            <a:r>
              <a:rPr lang="en-US" sz="1400" dirty="0">
                <a:sym typeface="Wingdings" panose="05000000000000000000" pitchFamily="2" charset="2"/>
              </a:rPr>
              <a:t> is as shown in the figure aside.</a:t>
            </a:r>
          </a:p>
          <a:p>
            <a:endParaRPr lang="en-US" sz="1400" dirty="0">
              <a:sym typeface="Wingdings" panose="05000000000000000000" pitchFamily="2" charset="2"/>
            </a:endParaRPr>
          </a:p>
          <a:p>
            <a:endParaRPr lang="en-US" sz="1600" dirty="0">
              <a:sym typeface="Wingdings" panose="05000000000000000000" pitchFamily="2" charset="2"/>
            </a:endParaRPr>
          </a:p>
        </p:txBody>
      </p:sp>
      <p:sp>
        <p:nvSpPr>
          <p:cNvPr id="4" name="Date Placeholder 3"/>
          <p:cNvSpPr>
            <a:spLocks noGrp="1"/>
          </p:cNvSpPr>
          <p:nvPr>
            <p:ph type="dt" sz="half" idx="10"/>
          </p:nvPr>
        </p:nvSpPr>
        <p:spPr/>
        <p:txBody>
          <a:bodyPr/>
          <a:lstStyle/>
          <a:p>
            <a:fld id="{3177C9A5-FA3C-4605-9B6A-16E9AA456760}"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Content Placeholder 7">
            <a:extLst>
              <a:ext uri="{FF2B5EF4-FFF2-40B4-BE49-F238E27FC236}">
                <a16:creationId xmlns:a16="http://schemas.microsoft.com/office/drawing/2014/main" id="{DD431954-501A-4536-AF39-F8F8A1D770E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8000"/>
                    </a14:imgEffect>
                  </a14:imgLayer>
                </a14:imgProps>
              </a:ext>
            </a:extLst>
          </a:blip>
          <a:stretch>
            <a:fillRect/>
          </a:stretch>
        </p:blipFill>
        <p:spPr>
          <a:xfrm>
            <a:off x="399286" y="1248915"/>
            <a:ext cx="1984261" cy="1376535"/>
          </a:xfrm>
          <a:prstGeom prst="rect">
            <a:avLst/>
          </a:prstGeom>
        </p:spPr>
      </p:pic>
      <p:pic>
        <p:nvPicPr>
          <p:cNvPr id="8" name="Picture 7">
            <a:extLst>
              <a:ext uri="{FF2B5EF4-FFF2-40B4-BE49-F238E27FC236}">
                <a16:creationId xmlns:a16="http://schemas.microsoft.com/office/drawing/2014/main" id="{31CE623C-4A02-49F5-8DD1-02E4562BF6F4}"/>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2000"/>
                    </a14:imgEffect>
                  </a14:imgLayer>
                </a14:imgProps>
              </a:ext>
            </a:extLst>
          </a:blip>
          <a:srcRect r="7483"/>
          <a:stretch/>
        </p:blipFill>
        <p:spPr>
          <a:xfrm>
            <a:off x="2761483" y="1558783"/>
            <a:ext cx="2286000" cy="756796"/>
          </a:xfrm>
          <a:prstGeom prst="rect">
            <a:avLst/>
          </a:prstGeom>
        </p:spPr>
      </p:pic>
      <p:sp>
        <p:nvSpPr>
          <p:cNvPr id="9" name="Arrow: Right 8">
            <a:extLst>
              <a:ext uri="{FF2B5EF4-FFF2-40B4-BE49-F238E27FC236}">
                <a16:creationId xmlns:a16="http://schemas.microsoft.com/office/drawing/2014/main" id="{A4B753C0-F41F-4A9E-91A8-6B683FF095F3}"/>
              </a:ext>
            </a:extLst>
          </p:cNvPr>
          <p:cNvSpPr/>
          <p:nvPr/>
        </p:nvSpPr>
        <p:spPr>
          <a:xfrm>
            <a:off x="2261418" y="1759073"/>
            <a:ext cx="311097" cy="356217"/>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DA13E609-E21B-4C82-9453-7C833A32D2D2}"/>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100000"/>
                    </a14:imgEffect>
                  </a14:imgLayer>
                </a14:imgProps>
              </a:ext>
            </a:extLst>
          </a:blip>
          <a:stretch>
            <a:fillRect/>
          </a:stretch>
        </p:blipFill>
        <p:spPr>
          <a:xfrm>
            <a:off x="5303840" y="819150"/>
            <a:ext cx="3571930" cy="4221957"/>
          </a:xfrm>
          <a:prstGeom prst="rect">
            <a:avLst/>
          </a:prstGeom>
        </p:spPr>
      </p:pic>
    </p:spTree>
    <p:extLst>
      <p:ext uri="{BB962C8B-B14F-4D97-AF65-F5344CB8AC3E}">
        <p14:creationId xmlns:p14="http://schemas.microsoft.com/office/powerpoint/2010/main" val="953856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7030A0"/>
                </a:solidFill>
              </a:rPr>
              <a:t>Summary (Contd.)</a:t>
            </a:r>
            <a:endParaRPr lang="en-US" sz="2800" b="1" dirty="0">
              <a:solidFill>
                <a:srgbClr val="00B050"/>
              </a:solidFill>
            </a:endParaRPr>
          </a:p>
        </p:txBody>
      </p:sp>
      <p:sp>
        <p:nvSpPr>
          <p:cNvPr id="3" name="Content Placeholder 2"/>
          <p:cNvSpPr>
            <a:spLocks noGrp="1"/>
          </p:cNvSpPr>
          <p:nvPr>
            <p:ph idx="1"/>
          </p:nvPr>
        </p:nvSpPr>
        <p:spPr>
          <a:xfrm>
            <a:off x="457200" y="742950"/>
            <a:ext cx="4419600" cy="3851673"/>
          </a:xfrm>
          <a:noFill/>
        </p:spPr>
        <p:txBody>
          <a:bodyPr>
            <a:normAutofit/>
          </a:bodyPr>
          <a:lstStyle/>
          <a:p>
            <a:r>
              <a:rPr lang="en-US" sz="2000" dirty="0"/>
              <a:t>The ALU for this CPU  is as shown below:</a:t>
            </a:r>
            <a:endParaRPr lang="en-US" sz="1600" dirty="0"/>
          </a:p>
        </p:txBody>
      </p:sp>
      <p:sp>
        <p:nvSpPr>
          <p:cNvPr id="4" name="Date Placeholder 3"/>
          <p:cNvSpPr>
            <a:spLocks noGrp="1"/>
          </p:cNvSpPr>
          <p:nvPr>
            <p:ph type="dt" sz="half" idx="10"/>
          </p:nvPr>
        </p:nvSpPr>
        <p:spPr/>
        <p:txBody>
          <a:bodyPr/>
          <a:lstStyle/>
          <a:p>
            <a:fld id="{B2680676-4A0F-4B4D-9C71-E9C829452BFE}"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D51C8B39-DFAF-4C28-8590-67391C396B1A}"/>
              </a:ext>
            </a:extLst>
          </p:cNvPr>
          <p:cNvPicPr>
            <a:picLocks noChangeAspect="1"/>
          </p:cNvPicPr>
          <p:nvPr/>
        </p:nvPicPr>
        <p:blipFill>
          <a:blip r:embed="rId2"/>
          <a:stretch>
            <a:fillRect/>
          </a:stretch>
        </p:blipFill>
        <p:spPr>
          <a:xfrm>
            <a:off x="4911521" y="864114"/>
            <a:ext cx="3927680" cy="2841111"/>
          </a:xfrm>
          <a:prstGeom prst="rect">
            <a:avLst/>
          </a:prstGeom>
        </p:spPr>
      </p:pic>
      <p:sp>
        <p:nvSpPr>
          <p:cNvPr id="8" name="Rectangle 7">
            <a:extLst>
              <a:ext uri="{FF2B5EF4-FFF2-40B4-BE49-F238E27FC236}">
                <a16:creationId xmlns:a16="http://schemas.microsoft.com/office/drawing/2014/main" id="{2C4AA755-1B59-47C5-9F40-DA0CCB195CDD}"/>
              </a:ext>
            </a:extLst>
          </p:cNvPr>
          <p:cNvSpPr/>
          <p:nvPr/>
        </p:nvSpPr>
        <p:spPr>
          <a:xfrm>
            <a:off x="6400800" y="4107418"/>
            <a:ext cx="1549014" cy="307777"/>
          </a:xfrm>
          <a:prstGeom prst="rect">
            <a:avLst/>
          </a:prstGeom>
        </p:spPr>
        <p:txBody>
          <a:bodyPr wrap="none">
            <a:spAutoFit/>
          </a:bodyPr>
          <a:lstStyle/>
          <a:p>
            <a:r>
              <a:rPr lang="en-US" sz="1400" i="1" dirty="0"/>
              <a:t>Figure: ALU Design</a:t>
            </a:r>
          </a:p>
        </p:txBody>
      </p:sp>
      <p:sp>
        <p:nvSpPr>
          <p:cNvPr id="9" name="Rectangle 8">
            <a:extLst>
              <a:ext uri="{FF2B5EF4-FFF2-40B4-BE49-F238E27FC236}">
                <a16:creationId xmlns:a16="http://schemas.microsoft.com/office/drawing/2014/main" id="{23BD2FA1-DB42-4FA3-BF24-D705BC9B3372}"/>
              </a:ext>
            </a:extLst>
          </p:cNvPr>
          <p:cNvSpPr/>
          <p:nvPr/>
        </p:nvSpPr>
        <p:spPr>
          <a:xfrm>
            <a:off x="6400800" y="1200150"/>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5358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4.6 Designing Hardwired Control Unit</a:t>
            </a:r>
          </a:p>
        </p:txBody>
      </p:sp>
      <p:sp>
        <p:nvSpPr>
          <p:cNvPr id="3" name="Content Placeholder 2"/>
          <p:cNvSpPr>
            <a:spLocks noGrp="1"/>
          </p:cNvSpPr>
          <p:nvPr>
            <p:ph idx="1"/>
          </p:nvPr>
        </p:nvSpPr>
        <p:spPr>
          <a:xfrm>
            <a:off x="457200" y="742950"/>
            <a:ext cx="8229600" cy="3851673"/>
          </a:xfrm>
        </p:spPr>
        <p:txBody>
          <a:bodyPr>
            <a:normAutofit fontScale="92500" lnSpcReduction="10000"/>
          </a:bodyPr>
          <a:lstStyle/>
          <a:p>
            <a:r>
              <a:rPr lang="en-US" sz="2000" dirty="0"/>
              <a:t>After designing the CPU for every operation necessary to fetch, decode and execute the entire instruction set, the next step is </a:t>
            </a:r>
            <a:r>
              <a:rPr lang="en-US" sz="2000" b="1" dirty="0"/>
              <a:t>to design the circuit to generate control signals to cause operation to occur in proper sequence.</a:t>
            </a:r>
            <a:r>
              <a:rPr lang="en-US" sz="2000" dirty="0"/>
              <a:t> This is control unit.</a:t>
            </a:r>
          </a:p>
          <a:p>
            <a:r>
              <a:rPr lang="en-US" sz="2000" dirty="0"/>
              <a:t>There are two methods:</a:t>
            </a:r>
          </a:p>
          <a:p>
            <a:pPr lvl="1"/>
            <a:r>
              <a:rPr lang="en-US" sz="1600" dirty="0"/>
              <a:t>Hardwired control</a:t>
            </a:r>
          </a:p>
          <a:p>
            <a:pPr lvl="1"/>
            <a:r>
              <a:rPr lang="en-US" sz="1600" dirty="0"/>
              <a:t>Microprogrammed control</a:t>
            </a:r>
          </a:p>
          <a:p>
            <a:pPr marL="457200" lvl="1" indent="0">
              <a:buNone/>
            </a:pPr>
            <a:endParaRPr lang="en-US" sz="1600" dirty="0"/>
          </a:p>
          <a:p>
            <a:r>
              <a:rPr lang="en-US" sz="2000" dirty="0"/>
              <a:t>Hardwired control:</a:t>
            </a:r>
          </a:p>
          <a:p>
            <a:pPr lvl="1"/>
            <a:r>
              <a:rPr lang="en-US" sz="1600" dirty="0"/>
              <a:t>It uses sequential and combinational logic to generate control signals.</a:t>
            </a:r>
          </a:p>
          <a:p>
            <a:endParaRPr lang="en-US" sz="2000" dirty="0"/>
          </a:p>
          <a:p>
            <a:r>
              <a:rPr lang="en-US" sz="2000" dirty="0"/>
              <a:t>Microprogrammed control:</a:t>
            </a:r>
          </a:p>
          <a:p>
            <a:pPr lvl="1"/>
            <a:r>
              <a:rPr lang="en-US" sz="1600" dirty="0"/>
              <a:t>It uses a lookup memory to output the control signals.</a:t>
            </a:r>
          </a:p>
          <a:p>
            <a:pPr lvl="1"/>
            <a:endParaRPr lang="en-US" sz="1600" dirty="0"/>
          </a:p>
        </p:txBody>
      </p:sp>
      <p:sp>
        <p:nvSpPr>
          <p:cNvPr id="4" name="Date Placeholder 3"/>
          <p:cNvSpPr>
            <a:spLocks noGrp="1"/>
          </p:cNvSpPr>
          <p:nvPr>
            <p:ph type="dt" sz="half" idx="10"/>
          </p:nvPr>
        </p:nvSpPr>
        <p:spPr/>
        <p:txBody>
          <a:bodyPr/>
          <a:lstStyle/>
          <a:p>
            <a:fld id="{833D61FF-3451-4A47-9810-8815D8DE5807}"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2856369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4.6 Designing Hardwired Control Unit (Contd.)</a:t>
            </a:r>
          </a:p>
        </p:txBody>
      </p:sp>
      <p:sp>
        <p:nvSpPr>
          <p:cNvPr id="3" name="Content Placeholder 2"/>
          <p:cNvSpPr>
            <a:spLocks noGrp="1"/>
          </p:cNvSpPr>
          <p:nvPr>
            <p:ph idx="1"/>
          </p:nvPr>
        </p:nvSpPr>
        <p:spPr>
          <a:xfrm>
            <a:off x="457200" y="742950"/>
            <a:ext cx="8229600" cy="3851673"/>
          </a:xfrm>
        </p:spPr>
        <p:txBody>
          <a:bodyPr>
            <a:normAutofit/>
          </a:bodyPr>
          <a:lstStyle/>
          <a:p>
            <a:r>
              <a:rPr lang="en-US" sz="2400" dirty="0"/>
              <a:t>Here, we focus on </a:t>
            </a:r>
            <a:r>
              <a:rPr lang="en-US" sz="2400" b="1" dirty="0"/>
              <a:t>hardwired control.</a:t>
            </a:r>
          </a:p>
          <a:p>
            <a:r>
              <a:rPr lang="en-US" sz="2400" dirty="0"/>
              <a:t>The simple control unit has three components:</a:t>
            </a:r>
          </a:p>
          <a:p>
            <a:pPr marL="857250" lvl="1" indent="-457200">
              <a:buFont typeface="+mj-lt"/>
              <a:buAutoNum type="alphaLcParenR"/>
            </a:pPr>
            <a:r>
              <a:rPr lang="en-US" sz="1800" b="1" dirty="0"/>
              <a:t>Counter:</a:t>
            </a:r>
            <a:r>
              <a:rPr lang="en-US" sz="1800" dirty="0"/>
              <a:t> it contains current state.</a:t>
            </a:r>
          </a:p>
          <a:p>
            <a:pPr marL="857250" lvl="1" indent="-457200">
              <a:buFont typeface="+mj-lt"/>
              <a:buAutoNum type="alphaLcParenR"/>
            </a:pPr>
            <a:r>
              <a:rPr lang="en-US" sz="1800" b="1" dirty="0"/>
              <a:t>Decoder: </a:t>
            </a:r>
            <a:r>
              <a:rPr lang="en-US" sz="1800" dirty="0"/>
              <a:t>It takes current state and generates individual signals for each state.</a:t>
            </a:r>
          </a:p>
          <a:p>
            <a:pPr marL="857250" lvl="1" indent="-457200">
              <a:buFont typeface="+mj-lt"/>
              <a:buAutoNum type="alphaLcParenR"/>
            </a:pPr>
            <a:r>
              <a:rPr lang="en-US" sz="1800" b="1" dirty="0"/>
              <a:t>Combinational Logic: </a:t>
            </a:r>
            <a:r>
              <a:rPr lang="en-US" sz="1800" dirty="0"/>
              <a:t>It takes the individual state signals and generate the control signals for each component as well as the signals to control the counter.</a:t>
            </a:r>
          </a:p>
          <a:p>
            <a:r>
              <a:rPr lang="en-US" sz="2400" dirty="0"/>
              <a:t>These signals cause control unit to traverse the states in proper order.</a:t>
            </a:r>
          </a:p>
        </p:txBody>
      </p:sp>
      <p:sp>
        <p:nvSpPr>
          <p:cNvPr id="4" name="Date Placeholder 3"/>
          <p:cNvSpPr>
            <a:spLocks noGrp="1"/>
          </p:cNvSpPr>
          <p:nvPr>
            <p:ph type="dt" sz="half" idx="10"/>
          </p:nvPr>
        </p:nvSpPr>
        <p:spPr/>
        <p:txBody>
          <a:bodyPr/>
          <a:lstStyle/>
          <a:p>
            <a:fld id="{1E7A5B03-3501-4180-A99E-7989CA02FB7E}"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3427041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Generic Hardwired Control Unit</a:t>
            </a:r>
          </a:p>
        </p:txBody>
      </p:sp>
      <p:sp>
        <p:nvSpPr>
          <p:cNvPr id="3" name="Content Placeholder 2"/>
          <p:cNvSpPr>
            <a:spLocks noGrp="1"/>
          </p:cNvSpPr>
          <p:nvPr>
            <p:ph idx="1"/>
          </p:nvPr>
        </p:nvSpPr>
        <p:spPr>
          <a:xfrm>
            <a:off x="3406652" y="742950"/>
            <a:ext cx="5280147" cy="3851673"/>
          </a:xfrm>
        </p:spPr>
        <p:txBody>
          <a:bodyPr>
            <a:normAutofit/>
          </a:bodyPr>
          <a:lstStyle/>
          <a:p>
            <a:r>
              <a:rPr lang="en-US" sz="1400" dirty="0"/>
              <a:t>The CPU that we have designed has</a:t>
            </a:r>
            <a:r>
              <a:rPr lang="en-US" sz="1400" b="1" dirty="0"/>
              <a:t> 9  total states. </a:t>
            </a:r>
            <a:r>
              <a:rPr lang="en-US" sz="1400" dirty="0"/>
              <a:t>So, a 4-bit counter and 4:16 decoder are needed. Here, seven of the outputs of the decode will not be used.</a:t>
            </a:r>
          </a:p>
        </p:txBody>
      </p:sp>
      <p:sp>
        <p:nvSpPr>
          <p:cNvPr id="4" name="Date Placeholder 3"/>
          <p:cNvSpPr>
            <a:spLocks noGrp="1"/>
          </p:cNvSpPr>
          <p:nvPr>
            <p:ph type="dt" sz="half" idx="10"/>
          </p:nvPr>
        </p:nvSpPr>
        <p:spPr/>
        <p:txBody>
          <a:bodyPr/>
          <a:lstStyle/>
          <a:p>
            <a:fld id="{72547968-E30B-4D81-B9AE-FE056E2FDDE1}"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48F07005-DB51-4C17-A758-BFC8827B41CC}"/>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b="3155"/>
          <a:stretch/>
        </p:blipFill>
        <p:spPr>
          <a:xfrm>
            <a:off x="3575731" y="2797549"/>
            <a:ext cx="5280147" cy="1591589"/>
          </a:xfrm>
          <a:prstGeom prst="rect">
            <a:avLst/>
          </a:prstGeom>
        </p:spPr>
      </p:pic>
      <p:sp>
        <p:nvSpPr>
          <p:cNvPr id="8" name="Content Placeholder 2">
            <a:extLst>
              <a:ext uri="{FF2B5EF4-FFF2-40B4-BE49-F238E27FC236}">
                <a16:creationId xmlns:a16="http://schemas.microsoft.com/office/drawing/2014/main" id="{99927DAE-8A8F-4515-B5D3-5CB20F90F99A}"/>
              </a:ext>
            </a:extLst>
          </p:cNvPr>
          <p:cNvSpPr txBox="1">
            <a:spLocks/>
          </p:cNvSpPr>
          <p:nvPr/>
        </p:nvSpPr>
        <p:spPr>
          <a:xfrm>
            <a:off x="3762845" y="1497370"/>
            <a:ext cx="3619501" cy="15448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dirty="0"/>
              <a:t>Input: </a:t>
            </a:r>
            <a:r>
              <a:rPr lang="en-US" sz="1100" dirty="0"/>
              <a:t>in input, states are provided.</a:t>
            </a:r>
          </a:p>
          <a:p>
            <a:r>
              <a:rPr lang="en-US" sz="1100" b="1" dirty="0"/>
              <a:t>CLK: </a:t>
            </a:r>
            <a:r>
              <a:rPr lang="en-US" sz="1100" dirty="0"/>
              <a:t>a clock signal</a:t>
            </a:r>
          </a:p>
          <a:p>
            <a:r>
              <a:rPr lang="en-US" sz="1100" b="1" dirty="0"/>
              <a:t>CLR: </a:t>
            </a:r>
            <a:r>
              <a:rPr lang="en-US" sz="1100" dirty="0"/>
              <a:t>CLR input is used to reach the state needed.</a:t>
            </a:r>
          </a:p>
          <a:p>
            <a:r>
              <a:rPr lang="en-US" sz="1100" b="1" dirty="0"/>
              <a:t>INC: </a:t>
            </a:r>
            <a:r>
              <a:rPr lang="en-US" sz="1100" dirty="0"/>
              <a:t>use INC input of counter to traverse the states.</a:t>
            </a:r>
          </a:p>
          <a:p>
            <a:r>
              <a:rPr lang="en-US" sz="1100" dirty="0"/>
              <a:t>L</a:t>
            </a:r>
            <a:r>
              <a:rPr lang="en-US" sz="1100" b="1" dirty="0"/>
              <a:t>D: </a:t>
            </a:r>
            <a:r>
              <a:rPr lang="en-US" sz="1100" dirty="0"/>
              <a:t>use LD input to reach the proper execute routine.</a:t>
            </a:r>
          </a:p>
        </p:txBody>
      </p:sp>
      <p:pic>
        <p:nvPicPr>
          <p:cNvPr id="9" name="Picture 8">
            <a:extLst>
              <a:ext uri="{FF2B5EF4-FFF2-40B4-BE49-F238E27FC236}">
                <a16:creationId xmlns:a16="http://schemas.microsoft.com/office/drawing/2014/main" id="{EDCA7BB1-984B-439A-BFB3-43D35A207B4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1000"/>
                    </a14:imgEffect>
                  </a14:imgLayer>
                </a14:imgProps>
              </a:ext>
            </a:extLst>
          </a:blip>
          <a:stretch>
            <a:fillRect/>
          </a:stretch>
        </p:blipFill>
        <p:spPr>
          <a:xfrm>
            <a:off x="26996" y="832093"/>
            <a:ext cx="3222609" cy="2418334"/>
          </a:xfrm>
          <a:prstGeom prst="rect">
            <a:avLst/>
          </a:prstGeom>
        </p:spPr>
      </p:pic>
    </p:spTree>
    <p:extLst>
      <p:ext uri="{BB962C8B-B14F-4D97-AF65-F5344CB8AC3E}">
        <p14:creationId xmlns:p14="http://schemas.microsoft.com/office/powerpoint/2010/main" val="3830081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Mapping Logic</a:t>
            </a:r>
          </a:p>
        </p:txBody>
      </p:sp>
      <p:sp>
        <p:nvSpPr>
          <p:cNvPr id="3" name="Content Placeholder 2"/>
          <p:cNvSpPr>
            <a:spLocks noGrp="1"/>
          </p:cNvSpPr>
          <p:nvPr>
            <p:ph idx="1"/>
          </p:nvPr>
        </p:nvSpPr>
        <p:spPr>
          <a:xfrm>
            <a:off x="457200" y="742950"/>
            <a:ext cx="5105400" cy="3851673"/>
          </a:xfrm>
        </p:spPr>
        <p:txBody>
          <a:bodyPr>
            <a:normAutofit fontScale="85000" lnSpcReduction="20000"/>
          </a:bodyPr>
          <a:lstStyle/>
          <a:p>
            <a:r>
              <a:rPr lang="en-US" sz="1400" dirty="0"/>
              <a:t>To make the function simple as possible:</a:t>
            </a:r>
          </a:p>
          <a:p>
            <a:r>
              <a:rPr lang="en-US" sz="1400" dirty="0"/>
              <a:t>Consider the possible mapping 10[IR]  i.e. if IR=00, the input to counter is 1000. For IR=01, the input is 1001 and so on.</a:t>
            </a:r>
          </a:p>
          <a:p>
            <a:r>
              <a:rPr lang="en-US" sz="1400" dirty="0"/>
              <a:t>So, the counter values will be:</a:t>
            </a:r>
          </a:p>
          <a:p>
            <a:endParaRPr lang="en-US" sz="1400" dirty="0"/>
          </a:p>
          <a:p>
            <a:endParaRPr lang="en-US" sz="1400" dirty="0"/>
          </a:p>
          <a:p>
            <a:endParaRPr lang="en-US" sz="1400" dirty="0"/>
          </a:p>
          <a:p>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endParaRPr lang="en-US" sz="1400" dirty="0"/>
          </a:p>
          <a:p>
            <a:r>
              <a:rPr lang="en-US" sz="1400" dirty="0"/>
              <a:t>Here, the </a:t>
            </a:r>
            <a:r>
              <a:rPr lang="en-US" sz="1400" b="1" dirty="0"/>
              <a:t>problem arises.  </a:t>
            </a:r>
          </a:p>
          <a:p>
            <a:pPr lvl="1"/>
            <a:r>
              <a:rPr lang="en-US" sz="1400" dirty="0"/>
              <a:t>The </a:t>
            </a:r>
            <a:r>
              <a:rPr lang="en-US" sz="1400" b="1" dirty="0"/>
              <a:t>ADD1</a:t>
            </a:r>
            <a:r>
              <a:rPr lang="en-US" sz="1400" dirty="0"/>
              <a:t> and </a:t>
            </a:r>
            <a:r>
              <a:rPr lang="en-US" sz="1400" b="1" dirty="0"/>
              <a:t>ADD2</a:t>
            </a:r>
            <a:r>
              <a:rPr lang="en-US" sz="1400" dirty="0"/>
              <a:t> operations cannot be performed sequentially. </a:t>
            </a:r>
          </a:p>
          <a:p>
            <a:pPr lvl="1"/>
            <a:r>
              <a:rPr lang="en-US" sz="1400" dirty="0"/>
              <a:t>Since state </a:t>
            </a:r>
            <a:r>
              <a:rPr lang="en-US" sz="1400" b="1" dirty="0"/>
              <a:t>ADD1</a:t>
            </a:r>
            <a:r>
              <a:rPr lang="en-US" sz="1400" dirty="0"/>
              <a:t> has a counter value of 8 and state </a:t>
            </a:r>
            <a:r>
              <a:rPr lang="en-US" sz="1400" b="1" dirty="0"/>
              <a:t>AND1</a:t>
            </a:r>
            <a:r>
              <a:rPr lang="en-US" sz="1400" dirty="0"/>
              <a:t> has a counter value of 9, there is no counter value that has to be assigned to ADD2. (not best solution)</a:t>
            </a:r>
          </a:p>
          <a:p>
            <a:r>
              <a:rPr lang="en-US" sz="1400" dirty="0"/>
              <a:t>So, we look for alternative solution.</a:t>
            </a:r>
            <a:endParaRPr lang="en-US" sz="1400" b="1" dirty="0"/>
          </a:p>
          <a:p>
            <a:endParaRPr lang="en-US" sz="1100" dirty="0"/>
          </a:p>
        </p:txBody>
      </p:sp>
      <p:sp>
        <p:nvSpPr>
          <p:cNvPr id="4" name="Date Placeholder 3"/>
          <p:cNvSpPr>
            <a:spLocks noGrp="1"/>
          </p:cNvSpPr>
          <p:nvPr>
            <p:ph type="dt" sz="half" idx="10"/>
          </p:nvPr>
        </p:nvSpPr>
        <p:spPr/>
        <p:txBody>
          <a:bodyPr/>
          <a:lstStyle/>
          <a:p>
            <a:fld id="{79592137-5BAA-4A41-A24C-028EDA9CD27C}"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25</a:t>
            </a:fld>
            <a:endParaRPr lang="en-US" dirty="0">
              <a:solidFill>
                <a:srgbClr val="00B050"/>
              </a:solidFill>
            </a:endParaRPr>
          </a:p>
        </p:txBody>
      </p:sp>
      <p:sp>
        <p:nvSpPr>
          <p:cNvPr id="6" name="Footer Placeholder 5"/>
          <p:cNvSpPr>
            <a:spLocks noGrp="1"/>
          </p:cNvSpPr>
          <p:nvPr>
            <p:ph type="ftr" sz="quarter" idx="11"/>
          </p:nvPr>
        </p:nvSpPr>
        <p:spPr>
          <a:xfrm>
            <a:off x="3124200" y="4704721"/>
            <a:ext cx="2895600" cy="273844"/>
          </a:xfrm>
        </p:spPr>
        <p:txBody>
          <a:bodyPr/>
          <a:lstStyle/>
          <a:p>
            <a:r>
              <a:rPr lang="en-US">
                <a:solidFill>
                  <a:srgbClr val="00B050"/>
                </a:solidFill>
              </a:rPr>
              <a:t>CPU Design</a:t>
            </a:r>
            <a:endParaRPr lang="en-US" dirty="0">
              <a:solidFill>
                <a:srgbClr val="00B050"/>
              </a:solidFill>
            </a:endParaRPr>
          </a:p>
        </p:txBody>
      </p:sp>
      <p:graphicFrame>
        <p:nvGraphicFramePr>
          <p:cNvPr id="7" name="Table 7">
            <a:extLst>
              <a:ext uri="{FF2B5EF4-FFF2-40B4-BE49-F238E27FC236}">
                <a16:creationId xmlns:a16="http://schemas.microsoft.com/office/drawing/2014/main" id="{0CCCD997-B2FA-403A-A5B4-2279FDB95790}"/>
              </a:ext>
            </a:extLst>
          </p:cNvPr>
          <p:cNvGraphicFramePr>
            <a:graphicFrameLocks noGrp="1"/>
          </p:cNvGraphicFramePr>
          <p:nvPr>
            <p:extLst>
              <p:ext uri="{D42A27DB-BD31-4B8C-83A1-F6EECF244321}">
                <p14:modId xmlns:p14="http://schemas.microsoft.com/office/powerpoint/2010/main" val="3957051490"/>
              </p:ext>
            </p:extLst>
          </p:nvPr>
        </p:nvGraphicFramePr>
        <p:xfrm>
          <a:off x="1210131" y="1639750"/>
          <a:ext cx="3048000" cy="1431969"/>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482565597"/>
                    </a:ext>
                  </a:extLst>
                </a:gridCol>
                <a:gridCol w="1337733">
                  <a:extLst>
                    <a:ext uri="{9D8B030D-6E8A-4147-A177-3AD203B41FA5}">
                      <a16:colId xmlns:a16="http://schemas.microsoft.com/office/drawing/2014/main" val="4250926648"/>
                    </a:ext>
                  </a:extLst>
                </a:gridCol>
                <a:gridCol w="948267">
                  <a:extLst>
                    <a:ext uri="{9D8B030D-6E8A-4147-A177-3AD203B41FA5}">
                      <a16:colId xmlns:a16="http://schemas.microsoft.com/office/drawing/2014/main" val="298479919"/>
                    </a:ext>
                  </a:extLst>
                </a:gridCol>
              </a:tblGrid>
              <a:tr h="294443">
                <a:tc>
                  <a:txBody>
                    <a:bodyPr/>
                    <a:lstStyle/>
                    <a:p>
                      <a:r>
                        <a:rPr lang="en-US" sz="1200" b="1" dirty="0"/>
                        <a:t>IR</a:t>
                      </a:r>
                    </a:p>
                  </a:txBody>
                  <a:tcPr>
                    <a:solidFill>
                      <a:schemeClr val="bg2">
                        <a:lumMod val="75000"/>
                      </a:schemeClr>
                    </a:solidFill>
                  </a:tcPr>
                </a:tc>
                <a:tc>
                  <a:txBody>
                    <a:bodyPr/>
                    <a:lstStyle/>
                    <a:p>
                      <a:r>
                        <a:rPr lang="en-US" sz="1200" b="1" dirty="0"/>
                        <a:t>Counter  value</a:t>
                      </a:r>
                    </a:p>
                  </a:txBody>
                  <a:tcPr>
                    <a:solidFill>
                      <a:schemeClr val="bg2">
                        <a:lumMod val="75000"/>
                      </a:schemeClr>
                    </a:solidFill>
                  </a:tcPr>
                </a:tc>
                <a:tc>
                  <a:txBody>
                    <a:bodyPr/>
                    <a:lstStyle/>
                    <a:p>
                      <a:r>
                        <a:rPr lang="en-US" sz="1200" b="1" dirty="0"/>
                        <a:t>state</a:t>
                      </a:r>
                    </a:p>
                  </a:txBody>
                  <a:tcPr>
                    <a:solidFill>
                      <a:schemeClr val="bg2">
                        <a:lumMod val="75000"/>
                      </a:schemeClr>
                    </a:solidFill>
                  </a:tcPr>
                </a:tc>
                <a:extLst>
                  <a:ext uri="{0D108BD9-81ED-4DB2-BD59-A6C34878D82A}">
                    <a16:rowId xmlns:a16="http://schemas.microsoft.com/office/drawing/2014/main" val="2603122193"/>
                  </a:ext>
                </a:extLst>
              </a:tr>
              <a:tr h="294443">
                <a:tc>
                  <a:txBody>
                    <a:bodyPr/>
                    <a:lstStyle/>
                    <a:p>
                      <a:r>
                        <a:rPr lang="en-US" sz="1200" dirty="0"/>
                        <a:t>00</a:t>
                      </a:r>
                    </a:p>
                  </a:txBody>
                  <a:tcPr/>
                </a:tc>
                <a:tc>
                  <a:txBody>
                    <a:bodyPr/>
                    <a:lstStyle/>
                    <a:p>
                      <a:r>
                        <a:rPr lang="en-US" sz="1200" dirty="0"/>
                        <a:t>10</a:t>
                      </a:r>
                      <a:r>
                        <a:rPr lang="en-US" sz="1200" b="1" u="sng" dirty="0"/>
                        <a:t>00  (8)</a:t>
                      </a:r>
                    </a:p>
                  </a:txBody>
                  <a:tcPr/>
                </a:tc>
                <a:tc>
                  <a:txBody>
                    <a:bodyPr/>
                    <a:lstStyle/>
                    <a:p>
                      <a:r>
                        <a:rPr lang="en-US" sz="1200" dirty="0"/>
                        <a:t>ADD1</a:t>
                      </a:r>
                    </a:p>
                  </a:txBody>
                  <a:tcPr/>
                </a:tc>
                <a:extLst>
                  <a:ext uri="{0D108BD9-81ED-4DB2-BD59-A6C34878D82A}">
                    <a16:rowId xmlns:a16="http://schemas.microsoft.com/office/drawing/2014/main" val="425170320"/>
                  </a:ext>
                </a:extLst>
              </a:tr>
              <a:tr h="294443">
                <a:tc>
                  <a:txBody>
                    <a:bodyPr/>
                    <a:lstStyle/>
                    <a:p>
                      <a:r>
                        <a:rPr lang="en-US" sz="1200" dirty="0"/>
                        <a:t>01</a:t>
                      </a:r>
                    </a:p>
                  </a:txBody>
                  <a:tcPr/>
                </a:tc>
                <a:tc>
                  <a:txBody>
                    <a:bodyPr/>
                    <a:lstStyle/>
                    <a:p>
                      <a:r>
                        <a:rPr lang="en-US" sz="1200" dirty="0"/>
                        <a:t>10</a:t>
                      </a:r>
                      <a:r>
                        <a:rPr lang="en-US" sz="1200" b="1" u="sng" dirty="0"/>
                        <a:t>01  (9)</a:t>
                      </a:r>
                    </a:p>
                  </a:txBody>
                  <a:tcPr/>
                </a:tc>
                <a:tc>
                  <a:txBody>
                    <a:bodyPr/>
                    <a:lstStyle/>
                    <a:p>
                      <a:r>
                        <a:rPr lang="en-US" sz="1200" dirty="0"/>
                        <a:t>AND1</a:t>
                      </a:r>
                    </a:p>
                  </a:txBody>
                  <a:tcPr/>
                </a:tc>
                <a:extLst>
                  <a:ext uri="{0D108BD9-81ED-4DB2-BD59-A6C34878D82A}">
                    <a16:rowId xmlns:a16="http://schemas.microsoft.com/office/drawing/2014/main" val="3923239740"/>
                  </a:ext>
                </a:extLst>
              </a:tr>
              <a:tr h="0">
                <a:tc>
                  <a:txBody>
                    <a:bodyPr/>
                    <a:lstStyle/>
                    <a:p>
                      <a:r>
                        <a:rPr lang="en-US" sz="1200" dirty="0"/>
                        <a:t>10</a:t>
                      </a:r>
                    </a:p>
                  </a:txBody>
                  <a:tcPr/>
                </a:tc>
                <a:tc>
                  <a:txBody>
                    <a:bodyPr/>
                    <a:lstStyle/>
                    <a:p>
                      <a:r>
                        <a:rPr lang="en-US" sz="1200" dirty="0"/>
                        <a:t>10</a:t>
                      </a:r>
                      <a:r>
                        <a:rPr lang="en-US" sz="1200" b="1" u="sng" dirty="0"/>
                        <a:t>10   (10)</a:t>
                      </a:r>
                    </a:p>
                  </a:txBody>
                  <a:tcPr/>
                </a:tc>
                <a:tc>
                  <a:txBody>
                    <a:bodyPr/>
                    <a:lstStyle/>
                    <a:p>
                      <a:r>
                        <a:rPr lang="en-US" sz="1200" dirty="0"/>
                        <a:t>JMP1</a:t>
                      </a:r>
                    </a:p>
                  </a:txBody>
                  <a:tcPr/>
                </a:tc>
                <a:extLst>
                  <a:ext uri="{0D108BD9-81ED-4DB2-BD59-A6C34878D82A}">
                    <a16:rowId xmlns:a16="http://schemas.microsoft.com/office/drawing/2014/main" val="1333797450"/>
                  </a:ext>
                </a:extLst>
              </a:tr>
              <a:tr h="193827">
                <a:tc>
                  <a:txBody>
                    <a:bodyPr/>
                    <a:lstStyle/>
                    <a:p>
                      <a:r>
                        <a:rPr lang="en-US" sz="1200" dirty="0"/>
                        <a:t>11</a:t>
                      </a:r>
                    </a:p>
                  </a:txBody>
                  <a:tcPr/>
                </a:tc>
                <a:tc>
                  <a:txBody>
                    <a:bodyPr/>
                    <a:lstStyle/>
                    <a:p>
                      <a:r>
                        <a:rPr lang="en-US" sz="1200" dirty="0"/>
                        <a:t>10</a:t>
                      </a:r>
                      <a:r>
                        <a:rPr lang="en-US" sz="1200" b="1" u="sng" dirty="0"/>
                        <a:t>11   (11)</a:t>
                      </a:r>
                    </a:p>
                  </a:txBody>
                  <a:tcPr/>
                </a:tc>
                <a:tc>
                  <a:txBody>
                    <a:bodyPr/>
                    <a:lstStyle/>
                    <a:p>
                      <a:r>
                        <a:rPr lang="en-US" sz="1200" dirty="0"/>
                        <a:t>INC1</a:t>
                      </a:r>
                    </a:p>
                  </a:txBody>
                  <a:tcPr/>
                </a:tc>
                <a:extLst>
                  <a:ext uri="{0D108BD9-81ED-4DB2-BD59-A6C34878D82A}">
                    <a16:rowId xmlns:a16="http://schemas.microsoft.com/office/drawing/2014/main" val="2664994340"/>
                  </a:ext>
                </a:extLst>
              </a:tr>
            </a:tbl>
          </a:graphicData>
        </a:graphic>
      </p:graphicFrame>
      <p:pic>
        <p:nvPicPr>
          <p:cNvPr id="11" name="Picture 10">
            <a:extLst>
              <a:ext uri="{FF2B5EF4-FFF2-40B4-BE49-F238E27FC236}">
                <a16:creationId xmlns:a16="http://schemas.microsoft.com/office/drawing/2014/main" id="{327D2CF8-5878-4430-9E00-DC7E2F2FC80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81000"/>
                    </a14:imgEffect>
                  </a14:imgLayer>
                </a14:imgProps>
              </a:ext>
            </a:extLst>
          </a:blip>
          <a:stretch>
            <a:fillRect/>
          </a:stretch>
        </p:blipFill>
        <p:spPr>
          <a:xfrm>
            <a:off x="6145293" y="1191895"/>
            <a:ext cx="2767149" cy="2076545"/>
          </a:xfrm>
          <a:prstGeom prst="rect">
            <a:avLst/>
          </a:prstGeom>
        </p:spPr>
      </p:pic>
      <p:sp>
        <p:nvSpPr>
          <p:cNvPr id="8" name="TextBox 7">
            <a:extLst>
              <a:ext uri="{FF2B5EF4-FFF2-40B4-BE49-F238E27FC236}">
                <a16:creationId xmlns:a16="http://schemas.microsoft.com/office/drawing/2014/main" id="{0D75F592-8625-48AA-A4ED-2FBDA2B155E4}"/>
              </a:ext>
            </a:extLst>
          </p:cNvPr>
          <p:cNvSpPr txBox="1"/>
          <p:nvPr/>
        </p:nvSpPr>
        <p:spPr>
          <a:xfrm>
            <a:off x="1076465" y="3098389"/>
            <a:ext cx="3315331" cy="253916"/>
          </a:xfrm>
          <a:prstGeom prst="rect">
            <a:avLst/>
          </a:prstGeom>
          <a:noFill/>
        </p:spPr>
        <p:txBody>
          <a:bodyPr wrap="none" rtlCol="0">
            <a:spAutoFit/>
          </a:bodyPr>
          <a:lstStyle/>
          <a:p>
            <a:r>
              <a:rPr lang="en-US" sz="1050" i="1" dirty="0"/>
              <a:t>Table: Counter values for the proposed mapping function</a:t>
            </a:r>
          </a:p>
        </p:txBody>
      </p:sp>
      <p:pic>
        <p:nvPicPr>
          <p:cNvPr id="12" name="Picture 11">
            <a:extLst>
              <a:ext uri="{FF2B5EF4-FFF2-40B4-BE49-F238E27FC236}">
                <a16:creationId xmlns:a16="http://schemas.microsoft.com/office/drawing/2014/main" id="{D4A9C518-9CDE-42E0-8C52-B3525FFF6AC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6172200" y="251709"/>
            <a:ext cx="2971800" cy="931946"/>
          </a:xfrm>
          <a:prstGeom prst="rect">
            <a:avLst/>
          </a:prstGeom>
        </p:spPr>
      </p:pic>
      <p:pic>
        <p:nvPicPr>
          <p:cNvPr id="13" name="Picture 12">
            <a:extLst>
              <a:ext uri="{FF2B5EF4-FFF2-40B4-BE49-F238E27FC236}">
                <a16:creationId xmlns:a16="http://schemas.microsoft.com/office/drawing/2014/main" id="{14DDD45A-FC05-4C02-B239-2258768887E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62000"/>
                    </a14:imgEffect>
                  </a14:imgLayer>
                </a14:imgProps>
              </a:ext>
            </a:extLst>
          </a:blip>
          <a:stretch>
            <a:fillRect/>
          </a:stretch>
        </p:blipFill>
        <p:spPr>
          <a:xfrm>
            <a:off x="6688713" y="3475179"/>
            <a:ext cx="1998087" cy="1386127"/>
          </a:xfrm>
          <a:prstGeom prst="rect">
            <a:avLst/>
          </a:prstGeom>
        </p:spPr>
      </p:pic>
      <p:sp>
        <p:nvSpPr>
          <p:cNvPr id="14" name="TextBox 13">
            <a:extLst>
              <a:ext uri="{FF2B5EF4-FFF2-40B4-BE49-F238E27FC236}">
                <a16:creationId xmlns:a16="http://schemas.microsoft.com/office/drawing/2014/main" id="{D2F5744B-2E9D-4EF5-8B8C-CCA97BE2C9B6}"/>
              </a:ext>
            </a:extLst>
          </p:cNvPr>
          <p:cNvSpPr txBox="1"/>
          <p:nvPr/>
        </p:nvSpPr>
        <p:spPr>
          <a:xfrm>
            <a:off x="6172200" y="56469"/>
            <a:ext cx="1027845" cy="261610"/>
          </a:xfrm>
          <a:prstGeom prst="rect">
            <a:avLst/>
          </a:prstGeom>
          <a:noFill/>
        </p:spPr>
        <p:txBody>
          <a:bodyPr wrap="none" rtlCol="0">
            <a:spAutoFit/>
          </a:bodyPr>
          <a:lstStyle/>
          <a:p>
            <a:r>
              <a:rPr lang="en-US" sz="1100" dirty="0"/>
              <a:t>For Reference:</a:t>
            </a:r>
          </a:p>
        </p:txBody>
      </p:sp>
    </p:spTree>
    <p:extLst>
      <p:ext uri="{BB962C8B-B14F-4D97-AF65-F5344CB8AC3E}">
        <p14:creationId xmlns:p14="http://schemas.microsoft.com/office/powerpoint/2010/main" val="837788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77477"/>
            <a:ext cx="5181600" cy="3851673"/>
          </a:xfrm>
        </p:spPr>
        <p:txBody>
          <a:bodyPr>
            <a:normAutofit lnSpcReduction="10000"/>
          </a:bodyPr>
          <a:lstStyle/>
          <a:p>
            <a:r>
              <a:rPr lang="en-US" sz="2000" dirty="0"/>
              <a:t>Now if we mapping function as: 1[IR]0, which results in counter values of:</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Now, we can assign counter value 9 to ADD2 and 11 to AND2</a:t>
            </a:r>
          </a:p>
          <a:p>
            <a:r>
              <a:rPr lang="en-US" sz="2000" dirty="0"/>
              <a:t>This enables to perform sequentially.</a:t>
            </a:r>
          </a:p>
        </p:txBody>
      </p:sp>
      <p:sp>
        <p:nvSpPr>
          <p:cNvPr id="4" name="Date Placeholder 3"/>
          <p:cNvSpPr>
            <a:spLocks noGrp="1"/>
          </p:cNvSpPr>
          <p:nvPr>
            <p:ph type="dt" sz="half" idx="10"/>
          </p:nvPr>
        </p:nvSpPr>
        <p:spPr/>
        <p:txBody>
          <a:bodyPr/>
          <a:lstStyle/>
          <a:p>
            <a:fld id="{7FEA6486-0C04-4962-B535-93B07001E1EC}"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graphicFrame>
        <p:nvGraphicFramePr>
          <p:cNvPr id="7" name="Table 7">
            <a:extLst>
              <a:ext uri="{FF2B5EF4-FFF2-40B4-BE49-F238E27FC236}">
                <a16:creationId xmlns:a16="http://schemas.microsoft.com/office/drawing/2014/main" id="{959D551B-E28D-4FBA-91A8-57E98DB7B7F8}"/>
              </a:ext>
            </a:extLst>
          </p:cNvPr>
          <p:cNvGraphicFramePr>
            <a:graphicFrameLocks noGrp="1"/>
          </p:cNvGraphicFramePr>
          <p:nvPr>
            <p:extLst>
              <p:ext uri="{D42A27DB-BD31-4B8C-83A1-F6EECF244321}">
                <p14:modId xmlns:p14="http://schemas.microsoft.com/office/powerpoint/2010/main" val="396358599"/>
              </p:ext>
            </p:extLst>
          </p:nvPr>
        </p:nvGraphicFramePr>
        <p:xfrm>
          <a:off x="1548647" y="1504950"/>
          <a:ext cx="3505200" cy="1535428"/>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482565597"/>
                    </a:ext>
                  </a:extLst>
                </a:gridCol>
                <a:gridCol w="1174102">
                  <a:extLst>
                    <a:ext uri="{9D8B030D-6E8A-4147-A177-3AD203B41FA5}">
                      <a16:colId xmlns:a16="http://schemas.microsoft.com/office/drawing/2014/main" val="4250926648"/>
                    </a:ext>
                  </a:extLst>
                </a:gridCol>
                <a:gridCol w="768998">
                  <a:extLst>
                    <a:ext uri="{9D8B030D-6E8A-4147-A177-3AD203B41FA5}">
                      <a16:colId xmlns:a16="http://schemas.microsoft.com/office/drawing/2014/main" val="1082409819"/>
                    </a:ext>
                  </a:extLst>
                </a:gridCol>
                <a:gridCol w="876300">
                  <a:extLst>
                    <a:ext uri="{9D8B030D-6E8A-4147-A177-3AD203B41FA5}">
                      <a16:colId xmlns:a16="http://schemas.microsoft.com/office/drawing/2014/main" val="298479919"/>
                    </a:ext>
                  </a:extLst>
                </a:gridCol>
              </a:tblGrid>
              <a:tr h="117873">
                <a:tc>
                  <a:txBody>
                    <a:bodyPr/>
                    <a:lstStyle/>
                    <a:p>
                      <a:r>
                        <a:rPr lang="en-US" sz="1200" b="1" dirty="0"/>
                        <a:t>IR</a:t>
                      </a:r>
                    </a:p>
                  </a:txBody>
                  <a:tcPr>
                    <a:solidFill>
                      <a:schemeClr val="bg2">
                        <a:lumMod val="75000"/>
                      </a:schemeClr>
                    </a:solidFill>
                  </a:tcPr>
                </a:tc>
                <a:tc>
                  <a:txBody>
                    <a:bodyPr/>
                    <a:lstStyle/>
                    <a:p>
                      <a:r>
                        <a:rPr lang="en-US" sz="1200" b="1" dirty="0"/>
                        <a:t>Counter </a:t>
                      </a:r>
                    </a:p>
                  </a:txBody>
                  <a:tcPr>
                    <a:solidFill>
                      <a:schemeClr val="bg2">
                        <a:lumMod val="75000"/>
                      </a:schemeClr>
                    </a:solidFill>
                  </a:tcPr>
                </a:tc>
                <a:tc>
                  <a:txBody>
                    <a:bodyPr/>
                    <a:lstStyle/>
                    <a:p>
                      <a:r>
                        <a:rPr lang="en-US" sz="1200" b="1" dirty="0"/>
                        <a:t>Value</a:t>
                      </a:r>
                    </a:p>
                  </a:txBody>
                  <a:tcPr>
                    <a:solidFill>
                      <a:schemeClr val="bg2">
                        <a:lumMod val="75000"/>
                      </a:schemeClr>
                    </a:solidFill>
                  </a:tcPr>
                </a:tc>
                <a:tc>
                  <a:txBody>
                    <a:bodyPr/>
                    <a:lstStyle/>
                    <a:p>
                      <a:r>
                        <a:rPr lang="en-US" sz="1200" b="1" dirty="0"/>
                        <a:t>state</a:t>
                      </a:r>
                    </a:p>
                  </a:txBody>
                  <a:tcPr>
                    <a:solidFill>
                      <a:schemeClr val="bg2">
                        <a:lumMod val="75000"/>
                      </a:schemeClr>
                    </a:solidFill>
                  </a:tcPr>
                </a:tc>
                <a:extLst>
                  <a:ext uri="{0D108BD9-81ED-4DB2-BD59-A6C34878D82A}">
                    <a16:rowId xmlns:a16="http://schemas.microsoft.com/office/drawing/2014/main" val="2603122193"/>
                  </a:ext>
                </a:extLst>
              </a:tr>
              <a:tr h="315277">
                <a:tc>
                  <a:txBody>
                    <a:bodyPr/>
                    <a:lstStyle/>
                    <a:p>
                      <a:r>
                        <a:rPr lang="en-US" sz="1400" dirty="0"/>
                        <a:t>00</a:t>
                      </a:r>
                    </a:p>
                  </a:txBody>
                  <a:tcPr/>
                </a:tc>
                <a:tc>
                  <a:txBody>
                    <a:bodyPr/>
                    <a:lstStyle/>
                    <a:p>
                      <a:r>
                        <a:rPr lang="en-US" sz="1400" dirty="0"/>
                        <a:t>1 </a:t>
                      </a:r>
                      <a:r>
                        <a:rPr lang="en-US" sz="1400" b="1" u="sng" dirty="0"/>
                        <a:t>0 0</a:t>
                      </a:r>
                      <a:r>
                        <a:rPr lang="en-US" sz="1400" b="1" u="none" dirty="0"/>
                        <a:t> </a:t>
                      </a:r>
                      <a:r>
                        <a:rPr lang="en-US" sz="1400" b="0" u="none" dirty="0"/>
                        <a:t>0  (8)</a:t>
                      </a:r>
                    </a:p>
                  </a:txBody>
                  <a:tcPr/>
                </a:tc>
                <a:tc>
                  <a:txBody>
                    <a:bodyPr/>
                    <a:lstStyle/>
                    <a:p>
                      <a:r>
                        <a:rPr lang="en-US" sz="1400" dirty="0"/>
                        <a:t>8</a:t>
                      </a:r>
                    </a:p>
                  </a:txBody>
                  <a:tcPr/>
                </a:tc>
                <a:tc>
                  <a:txBody>
                    <a:bodyPr/>
                    <a:lstStyle/>
                    <a:p>
                      <a:r>
                        <a:rPr lang="en-US" sz="1400" dirty="0"/>
                        <a:t>ADD1</a:t>
                      </a:r>
                    </a:p>
                  </a:txBody>
                  <a:tcPr/>
                </a:tc>
                <a:extLst>
                  <a:ext uri="{0D108BD9-81ED-4DB2-BD59-A6C34878D82A}">
                    <a16:rowId xmlns:a16="http://schemas.microsoft.com/office/drawing/2014/main" val="425170320"/>
                  </a:ext>
                </a:extLst>
              </a:tr>
              <a:tr h="315277">
                <a:tc>
                  <a:txBody>
                    <a:bodyPr/>
                    <a:lstStyle/>
                    <a:p>
                      <a:r>
                        <a:rPr lang="en-US" sz="1400" dirty="0"/>
                        <a:t>01</a:t>
                      </a:r>
                    </a:p>
                  </a:txBody>
                  <a:tcPr/>
                </a:tc>
                <a:tc>
                  <a:txBody>
                    <a:bodyPr/>
                    <a:lstStyle/>
                    <a:p>
                      <a:r>
                        <a:rPr lang="en-US" sz="1400" dirty="0"/>
                        <a:t>1 </a:t>
                      </a:r>
                      <a:r>
                        <a:rPr lang="en-US" sz="1400" b="1" u="sng" dirty="0"/>
                        <a:t>0 1</a:t>
                      </a:r>
                      <a:r>
                        <a:rPr lang="en-US" sz="1400" b="1" u="none" dirty="0"/>
                        <a:t> </a:t>
                      </a:r>
                      <a:r>
                        <a:rPr lang="en-US" sz="1400" b="0" u="none" dirty="0"/>
                        <a:t>0 (10)</a:t>
                      </a:r>
                    </a:p>
                  </a:txBody>
                  <a:tcPr/>
                </a:tc>
                <a:tc>
                  <a:txBody>
                    <a:bodyPr/>
                    <a:lstStyle/>
                    <a:p>
                      <a:r>
                        <a:rPr lang="en-US" sz="1400" dirty="0"/>
                        <a:t>10</a:t>
                      </a:r>
                    </a:p>
                  </a:txBody>
                  <a:tcPr/>
                </a:tc>
                <a:tc>
                  <a:txBody>
                    <a:bodyPr/>
                    <a:lstStyle/>
                    <a:p>
                      <a:r>
                        <a:rPr lang="en-US" sz="1400" dirty="0"/>
                        <a:t>AND1</a:t>
                      </a:r>
                    </a:p>
                  </a:txBody>
                  <a:tcPr/>
                </a:tc>
                <a:extLst>
                  <a:ext uri="{0D108BD9-81ED-4DB2-BD59-A6C34878D82A}">
                    <a16:rowId xmlns:a16="http://schemas.microsoft.com/office/drawing/2014/main" val="3923239740"/>
                  </a:ext>
                </a:extLst>
              </a:tr>
              <a:tr h="315277">
                <a:tc>
                  <a:txBody>
                    <a:bodyPr/>
                    <a:lstStyle/>
                    <a:p>
                      <a:r>
                        <a:rPr lang="en-US" sz="1400" dirty="0"/>
                        <a:t>10</a:t>
                      </a:r>
                    </a:p>
                  </a:txBody>
                  <a:tcPr/>
                </a:tc>
                <a:tc>
                  <a:txBody>
                    <a:bodyPr/>
                    <a:lstStyle/>
                    <a:p>
                      <a:r>
                        <a:rPr lang="en-US" sz="1400" dirty="0"/>
                        <a:t>1 </a:t>
                      </a:r>
                      <a:r>
                        <a:rPr lang="en-US" sz="1400" b="1" u="sng" dirty="0"/>
                        <a:t>1 0</a:t>
                      </a:r>
                      <a:r>
                        <a:rPr lang="en-US" sz="1400" b="1" u="none" dirty="0"/>
                        <a:t> </a:t>
                      </a:r>
                      <a:r>
                        <a:rPr lang="en-US" sz="1400" b="0" i="0" u="none" dirty="0"/>
                        <a:t>0 </a:t>
                      </a:r>
                      <a:r>
                        <a:rPr lang="en-US" sz="1400" b="0" u="none" dirty="0"/>
                        <a:t>  (12)</a:t>
                      </a:r>
                    </a:p>
                  </a:txBody>
                  <a:tcPr/>
                </a:tc>
                <a:tc>
                  <a:txBody>
                    <a:bodyPr/>
                    <a:lstStyle/>
                    <a:p>
                      <a:r>
                        <a:rPr lang="en-US" sz="1400" dirty="0"/>
                        <a:t>12</a:t>
                      </a:r>
                    </a:p>
                  </a:txBody>
                  <a:tcPr/>
                </a:tc>
                <a:tc>
                  <a:txBody>
                    <a:bodyPr/>
                    <a:lstStyle/>
                    <a:p>
                      <a:r>
                        <a:rPr lang="en-US" sz="1400" dirty="0"/>
                        <a:t>JMP1</a:t>
                      </a:r>
                    </a:p>
                  </a:txBody>
                  <a:tcPr/>
                </a:tc>
                <a:extLst>
                  <a:ext uri="{0D108BD9-81ED-4DB2-BD59-A6C34878D82A}">
                    <a16:rowId xmlns:a16="http://schemas.microsoft.com/office/drawing/2014/main" val="1333797450"/>
                  </a:ext>
                </a:extLst>
              </a:tr>
              <a:tr h="315277">
                <a:tc>
                  <a:txBody>
                    <a:bodyPr/>
                    <a:lstStyle/>
                    <a:p>
                      <a:r>
                        <a:rPr lang="en-US" sz="1400" dirty="0"/>
                        <a:t>11</a:t>
                      </a:r>
                    </a:p>
                  </a:txBody>
                  <a:tcPr/>
                </a:tc>
                <a:tc>
                  <a:txBody>
                    <a:bodyPr/>
                    <a:lstStyle/>
                    <a:p>
                      <a:r>
                        <a:rPr lang="en-US" sz="1400" dirty="0"/>
                        <a:t>1 </a:t>
                      </a:r>
                      <a:r>
                        <a:rPr lang="en-US" sz="1400" b="1" u="sng" dirty="0"/>
                        <a:t>1 1</a:t>
                      </a:r>
                      <a:r>
                        <a:rPr lang="en-US" sz="1400" b="1" u="none" dirty="0"/>
                        <a:t> </a:t>
                      </a:r>
                      <a:r>
                        <a:rPr lang="en-US" sz="1400" b="0" u="none" dirty="0"/>
                        <a:t>0</a:t>
                      </a:r>
                      <a:r>
                        <a:rPr lang="en-US" sz="1400" b="1" u="none" dirty="0"/>
                        <a:t>   </a:t>
                      </a:r>
                      <a:r>
                        <a:rPr lang="en-US" sz="1400" b="0" u="none" dirty="0"/>
                        <a:t>(14)</a:t>
                      </a:r>
                    </a:p>
                  </a:txBody>
                  <a:tcPr/>
                </a:tc>
                <a:tc>
                  <a:txBody>
                    <a:bodyPr/>
                    <a:lstStyle/>
                    <a:p>
                      <a:r>
                        <a:rPr lang="en-US" sz="1400" dirty="0"/>
                        <a:t>14</a:t>
                      </a:r>
                    </a:p>
                  </a:txBody>
                  <a:tcPr/>
                </a:tc>
                <a:tc>
                  <a:txBody>
                    <a:bodyPr/>
                    <a:lstStyle/>
                    <a:p>
                      <a:r>
                        <a:rPr lang="en-US" sz="1400" dirty="0"/>
                        <a:t>INC1</a:t>
                      </a:r>
                    </a:p>
                  </a:txBody>
                  <a:tcPr/>
                </a:tc>
                <a:extLst>
                  <a:ext uri="{0D108BD9-81ED-4DB2-BD59-A6C34878D82A}">
                    <a16:rowId xmlns:a16="http://schemas.microsoft.com/office/drawing/2014/main" val="2664994340"/>
                  </a:ext>
                </a:extLst>
              </a:tr>
            </a:tbl>
          </a:graphicData>
        </a:graphic>
      </p:graphicFrame>
      <p:pic>
        <p:nvPicPr>
          <p:cNvPr id="8" name="Picture 7">
            <a:extLst>
              <a:ext uri="{FF2B5EF4-FFF2-40B4-BE49-F238E27FC236}">
                <a16:creationId xmlns:a16="http://schemas.microsoft.com/office/drawing/2014/main" id="{40588452-131A-4B7D-B56D-28F36FB8668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81000"/>
                    </a14:imgEffect>
                  </a14:imgLayer>
                </a14:imgProps>
              </a:ext>
            </a:extLst>
          </a:blip>
          <a:stretch>
            <a:fillRect/>
          </a:stretch>
        </p:blipFill>
        <p:spPr>
          <a:xfrm>
            <a:off x="6145293" y="1191895"/>
            <a:ext cx="2767149" cy="2076545"/>
          </a:xfrm>
          <a:prstGeom prst="rect">
            <a:avLst/>
          </a:prstGeom>
        </p:spPr>
      </p:pic>
    </p:spTree>
    <p:extLst>
      <p:ext uri="{BB962C8B-B14F-4D97-AF65-F5344CB8AC3E}">
        <p14:creationId xmlns:p14="http://schemas.microsoft.com/office/powerpoint/2010/main" val="3895414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76350"/>
            <a:ext cx="4800600" cy="3318273"/>
          </a:xfrm>
        </p:spPr>
        <p:txBody>
          <a:bodyPr>
            <a:normAutofit/>
          </a:bodyPr>
          <a:lstStyle/>
          <a:p>
            <a:r>
              <a:rPr lang="en-US" sz="2000" dirty="0"/>
              <a:t>So, a complete hardwired control unit is:</a:t>
            </a:r>
          </a:p>
          <a:p>
            <a:endParaRPr lang="en-US" sz="2000" dirty="0"/>
          </a:p>
        </p:txBody>
      </p:sp>
      <p:sp>
        <p:nvSpPr>
          <p:cNvPr id="4" name="Date Placeholder 3"/>
          <p:cNvSpPr>
            <a:spLocks noGrp="1"/>
          </p:cNvSpPr>
          <p:nvPr>
            <p:ph type="dt" sz="half" idx="10"/>
          </p:nvPr>
        </p:nvSpPr>
        <p:spPr/>
        <p:txBody>
          <a:bodyPr/>
          <a:lstStyle/>
          <a:p>
            <a:fld id="{EAB3E23C-6696-49C6-BF41-70FF435B3993}"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8" name="Picture 7">
            <a:extLst>
              <a:ext uri="{FF2B5EF4-FFF2-40B4-BE49-F238E27FC236}">
                <a16:creationId xmlns:a16="http://schemas.microsoft.com/office/drawing/2014/main" id="{9E0846D9-9983-49FD-9EC8-AFD924C77177}"/>
              </a:ext>
            </a:extLst>
          </p:cNvPr>
          <p:cNvPicPr>
            <a:picLocks noChangeAspect="1"/>
          </p:cNvPicPr>
          <p:nvPr/>
        </p:nvPicPr>
        <p:blipFill>
          <a:blip r:embed="rId2"/>
          <a:stretch>
            <a:fillRect/>
          </a:stretch>
        </p:blipFill>
        <p:spPr>
          <a:xfrm>
            <a:off x="1563943" y="1687126"/>
            <a:ext cx="3120513" cy="2929218"/>
          </a:xfrm>
          <a:prstGeom prst="rect">
            <a:avLst/>
          </a:prstGeom>
        </p:spPr>
      </p:pic>
      <p:pic>
        <p:nvPicPr>
          <p:cNvPr id="9" name="Picture 8">
            <a:extLst>
              <a:ext uri="{FF2B5EF4-FFF2-40B4-BE49-F238E27FC236}">
                <a16:creationId xmlns:a16="http://schemas.microsoft.com/office/drawing/2014/main" id="{638B8DEE-28D6-4AE8-8D5F-CE447FA27B3A}"/>
              </a:ext>
            </a:extLst>
          </p:cNvPr>
          <p:cNvPicPr>
            <a:picLocks noChangeAspect="1"/>
          </p:cNvPicPr>
          <p:nvPr/>
        </p:nvPicPr>
        <p:blipFill>
          <a:blip r:embed="rId3"/>
          <a:stretch>
            <a:fillRect/>
          </a:stretch>
        </p:blipFill>
        <p:spPr>
          <a:xfrm>
            <a:off x="457200" y="4730965"/>
            <a:ext cx="3467100" cy="266700"/>
          </a:xfrm>
          <a:prstGeom prst="rect">
            <a:avLst/>
          </a:prstGeom>
        </p:spPr>
      </p:pic>
      <p:sp>
        <p:nvSpPr>
          <p:cNvPr id="10" name="Content Placeholder 2">
            <a:extLst>
              <a:ext uri="{FF2B5EF4-FFF2-40B4-BE49-F238E27FC236}">
                <a16:creationId xmlns:a16="http://schemas.microsoft.com/office/drawing/2014/main" id="{38C99171-CF5A-4B82-AAD7-711125373606}"/>
              </a:ext>
            </a:extLst>
          </p:cNvPr>
          <p:cNvSpPr txBox="1">
            <a:spLocks/>
          </p:cNvSpPr>
          <p:nvPr/>
        </p:nvSpPr>
        <p:spPr>
          <a:xfrm>
            <a:off x="5486400" y="829270"/>
            <a:ext cx="3657600" cy="385167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For Counter, INC, CLR and LD signals are needed.</a:t>
            </a:r>
          </a:p>
          <a:p>
            <a:r>
              <a:rPr lang="en-US" sz="2000" dirty="0"/>
              <a:t>INC is asserted when control unit is traversing sequential states, during Fetch1, Fetch2, JMP1 and INC1 </a:t>
            </a:r>
          </a:p>
          <a:p>
            <a:r>
              <a:rPr lang="en-US" sz="2000" dirty="0"/>
              <a:t>LD is asserted at end of fetch cycle during stateFetch3.</a:t>
            </a:r>
          </a:p>
          <a:p>
            <a:r>
              <a:rPr lang="en-US" sz="2000" dirty="0"/>
              <a:t>CLR is asserted at the end of each execute cycle to return to fetch cycle. This happens during ADD2, AND2, JMP1 and INC1</a:t>
            </a:r>
          </a:p>
        </p:txBody>
      </p:sp>
      <p:pic>
        <p:nvPicPr>
          <p:cNvPr id="11" name="Picture 10">
            <a:extLst>
              <a:ext uri="{FF2B5EF4-FFF2-40B4-BE49-F238E27FC236}">
                <a16:creationId xmlns:a16="http://schemas.microsoft.com/office/drawing/2014/main" id="{9856C2E6-8F0A-4DC2-8155-CF55657DEFC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1000"/>
                    </a14:imgEffect>
                  </a14:imgLayer>
                </a14:imgProps>
              </a:ext>
            </a:extLst>
          </a:blip>
          <a:stretch>
            <a:fillRect/>
          </a:stretch>
        </p:blipFill>
        <p:spPr>
          <a:xfrm>
            <a:off x="3687" y="67202"/>
            <a:ext cx="1752600" cy="1315199"/>
          </a:xfrm>
          <a:prstGeom prst="rect">
            <a:avLst/>
          </a:prstGeom>
        </p:spPr>
      </p:pic>
    </p:spTree>
    <p:extLst>
      <p:ext uri="{BB962C8B-B14F-4D97-AF65-F5344CB8AC3E}">
        <p14:creationId xmlns:p14="http://schemas.microsoft.com/office/powerpoint/2010/main" val="2878919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Summary:</a:t>
            </a:r>
          </a:p>
        </p:txBody>
      </p:sp>
      <p:sp>
        <p:nvSpPr>
          <p:cNvPr id="3" name="Content Placeholder 2"/>
          <p:cNvSpPr>
            <a:spLocks noGrp="1"/>
          </p:cNvSpPr>
          <p:nvPr>
            <p:ph idx="1"/>
          </p:nvPr>
        </p:nvSpPr>
        <p:spPr>
          <a:xfrm>
            <a:off x="3406652" y="742950"/>
            <a:ext cx="5280147" cy="3851673"/>
          </a:xfrm>
        </p:spPr>
        <p:txBody>
          <a:bodyPr>
            <a:normAutofit/>
          </a:bodyPr>
          <a:lstStyle/>
          <a:p>
            <a:r>
              <a:rPr lang="en-US" sz="1400" dirty="0"/>
              <a:t>The CPU that we have designed has</a:t>
            </a:r>
            <a:r>
              <a:rPr lang="en-US" sz="1400" b="1" dirty="0"/>
              <a:t> 9  total states. </a:t>
            </a:r>
            <a:r>
              <a:rPr lang="en-US" sz="1400" dirty="0"/>
              <a:t>So, a 4-bit counter and 4:16 decoder are needed. Here, seven of the outputs of the decode will not be used.</a:t>
            </a:r>
          </a:p>
          <a:p>
            <a:r>
              <a:rPr lang="en-US" sz="1400" dirty="0"/>
              <a:t>The general block diagram for our required Hardwired Control Unit is as given below:</a:t>
            </a:r>
          </a:p>
        </p:txBody>
      </p:sp>
      <p:sp>
        <p:nvSpPr>
          <p:cNvPr id="4" name="Date Placeholder 3"/>
          <p:cNvSpPr>
            <a:spLocks noGrp="1"/>
          </p:cNvSpPr>
          <p:nvPr>
            <p:ph type="dt" sz="half" idx="10"/>
          </p:nvPr>
        </p:nvSpPr>
        <p:spPr/>
        <p:txBody>
          <a:bodyPr/>
          <a:lstStyle/>
          <a:p>
            <a:fld id="{67D5009D-B8E7-46B2-A2C5-C45F4AB36951}"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48F07005-DB51-4C17-A758-BFC8827B41CC}"/>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b="3155"/>
          <a:stretch/>
        </p:blipFill>
        <p:spPr>
          <a:xfrm>
            <a:off x="3720108" y="2115337"/>
            <a:ext cx="4806269" cy="1448748"/>
          </a:xfrm>
          <a:prstGeom prst="rect">
            <a:avLst/>
          </a:prstGeom>
        </p:spPr>
      </p:pic>
      <p:sp>
        <p:nvSpPr>
          <p:cNvPr id="8" name="Content Placeholder 2">
            <a:extLst>
              <a:ext uri="{FF2B5EF4-FFF2-40B4-BE49-F238E27FC236}">
                <a16:creationId xmlns:a16="http://schemas.microsoft.com/office/drawing/2014/main" id="{99927DAE-8A8F-4515-B5D3-5CB20F90F99A}"/>
              </a:ext>
            </a:extLst>
          </p:cNvPr>
          <p:cNvSpPr txBox="1">
            <a:spLocks/>
          </p:cNvSpPr>
          <p:nvPr/>
        </p:nvSpPr>
        <p:spPr>
          <a:xfrm>
            <a:off x="781049" y="687805"/>
            <a:ext cx="3619501" cy="15448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100" dirty="0"/>
              <a:t>.</a:t>
            </a:r>
          </a:p>
        </p:txBody>
      </p:sp>
      <p:pic>
        <p:nvPicPr>
          <p:cNvPr id="9" name="Picture 8">
            <a:extLst>
              <a:ext uri="{FF2B5EF4-FFF2-40B4-BE49-F238E27FC236}">
                <a16:creationId xmlns:a16="http://schemas.microsoft.com/office/drawing/2014/main" id="{EDCA7BB1-984B-439A-BFB3-43D35A207B4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81000"/>
                    </a14:imgEffect>
                  </a14:imgLayer>
                </a14:imgProps>
              </a:ext>
            </a:extLst>
          </a:blip>
          <a:stretch>
            <a:fillRect/>
          </a:stretch>
        </p:blipFill>
        <p:spPr>
          <a:xfrm>
            <a:off x="275031" y="1775585"/>
            <a:ext cx="3222609" cy="2418334"/>
          </a:xfrm>
          <a:prstGeom prst="rect">
            <a:avLst/>
          </a:prstGeom>
        </p:spPr>
      </p:pic>
      <p:sp>
        <p:nvSpPr>
          <p:cNvPr id="10" name="TextBox 9">
            <a:extLst>
              <a:ext uri="{FF2B5EF4-FFF2-40B4-BE49-F238E27FC236}">
                <a16:creationId xmlns:a16="http://schemas.microsoft.com/office/drawing/2014/main" id="{6E736337-42BC-4E68-AAA1-89FBD6AEB8AE}"/>
              </a:ext>
            </a:extLst>
          </p:cNvPr>
          <p:cNvSpPr txBox="1"/>
          <p:nvPr/>
        </p:nvSpPr>
        <p:spPr>
          <a:xfrm>
            <a:off x="381000" y="1285232"/>
            <a:ext cx="2590800" cy="523220"/>
          </a:xfrm>
          <a:prstGeom prst="rect">
            <a:avLst/>
          </a:prstGeom>
          <a:noFill/>
        </p:spPr>
        <p:txBody>
          <a:bodyPr wrap="square" rtlCol="0">
            <a:spAutoFit/>
          </a:bodyPr>
          <a:lstStyle/>
          <a:p>
            <a:r>
              <a:rPr lang="en-US" sz="1400" dirty="0"/>
              <a:t>Our CPU’s state diagram is as shown below:</a:t>
            </a:r>
          </a:p>
        </p:txBody>
      </p:sp>
      <p:sp>
        <p:nvSpPr>
          <p:cNvPr id="11" name="TextBox 10">
            <a:extLst>
              <a:ext uri="{FF2B5EF4-FFF2-40B4-BE49-F238E27FC236}">
                <a16:creationId xmlns:a16="http://schemas.microsoft.com/office/drawing/2014/main" id="{4EC2EAF0-84F4-45F4-8ED6-0F410927A035}"/>
              </a:ext>
            </a:extLst>
          </p:cNvPr>
          <p:cNvSpPr txBox="1"/>
          <p:nvPr/>
        </p:nvSpPr>
        <p:spPr>
          <a:xfrm>
            <a:off x="1121029" y="4332630"/>
            <a:ext cx="1530612" cy="276999"/>
          </a:xfrm>
          <a:prstGeom prst="rect">
            <a:avLst/>
          </a:prstGeom>
          <a:noFill/>
        </p:spPr>
        <p:txBody>
          <a:bodyPr wrap="none" rtlCol="0">
            <a:spAutoFit/>
          </a:bodyPr>
          <a:lstStyle/>
          <a:p>
            <a:r>
              <a:rPr lang="en-US" sz="1200" i="1" dirty="0"/>
              <a:t>Figure: State diagram</a:t>
            </a:r>
          </a:p>
        </p:txBody>
      </p:sp>
      <p:sp>
        <p:nvSpPr>
          <p:cNvPr id="12" name="TextBox 11">
            <a:extLst>
              <a:ext uri="{FF2B5EF4-FFF2-40B4-BE49-F238E27FC236}">
                <a16:creationId xmlns:a16="http://schemas.microsoft.com/office/drawing/2014/main" id="{55D1C219-9FC4-46B0-998E-60D014D73BF0}"/>
              </a:ext>
            </a:extLst>
          </p:cNvPr>
          <p:cNvSpPr txBox="1"/>
          <p:nvPr/>
        </p:nvSpPr>
        <p:spPr>
          <a:xfrm>
            <a:off x="4800600" y="3736725"/>
            <a:ext cx="3052567" cy="276999"/>
          </a:xfrm>
          <a:prstGeom prst="rect">
            <a:avLst/>
          </a:prstGeom>
          <a:noFill/>
        </p:spPr>
        <p:txBody>
          <a:bodyPr wrap="none" rtlCol="0">
            <a:spAutoFit/>
          </a:bodyPr>
          <a:lstStyle/>
          <a:p>
            <a:r>
              <a:rPr lang="en-US" sz="1200" i="1" dirty="0"/>
              <a:t>Figure:  General Block diagram of Control Unit</a:t>
            </a:r>
          </a:p>
        </p:txBody>
      </p:sp>
    </p:spTree>
    <p:extLst>
      <p:ext uri="{BB962C8B-B14F-4D97-AF65-F5344CB8AC3E}">
        <p14:creationId xmlns:p14="http://schemas.microsoft.com/office/powerpoint/2010/main" val="4118448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Summary (contd.)</a:t>
            </a:r>
          </a:p>
        </p:txBody>
      </p:sp>
      <p:sp>
        <p:nvSpPr>
          <p:cNvPr id="3" name="Content Placeholder 2"/>
          <p:cNvSpPr>
            <a:spLocks noGrp="1"/>
          </p:cNvSpPr>
          <p:nvPr>
            <p:ph idx="1"/>
          </p:nvPr>
        </p:nvSpPr>
        <p:spPr>
          <a:xfrm>
            <a:off x="457200" y="777477"/>
            <a:ext cx="3886201" cy="3851673"/>
          </a:xfrm>
        </p:spPr>
        <p:txBody>
          <a:bodyPr>
            <a:normAutofit/>
          </a:bodyPr>
          <a:lstStyle/>
          <a:p>
            <a:pPr marL="233363" indent="-233363"/>
            <a:r>
              <a:rPr lang="en-US" sz="1200" dirty="0"/>
              <a:t>Now if we mapping function as: 1[IR]0, which results in counter values of:</a:t>
            </a:r>
          </a:p>
          <a:p>
            <a:pPr marL="233363" indent="-233363"/>
            <a:endParaRPr lang="en-US" sz="1200" dirty="0"/>
          </a:p>
          <a:p>
            <a:pPr marL="233363" indent="-233363"/>
            <a:endParaRPr lang="en-US" sz="1200" dirty="0"/>
          </a:p>
          <a:p>
            <a:pPr marL="233363" indent="-233363"/>
            <a:endParaRPr lang="en-US" sz="1200" dirty="0"/>
          </a:p>
          <a:p>
            <a:pPr marL="233363" indent="-233363"/>
            <a:endParaRPr lang="en-US" sz="1200" dirty="0"/>
          </a:p>
          <a:p>
            <a:pPr marL="233363" indent="-233363"/>
            <a:endParaRPr lang="en-US" sz="1200" dirty="0"/>
          </a:p>
          <a:p>
            <a:pPr marL="233363" indent="-233363">
              <a:buNone/>
            </a:pPr>
            <a:endParaRPr lang="en-US" sz="1200" dirty="0"/>
          </a:p>
          <a:p>
            <a:pPr marL="233363" indent="-233363"/>
            <a:r>
              <a:rPr lang="en-US" sz="1200" dirty="0"/>
              <a:t>Now, we can assign counter value 9 to ADD2 and 11 to AND2</a:t>
            </a:r>
          </a:p>
          <a:p>
            <a:pPr marL="233363" indent="-233363"/>
            <a:r>
              <a:rPr lang="en-US" sz="1200" dirty="0"/>
              <a:t>This enables to perform sequentially.</a:t>
            </a:r>
          </a:p>
          <a:p>
            <a:pPr marL="233363" indent="-233363"/>
            <a:r>
              <a:rPr lang="en-US" sz="1200" dirty="0"/>
              <a:t>So, a complete hardwired control unit is:</a:t>
            </a:r>
          </a:p>
          <a:p>
            <a:pPr marL="233363" indent="-233363"/>
            <a:endParaRPr lang="en-US" sz="1200" dirty="0"/>
          </a:p>
        </p:txBody>
      </p:sp>
      <p:sp>
        <p:nvSpPr>
          <p:cNvPr id="4" name="Date Placeholder 3"/>
          <p:cNvSpPr>
            <a:spLocks noGrp="1"/>
          </p:cNvSpPr>
          <p:nvPr>
            <p:ph type="dt" sz="half" idx="10"/>
          </p:nvPr>
        </p:nvSpPr>
        <p:spPr/>
        <p:txBody>
          <a:bodyPr/>
          <a:lstStyle/>
          <a:p>
            <a:fld id="{01972491-6B7A-4C39-AF0D-8ADBD55509CD}"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graphicFrame>
        <p:nvGraphicFramePr>
          <p:cNvPr id="7" name="Table 7">
            <a:extLst>
              <a:ext uri="{FF2B5EF4-FFF2-40B4-BE49-F238E27FC236}">
                <a16:creationId xmlns:a16="http://schemas.microsoft.com/office/drawing/2014/main" id="{959D551B-E28D-4FBA-91A8-57E98DB7B7F8}"/>
              </a:ext>
            </a:extLst>
          </p:cNvPr>
          <p:cNvGraphicFramePr>
            <a:graphicFrameLocks noGrp="1"/>
          </p:cNvGraphicFramePr>
          <p:nvPr>
            <p:extLst/>
          </p:nvPr>
        </p:nvGraphicFramePr>
        <p:xfrm>
          <a:off x="857250" y="1191447"/>
          <a:ext cx="2644265" cy="1203960"/>
        </p:xfrm>
        <a:graphic>
          <a:graphicData uri="http://schemas.openxmlformats.org/drawingml/2006/table">
            <a:tbl>
              <a:tblPr firstRow="1" bandRow="1">
                <a:tableStyleId>{5940675A-B579-460E-94D1-54222C63F5DA}</a:tableStyleId>
              </a:tblPr>
              <a:tblGrid>
                <a:gridCol w="517356">
                  <a:extLst>
                    <a:ext uri="{9D8B030D-6E8A-4147-A177-3AD203B41FA5}">
                      <a16:colId xmlns:a16="http://schemas.microsoft.com/office/drawing/2014/main" val="482565597"/>
                    </a:ext>
                  </a:extLst>
                </a:gridCol>
                <a:gridCol w="885723">
                  <a:extLst>
                    <a:ext uri="{9D8B030D-6E8A-4147-A177-3AD203B41FA5}">
                      <a16:colId xmlns:a16="http://schemas.microsoft.com/office/drawing/2014/main" val="4250926648"/>
                    </a:ext>
                  </a:extLst>
                </a:gridCol>
                <a:gridCol w="580120">
                  <a:extLst>
                    <a:ext uri="{9D8B030D-6E8A-4147-A177-3AD203B41FA5}">
                      <a16:colId xmlns:a16="http://schemas.microsoft.com/office/drawing/2014/main" val="1082409819"/>
                    </a:ext>
                  </a:extLst>
                </a:gridCol>
                <a:gridCol w="661066">
                  <a:extLst>
                    <a:ext uri="{9D8B030D-6E8A-4147-A177-3AD203B41FA5}">
                      <a16:colId xmlns:a16="http://schemas.microsoft.com/office/drawing/2014/main" val="298479919"/>
                    </a:ext>
                  </a:extLst>
                </a:gridCol>
              </a:tblGrid>
              <a:tr h="205764">
                <a:tc>
                  <a:txBody>
                    <a:bodyPr/>
                    <a:lstStyle/>
                    <a:p>
                      <a:r>
                        <a:rPr lang="en-US" sz="900" b="1" dirty="0"/>
                        <a:t>IR</a:t>
                      </a:r>
                    </a:p>
                  </a:txBody>
                  <a:tcPr>
                    <a:solidFill>
                      <a:schemeClr val="bg2">
                        <a:lumMod val="75000"/>
                      </a:schemeClr>
                    </a:solidFill>
                  </a:tcPr>
                </a:tc>
                <a:tc>
                  <a:txBody>
                    <a:bodyPr/>
                    <a:lstStyle/>
                    <a:p>
                      <a:r>
                        <a:rPr lang="en-US" sz="900" b="1" dirty="0"/>
                        <a:t>Counter </a:t>
                      </a:r>
                    </a:p>
                  </a:txBody>
                  <a:tcPr>
                    <a:solidFill>
                      <a:schemeClr val="bg2">
                        <a:lumMod val="75000"/>
                      </a:schemeClr>
                    </a:solidFill>
                  </a:tcPr>
                </a:tc>
                <a:tc>
                  <a:txBody>
                    <a:bodyPr/>
                    <a:lstStyle/>
                    <a:p>
                      <a:r>
                        <a:rPr lang="en-US" sz="900" b="1" dirty="0"/>
                        <a:t>Value</a:t>
                      </a:r>
                    </a:p>
                  </a:txBody>
                  <a:tcPr>
                    <a:solidFill>
                      <a:schemeClr val="bg2">
                        <a:lumMod val="75000"/>
                      </a:schemeClr>
                    </a:solidFill>
                  </a:tcPr>
                </a:tc>
                <a:tc>
                  <a:txBody>
                    <a:bodyPr/>
                    <a:lstStyle/>
                    <a:p>
                      <a:r>
                        <a:rPr lang="en-US" sz="900" b="1" dirty="0"/>
                        <a:t>state</a:t>
                      </a:r>
                    </a:p>
                  </a:txBody>
                  <a:tcPr>
                    <a:solidFill>
                      <a:schemeClr val="bg2">
                        <a:lumMod val="75000"/>
                      </a:schemeClr>
                    </a:solidFill>
                  </a:tcPr>
                </a:tc>
                <a:extLst>
                  <a:ext uri="{0D108BD9-81ED-4DB2-BD59-A6C34878D82A}">
                    <a16:rowId xmlns:a16="http://schemas.microsoft.com/office/drawing/2014/main" val="2603122193"/>
                  </a:ext>
                </a:extLst>
              </a:tr>
              <a:tr h="236485">
                <a:tc>
                  <a:txBody>
                    <a:bodyPr/>
                    <a:lstStyle/>
                    <a:p>
                      <a:r>
                        <a:rPr lang="en-US" sz="1000" dirty="0"/>
                        <a:t>00</a:t>
                      </a:r>
                    </a:p>
                  </a:txBody>
                  <a:tcPr/>
                </a:tc>
                <a:tc>
                  <a:txBody>
                    <a:bodyPr/>
                    <a:lstStyle/>
                    <a:p>
                      <a:r>
                        <a:rPr lang="en-US" sz="1000" dirty="0"/>
                        <a:t>1 </a:t>
                      </a:r>
                      <a:r>
                        <a:rPr lang="en-US" sz="1000" b="1" u="sng" dirty="0"/>
                        <a:t>0 0</a:t>
                      </a:r>
                      <a:r>
                        <a:rPr lang="en-US" sz="1000" b="1" u="none" dirty="0"/>
                        <a:t> </a:t>
                      </a:r>
                      <a:r>
                        <a:rPr lang="en-US" sz="1000" b="0" u="none" dirty="0"/>
                        <a:t>0  (8)</a:t>
                      </a:r>
                    </a:p>
                  </a:txBody>
                  <a:tcPr/>
                </a:tc>
                <a:tc>
                  <a:txBody>
                    <a:bodyPr/>
                    <a:lstStyle/>
                    <a:p>
                      <a:r>
                        <a:rPr lang="en-US" sz="1000" dirty="0"/>
                        <a:t>8</a:t>
                      </a:r>
                    </a:p>
                  </a:txBody>
                  <a:tcPr/>
                </a:tc>
                <a:tc>
                  <a:txBody>
                    <a:bodyPr/>
                    <a:lstStyle/>
                    <a:p>
                      <a:r>
                        <a:rPr lang="en-US" sz="1000" dirty="0"/>
                        <a:t>ADD1</a:t>
                      </a:r>
                    </a:p>
                  </a:txBody>
                  <a:tcPr/>
                </a:tc>
                <a:extLst>
                  <a:ext uri="{0D108BD9-81ED-4DB2-BD59-A6C34878D82A}">
                    <a16:rowId xmlns:a16="http://schemas.microsoft.com/office/drawing/2014/main" val="425170320"/>
                  </a:ext>
                </a:extLst>
              </a:tr>
              <a:tr h="236485">
                <a:tc>
                  <a:txBody>
                    <a:bodyPr/>
                    <a:lstStyle/>
                    <a:p>
                      <a:r>
                        <a:rPr lang="en-US" sz="1000" dirty="0"/>
                        <a:t>01</a:t>
                      </a:r>
                    </a:p>
                  </a:txBody>
                  <a:tcPr/>
                </a:tc>
                <a:tc>
                  <a:txBody>
                    <a:bodyPr/>
                    <a:lstStyle/>
                    <a:p>
                      <a:r>
                        <a:rPr lang="en-US" sz="1000" dirty="0"/>
                        <a:t>1 </a:t>
                      </a:r>
                      <a:r>
                        <a:rPr lang="en-US" sz="1000" b="1" u="sng" dirty="0"/>
                        <a:t>0 1</a:t>
                      </a:r>
                      <a:r>
                        <a:rPr lang="en-US" sz="1000" b="1" u="none" dirty="0"/>
                        <a:t> </a:t>
                      </a:r>
                      <a:r>
                        <a:rPr lang="en-US" sz="1000" b="0" u="none" dirty="0"/>
                        <a:t>0 (10)</a:t>
                      </a:r>
                    </a:p>
                  </a:txBody>
                  <a:tcPr/>
                </a:tc>
                <a:tc>
                  <a:txBody>
                    <a:bodyPr/>
                    <a:lstStyle/>
                    <a:p>
                      <a:r>
                        <a:rPr lang="en-US" sz="1000" dirty="0"/>
                        <a:t>10</a:t>
                      </a:r>
                    </a:p>
                  </a:txBody>
                  <a:tcPr/>
                </a:tc>
                <a:tc>
                  <a:txBody>
                    <a:bodyPr/>
                    <a:lstStyle/>
                    <a:p>
                      <a:r>
                        <a:rPr lang="en-US" sz="1000" dirty="0"/>
                        <a:t>AND1</a:t>
                      </a:r>
                    </a:p>
                  </a:txBody>
                  <a:tcPr/>
                </a:tc>
                <a:extLst>
                  <a:ext uri="{0D108BD9-81ED-4DB2-BD59-A6C34878D82A}">
                    <a16:rowId xmlns:a16="http://schemas.microsoft.com/office/drawing/2014/main" val="3923239740"/>
                  </a:ext>
                </a:extLst>
              </a:tr>
              <a:tr h="236485">
                <a:tc>
                  <a:txBody>
                    <a:bodyPr/>
                    <a:lstStyle/>
                    <a:p>
                      <a:r>
                        <a:rPr lang="en-US" sz="1000" dirty="0"/>
                        <a:t>10</a:t>
                      </a:r>
                    </a:p>
                  </a:txBody>
                  <a:tcPr/>
                </a:tc>
                <a:tc>
                  <a:txBody>
                    <a:bodyPr/>
                    <a:lstStyle/>
                    <a:p>
                      <a:r>
                        <a:rPr lang="en-US" sz="1000" dirty="0"/>
                        <a:t>1 </a:t>
                      </a:r>
                      <a:r>
                        <a:rPr lang="en-US" sz="1000" b="1" u="sng" dirty="0"/>
                        <a:t>1 0</a:t>
                      </a:r>
                      <a:r>
                        <a:rPr lang="en-US" sz="1000" b="1" u="none" dirty="0"/>
                        <a:t> </a:t>
                      </a:r>
                      <a:r>
                        <a:rPr lang="en-US" sz="1000" b="0" i="0" u="none" dirty="0"/>
                        <a:t>0 </a:t>
                      </a:r>
                      <a:r>
                        <a:rPr lang="en-US" sz="1000" b="0" u="none" dirty="0"/>
                        <a:t>  (12)</a:t>
                      </a:r>
                    </a:p>
                  </a:txBody>
                  <a:tcPr/>
                </a:tc>
                <a:tc>
                  <a:txBody>
                    <a:bodyPr/>
                    <a:lstStyle/>
                    <a:p>
                      <a:r>
                        <a:rPr lang="en-US" sz="1000" dirty="0"/>
                        <a:t>12</a:t>
                      </a:r>
                    </a:p>
                  </a:txBody>
                  <a:tcPr/>
                </a:tc>
                <a:tc>
                  <a:txBody>
                    <a:bodyPr/>
                    <a:lstStyle/>
                    <a:p>
                      <a:r>
                        <a:rPr lang="en-US" sz="1000" dirty="0"/>
                        <a:t>JMP1</a:t>
                      </a:r>
                    </a:p>
                  </a:txBody>
                  <a:tcPr/>
                </a:tc>
                <a:extLst>
                  <a:ext uri="{0D108BD9-81ED-4DB2-BD59-A6C34878D82A}">
                    <a16:rowId xmlns:a16="http://schemas.microsoft.com/office/drawing/2014/main" val="1333797450"/>
                  </a:ext>
                </a:extLst>
              </a:tr>
              <a:tr h="236485">
                <a:tc>
                  <a:txBody>
                    <a:bodyPr/>
                    <a:lstStyle/>
                    <a:p>
                      <a:r>
                        <a:rPr lang="en-US" sz="1000" dirty="0"/>
                        <a:t>11</a:t>
                      </a:r>
                    </a:p>
                  </a:txBody>
                  <a:tcPr/>
                </a:tc>
                <a:tc>
                  <a:txBody>
                    <a:bodyPr/>
                    <a:lstStyle/>
                    <a:p>
                      <a:r>
                        <a:rPr lang="en-US" sz="1000" dirty="0"/>
                        <a:t>1 </a:t>
                      </a:r>
                      <a:r>
                        <a:rPr lang="en-US" sz="1000" b="1" u="sng" dirty="0"/>
                        <a:t>1 1</a:t>
                      </a:r>
                      <a:r>
                        <a:rPr lang="en-US" sz="1000" b="1" u="none" dirty="0"/>
                        <a:t> </a:t>
                      </a:r>
                      <a:r>
                        <a:rPr lang="en-US" sz="1000" b="0" u="none" dirty="0"/>
                        <a:t>0</a:t>
                      </a:r>
                      <a:r>
                        <a:rPr lang="en-US" sz="1000" b="1" u="none" dirty="0"/>
                        <a:t>   </a:t>
                      </a:r>
                      <a:r>
                        <a:rPr lang="en-US" sz="1000" b="0" u="none" dirty="0"/>
                        <a:t>(14)</a:t>
                      </a:r>
                    </a:p>
                  </a:txBody>
                  <a:tcPr/>
                </a:tc>
                <a:tc>
                  <a:txBody>
                    <a:bodyPr/>
                    <a:lstStyle/>
                    <a:p>
                      <a:r>
                        <a:rPr lang="en-US" sz="1000" dirty="0"/>
                        <a:t>14</a:t>
                      </a:r>
                    </a:p>
                  </a:txBody>
                  <a:tcPr/>
                </a:tc>
                <a:tc>
                  <a:txBody>
                    <a:bodyPr/>
                    <a:lstStyle/>
                    <a:p>
                      <a:r>
                        <a:rPr lang="en-US" sz="1000" dirty="0"/>
                        <a:t>INC1</a:t>
                      </a:r>
                    </a:p>
                  </a:txBody>
                  <a:tcPr/>
                </a:tc>
                <a:extLst>
                  <a:ext uri="{0D108BD9-81ED-4DB2-BD59-A6C34878D82A}">
                    <a16:rowId xmlns:a16="http://schemas.microsoft.com/office/drawing/2014/main" val="2664994340"/>
                  </a:ext>
                </a:extLst>
              </a:tr>
            </a:tbl>
          </a:graphicData>
        </a:graphic>
      </p:graphicFrame>
      <p:sp>
        <p:nvSpPr>
          <p:cNvPr id="8" name="Content Placeholder 2">
            <a:extLst>
              <a:ext uri="{FF2B5EF4-FFF2-40B4-BE49-F238E27FC236}">
                <a16:creationId xmlns:a16="http://schemas.microsoft.com/office/drawing/2014/main" id="{C114346F-EF33-4483-BA06-08E61248D558}"/>
              </a:ext>
            </a:extLst>
          </p:cNvPr>
          <p:cNvSpPr txBox="1">
            <a:spLocks/>
          </p:cNvSpPr>
          <p:nvPr/>
        </p:nvSpPr>
        <p:spPr>
          <a:xfrm>
            <a:off x="4572000" y="711411"/>
            <a:ext cx="4419600" cy="33182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dirty="0"/>
          </a:p>
        </p:txBody>
      </p:sp>
      <p:pic>
        <p:nvPicPr>
          <p:cNvPr id="9" name="Picture 8">
            <a:extLst>
              <a:ext uri="{FF2B5EF4-FFF2-40B4-BE49-F238E27FC236}">
                <a16:creationId xmlns:a16="http://schemas.microsoft.com/office/drawing/2014/main" id="{82F5784F-1831-492E-A9ED-6D0F544B89F4}"/>
              </a:ext>
            </a:extLst>
          </p:cNvPr>
          <p:cNvPicPr>
            <a:picLocks noChangeAspect="1"/>
          </p:cNvPicPr>
          <p:nvPr/>
        </p:nvPicPr>
        <p:blipFill>
          <a:blip r:embed="rId2"/>
          <a:stretch>
            <a:fillRect/>
          </a:stretch>
        </p:blipFill>
        <p:spPr>
          <a:xfrm>
            <a:off x="4876800" y="223600"/>
            <a:ext cx="3120513" cy="2929218"/>
          </a:xfrm>
          <a:prstGeom prst="rect">
            <a:avLst/>
          </a:prstGeom>
        </p:spPr>
      </p:pic>
      <p:sp>
        <p:nvSpPr>
          <p:cNvPr id="11" name="TextBox 10">
            <a:extLst>
              <a:ext uri="{FF2B5EF4-FFF2-40B4-BE49-F238E27FC236}">
                <a16:creationId xmlns:a16="http://schemas.microsoft.com/office/drawing/2014/main" id="{C4997EC9-BFBE-4498-B06B-857A879E9AD7}"/>
              </a:ext>
            </a:extLst>
          </p:cNvPr>
          <p:cNvSpPr txBox="1"/>
          <p:nvPr/>
        </p:nvSpPr>
        <p:spPr>
          <a:xfrm>
            <a:off x="5371530" y="3197479"/>
            <a:ext cx="2363339" cy="276999"/>
          </a:xfrm>
          <a:prstGeom prst="rect">
            <a:avLst/>
          </a:prstGeom>
          <a:noFill/>
        </p:spPr>
        <p:txBody>
          <a:bodyPr wrap="none" rtlCol="0">
            <a:spAutoFit/>
          </a:bodyPr>
          <a:lstStyle/>
          <a:p>
            <a:r>
              <a:rPr lang="en-US" sz="1200" i="1" dirty="0"/>
              <a:t>Figure: Hardwired Unit for our CPU</a:t>
            </a:r>
          </a:p>
        </p:txBody>
      </p:sp>
    </p:spTree>
    <p:extLst>
      <p:ext uri="{BB962C8B-B14F-4D97-AF65-F5344CB8AC3E}">
        <p14:creationId xmlns:p14="http://schemas.microsoft.com/office/powerpoint/2010/main" val="2004648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4.6 Design Verification</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AB0136F1-7755-453A-9A12-B9B95DF6D7B6}"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CEB1B564-8528-4F4B-B4C1-CE2C3E4435BB}"/>
              </a:ext>
            </a:extLst>
          </p:cNvPr>
          <p:cNvPicPr>
            <a:picLocks noChangeAspect="1"/>
          </p:cNvPicPr>
          <p:nvPr/>
        </p:nvPicPr>
        <p:blipFill>
          <a:blip r:embed="rId2"/>
          <a:stretch>
            <a:fillRect/>
          </a:stretch>
        </p:blipFill>
        <p:spPr>
          <a:xfrm>
            <a:off x="457200" y="670112"/>
            <a:ext cx="5257800" cy="4197016"/>
          </a:xfrm>
          <a:prstGeom prst="rect">
            <a:avLst/>
          </a:prstGeom>
        </p:spPr>
      </p:pic>
    </p:spTree>
    <p:extLst>
      <p:ext uri="{BB962C8B-B14F-4D97-AF65-F5344CB8AC3E}">
        <p14:creationId xmlns:p14="http://schemas.microsoft.com/office/powerpoint/2010/main" val="325635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30306" y="742949"/>
            <a:ext cx="8229600" cy="3851673"/>
          </a:xfrm>
        </p:spPr>
        <p:txBody>
          <a:bodyPr>
            <a:normAutofit/>
          </a:bodyPr>
          <a:lstStyle/>
          <a:p>
            <a:r>
              <a:rPr lang="en-US" sz="2000" dirty="0"/>
              <a:t>After CPU have been designed, we must verify that it works properly.</a:t>
            </a:r>
          </a:p>
          <a:p>
            <a:r>
              <a:rPr lang="en-US" sz="2000" dirty="0"/>
              <a:t>To do so, we trace through the fetch, decode and execute cycles of each instruction.</a:t>
            </a:r>
          </a:p>
          <a:p>
            <a:r>
              <a:rPr lang="en-US" sz="2000" dirty="0"/>
              <a:t>Consider this segment of code, containing each instruction once:</a:t>
            </a:r>
          </a:p>
          <a:p>
            <a:endParaRPr lang="en-US" sz="2000" dirty="0"/>
          </a:p>
          <a:p>
            <a:pPr marL="0" indent="0">
              <a:buNone/>
            </a:pPr>
            <a:endParaRPr lang="en-US" sz="2000" dirty="0"/>
          </a:p>
          <a:p>
            <a:r>
              <a:rPr lang="en-US" sz="2000" dirty="0"/>
              <a:t>The CPU fetches, decodes and executes each instruction following the appropriate state sequences from the state diagram:</a:t>
            </a:r>
          </a:p>
          <a:p>
            <a:endParaRPr lang="en-US" sz="2000" dirty="0"/>
          </a:p>
          <a:p>
            <a:endParaRPr lang="en-US" sz="2000" dirty="0"/>
          </a:p>
          <a:p>
            <a:endParaRPr lang="en-US" sz="2000" dirty="0"/>
          </a:p>
          <a:p>
            <a:endParaRPr lang="en-US" sz="2000" dirty="0"/>
          </a:p>
        </p:txBody>
      </p:sp>
      <p:sp>
        <p:nvSpPr>
          <p:cNvPr id="4" name="Date Placeholder 3"/>
          <p:cNvSpPr>
            <a:spLocks noGrp="1"/>
          </p:cNvSpPr>
          <p:nvPr>
            <p:ph type="dt" sz="half" idx="10"/>
          </p:nvPr>
        </p:nvSpPr>
        <p:spPr/>
        <p:txBody>
          <a:bodyPr/>
          <a:lstStyle/>
          <a:p>
            <a:fld id="{7AA44E3D-7DB8-4B58-AD27-E74920727FFA}"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8" name="Picture 7">
            <a:extLst>
              <a:ext uri="{FF2B5EF4-FFF2-40B4-BE49-F238E27FC236}">
                <a16:creationId xmlns:a16="http://schemas.microsoft.com/office/drawing/2014/main" id="{13B062C0-6F83-4D3F-B56A-CC13202B5A41}"/>
              </a:ext>
            </a:extLst>
          </p:cNvPr>
          <p:cNvPicPr>
            <a:picLocks noChangeAspect="1"/>
          </p:cNvPicPr>
          <p:nvPr/>
        </p:nvPicPr>
        <p:blipFill>
          <a:blip r:embed="rId2"/>
          <a:stretch>
            <a:fillRect/>
          </a:stretch>
        </p:blipFill>
        <p:spPr>
          <a:xfrm>
            <a:off x="7696201" y="1506735"/>
            <a:ext cx="990600" cy="1492015"/>
          </a:xfrm>
          <a:prstGeom prst="rect">
            <a:avLst/>
          </a:prstGeom>
        </p:spPr>
      </p:pic>
      <p:pic>
        <p:nvPicPr>
          <p:cNvPr id="9" name="Picture 8">
            <a:extLst>
              <a:ext uri="{FF2B5EF4-FFF2-40B4-BE49-F238E27FC236}">
                <a16:creationId xmlns:a16="http://schemas.microsoft.com/office/drawing/2014/main" id="{59968FB4-9A27-444F-BD67-3676EAE02C9E}"/>
              </a:ext>
            </a:extLst>
          </p:cNvPr>
          <p:cNvPicPr>
            <a:picLocks noChangeAspect="1"/>
          </p:cNvPicPr>
          <p:nvPr/>
        </p:nvPicPr>
        <p:blipFill>
          <a:blip r:embed="rId3"/>
          <a:stretch>
            <a:fillRect/>
          </a:stretch>
        </p:blipFill>
        <p:spPr>
          <a:xfrm>
            <a:off x="1938284" y="3663814"/>
            <a:ext cx="4081516" cy="996922"/>
          </a:xfrm>
          <a:prstGeom prst="rect">
            <a:avLst/>
          </a:prstGeom>
        </p:spPr>
      </p:pic>
    </p:spTree>
    <p:extLst>
      <p:ext uri="{BB962C8B-B14F-4D97-AF65-F5344CB8AC3E}">
        <p14:creationId xmlns:p14="http://schemas.microsoft.com/office/powerpoint/2010/main" val="1668730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3505200" cy="3851673"/>
          </a:xfrm>
        </p:spPr>
        <p:txBody>
          <a:bodyPr>
            <a:normAutofit lnSpcReduction="10000"/>
          </a:bodyPr>
          <a:lstStyle/>
          <a:p>
            <a:r>
              <a:rPr lang="en-US" sz="2400" dirty="0"/>
              <a:t>Table here shows the trace of the execution of one iteration of this program.</a:t>
            </a:r>
          </a:p>
          <a:p>
            <a:r>
              <a:rPr lang="en-US" sz="2400" dirty="0"/>
              <a:t>We can see that the program processes every instruction correctly.</a:t>
            </a:r>
          </a:p>
          <a:p>
            <a:r>
              <a:rPr lang="en-US" sz="2400" dirty="0"/>
              <a:t>Initially, all registers contain the value 0.</a:t>
            </a:r>
          </a:p>
        </p:txBody>
      </p:sp>
      <p:sp>
        <p:nvSpPr>
          <p:cNvPr id="4" name="Date Placeholder 3"/>
          <p:cNvSpPr>
            <a:spLocks noGrp="1"/>
          </p:cNvSpPr>
          <p:nvPr>
            <p:ph type="dt" sz="half" idx="10"/>
          </p:nvPr>
        </p:nvSpPr>
        <p:spPr/>
        <p:txBody>
          <a:bodyPr/>
          <a:lstStyle/>
          <a:p>
            <a:fld id="{5837645D-17D9-4E90-9C82-AB4BBE570396}"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8696F622-4A78-4F79-9B2F-381440E2CE2D}"/>
              </a:ext>
            </a:extLst>
          </p:cNvPr>
          <p:cNvPicPr>
            <a:picLocks noChangeAspect="1"/>
          </p:cNvPicPr>
          <p:nvPr/>
        </p:nvPicPr>
        <p:blipFill>
          <a:blip r:embed="rId2"/>
          <a:stretch>
            <a:fillRect/>
          </a:stretch>
        </p:blipFill>
        <p:spPr>
          <a:xfrm>
            <a:off x="4178393" y="365987"/>
            <a:ext cx="4216214" cy="4401276"/>
          </a:xfrm>
          <a:prstGeom prst="rect">
            <a:avLst/>
          </a:prstGeom>
        </p:spPr>
      </p:pic>
      <p:pic>
        <p:nvPicPr>
          <p:cNvPr id="8" name="Picture 7">
            <a:extLst>
              <a:ext uri="{FF2B5EF4-FFF2-40B4-BE49-F238E27FC236}">
                <a16:creationId xmlns:a16="http://schemas.microsoft.com/office/drawing/2014/main" id="{B6946959-34E7-4A50-9AE0-D21A705549D4}"/>
              </a:ext>
            </a:extLst>
          </p:cNvPr>
          <p:cNvPicPr>
            <a:picLocks noChangeAspect="1"/>
          </p:cNvPicPr>
          <p:nvPr/>
        </p:nvPicPr>
        <p:blipFill>
          <a:blip r:embed="rId3"/>
          <a:stretch>
            <a:fillRect/>
          </a:stretch>
        </p:blipFill>
        <p:spPr>
          <a:xfrm>
            <a:off x="254875" y="204858"/>
            <a:ext cx="1361574" cy="533400"/>
          </a:xfrm>
          <a:prstGeom prst="rect">
            <a:avLst/>
          </a:prstGeom>
        </p:spPr>
      </p:pic>
    </p:spTree>
    <p:extLst>
      <p:ext uri="{BB962C8B-B14F-4D97-AF65-F5344CB8AC3E}">
        <p14:creationId xmlns:p14="http://schemas.microsoft.com/office/powerpoint/2010/main" val="2315399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895350"/>
            <a:ext cx="8229600" cy="3699273"/>
          </a:xfrm>
        </p:spPr>
        <p:txBody>
          <a:bodyPr>
            <a:normAutofit/>
          </a:bodyPr>
          <a:lstStyle/>
          <a:p>
            <a:pPr marL="0" indent="0" algn="ctr">
              <a:buNone/>
            </a:pPr>
            <a:endParaRPr lang="en-US" sz="4400" b="1" dirty="0"/>
          </a:p>
          <a:p>
            <a:pPr marL="0" indent="0" algn="ctr">
              <a:buNone/>
            </a:pPr>
            <a:r>
              <a:rPr lang="en-US" sz="4400" b="1" dirty="0"/>
              <a:t>Some Few Worked out Examples:</a:t>
            </a:r>
          </a:p>
        </p:txBody>
      </p:sp>
      <p:sp>
        <p:nvSpPr>
          <p:cNvPr id="4" name="Date Placeholder 3"/>
          <p:cNvSpPr>
            <a:spLocks noGrp="1"/>
          </p:cNvSpPr>
          <p:nvPr>
            <p:ph type="dt" sz="half" idx="10"/>
          </p:nvPr>
        </p:nvSpPr>
        <p:spPr/>
        <p:txBody>
          <a:bodyPr/>
          <a:lstStyle/>
          <a:p>
            <a:fld id="{08F32C9A-5A96-4269-A931-1A47B7C3AB69}"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2122094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Example 1: </a:t>
            </a:r>
          </a:p>
        </p:txBody>
      </p:sp>
      <p:sp>
        <p:nvSpPr>
          <p:cNvPr id="3" name="Content Placeholder 2"/>
          <p:cNvSpPr>
            <a:spLocks noGrp="1"/>
          </p:cNvSpPr>
          <p:nvPr>
            <p:ph idx="1"/>
          </p:nvPr>
        </p:nvSpPr>
        <p:spPr>
          <a:xfrm>
            <a:off x="457200" y="2038350"/>
            <a:ext cx="3733799" cy="2792730"/>
          </a:xfrm>
        </p:spPr>
        <p:txBody>
          <a:bodyPr>
            <a:normAutofit/>
          </a:bodyPr>
          <a:lstStyle/>
          <a:p>
            <a:pPr marL="0" indent="0">
              <a:buNone/>
            </a:pPr>
            <a:r>
              <a:rPr lang="en-US" sz="900" b="1" dirty="0">
                <a:sym typeface="Wingdings" panose="05000000000000000000" pitchFamily="2" charset="2"/>
              </a:rPr>
              <a:t>Solution: </a:t>
            </a:r>
          </a:p>
          <a:p>
            <a:pPr marL="0" indent="0">
              <a:buNone/>
            </a:pPr>
            <a:r>
              <a:rPr lang="en-US" sz="900" dirty="0">
                <a:sym typeface="Wingdings" panose="05000000000000000000" pitchFamily="2" charset="2"/>
              </a:rPr>
              <a:t>The state diagram and RTL code for the micro-operation for our required CPU is as shown below:</a:t>
            </a:r>
          </a:p>
          <a:p>
            <a:pPr marL="0" indent="0">
              <a:buNone/>
            </a:pPr>
            <a:endParaRPr lang="en-US" sz="900" b="1" dirty="0"/>
          </a:p>
          <a:p>
            <a:pPr marL="0" indent="0">
              <a:buNone/>
            </a:pPr>
            <a:r>
              <a:rPr lang="en-US" sz="900" b="1" dirty="0"/>
              <a:t>Here, micro-operations are:</a:t>
            </a:r>
          </a:p>
          <a:p>
            <a:pPr marL="117475" indent="-117475"/>
            <a:r>
              <a:rPr lang="en-US" sz="1000" dirty="0"/>
              <a:t>Fetch 1: AR </a:t>
            </a:r>
            <a:r>
              <a:rPr lang="en-US" sz="1000" dirty="0">
                <a:sym typeface="Wingdings" panose="05000000000000000000" pitchFamily="2" charset="2"/>
              </a:rPr>
              <a:t></a:t>
            </a:r>
            <a:r>
              <a:rPr lang="en-US" sz="1000" dirty="0"/>
              <a:t> PC </a:t>
            </a:r>
          </a:p>
          <a:p>
            <a:pPr marL="117475" indent="-117475"/>
            <a:r>
              <a:rPr lang="en-US" sz="1000" dirty="0"/>
              <a:t>Fetch 2: DR </a:t>
            </a:r>
            <a:r>
              <a:rPr lang="en-US" sz="1000" dirty="0">
                <a:sym typeface="Wingdings" panose="05000000000000000000" pitchFamily="2" charset="2"/>
              </a:rPr>
              <a:t></a:t>
            </a:r>
            <a:r>
              <a:rPr lang="en-US" sz="1000" dirty="0"/>
              <a:t>M,     PC </a:t>
            </a:r>
            <a:r>
              <a:rPr lang="en-US" sz="1000" dirty="0">
                <a:sym typeface="Wingdings" panose="05000000000000000000" pitchFamily="2" charset="2"/>
              </a:rPr>
              <a:t></a:t>
            </a:r>
            <a:r>
              <a:rPr lang="en-US" sz="1000" dirty="0"/>
              <a:t> PC + 1 </a:t>
            </a:r>
          </a:p>
          <a:p>
            <a:pPr marL="117475" indent="-117475"/>
            <a:r>
              <a:rPr lang="en-US" sz="1000" dirty="0"/>
              <a:t>Fetch 3: IR </a:t>
            </a:r>
            <a:r>
              <a:rPr lang="en-US" sz="1000" dirty="0">
                <a:sym typeface="Wingdings" panose="05000000000000000000" pitchFamily="2" charset="2"/>
              </a:rPr>
              <a:t></a:t>
            </a:r>
            <a:r>
              <a:rPr lang="en-US" sz="1000" dirty="0"/>
              <a:t> DR[7,6],   AR </a:t>
            </a:r>
            <a:r>
              <a:rPr lang="en-US" sz="1000" dirty="0">
                <a:sym typeface="Wingdings" panose="05000000000000000000" pitchFamily="2" charset="2"/>
              </a:rPr>
              <a:t></a:t>
            </a:r>
            <a:r>
              <a:rPr lang="en-US" sz="1000" dirty="0"/>
              <a:t> DR[5….0] </a:t>
            </a:r>
          </a:p>
          <a:p>
            <a:pPr marL="117475" indent="-117475"/>
            <a:r>
              <a:rPr lang="en-US" sz="1000" dirty="0"/>
              <a:t>JMP11: PC </a:t>
            </a:r>
            <a:r>
              <a:rPr lang="en-US" sz="1000" dirty="0">
                <a:sym typeface="Wingdings" panose="05000000000000000000" pitchFamily="2" charset="2"/>
              </a:rPr>
              <a:t></a:t>
            </a:r>
            <a:r>
              <a:rPr lang="en-US" sz="1000" dirty="0"/>
              <a:t>AR </a:t>
            </a:r>
          </a:p>
          <a:p>
            <a:pPr marL="117475" indent="-117475"/>
            <a:r>
              <a:rPr lang="en-US" sz="1000" dirty="0"/>
              <a:t>JMP12: PC </a:t>
            </a:r>
            <a:r>
              <a:rPr lang="en-US" sz="1000" dirty="0">
                <a:sym typeface="Wingdings" panose="05000000000000000000" pitchFamily="2" charset="2"/>
              </a:rPr>
              <a:t> </a:t>
            </a:r>
            <a:r>
              <a:rPr lang="en-US" sz="1000" dirty="0"/>
              <a:t>PC +1 </a:t>
            </a:r>
          </a:p>
          <a:p>
            <a:pPr marL="117475" indent="-117475"/>
            <a:r>
              <a:rPr lang="en-US" sz="1000" dirty="0"/>
              <a:t>INC21: AC </a:t>
            </a:r>
            <a:r>
              <a:rPr lang="en-US" sz="1000" dirty="0">
                <a:sym typeface="Wingdings" panose="05000000000000000000" pitchFamily="2" charset="2"/>
              </a:rPr>
              <a:t></a:t>
            </a:r>
            <a:r>
              <a:rPr lang="en-US" sz="1000" dirty="0"/>
              <a:t>AC +1 </a:t>
            </a:r>
          </a:p>
          <a:p>
            <a:pPr marL="117475" indent="-117475"/>
            <a:r>
              <a:rPr lang="en-US" sz="1000" dirty="0"/>
              <a:t>INC22: AC </a:t>
            </a:r>
            <a:r>
              <a:rPr lang="en-US" sz="1000" dirty="0">
                <a:sym typeface="Wingdings" panose="05000000000000000000" pitchFamily="2" charset="2"/>
              </a:rPr>
              <a:t></a:t>
            </a:r>
            <a:r>
              <a:rPr lang="en-US" sz="1000" dirty="0"/>
              <a:t>AC +1</a:t>
            </a:r>
          </a:p>
          <a:p>
            <a:pPr marL="117475" indent="-117475"/>
            <a:r>
              <a:rPr lang="en-US" sz="1000" dirty="0"/>
              <a:t>ADD11: DR </a:t>
            </a:r>
            <a:r>
              <a:rPr lang="en-US" sz="1000" dirty="0">
                <a:sym typeface="Wingdings" panose="05000000000000000000" pitchFamily="2" charset="2"/>
              </a:rPr>
              <a:t></a:t>
            </a:r>
            <a:r>
              <a:rPr lang="en-US" sz="1000" dirty="0"/>
              <a:t> M,     AC </a:t>
            </a:r>
            <a:r>
              <a:rPr lang="en-US" sz="1000" dirty="0">
                <a:sym typeface="Wingdings" panose="05000000000000000000" pitchFamily="2" charset="2"/>
              </a:rPr>
              <a:t></a:t>
            </a:r>
            <a:r>
              <a:rPr lang="en-US" sz="1000" dirty="0"/>
              <a:t>AC + 1 </a:t>
            </a:r>
          </a:p>
          <a:p>
            <a:pPr marL="117475" indent="-117475"/>
            <a:r>
              <a:rPr lang="en-US" sz="1000" dirty="0"/>
              <a:t>ADD12: AC </a:t>
            </a:r>
            <a:r>
              <a:rPr lang="en-US" sz="1000" dirty="0">
                <a:sym typeface="Wingdings" panose="05000000000000000000" pitchFamily="2" charset="2"/>
              </a:rPr>
              <a:t></a:t>
            </a:r>
            <a:r>
              <a:rPr lang="en-US" sz="1000" dirty="0"/>
              <a:t> AC + DR </a:t>
            </a:r>
          </a:p>
          <a:p>
            <a:pPr marL="117475" indent="-117475"/>
            <a:r>
              <a:rPr lang="en-US" sz="1000" dirty="0"/>
              <a:t>SKIP1: PC </a:t>
            </a:r>
            <a:r>
              <a:rPr lang="en-US" sz="1000" dirty="0">
                <a:sym typeface="Wingdings" panose="05000000000000000000" pitchFamily="2" charset="2"/>
              </a:rPr>
              <a:t></a:t>
            </a:r>
            <a:r>
              <a:rPr lang="en-US" sz="1000" dirty="0"/>
              <a:t> PC + 1</a:t>
            </a:r>
          </a:p>
          <a:p>
            <a:endParaRPr lang="en-US" sz="600" dirty="0"/>
          </a:p>
        </p:txBody>
      </p:sp>
      <p:sp>
        <p:nvSpPr>
          <p:cNvPr id="4" name="Date Placeholder 3"/>
          <p:cNvSpPr>
            <a:spLocks noGrp="1"/>
          </p:cNvSpPr>
          <p:nvPr>
            <p:ph type="dt" sz="half" idx="10"/>
          </p:nvPr>
        </p:nvSpPr>
        <p:spPr/>
        <p:txBody>
          <a:bodyPr/>
          <a:lstStyle/>
          <a:p>
            <a:fld id="{9C6DD4CE-FB68-4FBF-878B-5E847A2EDFFE}"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FE33476B-B264-4AEC-88CC-8DD24690FD6B}"/>
              </a:ext>
            </a:extLst>
          </p:cNvPr>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685800" y="942791"/>
            <a:ext cx="2666999" cy="985014"/>
          </a:xfrm>
          <a:prstGeom prst="rect">
            <a:avLst/>
          </a:prstGeom>
        </p:spPr>
      </p:pic>
      <p:pic>
        <p:nvPicPr>
          <p:cNvPr id="8" name="Picture 7">
            <a:extLst>
              <a:ext uri="{FF2B5EF4-FFF2-40B4-BE49-F238E27FC236}">
                <a16:creationId xmlns:a16="http://schemas.microsoft.com/office/drawing/2014/main" id="{64F227A5-B80D-478C-AE48-15CE4A7AB297}"/>
              </a:ext>
            </a:extLst>
          </p:cNvPr>
          <p:cNvPicPr/>
          <p:nvPr/>
        </p:nvPicPr>
        <p:blipFill rotWithShape="1">
          <a:blip r:embed="rId4">
            <a:extLst>
              <a:ext uri="{BEBA8EAE-BF5A-486C-A8C5-ECC9F3942E4B}">
                <a14:imgProps xmlns:a14="http://schemas.microsoft.com/office/drawing/2010/main">
                  <a14:imgLayer r:embed="rId5">
                    <a14:imgEffect>
                      <a14:sharpenSoften amount="100000"/>
                    </a14:imgEffect>
                  </a14:imgLayer>
                </a14:imgProps>
              </a:ext>
            </a:extLst>
          </a:blip>
          <a:srcRect l="3471" t="4074" r="4555" b="7544"/>
          <a:stretch/>
        </p:blipFill>
        <p:spPr>
          <a:xfrm>
            <a:off x="4572000" y="361950"/>
            <a:ext cx="4038602" cy="3505200"/>
          </a:xfrm>
          <a:prstGeom prst="rect">
            <a:avLst/>
          </a:prstGeom>
        </p:spPr>
      </p:pic>
      <p:sp>
        <p:nvSpPr>
          <p:cNvPr id="9" name="Rectangle 8">
            <a:extLst>
              <a:ext uri="{FF2B5EF4-FFF2-40B4-BE49-F238E27FC236}">
                <a16:creationId xmlns:a16="http://schemas.microsoft.com/office/drawing/2014/main" id="{93A8E8B6-EF5D-4579-A8BC-9685D5296A4C}"/>
              </a:ext>
            </a:extLst>
          </p:cNvPr>
          <p:cNvSpPr/>
          <p:nvPr/>
        </p:nvSpPr>
        <p:spPr>
          <a:xfrm>
            <a:off x="6172200" y="4440735"/>
            <a:ext cx="1762470" cy="307777"/>
          </a:xfrm>
          <a:prstGeom prst="rect">
            <a:avLst/>
          </a:prstGeom>
        </p:spPr>
        <p:txBody>
          <a:bodyPr wrap="none">
            <a:spAutoFit/>
          </a:bodyPr>
          <a:lstStyle/>
          <a:p>
            <a:r>
              <a:rPr lang="en-US" sz="1400" i="1" dirty="0"/>
              <a:t>Figure: State diagram</a:t>
            </a:r>
          </a:p>
        </p:txBody>
      </p:sp>
      <p:sp>
        <p:nvSpPr>
          <p:cNvPr id="10" name="TextBox 9">
            <a:extLst>
              <a:ext uri="{FF2B5EF4-FFF2-40B4-BE49-F238E27FC236}">
                <a16:creationId xmlns:a16="http://schemas.microsoft.com/office/drawing/2014/main" id="{E3D79DF2-476E-4CC8-81B5-B36D53CD7A01}"/>
              </a:ext>
            </a:extLst>
          </p:cNvPr>
          <p:cNvSpPr txBox="1"/>
          <p:nvPr/>
        </p:nvSpPr>
        <p:spPr>
          <a:xfrm>
            <a:off x="609600" y="666750"/>
            <a:ext cx="2895599" cy="307777"/>
          </a:xfrm>
          <a:prstGeom prst="rect">
            <a:avLst/>
          </a:prstGeom>
          <a:noFill/>
        </p:spPr>
        <p:txBody>
          <a:bodyPr wrap="square" rtlCol="0">
            <a:spAutoFit/>
          </a:bodyPr>
          <a:lstStyle/>
          <a:p>
            <a:r>
              <a:rPr lang="en-US" sz="1400" b="1" dirty="0"/>
              <a:t>Design CPU for below:</a:t>
            </a:r>
          </a:p>
        </p:txBody>
      </p:sp>
    </p:spTree>
    <p:extLst>
      <p:ext uri="{BB962C8B-B14F-4D97-AF65-F5344CB8AC3E}">
        <p14:creationId xmlns:p14="http://schemas.microsoft.com/office/powerpoint/2010/main" val="310229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1B82E583-5065-4166-85C6-BE08E97DEA31}"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8" name="Content Placeholder 2">
            <a:extLst>
              <a:ext uri="{FF2B5EF4-FFF2-40B4-BE49-F238E27FC236}">
                <a16:creationId xmlns:a16="http://schemas.microsoft.com/office/drawing/2014/main" id="{B7B32D86-9EF9-41FD-97BB-40E7BA96C35F}"/>
              </a:ext>
            </a:extLst>
          </p:cNvPr>
          <p:cNvSpPr>
            <a:spLocks noGrp="1"/>
          </p:cNvSpPr>
          <p:nvPr>
            <p:ph idx="1"/>
          </p:nvPr>
        </p:nvSpPr>
        <p:spPr>
          <a:xfrm>
            <a:off x="457200" y="819150"/>
            <a:ext cx="4267200" cy="3775075"/>
          </a:xfrm>
        </p:spPr>
        <p:txBody>
          <a:bodyPr>
            <a:normAutofit/>
          </a:bodyPr>
          <a:lstStyle/>
          <a:p>
            <a:r>
              <a:rPr lang="en-US" sz="1400" dirty="0">
                <a:sym typeface="Wingdings" panose="05000000000000000000" pitchFamily="2" charset="2"/>
              </a:rPr>
              <a:t>After regrouping the operations, the RTL codes are:</a:t>
            </a: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r>
              <a:rPr lang="en-US" sz="1400" dirty="0">
                <a:sym typeface="Wingdings" panose="05000000000000000000" pitchFamily="2" charset="2"/>
              </a:rPr>
              <a:t>Considering the regrouped RTL codes, our required register organization and </a:t>
            </a:r>
            <a:r>
              <a:rPr lang="en-US" sz="1400" dirty="0" err="1">
                <a:sym typeface="Wingdings" panose="05000000000000000000" pitchFamily="2" charset="2"/>
              </a:rPr>
              <a:t>datapath</a:t>
            </a:r>
            <a:r>
              <a:rPr lang="en-US" sz="1400" dirty="0">
                <a:sym typeface="Wingdings" panose="05000000000000000000" pitchFamily="2" charset="2"/>
              </a:rPr>
              <a:t> is as shown in the figure aside.</a:t>
            </a:r>
          </a:p>
          <a:p>
            <a:endParaRPr lang="en-US" sz="1400" dirty="0">
              <a:sym typeface="Wingdings" panose="05000000000000000000" pitchFamily="2" charset="2"/>
            </a:endParaRPr>
          </a:p>
          <a:p>
            <a:endParaRPr lang="en-US" sz="1600" dirty="0">
              <a:sym typeface="Wingdings" panose="05000000000000000000" pitchFamily="2" charset="2"/>
            </a:endParaRPr>
          </a:p>
        </p:txBody>
      </p:sp>
      <p:sp>
        <p:nvSpPr>
          <p:cNvPr id="9" name="Content Placeholder 2">
            <a:extLst>
              <a:ext uri="{FF2B5EF4-FFF2-40B4-BE49-F238E27FC236}">
                <a16:creationId xmlns:a16="http://schemas.microsoft.com/office/drawing/2014/main" id="{B11A5B29-1FB8-44AC-9CB0-844DA87696B5}"/>
              </a:ext>
            </a:extLst>
          </p:cNvPr>
          <p:cNvSpPr txBox="1">
            <a:spLocks/>
          </p:cNvSpPr>
          <p:nvPr/>
        </p:nvSpPr>
        <p:spPr>
          <a:xfrm>
            <a:off x="838201" y="1200150"/>
            <a:ext cx="1981199" cy="1524000"/>
          </a:xfrm>
          <a:prstGeom prst="rect">
            <a:avLst/>
          </a:prstGeom>
          <a:ln>
            <a:solidFill>
              <a:schemeClr val="tx1"/>
            </a:solidFill>
          </a:ln>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indent="-117475"/>
            <a:r>
              <a:rPr lang="en-US" sz="800" dirty="0"/>
              <a:t>Fetch 1: AR </a:t>
            </a:r>
            <a:r>
              <a:rPr lang="en-US" sz="800" dirty="0">
                <a:sym typeface="Wingdings" panose="05000000000000000000" pitchFamily="2" charset="2"/>
              </a:rPr>
              <a:t></a:t>
            </a:r>
            <a:r>
              <a:rPr lang="en-US" sz="800" dirty="0"/>
              <a:t> PC </a:t>
            </a:r>
          </a:p>
          <a:p>
            <a:pPr marL="117475" indent="-117475"/>
            <a:r>
              <a:rPr lang="en-US" sz="800" dirty="0"/>
              <a:t>Fetch 2: DR </a:t>
            </a:r>
            <a:r>
              <a:rPr lang="en-US" sz="800" dirty="0">
                <a:sym typeface="Wingdings" panose="05000000000000000000" pitchFamily="2" charset="2"/>
              </a:rPr>
              <a:t></a:t>
            </a:r>
            <a:r>
              <a:rPr lang="en-US" sz="800" dirty="0"/>
              <a:t>M,     PC </a:t>
            </a:r>
            <a:r>
              <a:rPr lang="en-US" sz="800" dirty="0">
                <a:sym typeface="Wingdings" panose="05000000000000000000" pitchFamily="2" charset="2"/>
              </a:rPr>
              <a:t></a:t>
            </a:r>
            <a:r>
              <a:rPr lang="en-US" sz="800" dirty="0"/>
              <a:t> PC + 1 </a:t>
            </a:r>
          </a:p>
          <a:p>
            <a:pPr marL="117475" indent="-117475"/>
            <a:r>
              <a:rPr lang="en-US" sz="800" dirty="0"/>
              <a:t>Fetch 3: IR </a:t>
            </a:r>
            <a:r>
              <a:rPr lang="en-US" sz="800" dirty="0">
                <a:sym typeface="Wingdings" panose="05000000000000000000" pitchFamily="2" charset="2"/>
              </a:rPr>
              <a:t></a:t>
            </a:r>
            <a:r>
              <a:rPr lang="en-US" sz="800" dirty="0"/>
              <a:t> DR[7,6],   AR </a:t>
            </a:r>
            <a:r>
              <a:rPr lang="en-US" sz="800" dirty="0">
                <a:sym typeface="Wingdings" panose="05000000000000000000" pitchFamily="2" charset="2"/>
              </a:rPr>
              <a:t></a:t>
            </a:r>
            <a:r>
              <a:rPr lang="en-US" sz="800" dirty="0"/>
              <a:t> DR[5….0] </a:t>
            </a:r>
          </a:p>
          <a:p>
            <a:pPr marL="117475" indent="-117475"/>
            <a:r>
              <a:rPr lang="en-US" sz="800" dirty="0"/>
              <a:t>JMP11: PC </a:t>
            </a:r>
            <a:r>
              <a:rPr lang="en-US" sz="800" dirty="0">
                <a:sym typeface="Wingdings" panose="05000000000000000000" pitchFamily="2" charset="2"/>
              </a:rPr>
              <a:t></a:t>
            </a:r>
            <a:r>
              <a:rPr lang="en-US" sz="800" dirty="0"/>
              <a:t>AR </a:t>
            </a:r>
          </a:p>
          <a:p>
            <a:pPr marL="117475" indent="-117475"/>
            <a:r>
              <a:rPr lang="en-US" sz="800" dirty="0"/>
              <a:t>JMP12: PC </a:t>
            </a:r>
            <a:r>
              <a:rPr lang="en-US" sz="800" dirty="0">
                <a:sym typeface="Wingdings" panose="05000000000000000000" pitchFamily="2" charset="2"/>
              </a:rPr>
              <a:t> </a:t>
            </a:r>
            <a:r>
              <a:rPr lang="en-US" sz="800" dirty="0"/>
              <a:t>PC +1 </a:t>
            </a:r>
          </a:p>
          <a:p>
            <a:pPr marL="117475" indent="-117475"/>
            <a:r>
              <a:rPr lang="en-US" sz="800" dirty="0"/>
              <a:t>INC21: AC </a:t>
            </a:r>
            <a:r>
              <a:rPr lang="en-US" sz="800" dirty="0">
                <a:sym typeface="Wingdings" panose="05000000000000000000" pitchFamily="2" charset="2"/>
              </a:rPr>
              <a:t></a:t>
            </a:r>
            <a:r>
              <a:rPr lang="en-US" sz="800" dirty="0"/>
              <a:t>AC +1 </a:t>
            </a:r>
          </a:p>
          <a:p>
            <a:pPr marL="117475" indent="-117475"/>
            <a:r>
              <a:rPr lang="en-US" sz="800" dirty="0"/>
              <a:t>INC22: AC </a:t>
            </a:r>
            <a:r>
              <a:rPr lang="en-US" sz="800" dirty="0">
                <a:sym typeface="Wingdings" panose="05000000000000000000" pitchFamily="2" charset="2"/>
              </a:rPr>
              <a:t></a:t>
            </a:r>
            <a:r>
              <a:rPr lang="en-US" sz="800" dirty="0"/>
              <a:t>AC +1</a:t>
            </a:r>
          </a:p>
          <a:p>
            <a:pPr marL="117475" indent="-117475"/>
            <a:r>
              <a:rPr lang="en-US" sz="800" dirty="0"/>
              <a:t>ADD11: DR </a:t>
            </a:r>
            <a:r>
              <a:rPr lang="en-US" sz="800" dirty="0">
                <a:sym typeface="Wingdings" panose="05000000000000000000" pitchFamily="2" charset="2"/>
              </a:rPr>
              <a:t></a:t>
            </a:r>
            <a:r>
              <a:rPr lang="en-US" sz="800" dirty="0"/>
              <a:t> M,     AC </a:t>
            </a:r>
            <a:r>
              <a:rPr lang="en-US" sz="800" dirty="0">
                <a:sym typeface="Wingdings" panose="05000000000000000000" pitchFamily="2" charset="2"/>
              </a:rPr>
              <a:t></a:t>
            </a:r>
            <a:r>
              <a:rPr lang="en-US" sz="800" dirty="0"/>
              <a:t>AC + 1 </a:t>
            </a:r>
          </a:p>
          <a:p>
            <a:pPr marL="117475" indent="-117475"/>
            <a:r>
              <a:rPr lang="en-US" sz="800" dirty="0"/>
              <a:t>ADD12: AC </a:t>
            </a:r>
            <a:r>
              <a:rPr lang="en-US" sz="800" dirty="0">
                <a:sym typeface="Wingdings" panose="05000000000000000000" pitchFamily="2" charset="2"/>
              </a:rPr>
              <a:t></a:t>
            </a:r>
            <a:r>
              <a:rPr lang="en-US" sz="800" dirty="0"/>
              <a:t> AC + DR </a:t>
            </a:r>
          </a:p>
          <a:p>
            <a:pPr marL="117475" indent="-117475"/>
            <a:r>
              <a:rPr lang="en-US" sz="800" dirty="0"/>
              <a:t>SKIP1: PC </a:t>
            </a:r>
            <a:r>
              <a:rPr lang="en-US" sz="800" dirty="0">
                <a:sym typeface="Wingdings" panose="05000000000000000000" pitchFamily="2" charset="2"/>
              </a:rPr>
              <a:t></a:t>
            </a:r>
            <a:r>
              <a:rPr lang="en-US" sz="800" dirty="0"/>
              <a:t> PC + 1</a:t>
            </a:r>
          </a:p>
          <a:p>
            <a:endParaRPr lang="en-US" sz="500" dirty="0"/>
          </a:p>
        </p:txBody>
      </p:sp>
      <p:sp>
        <p:nvSpPr>
          <p:cNvPr id="10" name="Content Placeholder 2">
            <a:extLst>
              <a:ext uri="{FF2B5EF4-FFF2-40B4-BE49-F238E27FC236}">
                <a16:creationId xmlns:a16="http://schemas.microsoft.com/office/drawing/2014/main" id="{65F2B437-13BA-4709-9140-BAD5725FC02B}"/>
              </a:ext>
            </a:extLst>
          </p:cNvPr>
          <p:cNvSpPr txBox="1">
            <a:spLocks/>
          </p:cNvSpPr>
          <p:nvPr/>
        </p:nvSpPr>
        <p:spPr>
          <a:xfrm>
            <a:off x="3200401" y="1200150"/>
            <a:ext cx="2103439" cy="914400"/>
          </a:xfrm>
          <a:prstGeom prst="rect">
            <a:avLst/>
          </a:prstGeom>
          <a:ln>
            <a:solidFill>
              <a:schemeClr val="tx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indent="-117475">
              <a:tabLst>
                <a:tab pos="457200" algn="l"/>
              </a:tabLst>
            </a:pPr>
            <a:r>
              <a:rPr lang="en-US" sz="900" dirty="0"/>
              <a:t>AR:	AR </a:t>
            </a:r>
            <a:r>
              <a:rPr lang="en-US" sz="900" dirty="0">
                <a:sym typeface="Wingdings" panose="05000000000000000000" pitchFamily="2" charset="2"/>
              </a:rPr>
              <a:t></a:t>
            </a:r>
            <a:r>
              <a:rPr lang="en-US" sz="900" dirty="0"/>
              <a:t> PC ,  AR</a:t>
            </a:r>
            <a:r>
              <a:rPr lang="en-US" sz="900" dirty="0">
                <a:sym typeface="Wingdings" panose="05000000000000000000" pitchFamily="2" charset="2"/>
              </a:rPr>
              <a:t>DR[5..0]</a:t>
            </a:r>
            <a:endParaRPr lang="en-US" sz="900" dirty="0"/>
          </a:p>
          <a:p>
            <a:pPr marL="117475" indent="-117475">
              <a:tabLst>
                <a:tab pos="457200" algn="l"/>
              </a:tabLst>
            </a:pPr>
            <a:r>
              <a:rPr lang="en-US" sz="900" dirty="0"/>
              <a:t>PC:	PC </a:t>
            </a:r>
            <a:r>
              <a:rPr lang="en-US" sz="900" dirty="0">
                <a:sym typeface="Wingdings" panose="05000000000000000000" pitchFamily="2" charset="2"/>
              </a:rPr>
              <a:t></a:t>
            </a:r>
            <a:r>
              <a:rPr lang="en-US" sz="900" dirty="0"/>
              <a:t> PC + 1  , PC</a:t>
            </a:r>
            <a:r>
              <a:rPr lang="en-US" sz="900" dirty="0">
                <a:sym typeface="Wingdings" panose="05000000000000000000" pitchFamily="2" charset="2"/>
              </a:rPr>
              <a:t>AR</a:t>
            </a:r>
          </a:p>
          <a:p>
            <a:pPr marL="117475" indent="-117475">
              <a:tabLst>
                <a:tab pos="457200" algn="l"/>
              </a:tabLst>
            </a:pPr>
            <a:r>
              <a:rPr lang="en-US" sz="900" dirty="0"/>
              <a:t>DR:	DR</a:t>
            </a:r>
            <a:r>
              <a:rPr lang="en-US" sz="900" dirty="0">
                <a:sym typeface="Wingdings" panose="05000000000000000000" pitchFamily="2" charset="2"/>
              </a:rPr>
              <a:t>M</a:t>
            </a:r>
            <a:endParaRPr lang="en-US" sz="900" dirty="0"/>
          </a:p>
          <a:p>
            <a:pPr marL="117475" indent="-117475">
              <a:tabLst>
                <a:tab pos="457200" algn="l"/>
              </a:tabLst>
            </a:pPr>
            <a:r>
              <a:rPr lang="en-US" sz="900" dirty="0"/>
              <a:t>AC:	AC </a:t>
            </a:r>
            <a:r>
              <a:rPr lang="en-US" sz="900" dirty="0">
                <a:sym typeface="Wingdings" panose="05000000000000000000" pitchFamily="2" charset="2"/>
              </a:rPr>
              <a:t></a:t>
            </a:r>
            <a:r>
              <a:rPr lang="en-US" sz="900" dirty="0"/>
              <a:t>AC +1 ,    AC </a:t>
            </a:r>
            <a:r>
              <a:rPr lang="en-US" sz="900" dirty="0">
                <a:sym typeface="Wingdings" panose="05000000000000000000" pitchFamily="2" charset="2"/>
              </a:rPr>
              <a:t></a:t>
            </a:r>
            <a:r>
              <a:rPr lang="en-US" sz="900" dirty="0"/>
              <a:t> AC + DR </a:t>
            </a:r>
          </a:p>
          <a:p>
            <a:pPr marL="117475" indent="-117475">
              <a:tabLst>
                <a:tab pos="457200" algn="l"/>
              </a:tabLst>
            </a:pPr>
            <a:r>
              <a:rPr lang="en-US" sz="900" dirty="0"/>
              <a:t>IR:	IR </a:t>
            </a:r>
            <a:r>
              <a:rPr lang="en-US" sz="900" dirty="0">
                <a:sym typeface="Wingdings" panose="05000000000000000000" pitchFamily="2" charset="2"/>
              </a:rPr>
              <a:t></a:t>
            </a:r>
            <a:r>
              <a:rPr lang="en-US" sz="900" dirty="0"/>
              <a:t> DR[7,6]</a:t>
            </a:r>
          </a:p>
          <a:p>
            <a:pPr>
              <a:tabLst>
                <a:tab pos="457200" algn="l"/>
              </a:tabLst>
            </a:pPr>
            <a:endParaRPr lang="en-US" sz="600" dirty="0"/>
          </a:p>
        </p:txBody>
      </p:sp>
      <p:sp>
        <p:nvSpPr>
          <p:cNvPr id="11" name="Arrow: Right 10">
            <a:extLst>
              <a:ext uri="{FF2B5EF4-FFF2-40B4-BE49-F238E27FC236}">
                <a16:creationId xmlns:a16="http://schemas.microsoft.com/office/drawing/2014/main" id="{81EE40E2-A4AB-4A71-950B-5AE6B24EB1DD}"/>
              </a:ext>
            </a:extLst>
          </p:cNvPr>
          <p:cNvSpPr/>
          <p:nvPr/>
        </p:nvSpPr>
        <p:spPr>
          <a:xfrm>
            <a:off x="2895600" y="1581150"/>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1460E84-F147-4E13-9363-2883F72A73C6}"/>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57000"/>
                    </a14:imgEffect>
                  </a14:imgLayer>
                </a14:imgProps>
              </a:ext>
              <a:ext uri="{28A0092B-C50C-407E-A947-70E740481C1C}">
                <a14:useLocalDpi xmlns:a14="http://schemas.microsoft.com/office/drawing/2010/main" val="0"/>
              </a:ext>
            </a:extLst>
          </a:blip>
          <a:stretch>
            <a:fillRect/>
          </a:stretch>
        </p:blipFill>
        <p:spPr>
          <a:xfrm>
            <a:off x="5380361" y="425841"/>
            <a:ext cx="3632586" cy="4596618"/>
          </a:xfrm>
          <a:prstGeom prst="rect">
            <a:avLst/>
          </a:prstGeom>
        </p:spPr>
      </p:pic>
      <p:sp>
        <p:nvSpPr>
          <p:cNvPr id="3" name="Isosceles Triangle 2">
            <a:extLst>
              <a:ext uri="{FF2B5EF4-FFF2-40B4-BE49-F238E27FC236}">
                <a16:creationId xmlns:a16="http://schemas.microsoft.com/office/drawing/2014/main" id="{036A6737-284B-46F6-8939-2B75484234E9}"/>
              </a:ext>
            </a:extLst>
          </p:cNvPr>
          <p:cNvSpPr/>
          <p:nvPr/>
        </p:nvSpPr>
        <p:spPr>
          <a:xfrm rot="5400000">
            <a:off x="7519410" y="1762391"/>
            <a:ext cx="118110" cy="129007"/>
          </a:xfrm>
          <a:prstGeom prst="triangl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0C66639-6EBC-4734-ADB7-31517DADDF8D}"/>
              </a:ext>
            </a:extLst>
          </p:cNvPr>
          <p:cNvSpPr txBox="1"/>
          <p:nvPr/>
        </p:nvSpPr>
        <p:spPr>
          <a:xfrm>
            <a:off x="7394761" y="1936535"/>
            <a:ext cx="367408" cy="169277"/>
          </a:xfrm>
          <a:prstGeom prst="rect">
            <a:avLst/>
          </a:prstGeom>
          <a:noFill/>
        </p:spPr>
        <p:txBody>
          <a:bodyPr wrap="none" rtlCol="0">
            <a:spAutoFit/>
          </a:bodyPr>
          <a:lstStyle/>
          <a:p>
            <a:r>
              <a:rPr lang="en-US" sz="500" b="1" dirty="0"/>
              <a:t>ARBUS</a:t>
            </a:r>
          </a:p>
        </p:txBody>
      </p:sp>
      <p:cxnSp>
        <p:nvCxnSpPr>
          <p:cNvPr id="13" name="Straight Connector 12">
            <a:extLst>
              <a:ext uri="{FF2B5EF4-FFF2-40B4-BE49-F238E27FC236}">
                <a16:creationId xmlns:a16="http://schemas.microsoft.com/office/drawing/2014/main" id="{064DFB55-A9E3-454A-86C2-67F1EA9A24AD}"/>
              </a:ext>
            </a:extLst>
          </p:cNvPr>
          <p:cNvCxnSpPr>
            <a:cxnSpLocks/>
            <a:stCxn id="3" idx="5"/>
          </p:cNvCxnSpPr>
          <p:nvPr/>
        </p:nvCxnSpPr>
        <p:spPr>
          <a:xfrm>
            <a:off x="7578465" y="1856423"/>
            <a:ext cx="0" cy="105727"/>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78568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2800" b="1" dirty="0"/>
              <a:t>ALU section:</a:t>
            </a:r>
          </a:p>
        </p:txBody>
      </p:sp>
      <p:sp>
        <p:nvSpPr>
          <p:cNvPr id="3" name="Content Placeholder 2"/>
          <p:cNvSpPr>
            <a:spLocks noGrp="1"/>
          </p:cNvSpPr>
          <p:nvPr>
            <p:ph idx="1"/>
          </p:nvPr>
        </p:nvSpPr>
        <p:spPr>
          <a:xfrm>
            <a:off x="457200" y="742950"/>
            <a:ext cx="4419600" cy="3851673"/>
          </a:xfrm>
          <a:noFill/>
        </p:spPr>
        <p:txBody>
          <a:bodyPr>
            <a:normAutofit/>
          </a:bodyPr>
          <a:lstStyle/>
          <a:p>
            <a:r>
              <a:rPr lang="en-US" sz="2000" dirty="0"/>
              <a:t>The ALU for this CPU  is as shown below:</a:t>
            </a:r>
            <a:endParaRPr lang="en-US" sz="1600" dirty="0"/>
          </a:p>
        </p:txBody>
      </p:sp>
      <p:sp>
        <p:nvSpPr>
          <p:cNvPr id="4" name="Date Placeholder 3"/>
          <p:cNvSpPr>
            <a:spLocks noGrp="1"/>
          </p:cNvSpPr>
          <p:nvPr>
            <p:ph type="dt" sz="half" idx="10"/>
          </p:nvPr>
        </p:nvSpPr>
        <p:spPr/>
        <p:txBody>
          <a:bodyPr/>
          <a:lstStyle/>
          <a:p>
            <a:fld id="{F8304835-B082-407B-AB8A-ED4B9F80DF97}"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8" name="Rectangle 7">
            <a:extLst>
              <a:ext uri="{FF2B5EF4-FFF2-40B4-BE49-F238E27FC236}">
                <a16:creationId xmlns:a16="http://schemas.microsoft.com/office/drawing/2014/main" id="{2C4AA755-1B59-47C5-9F40-DA0CCB195CDD}"/>
              </a:ext>
            </a:extLst>
          </p:cNvPr>
          <p:cNvSpPr/>
          <p:nvPr/>
        </p:nvSpPr>
        <p:spPr>
          <a:xfrm>
            <a:off x="3496228" y="3858968"/>
            <a:ext cx="1549014" cy="307777"/>
          </a:xfrm>
          <a:prstGeom prst="rect">
            <a:avLst/>
          </a:prstGeom>
        </p:spPr>
        <p:txBody>
          <a:bodyPr wrap="none">
            <a:spAutoFit/>
          </a:bodyPr>
          <a:lstStyle/>
          <a:p>
            <a:r>
              <a:rPr lang="en-US" sz="1400" i="1" dirty="0"/>
              <a:t>Figure: ALU Design</a:t>
            </a:r>
          </a:p>
        </p:txBody>
      </p:sp>
      <p:sp>
        <p:nvSpPr>
          <p:cNvPr id="10" name="Rectangle 9">
            <a:extLst>
              <a:ext uri="{FF2B5EF4-FFF2-40B4-BE49-F238E27FC236}">
                <a16:creationId xmlns:a16="http://schemas.microsoft.com/office/drawing/2014/main" id="{4A072BC5-D4F0-4EC7-9867-4854DF239A20}"/>
              </a:ext>
            </a:extLst>
          </p:cNvPr>
          <p:cNvSpPr/>
          <p:nvPr/>
        </p:nvSpPr>
        <p:spPr>
          <a:xfrm>
            <a:off x="3537284" y="2217495"/>
            <a:ext cx="1066800" cy="60960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Parallel Adder</a:t>
            </a:r>
          </a:p>
        </p:txBody>
      </p:sp>
      <p:cxnSp>
        <p:nvCxnSpPr>
          <p:cNvPr id="12" name="Straight Arrow Connector 11">
            <a:extLst>
              <a:ext uri="{FF2B5EF4-FFF2-40B4-BE49-F238E27FC236}">
                <a16:creationId xmlns:a16="http://schemas.microsoft.com/office/drawing/2014/main" id="{E18B5A87-EBF9-438C-BCF1-1E4631AC61AA}"/>
              </a:ext>
            </a:extLst>
          </p:cNvPr>
          <p:cNvCxnSpPr/>
          <p:nvPr/>
        </p:nvCxnSpPr>
        <p:spPr>
          <a:xfrm>
            <a:off x="2546684" y="2674695"/>
            <a:ext cx="990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034AE4B-16BA-4D24-891D-F63E70FA719B}"/>
              </a:ext>
            </a:extLst>
          </p:cNvPr>
          <p:cNvCxnSpPr/>
          <p:nvPr/>
        </p:nvCxnSpPr>
        <p:spPr>
          <a:xfrm>
            <a:off x="2546684" y="2320125"/>
            <a:ext cx="990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CC52D2D7-462C-4B55-B5B6-60FDFCFD3203}"/>
              </a:ext>
            </a:extLst>
          </p:cNvPr>
          <p:cNvCxnSpPr>
            <a:cxnSpLocks/>
          </p:cNvCxnSpPr>
          <p:nvPr/>
        </p:nvCxnSpPr>
        <p:spPr>
          <a:xfrm>
            <a:off x="4604084" y="2522295"/>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6427FABD-A761-40D8-B9A6-A83E1F955EEE}"/>
              </a:ext>
            </a:extLst>
          </p:cNvPr>
          <p:cNvSpPr txBox="1"/>
          <p:nvPr/>
        </p:nvSpPr>
        <p:spPr>
          <a:xfrm>
            <a:off x="2622884" y="2065095"/>
            <a:ext cx="341760" cy="261610"/>
          </a:xfrm>
          <a:prstGeom prst="rect">
            <a:avLst/>
          </a:prstGeom>
          <a:noFill/>
        </p:spPr>
        <p:txBody>
          <a:bodyPr wrap="none" rtlCol="0">
            <a:spAutoFit/>
          </a:bodyPr>
          <a:lstStyle/>
          <a:p>
            <a:r>
              <a:rPr lang="en-US" sz="1050" dirty="0"/>
              <a:t>AC</a:t>
            </a:r>
          </a:p>
        </p:txBody>
      </p:sp>
      <p:sp>
        <p:nvSpPr>
          <p:cNvPr id="17" name="TextBox 16">
            <a:extLst>
              <a:ext uri="{FF2B5EF4-FFF2-40B4-BE49-F238E27FC236}">
                <a16:creationId xmlns:a16="http://schemas.microsoft.com/office/drawing/2014/main" id="{96467B32-F75D-4172-A739-4548B1F4BC30}"/>
              </a:ext>
            </a:extLst>
          </p:cNvPr>
          <p:cNvSpPr txBox="1"/>
          <p:nvPr/>
        </p:nvSpPr>
        <p:spPr>
          <a:xfrm>
            <a:off x="2655833" y="2492766"/>
            <a:ext cx="341760" cy="253916"/>
          </a:xfrm>
          <a:prstGeom prst="rect">
            <a:avLst/>
          </a:prstGeom>
          <a:noFill/>
        </p:spPr>
        <p:txBody>
          <a:bodyPr wrap="none" rtlCol="0">
            <a:spAutoFit/>
          </a:bodyPr>
          <a:lstStyle/>
          <a:p>
            <a:r>
              <a:rPr lang="en-US" sz="1050" dirty="0"/>
              <a:t>DR</a:t>
            </a:r>
          </a:p>
        </p:txBody>
      </p:sp>
      <p:sp>
        <p:nvSpPr>
          <p:cNvPr id="18" name="TextBox 17">
            <a:extLst>
              <a:ext uri="{FF2B5EF4-FFF2-40B4-BE49-F238E27FC236}">
                <a16:creationId xmlns:a16="http://schemas.microsoft.com/office/drawing/2014/main" id="{75791270-41C2-4679-AD3C-1DFFBA4399C9}"/>
              </a:ext>
            </a:extLst>
          </p:cNvPr>
          <p:cNvSpPr txBox="1"/>
          <p:nvPr/>
        </p:nvSpPr>
        <p:spPr>
          <a:xfrm>
            <a:off x="5880555" y="2242534"/>
            <a:ext cx="502061" cy="253916"/>
          </a:xfrm>
          <a:prstGeom prst="rect">
            <a:avLst/>
          </a:prstGeom>
          <a:noFill/>
        </p:spPr>
        <p:txBody>
          <a:bodyPr wrap="none" rtlCol="0">
            <a:spAutoFit/>
          </a:bodyPr>
          <a:lstStyle/>
          <a:p>
            <a:r>
              <a:rPr lang="en-US" sz="1050" dirty="0"/>
              <a:t>To AC</a:t>
            </a:r>
          </a:p>
        </p:txBody>
      </p:sp>
      <p:sp>
        <p:nvSpPr>
          <p:cNvPr id="19" name="Rectangle 18">
            <a:extLst>
              <a:ext uri="{FF2B5EF4-FFF2-40B4-BE49-F238E27FC236}">
                <a16:creationId xmlns:a16="http://schemas.microsoft.com/office/drawing/2014/main" id="{DA60975F-584B-46FB-B45D-259EE05C5E2B}"/>
              </a:ext>
            </a:extLst>
          </p:cNvPr>
          <p:cNvSpPr/>
          <p:nvPr/>
        </p:nvSpPr>
        <p:spPr>
          <a:xfrm>
            <a:off x="4908884" y="1978852"/>
            <a:ext cx="609600" cy="864723"/>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MUX</a:t>
            </a:r>
          </a:p>
        </p:txBody>
      </p:sp>
      <p:cxnSp>
        <p:nvCxnSpPr>
          <p:cNvPr id="21" name="Straight Arrow Connector 20">
            <a:extLst>
              <a:ext uri="{FF2B5EF4-FFF2-40B4-BE49-F238E27FC236}">
                <a16:creationId xmlns:a16="http://schemas.microsoft.com/office/drawing/2014/main" id="{1CF4EB57-1514-43E0-ACD5-D63E1DD03A52}"/>
              </a:ext>
            </a:extLst>
          </p:cNvPr>
          <p:cNvCxnSpPr>
            <a:cxnSpLocks/>
          </p:cNvCxnSpPr>
          <p:nvPr/>
        </p:nvCxnSpPr>
        <p:spPr>
          <a:xfrm>
            <a:off x="5518484" y="2369895"/>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18BA94D9-3619-4EE5-AC64-6668FC89FD3A}"/>
              </a:ext>
            </a:extLst>
          </p:cNvPr>
          <p:cNvSpPr txBox="1"/>
          <p:nvPr/>
        </p:nvSpPr>
        <p:spPr>
          <a:xfrm>
            <a:off x="4859741" y="2047416"/>
            <a:ext cx="235962" cy="584775"/>
          </a:xfrm>
          <a:prstGeom prst="rect">
            <a:avLst/>
          </a:prstGeom>
          <a:noFill/>
        </p:spPr>
        <p:txBody>
          <a:bodyPr wrap="none" rtlCol="0">
            <a:spAutoFit/>
          </a:bodyPr>
          <a:lstStyle/>
          <a:p>
            <a:r>
              <a:rPr lang="en-US" sz="800" dirty="0"/>
              <a:t>0</a:t>
            </a:r>
          </a:p>
          <a:p>
            <a:endParaRPr lang="en-US" sz="800" dirty="0"/>
          </a:p>
          <a:p>
            <a:endParaRPr lang="en-US" sz="800" dirty="0"/>
          </a:p>
          <a:p>
            <a:r>
              <a:rPr lang="en-US" sz="800" dirty="0"/>
              <a:t>1</a:t>
            </a:r>
          </a:p>
        </p:txBody>
      </p:sp>
      <p:cxnSp>
        <p:nvCxnSpPr>
          <p:cNvPr id="26" name="Straight Connector 25">
            <a:extLst>
              <a:ext uri="{FF2B5EF4-FFF2-40B4-BE49-F238E27FC236}">
                <a16:creationId xmlns:a16="http://schemas.microsoft.com/office/drawing/2014/main" id="{B0FA78A8-AD29-4EEA-823E-F6C3CCFE4F82}"/>
              </a:ext>
            </a:extLst>
          </p:cNvPr>
          <p:cNvCxnSpPr>
            <a:stCxn id="19" idx="2"/>
          </p:cNvCxnSpPr>
          <p:nvPr/>
        </p:nvCxnSpPr>
        <p:spPr>
          <a:xfrm>
            <a:off x="5213684" y="2843575"/>
            <a:ext cx="0" cy="212120"/>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FA37C5EF-40C7-4EEC-806D-207B9F258ECC}"/>
              </a:ext>
            </a:extLst>
          </p:cNvPr>
          <p:cNvSpPr txBox="1"/>
          <p:nvPr/>
        </p:nvSpPr>
        <p:spPr>
          <a:xfrm>
            <a:off x="4642344" y="3054442"/>
            <a:ext cx="1133645" cy="338554"/>
          </a:xfrm>
          <a:prstGeom prst="rect">
            <a:avLst/>
          </a:prstGeom>
          <a:noFill/>
        </p:spPr>
        <p:txBody>
          <a:bodyPr wrap="none" rtlCol="0">
            <a:spAutoFit/>
          </a:bodyPr>
          <a:lstStyle/>
          <a:p>
            <a:pPr algn="ctr"/>
            <a:r>
              <a:rPr lang="en-US" sz="800" dirty="0"/>
              <a:t>ALUSEL</a:t>
            </a:r>
          </a:p>
          <a:p>
            <a:pPr algn="ctr"/>
            <a:r>
              <a:rPr lang="en-US" sz="800" dirty="0"/>
              <a:t>Control Signal from CU</a:t>
            </a:r>
          </a:p>
        </p:txBody>
      </p:sp>
      <p:sp>
        <p:nvSpPr>
          <p:cNvPr id="28" name="TextBox 27">
            <a:extLst>
              <a:ext uri="{FF2B5EF4-FFF2-40B4-BE49-F238E27FC236}">
                <a16:creationId xmlns:a16="http://schemas.microsoft.com/office/drawing/2014/main" id="{978B8E48-5112-4730-8CE2-C33FCAA5DA6B}"/>
              </a:ext>
            </a:extLst>
          </p:cNvPr>
          <p:cNvSpPr txBox="1"/>
          <p:nvPr/>
        </p:nvSpPr>
        <p:spPr>
          <a:xfrm>
            <a:off x="5090382" y="2658431"/>
            <a:ext cx="237566" cy="230832"/>
          </a:xfrm>
          <a:prstGeom prst="rect">
            <a:avLst/>
          </a:prstGeom>
          <a:noFill/>
        </p:spPr>
        <p:txBody>
          <a:bodyPr wrap="none" rtlCol="0">
            <a:spAutoFit/>
          </a:bodyPr>
          <a:lstStyle/>
          <a:p>
            <a:r>
              <a:rPr lang="en-US" sz="900" dirty="0"/>
              <a:t>S</a:t>
            </a:r>
          </a:p>
        </p:txBody>
      </p:sp>
    </p:spTree>
    <p:extLst>
      <p:ext uri="{BB962C8B-B14F-4D97-AF65-F5344CB8AC3E}">
        <p14:creationId xmlns:p14="http://schemas.microsoft.com/office/powerpoint/2010/main" val="969166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000" b="1" dirty="0"/>
              <a:t>Hardware Unit</a:t>
            </a:r>
          </a:p>
        </p:txBody>
      </p:sp>
      <p:sp>
        <p:nvSpPr>
          <p:cNvPr id="3" name="Content Placeholder 2"/>
          <p:cNvSpPr>
            <a:spLocks noGrp="1"/>
          </p:cNvSpPr>
          <p:nvPr>
            <p:ph idx="1"/>
          </p:nvPr>
        </p:nvSpPr>
        <p:spPr>
          <a:xfrm>
            <a:off x="3406652" y="742950"/>
            <a:ext cx="5280147" cy="3851673"/>
          </a:xfrm>
        </p:spPr>
        <p:txBody>
          <a:bodyPr>
            <a:normAutofit/>
          </a:bodyPr>
          <a:lstStyle/>
          <a:p>
            <a:r>
              <a:rPr lang="en-US" sz="1400" dirty="0"/>
              <a:t>The CPU that we have designed has</a:t>
            </a:r>
            <a:r>
              <a:rPr lang="en-US" sz="1400" b="1" dirty="0"/>
              <a:t> 10 total states. </a:t>
            </a:r>
            <a:r>
              <a:rPr lang="en-US" sz="1400" dirty="0"/>
              <a:t>So, a 4-bit counter and 4:16 decoder are needed. Here, six of the outputs of the decode will not be used.</a:t>
            </a:r>
          </a:p>
          <a:p>
            <a:r>
              <a:rPr lang="en-US" sz="1400" dirty="0"/>
              <a:t>The general block diagram for our required Hardwired Control Unit is as given below:</a:t>
            </a:r>
          </a:p>
        </p:txBody>
      </p:sp>
      <p:sp>
        <p:nvSpPr>
          <p:cNvPr id="4" name="Date Placeholder 3"/>
          <p:cNvSpPr>
            <a:spLocks noGrp="1"/>
          </p:cNvSpPr>
          <p:nvPr>
            <p:ph type="dt" sz="half" idx="10"/>
          </p:nvPr>
        </p:nvSpPr>
        <p:spPr/>
        <p:txBody>
          <a:bodyPr/>
          <a:lstStyle/>
          <a:p>
            <a:fld id="{B11EB3AD-2F54-45CC-9C40-CDB47869862F}"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48F07005-DB51-4C17-A758-BFC8827B41CC}"/>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b="3155"/>
          <a:stretch/>
        </p:blipFill>
        <p:spPr>
          <a:xfrm>
            <a:off x="3720108" y="2115337"/>
            <a:ext cx="4806269" cy="1448748"/>
          </a:xfrm>
          <a:prstGeom prst="rect">
            <a:avLst/>
          </a:prstGeom>
        </p:spPr>
      </p:pic>
      <p:sp>
        <p:nvSpPr>
          <p:cNvPr id="8" name="Content Placeholder 2">
            <a:extLst>
              <a:ext uri="{FF2B5EF4-FFF2-40B4-BE49-F238E27FC236}">
                <a16:creationId xmlns:a16="http://schemas.microsoft.com/office/drawing/2014/main" id="{99927DAE-8A8F-4515-B5D3-5CB20F90F99A}"/>
              </a:ext>
            </a:extLst>
          </p:cNvPr>
          <p:cNvSpPr txBox="1">
            <a:spLocks/>
          </p:cNvSpPr>
          <p:nvPr/>
        </p:nvSpPr>
        <p:spPr>
          <a:xfrm>
            <a:off x="781049" y="687805"/>
            <a:ext cx="3619501" cy="15448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100" dirty="0"/>
              <a:t>.</a:t>
            </a:r>
          </a:p>
        </p:txBody>
      </p:sp>
      <p:sp>
        <p:nvSpPr>
          <p:cNvPr id="10" name="TextBox 9">
            <a:extLst>
              <a:ext uri="{FF2B5EF4-FFF2-40B4-BE49-F238E27FC236}">
                <a16:creationId xmlns:a16="http://schemas.microsoft.com/office/drawing/2014/main" id="{6E736337-42BC-4E68-AAA1-89FBD6AEB8AE}"/>
              </a:ext>
            </a:extLst>
          </p:cNvPr>
          <p:cNvSpPr txBox="1"/>
          <p:nvPr/>
        </p:nvSpPr>
        <p:spPr>
          <a:xfrm>
            <a:off x="381000" y="1285232"/>
            <a:ext cx="2590800" cy="523220"/>
          </a:xfrm>
          <a:prstGeom prst="rect">
            <a:avLst/>
          </a:prstGeom>
          <a:noFill/>
        </p:spPr>
        <p:txBody>
          <a:bodyPr wrap="square" rtlCol="0">
            <a:spAutoFit/>
          </a:bodyPr>
          <a:lstStyle/>
          <a:p>
            <a:r>
              <a:rPr lang="en-US" sz="1400" dirty="0"/>
              <a:t>Our CPU’s state diagram is as shown below:</a:t>
            </a:r>
          </a:p>
        </p:txBody>
      </p:sp>
      <p:sp>
        <p:nvSpPr>
          <p:cNvPr id="11" name="TextBox 10">
            <a:extLst>
              <a:ext uri="{FF2B5EF4-FFF2-40B4-BE49-F238E27FC236}">
                <a16:creationId xmlns:a16="http://schemas.microsoft.com/office/drawing/2014/main" id="{4EC2EAF0-84F4-45F4-8ED6-0F410927A035}"/>
              </a:ext>
            </a:extLst>
          </p:cNvPr>
          <p:cNvSpPr txBox="1"/>
          <p:nvPr/>
        </p:nvSpPr>
        <p:spPr>
          <a:xfrm>
            <a:off x="1121029" y="4332630"/>
            <a:ext cx="1530612" cy="276999"/>
          </a:xfrm>
          <a:prstGeom prst="rect">
            <a:avLst/>
          </a:prstGeom>
          <a:noFill/>
        </p:spPr>
        <p:txBody>
          <a:bodyPr wrap="none" rtlCol="0">
            <a:spAutoFit/>
          </a:bodyPr>
          <a:lstStyle/>
          <a:p>
            <a:r>
              <a:rPr lang="en-US" sz="1200" i="1" dirty="0"/>
              <a:t>Figure: State diagram</a:t>
            </a:r>
          </a:p>
        </p:txBody>
      </p:sp>
      <p:sp>
        <p:nvSpPr>
          <p:cNvPr id="12" name="TextBox 11">
            <a:extLst>
              <a:ext uri="{FF2B5EF4-FFF2-40B4-BE49-F238E27FC236}">
                <a16:creationId xmlns:a16="http://schemas.microsoft.com/office/drawing/2014/main" id="{55D1C219-9FC4-46B0-998E-60D014D73BF0}"/>
              </a:ext>
            </a:extLst>
          </p:cNvPr>
          <p:cNvSpPr txBox="1"/>
          <p:nvPr/>
        </p:nvSpPr>
        <p:spPr>
          <a:xfrm>
            <a:off x="4800600" y="3736725"/>
            <a:ext cx="3052567" cy="276999"/>
          </a:xfrm>
          <a:prstGeom prst="rect">
            <a:avLst/>
          </a:prstGeom>
          <a:noFill/>
        </p:spPr>
        <p:txBody>
          <a:bodyPr wrap="none" rtlCol="0">
            <a:spAutoFit/>
          </a:bodyPr>
          <a:lstStyle/>
          <a:p>
            <a:r>
              <a:rPr lang="en-US" sz="1200" i="1" dirty="0"/>
              <a:t>Figure:  General Block diagram of Control Unit</a:t>
            </a:r>
          </a:p>
        </p:txBody>
      </p:sp>
      <p:pic>
        <p:nvPicPr>
          <p:cNvPr id="13" name="Picture 12">
            <a:extLst>
              <a:ext uri="{FF2B5EF4-FFF2-40B4-BE49-F238E27FC236}">
                <a16:creationId xmlns:a16="http://schemas.microsoft.com/office/drawing/2014/main" id="{30CA0846-2668-4A0F-A6FC-4F698FDCF925}"/>
              </a:ext>
            </a:extLst>
          </p:cNvPr>
          <p:cNvPicPr/>
          <p:nvPr/>
        </p:nvPicPr>
        <p:blipFill rotWithShape="1">
          <a:blip r:embed="rId4">
            <a:extLst>
              <a:ext uri="{BEBA8EAE-BF5A-486C-A8C5-ECC9F3942E4B}">
                <a14:imgProps xmlns:a14="http://schemas.microsoft.com/office/drawing/2010/main">
                  <a14:imgLayer r:embed="rId5">
                    <a14:imgEffect>
                      <a14:sharpenSoften amount="100000"/>
                    </a14:imgEffect>
                  </a14:imgLayer>
                </a14:imgProps>
              </a:ext>
            </a:extLst>
          </a:blip>
          <a:srcRect l="3471" t="4074" r="4555" b="7544"/>
          <a:stretch/>
        </p:blipFill>
        <p:spPr>
          <a:xfrm>
            <a:off x="465951" y="1777925"/>
            <a:ext cx="2940701" cy="2816698"/>
          </a:xfrm>
          <a:prstGeom prst="rect">
            <a:avLst/>
          </a:prstGeom>
        </p:spPr>
      </p:pic>
    </p:spTree>
    <p:extLst>
      <p:ext uri="{BB962C8B-B14F-4D97-AF65-F5344CB8AC3E}">
        <p14:creationId xmlns:p14="http://schemas.microsoft.com/office/powerpoint/2010/main" val="1669953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7030A0"/>
              </a:solidFill>
            </a:endParaRPr>
          </a:p>
        </p:txBody>
      </p:sp>
      <p:sp>
        <p:nvSpPr>
          <p:cNvPr id="3" name="Content Placeholder 2"/>
          <p:cNvSpPr>
            <a:spLocks noGrp="1"/>
          </p:cNvSpPr>
          <p:nvPr>
            <p:ph idx="1"/>
          </p:nvPr>
        </p:nvSpPr>
        <p:spPr>
          <a:xfrm>
            <a:off x="457200" y="777477"/>
            <a:ext cx="3886201" cy="3851673"/>
          </a:xfrm>
        </p:spPr>
        <p:txBody>
          <a:bodyPr>
            <a:normAutofit/>
          </a:bodyPr>
          <a:lstStyle/>
          <a:p>
            <a:pPr marL="233363" indent="-233363"/>
            <a:r>
              <a:rPr lang="en-US" sz="1200" dirty="0"/>
              <a:t>Now if we mapping function as: 1[IR]0, which results in counter values of:</a:t>
            </a:r>
          </a:p>
          <a:p>
            <a:pPr marL="233363" indent="-233363"/>
            <a:endParaRPr lang="en-US" sz="1200" dirty="0"/>
          </a:p>
          <a:p>
            <a:pPr marL="233363" indent="-233363"/>
            <a:endParaRPr lang="en-US" sz="1200" dirty="0"/>
          </a:p>
          <a:p>
            <a:pPr marL="233363" indent="-233363"/>
            <a:endParaRPr lang="en-US" sz="1200" dirty="0"/>
          </a:p>
          <a:p>
            <a:pPr marL="233363" indent="-233363"/>
            <a:endParaRPr lang="en-US" sz="1200" dirty="0"/>
          </a:p>
          <a:p>
            <a:pPr marL="233363" indent="-233363"/>
            <a:endParaRPr lang="en-US" sz="1200" dirty="0"/>
          </a:p>
          <a:p>
            <a:pPr marL="233363" indent="-233363">
              <a:buNone/>
            </a:pPr>
            <a:endParaRPr lang="en-US" sz="1200" dirty="0"/>
          </a:p>
          <a:p>
            <a:pPr marL="233363" indent="-233363"/>
            <a:r>
              <a:rPr lang="en-US" sz="1200" dirty="0"/>
              <a:t>Now, we can assign counter value 9 to JMP12 and 11 to INC22</a:t>
            </a:r>
          </a:p>
          <a:p>
            <a:pPr marL="233363" indent="-233363"/>
            <a:r>
              <a:rPr lang="en-US" sz="1200" dirty="0"/>
              <a:t>This enables to perform sequentially.</a:t>
            </a:r>
          </a:p>
          <a:p>
            <a:pPr marL="233363" indent="-233363"/>
            <a:r>
              <a:rPr lang="en-US" sz="1200" dirty="0"/>
              <a:t>So, a complete hardwired control unit is:</a:t>
            </a:r>
          </a:p>
          <a:p>
            <a:pPr marL="233363" indent="-233363"/>
            <a:endParaRPr lang="en-US" sz="1200" dirty="0"/>
          </a:p>
        </p:txBody>
      </p:sp>
      <p:sp>
        <p:nvSpPr>
          <p:cNvPr id="4" name="Date Placeholder 3"/>
          <p:cNvSpPr>
            <a:spLocks noGrp="1"/>
          </p:cNvSpPr>
          <p:nvPr>
            <p:ph type="dt" sz="half" idx="10"/>
          </p:nvPr>
        </p:nvSpPr>
        <p:spPr/>
        <p:txBody>
          <a:bodyPr/>
          <a:lstStyle/>
          <a:p>
            <a:fld id="{65D7046B-3F3E-40BC-AB03-E4AB1F8E7623}"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graphicFrame>
        <p:nvGraphicFramePr>
          <p:cNvPr id="7" name="Table 7">
            <a:extLst>
              <a:ext uri="{FF2B5EF4-FFF2-40B4-BE49-F238E27FC236}">
                <a16:creationId xmlns:a16="http://schemas.microsoft.com/office/drawing/2014/main" id="{959D551B-E28D-4FBA-91A8-57E98DB7B7F8}"/>
              </a:ext>
            </a:extLst>
          </p:cNvPr>
          <p:cNvGraphicFramePr>
            <a:graphicFrameLocks noGrp="1"/>
          </p:cNvGraphicFramePr>
          <p:nvPr>
            <p:extLst>
              <p:ext uri="{D42A27DB-BD31-4B8C-83A1-F6EECF244321}">
                <p14:modId xmlns:p14="http://schemas.microsoft.com/office/powerpoint/2010/main" val="1693503980"/>
              </p:ext>
            </p:extLst>
          </p:nvPr>
        </p:nvGraphicFramePr>
        <p:xfrm>
          <a:off x="857250" y="1191447"/>
          <a:ext cx="2644265" cy="1203960"/>
        </p:xfrm>
        <a:graphic>
          <a:graphicData uri="http://schemas.openxmlformats.org/drawingml/2006/table">
            <a:tbl>
              <a:tblPr firstRow="1" bandRow="1">
                <a:tableStyleId>{5940675A-B579-460E-94D1-54222C63F5DA}</a:tableStyleId>
              </a:tblPr>
              <a:tblGrid>
                <a:gridCol w="517356">
                  <a:extLst>
                    <a:ext uri="{9D8B030D-6E8A-4147-A177-3AD203B41FA5}">
                      <a16:colId xmlns:a16="http://schemas.microsoft.com/office/drawing/2014/main" val="482565597"/>
                    </a:ext>
                  </a:extLst>
                </a:gridCol>
                <a:gridCol w="885723">
                  <a:extLst>
                    <a:ext uri="{9D8B030D-6E8A-4147-A177-3AD203B41FA5}">
                      <a16:colId xmlns:a16="http://schemas.microsoft.com/office/drawing/2014/main" val="4250926648"/>
                    </a:ext>
                  </a:extLst>
                </a:gridCol>
                <a:gridCol w="580120">
                  <a:extLst>
                    <a:ext uri="{9D8B030D-6E8A-4147-A177-3AD203B41FA5}">
                      <a16:colId xmlns:a16="http://schemas.microsoft.com/office/drawing/2014/main" val="1082409819"/>
                    </a:ext>
                  </a:extLst>
                </a:gridCol>
                <a:gridCol w="661066">
                  <a:extLst>
                    <a:ext uri="{9D8B030D-6E8A-4147-A177-3AD203B41FA5}">
                      <a16:colId xmlns:a16="http://schemas.microsoft.com/office/drawing/2014/main" val="298479919"/>
                    </a:ext>
                  </a:extLst>
                </a:gridCol>
              </a:tblGrid>
              <a:tr h="205764">
                <a:tc>
                  <a:txBody>
                    <a:bodyPr/>
                    <a:lstStyle/>
                    <a:p>
                      <a:r>
                        <a:rPr lang="en-US" sz="900" b="1" dirty="0"/>
                        <a:t>IR</a:t>
                      </a:r>
                    </a:p>
                  </a:txBody>
                  <a:tcPr>
                    <a:solidFill>
                      <a:schemeClr val="bg2">
                        <a:lumMod val="75000"/>
                      </a:schemeClr>
                    </a:solidFill>
                  </a:tcPr>
                </a:tc>
                <a:tc>
                  <a:txBody>
                    <a:bodyPr/>
                    <a:lstStyle/>
                    <a:p>
                      <a:r>
                        <a:rPr lang="en-US" sz="900" b="1" dirty="0"/>
                        <a:t>Counter </a:t>
                      </a:r>
                    </a:p>
                  </a:txBody>
                  <a:tcPr>
                    <a:solidFill>
                      <a:schemeClr val="bg2">
                        <a:lumMod val="75000"/>
                      </a:schemeClr>
                    </a:solidFill>
                  </a:tcPr>
                </a:tc>
                <a:tc>
                  <a:txBody>
                    <a:bodyPr/>
                    <a:lstStyle/>
                    <a:p>
                      <a:r>
                        <a:rPr lang="en-US" sz="900" b="1" dirty="0"/>
                        <a:t>Value</a:t>
                      </a:r>
                    </a:p>
                  </a:txBody>
                  <a:tcPr>
                    <a:solidFill>
                      <a:schemeClr val="bg2">
                        <a:lumMod val="75000"/>
                      </a:schemeClr>
                    </a:solidFill>
                  </a:tcPr>
                </a:tc>
                <a:tc>
                  <a:txBody>
                    <a:bodyPr/>
                    <a:lstStyle/>
                    <a:p>
                      <a:r>
                        <a:rPr lang="en-US" sz="900" b="1" dirty="0"/>
                        <a:t>state</a:t>
                      </a:r>
                    </a:p>
                  </a:txBody>
                  <a:tcPr>
                    <a:solidFill>
                      <a:schemeClr val="bg2">
                        <a:lumMod val="75000"/>
                      </a:schemeClr>
                    </a:solidFill>
                  </a:tcPr>
                </a:tc>
                <a:extLst>
                  <a:ext uri="{0D108BD9-81ED-4DB2-BD59-A6C34878D82A}">
                    <a16:rowId xmlns:a16="http://schemas.microsoft.com/office/drawing/2014/main" val="2603122193"/>
                  </a:ext>
                </a:extLst>
              </a:tr>
              <a:tr h="236485">
                <a:tc>
                  <a:txBody>
                    <a:bodyPr/>
                    <a:lstStyle/>
                    <a:p>
                      <a:r>
                        <a:rPr lang="en-US" sz="1000" dirty="0"/>
                        <a:t>00</a:t>
                      </a:r>
                    </a:p>
                  </a:txBody>
                  <a:tcPr/>
                </a:tc>
                <a:tc>
                  <a:txBody>
                    <a:bodyPr/>
                    <a:lstStyle/>
                    <a:p>
                      <a:r>
                        <a:rPr lang="en-US" sz="1000" dirty="0"/>
                        <a:t>1 </a:t>
                      </a:r>
                      <a:r>
                        <a:rPr lang="en-US" sz="1000" b="1" u="sng" dirty="0"/>
                        <a:t>0 0</a:t>
                      </a:r>
                      <a:r>
                        <a:rPr lang="en-US" sz="1000" b="1" u="none" dirty="0"/>
                        <a:t> </a:t>
                      </a:r>
                      <a:r>
                        <a:rPr lang="en-US" sz="1000" b="0" u="none" dirty="0"/>
                        <a:t>0  (8)</a:t>
                      </a:r>
                    </a:p>
                  </a:txBody>
                  <a:tcPr/>
                </a:tc>
                <a:tc>
                  <a:txBody>
                    <a:bodyPr/>
                    <a:lstStyle/>
                    <a:p>
                      <a:r>
                        <a:rPr lang="en-US" sz="1000" dirty="0"/>
                        <a:t>8</a:t>
                      </a:r>
                    </a:p>
                  </a:txBody>
                  <a:tcPr/>
                </a:tc>
                <a:tc>
                  <a:txBody>
                    <a:bodyPr/>
                    <a:lstStyle/>
                    <a:p>
                      <a:r>
                        <a:rPr lang="en-US" sz="1000" dirty="0"/>
                        <a:t>JMP11</a:t>
                      </a:r>
                    </a:p>
                  </a:txBody>
                  <a:tcPr/>
                </a:tc>
                <a:extLst>
                  <a:ext uri="{0D108BD9-81ED-4DB2-BD59-A6C34878D82A}">
                    <a16:rowId xmlns:a16="http://schemas.microsoft.com/office/drawing/2014/main" val="425170320"/>
                  </a:ext>
                </a:extLst>
              </a:tr>
              <a:tr h="236485">
                <a:tc>
                  <a:txBody>
                    <a:bodyPr/>
                    <a:lstStyle/>
                    <a:p>
                      <a:r>
                        <a:rPr lang="en-US" sz="1000" dirty="0"/>
                        <a:t>01</a:t>
                      </a:r>
                    </a:p>
                  </a:txBody>
                  <a:tcPr/>
                </a:tc>
                <a:tc>
                  <a:txBody>
                    <a:bodyPr/>
                    <a:lstStyle/>
                    <a:p>
                      <a:r>
                        <a:rPr lang="en-US" sz="1000" dirty="0"/>
                        <a:t>1 </a:t>
                      </a:r>
                      <a:r>
                        <a:rPr lang="en-US" sz="1000" b="1" u="sng" dirty="0"/>
                        <a:t>0 1</a:t>
                      </a:r>
                      <a:r>
                        <a:rPr lang="en-US" sz="1000" b="1" u="none" dirty="0"/>
                        <a:t> </a:t>
                      </a:r>
                      <a:r>
                        <a:rPr lang="en-US" sz="1000" b="0" u="none" dirty="0"/>
                        <a:t>0 (10)</a:t>
                      </a:r>
                    </a:p>
                  </a:txBody>
                  <a:tcPr/>
                </a:tc>
                <a:tc>
                  <a:txBody>
                    <a:bodyPr/>
                    <a:lstStyle/>
                    <a:p>
                      <a:r>
                        <a:rPr lang="en-US" sz="1000" dirty="0"/>
                        <a:t>10</a:t>
                      </a:r>
                    </a:p>
                  </a:txBody>
                  <a:tcPr/>
                </a:tc>
                <a:tc>
                  <a:txBody>
                    <a:bodyPr/>
                    <a:lstStyle/>
                    <a:p>
                      <a:r>
                        <a:rPr lang="en-US" sz="1000" dirty="0"/>
                        <a:t>INC21</a:t>
                      </a:r>
                    </a:p>
                  </a:txBody>
                  <a:tcPr/>
                </a:tc>
                <a:extLst>
                  <a:ext uri="{0D108BD9-81ED-4DB2-BD59-A6C34878D82A}">
                    <a16:rowId xmlns:a16="http://schemas.microsoft.com/office/drawing/2014/main" val="3923239740"/>
                  </a:ext>
                </a:extLst>
              </a:tr>
              <a:tr h="236485">
                <a:tc>
                  <a:txBody>
                    <a:bodyPr/>
                    <a:lstStyle/>
                    <a:p>
                      <a:r>
                        <a:rPr lang="en-US" sz="1000" dirty="0"/>
                        <a:t>10</a:t>
                      </a:r>
                    </a:p>
                  </a:txBody>
                  <a:tcPr/>
                </a:tc>
                <a:tc>
                  <a:txBody>
                    <a:bodyPr/>
                    <a:lstStyle/>
                    <a:p>
                      <a:r>
                        <a:rPr lang="en-US" sz="1000" dirty="0"/>
                        <a:t>1 </a:t>
                      </a:r>
                      <a:r>
                        <a:rPr lang="en-US" sz="1000" b="1" u="sng" dirty="0"/>
                        <a:t>1 0</a:t>
                      </a:r>
                      <a:r>
                        <a:rPr lang="en-US" sz="1000" b="1" u="none" dirty="0"/>
                        <a:t> </a:t>
                      </a:r>
                      <a:r>
                        <a:rPr lang="en-US" sz="1000" b="0" i="0" u="none" dirty="0"/>
                        <a:t>0 </a:t>
                      </a:r>
                      <a:r>
                        <a:rPr lang="en-US" sz="1000" b="0" u="none" dirty="0"/>
                        <a:t>  (12)</a:t>
                      </a:r>
                    </a:p>
                  </a:txBody>
                  <a:tcPr/>
                </a:tc>
                <a:tc>
                  <a:txBody>
                    <a:bodyPr/>
                    <a:lstStyle/>
                    <a:p>
                      <a:r>
                        <a:rPr lang="en-US" sz="1000" dirty="0"/>
                        <a:t>12</a:t>
                      </a:r>
                    </a:p>
                  </a:txBody>
                  <a:tcPr/>
                </a:tc>
                <a:tc>
                  <a:txBody>
                    <a:bodyPr/>
                    <a:lstStyle/>
                    <a:p>
                      <a:r>
                        <a:rPr lang="en-US" sz="1000" dirty="0"/>
                        <a:t>ADD11</a:t>
                      </a:r>
                    </a:p>
                  </a:txBody>
                  <a:tcPr/>
                </a:tc>
                <a:extLst>
                  <a:ext uri="{0D108BD9-81ED-4DB2-BD59-A6C34878D82A}">
                    <a16:rowId xmlns:a16="http://schemas.microsoft.com/office/drawing/2014/main" val="1333797450"/>
                  </a:ext>
                </a:extLst>
              </a:tr>
              <a:tr h="236485">
                <a:tc>
                  <a:txBody>
                    <a:bodyPr/>
                    <a:lstStyle/>
                    <a:p>
                      <a:r>
                        <a:rPr lang="en-US" sz="1000" dirty="0"/>
                        <a:t>11</a:t>
                      </a:r>
                    </a:p>
                  </a:txBody>
                  <a:tcPr/>
                </a:tc>
                <a:tc>
                  <a:txBody>
                    <a:bodyPr/>
                    <a:lstStyle/>
                    <a:p>
                      <a:r>
                        <a:rPr lang="en-US" sz="1000" dirty="0"/>
                        <a:t>1 </a:t>
                      </a:r>
                      <a:r>
                        <a:rPr lang="en-US" sz="1000" b="1" u="sng" dirty="0"/>
                        <a:t>1 1</a:t>
                      </a:r>
                      <a:r>
                        <a:rPr lang="en-US" sz="1000" b="1" u="none" dirty="0"/>
                        <a:t> </a:t>
                      </a:r>
                      <a:r>
                        <a:rPr lang="en-US" sz="1000" b="0" u="none" dirty="0"/>
                        <a:t>0</a:t>
                      </a:r>
                      <a:r>
                        <a:rPr lang="en-US" sz="1000" b="1" u="none" dirty="0"/>
                        <a:t>   </a:t>
                      </a:r>
                      <a:r>
                        <a:rPr lang="en-US" sz="1000" b="0" u="none" dirty="0"/>
                        <a:t>(14)</a:t>
                      </a:r>
                    </a:p>
                  </a:txBody>
                  <a:tcPr/>
                </a:tc>
                <a:tc>
                  <a:txBody>
                    <a:bodyPr/>
                    <a:lstStyle/>
                    <a:p>
                      <a:r>
                        <a:rPr lang="en-US" sz="1000" dirty="0"/>
                        <a:t>14</a:t>
                      </a:r>
                    </a:p>
                  </a:txBody>
                  <a:tcPr/>
                </a:tc>
                <a:tc>
                  <a:txBody>
                    <a:bodyPr/>
                    <a:lstStyle/>
                    <a:p>
                      <a:r>
                        <a:rPr lang="en-US" sz="1000" dirty="0"/>
                        <a:t>SKIP1</a:t>
                      </a:r>
                    </a:p>
                  </a:txBody>
                  <a:tcPr/>
                </a:tc>
                <a:extLst>
                  <a:ext uri="{0D108BD9-81ED-4DB2-BD59-A6C34878D82A}">
                    <a16:rowId xmlns:a16="http://schemas.microsoft.com/office/drawing/2014/main" val="2664994340"/>
                  </a:ext>
                </a:extLst>
              </a:tr>
            </a:tbl>
          </a:graphicData>
        </a:graphic>
      </p:graphicFrame>
      <p:sp>
        <p:nvSpPr>
          <p:cNvPr id="8" name="Content Placeholder 2">
            <a:extLst>
              <a:ext uri="{FF2B5EF4-FFF2-40B4-BE49-F238E27FC236}">
                <a16:creationId xmlns:a16="http://schemas.microsoft.com/office/drawing/2014/main" id="{C114346F-EF33-4483-BA06-08E61248D558}"/>
              </a:ext>
            </a:extLst>
          </p:cNvPr>
          <p:cNvSpPr txBox="1">
            <a:spLocks/>
          </p:cNvSpPr>
          <p:nvPr/>
        </p:nvSpPr>
        <p:spPr>
          <a:xfrm>
            <a:off x="4572000" y="711411"/>
            <a:ext cx="4419600" cy="33182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dirty="0"/>
          </a:p>
        </p:txBody>
      </p:sp>
      <p:sp>
        <p:nvSpPr>
          <p:cNvPr id="11" name="TextBox 10">
            <a:extLst>
              <a:ext uri="{FF2B5EF4-FFF2-40B4-BE49-F238E27FC236}">
                <a16:creationId xmlns:a16="http://schemas.microsoft.com/office/drawing/2014/main" id="{C4997EC9-BFBE-4498-B06B-857A879E9AD7}"/>
              </a:ext>
            </a:extLst>
          </p:cNvPr>
          <p:cNvSpPr txBox="1"/>
          <p:nvPr/>
        </p:nvSpPr>
        <p:spPr>
          <a:xfrm>
            <a:off x="5371530" y="4374197"/>
            <a:ext cx="2363339" cy="276999"/>
          </a:xfrm>
          <a:prstGeom prst="rect">
            <a:avLst/>
          </a:prstGeom>
          <a:noFill/>
        </p:spPr>
        <p:txBody>
          <a:bodyPr wrap="none" rtlCol="0">
            <a:spAutoFit/>
          </a:bodyPr>
          <a:lstStyle/>
          <a:p>
            <a:r>
              <a:rPr lang="en-US" sz="1200" i="1" dirty="0"/>
              <a:t>Figure: Hardwired Unit for our CPU</a:t>
            </a:r>
          </a:p>
        </p:txBody>
      </p:sp>
      <p:pic>
        <p:nvPicPr>
          <p:cNvPr id="14" name="Picture 13">
            <a:extLst>
              <a:ext uri="{FF2B5EF4-FFF2-40B4-BE49-F238E27FC236}">
                <a16:creationId xmlns:a16="http://schemas.microsoft.com/office/drawing/2014/main" id="{CB5F9AA5-ABF3-4E5D-ADA4-C6F2E14845F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4876801" y="572252"/>
            <a:ext cx="3489752" cy="3339822"/>
          </a:xfrm>
          <a:prstGeom prst="rect">
            <a:avLst/>
          </a:prstGeom>
        </p:spPr>
      </p:pic>
      <p:sp>
        <p:nvSpPr>
          <p:cNvPr id="10" name="TextBox 9">
            <a:extLst>
              <a:ext uri="{FF2B5EF4-FFF2-40B4-BE49-F238E27FC236}">
                <a16:creationId xmlns:a16="http://schemas.microsoft.com/office/drawing/2014/main" id="{65BDE827-6B1C-4D24-AEF9-A0B36C49C7DB}"/>
              </a:ext>
            </a:extLst>
          </p:cNvPr>
          <p:cNvSpPr txBox="1"/>
          <p:nvPr/>
        </p:nvSpPr>
        <p:spPr>
          <a:xfrm>
            <a:off x="7829805" y="1404329"/>
            <a:ext cx="566181" cy="261610"/>
          </a:xfrm>
          <a:prstGeom prst="rect">
            <a:avLst/>
          </a:prstGeom>
          <a:solidFill>
            <a:schemeClr val="bg1"/>
          </a:solidFill>
        </p:spPr>
        <p:txBody>
          <a:bodyPr wrap="none" rtlCol="0">
            <a:spAutoFit/>
          </a:bodyPr>
          <a:lstStyle/>
          <a:p>
            <a:r>
              <a:rPr lang="en-US" sz="1050" b="1" dirty="0"/>
              <a:t>JMP11</a:t>
            </a:r>
            <a:endParaRPr lang="en-US" b="1" dirty="0"/>
          </a:p>
        </p:txBody>
      </p:sp>
    </p:spTree>
    <p:extLst>
      <p:ext uri="{BB962C8B-B14F-4D97-AF65-F5344CB8AC3E}">
        <p14:creationId xmlns:p14="http://schemas.microsoft.com/office/powerpoint/2010/main" val="2237962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9BFB53">
            <a:alpha val="69804"/>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000" b="1" dirty="0">
                <a:solidFill>
                  <a:srgbClr val="FF0000"/>
                </a:solidFill>
              </a:rPr>
              <a:t>Example 2: Design a CPU that meets the following specifications.</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194F7831-6D56-48C6-949E-1B7C5699E81A}"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8176ABC4-583A-4A32-8B3F-F99DFB36C169}"/>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t="9084"/>
          <a:stretch/>
        </p:blipFill>
        <p:spPr>
          <a:xfrm>
            <a:off x="609600" y="742950"/>
            <a:ext cx="7086600" cy="4017198"/>
          </a:xfrm>
          <a:prstGeom prst="rect">
            <a:avLst/>
          </a:prstGeom>
        </p:spPr>
      </p:pic>
    </p:spTree>
    <p:extLst>
      <p:ext uri="{BB962C8B-B14F-4D97-AF65-F5344CB8AC3E}">
        <p14:creationId xmlns:p14="http://schemas.microsoft.com/office/powerpoint/2010/main" val="3733870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9BFB53">
            <a:alpha val="7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731428"/>
          </a:xfrm>
        </p:spPr>
        <p:txBody>
          <a:bodyPr>
            <a:noAutofit/>
          </a:bodyPr>
          <a:lstStyle/>
          <a:p>
            <a:pPr algn="l">
              <a:tabLst>
                <a:tab pos="463550" algn="l"/>
              </a:tabLst>
            </a:pPr>
            <a:r>
              <a:rPr lang="en-US" sz="3600" b="1" dirty="0"/>
              <a:t>Solution:</a:t>
            </a:r>
            <a:br>
              <a:rPr lang="en-US" sz="3600" u="sng" dirty="0"/>
            </a:br>
            <a:r>
              <a:rPr lang="en-US" sz="3600" u="sng" dirty="0"/>
              <a:t>State diagram and RTL code</a:t>
            </a:r>
            <a:r>
              <a:rPr lang="en-US" sz="3600" dirty="0"/>
              <a:t>: </a:t>
            </a:r>
            <a:endParaRPr lang="en-US" sz="2400" b="1" dirty="0">
              <a:solidFill>
                <a:srgbClr val="FF0000"/>
              </a:solidFill>
            </a:endParaRPr>
          </a:p>
        </p:txBody>
      </p:sp>
      <p:sp>
        <p:nvSpPr>
          <p:cNvPr id="3" name="Content Placeholder 2"/>
          <p:cNvSpPr>
            <a:spLocks noGrp="1"/>
          </p:cNvSpPr>
          <p:nvPr>
            <p:ph idx="1"/>
          </p:nvPr>
        </p:nvSpPr>
        <p:spPr>
          <a:xfrm>
            <a:off x="457200" y="1192796"/>
            <a:ext cx="4419600" cy="3851673"/>
          </a:xfrm>
        </p:spPr>
        <p:txBody>
          <a:bodyPr>
            <a:normAutofit/>
          </a:bodyPr>
          <a:lstStyle/>
          <a:p>
            <a:pPr lvl="0" defTabSz="457200">
              <a:tabLst>
                <a:tab pos="457200" algn="l"/>
                <a:tab pos="914400" algn="l"/>
                <a:tab pos="1317625" algn="l"/>
                <a:tab pos="1720850" algn="l"/>
                <a:tab pos="2057400" algn="l"/>
              </a:tabLst>
            </a:pPr>
            <a:r>
              <a:rPr lang="en-US" sz="1800" dirty="0"/>
              <a:t>FETCH1:	</a:t>
            </a:r>
            <a:r>
              <a:rPr lang="en-US" sz="1800" i="1" dirty="0"/>
              <a:t>AR </a:t>
            </a:r>
            <a:r>
              <a:rPr lang="en-US" sz="1800" i="1" dirty="0">
                <a:sym typeface="Wingdings" panose="05000000000000000000" pitchFamily="2" charset="2"/>
              </a:rPr>
              <a:t></a:t>
            </a:r>
            <a:r>
              <a:rPr lang="en-US" sz="1800" dirty="0"/>
              <a:t> </a:t>
            </a:r>
            <a:r>
              <a:rPr lang="en-US" sz="1800" i="1" dirty="0"/>
              <a:t>PC</a:t>
            </a:r>
            <a:endParaRPr lang="en-US" sz="1800" dirty="0"/>
          </a:p>
          <a:p>
            <a:pPr defTabSz="457200">
              <a:tabLst>
                <a:tab pos="457200" algn="l"/>
                <a:tab pos="914400" algn="l"/>
                <a:tab pos="1317625" algn="l"/>
                <a:tab pos="1720850" algn="l"/>
                <a:tab pos="2057400" algn="l"/>
              </a:tabLst>
            </a:pPr>
            <a:r>
              <a:rPr lang="en-US" sz="1800" dirty="0"/>
              <a:t>FETCH2:	</a:t>
            </a:r>
            <a:r>
              <a:rPr lang="en-US" sz="1800" i="1" dirty="0"/>
              <a:t>DR </a:t>
            </a:r>
            <a:r>
              <a:rPr lang="en-US" sz="1800" i="1" dirty="0">
                <a:sym typeface="Wingdings" panose="05000000000000000000" pitchFamily="2" charset="2"/>
              </a:rPr>
              <a:t></a:t>
            </a:r>
            <a:r>
              <a:rPr lang="en-US" sz="1800" dirty="0"/>
              <a:t> </a:t>
            </a:r>
            <a:r>
              <a:rPr lang="en-US" sz="1800" i="1" dirty="0"/>
              <a:t>M</a:t>
            </a:r>
            <a:r>
              <a:rPr lang="en-US" sz="1800" dirty="0"/>
              <a:t>, </a:t>
            </a:r>
            <a:r>
              <a:rPr lang="en-US" sz="1800" i="1" dirty="0"/>
              <a:t>PC </a:t>
            </a:r>
            <a:r>
              <a:rPr lang="en-US" sz="1800" i="1" dirty="0">
                <a:sym typeface="Wingdings" panose="05000000000000000000" pitchFamily="2" charset="2"/>
              </a:rPr>
              <a:t></a:t>
            </a:r>
            <a:r>
              <a:rPr lang="en-US" sz="1800" dirty="0"/>
              <a:t> </a:t>
            </a:r>
            <a:r>
              <a:rPr lang="en-US" sz="1800" i="1" dirty="0"/>
              <a:t>PC </a:t>
            </a:r>
            <a:r>
              <a:rPr lang="en-US" sz="1800" dirty="0"/>
              <a:t>+ 1 </a:t>
            </a:r>
          </a:p>
          <a:p>
            <a:pPr defTabSz="457200">
              <a:tabLst>
                <a:tab pos="457200" algn="l"/>
                <a:tab pos="914400" algn="l"/>
                <a:tab pos="1317625" algn="l"/>
                <a:tab pos="1720850" algn="l"/>
                <a:tab pos="2057400" algn="l"/>
              </a:tabLst>
            </a:pPr>
            <a:r>
              <a:rPr lang="en-US" sz="1800" dirty="0"/>
              <a:t>FETCH3:	</a:t>
            </a:r>
            <a:r>
              <a:rPr lang="en-US" sz="1800" i="1" dirty="0"/>
              <a:t>IR </a:t>
            </a:r>
            <a:r>
              <a:rPr lang="en-US" sz="1800" i="1" dirty="0">
                <a:sym typeface="Wingdings" panose="05000000000000000000" pitchFamily="2" charset="2"/>
              </a:rPr>
              <a:t> </a:t>
            </a:r>
            <a:r>
              <a:rPr lang="en-US" sz="1800" i="1" dirty="0"/>
              <a:t>DR</a:t>
            </a:r>
            <a:r>
              <a:rPr lang="en-US" sz="1800" dirty="0"/>
              <a:t>[7..6], </a:t>
            </a:r>
            <a:r>
              <a:rPr lang="en-US" sz="1800" i="1" dirty="0"/>
              <a:t>AR </a:t>
            </a:r>
            <a:r>
              <a:rPr lang="en-US" sz="1800" i="1" dirty="0">
                <a:sym typeface="Wingdings" panose="05000000000000000000" pitchFamily="2" charset="2"/>
              </a:rPr>
              <a:t> </a:t>
            </a:r>
            <a:r>
              <a:rPr lang="en-US" sz="1800" i="1" dirty="0"/>
              <a:t>DR</a:t>
            </a:r>
            <a:r>
              <a:rPr lang="en-US" sz="1800" dirty="0"/>
              <a:t>[5..0] </a:t>
            </a:r>
          </a:p>
          <a:p>
            <a:pPr defTabSz="457200">
              <a:tabLst>
                <a:tab pos="457200" algn="l"/>
                <a:tab pos="914400" algn="l"/>
                <a:tab pos="1317625" algn="l"/>
                <a:tab pos="1720850" algn="l"/>
                <a:tab pos="2057400" algn="l"/>
              </a:tabLst>
            </a:pPr>
            <a:r>
              <a:rPr lang="en-US" sz="1800" dirty="0"/>
              <a:t>COM1:	</a:t>
            </a:r>
            <a:r>
              <a:rPr lang="en-US" sz="1800" i="1" dirty="0"/>
              <a:t>AC </a:t>
            </a:r>
            <a:r>
              <a:rPr lang="en-US" sz="1800" i="1" dirty="0">
                <a:sym typeface="Wingdings" panose="05000000000000000000" pitchFamily="2" charset="2"/>
              </a:rPr>
              <a:t> </a:t>
            </a:r>
            <a:r>
              <a:rPr lang="en-US" sz="1800" i="1" dirty="0"/>
              <a:t>AC'</a:t>
            </a:r>
            <a:endParaRPr lang="en-US" sz="1800" dirty="0"/>
          </a:p>
          <a:p>
            <a:pPr defTabSz="457200">
              <a:tabLst>
                <a:tab pos="457200" algn="l"/>
                <a:tab pos="914400" algn="l"/>
                <a:tab pos="1317625" algn="l"/>
                <a:tab pos="1720850" algn="l"/>
                <a:tab pos="2057400" algn="l"/>
              </a:tabLst>
            </a:pPr>
            <a:r>
              <a:rPr lang="en-US" sz="1800" dirty="0"/>
              <a:t>JREL1:	</a:t>
            </a:r>
            <a:r>
              <a:rPr lang="en-US" sz="1800" i="1" dirty="0"/>
              <a:t>DR </a:t>
            </a:r>
            <a:r>
              <a:rPr lang="en-US" sz="1800" i="1" dirty="0">
                <a:sym typeface="Wingdings" panose="05000000000000000000" pitchFamily="2" charset="2"/>
              </a:rPr>
              <a:t> </a:t>
            </a:r>
            <a:r>
              <a:rPr lang="en-US" sz="1800" i="1" dirty="0"/>
              <a:t>M</a:t>
            </a:r>
            <a:endParaRPr lang="en-US" sz="1800" dirty="0"/>
          </a:p>
          <a:p>
            <a:pPr defTabSz="457200">
              <a:tabLst>
                <a:tab pos="457200" algn="l"/>
                <a:tab pos="914400" algn="l"/>
                <a:tab pos="1317625" algn="l"/>
                <a:tab pos="1720850" algn="l"/>
                <a:tab pos="2057400" algn="l"/>
              </a:tabLst>
            </a:pPr>
            <a:r>
              <a:rPr lang="en-US" sz="1800" dirty="0"/>
              <a:t>JREL2:	</a:t>
            </a:r>
            <a:r>
              <a:rPr lang="en-US" sz="1800" i="1" dirty="0"/>
              <a:t>PC </a:t>
            </a:r>
            <a:r>
              <a:rPr lang="en-US" sz="1800" i="1" dirty="0">
                <a:sym typeface="Wingdings" panose="05000000000000000000" pitchFamily="2" charset="2"/>
              </a:rPr>
              <a:t> </a:t>
            </a:r>
            <a:r>
              <a:rPr lang="en-US" sz="1800" i="1" dirty="0"/>
              <a:t>PC </a:t>
            </a:r>
            <a:r>
              <a:rPr lang="en-US" sz="1800" dirty="0"/>
              <a:t>+ </a:t>
            </a:r>
            <a:r>
              <a:rPr lang="en-US" sz="1800" i="1" dirty="0"/>
              <a:t>DR</a:t>
            </a:r>
            <a:r>
              <a:rPr lang="en-US" sz="1800" dirty="0"/>
              <a:t>[5..0] </a:t>
            </a:r>
          </a:p>
          <a:p>
            <a:pPr defTabSz="457200">
              <a:tabLst>
                <a:tab pos="457200" algn="l"/>
                <a:tab pos="914400" algn="l"/>
                <a:tab pos="1317625" algn="l"/>
                <a:tab pos="1720850" algn="l"/>
                <a:tab pos="2057400" algn="l"/>
              </a:tabLst>
            </a:pPr>
            <a:r>
              <a:rPr lang="en-US" sz="1800" dirty="0"/>
              <a:t>OR1:		</a:t>
            </a:r>
            <a:r>
              <a:rPr lang="en-US" sz="1800" i="1" dirty="0"/>
              <a:t>DR </a:t>
            </a:r>
            <a:r>
              <a:rPr lang="en-US" sz="1800" i="1" dirty="0">
                <a:sym typeface="Wingdings" panose="05000000000000000000" pitchFamily="2" charset="2"/>
              </a:rPr>
              <a:t></a:t>
            </a:r>
            <a:r>
              <a:rPr lang="en-US" sz="1800" dirty="0"/>
              <a:t> </a:t>
            </a:r>
            <a:r>
              <a:rPr lang="en-US" sz="1800" i="1" dirty="0"/>
              <a:t>M</a:t>
            </a:r>
            <a:endParaRPr lang="en-US" sz="1800" dirty="0"/>
          </a:p>
          <a:p>
            <a:pPr defTabSz="457200">
              <a:tabLst>
                <a:tab pos="457200" algn="l"/>
                <a:tab pos="914400" algn="l"/>
                <a:tab pos="1317625" algn="l"/>
                <a:tab pos="1720850" algn="l"/>
                <a:tab pos="2057400" algn="l"/>
              </a:tabLst>
            </a:pPr>
            <a:r>
              <a:rPr lang="en-US" sz="1800" dirty="0"/>
              <a:t>OR2:		</a:t>
            </a:r>
            <a:r>
              <a:rPr lang="en-US" sz="1800" i="1" dirty="0"/>
              <a:t>AC </a:t>
            </a:r>
            <a:r>
              <a:rPr lang="en-US" sz="1800" i="1" dirty="0">
                <a:sym typeface="Wingdings" panose="05000000000000000000" pitchFamily="2" charset="2"/>
              </a:rPr>
              <a:t></a:t>
            </a:r>
            <a:r>
              <a:rPr lang="en-US" sz="1800" dirty="0"/>
              <a:t> </a:t>
            </a:r>
            <a:r>
              <a:rPr lang="en-US" sz="1800" i="1" dirty="0"/>
              <a:t>AC </a:t>
            </a:r>
            <a:r>
              <a:rPr lang="en-US" sz="1800" dirty="0"/>
              <a:t>Ú </a:t>
            </a:r>
            <a:r>
              <a:rPr lang="en-US" sz="1800" i="1" dirty="0"/>
              <a:t>DR</a:t>
            </a:r>
            <a:endParaRPr lang="en-US" sz="1800" dirty="0"/>
          </a:p>
          <a:p>
            <a:pPr defTabSz="457200">
              <a:tabLst>
                <a:tab pos="457200" algn="l"/>
                <a:tab pos="914400" algn="l"/>
                <a:tab pos="1317625" algn="l"/>
                <a:tab pos="1720850" algn="l"/>
                <a:tab pos="2057400" algn="l"/>
              </a:tabLst>
            </a:pPr>
            <a:r>
              <a:rPr lang="en-US" sz="1800" dirty="0"/>
              <a:t>SUB11:	</a:t>
            </a:r>
            <a:r>
              <a:rPr lang="en-US" sz="1800" i="1" dirty="0"/>
              <a:t>DR </a:t>
            </a:r>
            <a:r>
              <a:rPr lang="en-US" sz="1800" i="1" dirty="0">
                <a:sym typeface="Wingdings" panose="05000000000000000000" pitchFamily="2" charset="2"/>
              </a:rPr>
              <a:t></a:t>
            </a:r>
            <a:r>
              <a:rPr lang="en-US" sz="1800" dirty="0"/>
              <a:t> </a:t>
            </a:r>
            <a:r>
              <a:rPr lang="en-US" sz="1800" i="1" dirty="0"/>
              <a:t>M</a:t>
            </a:r>
            <a:endParaRPr lang="en-US" sz="1800" dirty="0"/>
          </a:p>
          <a:p>
            <a:pPr defTabSz="457200">
              <a:tabLst>
                <a:tab pos="457200" algn="l"/>
                <a:tab pos="914400" algn="l"/>
                <a:tab pos="1317625" algn="l"/>
                <a:tab pos="1720850" algn="l"/>
                <a:tab pos="2057400" algn="l"/>
              </a:tabLst>
            </a:pPr>
            <a:r>
              <a:rPr lang="en-US" sz="1800" dirty="0"/>
              <a:t>SUB12:	</a:t>
            </a:r>
            <a:r>
              <a:rPr lang="en-US" sz="1800" i="1" dirty="0"/>
              <a:t>AC </a:t>
            </a:r>
            <a:r>
              <a:rPr lang="en-US" sz="1800" i="1" dirty="0">
                <a:sym typeface="Wingdings" panose="05000000000000000000" pitchFamily="2" charset="2"/>
              </a:rPr>
              <a:t></a:t>
            </a:r>
            <a:r>
              <a:rPr lang="en-US" sz="1800" dirty="0"/>
              <a:t> </a:t>
            </a:r>
            <a:r>
              <a:rPr lang="en-US" sz="1800" i="1" dirty="0"/>
              <a:t>AC </a:t>
            </a:r>
            <a:r>
              <a:rPr lang="en-US" sz="1800" dirty="0"/>
              <a:t>+ </a:t>
            </a:r>
            <a:r>
              <a:rPr lang="en-US" sz="1800" i="1" dirty="0"/>
              <a:t>DR'</a:t>
            </a:r>
            <a:endParaRPr lang="en-US" sz="1800" dirty="0"/>
          </a:p>
        </p:txBody>
      </p:sp>
      <p:sp>
        <p:nvSpPr>
          <p:cNvPr id="4" name="Date Placeholder 3"/>
          <p:cNvSpPr>
            <a:spLocks noGrp="1"/>
          </p:cNvSpPr>
          <p:nvPr>
            <p:ph type="dt" sz="half" idx="10"/>
          </p:nvPr>
        </p:nvSpPr>
        <p:spPr/>
        <p:txBody>
          <a:bodyPr/>
          <a:lstStyle/>
          <a:p>
            <a:fld id="{2AF32152-3275-4DFF-8BD6-28B39E354650}"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image153.png">
            <a:extLst>
              <a:ext uri="{FF2B5EF4-FFF2-40B4-BE49-F238E27FC236}">
                <a16:creationId xmlns:a16="http://schemas.microsoft.com/office/drawing/2014/main" id="{D0DBF46E-ED54-4971-AD3A-2DC34FADD136}"/>
              </a:ext>
            </a:extLst>
          </p:cNvPr>
          <p:cNvPicPr/>
          <p:nvPr/>
        </p:nvPicPr>
        <p:blipFill>
          <a:blip r:embed="rId2" cstate="print"/>
          <a:stretch>
            <a:fillRect/>
          </a:stretch>
        </p:blipFill>
        <p:spPr>
          <a:xfrm>
            <a:off x="4572000" y="1463874"/>
            <a:ext cx="4267200" cy="3048000"/>
          </a:xfrm>
          <a:prstGeom prst="rect">
            <a:avLst/>
          </a:prstGeom>
        </p:spPr>
      </p:pic>
    </p:spTree>
    <p:extLst>
      <p:ext uri="{BB962C8B-B14F-4D97-AF65-F5344CB8AC3E}">
        <p14:creationId xmlns:p14="http://schemas.microsoft.com/office/powerpoint/2010/main" val="28955312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9BFB53">
            <a:alpha val="7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46814E08-D531-4328-BEB8-E096C88E2ECF}"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8" name="Content Placeholder 2">
            <a:extLst>
              <a:ext uri="{FF2B5EF4-FFF2-40B4-BE49-F238E27FC236}">
                <a16:creationId xmlns:a16="http://schemas.microsoft.com/office/drawing/2014/main" id="{B7B32D86-9EF9-41FD-97BB-40E7BA96C35F}"/>
              </a:ext>
            </a:extLst>
          </p:cNvPr>
          <p:cNvSpPr>
            <a:spLocks noGrp="1"/>
          </p:cNvSpPr>
          <p:nvPr>
            <p:ph idx="1"/>
          </p:nvPr>
        </p:nvSpPr>
        <p:spPr>
          <a:xfrm>
            <a:off x="457200" y="819150"/>
            <a:ext cx="4267200" cy="3775075"/>
          </a:xfrm>
        </p:spPr>
        <p:txBody>
          <a:bodyPr>
            <a:normAutofit/>
          </a:bodyPr>
          <a:lstStyle/>
          <a:p>
            <a:r>
              <a:rPr lang="en-US" sz="1400" dirty="0">
                <a:sym typeface="Wingdings" panose="05000000000000000000" pitchFamily="2" charset="2"/>
              </a:rPr>
              <a:t>After regrouping the operations, the RTL codes are:</a:t>
            </a: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r>
              <a:rPr lang="en-US" sz="1400" dirty="0">
                <a:sym typeface="Wingdings" panose="05000000000000000000" pitchFamily="2" charset="2"/>
              </a:rPr>
              <a:t>Considering the regrouped RTL codes, our required register organization and </a:t>
            </a:r>
            <a:r>
              <a:rPr lang="en-US" sz="1400" dirty="0" err="1">
                <a:sym typeface="Wingdings" panose="05000000000000000000" pitchFamily="2" charset="2"/>
              </a:rPr>
              <a:t>datapath</a:t>
            </a:r>
            <a:r>
              <a:rPr lang="en-US" sz="1400" dirty="0">
                <a:sym typeface="Wingdings" panose="05000000000000000000" pitchFamily="2" charset="2"/>
              </a:rPr>
              <a:t> is as shown in the figure aside.</a:t>
            </a:r>
          </a:p>
          <a:p>
            <a:endParaRPr lang="en-US" sz="1400" dirty="0">
              <a:sym typeface="Wingdings" panose="05000000000000000000" pitchFamily="2" charset="2"/>
            </a:endParaRPr>
          </a:p>
          <a:p>
            <a:endParaRPr lang="en-US" sz="1600" dirty="0">
              <a:sym typeface="Wingdings" panose="05000000000000000000" pitchFamily="2" charset="2"/>
            </a:endParaRPr>
          </a:p>
        </p:txBody>
      </p:sp>
      <p:sp>
        <p:nvSpPr>
          <p:cNvPr id="9" name="Content Placeholder 2">
            <a:extLst>
              <a:ext uri="{FF2B5EF4-FFF2-40B4-BE49-F238E27FC236}">
                <a16:creationId xmlns:a16="http://schemas.microsoft.com/office/drawing/2014/main" id="{B11A5B29-1FB8-44AC-9CB0-844DA87696B5}"/>
              </a:ext>
            </a:extLst>
          </p:cNvPr>
          <p:cNvSpPr txBox="1">
            <a:spLocks/>
          </p:cNvSpPr>
          <p:nvPr/>
        </p:nvSpPr>
        <p:spPr>
          <a:xfrm>
            <a:off x="601982" y="1200150"/>
            <a:ext cx="1981199" cy="1524000"/>
          </a:xfrm>
          <a:prstGeom prst="rect">
            <a:avLst/>
          </a:prstGeom>
          <a:ln>
            <a:solidFill>
              <a:schemeClr val="tx1"/>
            </a:solidFill>
          </a:ln>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5888" lvl="0" indent="-115888" defTabSz="457200">
              <a:tabLst>
                <a:tab pos="457200" algn="l"/>
                <a:tab pos="573088" algn="l"/>
                <a:tab pos="1317625" algn="l"/>
                <a:tab pos="1720850" algn="l"/>
                <a:tab pos="2057400" algn="l"/>
              </a:tabLst>
            </a:pPr>
            <a:r>
              <a:rPr lang="en-US" sz="800" dirty="0"/>
              <a:t>FETCH1	:	</a:t>
            </a:r>
            <a:r>
              <a:rPr lang="en-US" sz="800" i="1" dirty="0"/>
              <a:t>AR </a:t>
            </a:r>
            <a:r>
              <a:rPr lang="en-US" sz="800" i="1" dirty="0">
                <a:sym typeface="Wingdings" panose="05000000000000000000" pitchFamily="2" charset="2"/>
              </a:rPr>
              <a:t></a:t>
            </a:r>
            <a:r>
              <a:rPr lang="en-US" sz="800" dirty="0"/>
              <a:t> </a:t>
            </a:r>
            <a:r>
              <a:rPr lang="en-US" sz="800" i="1" dirty="0"/>
              <a:t>PC</a:t>
            </a:r>
            <a:endParaRPr lang="en-US" sz="800" dirty="0"/>
          </a:p>
          <a:p>
            <a:pPr marL="115888" indent="-115888" defTabSz="457200">
              <a:tabLst>
                <a:tab pos="457200" algn="l"/>
                <a:tab pos="573088" algn="l"/>
                <a:tab pos="1317625" algn="l"/>
                <a:tab pos="1720850" algn="l"/>
                <a:tab pos="2057400" algn="l"/>
              </a:tabLst>
            </a:pPr>
            <a:r>
              <a:rPr lang="en-US" sz="800" dirty="0"/>
              <a:t>FETCH2	:	</a:t>
            </a:r>
            <a:r>
              <a:rPr lang="en-US" sz="800" i="1" dirty="0"/>
              <a:t>DR </a:t>
            </a:r>
            <a:r>
              <a:rPr lang="en-US" sz="800" i="1" dirty="0">
                <a:sym typeface="Wingdings" panose="05000000000000000000" pitchFamily="2" charset="2"/>
              </a:rPr>
              <a:t></a:t>
            </a:r>
            <a:r>
              <a:rPr lang="en-US" sz="800" dirty="0"/>
              <a:t> </a:t>
            </a:r>
            <a:r>
              <a:rPr lang="en-US" sz="800" i="1" dirty="0"/>
              <a:t>M</a:t>
            </a:r>
            <a:r>
              <a:rPr lang="en-US" sz="800" dirty="0"/>
              <a:t>, </a:t>
            </a:r>
            <a:r>
              <a:rPr lang="en-US" sz="800" i="1" dirty="0"/>
              <a:t>PC </a:t>
            </a:r>
            <a:r>
              <a:rPr lang="en-US" sz="800" i="1" dirty="0">
                <a:sym typeface="Wingdings" panose="05000000000000000000" pitchFamily="2" charset="2"/>
              </a:rPr>
              <a:t></a:t>
            </a:r>
            <a:r>
              <a:rPr lang="en-US" sz="800" dirty="0"/>
              <a:t> </a:t>
            </a:r>
            <a:r>
              <a:rPr lang="en-US" sz="800" i="1" dirty="0"/>
              <a:t>PC </a:t>
            </a:r>
            <a:r>
              <a:rPr lang="en-US" sz="800" dirty="0"/>
              <a:t>+ 1 </a:t>
            </a:r>
          </a:p>
          <a:p>
            <a:pPr marL="115888" indent="-115888" defTabSz="457200">
              <a:tabLst>
                <a:tab pos="457200" algn="l"/>
                <a:tab pos="573088" algn="l"/>
                <a:tab pos="1317625" algn="l"/>
                <a:tab pos="1720850" algn="l"/>
                <a:tab pos="2057400" algn="l"/>
              </a:tabLst>
            </a:pPr>
            <a:r>
              <a:rPr lang="en-US" sz="800" dirty="0"/>
              <a:t>FETCH3	:	</a:t>
            </a:r>
            <a:r>
              <a:rPr lang="en-US" sz="800" i="1" dirty="0"/>
              <a:t>IR </a:t>
            </a:r>
            <a:r>
              <a:rPr lang="en-US" sz="800" i="1" dirty="0">
                <a:sym typeface="Wingdings" panose="05000000000000000000" pitchFamily="2" charset="2"/>
              </a:rPr>
              <a:t> </a:t>
            </a:r>
            <a:r>
              <a:rPr lang="en-US" sz="800" i="1" dirty="0"/>
              <a:t>DR</a:t>
            </a:r>
            <a:r>
              <a:rPr lang="en-US" sz="800" dirty="0"/>
              <a:t>[7..6], </a:t>
            </a:r>
            <a:r>
              <a:rPr lang="en-US" sz="800" i="1" dirty="0"/>
              <a:t>AR </a:t>
            </a:r>
            <a:r>
              <a:rPr lang="en-US" sz="800" i="1" dirty="0">
                <a:sym typeface="Wingdings" panose="05000000000000000000" pitchFamily="2" charset="2"/>
              </a:rPr>
              <a:t> </a:t>
            </a:r>
            <a:r>
              <a:rPr lang="en-US" sz="800" i="1" dirty="0"/>
              <a:t>DR</a:t>
            </a:r>
            <a:r>
              <a:rPr lang="en-US" sz="800" dirty="0"/>
              <a:t>[5..0] </a:t>
            </a:r>
          </a:p>
          <a:p>
            <a:pPr marL="115888" indent="-115888" defTabSz="457200">
              <a:tabLst>
                <a:tab pos="457200" algn="l"/>
                <a:tab pos="573088" algn="l"/>
                <a:tab pos="1317625" algn="l"/>
                <a:tab pos="1720850" algn="l"/>
                <a:tab pos="2057400" algn="l"/>
              </a:tabLst>
            </a:pPr>
            <a:r>
              <a:rPr lang="en-US" sz="800" dirty="0"/>
              <a:t>COM1	:	</a:t>
            </a:r>
            <a:r>
              <a:rPr lang="en-US" sz="800" i="1" dirty="0"/>
              <a:t>AC </a:t>
            </a:r>
            <a:r>
              <a:rPr lang="en-US" sz="800" i="1" dirty="0">
                <a:sym typeface="Wingdings" panose="05000000000000000000" pitchFamily="2" charset="2"/>
              </a:rPr>
              <a:t> </a:t>
            </a:r>
            <a:r>
              <a:rPr lang="en-US" sz="800" i="1" dirty="0"/>
              <a:t>AC'</a:t>
            </a:r>
            <a:endParaRPr lang="en-US" sz="800" dirty="0"/>
          </a:p>
          <a:p>
            <a:pPr marL="115888" indent="-115888" defTabSz="457200">
              <a:tabLst>
                <a:tab pos="457200" algn="l"/>
                <a:tab pos="573088" algn="l"/>
                <a:tab pos="1317625" algn="l"/>
                <a:tab pos="1720850" algn="l"/>
                <a:tab pos="2057400" algn="l"/>
              </a:tabLst>
            </a:pPr>
            <a:r>
              <a:rPr lang="en-US" sz="800" dirty="0"/>
              <a:t>JREL1	:	</a:t>
            </a:r>
            <a:r>
              <a:rPr lang="en-US" sz="800" i="1" dirty="0"/>
              <a:t>DR </a:t>
            </a:r>
            <a:r>
              <a:rPr lang="en-US" sz="800" i="1" dirty="0">
                <a:sym typeface="Wingdings" panose="05000000000000000000" pitchFamily="2" charset="2"/>
              </a:rPr>
              <a:t> </a:t>
            </a:r>
            <a:r>
              <a:rPr lang="en-US" sz="800" i="1" dirty="0"/>
              <a:t>M</a:t>
            </a:r>
            <a:endParaRPr lang="en-US" sz="800" dirty="0"/>
          </a:p>
          <a:p>
            <a:pPr marL="115888" indent="-115888" defTabSz="457200">
              <a:tabLst>
                <a:tab pos="457200" algn="l"/>
                <a:tab pos="573088" algn="l"/>
                <a:tab pos="1317625" algn="l"/>
                <a:tab pos="1720850" algn="l"/>
                <a:tab pos="2057400" algn="l"/>
              </a:tabLst>
            </a:pPr>
            <a:r>
              <a:rPr lang="en-US" sz="800" dirty="0"/>
              <a:t>JREL2	:	</a:t>
            </a:r>
            <a:r>
              <a:rPr lang="en-US" sz="800" i="1" dirty="0"/>
              <a:t>PC </a:t>
            </a:r>
            <a:r>
              <a:rPr lang="en-US" sz="800" i="1" dirty="0">
                <a:sym typeface="Wingdings" panose="05000000000000000000" pitchFamily="2" charset="2"/>
              </a:rPr>
              <a:t> </a:t>
            </a:r>
            <a:r>
              <a:rPr lang="en-US" sz="800" i="1" dirty="0"/>
              <a:t>PC </a:t>
            </a:r>
            <a:r>
              <a:rPr lang="en-US" sz="800" dirty="0"/>
              <a:t>+ </a:t>
            </a:r>
            <a:r>
              <a:rPr lang="en-US" sz="800" i="1" dirty="0"/>
              <a:t>DR</a:t>
            </a:r>
            <a:r>
              <a:rPr lang="en-US" sz="800" dirty="0"/>
              <a:t>[5..0] </a:t>
            </a:r>
          </a:p>
          <a:p>
            <a:pPr marL="115888" indent="-115888" defTabSz="457200">
              <a:tabLst>
                <a:tab pos="457200" algn="l"/>
                <a:tab pos="573088" algn="l"/>
                <a:tab pos="1317625" algn="l"/>
                <a:tab pos="1720850" algn="l"/>
                <a:tab pos="2057400" algn="l"/>
              </a:tabLst>
            </a:pPr>
            <a:r>
              <a:rPr lang="en-US" sz="800" dirty="0"/>
              <a:t>OR1	:	</a:t>
            </a:r>
            <a:r>
              <a:rPr lang="en-US" sz="800" i="1" dirty="0"/>
              <a:t>DR </a:t>
            </a:r>
            <a:r>
              <a:rPr lang="en-US" sz="800" i="1" dirty="0">
                <a:sym typeface="Wingdings" panose="05000000000000000000" pitchFamily="2" charset="2"/>
              </a:rPr>
              <a:t></a:t>
            </a:r>
            <a:r>
              <a:rPr lang="en-US" sz="800" dirty="0"/>
              <a:t> </a:t>
            </a:r>
            <a:r>
              <a:rPr lang="en-US" sz="800" i="1" dirty="0"/>
              <a:t>M</a:t>
            </a:r>
            <a:endParaRPr lang="en-US" sz="800" dirty="0"/>
          </a:p>
          <a:p>
            <a:pPr marL="115888" indent="-115888" defTabSz="457200">
              <a:tabLst>
                <a:tab pos="457200" algn="l"/>
                <a:tab pos="573088" algn="l"/>
                <a:tab pos="1317625" algn="l"/>
                <a:tab pos="1720850" algn="l"/>
                <a:tab pos="2057400" algn="l"/>
              </a:tabLst>
            </a:pPr>
            <a:r>
              <a:rPr lang="en-US" sz="800" dirty="0"/>
              <a:t>OR2	:	</a:t>
            </a:r>
            <a:r>
              <a:rPr lang="en-US" sz="800" i="1" dirty="0"/>
              <a:t>AC </a:t>
            </a:r>
            <a:r>
              <a:rPr lang="en-US" sz="800" i="1" dirty="0">
                <a:sym typeface="Wingdings" panose="05000000000000000000" pitchFamily="2" charset="2"/>
              </a:rPr>
              <a:t></a:t>
            </a:r>
            <a:r>
              <a:rPr lang="en-US" sz="800" dirty="0"/>
              <a:t> </a:t>
            </a:r>
            <a:r>
              <a:rPr lang="en-US" sz="800" i="1" dirty="0"/>
              <a:t>AC  U DR</a:t>
            </a:r>
            <a:endParaRPr lang="en-US" sz="800" dirty="0"/>
          </a:p>
          <a:p>
            <a:pPr marL="115888" indent="-115888" defTabSz="457200">
              <a:tabLst>
                <a:tab pos="457200" algn="l"/>
                <a:tab pos="573088" algn="l"/>
                <a:tab pos="1317625" algn="l"/>
                <a:tab pos="1720850" algn="l"/>
                <a:tab pos="2057400" algn="l"/>
              </a:tabLst>
            </a:pPr>
            <a:r>
              <a:rPr lang="en-US" sz="800" dirty="0"/>
              <a:t>SUB11	:	</a:t>
            </a:r>
            <a:r>
              <a:rPr lang="en-US" sz="800" i="1" dirty="0"/>
              <a:t>DR </a:t>
            </a:r>
            <a:r>
              <a:rPr lang="en-US" sz="800" i="1" dirty="0">
                <a:sym typeface="Wingdings" panose="05000000000000000000" pitchFamily="2" charset="2"/>
              </a:rPr>
              <a:t></a:t>
            </a:r>
            <a:r>
              <a:rPr lang="en-US" sz="800" dirty="0"/>
              <a:t> </a:t>
            </a:r>
            <a:r>
              <a:rPr lang="en-US" sz="800" i="1" dirty="0"/>
              <a:t>M</a:t>
            </a:r>
            <a:endParaRPr lang="en-US" sz="800" dirty="0"/>
          </a:p>
          <a:p>
            <a:pPr marL="115888" indent="-115888" defTabSz="457200">
              <a:tabLst>
                <a:tab pos="457200" algn="l"/>
                <a:tab pos="573088" algn="l"/>
                <a:tab pos="1317625" algn="l"/>
                <a:tab pos="1720850" algn="l"/>
                <a:tab pos="2057400" algn="l"/>
              </a:tabLst>
            </a:pPr>
            <a:r>
              <a:rPr lang="en-US" sz="800" dirty="0"/>
              <a:t>SUB12	:	</a:t>
            </a:r>
            <a:r>
              <a:rPr lang="en-US" sz="800" i="1" dirty="0"/>
              <a:t>AC </a:t>
            </a:r>
            <a:r>
              <a:rPr lang="en-US" sz="800" i="1" dirty="0">
                <a:sym typeface="Wingdings" panose="05000000000000000000" pitchFamily="2" charset="2"/>
              </a:rPr>
              <a:t></a:t>
            </a:r>
            <a:r>
              <a:rPr lang="en-US" sz="800" dirty="0"/>
              <a:t> </a:t>
            </a:r>
            <a:r>
              <a:rPr lang="en-US" sz="800" i="1" dirty="0"/>
              <a:t>AC </a:t>
            </a:r>
            <a:r>
              <a:rPr lang="en-US" sz="800" dirty="0"/>
              <a:t>+ </a:t>
            </a:r>
            <a:r>
              <a:rPr lang="en-US" sz="800" i="1" dirty="0"/>
              <a:t>DR'</a:t>
            </a:r>
            <a:endParaRPr lang="en-US" sz="800" dirty="0"/>
          </a:p>
        </p:txBody>
      </p:sp>
      <p:sp>
        <p:nvSpPr>
          <p:cNvPr id="10" name="Content Placeholder 2">
            <a:extLst>
              <a:ext uri="{FF2B5EF4-FFF2-40B4-BE49-F238E27FC236}">
                <a16:creationId xmlns:a16="http://schemas.microsoft.com/office/drawing/2014/main" id="{65F2B437-13BA-4709-9140-BAD5725FC02B}"/>
              </a:ext>
            </a:extLst>
          </p:cNvPr>
          <p:cNvSpPr txBox="1">
            <a:spLocks/>
          </p:cNvSpPr>
          <p:nvPr/>
        </p:nvSpPr>
        <p:spPr>
          <a:xfrm>
            <a:off x="2971801" y="1428750"/>
            <a:ext cx="2103439" cy="914400"/>
          </a:xfrm>
          <a:prstGeom prst="rect">
            <a:avLst/>
          </a:prstGeom>
          <a:ln>
            <a:solidFill>
              <a:schemeClr val="tx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indent="-117475">
              <a:tabLst>
                <a:tab pos="346075" algn="l"/>
              </a:tabLst>
            </a:pPr>
            <a:r>
              <a:rPr lang="en-US" sz="700" dirty="0"/>
              <a:t>AR:	AR </a:t>
            </a:r>
            <a:r>
              <a:rPr lang="en-US" sz="700" dirty="0">
                <a:sym typeface="Wingdings" panose="05000000000000000000" pitchFamily="2" charset="2"/>
              </a:rPr>
              <a:t></a:t>
            </a:r>
            <a:r>
              <a:rPr lang="en-US" sz="700" dirty="0"/>
              <a:t> PC ,  AR</a:t>
            </a:r>
            <a:r>
              <a:rPr lang="en-US" sz="700" dirty="0">
                <a:sym typeface="Wingdings" panose="05000000000000000000" pitchFamily="2" charset="2"/>
              </a:rPr>
              <a:t>DR[5..0]</a:t>
            </a:r>
            <a:endParaRPr lang="en-US" sz="700" dirty="0"/>
          </a:p>
          <a:p>
            <a:pPr marL="117475" indent="-117475">
              <a:tabLst>
                <a:tab pos="346075" algn="l"/>
              </a:tabLst>
            </a:pPr>
            <a:r>
              <a:rPr lang="en-US" sz="700" dirty="0"/>
              <a:t>PC:	PC </a:t>
            </a:r>
            <a:r>
              <a:rPr lang="en-US" sz="700" dirty="0">
                <a:sym typeface="Wingdings" panose="05000000000000000000" pitchFamily="2" charset="2"/>
              </a:rPr>
              <a:t></a:t>
            </a:r>
            <a:r>
              <a:rPr lang="en-US" sz="700" dirty="0"/>
              <a:t> PC + 1  , PC</a:t>
            </a:r>
            <a:r>
              <a:rPr lang="en-US" sz="700" dirty="0">
                <a:sym typeface="Wingdings" panose="05000000000000000000" pitchFamily="2" charset="2"/>
              </a:rPr>
              <a:t>PC+DR[5..0]</a:t>
            </a:r>
          </a:p>
          <a:p>
            <a:pPr marL="117475" indent="-117475">
              <a:tabLst>
                <a:tab pos="346075" algn="l"/>
              </a:tabLst>
            </a:pPr>
            <a:r>
              <a:rPr lang="en-US" sz="700" dirty="0"/>
              <a:t>DR:	DR</a:t>
            </a:r>
            <a:r>
              <a:rPr lang="en-US" sz="700" dirty="0">
                <a:sym typeface="Wingdings" panose="05000000000000000000" pitchFamily="2" charset="2"/>
              </a:rPr>
              <a:t>M</a:t>
            </a:r>
            <a:endParaRPr lang="en-US" sz="700" dirty="0"/>
          </a:p>
          <a:p>
            <a:pPr marL="117475" indent="-117475">
              <a:tabLst>
                <a:tab pos="346075" algn="l"/>
              </a:tabLst>
            </a:pPr>
            <a:r>
              <a:rPr lang="en-US" sz="700" dirty="0"/>
              <a:t>AC:	AC</a:t>
            </a:r>
            <a:r>
              <a:rPr lang="en-US" sz="700" dirty="0">
                <a:sym typeface="Wingdings" panose="05000000000000000000" pitchFamily="2" charset="2"/>
              </a:rPr>
              <a:t>AC’ ,</a:t>
            </a:r>
            <a:r>
              <a:rPr lang="en-US" sz="700" i="1" dirty="0"/>
              <a:t> AC </a:t>
            </a:r>
            <a:r>
              <a:rPr lang="en-US" sz="700" i="1" dirty="0">
                <a:sym typeface="Wingdings" panose="05000000000000000000" pitchFamily="2" charset="2"/>
              </a:rPr>
              <a:t></a:t>
            </a:r>
            <a:r>
              <a:rPr lang="en-US" sz="700" dirty="0"/>
              <a:t> </a:t>
            </a:r>
            <a:r>
              <a:rPr lang="en-US" sz="700" i="1" dirty="0"/>
              <a:t>AC U</a:t>
            </a:r>
            <a:r>
              <a:rPr lang="en-US" sz="700" dirty="0"/>
              <a:t> </a:t>
            </a:r>
            <a:r>
              <a:rPr lang="en-US" sz="700" i="1" dirty="0"/>
              <a:t>DR</a:t>
            </a:r>
            <a:r>
              <a:rPr lang="en-US" sz="700" dirty="0"/>
              <a:t>,  AC </a:t>
            </a:r>
            <a:r>
              <a:rPr lang="en-US" sz="700" dirty="0">
                <a:sym typeface="Wingdings" panose="05000000000000000000" pitchFamily="2" charset="2"/>
              </a:rPr>
              <a:t></a:t>
            </a:r>
            <a:r>
              <a:rPr lang="en-US" sz="700" dirty="0"/>
              <a:t> AC + DR’ </a:t>
            </a:r>
          </a:p>
          <a:p>
            <a:pPr marL="117475" indent="-117475">
              <a:tabLst>
                <a:tab pos="346075" algn="l"/>
              </a:tabLst>
            </a:pPr>
            <a:r>
              <a:rPr lang="en-US" sz="700" dirty="0"/>
              <a:t>IR:	IR </a:t>
            </a:r>
            <a:r>
              <a:rPr lang="en-US" sz="700" dirty="0">
                <a:sym typeface="Wingdings" panose="05000000000000000000" pitchFamily="2" charset="2"/>
              </a:rPr>
              <a:t></a:t>
            </a:r>
            <a:r>
              <a:rPr lang="en-US" sz="700" dirty="0"/>
              <a:t> DR[7,6]</a:t>
            </a:r>
            <a:endParaRPr lang="en-US" sz="500" dirty="0"/>
          </a:p>
        </p:txBody>
      </p:sp>
      <p:sp>
        <p:nvSpPr>
          <p:cNvPr id="11" name="Arrow: Right 10">
            <a:extLst>
              <a:ext uri="{FF2B5EF4-FFF2-40B4-BE49-F238E27FC236}">
                <a16:creationId xmlns:a16="http://schemas.microsoft.com/office/drawing/2014/main" id="{81EE40E2-A4AB-4A71-950B-5AE6B24EB1DD}"/>
              </a:ext>
            </a:extLst>
          </p:cNvPr>
          <p:cNvSpPr/>
          <p:nvPr/>
        </p:nvSpPr>
        <p:spPr>
          <a:xfrm>
            <a:off x="2663191" y="1657350"/>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E743756-441E-46A9-BD9D-910E25030258}"/>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50000"/>
                    </a14:imgEffect>
                  </a14:imgLayer>
                </a14:imgProps>
              </a:ext>
              <a:ext uri="{28A0092B-C50C-407E-A947-70E740481C1C}">
                <a14:useLocalDpi xmlns:a14="http://schemas.microsoft.com/office/drawing/2010/main" val="0"/>
              </a:ext>
            </a:extLst>
          </a:blip>
          <a:stretch>
            <a:fillRect/>
          </a:stretch>
        </p:blipFill>
        <p:spPr>
          <a:xfrm>
            <a:off x="5257800" y="0"/>
            <a:ext cx="3798250" cy="4807600"/>
          </a:xfrm>
          <a:prstGeom prst="rect">
            <a:avLst/>
          </a:prstGeom>
        </p:spPr>
      </p:pic>
    </p:spTree>
    <p:extLst>
      <p:ext uri="{BB962C8B-B14F-4D97-AF65-F5344CB8AC3E}">
        <p14:creationId xmlns:p14="http://schemas.microsoft.com/office/powerpoint/2010/main" val="1956784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9BFB53">
            <a:alpha val="7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u="sng" dirty="0"/>
              <a:t>ALU section:</a:t>
            </a:r>
            <a:endParaRPr lang="en-US" sz="3200" b="1" dirty="0">
              <a:solidFill>
                <a:srgbClr val="FF0000"/>
              </a:solidFill>
            </a:endParaRPr>
          </a:p>
        </p:txBody>
      </p:sp>
      <p:pic>
        <p:nvPicPr>
          <p:cNvPr id="9" name="Content Placeholder 8">
            <a:extLst>
              <a:ext uri="{FF2B5EF4-FFF2-40B4-BE49-F238E27FC236}">
                <a16:creationId xmlns:a16="http://schemas.microsoft.com/office/drawing/2014/main" id="{06493EAD-6042-497F-B6F2-7376B9EEB236}"/>
              </a:ext>
            </a:extLst>
          </p:cNvPr>
          <p:cNvPicPr>
            <a:picLocks noGrp="1" noChangeAspect="1"/>
          </p:cNvPicPr>
          <p:nvPr>
            <p:ph idx="1"/>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50000"/>
                    </a14:imgEffect>
                  </a14:imgLayer>
                </a14:imgProps>
              </a:ext>
              <a:ext uri="{28A0092B-C50C-407E-A947-70E740481C1C}">
                <a14:useLocalDpi xmlns:a14="http://schemas.microsoft.com/office/drawing/2010/main" val="0"/>
              </a:ext>
            </a:extLst>
          </a:blip>
          <a:stretch>
            <a:fillRect/>
          </a:stretch>
        </p:blipFill>
        <p:spPr>
          <a:xfrm>
            <a:off x="299452" y="1408112"/>
            <a:ext cx="4189095" cy="2327275"/>
          </a:xfrm>
        </p:spPr>
      </p:pic>
      <p:sp>
        <p:nvSpPr>
          <p:cNvPr id="4" name="Date Placeholder 3"/>
          <p:cNvSpPr>
            <a:spLocks noGrp="1"/>
          </p:cNvSpPr>
          <p:nvPr>
            <p:ph type="dt" sz="half" idx="10"/>
          </p:nvPr>
        </p:nvSpPr>
        <p:spPr/>
        <p:txBody>
          <a:bodyPr/>
          <a:lstStyle/>
          <a:p>
            <a:fld id="{94F095A5-620E-45B9-8E13-B20DF265EA26}"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image155.png">
            <a:extLst>
              <a:ext uri="{FF2B5EF4-FFF2-40B4-BE49-F238E27FC236}">
                <a16:creationId xmlns:a16="http://schemas.microsoft.com/office/drawing/2014/main" id="{F496C023-C098-4294-98CA-F8C72245AC9A}"/>
              </a:ext>
            </a:extLst>
          </p:cNvPr>
          <p:cNvPicPr/>
          <p:nvPr/>
        </p:nvPicPr>
        <p:blipFill>
          <a:blip r:embed="rId4" cstate="print">
            <a:extLst>
              <a:ext uri="{BEBA8EAE-BF5A-486C-A8C5-ECC9F3942E4B}">
                <a14:imgProps xmlns:a14="http://schemas.microsoft.com/office/drawing/2010/main">
                  <a14:imgLayer r:embed="rId5">
                    <a14:imgEffect>
                      <a14:sharpenSoften amount="100000"/>
                    </a14:imgEffect>
                    <a14:imgEffect>
                      <a14:brightnessContrast bright="50000"/>
                    </a14:imgEffect>
                  </a14:imgLayer>
                </a14:imgProps>
              </a:ext>
            </a:extLst>
          </a:blip>
          <a:stretch>
            <a:fillRect/>
          </a:stretch>
        </p:blipFill>
        <p:spPr>
          <a:xfrm>
            <a:off x="5582653" y="1557695"/>
            <a:ext cx="3352800" cy="1870472"/>
          </a:xfrm>
          <a:prstGeom prst="rect">
            <a:avLst/>
          </a:prstGeom>
        </p:spPr>
      </p:pic>
      <p:sp>
        <p:nvSpPr>
          <p:cNvPr id="10" name="TextBox 9">
            <a:extLst>
              <a:ext uri="{FF2B5EF4-FFF2-40B4-BE49-F238E27FC236}">
                <a16:creationId xmlns:a16="http://schemas.microsoft.com/office/drawing/2014/main" id="{37FFDC29-6AFE-4842-B021-557E4147AE62}"/>
              </a:ext>
            </a:extLst>
          </p:cNvPr>
          <p:cNvSpPr txBox="1"/>
          <p:nvPr/>
        </p:nvSpPr>
        <p:spPr>
          <a:xfrm>
            <a:off x="4800600" y="2571750"/>
            <a:ext cx="470000" cy="369332"/>
          </a:xfrm>
          <a:prstGeom prst="rect">
            <a:avLst/>
          </a:prstGeom>
          <a:noFill/>
        </p:spPr>
        <p:txBody>
          <a:bodyPr wrap="none" rtlCol="0">
            <a:spAutoFit/>
          </a:bodyPr>
          <a:lstStyle/>
          <a:p>
            <a:r>
              <a:rPr lang="en-US" b="1" dirty="0"/>
              <a:t>OR</a:t>
            </a:r>
          </a:p>
        </p:txBody>
      </p:sp>
      <p:sp>
        <p:nvSpPr>
          <p:cNvPr id="11" name="TextBox 10">
            <a:extLst>
              <a:ext uri="{FF2B5EF4-FFF2-40B4-BE49-F238E27FC236}">
                <a16:creationId xmlns:a16="http://schemas.microsoft.com/office/drawing/2014/main" id="{BB5156B9-93BF-4821-B395-46649576521E}"/>
              </a:ext>
            </a:extLst>
          </p:cNvPr>
          <p:cNvSpPr txBox="1"/>
          <p:nvPr/>
        </p:nvSpPr>
        <p:spPr>
          <a:xfrm>
            <a:off x="323515" y="2231321"/>
            <a:ext cx="352982" cy="261610"/>
          </a:xfrm>
          <a:prstGeom prst="rect">
            <a:avLst/>
          </a:prstGeom>
          <a:noFill/>
        </p:spPr>
        <p:txBody>
          <a:bodyPr wrap="square" rtlCol="0">
            <a:spAutoFit/>
          </a:bodyPr>
          <a:lstStyle/>
          <a:p>
            <a:r>
              <a:rPr lang="en-US" sz="1100" dirty="0"/>
              <a:t>DR</a:t>
            </a:r>
          </a:p>
        </p:txBody>
      </p:sp>
    </p:spTree>
    <p:extLst>
      <p:ext uri="{BB962C8B-B14F-4D97-AF65-F5344CB8AC3E}">
        <p14:creationId xmlns:p14="http://schemas.microsoft.com/office/powerpoint/2010/main" val="1567932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9BFB53">
            <a:alpha val="7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u="sng" dirty="0"/>
              <a:t>Control unit:</a:t>
            </a:r>
            <a:endParaRPr lang="en-US" sz="3200" b="1" dirty="0">
              <a:solidFill>
                <a:srgbClr val="FF0000"/>
              </a:solidFill>
            </a:endParaRPr>
          </a:p>
        </p:txBody>
      </p:sp>
      <p:sp>
        <p:nvSpPr>
          <p:cNvPr id="3" name="Content Placeholder 2"/>
          <p:cNvSpPr>
            <a:spLocks noGrp="1"/>
          </p:cNvSpPr>
          <p:nvPr>
            <p:ph idx="1"/>
          </p:nvPr>
        </p:nvSpPr>
        <p:spPr>
          <a:xfrm>
            <a:off x="457200" y="4320780"/>
            <a:ext cx="4495800" cy="273844"/>
          </a:xfrm>
        </p:spPr>
        <p:txBody>
          <a:bodyPr>
            <a:normAutofit fontScale="77500" lnSpcReduction="20000"/>
          </a:bodyPr>
          <a:lstStyle/>
          <a:p>
            <a:pPr marL="0" indent="0">
              <a:buNone/>
            </a:pPr>
            <a:r>
              <a:rPr lang="en-US" sz="1800" b="1" dirty="0"/>
              <a:t>Note: Write short explanation as before.</a:t>
            </a:r>
          </a:p>
        </p:txBody>
      </p:sp>
      <p:sp>
        <p:nvSpPr>
          <p:cNvPr id="4" name="Date Placeholder 3"/>
          <p:cNvSpPr>
            <a:spLocks noGrp="1"/>
          </p:cNvSpPr>
          <p:nvPr>
            <p:ph type="dt" sz="half" idx="10"/>
          </p:nvPr>
        </p:nvSpPr>
        <p:spPr/>
        <p:txBody>
          <a:bodyPr/>
          <a:lstStyle/>
          <a:p>
            <a:fld id="{329E8392-AB27-4699-BD27-28C0C7C35672}"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image156.png">
            <a:extLst>
              <a:ext uri="{FF2B5EF4-FFF2-40B4-BE49-F238E27FC236}">
                <a16:creationId xmlns:a16="http://schemas.microsoft.com/office/drawing/2014/main" id="{C725EFD5-B5DC-4E16-B4B9-B13A70180606}"/>
              </a:ext>
            </a:extLst>
          </p:cNvPr>
          <p:cNvPicPr/>
          <p:nvPr/>
        </p:nvPicPr>
        <p:blipFill>
          <a:blip r:embed="rId2" cstate="print"/>
          <a:stretch>
            <a:fillRect/>
          </a:stretch>
        </p:blipFill>
        <p:spPr>
          <a:xfrm>
            <a:off x="2743200" y="713537"/>
            <a:ext cx="5943600" cy="3277721"/>
          </a:xfrm>
          <a:prstGeom prst="rect">
            <a:avLst/>
          </a:prstGeom>
        </p:spPr>
      </p:pic>
    </p:spTree>
    <p:extLst>
      <p:ext uri="{BB962C8B-B14F-4D97-AF65-F5344CB8AC3E}">
        <p14:creationId xmlns:p14="http://schemas.microsoft.com/office/powerpoint/2010/main" val="23872207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7030A0">
            <a:alpha val="4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3200" b="1" dirty="0">
                <a:solidFill>
                  <a:srgbClr val="FF0000"/>
                </a:solidFill>
              </a:rPr>
              <a:t>Example 3:</a:t>
            </a:r>
          </a:p>
        </p:txBody>
      </p:sp>
      <p:sp>
        <p:nvSpPr>
          <p:cNvPr id="3" name="Content Placeholder 2"/>
          <p:cNvSpPr>
            <a:spLocks noGrp="1"/>
          </p:cNvSpPr>
          <p:nvPr>
            <p:ph idx="1"/>
          </p:nvPr>
        </p:nvSpPr>
        <p:spPr>
          <a:xfrm>
            <a:off x="457200" y="819150"/>
            <a:ext cx="8229600" cy="3775473"/>
          </a:xfrm>
          <a:ln>
            <a:solidFill>
              <a:schemeClr val="accent1"/>
            </a:solidFill>
          </a:ln>
        </p:spPr>
        <p:txBody>
          <a:bodyPr>
            <a:normAutofit fontScale="85000" lnSpcReduction="20000"/>
          </a:bodyPr>
          <a:lstStyle/>
          <a:p>
            <a:r>
              <a:rPr lang="en-US" sz="2000" b="1" dirty="0">
                <a:sym typeface="Wingdings" panose="05000000000000000000" pitchFamily="2" charset="2"/>
              </a:rPr>
              <a:t>Design a CPU that has 6-bit address register (AR), 6-bit program counter (PC), 8-bit data register (DR) and 2-bit instruction register (IR). The CPU must execute the following instructions:</a:t>
            </a: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r>
              <a:rPr lang="en-US" sz="2000" dirty="0">
                <a:sym typeface="Wingdings" panose="05000000000000000000" pitchFamily="2" charset="2"/>
              </a:rPr>
              <a:t>Show the RTL code for fetch and execute cycles for each instruction and draw state diagram.</a:t>
            </a:r>
          </a:p>
          <a:p>
            <a:r>
              <a:rPr lang="en-US" sz="2000" dirty="0">
                <a:sym typeface="Wingdings" panose="05000000000000000000" pitchFamily="2" charset="2"/>
              </a:rPr>
              <a:t>Show the final register section</a:t>
            </a:r>
          </a:p>
          <a:p>
            <a:r>
              <a:rPr lang="en-US" sz="2000" dirty="0">
                <a:sym typeface="Wingdings" panose="05000000000000000000" pitchFamily="2" charset="2"/>
              </a:rPr>
              <a:t>Show the ALU Design</a:t>
            </a:r>
          </a:p>
          <a:p>
            <a:r>
              <a:rPr lang="en-US" sz="2000" dirty="0">
                <a:sym typeface="Wingdings" panose="05000000000000000000" pitchFamily="2" charset="2"/>
              </a:rPr>
              <a:t>Show hardwired control unit for same CPU.</a:t>
            </a:r>
          </a:p>
          <a:p>
            <a:endParaRPr lang="en-US" sz="2000" b="1" dirty="0">
              <a:sym typeface="Wingdings" panose="05000000000000000000" pitchFamily="2" charset="2"/>
            </a:endParaRPr>
          </a:p>
        </p:txBody>
      </p:sp>
      <p:sp>
        <p:nvSpPr>
          <p:cNvPr id="4" name="Date Placeholder 3"/>
          <p:cNvSpPr>
            <a:spLocks noGrp="1"/>
          </p:cNvSpPr>
          <p:nvPr>
            <p:ph type="dt" sz="half" idx="10"/>
          </p:nvPr>
        </p:nvSpPr>
        <p:spPr/>
        <p:txBody>
          <a:bodyPr/>
          <a:lstStyle/>
          <a:p>
            <a:fld id="{0B1192CA-5A9A-4521-A066-D70524D62487}"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dirty="0">
                <a:solidFill>
                  <a:srgbClr val="00B050"/>
                </a:solidFill>
              </a:rPr>
              <a:t>CPU Design</a:t>
            </a:r>
          </a:p>
        </p:txBody>
      </p:sp>
      <p:pic>
        <p:nvPicPr>
          <p:cNvPr id="7" name="Picture 6">
            <a:extLst>
              <a:ext uri="{FF2B5EF4-FFF2-40B4-BE49-F238E27FC236}">
                <a16:creationId xmlns:a16="http://schemas.microsoft.com/office/drawing/2014/main" id="{93CB49F5-CE8A-44B5-AD13-989567C750F6}"/>
              </a:ext>
            </a:extLst>
          </p:cNvPr>
          <p:cNvPicPr>
            <a:picLocks noChangeAspect="1"/>
          </p:cNvPicPr>
          <p:nvPr/>
        </p:nvPicPr>
        <p:blipFill>
          <a:blip r:embed="rId2"/>
          <a:stretch>
            <a:fillRect/>
          </a:stretch>
        </p:blipFill>
        <p:spPr>
          <a:xfrm>
            <a:off x="1752600" y="1581150"/>
            <a:ext cx="4982356" cy="1549059"/>
          </a:xfrm>
          <a:prstGeom prst="rect">
            <a:avLst/>
          </a:prstGeom>
        </p:spPr>
      </p:pic>
    </p:spTree>
    <p:extLst>
      <p:ext uri="{BB962C8B-B14F-4D97-AF65-F5344CB8AC3E}">
        <p14:creationId xmlns:p14="http://schemas.microsoft.com/office/powerpoint/2010/main" val="36914489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7030A0">
            <a:alpha val="4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36971"/>
          </a:xfrm>
        </p:spPr>
        <p:txBody>
          <a:bodyPr>
            <a:noAutofit/>
          </a:bodyPr>
          <a:lstStyle/>
          <a:p>
            <a:pPr lvl="0" algn="just"/>
            <a:r>
              <a:rPr lang="en-US" sz="3200" b="1" dirty="0">
                <a:solidFill>
                  <a:srgbClr val="00B050"/>
                </a:solidFill>
              </a:rPr>
              <a:t>Solution:</a:t>
            </a:r>
          </a:p>
        </p:txBody>
      </p:sp>
      <p:sp>
        <p:nvSpPr>
          <p:cNvPr id="4" name="Date Placeholder 3"/>
          <p:cNvSpPr>
            <a:spLocks noGrp="1"/>
          </p:cNvSpPr>
          <p:nvPr>
            <p:ph type="dt" sz="half" idx="10"/>
          </p:nvPr>
        </p:nvSpPr>
        <p:spPr/>
        <p:txBody>
          <a:bodyPr/>
          <a:lstStyle/>
          <a:p>
            <a:fld id="{38E4B4D0-9A71-4498-872B-B3D034CAF460}"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8" name="Content Placeholder 2">
            <a:extLst>
              <a:ext uri="{FF2B5EF4-FFF2-40B4-BE49-F238E27FC236}">
                <a16:creationId xmlns:a16="http://schemas.microsoft.com/office/drawing/2014/main" id="{DA04D4F2-D956-4C14-B7E2-55B26B14CE78}"/>
              </a:ext>
            </a:extLst>
          </p:cNvPr>
          <p:cNvSpPr txBox="1">
            <a:spLocks/>
          </p:cNvSpPr>
          <p:nvPr/>
        </p:nvSpPr>
        <p:spPr>
          <a:xfrm>
            <a:off x="632012" y="684013"/>
            <a:ext cx="3915925" cy="3775473"/>
          </a:xfrm>
          <a:prstGeom prst="rect">
            <a:avLst/>
          </a:prstGeom>
          <a:ln>
            <a:solidFill>
              <a:schemeClr val="accent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b="1" dirty="0">
                <a:sym typeface="Wingdings" panose="05000000000000000000" pitchFamily="2" charset="2"/>
              </a:rPr>
              <a:t>RTL code and State diagram</a:t>
            </a:r>
          </a:p>
          <a:p>
            <a:endParaRPr lang="en-US" sz="1800" dirty="0">
              <a:sym typeface="Wingdings" panose="05000000000000000000" pitchFamily="2" charset="2"/>
            </a:endParaRPr>
          </a:p>
          <a:p>
            <a:pPr marL="0" indent="0">
              <a:buNone/>
              <a:tabLst>
                <a:tab pos="741363" algn="l"/>
                <a:tab pos="858838" algn="l"/>
              </a:tabLst>
            </a:pPr>
            <a:r>
              <a:rPr lang="en-US" sz="1800" dirty="0">
                <a:sym typeface="Wingdings" panose="05000000000000000000" pitchFamily="2" charset="2"/>
              </a:rPr>
              <a:t>Fetch1	: AR PC</a:t>
            </a:r>
          </a:p>
          <a:p>
            <a:pPr marL="0" indent="0">
              <a:buNone/>
              <a:tabLst>
                <a:tab pos="741363" algn="l"/>
                <a:tab pos="858838" algn="l"/>
              </a:tabLst>
            </a:pPr>
            <a:r>
              <a:rPr lang="en-US" sz="1800" dirty="0">
                <a:sym typeface="Wingdings" panose="05000000000000000000" pitchFamily="2" charset="2"/>
              </a:rPr>
              <a:t>Fetch2	: DR M, PC PC+1</a:t>
            </a:r>
          </a:p>
          <a:p>
            <a:pPr marL="0" indent="0">
              <a:buNone/>
              <a:tabLst>
                <a:tab pos="741363" algn="l"/>
                <a:tab pos="858838" algn="l"/>
              </a:tabLst>
            </a:pPr>
            <a:r>
              <a:rPr lang="en-US" sz="1800" dirty="0">
                <a:sym typeface="Wingdings" panose="05000000000000000000" pitchFamily="2" charset="2"/>
              </a:rPr>
              <a:t>Fetch3	: IR DR [7-6], ARDR[5…0]</a:t>
            </a:r>
          </a:p>
          <a:p>
            <a:pPr marL="0" indent="0">
              <a:buNone/>
              <a:tabLst>
                <a:tab pos="741363" algn="l"/>
                <a:tab pos="858838" algn="l"/>
              </a:tabLst>
            </a:pPr>
            <a:r>
              <a:rPr lang="en-US" sz="1800" dirty="0">
                <a:sym typeface="Wingdings" panose="05000000000000000000" pitchFamily="2" charset="2"/>
              </a:rPr>
              <a:t>COM1	: AC AC’</a:t>
            </a:r>
          </a:p>
          <a:p>
            <a:pPr marL="0" indent="0">
              <a:buNone/>
              <a:tabLst>
                <a:tab pos="741363" algn="l"/>
                <a:tab pos="858838" algn="l"/>
              </a:tabLst>
            </a:pPr>
            <a:r>
              <a:rPr lang="en-US" sz="1800" dirty="0">
                <a:sym typeface="Wingdings" panose="05000000000000000000" pitchFamily="2" charset="2"/>
              </a:rPr>
              <a:t>AND1	: DRM</a:t>
            </a:r>
          </a:p>
          <a:p>
            <a:pPr marL="0" indent="0">
              <a:buNone/>
              <a:tabLst>
                <a:tab pos="741363" algn="l"/>
                <a:tab pos="858838" algn="l"/>
              </a:tabLst>
            </a:pPr>
            <a:r>
              <a:rPr lang="en-US" sz="1800" dirty="0">
                <a:sym typeface="Wingdings" panose="05000000000000000000" pitchFamily="2" charset="2"/>
              </a:rPr>
              <a:t>AND2	: AC AC^DR</a:t>
            </a:r>
          </a:p>
          <a:p>
            <a:pPr marL="0" indent="0">
              <a:buNone/>
              <a:tabLst>
                <a:tab pos="741363" algn="l"/>
                <a:tab pos="858838" algn="l"/>
              </a:tabLst>
            </a:pPr>
            <a:r>
              <a:rPr lang="en-US" sz="1800" dirty="0">
                <a:sym typeface="Wingdings" panose="05000000000000000000" pitchFamily="2" charset="2"/>
              </a:rPr>
              <a:t>JREL1	: ARDR [5..0]</a:t>
            </a:r>
          </a:p>
          <a:p>
            <a:pPr marL="0" indent="0">
              <a:buNone/>
              <a:tabLst>
                <a:tab pos="741363" algn="l"/>
                <a:tab pos="858838" algn="l"/>
              </a:tabLst>
            </a:pPr>
            <a:r>
              <a:rPr lang="en-US" sz="1800" dirty="0">
                <a:sym typeface="Wingdings" panose="05000000000000000000" pitchFamily="2" charset="2"/>
              </a:rPr>
              <a:t>JREL2	: PCPC+AR</a:t>
            </a:r>
          </a:p>
          <a:p>
            <a:pPr marL="0" indent="0">
              <a:buNone/>
              <a:tabLst>
                <a:tab pos="741363" algn="l"/>
                <a:tab pos="858838" algn="l"/>
              </a:tabLst>
            </a:pPr>
            <a:r>
              <a:rPr lang="en-US" sz="1800" dirty="0">
                <a:sym typeface="Wingdings" panose="05000000000000000000" pitchFamily="2" charset="2"/>
              </a:rPr>
              <a:t>SKIP1	: PCPC+1</a:t>
            </a:r>
          </a:p>
        </p:txBody>
      </p:sp>
      <p:pic>
        <p:nvPicPr>
          <p:cNvPr id="23" name="Picture 22">
            <a:extLst>
              <a:ext uri="{FF2B5EF4-FFF2-40B4-BE49-F238E27FC236}">
                <a16:creationId xmlns:a16="http://schemas.microsoft.com/office/drawing/2014/main" id="{F018D870-EFE3-4197-8733-E6982E86BA9E}"/>
              </a:ext>
            </a:extLst>
          </p:cNvPr>
          <p:cNvPicPr>
            <a:picLocks noChangeAspect="1"/>
          </p:cNvPicPr>
          <p:nvPr/>
        </p:nvPicPr>
        <p:blipFill>
          <a:blip r:embed="rId3"/>
          <a:stretch>
            <a:fillRect/>
          </a:stretch>
        </p:blipFill>
        <p:spPr>
          <a:xfrm>
            <a:off x="4698686" y="1171422"/>
            <a:ext cx="3767138" cy="3242884"/>
          </a:xfrm>
          <a:prstGeom prst="rect">
            <a:avLst/>
          </a:prstGeom>
        </p:spPr>
      </p:pic>
    </p:spTree>
    <p:extLst>
      <p:ext uri="{BB962C8B-B14F-4D97-AF65-F5344CB8AC3E}">
        <p14:creationId xmlns:p14="http://schemas.microsoft.com/office/powerpoint/2010/main" val="20998595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7030A0">
            <a:alpha val="4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C3F9C604-D754-4DF1-BDBC-9BB9C4CB966D}"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8" name="Content Placeholder 2">
            <a:extLst>
              <a:ext uri="{FF2B5EF4-FFF2-40B4-BE49-F238E27FC236}">
                <a16:creationId xmlns:a16="http://schemas.microsoft.com/office/drawing/2014/main" id="{B7B32D86-9EF9-41FD-97BB-40E7BA96C35F}"/>
              </a:ext>
            </a:extLst>
          </p:cNvPr>
          <p:cNvSpPr>
            <a:spLocks noGrp="1"/>
          </p:cNvSpPr>
          <p:nvPr>
            <p:ph idx="1"/>
          </p:nvPr>
        </p:nvSpPr>
        <p:spPr>
          <a:xfrm>
            <a:off x="457200" y="819150"/>
            <a:ext cx="4267200" cy="3775075"/>
          </a:xfrm>
        </p:spPr>
        <p:txBody>
          <a:bodyPr>
            <a:normAutofit/>
          </a:bodyPr>
          <a:lstStyle/>
          <a:p>
            <a:r>
              <a:rPr lang="en-US" sz="1400" dirty="0">
                <a:sym typeface="Wingdings" panose="05000000000000000000" pitchFamily="2" charset="2"/>
              </a:rPr>
              <a:t>After regrouping the operations, the RTL codes are:</a:t>
            </a: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endParaRPr lang="en-US" sz="1400" dirty="0">
              <a:sym typeface="Wingdings" panose="05000000000000000000" pitchFamily="2" charset="2"/>
            </a:endParaRPr>
          </a:p>
          <a:p>
            <a:r>
              <a:rPr lang="en-US" sz="1400" dirty="0">
                <a:sym typeface="Wingdings" panose="05000000000000000000" pitchFamily="2" charset="2"/>
              </a:rPr>
              <a:t>Considering the regrouped RTL codes, our required register organization and </a:t>
            </a:r>
            <a:r>
              <a:rPr lang="en-US" sz="1400" dirty="0" err="1">
                <a:sym typeface="Wingdings" panose="05000000000000000000" pitchFamily="2" charset="2"/>
              </a:rPr>
              <a:t>datapath</a:t>
            </a:r>
            <a:r>
              <a:rPr lang="en-US" sz="1400" dirty="0">
                <a:sym typeface="Wingdings" panose="05000000000000000000" pitchFamily="2" charset="2"/>
              </a:rPr>
              <a:t> is as shown in the figure aside.</a:t>
            </a:r>
          </a:p>
          <a:p>
            <a:endParaRPr lang="en-US" sz="1400" dirty="0">
              <a:sym typeface="Wingdings" panose="05000000000000000000" pitchFamily="2" charset="2"/>
            </a:endParaRPr>
          </a:p>
          <a:p>
            <a:endParaRPr lang="en-US" sz="1600" dirty="0">
              <a:sym typeface="Wingdings" panose="05000000000000000000" pitchFamily="2" charset="2"/>
            </a:endParaRPr>
          </a:p>
        </p:txBody>
      </p:sp>
      <p:sp>
        <p:nvSpPr>
          <p:cNvPr id="9" name="Content Placeholder 2">
            <a:extLst>
              <a:ext uri="{FF2B5EF4-FFF2-40B4-BE49-F238E27FC236}">
                <a16:creationId xmlns:a16="http://schemas.microsoft.com/office/drawing/2014/main" id="{B11A5B29-1FB8-44AC-9CB0-844DA87696B5}"/>
              </a:ext>
            </a:extLst>
          </p:cNvPr>
          <p:cNvSpPr txBox="1">
            <a:spLocks/>
          </p:cNvSpPr>
          <p:nvPr/>
        </p:nvSpPr>
        <p:spPr>
          <a:xfrm>
            <a:off x="601982" y="1200150"/>
            <a:ext cx="1981199" cy="1524000"/>
          </a:xfrm>
          <a:prstGeom prst="rect">
            <a:avLst/>
          </a:prstGeom>
          <a:solidFill>
            <a:schemeClr val="bg1"/>
          </a:solidFill>
          <a:ln>
            <a:solidFill>
              <a:schemeClr val="tx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tabLst>
                <a:tab pos="288925" algn="l"/>
                <a:tab pos="741363" algn="l"/>
                <a:tab pos="858838" algn="l"/>
              </a:tabLst>
            </a:pPr>
            <a:r>
              <a:rPr lang="en-US" sz="800" dirty="0">
                <a:sym typeface="Wingdings" panose="05000000000000000000" pitchFamily="2" charset="2"/>
              </a:rPr>
              <a:t>Fetch1	: AR PC</a:t>
            </a:r>
          </a:p>
          <a:p>
            <a:pPr marL="0" indent="0">
              <a:buNone/>
              <a:tabLst>
                <a:tab pos="288925" algn="l"/>
                <a:tab pos="741363" algn="l"/>
                <a:tab pos="858838" algn="l"/>
              </a:tabLst>
            </a:pPr>
            <a:r>
              <a:rPr lang="en-US" sz="800" dirty="0">
                <a:sym typeface="Wingdings" panose="05000000000000000000" pitchFamily="2" charset="2"/>
              </a:rPr>
              <a:t>Fetch2	: DR M, PC PC+1</a:t>
            </a:r>
          </a:p>
          <a:p>
            <a:pPr marL="0" indent="0">
              <a:buNone/>
              <a:tabLst>
                <a:tab pos="288925" algn="l"/>
                <a:tab pos="741363" algn="l"/>
                <a:tab pos="858838" algn="l"/>
              </a:tabLst>
            </a:pPr>
            <a:r>
              <a:rPr lang="en-US" sz="800" dirty="0">
                <a:sym typeface="Wingdings" panose="05000000000000000000" pitchFamily="2" charset="2"/>
              </a:rPr>
              <a:t>Fetch3	: IR DR [7-6], ARDR[5…0]</a:t>
            </a:r>
          </a:p>
          <a:p>
            <a:pPr marL="0" indent="0">
              <a:buNone/>
              <a:tabLst>
                <a:tab pos="288925" algn="l"/>
                <a:tab pos="741363" algn="l"/>
                <a:tab pos="858838" algn="l"/>
              </a:tabLst>
            </a:pPr>
            <a:r>
              <a:rPr lang="en-US" sz="800" dirty="0">
                <a:sym typeface="Wingdings" panose="05000000000000000000" pitchFamily="2" charset="2"/>
              </a:rPr>
              <a:t>COM1	: AC AC’</a:t>
            </a:r>
          </a:p>
          <a:p>
            <a:pPr marL="0" indent="0">
              <a:buNone/>
              <a:tabLst>
                <a:tab pos="288925" algn="l"/>
                <a:tab pos="741363" algn="l"/>
                <a:tab pos="858838" algn="l"/>
              </a:tabLst>
            </a:pPr>
            <a:r>
              <a:rPr lang="en-US" sz="800" dirty="0">
                <a:sym typeface="Wingdings" panose="05000000000000000000" pitchFamily="2" charset="2"/>
              </a:rPr>
              <a:t>AND1	: DRM</a:t>
            </a:r>
          </a:p>
          <a:p>
            <a:pPr marL="0" indent="0">
              <a:buNone/>
              <a:tabLst>
                <a:tab pos="288925" algn="l"/>
                <a:tab pos="741363" algn="l"/>
                <a:tab pos="858838" algn="l"/>
              </a:tabLst>
            </a:pPr>
            <a:r>
              <a:rPr lang="en-US" sz="800" dirty="0">
                <a:sym typeface="Wingdings" panose="05000000000000000000" pitchFamily="2" charset="2"/>
              </a:rPr>
              <a:t>AND2	: AC AC^DR</a:t>
            </a:r>
          </a:p>
          <a:p>
            <a:pPr marL="0" indent="0">
              <a:buNone/>
              <a:tabLst>
                <a:tab pos="288925" algn="l"/>
                <a:tab pos="741363" algn="l"/>
                <a:tab pos="858838" algn="l"/>
              </a:tabLst>
            </a:pPr>
            <a:r>
              <a:rPr lang="en-US" sz="800" dirty="0">
                <a:sym typeface="Wingdings" panose="05000000000000000000" pitchFamily="2" charset="2"/>
              </a:rPr>
              <a:t>JREL1	: ARDR [5..0]</a:t>
            </a:r>
          </a:p>
          <a:p>
            <a:pPr marL="0" indent="0">
              <a:buNone/>
              <a:tabLst>
                <a:tab pos="288925" algn="l"/>
                <a:tab pos="741363" algn="l"/>
                <a:tab pos="858838" algn="l"/>
              </a:tabLst>
            </a:pPr>
            <a:r>
              <a:rPr lang="en-US" sz="800" dirty="0">
                <a:sym typeface="Wingdings" panose="05000000000000000000" pitchFamily="2" charset="2"/>
              </a:rPr>
              <a:t>JREL2	: PCPC+AR</a:t>
            </a:r>
          </a:p>
          <a:p>
            <a:pPr marL="0" indent="0">
              <a:buNone/>
              <a:tabLst>
                <a:tab pos="288925" algn="l"/>
                <a:tab pos="741363" algn="l"/>
                <a:tab pos="858838" algn="l"/>
              </a:tabLst>
            </a:pPr>
            <a:r>
              <a:rPr lang="en-US" sz="800" dirty="0">
                <a:sym typeface="Wingdings" panose="05000000000000000000" pitchFamily="2" charset="2"/>
              </a:rPr>
              <a:t>SKIP1	: PCPC+1</a:t>
            </a:r>
          </a:p>
        </p:txBody>
      </p:sp>
      <p:sp>
        <p:nvSpPr>
          <p:cNvPr id="10" name="Content Placeholder 2">
            <a:extLst>
              <a:ext uri="{FF2B5EF4-FFF2-40B4-BE49-F238E27FC236}">
                <a16:creationId xmlns:a16="http://schemas.microsoft.com/office/drawing/2014/main" id="{65F2B437-13BA-4709-9140-BAD5725FC02B}"/>
              </a:ext>
            </a:extLst>
          </p:cNvPr>
          <p:cNvSpPr txBox="1">
            <a:spLocks/>
          </p:cNvSpPr>
          <p:nvPr/>
        </p:nvSpPr>
        <p:spPr>
          <a:xfrm>
            <a:off x="2971801" y="1428750"/>
            <a:ext cx="2103439" cy="914400"/>
          </a:xfrm>
          <a:prstGeom prst="rect">
            <a:avLst/>
          </a:prstGeom>
          <a:solidFill>
            <a:schemeClr val="bg1"/>
          </a:solidFill>
          <a:ln>
            <a:solidFill>
              <a:schemeClr val="tx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indent="-117475">
              <a:tabLst>
                <a:tab pos="346075" algn="l"/>
              </a:tabLst>
            </a:pPr>
            <a:r>
              <a:rPr lang="en-US" sz="700" dirty="0"/>
              <a:t>AR:	AR </a:t>
            </a:r>
            <a:r>
              <a:rPr lang="en-US" sz="700" dirty="0">
                <a:sym typeface="Wingdings" panose="05000000000000000000" pitchFamily="2" charset="2"/>
              </a:rPr>
              <a:t></a:t>
            </a:r>
            <a:r>
              <a:rPr lang="en-US" sz="700" dirty="0"/>
              <a:t> PC ,  AR</a:t>
            </a:r>
            <a:r>
              <a:rPr lang="en-US" sz="700" dirty="0">
                <a:sym typeface="Wingdings" panose="05000000000000000000" pitchFamily="2" charset="2"/>
              </a:rPr>
              <a:t>DR[5..0]</a:t>
            </a:r>
            <a:endParaRPr lang="en-US" sz="700" dirty="0"/>
          </a:p>
          <a:p>
            <a:pPr marL="117475" indent="-117475">
              <a:tabLst>
                <a:tab pos="346075" algn="l"/>
              </a:tabLst>
            </a:pPr>
            <a:r>
              <a:rPr lang="en-US" sz="700" dirty="0"/>
              <a:t>PC:	PC </a:t>
            </a:r>
            <a:r>
              <a:rPr lang="en-US" sz="700" dirty="0">
                <a:sym typeface="Wingdings" panose="05000000000000000000" pitchFamily="2" charset="2"/>
              </a:rPr>
              <a:t></a:t>
            </a:r>
            <a:r>
              <a:rPr lang="en-US" sz="700" dirty="0"/>
              <a:t> PC + 1  , PC</a:t>
            </a:r>
            <a:r>
              <a:rPr lang="en-US" sz="700" dirty="0">
                <a:sym typeface="Wingdings" panose="05000000000000000000" pitchFamily="2" charset="2"/>
              </a:rPr>
              <a:t>PC+AR</a:t>
            </a:r>
          </a:p>
          <a:p>
            <a:pPr marL="117475" indent="-117475">
              <a:tabLst>
                <a:tab pos="346075" algn="l"/>
              </a:tabLst>
            </a:pPr>
            <a:r>
              <a:rPr lang="en-US" sz="700" dirty="0"/>
              <a:t>DR:	DR</a:t>
            </a:r>
            <a:r>
              <a:rPr lang="en-US" sz="700" dirty="0">
                <a:sym typeface="Wingdings" panose="05000000000000000000" pitchFamily="2" charset="2"/>
              </a:rPr>
              <a:t>M</a:t>
            </a:r>
            <a:endParaRPr lang="en-US" sz="700" dirty="0"/>
          </a:p>
          <a:p>
            <a:pPr marL="117475" indent="-117475">
              <a:tabLst>
                <a:tab pos="346075" algn="l"/>
              </a:tabLst>
            </a:pPr>
            <a:r>
              <a:rPr lang="en-US" sz="700" dirty="0"/>
              <a:t>AC:	AC</a:t>
            </a:r>
            <a:r>
              <a:rPr lang="en-US" sz="700" dirty="0">
                <a:sym typeface="Wingdings" panose="05000000000000000000" pitchFamily="2" charset="2"/>
              </a:rPr>
              <a:t>AC’ ,</a:t>
            </a:r>
            <a:r>
              <a:rPr lang="en-US" sz="700" i="1" dirty="0"/>
              <a:t> AC </a:t>
            </a:r>
            <a:r>
              <a:rPr lang="en-US" sz="700" i="1" dirty="0">
                <a:sym typeface="Wingdings" panose="05000000000000000000" pitchFamily="2" charset="2"/>
              </a:rPr>
              <a:t></a:t>
            </a:r>
            <a:r>
              <a:rPr lang="en-US" sz="700" dirty="0"/>
              <a:t> </a:t>
            </a:r>
            <a:r>
              <a:rPr lang="en-US" sz="700" i="1" dirty="0"/>
              <a:t>AC ^ DR</a:t>
            </a:r>
            <a:r>
              <a:rPr lang="en-US" sz="700" dirty="0"/>
              <a:t> </a:t>
            </a:r>
          </a:p>
          <a:p>
            <a:pPr marL="117475" indent="-117475">
              <a:tabLst>
                <a:tab pos="346075" algn="l"/>
              </a:tabLst>
            </a:pPr>
            <a:r>
              <a:rPr lang="en-US" sz="700" dirty="0"/>
              <a:t>IR:	IR </a:t>
            </a:r>
            <a:r>
              <a:rPr lang="en-US" sz="700" dirty="0">
                <a:sym typeface="Wingdings" panose="05000000000000000000" pitchFamily="2" charset="2"/>
              </a:rPr>
              <a:t></a:t>
            </a:r>
            <a:r>
              <a:rPr lang="en-US" sz="700" dirty="0"/>
              <a:t> DR[7,6]</a:t>
            </a:r>
            <a:endParaRPr lang="en-US" sz="500" dirty="0"/>
          </a:p>
        </p:txBody>
      </p:sp>
      <p:sp>
        <p:nvSpPr>
          <p:cNvPr id="11" name="Arrow: Right 10">
            <a:extLst>
              <a:ext uri="{FF2B5EF4-FFF2-40B4-BE49-F238E27FC236}">
                <a16:creationId xmlns:a16="http://schemas.microsoft.com/office/drawing/2014/main" id="{81EE40E2-A4AB-4A71-950B-5AE6B24EB1DD}"/>
              </a:ext>
            </a:extLst>
          </p:cNvPr>
          <p:cNvSpPr/>
          <p:nvPr/>
        </p:nvSpPr>
        <p:spPr>
          <a:xfrm>
            <a:off x="2663191" y="1657350"/>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E743756-441E-46A9-BD9D-910E25030258}"/>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50000"/>
                    </a14:imgEffect>
                  </a14:imgLayer>
                </a14:imgProps>
              </a:ext>
              <a:ext uri="{28A0092B-C50C-407E-A947-70E740481C1C}">
                <a14:useLocalDpi xmlns:a14="http://schemas.microsoft.com/office/drawing/2010/main" val="0"/>
              </a:ext>
            </a:extLst>
          </a:blip>
          <a:stretch>
            <a:fillRect/>
          </a:stretch>
        </p:blipFill>
        <p:spPr>
          <a:xfrm>
            <a:off x="5257800" y="0"/>
            <a:ext cx="3798250" cy="4807600"/>
          </a:xfrm>
          <a:prstGeom prst="rect">
            <a:avLst/>
          </a:prstGeom>
        </p:spPr>
      </p:pic>
      <p:cxnSp>
        <p:nvCxnSpPr>
          <p:cNvPr id="15" name="Straight Connector 14">
            <a:extLst>
              <a:ext uri="{FF2B5EF4-FFF2-40B4-BE49-F238E27FC236}">
                <a16:creationId xmlns:a16="http://schemas.microsoft.com/office/drawing/2014/main" id="{7127C642-6356-4D6C-B5FB-606CDFA4AD93}"/>
              </a:ext>
            </a:extLst>
          </p:cNvPr>
          <p:cNvCxnSpPr>
            <a:cxnSpLocks/>
          </p:cNvCxnSpPr>
          <p:nvPr/>
        </p:nvCxnSpPr>
        <p:spPr>
          <a:xfrm>
            <a:off x="7045960" y="1529525"/>
            <a:ext cx="1640840" cy="0"/>
          </a:xfrm>
          <a:prstGeom prst="line">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2" name="Isosceles Triangle 11">
            <a:extLst>
              <a:ext uri="{FF2B5EF4-FFF2-40B4-BE49-F238E27FC236}">
                <a16:creationId xmlns:a16="http://schemas.microsoft.com/office/drawing/2014/main" id="{AB0602FB-7042-47C1-A62D-15A249A0F2EF}"/>
              </a:ext>
            </a:extLst>
          </p:cNvPr>
          <p:cNvSpPr/>
          <p:nvPr/>
        </p:nvSpPr>
        <p:spPr>
          <a:xfrm rot="5400000">
            <a:off x="7819109" y="1438619"/>
            <a:ext cx="169278" cy="182560"/>
          </a:xfrm>
          <a:prstGeom prst="triangl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61D313FB-47BF-4AF8-A0FC-AA965DF2D3EE}"/>
              </a:ext>
            </a:extLst>
          </p:cNvPr>
          <p:cNvCxnSpPr>
            <a:cxnSpLocks/>
          </p:cNvCxnSpPr>
          <p:nvPr/>
        </p:nvCxnSpPr>
        <p:spPr>
          <a:xfrm>
            <a:off x="7903748" y="1573234"/>
            <a:ext cx="0" cy="136082"/>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08B9C9D-0027-460E-8AA0-E25141D2DBF8}"/>
              </a:ext>
            </a:extLst>
          </p:cNvPr>
          <p:cNvSpPr txBox="1"/>
          <p:nvPr/>
        </p:nvSpPr>
        <p:spPr>
          <a:xfrm>
            <a:off x="7710868" y="1698803"/>
            <a:ext cx="441146" cy="200055"/>
          </a:xfrm>
          <a:prstGeom prst="rect">
            <a:avLst/>
          </a:prstGeom>
          <a:noFill/>
        </p:spPr>
        <p:txBody>
          <a:bodyPr wrap="none" rtlCol="0">
            <a:spAutoFit/>
          </a:bodyPr>
          <a:lstStyle/>
          <a:p>
            <a:r>
              <a:rPr lang="en-US" sz="700" b="1" dirty="0"/>
              <a:t>ARBUS</a:t>
            </a:r>
          </a:p>
        </p:txBody>
      </p:sp>
      <p:sp>
        <p:nvSpPr>
          <p:cNvPr id="23" name="Rectangle 22">
            <a:extLst>
              <a:ext uri="{FF2B5EF4-FFF2-40B4-BE49-F238E27FC236}">
                <a16:creationId xmlns:a16="http://schemas.microsoft.com/office/drawing/2014/main" id="{4D2CEACB-AA3D-45BC-84B2-414150F949EA}"/>
              </a:ext>
            </a:extLst>
          </p:cNvPr>
          <p:cNvSpPr/>
          <p:nvPr/>
        </p:nvSpPr>
        <p:spPr>
          <a:xfrm>
            <a:off x="5715000" y="3562350"/>
            <a:ext cx="3048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EA93152E-41DD-4C70-91BB-CAFEE21B3F07}"/>
              </a:ext>
            </a:extLst>
          </p:cNvPr>
          <p:cNvCxnSpPr>
            <a:cxnSpLocks/>
          </p:cNvCxnSpPr>
          <p:nvPr/>
        </p:nvCxnSpPr>
        <p:spPr>
          <a:xfrm>
            <a:off x="5912228" y="3505879"/>
            <a:ext cx="0" cy="136082"/>
          </a:xfrm>
          <a:prstGeom prst="line">
            <a:avLst/>
          </a:prstGeom>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DA30947-0FCD-4E8D-A5FC-BE49E4A417E8}"/>
              </a:ext>
            </a:extLst>
          </p:cNvPr>
          <p:cNvSpPr txBox="1"/>
          <p:nvPr/>
        </p:nvSpPr>
        <p:spPr>
          <a:xfrm>
            <a:off x="5691655" y="3584272"/>
            <a:ext cx="412292" cy="169277"/>
          </a:xfrm>
          <a:prstGeom prst="rect">
            <a:avLst/>
          </a:prstGeom>
          <a:noFill/>
        </p:spPr>
        <p:txBody>
          <a:bodyPr wrap="none" rtlCol="0">
            <a:spAutoFit/>
          </a:bodyPr>
          <a:lstStyle/>
          <a:p>
            <a:r>
              <a:rPr lang="en-US" sz="500" b="1" dirty="0"/>
              <a:t>ALSUSEL</a:t>
            </a:r>
          </a:p>
        </p:txBody>
      </p:sp>
    </p:spTree>
    <p:extLst>
      <p:ext uri="{BB962C8B-B14F-4D97-AF65-F5344CB8AC3E}">
        <p14:creationId xmlns:p14="http://schemas.microsoft.com/office/powerpoint/2010/main" val="28297830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7030A0">
            <a:alpha val="4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u="sng" dirty="0"/>
              <a:t>ALU section:</a:t>
            </a:r>
            <a:endParaRPr lang="en-US" sz="3200" b="1" dirty="0">
              <a:solidFill>
                <a:srgbClr val="FF0000"/>
              </a:solidFill>
            </a:endParaRPr>
          </a:p>
        </p:txBody>
      </p:sp>
      <p:sp>
        <p:nvSpPr>
          <p:cNvPr id="4" name="Date Placeholder 3"/>
          <p:cNvSpPr>
            <a:spLocks noGrp="1"/>
          </p:cNvSpPr>
          <p:nvPr>
            <p:ph type="dt" sz="half" idx="10"/>
          </p:nvPr>
        </p:nvSpPr>
        <p:spPr/>
        <p:txBody>
          <a:bodyPr/>
          <a:lstStyle/>
          <a:p>
            <a:fld id="{E7310678-0970-4BB8-82E0-E78EC8120F55}"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
        <p:nvSpPr>
          <p:cNvPr id="10" name="TextBox 9">
            <a:extLst>
              <a:ext uri="{FF2B5EF4-FFF2-40B4-BE49-F238E27FC236}">
                <a16:creationId xmlns:a16="http://schemas.microsoft.com/office/drawing/2014/main" id="{37FFDC29-6AFE-4842-B021-557E4147AE62}"/>
              </a:ext>
            </a:extLst>
          </p:cNvPr>
          <p:cNvSpPr txBox="1"/>
          <p:nvPr/>
        </p:nvSpPr>
        <p:spPr>
          <a:xfrm>
            <a:off x="4800600" y="2571750"/>
            <a:ext cx="470000" cy="369332"/>
          </a:xfrm>
          <a:prstGeom prst="rect">
            <a:avLst/>
          </a:prstGeom>
          <a:noFill/>
        </p:spPr>
        <p:txBody>
          <a:bodyPr wrap="none" rtlCol="0">
            <a:spAutoFit/>
          </a:bodyPr>
          <a:lstStyle/>
          <a:p>
            <a:r>
              <a:rPr lang="en-US" b="1" dirty="0"/>
              <a:t>OR</a:t>
            </a:r>
          </a:p>
        </p:txBody>
      </p:sp>
      <p:pic>
        <p:nvPicPr>
          <p:cNvPr id="1026" name="Picture 2" descr="No description available.">
            <a:extLst>
              <a:ext uri="{FF2B5EF4-FFF2-40B4-BE49-F238E27FC236}">
                <a16:creationId xmlns:a16="http://schemas.microsoft.com/office/drawing/2014/main" id="{8A46FC36-03A7-4369-B2E2-2DBE03B8BB5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50000"/>
                    </a14:imgEffect>
                  </a14:imgLayer>
                </a14:imgProps>
              </a:ext>
              <a:ext uri="{28A0092B-C50C-407E-A947-70E740481C1C}">
                <a14:useLocalDpi xmlns:a14="http://schemas.microsoft.com/office/drawing/2010/main" val="0"/>
              </a:ext>
            </a:extLst>
          </a:blip>
          <a:srcRect/>
          <a:stretch>
            <a:fillRect/>
          </a:stretch>
        </p:blipFill>
        <p:spPr bwMode="auto">
          <a:xfrm>
            <a:off x="2000250" y="1238250"/>
            <a:ext cx="5143500" cy="26670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D279D9D-9A8A-4B34-B5EA-475E9F4D5965}"/>
              </a:ext>
            </a:extLst>
          </p:cNvPr>
          <p:cNvSpPr txBox="1"/>
          <p:nvPr/>
        </p:nvSpPr>
        <p:spPr>
          <a:xfrm>
            <a:off x="2130418" y="2571750"/>
            <a:ext cx="460382" cy="369332"/>
          </a:xfrm>
          <a:prstGeom prst="rect">
            <a:avLst/>
          </a:prstGeom>
          <a:noFill/>
        </p:spPr>
        <p:txBody>
          <a:bodyPr wrap="none" rtlCol="0">
            <a:spAutoFit/>
          </a:bodyPr>
          <a:lstStyle/>
          <a:p>
            <a:r>
              <a:rPr lang="en-US" b="1" dirty="0"/>
              <a:t>DR</a:t>
            </a:r>
          </a:p>
        </p:txBody>
      </p:sp>
    </p:spTree>
    <p:extLst>
      <p:ext uri="{BB962C8B-B14F-4D97-AF65-F5344CB8AC3E}">
        <p14:creationId xmlns:p14="http://schemas.microsoft.com/office/powerpoint/2010/main" val="36663435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7030A0">
            <a:alpha val="4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u="sng" dirty="0"/>
              <a:t>Control unit:</a:t>
            </a:r>
            <a:endParaRPr lang="en-US" sz="3200" b="1" dirty="0">
              <a:solidFill>
                <a:srgbClr val="FF0000"/>
              </a:solidFill>
            </a:endParaRPr>
          </a:p>
        </p:txBody>
      </p:sp>
      <p:sp>
        <p:nvSpPr>
          <p:cNvPr id="3" name="Content Placeholder 2"/>
          <p:cNvSpPr>
            <a:spLocks noGrp="1"/>
          </p:cNvSpPr>
          <p:nvPr>
            <p:ph idx="1"/>
          </p:nvPr>
        </p:nvSpPr>
        <p:spPr>
          <a:xfrm>
            <a:off x="457200" y="4320780"/>
            <a:ext cx="4495800" cy="273844"/>
          </a:xfrm>
        </p:spPr>
        <p:txBody>
          <a:bodyPr>
            <a:normAutofit fontScale="77500" lnSpcReduction="20000"/>
          </a:bodyPr>
          <a:lstStyle/>
          <a:p>
            <a:pPr marL="0" indent="0">
              <a:buNone/>
            </a:pPr>
            <a:r>
              <a:rPr lang="en-US" sz="1800" b="1" dirty="0"/>
              <a:t>Note: Write short explanation as before.</a:t>
            </a:r>
          </a:p>
        </p:txBody>
      </p:sp>
      <p:sp>
        <p:nvSpPr>
          <p:cNvPr id="4" name="Date Placeholder 3"/>
          <p:cNvSpPr>
            <a:spLocks noGrp="1"/>
          </p:cNvSpPr>
          <p:nvPr>
            <p:ph type="dt" sz="half" idx="10"/>
          </p:nvPr>
        </p:nvSpPr>
        <p:spPr/>
        <p:txBody>
          <a:bodyPr/>
          <a:lstStyle/>
          <a:p>
            <a:fld id="{4EF2511C-B9ED-41D4-B814-A92726FADF4F}"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13" name="Picture 12">
            <a:extLst>
              <a:ext uri="{FF2B5EF4-FFF2-40B4-BE49-F238E27FC236}">
                <a16:creationId xmlns:a16="http://schemas.microsoft.com/office/drawing/2014/main" id="{D230D97B-382D-4802-AD70-C575456139E7}"/>
              </a:ext>
            </a:extLst>
          </p:cNvPr>
          <p:cNvPicPr>
            <a:picLocks noChangeAspect="1"/>
          </p:cNvPicPr>
          <p:nvPr/>
        </p:nvPicPr>
        <p:blipFill>
          <a:blip r:embed="rId2"/>
          <a:stretch>
            <a:fillRect/>
          </a:stretch>
        </p:blipFill>
        <p:spPr>
          <a:xfrm>
            <a:off x="4038600" y="629083"/>
            <a:ext cx="4124325" cy="3828619"/>
          </a:xfrm>
          <a:prstGeom prst="rect">
            <a:avLst/>
          </a:prstGeom>
        </p:spPr>
      </p:pic>
    </p:spTree>
    <p:extLst>
      <p:ext uri="{BB962C8B-B14F-4D97-AF65-F5344CB8AC3E}">
        <p14:creationId xmlns:p14="http://schemas.microsoft.com/office/powerpoint/2010/main" val="29843782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3127771"/>
          </a:xfrm>
        </p:spPr>
        <p:txBody>
          <a:bodyPr>
            <a:noAutofit/>
          </a:bodyPr>
          <a:lstStyle/>
          <a:p>
            <a:pPr>
              <a:tabLst>
                <a:tab pos="463550" algn="l"/>
              </a:tabLst>
            </a:pPr>
            <a:r>
              <a:rPr lang="en-US" sz="3200" b="1" dirty="0">
                <a:solidFill>
                  <a:srgbClr val="FF0000"/>
                </a:solidFill>
              </a:rPr>
              <a:t>Exam Questions:</a:t>
            </a:r>
          </a:p>
        </p:txBody>
      </p:sp>
      <p:sp>
        <p:nvSpPr>
          <p:cNvPr id="4" name="Date Placeholder 3"/>
          <p:cNvSpPr>
            <a:spLocks noGrp="1"/>
          </p:cNvSpPr>
          <p:nvPr>
            <p:ph type="dt" sz="half" idx="10"/>
          </p:nvPr>
        </p:nvSpPr>
        <p:spPr/>
        <p:txBody>
          <a:bodyPr/>
          <a:lstStyle/>
          <a:p>
            <a:fld id="{90A3D104-3F15-4148-82E6-2CC07F267427}"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3370399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Exam Questions:</a:t>
            </a:r>
          </a:p>
        </p:txBody>
      </p:sp>
      <p:sp>
        <p:nvSpPr>
          <p:cNvPr id="3" name="Content Placeholder 2"/>
          <p:cNvSpPr>
            <a:spLocks noGrp="1"/>
          </p:cNvSpPr>
          <p:nvPr>
            <p:ph idx="1"/>
          </p:nvPr>
        </p:nvSpPr>
        <p:spPr>
          <a:xfrm>
            <a:off x="457200" y="742950"/>
            <a:ext cx="8229600" cy="3851673"/>
          </a:xfrm>
          <a:solidFill>
            <a:schemeClr val="accent4">
              <a:lumMod val="20000"/>
              <a:lumOff val="80000"/>
            </a:schemeClr>
          </a:solidFill>
        </p:spPr>
        <p:txBody>
          <a:bodyPr>
            <a:normAutofit fontScale="62500" lnSpcReduction="20000"/>
          </a:bodyPr>
          <a:lstStyle/>
          <a:p>
            <a:pPr marL="685800" lvl="0" indent="-628650">
              <a:buNone/>
            </a:pPr>
            <a:r>
              <a:rPr lang="en-US" dirty="0"/>
              <a:t>1</a:t>
            </a:r>
            <a:r>
              <a:rPr lang="en-US" b="1" dirty="0"/>
              <a:t>.  a) 		There is a Very Simple CPU for the given set of Instructions: [PU 2017 	Fall]</a:t>
            </a:r>
          </a:p>
          <a:p>
            <a:pPr marL="1371600" lvl="1" indent="-457200"/>
            <a:r>
              <a:rPr lang="en-US" dirty="0"/>
              <a:t>LDA (Load Accumulator with a value from memory) with opcode 00; </a:t>
            </a:r>
          </a:p>
          <a:p>
            <a:pPr marL="1371600" lvl="1" indent="-457200"/>
            <a:r>
              <a:rPr lang="en-US" dirty="0"/>
              <a:t>AND (performing and operation to the content of accumulator with the value at some memory address) with opcode 01;</a:t>
            </a:r>
          </a:p>
          <a:p>
            <a:pPr marL="1371600" lvl="1" indent="-457200"/>
            <a:r>
              <a:rPr lang="en-US" dirty="0"/>
              <a:t>SKIP (skipping an instruction) with opcode 10;</a:t>
            </a:r>
          </a:p>
          <a:p>
            <a:pPr marL="1371600" lvl="1" indent="-457200"/>
            <a:r>
              <a:rPr lang="en-US" dirty="0"/>
              <a:t>DEC (decrementing the value at accumulator) with opcode 11;</a:t>
            </a:r>
          </a:p>
          <a:p>
            <a:pPr marL="1371600" lvl="1" indent="-457200"/>
            <a:endParaRPr lang="en-US" dirty="0"/>
          </a:p>
          <a:p>
            <a:pPr marL="914400" indent="0">
              <a:buNone/>
            </a:pPr>
            <a:r>
              <a:rPr lang="en-US" dirty="0"/>
              <a:t>Let the instruction width be 8 bits and address is 6 bits. Design the CPU’s Register section, state diagram and ALU.</a:t>
            </a:r>
          </a:p>
          <a:p>
            <a:pPr marL="739775" indent="0">
              <a:buNone/>
            </a:pPr>
            <a:endParaRPr lang="en-US" dirty="0"/>
          </a:p>
          <a:p>
            <a:pPr marL="914400" indent="-565150">
              <a:buNone/>
            </a:pPr>
            <a:r>
              <a:rPr lang="en-US" b="1" dirty="0"/>
              <a:t>b) </a:t>
            </a:r>
            <a:r>
              <a:rPr lang="en-US" dirty="0"/>
              <a:t>	</a:t>
            </a:r>
            <a:r>
              <a:rPr lang="en-US" b="1" dirty="0"/>
              <a:t>Design the hardwired control unit for the CPU described in above question. [PU 2017 Fall]</a:t>
            </a:r>
            <a:endParaRPr lang="en-US" dirty="0"/>
          </a:p>
          <a:p>
            <a:pPr marL="685800" indent="-628650">
              <a:buNone/>
            </a:pPr>
            <a:endParaRPr lang="en-US" dirty="0"/>
          </a:p>
          <a:p>
            <a:pPr marL="685800" indent="-628650"/>
            <a:endParaRPr lang="en-US" sz="2000" dirty="0"/>
          </a:p>
        </p:txBody>
      </p:sp>
      <p:sp>
        <p:nvSpPr>
          <p:cNvPr id="4" name="Date Placeholder 3"/>
          <p:cNvSpPr>
            <a:spLocks noGrp="1"/>
          </p:cNvSpPr>
          <p:nvPr>
            <p:ph type="dt" sz="half" idx="10"/>
          </p:nvPr>
        </p:nvSpPr>
        <p:spPr/>
        <p:txBody>
          <a:bodyPr/>
          <a:lstStyle/>
          <a:p>
            <a:fld id="{ABA8BB26-2AE5-4069-B1C0-1BCCAB9A17CE}"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spTree>
    <p:extLst>
      <p:ext uri="{BB962C8B-B14F-4D97-AF65-F5344CB8AC3E}">
        <p14:creationId xmlns:p14="http://schemas.microsoft.com/office/powerpoint/2010/main" val="30975186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solidFill>
            <a:schemeClr val="accent3">
              <a:lumMod val="40000"/>
              <a:lumOff val="60000"/>
            </a:schemeClr>
          </a:solidFill>
        </p:spPr>
        <p:txBody>
          <a:bodyPr>
            <a:noAutofit/>
          </a:bodyPr>
          <a:lstStyle/>
          <a:p>
            <a:pPr marL="511175" indent="-511175">
              <a:buNone/>
            </a:pPr>
            <a:r>
              <a:rPr lang="en-US" sz="2000" b="1" dirty="0"/>
              <a:t>2. 	a) 	There is a very simple CPU for the given set of Instruction: [PU 2017 	Spring]</a:t>
            </a:r>
          </a:p>
          <a:p>
            <a:pPr marL="914400" indent="-914400"/>
            <a:endParaRPr lang="en-US" sz="2000" dirty="0"/>
          </a:p>
          <a:p>
            <a:pPr marL="914400" indent="-914400"/>
            <a:endParaRPr lang="en-US" sz="2000" dirty="0"/>
          </a:p>
          <a:p>
            <a:pPr marL="914400" indent="-914400"/>
            <a:endParaRPr lang="en-US" sz="2000" dirty="0"/>
          </a:p>
          <a:p>
            <a:pPr marL="0" lvl="1" indent="0">
              <a:buNone/>
            </a:pPr>
            <a:endParaRPr lang="en-US" sz="2000" dirty="0"/>
          </a:p>
          <a:p>
            <a:pPr marL="400050" lvl="2" indent="0">
              <a:buNone/>
            </a:pPr>
            <a:r>
              <a:rPr lang="en-US" sz="2000" dirty="0"/>
              <a:t>	Let the instruction width be 8 bits and address is 6 bits. Design the 	CPU’s register section, state diagram and ALU.	</a:t>
            </a:r>
          </a:p>
          <a:p>
            <a:pPr marL="400050" lvl="2" indent="0">
              <a:buNone/>
            </a:pPr>
            <a:endParaRPr lang="en-US" sz="2000" dirty="0"/>
          </a:p>
          <a:p>
            <a:pPr marL="0" indent="0" defTabSz="511175">
              <a:buNone/>
              <a:tabLst>
                <a:tab pos="577850" algn="l"/>
              </a:tabLst>
            </a:pPr>
            <a:r>
              <a:rPr lang="en-US" sz="2000" b="1" dirty="0"/>
              <a:t>	b) 	Design the hardwired control unit for the CPU described in above 		question. [PU 2017 Spring]</a:t>
            </a:r>
            <a:endParaRPr lang="en-US" sz="2000" dirty="0"/>
          </a:p>
          <a:p>
            <a:endParaRPr lang="en-US" sz="2000" dirty="0"/>
          </a:p>
          <a:p>
            <a:endParaRPr lang="en-US" sz="2000" dirty="0"/>
          </a:p>
          <a:p>
            <a:endParaRPr lang="en-US" sz="2000" dirty="0"/>
          </a:p>
        </p:txBody>
      </p:sp>
      <p:sp>
        <p:nvSpPr>
          <p:cNvPr id="4" name="Date Placeholder 3"/>
          <p:cNvSpPr>
            <a:spLocks noGrp="1"/>
          </p:cNvSpPr>
          <p:nvPr>
            <p:ph type="dt" sz="half" idx="10"/>
          </p:nvPr>
        </p:nvSpPr>
        <p:spPr/>
        <p:txBody>
          <a:bodyPr/>
          <a:lstStyle/>
          <a:p>
            <a:fld id="{F778327F-C1D2-48B5-8CC4-9BAF4FC8C09B}"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D132629A-4128-4EA8-B0C1-ADB2EFE8E055}"/>
              </a:ext>
            </a:extLst>
          </p:cNvPr>
          <p:cNvPicPr/>
          <p:nvPr/>
        </p:nvPicPr>
        <p:blipFill>
          <a:blip r:embed="rId2"/>
          <a:stretch>
            <a:fillRect/>
          </a:stretch>
        </p:blipFill>
        <p:spPr>
          <a:xfrm>
            <a:off x="2133600" y="1428750"/>
            <a:ext cx="3657600" cy="1366565"/>
          </a:xfrm>
          <a:prstGeom prst="rect">
            <a:avLst/>
          </a:prstGeom>
        </p:spPr>
      </p:pic>
    </p:spTree>
    <p:extLst>
      <p:ext uri="{BB962C8B-B14F-4D97-AF65-F5344CB8AC3E}">
        <p14:creationId xmlns:p14="http://schemas.microsoft.com/office/powerpoint/2010/main" val="13762729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solidFill>
            <a:schemeClr val="accent1">
              <a:lumMod val="20000"/>
              <a:lumOff val="80000"/>
            </a:schemeClr>
          </a:solidFill>
        </p:spPr>
        <p:txBody>
          <a:bodyPr>
            <a:normAutofit fontScale="62500" lnSpcReduction="20000"/>
          </a:bodyPr>
          <a:lstStyle/>
          <a:p>
            <a:pPr marL="0" indent="0">
              <a:buNone/>
              <a:tabLst>
                <a:tab pos="457200" algn="l"/>
                <a:tab pos="914400" algn="l"/>
              </a:tabLst>
            </a:pPr>
            <a:r>
              <a:rPr lang="en-US" b="1" dirty="0"/>
              <a:t>3. 	a) 	There is a very simple CPU for the given set of Instruction: 			[PU 2018 Fall]</a:t>
            </a:r>
          </a:p>
          <a:p>
            <a:pPr>
              <a:tabLst>
                <a:tab pos="457200" algn="l"/>
                <a:tab pos="914400" algn="l"/>
              </a:tabLst>
            </a:pPr>
            <a:endParaRPr lang="en-US" dirty="0"/>
          </a:p>
          <a:p>
            <a:pPr marL="0" indent="0">
              <a:buNone/>
              <a:tabLst>
                <a:tab pos="457200" algn="l"/>
                <a:tab pos="914400" algn="l"/>
              </a:tabLst>
            </a:pPr>
            <a:endParaRPr lang="en-US" dirty="0"/>
          </a:p>
          <a:p>
            <a:pPr>
              <a:tabLst>
                <a:tab pos="457200" algn="l"/>
                <a:tab pos="914400" algn="l"/>
              </a:tabLst>
            </a:pPr>
            <a:endParaRPr lang="en-US" dirty="0"/>
          </a:p>
          <a:p>
            <a:pPr>
              <a:tabLst>
                <a:tab pos="457200" algn="l"/>
                <a:tab pos="914400" algn="l"/>
              </a:tabLst>
            </a:pPr>
            <a:endParaRPr lang="en-US" dirty="0"/>
          </a:p>
          <a:p>
            <a:pPr>
              <a:tabLst>
                <a:tab pos="457200" algn="l"/>
                <a:tab pos="914400" algn="l"/>
              </a:tabLst>
            </a:pPr>
            <a:endParaRPr lang="en-US" dirty="0"/>
          </a:p>
          <a:p>
            <a:pPr marL="0" indent="0">
              <a:buNone/>
              <a:tabLst>
                <a:tab pos="457200" algn="l"/>
                <a:tab pos="914400" algn="l"/>
              </a:tabLst>
            </a:pPr>
            <a:endParaRPr lang="en-US" dirty="0"/>
          </a:p>
          <a:p>
            <a:pPr marL="1257300" lvl="3" indent="0">
              <a:buNone/>
              <a:tabLst>
                <a:tab pos="457200" algn="l"/>
                <a:tab pos="914400" algn="l"/>
              </a:tabLst>
            </a:pPr>
            <a:r>
              <a:rPr lang="en-US" sz="2900" dirty="0"/>
              <a:t>Let the instruction width be 8 bits and address is 6 bits. Design the CPU’s register section, state diagram and ALU.</a:t>
            </a:r>
          </a:p>
          <a:p>
            <a:pPr marL="1257300" lvl="3" indent="0">
              <a:buNone/>
              <a:tabLst>
                <a:tab pos="457200" algn="l"/>
                <a:tab pos="914400" algn="l"/>
              </a:tabLst>
            </a:pPr>
            <a:endParaRPr lang="en-US" sz="2900" dirty="0"/>
          </a:p>
          <a:p>
            <a:pPr marL="0" indent="0">
              <a:buNone/>
              <a:tabLst>
                <a:tab pos="457200" algn="l"/>
                <a:tab pos="914400" algn="l"/>
              </a:tabLst>
            </a:pPr>
            <a:r>
              <a:rPr lang="en-US" b="1" dirty="0"/>
              <a:t>	b)	Design the hardwired control unit for the CPU described in 			above question. [PU 2018 Fall]</a:t>
            </a:r>
            <a:endParaRPr lang="en-US" dirty="0"/>
          </a:p>
          <a:p>
            <a:endParaRPr lang="en-US" dirty="0"/>
          </a:p>
          <a:p>
            <a:endParaRPr lang="en-US" sz="2000" b="1" dirty="0"/>
          </a:p>
        </p:txBody>
      </p:sp>
      <p:sp>
        <p:nvSpPr>
          <p:cNvPr id="4" name="Date Placeholder 3"/>
          <p:cNvSpPr>
            <a:spLocks noGrp="1"/>
          </p:cNvSpPr>
          <p:nvPr>
            <p:ph type="dt" sz="half" idx="10"/>
          </p:nvPr>
        </p:nvSpPr>
        <p:spPr/>
        <p:txBody>
          <a:bodyPr/>
          <a:lstStyle/>
          <a:p>
            <a:fld id="{2673E65A-1A63-47C9-934A-4159BD74EA5E}"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10" name="Picture 9">
            <a:extLst>
              <a:ext uri="{FF2B5EF4-FFF2-40B4-BE49-F238E27FC236}">
                <a16:creationId xmlns:a16="http://schemas.microsoft.com/office/drawing/2014/main" id="{5654D440-7723-4B57-8458-335F8114B31F}"/>
              </a:ext>
            </a:extLst>
          </p:cNvPr>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28000"/>
                    </a14:imgEffect>
                  </a14:imgLayer>
                </a14:imgProps>
              </a:ext>
            </a:extLst>
          </a:blip>
          <a:stretch>
            <a:fillRect/>
          </a:stretch>
        </p:blipFill>
        <p:spPr>
          <a:xfrm>
            <a:off x="1972235" y="1352550"/>
            <a:ext cx="4052047" cy="1641855"/>
          </a:xfrm>
          <a:prstGeom prst="rect">
            <a:avLst/>
          </a:prstGeom>
        </p:spPr>
      </p:pic>
    </p:spTree>
    <p:extLst>
      <p:ext uri="{BB962C8B-B14F-4D97-AF65-F5344CB8AC3E}">
        <p14:creationId xmlns:p14="http://schemas.microsoft.com/office/powerpoint/2010/main" val="11939191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solidFill>
            <a:schemeClr val="accent6">
              <a:lumMod val="20000"/>
              <a:lumOff val="80000"/>
            </a:schemeClr>
          </a:solidFill>
        </p:spPr>
        <p:txBody>
          <a:bodyPr>
            <a:normAutofit fontScale="70000" lnSpcReduction="20000"/>
          </a:bodyPr>
          <a:lstStyle/>
          <a:p>
            <a:pPr marL="0" indent="0">
              <a:buNone/>
            </a:pPr>
            <a:r>
              <a:rPr lang="en-US" b="1" dirty="0"/>
              <a:t>4.  a) 	There is a very simple CPU for the given set of Instruction: 	[PU 2018 Spring]</a:t>
            </a:r>
          </a:p>
          <a:p>
            <a:endParaRPr lang="en-US" dirty="0"/>
          </a:p>
          <a:p>
            <a:endParaRPr lang="en-US" dirty="0"/>
          </a:p>
          <a:p>
            <a:endParaRPr lang="en-US" dirty="0"/>
          </a:p>
          <a:p>
            <a:endParaRPr lang="en-US" dirty="0"/>
          </a:p>
          <a:p>
            <a:endParaRPr lang="en-US" dirty="0"/>
          </a:p>
          <a:p>
            <a:pPr marL="0" indent="0">
              <a:buNone/>
            </a:pPr>
            <a:r>
              <a:rPr lang="en-US" dirty="0"/>
              <a:t>	Let the instruction width be 8 bits and address is 6 bits. Design 	the CPU’s register section, state diagram and ALU. </a:t>
            </a:r>
          </a:p>
          <a:p>
            <a:pPr marL="0" indent="0">
              <a:buNone/>
            </a:pPr>
            <a:endParaRPr lang="en-US" dirty="0"/>
          </a:p>
          <a:p>
            <a:pPr marL="400050" lvl="1" indent="0">
              <a:buNone/>
            </a:pPr>
            <a:r>
              <a:rPr lang="en-US" b="1" dirty="0"/>
              <a:t>b) Design the hardwired control unit for the CPU described in above question. [PU 2018 Spring]</a:t>
            </a:r>
            <a:endParaRPr lang="en-US" dirty="0"/>
          </a:p>
          <a:p>
            <a:endParaRPr lang="en-US" dirty="0"/>
          </a:p>
          <a:p>
            <a:endParaRPr lang="en-US" sz="2000" dirty="0"/>
          </a:p>
        </p:txBody>
      </p:sp>
      <p:sp>
        <p:nvSpPr>
          <p:cNvPr id="4" name="Date Placeholder 3"/>
          <p:cNvSpPr>
            <a:spLocks noGrp="1"/>
          </p:cNvSpPr>
          <p:nvPr>
            <p:ph type="dt" sz="half" idx="10"/>
          </p:nvPr>
        </p:nvSpPr>
        <p:spPr/>
        <p:txBody>
          <a:bodyPr/>
          <a:lstStyle/>
          <a:p>
            <a:fld id="{EEF8234C-84B1-4A4C-8407-59B62605BF33}"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CDAB310C-5DE3-4FFB-B96C-60ED77B09C76}"/>
              </a:ext>
            </a:extLst>
          </p:cNvPr>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40000"/>
                    </a14:imgEffect>
                  </a14:imgLayer>
                </a14:imgProps>
              </a:ext>
            </a:extLst>
          </a:blip>
          <a:stretch>
            <a:fillRect/>
          </a:stretch>
        </p:blipFill>
        <p:spPr>
          <a:xfrm>
            <a:off x="2286000" y="1352550"/>
            <a:ext cx="4189095" cy="1697474"/>
          </a:xfrm>
          <a:prstGeom prst="rect">
            <a:avLst/>
          </a:prstGeom>
        </p:spPr>
      </p:pic>
    </p:spTree>
    <p:extLst>
      <p:ext uri="{BB962C8B-B14F-4D97-AF65-F5344CB8AC3E}">
        <p14:creationId xmlns:p14="http://schemas.microsoft.com/office/powerpoint/2010/main" val="39239723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solidFill>
            <a:schemeClr val="accent5">
              <a:lumMod val="20000"/>
              <a:lumOff val="80000"/>
            </a:schemeClr>
          </a:solidFill>
        </p:spPr>
        <p:txBody>
          <a:bodyPr>
            <a:normAutofit lnSpcReduction="10000"/>
          </a:bodyPr>
          <a:lstStyle/>
          <a:p>
            <a:pPr marL="0" indent="0">
              <a:buNone/>
              <a:tabLst>
                <a:tab pos="577850" algn="l"/>
              </a:tabLst>
            </a:pPr>
            <a:r>
              <a:rPr lang="en-US" sz="2000" b="1" dirty="0"/>
              <a:t>5. 	a)  There is a very simple CPU for the given set of Instruction: [PU 		2019 Spring]</a:t>
            </a:r>
          </a:p>
          <a:p>
            <a:endParaRPr lang="en-US" sz="2000" dirty="0"/>
          </a:p>
          <a:p>
            <a:endParaRPr lang="en-US" sz="2000" dirty="0"/>
          </a:p>
          <a:p>
            <a:endParaRPr lang="en-US" sz="2000" dirty="0"/>
          </a:p>
          <a:p>
            <a:pPr marL="0" indent="0">
              <a:buNone/>
            </a:pPr>
            <a:endParaRPr lang="en-US" sz="2000" dirty="0"/>
          </a:p>
          <a:p>
            <a:pPr marL="0" indent="0">
              <a:buNone/>
            </a:pPr>
            <a:r>
              <a:rPr lang="en-US" sz="2000" dirty="0"/>
              <a:t>	Let the instruction width be 8 bits and address is 6 bits. Design the 	CPU’s register section, state diagram and ALU.</a:t>
            </a:r>
          </a:p>
          <a:p>
            <a:pPr marL="0" indent="0">
              <a:buNone/>
            </a:pPr>
            <a:endParaRPr lang="en-US" sz="2000" dirty="0"/>
          </a:p>
          <a:p>
            <a:pPr marL="0" indent="0" defTabSz="577850">
              <a:buNone/>
            </a:pPr>
            <a:r>
              <a:rPr lang="en-US" sz="2000" b="1" dirty="0"/>
              <a:t>	b) 	Design the hardwired control unit for the CPU described in above 		question. [PU 2019 Spring]</a:t>
            </a:r>
            <a:endParaRPr lang="en-US" sz="2000" dirty="0"/>
          </a:p>
          <a:p>
            <a:endParaRPr lang="en-US" sz="2000" b="1" dirty="0"/>
          </a:p>
          <a:p>
            <a:endParaRPr lang="en-US" sz="2000" dirty="0"/>
          </a:p>
          <a:p>
            <a:endParaRPr lang="en-US" sz="1400" dirty="0"/>
          </a:p>
        </p:txBody>
      </p:sp>
      <p:sp>
        <p:nvSpPr>
          <p:cNvPr id="4" name="Date Placeholder 3"/>
          <p:cNvSpPr>
            <a:spLocks noGrp="1"/>
          </p:cNvSpPr>
          <p:nvPr>
            <p:ph type="dt" sz="half" idx="10"/>
          </p:nvPr>
        </p:nvSpPr>
        <p:spPr/>
        <p:txBody>
          <a:bodyPr/>
          <a:lstStyle/>
          <a:p>
            <a:fld id="{E5651B3A-BAB2-442D-8128-32DFE716BA20}"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7EDF23BE-DB27-46EC-8CEA-3BFAB6E49A3E}"/>
              </a:ext>
            </a:extLst>
          </p:cNvPr>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36000"/>
                    </a14:imgEffect>
                  </a14:imgLayer>
                </a14:imgProps>
              </a:ext>
            </a:extLst>
          </a:blip>
          <a:stretch>
            <a:fillRect/>
          </a:stretch>
        </p:blipFill>
        <p:spPr>
          <a:xfrm>
            <a:off x="2095500" y="1428750"/>
            <a:ext cx="4533900" cy="1240036"/>
          </a:xfrm>
          <a:prstGeom prst="rect">
            <a:avLst/>
          </a:prstGeom>
        </p:spPr>
      </p:pic>
    </p:spTree>
    <p:extLst>
      <p:ext uri="{BB962C8B-B14F-4D97-AF65-F5344CB8AC3E}">
        <p14:creationId xmlns:p14="http://schemas.microsoft.com/office/powerpoint/2010/main" val="17755659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solidFill>
            <a:schemeClr val="bg2">
              <a:lumMod val="90000"/>
            </a:schemeClr>
          </a:solidFill>
        </p:spPr>
        <p:txBody>
          <a:bodyPr>
            <a:normAutofit/>
          </a:bodyPr>
          <a:lstStyle/>
          <a:p>
            <a:pPr marL="0" indent="0">
              <a:buNone/>
            </a:pPr>
            <a:r>
              <a:rPr lang="en-US" sz="2400" b="1" dirty="0"/>
              <a:t>6.  	 For a very simple CPU, has the following instruction set. 	Show the state diagram, register section, ALU design. 	[PU 2020 Spring]</a:t>
            </a:r>
          </a:p>
          <a:p>
            <a:endParaRPr lang="en-US" sz="1600" dirty="0"/>
          </a:p>
        </p:txBody>
      </p:sp>
      <p:sp>
        <p:nvSpPr>
          <p:cNvPr id="4" name="Date Placeholder 3"/>
          <p:cNvSpPr>
            <a:spLocks noGrp="1"/>
          </p:cNvSpPr>
          <p:nvPr>
            <p:ph type="dt" sz="half" idx="10"/>
          </p:nvPr>
        </p:nvSpPr>
        <p:spPr/>
        <p:txBody>
          <a:bodyPr/>
          <a:lstStyle/>
          <a:p>
            <a:fld id="{8A9AEBFD-DF2E-40A5-B4D6-A92E6ED50739}" type="datetime1">
              <a:rPr lang="en-US" smtClean="0">
                <a:solidFill>
                  <a:srgbClr val="00B050"/>
                </a:solidFill>
              </a:rPr>
              <a:t>7/31/2023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CPU Design</a:t>
            </a:r>
            <a:endParaRPr lang="en-US" dirty="0">
              <a:solidFill>
                <a:srgbClr val="00B050"/>
              </a:solidFill>
            </a:endParaRPr>
          </a:p>
        </p:txBody>
      </p:sp>
      <p:pic>
        <p:nvPicPr>
          <p:cNvPr id="7" name="Picture 6">
            <a:extLst>
              <a:ext uri="{FF2B5EF4-FFF2-40B4-BE49-F238E27FC236}">
                <a16:creationId xmlns:a16="http://schemas.microsoft.com/office/drawing/2014/main" id="{7245D23D-A29E-4C9E-85EF-21AF6361589B}"/>
              </a:ext>
            </a:extLst>
          </p:cNvPr>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40000"/>
                    </a14:imgEffect>
                  </a14:imgLayer>
                </a14:imgProps>
              </a:ext>
            </a:extLst>
          </a:blip>
          <a:stretch>
            <a:fillRect/>
          </a:stretch>
        </p:blipFill>
        <p:spPr>
          <a:xfrm>
            <a:off x="2743200" y="2189875"/>
            <a:ext cx="4659630" cy="1600200"/>
          </a:xfrm>
          <a:prstGeom prst="rect">
            <a:avLst/>
          </a:prstGeom>
        </p:spPr>
      </p:pic>
    </p:spTree>
    <p:extLst>
      <p:ext uri="{BB962C8B-B14F-4D97-AF65-F5344CB8AC3E}">
        <p14:creationId xmlns:p14="http://schemas.microsoft.com/office/powerpoint/2010/main" val="22394683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6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pPr marL="0" indent="0">
              <a:buNone/>
            </a:pPr>
            <a:endParaRPr lang="en-US" sz="3600" b="1" dirty="0">
              <a:solidFill>
                <a:srgbClr val="00B050"/>
              </a:solidFill>
            </a:endParaRPr>
          </a:p>
          <a:p>
            <a:pPr marL="0" indent="0" algn="ctr">
              <a:buNone/>
            </a:pPr>
            <a:endParaRPr lang="en-US" sz="3600" b="1" dirty="0">
              <a:solidFill>
                <a:srgbClr val="00B050"/>
              </a:solidFill>
            </a:endParaRPr>
          </a:p>
          <a:p>
            <a:pPr marL="0" indent="0" algn="ctr">
              <a:buNone/>
            </a:pPr>
            <a:r>
              <a:rPr lang="en-US" sz="3600" b="1" dirty="0">
                <a:solidFill>
                  <a:srgbClr val="00B050"/>
                </a:solidFill>
              </a:rPr>
              <a:t>End of chapter 4</a:t>
            </a:r>
            <a:endParaRPr lang="en-US" sz="3600" dirty="0">
              <a:solidFill>
                <a:srgbClr val="00B050"/>
              </a:solidFill>
            </a:endParaRPr>
          </a:p>
        </p:txBody>
      </p:sp>
      <p:sp>
        <p:nvSpPr>
          <p:cNvPr id="4" name="Date Placeholder 3"/>
          <p:cNvSpPr>
            <a:spLocks noGrp="1"/>
          </p:cNvSpPr>
          <p:nvPr>
            <p:ph type="dt" sz="half" idx="10"/>
          </p:nvPr>
        </p:nvSpPr>
        <p:spPr/>
        <p:txBody>
          <a:bodyPr/>
          <a:lstStyle/>
          <a:p>
            <a:fld id="{180092D5-D358-4E0E-8269-BFBB2E9147E2}" type="datetime1">
              <a:rPr lang="en-US" smtClean="0"/>
              <a:t>7/31/2023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56</a:t>
            </a:fld>
            <a:endParaRPr lang="en-US"/>
          </a:p>
        </p:txBody>
      </p:sp>
      <p:sp>
        <p:nvSpPr>
          <p:cNvPr id="6" name="Footer Placeholder 5"/>
          <p:cNvSpPr>
            <a:spLocks noGrp="1"/>
          </p:cNvSpPr>
          <p:nvPr>
            <p:ph type="ftr" sz="quarter" idx="11"/>
          </p:nvPr>
        </p:nvSpPr>
        <p:spPr/>
        <p:txBody>
          <a:bodyPr/>
          <a:lstStyle/>
          <a:p>
            <a:r>
              <a:rPr lang="en-US"/>
              <a:t>CPU Design</a:t>
            </a:r>
          </a:p>
        </p:txBody>
      </p:sp>
    </p:spTree>
    <p:extLst>
      <p:ext uri="{BB962C8B-B14F-4D97-AF65-F5344CB8AC3E}">
        <p14:creationId xmlns:p14="http://schemas.microsoft.com/office/powerpoint/2010/main" val="39421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3194</TotalTime>
  <Words>3064</Words>
  <Application>Microsoft Office PowerPoint</Application>
  <PresentationFormat>On-screen Show (16:9)</PresentationFormat>
  <Paragraphs>699</Paragraphs>
  <Slides>56</Slides>
  <Notes>1</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Chapter 4 CPU DESIGN</vt:lpstr>
      <vt:lpstr>Contents:</vt:lpstr>
      <vt:lpstr>4.1 Introduction to CPU</vt:lpstr>
      <vt:lpstr>4.2 Specifying a CPU</vt:lpstr>
      <vt:lpstr>PowerPoint Presentation</vt:lpstr>
      <vt:lpstr>4.3 Design and Implementation of a Very Simple and Relatively Simple CPU</vt:lpstr>
      <vt:lpstr>Design and Implementation of a Very Simple and Relatively Simple CPU</vt:lpstr>
      <vt:lpstr>4.4 Instruction Execution, Fetch, Decode and Datapath </vt:lpstr>
      <vt:lpstr>1. Fetching instructions from Memory.</vt:lpstr>
      <vt:lpstr>2. Decoding instructions</vt:lpstr>
      <vt:lpstr>3. Executing instructions</vt:lpstr>
      <vt:lpstr>Establishing required Data paths</vt:lpstr>
      <vt:lpstr>PowerPoint Presentation</vt:lpstr>
      <vt:lpstr>PowerPoint Presentation</vt:lpstr>
      <vt:lpstr>PowerPoint Presentation</vt:lpstr>
      <vt:lpstr>4.5 ALU Design</vt:lpstr>
      <vt:lpstr>ALU for relatively simple CPU</vt:lpstr>
      <vt:lpstr>PowerPoint Presentation</vt:lpstr>
      <vt:lpstr>Summary:</vt:lpstr>
      <vt:lpstr>Summary (Contd.)</vt:lpstr>
      <vt:lpstr>Summary (Contd.)</vt:lpstr>
      <vt:lpstr>4.6 Designing Hardwired Control Unit</vt:lpstr>
      <vt:lpstr>4.6 Designing Hardwired Control Unit (Contd.)</vt:lpstr>
      <vt:lpstr>Generic Hardwired Control Unit</vt:lpstr>
      <vt:lpstr>Mapping Logic</vt:lpstr>
      <vt:lpstr>PowerPoint Presentation</vt:lpstr>
      <vt:lpstr>PowerPoint Presentation</vt:lpstr>
      <vt:lpstr>Summary:</vt:lpstr>
      <vt:lpstr>Summary (contd.)</vt:lpstr>
      <vt:lpstr>4.6 Design Verification</vt:lpstr>
      <vt:lpstr>PowerPoint Presentation</vt:lpstr>
      <vt:lpstr>PowerPoint Presentation</vt:lpstr>
      <vt:lpstr>PowerPoint Presentation</vt:lpstr>
      <vt:lpstr>Example 1: </vt:lpstr>
      <vt:lpstr>PowerPoint Presentation</vt:lpstr>
      <vt:lpstr>ALU section:</vt:lpstr>
      <vt:lpstr>Hardware Unit</vt:lpstr>
      <vt:lpstr>PowerPoint Presentation</vt:lpstr>
      <vt:lpstr>Example 2: Design a CPU that meets the following specifications.</vt:lpstr>
      <vt:lpstr>Solution: State diagram and RTL code: </vt:lpstr>
      <vt:lpstr>PowerPoint Presentation</vt:lpstr>
      <vt:lpstr>ALU section:</vt:lpstr>
      <vt:lpstr>Control unit:</vt:lpstr>
      <vt:lpstr>Example 3:</vt:lpstr>
      <vt:lpstr>Solution:</vt:lpstr>
      <vt:lpstr>PowerPoint Presentation</vt:lpstr>
      <vt:lpstr>ALU section:</vt:lpstr>
      <vt:lpstr>Control unit:</vt:lpstr>
      <vt:lpstr>Exam Questions:</vt:lpstr>
      <vt:lpstr>Exam Questions: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shiva</dc:creator>
  <cp:lastModifiedBy>Shiva Ram Dam</cp:lastModifiedBy>
  <cp:revision>285</cp:revision>
  <dcterms:created xsi:type="dcterms:W3CDTF">2006-08-16T00:00:00Z</dcterms:created>
  <dcterms:modified xsi:type="dcterms:W3CDTF">2023-07-31T16:27:01Z</dcterms:modified>
</cp:coreProperties>
</file>