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3"/>
  </p:notesMasterIdLst>
  <p:sldIdLst>
    <p:sldId id="256" r:id="rId2"/>
    <p:sldId id="464" r:id="rId3"/>
    <p:sldId id="465" r:id="rId4"/>
    <p:sldId id="257" r:id="rId5"/>
    <p:sldId id="425" r:id="rId6"/>
    <p:sldId id="426" r:id="rId7"/>
    <p:sldId id="427" r:id="rId8"/>
    <p:sldId id="428" r:id="rId9"/>
    <p:sldId id="446" r:id="rId10"/>
    <p:sldId id="429" r:id="rId11"/>
    <p:sldId id="447" r:id="rId12"/>
    <p:sldId id="448" r:id="rId13"/>
    <p:sldId id="449" r:id="rId14"/>
    <p:sldId id="450" r:id="rId15"/>
    <p:sldId id="451" r:id="rId16"/>
    <p:sldId id="452" r:id="rId17"/>
    <p:sldId id="453" r:id="rId18"/>
    <p:sldId id="455" r:id="rId19"/>
    <p:sldId id="456" r:id="rId20"/>
    <p:sldId id="457" r:id="rId21"/>
    <p:sldId id="458" r:id="rId22"/>
    <p:sldId id="459" r:id="rId23"/>
    <p:sldId id="460" r:id="rId24"/>
    <p:sldId id="445" r:id="rId25"/>
    <p:sldId id="467" r:id="rId26"/>
    <p:sldId id="466" r:id="rId27"/>
    <p:sldId id="469" r:id="rId28"/>
    <p:sldId id="463" r:id="rId29"/>
    <p:sldId id="462" r:id="rId30"/>
    <p:sldId id="444" r:id="rId31"/>
    <p:sldId id="424" r:id="rId32"/>
    <p:sldId id="471" r:id="rId33"/>
    <p:sldId id="472" r:id="rId34"/>
    <p:sldId id="477" r:id="rId35"/>
    <p:sldId id="473" r:id="rId36"/>
    <p:sldId id="475" r:id="rId37"/>
    <p:sldId id="478" r:id="rId38"/>
    <p:sldId id="479" r:id="rId39"/>
    <p:sldId id="474" r:id="rId40"/>
    <p:sldId id="443" r:id="rId41"/>
    <p:sldId id="305" r:id="rId42"/>
    <p:sldId id="369" r:id="rId43"/>
    <p:sldId id="351" r:id="rId44"/>
    <p:sldId id="370" r:id="rId45"/>
    <p:sldId id="352" r:id="rId46"/>
    <p:sldId id="353" r:id="rId47"/>
    <p:sldId id="354" r:id="rId48"/>
    <p:sldId id="355" r:id="rId49"/>
    <p:sldId id="356" r:id="rId50"/>
    <p:sldId id="357" r:id="rId51"/>
    <p:sldId id="358" r:id="rId52"/>
    <p:sldId id="359" r:id="rId53"/>
    <p:sldId id="360" r:id="rId54"/>
    <p:sldId id="361" r:id="rId55"/>
    <p:sldId id="379" r:id="rId56"/>
    <p:sldId id="362" r:id="rId57"/>
    <p:sldId id="363" r:id="rId58"/>
    <p:sldId id="364" r:id="rId59"/>
    <p:sldId id="373" r:id="rId60"/>
    <p:sldId id="366" r:id="rId61"/>
    <p:sldId id="374" r:id="rId62"/>
    <p:sldId id="384" r:id="rId63"/>
    <p:sldId id="410" r:id="rId64"/>
    <p:sldId id="385" r:id="rId65"/>
    <p:sldId id="388" r:id="rId66"/>
    <p:sldId id="367" r:id="rId67"/>
    <p:sldId id="368" r:id="rId68"/>
    <p:sldId id="375" r:id="rId69"/>
    <p:sldId id="376" r:id="rId70"/>
    <p:sldId id="383" r:id="rId71"/>
    <p:sldId id="377" r:id="rId72"/>
    <p:sldId id="403" r:id="rId73"/>
    <p:sldId id="483" r:id="rId74"/>
    <p:sldId id="399" r:id="rId75"/>
    <p:sldId id="400" r:id="rId76"/>
    <p:sldId id="402" r:id="rId77"/>
    <p:sldId id="350" r:id="rId78"/>
    <p:sldId id="480" r:id="rId79"/>
    <p:sldId id="481" r:id="rId80"/>
    <p:sldId id="482" r:id="rId81"/>
    <p:sldId id="470" r:id="rId8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99"/>
    <a:srgbClr val="3DD2F5"/>
    <a:srgbClr val="3399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38" autoAdjust="0"/>
  </p:normalViewPr>
  <p:slideViewPr>
    <p:cSldViewPr>
      <p:cViewPr>
        <p:scale>
          <a:sx n="100" d="100"/>
          <a:sy n="100" d="100"/>
        </p:scale>
        <p:origin x="653" y="58"/>
      </p:cViewPr>
      <p:guideLst>
        <p:guide orient="horz" pos="1620"/>
        <p:guide pos="2880"/>
      </p:guideLst>
    </p:cSldViewPr>
  </p:slideViewPr>
  <p:outlineViewPr>
    <p:cViewPr>
      <p:scale>
        <a:sx n="33" d="100"/>
        <a:sy n="33" d="100"/>
      </p:scale>
      <p:origin x="0" y="-32525"/>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898897-BDF1-4279-BA28-06DD7EC1DE0C}" type="datetimeFigureOut">
              <a:rPr lang="en-US" smtClean="0"/>
              <a:pPr/>
              <a:t>7/31/2023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378CF50-4ED8-4D7B-8802-3C44BEF0A8F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57232E4-DFD5-4E79-9AEA-ABC1A17E44C9}" type="datetime1">
              <a:rPr lang="en-US" smtClean="0"/>
              <a:t>7/31/2023</a:t>
            </a:fld>
            <a:endParaRPr lang="en-US"/>
          </a:p>
        </p:txBody>
      </p:sp>
      <p:sp>
        <p:nvSpPr>
          <p:cNvPr id="5" name="Footer Placeholder 4"/>
          <p:cNvSpPr>
            <a:spLocks noGrp="1"/>
          </p:cNvSpPr>
          <p:nvPr>
            <p:ph type="ftr" sz="quarter" idx="11"/>
          </p:nvPr>
        </p:nvSpPr>
        <p:spPr/>
        <p:txBody>
          <a:bodyPr/>
          <a:lstStyle/>
          <a:p>
            <a:r>
              <a:rPr lang="en-US"/>
              <a:t>Microprocessor and Computer Architecture, BSE-II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D34F13-CFD0-4AD8-8D98-557DC6C09282}" type="datetime1">
              <a:rPr lang="en-US" smtClean="0"/>
              <a:t>7/31/2023</a:t>
            </a:fld>
            <a:endParaRPr lang="en-US"/>
          </a:p>
        </p:txBody>
      </p:sp>
      <p:sp>
        <p:nvSpPr>
          <p:cNvPr id="5" name="Footer Placeholder 4"/>
          <p:cNvSpPr>
            <a:spLocks noGrp="1"/>
          </p:cNvSpPr>
          <p:nvPr>
            <p:ph type="ftr" sz="quarter" idx="11"/>
          </p:nvPr>
        </p:nvSpPr>
        <p:spPr/>
        <p:txBody>
          <a:bodyPr/>
          <a:lstStyle/>
          <a:p>
            <a:r>
              <a:rPr lang="en-US"/>
              <a:t>Microprocessor and Computer Architecture, BSE-II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189085-857D-48E9-94C4-3B0CDD43029B}" type="datetime1">
              <a:rPr lang="en-US" smtClean="0"/>
              <a:t>7/31/2023</a:t>
            </a:fld>
            <a:endParaRPr lang="en-US"/>
          </a:p>
        </p:txBody>
      </p:sp>
      <p:sp>
        <p:nvSpPr>
          <p:cNvPr id="5" name="Footer Placeholder 4"/>
          <p:cNvSpPr>
            <a:spLocks noGrp="1"/>
          </p:cNvSpPr>
          <p:nvPr>
            <p:ph type="ftr" sz="quarter" idx="11"/>
          </p:nvPr>
        </p:nvSpPr>
        <p:spPr/>
        <p:txBody>
          <a:bodyPr/>
          <a:lstStyle/>
          <a:p>
            <a:r>
              <a:rPr lang="en-US"/>
              <a:t>Microprocessor and Computer Architecture, BSE-II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07929BB-72C8-4F95-8F89-BCE9409DB2B0}" type="datetime1">
              <a:rPr lang="en-US" smtClean="0"/>
              <a:t>7/31/2023</a:t>
            </a:fld>
            <a:endParaRPr lang="en-US"/>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96181D3-B8F6-424A-BBFD-00A4A087A9C0}" type="datetime1">
              <a:rPr lang="en-US" smtClean="0"/>
              <a:t>7/31/2023</a:t>
            </a:fld>
            <a:endParaRPr lang="en-US"/>
          </a:p>
        </p:txBody>
      </p:sp>
      <p:sp>
        <p:nvSpPr>
          <p:cNvPr id="8" name="Footer Placeholder 7"/>
          <p:cNvSpPr>
            <a:spLocks noGrp="1"/>
          </p:cNvSpPr>
          <p:nvPr>
            <p:ph type="ftr" sz="quarter" idx="11"/>
          </p:nvPr>
        </p:nvSpPr>
        <p:spPr/>
        <p:txBody>
          <a:bodyPr/>
          <a:lstStyle/>
          <a:p>
            <a:r>
              <a:rPr lang="en-US"/>
              <a:t>Microprocessor and Computer Architecture, BSE-II</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37454B0-6709-4496-BED9-22E027FA96AD}" type="datetime1">
              <a:rPr lang="en-US" smtClean="0"/>
              <a:t>7/31/2023</a:t>
            </a:fld>
            <a:endParaRPr lang="en-US"/>
          </a:p>
        </p:txBody>
      </p:sp>
      <p:sp>
        <p:nvSpPr>
          <p:cNvPr id="4" name="Footer Placeholder 3"/>
          <p:cNvSpPr>
            <a:spLocks noGrp="1"/>
          </p:cNvSpPr>
          <p:nvPr>
            <p:ph type="ftr" sz="quarter" idx="11"/>
          </p:nvPr>
        </p:nvSpPr>
        <p:spPr/>
        <p:txBody>
          <a:bodyPr/>
          <a:lstStyle/>
          <a:p>
            <a:r>
              <a:rPr lang="en-US"/>
              <a:t>Microprocessor and Computer Architecture, BSE-II</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BE3DA8-9A44-481C-A8A6-1DE77A7F6334}" type="datetime1">
              <a:rPr lang="en-US" smtClean="0"/>
              <a:t>7/31/2023</a:t>
            </a:fld>
            <a:endParaRPr lang="en-US"/>
          </a:p>
        </p:txBody>
      </p:sp>
      <p:sp>
        <p:nvSpPr>
          <p:cNvPr id="3" name="Footer Placeholder 2"/>
          <p:cNvSpPr>
            <a:spLocks noGrp="1"/>
          </p:cNvSpPr>
          <p:nvPr>
            <p:ph type="ftr" sz="quarter" idx="11"/>
          </p:nvPr>
        </p:nvSpPr>
        <p:spPr/>
        <p:txBody>
          <a:bodyPr/>
          <a:lstStyle/>
          <a:p>
            <a:r>
              <a:rPr lang="en-US"/>
              <a:t>Microprocessor and Computer Architecture, BSE-II</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ADBEDD-563D-4EB7-8D61-DF47CC51D8E2}" type="datetime1">
              <a:rPr lang="en-US" smtClean="0"/>
              <a:t>7/31/2023</a:t>
            </a:fld>
            <a:endParaRPr lang="en-US"/>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A29C9B-E3B2-40D9-A552-15922801AAAD}" type="datetime1">
              <a:rPr lang="en-US" smtClean="0"/>
              <a:t>7/31/2023</a:t>
            </a:fld>
            <a:endParaRPr lang="en-US"/>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532FE8-0F75-4BAF-84D5-32C5E26862D6}" type="datetime1">
              <a:rPr lang="en-US" smtClean="0"/>
              <a:t>7/31/2023</a:t>
            </a:fld>
            <a:endParaRPr lang="en-US"/>
          </a:p>
        </p:txBody>
      </p:sp>
      <p:sp>
        <p:nvSpPr>
          <p:cNvPr id="5" name="Footer Placeholder 4"/>
          <p:cNvSpPr>
            <a:spLocks noGrp="1"/>
          </p:cNvSpPr>
          <p:nvPr>
            <p:ph type="ftr" sz="quarter" idx="11"/>
          </p:nvPr>
        </p:nvSpPr>
        <p:spPr/>
        <p:txBody>
          <a:bodyPr/>
          <a:lstStyle/>
          <a:p>
            <a:r>
              <a:rPr lang="en-US"/>
              <a:t>Microprocessor and Computer Architecture, BSE-II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56C2B-7329-4FD4-959D-6AE7FF41092A}" type="datetime1">
              <a:rPr lang="en-US" smtClean="0"/>
              <a:t>7/31/2023</a:t>
            </a:fld>
            <a:endParaRPr lang="en-US"/>
          </a:p>
        </p:txBody>
      </p:sp>
      <p:sp>
        <p:nvSpPr>
          <p:cNvPr id="5" name="Footer Placeholder 4"/>
          <p:cNvSpPr>
            <a:spLocks noGrp="1"/>
          </p:cNvSpPr>
          <p:nvPr>
            <p:ph type="ftr" sz="quarter" idx="11"/>
          </p:nvPr>
        </p:nvSpPr>
        <p:spPr/>
        <p:txBody>
          <a:bodyPr/>
          <a:lstStyle/>
          <a:p>
            <a:r>
              <a:rPr lang="en-US"/>
              <a:t>Microprocessor and Computer Architecture, BSE-II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E577667E-5FC2-47FE-90CB-313697C1BFC8}" type="datetime1">
              <a:rPr lang="en-US" smtClean="0"/>
              <a:t>7/31/2023</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Microprocessor and Computer Architecture, BSE-II</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www.scaler.com/topics/what-is-rom/" TargetMode="External"/><Relationship Id="rId2" Type="http://schemas.openxmlformats.org/officeDocument/2006/relationships/hyperlink" Target="https://www.guru99.com/different-types-ram-random-access-memory.html"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20.png"/><Relationship Id="rId1" Type="http://schemas.openxmlformats.org/officeDocument/2006/relationships/slideLayout" Target="../slideLayouts/slideLayout2.xml"/><Relationship Id="rId4" Type="http://schemas.microsoft.com/office/2007/relationships/hdphoto" Target="../media/hdphoto6.wdp"/></Relationships>
</file>

<file path=ppt/slides/_rels/slide64.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47751"/>
            <a:ext cx="7772400" cy="1652588"/>
          </a:xfrm>
        </p:spPr>
        <p:txBody>
          <a:bodyPr>
            <a:normAutofit fontScale="90000"/>
          </a:bodyPr>
          <a:lstStyle/>
          <a:p>
            <a:r>
              <a:rPr lang="en-US" sz="3100" b="1" dirty="0"/>
              <a:t>Chapter 1</a:t>
            </a:r>
            <a:br>
              <a:rPr lang="en-US" b="1" dirty="0"/>
            </a:br>
            <a:r>
              <a:rPr lang="en-US" b="1" dirty="0">
                <a:solidFill>
                  <a:srgbClr val="FF0000"/>
                </a:solidFill>
              </a:rPr>
              <a:t>An Overview of Computer and Microprocessor</a:t>
            </a:r>
          </a:p>
        </p:txBody>
      </p:sp>
      <p:sp>
        <p:nvSpPr>
          <p:cNvPr id="5" name="Subtitle 4"/>
          <p:cNvSpPr>
            <a:spLocks noGrp="1"/>
          </p:cNvSpPr>
          <p:nvPr>
            <p:ph type="subTitle" idx="1"/>
          </p:nvPr>
        </p:nvSpPr>
        <p:spPr>
          <a:xfrm>
            <a:off x="1371600" y="3181350"/>
            <a:ext cx="6400800" cy="1047750"/>
          </a:xfrm>
        </p:spPr>
        <p:txBody>
          <a:bodyPr>
            <a:normAutofit/>
          </a:bodyPr>
          <a:lstStyle/>
          <a:p>
            <a:endParaRPr lang="en-US" sz="1800" dirty="0">
              <a:solidFill>
                <a:schemeClr val="bg1">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76629-BCF0-409F-925A-65EF027DC2AF}"/>
              </a:ext>
            </a:extLst>
          </p:cNvPr>
          <p:cNvSpPr>
            <a:spLocks noGrp="1"/>
          </p:cNvSpPr>
          <p:nvPr>
            <p:ph type="title"/>
          </p:nvPr>
        </p:nvSpPr>
        <p:spPr/>
        <p:txBody>
          <a:bodyPr/>
          <a:lstStyle/>
          <a:p>
            <a:r>
              <a:rPr lang="en-US" dirty="0"/>
              <a:t>Google Classroom </a:t>
            </a:r>
          </a:p>
        </p:txBody>
      </p:sp>
      <p:sp>
        <p:nvSpPr>
          <p:cNvPr id="3" name="Content Placeholder 2">
            <a:extLst>
              <a:ext uri="{FF2B5EF4-FFF2-40B4-BE49-F238E27FC236}">
                <a16:creationId xmlns:a16="http://schemas.microsoft.com/office/drawing/2014/main" id="{B682113A-1327-439A-842B-121A39C44CDF}"/>
              </a:ext>
            </a:extLst>
          </p:cNvPr>
          <p:cNvSpPr>
            <a:spLocks noGrp="1"/>
          </p:cNvSpPr>
          <p:nvPr>
            <p:ph idx="1"/>
          </p:nvPr>
        </p:nvSpPr>
        <p:spPr/>
        <p:txBody>
          <a:bodyPr/>
          <a:lstStyle/>
          <a:p>
            <a:r>
              <a:rPr lang="en-US" dirty="0"/>
              <a:t>Class Name: MPCA</a:t>
            </a:r>
          </a:p>
          <a:p>
            <a:r>
              <a:rPr lang="en-US" dirty="0"/>
              <a:t>Class code: zqib5ai</a:t>
            </a:r>
          </a:p>
        </p:txBody>
      </p:sp>
      <p:sp>
        <p:nvSpPr>
          <p:cNvPr id="5" name="Footer Placeholder 4">
            <a:extLst>
              <a:ext uri="{FF2B5EF4-FFF2-40B4-BE49-F238E27FC236}">
                <a16:creationId xmlns:a16="http://schemas.microsoft.com/office/drawing/2014/main" id="{C873F833-CB21-4BD3-B478-3D76E3B0C5DE}"/>
              </a:ext>
            </a:extLst>
          </p:cNvPr>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C859E488-65A6-4462-AEC9-C66049387CAE}"/>
              </a:ext>
            </a:extLst>
          </p:cNvPr>
          <p:cNvSpPr>
            <a:spLocks noGrp="1"/>
          </p:cNvSpPr>
          <p:nvPr>
            <p:ph type="dt" sz="half" idx="10"/>
          </p:nvPr>
        </p:nvSpPr>
        <p:spPr/>
        <p:txBody>
          <a:bodyPr/>
          <a:lstStyle/>
          <a:p>
            <a:fld id="{2F010D65-54B3-4A9D-BF76-F5621BF88F72}" type="datetime1">
              <a:rPr lang="en-US" smtClean="0"/>
              <a:t>7/31/2023</a:t>
            </a:fld>
            <a:endParaRPr lang="en-US"/>
          </a:p>
        </p:txBody>
      </p:sp>
      <p:sp>
        <p:nvSpPr>
          <p:cNvPr id="8" name="Slide Number Placeholder 7">
            <a:extLst>
              <a:ext uri="{FF2B5EF4-FFF2-40B4-BE49-F238E27FC236}">
                <a16:creationId xmlns:a16="http://schemas.microsoft.com/office/drawing/2014/main" id="{27A71586-5C11-4A8A-B101-7C5E41B74DAE}"/>
              </a:ext>
            </a:extLst>
          </p:cNvPr>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2646791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76629-BCF0-409F-925A-65EF027DC2AF}"/>
              </a:ext>
            </a:extLst>
          </p:cNvPr>
          <p:cNvSpPr>
            <a:spLocks noGrp="1"/>
          </p:cNvSpPr>
          <p:nvPr>
            <p:ph type="title"/>
          </p:nvPr>
        </p:nvSpPr>
        <p:spPr/>
        <p:txBody>
          <a:bodyPr/>
          <a:lstStyle/>
          <a:p>
            <a:r>
              <a:rPr lang="en-US" dirty="0"/>
              <a:t>Google Classroom </a:t>
            </a:r>
          </a:p>
        </p:txBody>
      </p:sp>
      <p:sp>
        <p:nvSpPr>
          <p:cNvPr id="3" name="Content Placeholder 2">
            <a:extLst>
              <a:ext uri="{FF2B5EF4-FFF2-40B4-BE49-F238E27FC236}">
                <a16:creationId xmlns:a16="http://schemas.microsoft.com/office/drawing/2014/main" id="{B682113A-1327-439A-842B-121A39C44CDF}"/>
              </a:ext>
            </a:extLst>
          </p:cNvPr>
          <p:cNvSpPr>
            <a:spLocks noGrp="1"/>
          </p:cNvSpPr>
          <p:nvPr>
            <p:ph idx="1"/>
          </p:nvPr>
        </p:nvSpPr>
        <p:spPr/>
        <p:txBody>
          <a:bodyPr/>
          <a:lstStyle/>
          <a:p>
            <a:r>
              <a:rPr lang="en-US" dirty="0"/>
              <a:t>Class Name: NLP</a:t>
            </a:r>
          </a:p>
          <a:p>
            <a:r>
              <a:rPr lang="en-US" dirty="0"/>
              <a:t>Class code: wadp552</a:t>
            </a:r>
          </a:p>
        </p:txBody>
      </p:sp>
      <p:sp>
        <p:nvSpPr>
          <p:cNvPr id="5" name="Footer Placeholder 4">
            <a:extLst>
              <a:ext uri="{FF2B5EF4-FFF2-40B4-BE49-F238E27FC236}">
                <a16:creationId xmlns:a16="http://schemas.microsoft.com/office/drawing/2014/main" id="{C873F833-CB21-4BD3-B478-3D76E3B0C5DE}"/>
              </a:ext>
            </a:extLst>
          </p:cNvPr>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B1BE0C98-2520-437C-ADCE-F083CABBD6B9}"/>
              </a:ext>
            </a:extLst>
          </p:cNvPr>
          <p:cNvSpPr>
            <a:spLocks noGrp="1"/>
          </p:cNvSpPr>
          <p:nvPr>
            <p:ph type="dt" sz="half" idx="10"/>
          </p:nvPr>
        </p:nvSpPr>
        <p:spPr/>
        <p:txBody>
          <a:bodyPr/>
          <a:lstStyle/>
          <a:p>
            <a:fld id="{CA001748-621C-45DB-9FAB-AE69CC32CBEF}" type="datetime1">
              <a:rPr lang="en-US" smtClean="0"/>
              <a:t>7/31/2023</a:t>
            </a:fld>
            <a:endParaRPr lang="en-US"/>
          </a:p>
        </p:txBody>
      </p:sp>
      <p:sp>
        <p:nvSpPr>
          <p:cNvPr id="8" name="Slide Number Placeholder 7">
            <a:extLst>
              <a:ext uri="{FF2B5EF4-FFF2-40B4-BE49-F238E27FC236}">
                <a16:creationId xmlns:a16="http://schemas.microsoft.com/office/drawing/2014/main" id="{1841C7B8-12F5-4575-BAED-952491BE4750}"/>
              </a:ext>
            </a:extLst>
          </p:cNvPr>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1895805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Overview:	2 </a:t>
            </a:r>
            <a:r>
              <a:rPr lang="en-US" sz="3200" b="1" dirty="0" err="1">
                <a:solidFill>
                  <a:srgbClr val="FF0000"/>
                </a:solidFill>
              </a:rPr>
              <a:t>hrs</a:t>
            </a: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457200" indent="-457200">
              <a:buFont typeface="+mj-lt"/>
              <a:buAutoNum type="arabicPeriod"/>
              <a:tabLst>
                <a:tab pos="463550" algn="l"/>
              </a:tabLst>
            </a:pPr>
            <a:r>
              <a:rPr lang="en-US" sz="2000" dirty="0"/>
              <a:t>Brief overview of Microprocessor and Microcontroller</a:t>
            </a:r>
          </a:p>
          <a:p>
            <a:pPr marL="457200" indent="-457200">
              <a:buFont typeface="+mj-lt"/>
              <a:buAutoNum type="arabicPeriod"/>
              <a:tabLst>
                <a:tab pos="463550" algn="l"/>
              </a:tabLst>
            </a:pPr>
            <a:r>
              <a:rPr lang="en-US" sz="2000" dirty="0"/>
              <a:t>Organization of Computer systems</a:t>
            </a:r>
          </a:p>
          <a:p>
            <a:pPr marL="457200" indent="-457200">
              <a:buFont typeface="+mj-lt"/>
              <a:buAutoNum type="arabicPeriod"/>
              <a:tabLst>
                <a:tab pos="463550" algn="l"/>
              </a:tabLst>
            </a:pPr>
            <a:r>
              <a:rPr lang="en-US" sz="2000" dirty="0"/>
              <a:t>Architecture of Computer</a:t>
            </a:r>
          </a:p>
          <a:p>
            <a:pPr marL="457200" indent="-457200">
              <a:buFont typeface="+mj-lt"/>
              <a:buAutoNum type="arabicPeriod"/>
              <a:tabLst>
                <a:tab pos="463550" algn="l"/>
              </a:tabLst>
            </a:pPr>
            <a:r>
              <a:rPr lang="en-US" sz="2000" dirty="0"/>
              <a:t>Applications of Microprocessor and Microcontroller</a:t>
            </a:r>
          </a:p>
          <a:p>
            <a:pPr marL="457200" indent="-457200">
              <a:buFont typeface="+mj-lt"/>
              <a:buAutoNum type="arabicPeriod"/>
              <a:tabLst>
                <a:tab pos="463550" algn="l"/>
              </a:tabLst>
            </a:pPr>
            <a:endParaRPr lang="en-US" sz="2000" dirty="0"/>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6A34ED28-C1BD-48A1-9F4A-0A0E9F60A458}"/>
              </a:ext>
            </a:extLst>
          </p:cNvPr>
          <p:cNvSpPr>
            <a:spLocks noGrp="1"/>
          </p:cNvSpPr>
          <p:nvPr>
            <p:ph type="dt" sz="half" idx="10"/>
          </p:nvPr>
        </p:nvSpPr>
        <p:spPr/>
        <p:txBody>
          <a:bodyPr/>
          <a:lstStyle/>
          <a:p>
            <a:fld id="{B24EEE53-3E45-42A5-A6D2-C1BFCC162528}" type="datetime1">
              <a:rPr lang="en-US" smtClean="0"/>
              <a:t>7/31/2023</a:t>
            </a:fld>
            <a:endParaRPr lang="en-US"/>
          </a:p>
        </p:txBody>
      </p:sp>
      <p:sp>
        <p:nvSpPr>
          <p:cNvPr id="8" name="Slide Number Placeholder 7">
            <a:extLst>
              <a:ext uri="{FF2B5EF4-FFF2-40B4-BE49-F238E27FC236}">
                <a16:creationId xmlns:a16="http://schemas.microsoft.com/office/drawing/2014/main" id="{55D90462-932B-4C11-AACF-078FCF1988F3}"/>
              </a:ext>
            </a:extLst>
          </p:cNvPr>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28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457200" indent="-457200" algn="ctr">
              <a:buFont typeface="+mj-lt"/>
              <a:buAutoNum type="arabicPeriod"/>
              <a:tabLst>
                <a:tab pos="463550" algn="l"/>
              </a:tabLst>
            </a:pPr>
            <a:r>
              <a:rPr lang="en-US" sz="4400" b="1" dirty="0">
                <a:solidFill>
                  <a:srgbClr val="FF0000"/>
                </a:solidFill>
              </a:rPr>
              <a:t> Brief overview of Microprocessor and Microcontroller</a:t>
            </a:r>
            <a:endParaRPr lang="en-US" sz="4400" dirty="0"/>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B04B3B90-2D66-470E-A3CE-D3BD0B7776AE}"/>
              </a:ext>
            </a:extLst>
          </p:cNvPr>
          <p:cNvSpPr>
            <a:spLocks noGrp="1"/>
          </p:cNvSpPr>
          <p:nvPr>
            <p:ph type="dt" sz="half" idx="10"/>
          </p:nvPr>
        </p:nvSpPr>
        <p:spPr/>
        <p:txBody>
          <a:bodyPr/>
          <a:lstStyle/>
          <a:p>
            <a:fld id="{7472103B-2454-4916-8773-E1B0DB80E615}" type="datetime1">
              <a:rPr lang="en-US" smtClean="0"/>
              <a:t>7/31/2023</a:t>
            </a:fld>
            <a:endParaRPr lang="en-US"/>
          </a:p>
        </p:txBody>
      </p:sp>
      <p:sp>
        <p:nvSpPr>
          <p:cNvPr id="8" name="Slide Number Placeholder 7">
            <a:extLst>
              <a:ext uri="{FF2B5EF4-FFF2-40B4-BE49-F238E27FC236}">
                <a16:creationId xmlns:a16="http://schemas.microsoft.com/office/drawing/2014/main" id="{B331CEE8-2B62-4A75-BDF2-A9F6E455C7F4}"/>
              </a:ext>
            </a:extLst>
          </p:cNvPr>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2666809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fontScale="92500"/>
          </a:bodyPr>
          <a:lstStyle/>
          <a:p>
            <a:pPr marL="354965">
              <a:spcBef>
                <a:spcPts val="880"/>
              </a:spcBef>
              <a:tabLst>
                <a:tab pos="354965" algn="l"/>
                <a:tab pos="355600" algn="l"/>
              </a:tabLst>
            </a:pPr>
            <a:r>
              <a:rPr lang="en-US" spc="-5" dirty="0">
                <a:latin typeface="+mj-lt"/>
                <a:cs typeface="Times New Roman"/>
              </a:rPr>
              <a:t>Differences</a:t>
            </a:r>
            <a:r>
              <a:rPr lang="en-US" spc="-10" dirty="0">
                <a:latin typeface="+mj-lt"/>
                <a:cs typeface="Times New Roman"/>
              </a:rPr>
              <a:t> </a:t>
            </a:r>
            <a:r>
              <a:rPr lang="en-US" spc="-5" dirty="0">
                <a:latin typeface="+mj-lt"/>
                <a:cs typeface="Times New Roman"/>
              </a:rPr>
              <a:t>between:</a:t>
            </a:r>
            <a:endParaRPr lang="en-US" dirty="0">
              <a:latin typeface="+mj-lt"/>
              <a:cs typeface="Times New Roman"/>
            </a:endParaRPr>
          </a:p>
          <a:p>
            <a:pPr marL="755015" marR="5080" lvl="1">
              <a:spcBef>
                <a:spcPts val="690"/>
              </a:spcBef>
              <a:tabLst>
                <a:tab pos="755650" algn="l"/>
              </a:tabLst>
            </a:pPr>
            <a:r>
              <a:rPr lang="en-US" spc="-5" dirty="0">
                <a:latin typeface="+mj-lt"/>
                <a:cs typeface="Times New Roman"/>
              </a:rPr>
              <a:t>Microcomputer </a:t>
            </a:r>
            <a:r>
              <a:rPr lang="en-US" dirty="0">
                <a:latin typeface="+mj-lt"/>
                <a:cs typeface="Times New Roman"/>
              </a:rPr>
              <a:t>– a </a:t>
            </a:r>
            <a:r>
              <a:rPr lang="en-US" spc="-5" dirty="0">
                <a:latin typeface="+mj-lt"/>
                <a:cs typeface="Times New Roman"/>
              </a:rPr>
              <a:t>computer </a:t>
            </a:r>
            <a:r>
              <a:rPr lang="en-US" dirty="0">
                <a:latin typeface="+mj-lt"/>
                <a:cs typeface="Times New Roman"/>
              </a:rPr>
              <a:t>with a </a:t>
            </a:r>
            <a:r>
              <a:rPr lang="en-US" spc="5" dirty="0">
                <a:latin typeface="+mj-lt"/>
                <a:cs typeface="Times New Roman"/>
              </a:rPr>
              <a:t> </a:t>
            </a:r>
            <a:r>
              <a:rPr lang="en-US" spc="-5" dirty="0">
                <a:latin typeface="+mj-lt"/>
                <a:cs typeface="Times New Roman"/>
              </a:rPr>
              <a:t>microprocessor as </a:t>
            </a:r>
            <a:r>
              <a:rPr lang="en-US" dirty="0">
                <a:latin typeface="+mj-lt"/>
                <a:cs typeface="Times New Roman"/>
              </a:rPr>
              <a:t>its </a:t>
            </a:r>
            <a:r>
              <a:rPr lang="en-US" spc="-5" dirty="0">
                <a:latin typeface="+mj-lt"/>
                <a:cs typeface="Times New Roman"/>
              </a:rPr>
              <a:t>CPU. Includes memory, </a:t>
            </a:r>
            <a:r>
              <a:rPr lang="en-US" dirty="0">
                <a:latin typeface="+mj-lt"/>
                <a:cs typeface="Times New Roman"/>
              </a:rPr>
              <a:t>I/O </a:t>
            </a:r>
            <a:r>
              <a:rPr lang="en-US" spc="-685" dirty="0">
                <a:latin typeface="+mj-lt"/>
                <a:cs typeface="Times New Roman"/>
              </a:rPr>
              <a:t> </a:t>
            </a:r>
            <a:r>
              <a:rPr lang="en-US" spc="-5" dirty="0">
                <a:latin typeface="+mj-lt"/>
                <a:cs typeface="Times New Roman"/>
              </a:rPr>
              <a:t>etc.</a:t>
            </a:r>
            <a:endParaRPr lang="en-US" dirty="0">
              <a:latin typeface="+mj-lt"/>
              <a:cs typeface="Times New Roman"/>
            </a:endParaRPr>
          </a:p>
          <a:p>
            <a:pPr marL="754380" marR="626110" lvl="1">
              <a:spcBef>
                <a:spcPts val="670"/>
              </a:spcBef>
              <a:tabLst>
                <a:tab pos="755650" algn="l"/>
              </a:tabLst>
            </a:pPr>
            <a:r>
              <a:rPr lang="en-US" spc="-5" dirty="0">
                <a:latin typeface="+mj-lt"/>
                <a:cs typeface="Times New Roman"/>
              </a:rPr>
              <a:t>Microprocessor </a:t>
            </a:r>
            <a:r>
              <a:rPr lang="en-US" dirty="0">
                <a:latin typeface="+mj-lt"/>
                <a:cs typeface="Times New Roman"/>
              </a:rPr>
              <a:t>– </a:t>
            </a:r>
            <a:r>
              <a:rPr lang="en-US" spc="-5" dirty="0">
                <a:latin typeface="+mj-lt"/>
                <a:cs typeface="Times New Roman"/>
              </a:rPr>
              <a:t>silicon chip which includes </a:t>
            </a:r>
            <a:r>
              <a:rPr lang="en-US" spc="-685" dirty="0">
                <a:latin typeface="+mj-lt"/>
                <a:cs typeface="Times New Roman"/>
              </a:rPr>
              <a:t> </a:t>
            </a:r>
            <a:r>
              <a:rPr lang="en-US" spc="-5" dirty="0">
                <a:latin typeface="+mj-lt"/>
                <a:cs typeface="Times New Roman"/>
              </a:rPr>
              <a:t>ALU,</a:t>
            </a:r>
            <a:r>
              <a:rPr lang="en-US" dirty="0">
                <a:latin typeface="+mj-lt"/>
                <a:cs typeface="Times New Roman"/>
              </a:rPr>
              <a:t> </a:t>
            </a:r>
            <a:r>
              <a:rPr lang="en-US" spc="-5" dirty="0">
                <a:latin typeface="+mj-lt"/>
                <a:cs typeface="Times New Roman"/>
              </a:rPr>
              <a:t>register</a:t>
            </a:r>
            <a:r>
              <a:rPr lang="en-US" spc="-20" dirty="0">
                <a:latin typeface="+mj-lt"/>
                <a:cs typeface="Times New Roman"/>
              </a:rPr>
              <a:t> </a:t>
            </a:r>
            <a:r>
              <a:rPr lang="en-US" spc="-5" dirty="0">
                <a:latin typeface="+mj-lt"/>
                <a:cs typeface="Times New Roman"/>
              </a:rPr>
              <a:t>circuits</a:t>
            </a:r>
            <a:r>
              <a:rPr lang="en-US" spc="-25" dirty="0">
                <a:latin typeface="+mj-lt"/>
                <a:cs typeface="Times New Roman"/>
              </a:rPr>
              <a:t> </a:t>
            </a:r>
            <a:r>
              <a:rPr lang="en-US" dirty="0">
                <a:latin typeface="+mj-lt"/>
                <a:cs typeface="Times New Roman"/>
              </a:rPr>
              <a:t>&amp;</a:t>
            </a:r>
            <a:r>
              <a:rPr lang="en-US" spc="-10" dirty="0">
                <a:latin typeface="+mj-lt"/>
                <a:cs typeface="Times New Roman"/>
              </a:rPr>
              <a:t> </a:t>
            </a:r>
            <a:r>
              <a:rPr lang="en-US" dirty="0">
                <a:latin typeface="+mj-lt"/>
                <a:cs typeface="Times New Roman"/>
              </a:rPr>
              <a:t>control</a:t>
            </a:r>
            <a:r>
              <a:rPr lang="en-US" spc="-25" dirty="0">
                <a:latin typeface="+mj-lt"/>
                <a:cs typeface="Times New Roman"/>
              </a:rPr>
              <a:t> </a:t>
            </a:r>
            <a:r>
              <a:rPr lang="en-US" spc="-5" dirty="0">
                <a:latin typeface="+mj-lt"/>
                <a:cs typeface="Times New Roman"/>
              </a:rPr>
              <a:t>circuits</a:t>
            </a:r>
            <a:endParaRPr lang="en-US" dirty="0">
              <a:latin typeface="+mj-lt"/>
              <a:cs typeface="Times New Roman"/>
            </a:endParaRPr>
          </a:p>
          <a:p>
            <a:pPr marL="754380" marR="607695" lvl="1">
              <a:spcBef>
                <a:spcPts val="670"/>
              </a:spcBef>
              <a:tabLst>
                <a:tab pos="755015" algn="l"/>
              </a:tabLst>
            </a:pPr>
            <a:r>
              <a:rPr lang="en-US" spc="-5" dirty="0">
                <a:latin typeface="+mj-lt"/>
                <a:cs typeface="Times New Roman"/>
              </a:rPr>
              <a:t>Microcontroller </a:t>
            </a:r>
            <a:r>
              <a:rPr lang="en-US" dirty="0">
                <a:latin typeface="+mj-lt"/>
                <a:cs typeface="Times New Roman"/>
              </a:rPr>
              <a:t>– </a:t>
            </a:r>
            <a:r>
              <a:rPr lang="en-US" spc="-5" dirty="0">
                <a:latin typeface="+mj-lt"/>
                <a:cs typeface="Times New Roman"/>
              </a:rPr>
              <a:t>silicon chip which includes </a:t>
            </a:r>
            <a:r>
              <a:rPr lang="en-US" spc="-685" dirty="0">
                <a:latin typeface="+mj-lt"/>
                <a:cs typeface="Times New Roman"/>
              </a:rPr>
              <a:t> </a:t>
            </a:r>
            <a:r>
              <a:rPr lang="en-US" spc="-5" dirty="0">
                <a:latin typeface="+mj-lt"/>
                <a:cs typeface="Times New Roman"/>
              </a:rPr>
              <a:t>microprocessor, memory </a:t>
            </a:r>
            <a:r>
              <a:rPr lang="en-US" dirty="0">
                <a:latin typeface="+mj-lt"/>
                <a:cs typeface="Times New Roman"/>
              </a:rPr>
              <a:t>&amp; I/O in a single </a:t>
            </a:r>
            <a:r>
              <a:rPr lang="en-US" spc="5" dirty="0">
                <a:latin typeface="+mj-lt"/>
                <a:cs typeface="Times New Roman"/>
              </a:rPr>
              <a:t> </a:t>
            </a:r>
            <a:r>
              <a:rPr lang="en-US" spc="-5" dirty="0">
                <a:latin typeface="+mj-lt"/>
                <a:cs typeface="Times New Roman"/>
              </a:rPr>
              <a:t>package.</a:t>
            </a:r>
            <a:endParaRPr lang="en-US" dirty="0">
              <a:latin typeface="+mj-lt"/>
              <a:cs typeface="Times New Roman"/>
            </a:endParaRPr>
          </a:p>
          <a:p>
            <a:pPr marL="457200" indent="-457200">
              <a:buFont typeface="+mj-lt"/>
              <a:buAutoNum type="arabicPeriod"/>
              <a:tabLst>
                <a:tab pos="463550" algn="l"/>
              </a:tabLst>
            </a:pPr>
            <a:endParaRPr lang="en-US" sz="2000" dirty="0">
              <a:latin typeface="+mj-lt"/>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DC2BCA50-C2B6-4472-9F54-CEAC802CAA7C}"/>
              </a:ext>
            </a:extLst>
          </p:cNvPr>
          <p:cNvSpPr>
            <a:spLocks noGrp="1"/>
          </p:cNvSpPr>
          <p:nvPr>
            <p:ph type="dt" sz="half" idx="10"/>
          </p:nvPr>
        </p:nvSpPr>
        <p:spPr/>
        <p:txBody>
          <a:bodyPr/>
          <a:lstStyle/>
          <a:p>
            <a:fld id="{417196B0-EEB2-4B36-82FE-0F6F1BC79CDA}" type="datetime1">
              <a:rPr lang="en-US" smtClean="0"/>
              <a:t>7/31/2023</a:t>
            </a:fld>
            <a:endParaRPr lang="en-US"/>
          </a:p>
        </p:txBody>
      </p:sp>
      <p:sp>
        <p:nvSpPr>
          <p:cNvPr id="8" name="Slide Number Placeholder 7">
            <a:extLst>
              <a:ext uri="{FF2B5EF4-FFF2-40B4-BE49-F238E27FC236}">
                <a16:creationId xmlns:a16="http://schemas.microsoft.com/office/drawing/2014/main" id="{A2BEAA3E-3271-4E82-BAF3-BD2FDC5758FE}"/>
              </a:ext>
            </a:extLst>
          </p:cNvPr>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273571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Microprocessor</a:t>
            </a:r>
          </a:p>
        </p:txBody>
      </p:sp>
      <p:sp>
        <p:nvSpPr>
          <p:cNvPr id="3" name="Content Placeholder 2"/>
          <p:cNvSpPr>
            <a:spLocks noGrp="1"/>
          </p:cNvSpPr>
          <p:nvPr>
            <p:ph idx="1"/>
          </p:nvPr>
        </p:nvSpPr>
        <p:spPr>
          <a:xfrm>
            <a:off x="457200" y="742950"/>
            <a:ext cx="8229600" cy="3851673"/>
          </a:xfrm>
          <a:noFill/>
        </p:spPr>
        <p:txBody>
          <a:bodyPr>
            <a:normAutofit/>
          </a:bodyPr>
          <a:lstStyle/>
          <a:p>
            <a:pPr marL="355600" marR="5080" indent="-343535">
              <a:spcBef>
                <a:spcPts val="100"/>
              </a:spcBef>
              <a:tabLst>
                <a:tab pos="355600" algn="l"/>
                <a:tab pos="356235" algn="l"/>
              </a:tabLst>
            </a:pPr>
            <a:r>
              <a:rPr lang="en-US" sz="2800" spc="-5" dirty="0">
                <a:latin typeface="+mj-lt"/>
                <a:cs typeface="Times New Roman"/>
              </a:rPr>
              <a:t>The</a:t>
            </a:r>
            <a:r>
              <a:rPr lang="en-US" sz="2800" spc="-20" dirty="0">
                <a:latin typeface="+mj-lt"/>
                <a:cs typeface="Times New Roman"/>
              </a:rPr>
              <a:t> </a:t>
            </a:r>
            <a:r>
              <a:rPr lang="en-US" sz="2800" dirty="0">
                <a:latin typeface="+mj-lt"/>
                <a:cs typeface="Times New Roman"/>
              </a:rPr>
              <a:t>word</a:t>
            </a:r>
            <a:r>
              <a:rPr lang="en-US" sz="2800" spc="-5" dirty="0">
                <a:latin typeface="+mj-lt"/>
                <a:cs typeface="Times New Roman"/>
              </a:rPr>
              <a:t> comes</a:t>
            </a:r>
            <a:r>
              <a:rPr lang="en-US" sz="2800" spc="-20" dirty="0">
                <a:latin typeface="+mj-lt"/>
                <a:cs typeface="Times New Roman"/>
              </a:rPr>
              <a:t> </a:t>
            </a:r>
            <a:r>
              <a:rPr lang="en-US" sz="2800" dirty="0">
                <a:latin typeface="+mj-lt"/>
                <a:cs typeface="Times New Roman"/>
              </a:rPr>
              <a:t>from</a:t>
            </a:r>
            <a:r>
              <a:rPr lang="en-US" sz="2800" spc="-10" dirty="0">
                <a:latin typeface="+mj-lt"/>
                <a:cs typeface="Times New Roman"/>
              </a:rPr>
              <a:t> </a:t>
            </a:r>
            <a:r>
              <a:rPr lang="en-US" sz="2800" dirty="0">
                <a:latin typeface="+mj-lt"/>
                <a:cs typeface="Times New Roman"/>
              </a:rPr>
              <a:t>the</a:t>
            </a:r>
            <a:r>
              <a:rPr lang="en-US" sz="2800" spc="-20" dirty="0">
                <a:latin typeface="+mj-lt"/>
                <a:cs typeface="Times New Roman"/>
              </a:rPr>
              <a:t> </a:t>
            </a:r>
            <a:r>
              <a:rPr lang="en-US" sz="2800" spc="-5" dirty="0">
                <a:latin typeface="+mj-lt"/>
                <a:cs typeface="Times New Roman"/>
              </a:rPr>
              <a:t>combination</a:t>
            </a:r>
            <a:r>
              <a:rPr lang="en-US" sz="2800" spc="-25" dirty="0">
                <a:latin typeface="+mj-lt"/>
                <a:cs typeface="Times New Roman"/>
              </a:rPr>
              <a:t> </a:t>
            </a:r>
            <a:r>
              <a:rPr lang="en-US" sz="2800" b="1" spc="-5" dirty="0">
                <a:latin typeface="+mj-lt"/>
                <a:cs typeface="Times New Roman"/>
              </a:rPr>
              <a:t>micro</a:t>
            </a:r>
            <a:r>
              <a:rPr lang="en-US" sz="2800" spc="-15" dirty="0">
                <a:latin typeface="+mj-lt"/>
                <a:cs typeface="Times New Roman"/>
              </a:rPr>
              <a:t> </a:t>
            </a:r>
            <a:r>
              <a:rPr lang="en-US" sz="2800" spc="-5" dirty="0">
                <a:latin typeface="+mj-lt"/>
                <a:cs typeface="Times New Roman"/>
              </a:rPr>
              <a:t>and </a:t>
            </a:r>
            <a:r>
              <a:rPr lang="en-US" sz="2800" spc="-685" dirty="0">
                <a:latin typeface="+mj-lt"/>
                <a:cs typeface="Times New Roman"/>
              </a:rPr>
              <a:t> </a:t>
            </a:r>
            <a:r>
              <a:rPr lang="en-US" sz="2800" b="1" spc="-5" dirty="0">
                <a:latin typeface="+mj-lt"/>
                <a:cs typeface="Times New Roman"/>
              </a:rPr>
              <a:t>processor</a:t>
            </a:r>
            <a:r>
              <a:rPr lang="en-US" sz="2800" spc="-5" dirty="0">
                <a:latin typeface="+mj-lt"/>
                <a:cs typeface="Times New Roman"/>
              </a:rPr>
              <a:t>.</a:t>
            </a:r>
            <a:endParaRPr lang="en-US" sz="2800" dirty="0">
              <a:latin typeface="+mj-lt"/>
              <a:cs typeface="Times New Roman"/>
            </a:endParaRPr>
          </a:p>
          <a:p>
            <a:pPr marL="755650" marR="164465" lvl="1" indent="-286385">
              <a:spcBef>
                <a:spcPts val="585"/>
              </a:spcBef>
              <a:tabLst>
                <a:tab pos="755650" algn="l"/>
                <a:tab pos="756285" algn="l"/>
              </a:tabLst>
            </a:pPr>
            <a:r>
              <a:rPr lang="en-US" sz="2400" spc="-5" dirty="0">
                <a:latin typeface="+mj-lt"/>
                <a:cs typeface="Times New Roman"/>
              </a:rPr>
              <a:t>Processor</a:t>
            </a:r>
            <a:r>
              <a:rPr lang="en-US" sz="2400" dirty="0">
                <a:latin typeface="+mj-lt"/>
                <a:cs typeface="Times New Roman"/>
              </a:rPr>
              <a:t> </a:t>
            </a:r>
            <a:r>
              <a:rPr lang="en-US" sz="2400" spc="-5" dirty="0">
                <a:latin typeface="+mj-lt"/>
                <a:cs typeface="Times New Roman"/>
              </a:rPr>
              <a:t>means</a:t>
            </a:r>
            <a:r>
              <a:rPr lang="en-US" sz="2400" dirty="0">
                <a:latin typeface="+mj-lt"/>
                <a:cs typeface="Times New Roman"/>
              </a:rPr>
              <a:t> a</a:t>
            </a:r>
            <a:r>
              <a:rPr lang="en-US" sz="2400" spc="5" dirty="0">
                <a:latin typeface="+mj-lt"/>
                <a:cs typeface="Times New Roman"/>
              </a:rPr>
              <a:t> </a:t>
            </a:r>
            <a:r>
              <a:rPr lang="en-US" sz="2400" spc="-5" dirty="0">
                <a:latin typeface="+mj-lt"/>
                <a:cs typeface="Times New Roman"/>
              </a:rPr>
              <a:t>device</a:t>
            </a:r>
            <a:r>
              <a:rPr lang="en-US" sz="2400" spc="-10" dirty="0">
                <a:latin typeface="+mj-lt"/>
                <a:cs typeface="Times New Roman"/>
              </a:rPr>
              <a:t> </a:t>
            </a:r>
            <a:r>
              <a:rPr lang="en-US" sz="2400" spc="-5" dirty="0">
                <a:latin typeface="+mj-lt"/>
                <a:cs typeface="Times New Roman"/>
              </a:rPr>
              <a:t>that processes</a:t>
            </a:r>
            <a:r>
              <a:rPr lang="en-US" sz="2400" dirty="0">
                <a:latin typeface="+mj-lt"/>
                <a:cs typeface="Times New Roman"/>
              </a:rPr>
              <a:t> </a:t>
            </a:r>
            <a:r>
              <a:rPr lang="en-US" sz="2400" spc="-5" dirty="0">
                <a:latin typeface="+mj-lt"/>
                <a:cs typeface="Times New Roman"/>
              </a:rPr>
              <a:t>whatever. In </a:t>
            </a:r>
            <a:r>
              <a:rPr lang="en-US" sz="2400" spc="-585" dirty="0">
                <a:latin typeface="+mj-lt"/>
                <a:cs typeface="Times New Roman"/>
              </a:rPr>
              <a:t> </a:t>
            </a:r>
            <a:r>
              <a:rPr lang="en-US" sz="2400" spc="-5" dirty="0">
                <a:latin typeface="+mj-lt"/>
                <a:cs typeface="Times New Roman"/>
              </a:rPr>
              <a:t>this context processor means </a:t>
            </a:r>
            <a:r>
              <a:rPr lang="en-US" sz="2400" dirty="0">
                <a:latin typeface="+mj-lt"/>
                <a:cs typeface="Times New Roman"/>
              </a:rPr>
              <a:t>a </a:t>
            </a:r>
            <a:r>
              <a:rPr lang="en-US" sz="2400" spc="-5" dirty="0">
                <a:latin typeface="+mj-lt"/>
                <a:cs typeface="Times New Roman"/>
              </a:rPr>
              <a:t>device that processes </a:t>
            </a:r>
            <a:r>
              <a:rPr lang="en-US" sz="2400" dirty="0">
                <a:latin typeface="+mj-lt"/>
                <a:cs typeface="Times New Roman"/>
              </a:rPr>
              <a:t> </a:t>
            </a:r>
            <a:r>
              <a:rPr lang="en-US" sz="2400" spc="-5" dirty="0">
                <a:latin typeface="+mj-lt"/>
                <a:cs typeface="Times New Roman"/>
              </a:rPr>
              <a:t>numbers,</a:t>
            </a:r>
            <a:r>
              <a:rPr lang="en-US" sz="2400" spc="-15" dirty="0">
                <a:latin typeface="+mj-lt"/>
                <a:cs typeface="Times New Roman"/>
              </a:rPr>
              <a:t> </a:t>
            </a:r>
            <a:r>
              <a:rPr lang="en-US" sz="2400" spc="-5" dirty="0">
                <a:latin typeface="+mj-lt"/>
                <a:cs typeface="Times New Roman"/>
              </a:rPr>
              <a:t>specifically</a:t>
            </a:r>
            <a:r>
              <a:rPr lang="en-US" sz="2400" spc="-20" dirty="0">
                <a:latin typeface="+mj-lt"/>
                <a:cs typeface="Times New Roman"/>
              </a:rPr>
              <a:t> </a:t>
            </a:r>
            <a:r>
              <a:rPr lang="en-US" sz="2400" spc="-5" dirty="0">
                <a:latin typeface="+mj-lt"/>
                <a:cs typeface="Times New Roman"/>
              </a:rPr>
              <a:t>binary</a:t>
            </a:r>
            <a:r>
              <a:rPr lang="en-US" sz="2400" spc="-10" dirty="0">
                <a:latin typeface="+mj-lt"/>
                <a:cs typeface="Times New Roman"/>
              </a:rPr>
              <a:t> </a:t>
            </a:r>
            <a:r>
              <a:rPr lang="en-US" sz="2400" spc="-5" dirty="0">
                <a:latin typeface="+mj-lt"/>
                <a:cs typeface="Times New Roman"/>
              </a:rPr>
              <a:t>numbers,</a:t>
            </a:r>
            <a:r>
              <a:rPr lang="en-US" sz="2400" spc="15" dirty="0">
                <a:latin typeface="+mj-lt"/>
                <a:cs typeface="Times New Roman"/>
              </a:rPr>
              <a:t> </a:t>
            </a:r>
            <a:r>
              <a:rPr lang="en-US" sz="2400" spc="-5" dirty="0">
                <a:latin typeface="+mj-lt"/>
                <a:cs typeface="Times New Roman"/>
              </a:rPr>
              <a:t>0’s</a:t>
            </a:r>
            <a:r>
              <a:rPr lang="en-US" sz="2400" spc="5" dirty="0">
                <a:latin typeface="+mj-lt"/>
                <a:cs typeface="Times New Roman"/>
              </a:rPr>
              <a:t> </a:t>
            </a:r>
            <a:r>
              <a:rPr lang="en-US" sz="2400" dirty="0">
                <a:latin typeface="+mj-lt"/>
                <a:cs typeface="Times New Roman"/>
              </a:rPr>
              <a:t>and</a:t>
            </a:r>
            <a:r>
              <a:rPr lang="en-US" sz="2400" spc="-5" dirty="0">
                <a:latin typeface="+mj-lt"/>
                <a:cs typeface="Times New Roman"/>
              </a:rPr>
              <a:t> 1’s.</a:t>
            </a:r>
            <a:endParaRPr lang="en-US" sz="2400" dirty="0">
              <a:latin typeface="+mj-lt"/>
              <a:cs typeface="Times New Roman"/>
            </a:endParaRPr>
          </a:p>
          <a:p>
            <a:pPr marL="1155700" marR="17145" lvl="2" indent="-229235">
              <a:spcBef>
                <a:spcPts val="495"/>
              </a:spcBef>
              <a:tabLst>
                <a:tab pos="1155065" algn="l"/>
                <a:tab pos="1156335" algn="l"/>
              </a:tabLst>
            </a:pPr>
            <a:r>
              <a:rPr lang="en-US" sz="2000" spc="-5" dirty="0">
                <a:latin typeface="+mj-lt"/>
                <a:cs typeface="Times New Roman"/>
              </a:rPr>
              <a:t>To process means to manipulate. It is a general term that </a:t>
            </a:r>
            <a:r>
              <a:rPr lang="en-US" sz="2000" dirty="0">
                <a:latin typeface="+mj-lt"/>
                <a:cs typeface="Times New Roman"/>
              </a:rPr>
              <a:t> </a:t>
            </a:r>
            <a:r>
              <a:rPr lang="en-US" sz="2000" spc="-5" dirty="0">
                <a:latin typeface="+mj-lt"/>
                <a:cs typeface="Times New Roman"/>
              </a:rPr>
              <a:t>describes all manipulation. Again in this content, it means to </a:t>
            </a:r>
            <a:r>
              <a:rPr lang="en-US" sz="2000" dirty="0">
                <a:latin typeface="+mj-lt"/>
                <a:cs typeface="Times New Roman"/>
              </a:rPr>
              <a:t> </a:t>
            </a:r>
            <a:r>
              <a:rPr lang="en-US" sz="2000" spc="-5" dirty="0">
                <a:latin typeface="+mj-lt"/>
                <a:cs typeface="Times New Roman"/>
              </a:rPr>
              <a:t>perform certain operations on the numbers that depend on the </a:t>
            </a:r>
            <a:r>
              <a:rPr lang="en-US" sz="2000" spc="-484" dirty="0">
                <a:latin typeface="+mj-lt"/>
                <a:cs typeface="Times New Roman"/>
              </a:rPr>
              <a:t> </a:t>
            </a:r>
            <a:r>
              <a:rPr lang="en-US" sz="2000" spc="-5" dirty="0">
                <a:latin typeface="+mj-lt"/>
                <a:cs typeface="Times New Roman"/>
              </a:rPr>
              <a:t>microprocessor’s</a:t>
            </a:r>
            <a:r>
              <a:rPr lang="en-US" sz="2000" spc="-30" dirty="0">
                <a:latin typeface="+mj-lt"/>
                <a:cs typeface="Times New Roman"/>
              </a:rPr>
              <a:t> </a:t>
            </a:r>
            <a:r>
              <a:rPr lang="en-US" sz="2000" spc="-5" dirty="0">
                <a:latin typeface="+mj-lt"/>
                <a:cs typeface="Times New Roman"/>
              </a:rPr>
              <a:t>design.</a:t>
            </a:r>
            <a:endParaRPr lang="en-US" sz="2000" dirty="0">
              <a:latin typeface="+mj-lt"/>
              <a:cs typeface="Times New Roman"/>
            </a:endParaRPr>
          </a:p>
          <a:p>
            <a:pPr marL="457200" indent="-457200">
              <a:buFont typeface="+mj-lt"/>
              <a:buAutoNum type="arabicPeriod"/>
              <a:tabLst>
                <a:tab pos="463550" algn="l"/>
              </a:tabLst>
            </a:pPr>
            <a:endParaRPr lang="en-US" sz="2000" dirty="0">
              <a:latin typeface="+mj-lt"/>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6A449542-0283-496F-8809-90221C444A89}"/>
              </a:ext>
            </a:extLst>
          </p:cNvPr>
          <p:cNvSpPr>
            <a:spLocks noGrp="1"/>
          </p:cNvSpPr>
          <p:nvPr>
            <p:ph type="dt" sz="half" idx="10"/>
          </p:nvPr>
        </p:nvSpPr>
        <p:spPr/>
        <p:txBody>
          <a:bodyPr/>
          <a:lstStyle/>
          <a:p>
            <a:fld id="{451EFE87-9EAD-4072-A486-72C88F7A6403}" type="datetime1">
              <a:rPr lang="en-US" smtClean="0"/>
              <a:t>7/31/2023</a:t>
            </a:fld>
            <a:endParaRPr lang="en-US"/>
          </a:p>
        </p:txBody>
      </p:sp>
      <p:sp>
        <p:nvSpPr>
          <p:cNvPr id="8" name="Slide Number Placeholder 7">
            <a:extLst>
              <a:ext uri="{FF2B5EF4-FFF2-40B4-BE49-F238E27FC236}">
                <a16:creationId xmlns:a16="http://schemas.microsoft.com/office/drawing/2014/main" id="{E603AAC5-9358-4AFA-BD96-8C4CE5D7DBD1}"/>
              </a:ext>
            </a:extLst>
          </p:cNvPr>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296129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spc="-5" dirty="0">
                <a:solidFill>
                  <a:srgbClr val="FF0000"/>
                </a:solidFill>
              </a:rPr>
              <a:t>Definition</a:t>
            </a:r>
            <a:r>
              <a:rPr lang="en-US" sz="3200" b="1" spc="-10" dirty="0">
                <a:solidFill>
                  <a:srgbClr val="FF0000"/>
                </a:solidFill>
              </a:rPr>
              <a:t> </a:t>
            </a:r>
            <a:r>
              <a:rPr lang="en-US" sz="3200" b="1" spc="-5" dirty="0">
                <a:solidFill>
                  <a:srgbClr val="FF0000"/>
                </a:solidFill>
              </a:rPr>
              <a:t>of the Microprocessor</a:t>
            </a: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R="5080">
              <a:spcBef>
                <a:spcPts val="95"/>
              </a:spcBef>
            </a:pPr>
            <a:r>
              <a:rPr lang="en-US" sz="2800" spc="-5" dirty="0">
                <a:latin typeface="+mj-lt"/>
              </a:rPr>
              <a:t>The microprocessor</a:t>
            </a:r>
            <a:r>
              <a:rPr lang="en-US" sz="2800" spc="10" dirty="0">
                <a:latin typeface="+mj-lt"/>
              </a:rPr>
              <a:t> </a:t>
            </a:r>
            <a:r>
              <a:rPr lang="en-US" sz="2800" spc="-5" dirty="0">
                <a:latin typeface="+mj-lt"/>
              </a:rPr>
              <a:t>is</a:t>
            </a:r>
            <a:r>
              <a:rPr lang="en-US" sz="2800" spc="10" dirty="0">
                <a:latin typeface="+mj-lt"/>
              </a:rPr>
              <a:t> </a:t>
            </a:r>
            <a:r>
              <a:rPr lang="en-US" sz="2800" spc="-5" dirty="0">
                <a:latin typeface="+mj-lt"/>
              </a:rPr>
              <a:t>a</a:t>
            </a:r>
            <a:r>
              <a:rPr lang="en-US" sz="2800" spc="5" dirty="0">
                <a:latin typeface="+mj-lt"/>
              </a:rPr>
              <a:t> </a:t>
            </a:r>
            <a:r>
              <a:rPr lang="en-US" sz="2800" u="heavy" spc="-5" dirty="0">
                <a:solidFill>
                  <a:srgbClr val="800000"/>
                </a:solidFill>
                <a:uFill>
                  <a:solidFill>
                    <a:srgbClr val="800000"/>
                  </a:solidFill>
                </a:uFill>
                <a:latin typeface="+mj-lt"/>
              </a:rPr>
              <a:t>programmable</a:t>
            </a:r>
            <a:r>
              <a:rPr lang="en-US" sz="2800" u="heavy" spc="5" dirty="0">
                <a:solidFill>
                  <a:srgbClr val="800000"/>
                </a:solidFill>
                <a:uFill>
                  <a:solidFill>
                    <a:srgbClr val="800000"/>
                  </a:solidFill>
                </a:uFill>
                <a:latin typeface="+mj-lt"/>
              </a:rPr>
              <a:t> </a:t>
            </a:r>
            <a:r>
              <a:rPr lang="en-US" sz="2800" u="heavy" spc="-5" dirty="0">
                <a:solidFill>
                  <a:srgbClr val="800000"/>
                </a:solidFill>
                <a:uFill>
                  <a:solidFill>
                    <a:srgbClr val="800000"/>
                  </a:solidFill>
                </a:uFill>
                <a:latin typeface="+mj-lt"/>
              </a:rPr>
              <a:t>device </a:t>
            </a:r>
            <a:r>
              <a:rPr lang="en-US" sz="2800" spc="-785" dirty="0">
                <a:solidFill>
                  <a:srgbClr val="800000"/>
                </a:solidFill>
                <a:latin typeface="+mj-lt"/>
              </a:rPr>
              <a:t> </a:t>
            </a:r>
            <a:r>
              <a:rPr lang="en-US" sz="2800" spc="-5" dirty="0">
                <a:latin typeface="+mj-lt"/>
              </a:rPr>
              <a:t>that</a:t>
            </a:r>
            <a:r>
              <a:rPr lang="en-US" sz="2800" spc="-10" dirty="0">
                <a:latin typeface="+mj-lt"/>
              </a:rPr>
              <a:t> </a:t>
            </a:r>
          </a:p>
          <a:p>
            <a:pPr marR="5080" lvl="1">
              <a:spcBef>
                <a:spcPts val="95"/>
              </a:spcBef>
            </a:pPr>
            <a:r>
              <a:rPr lang="en-US" sz="2400" u="heavy" spc="-5" dirty="0">
                <a:solidFill>
                  <a:srgbClr val="800000"/>
                </a:solidFill>
                <a:uFill>
                  <a:solidFill>
                    <a:srgbClr val="800000"/>
                  </a:solidFill>
                </a:uFill>
                <a:latin typeface="+mj-lt"/>
              </a:rPr>
              <a:t>takes</a:t>
            </a:r>
            <a:r>
              <a:rPr lang="en-US" sz="2400" u="heavy" spc="10" dirty="0">
                <a:solidFill>
                  <a:srgbClr val="800000"/>
                </a:solidFill>
                <a:uFill>
                  <a:solidFill>
                    <a:srgbClr val="800000"/>
                  </a:solidFill>
                </a:uFill>
                <a:latin typeface="+mj-lt"/>
              </a:rPr>
              <a:t> </a:t>
            </a:r>
            <a:r>
              <a:rPr lang="en-US" sz="2400" u="heavy" spc="-5" dirty="0">
                <a:solidFill>
                  <a:srgbClr val="800000"/>
                </a:solidFill>
                <a:uFill>
                  <a:solidFill>
                    <a:srgbClr val="800000"/>
                  </a:solidFill>
                </a:uFill>
                <a:latin typeface="+mj-lt"/>
              </a:rPr>
              <a:t>in</a:t>
            </a:r>
            <a:r>
              <a:rPr lang="en-US" sz="2400" spc="-5" dirty="0">
                <a:solidFill>
                  <a:srgbClr val="800000"/>
                </a:solidFill>
                <a:latin typeface="+mj-lt"/>
              </a:rPr>
              <a:t> </a:t>
            </a:r>
            <a:r>
              <a:rPr lang="en-US" sz="2400" u="heavy" spc="-5" dirty="0">
                <a:solidFill>
                  <a:srgbClr val="800000"/>
                </a:solidFill>
                <a:uFill>
                  <a:solidFill>
                    <a:srgbClr val="800000"/>
                  </a:solidFill>
                </a:uFill>
                <a:latin typeface="+mj-lt"/>
              </a:rPr>
              <a:t>numbers</a:t>
            </a:r>
            <a:r>
              <a:rPr lang="en-US" sz="2400" spc="-5" dirty="0">
                <a:latin typeface="+mj-lt"/>
              </a:rPr>
              <a:t>,</a:t>
            </a:r>
            <a:r>
              <a:rPr lang="en-US" sz="2400" dirty="0">
                <a:latin typeface="+mj-lt"/>
              </a:rPr>
              <a:t> </a:t>
            </a:r>
          </a:p>
          <a:p>
            <a:pPr marR="5080" lvl="1">
              <a:spcBef>
                <a:spcPts val="95"/>
              </a:spcBef>
            </a:pPr>
            <a:r>
              <a:rPr lang="en-US" sz="2400" u="heavy" spc="-5" dirty="0">
                <a:solidFill>
                  <a:srgbClr val="800000"/>
                </a:solidFill>
                <a:uFill>
                  <a:solidFill>
                    <a:srgbClr val="800000"/>
                  </a:solidFill>
                </a:uFill>
                <a:latin typeface="+mj-lt"/>
              </a:rPr>
              <a:t>performs on them </a:t>
            </a:r>
            <a:r>
              <a:rPr lang="en-US" sz="2400" dirty="0">
                <a:solidFill>
                  <a:srgbClr val="800000"/>
                </a:solidFill>
                <a:latin typeface="+mj-lt"/>
              </a:rPr>
              <a:t> </a:t>
            </a:r>
            <a:r>
              <a:rPr lang="en-US" sz="2400" u="heavy" spc="-5" dirty="0">
                <a:solidFill>
                  <a:srgbClr val="800000"/>
                </a:solidFill>
                <a:uFill>
                  <a:solidFill>
                    <a:srgbClr val="800000"/>
                  </a:solidFill>
                </a:uFill>
                <a:latin typeface="+mj-lt"/>
              </a:rPr>
              <a:t>arithmetic</a:t>
            </a:r>
            <a:r>
              <a:rPr lang="en-US" sz="2400" u="heavy" spc="5" dirty="0">
                <a:solidFill>
                  <a:srgbClr val="800000"/>
                </a:solidFill>
                <a:uFill>
                  <a:solidFill>
                    <a:srgbClr val="800000"/>
                  </a:solidFill>
                </a:uFill>
                <a:latin typeface="+mj-lt"/>
              </a:rPr>
              <a:t> </a:t>
            </a:r>
            <a:r>
              <a:rPr lang="en-US" sz="2400" u="heavy" spc="-5" dirty="0">
                <a:solidFill>
                  <a:srgbClr val="800000"/>
                </a:solidFill>
                <a:uFill>
                  <a:solidFill>
                    <a:srgbClr val="800000"/>
                  </a:solidFill>
                </a:uFill>
                <a:latin typeface="+mj-lt"/>
              </a:rPr>
              <a:t>or logical</a:t>
            </a:r>
            <a:r>
              <a:rPr lang="en-US" sz="2400" u="heavy" dirty="0">
                <a:solidFill>
                  <a:srgbClr val="800000"/>
                </a:solidFill>
                <a:uFill>
                  <a:solidFill>
                    <a:srgbClr val="800000"/>
                  </a:solidFill>
                </a:uFill>
                <a:latin typeface="+mj-lt"/>
              </a:rPr>
              <a:t> </a:t>
            </a:r>
            <a:r>
              <a:rPr lang="en-US" sz="2400" u="heavy" spc="-5" dirty="0">
                <a:solidFill>
                  <a:srgbClr val="800000"/>
                </a:solidFill>
                <a:uFill>
                  <a:solidFill>
                    <a:srgbClr val="800000"/>
                  </a:solidFill>
                </a:uFill>
                <a:latin typeface="+mj-lt"/>
              </a:rPr>
              <a:t>operations</a:t>
            </a:r>
            <a:r>
              <a:rPr lang="en-US" sz="2400" spc="-10" dirty="0">
                <a:solidFill>
                  <a:srgbClr val="800000"/>
                </a:solidFill>
                <a:latin typeface="+mj-lt"/>
              </a:rPr>
              <a:t> </a:t>
            </a:r>
            <a:r>
              <a:rPr lang="en-US" sz="2400" spc="-5" dirty="0">
                <a:latin typeface="+mj-lt"/>
              </a:rPr>
              <a:t>according</a:t>
            </a:r>
            <a:r>
              <a:rPr lang="en-US" sz="2400" spc="5" dirty="0">
                <a:latin typeface="+mj-lt"/>
              </a:rPr>
              <a:t> </a:t>
            </a:r>
            <a:r>
              <a:rPr lang="en-US" sz="2400" spc="-5" dirty="0">
                <a:latin typeface="+mj-lt"/>
              </a:rPr>
              <a:t>to </a:t>
            </a:r>
            <a:r>
              <a:rPr lang="en-US" sz="2400" dirty="0">
                <a:latin typeface="+mj-lt"/>
              </a:rPr>
              <a:t> </a:t>
            </a:r>
            <a:r>
              <a:rPr lang="en-US" sz="2400" spc="-5" dirty="0">
                <a:latin typeface="+mj-lt"/>
              </a:rPr>
              <a:t>the</a:t>
            </a:r>
            <a:r>
              <a:rPr lang="en-US" sz="2400" spc="-10" dirty="0">
                <a:latin typeface="+mj-lt"/>
              </a:rPr>
              <a:t> </a:t>
            </a:r>
            <a:r>
              <a:rPr lang="en-US" sz="2400" u="heavy" spc="-5" dirty="0">
                <a:solidFill>
                  <a:srgbClr val="800000"/>
                </a:solidFill>
                <a:uFill>
                  <a:solidFill>
                    <a:srgbClr val="800000"/>
                  </a:solidFill>
                </a:uFill>
                <a:latin typeface="+mj-lt"/>
              </a:rPr>
              <a:t>program</a:t>
            </a:r>
            <a:r>
              <a:rPr lang="en-US" sz="2400" spc="-5" dirty="0">
                <a:solidFill>
                  <a:srgbClr val="800000"/>
                </a:solidFill>
                <a:latin typeface="+mj-lt"/>
              </a:rPr>
              <a:t> </a:t>
            </a:r>
            <a:r>
              <a:rPr lang="en-US" sz="2400" u="heavy" spc="-5" dirty="0">
                <a:solidFill>
                  <a:srgbClr val="800000"/>
                </a:solidFill>
                <a:uFill>
                  <a:solidFill>
                    <a:srgbClr val="800000"/>
                  </a:solidFill>
                </a:uFill>
                <a:latin typeface="+mj-lt"/>
              </a:rPr>
              <a:t>stored</a:t>
            </a:r>
            <a:r>
              <a:rPr lang="en-US" sz="2400" u="heavy" spc="10" dirty="0">
                <a:solidFill>
                  <a:srgbClr val="800000"/>
                </a:solidFill>
                <a:uFill>
                  <a:solidFill>
                    <a:srgbClr val="800000"/>
                  </a:solidFill>
                </a:uFill>
                <a:latin typeface="+mj-lt"/>
              </a:rPr>
              <a:t> </a:t>
            </a:r>
            <a:r>
              <a:rPr lang="en-US" sz="2400" u="heavy" spc="-5" dirty="0">
                <a:solidFill>
                  <a:srgbClr val="800000"/>
                </a:solidFill>
                <a:uFill>
                  <a:solidFill>
                    <a:srgbClr val="800000"/>
                  </a:solidFill>
                </a:uFill>
                <a:latin typeface="+mj-lt"/>
              </a:rPr>
              <a:t>in memory</a:t>
            </a:r>
            <a:r>
              <a:rPr lang="en-US" sz="2400" spc="-5" dirty="0">
                <a:solidFill>
                  <a:srgbClr val="800000"/>
                </a:solidFill>
                <a:latin typeface="+mj-lt"/>
              </a:rPr>
              <a:t> </a:t>
            </a:r>
          </a:p>
          <a:p>
            <a:pPr marR="5080" lvl="1">
              <a:spcBef>
                <a:spcPts val="95"/>
              </a:spcBef>
            </a:pPr>
            <a:r>
              <a:rPr lang="en-US" sz="2400" spc="-5" dirty="0">
                <a:latin typeface="+mj-lt"/>
              </a:rPr>
              <a:t>and</a:t>
            </a:r>
            <a:r>
              <a:rPr lang="en-US" sz="2400" dirty="0">
                <a:latin typeface="+mj-lt"/>
              </a:rPr>
              <a:t> </a:t>
            </a:r>
            <a:r>
              <a:rPr lang="en-US" sz="2400" spc="-5" dirty="0">
                <a:latin typeface="+mj-lt"/>
              </a:rPr>
              <a:t>then </a:t>
            </a:r>
            <a:r>
              <a:rPr lang="en-US" sz="2400" dirty="0">
                <a:latin typeface="+mj-lt"/>
              </a:rPr>
              <a:t> </a:t>
            </a:r>
            <a:r>
              <a:rPr lang="en-US" sz="2400" u="heavy" spc="-5" dirty="0">
                <a:solidFill>
                  <a:srgbClr val="800000"/>
                </a:solidFill>
                <a:uFill>
                  <a:solidFill>
                    <a:srgbClr val="800000"/>
                  </a:solidFill>
                </a:uFill>
                <a:latin typeface="+mj-lt"/>
              </a:rPr>
              <a:t>produces</a:t>
            </a:r>
            <a:r>
              <a:rPr lang="en-US" sz="2400" spc="-10" dirty="0">
                <a:solidFill>
                  <a:srgbClr val="800000"/>
                </a:solidFill>
                <a:latin typeface="+mj-lt"/>
              </a:rPr>
              <a:t> </a:t>
            </a:r>
            <a:r>
              <a:rPr lang="en-US" sz="2400" spc="-5" dirty="0">
                <a:latin typeface="+mj-lt"/>
              </a:rPr>
              <a:t>other numbers as</a:t>
            </a:r>
            <a:r>
              <a:rPr lang="en-US" sz="2400" spc="10" dirty="0">
                <a:latin typeface="+mj-lt"/>
              </a:rPr>
              <a:t> </a:t>
            </a:r>
            <a:r>
              <a:rPr lang="en-US" sz="2400" spc="-5" dirty="0">
                <a:latin typeface="+mj-lt"/>
              </a:rPr>
              <a:t>a</a:t>
            </a:r>
            <a:r>
              <a:rPr lang="en-US" sz="2400" dirty="0">
                <a:latin typeface="+mj-lt"/>
              </a:rPr>
              <a:t> </a:t>
            </a:r>
            <a:r>
              <a:rPr lang="en-US" sz="2400" spc="-5" dirty="0">
                <a:latin typeface="+mj-lt"/>
              </a:rPr>
              <a:t>result.</a:t>
            </a:r>
            <a:endParaRPr lang="en-US" sz="2400" dirty="0">
              <a:latin typeface="+mj-lt"/>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18FE7572-8BE1-47DA-A1F9-A221980A0AFA}"/>
              </a:ext>
            </a:extLst>
          </p:cNvPr>
          <p:cNvSpPr>
            <a:spLocks noGrp="1"/>
          </p:cNvSpPr>
          <p:nvPr>
            <p:ph type="dt" sz="half" idx="10"/>
          </p:nvPr>
        </p:nvSpPr>
        <p:spPr/>
        <p:txBody>
          <a:bodyPr/>
          <a:lstStyle/>
          <a:p>
            <a:fld id="{CBC69476-0A92-4DED-BA41-B4654C554AA0}" type="datetime1">
              <a:rPr lang="en-US" smtClean="0"/>
              <a:t>7/31/2023</a:t>
            </a:fld>
            <a:endParaRPr lang="en-US"/>
          </a:p>
        </p:txBody>
      </p:sp>
      <p:sp>
        <p:nvSpPr>
          <p:cNvPr id="8" name="Slide Number Placeholder 7">
            <a:extLst>
              <a:ext uri="{FF2B5EF4-FFF2-40B4-BE49-F238E27FC236}">
                <a16:creationId xmlns:a16="http://schemas.microsoft.com/office/drawing/2014/main" id="{F491C5A5-B340-41A5-BD61-07A5059026B2}"/>
              </a:ext>
            </a:extLst>
          </p:cNvPr>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3704108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298450" marR="264160" indent="-285750">
              <a:lnSpc>
                <a:spcPct val="100000"/>
              </a:lnSpc>
              <a:spcBef>
                <a:spcPts val="100"/>
              </a:spcBef>
              <a:buChar char="–"/>
              <a:tabLst>
                <a:tab pos="298450" algn="l"/>
              </a:tabLst>
            </a:pPr>
            <a:r>
              <a:rPr lang="en-US" sz="2800" spc="-5" dirty="0">
                <a:solidFill>
                  <a:srgbClr val="800000"/>
                </a:solidFill>
                <a:latin typeface="+mj-lt"/>
                <a:cs typeface="Times New Roman"/>
              </a:rPr>
              <a:t>Takes </a:t>
            </a:r>
            <a:r>
              <a:rPr lang="en-US" sz="2800" dirty="0">
                <a:solidFill>
                  <a:srgbClr val="800000"/>
                </a:solidFill>
                <a:latin typeface="+mj-lt"/>
                <a:cs typeface="Times New Roman"/>
              </a:rPr>
              <a:t>in</a:t>
            </a:r>
            <a:r>
              <a:rPr lang="en-US" sz="2800" dirty="0">
                <a:latin typeface="+mj-lt"/>
                <a:cs typeface="Times New Roman"/>
              </a:rPr>
              <a:t>: </a:t>
            </a:r>
            <a:r>
              <a:rPr lang="en-US" sz="2800" spc="-5" dirty="0">
                <a:latin typeface="+mj-lt"/>
                <a:cs typeface="Times New Roman"/>
              </a:rPr>
              <a:t>The data that </a:t>
            </a:r>
            <a:r>
              <a:rPr lang="en-US" sz="2800" dirty="0">
                <a:latin typeface="+mj-lt"/>
                <a:cs typeface="Times New Roman"/>
              </a:rPr>
              <a:t>the </a:t>
            </a:r>
            <a:r>
              <a:rPr lang="en-US" sz="2800" spc="-5" dirty="0">
                <a:latin typeface="+mj-lt"/>
                <a:cs typeface="Times New Roman"/>
              </a:rPr>
              <a:t>microprocessor </a:t>
            </a:r>
            <a:r>
              <a:rPr lang="en-US" sz="2800" spc="-685" dirty="0">
                <a:latin typeface="+mj-lt"/>
                <a:cs typeface="Times New Roman"/>
              </a:rPr>
              <a:t> </a:t>
            </a:r>
            <a:r>
              <a:rPr lang="en-US" sz="2800" spc="-5" dirty="0">
                <a:latin typeface="+mj-lt"/>
                <a:cs typeface="Times New Roman"/>
              </a:rPr>
              <a:t>manipulates</a:t>
            </a:r>
            <a:r>
              <a:rPr lang="en-US" sz="2800" spc="-35" dirty="0">
                <a:latin typeface="+mj-lt"/>
                <a:cs typeface="Times New Roman"/>
              </a:rPr>
              <a:t> </a:t>
            </a:r>
            <a:r>
              <a:rPr lang="en-US" sz="2800" spc="-5" dirty="0">
                <a:latin typeface="+mj-lt"/>
                <a:cs typeface="Times New Roman"/>
              </a:rPr>
              <a:t>must</a:t>
            </a:r>
            <a:r>
              <a:rPr lang="en-US" sz="2800" spc="-20" dirty="0">
                <a:latin typeface="+mj-lt"/>
                <a:cs typeface="Times New Roman"/>
              </a:rPr>
              <a:t> </a:t>
            </a:r>
            <a:r>
              <a:rPr lang="en-US" sz="2800" spc="-5" dirty="0">
                <a:latin typeface="+mj-lt"/>
                <a:cs typeface="Times New Roman"/>
              </a:rPr>
              <a:t>come</a:t>
            </a:r>
            <a:r>
              <a:rPr lang="en-US" sz="2800" spc="-20" dirty="0">
                <a:latin typeface="+mj-lt"/>
                <a:cs typeface="Times New Roman"/>
              </a:rPr>
              <a:t> </a:t>
            </a:r>
            <a:r>
              <a:rPr lang="en-US" sz="2800" dirty="0">
                <a:latin typeface="+mj-lt"/>
                <a:cs typeface="Times New Roman"/>
              </a:rPr>
              <a:t>from</a:t>
            </a:r>
            <a:r>
              <a:rPr lang="en-US" sz="2800" spc="-10" dirty="0">
                <a:latin typeface="+mj-lt"/>
                <a:cs typeface="Times New Roman"/>
              </a:rPr>
              <a:t> </a:t>
            </a:r>
            <a:r>
              <a:rPr lang="en-US" sz="2800" spc="-5" dirty="0">
                <a:latin typeface="+mj-lt"/>
                <a:cs typeface="Times New Roman"/>
              </a:rPr>
              <a:t>somewhere.</a:t>
            </a:r>
            <a:endParaRPr lang="en-US" sz="2800" dirty="0">
              <a:latin typeface="+mj-lt"/>
              <a:cs typeface="Times New Roman"/>
            </a:endParaRPr>
          </a:p>
          <a:p>
            <a:pPr marL="698500" lvl="1" indent="-229235">
              <a:lnSpc>
                <a:spcPct val="100000"/>
              </a:lnSpc>
              <a:spcBef>
                <a:spcPts val="585"/>
              </a:spcBef>
              <a:buChar char="•"/>
              <a:tabLst>
                <a:tab pos="698500" algn="l"/>
              </a:tabLst>
            </a:pPr>
            <a:r>
              <a:rPr lang="en-US" sz="2400" spc="-5" dirty="0">
                <a:latin typeface="+mj-lt"/>
                <a:cs typeface="Times New Roman"/>
              </a:rPr>
              <a:t>It comes from what is</a:t>
            </a:r>
            <a:r>
              <a:rPr lang="en-US" sz="2400" dirty="0">
                <a:latin typeface="+mj-lt"/>
                <a:cs typeface="Times New Roman"/>
              </a:rPr>
              <a:t> </a:t>
            </a:r>
            <a:r>
              <a:rPr lang="en-US" sz="2400" spc="-5" dirty="0">
                <a:latin typeface="+mj-lt"/>
                <a:cs typeface="Times New Roman"/>
              </a:rPr>
              <a:t>called</a:t>
            </a:r>
            <a:r>
              <a:rPr lang="en-US" sz="2400" spc="-15" dirty="0">
                <a:latin typeface="+mj-lt"/>
                <a:cs typeface="Times New Roman"/>
              </a:rPr>
              <a:t> </a:t>
            </a:r>
            <a:r>
              <a:rPr lang="en-US" sz="2400" spc="-5" dirty="0">
                <a:latin typeface="+mj-lt"/>
                <a:cs typeface="Times New Roman"/>
              </a:rPr>
              <a:t>“input</a:t>
            </a:r>
            <a:r>
              <a:rPr lang="en-US" sz="2400" spc="-20" dirty="0">
                <a:latin typeface="+mj-lt"/>
                <a:cs typeface="Times New Roman"/>
              </a:rPr>
              <a:t> </a:t>
            </a:r>
            <a:r>
              <a:rPr lang="en-US" sz="2400" spc="-5" dirty="0">
                <a:latin typeface="+mj-lt"/>
                <a:cs typeface="Times New Roman"/>
              </a:rPr>
              <a:t>devices”.</a:t>
            </a:r>
            <a:endParaRPr lang="en-US" sz="2400" dirty="0">
              <a:latin typeface="+mj-lt"/>
              <a:cs typeface="Times New Roman"/>
            </a:endParaRPr>
          </a:p>
          <a:p>
            <a:pPr marL="697865" marR="5080" lvl="1" indent="-228600">
              <a:lnSpc>
                <a:spcPct val="100000"/>
              </a:lnSpc>
              <a:spcBef>
                <a:spcPts val="575"/>
              </a:spcBef>
              <a:buChar char="•"/>
              <a:tabLst>
                <a:tab pos="698500" algn="l"/>
              </a:tabLst>
            </a:pPr>
            <a:r>
              <a:rPr lang="en-US" sz="2400" spc="-5" dirty="0">
                <a:latin typeface="+mj-lt"/>
                <a:cs typeface="Times New Roman"/>
              </a:rPr>
              <a:t>These are devices that bring data into the system </a:t>
            </a:r>
            <a:r>
              <a:rPr lang="en-US" sz="2400" spc="-585" dirty="0">
                <a:latin typeface="+mj-lt"/>
                <a:cs typeface="Times New Roman"/>
              </a:rPr>
              <a:t> </a:t>
            </a:r>
            <a:r>
              <a:rPr lang="en-US" sz="2400" spc="-5" dirty="0">
                <a:latin typeface="+mj-lt"/>
                <a:cs typeface="Times New Roman"/>
              </a:rPr>
              <a:t>from</a:t>
            </a:r>
            <a:r>
              <a:rPr lang="en-US" sz="2400" spc="-15" dirty="0">
                <a:latin typeface="+mj-lt"/>
                <a:cs typeface="Times New Roman"/>
              </a:rPr>
              <a:t> </a:t>
            </a:r>
            <a:r>
              <a:rPr lang="en-US" sz="2400" spc="-5" dirty="0">
                <a:latin typeface="+mj-lt"/>
                <a:cs typeface="Times New Roman"/>
              </a:rPr>
              <a:t>the outside</a:t>
            </a:r>
            <a:r>
              <a:rPr lang="en-US" sz="2400" spc="-10" dirty="0">
                <a:latin typeface="+mj-lt"/>
                <a:cs typeface="Times New Roman"/>
              </a:rPr>
              <a:t> </a:t>
            </a:r>
            <a:r>
              <a:rPr lang="en-US" sz="2400" spc="-5" dirty="0">
                <a:latin typeface="+mj-lt"/>
                <a:cs typeface="Times New Roman"/>
              </a:rPr>
              <a:t>world.</a:t>
            </a:r>
            <a:endParaRPr lang="en-US" sz="2400" dirty="0">
              <a:latin typeface="+mj-lt"/>
              <a:cs typeface="Times New Roman"/>
            </a:endParaRPr>
          </a:p>
          <a:p>
            <a:pPr marL="697865" marR="339090" lvl="1" indent="-228600">
              <a:lnSpc>
                <a:spcPct val="100000"/>
              </a:lnSpc>
              <a:spcBef>
                <a:spcPts val="580"/>
              </a:spcBef>
              <a:buChar char="•"/>
              <a:tabLst>
                <a:tab pos="698500" algn="l"/>
              </a:tabLst>
            </a:pPr>
            <a:r>
              <a:rPr lang="en-US" sz="2400" spc="-5" dirty="0">
                <a:latin typeface="+mj-lt"/>
                <a:cs typeface="Times New Roman"/>
              </a:rPr>
              <a:t>These represent devices such as </a:t>
            </a:r>
            <a:r>
              <a:rPr lang="en-US" sz="2400" dirty="0">
                <a:latin typeface="+mj-lt"/>
                <a:cs typeface="Times New Roman"/>
              </a:rPr>
              <a:t>a </a:t>
            </a:r>
            <a:r>
              <a:rPr lang="en-US" sz="2400" spc="-5" dirty="0">
                <a:latin typeface="+mj-lt"/>
                <a:cs typeface="Times New Roman"/>
              </a:rPr>
              <a:t>keyboard, </a:t>
            </a:r>
            <a:r>
              <a:rPr lang="en-US" sz="2400" dirty="0">
                <a:latin typeface="+mj-lt"/>
                <a:cs typeface="Times New Roman"/>
              </a:rPr>
              <a:t>a </a:t>
            </a:r>
            <a:r>
              <a:rPr lang="en-US" sz="2400" spc="-585" dirty="0">
                <a:latin typeface="+mj-lt"/>
                <a:cs typeface="Times New Roman"/>
              </a:rPr>
              <a:t> </a:t>
            </a:r>
            <a:r>
              <a:rPr lang="en-US" sz="2400" spc="-5" dirty="0">
                <a:latin typeface="+mj-lt"/>
                <a:cs typeface="Times New Roman"/>
              </a:rPr>
              <a:t>mouse,</a:t>
            </a:r>
            <a:r>
              <a:rPr lang="en-US" sz="2400" spc="-20" dirty="0">
                <a:latin typeface="+mj-lt"/>
                <a:cs typeface="Times New Roman"/>
              </a:rPr>
              <a:t> </a:t>
            </a:r>
            <a:r>
              <a:rPr lang="en-US" sz="2400" spc="-5" dirty="0">
                <a:latin typeface="+mj-lt"/>
                <a:cs typeface="Times New Roman"/>
              </a:rPr>
              <a:t>switches,</a:t>
            </a:r>
            <a:r>
              <a:rPr lang="en-US" sz="2400" spc="-15" dirty="0">
                <a:latin typeface="+mj-lt"/>
                <a:cs typeface="Times New Roman"/>
              </a:rPr>
              <a:t> </a:t>
            </a:r>
            <a:r>
              <a:rPr lang="en-US" sz="2400" dirty="0">
                <a:latin typeface="+mj-lt"/>
                <a:cs typeface="Times New Roman"/>
              </a:rPr>
              <a:t>and</a:t>
            </a:r>
            <a:r>
              <a:rPr lang="en-US" sz="2400" spc="-10" dirty="0">
                <a:latin typeface="+mj-lt"/>
                <a:cs typeface="Times New Roman"/>
              </a:rPr>
              <a:t> </a:t>
            </a:r>
            <a:r>
              <a:rPr lang="en-US" sz="2400" spc="-5" dirty="0">
                <a:latin typeface="+mj-lt"/>
                <a:cs typeface="Times New Roman"/>
              </a:rPr>
              <a:t>the</a:t>
            </a:r>
            <a:r>
              <a:rPr lang="en-US" sz="2400" spc="-10" dirty="0">
                <a:latin typeface="+mj-lt"/>
                <a:cs typeface="Times New Roman"/>
              </a:rPr>
              <a:t> </a:t>
            </a:r>
            <a:r>
              <a:rPr lang="en-US" sz="2400" spc="-5" dirty="0">
                <a:latin typeface="+mj-lt"/>
                <a:cs typeface="Times New Roman"/>
              </a:rPr>
              <a:t>like.</a:t>
            </a:r>
            <a:endParaRPr lang="en-US" sz="2400" dirty="0">
              <a:latin typeface="+mj-lt"/>
              <a:cs typeface="Times New Roman"/>
            </a:endParaRPr>
          </a:p>
          <a:p>
            <a:pPr marL="457200" indent="-457200">
              <a:buFont typeface="+mj-lt"/>
              <a:buAutoNum type="arabicPeriod"/>
              <a:tabLst>
                <a:tab pos="463550" algn="l"/>
              </a:tabLst>
            </a:pPr>
            <a:endParaRPr lang="en-US" sz="2000" dirty="0">
              <a:latin typeface="+mj-lt"/>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8" name="Date Placeholder 7">
            <a:extLst>
              <a:ext uri="{FF2B5EF4-FFF2-40B4-BE49-F238E27FC236}">
                <a16:creationId xmlns:a16="http://schemas.microsoft.com/office/drawing/2014/main" id="{AE7737F5-DEB6-456E-AC9A-1E61056A2B02}"/>
              </a:ext>
            </a:extLst>
          </p:cNvPr>
          <p:cNvSpPr>
            <a:spLocks noGrp="1"/>
          </p:cNvSpPr>
          <p:nvPr>
            <p:ph type="dt" sz="half" idx="10"/>
          </p:nvPr>
        </p:nvSpPr>
        <p:spPr/>
        <p:txBody>
          <a:bodyPr/>
          <a:lstStyle/>
          <a:p>
            <a:fld id="{0E450C39-E899-4C47-8ADF-88894CBAB074}" type="datetime1">
              <a:rPr lang="en-US" smtClean="0"/>
              <a:t>7/31/2023</a:t>
            </a:fld>
            <a:endParaRPr lang="en-US"/>
          </a:p>
        </p:txBody>
      </p:sp>
      <p:sp>
        <p:nvSpPr>
          <p:cNvPr id="9" name="Slide Number Placeholder 8">
            <a:extLst>
              <a:ext uri="{FF2B5EF4-FFF2-40B4-BE49-F238E27FC236}">
                <a16:creationId xmlns:a16="http://schemas.microsoft.com/office/drawing/2014/main" id="{C9883DE3-CB85-43BC-B6EA-918A1124BEB0}"/>
              </a:ext>
            </a:extLst>
          </p:cNvPr>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397589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lnSpcReduction="10000"/>
          </a:bodyPr>
          <a:lstStyle/>
          <a:p>
            <a:pPr marL="298450" marR="241300" indent="-285750">
              <a:lnSpc>
                <a:spcPct val="100000"/>
              </a:lnSpc>
              <a:spcBef>
                <a:spcPts val="95"/>
              </a:spcBef>
              <a:tabLst>
                <a:tab pos="297815" algn="l"/>
              </a:tabLst>
            </a:pPr>
            <a:r>
              <a:rPr lang="en-US" sz="2800" spc="-5" dirty="0">
                <a:solidFill>
                  <a:srgbClr val="800000"/>
                </a:solidFill>
                <a:latin typeface="+mj-lt"/>
                <a:cs typeface="Times New Roman"/>
              </a:rPr>
              <a:t>– Numbers</a:t>
            </a:r>
            <a:r>
              <a:rPr lang="en-US" sz="2800" spc="-5" dirty="0">
                <a:latin typeface="+mj-lt"/>
                <a:cs typeface="Times New Roman"/>
              </a:rPr>
              <a:t>:</a:t>
            </a:r>
            <a:r>
              <a:rPr lang="en-US" sz="2800" spc="-15" dirty="0">
                <a:latin typeface="+mj-lt"/>
                <a:cs typeface="Times New Roman"/>
              </a:rPr>
              <a:t> </a:t>
            </a:r>
            <a:r>
              <a:rPr lang="en-US" sz="2800" spc="-5" dirty="0">
                <a:latin typeface="+mj-lt"/>
                <a:cs typeface="Times New Roman"/>
              </a:rPr>
              <a:t>The</a:t>
            </a:r>
            <a:r>
              <a:rPr lang="en-US" sz="2800" spc="10" dirty="0">
                <a:latin typeface="+mj-lt"/>
                <a:cs typeface="Times New Roman"/>
              </a:rPr>
              <a:t> </a:t>
            </a:r>
            <a:r>
              <a:rPr lang="en-US" sz="2800" spc="-5" dirty="0">
                <a:latin typeface="+mj-lt"/>
                <a:cs typeface="Times New Roman"/>
              </a:rPr>
              <a:t>microprocessor</a:t>
            </a:r>
            <a:r>
              <a:rPr lang="en-US" sz="2800" spc="-25" dirty="0">
                <a:latin typeface="+mj-lt"/>
                <a:cs typeface="Times New Roman"/>
              </a:rPr>
              <a:t> </a:t>
            </a:r>
            <a:r>
              <a:rPr lang="en-US" sz="2800" spc="-5" dirty="0">
                <a:latin typeface="+mj-lt"/>
                <a:cs typeface="Times New Roman"/>
              </a:rPr>
              <a:t>has</a:t>
            </a:r>
            <a:r>
              <a:rPr lang="en-US" sz="2800" dirty="0">
                <a:latin typeface="+mj-lt"/>
                <a:cs typeface="Times New Roman"/>
              </a:rPr>
              <a:t> </a:t>
            </a:r>
            <a:r>
              <a:rPr lang="en-US" sz="2800" spc="-5" dirty="0">
                <a:latin typeface="+mj-lt"/>
                <a:cs typeface="Times New Roman"/>
              </a:rPr>
              <a:t>a</a:t>
            </a:r>
            <a:r>
              <a:rPr lang="en-US" sz="2800" spc="10" dirty="0">
                <a:latin typeface="+mj-lt"/>
                <a:cs typeface="Times New Roman"/>
              </a:rPr>
              <a:t> </a:t>
            </a:r>
            <a:r>
              <a:rPr lang="en-US" sz="2800" spc="-5" dirty="0">
                <a:latin typeface="+mj-lt"/>
                <a:cs typeface="Times New Roman"/>
              </a:rPr>
              <a:t>very</a:t>
            </a:r>
            <a:r>
              <a:rPr lang="en-US" sz="2800" dirty="0">
                <a:latin typeface="+mj-lt"/>
                <a:cs typeface="Times New Roman"/>
              </a:rPr>
              <a:t> </a:t>
            </a:r>
            <a:r>
              <a:rPr lang="en-US" sz="2800" spc="-5" dirty="0">
                <a:latin typeface="+mj-lt"/>
                <a:cs typeface="Times New Roman"/>
              </a:rPr>
              <a:t>narrow</a:t>
            </a:r>
            <a:r>
              <a:rPr lang="en-US" sz="2800" spc="5" dirty="0">
                <a:latin typeface="+mj-lt"/>
                <a:cs typeface="Times New Roman"/>
              </a:rPr>
              <a:t> </a:t>
            </a:r>
            <a:r>
              <a:rPr lang="en-US" sz="2800" spc="-5" dirty="0">
                <a:latin typeface="+mj-lt"/>
                <a:cs typeface="Times New Roman"/>
              </a:rPr>
              <a:t>view</a:t>
            </a:r>
            <a:r>
              <a:rPr lang="en-US" sz="2800" spc="5" dirty="0">
                <a:latin typeface="+mj-lt"/>
                <a:cs typeface="Times New Roman"/>
              </a:rPr>
              <a:t> </a:t>
            </a:r>
            <a:r>
              <a:rPr lang="en-US" sz="2800" spc="-5" dirty="0">
                <a:latin typeface="+mj-lt"/>
                <a:cs typeface="Times New Roman"/>
              </a:rPr>
              <a:t>on</a:t>
            </a:r>
            <a:r>
              <a:rPr lang="en-US" sz="2800" spc="5" dirty="0">
                <a:latin typeface="+mj-lt"/>
                <a:cs typeface="Times New Roman"/>
              </a:rPr>
              <a:t> </a:t>
            </a:r>
            <a:r>
              <a:rPr lang="en-US" sz="2800" spc="-5" dirty="0">
                <a:latin typeface="+mj-lt"/>
                <a:cs typeface="Times New Roman"/>
              </a:rPr>
              <a:t>life.</a:t>
            </a:r>
            <a:r>
              <a:rPr lang="en-US" sz="2800" spc="-20" dirty="0">
                <a:latin typeface="+mj-lt"/>
                <a:cs typeface="Times New Roman"/>
              </a:rPr>
              <a:t> </a:t>
            </a:r>
            <a:r>
              <a:rPr lang="en-US" sz="2800" spc="-5" dirty="0">
                <a:latin typeface="+mj-lt"/>
                <a:cs typeface="Times New Roman"/>
              </a:rPr>
              <a:t>It </a:t>
            </a:r>
            <a:r>
              <a:rPr lang="en-US" sz="2800" spc="-484" dirty="0">
                <a:latin typeface="+mj-lt"/>
                <a:cs typeface="Times New Roman"/>
              </a:rPr>
              <a:t> </a:t>
            </a:r>
            <a:r>
              <a:rPr lang="en-US" sz="2800" spc="-5" dirty="0">
                <a:latin typeface="+mj-lt"/>
                <a:cs typeface="Times New Roman"/>
              </a:rPr>
              <a:t>only</a:t>
            </a:r>
            <a:r>
              <a:rPr lang="en-US" sz="2800" spc="-20" dirty="0">
                <a:latin typeface="+mj-lt"/>
                <a:cs typeface="Times New Roman"/>
              </a:rPr>
              <a:t> </a:t>
            </a:r>
            <a:r>
              <a:rPr lang="en-US" sz="2800" spc="-5" dirty="0">
                <a:latin typeface="+mj-lt"/>
                <a:cs typeface="Times New Roman"/>
              </a:rPr>
              <a:t>understands</a:t>
            </a:r>
            <a:r>
              <a:rPr lang="en-US" sz="2800" spc="-25" dirty="0">
                <a:latin typeface="+mj-lt"/>
                <a:cs typeface="Times New Roman"/>
              </a:rPr>
              <a:t> </a:t>
            </a:r>
            <a:r>
              <a:rPr lang="en-US" sz="2800" spc="-5" dirty="0">
                <a:latin typeface="+mj-lt"/>
                <a:cs typeface="Times New Roman"/>
              </a:rPr>
              <a:t>binary</a:t>
            </a:r>
            <a:r>
              <a:rPr lang="en-US" sz="2800" spc="-20" dirty="0">
                <a:latin typeface="+mj-lt"/>
                <a:cs typeface="Times New Roman"/>
              </a:rPr>
              <a:t> </a:t>
            </a:r>
            <a:r>
              <a:rPr lang="en-US" sz="2800" spc="-5" dirty="0">
                <a:latin typeface="+mj-lt"/>
                <a:cs typeface="Times New Roman"/>
              </a:rPr>
              <a:t>numbers.</a:t>
            </a:r>
            <a:endParaRPr lang="en-US" sz="3600" dirty="0">
              <a:latin typeface="+mj-lt"/>
              <a:cs typeface="Times New Roman"/>
            </a:endParaRPr>
          </a:p>
          <a:p>
            <a:pPr marL="298450">
              <a:lnSpc>
                <a:spcPct val="100000"/>
              </a:lnSpc>
            </a:pPr>
            <a:r>
              <a:rPr lang="en-US" sz="2800" spc="-5" dirty="0">
                <a:latin typeface="+mj-lt"/>
                <a:cs typeface="Times New Roman"/>
              </a:rPr>
              <a:t>A</a:t>
            </a:r>
            <a:r>
              <a:rPr lang="en-US" sz="2800" spc="5" dirty="0">
                <a:latin typeface="+mj-lt"/>
                <a:cs typeface="Times New Roman"/>
              </a:rPr>
              <a:t> </a:t>
            </a:r>
            <a:r>
              <a:rPr lang="en-US" sz="2800" spc="-5" dirty="0">
                <a:latin typeface="+mj-lt"/>
                <a:cs typeface="Times New Roman"/>
              </a:rPr>
              <a:t>binary</a:t>
            </a:r>
            <a:r>
              <a:rPr lang="en-US" sz="2800" spc="-10" dirty="0">
                <a:latin typeface="+mj-lt"/>
                <a:cs typeface="Times New Roman"/>
              </a:rPr>
              <a:t> </a:t>
            </a:r>
            <a:r>
              <a:rPr lang="en-US" sz="2800" spc="-5" dirty="0">
                <a:latin typeface="+mj-lt"/>
                <a:cs typeface="Times New Roman"/>
              </a:rPr>
              <a:t>digit</a:t>
            </a:r>
            <a:r>
              <a:rPr lang="en-US" sz="2800" spc="-20" dirty="0">
                <a:latin typeface="+mj-lt"/>
                <a:cs typeface="Times New Roman"/>
              </a:rPr>
              <a:t> </a:t>
            </a:r>
            <a:r>
              <a:rPr lang="en-US" sz="2800" spc="-5" dirty="0">
                <a:latin typeface="+mj-lt"/>
                <a:cs typeface="Times New Roman"/>
              </a:rPr>
              <a:t>is called</a:t>
            </a:r>
            <a:r>
              <a:rPr lang="en-US" sz="2800" spc="-15" dirty="0">
                <a:latin typeface="+mj-lt"/>
                <a:cs typeface="Times New Roman"/>
              </a:rPr>
              <a:t> </a:t>
            </a:r>
            <a:r>
              <a:rPr lang="en-US" sz="2800" spc="-5" dirty="0">
                <a:latin typeface="+mj-lt"/>
                <a:cs typeface="Times New Roman"/>
              </a:rPr>
              <a:t>a</a:t>
            </a:r>
            <a:r>
              <a:rPr lang="en-US" sz="2800" spc="10" dirty="0">
                <a:latin typeface="+mj-lt"/>
                <a:cs typeface="Times New Roman"/>
              </a:rPr>
              <a:t> </a:t>
            </a:r>
            <a:r>
              <a:rPr lang="en-US" sz="2800" spc="-5" dirty="0">
                <a:latin typeface="+mj-lt"/>
                <a:cs typeface="Times New Roman"/>
              </a:rPr>
              <a:t>bit</a:t>
            </a:r>
            <a:r>
              <a:rPr lang="en-US" sz="2800" spc="-15" dirty="0">
                <a:latin typeface="+mj-lt"/>
                <a:cs typeface="Times New Roman"/>
              </a:rPr>
              <a:t> </a:t>
            </a:r>
            <a:r>
              <a:rPr lang="en-US" sz="2800" spc="-5" dirty="0">
                <a:latin typeface="+mj-lt"/>
                <a:cs typeface="Times New Roman"/>
              </a:rPr>
              <a:t>(which</a:t>
            </a:r>
            <a:r>
              <a:rPr lang="en-US" sz="2800" dirty="0">
                <a:latin typeface="+mj-lt"/>
                <a:cs typeface="Times New Roman"/>
              </a:rPr>
              <a:t> </a:t>
            </a:r>
            <a:r>
              <a:rPr lang="en-US" sz="2800" spc="-5" dirty="0">
                <a:latin typeface="+mj-lt"/>
                <a:cs typeface="Times New Roman"/>
              </a:rPr>
              <a:t>comes from</a:t>
            </a:r>
            <a:r>
              <a:rPr lang="en-US" sz="2800" spc="25" dirty="0">
                <a:latin typeface="+mj-lt"/>
                <a:cs typeface="Times New Roman"/>
              </a:rPr>
              <a:t> </a:t>
            </a:r>
            <a:r>
              <a:rPr lang="en-US" sz="2800" b="1" u="heavy" spc="-5" dirty="0">
                <a:uFill>
                  <a:solidFill>
                    <a:srgbClr val="000000"/>
                  </a:solidFill>
                </a:uFill>
                <a:latin typeface="+mj-lt"/>
                <a:cs typeface="Times New Roman"/>
              </a:rPr>
              <a:t>b</a:t>
            </a:r>
            <a:r>
              <a:rPr lang="en-US" sz="2800" spc="-5" dirty="0">
                <a:latin typeface="+mj-lt"/>
                <a:cs typeface="Times New Roman"/>
              </a:rPr>
              <a:t>inary</a:t>
            </a:r>
            <a:r>
              <a:rPr lang="en-US" sz="2800" spc="-10" dirty="0">
                <a:latin typeface="+mj-lt"/>
                <a:cs typeface="Times New Roman"/>
              </a:rPr>
              <a:t> </a:t>
            </a:r>
            <a:r>
              <a:rPr lang="en-US" sz="2800" spc="-5" dirty="0">
                <a:latin typeface="+mj-lt"/>
                <a:cs typeface="Times New Roman"/>
              </a:rPr>
              <a:t>dig</a:t>
            </a:r>
            <a:r>
              <a:rPr lang="en-US" sz="2800" b="1" u="heavy" spc="-5" dirty="0">
                <a:uFill>
                  <a:solidFill>
                    <a:srgbClr val="000000"/>
                  </a:solidFill>
                </a:uFill>
                <a:latin typeface="+mj-lt"/>
                <a:cs typeface="Times New Roman"/>
              </a:rPr>
              <a:t>it</a:t>
            </a:r>
            <a:r>
              <a:rPr lang="en-US" sz="2800" spc="-5" dirty="0">
                <a:latin typeface="+mj-lt"/>
                <a:cs typeface="Times New Roman"/>
              </a:rPr>
              <a:t>).</a:t>
            </a:r>
            <a:endParaRPr lang="en-US" sz="3600" dirty="0">
              <a:latin typeface="+mj-lt"/>
              <a:cs typeface="Times New Roman"/>
            </a:endParaRPr>
          </a:p>
          <a:p>
            <a:pPr marL="298450" marR="586740">
              <a:lnSpc>
                <a:spcPct val="100000"/>
              </a:lnSpc>
            </a:pPr>
            <a:r>
              <a:rPr lang="en-US" sz="2800" spc="-5" dirty="0">
                <a:latin typeface="+mj-lt"/>
                <a:cs typeface="Times New Roman"/>
              </a:rPr>
              <a:t>The</a:t>
            </a:r>
            <a:r>
              <a:rPr lang="en-US" sz="2800" spc="5" dirty="0">
                <a:latin typeface="+mj-lt"/>
                <a:cs typeface="Times New Roman"/>
              </a:rPr>
              <a:t> </a:t>
            </a:r>
            <a:r>
              <a:rPr lang="en-US" sz="2800" spc="-5" dirty="0">
                <a:latin typeface="+mj-lt"/>
                <a:cs typeface="Times New Roman"/>
              </a:rPr>
              <a:t>microprocessor</a:t>
            </a:r>
            <a:r>
              <a:rPr lang="en-US" sz="2800" spc="-25" dirty="0">
                <a:latin typeface="+mj-lt"/>
                <a:cs typeface="Times New Roman"/>
              </a:rPr>
              <a:t> </a:t>
            </a:r>
            <a:r>
              <a:rPr lang="en-US" sz="2800" spc="-5" dirty="0">
                <a:latin typeface="+mj-lt"/>
                <a:cs typeface="Times New Roman"/>
              </a:rPr>
              <a:t>recognizes</a:t>
            </a:r>
            <a:r>
              <a:rPr lang="en-US" sz="2800" spc="-10" dirty="0">
                <a:latin typeface="+mj-lt"/>
                <a:cs typeface="Times New Roman"/>
              </a:rPr>
              <a:t> </a:t>
            </a:r>
            <a:r>
              <a:rPr lang="en-US" sz="2800" spc="-5" dirty="0">
                <a:latin typeface="+mj-lt"/>
                <a:cs typeface="Times New Roman"/>
              </a:rPr>
              <a:t>and</a:t>
            </a:r>
            <a:r>
              <a:rPr lang="en-US" sz="2800" spc="5" dirty="0">
                <a:latin typeface="+mj-lt"/>
                <a:cs typeface="Times New Roman"/>
              </a:rPr>
              <a:t> </a:t>
            </a:r>
            <a:r>
              <a:rPr lang="en-US" sz="2800" spc="-5" dirty="0">
                <a:latin typeface="+mj-lt"/>
                <a:cs typeface="Times New Roman"/>
              </a:rPr>
              <a:t>processes</a:t>
            </a:r>
            <a:r>
              <a:rPr lang="en-US" sz="2800" spc="-10" dirty="0">
                <a:latin typeface="+mj-lt"/>
                <a:cs typeface="Times New Roman"/>
              </a:rPr>
              <a:t> </a:t>
            </a:r>
            <a:r>
              <a:rPr lang="en-US" sz="2800" spc="-5" dirty="0">
                <a:latin typeface="+mj-lt"/>
                <a:cs typeface="Times New Roman"/>
              </a:rPr>
              <a:t>a</a:t>
            </a:r>
            <a:r>
              <a:rPr lang="en-US" sz="2800" spc="5" dirty="0">
                <a:latin typeface="+mj-lt"/>
                <a:cs typeface="Times New Roman"/>
              </a:rPr>
              <a:t> </a:t>
            </a:r>
            <a:r>
              <a:rPr lang="en-US" sz="2800" spc="-5" dirty="0">
                <a:latin typeface="+mj-lt"/>
                <a:cs typeface="Times New Roman"/>
              </a:rPr>
              <a:t>group of</a:t>
            </a:r>
            <a:r>
              <a:rPr lang="en-US" sz="2800" spc="10" dirty="0">
                <a:latin typeface="+mj-lt"/>
                <a:cs typeface="Times New Roman"/>
              </a:rPr>
              <a:t> </a:t>
            </a:r>
            <a:r>
              <a:rPr lang="en-US" sz="2800" spc="-5" dirty="0">
                <a:latin typeface="+mj-lt"/>
                <a:cs typeface="Times New Roman"/>
              </a:rPr>
              <a:t>bits </a:t>
            </a:r>
            <a:r>
              <a:rPr lang="en-US" sz="2800" spc="-484" dirty="0">
                <a:latin typeface="+mj-lt"/>
                <a:cs typeface="Times New Roman"/>
              </a:rPr>
              <a:t> </a:t>
            </a:r>
            <a:r>
              <a:rPr lang="en-US" sz="2800" spc="-5" dirty="0">
                <a:latin typeface="+mj-lt"/>
                <a:cs typeface="Times New Roman"/>
              </a:rPr>
              <a:t>together.</a:t>
            </a:r>
            <a:r>
              <a:rPr lang="en-US" sz="2800" spc="-30" dirty="0">
                <a:latin typeface="+mj-lt"/>
                <a:cs typeface="Times New Roman"/>
              </a:rPr>
              <a:t> </a:t>
            </a:r>
            <a:r>
              <a:rPr lang="en-US" sz="2800" spc="-5" dirty="0">
                <a:latin typeface="+mj-lt"/>
                <a:cs typeface="Times New Roman"/>
              </a:rPr>
              <a:t>This</a:t>
            </a:r>
            <a:r>
              <a:rPr lang="en-US" sz="2800" spc="-10" dirty="0">
                <a:latin typeface="+mj-lt"/>
                <a:cs typeface="Times New Roman"/>
              </a:rPr>
              <a:t> </a:t>
            </a:r>
            <a:r>
              <a:rPr lang="en-US" sz="2800" spc="-5" dirty="0">
                <a:latin typeface="+mj-lt"/>
                <a:cs typeface="Times New Roman"/>
              </a:rPr>
              <a:t>group</a:t>
            </a:r>
            <a:r>
              <a:rPr lang="en-US" sz="2800" spc="-10" dirty="0">
                <a:latin typeface="+mj-lt"/>
                <a:cs typeface="Times New Roman"/>
              </a:rPr>
              <a:t> </a:t>
            </a:r>
            <a:r>
              <a:rPr lang="en-US" sz="2800" spc="-5" dirty="0">
                <a:latin typeface="+mj-lt"/>
                <a:cs typeface="Times New Roman"/>
              </a:rPr>
              <a:t>of bits</a:t>
            </a:r>
            <a:r>
              <a:rPr lang="en-US" sz="2800" spc="-20" dirty="0">
                <a:latin typeface="+mj-lt"/>
                <a:cs typeface="Times New Roman"/>
              </a:rPr>
              <a:t> </a:t>
            </a:r>
            <a:r>
              <a:rPr lang="en-US" sz="2800" spc="-5" dirty="0">
                <a:latin typeface="+mj-lt"/>
                <a:cs typeface="Times New Roman"/>
              </a:rPr>
              <a:t>is</a:t>
            </a:r>
            <a:r>
              <a:rPr lang="en-US" sz="2800" spc="-15" dirty="0">
                <a:latin typeface="+mj-lt"/>
                <a:cs typeface="Times New Roman"/>
              </a:rPr>
              <a:t> </a:t>
            </a:r>
            <a:r>
              <a:rPr lang="en-US" sz="2800" spc="-5" dirty="0">
                <a:latin typeface="+mj-lt"/>
                <a:cs typeface="Times New Roman"/>
              </a:rPr>
              <a:t>called</a:t>
            </a:r>
            <a:r>
              <a:rPr lang="en-US" sz="2800" spc="-15" dirty="0">
                <a:latin typeface="+mj-lt"/>
                <a:cs typeface="Times New Roman"/>
              </a:rPr>
              <a:t> </a:t>
            </a:r>
            <a:r>
              <a:rPr lang="en-US" sz="2800" spc="-5" dirty="0">
                <a:latin typeface="+mj-lt"/>
                <a:cs typeface="Times New Roman"/>
              </a:rPr>
              <a:t>a “word”.</a:t>
            </a:r>
            <a:endParaRPr lang="en-US" sz="3600" dirty="0">
              <a:latin typeface="+mj-lt"/>
              <a:cs typeface="Times New Roman"/>
            </a:endParaRPr>
          </a:p>
          <a:p>
            <a:pPr marL="298450" marR="5080">
              <a:lnSpc>
                <a:spcPct val="100000"/>
              </a:lnSpc>
            </a:pPr>
            <a:r>
              <a:rPr lang="en-US" sz="2800" spc="-5" dirty="0">
                <a:latin typeface="+mj-lt"/>
                <a:cs typeface="Times New Roman"/>
              </a:rPr>
              <a:t>The</a:t>
            </a:r>
            <a:r>
              <a:rPr lang="en-US" sz="2800" dirty="0">
                <a:latin typeface="+mj-lt"/>
                <a:cs typeface="Times New Roman"/>
              </a:rPr>
              <a:t> </a:t>
            </a:r>
            <a:r>
              <a:rPr lang="en-US" sz="2800" spc="-5" dirty="0">
                <a:latin typeface="+mj-lt"/>
                <a:cs typeface="Times New Roman"/>
              </a:rPr>
              <a:t>number</a:t>
            </a:r>
            <a:r>
              <a:rPr lang="en-US" sz="2800" spc="-10" dirty="0">
                <a:latin typeface="+mj-lt"/>
                <a:cs typeface="Times New Roman"/>
              </a:rPr>
              <a:t> </a:t>
            </a:r>
            <a:r>
              <a:rPr lang="en-US" sz="2800" spc="-5" dirty="0">
                <a:latin typeface="+mj-lt"/>
                <a:cs typeface="Times New Roman"/>
              </a:rPr>
              <a:t>of</a:t>
            </a:r>
            <a:r>
              <a:rPr lang="en-US" sz="2800" spc="5" dirty="0">
                <a:latin typeface="+mj-lt"/>
                <a:cs typeface="Times New Roman"/>
              </a:rPr>
              <a:t> </a:t>
            </a:r>
            <a:r>
              <a:rPr lang="en-US" sz="2800" spc="-5" dirty="0">
                <a:latin typeface="+mj-lt"/>
                <a:cs typeface="Times New Roman"/>
              </a:rPr>
              <a:t>bits</a:t>
            </a:r>
            <a:r>
              <a:rPr lang="en-US" sz="2800" spc="-20" dirty="0">
                <a:latin typeface="+mj-lt"/>
                <a:cs typeface="Times New Roman"/>
              </a:rPr>
              <a:t> </a:t>
            </a:r>
            <a:r>
              <a:rPr lang="en-US" sz="2800" spc="-5" dirty="0">
                <a:latin typeface="+mj-lt"/>
                <a:cs typeface="Times New Roman"/>
              </a:rPr>
              <a:t>in</a:t>
            </a:r>
            <a:r>
              <a:rPr lang="en-US" sz="2800" dirty="0">
                <a:latin typeface="+mj-lt"/>
                <a:cs typeface="Times New Roman"/>
              </a:rPr>
              <a:t> </a:t>
            </a:r>
            <a:r>
              <a:rPr lang="en-US" sz="2800" spc="-5" dirty="0">
                <a:latin typeface="+mj-lt"/>
                <a:cs typeface="Times New Roman"/>
              </a:rPr>
              <a:t>a</a:t>
            </a:r>
            <a:r>
              <a:rPr lang="en-US" sz="2800" dirty="0">
                <a:latin typeface="+mj-lt"/>
                <a:cs typeface="Times New Roman"/>
              </a:rPr>
              <a:t> </a:t>
            </a:r>
            <a:r>
              <a:rPr lang="en-US" sz="2800" spc="-5" dirty="0">
                <a:latin typeface="+mj-lt"/>
                <a:cs typeface="Times New Roman"/>
              </a:rPr>
              <a:t>Microprocessor’s</a:t>
            </a:r>
            <a:r>
              <a:rPr lang="en-US" sz="2800" spc="-25" dirty="0">
                <a:latin typeface="+mj-lt"/>
                <a:cs typeface="Times New Roman"/>
              </a:rPr>
              <a:t> </a:t>
            </a:r>
            <a:r>
              <a:rPr lang="en-US" sz="2800" spc="-5" dirty="0">
                <a:latin typeface="+mj-lt"/>
                <a:cs typeface="Times New Roman"/>
              </a:rPr>
              <a:t>word,</a:t>
            </a:r>
            <a:r>
              <a:rPr lang="en-US" sz="2800" spc="5" dirty="0">
                <a:latin typeface="+mj-lt"/>
                <a:cs typeface="Times New Roman"/>
              </a:rPr>
              <a:t> </a:t>
            </a:r>
            <a:r>
              <a:rPr lang="en-US" sz="2800" spc="-5" dirty="0">
                <a:latin typeface="+mj-lt"/>
                <a:cs typeface="Times New Roman"/>
              </a:rPr>
              <a:t>is</a:t>
            </a:r>
            <a:r>
              <a:rPr lang="en-US" sz="2800" dirty="0">
                <a:latin typeface="+mj-lt"/>
                <a:cs typeface="Times New Roman"/>
              </a:rPr>
              <a:t> </a:t>
            </a:r>
            <a:r>
              <a:rPr lang="en-US" sz="2800" spc="-5" dirty="0">
                <a:latin typeface="+mj-lt"/>
                <a:cs typeface="Times New Roman"/>
              </a:rPr>
              <a:t>a</a:t>
            </a:r>
            <a:r>
              <a:rPr lang="en-US" sz="2800" dirty="0">
                <a:latin typeface="+mj-lt"/>
                <a:cs typeface="Times New Roman"/>
              </a:rPr>
              <a:t> </a:t>
            </a:r>
            <a:r>
              <a:rPr lang="en-US" sz="2800" spc="-5" dirty="0">
                <a:latin typeface="+mj-lt"/>
                <a:cs typeface="Times New Roman"/>
              </a:rPr>
              <a:t>measure of its </a:t>
            </a:r>
            <a:r>
              <a:rPr lang="en-US" sz="2800" spc="-484" dirty="0">
                <a:latin typeface="+mj-lt"/>
                <a:cs typeface="Times New Roman"/>
              </a:rPr>
              <a:t> </a:t>
            </a:r>
            <a:r>
              <a:rPr lang="en-US" sz="2800" spc="-5" dirty="0">
                <a:latin typeface="+mj-lt"/>
                <a:cs typeface="Times New Roman"/>
              </a:rPr>
              <a:t>“abilities”.</a:t>
            </a:r>
            <a:endParaRPr lang="en-US" sz="2800" dirty="0">
              <a:latin typeface="+mj-lt"/>
              <a:cs typeface="Times New Roman"/>
            </a:endParaRPr>
          </a:p>
          <a:p>
            <a:pPr marL="0" indent="0">
              <a:buNone/>
              <a:tabLst>
                <a:tab pos="463550" algn="l"/>
              </a:tabLst>
            </a:pPr>
            <a:endParaRPr lang="en-US" sz="2800" dirty="0">
              <a:latin typeface="+mj-lt"/>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3952858D-EFE7-4E9A-B804-D90B1B4F5392}"/>
              </a:ext>
            </a:extLst>
          </p:cNvPr>
          <p:cNvSpPr>
            <a:spLocks noGrp="1"/>
          </p:cNvSpPr>
          <p:nvPr>
            <p:ph type="dt" sz="half" idx="10"/>
          </p:nvPr>
        </p:nvSpPr>
        <p:spPr/>
        <p:txBody>
          <a:bodyPr/>
          <a:lstStyle/>
          <a:p>
            <a:fld id="{0953664C-DB58-45D9-B3D9-FB587174254C}" type="datetime1">
              <a:rPr lang="en-US" smtClean="0"/>
              <a:t>7/31/2023</a:t>
            </a:fld>
            <a:endParaRPr lang="en-US"/>
          </a:p>
        </p:txBody>
      </p:sp>
      <p:sp>
        <p:nvSpPr>
          <p:cNvPr id="8" name="Slide Number Placeholder 7">
            <a:extLst>
              <a:ext uri="{FF2B5EF4-FFF2-40B4-BE49-F238E27FC236}">
                <a16:creationId xmlns:a16="http://schemas.microsoft.com/office/drawing/2014/main" id="{399FB3F4-C8E7-43C5-A462-C446EE40628F}"/>
              </a:ext>
            </a:extLst>
          </p:cNvPr>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1279090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lnSpcReduction="10000"/>
          </a:bodyPr>
          <a:lstStyle/>
          <a:p>
            <a:pPr marL="298450" indent="-286385">
              <a:lnSpc>
                <a:spcPct val="100000"/>
              </a:lnSpc>
              <a:spcBef>
                <a:spcPts val="409"/>
              </a:spcBef>
              <a:buChar char="–"/>
              <a:tabLst>
                <a:tab pos="298450" algn="l"/>
                <a:tab pos="299085" algn="l"/>
              </a:tabLst>
            </a:pPr>
            <a:r>
              <a:rPr lang="en-US" sz="2800" spc="-5" dirty="0">
                <a:solidFill>
                  <a:srgbClr val="800000"/>
                </a:solidFill>
                <a:latin typeface="+mj-lt"/>
                <a:cs typeface="Times New Roman"/>
              </a:rPr>
              <a:t>Words,</a:t>
            </a:r>
            <a:r>
              <a:rPr lang="en-US" sz="2800" spc="-25" dirty="0">
                <a:solidFill>
                  <a:srgbClr val="800000"/>
                </a:solidFill>
                <a:latin typeface="+mj-lt"/>
                <a:cs typeface="Times New Roman"/>
              </a:rPr>
              <a:t> </a:t>
            </a:r>
            <a:r>
              <a:rPr lang="en-US" sz="2800" spc="-5" dirty="0">
                <a:solidFill>
                  <a:srgbClr val="800000"/>
                </a:solidFill>
                <a:latin typeface="+mj-lt"/>
                <a:cs typeface="Times New Roman"/>
              </a:rPr>
              <a:t>Bytes,</a:t>
            </a:r>
            <a:r>
              <a:rPr lang="en-US" sz="2800" spc="-25" dirty="0">
                <a:solidFill>
                  <a:srgbClr val="800000"/>
                </a:solidFill>
                <a:latin typeface="+mj-lt"/>
                <a:cs typeface="Times New Roman"/>
              </a:rPr>
              <a:t> </a:t>
            </a:r>
            <a:r>
              <a:rPr lang="en-US" sz="2800" spc="-5" dirty="0">
                <a:solidFill>
                  <a:srgbClr val="800000"/>
                </a:solidFill>
                <a:latin typeface="+mj-lt"/>
                <a:cs typeface="Times New Roman"/>
              </a:rPr>
              <a:t>etc.</a:t>
            </a:r>
            <a:endParaRPr lang="en-US" sz="2800" dirty="0">
              <a:latin typeface="+mj-lt"/>
              <a:cs typeface="Times New Roman"/>
            </a:endParaRPr>
          </a:p>
          <a:p>
            <a:pPr marL="698500" marR="434975" lvl="1" indent="-229235" algn="just">
              <a:lnSpc>
                <a:spcPts val="2160"/>
              </a:lnSpc>
              <a:spcBef>
                <a:spcPts val="525"/>
              </a:spcBef>
              <a:buChar char="•"/>
              <a:tabLst>
                <a:tab pos="699135" algn="l"/>
              </a:tabLst>
            </a:pPr>
            <a:r>
              <a:rPr lang="en-US" sz="1800" spc="-5" dirty="0">
                <a:latin typeface="+mj-lt"/>
                <a:cs typeface="Times New Roman"/>
              </a:rPr>
              <a:t>The earliest microprocessor (the Intel 8088 and Motorola’s </a:t>
            </a:r>
            <a:r>
              <a:rPr lang="en-US" sz="1800" spc="-484" dirty="0">
                <a:latin typeface="+mj-lt"/>
                <a:cs typeface="Times New Roman"/>
              </a:rPr>
              <a:t> </a:t>
            </a:r>
            <a:r>
              <a:rPr lang="en-US" sz="1800" spc="-5" dirty="0">
                <a:latin typeface="+mj-lt"/>
                <a:cs typeface="Times New Roman"/>
              </a:rPr>
              <a:t>6800)</a:t>
            </a:r>
            <a:r>
              <a:rPr lang="en-US" sz="1800" spc="-30" dirty="0">
                <a:latin typeface="+mj-lt"/>
                <a:cs typeface="Times New Roman"/>
              </a:rPr>
              <a:t> </a:t>
            </a:r>
            <a:r>
              <a:rPr lang="en-US" sz="1800" spc="-5" dirty="0">
                <a:latin typeface="+mj-lt"/>
                <a:cs typeface="Times New Roman"/>
              </a:rPr>
              <a:t>recognized</a:t>
            </a:r>
            <a:r>
              <a:rPr lang="en-US" sz="1800" spc="-20" dirty="0">
                <a:latin typeface="+mj-lt"/>
                <a:cs typeface="Times New Roman"/>
              </a:rPr>
              <a:t> </a:t>
            </a:r>
            <a:r>
              <a:rPr lang="en-US" sz="1800" dirty="0">
                <a:latin typeface="+mj-lt"/>
                <a:cs typeface="Times New Roman"/>
              </a:rPr>
              <a:t>8-bit</a:t>
            </a:r>
            <a:r>
              <a:rPr lang="en-US" sz="1800" spc="-20" dirty="0">
                <a:latin typeface="+mj-lt"/>
                <a:cs typeface="Times New Roman"/>
              </a:rPr>
              <a:t> </a:t>
            </a:r>
            <a:r>
              <a:rPr lang="en-US" sz="1800" spc="-5" dirty="0">
                <a:latin typeface="+mj-lt"/>
                <a:cs typeface="Times New Roman"/>
              </a:rPr>
              <a:t>words.</a:t>
            </a:r>
            <a:endParaRPr lang="en-US" sz="1800" dirty="0">
              <a:latin typeface="+mj-lt"/>
              <a:cs typeface="Times New Roman"/>
            </a:endParaRPr>
          </a:p>
          <a:p>
            <a:pPr marL="1155065" marR="5080" lvl="2" algn="just">
              <a:lnSpc>
                <a:spcPts val="1939"/>
              </a:lnSpc>
              <a:spcBef>
                <a:spcPts val="440"/>
              </a:spcBef>
              <a:buChar char="–"/>
              <a:tabLst>
                <a:tab pos="1155700" algn="l"/>
              </a:tabLst>
            </a:pPr>
            <a:r>
              <a:rPr lang="en-US" sz="1600" spc="-5" dirty="0">
                <a:latin typeface="+mj-lt"/>
                <a:cs typeface="Times New Roman"/>
              </a:rPr>
              <a:t>They processed information 8-bits at </a:t>
            </a:r>
            <a:r>
              <a:rPr lang="en-US" sz="1600" dirty="0">
                <a:latin typeface="+mj-lt"/>
                <a:cs typeface="Times New Roman"/>
              </a:rPr>
              <a:t>a </a:t>
            </a:r>
            <a:r>
              <a:rPr lang="en-US" sz="1600" spc="-5" dirty="0">
                <a:latin typeface="+mj-lt"/>
                <a:cs typeface="Times New Roman"/>
              </a:rPr>
              <a:t>time. That’s why they are </a:t>
            </a:r>
            <a:r>
              <a:rPr lang="en-US" sz="1600" dirty="0">
                <a:latin typeface="+mj-lt"/>
                <a:cs typeface="Times New Roman"/>
              </a:rPr>
              <a:t> </a:t>
            </a:r>
            <a:r>
              <a:rPr lang="en-US" sz="1600" spc="-5" dirty="0">
                <a:latin typeface="+mj-lt"/>
                <a:cs typeface="Times New Roman"/>
              </a:rPr>
              <a:t>called “8-bit processors”. They can handle large numbers, </a:t>
            </a:r>
            <a:r>
              <a:rPr lang="en-US" sz="1600" dirty="0">
                <a:latin typeface="+mj-lt"/>
                <a:cs typeface="Times New Roman"/>
              </a:rPr>
              <a:t>but </a:t>
            </a:r>
            <a:r>
              <a:rPr lang="en-US" sz="1600" spc="-5" dirty="0">
                <a:latin typeface="+mj-lt"/>
                <a:cs typeface="Times New Roman"/>
              </a:rPr>
              <a:t>in </a:t>
            </a:r>
            <a:r>
              <a:rPr lang="en-US" sz="1600" dirty="0">
                <a:latin typeface="+mj-lt"/>
                <a:cs typeface="Times New Roman"/>
              </a:rPr>
              <a:t> </a:t>
            </a:r>
            <a:r>
              <a:rPr lang="en-US" sz="1600" spc="-5" dirty="0">
                <a:latin typeface="+mj-lt"/>
                <a:cs typeface="Times New Roman"/>
              </a:rPr>
              <a:t>order to process these numbers, they </a:t>
            </a:r>
            <a:r>
              <a:rPr lang="en-US" sz="1600" dirty="0">
                <a:latin typeface="+mj-lt"/>
                <a:cs typeface="Times New Roman"/>
              </a:rPr>
              <a:t>broke </a:t>
            </a:r>
            <a:r>
              <a:rPr lang="en-US" sz="1600" spc="-5" dirty="0">
                <a:latin typeface="+mj-lt"/>
                <a:cs typeface="Times New Roman"/>
              </a:rPr>
              <a:t>them into 8-bit pieces </a:t>
            </a:r>
            <a:r>
              <a:rPr lang="en-US" sz="1600" spc="-434" dirty="0">
                <a:latin typeface="+mj-lt"/>
                <a:cs typeface="Times New Roman"/>
              </a:rPr>
              <a:t> </a:t>
            </a:r>
            <a:r>
              <a:rPr lang="en-US" sz="1600" spc="-5" dirty="0">
                <a:latin typeface="+mj-lt"/>
                <a:cs typeface="Times New Roman"/>
              </a:rPr>
              <a:t>and</a:t>
            </a:r>
            <a:r>
              <a:rPr lang="en-US" sz="1600" spc="-15" dirty="0">
                <a:latin typeface="+mj-lt"/>
                <a:cs typeface="Times New Roman"/>
              </a:rPr>
              <a:t> </a:t>
            </a:r>
            <a:r>
              <a:rPr lang="en-US" sz="1600" spc="-5" dirty="0">
                <a:latin typeface="+mj-lt"/>
                <a:cs typeface="Times New Roman"/>
              </a:rPr>
              <a:t>processed</a:t>
            </a:r>
            <a:r>
              <a:rPr lang="en-US" sz="1600" spc="5" dirty="0">
                <a:latin typeface="+mj-lt"/>
                <a:cs typeface="Times New Roman"/>
              </a:rPr>
              <a:t> </a:t>
            </a:r>
            <a:r>
              <a:rPr lang="en-US" sz="1600" spc="-5" dirty="0">
                <a:latin typeface="+mj-lt"/>
                <a:cs typeface="Times New Roman"/>
              </a:rPr>
              <a:t>each</a:t>
            </a:r>
            <a:r>
              <a:rPr lang="en-US" sz="1600" spc="5" dirty="0">
                <a:latin typeface="+mj-lt"/>
                <a:cs typeface="Times New Roman"/>
              </a:rPr>
              <a:t> </a:t>
            </a:r>
            <a:r>
              <a:rPr lang="en-US" sz="1600" dirty="0">
                <a:latin typeface="+mj-lt"/>
                <a:cs typeface="Times New Roman"/>
              </a:rPr>
              <a:t>group of </a:t>
            </a:r>
            <a:r>
              <a:rPr lang="en-US" sz="1600" spc="-5" dirty="0">
                <a:latin typeface="+mj-lt"/>
                <a:cs typeface="Times New Roman"/>
              </a:rPr>
              <a:t>8-bits</a:t>
            </a:r>
            <a:r>
              <a:rPr lang="en-US" sz="1600" dirty="0">
                <a:latin typeface="+mj-lt"/>
                <a:cs typeface="Times New Roman"/>
              </a:rPr>
              <a:t> </a:t>
            </a:r>
            <a:r>
              <a:rPr lang="en-US" sz="1600" spc="-5" dirty="0">
                <a:latin typeface="+mj-lt"/>
                <a:cs typeface="Times New Roman"/>
              </a:rPr>
              <a:t>separately.</a:t>
            </a:r>
            <a:endParaRPr lang="en-US" sz="2800" dirty="0">
              <a:latin typeface="+mj-lt"/>
              <a:cs typeface="Times New Roman"/>
            </a:endParaRPr>
          </a:p>
          <a:p>
            <a:pPr marL="698500" marR="262255" lvl="1" indent="-229235">
              <a:lnSpc>
                <a:spcPts val="2160"/>
              </a:lnSpc>
              <a:buChar char="•"/>
              <a:tabLst>
                <a:tab pos="697865" algn="l"/>
                <a:tab pos="699135" algn="l"/>
              </a:tabLst>
            </a:pPr>
            <a:r>
              <a:rPr lang="en-US" sz="1800" spc="-5" dirty="0">
                <a:latin typeface="+mj-lt"/>
                <a:cs typeface="Times New Roman"/>
              </a:rPr>
              <a:t>Later</a:t>
            </a:r>
            <a:r>
              <a:rPr lang="en-US" sz="1800" spc="-10" dirty="0">
                <a:latin typeface="+mj-lt"/>
                <a:cs typeface="Times New Roman"/>
              </a:rPr>
              <a:t> </a:t>
            </a:r>
            <a:r>
              <a:rPr lang="en-US" sz="1800" spc="-5" dirty="0">
                <a:latin typeface="+mj-lt"/>
                <a:cs typeface="Times New Roman"/>
              </a:rPr>
              <a:t>microprocessors</a:t>
            </a:r>
            <a:r>
              <a:rPr lang="en-US" sz="1800" spc="-15" dirty="0">
                <a:latin typeface="+mj-lt"/>
                <a:cs typeface="Times New Roman"/>
              </a:rPr>
              <a:t> </a:t>
            </a:r>
            <a:r>
              <a:rPr lang="en-US" sz="1800" spc="-5" dirty="0">
                <a:latin typeface="+mj-lt"/>
                <a:cs typeface="Times New Roman"/>
              </a:rPr>
              <a:t>(8086 and</a:t>
            </a:r>
            <a:r>
              <a:rPr lang="en-US" sz="1800" spc="5" dirty="0">
                <a:latin typeface="+mj-lt"/>
                <a:cs typeface="Times New Roman"/>
              </a:rPr>
              <a:t> </a:t>
            </a:r>
            <a:r>
              <a:rPr lang="en-US" sz="1800" spc="-5" dirty="0">
                <a:latin typeface="+mj-lt"/>
                <a:cs typeface="Times New Roman"/>
              </a:rPr>
              <a:t>68000) were</a:t>
            </a:r>
            <a:r>
              <a:rPr lang="en-US" sz="1800" spc="10" dirty="0">
                <a:latin typeface="+mj-lt"/>
                <a:cs typeface="Times New Roman"/>
              </a:rPr>
              <a:t> </a:t>
            </a:r>
            <a:r>
              <a:rPr lang="en-US" sz="1800" spc="-5" dirty="0">
                <a:latin typeface="+mj-lt"/>
                <a:cs typeface="Times New Roman"/>
              </a:rPr>
              <a:t>designed</a:t>
            </a:r>
            <a:r>
              <a:rPr lang="en-US" sz="1800" spc="-10" dirty="0">
                <a:latin typeface="+mj-lt"/>
                <a:cs typeface="Times New Roman"/>
              </a:rPr>
              <a:t> </a:t>
            </a:r>
            <a:r>
              <a:rPr lang="en-US" sz="1800" spc="-5" dirty="0">
                <a:latin typeface="+mj-lt"/>
                <a:cs typeface="Times New Roman"/>
              </a:rPr>
              <a:t>with </a:t>
            </a:r>
            <a:r>
              <a:rPr lang="en-US" sz="1800" spc="-484" dirty="0">
                <a:latin typeface="+mj-lt"/>
                <a:cs typeface="Times New Roman"/>
              </a:rPr>
              <a:t> </a:t>
            </a:r>
            <a:r>
              <a:rPr lang="en-US" sz="1800" spc="-5" dirty="0">
                <a:latin typeface="+mj-lt"/>
                <a:cs typeface="Times New Roman"/>
              </a:rPr>
              <a:t>16-bit</a:t>
            </a:r>
            <a:r>
              <a:rPr lang="en-US" sz="1800" spc="-35" dirty="0">
                <a:latin typeface="+mj-lt"/>
                <a:cs typeface="Times New Roman"/>
              </a:rPr>
              <a:t> </a:t>
            </a:r>
            <a:r>
              <a:rPr lang="en-US" sz="1800" spc="-5" dirty="0">
                <a:solidFill>
                  <a:srgbClr val="3333CC"/>
                </a:solidFill>
                <a:latin typeface="+mj-lt"/>
                <a:cs typeface="Times New Roman"/>
              </a:rPr>
              <a:t>words</a:t>
            </a:r>
            <a:r>
              <a:rPr lang="en-US" sz="1800" spc="-5" dirty="0">
                <a:latin typeface="+mj-lt"/>
                <a:cs typeface="Times New Roman"/>
              </a:rPr>
              <a:t>.</a:t>
            </a:r>
            <a:endParaRPr lang="en-US" sz="1800" dirty="0">
              <a:latin typeface="+mj-lt"/>
              <a:cs typeface="Times New Roman"/>
            </a:endParaRPr>
          </a:p>
          <a:p>
            <a:pPr marL="1155700" lvl="2" indent="-229235">
              <a:lnSpc>
                <a:spcPct val="100000"/>
              </a:lnSpc>
              <a:spcBef>
                <a:spcPts val="190"/>
              </a:spcBef>
              <a:buChar char="–"/>
              <a:tabLst>
                <a:tab pos="1155700" algn="l"/>
              </a:tabLst>
            </a:pPr>
            <a:r>
              <a:rPr lang="en-US" sz="1600" spc="-5" dirty="0">
                <a:latin typeface="+mj-lt"/>
                <a:cs typeface="Times New Roman"/>
              </a:rPr>
              <a:t>A </a:t>
            </a:r>
            <a:r>
              <a:rPr lang="en-US" sz="1600" dirty="0">
                <a:latin typeface="+mj-lt"/>
                <a:cs typeface="Times New Roman"/>
              </a:rPr>
              <a:t>group of</a:t>
            </a:r>
            <a:r>
              <a:rPr lang="en-US" sz="1600" spc="5" dirty="0">
                <a:latin typeface="+mj-lt"/>
                <a:cs typeface="Times New Roman"/>
              </a:rPr>
              <a:t> </a:t>
            </a:r>
            <a:r>
              <a:rPr lang="en-US" sz="1600" spc="-5" dirty="0">
                <a:latin typeface="+mj-lt"/>
                <a:cs typeface="Times New Roman"/>
              </a:rPr>
              <a:t>8-bits</a:t>
            </a:r>
            <a:r>
              <a:rPr lang="en-US" sz="1600" dirty="0">
                <a:latin typeface="+mj-lt"/>
                <a:cs typeface="Times New Roman"/>
              </a:rPr>
              <a:t> </a:t>
            </a:r>
            <a:r>
              <a:rPr lang="en-US" sz="1600" spc="-5" dirty="0">
                <a:latin typeface="+mj-lt"/>
                <a:cs typeface="Times New Roman"/>
              </a:rPr>
              <a:t>were</a:t>
            </a:r>
            <a:r>
              <a:rPr lang="en-US" sz="1600" dirty="0">
                <a:latin typeface="+mj-lt"/>
                <a:cs typeface="Times New Roman"/>
              </a:rPr>
              <a:t> </a:t>
            </a:r>
            <a:r>
              <a:rPr lang="en-US" sz="1600" spc="-5" dirty="0">
                <a:latin typeface="+mj-lt"/>
                <a:cs typeface="Times New Roman"/>
              </a:rPr>
              <a:t>referred</a:t>
            </a:r>
            <a:r>
              <a:rPr lang="en-US" sz="1600" spc="5" dirty="0">
                <a:latin typeface="+mj-lt"/>
                <a:cs typeface="Times New Roman"/>
              </a:rPr>
              <a:t> </a:t>
            </a:r>
            <a:r>
              <a:rPr lang="en-US" sz="1600" spc="-5" dirty="0">
                <a:latin typeface="+mj-lt"/>
                <a:cs typeface="Times New Roman"/>
              </a:rPr>
              <a:t>to</a:t>
            </a:r>
            <a:r>
              <a:rPr lang="en-US" sz="1600" spc="10" dirty="0">
                <a:latin typeface="+mj-lt"/>
                <a:cs typeface="Times New Roman"/>
              </a:rPr>
              <a:t> </a:t>
            </a:r>
            <a:r>
              <a:rPr lang="en-US" sz="1600" spc="-5" dirty="0">
                <a:latin typeface="+mj-lt"/>
                <a:cs typeface="Times New Roman"/>
              </a:rPr>
              <a:t>as</a:t>
            </a:r>
            <a:r>
              <a:rPr lang="en-US" sz="1600" dirty="0">
                <a:latin typeface="+mj-lt"/>
                <a:cs typeface="Times New Roman"/>
              </a:rPr>
              <a:t> a </a:t>
            </a:r>
            <a:r>
              <a:rPr lang="en-US" sz="1600" spc="-5" dirty="0">
                <a:latin typeface="+mj-lt"/>
                <a:cs typeface="Times New Roman"/>
              </a:rPr>
              <a:t>“half-word”</a:t>
            </a:r>
            <a:r>
              <a:rPr lang="en-US" sz="1600" dirty="0">
                <a:latin typeface="+mj-lt"/>
                <a:cs typeface="Times New Roman"/>
              </a:rPr>
              <a:t> or</a:t>
            </a:r>
            <a:r>
              <a:rPr lang="en-US" sz="1600" spc="5" dirty="0">
                <a:latin typeface="+mj-lt"/>
                <a:cs typeface="Times New Roman"/>
              </a:rPr>
              <a:t> </a:t>
            </a:r>
            <a:r>
              <a:rPr lang="en-US" sz="1600" spc="-5" dirty="0">
                <a:latin typeface="+mj-lt"/>
                <a:cs typeface="Times New Roman"/>
              </a:rPr>
              <a:t>“byte”.</a:t>
            </a:r>
            <a:endParaRPr lang="en-US" sz="1600" dirty="0">
              <a:latin typeface="+mj-lt"/>
              <a:cs typeface="Times New Roman"/>
            </a:endParaRPr>
          </a:p>
          <a:p>
            <a:pPr marL="1155700" lvl="2" indent="-229235">
              <a:lnSpc>
                <a:spcPct val="100000"/>
              </a:lnSpc>
              <a:spcBef>
                <a:spcPts val="219"/>
              </a:spcBef>
              <a:buChar char="–"/>
              <a:tabLst>
                <a:tab pos="1155700" algn="l"/>
              </a:tabLst>
            </a:pPr>
            <a:r>
              <a:rPr lang="en-US" sz="1600" spc="-5" dirty="0">
                <a:latin typeface="+mj-lt"/>
                <a:cs typeface="Times New Roman"/>
              </a:rPr>
              <a:t>A</a:t>
            </a:r>
            <a:r>
              <a:rPr lang="en-US" sz="1600" spc="-15" dirty="0">
                <a:latin typeface="+mj-lt"/>
                <a:cs typeface="Times New Roman"/>
              </a:rPr>
              <a:t> </a:t>
            </a:r>
            <a:r>
              <a:rPr lang="en-US" sz="1600" dirty="0">
                <a:latin typeface="+mj-lt"/>
                <a:cs typeface="Times New Roman"/>
              </a:rPr>
              <a:t>group</a:t>
            </a:r>
            <a:r>
              <a:rPr lang="en-US" sz="1600" spc="-5" dirty="0">
                <a:latin typeface="+mj-lt"/>
                <a:cs typeface="Times New Roman"/>
              </a:rPr>
              <a:t> </a:t>
            </a:r>
            <a:r>
              <a:rPr lang="en-US" sz="1600" dirty="0">
                <a:latin typeface="+mj-lt"/>
                <a:cs typeface="Times New Roman"/>
              </a:rPr>
              <a:t>of</a:t>
            </a:r>
            <a:r>
              <a:rPr lang="en-US" sz="1600" spc="-5" dirty="0">
                <a:latin typeface="+mj-lt"/>
                <a:cs typeface="Times New Roman"/>
              </a:rPr>
              <a:t> </a:t>
            </a:r>
            <a:r>
              <a:rPr lang="en-US" sz="1600" dirty="0">
                <a:latin typeface="+mj-lt"/>
                <a:cs typeface="Times New Roman"/>
              </a:rPr>
              <a:t>4</a:t>
            </a:r>
            <a:r>
              <a:rPr lang="en-US" sz="1600" spc="-5" dirty="0">
                <a:latin typeface="+mj-lt"/>
                <a:cs typeface="Times New Roman"/>
              </a:rPr>
              <a:t> bits is</a:t>
            </a:r>
            <a:r>
              <a:rPr lang="en-US" sz="1600" spc="-10" dirty="0">
                <a:latin typeface="+mj-lt"/>
                <a:cs typeface="Times New Roman"/>
              </a:rPr>
              <a:t> </a:t>
            </a:r>
            <a:r>
              <a:rPr lang="en-US" sz="1600" spc="-5" dirty="0">
                <a:latin typeface="+mj-lt"/>
                <a:cs typeface="Times New Roman"/>
              </a:rPr>
              <a:t>called</a:t>
            </a:r>
            <a:r>
              <a:rPr lang="en-US" sz="1600" spc="5" dirty="0">
                <a:latin typeface="+mj-lt"/>
                <a:cs typeface="Times New Roman"/>
              </a:rPr>
              <a:t> </a:t>
            </a:r>
            <a:r>
              <a:rPr lang="en-US" sz="1600" dirty="0">
                <a:latin typeface="+mj-lt"/>
                <a:cs typeface="Times New Roman"/>
              </a:rPr>
              <a:t>a</a:t>
            </a:r>
            <a:r>
              <a:rPr lang="en-US" sz="1600" spc="-10" dirty="0">
                <a:latin typeface="+mj-lt"/>
                <a:cs typeface="Times New Roman"/>
              </a:rPr>
              <a:t> </a:t>
            </a:r>
            <a:r>
              <a:rPr lang="en-US" sz="1600" spc="-5" dirty="0">
                <a:latin typeface="+mj-lt"/>
                <a:cs typeface="Times New Roman"/>
              </a:rPr>
              <a:t>“nibble”.</a:t>
            </a:r>
            <a:endParaRPr lang="en-US" sz="1600" dirty="0">
              <a:latin typeface="+mj-lt"/>
              <a:cs typeface="Times New Roman"/>
            </a:endParaRPr>
          </a:p>
          <a:p>
            <a:pPr marL="1155700" lvl="2" indent="-229235">
              <a:lnSpc>
                <a:spcPct val="100000"/>
              </a:lnSpc>
              <a:spcBef>
                <a:spcPts val="215"/>
              </a:spcBef>
              <a:buChar char="–"/>
              <a:tabLst>
                <a:tab pos="1155700" algn="l"/>
              </a:tabLst>
            </a:pPr>
            <a:r>
              <a:rPr lang="en-US" sz="1600" spc="-5" dirty="0">
                <a:latin typeface="+mj-lt"/>
                <a:cs typeface="Times New Roman"/>
              </a:rPr>
              <a:t>Also,</a:t>
            </a:r>
            <a:r>
              <a:rPr lang="en-US" sz="1600" spc="-10" dirty="0">
                <a:latin typeface="+mj-lt"/>
                <a:cs typeface="Times New Roman"/>
              </a:rPr>
              <a:t> </a:t>
            </a:r>
            <a:r>
              <a:rPr lang="en-US" sz="1600" dirty="0">
                <a:latin typeface="+mj-lt"/>
                <a:cs typeface="Times New Roman"/>
              </a:rPr>
              <a:t>32 </a:t>
            </a:r>
            <a:r>
              <a:rPr lang="en-US" sz="1600" spc="-5" dirty="0">
                <a:latin typeface="+mj-lt"/>
                <a:cs typeface="Times New Roman"/>
              </a:rPr>
              <a:t>bit</a:t>
            </a:r>
            <a:r>
              <a:rPr lang="en-US" sz="1600" dirty="0">
                <a:latin typeface="+mj-lt"/>
                <a:cs typeface="Times New Roman"/>
              </a:rPr>
              <a:t> groups </a:t>
            </a:r>
            <a:r>
              <a:rPr lang="en-US" sz="1600" spc="-5" dirty="0">
                <a:latin typeface="+mj-lt"/>
                <a:cs typeface="Times New Roman"/>
              </a:rPr>
              <a:t>were given</a:t>
            </a:r>
            <a:r>
              <a:rPr lang="en-US" sz="1600" spc="10" dirty="0">
                <a:latin typeface="+mj-lt"/>
                <a:cs typeface="Times New Roman"/>
              </a:rPr>
              <a:t> </a:t>
            </a:r>
            <a:r>
              <a:rPr lang="en-US" sz="1600" spc="-5" dirty="0">
                <a:latin typeface="+mj-lt"/>
                <a:cs typeface="Times New Roman"/>
              </a:rPr>
              <a:t>the</a:t>
            </a:r>
            <a:r>
              <a:rPr lang="en-US" sz="1600" dirty="0">
                <a:latin typeface="+mj-lt"/>
                <a:cs typeface="Times New Roman"/>
              </a:rPr>
              <a:t> </a:t>
            </a:r>
            <a:r>
              <a:rPr lang="en-US" sz="1600" spc="-5" dirty="0">
                <a:latin typeface="+mj-lt"/>
                <a:cs typeface="Times New Roman"/>
              </a:rPr>
              <a:t>name</a:t>
            </a:r>
            <a:r>
              <a:rPr lang="en-US" sz="1600" dirty="0">
                <a:latin typeface="+mj-lt"/>
                <a:cs typeface="Times New Roman"/>
              </a:rPr>
              <a:t> </a:t>
            </a:r>
            <a:r>
              <a:rPr lang="en-US" sz="1600" spc="-5" dirty="0">
                <a:latin typeface="+mj-lt"/>
                <a:cs typeface="Times New Roman"/>
              </a:rPr>
              <a:t>“long</a:t>
            </a:r>
            <a:r>
              <a:rPr lang="en-US" sz="1600" spc="5" dirty="0">
                <a:latin typeface="+mj-lt"/>
                <a:cs typeface="Times New Roman"/>
              </a:rPr>
              <a:t> </a:t>
            </a:r>
            <a:r>
              <a:rPr lang="en-US" sz="1600" spc="-5" dirty="0">
                <a:latin typeface="+mj-lt"/>
                <a:cs typeface="Times New Roman"/>
              </a:rPr>
              <a:t>word”.</a:t>
            </a:r>
            <a:endParaRPr lang="en-US" sz="2800" dirty="0">
              <a:latin typeface="+mj-lt"/>
              <a:cs typeface="Times New Roman"/>
            </a:endParaRPr>
          </a:p>
          <a:p>
            <a:pPr marL="697865" marR="191770" lvl="1" indent="-228600">
              <a:lnSpc>
                <a:spcPts val="2160"/>
              </a:lnSpc>
              <a:spcBef>
                <a:spcPts val="5"/>
              </a:spcBef>
              <a:buChar char="•"/>
              <a:tabLst>
                <a:tab pos="697865" algn="l"/>
                <a:tab pos="698500" algn="l"/>
              </a:tabLst>
            </a:pPr>
            <a:r>
              <a:rPr lang="en-US" sz="1800" spc="-5" dirty="0">
                <a:latin typeface="+mj-lt"/>
                <a:cs typeface="Times New Roman"/>
              </a:rPr>
              <a:t>Today, all processors manipulate at least 32 bits at a time and </a:t>
            </a:r>
            <a:r>
              <a:rPr lang="en-US" sz="1800" spc="-484" dirty="0">
                <a:latin typeface="+mj-lt"/>
                <a:cs typeface="Times New Roman"/>
              </a:rPr>
              <a:t> </a:t>
            </a:r>
            <a:r>
              <a:rPr lang="en-US" sz="1800" spc="-5" dirty="0">
                <a:latin typeface="+mj-lt"/>
                <a:cs typeface="Times New Roman"/>
              </a:rPr>
              <a:t>there</a:t>
            </a:r>
            <a:r>
              <a:rPr lang="en-US" sz="1800" spc="-20" dirty="0">
                <a:latin typeface="+mj-lt"/>
                <a:cs typeface="Times New Roman"/>
              </a:rPr>
              <a:t> </a:t>
            </a:r>
            <a:r>
              <a:rPr lang="en-US" sz="1800" spc="-5" dirty="0">
                <a:latin typeface="+mj-lt"/>
                <a:cs typeface="Times New Roman"/>
              </a:rPr>
              <a:t>exists</a:t>
            </a:r>
            <a:r>
              <a:rPr lang="en-US" sz="1800" dirty="0">
                <a:latin typeface="+mj-lt"/>
                <a:cs typeface="Times New Roman"/>
              </a:rPr>
              <a:t> </a:t>
            </a:r>
            <a:r>
              <a:rPr lang="en-US" sz="1800" spc="-5" dirty="0">
                <a:latin typeface="+mj-lt"/>
                <a:cs typeface="Times New Roman"/>
              </a:rPr>
              <a:t>microprocessors</a:t>
            </a:r>
            <a:r>
              <a:rPr lang="en-US" sz="1800" spc="-30" dirty="0">
                <a:latin typeface="+mj-lt"/>
                <a:cs typeface="Times New Roman"/>
              </a:rPr>
              <a:t> </a:t>
            </a:r>
            <a:r>
              <a:rPr lang="en-US" sz="1800" spc="-5" dirty="0">
                <a:latin typeface="+mj-lt"/>
                <a:cs typeface="Times New Roman"/>
              </a:rPr>
              <a:t>that</a:t>
            </a:r>
            <a:r>
              <a:rPr lang="en-US" sz="1800" spc="-10" dirty="0">
                <a:latin typeface="+mj-lt"/>
                <a:cs typeface="Times New Roman"/>
              </a:rPr>
              <a:t> </a:t>
            </a:r>
            <a:r>
              <a:rPr lang="en-US" sz="1800" spc="-5" dirty="0">
                <a:latin typeface="+mj-lt"/>
                <a:cs typeface="Times New Roman"/>
              </a:rPr>
              <a:t>can</a:t>
            </a:r>
            <a:r>
              <a:rPr lang="en-US" sz="1800" spc="5" dirty="0">
                <a:latin typeface="+mj-lt"/>
                <a:cs typeface="Times New Roman"/>
              </a:rPr>
              <a:t> </a:t>
            </a:r>
            <a:r>
              <a:rPr lang="en-US" sz="1800" spc="-5" dirty="0">
                <a:latin typeface="+mj-lt"/>
                <a:cs typeface="Times New Roman"/>
              </a:rPr>
              <a:t>process</a:t>
            </a:r>
            <a:r>
              <a:rPr lang="en-US" sz="1800" spc="-15" dirty="0">
                <a:latin typeface="+mj-lt"/>
                <a:cs typeface="Times New Roman"/>
              </a:rPr>
              <a:t> </a:t>
            </a:r>
            <a:r>
              <a:rPr lang="en-US" sz="1800" spc="-5" dirty="0">
                <a:latin typeface="+mj-lt"/>
                <a:cs typeface="Times New Roman"/>
              </a:rPr>
              <a:t>64,</a:t>
            </a:r>
            <a:r>
              <a:rPr lang="en-US" sz="1800" spc="5" dirty="0">
                <a:latin typeface="+mj-lt"/>
                <a:cs typeface="Times New Roman"/>
              </a:rPr>
              <a:t> </a:t>
            </a:r>
            <a:r>
              <a:rPr lang="en-US" sz="1800" spc="-5" dirty="0">
                <a:latin typeface="+mj-lt"/>
                <a:cs typeface="Times New Roman"/>
              </a:rPr>
              <a:t>80,</a:t>
            </a:r>
            <a:r>
              <a:rPr lang="en-US" sz="1800" spc="5" dirty="0">
                <a:latin typeface="+mj-lt"/>
                <a:cs typeface="Times New Roman"/>
              </a:rPr>
              <a:t> </a:t>
            </a:r>
            <a:r>
              <a:rPr lang="en-US" sz="1800" spc="-5" dirty="0">
                <a:latin typeface="+mj-lt"/>
                <a:cs typeface="Times New Roman"/>
              </a:rPr>
              <a:t>128</a:t>
            </a:r>
            <a:r>
              <a:rPr lang="en-US" sz="1800" spc="5" dirty="0">
                <a:latin typeface="+mj-lt"/>
                <a:cs typeface="Times New Roman"/>
              </a:rPr>
              <a:t> </a:t>
            </a:r>
            <a:r>
              <a:rPr lang="en-US" sz="1800" spc="-5" dirty="0">
                <a:latin typeface="+mj-lt"/>
                <a:cs typeface="Times New Roman"/>
              </a:rPr>
              <a:t>bits</a:t>
            </a:r>
            <a:endParaRPr lang="en-US" sz="1800" dirty="0">
              <a:latin typeface="+mj-lt"/>
              <a:cs typeface="Times New Roman"/>
            </a:endParaRPr>
          </a:p>
          <a:p>
            <a:pPr marL="457200" indent="-457200">
              <a:buFont typeface="+mj-lt"/>
              <a:buAutoNum type="arabicPeriod"/>
              <a:tabLst>
                <a:tab pos="463550" algn="l"/>
              </a:tabLst>
            </a:pPr>
            <a:endParaRPr lang="en-US" sz="1800" dirty="0">
              <a:latin typeface="+mj-lt"/>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E8312096-29E6-4CBD-A71A-6FAC2A542CED}"/>
              </a:ext>
            </a:extLst>
          </p:cNvPr>
          <p:cNvSpPr>
            <a:spLocks noGrp="1"/>
          </p:cNvSpPr>
          <p:nvPr>
            <p:ph type="dt" sz="half" idx="10"/>
          </p:nvPr>
        </p:nvSpPr>
        <p:spPr/>
        <p:txBody>
          <a:bodyPr/>
          <a:lstStyle/>
          <a:p>
            <a:fld id="{573E786D-EE38-4286-8A93-402D85F5DAFE}" type="datetime1">
              <a:rPr lang="en-US" smtClean="0"/>
              <a:t>7/31/2023</a:t>
            </a:fld>
            <a:endParaRPr lang="en-US"/>
          </a:p>
        </p:txBody>
      </p:sp>
      <p:sp>
        <p:nvSpPr>
          <p:cNvPr id="8" name="Slide Number Placeholder 7">
            <a:extLst>
              <a:ext uri="{FF2B5EF4-FFF2-40B4-BE49-F238E27FC236}">
                <a16:creationId xmlns:a16="http://schemas.microsoft.com/office/drawing/2014/main" id="{E82DF6C3-31F4-4CC7-91C3-28ADE59537F9}"/>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2770699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298450" indent="-286385">
              <a:lnSpc>
                <a:spcPct val="100000"/>
              </a:lnSpc>
              <a:spcBef>
                <a:spcPts val="409"/>
              </a:spcBef>
              <a:buChar char="–"/>
              <a:tabLst>
                <a:tab pos="298450" algn="l"/>
                <a:tab pos="299085" algn="l"/>
              </a:tabLst>
            </a:pPr>
            <a:r>
              <a:rPr lang="en-US" sz="2800" spc="-5" dirty="0">
                <a:solidFill>
                  <a:srgbClr val="800000"/>
                </a:solidFill>
                <a:latin typeface="+mj-lt"/>
                <a:cs typeface="Times New Roman"/>
              </a:rPr>
              <a:t>Arithmetic</a:t>
            </a:r>
            <a:r>
              <a:rPr lang="en-US" sz="2800" spc="-45" dirty="0">
                <a:solidFill>
                  <a:srgbClr val="800000"/>
                </a:solidFill>
                <a:latin typeface="+mj-lt"/>
                <a:cs typeface="Times New Roman"/>
              </a:rPr>
              <a:t> </a:t>
            </a:r>
            <a:r>
              <a:rPr lang="en-US" sz="2800" dirty="0">
                <a:solidFill>
                  <a:srgbClr val="800000"/>
                </a:solidFill>
                <a:latin typeface="+mj-lt"/>
                <a:cs typeface="Times New Roman"/>
              </a:rPr>
              <a:t>and</a:t>
            </a:r>
            <a:r>
              <a:rPr lang="en-US" sz="2800" spc="-25" dirty="0">
                <a:solidFill>
                  <a:srgbClr val="800000"/>
                </a:solidFill>
                <a:latin typeface="+mj-lt"/>
                <a:cs typeface="Times New Roman"/>
              </a:rPr>
              <a:t> </a:t>
            </a:r>
            <a:r>
              <a:rPr lang="en-US" sz="2800" spc="-5" dirty="0">
                <a:solidFill>
                  <a:srgbClr val="800000"/>
                </a:solidFill>
                <a:latin typeface="+mj-lt"/>
                <a:cs typeface="Times New Roman"/>
              </a:rPr>
              <a:t>Logic</a:t>
            </a:r>
            <a:r>
              <a:rPr lang="en-US" sz="2800" spc="-20" dirty="0">
                <a:solidFill>
                  <a:srgbClr val="800000"/>
                </a:solidFill>
                <a:latin typeface="+mj-lt"/>
                <a:cs typeface="Times New Roman"/>
              </a:rPr>
              <a:t> </a:t>
            </a:r>
            <a:r>
              <a:rPr lang="en-US" sz="2800" dirty="0">
                <a:solidFill>
                  <a:srgbClr val="800000"/>
                </a:solidFill>
                <a:latin typeface="+mj-lt"/>
                <a:cs typeface="Times New Roman"/>
              </a:rPr>
              <a:t>Operations</a:t>
            </a:r>
            <a:r>
              <a:rPr lang="en-US" sz="2800" dirty="0">
                <a:latin typeface="+mj-lt"/>
                <a:cs typeface="Times New Roman"/>
              </a:rPr>
              <a:t>:</a:t>
            </a:r>
          </a:p>
          <a:p>
            <a:pPr marL="698500" marR="270510" lvl="1" indent="-229235">
              <a:lnSpc>
                <a:spcPts val="2160"/>
              </a:lnSpc>
              <a:spcBef>
                <a:spcPts val="525"/>
              </a:spcBef>
              <a:buChar char="•"/>
              <a:tabLst>
                <a:tab pos="697865" algn="l"/>
                <a:tab pos="699135" algn="l"/>
              </a:tabLst>
            </a:pPr>
            <a:r>
              <a:rPr lang="en-US" sz="2400" spc="-5" dirty="0">
                <a:latin typeface="+mj-lt"/>
                <a:cs typeface="Times New Roman"/>
              </a:rPr>
              <a:t>Every microprocessor has arithmetic operations such as add </a:t>
            </a:r>
            <a:r>
              <a:rPr lang="en-US" sz="2400" spc="-484" dirty="0">
                <a:latin typeface="+mj-lt"/>
                <a:cs typeface="Times New Roman"/>
              </a:rPr>
              <a:t> </a:t>
            </a:r>
            <a:r>
              <a:rPr lang="en-US" sz="2400" spc="-5" dirty="0">
                <a:latin typeface="+mj-lt"/>
                <a:cs typeface="Times New Roman"/>
              </a:rPr>
              <a:t>and</a:t>
            </a:r>
            <a:r>
              <a:rPr lang="en-US" sz="2400" spc="-10" dirty="0">
                <a:latin typeface="+mj-lt"/>
                <a:cs typeface="Times New Roman"/>
              </a:rPr>
              <a:t> </a:t>
            </a:r>
            <a:r>
              <a:rPr lang="en-US" sz="2400" spc="-5" dirty="0">
                <a:latin typeface="+mj-lt"/>
                <a:cs typeface="Times New Roman"/>
              </a:rPr>
              <a:t>subtract</a:t>
            </a:r>
            <a:r>
              <a:rPr lang="en-US" sz="2400" spc="-35" dirty="0">
                <a:latin typeface="+mj-lt"/>
                <a:cs typeface="Times New Roman"/>
              </a:rPr>
              <a:t> </a:t>
            </a:r>
            <a:r>
              <a:rPr lang="en-US" sz="2400" spc="-5" dirty="0">
                <a:latin typeface="+mj-lt"/>
                <a:cs typeface="Times New Roman"/>
              </a:rPr>
              <a:t>as</a:t>
            </a:r>
            <a:r>
              <a:rPr lang="en-US" sz="2400" spc="-10" dirty="0">
                <a:latin typeface="+mj-lt"/>
                <a:cs typeface="Times New Roman"/>
              </a:rPr>
              <a:t> </a:t>
            </a:r>
            <a:r>
              <a:rPr lang="en-US" sz="2400" spc="-5" dirty="0">
                <a:latin typeface="+mj-lt"/>
                <a:cs typeface="Times New Roman"/>
              </a:rPr>
              <a:t>part</a:t>
            </a:r>
            <a:r>
              <a:rPr lang="en-US" sz="2400" spc="-15" dirty="0">
                <a:latin typeface="+mj-lt"/>
                <a:cs typeface="Times New Roman"/>
              </a:rPr>
              <a:t> </a:t>
            </a:r>
            <a:r>
              <a:rPr lang="en-US" sz="2400" spc="-5" dirty="0">
                <a:latin typeface="+mj-lt"/>
                <a:cs typeface="Times New Roman"/>
              </a:rPr>
              <a:t>of its</a:t>
            </a:r>
            <a:r>
              <a:rPr lang="en-US" sz="2400" spc="-20" dirty="0">
                <a:latin typeface="+mj-lt"/>
                <a:cs typeface="Times New Roman"/>
              </a:rPr>
              <a:t> </a:t>
            </a:r>
            <a:r>
              <a:rPr lang="en-US" sz="2400" spc="-5" dirty="0">
                <a:latin typeface="+mj-lt"/>
                <a:cs typeface="Times New Roman"/>
              </a:rPr>
              <a:t>instruction</a:t>
            </a:r>
            <a:r>
              <a:rPr lang="en-US" sz="2400" spc="-20" dirty="0">
                <a:latin typeface="+mj-lt"/>
                <a:cs typeface="Times New Roman"/>
              </a:rPr>
              <a:t> </a:t>
            </a:r>
            <a:r>
              <a:rPr lang="en-US" sz="2400" spc="-5" dirty="0">
                <a:latin typeface="+mj-lt"/>
                <a:cs typeface="Times New Roman"/>
              </a:rPr>
              <a:t>set.</a:t>
            </a:r>
            <a:endParaRPr lang="en-US" sz="2400" dirty="0">
              <a:latin typeface="+mj-lt"/>
              <a:cs typeface="Times New Roman"/>
            </a:endParaRPr>
          </a:p>
          <a:p>
            <a:pPr marL="1155065" marR="5080" lvl="2">
              <a:lnSpc>
                <a:spcPts val="1939"/>
              </a:lnSpc>
              <a:spcBef>
                <a:spcPts val="440"/>
              </a:spcBef>
              <a:buChar char="–"/>
              <a:tabLst>
                <a:tab pos="1155700" algn="l"/>
              </a:tabLst>
            </a:pPr>
            <a:r>
              <a:rPr lang="en-US" sz="2000" spc="-5" dirty="0">
                <a:latin typeface="+mj-lt"/>
                <a:cs typeface="Times New Roman"/>
              </a:rPr>
              <a:t>Most microprocessors</a:t>
            </a:r>
            <a:r>
              <a:rPr lang="en-US" sz="2000" spc="15" dirty="0">
                <a:latin typeface="+mj-lt"/>
                <a:cs typeface="Times New Roman"/>
              </a:rPr>
              <a:t> </a:t>
            </a:r>
            <a:r>
              <a:rPr lang="en-US" sz="2000" spc="-5" dirty="0">
                <a:latin typeface="+mj-lt"/>
                <a:cs typeface="Times New Roman"/>
              </a:rPr>
              <a:t>will</a:t>
            </a:r>
            <a:r>
              <a:rPr lang="en-US" sz="2000" spc="5" dirty="0">
                <a:latin typeface="+mj-lt"/>
                <a:cs typeface="Times New Roman"/>
              </a:rPr>
              <a:t> </a:t>
            </a:r>
            <a:r>
              <a:rPr lang="en-US" sz="2000" spc="-5" dirty="0">
                <a:latin typeface="+mj-lt"/>
                <a:cs typeface="Times New Roman"/>
              </a:rPr>
              <a:t>have</a:t>
            </a:r>
            <a:r>
              <a:rPr lang="en-US" sz="2000" spc="10" dirty="0">
                <a:latin typeface="+mj-lt"/>
                <a:cs typeface="Times New Roman"/>
              </a:rPr>
              <a:t> </a:t>
            </a:r>
            <a:r>
              <a:rPr lang="en-US" sz="2000" spc="-5" dirty="0">
                <a:latin typeface="+mj-lt"/>
                <a:cs typeface="Times New Roman"/>
              </a:rPr>
              <a:t>operations</a:t>
            </a:r>
            <a:r>
              <a:rPr lang="en-US" sz="2000" spc="10" dirty="0">
                <a:latin typeface="+mj-lt"/>
                <a:cs typeface="Times New Roman"/>
              </a:rPr>
              <a:t> </a:t>
            </a:r>
            <a:r>
              <a:rPr lang="en-US" sz="2000" spc="-5" dirty="0">
                <a:latin typeface="+mj-lt"/>
                <a:cs typeface="Times New Roman"/>
              </a:rPr>
              <a:t>such</a:t>
            </a:r>
            <a:r>
              <a:rPr lang="en-US" sz="2000" spc="15" dirty="0">
                <a:latin typeface="+mj-lt"/>
                <a:cs typeface="Times New Roman"/>
              </a:rPr>
              <a:t> </a:t>
            </a:r>
            <a:r>
              <a:rPr lang="en-US" sz="2000" spc="-10" dirty="0">
                <a:latin typeface="+mj-lt"/>
                <a:cs typeface="Times New Roman"/>
              </a:rPr>
              <a:t>as</a:t>
            </a:r>
            <a:r>
              <a:rPr lang="en-US" sz="2000" spc="10" dirty="0">
                <a:latin typeface="+mj-lt"/>
                <a:cs typeface="Times New Roman"/>
              </a:rPr>
              <a:t> </a:t>
            </a:r>
            <a:r>
              <a:rPr lang="en-US" sz="2000" spc="-5" dirty="0">
                <a:latin typeface="+mj-lt"/>
                <a:cs typeface="Times New Roman"/>
              </a:rPr>
              <a:t>multiply</a:t>
            </a:r>
            <a:r>
              <a:rPr lang="en-US" sz="2000" spc="15" dirty="0">
                <a:latin typeface="+mj-lt"/>
                <a:cs typeface="Times New Roman"/>
              </a:rPr>
              <a:t> </a:t>
            </a:r>
            <a:r>
              <a:rPr lang="en-US" sz="2000" spc="-5" dirty="0">
                <a:latin typeface="+mj-lt"/>
                <a:cs typeface="Times New Roman"/>
              </a:rPr>
              <a:t>and </a:t>
            </a:r>
            <a:r>
              <a:rPr lang="en-US" sz="2000" spc="-434" dirty="0">
                <a:latin typeface="+mj-lt"/>
                <a:cs typeface="Times New Roman"/>
              </a:rPr>
              <a:t> </a:t>
            </a:r>
            <a:r>
              <a:rPr lang="en-US" sz="2000" spc="-5" dirty="0">
                <a:latin typeface="+mj-lt"/>
                <a:cs typeface="Times New Roman"/>
              </a:rPr>
              <a:t>divide.</a:t>
            </a:r>
            <a:endParaRPr lang="en-US" sz="2000" dirty="0">
              <a:latin typeface="+mj-lt"/>
              <a:cs typeface="Times New Roman"/>
            </a:endParaRPr>
          </a:p>
          <a:p>
            <a:pPr marL="1155065" marR="208279" lvl="2">
              <a:lnSpc>
                <a:spcPts val="1939"/>
              </a:lnSpc>
              <a:spcBef>
                <a:spcPts val="440"/>
              </a:spcBef>
              <a:buChar char="–"/>
              <a:tabLst>
                <a:tab pos="1155700" algn="l"/>
              </a:tabLst>
            </a:pPr>
            <a:r>
              <a:rPr lang="en-US" sz="2000" spc="-5" dirty="0">
                <a:latin typeface="+mj-lt"/>
                <a:cs typeface="Times New Roman"/>
              </a:rPr>
              <a:t>Some</a:t>
            </a:r>
            <a:r>
              <a:rPr lang="en-US" sz="2000" spc="-10" dirty="0">
                <a:latin typeface="+mj-lt"/>
                <a:cs typeface="Times New Roman"/>
              </a:rPr>
              <a:t> </a:t>
            </a:r>
            <a:r>
              <a:rPr lang="en-US" sz="2000" dirty="0">
                <a:latin typeface="+mj-lt"/>
                <a:cs typeface="Times New Roman"/>
              </a:rPr>
              <a:t>of</a:t>
            </a:r>
            <a:r>
              <a:rPr lang="en-US" sz="2000" spc="10" dirty="0">
                <a:latin typeface="+mj-lt"/>
                <a:cs typeface="Times New Roman"/>
              </a:rPr>
              <a:t> </a:t>
            </a:r>
            <a:r>
              <a:rPr lang="en-US" sz="2000" spc="-5" dirty="0">
                <a:latin typeface="+mj-lt"/>
                <a:cs typeface="Times New Roman"/>
              </a:rPr>
              <a:t>the</a:t>
            </a:r>
            <a:r>
              <a:rPr lang="en-US" sz="2000" dirty="0">
                <a:latin typeface="+mj-lt"/>
                <a:cs typeface="Times New Roman"/>
              </a:rPr>
              <a:t> </a:t>
            </a:r>
            <a:r>
              <a:rPr lang="en-US" sz="2000" spc="-5" dirty="0">
                <a:latin typeface="+mj-lt"/>
                <a:cs typeface="Times New Roman"/>
              </a:rPr>
              <a:t>newer</a:t>
            </a:r>
            <a:r>
              <a:rPr lang="en-US" sz="2000" spc="10" dirty="0">
                <a:latin typeface="+mj-lt"/>
                <a:cs typeface="Times New Roman"/>
              </a:rPr>
              <a:t> </a:t>
            </a:r>
            <a:r>
              <a:rPr lang="en-US" sz="2000" spc="-5" dirty="0">
                <a:latin typeface="+mj-lt"/>
                <a:cs typeface="Times New Roman"/>
              </a:rPr>
              <a:t>ones</a:t>
            </a:r>
            <a:r>
              <a:rPr lang="en-US" sz="2000" spc="10" dirty="0">
                <a:latin typeface="+mj-lt"/>
                <a:cs typeface="Times New Roman"/>
              </a:rPr>
              <a:t> </a:t>
            </a:r>
            <a:r>
              <a:rPr lang="en-US" sz="2000" spc="-5" dirty="0">
                <a:latin typeface="+mj-lt"/>
                <a:cs typeface="Times New Roman"/>
              </a:rPr>
              <a:t>will</a:t>
            </a:r>
            <a:r>
              <a:rPr lang="en-US" sz="2000" dirty="0">
                <a:latin typeface="+mj-lt"/>
                <a:cs typeface="Times New Roman"/>
              </a:rPr>
              <a:t> </a:t>
            </a:r>
            <a:r>
              <a:rPr lang="en-US" sz="2000" spc="-5" dirty="0">
                <a:latin typeface="+mj-lt"/>
                <a:cs typeface="Times New Roman"/>
              </a:rPr>
              <a:t>have</a:t>
            </a:r>
            <a:r>
              <a:rPr lang="en-US" sz="2000" spc="5" dirty="0">
                <a:latin typeface="+mj-lt"/>
                <a:cs typeface="Times New Roman"/>
              </a:rPr>
              <a:t> </a:t>
            </a:r>
            <a:r>
              <a:rPr lang="en-US" sz="2000" spc="-5" dirty="0">
                <a:latin typeface="+mj-lt"/>
                <a:cs typeface="Times New Roman"/>
              </a:rPr>
              <a:t>complex</a:t>
            </a:r>
            <a:r>
              <a:rPr lang="en-US" sz="2000" spc="10" dirty="0">
                <a:latin typeface="+mj-lt"/>
                <a:cs typeface="Times New Roman"/>
              </a:rPr>
              <a:t> </a:t>
            </a:r>
            <a:r>
              <a:rPr lang="en-US" sz="2000" spc="-5" dirty="0">
                <a:latin typeface="+mj-lt"/>
                <a:cs typeface="Times New Roman"/>
              </a:rPr>
              <a:t>operations</a:t>
            </a:r>
            <a:r>
              <a:rPr lang="en-US" sz="2000" spc="5" dirty="0">
                <a:latin typeface="+mj-lt"/>
                <a:cs typeface="Times New Roman"/>
              </a:rPr>
              <a:t> </a:t>
            </a:r>
            <a:r>
              <a:rPr lang="en-US" sz="2000" spc="-5" dirty="0">
                <a:latin typeface="+mj-lt"/>
                <a:cs typeface="Times New Roman"/>
              </a:rPr>
              <a:t>such</a:t>
            </a:r>
            <a:r>
              <a:rPr lang="en-US" sz="2000" spc="10" dirty="0">
                <a:latin typeface="+mj-lt"/>
                <a:cs typeface="Times New Roman"/>
              </a:rPr>
              <a:t> </a:t>
            </a:r>
            <a:r>
              <a:rPr lang="en-US" sz="2000" spc="-10" dirty="0">
                <a:latin typeface="+mj-lt"/>
                <a:cs typeface="Times New Roman"/>
              </a:rPr>
              <a:t>as </a:t>
            </a:r>
            <a:r>
              <a:rPr lang="en-US" sz="2000" spc="-434" dirty="0">
                <a:latin typeface="+mj-lt"/>
                <a:cs typeface="Times New Roman"/>
              </a:rPr>
              <a:t> </a:t>
            </a:r>
            <a:r>
              <a:rPr lang="en-US" sz="2000" spc="-5" dirty="0">
                <a:latin typeface="+mj-lt"/>
                <a:cs typeface="Times New Roman"/>
              </a:rPr>
              <a:t>square</a:t>
            </a:r>
            <a:r>
              <a:rPr lang="en-US" sz="2000" spc="-15" dirty="0">
                <a:latin typeface="+mj-lt"/>
                <a:cs typeface="Times New Roman"/>
              </a:rPr>
              <a:t> </a:t>
            </a:r>
            <a:r>
              <a:rPr lang="en-US" sz="2000" spc="-5" dirty="0">
                <a:latin typeface="+mj-lt"/>
                <a:cs typeface="Times New Roman"/>
              </a:rPr>
              <a:t>root.</a:t>
            </a:r>
            <a:endParaRPr lang="en-US" sz="2800" dirty="0">
              <a:latin typeface="+mj-lt"/>
              <a:cs typeface="Times New Roman"/>
            </a:endParaRPr>
          </a:p>
          <a:p>
            <a:pPr marL="698500" marR="382905" lvl="1" indent="-229235">
              <a:lnSpc>
                <a:spcPts val="2160"/>
              </a:lnSpc>
              <a:buChar char="•"/>
              <a:tabLst>
                <a:tab pos="697865" algn="l"/>
                <a:tab pos="699135" algn="l"/>
              </a:tabLst>
            </a:pPr>
            <a:r>
              <a:rPr lang="en-US" sz="2400" spc="-5" dirty="0">
                <a:latin typeface="+mj-lt"/>
                <a:cs typeface="Times New Roman"/>
              </a:rPr>
              <a:t>In addition, microprocessors have logic operations as well. </a:t>
            </a:r>
            <a:r>
              <a:rPr lang="en-US" sz="2400" spc="-484" dirty="0">
                <a:latin typeface="+mj-lt"/>
                <a:cs typeface="Times New Roman"/>
              </a:rPr>
              <a:t> </a:t>
            </a:r>
            <a:r>
              <a:rPr lang="en-US" sz="2400" spc="-5" dirty="0">
                <a:latin typeface="+mj-lt"/>
                <a:cs typeface="Times New Roman"/>
              </a:rPr>
              <a:t>Such</a:t>
            </a:r>
            <a:r>
              <a:rPr lang="en-US" sz="2400" spc="-10" dirty="0">
                <a:latin typeface="+mj-lt"/>
                <a:cs typeface="Times New Roman"/>
              </a:rPr>
              <a:t> </a:t>
            </a:r>
            <a:r>
              <a:rPr lang="en-US" sz="2400" spc="-5" dirty="0">
                <a:latin typeface="+mj-lt"/>
                <a:cs typeface="Times New Roman"/>
              </a:rPr>
              <a:t>as</a:t>
            </a:r>
            <a:r>
              <a:rPr lang="en-US" sz="2400" spc="-10" dirty="0">
                <a:latin typeface="+mj-lt"/>
                <a:cs typeface="Times New Roman"/>
              </a:rPr>
              <a:t> </a:t>
            </a:r>
            <a:r>
              <a:rPr lang="en-US" sz="2400" spc="-5" dirty="0">
                <a:latin typeface="+mj-lt"/>
                <a:cs typeface="Times New Roman"/>
              </a:rPr>
              <a:t>AND,</a:t>
            </a:r>
            <a:r>
              <a:rPr lang="en-US" sz="2400" spc="20" dirty="0">
                <a:latin typeface="+mj-lt"/>
                <a:cs typeface="Times New Roman"/>
              </a:rPr>
              <a:t> </a:t>
            </a:r>
            <a:r>
              <a:rPr lang="en-US" sz="2400" spc="-5" dirty="0">
                <a:latin typeface="+mj-lt"/>
                <a:cs typeface="Times New Roman"/>
              </a:rPr>
              <a:t>OR,</a:t>
            </a:r>
            <a:r>
              <a:rPr lang="en-US" sz="2400" spc="15" dirty="0">
                <a:latin typeface="+mj-lt"/>
                <a:cs typeface="Times New Roman"/>
              </a:rPr>
              <a:t> </a:t>
            </a:r>
            <a:r>
              <a:rPr lang="en-US" sz="2400" spc="-5" dirty="0">
                <a:latin typeface="+mj-lt"/>
                <a:cs typeface="Times New Roman"/>
              </a:rPr>
              <a:t>XOR,</a:t>
            </a:r>
            <a:r>
              <a:rPr lang="en-US" sz="2400" spc="15" dirty="0">
                <a:latin typeface="+mj-lt"/>
                <a:cs typeface="Times New Roman"/>
              </a:rPr>
              <a:t> </a:t>
            </a:r>
            <a:r>
              <a:rPr lang="en-US" sz="2400" spc="-5" dirty="0">
                <a:latin typeface="+mj-lt"/>
                <a:cs typeface="Times New Roman"/>
              </a:rPr>
              <a:t>shift</a:t>
            </a:r>
            <a:r>
              <a:rPr lang="en-US" sz="2400" spc="-20" dirty="0">
                <a:latin typeface="+mj-lt"/>
                <a:cs typeface="Times New Roman"/>
              </a:rPr>
              <a:t> </a:t>
            </a:r>
            <a:r>
              <a:rPr lang="en-US" sz="2400" spc="-5" dirty="0">
                <a:latin typeface="+mj-lt"/>
                <a:cs typeface="Times New Roman"/>
              </a:rPr>
              <a:t>left,</a:t>
            </a:r>
            <a:r>
              <a:rPr lang="en-US" sz="2400" spc="-20" dirty="0">
                <a:latin typeface="+mj-lt"/>
                <a:cs typeface="Times New Roman"/>
              </a:rPr>
              <a:t> </a:t>
            </a:r>
            <a:r>
              <a:rPr lang="en-US" sz="2400" spc="-5" dirty="0">
                <a:latin typeface="+mj-lt"/>
                <a:cs typeface="Times New Roman"/>
              </a:rPr>
              <a:t>shift</a:t>
            </a:r>
            <a:r>
              <a:rPr lang="en-US" sz="2400" spc="-35" dirty="0">
                <a:latin typeface="+mj-lt"/>
                <a:cs typeface="Times New Roman"/>
              </a:rPr>
              <a:t> </a:t>
            </a:r>
            <a:r>
              <a:rPr lang="en-US" sz="2400" spc="-5" dirty="0">
                <a:latin typeface="+mj-lt"/>
                <a:cs typeface="Times New Roman"/>
              </a:rPr>
              <a:t>right,</a:t>
            </a:r>
            <a:r>
              <a:rPr lang="en-US" sz="2400" spc="-20" dirty="0">
                <a:latin typeface="+mj-lt"/>
                <a:cs typeface="Times New Roman"/>
              </a:rPr>
              <a:t> </a:t>
            </a:r>
            <a:r>
              <a:rPr lang="en-US" sz="2400" spc="-5" dirty="0">
                <a:latin typeface="+mj-lt"/>
                <a:cs typeface="Times New Roman"/>
              </a:rPr>
              <a:t>etc.</a:t>
            </a:r>
            <a:endParaRPr lang="en-US" sz="2400" dirty="0">
              <a:latin typeface="+mj-lt"/>
              <a:cs typeface="Times New Roman"/>
            </a:endParaRPr>
          </a:p>
          <a:p>
            <a:pPr marL="698500" marR="241300" lvl="1" indent="-229235">
              <a:lnSpc>
                <a:spcPts val="2160"/>
              </a:lnSpc>
              <a:spcBef>
                <a:spcPts val="5"/>
              </a:spcBef>
              <a:buChar char="•"/>
              <a:tabLst>
                <a:tab pos="697865" algn="l"/>
                <a:tab pos="699135" algn="l"/>
              </a:tabLst>
            </a:pPr>
            <a:r>
              <a:rPr lang="en-US" sz="2400" spc="-5" dirty="0">
                <a:latin typeface="+mj-lt"/>
                <a:cs typeface="Times New Roman"/>
              </a:rPr>
              <a:t>Again, the number and types of operations define the </a:t>
            </a:r>
            <a:r>
              <a:rPr lang="en-US" sz="2400" dirty="0">
                <a:latin typeface="+mj-lt"/>
                <a:cs typeface="Times New Roman"/>
              </a:rPr>
              <a:t> </a:t>
            </a:r>
            <a:r>
              <a:rPr lang="en-US" sz="2400" spc="-5" dirty="0">
                <a:latin typeface="+mj-lt"/>
                <a:cs typeface="Times New Roman"/>
              </a:rPr>
              <a:t>microprocessor’s instruction set and depends on the specific </a:t>
            </a:r>
            <a:r>
              <a:rPr lang="en-US" sz="2400" spc="-484" dirty="0">
                <a:latin typeface="+mj-lt"/>
                <a:cs typeface="Times New Roman"/>
              </a:rPr>
              <a:t> </a:t>
            </a:r>
            <a:r>
              <a:rPr lang="en-US" sz="2400" spc="-5" dirty="0">
                <a:latin typeface="+mj-lt"/>
                <a:cs typeface="Times New Roman"/>
              </a:rPr>
              <a:t>microprocessor.</a:t>
            </a:r>
            <a:endParaRPr lang="en-US" sz="2400" dirty="0">
              <a:latin typeface="+mj-lt"/>
              <a:cs typeface="Times New Roman"/>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AA400074-A5F0-44A7-ADA1-E27420DE0776}"/>
              </a:ext>
            </a:extLst>
          </p:cNvPr>
          <p:cNvSpPr>
            <a:spLocks noGrp="1"/>
          </p:cNvSpPr>
          <p:nvPr>
            <p:ph type="dt" sz="half" idx="10"/>
          </p:nvPr>
        </p:nvSpPr>
        <p:spPr/>
        <p:txBody>
          <a:bodyPr/>
          <a:lstStyle/>
          <a:p>
            <a:fld id="{BAC1B7BF-A41C-434A-8038-B83676D95415}" type="datetime1">
              <a:rPr lang="en-US" smtClean="0"/>
              <a:t>7/31/2023</a:t>
            </a:fld>
            <a:endParaRPr lang="en-US"/>
          </a:p>
        </p:txBody>
      </p:sp>
      <p:sp>
        <p:nvSpPr>
          <p:cNvPr id="8" name="Slide Number Placeholder 7">
            <a:extLst>
              <a:ext uri="{FF2B5EF4-FFF2-40B4-BE49-F238E27FC236}">
                <a16:creationId xmlns:a16="http://schemas.microsoft.com/office/drawing/2014/main" id="{23CF8242-0D57-487D-881D-8FBAE5E5703E}"/>
              </a:ext>
            </a:extLst>
          </p:cNvPr>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690893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lnSpcReduction="10000"/>
          </a:bodyPr>
          <a:lstStyle/>
          <a:p>
            <a:pPr marL="323850" indent="-286385">
              <a:lnSpc>
                <a:spcPct val="100000"/>
              </a:lnSpc>
              <a:spcBef>
                <a:spcPts val="695"/>
              </a:spcBef>
              <a:buChar char="–"/>
              <a:tabLst>
                <a:tab pos="323850" algn="l"/>
                <a:tab pos="324485" algn="l"/>
              </a:tabLst>
            </a:pPr>
            <a:r>
              <a:rPr lang="en-US" sz="2400" spc="-5" dirty="0">
                <a:solidFill>
                  <a:srgbClr val="800000"/>
                </a:solidFill>
                <a:latin typeface="+mj-lt"/>
                <a:cs typeface="Times New Roman"/>
              </a:rPr>
              <a:t>Stored</a:t>
            </a:r>
            <a:r>
              <a:rPr lang="en-US" sz="2400" spc="-25" dirty="0">
                <a:solidFill>
                  <a:srgbClr val="800000"/>
                </a:solidFill>
                <a:latin typeface="+mj-lt"/>
                <a:cs typeface="Times New Roman"/>
              </a:rPr>
              <a:t> </a:t>
            </a:r>
            <a:r>
              <a:rPr lang="en-US" sz="2400" spc="-5" dirty="0">
                <a:solidFill>
                  <a:srgbClr val="800000"/>
                </a:solidFill>
                <a:latin typeface="+mj-lt"/>
                <a:cs typeface="Times New Roman"/>
              </a:rPr>
              <a:t>in</a:t>
            </a:r>
            <a:r>
              <a:rPr lang="en-US" sz="2400" spc="-25" dirty="0">
                <a:solidFill>
                  <a:srgbClr val="800000"/>
                </a:solidFill>
                <a:latin typeface="+mj-lt"/>
                <a:cs typeface="Times New Roman"/>
              </a:rPr>
              <a:t> </a:t>
            </a:r>
            <a:r>
              <a:rPr lang="en-US" sz="2400" spc="-5" dirty="0">
                <a:solidFill>
                  <a:srgbClr val="800000"/>
                </a:solidFill>
                <a:latin typeface="+mj-lt"/>
                <a:cs typeface="Times New Roman"/>
              </a:rPr>
              <a:t>memory</a:t>
            </a:r>
            <a:r>
              <a:rPr lang="en-US" sz="2400" spc="-25" dirty="0">
                <a:solidFill>
                  <a:srgbClr val="800000"/>
                </a:solidFill>
                <a:latin typeface="+mj-lt"/>
                <a:cs typeface="Times New Roman"/>
              </a:rPr>
              <a:t> </a:t>
            </a:r>
            <a:r>
              <a:rPr lang="en-US" sz="2400" dirty="0">
                <a:latin typeface="+mj-lt"/>
                <a:cs typeface="Times New Roman"/>
              </a:rPr>
              <a:t>:</a:t>
            </a:r>
          </a:p>
          <a:p>
            <a:pPr marL="723900" lvl="1" indent="-229870">
              <a:lnSpc>
                <a:spcPct val="100000"/>
              </a:lnSpc>
              <a:spcBef>
                <a:spcPts val="500"/>
              </a:spcBef>
              <a:buChar char="•"/>
              <a:tabLst>
                <a:tab pos="723265" algn="l"/>
                <a:tab pos="724535" algn="l"/>
              </a:tabLst>
            </a:pPr>
            <a:r>
              <a:rPr lang="en-US" sz="2000" spc="-5" dirty="0">
                <a:latin typeface="+mj-lt"/>
                <a:cs typeface="Times New Roman"/>
              </a:rPr>
              <a:t>First,</a:t>
            </a:r>
            <a:r>
              <a:rPr lang="en-US" sz="2000" spc="-35" dirty="0">
                <a:latin typeface="+mj-lt"/>
                <a:cs typeface="Times New Roman"/>
              </a:rPr>
              <a:t> </a:t>
            </a:r>
            <a:r>
              <a:rPr lang="en-US" sz="2000" spc="-5" dirty="0">
                <a:latin typeface="+mj-lt"/>
                <a:cs typeface="Times New Roman"/>
              </a:rPr>
              <a:t>what</a:t>
            </a:r>
            <a:r>
              <a:rPr lang="en-US" sz="2000" spc="-15" dirty="0">
                <a:latin typeface="+mj-lt"/>
                <a:cs typeface="Times New Roman"/>
              </a:rPr>
              <a:t> </a:t>
            </a:r>
            <a:r>
              <a:rPr lang="en-US" sz="2000" spc="-5" dirty="0">
                <a:latin typeface="+mj-lt"/>
                <a:cs typeface="Times New Roman"/>
              </a:rPr>
              <a:t>is</a:t>
            </a:r>
            <a:r>
              <a:rPr lang="en-US" sz="2000" spc="-20" dirty="0">
                <a:latin typeface="+mj-lt"/>
                <a:cs typeface="Times New Roman"/>
              </a:rPr>
              <a:t> </a:t>
            </a:r>
            <a:r>
              <a:rPr lang="en-US" sz="2000" spc="-5" dirty="0">
                <a:latin typeface="+mj-lt"/>
                <a:cs typeface="Times New Roman"/>
              </a:rPr>
              <a:t>memory?</a:t>
            </a:r>
            <a:endParaRPr lang="en-US" sz="2000" dirty="0">
              <a:latin typeface="+mj-lt"/>
              <a:cs typeface="Times New Roman"/>
            </a:endParaRPr>
          </a:p>
          <a:p>
            <a:pPr marL="1180465" marR="276860" lvl="2">
              <a:spcBef>
                <a:spcPts val="439"/>
              </a:spcBef>
              <a:buChar char="–"/>
              <a:tabLst>
                <a:tab pos="1181100" algn="l"/>
              </a:tabLst>
            </a:pPr>
            <a:r>
              <a:rPr lang="en-US" sz="1800" spc="-5" dirty="0">
                <a:latin typeface="+mj-lt"/>
                <a:cs typeface="Times New Roman"/>
              </a:rPr>
              <a:t>Memory</a:t>
            </a:r>
            <a:r>
              <a:rPr lang="en-US" sz="1800" spc="-10" dirty="0">
                <a:latin typeface="+mj-lt"/>
                <a:cs typeface="Times New Roman"/>
              </a:rPr>
              <a:t> </a:t>
            </a:r>
            <a:r>
              <a:rPr lang="en-US" sz="1800" spc="-5" dirty="0">
                <a:latin typeface="+mj-lt"/>
                <a:cs typeface="Times New Roman"/>
              </a:rPr>
              <a:t>is</a:t>
            </a:r>
            <a:r>
              <a:rPr lang="en-US" sz="1800" spc="5" dirty="0">
                <a:latin typeface="+mj-lt"/>
                <a:cs typeface="Times New Roman"/>
              </a:rPr>
              <a:t> </a:t>
            </a:r>
            <a:r>
              <a:rPr lang="en-US" sz="1800" spc="-5" dirty="0">
                <a:latin typeface="+mj-lt"/>
                <a:cs typeface="Times New Roman"/>
              </a:rPr>
              <a:t>the</a:t>
            </a:r>
            <a:r>
              <a:rPr lang="en-US" sz="1800" spc="5" dirty="0">
                <a:latin typeface="+mj-lt"/>
                <a:cs typeface="Times New Roman"/>
              </a:rPr>
              <a:t> </a:t>
            </a:r>
            <a:r>
              <a:rPr lang="en-US" sz="1800" spc="-5" dirty="0">
                <a:latin typeface="+mj-lt"/>
                <a:cs typeface="Times New Roman"/>
              </a:rPr>
              <a:t>location</a:t>
            </a:r>
            <a:r>
              <a:rPr lang="en-US" sz="1800" spc="15" dirty="0">
                <a:latin typeface="+mj-lt"/>
                <a:cs typeface="Times New Roman"/>
              </a:rPr>
              <a:t> </a:t>
            </a:r>
            <a:r>
              <a:rPr lang="en-US" sz="1800" spc="-5" dirty="0">
                <a:latin typeface="+mj-lt"/>
                <a:cs typeface="Times New Roman"/>
              </a:rPr>
              <a:t>where information</a:t>
            </a:r>
            <a:r>
              <a:rPr lang="en-US" sz="1800" spc="15" dirty="0">
                <a:latin typeface="+mj-lt"/>
                <a:cs typeface="Times New Roman"/>
              </a:rPr>
              <a:t> </a:t>
            </a:r>
            <a:r>
              <a:rPr lang="en-US" sz="1800" spc="-5" dirty="0">
                <a:latin typeface="+mj-lt"/>
                <a:cs typeface="Times New Roman"/>
              </a:rPr>
              <a:t>is</a:t>
            </a:r>
            <a:r>
              <a:rPr lang="en-US" sz="1800" spc="5" dirty="0">
                <a:latin typeface="+mj-lt"/>
                <a:cs typeface="Times New Roman"/>
              </a:rPr>
              <a:t> </a:t>
            </a:r>
            <a:r>
              <a:rPr lang="en-US" sz="1800" spc="-5" dirty="0">
                <a:latin typeface="+mj-lt"/>
                <a:cs typeface="Times New Roman"/>
              </a:rPr>
              <a:t>kept</a:t>
            </a:r>
            <a:r>
              <a:rPr lang="en-US" sz="1800" dirty="0">
                <a:latin typeface="+mj-lt"/>
                <a:cs typeface="Times New Roman"/>
              </a:rPr>
              <a:t> </a:t>
            </a:r>
            <a:r>
              <a:rPr lang="en-US" sz="1800" spc="-5" dirty="0">
                <a:latin typeface="+mj-lt"/>
                <a:cs typeface="Times New Roman"/>
              </a:rPr>
              <a:t>while</a:t>
            </a:r>
            <a:r>
              <a:rPr lang="en-US" sz="1800" dirty="0">
                <a:latin typeface="+mj-lt"/>
                <a:cs typeface="Times New Roman"/>
              </a:rPr>
              <a:t> not </a:t>
            </a:r>
            <a:r>
              <a:rPr lang="en-US" sz="1800" spc="-5" dirty="0">
                <a:latin typeface="+mj-lt"/>
                <a:cs typeface="Times New Roman"/>
              </a:rPr>
              <a:t>in </a:t>
            </a:r>
            <a:r>
              <a:rPr lang="en-US" sz="1800" spc="-434" dirty="0">
                <a:latin typeface="+mj-lt"/>
                <a:cs typeface="Times New Roman"/>
              </a:rPr>
              <a:t> </a:t>
            </a:r>
            <a:r>
              <a:rPr lang="en-US" sz="1800" spc="-5" dirty="0">
                <a:latin typeface="+mj-lt"/>
                <a:cs typeface="Times New Roman"/>
              </a:rPr>
              <a:t>current</a:t>
            </a:r>
            <a:r>
              <a:rPr lang="en-US" sz="1800" spc="-10" dirty="0">
                <a:latin typeface="+mj-lt"/>
                <a:cs typeface="Times New Roman"/>
              </a:rPr>
              <a:t> </a:t>
            </a:r>
            <a:r>
              <a:rPr lang="en-US" sz="1800" spc="-5" dirty="0">
                <a:latin typeface="+mj-lt"/>
                <a:cs typeface="Times New Roman"/>
              </a:rPr>
              <a:t>use.</a:t>
            </a:r>
            <a:endParaRPr lang="en-US" sz="1800" dirty="0">
              <a:latin typeface="+mj-lt"/>
              <a:cs typeface="Times New Roman"/>
            </a:endParaRPr>
          </a:p>
          <a:p>
            <a:pPr marL="1180465" marR="30480" lvl="2">
              <a:spcBef>
                <a:spcPts val="430"/>
              </a:spcBef>
              <a:buChar char="–"/>
              <a:tabLst>
                <a:tab pos="1181100" algn="l"/>
              </a:tabLst>
            </a:pPr>
            <a:r>
              <a:rPr lang="en-US" sz="1800" spc="-5" dirty="0">
                <a:latin typeface="+mj-lt"/>
                <a:cs typeface="Times New Roman"/>
              </a:rPr>
              <a:t>Memory</a:t>
            </a:r>
            <a:r>
              <a:rPr lang="en-US" sz="1800" spc="-10" dirty="0">
                <a:latin typeface="+mj-lt"/>
                <a:cs typeface="Times New Roman"/>
              </a:rPr>
              <a:t> </a:t>
            </a:r>
            <a:r>
              <a:rPr lang="en-US" sz="1800" spc="-5" dirty="0">
                <a:latin typeface="+mj-lt"/>
                <a:cs typeface="Times New Roman"/>
              </a:rPr>
              <a:t>is</a:t>
            </a:r>
            <a:r>
              <a:rPr lang="en-US" sz="1800" spc="10" dirty="0">
                <a:latin typeface="+mj-lt"/>
                <a:cs typeface="Times New Roman"/>
              </a:rPr>
              <a:t> </a:t>
            </a:r>
            <a:r>
              <a:rPr lang="en-US" sz="1800" dirty="0">
                <a:latin typeface="+mj-lt"/>
                <a:cs typeface="Times New Roman"/>
              </a:rPr>
              <a:t>a</a:t>
            </a:r>
            <a:r>
              <a:rPr lang="en-US" sz="1800" spc="-5" dirty="0">
                <a:latin typeface="+mj-lt"/>
                <a:cs typeface="Times New Roman"/>
              </a:rPr>
              <a:t> collection</a:t>
            </a:r>
            <a:r>
              <a:rPr lang="en-US" sz="1800" spc="15" dirty="0">
                <a:latin typeface="+mj-lt"/>
                <a:cs typeface="Times New Roman"/>
              </a:rPr>
              <a:t> </a:t>
            </a:r>
            <a:r>
              <a:rPr lang="en-US" sz="1800" dirty="0">
                <a:latin typeface="+mj-lt"/>
                <a:cs typeface="Times New Roman"/>
              </a:rPr>
              <a:t>of</a:t>
            </a:r>
            <a:r>
              <a:rPr lang="en-US" sz="1800" spc="5" dirty="0">
                <a:latin typeface="+mj-lt"/>
                <a:cs typeface="Times New Roman"/>
              </a:rPr>
              <a:t> </a:t>
            </a:r>
            <a:r>
              <a:rPr lang="en-US" sz="1800" spc="-5" dirty="0">
                <a:latin typeface="+mj-lt"/>
                <a:cs typeface="Times New Roman"/>
              </a:rPr>
              <a:t>storage</a:t>
            </a:r>
            <a:r>
              <a:rPr lang="en-US" sz="1800" spc="5" dirty="0">
                <a:latin typeface="+mj-lt"/>
                <a:cs typeface="Times New Roman"/>
              </a:rPr>
              <a:t> </a:t>
            </a:r>
            <a:r>
              <a:rPr lang="en-US" sz="1800" spc="-5" dirty="0">
                <a:latin typeface="+mj-lt"/>
                <a:cs typeface="Times New Roman"/>
              </a:rPr>
              <a:t>devices.</a:t>
            </a:r>
            <a:r>
              <a:rPr lang="en-US" sz="1800" spc="5" dirty="0">
                <a:latin typeface="+mj-lt"/>
                <a:cs typeface="Times New Roman"/>
              </a:rPr>
              <a:t> </a:t>
            </a:r>
            <a:r>
              <a:rPr lang="en-US" sz="1800" spc="-5" dirty="0">
                <a:latin typeface="+mj-lt"/>
                <a:cs typeface="Times New Roman"/>
              </a:rPr>
              <a:t>Usually,</a:t>
            </a:r>
            <a:r>
              <a:rPr lang="en-US" sz="1800" spc="10" dirty="0">
                <a:latin typeface="+mj-lt"/>
                <a:cs typeface="Times New Roman"/>
              </a:rPr>
              <a:t> </a:t>
            </a:r>
            <a:r>
              <a:rPr lang="en-US" sz="1800" spc="-5" dirty="0">
                <a:latin typeface="+mj-lt"/>
                <a:cs typeface="Times New Roman"/>
              </a:rPr>
              <a:t>each</a:t>
            </a:r>
            <a:r>
              <a:rPr lang="en-US" sz="1800" spc="10" dirty="0">
                <a:latin typeface="+mj-lt"/>
                <a:cs typeface="Times New Roman"/>
              </a:rPr>
              <a:t> </a:t>
            </a:r>
            <a:r>
              <a:rPr lang="en-US" sz="1800" spc="-5" dirty="0">
                <a:latin typeface="+mj-lt"/>
                <a:cs typeface="Times New Roman"/>
              </a:rPr>
              <a:t>storage </a:t>
            </a:r>
            <a:r>
              <a:rPr lang="en-US" sz="1800" spc="-434" dirty="0">
                <a:latin typeface="+mj-lt"/>
                <a:cs typeface="Times New Roman"/>
              </a:rPr>
              <a:t> </a:t>
            </a:r>
            <a:r>
              <a:rPr lang="en-US" sz="1800" spc="-5" dirty="0">
                <a:latin typeface="+mj-lt"/>
                <a:cs typeface="Times New Roman"/>
              </a:rPr>
              <a:t>device holds</a:t>
            </a:r>
            <a:r>
              <a:rPr lang="en-US" sz="1800" dirty="0">
                <a:latin typeface="+mj-lt"/>
                <a:cs typeface="Times New Roman"/>
              </a:rPr>
              <a:t> one</a:t>
            </a:r>
            <a:r>
              <a:rPr lang="en-US" sz="1800" spc="5" dirty="0">
                <a:latin typeface="+mj-lt"/>
                <a:cs typeface="Times New Roman"/>
              </a:rPr>
              <a:t> </a:t>
            </a:r>
            <a:r>
              <a:rPr lang="en-US" sz="1800" spc="-5" dirty="0">
                <a:latin typeface="+mj-lt"/>
                <a:cs typeface="Times New Roman"/>
              </a:rPr>
              <a:t>bit.</a:t>
            </a:r>
            <a:r>
              <a:rPr lang="en-US" sz="1800" dirty="0">
                <a:latin typeface="+mj-lt"/>
                <a:cs typeface="Times New Roman"/>
              </a:rPr>
              <a:t> </a:t>
            </a:r>
            <a:r>
              <a:rPr lang="en-US" sz="1800" spc="-5" dirty="0">
                <a:latin typeface="+mj-lt"/>
                <a:cs typeface="Times New Roman"/>
              </a:rPr>
              <a:t>Also,</a:t>
            </a:r>
            <a:r>
              <a:rPr lang="en-US" sz="1800" dirty="0">
                <a:latin typeface="+mj-lt"/>
                <a:cs typeface="Times New Roman"/>
              </a:rPr>
              <a:t> </a:t>
            </a:r>
            <a:r>
              <a:rPr lang="en-US" sz="1800" spc="-5" dirty="0">
                <a:latin typeface="+mj-lt"/>
                <a:cs typeface="Times New Roman"/>
              </a:rPr>
              <a:t>in</a:t>
            </a:r>
            <a:r>
              <a:rPr lang="en-US" sz="1800" spc="5" dirty="0">
                <a:latin typeface="+mj-lt"/>
                <a:cs typeface="Times New Roman"/>
              </a:rPr>
              <a:t> </a:t>
            </a:r>
            <a:r>
              <a:rPr lang="en-US" sz="1800" spc="-5" dirty="0">
                <a:latin typeface="+mj-lt"/>
                <a:cs typeface="Times New Roman"/>
              </a:rPr>
              <a:t>most</a:t>
            </a:r>
            <a:r>
              <a:rPr lang="en-US" sz="1800" dirty="0">
                <a:latin typeface="+mj-lt"/>
                <a:cs typeface="Times New Roman"/>
              </a:rPr>
              <a:t> </a:t>
            </a:r>
            <a:r>
              <a:rPr lang="en-US" sz="1800" spc="-5" dirty="0">
                <a:latin typeface="+mj-lt"/>
                <a:cs typeface="Times New Roman"/>
              </a:rPr>
              <a:t>kinds</a:t>
            </a:r>
            <a:r>
              <a:rPr lang="en-US" sz="1800" spc="5" dirty="0">
                <a:latin typeface="+mj-lt"/>
                <a:cs typeface="Times New Roman"/>
              </a:rPr>
              <a:t> </a:t>
            </a:r>
            <a:r>
              <a:rPr lang="en-US" sz="1800" dirty="0">
                <a:latin typeface="+mj-lt"/>
                <a:cs typeface="Times New Roman"/>
              </a:rPr>
              <a:t>of </a:t>
            </a:r>
            <a:r>
              <a:rPr lang="en-US" sz="1800" spc="-5" dirty="0">
                <a:latin typeface="+mj-lt"/>
                <a:cs typeface="Times New Roman"/>
              </a:rPr>
              <a:t>memory,</a:t>
            </a:r>
            <a:r>
              <a:rPr lang="en-US" sz="1800" spc="5" dirty="0">
                <a:latin typeface="+mj-lt"/>
                <a:cs typeface="Times New Roman"/>
              </a:rPr>
              <a:t> </a:t>
            </a:r>
            <a:r>
              <a:rPr lang="en-US" sz="1800" spc="-5" dirty="0">
                <a:latin typeface="+mj-lt"/>
                <a:cs typeface="Times New Roman"/>
              </a:rPr>
              <a:t>these </a:t>
            </a:r>
            <a:r>
              <a:rPr lang="en-US" sz="1800" dirty="0">
                <a:latin typeface="+mj-lt"/>
                <a:cs typeface="Times New Roman"/>
              </a:rPr>
              <a:t> </a:t>
            </a:r>
            <a:r>
              <a:rPr lang="en-US" sz="1800" spc="-5" dirty="0">
                <a:latin typeface="+mj-lt"/>
                <a:cs typeface="Times New Roman"/>
              </a:rPr>
              <a:t>storage devices</a:t>
            </a:r>
            <a:r>
              <a:rPr lang="en-US" sz="1800" spc="5" dirty="0">
                <a:latin typeface="+mj-lt"/>
                <a:cs typeface="Times New Roman"/>
              </a:rPr>
              <a:t> </a:t>
            </a:r>
            <a:r>
              <a:rPr lang="en-US" sz="1800" spc="-5" dirty="0">
                <a:latin typeface="+mj-lt"/>
                <a:cs typeface="Times New Roman"/>
              </a:rPr>
              <a:t>are</a:t>
            </a:r>
            <a:r>
              <a:rPr lang="en-US" sz="1800" dirty="0">
                <a:latin typeface="+mj-lt"/>
                <a:cs typeface="Times New Roman"/>
              </a:rPr>
              <a:t> </a:t>
            </a:r>
            <a:r>
              <a:rPr lang="en-US" sz="1800" spc="-5" dirty="0">
                <a:latin typeface="+mj-lt"/>
                <a:cs typeface="Times New Roman"/>
              </a:rPr>
              <a:t>grouped</a:t>
            </a:r>
            <a:r>
              <a:rPr lang="en-US" sz="1800" spc="5" dirty="0">
                <a:latin typeface="+mj-lt"/>
                <a:cs typeface="Times New Roman"/>
              </a:rPr>
              <a:t> </a:t>
            </a:r>
            <a:r>
              <a:rPr lang="en-US" sz="1800" spc="-5" dirty="0">
                <a:latin typeface="+mj-lt"/>
                <a:cs typeface="Times New Roman"/>
              </a:rPr>
              <a:t>into</a:t>
            </a:r>
            <a:r>
              <a:rPr lang="en-US" sz="1800" dirty="0">
                <a:latin typeface="+mj-lt"/>
                <a:cs typeface="Times New Roman"/>
              </a:rPr>
              <a:t> groups</a:t>
            </a:r>
            <a:r>
              <a:rPr lang="en-US" sz="1800" spc="5" dirty="0">
                <a:latin typeface="+mj-lt"/>
                <a:cs typeface="Times New Roman"/>
              </a:rPr>
              <a:t> </a:t>
            </a:r>
            <a:r>
              <a:rPr lang="en-US" sz="1800" dirty="0">
                <a:latin typeface="+mj-lt"/>
                <a:cs typeface="Times New Roman"/>
              </a:rPr>
              <a:t>of 8. </a:t>
            </a:r>
            <a:r>
              <a:rPr lang="en-US" sz="1800" spc="-5" dirty="0">
                <a:latin typeface="+mj-lt"/>
                <a:cs typeface="Times New Roman"/>
              </a:rPr>
              <a:t>These</a:t>
            </a:r>
            <a:r>
              <a:rPr lang="en-US" sz="1800" spc="20" dirty="0">
                <a:latin typeface="+mj-lt"/>
                <a:cs typeface="Times New Roman"/>
              </a:rPr>
              <a:t> </a:t>
            </a:r>
            <a:r>
              <a:rPr lang="en-US" sz="1800" dirty="0">
                <a:latin typeface="+mj-lt"/>
                <a:cs typeface="Times New Roman"/>
              </a:rPr>
              <a:t>8 </a:t>
            </a:r>
            <a:r>
              <a:rPr lang="en-US" sz="1800" spc="-5" dirty="0">
                <a:latin typeface="+mj-lt"/>
                <a:cs typeface="Times New Roman"/>
              </a:rPr>
              <a:t>storage </a:t>
            </a:r>
            <a:r>
              <a:rPr lang="en-US" sz="1800" dirty="0">
                <a:latin typeface="+mj-lt"/>
                <a:cs typeface="Times New Roman"/>
              </a:rPr>
              <a:t> </a:t>
            </a:r>
            <a:r>
              <a:rPr lang="en-US" sz="1800" spc="-5" dirty="0">
                <a:latin typeface="+mj-lt"/>
                <a:cs typeface="Times New Roman"/>
              </a:rPr>
              <a:t>locations</a:t>
            </a:r>
            <a:r>
              <a:rPr lang="en-US" sz="1800" spc="5" dirty="0">
                <a:latin typeface="+mj-lt"/>
                <a:cs typeface="Times New Roman"/>
              </a:rPr>
              <a:t> </a:t>
            </a:r>
            <a:r>
              <a:rPr lang="en-US" sz="1800" spc="-5" dirty="0">
                <a:latin typeface="+mj-lt"/>
                <a:cs typeface="Times New Roman"/>
              </a:rPr>
              <a:t>can</a:t>
            </a:r>
            <a:r>
              <a:rPr lang="en-US" sz="1800" spc="5" dirty="0">
                <a:latin typeface="+mj-lt"/>
                <a:cs typeface="Times New Roman"/>
              </a:rPr>
              <a:t> </a:t>
            </a:r>
            <a:r>
              <a:rPr lang="en-US" sz="1800" spc="-5" dirty="0">
                <a:latin typeface="+mj-lt"/>
                <a:cs typeface="Times New Roman"/>
              </a:rPr>
              <a:t>only</a:t>
            </a:r>
            <a:r>
              <a:rPr lang="en-US" sz="1800" spc="5" dirty="0">
                <a:latin typeface="+mj-lt"/>
                <a:cs typeface="Times New Roman"/>
              </a:rPr>
              <a:t> </a:t>
            </a:r>
            <a:r>
              <a:rPr lang="en-US" sz="1800" dirty="0">
                <a:latin typeface="+mj-lt"/>
                <a:cs typeface="Times New Roman"/>
              </a:rPr>
              <a:t>be</a:t>
            </a:r>
            <a:r>
              <a:rPr lang="en-US" sz="1800" spc="-5" dirty="0">
                <a:latin typeface="+mj-lt"/>
                <a:cs typeface="Times New Roman"/>
              </a:rPr>
              <a:t> accessed</a:t>
            </a:r>
            <a:r>
              <a:rPr lang="en-US" sz="1800" spc="5" dirty="0">
                <a:latin typeface="+mj-lt"/>
                <a:cs typeface="Times New Roman"/>
              </a:rPr>
              <a:t> </a:t>
            </a:r>
            <a:r>
              <a:rPr lang="en-US" sz="1800" spc="-5" dirty="0">
                <a:latin typeface="+mj-lt"/>
                <a:cs typeface="Times New Roman"/>
              </a:rPr>
              <a:t>together.</a:t>
            </a:r>
            <a:r>
              <a:rPr lang="en-US" sz="1800" spc="5" dirty="0">
                <a:latin typeface="+mj-lt"/>
                <a:cs typeface="Times New Roman"/>
              </a:rPr>
              <a:t> </a:t>
            </a:r>
            <a:r>
              <a:rPr lang="en-US" sz="1800" spc="-5" dirty="0">
                <a:latin typeface="+mj-lt"/>
                <a:cs typeface="Times New Roman"/>
              </a:rPr>
              <a:t>So,</a:t>
            </a:r>
            <a:r>
              <a:rPr lang="en-US" sz="1800" spc="5" dirty="0">
                <a:latin typeface="+mj-lt"/>
                <a:cs typeface="Times New Roman"/>
              </a:rPr>
              <a:t> </a:t>
            </a:r>
            <a:r>
              <a:rPr lang="en-US" sz="1800" dirty="0">
                <a:latin typeface="+mj-lt"/>
                <a:cs typeface="Times New Roman"/>
              </a:rPr>
              <a:t>one</a:t>
            </a:r>
            <a:r>
              <a:rPr lang="en-US" sz="1800" spc="-5" dirty="0">
                <a:latin typeface="+mj-lt"/>
                <a:cs typeface="Times New Roman"/>
              </a:rPr>
              <a:t> can</a:t>
            </a:r>
            <a:r>
              <a:rPr lang="en-US" sz="1800" spc="5" dirty="0">
                <a:latin typeface="+mj-lt"/>
                <a:cs typeface="Times New Roman"/>
              </a:rPr>
              <a:t> </a:t>
            </a:r>
            <a:r>
              <a:rPr lang="en-US" sz="1800" spc="-5" dirty="0">
                <a:latin typeface="+mj-lt"/>
                <a:cs typeface="Times New Roman"/>
              </a:rPr>
              <a:t>only</a:t>
            </a:r>
            <a:r>
              <a:rPr lang="en-US" sz="1800" spc="5" dirty="0">
                <a:latin typeface="+mj-lt"/>
                <a:cs typeface="Times New Roman"/>
              </a:rPr>
              <a:t> </a:t>
            </a:r>
            <a:r>
              <a:rPr lang="en-US" sz="1800" spc="-5" dirty="0">
                <a:latin typeface="+mj-lt"/>
                <a:cs typeface="Times New Roman"/>
              </a:rPr>
              <a:t>read</a:t>
            </a:r>
            <a:r>
              <a:rPr lang="en-US" sz="1800" spc="5" dirty="0">
                <a:latin typeface="+mj-lt"/>
                <a:cs typeface="Times New Roman"/>
              </a:rPr>
              <a:t> </a:t>
            </a:r>
            <a:r>
              <a:rPr lang="en-US" sz="1800" dirty="0">
                <a:latin typeface="+mj-lt"/>
                <a:cs typeface="Times New Roman"/>
              </a:rPr>
              <a:t>or </a:t>
            </a:r>
            <a:r>
              <a:rPr lang="en-US" sz="1800" spc="-434" dirty="0">
                <a:latin typeface="+mj-lt"/>
                <a:cs typeface="Times New Roman"/>
              </a:rPr>
              <a:t> </a:t>
            </a:r>
            <a:r>
              <a:rPr lang="en-US" sz="1800" spc="-5" dirty="0">
                <a:latin typeface="+mj-lt"/>
                <a:cs typeface="Times New Roman"/>
              </a:rPr>
              <a:t>write</a:t>
            </a:r>
            <a:r>
              <a:rPr lang="en-US" sz="1800" spc="-10" dirty="0">
                <a:latin typeface="+mj-lt"/>
                <a:cs typeface="Times New Roman"/>
              </a:rPr>
              <a:t> </a:t>
            </a:r>
            <a:r>
              <a:rPr lang="en-US" sz="1800" spc="-5" dirty="0">
                <a:latin typeface="+mj-lt"/>
                <a:cs typeface="Times New Roman"/>
              </a:rPr>
              <a:t>in</a:t>
            </a:r>
            <a:r>
              <a:rPr lang="en-US" sz="1800" dirty="0">
                <a:latin typeface="+mj-lt"/>
                <a:cs typeface="Times New Roman"/>
              </a:rPr>
              <a:t> </a:t>
            </a:r>
            <a:r>
              <a:rPr lang="en-US" sz="1800" spc="-5" dirty="0">
                <a:latin typeface="+mj-lt"/>
                <a:cs typeface="Times New Roman"/>
              </a:rPr>
              <a:t>terms</a:t>
            </a:r>
            <a:r>
              <a:rPr lang="en-US" sz="1800" spc="5" dirty="0">
                <a:latin typeface="+mj-lt"/>
                <a:cs typeface="Times New Roman"/>
              </a:rPr>
              <a:t> </a:t>
            </a:r>
            <a:r>
              <a:rPr lang="en-US" sz="1800" dirty="0">
                <a:latin typeface="+mj-lt"/>
                <a:cs typeface="Times New Roman"/>
              </a:rPr>
              <a:t>of </a:t>
            </a:r>
            <a:r>
              <a:rPr lang="en-US" sz="1800" spc="-5" dirty="0">
                <a:latin typeface="+mj-lt"/>
                <a:cs typeface="Times New Roman"/>
              </a:rPr>
              <a:t>bytes</a:t>
            </a:r>
            <a:r>
              <a:rPr lang="en-US" sz="1800" dirty="0">
                <a:latin typeface="+mj-lt"/>
                <a:cs typeface="Times New Roman"/>
              </a:rPr>
              <a:t> </a:t>
            </a:r>
            <a:r>
              <a:rPr lang="en-US" sz="1800" spc="-5" dirty="0">
                <a:latin typeface="+mj-lt"/>
                <a:cs typeface="Times New Roman"/>
              </a:rPr>
              <a:t>to</a:t>
            </a:r>
            <a:r>
              <a:rPr lang="en-US" sz="1800" dirty="0">
                <a:latin typeface="+mj-lt"/>
                <a:cs typeface="Times New Roman"/>
              </a:rPr>
              <a:t> </a:t>
            </a:r>
            <a:r>
              <a:rPr lang="en-US" sz="1800" spc="-5" dirty="0">
                <a:latin typeface="+mj-lt"/>
                <a:cs typeface="Times New Roman"/>
              </a:rPr>
              <a:t>and</a:t>
            </a:r>
            <a:r>
              <a:rPr lang="en-US" sz="1800" spc="5" dirty="0">
                <a:latin typeface="+mj-lt"/>
                <a:cs typeface="Times New Roman"/>
              </a:rPr>
              <a:t> </a:t>
            </a:r>
            <a:r>
              <a:rPr lang="en-US" sz="1800" dirty="0">
                <a:latin typeface="+mj-lt"/>
                <a:cs typeface="Times New Roman"/>
              </a:rPr>
              <a:t>form</a:t>
            </a:r>
            <a:r>
              <a:rPr lang="en-US" sz="1800" spc="-5" dirty="0">
                <a:latin typeface="+mj-lt"/>
                <a:cs typeface="Times New Roman"/>
              </a:rPr>
              <a:t> memory.</a:t>
            </a:r>
            <a:endParaRPr lang="en-US" sz="1800" dirty="0">
              <a:latin typeface="+mj-lt"/>
              <a:cs typeface="Times New Roman"/>
            </a:endParaRPr>
          </a:p>
          <a:p>
            <a:pPr marL="1181100" lvl="2" indent="-229235">
              <a:lnSpc>
                <a:spcPct val="100000"/>
              </a:lnSpc>
              <a:spcBef>
                <a:spcPts val="430"/>
              </a:spcBef>
              <a:buChar char="–"/>
              <a:tabLst>
                <a:tab pos="1181100" algn="l"/>
              </a:tabLst>
            </a:pPr>
            <a:r>
              <a:rPr lang="en-US" sz="1800" spc="-5" dirty="0">
                <a:latin typeface="+mj-lt"/>
                <a:cs typeface="Times New Roman"/>
              </a:rPr>
              <a:t>Memory</a:t>
            </a:r>
            <a:r>
              <a:rPr lang="en-US" sz="1800" spc="-10" dirty="0">
                <a:latin typeface="+mj-lt"/>
                <a:cs typeface="Times New Roman"/>
              </a:rPr>
              <a:t> </a:t>
            </a:r>
            <a:r>
              <a:rPr lang="en-US" sz="1800" spc="-5" dirty="0">
                <a:latin typeface="+mj-lt"/>
                <a:cs typeface="Times New Roman"/>
              </a:rPr>
              <a:t>is</a:t>
            </a:r>
            <a:r>
              <a:rPr lang="en-US" sz="1800" spc="5" dirty="0">
                <a:latin typeface="+mj-lt"/>
                <a:cs typeface="Times New Roman"/>
              </a:rPr>
              <a:t> </a:t>
            </a:r>
            <a:r>
              <a:rPr lang="en-US" sz="1800" spc="-5" dirty="0">
                <a:latin typeface="+mj-lt"/>
                <a:cs typeface="Times New Roman"/>
              </a:rPr>
              <a:t>usually</a:t>
            </a:r>
            <a:r>
              <a:rPr lang="en-US" sz="1800" spc="5" dirty="0">
                <a:latin typeface="+mj-lt"/>
                <a:cs typeface="Times New Roman"/>
              </a:rPr>
              <a:t> </a:t>
            </a:r>
            <a:r>
              <a:rPr lang="en-US" sz="1800" spc="-5" dirty="0">
                <a:latin typeface="+mj-lt"/>
                <a:cs typeface="Times New Roman"/>
              </a:rPr>
              <a:t>measured</a:t>
            </a:r>
            <a:r>
              <a:rPr lang="en-US" sz="1800" spc="10" dirty="0">
                <a:latin typeface="+mj-lt"/>
                <a:cs typeface="Times New Roman"/>
              </a:rPr>
              <a:t> </a:t>
            </a:r>
            <a:r>
              <a:rPr lang="en-US" sz="1800" dirty="0">
                <a:latin typeface="+mj-lt"/>
                <a:cs typeface="Times New Roman"/>
              </a:rPr>
              <a:t>by</a:t>
            </a:r>
            <a:r>
              <a:rPr lang="en-US" sz="1800" spc="5" dirty="0">
                <a:latin typeface="+mj-lt"/>
                <a:cs typeface="Times New Roman"/>
              </a:rPr>
              <a:t> </a:t>
            </a:r>
            <a:r>
              <a:rPr lang="en-US" sz="1800" spc="-5" dirty="0">
                <a:latin typeface="+mj-lt"/>
                <a:cs typeface="Times New Roman"/>
              </a:rPr>
              <a:t>the</a:t>
            </a:r>
            <a:r>
              <a:rPr lang="en-US" sz="1800" dirty="0">
                <a:latin typeface="+mj-lt"/>
                <a:cs typeface="Times New Roman"/>
              </a:rPr>
              <a:t> </a:t>
            </a:r>
            <a:r>
              <a:rPr lang="en-US" sz="1800" spc="-5" dirty="0">
                <a:latin typeface="+mj-lt"/>
                <a:cs typeface="Times New Roman"/>
              </a:rPr>
              <a:t>number</a:t>
            </a:r>
            <a:r>
              <a:rPr lang="en-US" sz="1800" spc="5" dirty="0">
                <a:latin typeface="+mj-lt"/>
                <a:cs typeface="Times New Roman"/>
              </a:rPr>
              <a:t> </a:t>
            </a:r>
            <a:r>
              <a:rPr lang="en-US" sz="1800" dirty="0">
                <a:latin typeface="+mj-lt"/>
                <a:cs typeface="Times New Roman"/>
              </a:rPr>
              <a:t>of </a:t>
            </a:r>
            <a:r>
              <a:rPr lang="en-US" sz="1800" spc="-5" dirty="0">
                <a:latin typeface="+mj-lt"/>
                <a:cs typeface="Times New Roman"/>
              </a:rPr>
              <a:t>bytes</a:t>
            </a:r>
            <a:r>
              <a:rPr lang="en-US" sz="1800" spc="10" dirty="0">
                <a:latin typeface="+mj-lt"/>
                <a:cs typeface="Times New Roman"/>
              </a:rPr>
              <a:t> </a:t>
            </a:r>
            <a:r>
              <a:rPr lang="en-US" sz="1800" spc="-5" dirty="0">
                <a:latin typeface="+mj-lt"/>
                <a:cs typeface="Times New Roman"/>
              </a:rPr>
              <a:t>it</a:t>
            </a:r>
            <a:r>
              <a:rPr lang="en-US" sz="1800" dirty="0">
                <a:latin typeface="+mj-lt"/>
                <a:cs typeface="Times New Roman"/>
              </a:rPr>
              <a:t> </a:t>
            </a:r>
            <a:r>
              <a:rPr lang="en-US" sz="1800" spc="-5" dirty="0">
                <a:latin typeface="+mj-lt"/>
                <a:cs typeface="Times New Roman"/>
              </a:rPr>
              <a:t>can</a:t>
            </a:r>
            <a:r>
              <a:rPr lang="en-US" sz="1800" spc="5" dirty="0">
                <a:latin typeface="+mj-lt"/>
                <a:cs typeface="Times New Roman"/>
              </a:rPr>
              <a:t> </a:t>
            </a:r>
            <a:r>
              <a:rPr lang="en-US" sz="1800" spc="-5" dirty="0">
                <a:latin typeface="+mj-lt"/>
                <a:cs typeface="Times New Roman"/>
              </a:rPr>
              <a:t>hold.</a:t>
            </a:r>
            <a:endParaRPr lang="en-US" sz="1800" dirty="0">
              <a:latin typeface="+mj-lt"/>
              <a:cs typeface="Times New Roman"/>
            </a:endParaRPr>
          </a:p>
          <a:p>
            <a:pPr marL="1180465" marR="344805">
              <a:lnSpc>
                <a:spcPct val="100000"/>
              </a:lnSpc>
            </a:pPr>
            <a:r>
              <a:rPr lang="en-US" sz="1800" dirty="0">
                <a:latin typeface="+mj-lt"/>
                <a:cs typeface="Times New Roman"/>
              </a:rPr>
              <a:t>It</a:t>
            </a:r>
            <a:r>
              <a:rPr lang="en-US" sz="1800" spc="-10" dirty="0">
                <a:latin typeface="+mj-lt"/>
                <a:cs typeface="Times New Roman"/>
              </a:rPr>
              <a:t> </a:t>
            </a:r>
            <a:r>
              <a:rPr lang="en-US" sz="1800" spc="-5" dirty="0">
                <a:latin typeface="+mj-lt"/>
                <a:cs typeface="Times New Roman"/>
              </a:rPr>
              <a:t>is</a:t>
            </a:r>
            <a:r>
              <a:rPr lang="en-US" sz="1800" dirty="0">
                <a:latin typeface="+mj-lt"/>
                <a:cs typeface="Times New Roman"/>
              </a:rPr>
              <a:t> </a:t>
            </a:r>
            <a:r>
              <a:rPr lang="en-US" sz="1800" spc="-5" dirty="0">
                <a:latin typeface="+mj-lt"/>
                <a:cs typeface="Times New Roman"/>
              </a:rPr>
              <a:t>measured</a:t>
            </a:r>
            <a:r>
              <a:rPr lang="en-US" sz="1800" spc="5" dirty="0">
                <a:latin typeface="+mj-lt"/>
                <a:cs typeface="Times New Roman"/>
              </a:rPr>
              <a:t> </a:t>
            </a:r>
            <a:r>
              <a:rPr lang="en-US" sz="1800" spc="-5" dirty="0">
                <a:latin typeface="+mj-lt"/>
                <a:cs typeface="Times New Roman"/>
              </a:rPr>
              <a:t>in</a:t>
            </a:r>
            <a:r>
              <a:rPr lang="en-US" sz="1800" spc="5" dirty="0">
                <a:latin typeface="+mj-lt"/>
                <a:cs typeface="Times New Roman"/>
              </a:rPr>
              <a:t> </a:t>
            </a:r>
            <a:r>
              <a:rPr lang="en-US" sz="1800" spc="-5" dirty="0">
                <a:latin typeface="+mj-lt"/>
                <a:cs typeface="Times New Roman"/>
              </a:rPr>
              <a:t>Kilos,</a:t>
            </a:r>
            <a:r>
              <a:rPr lang="en-US" sz="1800" spc="5" dirty="0">
                <a:latin typeface="+mj-lt"/>
                <a:cs typeface="Times New Roman"/>
              </a:rPr>
              <a:t> </a:t>
            </a:r>
            <a:r>
              <a:rPr lang="en-US" sz="1800" spc="-5" dirty="0" err="1">
                <a:latin typeface="+mj-lt"/>
                <a:cs typeface="Times New Roman"/>
              </a:rPr>
              <a:t>Megas</a:t>
            </a:r>
            <a:r>
              <a:rPr lang="en-US" sz="1800" dirty="0">
                <a:latin typeface="+mj-lt"/>
                <a:cs typeface="Times New Roman"/>
              </a:rPr>
              <a:t> </a:t>
            </a:r>
            <a:r>
              <a:rPr lang="en-US" sz="1800" spc="-5" dirty="0">
                <a:latin typeface="+mj-lt"/>
                <a:cs typeface="Times New Roman"/>
              </a:rPr>
              <a:t>and</a:t>
            </a:r>
            <a:r>
              <a:rPr lang="en-US" sz="1800" dirty="0">
                <a:latin typeface="+mj-lt"/>
                <a:cs typeface="Times New Roman"/>
              </a:rPr>
              <a:t> </a:t>
            </a:r>
            <a:r>
              <a:rPr lang="en-US" sz="1800" spc="-5" dirty="0">
                <a:latin typeface="+mj-lt"/>
                <a:cs typeface="Times New Roman"/>
              </a:rPr>
              <a:t>lately</a:t>
            </a:r>
            <a:r>
              <a:rPr lang="en-US" sz="1800" spc="10" dirty="0">
                <a:latin typeface="+mj-lt"/>
                <a:cs typeface="Times New Roman"/>
              </a:rPr>
              <a:t> </a:t>
            </a:r>
            <a:r>
              <a:rPr lang="en-US" sz="1800" spc="-5" dirty="0" err="1">
                <a:latin typeface="+mj-lt"/>
                <a:cs typeface="Times New Roman"/>
              </a:rPr>
              <a:t>Gigas</a:t>
            </a:r>
            <a:r>
              <a:rPr lang="en-US" sz="1800" spc="-5" dirty="0">
                <a:latin typeface="+mj-lt"/>
                <a:cs typeface="Times New Roman"/>
              </a:rPr>
              <a:t>.</a:t>
            </a:r>
            <a:r>
              <a:rPr lang="en-US" sz="1800" dirty="0">
                <a:latin typeface="+mj-lt"/>
                <a:cs typeface="Times New Roman"/>
              </a:rPr>
              <a:t> </a:t>
            </a:r>
            <a:r>
              <a:rPr lang="en-US" sz="1800" spc="-5" dirty="0">
                <a:latin typeface="+mj-lt"/>
                <a:cs typeface="Times New Roman"/>
              </a:rPr>
              <a:t>A</a:t>
            </a:r>
            <a:r>
              <a:rPr lang="en-US" sz="1800" dirty="0">
                <a:latin typeface="+mj-lt"/>
                <a:cs typeface="Times New Roman"/>
              </a:rPr>
              <a:t> </a:t>
            </a:r>
            <a:r>
              <a:rPr lang="en-US" sz="1800" spc="-5" dirty="0">
                <a:latin typeface="+mj-lt"/>
                <a:cs typeface="Times New Roman"/>
              </a:rPr>
              <a:t>Kilo</a:t>
            </a:r>
            <a:r>
              <a:rPr lang="en-US" sz="1800" spc="5" dirty="0">
                <a:latin typeface="+mj-lt"/>
                <a:cs typeface="Times New Roman"/>
              </a:rPr>
              <a:t> </a:t>
            </a:r>
            <a:r>
              <a:rPr lang="en-US" sz="1800" spc="-5" dirty="0">
                <a:latin typeface="+mj-lt"/>
                <a:cs typeface="Times New Roman"/>
              </a:rPr>
              <a:t>in </a:t>
            </a:r>
            <a:r>
              <a:rPr lang="en-US" sz="1800" dirty="0">
                <a:latin typeface="+mj-lt"/>
                <a:cs typeface="Times New Roman"/>
              </a:rPr>
              <a:t> </a:t>
            </a:r>
            <a:r>
              <a:rPr lang="en-US" sz="1800" spc="-5" dirty="0">
                <a:latin typeface="+mj-lt"/>
                <a:cs typeface="Times New Roman"/>
              </a:rPr>
              <a:t>computer</a:t>
            </a:r>
            <a:r>
              <a:rPr lang="en-US" sz="1800" dirty="0">
                <a:latin typeface="+mj-lt"/>
                <a:cs typeface="Times New Roman"/>
              </a:rPr>
              <a:t> </a:t>
            </a:r>
            <a:r>
              <a:rPr lang="en-US" sz="1800" spc="-5" dirty="0">
                <a:latin typeface="+mj-lt"/>
                <a:cs typeface="Times New Roman"/>
              </a:rPr>
              <a:t>language</a:t>
            </a:r>
            <a:r>
              <a:rPr lang="en-US" sz="1800" spc="15" dirty="0">
                <a:latin typeface="+mj-lt"/>
                <a:cs typeface="Times New Roman"/>
              </a:rPr>
              <a:t> </a:t>
            </a:r>
            <a:r>
              <a:rPr lang="en-US" sz="1800" spc="-5" dirty="0">
                <a:latin typeface="+mj-lt"/>
                <a:cs typeface="Times New Roman"/>
              </a:rPr>
              <a:t>is</a:t>
            </a:r>
            <a:r>
              <a:rPr lang="en-US" sz="1800" spc="5" dirty="0">
                <a:latin typeface="+mj-lt"/>
                <a:cs typeface="Times New Roman"/>
              </a:rPr>
              <a:t> </a:t>
            </a:r>
            <a:r>
              <a:rPr lang="en-US" sz="1800" dirty="0">
                <a:latin typeface="+mj-lt"/>
                <a:cs typeface="Times New Roman"/>
              </a:rPr>
              <a:t>2</a:t>
            </a:r>
            <a:r>
              <a:rPr lang="en-US" sz="1800" baseline="25462" dirty="0">
                <a:latin typeface="+mj-lt"/>
                <a:cs typeface="Times New Roman"/>
              </a:rPr>
              <a:t>10 </a:t>
            </a:r>
            <a:r>
              <a:rPr lang="en-US" sz="1800" spc="-5" dirty="0">
                <a:latin typeface="+mj-lt"/>
                <a:cs typeface="Times New Roman"/>
              </a:rPr>
              <a:t>=1024. So,</a:t>
            </a:r>
            <a:r>
              <a:rPr lang="en-US" sz="1800" dirty="0">
                <a:latin typeface="+mj-lt"/>
                <a:cs typeface="Times New Roman"/>
              </a:rPr>
              <a:t> a </a:t>
            </a:r>
            <a:r>
              <a:rPr lang="en-US" sz="1800" spc="-5" dirty="0">
                <a:latin typeface="+mj-lt"/>
                <a:cs typeface="Times New Roman"/>
              </a:rPr>
              <a:t>KB</a:t>
            </a:r>
            <a:r>
              <a:rPr lang="en-US" sz="1800" spc="5" dirty="0">
                <a:latin typeface="+mj-lt"/>
                <a:cs typeface="Times New Roman"/>
              </a:rPr>
              <a:t> </a:t>
            </a:r>
            <a:r>
              <a:rPr lang="en-US" sz="1800" spc="-5" dirty="0">
                <a:latin typeface="+mj-lt"/>
                <a:cs typeface="Times New Roman"/>
              </a:rPr>
              <a:t>(</a:t>
            </a:r>
            <a:r>
              <a:rPr lang="en-US" sz="1800" spc="-5" dirty="0" err="1">
                <a:latin typeface="+mj-lt"/>
                <a:cs typeface="Times New Roman"/>
              </a:rPr>
              <a:t>KiloByte</a:t>
            </a:r>
            <a:r>
              <a:rPr lang="en-US" sz="1800" spc="-5" dirty="0">
                <a:latin typeface="+mj-lt"/>
                <a:cs typeface="Times New Roman"/>
              </a:rPr>
              <a:t>)</a:t>
            </a:r>
            <a:r>
              <a:rPr lang="en-US" sz="1800" spc="5" dirty="0">
                <a:latin typeface="+mj-lt"/>
                <a:cs typeface="Times New Roman"/>
              </a:rPr>
              <a:t> </a:t>
            </a:r>
            <a:r>
              <a:rPr lang="en-US" sz="1800" spc="-5" dirty="0">
                <a:latin typeface="+mj-lt"/>
                <a:cs typeface="Times New Roman"/>
              </a:rPr>
              <a:t>is</a:t>
            </a:r>
            <a:r>
              <a:rPr lang="en-US" sz="1800" spc="5" dirty="0">
                <a:latin typeface="+mj-lt"/>
                <a:cs typeface="Times New Roman"/>
              </a:rPr>
              <a:t> </a:t>
            </a:r>
            <a:r>
              <a:rPr lang="en-US" sz="1800" dirty="0">
                <a:latin typeface="+mj-lt"/>
                <a:cs typeface="Times New Roman"/>
              </a:rPr>
              <a:t>1024 </a:t>
            </a:r>
            <a:r>
              <a:rPr lang="en-US" sz="1800" spc="-434" dirty="0">
                <a:latin typeface="+mj-lt"/>
                <a:cs typeface="Times New Roman"/>
              </a:rPr>
              <a:t> </a:t>
            </a:r>
            <a:r>
              <a:rPr lang="en-US" sz="1800" spc="-5" dirty="0">
                <a:latin typeface="+mj-lt"/>
                <a:cs typeface="Times New Roman"/>
              </a:rPr>
              <a:t>bytes.</a:t>
            </a:r>
            <a:r>
              <a:rPr lang="en-US" sz="1800" spc="-15" dirty="0">
                <a:latin typeface="+mj-lt"/>
                <a:cs typeface="Times New Roman"/>
              </a:rPr>
              <a:t> </a:t>
            </a:r>
            <a:r>
              <a:rPr lang="en-US" sz="1800" spc="-5" dirty="0">
                <a:latin typeface="+mj-lt"/>
                <a:cs typeface="Times New Roman"/>
              </a:rPr>
              <a:t>Mega</a:t>
            </a:r>
            <a:r>
              <a:rPr lang="en-US" sz="1800" dirty="0">
                <a:latin typeface="+mj-lt"/>
                <a:cs typeface="Times New Roman"/>
              </a:rPr>
              <a:t> </a:t>
            </a:r>
            <a:r>
              <a:rPr lang="en-US" sz="1800" spc="-5" dirty="0">
                <a:latin typeface="+mj-lt"/>
                <a:cs typeface="Times New Roman"/>
              </a:rPr>
              <a:t>is</a:t>
            </a:r>
            <a:r>
              <a:rPr lang="en-US" sz="1800" dirty="0">
                <a:latin typeface="+mj-lt"/>
                <a:cs typeface="Times New Roman"/>
              </a:rPr>
              <a:t> 1024 </a:t>
            </a:r>
            <a:r>
              <a:rPr lang="en-US" sz="1800" spc="-5" dirty="0">
                <a:latin typeface="+mj-lt"/>
                <a:cs typeface="Times New Roman"/>
              </a:rPr>
              <a:t>Kilos</a:t>
            </a:r>
            <a:r>
              <a:rPr lang="en-US" sz="1800" dirty="0">
                <a:latin typeface="+mj-lt"/>
                <a:cs typeface="Times New Roman"/>
              </a:rPr>
              <a:t> </a:t>
            </a:r>
            <a:r>
              <a:rPr lang="en-US" sz="1800" spc="-5" dirty="0">
                <a:latin typeface="+mj-lt"/>
                <a:cs typeface="Times New Roman"/>
              </a:rPr>
              <a:t>and</a:t>
            </a:r>
            <a:r>
              <a:rPr lang="en-US" sz="1800" dirty="0">
                <a:latin typeface="+mj-lt"/>
                <a:cs typeface="Times New Roman"/>
              </a:rPr>
              <a:t> </a:t>
            </a:r>
            <a:r>
              <a:rPr lang="en-US" sz="1800" spc="-5" dirty="0">
                <a:latin typeface="+mj-lt"/>
                <a:cs typeface="Times New Roman"/>
              </a:rPr>
              <a:t>Giga is</a:t>
            </a:r>
            <a:r>
              <a:rPr lang="en-US" sz="1800" dirty="0">
                <a:latin typeface="+mj-lt"/>
                <a:cs typeface="Times New Roman"/>
              </a:rPr>
              <a:t> 1024 </a:t>
            </a:r>
            <a:r>
              <a:rPr lang="en-US" sz="1800" spc="-5" dirty="0">
                <a:latin typeface="+mj-lt"/>
                <a:cs typeface="Times New Roman"/>
              </a:rPr>
              <a:t>Mega.</a:t>
            </a:r>
            <a:endParaRPr lang="en-US" sz="1800" dirty="0">
              <a:latin typeface="+mj-lt"/>
              <a:cs typeface="Times New Roman"/>
            </a:endParaRPr>
          </a:p>
          <a:p>
            <a:pPr marL="457200" indent="-457200">
              <a:buFont typeface="+mj-lt"/>
              <a:buAutoNum type="arabicPeriod"/>
              <a:tabLst>
                <a:tab pos="463550" algn="l"/>
              </a:tabLst>
            </a:pPr>
            <a:endParaRPr lang="en-US" sz="2000" dirty="0">
              <a:latin typeface="+mj-lt"/>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F4905AB3-731A-48CD-90F1-07FB577E8BEC}"/>
              </a:ext>
            </a:extLst>
          </p:cNvPr>
          <p:cNvSpPr>
            <a:spLocks noGrp="1"/>
          </p:cNvSpPr>
          <p:nvPr>
            <p:ph type="dt" sz="half" idx="10"/>
          </p:nvPr>
        </p:nvSpPr>
        <p:spPr/>
        <p:txBody>
          <a:bodyPr/>
          <a:lstStyle/>
          <a:p>
            <a:fld id="{14E247CE-BD11-444D-A49F-6FAD3FBD93EF}" type="datetime1">
              <a:rPr lang="en-US" smtClean="0"/>
              <a:t>7/31/2023</a:t>
            </a:fld>
            <a:endParaRPr lang="en-US"/>
          </a:p>
        </p:txBody>
      </p:sp>
      <p:sp>
        <p:nvSpPr>
          <p:cNvPr id="8" name="Slide Number Placeholder 7">
            <a:extLst>
              <a:ext uri="{FF2B5EF4-FFF2-40B4-BE49-F238E27FC236}">
                <a16:creationId xmlns:a16="http://schemas.microsoft.com/office/drawing/2014/main" id="{C877AA33-1C5D-4588-A732-D7884680E128}"/>
              </a:ext>
            </a:extLst>
          </p:cNvPr>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2719566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298450" indent="-285750">
              <a:lnSpc>
                <a:spcPct val="100000"/>
              </a:lnSpc>
              <a:spcBef>
                <a:spcPts val="785"/>
              </a:spcBef>
              <a:buChar char="–"/>
              <a:tabLst>
                <a:tab pos="298450" algn="l"/>
              </a:tabLst>
            </a:pPr>
            <a:r>
              <a:rPr lang="en-US" sz="2800" dirty="0">
                <a:solidFill>
                  <a:srgbClr val="800000"/>
                </a:solidFill>
                <a:latin typeface="+mj-lt"/>
                <a:cs typeface="Times New Roman"/>
              </a:rPr>
              <a:t>Stored</a:t>
            </a:r>
            <a:r>
              <a:rPr lang="en-US" sz="2800" spc="-45" dirty="0">
                <a:solidFill>
                  <a:srgbClr val="800000"/>
                </a:solidFill>
                <a:latin typeface="+mj-lt"/>
                <a:cs typeface="Times New Roman"/>
              </a:rPr>
              <a:t> </a:t>
            </a:r>
            <a:r>
              <a:rPr lang="en-US" sz="2800" dirty="0">
                <a:solidFill>
                  <a:srgbClr val="800000"/>
                </a:solidFill>
                <a:latin typeface="+mj-lt"/>
                <a:cs typeface="Times New Roman"/>
              </a:rPr>
              <a:t>in</a:t>
            </a:r>
            <a:r>
              <a:rPr lang="en-US" sz="2800" spc="-25" dirty="0">
                <a:solidFill>
                  <a:srgbClr val="800000"/>
                </a:solidFill>
                <a:latin typeface="+mj-lt"/>
                <a:cs typeface="Times New Roman"/>
              </a:rPr>
              <a:t> </a:t>
            </a:r>
            <a:r>
              <a:rPr lang="en-US" sz="2800" spc="-5" dirty="0">
                <a:solidFill>
                  <a:srgbClr val="800000"/>
                </a:solidFill>
                <a:latin typeface="+mj-lt"/>
                <a:cs typeface="Times New Roman"/>
              </a:rPr>
              <a:t>memory</a:t>
            </a:r>
            <a:r>
              <a:rPr lang="en-US" sz="2800" spc="-5" dirty="0">
                <a:latin typeface="+mj-lt"/>
                <a:cs typeface="Times New Roman"/>
              </a:rPr>
              <a:t>:</a:t>
            </a:r>
            <a:endParaRPr lang="en-US" sz="2800" dirty="0">
              <a:latin typeface="+mj-lt"/>
              <a:cs typeface="Times New Roman"/>
            </a:endParaRPr>
          </a:p>
          <a:p>
            <a:pPr marL="697865" marR="5080" lvl="1" indent="-228600">
              <a:lnSpc>
                <a:spcPct val="100000"/>
              </a:lnSpc>
              <a:spcBef>
                <a:spcPts val="585"/>
              </a:spcBef>
              <a:buChar char="•"/>
              <a:tabLst>
                <a:tab pos="698500" algn="l"/>
              </a:tabLst>
            </a:pPr>
            <a:r>
              <a:rPr lang="en-US" sz="2400" dirty="0">
                <a:latin typeface="+mj-lt"/>
                <a:cs typeface="Times New Roman"/>
              </a:rPr>
              <a:t>When a </a:t>
            </a:r>
            <a:r>
              <a:rPr lang="en-US" sz="2400" spc="-5" dirty="0">
                <a:latin typeface="+mj-lt"/>
                <a:cs typeface="Times New Roman"/>
              </a:rPr>
              <a:t>program is entered into </a:t>
            </a:r>
            <a:r>
              <a:rPr lang="en-US" sz="2400" dirty="0">
                <a:latin typeface="+mj-lt"/>
                <a:cs typeface="Times New Roman"/>
              </a:rPr>
              <a:t>a </a:t>
            </a:r>
            <a:r>
              <a:rPr lang="en-US" sz="2400" spc="-5" dirty="0">
                <a:latin typeface="+mj-lt"/>
                <a:cs typeface="Times New Roman"/>
              </a:rPr>
              <a:t>computer, it is </a:t>
            </a:r>
            <a:r>
              <a:rPr lang="en-US" sz="2400" dirty="0">
                <a:latin typeface="+mj-lt"/>
                <a:cs typeface="Times New Roman"/>
              </a:rPr>
              <a:t> </a:t>
            </a:r>
            <a:r>
              <a:rPr lang="en-US" sz="2400" spc="-5" dirty="0">
                <a:latin typeface="+mj-lt"/>
                <a:cs typeface="Times New Roman"/>
              </a:rPr>
              <a:t>stored</a:t>
            </a:r>
            <a:r>
              <a:rPr lang="en-US" sz="2400" spc="-10" dirty="0">
                <a:latin typeface="+mj-lt"/>
                <a:cs typeface="Times New Roman"/>
              </a:rPr>
              <a:t> </a:t>
            </a:r>
            <a:r>
              <a:rPr lang="en-US" sz="2400" spc="-5" dirty="0">
                <a:latin typeface="+mj-lt"/>
                <a:cs typeface="Times New Roman"/>
              </a:rPr>
              <a:t>in</a:t>
            </a:r>
            <a:r>
              <a:rPr lang="en-US" sz="2400" spc="-10" dirty="0">
                <a:latin typeface="+mj-lt"/>
                <a:cs typeface="Times New Roman"/>
              </a:rPr>
              <a:t> </a:t>
            </a:r>
            <a:r>
              <a:rPr lang="en-US" sz="2400" spc="-5" dirty="0">
                <a:latin typeface="+mj-lt"/>
                <a:cs typeface="Times New Roman"/>
              </a:rPr>
              <a:t>memory. Then as</a:t>
            </a:r>
            <a:r>
              <a:rPr lang="en-US" sz="2400" spc="5" dirty="0">
                <a:latin typeface="+mj-lt"/>
                <a:cs typeface="Times New Roman"/>
              </a:rPr>
              <a:t> </a:t>
            </a:r>
            <a:r>
              <a:rPr lang="en-US" sz="2400" spc="-5" dirty="0">
                <a:latin typeface="+mj-lt"/>
                <a:cs typeface="Times New Roman"/>
              </a:rPr>
              <a:t>the microprocessor starts </a:t>
            </a:r>
            <a:r>
              <a:rPr lang="en-US" sz="2400" spc="-585" dirty="0">
                <a:latin typeface="+mj-lt"/>
                <a:cs typeface="Times New Roman"/>
              </a:rPr>
              <a:t> </a:t>
            </a:r>
            <a:r>
              <a:rPr lang="en-US" sz="2400" spc="-5" dirty="0">
                <a:latin typeface="+mj-lt"/>
                <a:cs typeface="Times New Roman"/>
              </a:rPr>
              <a:t>to execute the instructions, it brings </a:t>
            </a:r>
            <a:r>
              <a:rPr lang="en-US" sz="2400" dirty="0">
                <a:latin typeface="+mj-lt"/>
                <a:cs typeface="Times New Roman"/>
              </a:rPr>
              <a:t>the </a:t>
            </a:r>
            <a:r>
              <a:rPr lang="en-US" sz="2400" spc="-5" dirty="0">
                <a:latin typeface="+mj-lt"/>
                <a:cs typeface="Times New Roman"/>
              </a:rPr>
              <a:t>instructions </a:t>
            </a:r>
            <a:r>
              <a:rPr lang="en-US" sz="2400" dirty="0">
                <a:latin typeface="+mj-lt"/>
                <a:cs typeface="Times New Roman"/>
              </a:rPr>
              <a:t> </a:t>
            </a:r>
            <a:r>
              <a:rPr lang="en-US" sz="2400" spc="-5" dirty="0">
                <a:latin typeface="+mj-lt"/>
                <a:cs typeface="Times New Roman"/>
              </a:rPr>
              <a:t>from</a:t>
            </a:r>
            <a:r>
              <a:rPr lang="en-US" sz="2400" spc="-15" dirty="0">
                <a:latin typeface="+mj-lt"/>
                <a:cs typeface="Times New Roman"/>
              </a:rPr>
              <a:t> </a:t>
            </a:r>
            <a:r>
              <a:rPr lang="en-US" sz="2400" spc="-5" dirty="0">
                <a:latin typeface="+mj-lt"/>
                <a:cs typeface="Times New Roman"/>
              </a:rPr>
              <a:t>memory</a:t>
            </a:r>
            <a:r>
              <a:rPr lang="en-US" sz="2400" spc="-15" dirty="0">
                <a:latin typeface="+mj-lt"/>
                <a:cs typeface="Times New Roman"/>
              </a:rPr>
              <a:t> </a:t>
            </a:r>
            <a:r>
              <a:rPr lang="en-US" sz="2400" dirty="0">
                <a:latin typeface="+mj-lt"/>
                <a:cs typeface="Times New Roman"/>
              </a:rPr>
              <a:t>one</a:t>
            </a:r>
            <a:r>
              <a:rPr lang="en-US" sz="2400" spc="-5" dirty="0">
                <a:latin typeface="+mj-lt"/>
                <a:cs typeface="Times New Roman"/>
              </a:rPr>
              <a:t> </a:t>
            </a:r>
            <a:r>
              <a:rPr lang="en-US" sz="2400" dirty="0">
                <a:latin typeface="+mj-lt"/>
                <a:cs typeface="Times New Roman"/>
              </a:rPr>
              <a:t>at</a:t>
            </a:r>
            <a:r>
              <a:rPr lang="en-US" sz="2400" spc="-15" dirty="0">
                <a:latin typeface="+mj-lt"/>
                <a:cs typeface="Times New Roman"/>
              </a:rPr>
              <a:t> </a:t>
            </a:r>
            <a:r>
              <a:rPr lang="en-US" sz="2400" dirty="0">
                <a:latin typeface="+mj-lt"/>
                <a:cs typeface="Times New Roman"/>
              </a:rPr>
              <a:t>a</a:t>
            </a:r>
            <a:r>
              <a:rPr lang="en-US" sz="2400" spc="-5" dirty="0">
                <a:latin typeface="+mj-lt"/>
                <a:cs typeface="Times New Roman"/>
              </a:rPr>
              <a:t> time.</a:t>
            </a:r>
            <a:endParaRPr lang="en-US" sz="3000" dirty="0">
              <a:latin typeface="+mj-lt"/>
              <a:cs typeface="Times New Roman"/>
            </a:endParaRPr>
          </a:p>
          <a:p>
            <a:pPr marL="698500" lvl="1" indent="-229235">
              <a:lnSpc>
                <a:spcPct val="100000"/>
              </a:lnSpc>
              <a:buChar char="•"/>
              <a:tabLst>
                <a:tab pos="698500" algn="l"/>
              </a:tabLst>
            </a:pPr>
            <a:r>
              <a:rPr lang="en-US" sz="2400" spc="-5" dirty="0">
                <a:latin typeface="+mj-lt"/>
                <a:cs typeface="Times New Roman"/>
              </a:rPr>
              <a:t>Memory</a:t>
            </a:r>
            <a:r>
              <a:rPr lang="en-US" sz="2400" spc="-15" dirty="0">
                <a:latin typeface="+mj-lt"/>
                <a:cs typeface="Times New Roman"/>
              </a:rPr>
              <a:t> </a:t>
            </a:r>
            <a:r>
              <a:rPr lang="en-US" sz="2400" spc="-5" dirty="0">
                <a:latin typeface="+mj-lt"/>
                <a:cs typeface="Times New Roman"/>
              </a:rPr>
              <a:t>is also</a:t>
            </a:r>
            <a:r>
              <a:rPr lang="en-US" sz="2400" spc="-10" dirty="0">
                <a:latin typeface="+mj-lt"/>
                <a:cs typeface="Times New Roman"/>
              </a:rPr>
              <a:t> </a:t>
            </a:r>
            <a:r>
              <a:rPr lang="en-US" sz="2400" spc="-5" dirty="0">
                <a:latin typeface="+mj-lt"/>
                <a:cs typeface="Times New Roman"/>
              </a:rPr>
              <a:t>used</a:t>
            </a:r>
            <a:r>
              <a:rPr lang="en-US" sz="2400" spc="-10" dirty="0">
                <a:latin typeface="+mj-lt"/>
                <a:cs typeface="Times New Roman"/>
              </a:rPr>
              <a:t> </a:t>
            </a:r>
            <a:r>
              <a:rPr lang="en-US" sz="2400" spc="-5" dirty="0">
                <a:latin typeface="+mj-lt"/>
                <a:cs typeface="Times New Roman"/>
              </a:rPr>
              <a:t>to</a:t>
            </a:r>
            <a:r>
              <a:rPr lang="en-US" sz="2400" spc="-10" dirty="0">
                <a:latin typeface="+mj-lt"/>
                <a:cs typeface="Times New Roman"/>
              </a:rPr>
              <a:t> </a:t>
            </a:r>
            <a:r>
              <a:rPr lang="en-US" sz="2400" spc="-5" dirty="0">
                <a:latin typeface="+mj-lt"/>
                <a:cs typeface="Times New Roman"/>
              </a:rPr>
              <a:t>hold </a:t>
            </a:r>
            <a:r>
              <a:rPr lang="en-US" sz="2400" dirty="0">
                <a:latin typeface="+mj-lt"/>
                <a:cs typeface="Times New Roman"/>
              </a:rPr>
              <a:t>the</a:t>
            </a:r>
            <a:r>
              <a:rPr lang="en-US" sz="2400" spc="-10" dirty="0">
                <a:latin typeface="+mj-lt"/>
                <a:cs typeface="Times New Roman"/>
              </a:rPr>
              <a:t> </a:t>
            </a:r>
            <a:r>
              <a:rPr lang="en-US" sz="2400" spc="-5" dirty="0">
                <a:latin typeface="+mj-lt"/>
                <a:cs typeface="Times New Roman"/>
              </a:rPr>
              <a:t>data.</a:t>
            </a:r>
            <a:endParaRPr lang="en-US" sz="2400" dirty="0">
              <a:latin typeface="+mj-lt"/>
              <a:cs typeface="Times New Roman"/>
            </a:endParaRPr>
          </a:p>
          <a:p>
            <a:pPr marL="1155700" marR="384175" indent="-229235">
              <a:lnSpc>
                <a:spcPct val="100000"/>
              </a:lnSpc>
              <a:spcBef>
                <a:spcPts val="495"/>
              </a:spcBef>
            </a:pPr>
            <a:r>
              <a:rPr lang="en-US" sz="2000" spc="-5" dirty="0">
                <a:latin typeface="+mj-lt"/>
                <a:cs typeface="Times New Roman"/>
              </a:rPr>
              <a:t>–</a:t>
            </a:r>
            <a:r>
              <a:rPr lang="en-US" sz="2000" dirty="0">
                <a:latin typeface="+mj-lt"/>
                <a:cs typeface="Times New Roman"/>
              </a:rPr>
              <a:t> </a:t>
            </a:r>
            <a:r>
              <a:rPr lang="en-US" sz="2000" spc="-5" dirty="0">
                <a:latin typeface="+mj-lt"/>
                <a:cs typeface="Times New Roman"/>
              </a:rPr>
              <a:t>The microprocessor reads (brings in) the data from </a:t>
            </a:r>
            <a:r>
              <a:rPr lang="en-US" sz="2000" dirty="0">
                <a:latin typeface="+mj-lt"/>
                <a:cs typeface="Times New Roman"/>
              </a:rPr>
              <a:t> </a:t>
            </a:r>
            <a:r>
              <a:rPr lang="en-US" sz="2000" spc="-5" dirty="0">
                <a:latin typeface="+mj-lt"/>
                <a:cs typeface="Times New Roman"/>
              </a:rPr>
              <a:t>memory when it needs it and writes (stores) the results </a:t>
            </a:r>
            <a:r>
              <a:rPr lang="en-US" sz="2000" spc="-484" dirty="0">
                <a:latin typeface="+mj-lt"/>
                <a:cs typeface="Times New Roman"/>
              </a:rPr>
              <a:t> </a:t>
            </a:r>
            <a:r>
              <a:rPr lang="en-US" sz="2000" spc="-5" dirty="0">
                <a:latin typeface="+mj-lt"/>
                <a:cs typeface="Times New Roman"/>
              </a:rPr>
              <a:t>into</a:t>
            </a:r>
            <a:r>
              <a:rPr lang="en-US" sz="2000" spc="-30" dirty="0">
                <a:latin typeface="+mj-lt"/>
                <a:cs typeface="Times New Roman"/>
              </a:rPr>
              <a:t> </a:t>
            </a:r>
            <a:r>
              <a:rPr lang="en-US" sz="2000" spc="-5" dirty="0">
                <a:latin typeface="+mj-lt"/>
                <a:cs typeface="Times New Roman"/>
              </a:rPr>
              <a:t>memory</a:t>
            </a:r>
            <a:r>
              <a:rPr lang="en-US" sz="2000" spc="-15" dirty="0">
                <a:latin typeface="+mj-lt"/>
                <a:cs typeface="Times New Roman"/>
              </a:rPr>
              <a:t> </a:t>
            </a:r>
            <a:r>
              <a:rPr lang="en-US" sz="2000" spc="-5" dirty="0">
                <a:latin typeface="+mj-lt"/>
                <a:cs typeface="Times New Roman"/>
              </a:rPr>
              <a:t>when</a:t>
            </a:r>
            <a:r>
              <a:rPr lang="en-US" sz="2000" spc="5" dirty="0">
                <a:latin typeface="+mj-lt"/>
                <a:cs typeface="Times New Roman"/>
              </a:rPr>
              <a:t> </a:t>
            </a:r>
            <a:r>
              <a:rPr lang="en-US" sz="2000" spc="-5" dirty="0">
                <a:latin typeface="+mj-lt"/>
                <a:cs typeface="Times New Roman"/>
              </a:rPr>
              <a:t>it</a:t>
            </a:r>
            <a:r>
              <a:rPr lang="en-US" sz="2000" spc="-15" dirty="0">
                <a:latin typeface="+mj-lt"/>
                <a:cs typeface="Times New Roman"/>
              </a:rPr>
              <a:t> </a:t>
            </a:r>
            <a:r>
              <a:rPr lang="en-US" sz="2000" spc="-5" dirty="0">
                <a:latin typeface="+mj-lt"/>
                <a:cs typeface="Times New Roman"/>
              </a:rPr>
              <a:t>is</a:t>
            </a:r>
            <a:r>
              <a:rPr lang="en-US" sz="2000" spc="-15" dirty="0">
                <a:latin typeface="+mj-lt"/>
                <a:cs typeface="Times New Roman"/>
              </a:rPr>
              <a:t> </a:t>
            </a:r>
            <a:r>
              <a:rPr lang="en-US" sz="2000" spc="-5" dirty="0">
                <a:latin typeface="+mj-lt"/>
                <a:cs typeface="Times New Roman"/>
              </a:rPr>
              <a:t>done.</a:t>
            </a:r>
            <a:endParaRPr lang="en-US" sz="2000" dirty="0">
              <a:latin typeface="+mj-lt"/>
              <a:cs typeface="Times New Roman"/>
            </a:endParaRPr>
          </a:p>
          <a:p>
            <a:pPr marL="457200" indent="-457200">
              <a:buFont typeface="+mj-lt"/>
              <a:buAutoNum type="arabicPeriod"/>
              <a:tabLst>
                <a:tab pos="463550" algn="l"/>
              </a:tabLst>
            </a:pPr>
            <a:endParaRPr lang="en-US" sz="2000" dirty="0">
              <a:latin typeface="+mj-lt"/>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3182688C-30A7-4F40-A645-F547142B857F}"/>
              </a:ext>
            </a:extLst>
          </p:cNvPr>
          <p:cNvSpPr>
            <a:spLocks noGrp="1"/>
          </p:cNvSpPr>
          <p:nvPr>
            <p:ph type="dt" sz="half" idx="10"/>
          </p:nvPr>
        </p:nvSpPr>
        <p:spPr/>
        <p:txBody>
          <a:bodyPr/>
          <a:lstStyle/>
          <a:p>
            <a:fld id="{F0F3F3EB-E6D3-4A49-9B9F-1E08C266E5F6}" type="datetime1">
              <a:rPr lang="en-US" smtClean="0"/>
              <a:t>7/31/2023</a:t>
            </a:fld>
            <a:endParaRPr lang="en-US"/>
          </a:p>
        </p:txBody>
      </p:sp>
      <p:sp>
        <p:nvSpPr>
          <p:cNvPr id="8" name="Slide Number Placeholder 7">
            <a:extLst>
              <a:ext uri="{FF2B5EF4-FFF2-40B4-BE49-F238E27FC236}">
                <a16:creationId xmlns:a16="http://schemas.microsoft.com/office/drawing/2014/main" id="{8BCB92F6-CCE9-4BBA-938E-421FE9AE854D}"/>
              </a:ext>
            </a:extLst>
          </p:cNvPr>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34493190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298450" marR="212725" indent="-285750" algn="just">
              <a:lnSpc>
                <a:spcPct val="100000"/>
              </a:lnSpc>
              <a:spcBef>
                <a:spcPts val="100"/>
              </a:spcBef>
              <a:buChar char="–"/>
              <a:tabLst>
                <a:tab pos="298450" algn="l"/>
              </a:tabLst>
            </a:pPr>
            <a:r>
              <a:rPr lang="en-US" sz="2800" spc="-5" dirty="0">
                <a:solidFill>
                  <a:srgbClr val="800000"/>
                </a:solidFill>
                <a:latin typeface="+mj-lt"/>
                <a:cs typeface="Times New Roman"/>
              </a:rPr>
              <a:t>Produces</a:t>
            </a:r>
            <a:r>
              <a:rPr lang="en-US" sz="2800" spc="-5" dirty="0">
                <a:latin typeface="+mj-lt"/>
                <a:cs typeface="Times New Roman"/>
              </a:rPr>
              <a:t>: </a:t>
            </a:r>
            <a:r>
              <a:rPr lang="en-US" sz="2800" dirty="0">
                <a:latin typeface="+mj-lt"/>
                <a:cs typeface="Times New Roman"/>
              </a:rPr>
              <a:t>For the </a:t>
            </a:r>
            <a:r>
              <a:rPr lang="en-US" sz="2800" spc="-5" dirty="0">
                <a:latin typeface="+mj-lt"/>
                <a:cs typeface="Times New Roman"/>
              </a:rPr>
              <a:t>user </a:t>
            </a:r>
            <a:r>
              <a:rPr lang="en-US" sz="2800" dirty="0">
                <a:latin typeface="+mj-lt"/>
                <a:cs typeface="Times New Roman"/>
              </a:rPr>
              <a:t>to </a:t>
            </a:r>
            <a:r>
              <a:rPr lang="en-US" sz="2800" spc="-5" dirty="0">
                <a:latin typeface="+mj-lt"/>
                <a:cs typeface="Times New Roman"/>
              </a:rPr>
              <a:t>see </a:t>
            </a:r>
            <a:r>
              <a:rPr lang="en-US" sz="2800" dirty="0">
                <a:latin typeface="+mj-lt"/>
                <a:cs typeface="Times New Roman"/>
              </a:rPr>
              <a:t>the </a:t>
            </a:r>
            <a:r>
              <a:rPr lang="en-US" sz="2800" spc="-5" dirty="0">
                <a:latin typeface="+mj-lt"/>
                <a:cs typeface="Times New Roman"/>
              </a:rPr>
              <a:t>result </a:t>
            </a:r>
            <a:r>
              <a:rPr lang="en-US" sz="2800" dirty="0">
                <a:latin typeface="+mj-lt"/>
                <a:cs typeface="Times New Roman"/>
              </a:rPr>
              <a:t>of the </a:t>
            </a:r>
            <a:r>
              <a:rPr lang="en-US" sz="2800" spc="-685" dirty="0">
                <a:latin typeface="+mj-lt"/>
                <a:cs typeface="Times New Roman"/>
              </a:rPr>
              <a:t> </a:t>
            </a:r>
            <a:r>
              <a:rPr lang="en-US" sz="2800" spc="-5" dirty="0">
                <a:latin typeface="+mj-lt"/>
                <a:cs typeface="Times New Roman"/>
              </a:rPr>
              <a:t>execution </a:t>
            </a:r>
            <a:r>
              <a:rPr lang="en-US" sz="2800" dirty="0">
                <a:latin typeface="+mj-lt"/>
                <a:cs typeface="Times New Roman"/>
              </a:rPr>
              <a:t>of the </a:t>
            </a:r>
            <a:r>
              <a:rPr lang="en-US" sz="2800" spc="-5" dirty="0">
                <a:latin typeface="+mj-lt"/>
                <a:cs typeface="Times New Roman"/>
              </a:rPr>
              <a:t>program, </a:t>
            </a:r>
            <a:r>
              <a:rPr lang="en-US" sz="2800" dirty="0">
                <a:latin typeface="+mj-lt"/>
                <a:cs typeface="Times New Roman"/>
              </a:rPr>
              <a:t>the </a:t>
            </a:r>
            <a:r>
              <a:rPr lang="en-US" sz="2800" spc="-5" dirty="0">
                <a:latin typeface="+mj-lt"/>
                <a:cs typeface="Times New Roman"/>
              </a:rPr>
              <a:t>results must </a:t>
            </a:r>
            <a:r>
              <a:rPr lang="en-US" sz="2800" dirty="0">
                <a:latin typeface="+mj-lt"/>
                <a:cs typeface="Times New Roman"/>
              </a:rPr>
              <a:t>be </a:t>
            </a:r>
            <a:r>
              <a:rPr lang="en-US" sz="2800" spc="-690" dirty="0">
                <a:latin typeface="+mj-lt"/>
                <a:cs typeface="Times New Roman"/>
              </a:rPr>
              <a:t> </a:t>
            </a:r>
            <a:r>
              <a:rPr lang="en-US" sz="2800" spc="-5" dirty="0">
                <a:latin typeface="+mj-lt"/>
                <a:cs typeface="Times New Roman"/>
              </a:rPr>
              <a:t>presented</a:t>
            </a:r>
            <a:r>
              <a:rPr lang="en-US" sz="2800" spc="-30" dirty="0">
                <a:latin typeface="+mj-lt"/>
                <a:cs typeface="Times New Roman"/>
              </a:rPr>
              <a:t> </a:t>
            </a:r>
            <a:r>
              <a:rPr lang="en-US" sz="2800" dirty="0">
                <a:latin typeface="+mj-lt"/>
                <a:cs typeface="Times New Roman"/>
              </a:rPr>
              <a:t>in</a:t>
            </a:r>
            <a:r>
              <a:rPr lang="en-US" sz="2800" spc="-10" dirty="0">
                <a:latin typeface="+mj-lt"/>
                <a:cs typeface="Times New Roman"/>
              </a:rPr>
              <a:t> </a:t>
            </a:r>
            <a:r>
              <a:rPr lang="en-US" sz="2800" dirty="0">
                <a:latin typeface="+mj-lt"/>
                <a:cs typeface="Times New Roman"/>
              </a:rPr>
              <a:t>a</a:t>
            </a:r>
            <a:r>
              <a:rPr lang="en-US" sz="2800" spc="-10" dirty="0">
                <a:latin typeface="+mj-lt"/>
                <a:cs typeface="Times New Roman"/>
              </a:rPr>
              <a:t> </a:t>
            </a:r>
            <a:r>
              <a:rPr lang="en-US" sz="2800" spc="-5" dirty="0">
                <a:latin typeface="+mj-lt"/>
                <a:cs typeface="Times New Roman"/>
              </a:rPr>
              <a:t>human</a:t>
            </a:r>
            <a:r>
              <a:rPr lang="en-US" sz="2800" spc="-15" dirty="0">
                <a:latin typeface="+mj-lt"/>
                <a:cs typeface="Times New Roman"/>
              </a:rPr>
              <a:t> </a:t>
            </a:r>
            <a:r>
              <a:rPr lang="en-US" sz="2800" spc="-5" dirty="0">
                <a:latin typeface="+mj-lt"/>
                <a:cs typeface="Times New Roman"/>
              </a:rPr>
              <a:t>readable</a:t>
            </a:r>
            <a:r>
              <a:rPr lang="en-US" sz="2800" spc="-35" dirty="0">
                <a:latin typeface="+mj-lt"/>
                <a:cs typeface="Times New Roman"/>
              </a:rPr>
              <a:t> </a:t>
            </a:r>
            <a:r>
              <a:rPr lang="en-US" sz="2800" spc="-5" dirty="0">
                <a:latin typeface="+mj-lt"/>
                <a:cs typeface="Times New Roman"/>
              </a:rPr>
              <a:t>form.</a:t>
            </a:r>
            <a:endParaRPr lang="en-US" sz="2800" dirty="0">
              <a:latin typeface="+mj-lt"/>
              <a:cs typeface="Times New Roman"/>
            </a:endParaRPr>
          </a:p>
          <a:p>
            <a:pPr marL="698500" lvl="1" indent="-229235" algn="just">
              <a:lnSpc>
                <a:spcPct val="100000"/>
              </a:lnSpc>
              <a:spcBef>
                <a:spcPts val="585"/>
              </a:spcBef>
              <a:buChar char="•"/>
              <a:tabLst>
                <a:tab pos="698500" algn="l"/>
              </a:tabLst>
            </a:pPr>
            <a:r>
              <a:rPr lang="en-US" sz="2400" spc="-5" dirty="0">
                <a:latin typeface="+mj-lt"/>
                <a:cs typeface="Times New Roman"/>
              </a:rPr>
              <a:t>The</a:t>
            </a:r>
            <a:r>
              <a:rPr lang="en-US" sz="2400" spc="-10" dirty="0">
                <a:latin typeface="+mj-lt"/>
                <a:cs typeface="Times New Roman"/>
              </a:rPr>
              <a:t> </a:t>
            </a:r>
            <a:r>
              <a:rPr lang="en-US" sz="2400" spc="-5" dirty="0">
                <a:latin typeface="+mj-lt"/>
                <a:cs typeface="Times New Roman"/>
              </a:rPr>
              <a:t>results</a:t>
            </a:r>
            <a:r>
              <a:rPr lang="en-US" sz="2400" dirty="0">
                <a:latin typeface="+mj-lt"/>
                <a:cs typeface="Times New Roman"/>
              </a:rPr>
              <a:t> </a:t>
            </a:r>
            <a:r>
              <a:rPr lang="en-US" sz="2400" spc="-5" dirty="0">
                <a:latin typeface="+mj-lt"/>
                <a:cs typeface="Times New Roman"/>
              </a:rPr>
              <a:t>must </a:t>
            </a:r>
            <a:r>
              <a:rPr lang="en-US" sz="2400" dirty="0">
                <a:latin typeface="+mj-lt"/>
                <a:cs typeface="Times New Roman"/>
              </a:rPr>
              <a:t>be </a:t>
            </a:r>
            <a:r>
              <a:rPr lang="en-US" sz="2400" spc="-5" dirty="0">
                <a:latin typeface="+mj-lt"/>
                <a:cs typeface="Times New Roman"/>
              </a:rPr>
              <a:t>presented</a:t>
            </a:r>
            <a:r>
              <a:rPr lang="en-US" sz="2400" spc="-15" dirty="0">
                <a:latin typeface="+mj-lt"/>
                <a:cs typeface="Times New Roman"/>
              </a:rPr>
              <a:t> </a:t>
            </a:r>
            <a:r>
              <a:rPr lang="en-US" sz="2400" dirty="0">
                <a:latin typeface="+mj-lt"/>
                <a:cs typeface="Times New Roman"/>
              </a:rPr>
              <a:t>on an</a:t>
            </a:r>
            <a:r>
              <a:rPr lang="en-US" sz="2400" spc="-10" dirty="0">
                <a:latin typeface="+mj-lt"/>
                <a:cs typeface="Times New Roman"/>
              </a:rPr>
              <a:t> </a:t>
            </a:r>
            <a:r>
              <a:rPr lang="en-US" sz="2400" spc="-5" dirty="0">
                <a:latin typeface="+mj-lt"/>
                <a:cs typeface="Times New Roman"/>
              </a:rPr>
              <a:t>output device.</a:t>
            </a:r>
            <a:endParaRPr lang="en-US" sz="3500" dirty="0">
              <a:latin typeface="+mj-lt"/>
              <a:cs typeface="Times New Roman"/>
            </a:endParaRPr>
          </a:p>
          <a:p>
            <a:pPr marL="697865" marR="5080" lvl="1" indent="-228600">
              <a:lnSpc>
                <a:spcPct val="100000"/>
              </a:lnSpc>
              <a:buChar char="•"/>
              <a:tabLst>
                <a:tab pos="698500" algn="l"/>
              </a:tabLst>
            </a:pPr>
            <a:r>
              <a:rPr lang="en-US" sz="2400" spc="-5" dirty="0">
                <a:latin typeface="+mj-lt"/>
                <a:cs typeface="Times New Roman"/>
              </a:rPr>
              <a:t>This</a:t>
            </a:r>
            <a:r>
              <a:rPr lang="en-US" sz="2400" spc="-15" dirty="0">
                <a:latin typeface="+mj-lt"/>
                <a:cs typeface="Times New Roman"/>
              </a:rPr>
              <a:t> </a:t>
            </a:r>
            <a:r>
              <a:rPr lang="en-US" sz="2400" dirty="0">
                <a:latin typeface="+mj-lt"/>
                <a:cs typeface="Times New Roman"/>
              </a:rPr>
              <a:t>can</a:t>
            </a:r>
            <a:r>
              <a:rPr lang="en-US" sz="2400" spc="-15" dirty="0">
                <a:latin typeface="+mj-lt"/>
                <a:cs typeface="Times New Roman"/>
              </a:rPr>
              <a:t> </a:t>
            </a:r>
            <a:r>
              <a:rPr lang="en-US" sz="2400" dirty="0">
                <a:latin typeface="+mj-lt"/>
                <a:cs typeface="Times New Roman"/>
              </a:rPr>
              <a:t>be</a:t>
            </a:r>
            <a:r>
              <a:rPr lang="en-US" sz="2400" spc="-5" dirty="0">
                <a:latin typeface="+mj-lt"/>
                <a:cs typeface="Times New Roman"/>
              </a:rPr>
              <a:t> the</a:t>
            </a:r>
            <a:r>
              <a:rPr lang="en-US" sz="2400" spc="-15" dirty="0">
                <a:latin typeface="+mj-lt"/>
                <a:cs typeface="Times New Roman"/>
              </a:rPr>
              <a:t> </a:t>
            </a:r>
            <a:r>
              <a:rPr lang="en-US" sz="2400" spc="-5" dirty="0">
                <a:latin typeface="+mj-lt"/>
                <a:cs typeface="Times New Roman"/>
              </a:rPr>
              <a:t>monitor,</a:t>
            </a:r>
            <a:r>
              <a:rPr lang="en-US" sz="2400" spc="-10" dirty="0">
                <a:latin typeface="+mj-lt"/>
                <a:cs typeface="Times New Roman"/>
              </a:rPr>
              <a:t> </a:t>
            </a:r>
            <a:r>
              <a:rPr lang="en-US" sz="2400" dirty="0">
                <a:latin typeface="+mj-lt"/>
                <a:cs typeface="Times New Roman"/>
              </a:rPr>
              <a:t>a</a:t>
            </a:r>
            <a:r>
              <a:rPr lang="en-US" sz="2400" spc="-10" dirty="0">
                <a:latin typeface="+mj-lt"/>
                <a:cs typeface="Times New Roman"/>
              </a:rPr>
              <a:t> </a:t>
            </a:r>
            <a:r>
              <a:rPr lang="en-US" sz="2400" dirty="0">
                <a:latin typeface="+mj-lt"/>
                <a:cs typeface="Times New Roman"/>
              </a:rPr>
              <a:t>paper</a:t>
            </a:r>
            <a:r>
              <a:rPr lang="en-US" sz="2400" spc="-20" dirty="0">
                <a:latin typeface="+mj-lt"/>
                <a:cs typeface="Times New Roman"/>
              </a:rPr>
              <a:t> </a:t>
            </a:r>
            <a:r>
              <a:rPr lang="en-US" sz="2400" spc="-5" dirty="0">
                <a:latin typeface="+mj-lt"/>
                <a:cs typeface="Times New Roman"/>
              </a:rPr>
              <a:t>from</a:t>
            </a:r>
            <a:r>
              <a:rPr lang="en-US" sz="2400" spc="-10" dirty="0">
                <a:latin typeface="+mj-lt"/>
                <a:cs typeface="Times New Roman"/>
              </a:rPr>
              <a:t> </a:t>
            </a:r>
            <a:r>
              <a:rPr lang="en-US" sz="2400" dirty="0">
                <a:latin typeface="+mj-lt"/>
                <a:cs typeface="Times New Roman"/>
              </a:rPr>
              <a:t>the</a:t>
            </a:r>
            <a:r>
              <a:rPr lang="en-US" sz="2400" spc="-10" dirty="0">
                <a:latin typeface="+mj-lt"/>
                <a:cs typeface="Times New Roman"/>
              </a:rPr>
              <a:t> </a:t>
            </a:r>
            <a:r>
              <a:rPr lang="en-US" sz="2400" spc="-5" dirty="0">
                <a:latin typeface="+mj-lt"/>
                <a:cs typeface="Times New Roman"/>
              </a:rPr>
              <a:t>printer,</a:t>
            </a:r>
            <a:r>
              <a:rPr lang="en-US" sz="2400" spc="-10" dirty="0">
                <a:latin typeface="+mj-lt"/>
                <a:cs typeface="Times New Roman"/>
              </a:rPr>
              <a:t> </a:t>
            </a:r>
            <a:r>
              <a:rPr lang="en-US" sz="2400" dirty="0">
                <a:latin typeface="+mj-lt"/>
                <a:cs typeface="Times New Roman"/>
              </a:rPr>
              <a:t>a </a:t>
            </a:r>
            <a:r>
              <a:rPr lang="en-US" sz="2400" spc="-585" dirty="0">
                <a:latin typeface="+mj-lt"/>
                <a:cs typeface="Times New Roman"/>
              </a:rPr>
              <a:t> </a:t>
            </a:r>
            <a:r>
              <a:rPr lang="en-US" sz="2400" spc="-5" dirty="0">
                <a:latin typeface="+mj-lt"/>
                <a:cs typeface="Times New Roman"/>
              </a:rPr>
              <a:t>simple</a:t>
            </a:r>
            <a:r>
              <a:rPr lang="en-US" sz="2400" spc="-25" dirty="0">
                <a:latin typeface="+mj-lt"/>
                <a:cs typeface="Times New Roman"/>
              </a:rPr>
              <a:t> </a:t>
            </a:r>
            <a:r>
              <a:rPr lang="en-US" sz="2400" spc="-5" dirty="0">
                <a:latin typeface="+mj-lt"/>
                <a:cs typeface="Times New Roman"/>
              </a:rPr>
              <a:t>LED</a:t>
            </a:r>
            <a:r>
              <a:rPr lang="en-US" sz="2400" dirty="0">
                <a:latin typeface="+mj-lt"/>
                <a:cs typeface="Times New Roman"/>
              </a:rPr>
              <a:t> or</a:t>
            </a:r>
            <a:r>
              <a:rPr lang="en-US" sz="2400" spc="-5" dirty="0">
                <a:latin typeface="+mj-lt"/>
                <a:cs typeface="Times New Roman"/>
              </a:rPr>
              <a:t> many</a:t>
            </a:r>
            <a:r>
              <a:rPr lang="en-US" sz="2400" spc="-10" dirty="0">
                <a:latin typeface="+mj-lt"/>
                <a:cs typeface="Times New Roman"/>
              </a:rPr>
              <a:t> </a:t>
            </a:r>
            <a:r>
              <a:rPr lang="en-US" sz="2400" spc="-5" dirty="0">
                <a:latin typeface="+mj-lt"/>
                <a:cs typeface="Times New Roman"/>
              </a:rPr>
              <a:t>other</a:t>
            </a:r>
            <a:r>
              <a:rPr lang="en-US" sz="2400" spc="-15" dirty="0">
                <a:latin typeface="+mj-lt"/>
                <a:cs typeface="Times New Roman"/>
              </a:rPr>
              <a:t> </a:t>
            </a:r>
            <a:r>
              <a:rPr lang="en-US" sz="2400" spc="-5" dirty="0">
                <a:latin typeface="+mj-lt"/>
                <a:cs typeface="Times New Roman"/>
              </a:rPr>
              <a:t>forms.</a:t>
            </a:r>
            <a:endParaRPr lang="en-US" sz="2400" dirty="0">
              <a:latin typeface="+mj-lt"/>
              <a:cs typeface="Times New Roman"/>
            </a:endParaRPr>
          </a:p>
          <a:p>
            <a:pPr marL="457200" indent="-457200">
              <a:buFont typeface="+mj-lt"/>
              <a:buAutoNum type="arabicPeriod"/>
              <a:tabLst>
                <a:tab pos="463550" algn="l"/>
              </a:tabLst>
            </a:pPr>
            <a:endParaRPr lang="en-US" sz="2000" dirty="0">
              <a:latin typeface="+mj-lt"/>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1DBE2390-DE46-45BB-AFCD-1307CE9790AE}"/>
              </a:ext>
            </a:extLst>
          </p:cNvPr>
          <p:cNvSpPr>
            <a:spLocks noGrp="1"/>
          </p:cNvSpPr>
          <p:nvPr>
            <p:ph type="dt" sz="half" idx="10"/>
          </p:nvPr>
        </p:nvSpPr>
        <p:spPr/>
        <p:txBody>
          <a:bodyPr/>
          <a:lstStyle/>
          <a:p>
            <a:fld id="{41BA521B-DED8-4ED5-AF11-50CE8D853788}" type="datetime1">
              <a:rPr lang="en-US" smtClean="0"/>
              <a:t>7/31/2023</a:t>
            </a:fld>
            <a:endParaRPr lang="en-US"/>
          </a:p>
        </p:txBody>
      </p:sp>
      <p:sp>
        <p:nvSpPr>
          <p:cNvPr id="8" name="Slide Number Placeholder 7">
            <a:extLst>
              <a:ext uri="{FF2B5EF4-FFF2-40B4-BE49-F238E27FC236}">
                <a16:creationId xmlns:a16="http://schemas.microsoft.com/office/drawing/2014/main" id="{8B7B49FB-27F1-4B93-925B-00D7AA57ADAD}"/>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16536020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spc="-5" dirty="0"/>
              <a:t>A</a:t>
            </a:r>
            <a:r>
              <a:rPr lang="en-US" sz="3200" spc="-20" dirty="0"/>
              <a:t> </a:t>
            </a:r>
            <a:r>
              <a:rPr lang="en-US" sz="3200" spc="-5" dirty="0"/>
              <a:t>Microprocessor-based</a:t>
            </a:r>
            <a:r>
              <a:rPr lang="en-US" sz="3200" spc="-20" dirty="0"/>
              <a:t> </a:t>
            </a:r>
            <a:r>
              <a:rPr lang="en-US" sz="3200" spc="-5" dirty="0"/>
              <a:t>system</a:t>
            </a: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0" indent="0">
              <a:buNone/>
              <a:tabLst>
                <a:tab pos="463550" algn="l"/>
              </a:tabLst>
            </a:pPr>
            <a:r>
              <a:rPr lang="en-US" sz="2000" spc="-5" dirty="0">
                <a:latin typeface="+mj-lt"/>
                <a:cs typeface="Times New Roman"/>
              </a:rPr>
              <a:t>From the</a:t>
            </a:r>
            <a:r>
              <a:rPr lang="en-US" sz="2000" spc="5" dirty="0">
                <a:latin typeface="+mj-lt"/>
                <a:cs typeface="Times New Roman"/>
              </a:rPr>
              <a:t> </a:t>
            </a:r>
            <a:r>
              <a:rPr lang="en-US" sz="2000" spc="-5" dirty="0">
                <a:latin typeface="+mj-lt"/>
                <a:cs typeface="Times New Roman"/>
              </a:rPr>
              <a:t>above</a:t>
            </a:r>
            <a:r>
              <a:rPr lang="en-US" sz="2000" dirty="0">
                <a:latin typeface="+mj-lt"/>
                <a:cs typeface="Times New Roman"/>
              </a:rPr>
              <a:t> </a:t>
            </a:r>
            <a:r>
              <a:rPr lang="en-US" sz="2000" spc="-5" dirty="0">
                <a:latin typeface="+mj-lt"/>
                <a:cs typeface="Times New Roman"/>
              </a:rPr>
              <a:t>description,</a:t>
            </a:r>
            <a:r>
              <a:rPr lang="en-US" sz="2000" spc="10" dirty="0">
                <a:latin typeface="+mj-lt"/>
                <a:cs typeface="Times New Roman"/>
              </a:rPr>
              <a:t> </a:t>
            </a:r>
            <a:r>
              <a:rPr lang="en-US" sz="2000" spc="-5" dirty="0">
                <a:latin typeface="+mj-lt"/>
                <a:cs typeface="Times New Roman"/>
              </a:rPr>
              <a:t>we</a:t>
            </a:r>
            <a:r>
              <a:rPr lang="en-US" sz="2000" spc="5" dirty="0">
                <a:latin typeface="+mj-lt"/>
                <a:cs typeface="Times New Roman"/>
              </a:rPr>
              <a:t> </a:t>
            </a:r>
            <a:r>
              <a:rPr lang="en-US" sz="2000" spc="-5" dirty="0">
                <a:latin typeface="+mj-lt"/>
                <a:cs typeface="Times New Roman"/>
              </a:rPr>
              <a:t>can</a:t>
            </a:r>
            <a:r>
              <a:rPr lang="en-US" sz="2000" spc="10" dirty="0">
                <a:latin typeface="+mj-lt"/>
                <a:cs typeface="Times New Roman"/>
              </a:rPr>
              <a:t> </a:t>
            </a:r>
            <a:r>
              <a:rPr lang="en-US" sz="2000" spc="-5" dirty="0">
                <a:latin typeface="+mj-lt"/>
                <a:cs typeface="Times New Roman"/>
              </a:rPr>
              <a:t>draw</a:t>
            </a:r>
            <a:r>
              <a:rPr lang="en-US" sz="2000" spc="5" dirty="0">
                <a:latin typeface="+mj-lt"/>
                <a:cs typeface="Times New Roman"/>
              </a:rPr>
              <a:t> </a:t>
            </a:r>
            <a:r>
              <a:rPr lang="en-US" sz="2000" spc="-5" dirty="0">
                <a:latin typeface="+mj-lt"/>
                <a:cs typeface="Times New Roman"/>
              </a:rPr>
              <a:t>the </a:t>
            </a:r>
            <a:r>
              <a:rPr lang="en-US" sz="2000" spc="-785" dirty="0">
                <a:latin typeface="+mj-lt"/>
                <a:cs typeface="Times New Roman"/>
              </a:rPr>
              <a:t> </a:t>
            </a:r>
            <a:r>
              <a:rPr lang="en-US" sz="2000" spc="-5" dirty="0">
                <a:latin typeface="+mj-lt"/>
                <a:cs typeface="Times New Roman"/>
              </a:rPr>
              <a:t>following</a:t>
            </a:r>
            <a:r>
              <a:rPr lang="en-US" sz="2000" spc="-15" dirty="0">
                <a:latin typeface="+mj-lt"/>
                <a:cs typeface="Times New Roman"/>
              </a:rPr>
              <a:t> </a:t>
            </a:r>
            <a:r>
              <a:rPr lang="en-US" sz="2000" spc="-5" dirty="0">
                <a:latin typeface="+mj-lt"/>
                <a:cs typeface="Times New Roman"/>
              </a:rPr>
              <a:t>block diagram</a:t>
            </a:r>
            <a:r>
              <a:rPr lang="en-US" sz="2000" dirty="0">
                <a:latin typeface="+mj-lt"/>
                <a:cs typeface="Times New Roman"/>
              </a:rPr>
              <a:t> </a:t>
            </a:r>
            <a:r>
              <a:rPr lang="en-US" sz="2000" spc="-5" dirty="0">
                <a:latin typeface="+mj-lt"/>
                <a:cs typeface="Times New Roman"/>
              </a:rPr>
              <a:t>to represent</a:t>
            </a:r>
            <a:r>
              <a:rPr lang="en-US" sz="2000" spc="15" dirty="0">
                <a:latin typeface="+mj-lt"/>
                <a:cs typeface="Times New Roman"/>
              </a:rPr>
              <a:t> </a:t>
            </a:r>
            <a:r>
              <a:rPr lang="en-US" sz="2000" spc="-5" dirty="0">
                <a:latin typeface="+mj-lt"/>
                <a:cs typeface="Times New Roman"/>
              </a:rPr>
              <a:t>a </a:t>
            </a:r>
            <a:r>
              <a:rPr lang="en-US" sz="2000" dirty="0">
                <a:latin typeface="+mj-lt"/>
                <a:cs typeface="Times New Roman"/>
              </a:rPr>
              <a:t> </a:t>
            </a:r>
            <a:r>
              <a:rPr lang="en-US" sz="2000" spc="-5" dirty="0">
                <a:latin typeface="+mj-lt"/>
                <a:cs typeface="Times New Roman"/>
              </a:rPr>
              <a:t>microprocessor-based</a:t>
            </a:r>
            <a:r>
              <a:rPr lang="en-US" sz="2000" spc="20" dirty="0">
                <a:latin typeface="+mj-lt"/>
                <a:cs typeface="Times New Roman"/>
              </a:rPr>
              <a:t> </a:t>
            </a:r>
            <a:r>
              <a:rPr lang="en-US" sz="2000" spc="-5" dirty="0">
                <a:latin typeface="+mj-lt"/>
                <a:cs typeface="Times New Roman"/>
              </a:rPr>
              <a:t>system:</a:t>
            </a:r>
            <a:endParaRPr lang="en-US" sz="2000" dirty="0">
              <a:latin typeface="+mj-lt"/>
              <a:cs typeface="Times New Roman"/>
            </a:endParaRPr>
          </a:p>
          <a:p>
            <a:pPr marL="457200" indent="-457200">
              <a:buFont typeface="+mj-lt"/>
              <a:buAutoNum type="arabicPeriod"/>
              <a:tabLst>
                <a:tab pos="463550" algn="l"/>
              </a:tabLst>
            </a:pPr>
            <a:endParaRPr lang="en-US" sz="2000" dirty="0">
              <a:latin typeface="+mj-lt"/>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object 3">
            <a:extLst>
              <a:ext uri="{FF2B5EF4-FFF2-40B4-BE49-F238E27FC236}">
                <a16:creationId xmlns:a16="http://schemas.microsoft.com/office/drawing/2014/main" id="{45590C5D-35F7-4E87-B80D-E2C5DCC75FDD}"/>
              </a:ext>
            </a:extLst>
          </p:cNvPr>
          <p:cNvSpPr txBox="1"/>
          <p:nvPr/>
        </p:nvSpPr>
        <p:spPr>
          <a:xfrm>
            <a:off x="3810000" y="3790950"/>
            <a:ext cx="1219200" cy="457200"/>
          </a:xfrm>
          <a:prstGeom prst="rect">
            <a:avLst/>
          </a:prstGeom>
          <a:solidFill>
            <a:srgbClr val="66FFFF"/>
          </a:solidFill>
          <a:ln w="12700">
            <a:solidFill>
              <a:srgbClr val="000000"/>
            </a:solidFill>
          </a:ln>
        </p:spPr>
        <p:txBody>
          <a:bodyPr vert="horz" wrap="square" lIns="0" tIns="100965" rIns="0" bIns="0" rtlCol="0">
            <a:spAutoFit/>
          </a:bodyPr>
          <a:lstStyle/>
          <a:p>
            <a:pPr marL="243204">
              <a:lnSpc>
                <a:spcPct val="100000"/>
              </a:lnSpc>
              <a:spcBef>
                <a:spcPts val="795"/>
              </a:spcBef>
            </a:pPr>
            <a:r>
              <a:rPr sz="1600" spc="-5" dirty="0">
                <a:latin typeface="Arial MT"/>
                <a:cs typeface="Arial MT"/>
              </a:rPr>
              <a:t>Memory</a:t>
            </a:r>
            <a:endParaRPr sz="1600">
              <a:latin typeface="Arial MT"/>
              <a:cs typeface="Arial MT"/>
            </a:endParaRPr>
          </a:p>
        </p:txBody>
      </p:sp>
      <p:grpSp>
        <p:nvGrpSpPr>
          <p:cNvPr id="8" name="object 4">
            <a:extLst>
              <a:ext uri="{FF2B5EF4-FFF2-40B4-BE49-F238E27FC236}">
                <a16:creationId xmlns:a16="http://schemas.microsoft.com/office/drawing/2014/main" id="{96CE67E3-A798-48B8-95DB-78289D01FB32}"/>
              </a:ext>
            </a:extLst>
          </p:cNvPr>
          <p:cNvGrpSpPr/>
          <p:nvPr/>
        </p:nvGrpSpPr>
        <p:grpSpPr>
          <a:xfrm>
            <a:off x="3879850" y="1651000"/>
            <a:ext cx="1079500" cy="1612900"/>
            <a:chOff x="4032250" y="2813050"/>
            <a:chExt cx="1079500" cy="1612900"/>
          </a:xfrm>
        </p:grpSpPr>
        <p:sp>
          <p:nvSpPr>
            <p:cNvPr id="9" name="object 5">
              <a:extLst>
                <a:ext uri="{FF2B5EF4-FFF2-40B4-BE49-F238E27FC236}">
                  <a16:creationId xmlns:a16="http://schemas.microsoft.com/office/drawing/2014/main" id="{82FD8E94-31AD-4029-8B00-2D83D7139CCA}"/>
                </a:ext>
              </a:extLst>
            </p:cNvPr>
            <p:cNvSpPr/>
            <p:nvPr/>
          </p:nvSpPr>
          <p:spPr>
            <a:xfrm>
              <a:off x="4038600" y="2819400"/>
              <a:ext cx="1066800" cy="1600200"/>
            </a:xfrm>
            <a:custGeom>
              <a:avLst/>
              <a:gdLst/>
              <a:ahLst/>
              <a:cxnLst/>
              <a:rect l="l" t="t" r="r" b="b"/>
              <a:pathLst>
                <a:path w="1066800" h="1600200">
                  <a:moveTo>
                    <a:pt x="1066800" y="0"/>
                  </a:moveTo>
                  <a:lnTo>
                    <a:pt x="0" y="0"/>
                  </a:lnTo>
                  <a:lnTo>
                    <a:pt x="0" y="1600200"/>
                  </a:lnTo>
                  <a:lnTo>
                    <a:pt x="1066800" y="1600200"/>
                  </a:lnTo>
                  <a:lnTo>
                    <a:pt x="1066800" y="0"/>
                  </a:lnTo>
                  <a:close/>
                </a:path>
              </a:pathLst>
            </a:custGeom>
            <a:solidFill>
              <a:srgbClr val="99FF99"/>
            </a:solidFill>
          </p:spPr>
          <p:txBody>
            <a:bodyPr wrap="square" lIns="0" tIns="0" rIns="0" bIns="0" rtlCol="0"/>
            <a:lstStyle/>
            <a:p>
              <a:endParaRPr/>
            </a:p>
          </p:txBody>
        </p:sp>
        <p:sp>
          <p:nvSpPr>
            <p:cNvPr id="10" name="object 6">
              <a:extLst>
                <a:ext uri="{FF2B5EF4-FFF2-40B4-BE49-F238E27FC236}">
                  <a16:creationId xmlns:a16="http://schemas.microsoft.com/office/drawing/2014/main" id="{1519EAFF-12E3-44EB-B6E7-39C930EC2BEC}"/>
                </a:ext>
              </a:extLst>
            </p:cNvPr>
            <p:cNvSpPr/>
            <p:nvPr/>
          </p:nvSpPr>
          <p:spPr>
            <a:xfrm>
              <a:off x="4038600" y="2819400"/>
              <a:ext cx="1066800" cy="1600200"/>
            </a:xfrm>
            <a:custGeom>
              <a:avLst/>
              <a:gdLst/>
              <a:ahLst/>
              <a:cxnLst/>
              <a:rect l="l" t="t" r="r" b="b"/>
              <a:pathLst>
                <a:path w="1066800" h="1600200">
                  <a:moveTo>
                    <a:pt x="0" y="0"/>
                  </a:moveTo>
                  <a:lnTo>
                    <a:pt x="1066800" y="0"/>
                  </a:lnTo>
                  <a:lnTo>
                    <a:pt x="1066800" y="1600200"/>
                  </a:lnTo>
                  <a:lnTo>
                    <a:pt x="0" y="1600200"/>
                  </a:lnTo>
                  <a:lnTo>
                    <a:pt x="0" y="0"/>
                  </a:lnTo>
                  <a:close/>
                </a:path>
              </a:pathLst>
            </a:custGeom>
            <a:ln w="12700">
              <a:solidFill>
                <a:srgbClr val="000000"/>
              </a:solidFill>
            </a:ln>
          </p:spPr>
          <p:txBody>
            <a:bodyPr wrap="square" lIns="0" tIns="0" rIns="0" bIns="0" rtlCol="0"/>
            <a:lstStyle/>
            <a:p>
              <a:endParaRPr/>
            </a:p>
          </p:txBody>
        </p:sp>
      </p:grpSp>
      <p:sp>
        <p:nvSpPr>
          <p:cNvPr id="11" name="object 7">
            <a:extLst>
              <a:ext uri="{FF2B5EF4-FFF2-40B4-BE49-F238E27FC236}">
                <a16:creationId xmlns:a16="http://schemas.microsoft.com/office/drawing/2014/main" id="{D3387FC8-6A1E-4D1B-A530-D52ADD8D9292}"/>
              </a:ext>
            </a:extLst>
          </p:cNvPr>
          <p:cNvSpPr txBox="1"/>
          <p:nvPr/>
        </p:nvSpPr>
        <p:spPr>
          <a:xfrm>
            <a:off x="5638800" y="2190750"/>
            <a:ext cx="1143000" cy="457200"/>
          </a:xfrm>
          <a:prstGeom prst="rect">
            <a:avLst/>
          </a:prstGeom>
          <a:solidFill>
            <a:srgbClr val="FFFF99"/>
          </a:solidFill>
          <a:ln w="12700">
            <a:solidFill>
              <a:srgbClr val="000000"/>
            </a:solidFill>
          </a:ln>
        </p:spPr>
        <p:txBody>
          <a:bodyPr vert="horz" wrap="square" lIns="0" tIns="100965" rIns="0" bIns="0" rtlCol="0">
            <a:spAutoFit/>
          </a:bodyPr>
          <a:lstStyle/>
          <a:p>
            <a:pPr marL="267335">
              <a:lnSpc>
                <a:spcPct val="100000"/>
              </a:lnSpc>
              <a:spcBef>
                <a:spcPts val="795"/>
              </a:spcBef>
            </a:pPr>
            <a:r>
              <a:rPr sz="1600" spc="-5" dirty="0">
                <a:latin typeface="Arial MT"/>
                <a:cs typeface="Arial MT"/>
              </a:rPr>
              <a:t>Output</a:t>
            </a:r>
            <a:endParaRPr sz="1600">
              <a:latin typeface="Arial MT"/>
              <a:cs typeface="Arial MT"/>
            </a:endParaRPr>
          </a:p>
        </p:txBody>
      </p:sp>
      <p:sp>
        <p:nvSpPr>
          <p:cNvPr id="12" name="object 8">
            <a:extLst>
              <a:ext uri="{FF2B5EF4-FFF2-40B4-BE49-F238E27FC236}">
                <a16:creationId xmlns:a16="http://schemas.microsoft.com/office/drawing/2014/main" id="{843EC53C-34A3-4366-B42A-B46A5AEE04A2}"/>
              </a:ext>
            </a:extLst>
          </p:cNvPr>
          <p:cNvSpPr txBox="1"/>
          <p:nvPr/>
        </p:nvSpPr>
        <p:spPr>
          <a:xfrm>
            <a:off x="2055812" y="2192337"/>
            <a:ext cx="1143000" cy="457200"/>
          </a:xfrm>
          <a:prstGeom prst="rect">
            <a:avLst/>
          </a:prstGeom>
          <a:solidFill>
            <a:srgbClr val="FFFF99"/>
          </a:solidFill>
          <a:ln w="12700">
            <a:solidFill>
              <a:srgbClr val="000000"/>
            </a:solidFill>
          </a:ln>
        </p:spPr>
        <p:txBody>
          <a:bodyPr vert="horz" wrap="square" lIns="0" tIns="100965" rIns="0" bIns="0" rtlCol="0">
            <a:spAutoFit/>
          </a:bodyPr>
          <a:lstStyle/>
          <a:p>
            <a:pPr marL="346075">
              <a:lnSpc>
                <a:spcPct val="100000"/>
              </a:lnSpc>
              <a:spcBef>
                <a:spcPts val="795"/>
              </a:spcBef>
            </a:pPr>
            <a:r>
              <a:rPr sz="1600" spc="-5" dirty="0">
                <a:latin typeface="Arial MT"/>
                <a:cs typeface="Arial MT"/>
              </a:rPr>
              <a:t>Input</a:t>
            </a:r>
            <a:endParaRPr sz="1600">
              <a:latin typeface="Arial MT"/>
              <a:cs typeface="Arial MT"/>
            </a:endParaRPr>
          </a:p>
        </p:txBody>
      </p:sp>
      <p:grpSp>
        <p:nvGrpSpPr>
          <p:cNvPr id="13" name="object 11">
            <a:extLst>
              <a:ext uri="{FF2B5EF4-FFF2-40B4-BE49-F238E27FC236}">
                <a16:creationId xmlns:a16="http://schemas.microsoft.com/office/drawing/2014/main" id="{210D8E2A-CAD9-4E76-9872-96E68FD1AB26}"/>
              </a:ext>
            </a:extLst>
          </p:cNvPr>
          <p:cNvGrpSpPr/>
          <p:nvPr/>
        </p:nvGrpSpPr>
        <p:grpSpPr>
          <a:xfrm>
            <a:off x="3200400" y="1816251"/>
            <a:ext cx="2438400" cy="1974850"/>
            <a:chOff x="3352800" y="2978301"/>
            <a:chExt cx="2438400" cy="1974850"/>
          </a:xfrm>
        </p:grpSpPr>
        <p:sp>
          <p:nvSpPr>
            <p:cNvPr id="14" name="object 12">
              <a:extLst>
                <a:ext uri="{FF2B5EF4-FFF2-40B4-BE49-F238E27FC236}">
                  <a16:creationId xmlns:a16="http://schemas.microsoft.com/office/drawing/2014/main" id="{55866F66-F38B-4AB1-BB27-13F04CDE328E}"/>
                </a:ext>
              </a:extLst>
            </p:cNvPr>
            <p:cNvSpPr/>
            <p:nvPr/>
          </p:nvSpPr>
          <p:spPr>
            <a:xfrm>
              <a:off x="4229365" y="2978301"/>
              <a:ext cx="690880" cy="1282700"/>
            </a:xfrm>
            <a:custGeom>
              <a:avLst/>
              <a:gdLst/>
              <a:ahLst/>
              <a:cxnLst/>
              <a:rect l="l" t="t" r="r" b="b"/>
              <a:pathLst>
                <a:path w="690879" h="1282700">
                  <a:moveTo>
                    <a:pt x="12103" y="1206500"/>
                  </a:moveTo>
                  <a:lnTo>
                    <a:pt x="0" y="1231900"/>
                  </a:lnTo>
                  <a:lnTo>
                    <a:pt x="132346" y="1282700"/>
                  </a:lnTo>
                  <a:lnTo>
                    <a:pt x="140093" y="1270000"/>
                  </a:lnTo>
                  <a:lnTo>
                    <a:pt x="27431" y="1219200"/>
                  </a:lnTo>
                  <a:lnTo>
                    <a:pt x="120192" y="1219200"/>
                  </a:lnTo>
                  <a:lnTo>
                    <a:pt x="12103" y="1206500"/>
                  </a:lnTo>
                  <a:close/>
                </a:path>
                <a:path w="690879" h="1282700">
                  <a:moveTo>
                    <a:pt x="58000" y="1104900"/>
                  </a:moveTo>
                  <a:lnTo>
                    <a:pt x="47180" y="1130300"/>
                  </a:lnTo>
                  <a:lnTo>
                    <a:pt x="124713" y="1193800"/>
                  </a:lnTo>
                  <a:lnTo>
                    <a:pt x="132575" y="1206500"/>
                  </a:lnTo>
                  <a:lnTo>
                    <a:pt x="138569" y="1206500"/>
                  </a:lnTo>
                  <a:lnTo>
                    <a:pt x="142697" y="1219200"/>
                  </a:lnTo>
                  <a:lnTo>
                    <a:pt x="27431" y="1219200"/>
                  </a:lnTo>
                  <a:lnTo>
                    <a:pt x="157683" y="1231900"/>
                  </a:lnTo>
                  <a:lnTo>
                    <a:pt x="164934" y="1219200"/>
                  </a:lnTo>
                  <a:lnTo>
                    <a:pt x="71818" y="1130300"/>
                  </a:lnTo>
                  <a:lnTo>
                    <a:pt x="110939" y="1130300"/>
                  </a:lnTo>
                  <a:lnTo>
                    <a:pt x="58000" y="1104900"/>
                  </a:lnTo>
                  <a:close/>
                </a:path>
                <a:path w="690879" h="1282700">
                  <a:moveTo>
                    <a:pt x="110939" y="1130300"/>
                  </a:moveTo>
                  <a:lnTo>
                    <a:pt x="71818" y="1130300"/>
                  </a:lnTo>
                  <a:lnTo>
                    <a:pt x="182587" y="1181100"/>
                  </a:lnTo>
                  <a:lnTo>
                    <a:pt x="190347" y="1168400"/>
                  </a:lnTo>
                  <a:lnTo>
                    <a:pt x="110939" y="1130300"/>
                  </a:lnTo>
                  <a:close/>
                </a:path>
                <a:path w="690879" h="1282700">
                  <a:moveTo>
                    <a:pt x="113868" y="1079500"/>
                  </a:moveTo>
                  <a:lnTo>
                    <a:pt x="106400" y="1092200"/>
                  </a:lnTo>
                  <a:lnTo>
                    <a:pt x="202272" y="1143000"/>
                  </a:lnTo>
                  <a:lnTo>
                    <a:pt x="209740" y="1117600"/>
                  </a:lnTo>
                  <a:lnTo>
                    <a:pt x="113868" y="1079500"/>
                  </a:lnTo>
                  <a:close/>
                </a:path>
                <a:path w="690879" h="1282700">
                  <a:moveTo>
                    <a:pt x="213512" y="1079500"/>
                  </a:moveTo>
                  <a:lnTo>
                    <a:pt x="182794" y="1079500"/>
                  </a:lnTo>
                  <a:lnTo>
                    <a:pt x="193738" y="1092200"/>
                  </a:lnTo>
                  <a:lnTo>
                    <a:pt x="203977" y="1092200"/>
                  </a:lnTo>
                  <a:lnTo>
                    <a:pt x="213512" y="1079500"/>
                  </a:lnTo>
                  <a:close/>
                </a:path>
                <a:path w="690879" h="1282700">
                  <a:moveTo>
                    <a:pt x="77393" y="1054100"/>
                  </a:moveTo>
                  <a:lnTo>
                    <a:pt x="69926" y="1079500"/>
                  </a:lnTo>
                  <a:lnTo>
                    <a:pt x="88620" y="1079500"/>
                  </a:lnTo>
                  <a:lnTo>
                    <a:pt x="96075" y="1066800"/>
                  </a:lnTo>
                  <a:lnTo>
                    <a:pt x="77393" y="1054100"/>
                  </a:lnTo>
                  <a:close/>
                </a:path>
                <a:path w="690879" h="1282700">
                  <a:moveTo>
                    <a:pt x="245222" y="1041400"/>
                  </a:moveTo>
                  <a:lnTo>
                    <a:pt x="230390" y="1041400"/>
                  </a:lnTo>
                  <a:lnTo>
                    <a:pt x="223812" y="1054100"/>
                  </a:lnTo>
                  <a:lnTo>
                    <a:pt x="217944" y="1066800"/>
                  </a:lnTo>
                  <a:lnTo>
                    <a:pt x="157175" y="1066800"/>
                  </a:lnTo>
                  <a:lnTo>
                    <a:pt x="163770" y="1079500"/>
                  </a:lnTo>
                  <a:lnTo>
                    <a:pt x="229542" y="1079500"/>
                  </a:lnTo>
                  <a:lnTo>
                    <a:pt x="235808" y="1066800"/>
                  </a:lnTo>
                  <a:lnTo>
                    <a:pt x="240906" y="1054100"/>
                  </a:lnTo>
                  <a:lnTo>
                    <a:pt x="243790" y="1054100"/>
                  </a:lnTo>
                  <a:lnTo>
                    <a:pt x="245222" y="1041400"/>
                  </a:lnTo>
                  <a:close/>
                </a:path>
                <a:path w="690879" h="1282700">
                  <a:moveTo>
                    <a:pt x="169695" y="1054100"/>
                  </a:moveTo>
                  <a:lnTo>
                    <a:pt x="142207" y="1054100"/>
                  </a:lnTo>
                  <a:lnTo>
                    <a:pt x="146329" y="1066800"/>
                  </a:lnTo>
                  <a:lnTo>
                    <a:pt x="178358" y="1066800"/>
                  </a:lnTo>
                  <a:lnTo>
                    <a:pt x="169695" y="1054100"/>
                  </a:lnTo>
                  <a:close/>
                </a:path>
                <a:path w="690879" h="1282700">
                  <a:moveTo>
                    <a:pt x="157536" y="1041400"/>
                  </a:moveTo>
                  <a:lnTo>
                    <a:pt x="137069" y="1041400"/>
                  </a:lnTo>
                  <a:lnTo>
                    <a:pt x="139120" y="1054100"/>
                  </a:lnTo>
                  <a:lnTo>
                    <a:pt x="162755" y="1054100"/>
                  </a:lnTo>
                  <a:lnTo>
                    <a:pt x="157536" y="1041400"/>
                  </a:lnTo>
                  <a:close/>
                </a:path>
                <a:path w="690879" h="1282700">
                  <a:moveTo>
                    <a:pt x="150507" y="1028700"/>
                  </a:moveTo>
                  <a:lnTo>
                    <a:pt x="135976" y="1028700"/>
                  </a:lnTo>
                  <a:lnTo>
                    <a:pt x="136055" y="1041400"/>
                  </a:lnTo>
                  <a:lnTo>
                    <a:pt x="154038" y="1041400"/>
                  </a:lnTo>
                  <a:lnTo>
                    <a:pt x="150507" y="1028700"/>
                  </a:lnTo>
                  <a:close/>
                </a:path>
                <a:path w="690879" h="1282700">
                  <a:moveTo>
                    <a:pt x="240856" y="1016000"/>
                  </a:moveTo>
                  <a:lnTo>
                    <a:pt x="222211" y="1016000"/>
                  </a:lnTo>
                  <a:lnTo>
                    <a:pt x="226987" y="1028700"/>
                  </a:lnTo>
                  <a:lnTo>
                    <a:pt x="230885" y="1041400"/>
                  </a:lnTo>
                  <a:lnTo>
                    <a:pt x="245205" y="1041400"/>
                  </a:lnTo>
                  <a:lnTo>
                    <a:pt x="243738" y="1028700"/>
                  </a:lnTo>
                  <a:lnTo>
                    <a:pt x="240856" y="1016000"/>
                  </a:lnTo>
                  <a:close/>
                </a:path>
                <a:path w="690879" h="1282700">
                  <a:moveTo>
                    <a:pt x="160629" y="1003300"/>
                  </a:moveTo>
                  <a:lnTo>
                    <a:pt x="144655" y="1003300"/>
                  </a:lnTo>
                  <a:lnTo>
                    <a:pt x="140741" y="1016000"/>
                  </a:lnTo>
                  <a:lnTo>
                    <a:pt x="138319" y="1016000"/>
                  </a:lnTo>
                  <a:lnTo>
                    <a:pt x="136731" y="1028700"/>
                  </a:lnTo>
                  <a:lnTo>
                    <a:pt x="150634" y="1028700"/>
                  </a:lnTo>
                  <a:lnTo>
                    <a:pt x="156883" y="1016000"/>
                  </a:lnTo>
                  <a:lnTo>
                    <a:pt x="160629" y="1003300"/>
                  </a:lnTo>
                  <a:close/>
                </a:path>
                <a:path w="690879" h="1282700">
                  <a:moveTo>
                    <a:pt x="231002" y="1003300"/>
                  </a:moveTo>
                  <a:lnTo>
                    <a:pt x="224027" y="1003300"/>
                  </a:lnTo>
                  <a:lnTo>
                    <a:pt x="214604" y="1016000"/>
                  </a:lnTo>
                  <a:lnTo>
                    <a:pt x="236612" y="1016000"/>
                  </a:lnTo>
                  <a:lnTo>
                    <a:pt x="231002" y="1003300"/>
                  </a:lnTo>
                  <a:close/>
                </a:path>
                <a:path w="690879" h="1282700">
                  <a:moveTo>
                    <a:pt x="188658" y="990600"/>
                  </a:moveTo>
                  <a:lnTo>
                    <a:pt x="154475" y="990600"/>
                  </a:lnTo>
                  <a:lnTo>
                    <a:pt x="149234" y="1003300"/>
                  </a:lnTo>
                  <a:lnTo>
                    <a:pt x="183832" y="1003300"/>
                  </a:lnTo>
                  <a:lnTo>
                    <a:pt x="188658" y="990600"/>
                  </a:lnTo>
                  <a:close/>
                </a:path>
                <a:path w="690879" h="1282700">
                  <a:moveTo>
                    <a:pt x="174370" y="939800"/>
                  </a:moveTo>
                  <a:lnTo>
                    <a:pt x="167652" y="965200"/>
                  </a:lnTo>
                  <a:lnTo>
                    <a:pt x="263524" y="1003300"/>
                  </a:lnTo>
                  <a:lnTo>
                    <a:pt x="270992" y="990600"/>
                  </a:lnTo>
                  <a:lnTo>
                    <a:pt x="213931" y="965200"/>
                  </a:lnTo>
                  <a:lnTo>
                    <a:pt x="208025" y="952500"/>
                  </a:lnTo>
                  <a:lnTo>
                    <a:pt x="188899" y="952500"/>
                  </a:lnTo>
                  <a:lnTo>
                    <a:pt x="174370" y="939800"/>
                  </a:lnTo>
                  <a:close/>
                </a:path>
                <a:path w="690879" h="1282700">
                  <a:moveTo>
                    <a:pt x="196126" y="939800"/>
                  </a:moveTo>
                  <a:lnTo>
                    <a:pt x="183819" y="939800"/>
                  </a:lnTo>
                  <a:lnTo>
                    <a:pt x="188899" y="952500"/>
                  </a:lnTo>
                  <a:lnTo>
                    <a:pt x="197802" y="952500"/>
                  </a:lnTo>
                  <a:lnTo>
                    <a:pt x="196126" y="939800"/>
                  </a:lnTo>
                  <a:close/>
                </a:path>
                <a:path w="690879" h="1282700">
                  <a:moveTo>
                    <a:pt x="199974" y="927100"/>
                  </a:moveTo>
                  <a:lnTo>
                    <a:pt x="179476" y="927100"/>
                  </a:lnTo>
                  <a:lnTo>
                    <a:pt x="180911" y="939800"/>
                  </a:lnTo>
                  <a:lnTo>
                    <a:pt x="196519" y="939800"/>
                  </a:lnTo>
                  <a:lnTo>
                    <a:pt x="199974" y="927100"/>
                  </a:lnTo>
                  <a:close/>
                </a:path>
                <a:path w="690879" h="1282700">
                  <a:moveTo>
                    <a:pt x="194640" y="914400"/>
                  </a:moveTo>
                  <a:lnTo>
                    <a:pt x="184251" y="914400"/>
                  </a:lnTo>
                  <a:lnTo>
                    <a:pt x="179997" y="927100"/>
                  </a:lnTo>
                  <a:lnTo>
                    <a:pt x="207149" y="927100"/>
                  </a:lnTo>
                  <a:lnTo>
                    <a:pt x="194640" y="914400"/>
                  </a:lnTo>
                  <a:close/>
                </a:path>
                <a:path w="690879" h="1282700">
                  <a:moveTo>
                    <a:pt x="300356" y="914400"/>
                  </a:moveTo>
                  <a:lnTo>
                    <a:pt x="229170" y="914400"/>
                  </a:lnTo>
                  <a:lnTo>
                    <a:pt x="241198" y="927100"/>
                  </a:lnTo>
                  <a:lnTo>
                    <a:pt x="292806" y="927100"/>
                  </a:lnTo>
                  <a:lnTo>
                    <a:pt x="300356" y="914400"/>
                  </a:lnTo>
                  <a:close/>
                </a:path>
                <a:path w="690879" h="1282700">
                  <a:moveTo>
                    <a:pt x="228545" y="889000"/>
                  </a:moveTo>
                  <a:lnTo>
                    <a:pt x="208546" y="889000"/>
                  </a:lnTo>
                  <a:lnTo>
                    <a:pt x="212844" y="901700"/>
                  </a:lnTo>
                  <a:lnTo>
                    <a:pt x="219719" y="914400"/>
                  </a:lnTo>
                  <a:lnTo>
                    <a:pt x="248869" y="914400"/>
                  </a:lnTo>
                  <a:lnTo>
                    <a:pt x="240470" y="901700"/>
                  </a:lnTo>
                  <a:lnTo>
                    <a:pt x="233695" y="901700"/>
                  </a:lnTo>
                  <a:lnTo>
                    <a:pt x="228545" y="889000"/>
                  </a:lnTo>
                  <a:close/>
                </a:path>
                <a:path w="690879" h="1282700">
                  <a:moveTo>
                    <a:pt x="311950" y="901700"/>
                  </a:moveTo>
                  <a:lnTo>
                    <a:pt x="294855" y="901700"/>
                  </a:lnTo>
                  <a:lnTo>
                    <a:pt x="288709" y="914400"/>
                  </a:lnTo>
                  <a:lnTo>
                    <a:pt x="306737" y="914400"/>
                  </a:lnTo>
                  <a:lnTo>
                    <a:pt x="311950" y="901700"/>
                  </a:lnTo>
                  <a:close/>
                </a:path>
                <a:path w="690879" h="1282700">
                  <a:moveTo>
                    <a:pt x="316017" y="889000"/>
                  </a:moveTo>
                  <a:lnTo>
                    <a:pt x="300670" y="889000"/>
                  </a:lnTo>
                  <a:lnTo>
                    <a:pt x="298589" y="901700"/>
                  </a:lnTo>
                  <a:lnTo>
                    <a:pt x="314405" y="901700"/>
                  </a:lnTo>
                  <a:lnTo>
                    <a:pt x="316017" y="889000"/>
                  </a:lnTo>
                  <a:close/>
                </a:path>
                <a:path w="690879" h="1282700">
                  <a:moveTo>
                    <a:pt x="223079" y="863600"/>
                  </a:moveTo>
                  <a:lnTo>
                    <a:pt x="208471" y="863600"/>
                  </a:lnTo>
                  <a:lnTo>
                    <a:pt x="206854" y="876300"/>
                  </a:lnTo>
                  <a:lnTo>
                    <a:pt x="206880" y="889000"/>
                  </a:lnTo>
                  <a:lnTo>
                    <a:pt x="225018" y="889000"/>
                  </a:lnTo>
                  <a:lnTo>
                    <a:pt x="222994" y="876300"/>
                  </a:lnTo>
                  <a:lnTo>
                    <a:pt x="222348" y="876300"/>
                  </a:lnTo>
                  <a:lnTo>
                    <a:pt x="223079" y="863600"/>
                  </a:lnTo>
                  <a:close/>
                </a:path>
                <a:path w="690879" h="1282700">
                  <a:moveTo>
                    <a:pt x="316052" y="863600"/>
                  </a:moveTo>
                  <a:lnTo>
                    <a:pt x="295026" y="863600"/>
                  </a:lnTo>
                  <a:lnTo>
                    <a:pt x="298615" y="876300"/>
                  </a:lnTo>
                  <a:lnTo>
                    <a:pt x="300684" y="876300"/>
                  </a:lnTo>
                  <a:lnTo>
                    <a:pt x="301369" y="889000"/>
                  </a:lnTo>
                  <a:lnTo>
                    <a:pt x="316786" y="889000"/>
                  </a:lnTo>
                  <a:lnTo>
                    <a:pt x="316712" y="876300"/>
                  </a:lnTo>
                  <a:lnTo>
                    <a:pt x="316052" y="863600"/>
                  </a:lnTo>
                  <a:close/>
                </a:path>
                <a:path w="690879" h="1282700">
                  <a:moveTo>
                    <a:pt x="296987" y="838200"/>
                  </a:moveTo>
                  <a:lnTo>
                    <a:pt x="223224" y="838200"/>
                  </a:lnTo>
                  <a:lnTo>
                    <a:pt x="216878" y="850900"/>
                  </a:lnTo>
                  <a:lnTo>
                    <a:pt x="211734" y="863600"/>
                  </a:lnTo>
                  <a:lnTo>
                    <a:pt x="225183" y="863600"/>
                  </a:lnTo>
                  <a:lnTo>
                    <a:pt x="228866" y="850900"/>
                  </a:lnTo>
                  <a:lnTo>
                    <a:pt x="302975" y="850900"/>
                  </a:lnTo>
                  <a:lnTo>
                    <a:pt x="296987" y="838200"/>
                  </a:lnTo>
                  <a:close/>
                </a:path>
                <a:path w="690879" h="1282700">
                  <a:moveTo>
                    <a:pt x="307657" y="850900"/>
                  </a:moveTo>
                  <a:lnTo>
                    <a:pt x="282834" y="850900"/>
                  </a:lnTo>
                  <a:lnTo>
                    <a:pt x="289766" y="863600"/>
                  </a:lnTo>
                  <a:lnTo>
                    <a:pt x="313029" y="863600"/>
                  </a:lnTo>
                  <a:lnTo>
                    <a:pt x="307657" y="850900"/>
                  </a:lnTo>
                  <a:close/>
                </a:path>
                <a:path w="690879" h="1282700">
                  <a:moveTo>
                    <a:pt x="249897" y="774700"/>
                  </a:moveTo>
                  <a:lnTo>
                    <a:pt x="243103" y="800100"/>
                  </a:lnTo>
                  <a:lnTo>
                    <a:pt x="375716" y="850900"/>
                  </a:lnTo>
                  <a:lnTo>
                    <a:pt x="383184" y="838200"/>
                  </a:lnTo>
                  <a:lnTo>
                    <a:pt x="336511" y="812800"/>
                  </a:lnTo>
                  <a:lnTo>
                    <a:pt x="315291" y="812800"/>
                  </a:lnTo>
                  <a:lnTo>
                    <a:pt x="307203" y="800100"/>
                  </a:lnTo>
                  <a:lnTo>
                    <a:pt x="289863" y="800100"/>
                  </a:lnTo>
                  <a:lnTo>
                    <a:pt x="282946" y="787400"/>
                  </a:lnTo>
                  <a:lnTo>
                    <a:pt x="262356" y="787400"/>
                  </a:lnTo>
                  <a:lnTo>
                    <a:pt x="249897" y="774700"/>
                  </a:lnTo>
                  <a:close/>
                </a:path>
                <a:path w="690879" h="1282700">
                  <a:moveTo>
                    <a:pt x="269925" y="825500"/>
                  </a:moveTo>
                  <a:lnTo>
                    <a:pt x="239534" y="825500"/>
                  </a:lnTo>
                  <a:lnTo>
                    <a:pt x="230776" y="838200"/>
                  </a:lnTo>
                  <a:lnTo>
                    <a:pt x="281089" y="838200"/>
                  </a:lnTo>
                  <a:lnTo>
                    <a:pt x="269925" y="825500"/>
                  </a:lnTo>
                  <a:close/>
                </a:path>
                <a:path w="690879" h="1282700">
                  <a:moveTo>
                    <a:pt x="362311" y="762000"/>
                  </a:moveTo>
                  <a:lnTo>
                    <a:pt x="342008" y="762000"/>
                  </a:lnTo>
                  <a:lnTo>
                    <a:pt x="345668" y="774700"/>
                  </a:lnTo>
                  <a:lnTo>
                    <a:pt x="349415" y="774700"/>
                  </a:lnTo>
                  <a:lnTo>
                    <a:pt x="349630" y="787400"/>
                  </a:lnTo>
                  <a:lnTo>
                    <a:pt x="343052" y="800100"/>
                  </a:lnTo>
                  <a:lnTo>
                    <a:pt x="337324" y="800100"/>
                  </a:lnTo>
                  <a:lnTo>
                    <a:pt x="329133" y="812800"/>
                  </a:lnTo>
                  <a:lnTo>
                    <a:pt x="354304" y="812800"/>
                  </a:lnTo>
                  <a:lnTo>
                    <a:pt x="357682" y="800100"/>
                  </a:lnTo>
                  <a:lnTo>
                    <a:pt x="363575" y="787400"/>
                  </a:lnTo>
                  <a:lnTo>
                    <a:pt x="364718" y="787400"/>
                  </a:lnTo>
                  <a:lnTo>
                    <a:pt x="363613" y="774700"/>
                  </a:lnTo>
                  <a:lnTo>
                    <a:pt x="362311" y="762000"/>
                  </a:lnTo>
                  <a:close/>
                </a:path>
                <a:path w="690879" h="1282700">
                  <a:moveTo>
                    <a:pt x="314820" y="723900"/>
                  </a:moveTo>
                  <a:lnTo>
                    <a:pt x="283857" y="723900"/>
                  </a:lnTo>
                  <a:lnTo>
                    <a:pt x="269684" y="736600"/>
                  </a:lnTo>
                  <a:lnTo>
                    <a:pt x="264261" y="749300"/>
                  </a:lnTo>
                  <a:lnTo>
                    <a:pt x="257619" y="762000"/>
                  </a:lnTo>
                  <a:lnTo>
                    <a:pt x="256400" y="762000"/>
                  </a:lnTo>
                  <a:lnTo>
                    <a:pt x="257238" y="774700"/>
                  </a:lnTo>
                  <a:lnTo>
                    <a:pt x="259079" y="774700"/>
                  </a:lnTo>
                  <a:lnTo>
                    <a:pt x="262356" y="787400"/>
                  </a:lnTo>
                  <a:lnTo>
                    <a:pt x="273786" y="787400"/>
                  </a:lnTo>
                  <a:lnTo>
                    <a:pt x="269773" y="774700"/>
                  </a:lnTo>
                  <a:lnTo>
                    <a:pt x="269341" y="762000"/>
                  </a:lnTo>
                  <a:lnTo>
                    <a:pt x="275729" y="749300"/>
                  </a:lnTo>
                  <a:lnTo>
                    <a:pt x="347597" y="749300"/>
                  </a:lnTo>
                  <a:lnTo>
                    <a:pt x="341914" y="736600"/>
                  </a:lnTo>
                  <a:lnTo>
                    <a:pt x="321678" y="736600"/>
                  </a:lnTo>
                  <a:lnTo>
                    <a:pt x="314820" y="723900"/>
                  </a:lnTo>
                  <a:close/>
                </a:path>
                <a:path w="690879" h="1282700">
                  <a:moveTo>
                    <a:pt x="352615" y="749300"/>
                  </a:moveTo>
                  <a:lnTo>
                    <a:pt x="329582" y="749300"/>
                  </a:lnTo>
                  <a:lnTo>
                    <a:pt x="336646" y="762000"/>
                  </a:lnTo>
                  <a:lnTo>
                    <a:pt x="356811" y="762000"/>
                  </a:lnTo>
                  <a:lnTo>
                    <a:pt x="352615" y="749300"/>
                  </a:lnTo>
                  <a:close/>
                </a:path>
                <a:path w="690879" h="1282700">
                  <a:moveTo>
                    <a:pt x="296798" y="673100"/>
                  </a:moveTo>
                  <a:lnTo>
                    <a:pt x="290080" y="698500"/>
                  </a:lnTo>
                  <a:lnTo>
                    <a:pt x="385952" y="736600"/>
                  </a:lnTo>
                  <a:lnTo>
                    <a:pt x="393420" y="723900"/>
                  </a:lnTo>
                  <a:lnTo>
                    <a:pt x="336359" y="698500"/>
                  </a:lnTo>
                  <a:lnTo>
                    <a:pt x="330453" y="685800"/>
                  </a:lnTo>
                  <a:lnTo>
                    <a:pt x="311327" y="685800"/>
                  </a:lnTo>
                  <a:lnTo>
                    <a:pt x="296798" y="673100"/>
                  </a:lnTo>
                  <a:close/>
                </a:path>
                <a:path w="690879" h="1282700">
                  <a:moveTo>
                    <a:pt x="318554" y="673100"/>
                  </a:moveTo>
                  <a:lnTo>
                    <a:pt x="306247" y="673100"/>
                  </a:lnTo>
                  <a:lnTo>
                    <a:pt x="311327" y="685800"/>
                  </a:lnTo>
                  <a:lnTo>
                    <a:pt x="320230" y="685800"/>
                  </a:lnTo>
                  <a:lnTo>
                    <a:pt x="318554" y="673100"/>
                  </a:lnTo>
                  <a:close/>
                </a:path>
                <a:path w="690879" h="1282700">
                  <a:moveTo>
                    <a:pt x="322402" y="660400"/>
                  </a:moveTo>
                  <a:lnTo>
                    <a:pt x="301904" y="660400"/>
                  </a:lnTo>
                  <a:lnTo>
                    <a:pt x="303339" y="673100"/>
                  </a:lnTo>
                  <a:lnTo>
                    <a:pt x="318947" y="673100"/>
                  </a:lnTo>
                  <a:lnTo>
                    <a:pt x="322402" y="660400"/>
                  </a:lnTo>
                  <a:close/>
                </a:path>
                <a:path w="690879" h="1282700">
                  <a:moveTo>
                    <a:pt x="317068" y="647700"/>
                  </a:moveTo>
                  <a:lnTo>
                    <a:pt x="306679" y="647700"/>
                  </a:lnTo>
                  <a:lnTo>
                    <a:pt x="302425" y="660400"/>
                  </a:lnTo>
                  <a:lnTo>
                    <a:pt x="329577" y="660400"/>
                  </a:lnTo>
                  <a:lnTo>
                    <a:pt x="317068" y="647700"/>
                  </a:lnTo>
                  <a:close/>
                </a:path>
                <a:path w="690879" h="1282700">
                  <a:moveTo>
                    <a:pt x="422784" y="647700"/>
                  </a:moveTo>
                  <a:lnTo>
                    <a:pt x="351598" y="647700"/>
                  </a:lnTo>
                  <a:lnTo>
                    <a:pt x="363626" y="660400"/>
                  </a:lnTo>
                  <a:lnTo>
                    <a:pt x="415234" y="660400"/>
                  </a:lnTo>
                  <a:lnTo>
                    <a:pt x="422784" y="647700"/>
                  </a:lnTo>
                  <a:close/>
                </a:path>
                <a:path w="690879" h="1282700">
                  <a:moveTo>
                    <a:pt x="350973" y="622300"/>
                  </a:moveTo>
                  <a:lnTo>
                    <a:pt x="330974" y="622300"/>
                  </a:lnTo>
                  <a:lnTo>
                    <a:pt x="335272" y="635000"/>
                  </a:lnTo>
                  <a:lnTo>
                    <a:pt x="342147" y="647700"/>
                  </a:lnTo>
                  <a:lnTo>
                    <a:pt x="371297" y="647700"/>
                  </a:lnTo>
                  <a:lnTo>
                    <a:pt x="362898" y="635000"/>
                  </a:lnTo>
                  <a:lnTo>
                    <a:pt x="356123" y="635000"/>
                  </a:lnTo>
                  <a:lnTo>
                    <a:pt x="350973" y="622300"/>
                  </a:lnTo>
                  <a:close/>
                </a:path>
                <a:path w="690879" h="1282700">
                  <a:moveTo>
                    <a:pt x="434378" y="635000"/>
                  </a:moveTo>
                  <a:lnTo>
                    <a:pt x="417283" y="635000"/>
                  </a:lnTo>
                  <a:lnTo>
                    <a:pt x="411137" y="647700"/>
                  </a:lnTo>
                  <a:lnTo>
                    <a:pt x="429165" y="647700"/>
                  </a:lnTo>
                  <a:lnTo>
                    <a:pt x="434378" y="635000"/>
                  </a:lnTo>
                  <a:close/>
                </a:path>
                <a:path w="690879" h="1282700">
                  <a:moveTo>
                    <a:pt x="438445" y="622300"/>
                  </a:moveTo>
                  <a:lnTo>
                    <a:pt x="423098" y="622300"/>
                  </a:lnTo>
                  <a:lnTo>
                    <a:pt x="421017" y="635000"/>
                  </a:lnTo>
                  <a:lnTo>
                    <a:pt x="436833" y="635000"/>
                  </a:lnTo>
                  <a:lnTo>
                    <a:pt x="438445" y="622300"/>
                  </a:lnTo>
                  <a:close/>
                </a:path>
                <a:path w="690879" h="1282700">
                  <a:moveTo>
                    <a:pt x="419415" y="571500"/>
                  </a:moveTo>
                  <a:lnTo>
                    <a:pt x="345652" y="571500"/>
                  </a:lnTo>
                  <a:lnTo>
                    <a:pt x="339306" y="584200"/>
                  </a:lnTo>
                  <a:lnTo>
                    <a:pt x="334162" y="596900"/>
                  </a:lnTo>
                  <a:lnTo>
                    <a:pt x="330899" y="596900"/>
                  </a:lnTo>
                  <a:lnTo>
                    <a:pt x="329282" y="609600"/>
                  </a:lnTo>
                  <a:lnTo>
                    <a:pt x="329308" y="622300"/>
                  </a:lnTo>
                  <a:lnTo>
                    <a:pt x="347446" y="622300"/>
                  </a:lnTo>
                  <a:lnTo>
                    <a:pt x="345422" y="609600"/>
                  </a:lnTo>
                  <a:lnTo>
                    <a:pt x="347611" y="596900"/>
                  </a:lnTo>
                  <a:lnTo>
                    <a:pt x="351294" y="584200"/>
                  </a:lnTo>
                  <a:lnTo>
                    <a:pt x="425403" y="584200"/>
                  </a:lnTo>
                  <a:lnTo>
                    <a:pt x="419415" y="571500"/>
                  </a:lnTo>
                  <a:close/>
                </a:path>
                <a:path w="690879" h="1282700">
                  <a:moveTo>
                    <a:pt x="439140" y="609600"/>
                  </a:moveTo>
                  <a:lnTo>
                    <a:pt x="423117" y="609600"/>
                  </a:lnTo>
                  <a:lnTo>
                    <a:pt x="423798" y="622300"/>
                  </a:lnTo>
                  <a:lnTo>
                    <a:pt x="439214" y="622300"/>
                  </a:lnTo>
                  <a:lnTo>
                    <a:pt x="439140" y="609600"/>
                  </a:lnTo>
                  <a:close/>
                </a:path>
                <a:path w="690879" h="1282700">
                  <a:moveTo>
                    <a:pt x="436379" y="596900"/>
                  </a:moveTo>
                  <a:lnTo>
                    <a:pt x="417459" y="596900"/>
                  </a:lnTo>
                  <a:lnTo>
                    <a:pt x="421055" y="609600"/>
                  </a:lnTo>
                  <a:lnTo>
                    <a:pt x="438202" y="609600"/>
                  </a:lnTo>
                  <a:lnTo>
                    <a:pt x="436379" y="596900"/>
                  </a:lnTo>
                  <a:close/>
                </a:path>
                <a:path w="690879" h="1282700">
                  <a:moveTo>
                    <a:pt x="430085" y="584200"/>
                  </a:moveTo>
                  <a:lnTo>
                    <a:pt x="405262" y="584200"/>
                  </a:lnTo>
                  <a:lnTo>
                    <a:pt x="412195" y="596900"/>
                  </a:lnTo>
                  <a:lnTo>
                    <a:pt x="433673" y="596900"/>
                  </a:lnTo>
                  <a:lnTo>
                    <a:pt x="430085" y="584200"/>
                  </a:lnTo>
                  <a:close/>
                </a:path>
                <a:path w="690879" h="1282700">
                  <a:moveTo>
                    <a:pt x="392353" y="558800"/>
                  </a:moveTo>
                  <a:lnTo>
                    <a:pt x="361962" y="558800"/>
                  </a:lnTo>
                  <a:lnTo>
                    <a:pt x="353204" y="571500"/>
                  </a:lnTo>
                  <a:lnTo>
                    <a:pt x="403517" y="571500"/>
                  </a:lnTo>
                  <a:lnTo>
                    <a:pt x="392353" y="558800"/>
                  </a:lnTo>
                  <a:close/>
                </a:path>
                <a:path w="690879" h="1282700">
                  <a:moveTo>
                    <a:pt x="469944" y="546100"/>
                  </a:moveTo>
                  <a:lnTo>
                    <a:pt x="404171" y="546100"/>
                  </a:lnTo>
                  <a:lnTo>
                    <a:pt x="411543" y="558800"/>
                  </a:lnTo>
                  <a:lnTo>
                    <a:pt x="462514" y="558800"/>
                  </a:lnTo>
                  <a:lnTo>
                    <a:pt x="469944" y="546100"/>
                  </a:lnTo>
                  <a:close/>
                </a:path>
                <a:path w="690879" h="1282700">
                  <a:moveTo>
                    <a:pt x="418769" y="533400"/>
                  </a:moveTo>
                  <a:lnTo>
                    <a:pt x="386740" y="533400"/>
                  </a:lnTo>
                  <a:lnTo>
                    <a:pt x="391769" y="546100"/>
                  </a:lnTo>
                  <a:lnTo>
                    <a:pt x="427980" y="546100"/>
                  </a:lnTo>
                  <a:lnTo>
                    <a:pt x="418769" y="533400"/>
                  </a:lnTo>
                  <a:close/>
                </a:path>
                <a:path w="690879" h="1282700">
                  <a:moveTo>
                    <a:pt x="484193" y="520700"/>
                  </a:moveTo>
                  <a:lnTo>
                    <a:pt x="470801" y="520700"/>
                  </a:lnTo>
                  <a:lnTo>
                    <a:pt x="464223" y="533400"/>
                  </a:lnTo>
                  <a:lnTo>
                    <a:pt x="458342" y="546100"/>
                  </a:lnTo>
                  <a:lnTo>
                    <a:pt x="476211" y="546100"/>
                  </a:lnTo>
                  <a:lnTo>
                    <a:pt x="481317" y="533400"/>
                  </a:lnTo>
                  <a:lnTo>
                    <a:pt x="484193" y="520700"/>
                  </a:lnTo>
                  <a:close/>
                </a:path>
                <a:path w="690879" h="1282700">
                  <a:moveTo>
                    <a:pt x="397936" y="520700"/>
                  </a:moveTo>
                  <a:lnTo>
                    <a:pt x="379525" y="520700"/>
                  </a:lnTo>
                  <a:lnTo>
                    <a:pt x="382613" y="533400"/>
                  </a:lnTo>
                  <a:lnTo>
                    <a:pt x="403159" y="533400"/>
                  </a:lnTo>
                  <a:lnTo>
                    <a:pt x="397936" y="520700"/>
                  </a:lnTo>
                  <a:close/>
                </a:path>
                <a:path w="690879" h="1282700">
                  <a:moveTo>
                    <a:pt x="390918" y="508000"/>
                  </a:moveTo>
                  <a:lnTo>
                    <a:pt x="376453" y="508000"/>
                  </a:lnTo>
                  <a:lnTo>
                    <a:pt x="377473" y="520700"/>
                  </a:lnTo>
                  <a:lnTo>
                    <a:pt x="394436" y="520700"/>
                  </a:lnTo>
                  <a:lnTo>
                    <a:pt x="390918" y="508000"/>
                  </a:lnTo>
                  <a:close/>
                </a:path>
                <a:path w="690879" h="1282700">
                  <a:moveTo>
                    <a:pt x="481260" y="495300"/>
                  </a:moveTo>
                  <a:lnTo>
                    <a:pt x="462610" y="495300"/>
                  </a:lnTo>
                  <a:lnTo>
                    <a:pt x="467385" y="508000"/>
                  </a:lnTo>
                  <a:lnTo>
                    <a:pt x="471284" y="520700"/>
                  </a:lnTo>
                  <a:lnTo>
                    <a:pt x="485622" y="520700"/>
                  </a:lnTo>
                  <a:lnTo>
                    <a:pt x="485603" y="508000"/>
                  </a:lnTo>
                  <a:lnTo>
                    <a:pt x="484136" y="508000"/>
                  </a:lnTo>
                  <a:lnTo>
                    <a:pt x="481260" y="495300"/>
                  </a:lnTo>
                  <a:close/>
                </a:path>
                <a:path w="690879" h="1282700">
                  <a:moveTo>
                    <a:pt x="397281" y="482600"/>
                  </a:moveTo>
                  <a:lnTo>
                    <a:pt x="381139" y="482600"/>
                  </a:lnTo>
                  <a:lnTo>
                    <a:pt x="378717" y="495300"/>
                  </a:lnTo>
                  <a:lnTo>
                    <a:pt x="377129" y="495300"/>
                  </a:lnTo>
                  <a:lnTo>
                    <a:pt x="376374" y="508000"/>
                  </a:lnTo>
                  <a:lnTo>
                    <a:pt x="391032" y="508000"/>
                  </a:lnTo>
                  <a:lnTo>
                    <a:pt x="397281" y="482600"/>
                  </a:lnTo>
                  <a:close/>
                </a:path>
                <a:path w="690879" h="1282700">
                  <a:moveTo>
                    <a:pt x="471402" y="482600"/>
                  </a:moveTo>
                  <a:lnTo>
                    <a:pt x="464426" y="482600"/>
                  </a:lnTo>
                  <a:lnTo>
                    <a:pt x="455015" y="495300"/>
                  </a:lnTo>
                  <a:lnTo>
                    <a:pt x="477015" y="495300"/>
                  </a:lnTo>
                  <a:lnTo>
                    <a:pt x="471402" y="482600"/>
                  </a:lnTo>
                  <a:close/>
                </a:path>
                <a:path w="690879" h="1282700">
                  <a:moveTo>
                    <a:pt x="421358" y="457200"/>
                  </a:moveTo>
                  <a:lnTo>
                    <a:pt x="414077" y="457200"/>
                  </a:lnTo>
                  <a:lnTo>
                    <a:pt x="407214" y="469900"/>
                  </a:lnTo>
                  <a:lnTo>
                    <a:pt x="389637" y="469900"/>
                  </a:lnTo>
                  <a:lnTo>
                    <a:pt x="385059" y="482600"/>
                  </a:lnTo>
                  <a:lnTo>
                    <a:pt x="424243" y="482600"/>
                  </a:lnTo>
                  <a:lnTo>
                    <a:pt x="429056" y="469900"/>
                  </a:lnTo>
                  <a:lnTo>
                    <a:pt x="421358" y="457200"/>
                  </a:lnTo>
                  <a:close/>
                </a:path>
                <a:path w="690879" h="1282700">
                  <a:moveTo>
                    <a:pt x="519286" y="444500"/>
                  </a:moveTo>
                  <a:lnTo>
                    <a:pt x="493750" y="444500"/>
                  </a:lnTo>
                  <a:lnTo>
                    <a:pt x="487452" y="457200"/>
                  </a:lnTo>
                  <a:lnTo>
                    <a:pt x="454405" y="457200"/>
                  </a:lnTo>
                  <a:lnTo>
                    <a:pt x="465795" y="469900"/>
                  </a:lnTo>
                  <a:lnTo>
                    <a:pt x="505145" y="469900"/>
                  </a:lnTo>
                  <a:lnTo>
                    <a:pt x="512776" y="457200"/>
                  </a:lnTo>
                  <a:lnTo>
                    <a:pt x="519286" y="444500"/>
                  </a:lnTo>
                  <a:close/>
                </a:path>
                <a:path w="690879" h="1282700">
                  <a:moveTo>
                    <a:pt x="473303" y="444500"/>
                  </a:moveTo>
                  <a:lnTo>
                    <a:pt x="434347" y="444500"/>
                  </a:lnTo>
                  <a:lnTo>
                    <a:pt x="443342" y="457200"/>
                  </a:lnTo>
                  <a:lnTo>
                    <a:pt x="480636" y="457200"/>
                  </a:lnTo>
                  <a:lnTo>
                    <a:pt x="473303" y="444500"/>
                  </a:lnTo>
                  <a:close/>
                </a:path>
                <a:path w="690879" h="1282700">
                  <a:moveTo>
                    <a:pt x="456120" y="381000"/>
                  </a:moveTo>
                  <a:lnTo>
                    <a:pt x="429079" y="381000"/>
                  </a:lnTo>
                  <a:lnTo>
                    <a:pt x="424052" y="393700"/>
                  </a:lnTo>
                  <a:lnTo>
                    <a:pt x="420538" y="406400"/>
                  </a:lnTo>
                  <a:lnTo>
                    <a:pt x="419119" y="419100"/>
                  </a:lnTo>
                  <a:lnTo>
                    <a:pt x="419795" y="419100"/>
                  </a:lnTo>
                  <a:lnTo>
                    <a:pt x="422567" y="431800"/>
                  </a:lnTo>
                  <a:lnTo>
                    <a:pt x="427422" y="444500"/>
                  </a:lnTo>
                  <a:lnTo>
                    <a:pt x="452500" y="444500"/>
                  </a:lnTo>
                  <a:lnTo>
                    <a:pt x="444385" y="431800"/>
                  </a:lnTo>
                  <a:lnTo>
                    <a:pt x="439000" y="431800"/>
                  </a:lnTo>
                  <a:lnTo>
                    <a:pt x="433679" y="419100"/>
                  </a:lnTo>
                  <a:lnTo>
                    <a:pt x="434060" y="406400"/>
                  </a:lnTo>
                  <a:lnTo>
                    <a:pt x="441274" y="393700"/>
                  </a:lnTo>
                  <a:lnTo>
                    <a:pt x="447484" y="393700"/>
                  </a:lnTo>
                  <a:lnTo>
                    <a:pt x="456120" y="381000"/>
                  </a:lnTo>
                  <a:close/>
                </a:path>
                <a:path w="690879" h="1282700">
                  <a:moveTo>
                    <a:pt x="498284" y="381000"/>
                  </a:moveTo>
                  <a:lnTo>
                    <a:pt x="468693" y="381000"/>
                  </a:lnTo>
                  <a:lnTo>
                    <a:pt x="477088" y="393700"/>
                  </a:lnTo>
                  <a:lnTo>
                    <a:pt x="452500" y="444500"/>
                  </a:lnTo>
                  <a:lnTo>
                    <a:pt x="465454" y="444500"/>
                  </a:lnTo>
                  <a:lnTo>
                    <a:pt x="498284" y="381000"/>
                  </a:lnTo>
                  <a:close/>
                </a:path>
                <a:path w="690879" h="1282700">
                  <a:moveTo>
                    <a:pt x="529145" y="406400"/>
                  </a:moveTo>
                  <a:lnTo>
                    <a:pt x="512470" y="406400"/>
                  </a:lnTo>
                  <a:lnTo>
                    <a:pt x="514857" y="419100"/>
                  </a:lnTo>
                  <a:lnTo>
                    <a:pt x="514083" y="431800"/>
                  </a:lnTo>
                  <a:lnTo>
                    <a:pt x="507669" y="444500"/>
                  </a:lnTo>
                  <a:lnTo>
                    <a:pt x="524675" y="444500"/>
                  </a:lnTo>
                  <a:lnTo>
                    <a:pt x="527827" y="431800"/>
                  </a:lnTo>
                  <a:lnTo>
                    <a:pt x="529624" y="419100"/>
                  </a:lnTo>
                  <a:lnTo>
                    <a:pt x="530065" y="419100"/>
                  </a:lnTo>
                  <a:lnTo>
                    <a:pt x="529145" y="406400"/>
                  </a:lnTo>
                  <a:close/>
                </a:path>
                <a:path w="690879" h="1282700">
                  <a:moveTo>
                    <a:pt x="513067" y="381000"/>
                  </a:moveTo>
                  <a:lnTo>
                    <a:pt x="503275" y="393700"/>
                  </a:lnTo>
                  <a:lnTo>
                    <a:pt x="509003" y="406400"/>
                  </a:lnTo>
                  <a:lnTo>
                    <a:pt x="526947" y="406400"/>
                  </a:lnTo>
                  <a:lnTo>
                    <a:pt x="523535" y="393700"/>
                  </a:lnTo>
                  <a:lnTo>
                    <a:pt x="518908" y="393700"/>
                  </a:lnTo>
                  <a:lnTo>
                    <a:pt x="513067" y="381000"/>
                  </a:lnTo>
                  <a:close/>
                </a:path>
                <a:path w="690879" h="1282700">
                  <a:moveTo>
                    <a:pt x="493991" y="368300"/>
                  </a:moveTo>
                  <a:lnTo>
                    <a:pt x="442833" y="368300"/>
                  </a:lnTo>
                  <a:lnTo>
                    <a:pt x="435340" y="381000"/>
                  </a:lnTo>
                  <a:lnTo>
                    <a:pt x="494957" y="381000"/>
                  </a:lnTo>
                  <a:lnTo>
                    <a:pt x="493991" y="368300"/>
                  </a:lnTo>
                  <a:close/>
                </a:path>
                <a:path w="690879" h="1282700">
                  <a:moveTo>
                    <a:pt x="559579" y="355600"/>
                  </a:moveTo>
                  <a:lnTo>
                    <a:pt x="524332" y="355600"/>
                  </a:lnTo>
                  <a:lnTo>
                    <a:pt x="519468" y="368300"/>
                  </a:lnTo>
                  <a:lnTo>
                    <a:pt x="554136" y="368300"/>
                  </a:lnTo>
                  <a:lnTo>
                    <a:pt x="559579" y="355600"/>
                  </a:lnTo>
                  <a:close/>
                </a:path>
                <a:path w="690879" h="1282700">
                  <a:moveTo>
                    <a:pt x="503034" y="342900"/>
                  </a:moveTo>
                  <a:lnTo>
                    <a:pt x="474649" y="342900"/>
                  </a:lnTo>
                  <a:lnTo>
                    <a:pt x="483615" y="355600"/>
                  </a:lnTo>
                  <a:lnTo>
                    <a:pt x="498398" y="355600"/>
                  </a:lnTo>
                  <a:lnTo>
                    <a:pt x="503034" y="342900"/>
                  </a:lnTo>
                  <a:close/>
                </a:path>
                <a:path w="690879" h="1282700">
                  <a:moveTo>
                    <a:pt x="572541" y="330200"/>
                  </a:moveTo>
                  <a:lnTo>
                    <a:pt x="559104" y="330200"/>
                  </a:lnTo>
                  <a:lnTo>
                    <a:pt x="552284" y="342900"/>
                  </a:lnTo>
                  <a:lnTo>
                    <a:pt x="547916" y="355600"/>
                  </a:lnTo>
                  <a:lnTo>
                    <a:pt x="564562" y="355600"/>
                  </a:lnTo>
                  <a:lnTo>
                    <a:pt x="569086" y="342900"/>
                  </a:lnTo>
                  <a:lnTo>
                    <a:pt x="572541" y="330200"/>
                  </a:lnTo>
                  <a:close/>
                </a:path>
                <a:path w="690879" h="1282700">
                  <a:moveTo>
                    <a:pt x="537210" y="304800"/>
                  </a:moveTo>
                  <a:lnTo>
                    <a:pt x="514630" y="304800"/>
                  </a:lnTo>
                  <a:lnTo>
                    <a:pt x="502958" y="317500"/>
                  </a:lnTo>
                  <a:lnTo>
                    <a:pt x="499376" y="330200"/>
                  </a:lnTo>
                  <a:lnTo>
                    <a:pt x="463854" y="330200"/>
                  </a:lnTo>
                  <a:lnTo>
                    <a:pt x="465645" y="342900"/>
                  </a:lnTo>
                  <a:lnTo>
                    <a:pt x="515380" y="342900"/>
                  </a:lnTo>
                  <a:lnTo>
                    <a:pt x="520570" y="330200"/>
                  </a:lnTo>
                  <a:lnTo>
                    <a:pt x="526541" y="317500"/>
                  </a:lnTo>
                  <a:lnTo>
                    <a:pt x="532828" y="317500"/>
                  </a:lnTo>
                  <a:lnTo>
                    <a:pt x="537210" y="304800"/>
                  </a:lnTo>
                  <a:close/>
                </a:path>
                <a:path w="690879" h="1282700">
                  <a:moveTo>
                    <a:pt x="487933" y="292100"/>
                  </a:moveTo>
                  <a:lnTo>
                    <a:pt x="470954" y="292100"/>
                  </a:lnTo>
                  <a:lnTo>
                    <a:pt x="465213" y="304800"/>
                  </a:lnTo>
                  <a:lnTo>
                    <a:pt x="463702" y="304800"/>
                  </a:lnTo>
                  <a:lnTo>
                    <a:pt x="462292" y="317500"/>
                  </a:lnTo>
                  <a:lnTo>
                    <a:pt x="462279" y="330200"/>
                  </a:lnTo>
                  <a:lnTo>
                    <a:pt x="478764" y="330200"/>
                  </a:lnTo>
                  <a:lnTo>
                    <a:pt x="476770" y="317500"/>
                  </a:lnTo>
                  <a:lnTo>
                    <a:pt x="477977" y="317500"/>
                  </a:lnTo>
                  <a:lnTo>
                    <a:pt x="484301" y="304800"/>
                  </a:lnTo>
                  <a:lnTo>
                    <a:pt x="487933" y="292100"/>
                  </a:lnTo>
                  <a:close/>
                </a:path>
                <a:path w="690879" h="1282700">
                  <a:moveTo>
                    <a:pt x="566280" y="292100"/>
                  </a:moveTo>
                  <a:lnTo>
                    <a:pt x="527367" y="292100"/>
                  </a:lnTo>
                  <a:lnTo>
                    <a:pt x="523926" y="304800"/>
                  </a:lnTo>
                  <a:lnTo>
                    <a:pt x="554634" y="304800"/>
                  </a:lnTo>
                  <a:lnTo>
                    <a:pt x="557364" y="317500"/>
                  </a:lnTo>
                  <a:lnTo>
                    <a:pt x="560133" y="330200"/>
                  </a:lnTo>
                  <a:lnTo>
                    <a:pt x="574319" y="330200"/>
                  </a:lnTo>
                  <a:lnTo>
                    <a:pt x="574560" y="317500"/>
                  </a:lnTo>
                  <a:lnTo>
                    <a:pt x="572947" y="304800"/>
                  </a:lnTo>
                  <a:lnTo>
                    <a:pt x="566280" y="292100"/>
                  </a:lnTo>
                  <a:close/>
                </a:path>
                <a:path w="690879" h="1282700">
                  <a:moveTo>
                    <a:pt x="511860" y="279400"/>
                  </a:moveTo>
                  <a:lnTo>
                    <a:pt x="484631" y="279400"/>
                  </a:lnTo>
                  <a:lnTo>
                    <a:pt x="475068" y="292100"/>
                  </a:lnTo>
                  <a:lnTo>
                    <a:pt x="506729" y="292100"/>
                  </a:lnTo>
                  <a:lnTo>
                    <a:pt x="511860" y="279400"/>
                  </a:lnTo>
                  <a:close/>
                </a:path>
                <a:path w="690879" h="1282700">
                  <a:moveTo>
                    <a:pt x="499389" y="266700"/>
                  </a:moveTo>
                  <a:lnTo>
                    <a:pt x="489496" y="279400"/>
                  </a:lnTo>
                  <a:lnTo>
                    <a:pt x="505193" y="279400"/>
                  </a:lnTo>
                  <a:lnTo>
                    <a:pt x="499389" y="266700"/>
                  </a:lnTo>
                  <a:close/>
                </a:path>
                <a:path w="690879" h="1282700">
                  <a:moveTo>
                    <a:pt x="596750" y="266700"/>
                  </a:moveTo>
                  <a:lnTo>
                    <a:pt x="566940" y="266700"/>
                  </a:lnTo>
                  <a:lnTo>
                    <a:pt x="562089" y="279400"/>
                  </a:lnTo>
                  <a:lnTo>
                    <a:pt x="590854" y="279400"/>
                  </a:lnTo>
                  <a:lnTo>
                    <a:pt x="596750" y="266700"/>
                  </a:lnTo>
                  <a:close/>
                </a:path>
                <a:path w="690879" h="1282700">
                  <a:moveTo>
                    <a:pt x="607171" y="254000"/>
                  </a:moveTo>
                  <a:lnTo>
                    <a:pt x="590524" y="254000"/>
                  </a:lnTo>
                  <a:lnTo>
                    <a:pt x="579881" y="266700"/>
                  </a:lnTo>
                  <a:lnTo>
                    <a:pt x="602189" y="266700"/>
                  </a:lnTo>
                  <a:lnTo>
                    <a:pt x="607171" y="254000"/>
                  </a:lnTo>
                  <a:close/>
                </a:path>
                <a:path w="690879" h="1282700">
                  <a:moveTo>
                    <a:pt x="557988" y="241300"/>
                  </a:moveTo>
                  <a:lnTo>
                    <a:pt x="508266" y="241300"/>
                  </a:lnTo>
                  <a:lnTo>
                    <a:pt x="513753" y="254000"/>
                  </a:lnTo>
                  <a:lnTo>
                    <a:pt x="553582" y="254000"/>
                  </a:lnTo>
                  <a:lnTo>
                    <a:pt x="557988" y="241300"/>
                  </a:lnTo>
                  <a:close/>
                </a:path>
                <a:path w="690879" h="1282700">
                  <a:moveTo>
                    <a:pt x="617169" y="215900"/>
                  </a:moveTo>
                  <a:lnTo>
                    <a:pt x="599973" y="215900"/>
                  </a:lnTo>
                  <a:lnTo>
                    <a:pt x="602741" y="228600"/>
                  </a:lnTo>
                  <a:lnTo>
                    <a:pt x="601713" y="241300"/>
                  </a:lnTo>
                  <a:lnTo>
                    <a:pt x="594893" y="254000"/>
                  </a:lnTo>
                  <a:lnTo>
                    <a:pt x="611695" y="254000"/>
                  </a:lnTo>
                  <a:lnTo>
                    <a:pt x="615149" y="241300"/>
                  </a:lnTo>
                  <a:lnTo>
                    <a:pt x="616927" y="241300"/>
                  </a:lnTo>
                  <a:lnTo>
                    <a:pt x="617169" y="215900"/>
                  </a:lnTo>
                  <a:close/>
                </a:path>
                <a:path w="690879" h="1282700">
                  <a:moveTo>
                    <a:pt x="554469" y="177800"/>
                  </a:moveTo>
                  <a:lnTo>
                    <a:pt x="532104" y="177800"/>
                  </a:lnTo>
                  <a:lnTo>
                    <a:pt x="527240" y="190500"/>
                  </a:lnTo>
                  <a:lnTo>
                    <a:pt x="517690" y="190500"/>
                  </a:lnTo>
                  <a:lnTo>
                    <a:pt x="513575" y="203200"/>
                  </a:lnTo>
                  <a:lnTo>
                    <a:pt x="507822" y="215900"/>
                  </a:lnTo>
                  <a:lnTo>
                    <a:pt x="506323" y="215900"/>
                  </a:lnTo>
                  <a:lnTo>
                    <a:pt x="504901" y="228600"/>
                  </a:lnTo>
                  <a:lnTo>
                    <a:pt x="505599" y="241300"/>
                  </a:lnTo>
                  <a:lnTo>
                    <a:pt x="523532" y="241300"/>
                  </a:lnTo>
                  <a:lnTo>
                    <a:pt x="521385" y="228600"/>
                  </a:lnTo>
                  <a:lnTo>
                    <a:pt x="519379" y="228600"/>
                  </a:lnTo>
                  <a:lnTo>
                    <a:pt x="520585" y="215900"/>
                  </a:lnTo>
                  <a:lnTo>
                    <a:pt x="526922" y="203200"/>
                  </a:lnTo>
                  <a:lnTo>
                    <a:pt x="549338" y="203200"/>
                  </a:lnTo>
                  <a:lnTo>
                    <a:pt x="554469" y="177800"/>
                  </a:lnTo>
                  <a:close/>
                </a:path>
                <a:path w="690879" h="1282700">
                  <a:moveTo>
                    <a:pt x="569150" y="228600"/>
                  </a:moveTo>
                  <a:lnTo>
                    <a:pt x="541985" y="228600"/>
                  </a:lnTo>
                  <a:lnTo>
                    <a:pt x="540638" y="241300"/>
                  </a:lnTo>
                  <a:lnTo>
                    <a:pt x="563178" y="241300"/>
                  </a:lnTo>
                  <a:lnTo>
                    <a:pt x="569150" y="228600"/>
                  </a:lnTo>
                  <a:close/>
                </a:path>
                <a:path w="690879" h="1282700">
                  <a:moveTo>
                    <a:pt x="579818" y="215900"/>
                  </a:moveTo>
                  <a:lnTo>
                    <a:pt x="557244" y="215900"/>
                  </a:lnTo>
                  <a:lnTo>
                    <a:pt x="551383" y="228600"/>
                  </a:lnTo>
                  <a:lnTo>
                    <a:pt x="575436" y="228600"/>
                  </a:lnTo>
                  <a:lnTo>
                    <a:pt x="579818" y="215900"/>
                  </a:lnTo>
                  <a:close/>
                </a:path>
                <a:path w="690879" h="1282700">
                  <a:moveTo>
                    <a:pt x="608888" y="203200"/>
                  </a:moveTo>
                  <a:lnTo>
                    <a:pt x="566536" y="203200"/>
                  </a:lnTo>
                  <a:lnTo>
                    <a:pt x="562294" y="215900"/>
                  </a:lnTo>
                  <a:lnTo>
                    <a:pt x="615556" y="215900"/>
                  </a:lnTo>
                  <a:lnTo>
                    <a:pt x="608888" y="203200"/>
                  </a:lnTo>
                  <a:close/>
                </a:path>
                <a:path w="690879" h="1282700">
                  <a:moveTo>
                    <a:pt x="593559" y="190500"/>
                  </a:moveTo>
                  <a:lnTo>
                    <a:pt x="578497" y="190500"/>
                  </a:lnTo>
                  <a:lnTo>
                    <a:pt x="574014" y="203200"/>
                  </a:lnTo>
                  <a:lnTo>
                    <a:pt x="604519" y="203200"/>
                  </a:lnTo>
                  <a:lnTo>
                    <a:pt x="593559" y="190500"/>
                  </a:lnTo>
                  <a:close/>
                </a:path>
                <a:path w="690879" h="1282700">
                  <a:moveTo>
                    <a:pt x="644753" y="165100"/>
                  </a:moveTo>
                  <a:lnTo>
                    <a:pt x="573556" y="165100"/>
                  </a:lnTo>
                  <a:lnTo>
                    <a:pt x="585584" y="177800"/>
                  </a:lnTo>
                  <a:lnTo>
                    <a:pt x="637205" y="177800"/>
                  </a:lnTo>
                  <a:lnTo>
                    <a:pt x="644753" y="165100"/>
                  </a:lnTo>
                  <a:close/>
                </a:path>
                <a:path w="690879" h="1282700">
                  <a:moveTo>
                    <a:pt x="572931" y="139700"/>
                  </a:moveTo>
                  <a:lnTo>
                    <a:pt x="552932" y="139700"/>
                  </a:lnTo>
                  <a:lnTo>
                    <a:pt x="557230" y="152400"/>
                  </a:lnTo>
                  <a:lnTo>
                    <a:pt x="564105" y="165100"/>
                  </a:lnTo>
                  <a:lnTo>
                    <a:pt x="593255" y="165100"/>
                  </a:lnTo>
                  <a:lnTo>
                    <a:pt x="584856" y="152400"/>
                  </a:lnTo>
                  <a:lnTo>
                    <a:pt x="578081" y="152400"/>
                  </a:lnTo>
                  <a:lnTo>
                    <a:pt x="572931" y="139700"/>
                  </a:lnTo>
                  <a:close/>
                </a:path>
                <a:path w="690879" h="1282700">
                  <a:moveTo>
                    <a:pt x="656335" y="152400"/>
                  </a:moveTo>
                  <a:lnTo>
                    <a:pt x="639241" y="152400"/>
                  </a:lnTo>
                  <a:lnTo>
                    <a:pt x="633094" y="165100"/>
                  </a:lnTo>
                  <a:lnTo>
                    <a:pt x="651130" y="165100"/>
                  </a:lnTo>
                  <a:lnTo>
                    <a:pt x="656335" y="152400"/>
                  </a:lnTo>
                  <a:close/>
                </a:path>
                <a:path w="690879" h="1282700">
                  <a:moveTo>
                    <a:pt x="660407" y="139700"/>
                  </a:moveTo>
                  <a:lnTo>
                    <a:pt x="645056" y="139700"/>
                  </a:lnTo>
                  <a:lnTo>
                    <a:pt x="642975" y="152400"/>
                  </a:lnTo>
                  <a:lnTo>
                    <a:pt x="658792" y="152400"/>
                  </a:lnTo>
                  <a:lnTo>
                    <a:pt x="660407" y="139700"/>
                  </a:lnTo>
                  <a:close/>
                </a:path>
                <a:path w="690879" h="1282700">
                  <a:moveTo>
                    <a:pt x="573252" y="101600"/>
                  </a:moveTo>
                  <a:lnTo>
                    <a:pt x="556120" y="101600"/>
                  </a:lnTo>
                  <a:lnTo>
                    <a:pt x="552862" y="114300"/>
                  </a:lnTo>
                  <a:lnTo>
                    <a:pt x="551245" y="127000"/>
                  </a:lnTo>
                  <a:lnTo>
                    <a:pt x="551267" y="139700"/>
                  </a:lnTo>
                  <a:lnTo>
                    <a:pt x="569404" y="139700"/>
                  </a:lnTo>
                  <a:lnTo>
                    <a:pt x="567380" y="127000"/>
                  </a:lnTo>
                  <a:lnTo>
                    <a:pt x="566735" y="127000"/>
                  </a:lnTo>
                  <a:lnTo>
                    <a:pt x="567470" y="114300"/>
                  </a:lnTo>
                  <a:lnTo>
                    <a:pt x="569582" y="114300"/>
                  </a:lnTo>
                  <a:lnTo>
                    <a:pt x="573252" y="101600"/>
                  </a:lnTo>
                  <a:close/>
                </a:path>
                <a:path w="690879" h="1282700">
                  <a:moveTo>
                    <a:pt x="661098" y="127000"/>
                  </a:moveTo>
                  <a:lnTo>
                    <a:pt x="645075" y="127000"/>
                  </a:lnTo>
                  <a:lnTo>
                    <a:pt x="645756" y="139700"/>
                  </a:lnTo>
                  <a:lnTo>
                    <a:pt x="661177" y="139700"/>
                  </a:lnTo>
                  <a:lnTo>
                    <a:pt x="661098" y="127000"/>
                  </a:lnTo>
                  <a:close/>
                </a:path>
                <a:path w="690879" h="1282700">
                  <a:moveTo>
                    <a:pt x="658337" y="114300"/>
                  </a:moveTo>
                  <a:lnTo>
                    <a:pt x="639418" y="114300"/>
                  </a:lnTo>
                  <a:lnTo>
                    <a:pt x="643013" y="127000"/>
                  </a:lnTo>
                  <a:lnTo>
                    <a:pt x="660160" y="127000"/>
                  </a:lnTo>
                  <a:lnTo>
                    <a:pt x="658337" y="114300"/>
                  </a:lnTo>
                  <a:close/>
                </a:path>
                <a:path w="690879" h="1282700">
                  <a:moveTo>
                    <a:pt x="652043" y="101600"/>
                  </a:moveTo>
                  <a:lnTo>
                    <a:pt x="627226" y="101600"/>
                  </a:lnTo>
                  <a:lnTo>
                    <a:pt x="634155" y="114300"/>
                  </a:lnTo>
                  <a:lnTo>
                    <a:pt x="655631" y="114300"/>
                  </a:lnTo>
                  <a:lnTo>
                    <a:pt x="652043" y="101600"/>
                  </a:lnTo>
                  <a:close/>
                </a:path>
                <a:path w="690879" h="1282700">
                  <a:moveTo>
                    <a:pt x="641373" y="88900"/>
                  </a:moveTo>
                  <a:lnTo>
                    <a:pt x="567615" y="88900"/>
                  </a:lnTo>
                  <a:lnTo>
                    <a:pt x="561265" y="101600"/>
                  </a:lnTo>
                  <a:lnTo>
                    <a:pt x="647361" y="101600"/>
                  </a:lnTo>
                  <a:lnTo>
                    <a:pt x="641373" y="88900"/>
                  </a:lnTo>
                  <a:close/>
                </a:path>
                <a:path w="690879" h="1282700">
                  <a:moveTo>
                    <a:pt x="614313" y="76200"/>
                  </a:moveTo>
                  <a:lnTo>
                    <a:pt x="583920" y="76200"/>
                  </a:lnTo>
                  <a:lnTo>
                    <a:pt x="575167" y="88900"/>
                  </a:lnTo>
                  <a:lnTo>
                    <a:pt x="625474" y="88900"/>
                  </a:lnTo>
                  <a:lnTo>
                    <a:pt x="614313" y="76200"/>
                  </a:lnTo>
                  <a:close/>
                </a:path>
                <a:path w="690879" h="1282700">
                  <a:moveTo>
                    <a:pt x="594118" y="25400"/>
                  </a:moveTo>
                  <a:lnTo>
                    <a:pt x="587400" y="50800"/>
                  </a:lnTo>
                  <a:lnTo>
                    <a:pt x="683285" y="88900"/>
                  </a:lnTo>
                  <a:lnTo>
                    <a:pt x="690740" y="76200"/>
                  </a:lnTo>
                  <a:lnTo>
                    <a:pt x="633691" y="50800"/>
                  </a:lnTo>
                  <a:lnTo>
                    <a:pt x="627786" y="38100"/>
                  </a:lnTo>
                  <a:lnTo>
                    <a:pt x="608660" y="38100"/>
                  </a:lnTo>
                  <a:lnTo>
                    <a:pt x="594118" y="25400"/>
                  </a:lnTo>
                  <a:close/>
                </a:path>
                <a:path w="690879" h="1282700">
                  <a:moveTo>
                    <a:pt x="615886" y="25400"/>
                  </a:moveTo>
                  <a:lnTo>
                    <a:pt x="603567" y="25400"/>
                  </a:lnTo>
                  <a:lnTo>
                    <a:pt x="608660" y="38100"/>
                  </a:lnTo>
                  <a:lnTo>
                    <a:pt x="617550" y="38100"/>
                  </a:lnTo>
                  <a:lnTo>
                    <a:pt x="615886" y="25400"/>
                  </a:lnTo>
                  <a:close/>
                </a:path>
                <a:path w="690879" h="1282700">
                  <a:moveTo>
                    <a:pt x="619734" y="12700"/>
                  </a:moveTo>
                  <a:lnTo>
                    <a:pt x="599236" y="12700"/>
                  </a:lnTo>
                  <a:lnTo>
                    <a:pt x="600671" y="25400"/>
                  </a:lnTo>
                  <a:lnTo>
                    <a:pt x="616280" y="25400"/>
                  </a:lnTo>
                  <a:lnTo>
                    <a:pt x="619734" y="12700"/>
                  </a:lnTo>
                  <a:close/>
                </a:path>
                <a:path w="690879" h="1282700">
                  <a:moveTo>
                    <a:pt x="614400" y="0"/>
                  </a:moveTo>
                  <a:lnTo>
                    <a:pt x="603999" y="0"/>
                  </a:lnTo>
                  <a:lnTo>
                    <a:pt x="599744" y="12700"/>
                  </a:lnTo>
                  <a:lnTo>
                    <a:pt x="626897" y="12700"/>
                  </a:lnTo>
                  <a:lnTo>
                    <a:pt x="614400" y="0"/>
                  </a:lnTo>
                  <a:close/>
                </a:path>
              </a:pathLst>
            </a:custGeom>
            <a:solidFill>
              <a:srgbClr val="000000"/>
            </a:solidFill>
          </p:spPr>
          <p:txBody>
            <a:bodyPr wrap="square" lIns="0" tIns="0" rIns="0" bIns="0" rtlCol="0"/>
            <a:lstStyle/>
            <a:p>
              <a:endParaRPr/>
            </a:p>
          </p:txBody>
        </p:sp>
        <p:sp>
          <p:nvSpPr>
            <p:cNvPr id="15" name="object 13">
              <a:extLst>
                <a:ext uri="{FF2B5EF4-FFF2-40B4-BE49-F238E27FC236}">
                  <a16:creationId xmlns:a16="http://schemas.microsoft.com/office/drawing/2014/main" id="{C3F1AD38-5842-48E6-ABCA-D6BBB7EC6378}"/>
                </a:ext>
              </a:extLst>
            </p:cNvPr>
            <p:cNvSpPr/>
            <p:nvPr/>
          </p:nvSpPr>
          <p:spPr>
            <a:xfrm>
              <a:off x="4267200" y="4419600"/>
              <a:ext cx="0" cy="469900"/>
            </a:xfrm>
            <a:custGeom>
              <a:avLst/>
              <a:gdLst/>
              <a:ahLst/>
              <a:cxnLst/>
              <a:rect l="l" t="t" r="r" b="b"/>
              <a:pathLst>
                <a:path h="469900">
                  <a:moveTo>
                    <a:pt x="0" y="0"/>
                  </a:moveTo>
                  <a:lnTo>
                    <a:pt x="0" y="469900"/>
                  </a:lnTo>
                </a:path>
              </a:pathLst>
            </a:custGeom>
            <a:ln w="12700">
              <a:solidFill>
                <a:srgbClr val="000000"/>
              </a:solidFill>
            </a:ln>
          </p:spPr>
          <p:txBody>
            <a:bodyPr wrap="square" lIns="0" tIns="0" rIns="0" bIns="0" rtlCol="0"/>
            <a:lstStyle/>
            <a:p>
              <a:endParaRPr/>
            </a:p>
          </p:txBody>
        </p:sp>
        <p:sp>
          <p:nvSpPr>
            <p:cNvPr id="16" name="object 14">
              <a:extLst>
                <a:ext uri="{FF2B5EF4-FFF2-40B4-BE49-F238E27FC236}">
                  <a16:creationId xmlns:a16="http://schemas.microsoft.com/office/drawing/2014/main" id="{A574FDD4-381A-49CC-9701-5269C7555AD9}"/>
                </a:ext>
              </a:extLst>
            </p:cNvPr>
            <p:cNvSpPr/>
            <p:nvPr/>
          </p:nvSpPr>
          <p:spPr>
            <a:xfrm>
              <a:off x="4229100" y="4876800"/>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7" name="object 15">
              <a:extLst>
                <a:ext uri="{FF2B5EF4-FFF2-40B4-BE49-F238E27FC236}">
                  <a16:creationId xmlns:a16="http://schemas.microsoft.com/office/drawing/2014/main" id="{9D250C50-C5F5-450E-9339-F7640CE4E677}"/>
                </a:ext>
              </a:extLst>
            </p:cNvPr>
            <p:cNvSpPr/>
            <p:nvPr/>
          </p:nvSpPr>
          <p:spPr>
            <a:xfrm>
              <a:off x="4876800" y="4483100"/>
              <a:ext cx="0" cy="469900"/>
            </a:xfrm>
            <a:custGeom>
              <a:avLst/>
              <a:gdLst/>
              <a:ahLst/>
              <a:cxnLst/>
              <a:rect l="l" t="t" r="r" b="b"/>
              <a:pathLst>
                <a:path h="469900">
                  <a:moveTo>
                    <a:pt x="0" y="469900"/>
                  </a:moveTo>
                  <a:lnTo>
                    <a:pt x="0" y="0"/>
                  </a:lnTo>
                </a:path>
              </a:pathLst>
            </a:custGeom>
            <a:ln w="12700">
              <a:solidFill>
                <a:srgbClr val="000000"/>
              </a:solidFill>
            </a:ln>
          </p:spPr>
          <p:txBody>
            <a:bodyPr wrap="square" lIns="0" tIns="0" rIns="0" bIns="0" rtlCol="0"/>
            <a:lstStyle/>
            <a:p>
              <a:endParaRPr/>
            </a:p>
          </p:txBody>
        </p:sp>
        <p:sp>
          <p:nvSpPr>
            <p:cNvPr id="18" name="object 16">
              <a:extLst>
                <a:ext uri="{FF2B5EF4-FFF2-40B4-BE49-F238E27FC236}">
                  <a16:creationId xmlns:a16="http://schemas.microsoft.com/office/drawing/2014/main" id="{A408F464-CB7D-4651-AB9B-B8486E3F9F96}"/>
                </a:ext>
              </a:extLst>
            </p:cNvPr>
            <p:cNvSpPr/>
            <p:nvPr/>
          </p:nvSpPr>
          <p:spPr>
            <a:xfrm>
              <a:off x="4838706" y="4419603"/>
              <a:ext cx="76200" cy="76200"/>
            </a:xfrm>
            <a:custGeom>
              <a:avLst/>
              <a:gdLst/>
              <a:ahLst/>
              <a:cxnLst/>
              <a:rect l="l" t="t" r="r" b="b"/>
              <a:pathLst>
                <a:path w="76200" h="76200">
                  <a:moveTo>
                    <a:pt x="38087" y="0"/>
                  </a:moveTo>
                  <a:lnTo>
                    <a:pt x="0" y="76199"/>
                  </a:lnTo>
                  <a:lnTo>
                    <a:pt x="76200" y="76187"/>
                  </a:lnTo>
                  <a:lnTo>
                    <a:pt x="38087" y="0"/>
                  </a:lnTo>
                  <a:close/>
                </a:path>
              </a:pathLst>
            </a:custGeom>
            <a:solidFill>
              <a:srgbClr val="000000"/>
            </a:solidFill>
          </p:spPr>
          <p:txBody>
            <a:bodyPr wrap="square" lIns="0" tIns="0" rIns="0" bIns="0" rtlCol="0"/>
            <a:lstStyle/>
            <a:p>
              <a:endParaRPr/>
            </a:p>
          </p:txBody>
        </p:sp>
        <p:sp>
          <p:nvSpPr>
            <p:cNvPr id="19" name="object 17">
              <a:extLst>
                <a:ext uri="{FF2B5EF4-FFF2-40B4-BE49-F238E27FC236}">
                  <a16:creationId xmlns:a16="http://schemas.microsoft.com/office/drawing/2014/main" id="{38C1ECEE-8AD0-45D9-B477-1397542DDC51}"/>
                </a:ext>
              </a:extLst>
            </p:cNvPr>
            <p:cNvSpPr/>
            <p:nvPr/>
          </p:nvSpPr>
          <p:spPr>
            <a:xfrm>
              <a:off x="3352800" y="3581400"/>
              <a:ext cx="622300" cy="0"/>
            </a:xfrm>
            <a:custGeom>
              <a:avLst/>
              <a:gdLst/>
              <a:ahLst/>
              <a:cxnLst/>
              <a:rect l="l" t="t" r="r" b="b"/>
              <a:pathLst>
                <a:path w="622300">
                  <a:moveTo>
                    <a:pt x="0" y="0"/>
                  </a:moveTo>
                  <a:lnTo>
                    <a:pt x="622300" y="0"/>
                  </a:lnTo>
                </a:path>
              </a:pathLst>
            </a:custGeom>
            <a:ln w="12700">
              <a:solidFill>
                <a:srgbClr val="000000"/>
              </a:solidFill>
            </a:ln>
          </p:spPr>
          <p:txBody>
            <a:bodyPr wrap="square" lIns="0" tIns="0" rIns="0" bIns="0" rtlCol="0"/>
            <a:lstStyle/>
            <a:p>
              <a:endParaRPr/>
            </a:p>
          </p:txBody>
        </p:sp>
        <p:sp>
          <p:nvSpPr>
            <p:cNvPr id="20" name="object 18">
              <a:extLst>
                <a:ext uri="{FF2B5EF4-FFF2-40B4-BE49-F238E27FC236}">
                  <a16:creationId xmlns:a16="http://schemas.microsoft.com/office/drawing/2014/main" id="{E0205BC5-F528-4C9A-AD5D-53AABB86C445}"/>
                </a:ext>
              </a:extLst>
            </p:cNvPr>
            <p:cNvSpPr/>
            <p:nvPr/>
          </p:nvSpPr>
          <p:spPr>
            <a:xfrm>
              <a:off x="3962402" y="3543296"/>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21" name="object 19">
              <a:extLst>
                <a:ext uri="{FF2B5EF4-FFF2-40B4-BE49-F238E27FC236}">
                  <a16:creationId xmlns:a16="http://schemas.microsoft.com/office/drawing/2014/main" id="{8C207521-878D-4695-AAD5-1596F850E5A1}"/>
                </a:ext>
              </a:extLst>
            </p:cNvPr>
            <p:cNvSpPr/>
            <p:nvPr/>
          </p:nvSpPr>
          <p:spPr>
            <a:xfrm>
              <a:off x="5105400" y="3581400"/>
              <a:ext cx="622300" cy="0"/>
            </a:xfrm>
            <a:custGeom>
              <a:avLst/>
              <a:gdLst/>
              <a:ahLst/>
              <a:cxnLst/>
              <a:rect l="l" t="t" r="r" b="b"/>
              <a:pathLst>
                <a:path w="622300">
                  <a:moveTo>
                    <a:pt x="0" y="0"/>
                  </a:moveTo>
                  <a:lnTo>
                    <a:pt x="622300" y="0"/>
                  </a:lnTo>
                </a:path>
              </a:pathLst>
            </a:custGeom>
            <a:ln w="12700">
              <a:solidFill>
                <a:srgbClr val="000000"/>
              </a:solidFill>
            </a:ln>
          </p:spPr>
          <p:txBody>
            <a:bodyPr wrap="square" lIns="0" tIns="0" rIns="0" bIns="0" rtlCol="0"/>
            <a:lstStyle/>
            <a:p>
              <a:endParaRPr/>
            </a:p>
          </p:txBody>
        </p:sp>
        <p:sp>
          <p:nvSpPr>
            <p:cNvPr id="22" name="object 20">
              <a:extLst>
                <a:ext uri="{FF2B5EF4-FFF2-40B4-BE49-F238E27FC236}">
                  <a16:creationId xmlns:a16="http://schemas.microsoft.com/office/drawing/2014/main" id="{F44D7D1E-2E18-4F08-A001-ACC2283E7873}"/>
                </a:ext>
              </a:extLst>
            </p:cNvPr>
            <p:cNvSpPr/>
            <p:nvPr/>
          </p:nvSpPr>
          <p:spPr>
            <a:xfrm>
              <a:off x="5715002" y="3543296"/>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grpSp>
      <p:sp>
        <p:nvSpPr>
          <p:cNvPr id="23" name="Date Placeholder 22">
            <a:extLst>
              <a:ext uri="{FF2B5EF4-FFF2-40B4-BE49-F238E27FC236}">
                <a16:creationId xmlns:a16="http://schemas.microsoft.com/office/drawing/2014/main" id="{168E358F-5167-4E95-8563-5AA8B78856AD}"/>
              </a:ext>
            </a:extLst>
          </p:cNvPr>
          <p:cNvSpPr>
            <a:spLocks noGrp="1"/>
          </p:cNvSpPr>
          <p:nvPr>
            <p:ph type="dt" sz="half" idx="10"/>
          </p:nvPr>
        </p:nvSpPr>
        <p:spPr/>
        <p:txBody>
          <a:bodyPr/>
          <a:lstStyle/>
          <a:p>
            <a:fld id="{E99E7E69-6661-40DC-A950-B120B652AF5B}" type="datetime1">
              <a:rPr lang="en-US" smtClean="0"/>
              <a:t>7/31/2023</a:t>
            </a:fld>
            <a:endParaRPr lang="en-US"/>
          </a:p>
        </p:txBody>
      </p:sp>
      <p:sp>
        <p:nvSpPr>
          <p:cNvPr id="24" name="Slide Number Placeholder 23">
            <a:extLst>
              <a:ext uri="{FF2B5EF4-FFF2-40B4-BE49-F238E27FC236}">
                <a16:creationId xmlns:a16="http://schemas.microsoft.com/office/drawing/2014/main" id="{459B32A8-612F-45A6-8209-726B2297C0D6}"/>
              </a:ext>
            </a:extLst>
          </p:cNvPr>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3088094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spc="-5" dirty="0">
                <a:solidFill>
                  <a:srgbClr val="FF0000"/>
                </a:solidFill>
              </a:rPr>
              <a:t>Inside</a:t>
            </a:r>
            <a:r>
              <a:rPr lang="en-US" sz="3200" b="1" spc="-30" dirty="0">
                <a:solidFill>
                  <a:srgbClr val="FF0000"/>
                </a:solidFill>
              </a:rPr>
              <a:t> </a:t>
            </a:r>
            <a:r>
              <a:rPr lang="en-US" sz="3200" b="1" spc="-5" dirty="0">
                <a:solidFill>
                  <a:srgbClr val="FF0000"/>
                </a:solidFill>
              </a:rPr>
              <a:t>The</a:t>
            </a:r>
            <a:r>
              <a:rPr lang="en-US" sz="3200" b="1" spc="-15" dirty="0">
                <a:solidFill>
                  <a:srgbClr val="FF0000"/>
                </a:solidFill>
              </a:rPr>
              <a:t> </a:t>
            </a:r>
            <a:r>
              <a:rPr lang="en-US" sz="3200" b="1" spc="-5" dirty="0">
                <a:solidFill>
                  <a:srgbClr val="FF0000"/>
                </a:solidFill>
              </a:rPr>
              <a:t>Microprocessor</a:t>
            </a: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354965" marR="5080">
              <a:spcBef>
                <a:spcPts val="95"/>
              </a:spcBef>
              <a:tabLst>
                <a:tab pos="354965" algn="l"/>
                <a:tab pos="355600" algn="l"/>
              </a:tabLst>
            </a:pPr>
            <a:r>
              <a:rPr lang="en-US" spc="-5" dirty="0">
                <a:latin typeface="+mj-lt"/>
                <a:cs typeface="Times New Roman"/>
              </a:rPr>
              <a:t>Internally, the</a:t>
            </a:r>
            <a:r>
              <a:rPr lang="en-US" spc="5" dirty="0">
                <a:latin typeface="+mj-lt"/>
                <a:cs typeface="Times New Roman"/>
              </a:rPr>
              <a:t> </a:t>
            </a:r>
            <a:r>
              <a:rPr lang="en-US" spc="-5" dirty="0">
                <a:latin typeface="+mj-lt"/>
                <a:cs typeface="Times New Roman"/>
              </a:rPr>
              <a:t>microprocessor</a:t>
            </a:r>
            <a:r>
              <a:rPr lang="en-US" spc="15" dirty="0">
                <a:latin typeface="+mj-lt"/>
                <a:cs typeface="Times New Roman"/>
              </a:rPr>
              <a:t> </a:t>
            </a:r>
            <a:r>
              <a:rPr lang="en-US" spc="-5" dirty="0">
                <a:latin typeface="+mj-lt"/>
                <a:cs typeface="Times New Roman"/>
              </a:rPr>
              <a:t>is</a:t>
            </a:r>
            <a:r>
              <a:rPr lang="en-US" spc="10" dirty="0">
                <a:latin typeface="+mj-lt"/>
                <a:cs typeface="Times New Roman"/>
              </a:rPr>
              <a:t> </a:t>
            </a:r>
            <a:r>
              <a:rPr lang="en-US" spc="-5" dirty="0">
                <a:latin typeface="+mj-lt"/>
                <a:cs typeface="Times New Roman"/>
              </a:rPr>
              <a:t>made</a:t>
            </a:r>
            <a:r>
              <a:rPr lang="en-US" spc="5" dirty="0">
                <a:latin typeface="+mj-lt"/>
                <a:cs typeface="Times New Roman"/>
              </a:rPr>
              <a:t> </a:t>
            </a:r>
            <a:r>
              <a:rPr lang="en-US" spc="-5" dirty="0">
                <a:latin typeface="+mj-lt"/>
                <a:cs typeface="Times New Roman"/>
              </a:rPr>
              <a:t>up</a:t>
            </a:r>
            <a:r>
              <a:rPr lang="en-US" spc="5" dirty="0">
                <a:latin typeface="+mj-lt"/>
                <a:cs typeface="Times New Roman"/>
              </a:rPr>
              <a:t> </a:t>
            </a:r>
            <a:r>
              <a:rPr lang="en-US" spc="-5" dirty="0">
                <a:latin typeface="+mj-lt"/>
                <a:cs typeface="Times New Roman"/>
              </a:rPr>
              <a:t>of </a:t>
            </a:r>
            <a:r>
              <a:rPr lang="en-US" spc="-785" dirty="0">
                <a:latin typeface="+mj-lt"/>
                <a:cs typeface="Times New Roman"/>
              </a:rPr>
              <a:t> </a:t>
            </a:r>
            <a:r>
              <a:rPr lang="en-US" spc="-5" dirty="0">
                <a:latin typeface="+mj-lt"/>
                <a:cs typeface="Times New Roman"/>
              </a:rPr>
              <a:t>3</a:t>
            </a:r>
            <a:r>
              <a:rPr lang="en-US" spc="-10" dirty="0">
                <a:latin typeface="+mj-lt"/>
                <a:cs typeface="Times New Roman"/>
              </a:rPr>
              <a:t> </a:t>
            </a:r>
            <a:r>
              <a:rPr lang="en-US" spc="-5" dirty="0">
                <a:latin typeface="+mj-lt"/>
                <a:cs typeface="Times New Roman"/>
              </a:rPr>
              <a:t>main</a:t>
            </a:r>
            <a:r>
              <a:rPr lang="en-US" dirty="0">
                <a:latin typeface="+mj-lt"/>
                <a:cs typeface="Times New Roman"/>
              </a:rPr>
              <a:t> </a:t>
            </a:r>
            <a:r>
              <a:rPr lang="en-US" spc="-5" dirty="0">
                <a:latin typeface="+mj-lt"/>
                <a:cs typeface="Times New Roman"/>
              </a:rPr>
              <a:t>units.</a:t>
            </a:r>
            <a:endParaRPr lang="en-US" dirty="0">
              <a:latin typeface="+mj-lt"/>
              <a:cs typeface="Times New Roman"/>
            </a:endParaRPr>
          </a:p>
          <a:p>
            <a:pPr marL="755650" lvl="1">
              <a:spcBef>
                <a:spcPts val="690"/>
              </a:spcBef>
              <a:tabLst>
                <a:tab pos="755650" algn="l"/>
              </a:tabLst>
            </a:pPr>
            <a:r>
              <a:rPr lang="en-US" spc="-5" dirty="0">
                <a:latin typeface="+mj-lt"/>
                <a:cs typeface="Times New Roman"/>
              </a:rPr>
              <a:t>The</a:t>
            </a:r>
            <a:r>
              <a:rPr lang="en-US" spc="-20" dirty="0">
                <a:latin typeface="+mj-lt"/>
                <a:cs typeface="Times New Roman"/>
              </a:rPr>
              <a:t> </a:t>
            </a:r>
            <a:r>
              <a:rPr lang="en-US" spc="-5" dirty="0">
                <a:latin typeface="+mj-lt"/>
                <a:cs typeface="Times New Roman"/>
              </a:rPr>
              <a:t>Arithmetic/Logic</a:t>
            </a:r>
            <a:r>
              <a:rPr lang="en-US" spc="-40" dirty="0">
                <a:latin typeface="+mj-lt"/>
                <a:cs typeface="Times New Roman"/>
              </a:rPr>
              <a:t> </a:t>
            </a:r>
            <a:r>
              <a:rPr lang="en-US" dirty="0">
                <a:latin typeface="+mj-lt"/>
                <a:cs typeface="Times New Roman"/>
              </a:rPr>
              <a:t>Unit</a:t>
            </a:r>
            <a:r>
              <a:rPr lang="en-US" spc="-20" dirty="0">
                <a:latin typeface="+mj-lt"/>
                <a:cs typeface="Times New Roman"/>
              </a:rPr>
              <a:t> </a:t>
            </a:r>
            <a:r>
              <a:rPr lang="en-US" spc="-5" dirty="0">
                <a:latin typeface="+mj-lt"/>
                <a:cs typeface="Times New Roman"/>
              </a:rPr>
              <a:t>(ALU)</a:t>
            </a:r>
            <a:endParaRPr lang="en-US" dirty="0">
              <a:latin typeface="+mj-lt"/>
              <a:cs typeface="Times New Roman"/>
            </a:endParaRPr>
          </a:p>
          <a:p>
            <a:pPr marL="755650" lvl="1">
              <a:spcBef>
                <a:spcPts val="670"/>
              </a:spcBef>
              <a:tabLst>
                <a:tab pos="755650" algn="l"/>
              </a:tabLst>
            </a:pPr>
            <a:r>
              <a:rPr lang="en-US" spc="-5" dirty="0">
                <a:latin typeface="+mj-lt"/>
                <a:cs typeface="Times New Roman"/>
              </a:rPr>
              <a:t>The</a:t>
            </a:r>
            <a:r>
              <a:rPr lang="en-US" spc="-40" dirty="0">
                <a:latin typeface="+mj-lt"/>
                <a:cs typeface="Times New Roman"/>
              </a:rPr>
              <a:t> </a:t>
            </a:r>
            <a:r>
              <a:rPr lang="en-US" dirty="0">
                <a:latin typeface="+mj-lt"/>
                <a:cs typeface="Times New Roman"/>
              </a:rPr>
              <a:t>Control</a:t>
            </a:r>
            <a:r>
              <a:rPr lang="en-US" spc="-55" dirty="0">
                <a:latin typeface="+mj-lt"/>
                <a:cs typeface="Times New Roman"/>
              </a:rPr>
              <a:t> </a:t>
            </a:r>
            <a:r>
              <a:rPr lang="en-US" dirty="0">
                <a:latin typeface="+mj-lt"/>
                <a:cs typeface="Times New Roman"/>
              </a:rPr>
              <a:t>Unit.</a:t>
            </a:r>
          </a:p>
          <a:p>
            <a:pPr marL="755650" marR="20320" lvl="1">
              <a:spcBef>
                <a:spcPts val="675"/>
              </a:spcBef>
              <a:tabLst>
                <a:tab pos="755650" algn="l"/>
              </a:tabLst>
            </a:pPr>
            <a:r>
              <a:rPr lang="en-US" dirty="0">
                <a:latin typeface="+mj-lt"/>
                <a:cs typeface="Times New Roman"/>
              </a:rPr>
              <a:t>An</a:t>
            </a:r>
            <a:r>
              <a:rPr lang="en-US" spc="-10" dirty="0">
                <a:latin typeface="+mj-lt"/>
                <a:cs typeface="Times New Roman"/>
              </a:rPr>
              <a:t> </a:t>
            </a:r>
            <a:r>
              <a:rPr lang="en-US" spc="-5" dirty="0">
                <a:latin typeface="+mj-lt"/>
                <a:cs typeface="Times New Roman"/>
              </a:rPr>
              <a:t>array</a:t>
            </a:r>
            <a:r>
              <a:rPr lang="en-US" spc="-10" dirty="0">
                <a:latin typeface="+mj-lt"/>
                <a:cs typeface="Times New Roman"/>
              </a:rPr>
              <a:t> </a:t>
            </a:r>
            <a:r>
              <a:rPr lang="en-US" dirty="0">
                <a:latin typeface="+mj-lt"/>
                <a:cs typeface="Times New Roman"/>
              </a:rPr>
              <a:t>of</a:t>
            </a:r>
            <a:r>
              <a:rPr lang="en-US" spc="-5" dirty="0">
                <a:latin typeface="+mj-lt"/>
                <a:cs typeface="Times New Roman"/>
              </a:rPr>
              <a:t> registers</a:t>
            </a:r>
            <a:r>
              <a:rPr lang="en-US" spc="-20" dirty="0">
                <a:latin typeface="+mj-lt"/>
                <a:cs typeface="Times New Roman"/>
              </a:rPr>
              <a:t> </a:t>
            </a:r>
            <a:r>
              <a:rPr lang="en-US" dirty="0">
                <a:latin typeface="+mj-lt"/>
                <a:cs typeface="Times New Roman"/>
              </a:rPr>
              <a:t>for</a:t>
            </a:r>
            <a:r>
              <a:rPr lang="en-US" spc="-5" dirty="0">
                <a:latin typeface="+mj-lt"/>
                <a:cs typeface="Times New Roman"/>
              </a:rPr>
              <a:t> </a:t>
            </a:r>
            <a:r>
              <a:rPr lang="en-US" dirty="0">
                <a:latin typeface="+mj-lt"/>
                <a:cs typeface="Times New Roman"/>
              </a:rPr>
              <a:t>holding</a:t>
            </a:r>
            <a:r>
              <a:rPr lang="en-US" spc="-30" dirty="0">
                <a:latin typeface="+mj-lt"/>
                <a:cs typeface="Times New Roman"/>
              </a:rPr>
              <a:t> </a:t>
            </a:r>
            <a:r>
              <a:rPr lang="en-US" spc="-5" dirty="0">
                <a:latin typeface="+mj-lt"/>
                <a:cs typeface="Times New Roman"/>
              </a:rPr>
              <a:t>data</a:t>
            </a:r>
            <a:r>
              <a:rPr lang="en-US" spc="-25" dirty="0">
                <a:latin typeface="+mj-lt"/>
                <a:cs typeface="Times New Roman"/>
              </a:rPr>
              <a:t> </a:t>
            </a:r>
            <a:r>
              <a:rPr lang="en-US" dirty="0">
                <a:latin typeface="+mj-lt"/>
                <a:cs typeface="Times New Roman"/>
              </a:rPr>
              <a:t>while</a:t>
            </a:r>
            <a:r>
              <a:rPr lang="en-US" spc="-15" dirty="0">
                <a:latin typeface="+mj-lt"/>
                <a:cs typeface="Times New Roman"/>
              </a:rPr>
              <a:t> </a:t>
            </a:r>
            <a:r>
              <a:rPr lang="en-US" dirty="0">
                <a:latin typeface="+mj-lt"/>
                <a:cs typeface="Times New Roman"/>
              </a:rPr>
              <a:t>it</a:t>
            </a:r>
            <a:r>
              <a:rPr lang="en-US" spc="-15" dirty="0">
                <a:latin typeface="+mj-lt"/>
                <a:cs typeface="Times New Roman"/>
              </a:rPr>
              <a:t> </a:t>
            </a:r>
            <a:r>
              <a:rPr lang="en-US" dirty="0">
                <a:latin typeface="+mj-lt"/>
                <a:cs typeface="Times New Roman"/>
              </a:rPr>
              <a:t>is </a:t>
            </a:r>
            <a:r>
              <a:rPr lang="en-US" spc="-685" dirty="0">
                <a:latin typeface="+mj-lt"/>
                <a:cs typeface="Times New Roman"/>
              </a:rPr>
              <a:t> </a:t>
            </a:r>
            <a:r>
              <a:rPr lang="en-US" spc="-5" dirty="0">
                <a:latin typeface="+mj-lt"/>
                <a:cs typeface="Times New Roman"/>
              </a:rPr>
              <a:t>being</a:t>
            </a:r>
            <a:r>
              <a:rPr lang="en-US" spc="-30" dirty="0">
                <a:latin typeface="+mj-lt"/>
                <a:cs typeface="Times New Roman"/>
              </a:rPr>
              <a:t> </a:t>
            </a:r>
            <a:r>
              <a:rPr lang="en-US" spc="-5" dirty="0">
                <a:latin typeface="+mj-lt"/>
                <a:cs typeface="Times New Roman"/>
              </a:rPr>
              <a:t>manipulated.</a:t>
            </a:r>
            <a:endParaRPr lang="en-US" dirty="0">
              <a:latin typeface="+mj-lt"/>
              <a:cs typeface="Times New Roman"/>
            </a:endParaRPr>
          </a:p>
          <a:p>
            <a:pPr>
              <a:tabLst>
                <a:tab pos="463550" algn="l"/>
              </a:tabLst>
            </a:pPr>
            <a:endParaRPr lang="en-US" sz="2000" dirty="0">
              <a:latin typeface="+mj-lt"/>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CD246088-FB20-49EB-AF7B-4BAE7D79CAD4}"/>
              </a:ext>
            </a:extLst>
          </p:cNvPr>
          <p:cNvSpPr>
            <a:spLocks noGrp="1"/>
          </p:cNvSpPr>
          <p:nvPr>
            <p:ph type="dt" sz="half" idx="10"/>
          </p:nvPr>
        </p:nvSpPr>
        <p:spPr/>
        <p:txBody>
          <a:bodyPr/>
          <a:lstStyle/>
          <a:p>
            <a:fld id="{35E5FBAE-7C63-442D-B9CA-F3B27341F3EC}" type="datetime1">
              <a:rPr lang="en-US" smtClean="0"/>
              <a:t>7/31/2023</a:t>
            </a:fld>
            <a:endParaRPr lang="en-US"/>
          </a:p>
        </p:txBody>
      </p:sp>
      <p:sp>
        <p:nvSpPr>
          <p:cNvPr id="8" name="Slide Number Placeholder 7">
            <a:extLst>
              <a:ext uri="{FF2B5EF4-FFF2-40B4-BE49-F238E27FC236}">
                <a16:creationId xmlns:a16="http://schemas.microsoft.com/office/drawing/2014/main" id="{C68B3F84-4386-45AD-B694-BD3A2CE7E910}"/>
              </a:ext>
            </a:extLst>
          </p:cNvPr>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790855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2800" b="1" spc="-5" dirty="0">
                <a:solidFill>
                  <a:srgbClr val="FF0000"/>
                </a:solidFill>
                <a:cs typeface="Times New Roman"/>
              </a:rPr>
              <a:t>Organization </a:t>
            </a:r>
            <a:r>
              <a:rPr lang="en-US" sz="2800" b="1" dirty="0">
                <a:solidFill>
                  <a:srgbClr val="FF0000"/>
                </a:solidFill>
                <a:cs typeface="Times New Roman"/>
              </a:rPr>
              <a:t>of a </a:t>
            </a:r>
            <a:r>
              <a:rPr lang="en-US" sz="2800" b="1" spc="-5" dirty="0">
                <a:solidFill>
                  <a:srgbClr val="FF0000"/>
                </a:solidFill>
                <a:cs typeface="Times New Roman"/>
              </a:rPr>
              <a:t>microprocessor- </a:t>
            </a:r>
            <a:r>
              <a:rPr lang="en-US" sz="2800" b="1" spc="-885" dirty="0">
                <a:solidFill>
                  <a:srgbClr val="FF0000"/>
                </a:solidFill>
                <a:cs typeface="Times New Roman"/>
              </a:rPr>
              <a:t> </a:t>
            </a:r>
            <a:r>
              <a:rPr lang="en-US" sz="2800" b="1" spc="-5" dirty="0">
                <a:solidFill>
                  <a:srgbClr val="FF0000"/>
                </a:solidFill>
                <a:cs typeface="Times New Roman"/>
              </a:rPr>
              <a:t>based</a:t>
            </a:r>
            <a:r>
              <a:rPr lang="en-US" sz="2800" b="1" spc="-10" dirty="0">
                <a:solidFill>
                  <a:srgbClr val="FF0000"/>
                </a:solidFill>
                <a:cs typeface="Times New Roman"/>
              </a:rPr>
              <a:t> </a:t>
            </a:r>
            <a:r>
              <a:rPr lang="en-US" sz="2800" b="1" spc="-5" dirty="0">
                <a:solidFill>
                  <a:srgbClr val="FF0000"/>
                </a:solidFill>
                <a:cs typeface="Times New Roman"/>
              </a:rPr>
              <a:t>system</a:t>
            </a:r>
            <a:endParaRPr lang="en-US" sz="28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a:tabLst>
                <a:tab pos="463550" algn="l"/>
              </a:tabLst>
            </a:pPr>
            <a:r>
              <a:rPr lang="en-US" sz="2000" spc="-5" dirty="0">
                <a:latin typeface="+mj-lt"/>
                <a:cs typeface="Times New Roman"/>
              </a:rPr>
              <a:t>Let’s</a:t>
            </a:r>
            <a:r>
              <a:rPr lang="en-US" sz="2000" spc="-15" dirty="0">
                <a:latin typeface="+mj-lt"/>
                <a:cs typeface="Times New Roman"/>
              </a:rPr>
              <a:t> </a:t>
            </a:r>
            <a:r>
              <a:rPr lang="en-US" sz="2000" spc="-5" dirty="0">
                <a:latin typeface="+mj-lt"/>
                <a:cs typeface="Times New Roman"/>
              </a:rPr>
              <a:t>expand</a:t>
            </a:r>
            <a:r>
              <a:rPr lang="en-US" sz="2000" dirty="0">
                <a:latin typeface="+mj-lt"/>
                <a:cs typeface="Times New Roman"/>
              </a:rPr>
              <a:t> </a:t>
            </a:r>
            <a:r>
              <a:rPr lang="en-US" sz="2000" spc="-5" dirty="0">
                <a:latin typeface="+mj-lt"/>
                <a:cs typeface="Times New Roman"/>
              </a:rPr>
              <a:t>the</a:t>
            </a:r>
            <a:r>
              <a:rPr lang="en-US" sz="2000" spc="5" dirty="0">
                <a:latin typeface="+mj-lt"/>
                <a:cs typeface="Times New Roman"/>
              </a:rPr>
              <a:t> </a:t>
            </a:r>
            <a:r>
              <a:rPr lang="en-US" sz="2000" spc="-5" dirty="0">
                <a:latin typeface="+mj-lt"/>
                <a:cs typeface="Times New Roman"/>
              </a:rPr>
              <a:t>picture</a:t>
            </a:r>
            <a:r>
              <a:rPr lang="en-US" sz="2000" dirty="0">
                <a:latin typeface="+mj-lt"/>
                <a:cs typeface="Times New Roman"/>
              </a:rPr>
              <a:t> </a:t>
            </a:r>
            <a:r>
              <a:rPr lang="en-US" sz="2000" spc="-5" dirty="0">
                <a:latin typeface="+mj-lt"/>
                <a:cs typeface="Times New Roman"/>
              </a:rPr>
              <a:t>a</a:t>
            </a:r>
            <a:r>
              <a:rPr lang="en-US" sz="2000" spc="5" dirty="0">
                <a:latin typeface="+mj-lt"/>
                <a:cs typeface="Times New Roman"/>
              </a:rPr>
              <a:t> </a:t>
            </a:r>
            <a:r>
              <a:rPr lang="en-US" sz="2000" spc="-5" dirty="0">
                <a:latin typeface="+mj-lt"/>
                <a:cs typeface="Times New Roman"/>
              </a:rPr>
              <a:t>bit.</a:t>
            </a:r>
            <a:endParaRPr lang="en-US" sz="2000" dirty="0">
              <a:latin typeface="+mj-lt"/>
              <a:cs typeface="Times New Roman"/>
            </a:endParaRPr>
          </a:p>
          <a:p>
            <a:pPr>
              <a:tabLst>
                <a:tab pos="463550" algn="l"/>
              </a:tabLst>
            </a:pPr>
            <a:endParaRPr lang="en-US" sz="2000" dirty="0">
              <a:latin typeface="+mj-lt"/>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object 4">
            <a:extLst>
              <a:ext uri="{FF2B5EF4-FFF2-40B4-BE49-F238E27FC236}">
                <a16:creationId xmlns:a16="http://schemas.microsoft.com/office/drawing/2014/main" id="{55C6F817-41BD-472E-B558-DA77073FA8B4}"/>
              </a:ext>
            </a:extLst>
          </p:cNvPr>
          <p:cNvSpPr txBox="1"/>
          <p:nvPr/>
        </p:nvSpPr>
        <p:spPr>
          <a:xfrm>
            <a:off x="5096860" y="1362203"/>
            <a:ext cx="1371600" cy="609600"/>
          </a:xfrm>
          <a:prstGeom prst="rect">
            <a:avLst/>
          </a:prstGeom>
          <a:solidFill>
            <a:srgbClr val="FFFF99"/>
          </a:solidFill>
          <a:ln w="12700">
            <a:solidFill>
              <a:srgbClr val="000000"/>
            </a:solidFill>
          </a:ln>
        </p:spPr>
        <p:txBody>
          <a:bodyPr vert="horz" wrap="square" lIns="0" tIns="40640" rIns="0" bIns="0" rtlCol="0">
            <a:spAutoFit/>
          </a:bodyPr>
          <a:lstStyle/>
          <a:p>
            <a:pPr marL="147955" marR="140335" indent="417830">
              <a:lnSpc>
                <a:spcPct val="100000"/>
              </a:lnSpc>
              <a:spcBef>
                <a:spcPts val="320"/>
              </a:spcBef>
            </a:pPr>
            <a:r>
              <a:rPr sz="1400" spc="-5" dirty="0">
                <a:latin typeface="Arial MT"/>
                <a:cs typeface="Arial MT"/>
              </a:rPr>
              <a:t>I/O </a:t>
            </a:r>
            <a:r>
              <a:rPr sz="1400" dirty="0">
                <a:latin typeface="Arial MT"/>
                <a:cs typeface="Arial MT"/>
              </a:rPr>
              <a:t> </a:t>
            </a:r>
            <a:r>
              <a:rPr sz="1400" spc="-5" dirty="0">
                <a:latin typeface="Arial MT"/>
                <a:cs typeface="Arial MT"/>
              </a:rPr>
              <a:t>Input</a:t>
            </a:r>
            <a:r>
              <a:rPr sz="1400" spc="-60" dirty="0">
                <a:latin typeface="Arial MT"/>
                <a:cs typeface="Arial MT"/>
              </a:rPr>
              <a:t> </a:t>
            </a:r>
            <a:r>
              <a:rPr sz="1400" spc="-5" dirty="0">
                <a:latin typeface="Arial MT"/>
                <a:cs typeface="Arial MT"/>
              </a:rPr>
              <a:t>/</a:t>
            </a:r>
            <a:r>
              <a:rPr sz="1400" spc="-30" dirty="0">
                <a:latin typeface="Arial MT"/>
                <a:cs typeface="Arial MT"/>
              </a:rPr>
              <a:t> </a:t>
            </a:r>
            <a:r>
              <a:rPr sz="1400" spc="-5" dirty="0">
                <a:latin typeface="Arial MT"/>
                <a:cs typeface="Arial MT"/>
              </a:rPr>
              <a:t>Output</a:t>
            </a:r>
            <a:endParaRPr sz="1400">
              <a:latin typeface="Arial MT"/>
              <a:cs typeface="Arial MT"/>
            </a:endParaRPr>
          </a:p>
        </p:txBody>
      </p:sp>
      <p:grpSp>
        <p:nvGrpSpPr>
          <p:cNvPr id="8" name="object 5">
            <a:extLst>
              <a:ext uri="{FF2B5EF4-FFF2-40B4-BE49-F238E27FC236}">
                <a16:creationId xmlns:a16="http://schemas.microsoft.com/office/drawing/2014/main" id="{2A42106A-6FA9-4596-8525-89EF70DB6CDF}"/>
              </a:ext>
            </a:extLst>
          </p:cNvPr>
          <p:cNvGrpSpPr/>
          <p:nvPr/>
        </p:nvGrpSpPr>
        <p:grpSpPr>
          <a:xfrm>
            <a:off x="5547710" y="1965453"/>
            <a:ext cx="393700" cy="850900"/>
            <a:chOff x="5175250" y="2965450"/>
            <a:chExt cx="393700" cy="850900"/>
          </a:xfrm>
        </p:grpSpPr>
        <p:sp>
          <p:nvSpPr>
            <p:cNvPr id="9" name="object 6">
              <a:extLst>
                <a:ext uri="{FF2B5EF4-FFF2-40B4-BE49-F238E27FC236}">
                  <a16:creationId xmlns:a16="http://schemas.microsoft.com/office/drawing/2014/main" id="{8C5BDFD8-AE6A-4DE6-B210-18110AC4DE47}"/>
                </a:ext>
              </a:extLst>
            </p:cNvPr>
            <p:cNvSpPr/>
            <p:nvPr/>
          </p:nvSpPr>
          <p:spPr>
            <a:xfrm>
              <a:off x="5181600" y="2971800"/>
              <a:ext cx="381000" cy="838200"/>
            </a:xfrm>
            <a:custGeom>
              <a:avLst/>
              <a:gdLst/>
              <a:ahLst/>
              <a:cxnLst/>
              <a:rect l="l" t="t" r="r" b="b"/>
              <a:pathLst>
                <a:path w="381000" h="838200">
                  <a:moveTo>
                    <a:pt x="190500" y="0"/>
                  </a:moveTo>
                  <a:lnTo>
                    <a:pt x="0" y="167639"/>
                  </a:lnTo>
                  <a:lnTo>
                    <a:pt x="95250" y="167639"/>
                  </a:lnTo>
                  <a:lnTo>
                    <a:pt x="95250" y="670559"/>
                  </a:lnTo>
                  <a:lnTo>
                    <a:pt x="0" y="670559"/>
                  </a:lnTo>
                  <a:lnTo>
                    <a:pt x="190500" y="838199"/>
                  </a:lnTo>
                  <a:lnTo>
                    <a:pt x="381000" y="670559"/>
                  </a:lnTo>
                  <a:lnTo>
                    <a:pt x="285750" y="670559"/>
                  </a:lnTo>
                  <a:lnTo>
                    <a:pt x="285750" y="167639"/>
                  </a:lnTo>
                  <a:lnTo>
                    <a:pt x="381000" y="167639"/>
                  </a:lnTo>
                  <a:lnTo>
                    <a:pt x="190500" y="0"/>
                  </a:lnTo>
                  <a:close/>
                </a:path>
              </a:pathLst>
            </a:custGeom>
            <a:solidFill>
              <a:srgbClr val="FF9999"/>
            </a:solidFill>
          </p:spPr>
          <p:txBody>
            <a:bodyPr wrap="square" lIns="0" tIns="0" rIns="0" bIns="0" rtlCol="0"/>
            <a:lstStyle/>
            <a:p>
              <a:endParaRPr/>
            </a:p>
          </p:txBody>
        </p:sp>
        <p:sp>
          <p:nvSpPr>
            <p:cNvPr id="10" name="object 7">
              <a:extLst>
                <a:ext uri="{FF2B5EF4-FFF2-40B4-BE49-F238E27FC236}">
                  <a16:creationId xmlns:a16="http://schemas.microsoft.com/office/drawing/2014/main" id="{D869F9CB-F40F-4669-8836-8ACF082C934E}"/>
                </a:ext>
              </a:extLst>
            </p:cNvPr>
            <p:cNvSpPr/>
            <p:nvPr/>
          </p:nvSpPr>
          <p:spPr>
            <a:xfrm>
              <a:off x="5181600" y="2971800"/>
              <a:ext cx="381000" cy="838200"/>
            </a:xfrm>
            <a:custGeom>
              <a:avLst/>
              <a:gdLst/>
              <a:ahLst/>
              <a:cxnLst/>
              <a:rect l="l" t="t" r="r" b="b"/>
              <a:pathLst>
                <a:path w="381000" h="838200">
                  <a:moveTo>
                    <a:pt x="0" y="167639"/>
                  </a:moveTo>
                  <a:lnTo>
                    <a:pt x="190500" y="0"/>
                  </a:lnTo>
                  <a:lnTo>
                    <a:pt x="381000" y="167639"/>
                  </a:lnTo>
                  <a:lnTo>
                    <a:pt x="285750" y="167639"/>
                  </a:lnTo>
                  <a:lnTo>
                    <a:pt x="285750" y="670559"/>
                  </a:lnTo>
                  <a:lnTo>
                    <a:pt x="381000" y="670559"/>
                  </a:lnTo>
                  <a:lnTo>
                    <a:pt x="190500" y="838199"/>
                  </a:lnTo>
                  <a:lnTo>
                    <a:pt x="0" y="670559"/>
                  </a:lnTo>
                  <a:lnTo>
                    <a:pt x="95250" y="670559"/>
                  </a:lnTo>
                  <a:lnTo>
                    <a:pt x="95250" y="167639"/>
                  </a:lnTo>
                  <a:lnTo>
                    <a:pt x="0" y="167639"/>
                  </a:lnTo>
                  <a:close/>
                </a:path>
              </a:pathLst>
            </a:custGeom>
            <a:ln w="12700">
              <a:solidFill>
                <a:srgbClr val="000000"/>
              </a:solidFill>
            </a:ln>
          </p:spPr>
          <p:txBody>
            <a:bodyPr wrap="square" lIns="0" tIns="0" rIns="0" bIns="0" rtlCol="0"/>
            <a:lstStyle/>
            <a:p>
              <a:endParaRPr/>
            </a:p>
          </p:txBody>
        </p:sp>
      </p:grpSp>
      <p:sp>
        <p:nvSpPr>
          <p:cNvPr id="11" name="object 8">
            <a:extLst>
              <a:ext uri="{FF2B5EF4-FFF2-40B4-BE49-F238E27FC236}">
                <a16:creationId xmlns:a16="http://schemas.microsoft.com/office/drawing/2014/main" id="{32F5E7F1-FF12-4A07-98FD-816C6301FD98}"/>
              </a:ext>
            </a:extLst>
          </p:cNvPr>
          <p:cNvSpPr txBox="1"/>
          <p:nvPr/>
        </p:nvSpPr>
        <p:spPr>
          <a:xfrm>
            <a:off x="5020660" y="2810003"/>
            <a:ext cx="1524000" cy="685800"/>
          </a:xfrm>
          <a:prstGeom prst="rect">
            <a:avLst/>
          </a:prstGeom>
          <a:solidFill>
            <a:srgbClr val="FFFF99"/>
          </a:solidFill>
          <a:ln w="12700">
            <a:solidFill>
              <a:srgbClr val="000000"/>
            </a:solidFill>
          </a:ln>
        </p:spPr>
        <p:txBody>
          <a:bodyPr vert="horz" wrap="square" lIns="0" tIns="40640" rIns="0" bIns="0" rtlCol="0">
            <a:spAutoFit/>
          </a:bodyPr>
          <a:lstStyle/>
          <a:p>
            <a:pPr algn="ctr">
              <a:lnSpc>
                <a:spcPct val="100000"/>
              </a:lnSpc>
              <a:spcBef>
                <a:spcPts val="320"/>
              </a:spcBef>
            </a:pPr>
            <a:r>
              <a:rPr sz="1400" spc="-5" dirty="0">
                <a:latin typeface="Arial MT"/>
                <a:cs typeface="Arial MT"/>
              </a:rPr>
              <a:t>Memory</a:t>
            </a:r>
            <a:endParaRPr sz="1400">
              <a:latin typeface="Arial MT"/>
              <a:cs typeface="Arial MT"/>
            </a:endParaRPr>
          </a:p>
          <a:p>
            <a:pPr>
              <a:lnSpc>
                <a:spcPct val="100000"/>
              </a:lnSpc>
              <a:spcBef>
                <a:spcPts val="10"/>
              </a:spcBef>
            </a:pPr>
            <a:endParaRPr sz="1450">
              <a:latin typeface="Arial MT"/>
              <a:cs typeface="Arial MT"/>
            </a:endParaRPr>
          </a:p>
          <a:p>
            <a:pPr algn="ctr">
              <a:lnSpc>
                <a:spcPct val="100000"/>
              </a:lnSpc>
              <a:spcBef>
                <a:spcPts val="5"/>
              </a:spcBef>
              <a:tabLst>
                <a:tab pos="561340" algn="l"/>
              </a:tabLst>
            </a:pPr>
            <a:r>
              <a:rPr sz="1400" spc="-5" dirty="0">
                <a:latin typeface="Arial MT"/>
                <a:cs typeface="Arial MT"/>
              </a:rPr>
              <a:t>ROM	RAM</a:t>
            </a:r>
            <a:endParaRPr sz="1400">
              <a:latin typeface="Arial MT"/>
              <a:cs typeface="Arial MT"/>
            </a:endParaRPr>
          </a:p>
        </p:txBody>
      </p:sp>
      <p:grpSp>
        <p:nvGrpSpPr>
          <p:cNvPr id="12" name="object 9">
            <a:extLst>
              <a:ext uri="{FF2B5EF4-FFF2-40B4-BE49-F238E27FC236}">
                <a16:creationId xmlns:a16="http://schemas.microsoft.com/office/drawing/2014/main" id="{958272FD-C2BD-4A96-B362-76ACE4778F59}"/>
              </a:ext>
            </a:extLst>
          </p:cNvPr>
          <p:cNvGrpSpPr/>
          <p:nvPr/>
        </p:nvGrpSpPr>
        <p:grpSpPr>
          <a:xfrm>
            <a:off x="4328510" y="2194053"/>
            <a:ext cx="2679700" cy="393700"/>
            <a:chOff x="3956050" y="3194050"/>
            <a:chExt cx="2679700" cy="393700"/>
          </a:xfrm>
        </p:grpSpPr>
        <p:sp>
          <p:nvSpPr>
            <p:cNvPr id="13" name="object 10">
              <a:extLst>
                <a:ext uri="{FF2B5EF4-FFF2-40B4-BE49-F238E27FC236}">
                  <a16:creationId xmlns:a16="http://schemas.microsoft.com/office/drawing/2014/main" id="{04162DB8-6B9C-425F-95DC-B312EF18D47E}"/>
                </a:ext>
              </a:extLst>
            </p:cNvPr>
            <p:cNvSpPr/>
            <p:nvPr/>
          </p:nvSpPr>
          <p:spPr>
            <a:xfrm>
              <a:off x="3962400" y="3200400"/>
              <a:ext cx="2667000" cy="381000"/>
            </a:xfrm>
            <a:custGeom>
              <a:avLst/>
              <a:gdLst/>
              <a:ahLst/>
              <a:cxnLst/>
              <a:rect l="l" t="t" r="r" b="b"/>
              <a:pathLst>
                <a:path w="2667000" h="381000">
                  <a:moveTo>
                    <a:pt x="2133600" y="0"/>
                  </a:moveTo>
                  <a:lnTo>
                    <a:pt x="2133600" y="95250"/>
                  </a:lnTo>
                  <a:lnTo>
                    <a:pt x="533400" y="95250"/>
                  </a:lnTo>
                  <a:lnTo>
                    <a:pt x="533400" y="0"/>
                  </a:lnTo>
                  <a:lnTo>
                    <a:pt x="0" y="190500"/>
                  </a:lnTo>
                  <a:lnTo>
                    <a:pt x="533400" y="381000"/>
                  </a:lnTo>
                  <a:lnTo>
                    <a:pt x="533400" y="285750"/>
                  </a:lnTo>
                  <a:lnTo>
                    <a:pt x="2133600" y="285750"/>
                  </a:lnTo>
                  <a:lnTo>
                    <a:pt x="2133600" y="381000"/>
                  </a:lnTo>
                  <a:lnTo>
                    <a:pt x="2667000" y="190500"/>
                  </a:lnTo>
                  <a:lnTo>
                    <a:pt x="2133600" y="0"/>
                  </a:lnTo>
                  <a:close/>
                </a:path>
              </a:pathLst>
            </a:custGeom>
            <a:solidFill>
              <a:srgbClr val="FF9999"/>
            </a:solidFill>
          </p:spPr>
          <p:txBody>
            <a:bodyPr wrap="square" lIns="0" tIns="0" rIns="0" bIns="0" rtlCol="0"/>
            <a:lstStyle/>
            <a:p>
              <a:endParaRPr/>
            </a:p>
          </p:txBody>
        </p:sp>
        <p:sp>
          <p:nvSpPr>
            <p:cNvPr id="14" name="object 11">
              <a:extLst>
                <a:ext uri="{FF2B5EF4-FFF2-40B4-BE49-F238E27FC236}">
                  <a16:creationId xmlns:a16="http://schemas.microsoft.com/office/drawing/2014/main" id="{D40EA8F7-5310-4896-BA1F-31AAECCD2B2A}"/>
                </a:ext>
              </a:extLst>
            </p:cNvPr>
            <p:cNvSpPr/>
            <p:nvPr/>
          </p:nvSpPr>
          <p:spPr>
            <a:xfrm>
              <a:off x="3962400" y="3200400"/>
              <a:ext cx="2667000" cy="381000"/>
            </a:xfrm>
            <a:custGeom>
              <a:avLst/>
              <a:gdLst/>
              <a:ahLst/>
              <a:cxnLst/>
              <a:rect l="l" t="t" r="r" b="b"/>
              <a:pathLst>
                <a:path w="2667000" h="381000">
                  <a:moveTo>
                    <a:pt x="0" y="190500"/>
                  </a:moveTo>
                  <a:lnTo>
                    <a:pt x="533400" y="0"/>
                  </a:lnTo>
                  <a:lnTo>
                    <a:pt x="533400" y="95250"/>
                  </a:lnTo>
                  <a:lnTo>
                    <a:pt x="2133600" y="95250"/>
                  </a:lnTo>
                  <a:lnTo>
                    <a:pt x="2133600" y="0"/>
                  </a:lnTo>
                  <a:lnTo>
                    <a:pt x="2667000" y="190500"/>
                  </a:lnTo>
                  <a:lnTo>
                    <a:pt x="2133600" y="381000"/>
                  </a:lnTo>
                  <a:lnTo>
                    <a:pt x="2133600" y="285750"/>
                  </a:lnTo>
                  <a:lnTo>
                    <a:pt x="533400" y="285750"/>
                  </a:lnTo>
                  <a:lnTo>
                    <a:pt x="533400" y="381000"/>
                  </a:lnTo>
                  <a:lnTo>
                    <a:pt x="0" y="190500"/>
                  </a:lnTo>
                  <a:close/>
                </a:path>
              </a:pathLst>
            </a:custGeom>
            <a:ln w="12700">
              <a:solidFill>
                <a:srgbClr val="000000"/>
              </a:solidFill>
            </a:ln>
          </p:spPr>
          <p:txBody>
            <a:bodyPr wrap="square" lIns="0" tIns="0" rIns="0" bIns="0" rtlCol="0"/>
            <a:lstStyle/>
            <a:p>
              <a:endParaRPr/>
            </a:p>
          </p:txBody>
        </p:sp>
      </p:grpSp>
      <p:sp>
        <p:nvSpPr>
          <p:cNvPr id="15" name="object 12">
            <a:extLst>
              <a:ext uri="{FF2B5EF4-FFF2-40B4-BE49-F238E27FC236}">
                <a16:creationId xmlns:a16="http://schemas.microsoft.com/office/drawing/2014/main" id="{57EAA219-9622-442A-9B42-75E75870DCEC}"/>
              </a:ext>
            </a:extLst>
          </p:cNvPr>
          <p:cNvSpPr txBox="1"/>
          <p:nvPr/>
        </p:nvSpPr>
        <p:spPr>
          <a:xfrm>
            <a:off x="5181600" y="2266950"/>
            <a:ext cx="972819" cy="238760"/>
          </a:xfrm>
          <a:prstGeom prst="rect">
            <a:avLst/>
          </a:prstGeom>
        </p:spPr>
        <p:txBody>
          <a:bodyPr vert="horz" wrap="square" lIns="0" tIns="12065" rIns="0" bIns="0" rtlCol="0">
            <a:spAutoFit/>
          </a:bodyPr>
          <a:lstStyle/>
          <a:p>
            <a:pPr marL="12700">
              <a:lnSpc>
                <a:spcPct val="100000"/>
              </a:lnSpc>
              <a:spcBef>
                <a:spcPts val="95"/>
              </a:spcBef>
            </a:pPr>
            <a:r>
              <a:rPr sz="1400" spc="-5" dirty="0">
                <a:latin typeface="Arial MT"/>
                <a:cs typeface="Arial MT"/>
              </a:rPr>
              <a:t>System</a:t>
            </a:r>
            <a:r>
              <a:rPr sz="1400" spc="-75" dirty="0">
                <a:latin typeface="Arial MT"/>
                <a:cs typeface="Arial MT"/>
              </a:rPr>
              <a:t> </a:t>
            </a:r>
            <a:r>
              <a:rPr sz="1400" spc="-5" dirty="0">
                <a:latin typeface="Arial MT"/>
                <a:cs typeface="Arial MT"/>
              </a:rPr>
              <a:t>Bus</a:t>
            </a:r>
            <a:endParaRPr sz="1400">
              <a:latin typeface="Arial MT"/>
              <a:cs typeface="Arial MT"/>
            </a:endParaRPr>
          </a:p>
        </p:txBody>
      </p:sp>
      <p:graphicFrame>
        <p:nvGraphicFramePr>
          <p:cNvPr id="16" name="object 13">
            <a:extLst>
              <a:ext uri="{FF2B5EF4-FFF2-40B4-BE49-F238E27FC236}">
                <a16:creationId xmlns:a16="http://schemas.microsoft.com/office/drawing/2014/main" id="{A254B719-FAD9-4705-A74C-464582D2A85D}"/>
              </a:ext>
            </a:extLst>
          </p:cNvPr>
          <p:cNvGraphicFramePr>
            <a:graphicFrameLocks noGrp="1"/>
          </p:cNvGraphicFramePr>
          <p:nvPr>
            <p:extLst>
              <p:ext uri="{D42A27DB-BD31-4B8C-83A1-F6EECF244321}">
                <p14:modId xmlns:p14="http://schemas.microsoft.com/office/powerpoint/2010/main" val="655819988"/>
              </p:ext>
            </p:extLst>
          </p:nvPr>
        </p:nvGraphicFramePr>
        <p:xfrm>
          <a:off x="2880710" y="1736853"/>
          <a:ext cx="1447800" cy="1447800"/>
        </p:xfrm>
        <a:graphic>
          <a:graphicData uri="http://schemas.openxmlformats.org/drawingml/2006/table">
            <a:tbl>
              <a:tblPr firstRow="1" bandRow="1">
                <a:tableStyleId>{2D5ABB26-0587-4C30-8999-92F81FD0307C}</a:tableStyleId>
              </a:tblPr>
              <a:tblGrid>
                <a:gridCol w="533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838200">
                <a:tc>
                  <a:txBody>
                    <a:bodyPr/>
                    <a:lstStyle/>
                    <a:p>
                      <a:pPr>
                        <a:lnSpc>
                          <a:spcPct val="100000"/>
                        </a:lnSpc>
                        <a:spcBef>
                          <a:spcPts val="50"/>
                        </a:spcBef>
                      </a:pPr>
                      <a:endParaRPr sz="1800">
                        <a:latin typeface="Times New Roman"/>
                        <a:cs typeface="Times New Roman"/>
                      </a:endParaRPr>
                    </a:p>
                    <a:p>
                      <a:pPr marL="97155">
                        <a:lnSpc>
                          <a:spcPct val="100000"/>
                        </a:lnSpc>
                      </a:pPr>
                      <a:r>
                        <a:rPr sz="1400" spc="-5" dirty="0">
                          <a:latin typeface="Arial MT"/>
                          <a:cs typeface="Arial MT"/>
                        </a:rPr>
                        <a:t>ALU</a:t>
                      </a:r>
                      <a:endParaRPr sz="1400">
                        <a:latin typeface="Arial MT"/>
                        <a:cs typeface="Arial MT"/>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FFFF"/>
                    </a:solidFill>
                  </a:tcPr>
                </a:tc>
                <a:tc>
                  <a:txBody>
                    <a:bodyPr/>
                    <a:lstStyle/>
                    <a:p>
                      <a:pPr>
                        <a:lnSpc>
                          <a:spcPct val="100000"/>
                        </a:lnSpc>
                        <a:spcBef>
                          <a:spcPts val="5"/>
                        </a:spcBef>
                      </a:pPr>
                      <a:endParaRPr sz="1250">
                        <a:latin typeface="Times New Roman"/>
                        <a:cs typeface="Times New Roman"/>
                      </a:endParaRPr>
                    </a:p>
                    <a:p>
                      <a:pPr marL="128905" marR="114300">
                        <a:lnSpc>
                          <a:spcPct val="100000"/>
                        </a:lnSpc>
                        <a:spcBef>
                          <a:spcPts val="5"/>
                        </a:spcBef>
                      </a:pPr>
                      <a:r>
                        <a:rPr sz="1400" spc="-5" dirty="0">
                          <a:latin typeface="Arial MT"/>
                          <a:cs typeface="Arial MT"/>
                        </a:rPr>
                        <a:t>R</a:t>
                      </a:r>
                      <a:r>
                        <a:rPr sz="1400" dirty="0">
                          <a:latin typeface="Arial MT"/>
                          <a:cs typeface="Arial MT"/>
                        </a:rPr>
                        <a:t>egister  </a:t>
                      </a:r>
                      <a:r>
                        <a:rPr sz="1400" spc="-5" dirty="0">
                          <a:latin typeface="Arial MT"/>
                          <a:cs typeface="Arial MT"/>
                        </a:rPr>
                        <a:t>Array</a:t>
                      </a:r>
                      <a:endParaRPr sz="1400">
                        <a:latin typeface="Arial MT"/>
                        <a:cs typeface="Arial MT"/>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FFFF"/>
                    </a:solidFill>
                  </a:tcPr>
                </a:tc>
                <a:extLst>
                  <a:ext uri="{0D108BD9-81ED-4DB2-BD59-A6C34878D82A}">
                    <a16:rowId xmlns:a16="http://schemas.microsoft.com/office/drawing/2014/main" val="10000"/>
                  </a:ext>
                </a:extLst>
              </a:tr>
              <a:tr h="609600">
                <a:tc gridSpan="2">
                  <a:txBody>
                    <a:bodyPr/>
                    <a:lstStyle/>
                    <a:p>
                      <a:pPr>
                        <a:lnSpc>
                          <a:spcPct val="100000"/>
                        </a:lnSpc>
                        <a:spcBef>
                          <a:spcPts val="25"/>
                        </a:spcBef>
                      </a:pPr>
                      <a:endParaRPr sz="1450">
                        <a:latin typeface="Times New Roman"/>
                        <a:cs typeface="Times New Roman"/>
                      </a:endParaRPr>
                    </a:p>
                    <a:p>
                      <a:pPr marL="411480">
                        <a:lnSpc>
                          <a:spcPct val="100000"/>
                        </a:lnSpc>
                        <a:spcBef>
                          <a:spcPts val="5"/>
                        </a:spcBef>
                      </a:pPr>
                      <a:r>
                        <a:rPr sz="1400" spc="-5" dirty="0">
                          <a:latin typeface="Arial MT"/>
                          <a:cs typeface="Arial MT"/>
                        </a:rPr>
                        <a:t>Control</a:t>
                      </a:r>
                      <a:endParaRPr sz="1400">
                        <a:latin typeface="Arial MT"/>
                        <a:cs typeface="Arial MT"/>
                      </a:endParaRPr>
                    </a:p>
                  </a:txBody>
                  <a:tcPr marL="0" marR="0" marT="3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FFFF"/>
                    </a:solidFill>
                  </a:tcPr>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pSp>
        <p:nvGrpSpPr>
          <p:cNvPr id="17" name="object 14">
            <a:extLst>
              <a:ext uri="{FF2B5EF4-FFF2-40B4-BE49-F238E27FC236}">
                <a16:creationId xmlns:a16="http://schemas.microsoft.com/office/drawing/2014/main" id="{FE521ECE-AA01-424C-B94A-9FA5A4A741F5}"/>
              </a:ext>
            </a:extLst>
          </p:cNvPr>
          <p:cNvGrpSpPr/>
          <p:nvPr/>
        </p:nvGrpSpPr>
        <p:grpSpPr>
          <a:xfrm>
            <a:off x="5649310" y="2289303"/>
            <a:ext cx="187325" cy="201930"/>
            <a:chOff x="5276850" y="3289300"/>
            <a:chExt cx="187325" cy="201930"/>
          </a:xfrm>
        </p:grpSpPr>
        <p:sp>
          <p:nvSpPr>
            <p:cNvPr id="18" name="object 15">
              <a:extLst>
                <a:ext uri="{FF2B5EF4-FFF2-40B4-BE49-F238E27FC236}">
                  <a16:creationId xmlns:a16="http://schemas.microsoft.com/office/drawing/2014/main" id="{B0A118A9-87EF-4C45-ADFE-61C960E25933}"/>
                </a:ext>
              </a:extLst>
            </p:cNvPr>
            <p:cNvSpPr/>
            <p:nvPr/>
          </p:nvSpPr>
          <p:spPr>
            <a:xfrm>
              <a:off x="5276850" y="3295650"/>
              <a:ext cx="186055" cy="0"/>
            </a:xfrm>
            <a:custGeom>
              <a:avLst/>
              <a:gdLst/>
              <a:ahLst/>
              <a:cxnLst/>
              <a:rect l="l" t="t" r="r" b="b"/>
              <a:pathLst>
                <a:path w="186054">
                  <a:moveTo>
                    <a:pt x="0" y="0"/>
                  </a:moveTo>
                  <a:lnTo>
                    <a:pt x="185737" y="0"/>
                  </a:lnTo>
                </a:path>
              </a:pathLst>
            </a:custGeom>
            <a:ln w="12700">
              <a:solidFill>
                <a:srgbClr val="FF9999"/>
              </a:solidFill>
            </a:ln>
          </p:spPr>
          <p:txBody>
            <a:bodyPr wrap="square" lIns="0" tIns="0" rIns="0" bIns="0" rtlCol="0"/>
            <a:lstStyle/>
            <a:p>
              <a:endParaRPr/>
            </a:p>
          </p:txBody>
        </p:sp>
        <p:sp>
          <p:nvSpPr>
            <p:cNvPr id="19" name="object 16">
              <a:extLst>
                <a:ext uri="{FF2B5EF4-FFF2-40B4-BE49-F238E27FC236}">
                  <a16:creationId xmlns:a16="http://schemas.microsoft.com/office/drawing/2014/main" id="{BD65C31B-41F0-4926-89BB-4B40742C7375}"/>
                </a:ext>
              </a:extLst>
            </p:cNvPr>
            <p:cNvSpPr/>
            <p:nvPr/>
          </p:nvSpPr>
          <p:spPr>
            <a:xfrm>
              <a:off x="5278437" y="3484562"/>
              <a:ext cx="186055" cy="0"/>
            </a:xfrm>
            <a:custGeom>
              <a:avLst/>
              <a:gdLst/>
              <a:ahLst/>
              <a:cxnLst/>
              <a:rect l="l" t="t" r="r" b="b"/>
              <a:pathLst>
                <a:path w="186054">
                  <a:moveTo>
                    <a:pt x="0" y="0"/>
                  </a:moveTo>
                  <a:lnTo>
                    <a:pt x="185737" y="0"/>
                  </a:lnTo>
                </a:path>
              </a:pathLst>
            </a:custGeom>
            <a:ln w="12700">
              <a:solidFill>
                <a:srgbClr val="FF9999"/>
              </a:solidFill>
            </a:ln>
          </p:spPr>
          <p:txBody>
            <a:bodyPr wrap="square" lIns="0" tIns="0" rIns="0" bIns="0" rtlCol="0"/>
            <a:lstStyle/>
            <a:p>
              <a:endParaRPr/>
            </a:p>
          </p:txBody>
        </p:sp>
      </p:grpSp>
      <p:sp>
        <p:nvSpPr>
          <p:cNvPr id="20" name="Date Placeholder 19">
            <a:extLst>
              <a:ext uri="{FF2B5EF4-FFF2-40B4-BE49-F238E27FC236}">
                <a16:creationId xmlns:a16="http://schemas.microsoft.com/office/drawing/2014/main" id="{D8D0F374-5FE1-4D41-93BE-D9186B43F2F4}"/>
              </a:ext>
            </a:extLst>
          </p:cNvPr>
          <p:cNvSpPr>
            <a:spLocks noGrp="1"/>
          </p:cNvSpPr>
          <p:nvPr>
            <p:ph type="dt" sz="half" idx="10"/>
          </p:nvPr>
        </p:nvSpPr>
        <p:spPr/>
        <p:txBody>
          <a:bodyPr/>
          <a:lstStyle/>
          <a:p>
            <a:fld id="{274DDB35-610F-43C7-941A-3C97017DFB74}" type="datetime1">
              <a:rPr lang="en-US" smtClean="0"/>
              <a:t>7/31/2023</a:t>
            </a:fld>
            <a:endParaRPr lang="en-US"/>
          </a:p>
        </p:txBody>
      </p:sp>
      <p:sp>
        <p:nvSpPr>
          <p:cNvPr id="21" name="Slide Number Placeholder 20">
            <a:extLst>
              <a:ext uri="{FF2B5EF4-FFF2-40B4-BE49-F238E27FC236}">
                <a16:creationId xmlns:a16="http://schemas.microsoft.com/office/drawing/2014/main" id="{750CEADB-07B6-4435-BA55-A7FFAF09EE9F}"/>
              </a:ext>
            </a:extLst>
          </p:cNvPr>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4252987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spc="-5" dirty="0"/>
              <a:t>M</a:t>
            </a:r>
            <a:r>
              <a:rPr lang="en-US" sz="3200" spc="-10" dirty="0"/>
              <a:t>e</a:t>
            </a:r>
            <a:r>
              <a:rPr lang="en-US" sz="3200" spc="-5" dirty="0"/>
              <a:t>mory</a:t>
            </a:r>
            <a:endParaRPr lang="en-US" sz="3200" b="1" dirty="0">
              <a:solidFill>
                <a:srgbClr val="FF0000"/>
              </a:solidFill>
            </a:endParaRPr>
          </a:p>
        </p:txBody>
      </p:sp>
      <p:sp>
        <p:nvSpPr>
          <p:cNvPr id="3" name="Content Placeholder 2"/>
          <p:cNvSpPr>
            <a:spLocks noGrp="1"/>
          </p:cNvSpPr>
          <p:nvPr>
            <p:ph idx="1"/>
          </p:nvPr>
        </p:nvSpPr>
        <p:spPr>
          <a:xfrm>
            <a:off x="457200" y="819150"/>
            <a:ext cx="4489450" cy="3775473"/>
          </a:xfrm>
          <a:noFill/>
        </p:spPr>
        <p:txBody>
          <a:bodyPr>
            <a:normAutofit/>
          </a:bodyPr>
          <a:lstStyle/>
          <a:p>
            <a:pPr marL="344488" marR="5080" indent="-344488">
              <a:spcBef>
                <a:spcPts val="0"/>
              </a:spcBef>
            </a:pPr>
            <a:r>
              <a:rPr lang="en-US" sz="1600" spc="-5" dirty="0">
                <a:latin typeface="+mj-lt"/>
                <a:cs typeface="Times New Roman"/>
              </a:rPr>
              <a:t>Memory stores information such as instructions </a:t>
            </a:r>
            <a:r>
              <a:rPr lang="en-US" sz="1600" dirty="0">
                <a:latin typeface="+mj-lt"/>
                <a:cs typeface="Times New Roman"/>
              </a:rPr>
              <a:t> </a:t>
            </a:r>
            <a:r>
              <a:rPr lang="en-US" sz="1600" spc="-5" dirty="0">
                <a:latin typeface="+mj-lt"/>
                <a:cs typeface="Times New Roman"/>
              </a:rPr>
              <a:t>and data </a:t>
            </a:r>
            <a:r>
              <a:rPr lang="en-US" sz="1600" dirty="0">
                <a:latin typeface="+mj-lt"/>
                <a:cs typeface="Times New Roman"/>
              </a:rPr>
              <a:t>in binary </a:t>
            </a:r>
            <a:r>
              <a:rPr lang="en-US" sz="1600" spc="-5" dirty="0">
                <a:latin typeface="+mj-lt"/>
                <a:cs typeface="Times New Roman"/>
              </a:rPr>
              <a:t>format </a:t>
            </a:r>
            <a:r>
              <a:rPr lang="en-US" sz="1600" dirty="0">
                <a:latin typeface="+mj-lt"/>
                <a:cs typeface="Times New Roman"/>
              </a:rPr>
              <a:t>(0 </a:t>
            </a:r>
            <a:r>
              <a:rPr lang="en-US" sz="1600" spc="-5" dirty="0">
                <a:latin typeface="+mj-lt"/>
                <a:cs typeface="Times New Roman"/>
              </a:rPr>
              <a:t>and </a:t>
            </a:r>
            <a:r>
              <a:rPr lang="en-US" sz="1600" dirty="0">
                <a:latin typeface="+mj-lt"/>
                <a:cs typeface="Times New Roman"/>
              </a:rPr>
              <a:t>1). </a:t>
            </a:r>
          </a:p>
          <a:p>
            <a:pPr marL="344488" marR="5080" indent="-344488">
              <a:spcBef>
                <a:spcPts val="0"/>
              </a:spcBef>
            </a:pPr>
            <a:r>
              <a:rPr lang="en-US" sz="1600" dirty="0">
                <a:latin typeface="+mj-lt"/>
                <a:cs typeface="Times New Roman"/>
              </a:rPr>
              <a:t>It provides </a:t>
            </a:r>
            <a:r>
              <a:rPr lang="en-US" sz="1600" spc="5" dirty="0">
                <a:latin typeface="+mj-lt"/>
                <a:cs typeface="Times New Roman"/>
              </a:rPr>
              <a:t> </a:t>
            </a:r>
            <a:r>
              <a:rPr lang="en-US" sz="1600" dirty="0">
                <a:latin typeface="+mj-lt"/>
                <a:cs typeface="Times New Roman"/>
              </a:rPr>
              <a:t>this </a:t>
            </a:r>
            <a:r>
              <a:rPr lang="en-US" sz="1600" spc="-5" dirty="0">
                <a:latin typeface="+mj-lt"/>
                <a:cs typeface="Times New Roman"/>
              </a:rPr>
              <a:t>information </a:t>
            </a:r>
            <a:r>
              <a:rPr lang="en-US" sz="1600" dirty="0">
                <a:latin typeface="+mj-lt"/>
                <a:cs typeface="Times New Roman"/>
              </a:rPr>
              <a:t>to the </a:t>
            </a:r>
            <a:r>
              <a:rPr lang="en-US" sz="1600" spc="-5" dirty="0">
                <a:latin typeface="+mj-lt"/>
                <a:cs typeface="Times New Roman"/>
              </a:rPr>
              <a:t>microprocessor whenever </a:t>
            </a:r>
            <a:r>
              <a:rPr lang="en-US" sz="1600" spc="-685" dirty="0">
                <a:latin typeface="+mj-lt"/>
                <a:cs typeface="Times New Roman"/>
              </a:rPr>
              <a:t> </a:t>
            </a:r>
            <a:r>
              <a:rPr lang="en-US" sz="1600" dirty="0">
                <a:latin typeface="+mj-lt"/>
                <a:cs typeface="Times New Roman"/>
              </a:rPr>
              <a:t>it</a:t>
            </a:r>
            <a:r>
              <a:rPr lang="en-US" sz="1600" spc="-25" dirty="0">
                <a:latin typeface="+mj-lt"/>
                <a:cs typeface="Times New Roman"/>
              </a:rPr>
              <a:t> </a:t>
            </a:r>
            <a:r>
              <a:rPr lang="en-US" sz="1600" dirty="0">
                <a:latin typeface="+mj-lt"/>
                <a:cs typeface="Times New Roman"/>
              </a:rPr>
              <a:t>is</a:t>
            </a:r>
            <a:r>
              <a:rPr lang="en-US" sz="1600" spc="-10" dirty="0">
                <a:latin typeface="+mj-lt"/>
                <a:cs typeface="Times New Roman"/>
              </a:rPr>
              <a:t> </a:t>
            </a:r>
            <a:r>
              <a:rPr lang="en-US" sz="1600" spc="-5" dirty="0">
                <a:latin typeface="+mj-lt"/>
                <a:cs typeface="Times New Roman"/>
              </a:rPr>
              <a:t>needed.</a:t>
            </a:r>
            <a:endParaRPr lang="en-US" sz="2000" dirty="0">
              <a:latin typeface="+mj-lt"/>
              <a:cs typeface="Times New Roman"/>
            </a:endParaRPr>
          </a:p>
          <a:p>
            <a:pPr marL="344488" marR="227965" indent="-344488">
              <a:spcBef>
                <a:spcPts val="0"/>
              </a:spcBef>
            </a:pPr>
            <a:r>
              <a:rPr lang="en-US" sz="1600" spc="-5" dirty="0">
                <a:latin typeface="+mj-lt"/>
                <a:cs typeface="Times New Roman"/>
              </a:rPr>
              <a:t>Usually, there </a:t>
            </a:r>
            <a:r>
              <a:rPr lang="en-US" sz="1600" dirty="0">
                <a:latin typeface="+mj-lt"/>
                <a:cs typeface="Times New Roman"/>
              </a:rPr>
              <a:t>is a </a:t>
            </a:r>
            <a:r>
              <a:rPr lang="en-US" sz="1600" spc="-5" dirty="0">
                <a:latin typeface="+mj-lt"/>
                <a:cs typeface="Times New Roman"/>
              </a:rPr>
              <a:t>memory “sub-system” </a:t>
            </a:r>
            <a:r>
              <a:rPr lang="en-US" sz="1600" dirty="0">
                <a:latin typeface="+mj-lt"/>
                <a:cs typeface="Times New Roman"/>
              </a:rPr>
              <a:t>in a </a:t>
            </a:r>
            <a:r>
              <a:rPr lang="en-US" sz="1600" spc="5" dirty="0">
                <a:latin typeface="+mj-lt"/>
                <a:cs typeface="Times New Roman"/>
              </a:rPr>
              <a:t> </a:t>
            </a:r>
            <a:r>
              <a:rPr lang="en-US" sz="1600" spc="-5" dirty="0">
                <a:latin typeface="+mj-lt"/>
                <a:cs typeface="Times New Roman"/>
              </a:rPr>
              <a:t>microprocessor-based system. This sub-system </a:t>
            </a:r>
            <a:r>
              <a:rPr lang="en-US" sz="1600" spc="-685" dirty="0">
                <a:latin typeface="+mj-lt"/>
                <a:cs typeface="Times New Roman"/>
              </a:rPr>
              <a:t> </a:t>
            </a:r>
            <a:r>
              <a:rPr lang="en-US" sz="1600" spc="-5" dirty="0">
                <a:latin typeface="+mj-lt"/>
                <a:cs typeface="Times New Roman"/>
              </a:rPr>
              <a:t>includes:</a:t>
            </a:r>
            <a:endParaRPr lang="en-US" sz="1600" dirty="0">
              <a:latin typeface="+mj-lt"/>
              <a:cs typeface="Times New Roman"/>
            </a:endParaRPr>
          </a:p>
          <a:p>
            <a:pPr marL="869950" lvl="1" indent="-286385">
              <a:spcBef>
                <a:spcPts val="0"/>
              </a:spcBef>
              <a:tabLst>
                <a:tab pos="869950" algn="l"/>
                <a:tab pos="870585" algn="l"/>
              </a:tabLst>
            </a:pPr>
            <a:r>
              <a:rPr lang="en-US" sz="1400" spc="-5" dirty="0">
                <a:latin typeface="+mj-lt"/>
                <a:cs typeface="Times New Roman"/>
              </a:rPr>
              <a:t>The</a:t>
            </a:r>
            <a:r>
              <a:rPr lang="en-US" sz="1400" spc="-10" dirty="0">
                <a:latin typeface="+mj-lt"/>
                <a:cs typeface="Times New Roman"/>
              </a:rPr>
              <a:t> </a:t>
            </a:r>
            <a:r>
              <a:rPr lang="en-US" sz="1400" spc="-5" dirty="0">
                <a:latin typeface="+mj-lt"/>
                <a:cs typeface="Times New Roman"/>
              </a:rPr>
              <a:t>registers</a:t>
            </a:r>
            <a:r>
              <a:rPr lang="en-US" sz="1400" spc="-10" dirty="0">
                <a:latin typeface="+mj-lt"/>
                <a:cs typeface="Times New Roman"/>
              </a:rPr>
              <a:t> </a:t>
            </a:r>
            <a:r>
              <a:rPr lang="en-US" sz="1400" spc="-5" dirty="0">
                <a:latin typeface="+mj-lt"/>
                <a:cs typeface="Times New Roman"/>
              </a:rPr>
              <a:t>inside the microprocessor</a:t>
            </a:r>
            <a:endParaRPr lang="en-US" sz="1400" dirty="0">
              <a:latin typeface="+mj-lt"/>
              <a:cs typeface="Times New Roman"/>
            </a:endParaRPr>
          </a:p>
          <a:p>
            <a:pPr marL="869950" lvl="1" indent="-287020">
              <a:spcBef>
                <a:spcPts val="0"/>
              </a:spcBef>
              <a:tabLst>
                <a:tab pos="869950" algn="l"/>
                <a:tab pos="870585" algn="l"/>
              </a:tabLst>
            </a:pPr>
            <a:r>
              <a:rPr lang="en-US" sz="1400" dirty="0">
                <a:latin typeface="+mj-lt"/>
                <a:cs typeface="Times New Roman"/>
              </a:rPr>
              <a:t>Read</a:t>
            </a:r>
            <a:r>
              <a:rPr lang="en-US" sz="1400" spc="-35" dirty="0">
                <a:latin typeface="+mj-lt"/>
                <a:cs typeface="Times New Roman"/>
              </a:rPr>
              <a:t> </a:t>
            </a:r>
            <a:r>
              <a:rPr lang="en-US" sz="1400" spc="-5" dirty="0">
                <a:latin typeface="+mj-lt"/>
                <a:cs typeface="Times New Roman"/>
              </a:rPr>
              <a:t>Only</a:t>
            </a:r>
            <a:r>
              <a:rPr lang="en-US" sz="1400" spc="-35" dirty="0">
                <a:latin typeface="+mj-lt"/>
                <a:cs typeface="Times New Roman"/>
              </a:rPr>
              <a:t> </a:t>
            </a:r>
            <a:r>
              <a:rPr lang="en-US" sz="1400" dirty="0">
                <a:latin typeface="+mj-lt"/>
                <a:cs typeface="Times New Roman"/>
              </a:rPr>
              <a:t>Memory</a:t>
            </a:r>
            <a:r>
              <a:rPr lang="en-US" sz="1400" spc="-25" dirty="0">
                <a:latin typeface="+mj-lt"/>
                <a:cs typeface="Times New Roman"/>
              </a:rPr>
              <a:t> </a:t>
            </a:r>
            <a:r>
              <a:rPr lang="en-US" sz="1400" spc="-5" dirty="0">
                <a:latin typeface="+mj-lt"/>
                <a:cs typeface="Times New Roman"/>
              </a:rPr>
              <a:t>(ROM)</a:t>
            </a:r>
            <a:endParaRPr lang="en-US" sz="1400" dirty="0">
              <a:latin typeface="+mj-lt"/>
              <a:cs typeface="Times New Roman"/>
            </a:endParaRPr>
          </a:p>
          <a:p>
            <a:pPr marL="1212850" lvl="2" indent="-229870">
              <a:spcBef>
                <a:spcPts val="0"/>
              </a:spcBef>
              <a:tabLst>
                <a:tab pos="1212215" algn="l"/>
                <a:tab pos="1213485" algn="l"/>
              </a:tabLst>
            </a:pPr>
            <a:r>
              <a:rPr lang="en-US" sz="1400" spc="-5" dirty="0">
                <a:latin typeface="+mj-lt"/>
                <a:cs typeface="Times New Roman"/>
              </a:rPr>
              <a:t>used</a:t>
            </a:r>
            <a:r>
              <a:rPr lang="en-US" sz="1400" spc="-15" dirty="0">
                <a:latin typeface="+mj-lt"/>
                <a:cs typeface="Times New Roman"/>
              </a:rPr>
              <a:t> </a:t>
            </a:r>
            <a:r>
              <a:rPr lang="en-US" sz="1400" spc="-5" dirty="0">
                <a:latin typeface="+mj-lt"/>
                <a:cs typeface="Times New Roman"/>
              </a:rPr>
              <a:t>to</a:t>
            </a:r>
            <a:r>
              <a:rPr lang="en-US" sz="1400" spc="-10" dirty="0">
                <a:latin typeface="+mj-lt"/>
                <a:cs typeface="Times New Roman"/>
              </a:rPr>
              <a:t> </a:t>
            </a:r>
            <a:r>
              <a:rPr lang="en-US" sz="1400" spc="-5" dirty="0">
                <a:latin typeface="+mj-lt"/>
                <a:cs typeface="Times New Roman"/>
              </a:rPr>
              <a:t>store</a:t>
            </a:r>
            <a:r>
              <a:rPr lang="en-US" sz="1400" spc="-10" dirty="0">
                <a:latin typeface="+mj-lt"/>
                <a:cs typeface="Times New Roman"/>
              </a:rPr>
              <a:t> </a:t>
            </a:r>
            <a:r>
              <a:rPr lang="en-US" sz="1400" spc="-5" dirty="0">
                <a:latin typeface="+mj-lt"/>
                <a:cs typeface="Times New Roman"/>
              </a:rPr>
              <a:t>information</a:t>
            </a:r>
            <a:r>
              <a:rPr lang="en-US" sz="1400" dirty="0">
                <a:latin typeface="+mj-lt"/>
                <a:cs typeface="Times New Roman"/>
              </a:rPr>
              <a:t> </a:t>
            </a:r>
            <a:r>
              <a:rPr lang="en-US" sz="1400" spc="-5" dirty="0">
                <a:latin typeface="+mj-lt"/>
                <a:cs typeface="Times New Roman"/>
              </a:rPr>
              <a:t>that</a:t>
            </a:r>
            <a:r>
              <a:rPr lang="en-US" sz="1400" spc="-30" dirty="0">
                <a:latin typeface="+mj-lt"/>
                <a:cs typeface="Times New Roman"/>
              </a:rPr>
              <a:t> </a:t>
            </a:r>
            <a:r>
              <a:rPr lang="en-US" sz="1400" spc="-5" dirty="0">
                <a:latin typeface="+mj-lt"/>
                <a:cs typeface="Times New Roman"/>
              </a:rPr>
              <a:t>does not</a:t>
            </a:r>
            <a:r>
              <a:rPr lang="en-US" sz="1400" spc="-10" dirty="0">
                <a:latin typeface="+mj-lt"/>
                <a:cs typeface="Times New Roman"/>
              </a:rPr>
              <a:t> </a:t>
            </a:r>
            <a:r>
              <a:rPr lang="en-US" sz="1400" spc="-5" dirty="0">
                <a:latin typeface="+mj-lt"/>
                <a:cs typeface="Times New Roman"/>
              </a:rPr>
              <a:t>change</a:t>
            </a:r>
            <a:r>
              <a:rPr lang="en-US" sz="1050" spc="-5" dirty="0">
                <a:latin typeface="+mj-lt"/>
                <a:cs typeface="Times New Roman"/>
              </a:rPr>
              <a:t>.</a:t>
            </a:r>
            <a:endParaRPr lang="en-US" sz="1050" dirty="0">
              <a:latin typeface="+mj-lt"/>
              <a:cs typeface="Times New Roman"/>
            </a:endParaRPr>
          </a:p>
          <a:p>
            <a:pPr marL="869950" marR="547370" lvl="1" indent="-286385">
              <a:spcBef>
                <a:spcPts val="0"/>
              </a:spcBef>
              <a:tabLst>
                <a:tab pos="869950" algn="l"/>
                <a:tab pos="870585" algn="l"/>
              </a:tabLst>
            </a:pPr>
            <a:r>
              <a:rPr lang="en-US" sz="1400" dirty="0">
                <a:latin typeface="+mj-lt"/>
                <a:cs typeface="Times New Roman"/>
              </a:rPr>
              <a:t>Random </a:t>
            </a:r>
            <a:r>
              <a:rPr lang="en-US" sz="1400" spc="-5" dirty="0">
                <a:latin typeface="+mj-lt"/>
                <a:cs typeface="Times New Roman"/>
              </a:rPr>
              <a:t>Access Memory (RAM) (also </a:t>
            </a:r>
            <a:r>
              <a:rPr lang="en-US" sz="1400" dirty="0">
                <a:latin typeface="+mj-lt"/>
                <a:cs typeface="Times New Roman"/>
              </a:rPr>
              <a:t>known as </a:t>
            </a:r>
            <a:r>
              <a:rPr lang="en-US" sz="1400" spc="-585" dirty="0">
                <a:latin typeface="+mj-lt"/>
                <a:cs typeface="Times New Roman"/>
              </a:rPr>
              <a:t> </a:t>
            </a:r>
            <a:r>
              <a:rPr lang="en-US" sz="1400" spc="-5" dirty="0">
                <a:latin typeface="+mj-lt"/>
                <a:cs typeface="Times New Roman"/>
              </a:rPr>
              <a:t>Read/Write</a:t>
            </a:r>
            <a:r>
              <a:rPr lang="en-US" sz="1400" spc="-35" dirty="0">
                <a:latin typeface="+mj-lt"/>
                <a:cs typeface="Times New Roman"/>
              </a:rPr>
              <a:t> </a:t>
            </a:r>
            <a:r>
              <a:rPr lang="en-US" sz="1400" spc="-5" dirty="0">
                <a:latin typeface="+mj-lt"/>
                <a:cs typeface="Times New Roman"/>
              </a:rPr>
              <a:t>Memory).</a:t>
            </a:r>
            <a:endParaRPr lang="en-US" sz="1400" dirty="0">
              <a:latin typeface="+mj-lt"/>
              <a:cs typeface="Times New Roman"/>
            </a:endParaRPr>
          </a:p>
          <a:p>
            <a:pPr marL="1212850" marR="635000" lvl="2" indent="-229235">
              <a:spcBef>
                <a:spcPts val="0"/>
              </a:spcBef>
              <a:tabLst>
                <a:tab pos="1212215" algn="l"/>
                <a:tab pos="1213485" algn="l"/>
              </a:tabLst>
            </a:pPr>
            <a:r>
              <a:rPr lang="en-US" sz="1200" spc="-5" dirty="0">
                <a:latin typeface="+mj-lt"/>
                <a:cs typeface="Times New Roman"/>
              </a:rPr>
              <a:t>used to store information supplied by the user. Such as </a:t>
            </a:r>
            <a:r>
              <a:rPr lang="en-US" sz="1200" spc="-484" dirty="0">
                <a:latin typeface="+mj-lt"/>
                <a:cs typeface="Times New Roman"/>
              </a:rPr>
              <a:t> </a:t>
            </a:r>
            <a:r>
              <a:rPr lang="en-US" sz="1200" spc="-5" dirty="0">
                <a:latin typeface="+mj-lt"/>
                <a:cs typeface="Times New Roman"/>
              </a:rPr>
              <a:t>programs</a:t>
            </a:r>
            <a:r>
              <a:rPr lang="en-US" sz="1200" spc="-15" dirty="0">
                <a:latin typeface="+mj-lt"/>
                <a:cs typeface="Times New Roman"/>
              </a:rPr>
              <a:t> </a:t>
            </a:r>
            <a:r>
              <a:rPr lang="en-US" sz="1200" spc="-5" dirty="0">
                <a:latin typeface="+mj-lt"/>
                <a:cs typeface="Times New Roman"/>
              </a:rPr>
              <a:t>and</a:t>
            </a:r>
            <a:r>
              <a:rPr lang="en-US" sz="1200" spc="-25" dirty="0">
                <a:latin typeface="+mj-lt"/>
                <a:cs typeface="Times New Roman"/>
              </a:rPr>
              <a:t> </a:t>
            </a:r>
            <a:r>
              <a:rPr lang="en-US" sz="1200" spc="-5" dirty="0">
                <a:latin typeface="+mj-lt"/>
                <a:cs typeface="Times New Roman"/>
              </a:rPr>
              <a:t>data.</a:t>
            </a:r>
            <a:endParaRPr lang="en-US" sz="1200" dirty="0">
              <a:latin typeface="+mj-lt"/>
              <a:cs typeface="Times New Roman"/>
            </a:endParaRPr>
          </a:p>
          <a:p>
            <a:pPr>
              <a:tabLst>
                <a:tab pos="463550" algn="l"/>
              </a:tabLst>
            </a:pPr>
            <a:endParaRPr lang="en-US" sz="1050" dirty="0">
              <a:latin typeface="+mj-lt"/>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object 4">
            <a:extLst>
              <a:ext uri="{FF2B5EF4-FFF2-40B4-BE49-F238E27FC236}">
                <a16:creationId xmlns:a16="http://schemas.microsoft.com/office/drawing/2014/main" id="{599FE12E-34A6-4FF4-8AB2-AF36BB02FC5B}"/>
              </a:ext>
            </a:extLst>
          </p:cNvPr>
          <p:cNvSpPr txBox="1"/>
          <p:nvPr/>
        </p:nvSpPr>
        <p:spPr>
          <a:xfrm>
            <a:off x="7250579" y="292100"/>
            <a:ext cx="1371600" cy="609600"/>
          </a:xfrm>
          <a:prstGeom prst="rect">
            <a:avLst/>
          </a:prstGeom>
          <a:solidFill>
            <a:srgbClr val="FFFF99"/>
          </a:solidFill>
          <a:ln w="12700">
            <a:solidFill>
              <a:srgbClr val="000000"/>
            </a:solidFill>
          </a:ln>
        </p:spPr>
        <p:txBody>
          <a:bodyPr vert="horz" wrap="square" lIns="0" tIns="40640" rIns="0" bIns="0" rtlCol="0">
            <a:spAutoFit/>
          </a:bodyPr>
          <a:lstStyle/>
          <a:p>
            <a:pPr marL="147955" marR="140335" indent="417830">
              <a:lnSpc>
                <a:spcPct val="100000"/>
              </a:lnSpc>
              <a:spcBef>
                <a:spcPts val="320"/>
              </a:spcBef>
            </a:pPr>
            <a:r>
              <a:rPr sz="1400" spc="-5" dirty="0">
                <a:latin typeface="Arial MT"/>
                <a:cs typeface="Arial MT"/>
              </a:rPr>
              <a:t>I/O </a:t>
            </a:r>
            <a:r>
              <a:rPr sz="1400" dirty="0">
                <a:latin typeface="Arial MT"/>
                <a:cs typeface="Arial MT"/>
              </a:rPr>
              <a:t> </a:t>
            </a:r>
            <a:r>
              <a:rPr sz="1400" spc="-5" dirty="0">
                <a:latin typeface="Arial MT"/>
                <a:cs typeface="Arial MT"/>
              </a:rPr>
              <a:t>Input</a:t>
            </a:r>
            <a:r>
              <a:rPr sz="1400" spc="-60" dirty="0">
                <a:latin typeface="Arial MT"/>
                <a:cs typeface="Arial MT"/>
              </a:rPr>
              <a:t> </a:t>
            </a:r>
            <a:r>
              <a:rPr sz="1400" spc="-5" dirty="0">
                <a:latin typeface="Arial MT"/>
                <a:cs typeface="Arial MT"/>
              </a:rPr>
              <a:t>/</a:t>
            </a:r>
            <a:r>
              <a:rPr sz="1400" spc="-30" dirty="0">
                <a:latin typeface="Arial MT"/>
                <a:cs typeface="Arial MT"/>
              </a:rPr>
              <a:t> </a:t>
            </a:r>
            <a:r>
              <a:rPr sz="1400" spc="-5" dirty="0">
                <a:latin typeface="Arial MT"/>
                <a:cs typeface="Arial MT"/>
              </a:rPr>
              <a:t>Output</a:t>
            </a:r>
            <a:endParaRPr sz="1400">
              <a:latin typeface="Arial MT"/>
              <a:cs typeface="Arial MT"/>
            </a:endParaRPr>
          </a:p>
        </p:txBody>
      </p:sp>
      <p:grpSp>
        <p:nvGrpSpPr>
          <p:cNvPr id="8" name="object 5">
            <a:extLst>
              <a:ext uri="{FF2B5EF4-FFF2-40B4-BE49-F238E27FC236}">
                <a16:creationId xmlns:a16="http://schemas.microsoft.com/office/drawing/2014/main" id="{48E7DCCB-FC11-4DB9-9F62-F9B1D9FD5734}"/>
              </a:ext>
            </a:extLst>
          </p:cNvPr>
          <p:cNvGrpSpPr/>
          <p:nvPr/>
        </p:nvGrpSpPr>
        <p:grpSpPr>
          <a:xfrm>
            <a:off x="7701429" y="895350"/>
            <a:ext cx="393700" cy="850900"/>
            <a:chOff x="5175250" y="2965450"/>
            <a:chExt cx="393700" cy="850900"/>
          </a:xfrm>
        </p:grpSpPr>
        <p:sp>
          <p:nvSpPr>
            <p:cNvPr id="9" name="object 6">
              <a:extLst>
                <a:ext uri="{FF2B5EF4-FFF2-40B4-BE49-F238E27FC236}">
                  <a16:creationId xmlns:a16="http://schemas.microsoft.com/office/drawing/2014/main" id="{1DE2FCF3-2C7A-4E33-819F-4525A67E8A7B}"/>
                </a:ext>
              </a:extLst>
            </p:cNvPr>
            <p:cNvSpPr/>
            <p:nvPr/>
          </p:nvSpPr>
          <p:spPr>
            <a:xfrm>
              <a:off x="5181600" y="2971800"/>
              <a:ext cx="381000" cy="838200"/>
            </a:xfrm>
            <a:custGeom>
              <a:avLst/>
              <a:gdLst/>
              <a:ahLst/>
              <a:cxnLst/>
              <a:rect l="l" t="t" r="r" b="b"/>
              <a:pathLst>
                <a:path w="381000" h="838200">
                  <a:moveTo>
                    <a:pt x="190500" y="0"/>
                  </a:moveTo>
                  <a:lnTo>
                    <a:pt x="0" y="167639"/>
                  </a:lnTo>
                  <a:lnTo>
                    <a:pt x="95250" y="167639"/>
                  </a:lnTo>
                  <a:lnTo>
                    <a:pt x="95250" y="670559"/>
                  </a:lnTo>
                  <a:lnTo>
                    <a:pt x="0" y="670559"/>
                  </a:lnTo>
                  <a:lnTo>
                    <a:pt x="190500" y="838199"/>
                  </a:lnTo>
                  <a:lnTo>
                    <a:pt x="381000" y="670559"/>
                  </a:lnTo>
                  <a:lnTo>
                    <a:pt x="285750" y="670559"/>
                  </a:lnTo>
                  <a:lnTo>
                    <a:pt x="285750" y="167639"/>
                  </a:lnTo>
                  <a:lnTo>
                    <a:pt x="381000" y="167639"/>
                  </a:lnTo>
                  <a:lnTo>
                    <a:pt x="190500" y="0"/>
                  </a:lnTo>
                  <a:close/>
                </a:path>
              </a:pathLst>
            </a:custGeom>
            <a:solidFill>
              <a:srgbClr val="FF9999"/>
            </a:solidFill>
          </p:spPr>
          <p:txBody>
            <a:bodyPr wrap="square" lIns="0" tIns="0" rIns="0" bIns="0" rtlCol="0"/>
            <a:lstStyle/>
            <a:p>
              <a:endParaRPr/>
            </a:p>
          </p:txBody>
        </p:sp>
        <p:sp>
          <p:nvSpPr>
            <p:cNvPr id="10" name="object 7">
              <a:extLst>
                <a:ext uri="{FF2B5EF4-FFF2-40B4-BE49-F238E27FC236}">
                  <a16:creationId xmlns:a16="http://schemas.microsoft.com/office/drawing/2014/main" id="{98AD967A-4ECD-48CC-95A7-CE4090B85C5E}"/>
                </a:ext>
              </a:extLst>
            </p:cNvPr>
            <p:cNvSpPr/>
            <p:nvPr/>
          </p:nvSpPr>
          <p:spPr>
            <a:xfrm>
              <a:off x="5181600" y="2971800"/>
              <a:ext cx="381000" cy="838200"/>
            </a:xfrm>
            <a:custGeom>
              <a:avLst/>
              <a:gdLst/>
              <a:ahLst/>
              <a:cxnLst/>
              <a:rect l="l" t="t" r="r" b="b"/>
              <a:pathLst>
                <a:path w="381000" h="838200">
                  <a:moveTo>
                    <a:pt x="0" y="167639"/>
                  </a:moveTo>
                  <a:lnTo>
                    <a:pt x="190500" y="0"/>
                  </a:lnTo>
                  <a:lnTo>
                    <a:pt x="381000" y="167639"/>
                  </a:lnTo>
                  <a:lnTo>
                    <a:pt x="285750" y="167639"/>
                  </a:lnTo>
                  <a:lnTo>
                    <a:pt x="285750" y="670559"/>
                  </a:lnTo>
                  <a:lnTo>
                    <a:pt x="381000" y="670559"/>
                  </a:lnTo>
                  <a:lnTo>
                    <a:pt x="190500" y="838199"/>
                  </a:lnTo>
                  <a:lnTo>
                    <a:pt x="0" y="670559"/>
                  </a:lnTo>
                  <a:lnTo>
                    <a:pt x="95250" y="670559"/>
                  </a:lnTo>
                  <a:lnTo>
                    <a:pt x="95250" y="167639"/>
                  </a:lnTo>
                  <a:lnTo>
                    <a:pt x="0" y="167639"/>
                  </a:lnTo>
                  <a:close/>
                </a:path>
              </a:pathLst>
            </a:custGeom>
            <a:ln w="12700">
              <a:solidFill>
                <a:srgbClr val="000000"/>
              </a:solidFill>
            </a:ln>
          </p:spPr>
          <p:txBody>
            <a:bodyPr wrap="square" lIns="0" tIns="0" rIns="0" bIns="0" rtlCol="0"/>
            <a:lstStyle/>
            <a:p>
              <a:endParaRPr/>
            </a:p>
          </p:txBody>
        </p:sp>
      </p:grpSp>
      <p:sp>
        <p:nvSpPr>
          <p:cNvPr id="11" name="object 8">
            <a:extLst>
              <a:ext uri="{FF2B5EF4-FFF2-40B4-BE49-F238E27FC236}">
                <a16:creationId xmlns:a16="http://schemas.microsoft.com/office/drawing/2014/main" id="{66310069-1513-4917-A6DD-AE11C04BF59F}"/>
              </a:ext>
            </a:extLst>
          </p:cNvPr>
          <p:cNvSpPr txBox="1"/>
          <p:nvPr/>
        </p:nvSpPr>
        <p:spPr>
          <a:xfrm>
            <a:off x="7174379" y="1739900"/>
            <a:ext cx="1524000" cy="685800"/>
          </a:xfrm>
          <a:prstGeom prst="rect">
            <a:avLst/>
          </a:prstGeom>
          <a:solidFill>
            <a:srgbClr val="FFFF99"/>
          </a:solidFill>
          <a:ln w="12700">
            <a:solidFill>
              <a:srgbClr val="000000"/>
            </a:solidFill>
          </a:ln>
        </p:spPr>
        <p:txBody>
          <a:bodyPr vert="horz" wrap="square" lIns="0" tIns="40640" rIns="0" bIns="0" rtlCol="0">
            <a:spAutoFit/>
          </a:bodyPr>
          <a:lstStyle/>
          <a:p>
            <a:pPr algn="ctr">
              <a:lnSpc>
                <a:spcPct val="100000"/>
              </a:lnSpc>
              <a:spcBef>
                <a:spcPts val="320"/>
              </a:spcBef>
            </a:pPr>
            <a:r>
              <a:rPr sz="1400" spc="-5" dirty="0">
                <a:latin typeface="Arial MT"/>
                <a:cs typeface="Arial MT"/>
              </a:rPr>
              <a:t>Memory</a:t>
            </a:r>
            <a:endParaRPr sz="1400">
              <a:latin typeface="Arial MT"/>
              <a:cs typeface="Arial MT"/>
            </a:endParaRPr>
          </a:p>
          <a:p>
            <a:pPr>
              <a:lnSpc>
                <a:spcPct val="100000"/>
              </a:lnSpc>
              <a:spcBef>
                <a:spcPts val="10"/>
              </a:spcBef>
            </a:pPr>
            <a:endParaRPr sz="1450">
              <a:latin typeface="Arial MT"/>
              <a:cs typeface="Arial MT"/>
            </a:endParaRPr>
          </a:p>
          <a:p>
            <a:pPr algn="ctr">
              <a:lnSpc>
                <a:spcPct val="100000"/>
              </a:lnSpc>
              <a:spcBef>
                <a:spcPts val="5"/>
              </a:spcBef>
              <a:tabLst>
                <a:tab pos="561340" algn="l"/>
              </a:tabLst>
            </a:pPr>
            <a:r>
              <a:rPr sz="1400" spc="-5" dirty="0">
                <a:latin typeface="Arial MT"/>
                <a:cs typeface="Arial MT"/>
              </a:rPr>
              <a:t>ROM	RAM</a:t>
            </a:r>
            <a:endParaRPr sz="1400">
              <a:latin typeface="Arial MT"/>
              <a:cs typeface="Arial MT"/>
            </a:endParaRPr>
          </a:p>
        </p:txBody>
      </p:sp>
      <p:grpSp>
        <p:nvGrpSpPr>
          <p:cNvPr id="12" name="object 9">
            <a:extLst>
              <a:ext uri="{FF2B5EF4-FFF2-40B4-BE49-F238E27FC236}">
                <a16:creationId xmlns:a16="http://schemas.microsoft.com/office/drawing/2014/main" id="{3AFD0E4B-2172-4FB9-87E8-B7E56BF0D3BF}"/>
              </a:ext>
            </a:extLst>
          </p:cNvPr>
          <p:cNvGrpSpPr/>
          <p:nvPr/>
        </p:nvGrpSpPr>
        <p:grpSpPr>
          <a:xfrm>
            <a:off x="6482229" y="1123950"/>
            <a:ext cx="2679700" cy="393700"/>
            <a:chOff x="3956050" y="3194050"/>
            <a:chExt cx="2679700" cy="393700"/>
          </a:xfrm>
        </p:grpSpPr>
        <p:sp>
          <p:nvSpPr>
            <p:cNvPr id="13" name="object 10">
              <a:extLst>
                <a:ext uri="{FF2B5EF4-FFF2-40B4-BE49-F238E27FC236}">
                  <a16:creationId xmlns:a16="http://schemas.microsoft.com/office/drawing/2014/main" id="{C5DFFC73-2DD1-4CC3-B330-98F133A0633E}"/>
                </a:ext>
              </a:extLst>
            </p:cNvPr>
            <p:cNvSpPr/>
            <p:nvPr/>
          </p:nvSpPr>
          <p:spPr>
            <a:xfrm>
              <a:off x="3962400" y="3200400"/>
              <a:ext cx="2667000" cy="381000"/>
            </a:xfrm>
            <a:custGeom>
              <a:avLst/>
              <a:gdLst/>
              <a:ahLst/>
              <a:cxnLst/>
              <a:rect l="l" t="t" r="r" b="b"/>
              <a:pathLst>
                <a:path w="2667000" h="381000">
                  <a:moveTo>
                    <a:pt x="2133600" y="0"/>
                  </a:moveTo>
                  <a:lnTo>
                    <a:pt x="2133600" y="95250"/>
                  </a:lnTo>
                  <a:lnTo>
                    <a:pt x="533400" y="95250"/>
                  </a:lnTo>
                  <a:lnTo>
                    <a:pt x="533400" y="0"/>
                  </a:lnTo>
                  <a:lnTo>
                    <a:pt x="0" y="190500"/>
                  </a:lnTo>
                  <a:lnTo>
                    <a:pt x="533400" y="381000"/>
                  </a:lnTo>
                  <a:lnTo>
                    <a:pt x="533400" y="285750"/>
                  </a:lnTo>
                  <a:lnTo>
                    <a:pt x="2133600" y="285750"/>
                  </a:lnTo>
                  <a:lnTo>
                    <a:pt x="2133600" y="381000"/>
                  </a:lnTo>
                  <a:lnTo>
                    <a:pt x="2667000" y="190500"/>
                  </a:lnTo>
                  <a:lnTo>
                    <a:pt x="2133600" y="0"/>
                  </a:lnTo>
                  <a:close/>
                </a:path>
              </a:pathLst>
            </a:custGeom>
            <a:solidFill>
              <a:srgbClr val="FF9999"/>
            </a:solidFill>
          </p:spPr>
          <p:txBody>
            <a:bodyPr wrap="square" lIns="0" tIns="0" rIns="0" bIns="0" rtlCol="0"/>
            <a:lstStyle/>
            <a:p>
              <a:endParaRPr/>
            </a:p>
          </p:txBody>
        </p:sp>
        <p:sp>
          <p:nvSpPr>
            <p:cNvPr id="14" name="object 11">
              <a:extLst>
                <a:ext uri="{FF2B5EF4-FFF2-40B4-BE49-F238E27FC236}">
                  <a16:creationId xmlns:a16="http://schemas.microsoft.com/office/drawing/2014/main" id="{C6560006-2BF4-41B5-9873-5546480D75B7}"/>
                </a:ext>
              </a:extLst>
            </p:cNvPr>
            <p:cNvSpPr/>
            <p:nvPr/>
          </p:nvSpPr>
          <p:spPr>
            <a:xfrm>
              <a:off x="3962400" y="3200400"/>
              <a:ext cx="2667000" cy="381000"/>
            </a:xfrm>
            <a:custGeom>
              <a:avLst/>
              <a:gdLst/>
              <a:ahLst/>
              <a:cxnLst/>
              <a:rect l="l" t="t" r="r" b="b"/>
              <a:pathLst>
                <a:path w="2667000" h="381000">
                  <a:moveTo>
                    <a:pt x="0" y="190500"/>
                  </a:moveTo>
                  <a:lnTo>
                    <a:pt x="533400" y="0"/>
                  </a:lnTo>
                  <a:lnTo>
                    <a:pt x="533400" y="95250"/>
                  </a:lnTo>
                  <a:lnTo>
                    <a:pt x="2133600" y="95250"/>
                  </a:lnTo>
                  <a:lnTo>
                    <a:pt x="2133600" y="0"/>
                  </a:lnTo>
                  <a:lnTo>
                    <a:pt x="2667000" y="190500"/>
                  </a:lnTo>
                  <a:lnTo>
                    <a:pt x="2133600" y="381000"/>
                  </a:lnTo>
                  <a:lnTo>
                    <a:pt x="2133600" y="285750"/>
                  </a:lnTo>
                  <a:lnTo>
                    <a:pt x="533400" y="285750"/>
                  </a:lnTo>
                  <a:lnTo>
                    <a:pt x="533400" y="381000"/>
                  </a:lnTo>
                  <a:lnTo>
                    <a:pt x="0" y="190500"/>
                  </a:lnTo>
                  <a:close/>
                </a:path>
              </a:pathLst>
            </a:custGeom>
            <a:ln w="12700">
              <a:solidFill>
                <a:srgbClr val="000000"/>
              </a:solidFill>
            </a:ln>
          </p:spPr>
          <p:txBody>
            <a:bodyPr wrap="square" lIns="0" tIns="0" rIns="0" bIns="0" rtlCol="0"/>
            <a:lstStyle/>
            <a:p>
              <a:endParaRPr/>
            </a:p>
          </p:txBody>
        </p:sp>
      </p:grpSp>
      <p:sp>
        <p:nvSpPr>
          <p:cNvPr id="15" name="object 12">
            <a:extLst>
              <a:ext uri="{FF2B5EF4-FFF2-40B4-BE49-F238E27FC236}">
                <a16:creationId xmlns:a16="http://schemas.microsoft.com/office/drawing/2014/main" id="{C4424E7F-F5F1-4C76-BB33-601F666A5B32}"/>
              </a:ext>
            </a:extLst>
          </p:cNvPr>
          <p:cNvSpPr txBox="1"/>
          <p:nvPr/>
        </p:nvSpPr>
        <p:spPr>
          <a:xfrm>
            <a:off x="7335319" y="1196847"/>
            <a:ext cx="972819" cy="238760"/>
          </a:xfrm>
          <a:prstGeom prst="rect">
            <a:avLst/>
          </a:prstGeom>
        </p:spPr>
        <p:txBody>
          <a:bodyPr vert="horz" wrap="square" lIns="0" tIns="12065" rIns="0" bIns="0" rtlCol="0">
            <a:spAutoFit/>
          </a:bodyPr>
          <a:lstStyle/>
          <a:p>
            <a:pPr marL="12700">
              <a:lnSpc>
                <a:spcPct val="100000"/>
              </a:lnSpc>
              <a:spcBef>
                <a:spcPts val="95"/>
              </a:spcBef>
            </a:pPr>
            <a:r>
              <a:rPr sz="1400" spc="-5" dirty="0">
                <a:latin typeface="Arial MT"/>
                <a:cs typeface="Arial MT"/>
              </a:rPr>
              <a:t>System</a:t>
            </a:r>
            <a:r>
              <a:rPr sz="1400" spc="-75" dirty="0">
                <a:latin typeface="Arial MT"/>
                <a:cs typeface="Arial MT"/>
              </a:rPr>
              <a:t> </a:t>
            </a:r>
            <a:r>
              <a:rPr sz="1400" spc="-5" dirty="0">
                <a:latin typeface="Arial MT"/>
                <a:cs typeface="Arial MT"/>
              </a:rPr>
              <a:t>Bus</a:t>
            </a:r>
            <a:endParaRPr sz="1400">
              <a:latin typeface="Arial MT"/>
              <a:cs typeface="Arial MT"/>
            </a:endParaRPr>
          </a:p>
        </p:txBody>
      </p:sp>
      <p:graphicFrame>
        <p:nvGraphicFramePr>
          <p:cNvPr id="16" name="object 13">
            <a:extLst>
              <a:ext uri="{FF2B5EF4-FFF2-40B4-BE49-F238E27FC236}">
                <a16:creationId xmlns:a16="http://schemas.microsoft.com/office/drawing/2014/main" id="{BF75A0F0-025D-4BEF-9B9F-2BA5E13391DE}"/>
              </a:ext>
            </a:extLst>
          </p:cNvPr>
          <p:cNvGraphicFramePr>
            <a:graphicFrameLocks noGrp="1"/>
          </p:cNvGraphicFramePr>
          <p:nvPr>
            <p:extLst>
              <p:ext uri="{D42A27DB-BD31-4B8C-83A1-F6EECF244321}">
                <p14:modId xmlns:p14="http://schemas.microsoft.com/office/powerpoint/2010/main" val="1412292608"/>
              </p:ext>
            </p:extLst>
          </p:nvPr>
        </p:nvGraphicFramePr>
        <p:xfrm>
          <a:off x="5034429" y="666750"/>
          <a:ext cx="1447800" cy="1447800"/>
        </p:xfrm>
        <a:graphic>
          <a:graphicData uri="http://schemas.openxmlformats.org/drawingml/2006/table">
            <a:tbl>
              <a:tblPr firstRow="1" bandRow="1">
                <a:tableStyleId>{2D5ABB26-0587-4C30-8999-92F81FD0307C}</a:tableStyleId>
              </a:tblPr>
              <a:tblGrid>
                <a:gridCol w="533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838200">
                <a:tc>
                  <a:txBody>
                    <a:bodyPr/>
                    <a:lstStyle/>
                    <a:p>
                      <a:pPr>
                        <a:lnSpc>
                          <a:spcPct val="100000"/>
                        </a:lnSpc>
                        <a:spcBef>
                          <a:spcPts val="50"/>
                        </a:spcBef>
                      </a:pPr>
                      <a:endParaRPr sz="1800">
                        <a:latin typeface="Times New Roman"/>
                        <a:cs typeface="Times New Roman"/>
                      </a:endParaRPr>
                    </a:p>
                    <a:p>
                      <a:pPr marL="97155">
                        <a:lnSpc>
                          <a:spcPct val="100000"/>
                        </a:lnSpc>
                      </a:pPr>
                      <a:r>
                        <a:rPr sz="1400" spc="-5" dirty="0">
                          <a:latin typeface="Arial MT"/>
                          <a:cs typeface="Arial MT"/>
                        </a:rPr>
                        <a:t>ALU</a:t>
                      </a:r>
                      <a:endParaRPr sz="1400">
                        <a:latin typeface="Arial MT"/>
                        <a:cs typeface="Arial MT"/>
                      </a:endParaRPr>
                    </a:p>
                  </a:txBody>
                  <a:tcPr marL="0" marR="0" marT="63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FFFF"/>
                    </a:solidFill>
                  </a:tcPr>
                </a:tc>
                <a:tc>
                  <a:txBody>
                    <a:bodyPr/>
                    <a:lstStyle/>
                    <a:p>
                      <a:pPr>
                        <a:lnSpc>
                          <a:spcPct val="100000"/>
                        </a:lnSpc>
                        <a:spcBef>
                          <a:spcPts val="5"/>
                        </a:spcBef>
                      </a:pPr>
                      <a:endParaRPr sz="1250">
                        <a:latin typeface="Times New Roman"/>
                        <a:cs typeface="Times New Roman"/>
                      </a:endParaRPr>
                    </a:p>
                    <a:p>
                      <a:pPr marL="128905" marR="114300">
                        <a:lnSpc>
                          <a:spcPct val="100000"/>
                        </a:lnSpc>
                        <a:spcBef>
                          <a:spcPts val="5"/>
                        </a:spcBef>
                      </a:pPr>
                      <a:r>
                        <a:rPr sz="1400" spc="-5" dirty="0">
                          <a:latin typeface="Arial MT"/>
                          <a:cs typeface="Arial MT"/>
                        </a:rPr>
                        <a:t>R</a:t>
                      </a:r>
                      <a:r>
                        <a:rPr sz="1400" dirty="0">
                          <a:latin typeface="Arial MT"/>
                          <a:cs typeface="Arial MT"/>
                        </a:rPr>
                        <a:t>egister  </a:t>
                      </a:r>
                      <a:r>
                        <a:rPr sz="1400" spc="-5" dirty="0">
                          <a:latin typeface="Arial MT"/>
                          <a:cs typeface="Arial MT"/>
                        </a:rPr>
                        <a:t>Array</a:t>
                      </a:r>
                      <a:endParaRPr sz="1400">
                        <a:latin typeface="Arial MT"/>
                        <a:cs typeface="Arial MT"/>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FFFF"/>
                    </a:solidFill>
                  </a:tcPr>
                </a:tc>
                <a:extLst>
                  <a:ext uri="{0D108BD9-81ED-4DB2-BD59-A6C34878D82A}">
                    <a16:rowId xmlns:a16="http://schemas.microsoft.com/office/drawing/2014/main" val="10000"/>
                  </a:ext>
                </a:extLst>
              </a:tr>
              <a:tr h="609600">
                <a:tc gridSpan="2">
                  <a:txBody>
                    <a:bodyPr/>
                    <a:lstStyle/>
                    <a:p>
                      <a:pPr>
                        <a:lnSpc>
                          <a:spcPct val="100000"/>
                        </a:lnSpc>
                        <a:spcBef>
                          <a:spcPts val="25"/>
                        </a:spcBef>
                      </a:pPr>
                      <a:endParaRPr sz="1450">
                        <a:latin typeface="Times New Roman"/>
                        <a:cs typeface="Times New Roman"/>
                      </a:endParaRPr>
                    </a:p>
                    <a:p>
                      <a:pPr marL="411480">
                        <a:lnSpc>
                          <a:spcPct val="100000"/>
                        </a:lnSpc>
                        <a:spcBef>
                          <a:spcPts val="5"/>
                        </a:spcBef>
                      </a:pPr>
                      <a:r>
                        <a:rPr sz="1400" spc="-5" dirty="0">
                          <a:latin typeface="Arial MT"/>
                          <a:cs typeface="Arial MT"/>
                        </a:rPr>
                        <a:t>Control</a:t>
                      </a:r>
                      <a:endParaRPr sz="1400">
                        <a:latin typeface="Arial MT"/>
                        <a:cs typeface="Arial MT"/>
                      </a:endParaRPr>
                    </a:p>
                  </a:txBody>
                  <a:tcPr marL="0" marR="0" marT="3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FFFF"/>
                    </a:solidFill>
                  </a:tcPr>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pSp>
        <p:nvGrpSpPr>
          <p:cNvPr id="17" name="object 14">
            <a:extLst>
              <a:ext uri="{FF2B5EF4-FFF2-40B4-BE49-F238E27FC236}">
                <a16:creationId xmlns:a16="http://schemas.microsoft.com/office/drawing/2014/main" id="{0DB9A2D5-98D0-4778-BC5A-5513A5113720}"/>
              </a:ext>
            </a:extLst>
          </p:cNvPr>
          <p:cNvGrpSpPr/>
          <p:nvPr/>
        </p:nvGrpSpPr>
        <p:grpSpPr>
          <a:xfrm>
            <a:off x="7803029" y="1219200"/>
            <a:ext cx="187325" cy="201930"/>
            <a:chOff x="5276850" y="3289300"/>
            <a:chExt cx="187325" cy="201930"/>
          </a:xfrm>
        </p:grpSpPr>
        <p:sp>
          <p:nvSpPr>
            <p:cNvPr id="18" name="object 15">
              <a:extLst>
                <a:ext uri="{FF2B5EF4-FFF2-40B4-BE49-F238E27FC236}">
                  <a16:creationId xmlns:a16="http://schemas.microsoft.com/office/drawing/2014/main" id="{F671843E-99BD-4D58-91EF-41D90DEF0744}"/>
                </a:ext>
              </a:extLst>
            </p:cNvPr>
            <p:cNvSpPr/>
            <p:nvPr/>
          </p:nvSpPr>
          <p:spPr>
            <a:xfrm>
              <a:off x="5276850" y="3295650"/>
              <a:ext cx="186055" cy="0"/>
            </a:xfrm>
            <a:custGeom>
              <a:avLst/>
              <a:gdLst/>
              <a:ahLst/>
              <a:cxnLst/>
              <a:rect l="l" t="t" r="r" b="b"/>
              <a:pathLst>
                <a:path w="186054">
                  <a:moveTo>
                    <a:pt x="0" y="0"/>
                  </a:moveTo>
                  <a:lnTo>
                    <a:pt x="185737" y="0"/>
                  </a:lnTo>
                </a:path>
              </a:pathLst>
            </a:custGeom>
            <a:ln w="12700">
              <a:solidFill>
                <a:srgbClr val="FF9999"/>
              </a:solidFill>
            </a:ln>
          </p:spPr>
          <p:txBody>
            <a:bodyPr wrap="square" lIns="0" tIns="0" rIns="0" bIns="0" rtlCol="0"/>
            <a:lstStyle/>
            <a:p>
              <a:endParaRPr/>
            </a:p>
          </p:txBody>
        </p:sp>
        <p:sp>
          <p:nvSpPr>
            <p:cNvPr id="19" name="object 16">
              <a:extLst>
                <a:ext uri="{FF2B5EF4-FFF2-40B4-BE49-F238E27FC236}">
                  <a16:creationId xmlns:a16="http://schemas.microsoft.com/office/drawing/2014/main" id="{E91AC785-C72A-4D10-B4D0-0CE6477A71EE}"/>
                </a:ext>
              </a:extLst>
            </p:cNvPr>
            <p:cNvSpPr/>
            <p:nvPr/>
          </p:nvSpPr>
          <p:spPr>
            <a:xfrm>
              <a:off x="5278437" y="3484562"/>
              <a:ext cx="186055" cy="0"/>
            </a:xfrm>
            <a:custGeom>
              <a:avLst/>
              <a:gdLst/>
              <a:ahLst/>
              <a:cxnLst/>
              <a:rect l="l" t="t" r="r" b="b"/>
              <a:pathLst>
                <a:path w="186054">
                  <a:moveTo>
                    <a:pt x="0" y="0"/>
                  </a:moveTo>
                  <a:lnTo>
                    <a:pt x="185737" y="0"/>
                  </a:lnTo>
                </a:path>
              </a:pathLst>
            </a:custGeom>
            <a:ln w="12700">
              <a:solidFill>
                <a:srgbClr val="FF9999"/>
              </a:solidFill>
            </a:ln>
          </p:spPr>
          <p:txBody>
            <a:bodyPr wrap="square" lIns="0" tIns="0" rIns="0" bIns="0" rtlCol="0"/>
            <a:lstStyle/>
            <a:p>
              <a:endParaRPr/>
            </a:p>
          </p:txBody>
        </p:sp>
      </p:grpSp>
      <p:sp>
        <p:nvSpPr>
          <p:cNvPr id="20" name="object 4">
            <a:extLst>
              <a:ext uri="{FF2B5EF4-FFF2-40B4-BE49-F238E27FC236}">
                <a16:creationId xmlns:a16="http://schemas.microsoft.com/office/drawing/2014/main" id="{81C93B64-A975-4AA9-AB92-94F7E97BB9F1}"/>
              </a:ext>
            </a:extLst>
          </p:cNvPr>
          <p:cNvSpPr txBox="1"/>
          <p:nvPr/>
        </p:nvSpPr>
        <p:spPr>
          <a:xfrm>
            <a:off x="4800600" y="2425699"/>
            <a:ext cx="4191000" cy="2008883"/>
          </a:xfrm>
          <a:prstGeom prst="rect">
            <a:avLst/>
          </a:prstGeom>
        </p:spPr>
        <p:txBody>
          <a:bodyPr vert="horz" wrap="square" lIns="0" tIns="99695" rIns="0" bIns="0" rtlCol="0">
            <a:spAutoFit/>
          </a:bodyPr>
          <a:lstStyle/>
          <a:p>
            <a:pPr marL="355600" indent="-343535">
              <a:lnSpc>
                <a:spcPct val="100000"/>
              </a:lnSpc>
              <a:spcBef>
                <a:spcPts val="785"/>
              </a:spcBef>
              <a:buChar char="•"/>
              <a:tabLst>
                <a:tab pos="355600" algn="l"/>
                <a:tab pos="356235" algn="l"/>
              </a:tabLst>
            </a:pPr>
            <a:r>
              <a:rPr sz="1600" spc="-5" dirty="0">
                <a:latin typeface="+mj-lt"/>
                <a:cs typeface="Times New Roman"/>
              </a:rPr>
              <a:t>To</a:t>
            </a:r>
            <a:r>
              <a:rPr sz="1600" spc="-20" dirty="0">
                <a:latin typeface="+mj-lt"/>
                <a:cs typeface="Times New Roman"/>
              </a:rPr>
              <a:t> </a:t>
            </a:r>
            <a:r>
              <a:rPr sz="1600" spc="-5" dirty="0">
                <a:latin typeface="+mj-lt"/>
                <a:cs typeface="Times New Roman"/>
              </a:rPr>
              <a:t>execute</a:t>
            </a:r>
            <a:r>
              <a:rPr sz="1600" spc="-40" dirty="0">
                <a:latin typeface="+mj-lt"/>
                <a:cs typeface="Times New Roman"/>
              </a:rPr>
              <a:t> </a:t>
            </a:r>
            <a:r>
              <a:rPr sz="1600" dirty="0">
                <a:latin typeface="+mj-lt"/>
                <a:cs typeface="Times New Roman"/>
              </a:rPr>
              <a:t>a</a:t>
            </a:r>
            <a:r>
              <a:rPr sz="1600" spc="-15" dirty="0">
                <a:latin typeface="+mj-lt"/>
                <a:cs typeface="Times New Roman"/>
              </a:rPr>
              <a:t> </a:t>
            </a:r>
            <a:r>
              <a:rPr sz="1600" spc="-5" dirty="0">
                <a:latin typeface="+mj-lt"/>
                <a:cs typeface="Times New Roman"/>
              </a:rPr>
              <a:t>program:</a:t>
            </a:r>
            <a:endParaRPr sz="1600" dirty="0">
              <a:latin typeface="+mj-lt"/>
              <a:cs typeface="Times New Roman"/>
            </a:endParaRPr>
          </a:p>
          <a:p>
            <a:pPr marL="755650" marR="5080" lvl="1" indent="-286385">
              <a:lnSpc>
                <a:spcPct val="100000"/>
              </a:lnSpc>
              <a:spcBef>
                <a:spcPts val="585"/>
              </a:spcBef>
              <a:buChar char="–"/>
              <a:tabLst>
                <a:tab pos="755650" algn="l"/>
                <a:tab pos="756285" algn="l"/>
              </a:tabLst>
            </a:pPr>
            <a:r>
              <a:rPr sz="1400" spc="-5" dirty="0">
                <a:latin typeface="+mj-lt"/>
                <a:cs typeface="Times New Roman"/>
              </a:rPr>
              <a:t>the user enters its</a:t>
            </a:r>
            <a:r>
              <a:rPr sz="1400" dirty="0">
                <a:latin typeface="+mj-lt"/>
                <a:cs typeface="Times New Roman"/>
              </a:rPr>
              <a:t> </a:t>
            </a:r>
            <a:r>
              <a:rPr sz="1400" spc="-5" dirty="0">
                <a:latin typeface="+mj-lt"/>
                <a:cs typeface="Times New Roman"/>
              </a:rPr>
              <a:t>instructions in binary format into the </a:t>
            </a:r>
            <a:r>
              <a:rPr sz="1400" spc="-585" dirty="0">
                <a:latin typeface="+mj-lt"/>
                <a:cs typeface="Times New Roman"/>
              </a:rPr>
              <a:t> </a:t>
            </a:r>
            <a:r>
              <a:rPr sz="1400" spc="-5" dirty="0">
                <a:latin typeface="+mj-lt"/>
                <a:cs typeface="Times New Roman"/>
              </a:rPr>
              <a:t>memory.</a:t>
            </a:r>
            <a:endParaRPr sz="1400" dirty="0">
              <a:latin typeface="+mj-lt"/>
              <a:cs typeface="Times New Roman"/>
            </a:endParaRPr>
          </a:p>
          <a:p>
            <a:pPr marL="755650" marR="81280" lvl="1" indent="-286385">
              <a:lnSpc>
                <a:spcPct val="100000"/>
              </a:lnSpc>
              <a:spcBef>
                <a:spcPts val="575"/>
              </a:spcBef>
              <a:buChar char="–"/>
              <a:tabLst>
                <a:tab pos="755650" algn="l"/>
                <a:tab pos="756285" algn="l"/>
              </a:tabLst>
            </a:pPr>
            <a:r>
              <a:rPr sz="1400" spc="-5" dirty="0">
                <a:latin typeface="+mj-lt"/>
                <a:cs typeface="Times New Roman"/>
              </a:rPr>
              <a:t>The microprocessor then reads these instructions </a:t>
            </a:r>
            <a:r>
              <a:rPr sz="1400" dirty="0">
                <a:latin typeface="+mj-lt"/>
                <a:cs typeface="Times New Roman"/>
              </a:rPr>
              <a:t>and </a:t>
            </a:r>
            <a:r>
              <a:rPr sz="1400" spc="5" dirty="0">
                <a:latin typeface="+mj-lt"/>
                <a:cs typeface="Times New Roman"/>
              </a:rPr>
              <a:t> </a:t>
            </a:r>
            <a:r>
              <a:rPr sz="1400" spc="-5" dirty="0">
                <a:latin typeface="+mj-lt"/>
                <a:cs typeface="Times New Roman"/>
              </a:rPr>
              <a:t>whatever data is </a:t>
            </a:r>
            <a:r>
              <a:rPr sz="1400" dirty="0">
                <a:latin typeface="+mj-lt"/>
                <a:cs typeface="Times New Roman"/>
              </a:rPr>
              <a:t>needed </a:t>
            </a:r>
            <a:r>
              <a:rPr sz="1400" spc="-5" dirty="0">
                <a:latin typeface="+mj-lt"/>
                <a:cs typeface="Times New Roman"/>
              </a:rPr>
              <a:t>from </a:t>
            </a:r>
            <a:r>
              <a:rPr sz="1400" dirty="0">
                <a:latin typeface="+mj-lt"/>
                <a:cs typeface="Times New Roman"/>
              </a:rPr>
              <a:t>memory, </a:t>
            </a:r>
            <a:r>
              <a:rPr sz="1400" spc="-5" dirty="0">
                <a:latin typeface="+mj-lt"/>
                <a:cs typeface="Times New Roman"/>
              </a:rPr>
              <a:t>executes the </a:t>
            </a:r>
            <a:r>
              <a:rPr sz="1400" dirty="0">
                <a:latin typeface="+mj-lt"/>
                <a:cs typeface="Times New Roman"/>
              </a:rPr>
              <a:t> </a:t>
            </a:r>
            <a:r>
              <a:rPr sz="1400" spc="-5" dirty="0">
                <a:latin typeface="+mj-lt"/>
                <a:cs typeface="Times New Roman"/>
              </a:rPr>
              <a:t>instructions </a:t>
            </a:r>
            <a:r>
              <a:rPr sz="1400" dirty="0">
                <a:latin typeface="+mj-lt"/>
                <a:cs typeface="Times New Roman"/>
              </a:rPr>
              <a:t>and </a:t>
            </a:r>
            <a:r>
              <a:rPr sz="1400" spc="-5" dirty="0">
                <a:latin typeface="+mj-lt"/>
                <a:cs typeface="Times New Roman"/>
              </a:rPr>
              <a:t>places the results either in </a:t>
            </a:r>
            <a:r>
              <a:rPr sz="1400" dirty="0">
                <a:latin typeface="+mj-lt"/>
                <a:cs typeface="Times New Roman"/>
              </a:rPr>
              <a:t>memory or </a:t>
            </a:r>
            <a:r>
              <a:rPr sz="1400" spc="-585" dirty="0">
                <a:latin typeface="+mj-lt"/>
                <a:cs typeface="Times New Roman"/>
              </a:rPr>
              <a:t> </a:t>
            </a:r>
            <a:r>
              <a:rPr sz="1400" spc="-5" dirty="0">
                <a:latin typeface="+mj-lt"/>
                <a:cs typeface="Times New Roman"/>
              </a:rPr>
              <a:t>produces</a:t>
            </a:r>
            <a:r>
              <a:rPr sz="1400" spc="-10" dirty="0">
                <a:latin typeface="+mj-lt"/>
                <a:cs typeface="Times New Roman"/>
              </a:rPr>
              <a:t> </a:t>
            </a:r>
            <a:r>
              <a:rPr sz="1400" spc="-5" dirty="0">
                <a:latin typeface="+mj-lt"/>
                <a:cs typeface="Times New Roman"/>
              </a:rPr>
              <a:t>it</a:t>
            </a:r>
            <a:r>
              <a:rPr sz="1400" spc="-10" dirty="0">
                <a:latin typeface="+mj-lt"/>
                <a:cs typeface="Times New Roman"/>
              </a:rPr>
              <a:t> </a:t>
            </a:r>
            <a:r>
              <a:rPr sz="1400" dirty="0">
                <a:latin typeface="+mj-lt"/>
                <a:cs typeface="Times New Roman"/>
              </a:rPr>
              <a:t>on</a:t>
            </a:r>
            <a:r>
              <a:rPr sz="1400" spc="-5" dirty="0">
                <a:latin typeface="+mj-lt"/>
                <a:cs typeface="Times New Roman"/>
              </a:rPr>
              <a:t> </a:t>
            </a:r>
            <a:r>
              <a:rPr sz="1400" dirty="0">
                <a:latin typeface="+mj-lt"/>
                <a:cs typeface="Times New Roman"/>
              </a:rPr>
              <a:t>an</a:t>
            </a:r>
            <a:r>
              <a:rPr sz="1400" spc="-10" dirty="0">
                <a:latin typeface="+mj-lt"/>
                <a:cs typeface="Times New Roman"/>
              </a:rPr>
              <a:t> </a:t>
            </a:r>
            <a:r>
              <a:rPr sz="1400" spc="-5" dirty="0">
                <a:latin typeface="+mj-lt"/>
                <a:cs typeface="Times New Roman"/>
              </a:rPr>
              <a:t>output</a:t>
            </a:r>
            <a:r>
              <a:rPr sz="1400" spc="-10" dirty="0">
                <a:latin typeface="+mj-lt"/>
                <a:cs typeface="Times New Roman"/>
              </a:rPr>
              <a:t> </a:t>
            </a:r>
            <a:r>
              <a:rPr sz="1400" spc="-5" dirty="0">
                <a:latin typeface="+mj-lt"/>
                <a:cs typeface="Times New Roman"/>
              </a:rPr>
              <a:t>device.</a:t>
            </a:r>
            <a:endParaRPr sz="1400" dirty="0">
              <a:latin typeface="+mj-lt"/>
              <a:cs typeface="Times New Roman"/>
            </a:endParaRPr>
          </a:p>
        </p:txBody>
      </p:sp>
      <p:sp>
        <p:nvSpPr>
          <p:cNvPr id="21" name="Date Placeholder 20">
            <a:extLst>
              <a:ext uri="{FF2B5EF4-FFF2-40B4-BE49-F238E27FC236}">
                <a16:creationId xmlns:a16="http://schemas.microsoft.com/office/drawing/2014/main" id="{7211A4AD-9791-4A8F-9473-DEB4BF08AC0A}"/>
              </a:ext>
            </a:extLst>
          </p:cNvPr>
          <p:cNvSpPr>
            <a:spLocks noGrp="1"/>
          </p:cNvSpPr>
          <p:nvPr>
            <p:ph type="dt" sz="half" idx="10"/>
          </p:nvPr>
        </p:nvSpPr>
        <p:spPr/>
        <p:txBody>
          <a:bodyPr/>
          <a:lstStyle/>
          <a:p>
            <a:fld id="{3EB7FB70-69B4-4A67-8697-A73D4C6F11CC}" type="datetime1">
              <a:rPr lang="en-US" smtClean="0"/>
              <a:t>7/31/2023</a:t>
            </a:fld>
            <a:endParaRPr lang="en-US"/>
          </a:p>
        </p:txBody>
      </p:sp>
      <p:sp>
        <p:nvSpPr>
          <p:cNvPr id="22" name="Slide Number Placeholder 21">
            <a:extLst>
              <a:ext uri="{FF2B5EF4-FFF2-40B4-BE49-F238E27FC236}">
                <a16:creationId xmlns:a16="http://schemas.microsoft.com/office/drawing/2014/main" id="{670D2128-E7CE-4AE8-8124-E46F3F313D2C}"/>
              </a:ext>
            </a:extLst>
          </p:cNvPr>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2165781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spc="-5" dirty="0"/>
              <a:t>Memory</a:t>
            </a:r>
            <a:r>
              <a:rPr lang="en-US" sz="3200" spc="-25" dirty="0"/>
              <a:t> </a:t>
            </a:r>
            <a:r>
              <a:rPr lang="en-US" sz="3200" spc="-5" dirty="0"/>
              <a:t>Map</a:t>
            </a:r>
            <a:r>
              <a:rPr lang="en-US" sz="3200" spc="-15" dirty="0"/>
              <a:t> </a:t>
            </a:r>
            <a:r>
              <a:rPr lang="en-US" sz="3200" spc="-5" dirty="0"/>
              <a:t>and</a:t>
            </a:r>
            <a:r>
              <a:rPr lang="en-US" sz="3200" spc="-15" dirty="0"/>
              <a:t> </a:t>
            </a:r>
            <a:r>
              <a:rPr lang="en-US" sz="3200" spc="-5" dirty="0"/>
              <a:t>Addresses</a:t>
            </a: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a:tabLst>
                <a:tab pos="463550" algn="l"/>
              </a:tabLst>
            </a:pPr>
            <a:r>
              <a:rPr lang="en-US" sz="2000" spc="-5" dirty="0">
                <a:latin typeface="+mj-lt"/>
                <a:cs typeface="Times New Roman"/>
              </a:rPr>
              <a:t>The memory</a:t>
            </a:r>
            <a:r>
              <a:rPr lang="en-US" sz="2000" dirty="0">
                <a:latin typeface="+mj-lt"/>
                <a:cs typeface="Times New Roman"/>
              </a:rPr>
              <a:t> </a:t>
            </a:r>
            <a:r>
              <a:rPr lang="en-US" sz="2000" spc="-5" dirty="0">
                <a:latin typeface="+mj-lt"/>
                <a:cs typeface="Times New Roman"/>
              </a:rPr>
              <a:t>map</a:t>
            </a:r>
            <a:r>
              <a:rPr lang="en-US" sz="2000" spc="5" dirty="0">
                <a:latin typeface="+mj-lt"/>
                <a:cs typeface="Times New Roman"/>
              </a:rPr>
              <a:t> </a:t>
            </a:r>
            <a:r>
              <a:rPr lang="en-US" sz="2000" spc="-5" dirty="0">
                <a:latin typeface="+mj-lt"/>
                <a:cs typeface="Times New Roman"/>
              </a:rPr>
              <a:t>is</a:t>
            </a:r>
            <a:r>
              <a:rPr lang="en-US" sz="2000" spc="5" dirty="0">
                <a:latin typeface="+mj-lt"/>
                <a:cs typeface="Times New Roman"/>
              </a:rPr>
              <a:t> </a:t>
            </a:r>
            <a:r>
              <a:rPr lang="en-US" sz="2000" spc="-5" dirty="0">
                <a:latin typeface="+mj-lt"/>
                <a:cs typeface="Times New Roman"/>
              </a:rPr>
              <a:t>a</a:t>
            </a:r>
            <a:r>
              <a:rPr lang="en-US" sz="2000" spc="5" dirty="0">
                <a:latin typeface="+mj-lt"/>
                <a:cs typeface="Times New Roman"/>
              </a:rPr>
              <a:t> </a:t>
            </a:r>
            <a:r>
              <a:rPr lang="en-US" sz="2000" spc="-5" dirty="0">
                <a:latin typeface="+mj-lt"/>
                <a:cs typeface="Times New Roman"/>
              </a:rPr>
              <a:t>picture</a:t>
            </a:r>
            <a:r>
              <a:rPr lang="en-US" sz="2000" spc="10" dirty="0">
                <a:latin typeface="+mj-lt"/>
                <a:cs typeface="Times New Roman"/>
              </a:rPr>
              <a:t> </a:t>
            </a:r>
            <a:r>
              <a:rPr lang="en-US" sz="2000" spc="-5" dirty="0">
                <a:latin typeface="+mj-lt"/>
                <a:cs typeface="Times New Roman"/>
              </a:rPr>
              <a:t>representation </a:t>
            </a:r>
            <a:r>
              <a:rPr lang="en-US" sz="2000" spc="-785" dirty="0">
                <a:latin typeface="+mj-lt"/>
                <a:cs typeface="Times New Roman"/>
              </a:rPr>
              <a:t> </a:t>
            </a:r>
            <a:r>
              <a:rPr lang="en-US" sz="2000" spc="-5" dirty="0">
                <a:latin typeface="+mj-lt"/>
                <a:cs typeface="Times New Roman"/>
              </a:rPr>
              <a:t>of</a:t>
            </a:r>
            <a:r>
              <a:rPr lang="en-US" sz="2000" spc="-15" dirty="0">
                <a:latin typeface="+mj-lt"/>
                <a:cs typeface="Times New Roman"/>
              </a:rPr>
              <a:t> </a:t>
            </a:r>
            <a:r>
              <a:rPr lang="en-US" sz="2000" spc="-5" dirty="0">
                <a:latin typeface="+mj-lt"/>
                <a:cs typeface="Times New Roman"/>
              </a:rPr>
              <a:t>the</a:t>
            </a:r>
            <a:r>
              <a:rPr lang="en-US" sz="2000" spc="5" dirty="0">
                <a:latin typeface="+mj-lt"/>
                <a:cs typeface="Times New Roman"/>
              </a:rPr>
              <a:t> </a:t>
            </a:r>
            <a:r>
              <a:rPr lang="en-US" sz="2000" spc="-5" dirty="0">
                <a:latin typeface="+mj-lt"/>
                <a:cs typeface="Times New Roman"/>
              </a:rPr>
              <a:t>address</a:t>
            </a:r>
            <a:r>
              <a:rPr lang="en-US" sz="2000" spc="10" dirty="0">
                <a:latin typeface="+mj-lt"/>
                <a:cs typeface="Times New Roman"/>
              </a:rPr>
              <a:t> </a:t>
            </a:r>
            <a:r>
              <a:rPr lang="en-US" sz="2000" spc="-5" dirty="0">
                <a:latin typeface="+mj-lt"/>
                <a:cs typeface="Times New Roman"/>
              </a:rPr>
              <a:t>range</a:t>
            </a:r>
            <a:r>
              <a:rPr lang="en-US" sz="2000" spc="5" dirty="0">
                <a:latin typeface="+mj-lt"/>
                <a:cs typeface="Times New Roman"/>
              </a:rPr>
              <a:t> </a:t>
            </a:r>
            <a:r>
              <a:rPr lang="en-US" sz="2000" spc="-5" dirty="0">
                <a:latin typeface="+mj-lt"/>
                <a:cs typeface="Times New Roman"/>
              </a:rPr>
              <a:t>and</a:t>
            </a:r>
            <a:r>
              <a:rPr lang="en-US" sz="2000" dirty="0">
                <a:latin typeface="+mj-lt"/>
                <a:cs typeface="Times New Roman"/>
              </a:rPr>
              <a:t> </a:t>
            </a:r>
            <a:r>
              <a:rPr lang="en-US" sz="2000" spc="-5" dirty="0">
                <a:latin typeface="+mj-lt"/>
                <a:cs typeface="Times New Roman"/>
              </a:rPr>
              <a:t>shows</a:t>
            </a:r>
            <a:r>
              <a:rPr lang="en-US" sz="2000" spc="10" dirty="0">
                <a:latin typeface="+mj-lt"/>
                <a:cs typeface="Times New Roman"/>
              </a:rPr>
              <a:t> </a:t>
            </a:r>
            <a:r>
              <a:rPr lang="en-US" sz="2000" spc="-5" dirty="0">
                <a:latin typeface="+mj-lt"/>
                <a:cs typeface="Times New Roman"/>
              </a:rPr>
              <a:t>where</a:t>
            </a:r>
            <a:r>
              <a:rPr lang="en-US" sz="2000" spc="5" dirty="0">
                <a:latin typeface="+mj-lt"/>
                <a:cs typeface="Times New Roman"/>
              </a:rPr>
              <a:t> </a:t>
            </a:r>
            <a:r>
              <a:rPr lang="en-US" sz="2000" spc="-5" dirty="0">
                <a:latin typeface="+mj-lt"/>
                <a:cs typeface="Times New Roman"/>
              </a:rPr>
              <a:t>the </a:t>
            </a:r>
            <a:r>
              <a:rPr lang="en-US" sz="2000" dirty="0">
                <a:latin typeface="+mj-lt"/>
                <a:cs typeface="Times New Roman"/>
              </a:rPr>
              <a:t> </a:t>
            </a:r>
            <a:r>
              <a:rPr lang="en-US" sz="2000" spc="-5" dirty="0">
                <a:latin typeface="+mj-lt"/>
                <a:cs typeface="Times New Roman"/>
              </a:rPr>
              <a:t>different memory</a:t>
            </a:r>
            <a:r>
              <a:rPr lang="en-US" sz="2000" dirty="0">
                <a:latin typeface="+mj-lt"/>
                <a:cs typeface="Times New Roman"/>
              </a:rPr>
              <a:t> </a:t>
            </a:r>
            <a:r>
              <a:rPr lang="en-US" sz="2000" spc="-5" dirty="0">
                <a:latin typeface="+mj-lt"/>
                <a:cs typeface="Times New Roman"/>
              </a:rPr>
              <a:t>chips</a:t>
            </a:r>
            <a:r>
              <a:rPr lang="en-US" sz="2000" spc="5" dirty="0">
                <a:latin typeface="+mj-lt"/>
                <a:cs typeface="Times New Roman"/>
              </a:rPr>
              <a:t> </a:t>
            </a:r>
            <a:r>
              <a:rPr lang="en-US" sz="2000" spc="-5" dirty="0">
                <a:latin typeface="+mj-lt"/>
                <a:cs typeface="Times New Roman"/>
              </a:rPr>
              <a:t>are</a:t>
            </a:r>
            <a:r>
              <a:rPr lang="en-US" sz="2000" spc="10" dirty="0">
                <a:latin typeface="+mj-lt"/>
                <a:cs typeface="Times New Roman"/>
              </a:rPr>
              <a:t> </a:t>
            </a:r>
            <a:r>
              <a:rPr lang="en-US" sz="2000" spc="-5" dirty="0">
                <a:latin typeface="+mj-lt"/>
                <a:cs typeface="Times New Roman"/>
              </a:rPr>
              <a:t>located</a:t>
            </a:r>
            <a:r>
              <a:rPr lang="en-US" sz="2000" spc="5" dirty="0">
                <a:latin typeface="+mj-lt"/>
                <a:cs typeface="Times New Roman"/>
              </a:rPr>
              <a:t> </a:t>
            </a:r>
            <a:r>
              <a:rPr lang="en-US" sz="2000" spc="-5" dirty="0">
                <a:latin typeface="+mj-lt"/>
                <a:cs typeface="Times New Roman"/>
              </a:rPr>
              <a:t>within </a:t>
            </a:r>
            <a:r>
              <a:rPr lang="en-US" sz="2000" dirty="0">
                <a:latin typeface="+mj-lt"/>
                <a:cs typeface="Times New Roman"/>
              </a:rPr>
              <a:t> </a:t>
            </a:r>
            <a:r>
              <a:rPr lang="en-US" sz="2000" spc="-5" dirty="0">
                <a:latin typeface="+mj-lt"/>
                <a:cs typeface="Times New Roman"/>
              </a:rPr>
              <a:t>the</a:t>
            </a:r>
            <a:r>
              <a:rPr lang="en-US" sz="2000" spc="-10" dirty="0">
                <a:latin typeface="+mj-lt"/>
                <a:cs typeface="Times New Roman"/>
              </a:rPr>
              <a:t> </a:t>
            </a:r>
            <a:r>
              <a:rPr lang="en-US" sz="2000" spc="-5" dirty="0">
                <a:latin typeface="+mj-lt"/>
                <a:cs typeface="Times New Roman"/>
              </a:rPr>
              <a:t>address</a:t>
            </a:r>
            <a:r>
              <a:rPr lang="en-US" sz="2000" spc="15" dirty="0">
                <a:latin typeface="+mj-lt"/>
                <a:cs typeface="Times New Roman"/>
              </a:rPr>
              <a:t> </a:t>
            </a:r>
            <a:r>
              <a:rPr lang="en-US" sz="2000" spc="-5" dirty="0">
                <a:latin typeface="+mj-lt"/>
                <a:cs typeface="Times New Roman"/>
              </a:rPr>
              <a:t>range.</a:t>
            </a:r>
            <a:endParaRPr lang="en-US" sz="2000" dirty="0">
              <a:latin typeface="+mj-lt"/>
              <a:cs typeface="Times New Roman"/>
            </a:endParaRPr>
          </a:p>
          <a:p>
            <a:pPr>
              <a:tabLst>
                <a:tab pos="463550" algn="l"/>
              </a:tabLst>
            </a:pPr>
            <a:endParaRPr lang="en-US" sz="2000" dirty="0">
              <a:latin typeface="+mj-lt"/>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object 4">
            <a:extLst>
              <a:ext uri="{FF2B5EF4-FFF2-40B4-BE49-F238E27FC236}">
                <a16:creationId xmlns:a16="http://schemas.microsoft.com/office/drawing/2014/main" id="{5FC93D7C-EF18-4517-BE50-9F96033BD557}"/>
              </a:ext>
            </a:extLst>
          </p:cNvPr>
          <p:cNvSpPr txBox="1"/>
          <p:nvPr/>
        </p:nvSpPr>
        <p:spPr>
          <a:xfrm>
            <a:off x="2666416" y="4640885"/>
            <a:ext cx="336550" cy="178435"/>
          </a:xfrm>
          <a:prstGeom prst="rect">
            <a:avLst/>
          </a:prstGeom>
        </p:spPr>
        <p:txBody>
          <a:bodyPr vert="horz" wrap="square" lIns="0" tIns="12700" rIns="0" bIns="0" rtlCol="0">
            <a:spAutoFit/>
          </a:bodyPr>
          <a:lstStyle/>
          <a:p>
            <a:pPr marL="12700">
              <a:lnSpc>
                <a:spcPct val="100000"/>
              </a:lnSpc>
              <a:spcBef>
                <a:spcPts val="100"/>
              </a:spcBef>
            </a:pPr>
            <a:r>
              <a:rPr sz="1000" dirty="0">
                <a:latin typeface="Arial MT"/>
                <a:cs typeface="Arial MT"/>
              </a:rPr>
              <a:t>FFFF</a:t>
            </a:r>
            <a:endParaRPr sz="1000">
              <a:latin typeface="Arial MT"/>
              <a:cs typeface="Arial MT"/>
            </a:endParaRPr>
          </a:p>
        </p:txBody>
      </p:sp>
      <p:grpSp>
        <p:nvGrpSpPr>
          <p:cNvPr id="8" name="object 5">
            <a:extLst>
              <a:ext uri="{FF2B5EF4-FFF2-40B4-BE49-F238E27FC236}">
                <a16:creationId xmlns:a16="http://schemas.microsoft.com/office/drawing/2014/main" id="{E72A61DC-D30A-4B45-8ED0-C715972FC908}"/>
              </a:ext>
            </a:extLst>
          </p:cNvPr>
          <p:cNvGrpSpPr/>
          <p:nvPr/>
        </p:nvGrpSpPr>
        <p:grpSpPr>
          <a:xfrm>
            <a:off x="2374901" y="1763709"/>
            <a:ext cx="304800" cy="2857500"/>
            <a:chOff x="2390775" y="2844796"/>
            <a:chExt cx="304800" cy="2857500"/>
          </a:xfrm>
        </p:grpSpPr>
        <p:sp>
          <p:nvSpPr>
            <p:cNvPr id="9" name="object 6">
              <a:extLst>
                <a:ext uri="{FF2B5EF4-FFF2-40B4-BE49-F238E27FC236}">
                  <a16:creationId xmlns:a16="http://schemas.microsoft.com/office/drawing/2014/main" id="{DDCD24B8-987B-476E-B853-7173EB342502}"/>
                </a:ext>
              </a:extLst>
            </p:cNvPr>
            <p:cNvSpPr/>
            <p:nvPr/>
          </p:nvSpPr>
          <p:spPr>
            <a:xfrm>
              <a:off x="2557459" y="4959350"/>
              <a:ext cx="0" cy="679450"/>
            </a:xfrm>
            <a:custGeom>
              <a:avLst/>
              <a:gdLst/>
              <a:ahLst/>
              <a:cxnLst/>
              <a:rect l="l" t="t" r="r" b="b"/>
              <a:pathLst>
                <a:path h="679450">
                  <a:moveTo>
                    <a:pt x="0" y="0"/>
                  </a:moveTo>
                  <a:lnTo>
                    <a:pt x="0" y="679450"/>
                  </a:lnTo>
                </a:path>
              </a:pathLst>
            </a:custGeom>
            <a:ln w="12700">
              <a:solidFill>
                <a:srgbClr val="000000"/>
              </a:solidFill>
            </a:ln>
          </p:spPr>
          <p:txBody>
            <a:bodyPr wrap="square" lIns="0" tIns="0" rIns="0" bIns="0" rtlCol="0"/>
            <a:lstStyle/>
            <a:p>
              <a:endParaRPr/>
            </a:p>
          </p:txBody>
        </p:sp>
        <p:sp>
          <p:nvSpPr>
            <p:cNvPr id="10" name="object 7">
              <a:extLst>
                <a:ext uri="{FF2B5EF4-FFF2-40B4-BE49-F238E27FC236}">
                  <a16:creationId xmlns:a16="http://schemas.microsoft.com/office/drawing/2014/main" id="{50D08D10-F13C-4484-BAAB-7B3DB699DD75}"/>
                </a:ext>
              </a:extLst>
            </p:cNvPr>
            <p:cNvSpPr/>
            <p:nvPr/>
          </p:nvSpPr>
          <p:spPr>
            <a:xfrm>
              <a:off x="2519362" y="5626100"/>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1" name="object 8">
              <a:extLst>
                <a:ext uri="{FF2B5EF4-FFF2-40B4-BE49-F238E27FC236}">
                  <a16:creationId xmlns:a16="http://schemas.microsoft.com/office/drawing/2014/main" id="{1042BD78-803E-4F5E-B444-232253079468}"/>
                </a:ext>
              </a:extLst>
            </p:cNvPr>
            <p:cNvSpPr/>
            <p:nvPr/>
          </p:nvSpPr>
          <p:spPr>
            <a:xfrm>
              <a:off x="2557459" y="2908299"/>
              <a:ext cx="0" cy="622300"/>
            </a:xfrm>
            <a:custGeom>
              <a:avLst/>
              <a:gdLst/>
              <a:ahLst/>
              <a:cxnLst/>
              <a:rect l="l" t="t" r="r" b="b"/>
              <a:pathLst>
                <a:path h="622300">
                  <a:moveTo>
                    <a:pt x="0" y="0"/>
                  </a:moveTo>
                  <a:lnTo>
                    <a:pt x="0" y="622300"/>
                  </a:lnTo>
                </a:path>
              </a:pathLst>
            </a:custGeom>
            <a:ln w="12700">
              <a:solidFill>
                <a:srgbClr val="000000"/>
              </a:solidFill>
            </a:ln>
          </p:spPr>
          <p:txBody>
            <a:bodyPr wrap="square" lIns="0" tIns="0" rIns="0" bIns="0" rtlCol="0"/>
            <a:lstStyle/>
            <a:p>
              <a:endParaRPr/>
            </a:p>
          </p:txBody>
        </p:sp>
        <p:sp>
          <p:nvSpPr>
            <p:cNvPr id="12" name="object 9">
              <a:extLst>
                <a:ext uri="{FF2B5EF4-FFF2-40B4-BE49-F238E27FC236}">
                  <a16:creationId xmlns:a16="http://schemas.microsoft.com/office/drawing/2014/main" id="{79FA8B24-D468-4471-8AA0-1C1AE80508A3}"/>
                </a:ext>
              </a:extLst>
            </p:cNvPr>
            <p:cNvSpPr/>
            <p:nvPr/>
          </p:nvSpPr>
          <p:spPr>
            <a:xfrm>
              <a:off x="2519356" y="2844796"/>
              <a:ext cx="76200" cy="76835"/>
            </a:xfrm>
            <a:custGeom>
              <a:avLst/>
              <a:gdLst/>
              <a:ahLst/>
              <a:cxnLst/>
              <a:rect l="l" t="t" r="r" b="b"/>
              <a:pathLst>
                <a:path w="76200" h="76835">
                  <a:moveTo>
                    <a:pt x="38112" y="0"/>
                  </a:moveTo>
                  <a:lnTo>
                    <a:pt x="0" y="76200"/>
                  </a:lnTo>
                  <a:lnTo>
                    <a:pt x="76200" y="76212"/>
                  </a:lnTo>
                  <a:lnTo>
                    <a:pt x="38112" y="0"/>
                  </a:lnTo>
                  <a:close/>
                </a:path>
              </a:pathLst>
            </a:custGeom>
            <a:solidFill>
              <a:srgbClr val="000000"/>
            </a:solidFill>
          </p:spPr>
          <p:txBody>
            <a:bodyPr wrap="square" lIns="0" tIns="0" rIns="0" bIns="0" rtlCol="0"/>
            <a:lstStyle/>
            <a:p>
              <a:endParaRPr/>
            </a:p>
          </p:txBody>
        </p:sp>
        <p:sp>
          <p:nvSpPr>
            <p:cNvPr id="13" name="object 10">
              <a:extLst>
                <a:ext uri="{FF2B5EF4-FFF2-40B4-BE49-F238E27FC236}">
                  <a16:creationId xmlns:a16="http://schemas.microsoft.com/office/drawing/2014/main" id="{720E8803-1957-4E2B-BA64-A0C3BB08D57B}"/>
                </a:ext>
              </a:extLst>
            </p:cNvPr>
            <p:cNvSpPr/>
            <p:nvPr/>
          </p:nvSpPr>
          <p:spPr>
            <a:xfrm>
              <a:off x="2390775" y="3530599"/>
              <a:ext cx="304800" cy="1428750"/>
            </a:xfrm>
            <a:custGeom>
              <a:avLst/>
              <a:gdLst/>
              <a:ahLst/>
              <a:cxnLst/>
              <a:rect l="l" t="t" r="r" b="b"/>
              <a:pathLst>
                <a:path w="304800" h="1428750">
                  <a:moveTo>
                    <a:pt x="304800" y="0"/>
                  </a:moveTo>
                  <a:lnTo>
                    <a:pt x="0" y="0"/>
                  </a:lnTo>
                  <a:lnTo>
                    <a:pt x="0" y="1428750"/>
                  </a:lnTo>
                  <a:lnTo>
                    <a:pt x="304800" y="1428750"/>
                  </a:lnTo>
                  <a:lnTo>
                    <a:pt x="304800" y="0"/>
                  </a:lnTo>
                  <a:close/>
                </a:path>
              </a:pathLst>
            </a:custGeom>
            <a:solidFill>
              <a:srgbClr val="FFFFFF"/>
            </a:solidFill>
          </p:spPr>
          <p:txBody>
            <a:bodyPr wrap="square" lIns="0" tIns="0" rIns="0" bIns="0" rtlCol="0"/>
            <a:lstStyle/>
            <a:p>
              <a:endParaRPr/>
            </a:p>
          </p:txBody>
        </p:sp>
      </p:grpSp>
      <p:sp>
        <p:nvSpPr>
          <p:cNvPr id="14" name="object 11">
            <a:extLst>
              <a:ext uri="{FF2B5EF4-FFF2-40B4-BE49-F238E27FC236}">
                <a16:creationId xmlns:a16="http://schemas.microsoft.com/office/drawing/2014/main" id="{27906CFB-3B5B-494D-ABCA-1145AFE572F9}"/>
              </a:ext>
            </a:extLst>
          </p:cNvPr>
          <p:cNvSpPr txBox="1"/>
          <p:nvPr/>
        </p:nvSpPr>
        <p:spPr>
          <a:xfrm>
            <a:off x="2420167" y="2550298"/>
            <a:ext cx="224154" cy="1249680"/>
          </a:xfrm>
          <a:prstGeom prst="rect">
            <a:avLst/>
          </a:prstGeom>
        </p:spPr>
        <p:txBody>
          <a:bodyPr vert="vert270" wrap="square" lIns="0" tIns="0" rIns="0" bIns="0" rtlCol="0">
            <a:spAutoFit/>
          </a:bodyPr>
          <a:lstStyle/>
          <a:p>
            <a:pPr marL="12700">
              <a:lnSpc>
                <a:spcPts val="1645"/>
              </a:lnSpc>
            </a:pPr>
            <a:r>
              <a:rPr sz="1400" spc="-5" dirty="0">
                <a:latin typeface="Arial MT"/>
                <a:cs typeface="Arial MT"/>
              </a:rPr>
              <a:t>Address</a:t>
            </a:r>
            <a:r>
              <a:rPr sz="1400" spc="-70" dirty="0">
                <a:latin typeface="Arial MT"/>
                <a:cs typeface="Arial MT"/>
              </a:rPr>
              <a:t> </a:t>
            </a:r>
            <a:r>
              <a:rPr sz="1400" spc="-5" dirty="0">
                <a:latin typeface="Arial MT"/>
                <a:cs typeface="Arial MT"/>
              </a:rPr>
              <a:t>Range</a:t>
            </a:r>
            <a:endParaRPr sz="1400">
              <a:latin typeface="Arial MT"/>
              <a:cs typeface="Arial MT"/>
            </a:endParaRPr>
          </a:p>
        </p:txBody>
      </p:sp>
      <p:graphicFrame>
        <p:nvGraphicFramePr>
          <p:cNvPr id="15" name="object 12">
            <a:extLst>
              <a:ext uri="{FF2B5EF4-FFF2-40B4-BE49-F238E27FC236}">
                <a16:creationId xmlns:a16="http://schemas.microsoft.com/office/drawing/2014/main" id="{7F13A5DE-5B20-4773-A101-75A23CC61486}"/>
              </a:ext>
            </a:extLst>
          </p:cNvPr>
          <p:cNvGraphicFramePr>
            <a:graphicFrameLocks noGrp="1"/>
          </p:cNvGraphicFramePr>
          <p:nvPr>
            <p:extLst>
              <p:ext uri="{D42A27DB-BD31-4B8C-83A1-F6EECF244321}">
                <p14:modId xmlns:p14="http://schemas.microsoft.com/office/powerpoint/2010/main" val="1082287844"/>
              </p:ext>
            </p:extLst>
          </p:nvPr>
        </p:nvGraphicFramePr>
        <p:xfrm>
          <a:off x="3081338" y="1630363"/>
          <a:ext cx="1282700" cy="3136900"/>
        </p:xfrm>
        <a:graphic>
          <a:graphicData uri="http://schemas.openxmlformats.org/drawingml/2006/table">
            <a:tbl>
              <a:tblPr firstRow="1" bandRow="1">
                <a:tableStyleId>{2D5ABB26-0587-4C30-8999-92F81FD0307C}</a:tableStyleId>
              </a:tblPr>
              <a:tblGrid>
                <a:gridCol w="1282700">
                  <a:extLst>
                    <a:ext uri="{9D8B030D-6E8A-4147-A177-3AD203B41FA5}">
                      <a16:colId xmlns:a16="http://schemas.microsoft.com/office/drawing/2014/main" val="20000"/>
                    </a:ext>
                  </a:extLst>
                </a:gridCol>
              </a:tblGrid>
              <a:tr h="520700">
                <a:tc>
                  <a:txBody>
                    <a:bodyPr/>
                    <a:lstStyle/>
                    <a:p>
                      <a:pPr>
                        <a:lnSpc>
                          <a:spcPct val="100000"/>
                        </a:lnSpc>
                        <a:spcBef>
                          <a:spcPts val="25"/>
                        </a:spcBef>
                      </a:pPr>
                      <a:endParaRPr sz="1100">
                        <a:latin typeface="Times New Roman"/>
                        <a:cs typeface="Times New Roman"/>
                      </a:endParaRPr>
                    </a:p>
                    <a:p>
                      <a:pPr algn="ctr">
                        <a:lnSpc>
                          <a:spcPct val="100000"/>
                        </a:lnSpc>
                        <a:spcBef>
                          <a:spcPts val="5"/>
                        </a:spcBef>
                      </a:pPr>
                      <a:r>
                        <a:rPr sz="1200" spc="-5" dirty="0">
                          <a:latin typeface="Arial MT"/>
                          <a:cs typeface="Arial MT"/>
                        </a:rPr>
                        <a:t>EPROM</a:t>
                      </a:r>
                      <a:endParaRPr sz="1200">
                        <a:latin typeface="Arial MT"/>
                        <a:cs typeface="Arial MT"/>
                      </a:endParaRPr>
                    </a:p>
                  </a:txBody>
                  <a:tcPr marL="0" marR="0" marT="31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ECFF"/>
                    </a:solidFill>
                  </a:tcPr>
                </a:tc>
                <a:extLst>
                  <a:ext uri="{0D108BD9-81ED-4DB2-BD59-A6C34878D82A}">
                    <a16:rowId xmlns:a16="http://schemas.microsoft.com/office/drawing/2014/main" val="10000"/>
                  </a:ext>
                </a:extLst>
              </a:tr>
              <a:tr h="152400">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99"/>
                    </a:solidFill>
                  </a:tcPr>
                </a:tc>
                <a:extLst>
                  <a:ext uri="{0D108BD9-81ED-4DB2-BD59-A6C34878D82A}">
                    <a16:rowId xmlns:a16="http://schemas.microsoft.com/office/drawing/2014/main" val="10001"/>
                  </a:ext>
                </a:extLst>
              </a:tr>
              <a:tr h="368300">
                <a:tc>
                  <a:txBody>
                    <a:bodyPr/>
                    <a:lstStyle/>
                    <a:p>
                      <a:pPr algn="ctr">
                        <a:lnSpc>
                          <a:spcPct val="100000"/>
                        </a:lnSpc>
                        <a:spcBef>
                          <a:spcPts val="695"/>
                        </a:spcBef>
                      </a:pPr>
                      <a:r>
                        <a:rPr sz="1200" spc="-5" dirty="0">
                          <a:latin typeface="Arial MT"/>
                          <a:cs typeface="Arial MT"/>
                        </a:rPr>
                        <a:t>RAM</a:t>
                      </a:r>
                      <a:r>
                        <a:rPr sz="1200" spc="-50" dirty="0">
                          <a:latin typeface="Arial MT"/>
                          <a:cs typeface="Arial MT"/>
                        </a:rPr>
                        <a:t> </a:t>
                      </a:r>
                      <a:r>
                        <a:rPr sz="1200" spc="-5" dirty="0">
                          <a:latin typeface="Arial MT"/>
                          <a:cs typeface="Arial MT"/>
                        </a:rPr>
                        <a:t>1</a:t>
                      </a:r>
                      <a:endParaRPr sz="1200">
                        <a:latin typeface="Arial MT"/>
                        <a:cs typeface="Arial MT"/>
                      </a:endParaRPr>
                    </a:p>
                  </a:txBody>
                  <a:tcPr marL="0" marR="0" marT="882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99FFCC"/>
                    </a:solidFill>
                  </a:tcPr>
                </a:tc>
                <a:extLst>
                  <a:ext uri="{0D108BD9-81ED-4DB2-BD59-A6C34878D82A}">
                    <a16:rowId xmlns:a16="http://schemas.microsoft.com/office/drawing/2014/main" val="10002"/>
                  </a:ext>
                </a:extLst>
              </a:tr>
              <a:tr h="596900">
                <a:tc>
                  <a:txBody>
                    <a:bodyPr/>
                    <a:lstStyle/>
                    <a:p>
                      <a:pPr>
                        <a:lnSpc>
                          <a:spcPct val="100000"/>
                        </a:lnSpc>
                        <a:spcBef>
                          <a:spcPts val="40"/>
                        </a:spcBef>
                      </a:pPr>
                      <a:endParaRPr sz="1350">
                        <a:latin typeface="Times New Roman"/>
                        <a:cs typeface="Times New Roman"/>
                      </a:endParaRPr>
                    </a:p>
                    <a:p>
                      <a:pPr algn="ctr">
                        <a:lnSpc>
                          <a:spcPct val="100000"/>
                        </a:lnSpc>
                      </a:pPr>
                      <a:r>
                        <a:rPr sz="1200" spc="-5" dirty="0">
                          <a:latin typeface="Arial MT"/>
                          <a:cs typeface="Arial MT"/>
                        </a:rPr>
                        <a:t>RAM</a:t>
                      </a:r>
                      <a:r>
                        <a:rPr sz="1200" spc="-50" dirty="0">
                          <a:latin typeface="Arial MT"/>
                          <a:cs typeface="Arial MT"/>
                        </a:rPr>
                        <a:t> </a:t>
                      </a:r>
                      <a:r>
                        <a:rPr sz="1200" spc="-5" dirty="0">
                          <a:latin typeface="Arial MT"/>
                          <a:cs typeface="Arial MT"/>
                        </a:rPr>
                        <a:t>2</a:t>
                      </a:r>
                      <a:endParaRPr sz="1200">
                        <a:latin typeface="Arial MT"/>
                        <a:cs typeface="Arial MT"/>
                      </a:endParaRPr>
                    </a:p>
                  </a:txBody>
                  <a:tcPr marL="0" marR="0" marT="50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CCFFFF"/>
                    </a:solidFill>
                  </a:tcPr>
                </a:tc>
                <a:extLst>
                  <a:ext uri="{0D108BD9-81ED-4DB2-BD59-A6C34878D82A}">
                    <a16:rowId xmlns:a16="http://schemas.microsoft.com/office/drawing/2014/main" val="10003"/>
                  </a:ext>
                </a:extLst>
              </a:tr>
              <a:tr h="368300">
                <a:tc>
                  <a:txBody>
                    <a:bodyPr/>
                    <a:lstStyle/>
                    <a:p>
                      <a:pPr algn="ctr">
                        <a:lnSpc>
                          <a:spcPct val="100000"/>
                        </a:lnSpc>
                        <a:spcBef>
                          <a:spcPts val="695"/>
                        </a:spcBef>
                      </a:pPr>
                      <a:r>
                        <a:rPr sz="1200" spc="-5" dirty="0">
                          <a:latin typeface="Arial MT"/>
                          <a:cs typeface="Arial MT"/>
                        </a:rPr>
                        <a:t>RAM</a:t>
                      </a:r>
                      <a:r>
                        <a:rPr sz="1200" spc="-50" dirty="0">
                          <a:latin typeface="Arial MT"/>
                          <a:cs typeface="Arial MT"/>
                        </a:rPr>
                        <a:t> </a:t>
                      </a:r>
                      <a:r>
                        <a:rPr sz="1200" spc="-5" dirty="0">
                          <a:latin typeface="Arial MT"/>
                          <a:cs typeface="Arial MT"/>
                        </a:rPr>
                        <a:t>3</a:t>
                      </a:r>
                      <a:endParaRPr sz="1200">
                        <a:latin typeface="Arial MT"/>
                        <a:cs typeface="Arial MT"/>
                      </a:endParaRPr>
                    </a:p>
                  </a:txBody>
                  <a:tcPr marL="0" marR="0" marT="8826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CCFF"/>
                    </a:solidFill>
                  </a:tcPr>
                </a:tc>
                <a:extLst>
                  <a:ext uri="{0D108BD9-81ED-4DB2-BD59-A6C34878D82A}">
                    <a16:rowId xmlns:a16="http://schemas.microsoft.com/office/drawing/2014/main" val="10004"/>
                  </a:ext>
                </a:extLst>
              </a:tr>
              <a:tr h="990600">
                <a:tc>
                  <a:txBody>
                    <a:bodyPr/>
                    <a:lstStyle/>
                    <a:p>
                      <a:pPr>
                        <a:lnSpc>
                          <a:spcPct val="100000"/>
                        </a:lnSpc>
                      </a:pPr>
                      <a:endParaRPr sz="1300">
                        <a:latin typeface="Times New Roman"/>
                        <a:cs typeface="Times New Roman"/>
                      </a:endParaRPr>
                    </a:p>
                    <a:p>
                      <a:pPr>
                        <a:lnSpc>
                          <a:spcPct val="100000"/>
                        </a:lnSpc>
                        <a:spcBef>
                          <a:spcPts val="35"/>
                        </a:spcBef>
                      </a:pPr>
                      <a:endParaRPr sz="1400">
                        <a:latin typeface="Times New Roman"/>
                        <a:cs typeface="Times New Roman"/>
                      </a:endParaRPr>
                    </a:p>
                    <a:p>
                      <a:pPr algn="ctr">
                        <a:lnSpc>
                          <a:spcPct val="100000"/>
                        </a:lnSpc>
                        <a:spcBef>
                          <a:spcPts val="5"/>
                        </a:spcBef>
                      </a:pPr>
                      <a:r>
                        <a:rPr sz="1200" spc="-5" dirty="0">
                          <a:latin typeface="Arial MT"/>
                          <a:cs typeface="Arial MT"/>
                        </a:rPr>
                        <a:t>RAM</a:t>
                      </a:r>
                      <a:r>
                        <a:rPr sz="1200" spc="-50" dirty="0">
                          <a:latin typeface="Arial MT"/>
                          <a:cs typeface="Arial MT"/>
                        </a:rPr>
                        <a:t> </a:t>
                      </a:r>
                      <a:r>
                        <a:rPr sz="1200" spc="-5" dirty="0">
                          <a:latin typeface="Arial MT"/>
                          <a:cs typeface="Arial MT"/>
                        </a:rPr>
                        <a:t>4</a:t>
                      </a:r>
                      <a:endParaRPr sz="1200">
                        <a:latin typeface="Arial MT"/>
                        <a:cs typeface="Arial MT"/>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66CCFF"/>
                    </a:solidFill>
                  </a:tcPr>
                </a:tc>
                <a:extLst>
                  <a:ext uri="{0D108BD9-81ED-4DB2-BD59-A6C34878D82A}">
                    <a16:rowId xmlns:a16="http://schemas.microsoft.com/office/drawing/2014/main" val="10005"/>
                  </a:ext>
                </a:extLst>
              </a:tr>
              <a:tr h="139700">
                <a:tc>
                  <a:txBody>
                    <a:bodyPr/>
                    <a:lstStyle/>
                    <a:p>
                      <a:pPr>
                        <a:lnSpc>
                          <a:spcPct val="100000"/>
                        </a:lnSpc>
                      </a:pPr>
                      <a:endParaRPr sz="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99"/>
                    </a:solidFill>
                  </a:tcPr>
                </a:tc>
                <a:extLst>
                  <a:ext uri="{0D108BD9-81ED-4DB2-BD59-A6C34878D82A}">
                    <a16:rowId xmlns:a16="http://schemas.microsoft.com/office/drawing/2014/main" val="10006"/>
                  </a:ext>
                </a:extLst>
              </a:tr>
            </a:tbl>
          </a:graphicData>
        </a:graphic>
      </p:graphicFrame>
      <p:sp>
        <p:nvSpPr>
          <p:cNvPr id="16" name="object 14">
            <a:extLst>
              <a:ext uri="{FF2B5EF4-FFF2-40B4-BE49-F238E27FC236}">
                <a16:creationId xmlns:a16="http://schemas.microsoft.com/office/drawing/2014/main" id="{5ACDC74E-54AA-4A32-BB43-EE60AF38AEBE}"/>
              </a:ext>
            </a:extLst>
          </p:cNvPr>
          <p:cNvSpPr txBox="1"/>
          <p:nvPr/>
        </p:nvSpPr>
        <p:spPr>
          <a:xfrm>
            <a:off x="4469766" y="3116917"/>
            <a:ext cx="336550" cy="686435"/>
          </a:xfrm>
          <a:prstGeom prst="rect">
            <a:avLst/>
          </a:prstGeom>
        </p:spPr>
        <p:txBody>
          <a:bodyPr vert="horz" wrap="square" lIns="0" tIns="12700" rIns="0" bIns="0" rtlCol="0">
            <a:spAutoFit/>
          </a:bodyPr>
          <a:lstStyle/>
          <a:p>
            <a:pPr marL="12700">
              <a:lnSpc>
                <a:spcPts val="1100"/>
              </a:lnSpc>
              <a:spcBef>
                <a:spcPts val="100"/>
              </a:spcBef>
            </a:pPr>
            <a:r>
              <a:rPr sz="1000" dirty="0">
                <a:latin typeface="Arial MT"/>
                <a:cs typeface="Arial MT"/>
              </a:rPr>
              <a:t>8FFF</a:t>
            </a:r>
            <a:endParaRPr sz="1000">
              <a:latin typeface="Arial MT"/>
              <a:cs typeface="Arial MT"/>
            </a:endParaRPr>
          </a:p>
          <a:p>
            <a:pPr marL="12700">
              <a:lnSpc>
                <a:spcPts val="1100"/>
              </a:lnSpc>
            </a:pPr>
            <a:r>
              <a:rPr sz="1000" spc="-5" dirty="0">
                <a:latin typeface="Arial MT"/>
                <a:cs typeface="Arial MT"/>
              </a:rPr>
              <a:t>9000</a:t>
            </a:r>
            <a:endParaRPr sz="1000">
              <a:latin typeface="Arial MT"/>
              <a:cs typeface="Arial MT"/>
            </a:endParaRPr>
          </a:p>
          <a:p>
            <a:pPr>
              <a:lnSpc>
                <a:spcPct val="100000"/>
              </a:lnSpc>
              <a:spcBef>
                <a:spcPts val="20"/>
              </a:spcBef>
            </a:pPr>
            <a:endParaRPr sz="850">
              <a:latin typeface="Arial MT"/>
              <a:cs typeface="Arial MT"/>
            </a:endParaRPr>
          </a:p>
          <a:p>
            <a:pPr marL="12700" marR="5080">
              <a:lnSpc>
                <a:spcPts val="1000"/>
              </a:lnSpc>
              <a:spcBef>
                <a:spcPts val="5"/>
              </a:spcBef>
            </a:pPr>
            <a:r>
              <a:rPr sz="1000" spc="-5" dirty="0">
                <a:latin typeface="Arial MT"/>
                <a:cs typeface="Arial MT"/>
              </a:rPr>
              <a:t>A</a:t>
            </a:r>
            <a:r>
              <a:rPr sz="1000" dirty="0">
                <a:latin typeface="Arial MT"/>
                <a:cs typeface="Arial MT"/>
              </a:rPr>
              <a:t>3FF  </a:t>
            </a:r>
            <a:r>
              <a:rPr sz="1000" spc="-5" dirty="0">
                <a:latin typeface="Arial MT"/>
                <a:cs typeface="Arial MT"/>
              </a:rPr>
              <a:t>A</a:t>
            </a:r>
            <a:r>
              <a:rPr sz="1000" dirty="0">
                <a:latin typeface="Arial MT"/>
                <a:cs typeface="Arial MT"/>
              </a:rPr>
              <a:t>4</a:t>
            </a:r>
            <a:r>
              <a:rPr sz="1000" spc="-5" dirty="0">
                <a:latin typeface="Arial MT"/>
                <a:cs typeface="Arial MT"/>
              </a:rPr>
              <a:t>00</a:t>
            </a:r>
            <a:endParaRPr sz="1000">
              <a:latin typeface="Arial MT"/>
              <a:cs typeface="Arial MT"/>
            </a:endParaRPr>
          </a:p>
        </p:txBody>
      </p:sp>
      <p:grpSp>
        <p:nvGrpSpPr>
          <p:cNvPr id="17" name="object 15">
            <a:extLst>
              <a:ext uri="{FF2B5EF4-FFF2-40B4-BE49-F238E27FC236}">
                <a16:creationId xmlns:a16="http://schemas.microsoft.com/office/drawing/2014/main" id="{89AF8C72-738D-44EE-863B-DA65BDABA3AD}"/>
              </a:ext>
            </a:extLst>
          </p:cNvPr>
          <p:cNvGrpSpPr/>
          <p:nvPr/>
        </p:nvGrpSpPr>
        <p:grpSpPr>
          <a:xfrm>
            <a:off x="4954582" y="1674809"/>
            <a:ext cx="76200" cy="444500"/>
            <a:chOff x="4970456" y="2755896"/>
            <a:chExt cx="76200" cy="444500"/>
          </a:xfrm>
        </p:grpSpPr>
        <p:sp>
          <p:nvSpPr>
            <p:cNvPr id="18" name="object 16">
              <a:extLst>
                <a:ext uri="{FF2B5EF4-FFF2-40B4-BE49-F238E27FC236}">
                  <a16:creationId xmlns:a16="http://schemas.microsoft.com/office/drawing/2014/main" id="{1AB99BEC-B6E3-4343-A116-AE513676F8A9}"/>
                </a:ext>
              </a:extLst>
            </p:cNvPr>
            <p:cNvSpPr/>
            <p:nvPr/>
          </p:nvSpPr>
          <p:spPr>
            <a:xfrm>
              <a:off x="5008560" y="2819399"/>
              <a:ext cx="0" cy="317500"/>
            </a:xfrm>
            <a:custGeom>
              <a:avLst/>
              <a:gdLst/>
              <a:ahLst/>
              <a:cxnLst/>
              <a:rect l="l" t="t" r="r" b="b"/>
              <a:pathLst>
                <a:path h="317500">
                  <a:moveTo>
                    <a:pt x="0" y="0"/>
                  </a:moveTo>
                  <a:lnTo>
                    <a:pt x="0" y="317500"/>
                  </a:lnTo>
                </a:path>
              </a:pathLst>
            </a:custGeom>
            <a:ln w="12700">
              <a:solidFill>
                <a:srgbClr val="000000"/>
              </a:solidFill>
            </a:ln>
          </p:spPr>
          <p:txBody>
            <a:bodyPr wrap="square" lIns="0" tIns="0" rIns="0" bIns="0" rtlCol="0"/>
            <a:lstStyle/>
            <a:p>
              <a:endParaRPr/>
            </a:p>
          </p:txBody>
        </p:sp>
        <p:sp>
          <p:nvSpPr>
            <p:cNvPr id="19" name="object 17">
              <a:extLst>
                <a:ext uri="{FF2B5EF4-FFF2-40B4-BE49-F238E27FC236}">
                  <a16:creationId xmlns:a16="http://schemas.microsoft.com/office/drawing/2014/main" id="{E67E4B0A-8396-4855-A46D-605AF6DE56F6}"/>
                </a:ext>
              </a:extLst>
            </p:cNvPr>
            <p:cNvSpPr/>
            <p:nvPr/>
          </p:nvSpPr>
          <p:spPr>
            <a:xfrm>
              <a:off x="4970450" y="2755899"/>
              <a:ext cx="76835" cy="444500"/>
            </a:xfrm>
            <a:custGeom>
              <a:avLst/>
              <a:gdLst/>
              <a:ahLst/>
              <a:cxnLst/>
              <a:rect l="l" t="t" r="r" b="b"/>
              <a:pathLst>
                <a:path w="76835" h="444500">
                  <a:moveTo>
                    <a:pt x="76200" y="76212"/>
                  </a:moveTo>
                  <a:lnTo>
                    <a:pt x="38112" y="0"/>
                  </a:lnTo>
                  <a:lnTo>
                    <a:pt x="0" y="76200"/>
                  </a:lnTo>
                  <a:lnTo>
                    <a:pt x="76200" y="76212"/>
                  </a:lnTo>
                  <a:close/>
                </a:path>
                <a:path w="76835" h="444500">
                  <a:moveTo>
                    <a:pt x="76212" y="368300"/>
                  </a:moveTo>
                  <a:lnTo>
                    <a:pt x="12" y="368300"/>
                  </a:lnTo>
                  <a:lnTo>
                    <a:pt x="38112" y="444500"/>
                  </a:lnTo>
                  <a:lnTo>
                    <a:pt x="76212" y="368300"/>
                  </a:lnTo>
                  <a:close/>
                </a:path>
              </a:pathLst>
            </a:custGeom>
            <a:solidFill>
              <a:srgbClr val="000000"/>
            </a:solidFill>
          </p:spPr>
          <p:txBody>
            <a:bodyPr wrap="square" lIns="0" tIns="0" rIns="0" bIns="0" rtlCol="0"/>
            <a:lstStyle/>
            <a:p>
              <a:endParaRPr/>
            </a:p>
          </p:txBody>
        </p:sp>
      </p:grpSp>
      <p:grpSp>
        <p:nvGrpSpPr>
          <p:cNvPr id="20" name="object 18">
            <a:extLst>
              <a:ext uri="{FF2B5EF4-FFF2-40B4-BE49-F238E27FC236}">
                <a16:creationId xmlns:a16="http://schemas.microsoft.com/office/drawing/2014/main" id="{FBB9462D-86D4-4FD3-936D-BBF9373AA42E}"/>
              </a:ext>
            </a:extLst>
          </p:cNvPr>
          <p:cNvGrpSpPr/>
          <p:nvPr/>
        </p:nvGrpSpPr>
        <p:grpSpPr>
          <a:xfrm>
            <a:off x="4954582" y="2297109"/>
            <a:ext cx="76200" cy="2311400"/>
            <a:chOff x="4970456" y="3378196"/>
            <a:chExt cx="76200" cy="2311400"/>
          </a:xfrm>
        </p:grpSpPr>
        <p:pic>
          <p:nvPicPr>
            <p:cNvPr id="21" name="object 19">
              <a:extLst>
                <a:ext uri="{FF2B5EF4-FFF2-40B4-BE49-F238E27FC236}">
                  <a16:creationId xmlns:a16="http://schemas.microsoft.com/office/drawing/2014/main" id="{66AF1D41-7357-4B98-A3D0-23D46BFB923B}"/>
                </a:ext>
              </a:extLst>
            </p:cNvPr>
            <p:cNvPicPr/>
            <p:nvPr/>
          </p:nvPicPr>
          <p:blipFill>
            <a:blip r:embed="rId2" cstate="print"/>
            <a:stretch>
              <a:fillRect/>
            </a:stretch>
          </p:blipFill>
          <p:spPr>
            <a:xfrm>
              <a:off x="4970456" y="3378196"/>
              <a:ext cx="76206" cy="374653"/>
            </a:xfrm>
            <a:prstGeom prst="rect">
              <a:avLst/>
            </a:prstGeom>
          </p:spPr>
        </p:pic>
        <p:sp>
          <p:nvSpPr>
            <p:cNvPr id="22" name="object 20">
              <a:extLst>
                <a:ext uri="{FF2B5EF4-FFF2-40B4-BE49-F238E27FC236}">
                  <a16:creationId xmlns:a16="http://schemas.microsoft.com/office/drawing/2014/main" id="{732B97FC-A998-419F-9C8D-1C4BA1AA1C64}"/>
                </a:ext>
              </a:extLst>
            </p:cNvPr>
            <p:cNvSpPr/>
            <p:nvPr/>
          </p:nvSpPr>
          <p:spPr>
            <a:xfrm>
              <a:off x="5008560" y="3835399"/>
              <a:ext cx="0" cy="469900"/>
            </a:xfrm>
            <a:custGeom>
              <a:avLst/>
              <a:gdLst/>
              <a:ahLst/>
              <a:cxnLst/>
              <a:rect l="l" t="t" r="r" b="b"/>
              <a:pathLst>
                <a:path h="469900">
                  <a:moveTo>
                    <a:pt x="0" y="0"/>
                  </a:moveTo>
                  <a:lnTo>
                    <a:pt x="0" y="469900"/>
                  </a:lnTo>
                </a:path>
              </a:pathLst>
            </a:custGeom>
            <a:ln w="12700">
              <a:solidFill>
                <a:srgbClr val="000000"/>
              </a:solidFill>
            </a:ln>
          </p:spPr>
          <p:txBody>
            <a:bodyPr wrap="square" lIns="0" tIns="0" rIns="0" bIns="0" rtlCol="0"/>
            <a:lstStyle/>
            <a:p>
              <a:endParaRPr/>
            </a:p>
          </p:txBody>
        </p:sp>
        <p:sp>
          <p:nvSpPr>
            <p:cNvPr id="23" name="object 21">
              <a:extLst>
                <a:ext uri="{FF2B5EF4-FFF2-40B4-BE49-F238E27FC236}">
                  <a16:creationId xmlns:a16="http://schemas.microsoft.com/office/drawing/2014/main" id="{993E771D-1D7C-4DF7-BBC3-19903EE92D0F}"/>
                </a:ext>
              </a:extLst>
            </p:cNvPr>
            <p:cNvSpPr/>
            <p:nvPr/>
          </p:nvSpPr>
          <p:spPr>
            <a:xfrm>
              <a:off x="4970450" y="3771899"/>
              <a:ext cx="76835" cy="596900"/>
            </a:xfrm>
            <a:custGeom>
              <a:avLst/>
              <a:gdLst/>
              <a:ahLst/>
              <a:cxnLst/>
              <a:rect l="l" t="t" r="r" b="b"/>
              <a:pathLst>
                <a:path w="76835" h="596900">
                  <a:moveTo>
                    <a:pt x="76200" y="76212"/>
                  </a:moveTo>
                  <a:lnTo>
                    <a:pt x="38112" y="0"/>
                  </a:lnTo>
                  <a:lnTo>
                    <a:pt x="0" y="76200"/>
                  </a:lnTo>
                  <a:lnTo>
                    <a:pt x="76200" y="76212"/>
                  </a:lnTo>
                  <a:close/>
                </a:path>
                <a:path w="76835" h="596900">
                  <a:moveTo>
                    <a:pt x="76212" y="520700"/>
                  </a:moveTo>
                  <a:lnTo>
                    <a:pt x="12" y="520700"/>
                  </a:lnTo>
                  <a:lnTo>
                    <a:pt x="38112" y="596900"/>
                  </a:lnTo>
                  <a:lnTo>
                    <a:pt x="76212" y="520700"/>
                  </a:lnTo>
                  <a:close/>
                </a:path>
              </a:pathLst>
            </a:custGeom>
            <a:solidFill>
              <a:srgbClr val="000000"/>
            </a:solidFill>
          </p:spPr>
          <p:txBody>
            <a:bodyPr wrap="square" lIns="0" tIns="0" rIns="0" bIns="0" rtlCol="0"/>
            <a:lstStyle/>
            <a:p>
              <a:endParaRPr/>
            </a:p>
          </p:txBody>
        </p:sp>
        <p:sp>
          <p:nvSpPr>
            <p:cNvPr id="24" name="object 22">
              <a:extLst>
                <a:ext uri="{FF2B5EF4-FFF2-40B4-BE49-F238E27FC236}">
                  <a16:creationId xmlns:a16="http://schemas.microsoft.com/office/drawing/2014/main" id="{FB8EF116-0A30-4179-BA17-4E430C5EB4EC}"/>
                </a:ext>
              </a:extLst>
            </p:cNvPr>
            <p:cNvSpPr/>
            <p:nvPr/>
          </p:nvSpPr>
          <p:spPr>
            <a:xfrm>
              <a:off x="5008560" y="4419599"/>
              <a:ext cx="0" cy="215900"/>
            </a:xfrm>
            <a:custGeom>
              <a:avLst/>
              <a:gdLst/>
              <a:ahLst/>
              <a:cxnLst/>
              <a:rect l="l" t="t" r="r" b="b"/>
              <a:pathLst>
                <a:path h="215900">
                  <a:moveTo>
                    <a:pt x="0" y="0"/>
                  </a:moveTo>
                  <a:lnTo>
                    <a:pt x="0" y="215900"/>
                  </a:lnTo>
                </a:path>
              </a:pathLst>
            </a:custGeom>
            <a:ln w="12700">
              <a:solidFill>
                <a:srgbClr val="000000"/>
              </a:solidFill>
            </a:ln>
          </p:spPr>
          <p:txBody>
            <a:bodyPr wrap="square" lIns="0" tIns="0" rIns="0" bIns="0" rtlCol="0"/>
            <a:lstStyle/>
            <a:p>
              <a:endParaRPr/>
            </a:p>
          </p:txBody>
        </p:sp>
        <p:sp>
          <p:nvSpPr>
            <p:cNvPr id="25" name="object 23">
              <a:extLst>
                <a:ext uri="{FF2B5EF4-FFF2-40B4-BE49-F238E27FC236}">
                  <a16:creationId xmlns:a16="http://schemas.microsoft.com/office/drawing/2014/main" id="{B3CC64B7-452C-4A09-B658-85376BD32C42}"/>
                </a:ext>
              </a:extLst>
            </p:cNvPr>
            <p:cNvSpPr/>
            <p:nvPr/>
          </p:nvSpPr>
          <p:spPr>
            <a:xfrm>
              <a:off x="4970450" y="4356099"/>
              <a:ext cx="76835" cy="342900"/>
            </a:xfrm>
            <a:custGeom>
              <a:avLst/>
              <a:gdLst/>
              <a:ahLst/>
              <a:cxnLst/>
              <a:rect l="l" t="t" r="r" b="b"/>
              <a:pathLst>
                <a:path w="76835" h="342900">
                  <a:moveTo>
                    <a:pt x="76200" y="76212"/>
                  </a:moveTo>
                  <a:lnTo>
                    <a:pt x="38112" y="0"/>
                  </a:lnTo>
                  <a:lnTo>
                    <a:pt x="0" y="76200"/>
                  </a:lnTo>
                  <a:lnTo>
                    <a:pt x="76200" y="76212"/>
                  </a:lnTo>
                  <a:close/>
                </a:path>
                <a:path w="76835" h="342900">
                  <a:moveTo>
                    <a:pt x="76212" y="266700"/>
                  </a:moveTo>
                  <a:lnTo>
                    <a:pt x="12" y="266700"/>
                  </a:lnTo>
                  <a:lnTo>
                    <a:pt x="38112" y="342900"/>
                  </a:lnTo>
                  <a:lnTo>
                    <a:pt x="76212" y="266700"/>
                  </a:lnTo>
                  <a:close/>
                </a:path>
              </a:pathLst>
            </a:custGeom>
            <a:solidFill>
              <a:srgbClr val="000000"/>
            </a:solidFill>
          </p:spPr>
          <p:txBody>
            <a:bodyPr wrap="square" lIns="0" tIns="0" rIns="0" bIns="0" rtlCol="0"/>
            <a:lstStyle/>
            <a:p>
              <a:endParaRPr/>
            </a:p>
          </p:txBody>
        </p:sp>
        <p:sp>
          <p:nvSpPr>
            <p:cNvPr id="26" name="object 24">
              <a:extLst>
                <a:ext uri="{FF2B5EF4-FFF2-40B4-BE49-F238E27FC236}">
                  <a16:creationId xmlns:a16="http://schemas.microsoft.com/office/drawing/2014/main" id="{17C091D5-048D-489B-B19E-4028A2BECB3B}"/>
                </a:ext>
              </a:extLst>
            </p:cNvPr>
            <p:cNvSpPr/>
            <p:nvPr/>
          </p:nvSpPr>
          <p:spPr>
            <a:xfrm>
              <a:off x="5008560" y="4768849"/>
              <a:ext cx="0" cy="857250"/>
            </a:xfrm>
            <a:custGeom>
              <a:avLst/>
              <a:gdLst/>
              <a:ahLst/>
              <a:cxnLst/>
              <a:rect l="l" t="t" r="r" b="b"/>
              <a:pathLst>
                <a:path h="857250">
                  <a:moveTo>
                    <a:pt x="0" y="0"/>
                  </a:moveTo>
                  <a:lnTo>
                    <a:pt x="0" y="857250"/>
                  </a:lnTo>
                </a:path>
              </a:pathLst>
            </a:custGeom>
            <a:ln w="12700">
              <a:solidFill>
                <a:srgbClr val="000000"/>
              </a:solidFill>
            </a:ln>
          </p:spPr>
          <p:txBody>
            <a:bodyPr wrap="square" lIns="0" tIns="0" rIns="0" bIns="0" rtlCol="0"/>
            <a:lstStyle/>
            <a:p>
              <a:endParaRPr/>
            </a:p>
          </p:txBody>
        </p:sp>
        <p:sp>
          <p:nvSpPr>
            <p:cNvPr id="27" name="object 25">
              <a:extLst>
                <a:ext uri="{FF2B5EF4-FFF2-40B4-BE49-F238E27FC236}">
                  <a16:creationId xmlns:a16="http://schemas.microsoft.com/office/drawing/2014/main" id="{6B36402A-E138-45B0-A8C4-DFA6030AAA3E}"/>
                </a:ext>
              </a:extLst>
            </p:cNvPr>
            <p:cNvSpPr/>
            <p:nvPr/>
          </p:nvSpPr>
          <p:spPr>
            <a:xfrm>
              <a:off x="4970450" y="4705349"/>
              <a:ext cx="76835" cy="984250"/>
            </a:xfrm>
            <a:custGeom>
              <a:avLst/>
              <a:gdLst/>
              <a:ahLst/>
              <a:cxnLst/>
              <a:rect l="l" t="t" r="r" b="b"/>
              <a:pathLst>
                <a:path w="76835" h="984250">
                  <a:moveTo>
                    <a:pt x="76200" y="76212"/>
                  </a:moveTo>
                  <a:lnTo>
                    <a:pt x="38112" y="0"/>
                  </a:lnTo>
                  <a:lnTo>
                    <a:pt x="0" y="76200"/>
                  </a:lnTo>
                  <a:lnTo>
                    <a:pt x="76200" y="76212"/>
                  </a:lnTo>
                  <a:close/>
                </a:path>
                <a:path w="76835" h="984250">
                  <a:moveTo>
                    <a:pt x="76212" y="908050"/>
                  </a:moveTo>
                  <a:lnTo>
                    <a:pt x="12" y="908050"/>
                  </a:lnTo>
                  <a:lnTo>
                    <a:pt x="38112" y="984250"/>
                  </a:lnTo>
                  <a:lnTo>
                    <a:pt x="76212" y="908050"/>
                  </a:lnTo>
                  <a:close/>
                </a:path>
              </a:pathLst>
            </a:custGeom>
            <a:solidFill>
              <a:srgbClr val="000000"/>
            </a:solidFill>
          </p:spPr>
          <p:txBody>
            <a:bodyPr wrap="square" lIns="0" tIns="0" rIns="0" bIns="0" rtlCol="0"/>
            <a:lstStyle/>
            <a:p>
              <a:endParaRPr/>
            </a:p>
          </p:txBody>
        </p:sp>
      </p:grpSp>
      <p:sp>
        <p:nvSpPr>
          <p:cNvPr id="28" name="object 26">
            <a:extLst>
              <a:ext uri="{FF2B5EF4-FFF2-40B4-BE49-F238E27FC236}">
                <a16:creationId xmlns:a16="http://schemas.microsoft.com/office/drawing/2014/main" id="{27645761-2B72-47F1-85A4-E565705CB20C}"/>
              </a:ext>
            </a:extLst>
          </p:cNvPr>
          <p:cNvSpPr txBox="1"/>
          <p:nvPr/>
        </p:nvSpPr>
        <p:spPr>
          <a:xfrm>
            <a:off x="4431666" y="1749299"/>
            <a:ext cx="3070860" cy="1338580"/>
          </a:xfrm>
          <a:prstGeom prst="rect">
            <a:avLst/>
          </a:prstGeom>
        </p:spPr>
        <p:txBody>
          <a:bodyPr vert="horz" wrap="square" lIns="0" tIns="12700" rIns="0" bIns="0" rtlCol="0">
            <a:spAutoFit/>
          </a:bodyPr>
          <a:lstStyle/>
          <a:p>
            <a:pPr marL="826769">
              <a:lnSpc>
                <a:spcPct val="100000"/>
              </a:lnSpc>
              <a:spcBef>
                <a:spcPts val="100"/>
              </a:spcBef>
            </a:pPr>
            <a:r>
              <a:rPr sz="1200" spc="-5" dirty="0">
                <a:latin typeface="Arial MT"/>
                <a:cs typeface="Arial MT"/>
              </a:rPr>
              <a:t>Address</a:t>
            </a:r>
            <a:r>
              <a:rPr sz="1200" spc="-25" dirty="0">
                <a:latin typeface="Arial MT"/>
                <a:cs typeface="Arial MT"/>
              </a:rPr>
              <a:t> </a:t>
            </a:r>
            <a:r>
              <a:rPr sz="1200" spc="-5" dirty="0">
                <a:latin typeface="Arial MT"/>
                <a:cs typeface="Arial MT"/>
              </a:rPr>
              <a:t>Range</a:t>
            </a:r>
            <a:r>
              <a:rPr sz="1200" spc="-30" dirty="0">
                <a:latin typeface="Arial MT"/>
                <a:cs typeface="Arial MT"/>
              </a:rPr>
              <a:t> </a:t>
            </a:r>
            <a:r>
              <a:rPr sz="1200" spc="-5" dirty="0">
                <a:latin typeface="Arial MT"/>
                <a:cs typeface="Arial MT"/>
              </a:rPr>
              <a:t>of</a:t>
            </a:r>
            <a:r>
              <a:rPr sz="1200" spc="-10" dirty="0">
                <a:latin typeface="Arial MT"/>
                <a:cs typeface="Arial MT"/>
              </a:rPr>
              <a:t> </a:t>
            </a:r>
            <a:r>
              <a:rPr sz="1200" spc="-5" dirty="0">
                <a:latin typeface="Arial MT"/>
                <a:cs typeface="Arial MT"/>
              </a:rPr>
              <a:t>EPROM Chip</a:t>
            </a:r>
            <a:endParaRPr sz="1200">
              <a:latin typeface="Arial MT"/>
              <a:cs typeface="Arial MT"/>
            </a:endParaRPr>
          </a:p>
          <a:p>
            <a:pPr marL="50800">
              <a:lnSpc>
                <a:spcPct val="100000"/>
              </a:lnSpc>
              <a:spcBef>
                <a:spcPts val="830"/>
              </a:spcBef>
            </a:pPr>
            <a:r>
              <a:rPr sz="1000" dirty="0">
                <a:latin typeface="Arial MT"/>
                <a:cs typeface="Arial MT"/>
              </a:rPr>
              <a:t>3FFF</a:t>
            </a:r>
            <a:endParaRPr sz="1000">
              <a:latin typeface="Arial MT"/>
              <a:cs typeface="Arial MT"/>
            </a:endParaRPr>
          </a:p>
          <a:p>
            <a:pPr marL="50800">
              <a:lnSpc>
                <a:spcPts val="1115"/>
              </a:lnSpc>
              <a:spcBef>
                <a:spcPts val="200"/>
              </a:spcBef>
            </a:pPr>
            <a:r>
              <a:rPr sz="1000" spc="-5" dirty="0">
                <a:latin typeface="Arial MT"/>
                <a:cs typeface="Arial MT"/>
              </a:rPr>
              <a:t>4400</a:t>
            </a:r>
            <a:endParaRPr sz="1000">
              <a:latin typeface="Arial MT"/>
              <a:cs typeface="Arial MT"/>
            </a:endParaRPr>
          </a:p>
          <a:p>
            <a:pPr marL="826769">
              <a:lnSpc>
                <a:spcPts val="1355"/>
              </a:lnSpc>
            </a:pPr>
            <a:r>
              <a:rPr sz="1200" spc="-5" dirty="0">
                <a:latin typeface="Arial MT"/>
                <a:cs typeface="Arial MT"/>
              </a:rPr>
              <a:t>Address</a:t>
            </a:r>
            <a:r>
              <a:rPr sz="1200" spc="-20" dirty="0">
                <a:latin typeface="Arial MT"/>
                <a:cs typeface="Arial MT"/>
              </a:rPr>
              <a:t> </a:t>
            </a:r>
            <a:r>
              <a:rPr sz="1200" spc="-5" dirty="0">
                <a:latin typeface="Arial MT"/>
                <a:cs typeface="Arial MT"/>
              </a:rPr>
              <a:t>Range</a:t>
            </a:r>
            <a:r>
              <a:rPr sz="1200" spc="-30" dirty="0">
                <a:latin typeface="Arial MT"/>
                <a:cs typeface="Arial MT"/>
              </a:rPr>
              <a:t> </a:t>
            </a:r>
            <a:r>
              <a:rPr sz="1200" spc="-5" dirty="0">
                <a:latin typeface="Arial MT"/>
                <a:cs typeface="Arial MT"/>
              </a:rPr>
              <a:t>of</a:t>
            </a:r>
            <a:r>
              <a:rPr sz="1200" dirty="0">
                <a:latin typeface="Arial MT"/>
                <a:cs typeface="Arial MT"/>
              </a:rPr>
              <a:t> </a:t>
            </a:r>
            <a:r>
              <a:rPr sz="1200" spc="-5" dirty="0">
                <a:latin typeface="Arial MT"/>
                <a:cs typeface="Arial MT"/>
              </a:rPr>
              <a:t>1</a:t>
            </a:r>
            <a:r>
              <a:rPr sz="1200" spc="-7" baseline="24305" dirty="0">
                <a:latin typeface="Arial MT"/>
                <a:cs typeface="Arial MT"/>
              </a:rPr>
              <a:t>st</a:t>
            </a:r>
            <a:r>
              <a:rPr sz="1200" spc="157" baseline="24305" dirty="0">
                <a:latin typeface="Arial MT"/>
                <a:cs typeface="Arial MT"/>
              </a:rPr>
              <a:t> </a:t>
            </a:r>
            <a:r>
              <a:rPr sz="1200" spc="-5" dirty="0">
                <a:latin typeface="Arial MT"/>
                <a:cs typeface="Arial MT"/>
              </a:rPr>
              <a:t>RAM </a:t>
            </a:r>
            <a:r>
              <a:rPr sz="1200" spc="-10" dirty="0">
                <a:latin typeface="Arial MT"/>
                <a:cs typeface="Arial MT"/>
              </a:rPr>
              <a:t>Chip</a:t>
            </a:r>
            <a:endParaRPr sz="1200">
              <a:latin typeface="Arial MT"/>
              <a:cs typeface="Arial MT"/>
            </a:endParaRPr>
          </a:p>
          <a:p>
            <a:pPr marL="50800">
              <a:lnSpc>
                <a:spcPts val="1100"/>
              </a:lnSpc>
              <a:spcBef>
                <a:spcPts val="30"/>
              </a:spcBef>
            </a:pPr>
            <a:r>
              <a:rPr sz="1000" dirty="0">
                <a:latin typeface="Arial MT"/>
                <a:cs typeface="Arial MT"/>
              </a:rPr>
              <a:t>5FFF</a:t>
            </a:r>
            <a:endParaRPr sz="1000">
              <a:latin typeface="Arial MT"/>
              <a:cs typeface="Arial MT"/>
            </a:endParaRPr>
          </a:p>
          <a:p>
            <a:pPr marL="50800">
              <a:lnSpc>
                <a:spcPts val="1100"/>
              </a:lnSpc>
            </a:pPr>
            <a:r>
              <a:rPr sz="1000" spc="-5" dirty="0">
                <a:latin typeface="Arial MT"/>
                <a:cs typeface="Arial MT"/>
              </a:rPr>
              <a:t>6000</a:t>
            </a:r>
            <a:endParaRPr sz="1000">
              <a:latin typeface="Arial MT"/>
              <a:cs typeface="Arial MT"/>
            </a:endParaRPr>
          </a:p>
          <a:p>
            <a:pPr marL="826769">
              <a:lnSpc>
                <a:spcPct val="100000"/>
              </a:lnSpc>
              <a:spcBef>
                <a:spcPts val="530"/>
              </a:spcBef>
            </a:pPr>
            <a:r>
              <a:rPr sz="1200" spc="-5" dirty="0">
                <a:latin typeface="Arial MT"/>
                <a:cs typeface="Arial MT"/>
              </a:rPr>
              <a:t>Address</a:t>
            </a:r>
            <a:r>
              <a:rPr sz="1200" spc="-20" dirty="0">
                <a:latin typeface="Arial MT"/>
                <a:cs typeface="Arial MT"/>
              </a:rPr>
              <a:t> </a:t>
            </a:r>
            <a:r>
              <a:rPr sz="1200" spc="-5" dirty="0">
                <a:latin typeface="Arial MT"/>
                <a:cs typeface="Arial MT"/>
              </a:rPr>
              <a:t>Range</a:t>
            </a:r>
            <a:r>
              <a:rPr sz="1200" spc="-30" dirty="0">
                <a:latin typeface="Arial MT"/>
                <a:cs typeface="Arial MT"/>
              </a:rPr>
              <a:t> </a:t>
            </a:r>
            <a:r>
              <a:rPr sz="1200" spc="-5" dirty="0">
                <a:latin typeface="Arial MT"/>
                <a:cs typeface="Arial MT"/>
              </a:rPr>
              <a:t>of</a:t>
            </a:r>
            <a:r>
              <a:rPr sz="1200" dirty="0">
                <a:latin typeface="Arial MT"/>
                <a:cs typeface="Arial MT"/>
              </a:rPr>
              <a:t> </a:t>
            </a:r>
            <a:r>
              <a:rPr sz="1200" spc="-5" dirty="0">
                <a:latin typeface="Arial MT"/>
                <a:cs typeface="Arial MT"/>
              </a:rPr>
              <a:t>2</a:t>
            </a:r>
            <a:r>
              <a:rPr sz="1200" spc="-7" baseline="24305" dirty="0">
                <a:latin typeface="Arial MT"/>
                <a:cs typeface="Arial MT"/>
              </a:rPr>
              <a:t>nd</a:t>
            </a:r>
            <a:r>
              <a:rPr sz="1200" spc="172" baseline="24305" dirty="0">
                <a:latin typeface="Arial MT"/>
                <a:cs typeface="Arial MT"/>
              </a:rPr>
              <a:t> </a:t>
            </a:r>
            <a:r>
              <a:rPr sz="1200" spc="-5" dirty="0">
                <a:latin typeface="Arial MT"/>
                <a:cs typeface="Arial MT"/>
              </a:rPr>
              <a:t>RAM </a:t>
            </a:r>
            <a:r>
              <a:rPr sz="1200" spc="-10" dirty="0">
                <a:latin typeface="Arial MT"/>
                <a:cs typeface="Arial MT"/>
              </a:rPr>
              <a:t>Chip</a:t>
            </a:r>
            <a:endParaRPr sz="1200">
              <a:latin typeface="Arial MT"/>
              <a:cs typeface="Arial MT"/>
            </a:endParaRPr>
          </a:p>
        </p:txBody>
      </p:sp>
      <p:sp>
        <p:nvSpPr>
          <p:cNvPr id="29" name="object 27">
            <a:extLst>
              <a:ext uri="{FF2B5EF4-FFF2-40B4-BE49-F238E27FC236}">
                <a16:creationId xmlns:a16="http://schemas.microsoft.com/office/drawing/2014/main" id="{AE3A4F82-80FD-4E45-A703-B2842CB1A7F6}"/>
              </a:ext>
            </a:extLst>
          </p:cNvPr>
          <p:cNvSpPr txBox="1"/>
          <p:nvPr/>
        </p:nvSpPr>
        <p:spPr>
          <a:xfrm>
            <a:off x="5220653" y="3324149"/>
            <a:ext cx="2245995" cy="208279"/>
          </a:xfrm>
          <a:prstGeom prst="rect">
            <a:avLst/>
          </a:prstGeom>
        </p:spPr>
        <p:txBody>
          <a:bodyPr vert="horz" wrap="square" lIns="0" tIns="12700" rIns="0" bIns="0" rtlCol="0">
            <a:spAutoFit/>
          </a:bodyPr>
          <a:lstStyle/>
          <a:p>
            <a:pPr marL="38100">
              <a:lnSpc>
                <a:spcPct val="100000"/>
              </a:lnSpc>
              <a:spcBef>
                <a:spcPts val="100"/>
              </a:spcBef>
            </a:pPr>
            <a:r>
              <a:rPr sz="1200" spc="-5" dirty="0">
                <a:latin typeface="Arial MT"/>
                <a:cs typeface="Arial MT"/>
              </a:rPr>
              <a:t>Address</a:t>
            </a:r>
            <a:r>
              <a:rPr sz="1200" spc="-20" dirty="0">
                <a:latin typeface="Arial MT"/>
                <a:cs typeface="Arial MT"/>
              </a:rPr>
              <a:t> </a:t>
            </a:r>
            <a:r>
              <a:rPr sz="1200" spc="-5" dirty="0">
                <a:latin typeface="Arial MT"/>
                <a:cs typeface="Arial MT"/>
              </a:rPr>
              <a:t>Range</a:t>
            </a:r>
            <a:r>
              <a:rPr sz="1200" spc="-30" dirty="0">
                <a:latin typeface="Arial MT"/>
                <a:cs typeface="Arial MT"/>
              </a:rPr>
              <a:t> </a:t>
            </a:r>
            <a:r>
              <a:rPr sz="1200" spc="-5" dirty="0">
                <a:latin typeface="Arial MT"/>
                <a:cs typeface="Arial MT"/>
              </a:rPr>
              <a:t>of 3</a:t>
            </a:r>
            <a:r>
              <a:rPr sz="1200" spc="-7" baseline="24305" dirty="0">
                <a:latin typeface="Arial MT"/>
                <a:cs typeface="Arial MT"/>
              </a:rPr>
              <a:t>rd</a:t>
            </a:r>
            <a:r>
              <a:rPr sz="1200" spc="165" baseline="24305" dirty="0">
                <a:latin typeface="Arial MT"/>
                <a:cs typeface="Arial MT"/>
              </a:rPr>
              <a:t> </a:t>
            </a:r>
            <a:r>
              <a:rPr sz="1200" spc="-5" dirty="0">
                <a:latin typeface="Arial MT"/>
                <a:cs typeface="Arial MT"/>
              </a:rPr>
              <a:t>RAM </a:t>
            </a:r>
            <a:r>
              <a:rPr sz="1200" spc="-10" dirty="0">
                <a:latin typeface="Arial MT"/>
                <a:cs typeface="Arial MT"/>
              </a:rPr>
              <a:t>Chip</a:t>
            </a:r>
            <a:endParaRPr sz="1200">
              <a:latin typeface="Arial MT"/>
              <a:cs typeface="Arial MT"/>
            </a:endParaRPr>
          </a:p>
        </p:txBody>
      </p:sp>
      <p:sp>
        <p:nvSpPr>
          <p:cNvPr id="30" name="object 28">
            <a:extLst>
              <a:ext uri="{FF2B5EF4-FFF2-40B4-BE49-F238E27FC236}">
                <a16:creationId xmlns:a16="http://schemas.microsoft.com/office/drawing/2014/main" id="{B8578780-EEEC-456D-8E55-004AA3F45AFA}"/>
              </a:ext>
            </a:extLst>
          </p:cNvPr>
          <p:cNvSpPr txBox="1"/>
          <p:nvPr/>
        </p:nvSpPr>
        <p:spPr>
          <a:xfrm>
            <a:off x="4457066" y="3971798"/>
            <a:ext cx="3016885" cy="695325"/>
          </a:xfrm>
          <a:prstGeom prst="rect">
            <a:avLst/>
          </a:prstGeom>
        </p:spPr>
        <p:txBody>
          <a:bodyPr vert="horz" wrap="square" lIns="0" tIns="12700" rIns="0" bIns="0" rtlCol="0">
            <a:spAutoFit/>
          </a:bodyPr>
          <a:lstStyle/>
          <a:p>
            <a:pPr marL="801370">
              <a:lnSpc>
                <a:spcPct val="100000"/>
              </a:lnSpc>
              <a:spcBef>
                <a:spcPts val="100"/>
              </a:spcBef>
            </a:pPr>
            <a:r>
              <a:rPr sz="1200" spc="-5" dirty="0">
                <a:latin typeface="Arial MT"/>
                <a:cs typeface="Arial MT"/>
              </a:rPr>
              <a:t>Address</a:t>
            </a:r>
            <a:r>
              <a:rPr sz="1200" spc="-20" dirty="0">
                <a:latin typeface="Arial MT"/>
                <a:cs typeface="Arial MT"/>
              </a:rPr>
              <a:t> </a:t>
            </a:r>
            <a:r>
              <a:rPr sz="1200" spc="-5" dirty="0">
                <a:latin typeface="Arial MT"/>
                <a:cs typeface="Arial MT"/>
              </a:rPr>
              <a:t>Range</a:t>
            </a:r>
            <a:r>
              <a:rPr sz="1200" spc="-30" dirty="0">
                <a:latin typeface="Arial MT"/>
                <a:cs typeface="Arial MT"/>
              </a:rPr>
              <a:t> </a:t>
            </a:r>
            <a:r>
              <a:rPr sz="1200" spc="-5" dirty="0">
                <a:latin typeface="Arial MT"/>
                <a:cs typeface="Arial MT"/>
              </a:rPr>
              <a:t>of</a:t>
            </a:r>
            <a:r>
              <a:rPr sz="1200" dirty="0">
                <a:latin typeface="Arial MT"/>
                <a:cs typeface="Arial MT"/>
              </a:rPr>
              <a:t> </a:t>
            </a:r>
            <a:r>
              <a:rPr sz="1200" spc="-5" dirty="0">
                <a:latin typeface="Arial MT"/>
                <a:cs typeface="Arial MT"/>
              </a:rPr>
              <a:t>4</a:t>
            </a:r>
            <a:r>
              <a:rPr sz="1200" spc="-7" baseline="24305" dirty="0">
                <a:latin typeface="Arial MT"/>
                <a:cs typeface="Arial MT"/>
              </a:rPr>
              <a:t>th</a:t>
            </a:r>
            <a:r>
              <a:rPr sz="1200" spc="165" baseline="24305" dirty="0">
                <a:latin typeface="Arial MT"/>
                <a:cs typeface="Arial MT"/>
              </a:rPr>
              <a:t> </a:t>
            </a:r>
            <a:r>
              <a:rPr sz="1200" spc="-5" dirty="0">
                <a:latin typeface="Arial MT"/>
                <a:cs typeface="Arial MT"/>
              </a:rPr>
              <a:t>RAM </a:t>
            </a:r>
            <a:r>
              <a:rPr sz="1200" spc="-10" dirty="0">
                <a:latin typeface="Arial MT"/>
                <a:cs typeface="Arial MT"/>
              </a:rPr>
              <a:t>Chip</a:t>
            </a:r>
            <a:endParaRPr sz="1200">
              <a:latin typeface="Arial MT"/>
              <a:cs typeface="Arial MT"/>
            </a:endParaRPr>
          </a:p>
          <a:p>
            <a:pPr>
              <a:lnSpc>
                <a:spcPct val="100000"/>
              </a:lnSpc>
            </a:pPr>
            <a:endParaRPr sz="1300">
              <a:latin typeface="Arial MT"/>
              <a:cs typeface="Arial MT"/>
            </a:endParaRPr>
          </a:p>
          <a:p>
            <a:pPr marL="25400">
              <a:lnSpc>
                <a:spcPct val="100000"/>
              </a:lnSpc>
              <a:spcBef>
                <a:spcPts val="1135"/>
              </a:spcBef>
            </a:pPr>
            <a:r>
              <a:rPr sz="1000" dirty="0">
                <a:latin typeface="Arial MT"/>
                <a:cs typeface="Arial MT"/>
              </a:rPr>
              <a:t>F7FF</a:t>
            </a:r>
            <a:endParaRPr sz="1000">
              <a:latin typeface="Arial MT"/>
              <a:cs typeface="Arial MT"/>
            </a:endParaRPr>
          </a:p>
        </p:txBody>
      </p:sp>
      <p:sp>
        <p:nvSpPr>
          <p:cNvPr id="31" name="Date Placeholder 30">
            <a:extLst>
              <a:ext uri="{FF2B5EF4-FFF2-40B4-BE49-F238E27FC236}">
                <a16:creationId xmlns:a16="http://schemas.microsoft.com/office/drawing/2014/main" id="{E71F9567-47DF-45D2-A7E4-64B6F6C1132C}"/>
              </a:ext>
            </a:extLst>
          </p:cNvPr>
          <p:cNvSpPr>
            <a:spLocks noGrp="1"/>
          </p:cNvSpPr>
          <p:nvPr>
            <p:ph type="dt" sz="half" idx="10"/>
          </p:nvPr>
        </p:nvSpPr>
        <p:spPr/>
        <p:txBody>
          <a:bodyPr/>
          <a:lstStyle/>
          <a:p>
            <a:fld id="{345AFB0D-5E60-400D-B095-E8ECFA7204D6}" type="datetime1">
              <a:rPr lang="en-US" smtClean="0"/>
              <a:t>7/31/2023</a:t>
            </a:fld>
            <a:endParaRPr lang="en-US"/>
          </a:p>
        </p:txBody>
      </p:sp>
      <p:sp>
        <p:nvSpPr>
          <p:cNvPr id="32" name="Slide Number Placeholder 31">
            <a:extLst>
              <a:ext uri="{FF2B5EF4-FFF2-40B4-BE49-F238E27FC236}">
                <a16:creationId xmlns:a16="http://schemas.microsoft.com/office/drawing/2014/main" id="{7F4954C4-0C67-4EAD-A9D1-5762ED7B4992}"/>
              </a:ext>
            </a:extLst>
          </p:cNvPr>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3802722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The </a:t>
            </a:r>
            <a:r>
              <a:rPr lang="en-US" sz="3200" b="1" spc="-5" dirty="0">
                <a:solidFill>
                  <a:srgbClr val="FF0000"/>
                </a:solidFill>
              </a:rPr>
              <a:t>three cycle instruction </a:t>
            </a:r>
            <a:r>
              <a:rPr lang="en-US" sz="3200" b="1" spc="-1060" dirty="0">
                <a:solidFill>
                  <a:srgbClr val="FF0000"/>
                </a:solidFill>
              </a:rPr>
              <a:t> </a:t>
            </a:r>
            <a:r>
              <a:rPr lang="en-US" sz="3200" b="1" spc="-5" dirty="0">
                <a:solidFill>
                  <a:srgbClr val="FF0000"/>
                </a:solidFill>
              </a:rPr>
              <a:t>execution </a:t>
            </a:r>
            <a:r>
              <a:rPr lang="en-US" sz="3200" b="1" dirty="0">
                <a:solidFill>
                  <a:srgbClr val="FF0000"/>
                </a:solidFill>
              </a:rPr>
              <a:t>model</a:t>
            </a:r>
          </a:p>
        </p:txBody>
      </p:sp>
      <p:sp>
        <p:nvSpPr>
          <p:cNvPr id="3" name="Content Placeholder 2"/>
          <p:cNvSpPr>
            <a:spLocks noGrp="1"/>
          </p:cNvSpPr>
          <p:nvPr>
            <p:ph idx="1"/>
          </p:nvPr>
        </p:nvSpPr>
        <p:spPr>
          <a:xfrm>
            <a:off x="457200" y="742950"/>
            <a:ext cx="7086600" cy="3851673"/>
          </a:xfrm>
          <a:noFill/>
        </p:spPr>
        <p:txBody>
          <a:bodyPr>
            <a:normAutofit/>
          </a:bodyPr>
          <a:lstStyle/>
          <a:p>
            <a:pPr marL="355600" marR="5080" algn="just">
              <a:lnSpc>
                <a:spcPts val="3020"/>
              </a:lnSpc>
              <a:spcBef>
                <a:spcPts val="484"/>
              </a:spcBef>
              <a:tabLst>
                <a:tab pos="355600" algn="l"/>
              </a:tabLst>
            </a:pPr>
            <a:r>
              <a:rPr lang="en-US" sz="1600" spc="-5" dirty="0">
                <a:latin typeface="+mj-lt"/>
                <a:cs typeface="Times New Roman"/>
              </a:rPr>
              <a:t>To execute </a:t>
            </a:r>
            <a:r>
              <a:rPr lang="en-US" sz="1600" dirty="0">
                <a:latin typeface="+mj-lt"/>
                <a:cs typeface="Times New Roman"/>
              </a:rPr>
              <a:t>a </a:t>
            </a:r>
            <a:r>
              <a:rPr lang="en-US" sz="1600" spc="-5" dirty="0">
                <a:latin typeface="+mj-lt"/>
                <a:cs typeface="Times New Roman"/>
              </a:rPr>
              <a:t>program, </a:t>
            </a:r>
            <a:r>
              <a:rPr lang="en-US" sz="1600" dirty="0">
                <a:latin typeface="+mj-lt"/>
                <a:cs typeface="Times New Roman"/>
              </a:rPr>
              <a:t>the </a:t>
            </a:r>
            <a:r>
              <a:rPr lang="en-US" sz="1600" spc="-5" dirty="0">
                <a:latin typeface="+mj-lt"/>
                <a:cs typeface="Times New Roman"/>
              </a:rPr>
              <a:t>microprocessor “reads” </a:t>
            </a:r>
            <a:r>
              <a:rPr lang="en-US" sz="1600" spc="-685" dirty="0">
                <a:latin typeface="+mj-lt"/>
                <a:cs typeface="Times New Roman"/>
              </a:rPr>
              <a:t> </a:t>
            </a:r>
            <a:r>
              <a:rPr lang="en-US" sz="1600" spc="-5" dirty="0">
                <a:latin typeface="+mj-lt"/>
                <a:cs typeface="Times New Roman"/>
              </a:rPr>
              <a:t>each instruction </a:t>
            </a:r>
            <a:r>
              <a:rPr lang="en-US" sz="1600" dirty="0">
                <a:latin typeface="+mj-lt"/>
                <a:cs typeface="Times New Roman"/>
              </a:rPr>
              <a:t>from </a:t>
            </a:r>
            <a:r>
              <a:rPr lang="en-US" sz="1600" spc="-5" dirty="0">
                <a:latin typeface="+mj-lt"/>
                <a:cs typeface="Times New Roman"/>
              </a:rPr>
              <a:t>memory, “interprets” </a:t>
            </a:r>
            <a:r>
              <a:rPr lang="en-US" sz="1600" dirty="0">
                <a:latin typeface="+mj-lt"/>
                <a:cs typeface="Times New Roman"/>
              </a:rPr>
              <a:t>it, </a:t>
            </a:r>
            <a:r>
              <a:rPr lang="en-US" sz="1600" spc="-5" dirty="0">
                <a:latin typeface="+mj-lt"/>
                <a:cs typeface="Times New Roman"/>
              </a:rPr>
              <a:t>then </a:t>
            </a:r>
            <a:r>
              <a:rPr lang="en-US" sz="1600" spc="-685" dirty="0">
                <a:latin typeface="+mj-lt"/>
                <a:cs typeface="Times New Roman"/>
              </a:rPr>
              <a:t> </a:t>
            </a:r>
            <a:r>
              <a:rPr lang="en-US" sz="1600" spc="-5" dirty="0">
                <a:latin typeface="+mj-lt"/>
                <a:cs typeface="Times New Roman"/>
              </a:rPr>
              <a:t>“executes”</a:t>
            </a:r>
            <a:r>
              <a:rPr lang="en-US" sz="1600" spc="-40" dirty="0">
                <a:latin typeface="+mj-lt"/>
                <a:cs typeface="Times New Roman"/>
              </a:rPr>
              <a:t> </a:t>
            </a:r>
            <a:r>
              <a:rPr lang="en-US" sz="1600" dirty="0">
                <a:latin typeface="+mj-lt"/>
                <a:cs typeface="Times New Roman"/>
              </a:rPr>
              <a:t>it.</a:t>
            </a:r>
            <a:endParaRPr lang="en-US" sz="2000" dirty="0">
              <a:latin typeface="+mj-lt"/>
              <a:cs typeface="Times New Roman"/>
            </a:endParaRPr>
          </a:p>
          <a:p>
            <a:pPr marL="355600" indent="-343535">
              <a:spcBef>
                <a:spcPts val="5"/>
              </a:spcBef>
              <a:tabLst>
                <a:tab pos="355600" algn="l"/>
                <a:tab pos="356235" algn="l"/>
              </a:tabLst>
            </a:pPr>
            <a:r>
              <a:rPr lang="en-US" sz="1600" spc="-5" dirty="0">
                <a:latin typeface="+mj-lt"/>
                <a:cs typeface="Times New Roman"/>
              </a:rPr>
              <a:t>To</a:t>
            </a:r>
            <a:r>
              <a:rPr lang="en-US" sz="1600" spc="-15" dirty="0">
                <a:latin typeface="+mj-lt"/>
                <a:cs typeface="Times New Roman"/>
              </a:rPr>
              <a:t> </a:t>
            </a:r>
            <a:r>
              <a:rPr lang="en-US" sz="1600" dirty="0">
                <a:latin typeface="+mj-lt"/>
                <a:cs typeface="Times New Roman"/>
              </a:rPr>
              <a:t>use</a:t>
            </a:r>
            <a:r>
              <a:rPr lang="en-US" sz="1600" spc="-20" dirty="0">
                <a:latin typeface="+mj-lt"/>
                <a:cs typeface="Times New Roman"/>
              </a:rPr>
              <a:t> </a:t>
            </a:r>
            <a:r>
              <a:rPr lang="en-US" sz="1600" dirty="0">
                <a:latin typeface="+mj-lt"/>
                <a:cs typeface="Times New Roman"/>
              </a:rPr>
              <a:t>the</a:t>
            </a:r>
            <a:r>
              <a:rPr lang="en-US" sz="1600" spc="-25" dirty="0">
                <a:latin typeface="+mj-lt"/>
                <a:cs typeface="Times New Roman"/>
              </a:rPr>
              <a:t> </a:t>
            </a:r>
            <a:r>
              <a:rPr lang="en-US" sz="1600" dirty="0">
                <a:latin typeface="+mj-lt"/>
                <a:cs typeface="Times New Roman"/>
              </a:rPr>
              <a:t>right</a:t>
            </a:r>
            <a:r>
              <a:rPr lang="en-US" sz="1600" spc="-25" dirty="0">
                <a:latin typeface="+mj-lt"/>
                <a:cs typeface="Times New Roman"/>
              </a:rPr>
              <a:t> </a:t>
            </a:r>
            <a:r>
              <a:rPr lang="en-US" sz="1600" spc="-5" dirty="0">
                <a:latin typeface="+mj-lt"/>
                <a:cs typeface="Times New Roman"/>
              </a:rPr>
              <a:t>names</a:t>
            </a:r>
            <a:r>
              <a:rPr lang="en-US" sz="1600" spc="-20" dirty="0">
                <a:latin typeface="+mj-lt"/>
                <a:cs typeface="Times New Roman"/>
              </a:rPr>
              <a:t> </a:t>
            </a:r>
            <a:r>
              <a:rPr lang="en-US" sz="1600" dirty="0">
                <a:latin typeface="+mj-lt"/>
                <a:cs typeface="Times New Roman"/>
              </a:rPr>
              <a:t>for</a:t>
            </a:r>
            <a:r>
              <a:rPr lang="en-US" sz="1600" spc="-10" dirty="0">
                <a:latin typeface="+mj-lt"/>
                <a:cs typeface="Times New Roman"/>
              </a:rPr>
              <a:t> </a:t>
            </a:r>
            <a:r>
              <a:rPr lang="en-US" sz="1600" dirty="0">
                <a:latin typeface="+mj-lt"/>
                <a:cs typeface="Times New Roman"/>
              </a:rPr>
              <a:t>the</a:t>
            </a:r>
            <a:r>
              <a:rPr lang="en-US" sz="1600" spc="-25" dirty="0">
                <a:latin typeface="+mj-lt"/>
                <a:cs typeface="Times New Roman"/>
              </a:rPr>
              <a:t> </a:t>
            </a:r>
            <a:r>
              <a:rPr lang="en-US" sz="1600" spc="-5" dirty="0">
                <a:latin typeface="+mj-lt"/>
                <a:cs typeface="Times New Roman"/>
              </a:rPr>
              <a:t>cycles:</a:t>
            </a:r>
            <a:endParaRPr lang="en-US" sz="1600" dirty="0">
              <a:latin typeface="+mj-lt"/>
              <a:cs typeface="Times New Roman"/>
            </a:endParaRPr>
          </a:p>
          <a:p>
            <a:pPr marL="755650" lvl="1">
              <a:spcBef>
                <a:spcPts val="295"/>
              </a:spcBef>
              <a:tabLst>
                <a:tab pos="755015" algn="l"/>
                <a:tab pos="755650" algn="l"/>
              </a:tabLst>
            </a:pPr>
            <a:r>
              <a:rPr lang="en-US" sz="1400" spc="-5" dirty="0">
                <a:latin typeface="+mj-lt"/>
                <a:cs typeface="Times New Roman"/>
              </a:rPr>
              <a:t>The</a:t>
            </a:r>
            <a:r>
              <a:rPr lang="en-US" sz="1400" spc="-10" dirty="0">
                <a:latin typeface="+mj-lt"/>
                <a:cs typeface="Times New Roman"/>
              </a:rPr>
              <a:t> </a:t>
            </a:r>
            <a:r>
              <a:rPr lang="en-US" sz="1400" spc="-5" dirty="0">
                <a:latin typeface="+mj-lt"/>
                <a:cs typeface="Times New Roman"/>
              </a:rPr>
              <a:t>microprocessor</a:t>
            </a:r>
            <a:r>
              <a:rPr lang="en-US" sz="1400" spc="-15" dirty="0">
                <a:latin typeface="+mj-lt"/>
                <a:cs typeface="Times New Roman"/>
              </a:rPr>
              <a:t> </a:t>
            </a:r>
            <a:r>
              <a:rPr lang="en-US" sz="1400" b="1" u="heavy" spc="-5" dirty="0">
                <a:uFill>
                  <a:solidFill>
                    <a:srgbClr val="000000"/>
                  </a:solidFill>
                </a:uFill>
                <a:latin typeface="+mj-lt"/>
                <a:cs typeface="Times New Roman"/>
              </a:rPr>
              <a:t>fetches</a:t>
            </a:r>
            <a:r>
              <a:rPr lang="en-US" sz="1400" b="1" spc="5" dirty="0">
                <a:latin typeface="+mj-lt"/>
                <a:cs typeface="Times New Roman"/>
              </a:rPr>
              <a:t> </a:t>
            </a:r>
            <a:r>
              <a:rPr lang="en-US" sz="1400" dirty="0">
                <a:latin typeface="+mj-lt"/>
                <a:cs typeface="Times New Roman"/>
              </a:rPr>
              <a:t>each</a:t>
            </a:r>
            <a:r>
              <a:rPr lang="en-US" sz="1400" spc="-20" dirty="0">
                <a:latin typeface="+mj-lt"/>
                <a:cs typeface="Times New Roman"/>
              </a:rPr>
              <a:t> </a:t>
            </a:r>
            <a:r>
              <a:rPr lang="en-US" sz="1400" spc="-5" dirty="0">
                <a:latin typeface="+mj-lt"/>
                <a:cs typeface="Times New Roman"/>
              </a:rPr>
              <a:t>instruction,</a:t>
            </a:r>
            <a:endParaRPr lang="en-US" sz="1400" dirty="0">
              <a:latin typeface="+mj-lt"/>
              <a:cs typeface="Times New Roman"/>
            </a:endParaRPr>
          </a:p>
          <a:p>
            <a:pPr marL="755650" lvl="1">
              <a:spcBef>
                <a:spcPts val="290"/>
              </a:spcBef>
              <a:buFont typeface="Times New Roman"/>
              <a:buChar char="–"/>
              <a:tabLst>
                <a:tab pos="755015" algn="l"/>
                <a:tab pos="755650" algn="l"/>
              </a:tabLst>
            </a:pPr>
            <a:r>
              <a:rPr lang="en-US" sz="1400" b="1" u="heavy" spc="-5" dirty="0">
                <a:uFill>
                  <a:solidFill>
                    <a:srgbClr val="000000"/>
                  </a:solidFill>
                </a:uFill>
                <a:latin typeface="+mj-lt"/>
                <a:cs typeface="Times New Roman"/>
              </a:rPr>
              <a:t>decodes</a:t>
            </a:r>
            <a:r>
              <a:rPr lang="en-US" sz="1400" b="1" spc="-45" dirty="0">
                <a:latin typeface="+mj-lt"/>
                <a:cs typeface="Times New Roman"/>
              </a:rPr>
              <a:t> </a:t>
            </a:r>
            <a:r>
              <a:rPr lang="en-US" sz="1400" spc="-5" dirty="0">
                <a:latin typeface="+mj-lt"/>
                <a:cs typeface="Times New Roman"/>
              </a:rPr>
              <a:t>it,</a:t>
            </a:r>
            <a:endParaRPr lang="en-US" sz="1400" dirty="0">
              <a:latin typeface="+mj-lt"/>
              <a:cs typeface="Times New Roman"/>
            </a:endParaRPr>
          </a:p>
          <a:p>
            <a:pPr marL="755650" lvl="1">
              <a:spcBef>
                <a:spcPts val="285"/>
              </a:spcBef>
              <a:tabLst>
                <a:tab pos="755015" algn="l"/>
                <a:tab pos="755650" algn="l"/>
              </a:tabLst>
            </a:pPr>
            <a:r>
              <a:rPr lang="en-US" sz="1400" spc="-5" dirty="0">
                <a:latin typeface="+mj-lt"/>
                <a:cs typeface="Times New Roman"/>
              </a:rPr>
              <a:t>Then</a:t>
            </a:r>
            <a:r>
              <a:rPr lang="en-US" sz="1400" spc="-35" dirty="0">
                <a:latin typeface="+mj-lt"/>
                <a:cs typeface="Times New Roman"/>
              </a:rPr>
              <a:t> </a:t>
            </a:r>
            <a:r>
              <a:rPr lang="en-US" sz="1400" b="1" u="heavy" spc="-5" dirty="0">
                <a:uFill>
                  <a:solidFill>
                    <a:srgbClr val="000000"/>
                  </a:solidFill>
                </a:uFill>
                <a:latin typeface="+mj-lt"/>
                <a:cs typeface="Times New Roman"/>
              </a:rPr>
              <a:t>executes</a:t>
            </a:r>
            <a:r>
              <a:rPr lang="en-US" sz="1400" b="1" spc="-30" dirty="0">
                <a:latin typeface="+mj-lt"/>
                <a:cs typeface="Times New Roman"/>
              </a:rPr>
              <a:t> </a:t>
            </a:r>
            <a:r>
              <a:rPr lang="en-US" sz="1400" spc="-5" dirty="0">
                <a:latin typeface="+mj-lt"/>
                <a:cs typeface="Times New Roman"/>
              </a:rPr>
              <a:t>it.</a:t>
            </a:r>
            <a:endParaRPr lang="en-US" sz="2400" dirty="0">
              <a:latin typeface="+mj-lt"/>
              <a:cs typeface="Times New Roman"/>
            </a:endParaRPr>
          </a:p>
          <a:p>
            <a:pPr marL="355600" marR="457834" indent="-343535">
              <a:lnSpc>
                <a:spcPts val="3020"/>
              </a:lnSpc>
              <a:tabLst>
                <a:tab pos="355600" algn="l"/>
                <a:tab pos="356235" algn="l"/>
              </a:tabLst>
            </a:pPr>
            <a:r>
              <a:rPr lang="en-US" sz="1600" spc="-5" dirty="0">
                <a:latin typeface="+mj-lt"/>
                <a:cs typeface="Times New Roman"/>
              </a:rPr>
              <a:t>This sequence </a:t>
            </a:r>
            <a:r>
              <a:rPr lang="en-US" sz="1600" dirty="0">
                <a:latin typeface="+mj-lt"/>
                <a:cs typeface="Times New Roman"/>
              </a:rPr>
              <a:t>is </a:t>
            </a:r>
            <a:r>
              <a:rPr lang="en-US" sz="1600" spc="-5" dirty="0">
                <a:latin typeface="+mj-lt"/>
                <a:cs typeface="Times New Roman"/>
              </a:rPr>
              <a:t>continued </a:t>
            </a:r>
            <a:r>
              <a:rPr lang="en-US" sz="1600" dirty="0">
                <a:latin typeface="+mj-lt"/>
                <a:cs typeface="Times New Roman"/>
              </a:rPr>
              <a:t>until </a:t>
            </a:r>
            <a:r>
              <a:rPr lang="en-US" sz="1600" spc="-5" dirty="0">
                <a:latin typeface="+mj-lt"/>
                <a:cs typeface="Times New Roman"/>
              </a:rPr>
              <a:t>all instructions </a:t>
            </a:r>
            <a:r>
              <a:rPr lang="en-US" sz="1600" spc="-685" dirty="0">
                <a:latin typeface="+mj-lt"/>
                <a:cs typeface="Times New Roman"/>
              </a:rPr>
              <a:t> </a:t>
            </a:r>
            <a:r>
              <a:rPr lang="en-US" sz="1600" spc="-5" dirty="0">
                <a:latin typeface="+mj-lt"/>
                <a:cs typeface="Times New Roman"/>
              </a:rPr>
              <a:t>are</a:t>
            </a:r>
            <a:r>
              <a:rPr lang="en-US" sz="1600" spc="-25" dirty="0">
                <a:latin typeface="+mj-lt"/>
                <a:cs typeface="Times New Roman"/>
              </a:rPr>
              <a:t> </a:t>
            </a:r>
            <a:r>
              <a:rPr lang="en-US" sz="1600" spc="-5" dirty="0">
                <a:latin typeface="+mj-lt"/>
                <a:cs typeface="Times New Roman"/>
              </a:rPr>
              <a:t>performed.</a:t>
            </a:r>
            <a:endParaRPr lang="en-US" sz="1600" dirty="0">
              <a:latin typeface="+mj-lt"/>
              <a:cs typeface="Times New Roman"/>
            </a:endParaRPr>
          </a:p>
          <a:p>
            <a:pPr>
              <a:tabLst>
                <a:tab pos="463550" algn="l"/>
              </a:tabLst>
            </a:pPr>
            <a:endParaRPr lang="en-US" sz="1200" dirty="0">
              <a:latin typeface="+mj-lt"/>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CF3C1758-EA4D-4DB6-9C03-02D7DF06D051}"/>
              </a:ext>
            </a:extLst>
          </p:cNvPr>
          <p:cNvSpPr>
            <a:spLocks noGrp="1"/>
          </p:cNvSpPr>
          <p:nvPr>
            <p:ph type="dt" sz="half" idx="10"/>
          </p:nvPr>
        </p:nvSpPr>
        <p:spPr/>
        <p:txBody>
          <a:bodyPr/>
          <a:lstStyle/>
          <a:p>
            <a:fld id="{998438A1-2703-4287-AFF5-CB397C13732A}" type="datetime1">
              <a:rPr lang="en-US" smtClean="0"/>
              <a:t>7/31/2023</a:t>
            </a:fld>
            <a:endParaRPr lang="en-US"/>
          </a:p>
        </p:txBody>
      </p:sp>
      <p:sp>
        <p:nvSpPr>
          <p:cNvPr id="8" name="Slide Number Placeholder 7">
            <a:extLst>
              <a:ext uri="{FF2B5EF4-FFF2-40B4-BE49-F238E27FC236}">
                <a16:creationId xmlns:a16="http://schemas.microsoft.com/office/drawing/2014/main" id="{2641DC59-7445-49D0-9560-DEC6665BAFFE}"/>
              </a:ext>
            </a:extLst>
          </p:cNvPr>
          <p:cNvSpPr>
            <a:spLocks noGrp="1"/>
          </p:cNvSpPr>
          <p:nvPr>
            <p:ph type="sldNum" sz="quarter" idx="12"/>
          </p:nvPr>
        </p:nvSpPr>
        <p:spPr/>
        <p:txBody>
          <a:bodyPr/>
          <a:lstStyle/>
          <a:p>
            <a:fld id="{B6F15528-21DE-4FAA-801E-634DDDAF4B2B}" type="slidenum">
              <a:rPr lang="en-US" smtClean="0"/>
              <a:pPr/>
              <a:t>21</a:t>
            </a:fld>
            <a:endParaRPr lang="en-US"/>
          </a:p>
        </p:txBody>
      </p:sp>
      <p:pic>
        <p:nvPicPr>
          <p:cNvPr id="9" name="Picture 8">
            <a:extLst>
              <a:ext uri="{FF2B5EF4-FFF2-40B4-BE49-F238E27FC236}">
                <a16:creationId xmlns:a16="http://schemas.microsoft.com/office/drawing/2014/main" id="{F8731F15-3780-4737-81BB-3B3DA406A577}"/>
              </a:ext>
            </a:extLst>
          </p:cNvPr>
          <p:cNvPicPr/>
          <p:nvPr/>
        </p:nvPicPr>
        <p:blipFill>
          <a:blip r:embed="rId2"/>
          <a:stretch>
            <a:fillRect/>
          </a:stretch>
        </p:blipFill>
        <p:spPr>
          <a:xfrm>
            <a:off x="1905000" y="3191584"/>
            <a:ext cx="4953000" cy="1544597"/>
          </a:xfrm>
          <a:prstGeom prst="rect">
            <a:avLst/>
          </a:prstGeom>
        </p:spPr>
      </p:pic>
    </p:spTree>
    <p:extLst>
      <p:ext uri="{BB962C8B-B14F-4D97-AF65-F5344CB8AC3E}">
        <p14:creationId xmlns:p14="http://schemas.microsoft.com/office/powerpoint/2010/main" val="1947022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Microcontroller</a:t>
            </a:r>
          </a:p>
        </p:txBody>
      </p:sp>
      <p:sp>
        <p:nvSpPr>
          <p:cNvPr id="3" name="Content Placeholder 2"/>
          <p:cNvSpPr>
            <a:spLocks noGrp="1"/>
          </p:cNvSpPr>
          <p:nvPr>
            <p:ph idx="1"/>
          </p:nvPr>
        </p:nvSpPr>
        <p:spPr>
          <a:xfrm>
            <a:off x="457200" y="742950"/>
            <a:ext cx="5410200" cy="3851673"/>
          </a:xfrm>
          <a:noFill/>
        </p:spPr>
        <p:txBody>
          <a:bodyPr>
            <a:normAutofit fontScale="62500" lnSpcReduction="20000"/>
          </a:bodyPr>
          <a:lstStyle/>
          <a:p>
            <a:r>
              <a:rPr lang="en-US" dirty="0"/>
              <a:t>A </a:t>
            </a:r>
            <a:r>
              <a:rPr lang="en-US" b="1" dirty="0"/>
              <a:t>microcontroller</a:t>
            </a:r>
            <a:r>
              <a:rPr lang="en-US" dirty="0"/>
              <a:t> is a chip optimized to control electronic devices. </a:t>
            </a:r>
          </a:p>
          <a:p>
            <a:r>
              <a:rPr lang="en-US" dirty="0"/>
              <a:t>It is stored in a single integrated circuit which is dedicated to performing a particular task and execute one specific application.</a:t>
            </a:r>
          </a:p>
          <a:p>
            <a:r>
              <a:rPr lang="en-US" dirty="0"/>
              <a:t>It is specially designed circuits for embedded applications and is widely used in automatically controlled electronic devices. </a:t>
            </a:r>
          </a:p>
          <a:p>
            <a:r>
              <a:rPr lang="en-US" dirty="0"/>
              <a:t>It contains memory, processor, and programmable I/O.</a:t>
            </a:r>
          </a:p>
          <a:p>
            <a:r>
              <a:rPr lang="en-US" dirty="0" err="1"/>
              <a:t>Eg</a:t>
            </a:r>
            <a:r>
              <a:rPr lang="en-US" dirty="0"/>
              <a:t>: 8051 Microcontroller</a:t>
            </a:r>
          </a:p>
        </p:txBody>
      </p:sp>
      <p:sp>
        <p:nvSpPr>
          <p:cNvPr id="6" name="Footer Placeholder 5"/>
          <p:cNvSpPr>
            <a:spLocks noGrp="1"/>
          </p:cNvSpPr>
          <p:nvPr>
            <p:ph type="ftr" sz="quarter" idx="11"/>
          </p:nvPr>
        </p:nvSpPr>
        <p:spPr/>
        <p:txBody>
          <a:bodyPr/>
          <a:lstStyle/>
          <a:p>
            <a:r>
              <a:rPr lang="en-US"/>
              <a:t>Microprocessor and Computer Architecture, BSE-II</a:t>
            </a:r>
          </a:p>
        </p:txBody>
      </p:sp>
      <p:pic>
        <p:nvPicPr>
          <p:cNvPr id="1028" name="Picture 4" descr="Block Diagram of Microcontroller and Microprocessor | Download Scientific  Diagram">
            <a:extLst>
              <a:ext uri="{FF2B5EF4-FFF2-40B4-BE49-F238E27FC236}">
                <a16:creationId xmlns:a16="http://schemas.microsoft.com/office/drawing/2014/main" id="{8884F10C-54A7-46B3-A8B6-4A60FBFA87A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668" t="60550" r="27236" b="5376"/>
          <a:stretch/>
        </p:blipFill>
        <p:spPr bwMode="auto">
          <a:xfrm>
            <a:off x="6172201" y="1504951"/>
            <a:ext cx="2590800" cy="1752600"/>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a:extLst>
              <a:ext uri="{FF2B5EF4-FFF2-40B4-BE49-F238E27FC236}">
                <a16:creationId xmlns:a16="http://schemas.microsoft.com/office/drawing/2014/main" id="{EC661668-00A7-466B-80BF-32B95D6F3942}"/>
              </a:ext>
            </a:extLst>
          </p:cNvPr>
          <p:cNvSpPr>
            <a:spLocks noGrp="1"/>
          </p:cNvSpPr>
          <p:nvPr>
            <p:ph type="dt" sz="half" idx="10"/>
          </p:nvPr>
        </p:nvSpPr>
        <p:spPr/>
        <p:txBody>
          <a:bodyPr/>
          <a:lstStyle/>
          <a:p>
            <a:fld id="{71DFE201-BC04-4EC4-ACF6-F13402D117CD}" type="datetime1">
              <a:rPr lang="en-US" smtClean="0"/>
              <a:t>7/31/2023</a:t>
            </a:fld>
            <a:endParaRPr lang="en-US"/>
          </a:p>
        </p:txBody>
      </p:sp>
      <p:sp>
        <p:nvSpPr>
          <p:cNvPr id="8" name="Slide Number Placeholder 7">
            <a:extLst>
              <a:ext uri="{FF2B5EF4-FFF2-40B4-BE49-F238E27FC236}">
                <a16:creationId xmlns:a16="http://schemas.microsoft.com/office/drawing/2014/main" id="{1A0D3367-0828-4824-A82F-4B78C1A6B393}"/>
              </a:ext>
            </a:extLst>
          </p:cNvPr>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2506549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a:tabLst>
                <a:tab pos="463550" algn="l"/>
              </a:tabLst>
            </a:pPr>
            <a:endParaRPr lang="en-US" sz="2000" dirty="0"/>
          </a:p>
        </p:txBody>
      </p:sp>
      <p:sp>
        <p:nvSpPr>
          <p:cNvPr id="6" name="Footer Placeholder 5"/>
          <p:cNvSpPr>
            <a:spLocks noGrp="1"/>
          </p:cNvSpPr>
          <p:nvPr>
            <p:ph type="ftr" sz="quarter" idx="11"/>
          </p:nvPr>
        </p:nvSpPr>
        <p:spPr/>
        <p:txBody>
          <a:bodyPr/>
          <a:lstStyle/>
          <a:p>
            <a:r>
              <a:rPr lang="en-US"/>
              <a:t>Microprocessor and Computer Architecture, BSE-II</a:t>
            </a:r>
          </a:p>
        </p:txBody>
      </p:sp>
      <p:pic>
        <p:nvPicPr>
          <p:cNvPr id="7" name="Picture 2" descr="Microcontroller Internal Parts">
            <a:extLst>
              <a:ext uri="{FF2B5EF4-FFF2-40B4-BE49-F238E27FC236}">
                <a16:creationId xmlns:a16="http://schemas.microsoft.com/office/drawing/2014/main" id="{14ACABF4-009C-403C-AD57-5CF7283CF1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742949"/>
            <a:ext cx="5105400" cy="3884805"/>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7">
            <a:extLst>
              <a:ext uri="{FF2B5EF4-FFF2-40B4-BE49-F238E27FC236}">
                <a16:creationId xmlns:a16="http://schemas.microsoft.com/office/drawing/2014/main" id="{0A39282D-E1F8-4451-8D1B-3525F5791AE2}"/>
              </a:ext>
            </a:extLst>
          </p:cNvPr>
          <p:cNvSpPr>
            <a:spLocks noGrp="1"/>
          </p:cNvSpPr>
          <p:nvPr>
            <p:ph type="dt" sz="half" idx="10"/>
          </p:nvPr>
        </p:nvSpPr>
        <p:spPr/>
        <p:txBody>
          <a:bodyPr/>
          <a:lstStyle/>
          <a:p>
            <a:fld id="{793FE625-52C6-4549-A500-6B109DC815F0}" type="datetime1">
              <a:rPr lang="en-US" smtClean="0"/>
              <a:t>7/31/2023</a:t>
            </a:fld>
            <a:endParaRPr lang="en-US"/>
          </a:p>
        </p:txBody>
      </p:sp>
      <p:sp>
        <p:nvSpPr>
          <p:cNvPr id="9" name="Slide Number Placeholder 8">
            <a:extLst>
              <a:ext uri="{FF2B5EF4-FFF2-40B4-BE49-F238E27FC236}">
                <a16:creationId xmlns:a16="http://schemas.microsoft.com/office/drawing/2014/main" id="{082A6CD8-4B52-4532-BC26-0ACD5F364F59}"/>
              </a:ext>
            </a:extLst>
          </p:cNvPr>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14420192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0" indent="0" algn="ctr">
              <a:buNone/>
              <a:tabLst>
                <a:tab pos="463550" algn="l"/>
              </a:tabLst>
            </a:pPr>
            <a:endParaRPr lang="en-US" sz="3600" b="1" dirty="0">
              <a:solidFill>
                <a:srgbClr val="FF0000"/>
              </a:solidFill>
            </a:endParaRPr>
          </a:p>
          <a:p>
            <a:pPr marL="0" indent="0" algn="ctr">
              <a:buNone/>
              <a:tabLst>
                <a:tab pos="463550" algn="l"/>
              </a:tabLst>
            </a:pPr>
            <a:r>
              <a:rPr lang="en-US" sz="3600" b="1" dirty="0">
                <a:solidFill>
                  <a:srgbClr val="FF0000"/>
                </a:solidFill>
              </a:rPr>
              <a:t>Applications of Microprocessor and Microcontroller</a:t>
            </a: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2F1A439C-BA65-4290-BFC0-A5E95442D8BC}"/>
              </a:ext>
            </a:extLst>
          </p:cNvPr>
          <p:cNvSpPr>
            <a:spLocks noGrp="1"/>
          </p:cNvSpPr>
          <p:nvPr>
            <p:ph type="dt" sz="half" idx="10"/>
          </p:nvPr>
        </p:nvSpPr>
        <p:spPr/>
        <p:txBody>
          <a:bodyPr/>
          <a:lstStyle/>
          <a:p>
            <a:fld id="{FE62FB69-8740-4146-87EA-C0557DD2D9D0}" type="datetime1">
              <a:rPr lang="en-US" smtClean="0"/>
              <a:t>7/31/2023</a:t>
            </a:fld>
            <a:endParaRPr lang="en-US"/>
          </a:p>
        </p:txBody>
      </p:sp>
      <p:sp>
        <p:nvSpPr>
          <p:cNvPr id="8" name="Slide Number Placeholder 7">
            <a:extLst>
              <a:ext uri="{FF2B5EF4-FFF2-40B4-BE49-F238E27FC236}">
                <a16:creationId xmlns:a16="http://schemas.microsoft.com/office/drawing/2014/main" id="{06D18ED5-89DD-402A-95CD-18F73336E64C}"/>
              </a:ext>
            </a:extLst>
          </p:cNvPr>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2577876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Application of Microprocessor</a:t>
            </a:r>
          </a:p>
        </p:txBody>
      </p:sp>
      <p:sp>
        <p:nvSpPr>
          <p:cNvPr id="3" name="Content Placeholder 2"/>
          <p:cNvSpPr>
            <a:spLocks noGrp="1"/>
          </p:cNvSpPr>
          <p:nvPr>
            <p:ph idx="1"/>
          </p:nvPr>
        </p:nvSpPr>
        <p:spPr>
          <a:xfrm>
            <a:off x="457200" y="742950"/>
            <a:ext cx="8229600" cy="3851673"/>
          </a:xfrm>
          <a:noFill/>
        </p:spPr>
        <p:txBody>
          <a:bodyPr>
            <a:normAutofit lnSpcReduction="10000"/>
          </a:bodyPr>
          <a:lstStyle/>
          <a:p>
            <a:pPr marL="282575" indent="-282575">
              <a:buFont typeface="+mj-lt"/>
              <a:buAutoNum type="arabicPeriod"/>
            </a:pPr>
            <a:r>
              <a:rPr lang="en-US" sz="1600" b="1" dirty="0"/>
              <a:t>Computers: </a:t>
            </a:r>
            <a:r>
              <a:rPr lang="en-US" sz="1600" dirty="0"/>
              <a:t>Microprocessors form the core of computers, including personal computers, laptops, and servers. They handle tasks like executing instructions, managing memory, and controlling input/output devices.</a:t>
            </a:r>
          </a:p>
          <a:p>
            <a:pPr marL="282575" indent="-282575">
              <a:buFont typeface="+mj-lt"/>
              <a:buAutoNum type="arabicPeriod"/>
            </a:pPr>
            <a:r>
              <a:rPr lang="en-US" sz="1600" b="1" dirty="0"/>
              <a:t>Embedded Systems</a:t>
            </a:r>
            <a:r>
              <a:rPr lang="en-US" sz="1600" dirty="0"/>
              <a:t>: Microprocessors are extensively used in embedded systems, which are specialized computer systems designed for specific applications. They can be found in appliances, automotive systems, industrial control systems, and consumer electronics.</a:t>
            </a:r>
          </a:p>
          <a:p>
            <a:pPr marL="282575" indent="-282575">
              <a:buFont typeface="+mj-lt"/>
              <a:buAutoNum type="arabicPeriod"/>
            </a:pPr>
            <a:r>
              <a:rPr lang="en-US" sz="1600" b="1" dirty="0"/>
              <a:t>Communication Systems: </a:t>
            </a:r>
            <a:r>
              <a:rPr lang="en-US" sz="1600" dirty="0"/>
              <a:t>Microprocessors are used in communication systems like routers, modems, and network switches. They handle data transmission, network protocols, and routing algorithms.</a:t>
            </a:r>
          </a:p>
          <a:p>
            <a:pPr marL="282575" indent="-282575">
              <a:buFont typeface="+mj-lt"/>
              <a:buAutoNum type="arabicPeriod"/>
            </a:pPr>
            <a:r>
              <a:rPr lang="en-US" sz="1600" b="1" dirty="0"/>
              <a:t>Automotive Industry</a:t>
            </a:r>
            <a:r>
              <a:rPr lang="en-US" sz="1600" dirty="0"/>
              <a:t>: Microprocessors play a vital role in modern vehicles. They control functions such as engine management, fuel injection systems, anti-lock braking systems (ABS), airbag control, entertainment systems, and navigation systems.</a:t>
            </a:r>
          </a:p>
          <a:p>
            <a:pPr marL="282575" indent="-282575">
              <a:buFont typeface="+mj-lt"/>
              <a:buAutoNum type="arabicPeriod"/>
            </a:pPr>
            <a:r>
              <a:rPr lang="en-US" sz="1600" b="1" dirty="0"/>
              <a:t>Robotics: </a:t>
            </a:r>
            <a:r>
              <a:rPr lang="en-US" sz="1600" dirty="0"/>
              <a:t>Microprocessors are used for controlling the movements and operations of robots. They process sensor data, execute control algorithms, and enable autonomous decision-making.</a:t>
            </a: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CF14ED5B-C30D-4D06-B1A9-2C9E9F0CC099}"/>
              </a:ext>
            </a:extLst>
          </p:cNvPr>
          <p:cNvSpPr>
            <a:spLocks noGrp="1"/>
          </p:cNvSpPr>
          <p:nvPr>
            <p:ph type="dt" sz="half" idx="10"/>
          </p:nvPr>
        </p:nvSpPr>
        <p:spPr/>
        <p:txBody>
          <a:bodyPr/>
          <a:lstStyle/>
          <a:p>
            <a:fld id="{BBEDE966-BE93-4596-B774-559ADA24968A}" type="datetime1">
              <a:rPr lang="en-US" smtClean="0"/>
              <a:t>7/31/2023</a:t>
            </a:fld>
            <a:endParaRPr lang="en-US"/>
          </a:p>
        </p:txBody>
      </p:sp>
      <p:sp>
        <p:nvSpPr>
          <p:cNvPr id="8" name="Slide Number Placeholder 7">
            <a:extLst>
              <a:ext uri="{FF2B5EF4-FFF2-40B4-BE49-F238E27FC236}">
                <a16:creationId xmlns:a16="http://schemas.microsoft.com/office/drawing/2014/main" id="{A3569CC1-E667-4955-B4EF-98E0DAEE6A96}"/>
              </a:ext>
            </a:extLst>
          </p:cNvPr>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2377669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Application of Microprocessor</a:t>
            </a:r>
          </a:p>
        </p:txBody>
      </p:sp>
      <p:sp>
        <p:nvSpPr>
          <p:cNvPr id="3" name="Content Placeholder 2"/>
          <p:cNvSpPr>
            <a:spLocks noGrp="1"/>
          </p:cNvSpPr>
          <p:nvPr>
            <p:ph idx="1"/>
          </p:nvPr>
        </p:nvSpPr>
        <p:spPr>
          <a:xfrm>
            <a:off x="457200" y="742950"/>
            <a:ext cx="8229600" cy="3851673"/>
          </a:xfrm>
          <a:noFill/>
        </p:spPr>
        <p:txBody>
          <a:bodyPr>
            <a:normAutofit lnSpcReduction="10000"/>
          </a:bodyPr>
          <a:lstStyle/>
          <a:p>
            <a:pPr>
              <a:buFont typeface="+mj-lt"/>
              <a:buAutoNum type="arabicPeriod" startAt="6"/>
            </a:pPr>
            <a:r>
              <a:rPr lang="en-US" sz="1600" b="1" dirty="0"/>
              <a:t>Aerospace and Defense</a:t>
            </a:r>
            <a:r>
              <a:rPr lang="en-US" sz="1600" dirty="0"/>
              <a:t>: Microprocessors are essential components in aerospace and defense systems, including aircraft flight controls, missile guidance systems, satellite communications, and radar systems.</a:t>
            </a:r>
          </a:p>
          <a:p>
            <a:pPr>
              <a:buFont typeface="+mj-lt"/>
              <a:buAutoNum type="arabicPeriod" startAt="6"/>
            </a:pPr>
            <a:r>
              <a:rPr lang="en-US" sz="1600" b="1" dirty="0"/>
              <a:t>Consumer Electronics: </a:t>
            </a:r>
            <a:r>
              <a:rPr lang="en-US" sz="1600" dirty="0"/>
              <a:t>Microprocessors are widely used in consumer electronics products like smart TVs, gaming consoles, digital cameras, audio systems, and wearable devices. They provide the necessary processing power for multimedia applications and user interfaces.</a:t>
            </a:r>
          </a:p>
          <a:p>
            <a:pPr>
              <a:buFont typeface="+mj-lt"/>
              <a:buAutoNum type="arabicPeriod" startAt="6"/>
            </a:pPr>
            <a:r>
              <a:rPr lang="en-US" sz="1600" b="1" dirty="0"/>
              <a:t>Internet of Things (IoT): </a:t>
            </a:r>
            <a:r>
              <a:rPr lang="en-US" sz="1600" dirty="0"/>
              <a:t>Microprocessors play a key role in IoT devices, enabling connectivity, data processing, and control in applications such as smart homes, industrial automation, agriculture monitoring, and environmental sensing.</a:t>
            </a:r>
          </a:p>
          <a:p>
            <a:pPr>
              <a:buFont typeface="+mj-lt"/>
              <a:buAutoNum type="arabicPeriod" startAt="6"/>
            </a:pPr>
            <a:r>
              <a:rPr lang="en-US" sz="1600" b="1" dirty="0"/>
              <a:t>Medical Devices: </a:t>
            </a:r>
            <a:r>
              <a:rPr lang="en-US" sz="1600" dirty="0"/>
              <a:t>Microprocessors are utilized in medical equipment and devices, including patient monitoring systems, imaging devices (e.g., MRI and CT scanners), implantable devices, and laboratory equipment. They enable data processing, control, and real-time analysis.</a:t>
            </a:r>
          </a:p>
          <a:p>
            <a:pPr>
              <a:buFont typeface="+mj-lt"/>
              <a:buAutoNum type="arabicPeriod" startAt="6"/>
            </a:pPr>
            <a:r>
              <a:rPr lang="en-US" sz="1600" b="1" dirty="0"/>
              <a:t>Industrial Control Systems: </a:t>
            </a:r>
            <a:r>
              <a:rPr lang="en-US" sz="1600" dirty="0"/>
              <a:t>Microprocessors are employed in industrial automation and control systems to monitor and control manufacturing processes, robotics, assembly lines, and supervisory control and data acquisition (SCADA) systems.</a:t>
            </a: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9C8BBAD4-224A-4AC5-BD16-FCED7C59E5F8}"/>
              </a:ext>
            </a:extLst>
          </p:cNvPr>
          <p:cNvSpPr>
            <a:spLocks noGrp="1"/>
          </p:cNvSpPr>
          <p:nvPr>
            <p:ph type="dt" sz="half" idx="10"/>
          </p:nvPr>
        </p:nvSpPr>
        <p:spPr/>
        <p:txBody>
          <a:bodyPr/>
          <a:lstStyle/>
          <a:p>
            <a:fld id="{6488A6B2-47A7-40CB-A2BD-3B9A313DE9D5}" type="datetime1">
              <a:rPr lang="en-US" smtClean="0"/>
              <a:t>7/31/2023</a:t>
            </a:fld>
            <a:endParaRPr lang="en-US"/>
          </a:p>
        </p:txBody>
      </p:sp>
      <p:sp>
        <p:nvSpPr>
          <p:cNvPr id="8" name="Slide Number Placeholder 7">
            <a:extLst>
              <a:ext uri="{FF2B5EF4-FFF2-40B4-BE49-F238E27FC236}">
                <a16:creationId xmlns:a16="http://schemas.microsoft.com/office/drawing/2014/main" id="{C3AD4F9C-8166-4F7B-B948-409C56FAACA0}"/>
              </a:ext>
            </a:extLst>
          </p:cNvPr>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2380498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Application of Microcontroller</a:t>
            </a:r>
          </a:p>
        </p:txBody>
      </p:sp>
      <p:sp>
        <p:nvSpPr>
          <p:cNvPr id="3" name="Content Placeholder 2"/>
          <p:cNvSpPr>
            <a:spLocks noGrp="1"/>
          </p:cNvSpPr>
          <p:nvPr>
            <p:ph idx="1"/>
          </p:nvPr>
        </p:nvSpPr>
        <p:spPr>
          <a:xfrm>
            <a:off x="457200" y="742950"/>
            <a:ext cx="8229600" cy="3851673"/>
          </a:xfrm>
          <a:noFill/>
        </p:spPr>
        <p:txBody>
          <a:bodyPr>
            <a:normAutofit lnSpcReduction="10000"/>
          </a:bodyPr>
          <a:lstStyle/>
          <a:p>
            <a:pPr marL="282575" indent="-282575">
              <a:buFont typeface="+mj-lt"/>
              <a:buAutoNum type="arabicPeriod"/>
            </a:pPr>
            <a:r>
              <a:rPr lang="en-US" sz="1600" b="1" dirty="0"/>
              <a:t>Home Automation: </a:t>
            </a:r>
            <a:r>
              <a:rPr lang="en-US" sz="1600" dirty="0"/>
              <a:t>Microcontrollers are used to control and automate various functions in smart homes, including lighting systems, temperature control, security systems, and appliances.</a:t>
            </a:r>
          </a:p>
          <a:p>
            <a:pPr marL="282575" indent="-282575">
              <a:buFont typeface="+mj-lt"/>
              <a:buAutoNum type="arabicPeriod"/>
            </a:pPr>
            <a:r>
              <a:rPr lang="en-US" sz="1600" b="1" dirty="0"/>
              <a:t>Internet of Things (IoT): </a:t>
            </a:r>
            <a:r>
              <a:rPr lang="en-US" sz="1600" dirty="0"/>
              <a:t>Microcontrollers play a crucial role in IoT devices by providing connectivity, data processing, and control capabilities. They are used in applications such as environmental monitoring, smart agriculture, and industrial automation.</a:t>
            </a:r>
          </a:p>
          <a:p>
            <a:pPr marL="282575" indent="-282575">
              <a:buFont typeface="+mj-lt"/>
              <a:buAutoNum type="arabicPeriod"/>
            </a:pPr>
            <a:r>
              <a:rPr lang="en-US" sz="1600" b="1" dirty="0"/>
              <a:t>Automotive Systems</a:t>
            </a:r>
            <a:r>
              <a:rPr lang="en-US" sz="1600" dirty="0"/>
              <a:t>: Microcontrollers are extensively used in automotive applications, including engine control units (ECUs), anti-lock braking systems (ABS), airbag control, dashboard displays, and entertainment systems.</a:t>
            </a:r>
          </a:p>
          <a:p>
            <a:pPr marL="282575" indent="-282575">
              <a:buFont typeface="+mj-lt"/>
              <a:buAutoNum type="arabicPeriod"/>
            </a:pPr>
            <a:r>
              <a:rPr lang="en-US" sz="1600" b="1" dirty="0"/>
              <a:t>Consumer Electronics</a:t>
            </a:r>
            <a:r>
              <a:rPr lang="en-US" sz="1600" dirty="0"/>
              <a:t>: Microcontrollers are found in a wide range of consumer electronics, such as remote controls, digital cameras, home entertainment systems, and wearable devices. They provide control and interface functionality.</a:t>
            </a:r>
          </a:p>
          <a:p>
            <a:pPr marL="282575" indent="-282575">
              <a:buFont typeface="+mj-lt"/>
              <a:buAutoNum type="arabicPeriod"/>
            </a:pPr>
            <a:r>
              <a:rPr lang="en-US" sz="1600" b="1" dirty="0"/>
              <a:t>Medical Devices: </a:t>
            </a:r>
            <a:r>
              <a:rPr lang="en-US" sz="1600" dirty="0"/>
              <a:t>Microcontrollers are used in various medical devices, including patient monitoring systems, insulin pumps, prosthetic devices, and diagnostic equipment. They enable data processing, control, and communication functions.</a:t>
            </a: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D46D4F9A-375C-4A1C-9E6B-BFF2D86A44E0}"/>
              </a:ext>
            </a:extLst>
          </p:cNvPr>
          <p:cNvSpPr>
            <a:spLocks noGrp="1"/>
          </p:cNvSpPr>
          <p:nvPr>
            <p:ph type="dt" sz="half" idx="10"/>
          </p:nvPr>
        </p:nvSpPr>
        <p:spPr/>
        <p:txBody>
          <a:bodyPr/>
          <a:lstStyle/>
          <a:p>
            <a:fld id="{308B8C87-B5ED-4F3C-9076-147C27357B2E}" type="datetime1">
              <a:rPr lang="en-US" smtClean="0"/>
              <a:t>7/31/2023</a:t>
            </a:fld>
            <a:endParaRPr lang="en-US"/>
          </a:p>
        </p:txBody>
      </p:sp>
      <p:sp>
        <p:nvSpPr>
          <p:cNvPr id="8" name="Slide Number Placeholder 7">
            <a:extLst>
              <a:ext uri="{FF2B5EF4-FFF2-40B4-BE49-F238E27FC236}">
                <a16:creationId xmlns:a16="http://schemas.microsoft.com/office/drawing/2014/main" id="{1065EB2C-EF7D-42DF-ABEA-A7FD8FFC3C38}"/>
              </a:ext>
            </a:extLst>
          </p:cNvPr>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8671726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Application of Microcontroller</a:t>
            </a:r>
          </a:p>
        </p:txBody>
      </p:sp>
      <p:sp>
        <p:nvSpPr>
          <p:cNvPr id="3" name="Content Placeholder 2"/>
          <p:cNvSpPr>
            <a:spLocks noGrp="1"/>
          </p:cNvSpPr>
          <p:nvPr>
            <p:ph idx="1"/>
          </p:nvPr>
        </p:nvSpPr>
        <p:spPr>
          <a:xfrm>
            <a:off x="457200" y="742950"/>
            <a:ext cx="8229600" cy="3851673"/>
          </a:xfrm>
          <a:noFill/>
        </p:spPr>
        <p:txBody>
          <a:bodyPr>
            <a:normAutofit fontScale="92500" lnSpcReduction="20000"/>
          </a:bodyPr>
          <a:lstStyle/>
          <a:p>
            <a:pPr>
              <a:buFont typeface="+mj-lt"/>
              <a:buAutoNum type="arabicPeriod" startAt="6"/>
            </a:pPr>
            <a:r>
              <a:rPr lang="en-US" sz="1800" b="1" dirty="0"/>
              <a:t>Industrial Automation: </a:t>
            </a:r>
            <a:r>
              <a:rPr lang="en-US" sz="1800" dirty="0"/>
              <a:t>Microcontrollers are used in industrial control systems to monitor and control processes, machinery, and equipment. They play a key role in programmable logic controllers (PLCs), robotics, and supervisory control and data acquisition (SCADA) systems.</a:t>
            </a:r>
          </a:p>
          <a:p>
            <a:pPr>
              <a:buFont typeface="+mj-lt"/>
              <a:buAutoNum type="arabicPeriod" startAt="6"/>
            </a:pPr>
            <a:r>
              <a:rPr lang="en-US" sz="1800" b="1" dirty="0"/>
              <a:t>Robotics: </a:t>
            </a:r>
            <a:r>
              <a:rPr lang="en-US" sz="1800" dirty="0"/>
              <a:t>Microcontrollers are crucial for controlling the movements, sensors, and actuators of robots. They handle real-time data processing, control algorithms, and communication interfaces.</a:t>
            </a:r>
          </a:p>
          <a:p>
            <a:pPr>
              <a:buFont typeface="+mj-lt"/>
              <a:buAutoNum type="arabicPeriod" startAt="6"/>
            </a:pPr>
            <a:r>
              <a:rPr lang="en-US" sz="1800" b="1" dirty="0"/>
              <a:t>Security Systems: </a:t>
            </a:r>
            <a:r>
              <a:rPr lang="en-US" sz="1800" dirty="0"/>
              <a:t>Microcontrollers are employed in security systems such as access control systems, alarm systems, and surveillance systems. They provide the necessary processing power and interfaces for monitoring and controlling security functions.</a:t>
            </a:r>
          </a:p>
          <a:p>
            <a:pPr>
              <a:buFont typeface="+mj-lt"/>
              <a:buAutoNum type="arabicPeriod" startAt="6"/>
            </a:pPr>
            <a:r>
              <a:rPr lang="en-US" sz="1800" b="1" dirty="0"/>
              <a:t>Energy Management: </a:t>
            </a:r>
            <a:r>
              <a:rPr lang="en-US" sz="1800" dirty="0"/>
              <a:t>Microcontrollers are used in energy management systems for monitoring and controlling power consumption, renewable energy systems, and smart grid applications.</a:t>
            </a:r>
          </a:p>
          <a:p>
            <a:pPr>
              <a:buFont typeface="+mj-lt"/>
              <a:buAutoNum type="arabicPeriod" startAt="6"/>
            </a:pPr>
            <a:r>
              <a:rPr lang="en-US" sz="1800" b="1" dirty="0"/>
              <a:t>Educational Tools: </a:t>
            </a:r>
            <a:r>
              <a:rPr lang="en-US" sz="1800" dirty="0"/>
              <a:t>Microcontrollers are widely used in educational settings for teaching and learning purposes. They provide a hands-on platform for students to learn about programming, electronics, and control systems.</a:t>
            </a: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5BF2BBF3-D4E3-4538-9A15-9AB95781DC3E}"/>
              </a:ext>
            </a:extLst>
          </p:cNvPr>
          <p:cNvSpPr>
            <a:spLocks noGrp="1"/>
          </p:cNvSpPr>
          <p:nvPr>
            <p:ph type="dt" sz="half" idx="10"/>
          </p:nvPr>
        </p:nvSpPr>
        <p:spPr/>
        <p:txBody>
          <a:bodyPr/>
          <a:lstStyle/>
          <a:p>
            <a:fld id="{054F0B01-5F84-49DB-B197-9EA35489BCC4}" type="datetime1">
              <a:rPr lang="en-US" smtClean="0"/>
              <a:t>7/31/2023</a:t>
            </a:fld>
            <a:endParaRPr lang="en-US"/>
          </a:p>
        </p:txBody>
      </p:sp>
      <p:sp>
        <p:nvSpPr>
          <p:cNvPr id="8" name="Slide Number Placeholder 7">
            <a:extLst>
              <a:ext uri="{FF2B5EF4-FFF2-40B4-BE49-F238E27FC236}">
                <a16:creationId xmlns:a16="http://schemas.microsoft.com/office/drawing/2014/main" id="{61F94059-276F-4C69-93C0-57F158E9CEED}"/>
              </a:ext>
            </a:extLst>
          </p:cNvPr>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14939960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r>
              <a:rPr lang="en-US" sz="3200" b="1" dirty="0">
                <a:solidFill>
                  <a:srgbClr val="FF0000"/>
                </a:solidFill>
              </a:rPr>
              <a:t>Assignment:</a:t>
            </a:r>
          </a:p>
        </p:txBody>
      </p:sp>
      <p:sp>
        <p:nvSpPr>
          <p:cNvPr id="3" name="Content Placeholder 2"/>
          <p:cNvSpPr>
            <a:spLocks noGrp="1"/>
          </p:cNvSpPr>
          <p:nvPr>
            <p:ph idx="1"/>
          </p:nvPr>
        </p:nvSpPr>
        <p:spPr>
          <a:xfrm>
            <a:off x="457200" y="742950"/>
            <a:ext cx="8229600" cy="3851673"/>
          </a:xfrm>
          <a:noFill/>
        </p:spPr>
        <p:txBody>
          <a:bodyPr>
            <a:normAutofit/>
          </a:bodyPr>
          <a:lstStyle/>
          <a:p>
            <a:r>
              <a:rPr lang="en-US" dirty="0"/>
              <a:t>Differentiate between Microprocessor and Microcontroller</a:t>
            </a: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F7DC5C19-4255-4169-80A2-AE4D65D518C3}"/>
              </a:ext>
            </a:extLst>
          </p:cNvPr>
          <p:cNvSpPr>
            <a:spLocks noGrp="1"/>
          </p:cNvSpPr>
          <p:nvPr>
            <p:ph type="dt" sz="half" idx="10"/>
          </p:nvPr>
        </p:nvSpPr>
        <p:spPr/>
        <p:txBody>
          <a:bodyPr/>
          <a:lstStyle/>
          <a:p>
            <a:fld id="{6581D13D-EB5F-42B1-B0AA-EC3C8A0E1497}" type="datetime1">
              <a:rPr lang="en-US" smtClean="0"/>
              <a:t>7/31/2023</a:t>
            </a:fld>
            <a:endParaRPr lang="en-US"/>
          </a:p>
        </p:txBody>
      </p:sp>
      <p:sp>
        <p:nvSpPr>
          <p:cNvPr id="8" name="Slide Number Placeholder 7">
            <a:extLst>
              <a:ext uri="{FF2B5EF4-FFF2-40B4-BE49-F238E27FC236}">
                <a16:creationId xmlns:a16="http://schemas.microsoft.com/office/drawing/2014/main" id="{3F64B51C-DB23-4642-B971-AFFC47CFCC1C}"/>
              </a:ext>
            </a:extLst>
          </p:cNvPr>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3370610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0" indent="0" algn="ctr">
              <a:buNone/>
              <a:tabLst>
                <a:tab pos="463550" algn="l"/>
              </a:tabLst>
            </a:pPr>
            <a:endParaRPr lang="en-US" sz="3600" b="1" dirty="0">
              <a:solidFill>
                <a:srgbClr val="FF0000"/>
              </a:solidFill>
            </a:endParaRPr>
          </a:p>
          <a:p>
            <a:pPr marL="0" indent="0" algn="ctr">
              <a:buNone/>
              <a:tabLst>
                <a:tab pos="463550" algn="l"/>
              </a:tabLst>
            </a:pPr>
            <a:endParaRPr lang="en-US" sz="3600" b="1" dirty="0">
              <a:solidFill>
                <a:srgbClr val="FF0000"/>
              </a:solidFill>
            </a:endParaRPr>
          </a:p>
          <a:p>
            <a:pPr marL="0" indent="0" algn="ctr">
              <a:buNone/>
              <a:tabLst>
                <a:tab pos="463550" algn="l"/>
              </a:tabLst>
            </a:pPr>
            <a:r>
              <a:rPr lang="en-US" sz="3600" b="1" dirty="0">
                <a:solidFill>
                  <a:srgbClr val="FF0000"/>
                </a:solidFill>
              </a:rPr>
              <a:t>3. Architecture of Computer</a:t>
            </a:r>
          </a:p>
          <a:p>
            <a:pPr marL="0" indent="0" algn="ctr">
              <a:buNone/>
              <a:tabLst>
                <a:tab pos="463550" algn="l"/>
              </a:tabLst>
            </a:pPr>
            <a:endParaRPr lang="en-US" sz="3600" b="1" dirty="0">
              <a:solidFill>
                <a:srgbClr val="FF0000"/>
              </a:solidFill>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7348C6F0-6E86-4547-B812-9A36B9692ED4}"/>
              </a:ext>
            </a:extLst>
          </p:cNvPr>
          <p:cNvSpPr>
            <a:spLocks noGrp="1"/>
          </p:cNvSpPr>
          <p:nvPr>
            <p:ph type="dt" sz="half" idx="10"/>
          </p:nvPr>
        </p:nvSpPr>
        <p:spPr/>
        <p:txBody>
          <a:bodyPr/>
          <a:lstStyle/>
          <a:p>
            <a:fld id="{CAA0E37C-D274-4257-9970-A108DD6D6677}" type="datetime1">
              <a:rPr lang="en-US" smtClean="0"/>
              <a:t>7/31/2023</a:t>
            </a:fld>
            <a:endParaRPr lang="en-US"/>
          </a:p>
        </p:txBody>
      </p:sp>
      <p:sp>
        <p:nvSpPr>
          <p:cNvPr id="8" name="Slide Number Placeholder 7">
            <a:extLst>
              <a:ext uri="{FF2B5EF4-FFF2-40B4-BE49-F238E27FC236}">
                <a16:creationId xmlns:a16="http://schemas.microsoft.com/office/drawing/2014/main" id="{313FD5D4-D111-4392-9632-893F447DBDCF}"/>
              </a:ext>
            </a:extLst>
          </p:cNvPr>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22292841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600" b="1" dirty="0">
                <a:solidFill>
                  <a:srgbClr val="FF0000"/>
                </a:solidFill>
              </a:rPr>
              <a:t>Computer Architecture</a:t>
            </a:r>
          </a:p>
        </p:txBody>
      </p:sp>
      <p:sp>
        <p:nvSpPr>
          <p:cNvPr id="3" name="Content Placeholder 2"/>
          <p:cNvSpPr>
            <a:spLocks noGrp="1"/>
          </p:cNvSpPr>
          <p:nvPr>
            <p:ph idx="1"/>
          </p:nvPr>
        </p:nvSpPr>
        <p:spPr>
          <a:xfrm>
            <a:off x="457200" y="742950"/>
            <a:ext cx="8229600" cy="3851673"/>
          </a:xfrm>
        </p:spPr>
        <p:txBody>
          <a:bodyPr>
            <a:normAutofit/>
          </a:bodyPr>
          <a:lstStyle/>
          <a:p>
            <a:r>
              <a:rPr lang="en-US" dirty="0"/>
              <a:t>Computer architecture comprises rules, methods, and procedures that describe the execution and functionality of the entire computer system. </a:t>
            </a:r>
          </a:p>
          <a:p>
            <a:r>
              <a:rPr lang="en-US" dirty="0"/>
              <a:t>In general terms, computer architecture refers to how a computer system is designed using compatible technologies. </a:t>
            </a:r>
            <a:endParaRPr lang="en-US" sz="3600" dirty="0">
              <a:solidFill>
                <a:srgbClr val="00B050"/>
              </a:solidFill>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E0B248FD-BFFA-49C5-BA5A-3F6D93F4E48B}"/>
              </a:ext>
            </a:extLst>
          </p:cNvPr>
          <p:cNvSpPr>
            <a:spLocks noGrp="1"/>
          </p:cNvSpPr>
          <p:nvPr>
            <p:ph type="dt" sz="half" idx="10"/>
          </p:nvPr>
        </p:nvSpPr>
        <p:spPr/>
        <p:txBody>
          <a:bodyPr/>
          <a:lstStyle/>
          <a:p>
            <a:fld id="{D3AC06AF-A99F-4F4A-8582-39576DA7A13E}" type="datetime1">
              <a:rPr lang="en-US" smtClean="0"/>
              <a:t>7/31/2023</a:t>
            </a:fld>
            <a:endParaRPr lang="en-US"/>
          </a:p>
        </p:txBody>
      </p:sp>
      <p:sp>
        <p:nvSpPr>
          <p:cNvPr id="8" name="Slide Number Placeholder 7">
            <a:extLst>
              <a:ext uri="{FF2B5EF4-FFF2-40B4-BE49-F238E27FC236}">
                <a16:creationId xmlns:a16="http://schemas.microsoft.com/office/drawing/2014/main" id="{41A1CA48-01D4-4815-B885-9A66C9F20054}"/>
              </a:ext>
            </a:extLst>
          </p:cNvPr>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5017902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600" b="1" dirty="0">
                <a:solidFill>
                  <a:srgbClr val="FF0000"/>
                </a:solidFill>
              </a:rPr>
              <a:t>Types of Computer Architecture</a:t>
            </a:r>
          </a:p>
        </p:txBody>
      </p:sp>
      <p:sp>
        <p:nvSpPr>
          <p:cNvPr id="3" name="Content Placeholder 2"/>
          <p:cNvSpPr>
            <a:spLocks noGrp="1"/>
          </p:cNvSpPr>
          <p:nvPr>
            <p:ph idx="1"/>
          </p:nvPr>
        </p:nvSpPr>
        <p:spPr>
          <a:xfrm>
            <a:off x="457200" y="742950"/>
            <a:ext cx="8229600" cy="3851673"/>
          </a:xfrm>
        </p:spPr>
        <p:txBody>
          <a:bodyPr>
            <a:normAutofit/>
          </a:bodyPr>
          <a:lstStyle/>
          <a:p>
            <a:r>
              <a:rPr lang="en-US" dirty="0"/>
              <a:t>Von-Neumann Architecture</a:t>
            </a:r>
          </a:p>
          <a:p>
            <a:r>
              <a:rPr lang="en-US" dirty="0"/>
              <a:t>Harvard Architecture</a:t>
            </a:r>
          </a:p>
          <a:p>
            <a:endParaRPr lang="en-US" sz="3600" dirty="0">
              <a:solidFill>
                <a:srgbClr val="00B050"/>
              </a:solidFill>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pic>
        <p:nvPicPr>
          <p:cNvPr id="14338" name="Picture 2" descr="Screen Shot 2020-07-02 at 6.45.58 PM.png">
            <a:extLst>
              <a:ext uri="{FF2B5EF4-FFF2-40B4-BE49-F238E27FC236}">
                <a16:creationId xmlns:a16="http://schemas.microsoft.com/office/drawing/2014/main" id="{14F33AAE-D158-4E5A-AC0A-EF5B00DA9820}"/>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58519"/>
          <a:stretch/>
        </p:blipFill>
        <p:spPr bwMode="auto">
          <a:xfrm>
            <a:off x="793750" y="2261347"/>
            <a:ext cx="359410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Screen Shot 2020-07-02 at 6.45.58 PM.png">
            <a:extLst>
              <a:ext uri="{FF2B5EF4-FFF2-40B4-BE49-F238E27FC236}">
                <a16:creationId xmlns:a16="http://schemas.microsoft.com/office/drawing/2014/main" id="{7D66E4A8-CDFF-4D1E-8953-CA2BC90C4147}"/>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39120"/>
          <a:stretch/>
        </p:blipFill>
        <p:spPr bwMode="auto">
          <a:xfrm>
            <a:off x="5549900" y="1271448"/>
            <a:ext cx="3594100" cy="3131343"/>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a:extLst>
              <a:ext uri="{FF2B5EF4-FFF2-40B4-BE49-F238E27FC236}">
                <a16:creationId xmlns:a16="http://schemas.microsoft.com/office/drawing/2014/main" id="{E6A30EC0-E55B-4FE9-8CD6-54B096315E4F}"/>
              </a:ext>
            </a:extLst>
          </p:cNvPr>
          <p:cNvSpPr>
            <a:spLocks noGrp="1"/>
          </p:cNvSpPr>
          <p:nvPr>
            <p:ph type="dt" sz="half" idx="10"/>
          </p:nvPr>
        </p:nvSpPr>
        <p:spPr/>
        <p:txBody>
          <a:bodyPr/>
          <a:lstStyle/>
          <a:p>
            <a:fld id="{B988C43D-0F63-4AF7-B776-967AC0A5668F}" type="datetime1">
              <a:rPr lang="en-US" smtClean="0"/>
              <a:t>7/31/2023</a:t>
            </a:fld>
            <a:endParaRPr lang="en-US"/>
          </a:p>
        </p:txBody>
      </p:sp>
      <p:sp>
        <p:nvSpPr>
          <p:cNvPr id="8" name="Slide Number Placeholder 7">
            <a:extLst>
              <a:ext uri="{FF2B5EF4-FFF2-40B4-BE49-F238E27FC236}">
                <a16:creationId xmlns:a16="http://schemas.microsoft.com/office/drawing/2014/main" id="{43B3F99F-7E13-4B91-B532-D6A9B73CE428}"/>
              </a:ext>
            </a:extLst>
          </p:cNvPr>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13623959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600" b="1" dirty="0">
                <a:solidFill>
                  <a:srgbClr val="FF0000"/>
                </a:solidFill>
              </a:rPr>
              <a:t>Von Neuman Architecture</a:t>
            </a:r>
          </a:p>
        </p:txBody>
      </p:sp>
      <p:sp>
        <p:nvSpPr>
          <p:cNvPr id="3" name="Content Placeholder 2"/>
          <p:cNvSpPr>
            <a:spLocks noGrp="1"/>
          </p:cNvSpPr>
          <p:nvPr>
            <p:ph idx="1"/>
          </p:nvPr>
        </p:nvSpPr>
        <p:spPr>
          <a:xfrm>
            <a:off x="457200" y="742950"/>
            <a:ext cx="5715000" cy="3851673"/>
          </a:xfrm>
        </p:spPr>
        <p:txBody>
          <a:bodyPr>
            <a:noAutofit/>
          </a:bodyPr>
          <a:lstStyle/>
          <a:p>
            <a:pPr fontAlgn="base"/>
            <a:r>
              <a:rPr lang="en-US" sz="1600" dirty="0"/>
              <a:t>The Von Neumann architecture is a type of computer architecture in which the central processing unit (CPU), memory, and input/output (I/O) devices all use a single shared bus for communication. </a:t>
            </a:r>
          </a:p>
          <a:p>
            <a:pPr fontAlgn="base"/>
            <a:r>
              <a:rPr lang="en-US" sz="1600" dirty="0"/>
              <a:t>It was named after John von Neumann, a pioneer in the development of electronic computers. The Von Neumann architecture is also known as the Von Neumann model or the Princeton architecture.</a:t>
            </a:r>
          </a:p>
          <a:p>
            <a:r>
              <a:rPr lang="en-US" sz="1600" dirty="0"/>
              <a:t>In a Von Neumann architecture, instructions and data are stored in a single memory system. This memory is usually implemented as random access memory (RAM) and is connected to the CPU and I/O devices through a common bus. The CPU executes instructions by fetching them from memory, decoding them, and then executing them.</a:t>
            </a:r>
            <a:endParaRPr lang="en-US" sz="1600" dirty="0">
              <a:solidFill>
                <a:srgbClr val="00B050"/>
              </a:solidFill>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AutoShape 2" descr="von neumann and harvard architecture">
            <a:extLst>
              <a:ext uri="{FF2B5EF4-FFF2-40B4-BE49-F238E27FC236}">
                <a16:creationId xmlns:a16="http://schemas.microsoft.com/office/drawing/2014/main" id="{DC0E54DF-213E-430B-A05B-8E10D166A02D}"/>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EE485375-1142-493E-A63C-0468796AB719}"/>
              </a:ext>
            </a:extLst>
          </p:cNvPr>
          <p:cNvPicPr>
            <a:picLocks noChangeAspect="1"/>
          </p:cNvPicPr>
          <p:nvPr/>
        </p:nvPicPr>
        <p:blipFill>
          <a:blip r:embed="rId2"/>
          <a:stretch>
            <a:fillRect/>
          </a:stretch>
        </p:blipFill>
        <p:spPr>
          <a:xfrm>
            <a:off x="6087840" y="1290637"/>
            <a:ext cx="3087536" cy="2257425"/>
          </a:xfrm>
          <a:prstGeom prst="rect">
            <a:avLst/>
          </a:prstGeom>
        </p:spPr>
      </p:pic>
      <p:sp>
        <p:nvSpPr>
          <p:cNvPr id="9" name="Date Placeholder 8">
            <a:extLst>
              <a:ext uri="{FF2B5EF4-FFF2-40B4-BE49-F238E27FC236}">
                <a16:creationId xmlns:a16="http://schemas.microsoft.com/office/drawing/2014/main" id="{B07C4F39-536C-402D-9B1A-5C71330B159A}"/>
              </a:ext>
            </a:extLst>
          </p:cNvPr>
          <p:cNvSpPr>
            <a:spLocks noGrp="1"/>
          </p:cNvSpPr>
          <p:nvPr>
            <p:ph type="dt" sz="half" idx="10"/>
          </p:nvPr>
        </p:nvSpPr>
        <p:spPr/>
        <p:txBody>
          <a:bodyPr/>
          <a:lstStyle/>
          <a:p>
            <a:fld id="{79272080-4ED1-441C-A445-07C71CA8FF63}" type="datetime1">
              <a:rPr lang="en-US" smtClean="0"/>
              <a:t>7/31/2023</a:t>
            </a:fld>
            <a:endParaRPr lang="en-US"/>
          </a:p>
        </p:txBody>
      </p:sp>
      <p:sp>
        <p:nvSpPr>
          <p:cNvPr id="10" name="Slide Number Placeholder 9">
            <a:extLst>
              <a:ext uri="{FF2B5EF4-FFF2-40B4-BE49-F238E27FC236}">
                <a16:creationId xmlns:a16="http://schemas.microsoft.com/office/drawing/2014/main" id="{38D53C2E-AE22-4F08-AAFD-0B86193756F0}"/>
              </a:ext>
            </a:extLst>
          </p:cNvPr>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38986735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600" b="1" dirty="0">
                <a:solidFill>
                  <a:srgbClr val="FF0000"/>
                </a:solidFill>
              </a:rPr>
              <a:t>Von Neuman Architecture</a:t>
            </a:r>
          </a:p>
        </p:txBody>
      </p:sp>
      <p:sp>
        <p:nvSpPr>
          <p:cNvPr id="3" name="Content Placeholder 2"/>
          <p:cNvSpPr>
            <a:spLocks noGrp="1"/>
          </p:cNvSpPr>
          <p:nvPr>
            <p:ph idx="1"/>
          </p:nvPr>
        </p:nvSpPr>
        <p:spPr>
          <a:xfrm>
            <a:off x="457200" y="742950"/>
            <a:ext cx="5715000" cy="3851673"/>
          </a:xfrm>
        </p:spPr>
        <p:txBody>
          <a:bodyPr>
            <a:noAutofit/>
          </a:bodyPr>
          <a:lstStyle/>
          <a:p>
            <a:pPr fontAlgn="base"/>
            <a:r>
              <a:rPr lang="en-US" sz="1600" dirty="0"/>
              <a:t>The Von Neumann architecture consists of four main components:</a:t>
            </a:r>
          </a:p>
          <a:p>
            <a:pPr lvl="1" fontAlgn="base">
              <a:buFont typeface="+mj-lt"/>
              <a:buAutoNum type="arabicPeriod"/>
            </a:pPr>
            <a:r>
              <a:rPr lang="en-US" sz="1400" b="1" dirty="0"/>
              <a:t>CPU: </a:t>
            </a:r>
            <a:r>
              <a:rPr lang="en-US" sz="1400" dirty="0"/>
              <a:t>The central processing unit is the brain of the computer. It performs all the calculations and operations required to execute instructions.</a:t>
            </a:r>
          </a:p>
          <a:p>
            <a:pPr lvl="1" fontAlgn="base">
              <a:buFont typeface="+mj-lt"/>
              <a:buAutoNum type="arabicPeriod"/>
            </a:pPr>
            <a:r>
              <a:rPr lang="en-US" sz="1400" b="1" dirty="0"/>
              <a:t>Memory: </a:t>
            </a:r>
            <a:r>
              <a:rPr lang="en-US" sz="1400" dirty="0"/>
              <a:t>The memory holds both instructions and data that the CPU needs to execute. The memory is organized as a linear sequence of addressable cells, each containing a fixed number of bits.</a:t>
            </a:r>
          </a:p>
          <a:p>
            <a:pPr lvl="1" fontAlgn="base">
              <a:buFont typeface="+mj-lt"/>
              <a:buAutoNum type="arabicPeriod"/>
            </a:pPr>
            <a:r>
              <a:rPr lang="en-US" sz="1400" b="1" dirty="0"/>
              <a:t>Input/output (I/O) devices</a:t>
            </a:r>
            <a:r>
              <a:rPr lang="en-US" sz="1400" dirty="0"/>
              <a:t>: These devices are used to communicate with the outside world. Examples include keyboards, displays, and printers.</a:t>
            </a:r>
          </a:p>
          <a:p>
            <a:pPr lvl="1" fontAlgn="base">
              <a:buFont typeface="+mj-lt"/>
              <a:buAutoNum type="arabicPeriod"/>
            </a:pPr>
            <a:r>
              <a:rPr lang="en-US" sz="1400" b="1" dirty="0"/>
              <a:t>System bus: </a:t>
            </a:r>
            <a:r>
              <a:rPr lang="en-US" sz="1400" dirty="0"/>
              <a:t>The system bus is a collection of wires that connect the CPU, memory, and I/O devices. It is used to transmit data, instructions, and control signals between these components.</a:t>
            </a:r>
          </a:p>
          <a:p>
            <a:pPr fontAlgn="base"/>
            <a:endParaRPr lang="en-US" sz="1000" dirty="0">
              <a:solidFill>
                <a:srgbClr val="00B050"/>
              </a:solidFill>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AutoShape 2" descr="von neumann and harvard architecture">
            <a:extLst>
              <a:ext uri="{FF2B5EF4-FFF2-40B4-BE49-F238E27FC236}">
                <a16:creationId xmlns:a16="http://schemas.microsoft.com/office/drawing/2014/main" id="{DC0E54DF-213E-430B-A05B-8E10D166A02D}"/>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EE485375-1142-493E-A63C-0468796AB719}"/>
              </a:ext>
            </a:extLst>
          </p:cNvPr>
          <p:cNvPicPr>
            <a:picLocks noChangeAspect="1"/>
          </p:cNvPicPr>
          <p:nvPr/>
        </p:nvPicPr>
        <p:blipFill>
          <a:blip r:embed="rId2"/>
          <a:stretch>
            <a:fillRect/>
          </a:stretch>
        </p:blipFill>
        <p:spPr>
          <a:xfrm>
            <a:off x="6087840" y="1290637"/>
            <a:ext cx="3087536" cy="2257425"/>
          </a:xfrm>
          <a:prstGeom prst="rect">
            <a:avLst/>
          </a:prstGeom>
        </p:spPr>
      </p:pic>
      <p:sp>
        <p:nvSpPr>
          <p:cNvPr id="9" name="Date Placeholder 8">
            <a:extLst>
              <a:ext uri="{FF2B5EF4-FFF2-40B4-BE49-F238E27FC236}">
                <a16:creationId xmlns:a16="http://schemas.microsoft.com/office/drawing/2014/main" id="{7DA75E24-0786-4C30-B700-8372A240027F}"/>
              </a:ext>
            </a:extLst>
          </p:cNvPr>
          <p:cNvSpPr>
            <a:spLocks noGrp="1"/>
          </p:cNvSpPr>
          <p:nvPr>
            <p:ph type="dt" sz="half" idx="10"/>
          </p:nvPr>
        </p:nvSpPr>
        <p:spPr/>
        <p:txBody>
          <a:bodyPr/>
          <a:lstStyle/>
          <a:p>
            <a:fld id="{C22BDDF7-863D-4E7D-A68F-490196EAA4B3}" type="datetime1">
              <a:rPr lang="en-US" smtClean="0"/>
              <a:t>7/31/2023</a:t>
            </a:fld>
            <a:endParaRPr lang="en-US"/>
          </a:p>
        </p:txBody>
      </p:sp>
      <p:sp>
        <p:nvSpPr>
          <p:cNvPr id="10" name="Slide Number Placeholder 9">
            <a:extLst>
              <a:ext uri="{FF2B5EF4-FFF2-40B4-BE49-F238E27FC236}">
                <a16:creationId xmlns:a16="http://schemas.microsoft.com/office/drawing/2014/main" id="{15DB8E89-ADB8-4364-968D-6DD5F33C6629}"/>
              </a:ext>
            </a:extLst>
          </p:cNvPr>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9918931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400" b="1" dirty="0">
                <a:solidFill>
                  <a:srgbClr val="FF0000"/>
                </a:solidFill>
              </a:rPr>
              <a:t>Advantages / Disadvantages of Von-Neumann Architecture</a:t>
            </a:r>
          </a:p>
        </p:txBody>
      </p:sp>
      <p:sp>
        <p:nvSpPr>
          <p:cNvPr id="3" name="Content Placeholder 2"/>
          <p:cNvSpPr>
            <a:spLocks noGrp="1"/>
          </p:cNvSpPr>
          <p:nvPr>
            <p:ph idx="1"/>
          </p:nvPr>
        </p:nvSpPr>
        <p:spPr>
          <a:xfrm>
            <a:off x="457200" y="742950"/>
            <a:ext cx="4038600" cy="3851673"/>
          </a:xfrm>
        </p:spPr>
        <p:txBody>
          <a:bodyPr>
            <a:normAutofit/>
          </a:bodyPr>
          <a:lstStyle/>
          <a:p>
            <a:pPr marL="401638" indent="-401638">
              <a:buFont typeface="+mj-lt"/>
              <a:buAutoNum type="arabicPeriod"/>
            </a:pPr>
            <a:r>
              <a:rPr lang="en-US" sz="1600" dirty="0"/>
              <a:t>Simple and flexible</a:t>
            </a:r>
          </a:p>
          <a:p>
            <a:pPr marL="401638" indent="-401638">
              <a:buFont typeface="+mj-lt"/>
              <a:buAutoNum type="arabicPeriod"/>
            </a:pPr>
            <a:r>
              <a:rPr lang="en-US" sz="1600" dirty="0"/>
              <a:t>Less physical space is required than Harvard</a:t>
            </a:r>
          </a:p>
          <a:p>
            <a:pPr marL="401638" indent="-401638">
              <a:buFont typeface="+mj-lt"/>
              <a:buAutoNum type="arabicPeriod"/>
            </a:pPr>
            <a:r>
              <a:rPr lang="en-US" sz="1600" dirty="0"/>
              <a:t>Handling just one memory block is simpler and easier to achieve</a:t>
            </a:r>
          </a:p>
          <a:p>
            <a:pPr marL="401638" indent="-401638">
              <a:buFont typeface="+mj-lt"/>
              <a:buAutoNum type="arabicPeriod"/>
            </a:pPr>
            <a:r>
              <a:rPr lang="en-US" sz="1600" dirty="0"/>
              <a:t>Cheaper to use than Harvard</a:t>
            </a:r>
          </a:p>
          <a:p>
            <a:pPr marL="401638" indent="-401638">
              <a:buFont typeface="+mj-lt"/>
              <a:buAutoNum type="arabicPeriod"/>
            </a:pPr>
            <a:endParaRPr lang="en-US" sz="1800" dirty="0">
              <a:solidFill>
                <a:srgbClr val="00B050"/>
              </a:solidFill>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Content Placeholder 2">
            <a:extLst>
              <a:ext uri="{FF2B5EF4-FFF2-40B4-BE49-F238E27FC236}">
                <a16:creationId xmlns:a16="http://schemas.microsoft.com/office/drawing/2014/main" id="{60396A95-B8E7-4401-B82F-9DE248510A6F}"/>
              </a:ext>
            </a:extLst>
          </p:cNvPr>
          <p:cNvSpPr txBox="1">
            <a:spLocks/>
          </p:cNvSpPr>
          <p:nvPr/>
        </p:nvSpPr>
        <p:spPr>
          <a:xfrm>
            <a:off x="4419600" y="791170"/>
            <a:ext cx="4038600" cy="385167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4488" indent="-344488">
              <a:buFont typeface="+mj-lt"/>
              <a:buAutoNum type="arabicPeriod"/>
            </a:pPr>
            <a:r>
              <a:rPr lang="en-US" sz="1400" b="1" dirty="0"/>
              <a:t>Shared memory </a:t>
            </a:r>
            <a:r>
              <a:rPr lang="en-US" sz="1400" dirty="0"/>
              <a:t>- a defective program can overwrite another in memory, causing it to crash</a:t>
            </a:r>
          </a:p>
          <a:p>
            <a:pPr marL="344488" indent="-344488">
              <a:buFont typeface="+mj-lt"/>
              <a:buAutoNum type="arabicPeriod"/>
            </a:pPr>
            <a:r>
              <a:rPr lang="en-US" sz="1400" b="1" dirty="0"/>
              <a:t>Memory leaks </a:t>
            </a:r>
            <a:r>
              <a:rPr lang="en-US" sz="1400" dirty="0"/>
              <a:t>- some defective programs fail to release memory when they are finished with it, which could cause the computer to crash due to insufficient memory</a:t>
            </a:r>
          </a:p>
          <a:p>
            <a:pPr marL="344488" indent="-344488">
              <a:buFont typeface="+mj-lt"/>
              <a:buAutoNum type="arabicPeriod"/>
            </a:pPr>
            <a:r>
              <a:rPr lang="en-US" sz="1400" b="1" dirty="0"/>
              <a:t>Data bus speed </a:t>
            </a:r>
            <a:r>
              <a:rPr lang="en-US" sz="1400" dirty="0"/>
              <a:t>- the CPU is much faster than the data bus, meaning it often sits idle (Von Neumann bottleneck)</a:t>
            </a:r>
          </a:p>
          <a:p>
            <a:pPr marL="344488" indent="-344488">
              <a:buFont typeface="+mj-lt"/>
              <a:buAutoNum type="arabicPeriod"/>
            </a:pPr>
            <a:r>
              <a:rPr lang="en-US" sz="1400" b="1" dirty="0"/>
              <a:t>Fetch rate - </a:t>
            </a:r>
            <a:r>
              <a:rPr lang="en-US" sz="1400" dirty="0"/>
              <a:t>data and instructions share the same data bus, even though the rate at which each needs to be fetched is often very different</a:t>
            </a:r>
          </a:p>
        </p:txBody>
      </p:sp>
      <p:sp>
        <p:nvSpPr>
          <p:cNvPr id="8" name="Date Placeholder 7">
            <a:extLst>
              <a:ext uri="{FF2B5EF4-FFF2-40B4-BE49-F238E27FC236}">
                <a16:creationId xmlns:a16="http://schemas.microsoft.com/office/drawing/2014/main" id="{859F3A9D-A6F4-4D90-A28F-219A83A2C74B}"/>
              </a:ext>
            </a:extLst>
          </p:cNvPr>
          <p:cNvSpPr>
            <a:spLocks noGrp="1"/>
          </p:cNvSpPr>
          <p:nvPr>
            <p:ph type="dt" sz="half" idx="10"/>
          </p:nvPr>
        </p:nvSpPr>
        <p:spPr/>
        <p:txBody>
          <a:bodyPr/>
          <a:lstStyle/>
          <a:p>
            <a:fld id="{C66D6910-9FA1-4212-A2A9-02D38F2BF295}" type="datetime1">
              <a:rPr lang="en-US" smtClean="0"/>
              <a:t>7/31/2023</a:t>
            </a:fld>
            <a:endParaRPr lang="en-US"/>
          </a:p>
        </p:txBody>
      </p:sp>
      <p:sp>
        <p:nvSpPr>
          <p:cNvPr id="9" name="Slide Number Placeholder 8">
            <a:extLst>
              <a:ext uri="{FF2B5EF4-FFF2-40B4-BE49-F238E27FC236}">
                <a16:creationId xmlns:a16="http://schemas.microsoft.com/office/drawing/2014/main" id="{3765FF66-6788-4497-B1BF-D0C071BC155A}"/>
              </a:ext>
            </a:extLst>
          </p:cNvPr>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7367185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600" b="1" dirty="0">
                <a:solidFill>
                  <a:srgbClr val="FF0000"/>
                </a:solidFill>
              </a:rPr>
              <a:t>Harvard Architecture</a:t>
            </a:r>
          </a:p>
        </p:txBody>
      </p:sp>
      <p:sp>
        <p:nvSpPr>
          <p:cNvPr id="3" name="Content Placeholder 2"/>
          <p:cNvSpPr>
            <a:spLocks noGrp="1"/>
          </p:cNvSpPr>
          <p:nvPr>
            <p:ph idx="1"/>
          </p:nvPr>
        </p:nvSpPr>
        <p:spPr>
          <a:xfrm>
            <a:off x="457200" y="742950"/>
            <a:ext cx="4648200" cy="3851673"/>
          </a:xfrm>
        </p:spPr>
        <p:txBody>
          <a:bodyPr>
            <a:normAutofit/>
          </a:bodyPr>
          <a:lstStyle/>
          <a:p>
            <a:r>
              <a:rPr lang="en-US" sz="2000" dirty="0"/>
              <a:t>Harvard architecture is a type of computer architecture that has separate memory spaces for instructions and data. </a:t>
            </a:r>
          </a:p>
          <a:p>
            <a:r>
              <a:rPr lang="en-US" sz="2000" dirty="0"/>
              <a:t>It was developed at Harvard University in the 1930s, and it is named after this institution. </a:t>
            </a:r>
          </a:p>
          <a:p>
            <a:r>
              <a:rPr lang="en-US" sz="2000" dirty="0"/>
              <a:t>In a Harvard architecture system, the CPU accesses instruction and data memory spaces separately, which can lead to improved performance.</a:t>
            </a:r>
            <a:endParaRPr lang="en-US" sz="2000" dirty="0">
              <a:solidFill>
                <a:srgbClr val="00B050"/>
              </a:solidFill>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pic>
        <p:nvPicPr>
          <p:cNvPr id="7" name="Picture 6">
            <a:extLst>
              <a:ext uri="{FF2B5EF4-FFF2-40B4-BE49-F238E27FC236}">
                <a16:creationId xmlns:a16="http://schemas.microsoft.com/office/drawing/2014/main" id="{1089E6D8-3ADF-4961-A4D2-9979ABC9754B}"/>
              </a:ext>
            </a:extLst>
          </p:cNvPr>
          <p:cNvPicPr>
            <a:picLocks noChangeAspect="1"/>
          </p:cNvPicPr>
          <p:nvPr/>
        </p:nvPicPr>
        <p:blipFill>
          <a:blip r:embed="rId2"/>
          <a:stretch>
            <a:fillRect/>
          </a:stretch>
        </p:blipFill>
        <p:spPr>
          <a:xfrm>
            <a:off x="5109882" y="839390"/>
            <a:ext cx="3403900" cy="2928937"/>
          </a:xfrm>
          <a:prstGeom prst="rect">
            <a:avLst/>
          </a:prstGeom>
        </p:spPr>
      </p:pic>
      <p:sp>
        <p:nvSpPr>
          <p:cNvPr id="8" name="Date Placeholder 7">
            <a:extLst>
              <a:ext uri="{FF2B5EF4-FFF2-40B4-BE49-F238E27FC236}">
                <a16:creationId xmlns:a16="http://schemas.microsoft.com/office/drawing/2014/main" id="{6F68EB52-54E9-4DB2-896D-67C170372E50}"/>
              </a:ext>
            </a:extLst>
          </p:cNvPr>
          <p:cNvSpPr>
            <a:spLocks noGrp="1"/>
          </p:cNvSpPr>
          <p:nvPr>
            <p:ph type="dt" sz="half" idx="10"/>
          </p:nvPr>
        </p:nvSpPr>
        <p:spPr/>
        <p:txBody>
          <a:bodyPr/>
          <a:lstStyle/>
          <a:p>
            <a:fld id="{73CFA555-6879-4EA0-B706-E920AF07D66E}" type="datetime1">
              <a:rPr lang="en-US" smtClean="0"/>
              <a:t>7/31/2023</a:t>
            </a:fld>
            <a:endParaRPr lang="en-US"/>
          </a:p>
        </p:txBody>
      </p:sp>
      <p:sp>
        <p:nvSpPr>
          <p:cNvPr id="9" name="Slide Number Placeholder 8">
            <a:extLst>
              <a:ext uri="{FF2B5EF4-FFF2-40B4-BE49-F238E27FC236}">
                <a16:creationId xmlns:a16="http://schemas.microsoft.com/office/drawing/2014/main" id="{74403BBE-6D08-4BB4-B113-99D7D30691DA}"/>
              </a:ext>
            </a:extLst>
          </p:cNvPr>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25157125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600" b="1" dirty="0">
                <a:solidFill>
                  <a:srgbClr val="FF0000"/>
                </a:solidFill>
              </a:rPr>
              <a:t>Harvard Architecture</a:t>
            </a:r>
          </a:p>
        </p:txBody>
      </p:sp>
      <p:sp>
        <p:nvSpPr>
          <p:cNvPr id="3" name="Content Placeholder 2"/>
          <p:cNvSpPr>
            <a:spLocks noGrp="1"/>
          </p:cNvSpPr>
          <p:nvPr>
            <p:ph idx="1"/>
          </p:nvPr>
        </p:nvSpPr>
        <p:spPr>
          <a:xfrm>
            <a:off x="457200" y="742950"/>
            <a:ext cx="4648200" cy="3851673"/>
          </a:xfrm>
        </p:spPr>
        <p:txBody>
          <a:bodyPr>
            <a:normAutofit/>
          </a:bodyPr>
          <a:lstStyle/>
          <a:p>
            <a:pPr fontAlgn="base"/>
            <a:r>
              <a:rPr lang="en-US" sz="1600" dirty="0"/>
              <a:t>The Harvard architecture consists of the following main components:</a:t>
            </a:r>
          </a:p>
          <a:p>
            <a:pPr lvl="1" fontAlgn="base">
              <a:buFont typeface="+mj-lt"/>
              <a:buAutoNum type="arabicPeriod"/>
            </a:pPr>
            <a:r>
              <a:rPr lang="en-US" sz="1200" b="1" dirty="0"/>
              <a:t>CPU: </a:t>
            </a:r>
            <a:r>
              <a:rPr lang="en-US" sz="1200" dirty="0"/>
              <a:t>The central processing unit performs all the calculations and operations required to execute instructions.</a:t>
            </a:r>
          </a:p>
          <a:p>
            <a:pPr lvl="1" fontAlgn="base">
              <a:buFont typeface="+mj-lt"/>
              <a:buAutoNum type="arabicPeriod"/>
            </a:pPr>
            <a:r>
              <a:rPr lang="en-US" sz="1200" b="1" dirty="0"/>
              <a:t>Instruction memory: </a:t>
            </a:r>
            <a:r>
              <a:rPr lang="en-US" sz="1200" dirty="0"/>
              <a:t>This memory holds instructions that the CPU needs to execute. It is typically implemented as read-only memory (ROM) or flash memory.</a:t>
            </a:r>
          </a:p>
          <a:p>
            <a:pPr lvl="1" fontAlgn="base">
              <a:buFont typeface="+mj-lt"/>
              <a:buAutoNum type="arabicPeriod"/>
            </a:pPr>
            <a:r>
              <a:rPr lang="en-US" sz="1200" b="1" dirty="0"/>
              <a:t>Data memory: </a:t>
            </a:r>
            <a:r>
              <a:rPr lang="en-US" sz="1200" dirty="0"/>
              <a:t>This memory holds data that the CPU needs to perform computations. It is typically implemented as random access memory (RAM).</a:t>
            </a:r>
          </a:p>
          <a:p>
            <a:pPr lvl="1" fontAlgn="base">
              <a:buFont typeface="+mj-lt"/>
              <a:buAutoNum type="arabicPeriod"/>
            </a:pPr>
            <a:r>
              <a:rPr lang="en-US" sz="1200" b="1" dirty="0"/>
              <a:t>Input/output (I/O) devices: </a:t>
            </a:r>
            <a:r>
              <a:rPr lang="en-US" sz="1200" dirty="0"/>
              <a:t>These devices are used to communicate with the outside world. Examples include keyboards, displays, and printers.</a:t>
            </a:r>
          </a:p>
          <a:p>
            <a:pPr lvl="1" fontAlgn="base">
              <a:buFont typeface="+mj-lt"/>
              <a:buAutoNum type="arabicPeriod"/>
            </a:pPr>
            <a:r>
              <a:rPr lang="en-US" sz="1200" b="1" dirty="0"/>
              <a:t>System bus</a:t>
            </a:r>
            <a:r>
              <a:rPr lang="en-US" sz="1200" dirty="0"/>
              <a:t>: The system bus is a collection of wires that connect the CPU, instruction memory, data memory, and I/O devices. It is used to transmit data, instructions, and control signals between these components.</a:t>
            </a:r>
          </a:p>
        </p:txBody>
      </p:sp>
      <p:sp>
        <p:nvSpPr>
          <p:cNvPr id="6" name="Footer Placeholder 5"/>
          <p:cNvSpPr>
            <a:spLocks noGrp="1"/>
          </p:cNvSpPr>
          <p:nvPr>
            <p:ph type="ftr" sz="quarter" idx="11"/>
          </p:nvPr>
        </p:nvSpPr>
        <p:spPr/>
        <p:txBody>
          <a:bodyPr/>
          <a:lstStyle/>
          <a:p>
            <a:r>
              <a:rPr lang="en-US"/>
              <a:t>Microprocessor and Computer Architecture, BSE-II</a:t>
            </a:r>
          </a:p>
        </p:txBody>
      </p:sp>
      <p:pic>
        <p:nvPicPr>
          <p:cNvPr id="7" name="Picture 6">
            <a:extLst>
              <a:ext uri="{FF2B5EF4-FFF2-40B4-BE49-F238E27FC236}">
                <a16:creationId xmlns:a16="http://schemas.microsoft.com/office/drawing/2014/main" id="{1089E6D8-3ADF-4961-A4D2-9979ABC9754B}"/>
              </a:ext>
            </a:extLst>
          </p:cNvPr>
          <p:cNvPicPr>
            <a:picLocks noChangeAspect="1"/>
          </p:cNvPicPr>
          <p:nvPr/>
        </p:nvPicPr>
        <p:blipFill>
          <a:blip r:embed="rId2"/>
          <a:stretch>
            <a:fillRect/>
          </a:stretch>
        </p:blipFill>
        <p:spPr>
          <a:xfrm>
            <a:off x="5109882" y="839390"/>
            <a:ext cx="3403900" cy="2928937"/>
          </a:xfrm>
          <a:prstGeom prst="rect">
            <a:avLst/>
          </a:prstGeom>
        </p:spPr>
      </p:pic>
      <p:sp>
        <p:nvSpPr>
          <p:cNvPr id="8" name="Date Placeholder 7">
            <a:extLst>
              <a:ext uri="{FF2B5EF4-FFF2-40B4-BE49-F238E27FC236}">
                <a16:creationId xmlns:a16="http://schemas.microsoft.com/office/drawing/2014/main" id="{22E1E8EE-326B-4029-A7D9-AA29B5AB0FB7}"/>
              </a:ext>
            </a:extLst>
          </p:cNvPr>
          <p:cNvSpPr>
            <a:spLocks noGrp="1"/>
          </p:cNvSpPr>
          <p:nvPr>
            <p:ph type="dt" sz="half" idx="10"/>
          </p:nvPr>
        </p:nvSpPr>
        <p:spPr/>
        <p:txBody>
          <a:bodyPr/>
          <a:lstStyle/>
          <a:p>
            <a:fld id="{0D12F507-9F56-4114-BAC8-B49B6B1D5397}" type="datetime1">
              <a:rPr lang="en-US" smtClean="0"/>
              <a:t>7/31/2023</a:t>
            </a:fld>
            <a:endParaRPr lang="en-US"/>
          </a:p>
        </p:txBody>
      </p:sp>
      <p:sp>
        <p:nvSpPr>
          <p:cNvPr id="9" name="Slide Number Placeholder 8">
            <a:extLst>
              <a:ext uri="{FF2B5EF4-FFF2-40B4-BE49-F238E27FC236}">
                <a16:creationId xmlns:a16="http://schemas.microsoft.com/office/drawing/2014/main" id="{A5B21804-8F5F-4295-B3DE-5AD6228996B1}"/>
              </a:ext>
            </a:extLst>
          </p:cNvPr>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35439941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400" b="1" dirty="0">
                <a:solidFill>
                  <a:srgbClr val="FF0000"/>
                </a:solidFill>
              </a:rPr>
              <a:t>Advantages / Disadvantages of Harvard Architecture</a:t>
            </a:r>
          </a:p>
        </p:txBody>
      </p:sp>
      <p:sp>
        <p:nvSpPr>
          <p:cNvPr id="3" name="Content Placeholder 2"/>
          <p:cNvSpPr>
            <a:spLocks noGrp="1"/>
          </p:cNvSpPr>
          <p:nvPr>
            <p:ph idx="1"/>
          </p:nvPr>
        </p:nvSpPr>
        <p:spPr>
          <a:xfrm>
            <a:off x="457200" y="742950"/>
            <a:ext cx="3962400" cy="3851673"/>
          </a:xfrm>
        </p:spPr>
        <p:txBody>
          <a:bodyPr>
            <a:normAutofit fontScale="92500"/>
          </a:bodyPr>
          <a:lstStyle/>
          <a:p>
            <a:pPr marL="233363" indent="-233363" fontAlgn="base">
              <a:buFont typeface="+mj-lt"/>
              <a:buAutoNum type="arabicPeriod"/>
            </a:pPr>
            <a:r>
              <a:rPr lang="en-US" sz="1400" b="1" dirty="0"/>
              <a:t>Fast and efficient data access: </a:t>
            </a:r>
            <a:r>
              <a:rPr lang="en-US" sz="1400" dirty="0"/>
              <a:t>Since Harvard architecture has separate memory spaces for instructions and data, it allows for parallel and simultaneous access to both memory spaces, which leads to faster and more efficient data access.</a:t>
            </a:r>
          </a:p>
          <a:p>
            <a:pPr marL="233363" indent="-233363" fontAlgn="base">
              <a:buFont typeface="+mj-lt"/>
              <a:buAutoNum type="arabicPeriod"/>
            </a:pPr>
            <a:r>
              <a:rPr lang="en-US" sz="1400" b="1" dirty="0"/>
              <a:t>Better performance: </a:t>
            </a:r>
            <a:r>
              <a:rPr lang="en-US" sz="1400" dirty="0"/>
              <a:t>The use of fixed instruction length, parallel processing, and optimized memory usage in Harvard architecture can lead to improved performance and faster execution of instructions.</a:t>
            </a:r>
          </a:p>
          <a:p>
            <a:pPr marL="233363" indent="-233363" fontAlgn="base">
              <a:buFont typeface="+mj-lt"/>
              <a:buAutoNum type="arabicPeriod"/>
            </a:pPr>
            <a:r>
              <a:rPr lang="en-US" sz="1400" b="1" dirty="0"/>
              <a:t>Suitable for real-time applications:</a:t>
            </a:r>
            <a:r>
              <a:rPr lang="en-US" sz="1400" dirty="0"/>
              <a:t> Harvard architecture is commonly used in embedded systems and other real-time applications where speed and efficiency are critical.</a:t>
            </a:r>
          </a:p>
          <a:p>
            <a:pPr marL="233363" indent="-233363" fontAlgn="base">
              <a:buFont typeface="+mj-lt"/>
              <a:buAutoNum type="arabicPeriod"/>
            </a:pPr>
            <a:r>
              <a:rPr lang="en-US" sz="1400" b="1" dirty="0"/>
              <a:t>Security: </a:t>
            </a:r>
            <a:r>
              <a:rPr lang="en-US" sz="1400" dirty="0"/>
              <a:t>The separation of instruction and data memory spaces can also provide a degree of security against certain types of attacks, such as buffer overflow attacks.</a:t>
            </a:r>
          </a:p>
          <a:p>
            <a:pPr marL="233363" indent="-233363">
              <a:buFont typeface="+mj-lt"/>
              <a:buAutoNum type="arabicPeriod"/>
            </a:pPr>
            <a:endParaRPr lang="en-US" sz="800" dirty="0">
              <a:solidFill>
                <a:srgbClr val="00B050"/>
              </a:solidFill>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Content Placeholder 2">
            <a:extLst>
              <a:ext uri="{FF2B5EF4-FFF2-40B4-BE49-F238E27FC236}">
                <a16:creationId xmlns:a16="http://schemas.microsoft.com/office/drawing/2014/main" id="{60396A95-B8E7-4401-B82F-9DE248510A6F}"/>
              </a:ext>
            </a:extLst>
          </p:cNvPr>
          <p:cNvSpPr txBox="1">
            <a:spLocks/>
          </p:cNvSpPr>
          <p:nvPr/>
        </p:nvSpPr>
        <p:spPr>
          <a:xfrm>
            <a:off x="4419600" y="742950"/>
            <a:ext cx="4038600" cy="3899893"/>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33363" indent="-233363" fontAlgn="base">
              <a:buFont typeface="+mj-lt"/>
              <a:buAutoNum type="arabicPeriod"/>
            </a:pPr>
            <a:r>
              <a:rPr lang="en-US" sz="1400" b="1" dirty="0"/>
              <a:t>Complexity:</a:t>
            </a:r>
            <a:r>
              <a:rPr lang="en-US" sz="1400" dirty="0"/>
              <a:t> The use of separate memory spaces for instructions and data in Harvard architecture adds to the complexity of the processor design and can increase the cost of manufacturing.</a:t>
            </a:r>
          </a:p>
          <a:p>
            <a:pPr marL="233363" indent="-233363" fontAlgn="base">
              <a:buFont typeface="+mj-lt"/>
              <a:buAutoNum type="arabicPeriod"/>
            </a:pPr>
            <a:r>
              <a:rPr lang="en-US" sz="1400" b="1" dirty="0"/>
              <a:t>Limited flexibility:</a:t>
            </a:r>
            <a:r>
              <a:rPr lang="en-US" sz="1400" dirty="0"/>
              <a:t> Harvard architecture has limited flexibility in terms of modifying instructions at runtime because instructions and data are stored in separate memory spaces. This can make certain types of programming more difficult or impossible to implement.</a:t>
            </a:r>
          </a:p>
          <a:p>
            <a:pPr marL="233363" indent="-233363" fontAlgn="base">
              <a:buFont typeface="+mj-lt"/>
              <a:buAutoNum type="arabicPeriod"/>
            </a:pPr>
            <a:r>
              <a:rPr lang="en-US" sz="1400" b="1" dirty="0"/>
              <a:t>Higher memory requirements: </a:t>
            </a:r>
            <a:r>
              <a:rPr lang="en-US" sz="1400" dirty="0"/>
              <a:t>Harvard architecture requires more memory than Von Neumann architecture, which can lead to higher costs and power consumption.</a:t>
            </a:r>
          </a:p>
          <a:p>
            <a:pPr marL="233363" indent="-233363" fontAlgn="base">
              <a:buFont typeface="+mj-lt"/>
              <a:buAutoNum type="arabicPeriod"/>
            </a:pPr>
            <a:r>
              <a:rPr lang="en-US" sz="1400" b="1" dirty="0"/>
              <a:t>Code size limitations: </a:t>
            </a:r>
            <a:r>
              <a:rPr lang="en-US" sz="1400" dirty="0"/>
              <a:t>Fixed instruction length in Harvard architecture can limit the size of code that can be executed, making it unsuitable for some applications with larger code bases.</a:t>
            </a:r>
          </a:p>
          <a:p>
            <a:pPr marL="233363" indent="-233363" fontAlgn="base">
              <a:buFont typeface="+mj-lt"/>
              <a:buAutoNum type="arabicPeriod"/>
            </a:pPr>
            <a:endParaRPr lang="en-US" sz="1400" dirty="0"/>
          </a:p>
          <a:p>
            <a:pPr marL="233363" indent="-233363">
              <a:buFont typeface="+mj-lt"/>
              <a:buAutoNum type="arabicPeriod"/>
            </a:pPr>
            <a:endParaRPr lang="en-US" sz="700" dirty="0"/>
          </a:p>
        </p:txBody>
      </p:sp>
      <p:sp>
        <p:nvSpPr>
          <p:cNvPr id="8" name="Date Placeholder 7">
            <a:extLst>
              <a:ext uri="{FF2B5EF4-FFF2-40B4-BE49-F238E27FC236}">
                <a16:creationId xmlns:a16="http://schemas.microsoft.com/office/drawing/2014/main" id="{D92D8C5C-8FA5-49BB-8387-B0AD6E9347BF}"/>
              </a:ext>
            </a:extLst>
          </p:cNvPr>
          <p:cNvSpPr>
            <a:spLocks noGrp="1"/>
          </p:cNvSpPr>
          <p:nvPr>
            <p:ph type="dt" sz="half" idx="10"/>
          </p:nvPr>
        </p:nvSpPr>
        <p:spPr/>
        <p:txBody>
          <a:bodyPr/>
          <a:lstStyle/>
          <a:p>
            <a:fld id="{3DABE8F3-644F-480A-992D-B44AD4660353}" type="datetime1">
              <a:rPr lang="en-US" smtClean="0"/>
              <a:t>7/31/2023</a:t>
            </a:fld>
            <a:endParaRPr lang="en-US"/>
          </a:p>
        </p:txBody>
      </p:sp>
      <p:sp>
        <p:nvSpPr>
          <p:cNvPr id="9" name="Slide Number Placeholder 8">
            <a:extLst>
              <a:ext uri="{FF2B5EF4-FFF2-40B4-BE49-F238E27FC236}">
                <a16:creationId xmlns:a16="http://schemas.microsoft.com/office/drawing/2014/main" id="{8598476D-89D2-427B-89BF-D5C1D0DCEC6A}"/>
              </a:ext>
            </a:extLst>
          </p:cNvPr>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20737478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600" b="1" dirty="0">
                <a:solidFill>
                  <a:srgbClr val="FF0000"/>
                </a:solidFill>
              </a:rPr>
              <a:t>Assignment:</a:t>
            </a:r>
          </a:p>
        </p:txBody>
      </p:sp>
      <p:sp>
        <p:nvSpPr>
          <p:cNvPr id="3" name="Content Placeholder 2"/>
          <p:cNvSpPr>
            <a:spLocks noGrp="1"/>
          </p:cNvSpPr>
          <p:nvPr>
            <p:ph idx="1"/>
          </p:nvPr>
        </p:nvSpPr>
        <p:spPr>
          <a:xfrm>
            <a:off x="457200" y="742950"/>
            <a:ext cx="8229600" cy="3851673"/>
          </a:xfrm>
        </p:spPr>
        <p:txBody>
          <a:bodyPr>
            <a:normAutofit/>
          </a:bodyPr>
          <a:lstStyle/>
          <a:p>
            <a:r>
              <a:rPr lang="en-US" sz="2800" dirty="0">
                <a:solidFill>
                  <a:srgbClr val="00B050"/>
                </a:solidFill>
              </a:rPr>
              <a:t>Differentiate between Von Neumann and Harvard architectures</a:t>
            </a: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547D1078-75C2-44DB-BF88-912FE1F9BB06}"/>
              </a:ext>
            </a:extLst>
          </p:cNvPr>
          <p:cNvSpPr>
            <a:spLocks noGrp="1"/>
          </p:cNvSpPr>
          <p:nvPr>
            <p:ph type="dt" sz="half" idx="10"/>
          </p:nvPr>
        </p:nvSpPr>
        <p:spPr/>
        <p:txBody>
          <a:bodyPr/>
          <a:lstStyle/>
          <a:p>
            <a:fld id="{158F9558-9BCE-48F8-96EB-5AB53568E1F8}" type="datetime1">
              <a:rPr lang="en-US" smtClean="0"/>
              <a:t>7/31/2023</a:t>
            </a:fld>
            <a:endParaRPr lang="en-US"/>
          </a:p>
        </p:txBody>
      </p:sp>
      <p:sp>
        <p:nvSpPr>
          <p:cNvPr id="8" name="Slide Number Placeholder 7">
            <a:extLst>
              <a:ext uri="{FF2B5EF4-FFF2-40B4-BE49-F238E27FC236}">
                <a16:creationId xmlns:a16="http://schemas.microsoft.com/office/drawing/2014/main" id="{7819E556-564D-42BC-9070-8F102141BCD0}"/>
              </a:ext>
            </a:extLst>
          </p:cNvPr>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15130524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a:noFill/>
        </p:spPr>
        <p:txBody>
          <a:bodyPr>
            <a:noAutofit/>
          </a:bodyPr>
          <a:lstStyle/>
          <a:p>
            <a:pPr algn="l"/>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noFill/>
        </p:spPr>
        <p:txBody>
          <a:bodyPr>
            <a:normAutofit/>
          </a:bodyPr>
          <a:lstStyle/>
          <a:p>
            <a:pPr marL="0" indent="0" algn="ctr">
              <a:buNone/>
              <a:tabLst>
                <a:tab pos="463550" algn="l"/>
              </a:tabLst>
            </a:pPr>
            <a:endParaRPr lang="en-US" sz="3600" b="1" dirty="0">
              <a:solidFill>
                <a:srgbClr val="FF0000"/>
              </a:solidFill>
            </a:endParaRPr>
          </a:p>
          <a:p>
            <a:pPr marL="0" indent="0" algn="ctr">
              <a:buNone/>
              <a:tabLst>
                <a:tab pos="463550" algn="l"/>
              </a:tabLst>
            </a:pPr>
            <a:endParaRPr lang="en-US" sz="3600" b="1" dirty="0">
              <a:solidFill>
                <a:srgbClr val="FF0000"/>
              </a:solidFill>
            </a:endParaRPr>
          </a:p>
          <a:p>
            <a:pPr marL="0" indent="0" algn="ctr">
              <a:buNone/>
              <a:tabLst>
                <a:tab pos="463550" algn="l"/>
              </a:tabLst>
            </a:pPr>
            <a:r>
              <a:rPr lang="en-US" sz="3600" b="1" dirty="0">
                <a:solidFill>
                  <a:srgbClr val="FF0000"/>
                </a:solidFill>
              </a:rPr>
              <a:t>2. Organization of Computer systems</a:t>
            </a:r>
          </a:p>
          <a:p>
            <a:pPr marL="0" indent="0">
              <a:buNone/>
              <a:tabLst>
                <a:tab pos="463550" algn="l"/>
              </a:tabLst>
            </a:pPr>
            <a:endParaRPr lang="en-US" sz="3600" b="1" dirty="0">
              <a:solidFill>
                <a:srgbClr val="FF0000"/>
              </a:solidFill>
            </a:endParaRPr>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Date Placeholder 6">
            <a:extLst>
              <a:ext uri="{FF2B5EF4-FFF2-40B4-BE49-F238E27FC236}">
                <a16:creationId xmlns:a16="http://schemas.microsoft.com/office/drawing/2014/main" id="{40F0451B-8B1F-4D78-9B97-669D2A950F86}"/>
              </a:ext>
            </a:extLst>
          </p:cNvPr>
          <p:cNvSpPr>
            <a:spLocks noGrp="1"/>
          </p:cNvSpPr>
          <p:nvPr>
            <p:ph type="dt" sz="half" idx="10"/>
          </p:nvPr>
        </p:nvSpPr>
        <p:spPr/>
        <p:txBody>
          <a:bodyPr/>
          <a:lstStyle/>
          <a:p>
            <a:fld id="{345DA52A-291C-4EB9-8B44-1D6C6E249DFA}" type="datetime1">
              <a:rPr lang="en-US" smtClean="0"/>
              <a:t>7/31/2023</a:t>
            </a:fld>
            <a:endParaRPr lang="en-US"/>
          </a:p>
        </p:txBody>
      </p:sp>
      <p:sp>
        <p:nvSpPr>
          <p:cNvPr id="8" name="Slide Number Placeholder 7">
            <a:extLst>
              <a:ext uri="{FF2B5EF4-FFF2-40B4-BE49-F238E27FC236}">
                <a16:creationId xmlns:a16="http://schemas.microsoft.com/office/drawing/2014/main" id="{4D6F6A22-9F04-453D-B0E5-F70FCF64A913}"/>
              </a:ext>
            </a:extLst>
          </p:cNvPr>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447511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1. Basic Computer Organization</a:t>
            </a:r>
          </a:p>
        </p:txBody>
      </p:sp>
      <p:sp>
        <p:nvSpPr>
          <p:cNvPr id="3" name="Content Placeholder 2"/>
          <p:cNvSpPr>
            <a:spLocks noGrp="1"/>
          </p:cNvSpPr>
          <p:nvPr>
            <p:ph idx="1"/>
          </p:nvPr>
        </p:nvSpPr>
        <p:spPr>
          <a:xfrm>
            <a:off x="457200" y="742950"/>
            <a:ext cx="4038600" cy="3851673"/>
          </a:xfrm>
          <a:solidFill>
            <a:schemeClr val="tx2">
              <a:lumMod val="20000"/>
              <a:lumOff val="80000"/>
            </a:schemeClr>
          </a:solidFill>
        </p:spPr>
        <p:txBody>
          <a:bodyPr>
            <a:normAutofit/>
          </a:bodyPr>
          <a:lstStyle/>
          <a:p>
            <a:r>
              <a:rPr lang="en-US" sz="2400" dirty="0"/>
              <a:t>This organization has three main components: </a:t>
            </a:r>
          </a:p>
          <a:p>
            <a:pPr lvl="1"/>
            <a:r>
              <a:rPr lang="en-US" sz="1800" dirty="0"/>
              <a:t>CPU, </a:t>
            </a:r>
          </a:p>
          <a:p>
            <a:pPr lvl="1"/>
            <a:r>
              <a:rPr lang="en-US" sz="1800" dirty="0"/>
              <a:t>memory subsystem, and </a:t>
            </a:r>
          </a:p>
          <a:p>
            <a:pPr lvl="1"/>
            <a:r>
              <a:rPr lang="en-US" sz="1800" dirty="0"/>
              <a:t>IO subsystem</a:t>
            </a:r>
            <a:endParaRPr lang="en-US" sz="105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pic>
        <p:nvPicPr>
          <p:cNvPr id="7" name="Picture 6">
            <a:extLst>
              <a:ext uri="{FF2B5EF4-FFF2-40B4-BE49-F238E27FC236}">
                <a16:creationId xmlns:a16="http://schemas.microsoft.com/office/drawing/2014/main" id="{C0D74312-6C1A-4CE3-81BE-A91EFEEFFC92}"/>
              </a:ext>
            </a:extLst>
          </p:cNvPr>
          <p:cNvPicPr/>
          <p:nvPr/>
        </p:nvPicPr>
        <p:blipFill>
          <a:blip r:embed="rId2"/>
          <a:stretch>
            <a:fillRect/>
          </a:stretch>
        </p:blipFill>
        <p:spPr>
          <a:xfrm>
            <a:off x="4419600" y="839390"/>
            <a:ext cx="4267200" cy="2722960"/>
          </a:xfrm>
          <a:prstGeom prst="rect">
            <a:avLst/>
          </a:prstGeom>
        </p:spPr>
      </p:pic>
      <p:sp>
        <p:nvSpPr>
          <p:cNvPr id="8" name="Date Placeholder 7">
            <a:extLst>
              <a:ext uri="{FF2B5EF4-FFF2-40B4-BE49-F238E27FC236}">
                <a16:creationId xmlns:a16="http://schemas.microsoft.com/office/drawing/2014/main" id="{19876CCD-3E5F-4537-ADB7-E9264983FCF8}"/>
              </a:ext>
            </a:extLst>
          </p:cNvPr>
          <p:cNvSpPr>
            <a:spLocks noGrp="1"/>
          </p:cNvSpPr>
          <p:nvPr>
            <p:ph type="dt" sz="half" idx="10"/>
          </p:nvPr>
        </p:nvSpPr>
        <p:spPr/>
        <p:txBody>
          <a:bodyPr/>
          <a:lstStyle/>
          <a:p>
            <a:fld id="{AC9C7891-FA6D-45B1-BBA2-389D439B33D2}" type="datetime1">
              <a:rPr lang="en-US" smtClean="0"/>
              <a:t>7/31/2023</a:t>
            </a:fld>
            <a:endParaRPr lang="en-US"/>
          </a:p>
        </p:txBody>
      </p:sp>
      <p:sp>
        <p:nvSpPr>
          <p:cNvPr id="9" name="Slide Number Placeholder 8">
            <a:extLst>
              <a:ext uri="{FF2B5EF4-FFF2-40B4-BE49-F238E27FC236}">
                <a16:creationId xmlns:a16="http://schemas.microsoft.com/office/drawing/2014/main" id="{FA3C2680-C626-49D5-9EAF-99B4095511FA}"/>
              </a:ext>
            </a:extLst>
          </p:cNvPr>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24748366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Structural view of Computer System</a:t>
            </a:r>
          </a:p>
        </p:txBody>
      </p:sp>
      <p:graphicFrame>
        <p:nvGraphicFramePr>
          <p:cNvPr id="10" name="Content Placeholder 9">
            <a:extLst>
              <a:ext uri="{FF2B5EF4-FFF2-40B4-BE49-F238E27FC236}">
                <a16:creationId xmlns:a16="http://schemas.microsoft.com/office/drawing/2014/main" id="{6FBF6587-8C17-4719-9CB6-A9E2DEC754C5}"/>
              </a:ext>
            </a:extLst>
          </p:cNvPr>
          <p:cNvGraphicFramePr>
            <a:graphicFrameLocks noGrp="1"/>
          </p:cNvGraphicFramePr>
          <p:nvPr>
            <p:ph idx="1"/>
          </p:nvPr>
        </p:nvGraphicFramePr>
        <p:xfrm>
          <a:off x="304800" y="806892"/>
          <a:ext cx="4876800" cy="3822256"/>
        </p:xfrm>
        <a:graphic>
          <a:graphicData uri="http://schemas.openxmlformats.org/drawingml/2006/table">
            <a:tbl>
              <a:tblPr firstRow="1" firstCol="1" bandRow="1">
                <a:tableStyleId>{5C22544A-7EE6-4342-B048-85BDC9FD1C3A}</a:tableStyleId>
              </a:tblPr>
              <a:tblGrid>
                <a:gridCol w="948134">
                  <a:extLst>
                    <a:ext uri="{9D8B030D-6E8A-4147-A177-3AD203B41FA5}">
                      <a16:colId xmlns:a16="http://schemas.microsoft.com/office/drawing/2014/main" val="2527577427"/>
                    </a:ext>
                  </a:extLst>
                </a:gridCol>
                <a:gridCol w="3928666">
                  <a:extLst>
                    <a:ext uri="{9D8B030D-6E8A-4147-A177-3AD203B41FA5}">
                      <a16:colId xmlns:a16="http://schemas.microsoft.com/office/drawing/2014/main" val="1800798102"/>
                    </a:ext>
                  </a:extLst>
                </a:gridCol>
              </a:tblGrid>
              <a:tr h="1274086">
                <a:tc>
                  <a:txBody>
                    <a:bodyPr/>
                    <a:lstStyle/>
                    <a:p>
                      <a:pPr marL="0" marR="0" algn="just">
                        <a:spcBef>
                          <a:spcPts val="0"/>
                        </a:spcBef>
                        <a:spcAft>
                          <a:spcPts val="0"/>
                        </a:spcAft>
                      </a:pPr>
                      <a:r>
                        <a:rPr lang="en-US" sz="1800">
                          <a:solidFill>
                            <a:schemeClr val="tx1"/>
                          </a:solidFill>
                          <a:effectLst/>
                        </a:rPr>
                        <a:t>CPU</a:t>
                      </a:r>
                      <a:endParaRPr lang="en-US" sz="180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1260" marR="61260" marT="0" marB="0">
                    <a:solidFill>
                      <a:schemeClr val="accent2">
                        <a:lumMod val="40000"/>
                        <a:lumOff val="60000"/>
                      </a:schemeClr>
                    </a:solidFill>
                  </a:tcPr>
                </a:tc>
                <a:tc>
                  <a:txBody>
                    <a:bodyPr/>
                    <a:lstStyle/>
                    <a:p>
                      <a:pPr marL="0" marR="0" algn="just">
                        <a:spcBef>
                          <a:spcPts val="0"/>
                        </a:spcBef>
                        <a:spcAft>
                          <a:spcPts val="0"/>
                        </a:spcAft>
                      </a:pPr>
                      <a:r>
                        <a:rPr lang="en-US" sz="1800" b="0">
                          <a:solidFill>
                            <a:schemeClr val="tx1"/>
                          </a:solidFill>
                          <a:effectLst/>
                        </a:rPr>
                        <a:t>Controls the operation of the computer and performs its data processing functions; also referred as processor.</a:t>
                      </a:r>
                      <a:endParaRPr lang="en-US" sz="1800" b="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1260" marR="61260" marT="0" marB="0">
                    <a:solidFill>
                      <a:schemeClr val="accent2">
                        <a:lumMod val="40000"/>
                        <a:lumOff val="60000"/>
                      </a:schemeClr>
                    </a:solidFill>
                  </a:tcPr>
                </a:tc>
                <a:extLst>
                  <a:ext uri="{0D108BD9-81ED-4DB2-BD59-A6C34878D82A}">
                    <a16:rowId xmlns:a16="http://schemas.microsoft.com/office/drawing/2014/main" val="3295072327"/>
                  </a:ext>
                </a:extLst>
              </a:tr>
              <a:tr h="637042">
                <a:tc>
                  <a:txBody>
                    <a:bodyPr/>
                    <a:lstStyle/>
                    <a:p>
                      <a:pPr marL="0" marR="0" algn="just">
                        <a:spcBef>
                          <a:spcPts val="0"/>
                        </a:spcBef>
                        <a:spcAft>
                          <a:spcPts val="0"/>
                        </a:spcAft>
                      </a:pPr>
                      <a:r>
                        <a:rPr lang="en-US" sz="1800">
                          <a:solidFill>
                            <a:schemeClr val="tx1"/>
                          </a:solidFill>
                          <a:effectLst/>
                        </a:rPr>
                        <a:t>Main Memory</a:t>
                      </a:r>
                      <a:endParaRPr lang="en-US" sz="180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1260" marR="61260" marT="0" marB="0">
                    <a:solidFill>
                      <a:schemeClr val="accent2">
                        <a:lumMod val="40000"/>
                        <a:lumOff val="60000"/>
                      </a:schemeClr>
                    </a:solidFill>
                  </a:tcPr>
                </a:tc>
                <a:tc>
                  <a:txBody>
                    <a:bodyPr/>
                    <a:lstStyle/>
                    <a:p>
                      <a:pPr marL="0" marR="0" algn="just">
                        <a:spcBef>
                          <a:spcPts val="0"/>
                        </a:spcBef>
                        <a:spcAft>
                          <a:spcPts val="0"/>
                        </a:spcAft>
                      </a:pPr>
                      <a:r>
                        <a:rPr lang="en-US" sz="1800" b="0" dirty="0">
                          <a:solidFill>
                            <a:schemeClr val="tx1"/>
                          </a:solidFill>
                          <a:effectLst/>
                        </a:rPr>
                        <a:t>Stores data</a:t>
                      </a:r>
                      <a:endParaRPr lang="en-US" sz="1800" b="0" dirty="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1260" marR="61260" marT="0" marB="0">
                    <a:solidFill>
                      <a:schemeClr val="accent2">
                        <a:lumMod val="40000"/>
                        <a:lumOff val="60000"/>
                      </a:schemeClr>
                    </a:solidFill>
                  </a:tcPr>
                </a:tc>
                <a:extLst>
                  <a:ext uri="{0D108BD9-81ED-4DB2-BD59-A6C34878D82A}">
                    <a16:rowId xmlns:a16="http://schemas.microsoft.com/office/drawing/2014/main" val="3675805164"/>
                  </a:ext>
                </a:extLst>
              </a:tr>
              <a:tr h="637042">
                <a:tc>
                  <a:txBody>
                    <a:bodyPr/>
                    <a:lstStyle/>
                    <a:p>
                      <a:pPr marL="0" marR="0" algn="just">
                        <a:spcBef>
                          <a:spcPts val="0"/>
                        </a:spcBef>
                        <a:spcAft>
                          <a:spcPts val="0"/>
                        </a:spcAft>
                      </a:pPr>
                      <a:r>
                        <a:rPr lang="en-US" sz="1800">
                          <a:solidFill>
                            <a:schemeClr val="tx1"/>
                          </a:solidFill>
                          <a:effectLst/>
                        </a:rPr>
                        <a:t>I/O</a:t>
                      </a:r>
                      <a:endParaRPr lang="en-US" sz="180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1260" marR="61260" marT="0" marB="0">
                    <a:solidFill>
                      <a:schemeClr val="accent2">
                        <a:lumMod val="40000"/>
                        <a:lumOff val="60000"/>
                      </a:schemeClr>
                    </a:solidFill>
                  </a:tcPr>
                </a:tc>
                <a:tc>
                  <a:txBody>
                    <a:bodyPr/>
                    <a:lstStyle/>
                    <a:p>
                      <a:pPr marL="0" marR="0" algn="just">
                        <a:spcBef>
                          <a:spcPts val="0"/>
                        </a:spcBef>
                        <a:spcAft>
                          <a:spcPts val="0"/>
                        </a:spcAft>
                      </a:pPr>
                      <a:r>
                        <a:rPr lang="en-US" sz="1800" b="0">
                          <a:solidFill>
                            <a:schemeClr val="tx1"/>
                          </a:solidFill>
                          <a:effectLst/>
                        </a:rPr>
                        <a:t>Moves data between the memory and its external environment</a:t>
                      </a:r>
                      <a:endParaRPr lang="en-US" sz="1800" b="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1260" marR="61260" marT="0" marB="0">
                    <a:solidFill>
                      <a:schemeClr val="accent2">
                        <a:lumMod val="40000"/>
                        <a:lumOff val="60000"/>
                      </a:schemeClr>
                    </a:solidFill>
                  </a:tcPr>
                </a:tc>
                <a:extLst>
                  <a:ext uri="{0D108BD9-81ED-4DB2-BD59-A6C34878D82A}">
                    <a16:rowId xmlns:a16="http://schemas.microsoft.com/office/drawing/2014/main" val="1930878673"/>
                  </a:ext>
                </a:extLst>
              </a:tr>
              <a:tr h="1274086">
                <a:tc>
                  <a:txBody>
                    <a:bodyPr/>
                    <a:lstStyle/>
                    <a:p>
                      <a:pPr marL="0" marR="0" algn="just">
                        <a:spcBef>
                          <a:spcPts val="0"/>
                        </a:spcBef>
                        <a:spcAft>
                          <a:spcPts val="0"/>
                        </a:spcAft>
                      </a:pPr>
                      <a:r>
                        <a:rPr lang="en-US" sz="1800">
                          <a:solidFill>
                            <a:schemeClr val="tx1"/>
                          </a:solidFill>
                          <a:effectLst/>
                        </a:rPr>
                        <a:t>System Interconnection</a:t>
                      </a:r>
                      <a:endParaRPr lang="en-US" sz="180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1260" marR="61260" marT="0" marB="0">
                    <a:solidFill>
                      <a:schemeClr val="accent2">
                        <a:lumMod val="40000"/>
                        <a:lumOff val="60000"/>
                      </a:schemeClr>
                    </a:solidFill>
                  </a:tcPr>
                </a:tc>
                <a:tc>
                  <a:txBody>
                    <a:bodyPr/>
                    <a:lstStyle/>
                    <a:p>
                      <a:pPr marL="0" marR="0" algn="just">
                        <a:spcBef>
                          <a:spcPts val="0"/>
                        </a:spcBef>
                        <a:spcAft>
                          <a:spcPts val="0"/>
                        </a:spcAft>
                      </a:pPr>
                      <a:r>
                        <a:rPr lang="en-US" sz="1800" b="0" dirty="0">
                          <a:solidFill>
                            <a:schemeClr val="tx1"/>
                          </a:solidFill>
                          <a:effectLst/>
                        </a:rPr>
                        <a:t>Some mechanism that provides for communication among CPU, main memory and I/O. it is done through system bus.</a:t>
                      </a:r>
                      <a:endParaRPr lang="en-US" sz="1800" b="0" dirty="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1260" marR="61260" marT="0" marB="0">
                    <a:solidFill>
                      <a:schemeClr val="accent2">
                        <a:lumMod val="40000"/>
                        <a:lumOff val="60000"/>
                      </a:schemeClr>
                    </a:solidFill>
                  </a:tcPr>
                </a:tc>
                <a:extLst>
                  <a:ext uri="{0D108BD9-81ED-4DB2-BD59-A6C34878D82A}">
                    <a16:rowId xmlns:a16="http://schemas.microsoft.com/office/drawing/2014/main" val="2924322824"/>
                  </a:ext>
                </a:extLst>
              </a:tr>
            </a:tbl>
          </a:graphicData>
        </a:graphic>
      </p:graphicFrame>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pic>
        <p:nvPicPr>
          <p:cNvPr id="7" name="Picture 6">
            <a:extLst>
              <a:ext uri="{FF2B5EF4-FFF2-40B4-BE49-F238E27FC236}">
                <a16:creationId xmlns:a16="http://schemas.microsoft.com/office/drawing/2014/main" id="{9DFC381B-254A-46D8-B8F2-41289971B2F6}"/>
              </a:ext>
            </a:extLst>
          </p:cNvPr>
          <p:cNvPicPr/>
          <p:nvPr/>
        </p:nvPicPr>
        <p:blipFill rotWithShape="1">
          <a:blip r:embed="rId2"/>
          <a:srcRect l="4586" r="54027" b="63266"/>
          <a:stretch/>
        </p:blipFill>
        <p:spPr bwMode="auto">
          <a:xfrm>
            <a:off x="5562600" y="1079722"/>
            <a:ext cx="3048000" cy="2984055"/>
          </a:xfrm>
          <a:prstGeom prst="rect">
            <a:avLst/>
          </a:prstGeom>
          <a:noFill/>
          <a:ln w="9525">
            <a:noFill/>
            <a:miter lim="800000"/>
            <a:headEnd/>
            <a:tailEnd/>
          </a:ln>
        </p:spPr>
      </p:pic>
      <p:sp>
        <p:nvSpPr>
          <p:cNvPr id="3" name="Date Placeholder 2">
            <a:extLst>
              <a:ext uri="{FF2B5EF4-FFF2-40B4-BE49-F238E27FC236}">
                <a16:creationId xmlns:a16="http://schemas.microsoft.com/office/drawing/2014/main" id="{F957EE88-A7CC-47C3-B25C-BDA898A806C6}"/>
              </a:ext>
            </a:extLst>
          </p:cNvPr>
          <p:cNvSpPr>
            <a:spLocks noGrp="1"/>
          </p:cNvSpPr>
          <p:nvPr>
            <p:ph type="dt" sz="half" idx="10"/>
          </p:nvPr>
        </p:nvSpPr>
        <p:spPr/>
        <p:txBody>
          <a:bodyPr/>
          <a:lstStyle/>
          <a:p>
            <a:fld id="{20EB0015-AC92-44F2-A341-F31172720058}" type="datetime1">
              <a:rPr lang="en-US" smtClean="0"/>
              <a:t>7/31/2023</a:t>
            </a:fld>
            <a:endParaRPr lang="en-US"/>
          </a:p>
        </p:txBody>
      </p:sp>
      <p:sp>
        <p:nvSpPr>
          <p:cNvPr id="8" name="Slide Number Placeholder 7">
            <a:extLst>
              <a:ext uri="{FF2B5EF4-FFF2-40B4-BE49-F238E27FC236}">
                <a16:creationId xmlns:a16="http://schemas.microsoft.com/office/drawing/2014/main" id="{2AD40218-5147-4639-8FEA-7C120C698344}"/>
              </a:ext>
            </a:extLst>
          </p:cNvPr>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3330737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Structural view of Computer System (Contd.)</a:t>
            </a:r>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pic>
        <p:nvPicPr>
          <p:cNvPr id="7" name="Picture 6">
            <a:extLst>
              <a:ext uri="{FF2B5EF4-FFF2-40B4-BE49-F238E27FC236}">
                <a16:creationId xmlns:a16="http://schemas.microsoft.com/office/drawing/2014/main" id="{9DFC381B-254A-46D8-B8F2-41289971B2F6}"/>
              </a:ext>
            </a:extLst>
          </p:cNvPr>
          <p:cNvPicPr/>
          <p:nvPr/>
        </p:nvPicPr>
        <p:blipFill>
          <a:blip r:embed="rId2"/>
          <a:srcRect l="4586" r="2293"/>
          <a:stretch>
            <a:fillRect/>
          </a:stretch>
        </p:blipFill>
        <p:spPr bwMode="auto">
          <a:xfrm>
            <a:off x="5174673" y="666751"/>
            <a:ext cx="3740727" cy="4099288"/>
          </a:xfrm>
          <a:prstGeom prst="rect">
            <a:avLst/>
          </a:prstGeom>
          <a:noFill/>
          <a:ln w="9525">
            <a:noFill/>
            <a:miter lim="800000"/>
            <a:headEnd/>
            <a:tailEnd/>
          </a:ln>
        </p:spPr>
      </p:pic>
      <p:sp>
        <p:nvSpPr>
          <p:cNvPr id="11" name="Oval 10">
            <a:extLst>
              <a:ext uri="{FF2B5EF4-FFF2-40B4-BE49-F238E27FC236}">
                <a16:creationId xmlns:a16="http://schemas.microsoft.com/office/drawing/2014/main" id="{AFC62D41-0124-4DF8-9C1D-538D899440CB}"/>
              </a:ext>
            </a:extLst>
          </p:cNvPr>
          <p:cNvSpPr/>
          <p:nvPr/>
        </p:nvSpPr>
        <p:spPr>
          <a:xfrm>
            <a:off x="4876800" y="2918221"/>
            <a:ext cx="2743200" cy="196691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 name="Content Placeholder 13">
            <a:extLst>
              <a:ext uri="{FF2B5EF4-FFF2-40B4-BE49-F238E27FC236}">
                <a16:creationId xmlns:a16="http://schemas.microsoft.com/office/drawing/2014/main" id="{161F095E-58D7-4D18-9D2A-9B567AD79F23}"/>
              </a:ext>
            </a:extLst>
          </p:cNvPr>
          <p:cNvGraphicFramePr>
            <a:graphicFrameLocks noGrp="1"/>
          </p:cNvGraphicFramePr>
          <p:nvPr>
            <p:ph idx="1"/>
            <p:extLst/>
          </p:nvPr>
        </p:nvGraphicFramePr>
        <p:xfrm>
          <a:off x="457200" y="971550"/>
          <a:ext cx="4267200" cy="3651994"/>
        </p:xfrm>
        <a:graphic>
          <a:graphicData uri="http://schemas.openxmlformats.org/drawingml/2006/table">
            <a:tbl>
              <a:tblPr firstRow="1" firstCol="1" bandRow="1">
                <a:tableStyleId>{5C22544A-7EE6-4342-B048-85BDC9FD1C3A}</a:tableStyleId>
              </a:tblPr>
              <a:tblGrid>
                <a:gridCol w="1551709">
                  <a:extLst>
                    <a:ext uri="{9D8B030D-6E8A-4147-A177-3AD203B41FA5}">
                      <a16:colId xmlns:a16="http://schemas.microsoft.com/office/drawing/2014/main" val="4044477682"/>
                    </a:ext>
                  </a:extLst>
                </a:gridCol>
                <a:gridCol w="2715491">
                  <a:extLst>
                    <a:ext uri="{9D8B030D-6E8A-4147-A177-3AD203B41FA5}">
                      <a16:colId xmlns:a16="http://schemas.microsoft.com/office/drawing/2014/main" val="947043595"/>
                    </a:ext>
                  </a:extLst>
                </a:gridCol>
              </a:tblGrid>
              <a:tr h="912998">
                <a:tc>
                  <a:txBody>
                    <a:bodyPr/>
                    <a:lstStyle/>
                    <a:p>
                      <a:pPr marL="0" marR="0">
                        <a:spcBef>
                          <a:spcPts val="0"/>
                        </a:spcBef>
                        <a:spcAft>
                          <a:spcPts val="0"/>
                        </a:spcAft>
                      </a:pPr>
                      <a:r>
                        <a:rPr lang="en-US" sz="1800">
                          <a:solidFill>
                            <a:schemeClr val="tx1"/>
                          </a:solidFill>
                          <a:effectLst/>
                        </a:rPr>
                        <a:t>Control Unit:</a:t>
                      </a:r>
                      <a:endParaRPr lang="en-US" sz="180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5">
                        <a:lumMod val="40000"/>
                        <a:lumOff val="60000"/>
                      </a:schemeClr>
                    </a:solidFill>
                  </a:tcPr>
                </a:tc>
                <a:tc>
                  <a:txBody>
                    <a:bodyPr/>
                    <a:lstStyle/>
                    <a:p>
                      <a:pPr marL="0" marR="0">
                        <a:spcBef>
                          <a:spcPts val="0"/>
                        </a:spcBef>
                        <a:spcAft>
                          <a:spcPts val="0"/>
                        </a:spcAft>
                      </a:pPr>
                      <a:r>
                        <a:rPr lang="en-US" sz="1800" b="0" dirty="0">
                          <a:solidFill>
                            <a:schemeClr val="tx1"/>
                          </a:solidFill>
                          <a:effectLst/>
                        </a:rPr>
                        <a:t>Controls the operation of the CPU and hence the computer.</a:t>
                      </a:r>
                      <a:endParaRPr lang="en-US" sz="1800" b="0" dirty="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5">
                        <a:lumMod val="40000"/>
                        <a:lumOff val="60000"/>
                      </a:schemeClr>
                    </a:solidFill>
                  </a:tcPr>
                </a:tc>
                <a:extLst>
                  <a:ext uri="{0D108BD9-81ED-4DB2-BD59-A6C34878D82A}">
                    <a16:rowId xmlns:a16="http://schemas.microsoft.com/office/drawing/2014/main" val="3528589984"/>
                  </a:ext>
                </a:extLst>
              </a:tr>
              <a:tr h="608666">
                <a:tc>
                  <a:txBody>
                    <a:bodyPr/>
                    <a:lstStyle/>
                    <a:p>
                      <a:pPr marL="0" marR="0">
                        <a:spcBef>
                          <a:spcPts val="0"/>
                        </a:spcBef>
                        <a:spcAft>
                          <a:spcPts val="0"/>
                        </a:spcAft>
                      </a:pPr>
                      <a:r>
                        <a:rPr lang="en-US" sz="1800">
                          <a:solidFill>
                            <a:schemeClr val="tx1"/>
                          </a:solidFill>
                          <a:effectLst/>
                        </a:rPr>
                        <a:t>ALU:</a:t>
                      </a:r>
                      <a:endParaRPr lang="en-US" sz="180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5">
                        <a:lumMod val="40000"/>
                        <a:lumOff val="60000"/>
                      </a:schemeClr>
                    </a:solidFill>
                  </a:tcPr>
                </a:tc>
                <a:tc>
                  <a:txBody>
                    <a:bodyPr/>
                    <a:lstStyle/>
                    <a:p>
                      <a:pPr marL="0" marR="0">
                        <a:spcBef>
                          <a:spcPts val="0"/>
                        </a:spcBef>
                        <a:spcAft>
                          <a:spcPts val="0"/>
                        </a:spcAft>
                      </a:pPr>
                      <a:r>
                        <a:rPr lang="en-US" sz="1800" dirty="0">
                          <a:solidFill>
                            <a:schemeClr val="tx1"/>
                          </a:solidFill>
                          <a:effectLst/>
                        </a:rPr>
                        <a:t>Performs the computer’s data processing function.</a:t>
                      </a:r>
                      <a:endParaRPr lang="en-US" sz="1800" dirty="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5">
                        <a:lumMod val="40000"/>
                        <a:lumOff val="60000"/>
                      </a:schemeClr>
                    </a:solidFill>
                  </a:tcPr>
                </a:tc>
                <a:extLst>
                  <a:ext uri="{0D108BD9-81ED-4DB2-BD59-A6C34878D82A}">
                    <a16:rowId xmlns:a16="http://schemas.microsoft.com/office/drawing/2014/main" val="1935543622"/>
                  </a:ext>
                </a:extLst>
              </a:tr>
              <a:tr h="608666">
                <a:tc>
                  <a:txBody>
                    <a:bodyPr/>
                    <a:lstStyle/>
                    <a:p>
                      <a:pPr marL="0" marR="0">
                        <a:spcBef>
                          <a:spcPts val="0"/>
                        </a:spcBef>
                        <a:spcAft>
                          <a:spcPts val="0"/>
                        </a:spcAft>
                      </a:pPr>
                      <a:r>
                        <a:rPr lang="en-US" sz="1800">
                          <a:solidFill>
                            <a:schemeClr val="tx1"/>
                          </a:solidFill>
                          <a:effectLst/>
                        </a:rPr>
                        <a:t>Registers:</a:t>
                      </a:r>
                      <a:endParaRPr lang="en-US" sz="180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5">
                        <a:lumMod val="40000"/>
                        <a:lumOff val="60000"/>
                      </a:schemeClr>
                    </a:solidFill>
                  </a:tcPr>
                </a:tc>
                <a:tc>
                  <a:txBody>
                    <a:bodyPr/>
                    <a:lstStyle/>
                    <a:p>
                      <a:pPr marL="0" marR="0">
                        <a:spcBef>
                          <a:spcPts val="0"/>
                        </a:spcBef>
                        <a:spcAft>
                          <a:spcPts val="0"/>
                        </a:spcAft>
                      </a:pPr>
                      <a:r>
                        <a:rPr lang="en-US" sz="1800" dirty="0">
                          <a:solidFill>
                            <a:schemeClr val="tx1"/>
                          </a:solidFill>
                          <a:effectLst/>
                        </a:rPr>
                        <a:t>Provides storage internal to the CPU.</a:t>
                      </a:r>
                      <a:endParaRPr lang="en-US" sz="1800" dirty="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5">
                        <a:lumMod val="40000"/>
                        <a:lumOff val="60000"/>
                      </a:schemeClr>
                    </a:solidFill>
                  </a:tcPr>
                </a:tc>
                <a:extLst>
                  <a:ext uri="{0D108BD9-81ED-4DB2-BD59-A6C34878D82A}">
                    <a16:rowId xmlns:a16="http://schemas.microsoft.com/office/drawing/2014/main" val="426961167"/>
                  </a:ext>
                </a:extLst>
              </a:tr>
              <a:tr h="1521664">
                <a:tc>
                  <a:txBody>
                    <a:bodyPr/>
                    <a:lstStyle/>
                    <a:p>
                      <a:pPr marL="0" marR="0">
                        <a:spcBef>
                          <a:spcPts val="0"/>
                        </a:spcBef>
                        <a:spcAft>
                          <a:spcPts val="0"/>
                        </a:spcAft>
                      </a:pPr>
                      <a:r>
                        <a:rPr lang="en-US" sz="1800">
                          <a:solidFill>
                            <a:schemeClr val="tx1"/>
                          </a:solidFill>
                          <a:effectLst/>
                        </a:rPr>
                        <a:t>CPU interconnection:</a:t>
                      </a:r>
                      <a:endParaRPr lang="en-US" sz="180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5">
                        <a:lumMod val="40000"/>
                        <a:lumOff val="60000"/>
                      </a:schemeClr>
                    </a:solidFill>
                  </a:tcPr>
                </a:tc>
                <a:tc>
                  <a:txBody>
                    <a:bodyPr/>
                    <a:lstStyle/>
                    <a:p>
                      <a:pPr marL="0" marR="0">
                        <a:spcBef>
                          <a:spcPts val="0"/>
                        </a:spcBef>
                        <a:spcAft>
                          <a:spcPts val="0"/>
                        </a:spcAft>
                      </a:pPr>
                      <a:r>
                        <a:rPr lang="en-US" sz="1800" dirty="0">
                          <a:solidFill>
                            <a:schemeClr val="tx1"/>
                          </a:solidFill>
                          <a:effectLst/>
                        </a:rPr>
                        <a:t>Some mechanisms that provide for communication among the CU, ALU and registers.</a:t>
                      </a:r>
                      <a:endParaRPr lang="en-US" sz="1800" dirty="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5">
                        <a:lumMod val="40000"/>
                        <a:lumOff val="60000"/>
                      </a:schemeClr>
                    </a:solidFill>
                  </a:tcPr>
                </a:tc>
                <a:extLst>
                  <a:ext uri="{0D108BD9-81ED-4DB2-BD59-A6C34878D82A}">
                    <a16:rowId xmlns:a16="http://schemas.microsoft.com/office/drawing/2014/main" val="1035436764"/>
                  </a:ext>
                </a:extLst>
              </a:tr>
            </a:tbl>
          </a:graphicData>
        </a:graphic>
      </p:graphicFrame>
      <p:sp>
        <p:nvSpPr>
          <p:cNvPr id="3" name="Date Placeholder 2">
            <a:extLst>
              <a:ext uri="{FF2B5EF4-FFF2-40B4-BE49-F238E27FC236}">
                <a16:creationId xmlns:a16="http://schemas.microsoft.com/office/drawing/2014/main" id="{B7311309-DCCF-41C4-8294-6D4E45DC7490}"/>
              </a:ext>
            </a:extLst>
          </p:cNvPr>
          <p:cNvSpPr>
            <a:spLocks noGrp="1"/>
          </p:cNvSpPr>
          <p:nvPr>
            <p:ph type="dt" sz="half" idx="10"/>
          </p:nvPr>
        </p:nvSpPr>
        <p:spPr/>
        <p:txBody>
          <a:bodyPr/>
          <a:lstStyle/>
          <a:p>
            <a:fld id="{AD11786C-3F9E-4643-9794-8D4024721903}" type="datetime1">
              <a:rPr lang="en-US" smtClean="0"/>
              <a:t>7/31/2023</a:t>
            </a:fld>
            <a:endParaRPr lang="en-US"/>
          </a:p>
        </p:txBody>
      </p:sp>
      <p:sp>
        <p:nvSpPr>
          <p:cNvPr id="8" name="Slide Number Placeholder 7">
            <a:extLst>
              <a:ext uri="{FF2B5EF4-FFF2-40B4-BE49-F238E27FC236}">
                <a16:creationId xmlns:a16="http://schemas.microsoft.com/office/drawing/2014/main" id="{5B106CC7-53AB-4619-81CE-4BF4E93B4D64}"/>
              </a:ext>
            </a:extLst>
          </p:cNvPr>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37824594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Structural view of Computer System (Contd.)</a:t>
            </a:r>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pic>
        <p:nvPicPr>
          <p:cNvPr id="7" name="Picture 6">
            <a:extLst>
              <a:ext uri="{FF2B5EF4-FFF2-40B4-BE49-F238E27FC236}">
                <a16:creationId xmlns:a16="http://schemas.microsoft.com/office/drawing/2014/main" id="{9DFC381B-254A-46D8-B8F2-41289971B2F6}"/>
              </a:ext>
            </a:extLst>
          </p:cNvPr>
          <p:cNvPicPr/>
          <p:nvPr/>
        </p:nvPicPr>
        <p:blipFill>
          <a:blip r:embed="rId2"/>
          <a:srcRect l="4586" r="2293"/>
          <a:stretch>
            <a:fillRect/>
          </a:stretch>
        </p:blipFill>
        <p:spPr bwMode="auto">
          <a:xfrm>
            <a:off x="5174673" y="666751"/>
            <a:ext cx="3740727" cy="4099288"/>
          </a:xfrm>
          <a:prstGeom prst="rect">
            <a:avLst/>
          </a:prstGeom>
          <a:noFill/>
          <a:ln w="9525">
            <a:noFill/>
            <a:miter lim="800000"/>
            <a:headEnd/>
            <a:tailEnd/>
          </a:ln>
        </p:spPr>
      </p:pic>
      <p:graphicFrame>
        <p:nvGraphicFramePr>
          <p:cNvPr id="9" name="Content Placeholder 8">
            <a:extLst>
              <a:ext uri="{FF2B5EF4-FFF2-40B4-BE49-F238E27FC236}">
                <a16:creationId xmlns:a16="http://schemas.microsoft.com/office/drawing/2014/main" id="{444F8C9D-C39F-4141-8038-C7DCDF3923B7}"/>
              </a:ext>
            </a:extLst>
          </p:cNvPr>
          <p:cNvGraphicFramePr>
            <a:graphicFrameLocks noGrp="1"/>
          </p:cNvGraphicFramePr>
          <p:nvPr>
            <p:ph idx="1"/>
            <p:extLst/>
          </p:nvPr>
        </p:nvGraphicFramePr>
        <p:xfrm>
          <a:off x="533401" y="895350"/>
          <a:ext cx="4343399" cy="3759199"/>
        </p:xfrm>
        <a:graphic>
          <a:graphicData uri="http://schemas.openxmlformats.org/drawingml/2006/table">
            <a:tbl>
              <a:tblPr firstRow="1" firstCol="1" bandRow="1">
                <a:tableStyleId>{5C22544A-7EE6-4342-B048-85BDC9FD1C3A}</a:tableStyleId>
              </a:tblPr>
              <a:tblGrid>
                <a:gridCol w="1369347">
                  <a:extLst>
                    <a:ext uri="{9D8B030D-6E8A-4147-A177-3AD203B41FA5}">
                      <a16:colId xmlns:a16="http://schemas.microsoft.com/office/drawing/2014/main" val="3299413494"/>
                    </a:ext>
                  </a:extLst>
                </a:gridCol>
                <a:gridCol w="2974052">
                  <a:extLst>
                    <a:ext uri="{9D8B030D-6E8A-4147-A177-3AD203B41FA5}">
                      <a16:colId xmlns:a16="http://schemas.microsoft.com/office/drawing/2014/main" val="806183704"/>
                    </a:ext>
                  </a:extLst>
                </a:gridCol>
              </a:tblGrid>
              <a:tr h="1270715">
                <a:tc>
                  <a:txBody>
                    <a:bodyPr/>
                    <a:lstStyle/>
                    <a:p>
                      <a:pPr marL="0" marR="0" algn="just">
                        <a:spcBef>
                          <a:spcPts val="0"/>
                        </a:spcBef>
                        <a:spcAft>
                          <a:spcPts val="0"/>
                        </a:spcAft>
                      </a:pPr>
                      <a:r>
                        <a:rPr lang="en-US" sz="2000">
                          <a:solidFill>
                            <a:schemeClr val="tx1"/>
                          </a:solidFill>
                          <a:effectLst/>
                        </a:rPr>
                        <a:t>Control Memory:</a:t>
                      </a:r>
                      <a:endParaRPr lang="en-US" sz="200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rgbClr val="92D050"/>
                    </a:solidFill>
                  </a:tcPr>
                </a:tc>
                <a:tc>
                  <a:txBody>
                    <a:bodyPr/>
                    <a:lstStyle/>
                    <a:p>
                      <a:pPr marL="0" marR="0" algn="just">
                        <a:spcBef>
                          <a:spcPts val="0"/>
                        </a:spcBef>
                        <a:spcAft>
                          <a:spcPts val="0"/>
                        </a:spcAft>
                      </a:pPr>
                      <a:r>
                        <a:rPr lang="en-US" sz="2000" b="0" dirty="0">
                          <a:solidFill>
                            <a:schemeClr val="tx1"/>
                          </a:solidFill>
                          <a:effectLst/>
                        </a:rPr>
                        <a:t>The registers which store data related to control operation.</a:t>
                      </a:r>
                    </a:p>
                    <a:p>
                      <a:pPr marL="0" marR="0" algn="just">
                        <a:spcBef>
                          <a:spcPts val="0"/>
                        </a:spcBef>
                        <a:spcAft>
                          <a:spcPts val="0"/>
                        </a:spcAft>
                      </a:pPr>
                      <a:r>
                        <a:rPr lang="en-US" sz="2000" dirty="0">
                          <a:solidFill>
                            <a:schemeClr val="tx1"/>
                          </a:solidFill>
                          <a:effectLst/>
                        </a:rPr>
                        <a:t> </a:t>
                      </a:r>
                      <a:endParaRPr lang="en-US" sz="2000" dirty="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rgbClr val="92D050"/>
                    </a:solidFill>
                  </a:tcPr>
                </a:tc>
                <a:extLst>
                  <a:ext uri="{0D108BD9-81ED-4DB2-BD59-A6C34878D82A}">
                    <a16:rowId xmlns:a16="http://schemas.microsoft.com/office/drawing/2014/main" val="230153056"/>
                  </a:ext>
                </a:extLst>
              </a:tr>
              <a:tr h="1217769">
                <a:tc>
                  <a:txBody>
                    <a:bodyPr/>
                    <a:lstStyle/>
                    <a:p>
                      <a:pPr marL="0" marR="0" algn="just">
                        <a:spcBef>
                          <a:spcPts val="0"/>
                        </a:spcBef>
                        <a:spcAft>
                          <a:spcPts val="0"/>
                        </a:spcAft>
                      </a:pPr>
                      <a:r>
                        <a:rPr lang="en-US" sz="2000">
                          <a:solidFill>
                            <a:schemeClr val="tx1"/>
                          </a:solidFill>
                          <a:effectLst/>
                        </a:rPr>
                        <a:t>Sequential Logic:</a:t>
                      </a:r>
                      <a:endParaRPr lang="en-US" sz="200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rgbClr val="92D050"/>
                    </a:solidFill>
                  </a:tcPr>
                </a:tc>
                <a:tc>
                  <a:txBody>
                    <a:bodyPr/>
                    <a:lstStyle/>
                    <a:p>
                      <a:pPr marL="0" marR="0" algn="just">
                        <a:spcBef>
                          <a:spcPts val="0"/>
                        </a:spcBef>
                        <a:spcAft>
                          <a:spcPts val="0"/>
                        </a:spcAft>
                      </a:pPr>
                      <a:r>
                        <a:rPr lang="en-US" sz="2000" dirty="0">
                          <a:solidFill>
                            <a:schemeClr val="tx1"/>
                          </a:solidFill>
                          <a:effectLst/>
                        </a:rPr>
                        <a:t>Digital circuit whose output depends on current input and state of circuit.</a:t>
                      </a:r>
                      <a:endParaRPr lang="en-US" sz="2000" dirty="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rgbClr val="92D050"/>
                    </a:solidFill>
                  </a:tcPr>
                </a:tc>
                <a:extLst>
                  <a:ext uri="{0D108BD9-81ED-4DB2-BD59-A6C34878D82A}">
                    <a16:rowId xmlns:a16="http://schemas.microsoft.com/office/drawing/2014/main" val="223419282"/>
                  </a:ext>
                </a:extLst>
              </a:tr>
              <a:tr h="1270715">
                <a:tc>
                  <a:txBody>
                    <a:bodyPr/>
                    <a:lstStyle/>
                    <a:p>
                      <a:pPr marL="0" marR="0" algn="just">
                        <a:spcBef>
                          <a:spcPts val="0"/>
                        </a:spcBef>
                        <a:spcAft>
                          <a:spcPts val="0"/>
                        </a:spcAft>
                      </a:pPr>
                      <a:r>
                        <a:rPr lang="en-US" sz="2000">
                          <a:solidFill>
                            <a:schemeClr val="tx1"/>
                          </a:solidFill>
                          <a:effectLst/>
                        </a:rPr>
                        <a:t>CU register &amp; decoder:</a:t>
                      </a:r>
                      <a:endParaRPr lang="en-US" sz="200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rgbClr val="92D050"/>
                    </a:solidFill>
                  </a:tcPr>
                </a:tc>
                <a:tc>
                  <a:txBody>
                    <a:bodyPr/>
                    <a:lstStyle/>
                    <a:p>
                      <a:pPr marL="0" marR="0" algn="just">
                        <a:spcBef>
                          <a:spcPts val="0"/>
                        </a:spcBef>
                        <a:spcAft>
                          <a:spcPts val="0"/>
                        </a:spcAft>
                      </a:pPr>
                      <a:r>
                        <a:rPr lang="en-US" sz="2000" dirty="0">
                          <a:solidFill>
                            <a:schemeClr val="tx1"/>
                          </a:solidFill>
                          <a:effectLst/>
                        </a:rPr>
                        <a:t>Performs storage and interpretation of the instruction.</a:t>
                      </a:r>
                    </a:p>
                    <a:p>
                      <a:pPr marL="0" marR="0" algn="just">
                        <a:spcBef>
                          <a:spcPts val="0"/>
                        </a:spcBef>
                        <a:spcAft>
                          <a:spcPts val="0"/>
                        </a:spcAft>
                      </a:pPr>
                      <a:r>
                        <a:rPr lang="en-US" sz="2000" dirty="0">
                          <a:solidFill>
                            <a:schemeClr val="tx1"/>
                          </a:solidFill>
                          <a:effectLst/>
                        </a:rPr>
                        <a:t> </a:t>
                      </a:r>
                      <a:endParaRPr lang="en-US" sz="2000" dirty="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rgbClr val="92D050"/>
                    </a:solidFill>
                  </a:tcPr>
                </a:tc>
                <a:extLst>
                  <a:ext uri="{0D108BD9-81ED-4DB2-BD59-A6C34878D82A}">
                    <a16:rowId xmlns:a16="http://schemas.microsoft.com/office/drawing/2014/main" val="1688400877"/>
                  </a:ext>
                </a:extLst>
              </a:tr>
            </a:tbl>
          </a:graphicData>
        </a:graphic>
      </p:graphicFrame>
      <p:sp>
        <p:nvSpPr>
          <p:cNvPr id="3" name="Date Placeholder 2">
            <a:extLst>
              <a:ext uri="{FF2B5EF4-FFF2-40B4-BE49-F238E27FC236}">
                <a16:creationId xmlns:a16="http://schemas.microsoft.com/office/drawing/2014/main" id="{E83C96BA-7D31-4C7C-8214-36CD51CA3066}"/>
              </a:ext>
            </a:extLst>
          </p:cNvPr>
          <p:cNvSpPr>
            <a:spLocks noGrp="1"/>
          </p:cNvSpPr>
          <p:nvPr>
            <p:ph type="dt" sz="half" idx="10"/>
          </p:nvPr>
        </p:nvSpPr>
        <p:spPr/>
        <p:txBody>
          <a:bodyPr/>
          <a:lstStyle/>
          <a:p>
            <a:fld id="{6F8E72AA-39AC-4311-9E85-C99A9D88FF09}" type="datetime1">
              <a:rPr lang="en-US" smtClean="0"/>
              <a:t>7/31/2023</a:t>
            </a:fld>
            <a:endParaRPr lang="en-US"/>
          </a:p>
        </p:txBody>
      </p:sp>
      <p:sp>
        <p:nvSpPr>
          <p:cNvPr id="8" name="Slide Number Placeholder 7">
            <a:extLst>
              <a:ext uri="{FF2B5EF4-FFF2-40B4-BE49-F238E27FC236}">
                <a16:creationId xmlns:a16="http://schemas.microsoft.com/office/drawing/2014/main" id="{1CB830DD-D26C-4CDA-BAD1-9BE34664E7A8}"/>
              </a:ext>
            </a:extLst>
          </p:cNvPr>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26090498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2. System Buses</a:t>
            </a:r>
          </a:p>
        </p:txBody>
      </p:sp>
      <p:sp>
        <p:nvSpPr>
          <p:cNvPr id="3" name="Content Placeholder 2"/>
          <p:cNvSpPr>
            <a:spLocks noGrp="1"/>
          </p:cNvSpPr>
          <p:nvPr>
            <p:ph idx="1"/>
          </p:nvPr>
        </p:nvSpPr>
        <p:spPr>
          <a:xfrm>
            <a:off x="457200" y="742950"/>
            <a:ext cx="8229600" cy="3851673"/>
          </a:xfrm>
          <a:solidFill>
            <a:schemeClr val="accent3">
              <a:lumMod val="20000"/>
              <a:lumOff val="80000"/>
            </a:schemeClr>
          </a:solidFill>
        </p:spPr>
        <p:txBody>
          <a:bodyPr>
            <a:normAutofit fontScale="70000" lnSpcReduction="20000"/>
          </a:bodyPr>
          <a:lstStyle/>
          <a:p>
            <a:r>
              <a:rPr lang="en-US" dirty="0"/>
              <a:t>Physically, a bus is a set of wires. </a:t>
            </a:r>
          </a:p>
          <a:p>
            <a:r>
              <a:rPr lang="en-US" dirty="0"/>
              <a:t>The components of the computer are connected to the buses. </a:t>
            </a:r>
          </a:p>
          <a:p>
            <a:r>
              <a:rPr lang="en-US" dirty="0"/>
              <a:t>To send information form one component to another, the source component outputs data onto the bus. </a:t>
            </a:r>
          </a:p>
          <a:p>
            <a:r>
              <a:rPr lang="en-US" dirty="0"/>
              <a:t>The destination component then inputs this data from the bus. </a:t>
            </a:r>
          </a:p>
          <a:p>
            <a:r>
              <a:rPr lang="en-US" dirty="0"/>
              <a:t>As the complexity of a computer system increases, it becomes more efficient at using buses rather than direct connections between every pair of devices. </a:t>
            </a:r>
          </a:p>
          <a:p>
            <a:r>
              <a:rPr lang="en-US" dirty="0"/>
              <a:t>Buses use less space on a circuit board and require less power than a large number of direct connections. </a:t>
            </a:r>
          </a:p>
          <a:p>
            <a:r>
              <a:rPr lang="en-US" dirty="0"/>
              <a:t>They also require fewer pins on the chip or chips that comprise the CPU.</a:t>
            </a:r>
          </a:p>
          <a:p>
            <a:endParaRPr lang="en-US" sz="200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sp>
        <p:nvSpPr>
          <p:cNvPr id="7" name="Date Placeholder 6">
            <a:extLst>
              <a:ext uri="{FF2B5EF4-FFF2-40B4-BE49-F238E27FC236}">
                <a16:creationId xmlns:a16="http://schemas.microsoft.com/office/drawing/2014/main" id="{D446A805-7D76-48E5-9235-E8AEBCEE7C8A}"/>
              </a:ext>
            </a:extLst>
          </p:cNvPr>
          <p:cNvSpPr>
            <a:spLocks noGrp="1"/>
          </p:cNvSpPr>
          <p:nvPr>
            <p:ph type="dt" sz="half" idx="10"/>
          </p:nvPr>
        </p:nvSpPr>
        <p:spPr/>
        <p:txBody>
          <a:bodyPr/>
          <a:lstStyle/>
          <a:p>
            <a:fld id="{7BC5C3FF-B139-4692-B090-A412D9052F6B}" type="datetime1">
              <a:rPr lang="en-US" smtClean="0"/>
              <a:t>7/31/2023</a:t>
            </a:fld>
            <a:endParaRPr lang="en-US"/>
          </a:p>
        </p:txBody>
      </p:sp>
      <p:sp>
        <p:nvSpPr>
          <p:cNvPr id="8" name="Slide Number Placeholder 7">
            <a:extLst>
              <a:ext uri="{FF2B5EF4-FFF2-40B4-BE49-F238E27FC236}">
                <a16:creationId xmlns:a16="http://schemas.microsoft.com/office/drawing/2014/main" id="{0C5DC7E8-F805-4C8C-AD13-22E3AEFE7D81}"/>
              </a:ext>
            </a:extLst>
          </p:cNvPr>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5243609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2. System Buses (Contd.)</a:t>
            </a:r>
          </a:p>
        </p:txBody>
      </p:sp>
      <p:sp>
        <p:nvSpPr>
          <p:cNvPr id="3" name="Content Placeholder 2"/>
          <p:cNvSpPr>
            <a:spLocks noGrp="1"/>
          </p:cNvSpPr>
          <p:nvPr>
            <p:ph idx="1"/>
          </p:nvPr>
        </p:nvSpPr>
        <p:spPr>
          <a:xfrm>
            <a:off x="457200" y="742950"/>
            <a:ext cx="7924800" cy="3851673"/>
          </a:xfrm>
          <a:solidFill>
            <a:schemeClr val="accent3">
              <a:lumMod val="20000"/>
              <a:lumOff val="80000"/>
            </a:schemeClr>
          </a:solidFill>
        </p:spPr>
        <p:txBody>
          <a:bodyPr>
            <a:normAutofit fontScale="62500" lnSpcReduction="20000"/>
          </a:bodyPr>
          <a:lstStyle/>
          <a:p>
            <a:r>
              <a:rPr lang="en-US" dirty="0"/>
              <a:t>It is a shared transmission medium. Multiple devices connect to the bus, and a signal transmitted by one device is available for reception by all other devices attached to the bus. </a:t>
            </a:r>
          </a:p>
          <a:p>
            <a:r>
              <a:rPr lang="en-US" dirty="0"/>
              <a:t>If two devices transmit during the same time period, their signals will overlap and become garbled. </a:t>
            </a:r>
          </a:p>
          <a:p>
            <a:r>
              <a:rPr lang="en-US" dirty="0"/>
              <a:t>Thus, only one device, at a time, can successfully transmit.</a:t>
            </a:r>
          </a:p>
          <a:p>
            <a:r>
              <a:rPr lang="en-US" dirty="0"/>
              <a:t>Typically, a bus consists of multiple communication pathways or lines. </a:t>
            </a:r>
          </a:p>
          <a:p>
            <a:r>
              <a:rPr lang="en-US" dirty="0"/>
              <a:t>Each line is capable of transmitting signals representing binary 1 or 0. </a:t>
            </a:r>
          </a:p>
          <a:p>
            <a:r>
              <a:rPr lang="en-US" dirty="0"/>
              <a:t>An 8-bit unit of data can be transmitted over eight bus lines. </a:t>
            </a:r>
          </a:p>
          <a:p>
            <a:r>
              <a:rPr lang="en-US" dirty="0"/>
              <a:t>A bus that connects major computer components (processor, memory, IO) is called a system bus.</a:t>
            </a:r>
          </a:p>
          <a:p>
            <a:endParaRPr lang="en-US" sz="200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sp>
        <p:nvSpPr>
          <p:cNvPr id="7" name="Date Placeholder 6">
            <a:extLst>
              <a:ext uri="{FF2B5EF4-FFF2-40B4-BE49-F238E27FC236}">
                <a16:creationId xmlns:a16="http://schemas.microsoft.com/office/drawing/2014/main" id="{606C4324-4869-4E49-824D-F30D34F3FE32}"/>
              </a:ext>
            </a:extLst>
          </p:cNvPr>
          <p:cNvSpPr>
            <a:spLocks noGrp="1"/>
          </p:cNvSpPr>
          <p:nvPr>
            <p:ph type="dt" sz="half" idx="10"/>
          </p:nvPr>
        </p:nvSpPr>
        <p:spPr/>
        <p:txBody>
          <a:bodyPr/>
          <a:lstStyle/>
          <a:p>
            <a:fld id="{0C12B086-6536-4DAF-BDFB-29B40522FBA8}" type="datetime1">
              <a:rPr lang="en-US" smtClean="0"/>
              <a:t>7/31/2023</a:t>
            </a:fld>
            <a:endParaRPr lang="en-US"/>
          </a:p>
        </p:txBody>
      </p:sp>
      <p:sp>
        <p:nvSpPr>
          <p:cNvPr id="8" name="Slide Number Placeholder 7">
            <a:extLst>
              <a:ext uri="{FF2B5EF4-FFF2-40B4-BE49-F238E27FC236}">
                <a16:creationId xmlns:a16="http://schemas.microsoft.com/office/drawing/2014/main" id="{C2660843-AD08-469E-B785-A41797F2AADB}"/>
              </a:ext>
            </a:extLst>
          </p:cNvPr>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21210917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2. System Buses (Contd.)</a:t>
            </a:r>
          </a:p>
        </p:txBody>
      </p:sp>
      <p:graphicFrame>
        <p:nvGraphicFramePr>
          <p:cNvPr id="8" name="Content Placeholder 7">
            <a:extLst>
              <a:ext uri="{FF2B5EF4-FFF2-40B4-BE49-F238E27FC236}">
                <a16:creationId xmlns:a16="http://schemas.microsoft.com/office/drawing/2014/main" id="{4846F69D-A1C1-4E45-9A0D-B2A30A0EEC6D}"/>
              </a:ext>
            </a:extLst>
          </p:cNvPr>
          <p:cNvGraphicFramePr>
            <a:graphicFrameLocks noGrp="1"/>
          </p:cNvGraphicFramePr>
          <p:nvPr>
            <p:ph idx="1"/>
            <p:extLst/>
          </p:nvPr>
        </p:nvGraphicFramePr>
        <p:xfrm>
          <a:off x="457200" y="866061"/>
          <a:ext cx="4267201" cy="3458290"/>
        </p:xfrm>
        <a:graphic>
          <a:graphicData uri="http://schemas.openxmlformats.org/drawingml/2006/table">
            <a:tbl>
              <a:tblPr firstRow="1" firstCol="1" bandRow="1">
                <a:tableStyleId>{5C22544A-7EE6-4342-B048-85BDC9FD1C3A}</a:tableStyleId>
              </a:tblPr>
              <a:tblGrid>
                <a:gridCol w="756745">
                  <a:extLst>
                    <a:ext uri="{9D8B030D-6E8A-4147-A177-3AD203B41FA5}">
                      <a16:colId xmlns:a16="http://schemas.microsoft.com/office/drawing/2014/main" val="370810971"/>
                    </a:ext>
                  </a:extLst>
                </a:gridCol>
                <a:gridCol w="3510456">
                  <a:extLst>
                    <a:ext uri="{9D8B030D-6E8A-4147-A177-3AD203B41FA5}">
                      <a16:colId xmlns:a16="http://schemas.microsoft.com/office/drawing/2014/main" val="2077539314"/>
                    </a:ext>
                  </a:extLst>
                </a:gridCol>
              </a:tblGrid>
              <a:tr h="691658">
                <a:tc>
                  <a:txBody>
                    <a:bodyPr/>
                    <a:lstStyle/>
                    <a:p>
                      <a:pPr marL="0" marR="0" algn="just">
                        <a:spcBef>
                          <a:spcPts val="0"/>
                        </a:spcBef>
                        <a:spcAft>
                          <a:spcPts val="0"/>
                        </a:spcAft>
                      </a:pPr>
                      <a:r>
                        <a:rPr lang="en-US" sz="1400">
                          <a:solidFill>
                            <a:schemeClr val="tx1"/>
                          </a:solidFill>
                          <a:effectLst/>
                        </a:rPr>
                        <a:t>Data Lines</a:t>
                      </a:r>
                      <a:endParaRPr lang="en-US" sz="140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5">
                        <a:lumMod val="40000"/>
                        <a:lumOff val="60000"/>
                      </a:schemeClr>
                    </a:solidFill>
                  </a:tcPr>
                </a:tc>
                <a:tc>
                  <a:txBody>
                    <a:bodyPr/>
                    <a:lstStyle/>
                    <a:p>
                      <a:pPr marL="0" marR="0" algn="just">
                        <a:spcBef>
                          <a:spcPts val="0"/>
                        </a:spcBef>
                        <a:spcAft>
                          <a:spcPts val="0"/>
                        </a:spcAft>
                      </a:pPr>
                      <a:r>
                        <a:rPr lang="en-US" sz="1400" b="0" dirty="0">
                          <a:solidFill>
                            <a:schemeClr val="tx1"/>
                          </a:solidFill>
                          <a:effectLst/>
                        </a:rPr>
                        <a:t>The data lines provide a path for moving data among system modules. These lines, collectively, are called the data bus.</a:t>
                      </a:r>
                      <a:endParaRPr lang="en-US" sz="1400" b="0" dirty="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5">
                        <a:lumMod val="40000"/>
                        <a:lumOff val="60000"/>
                      </a:schemeClr>
                    </a:solidFill>
                  </a:tcPr>
                </a:tc>
                <a:extLst>
                  <a:ext uri="{0D108BD9-81ED-4DB2-BD59-A6C34878D82A}">
                    <a16:rowId xmlns:a16="http://schemas.microsoft.com/office/drawing/2014/main" val="2298032913"/>
                  </a:ext>
                </a:extLst>
              </a:tr>
              <a:tr h="691658">
                <a:tc>
                  <a:txBody>
                    <a:bodyPr/>
                    <a:lstStyle/>
                    <a:p>
                      <a:pPr marL="0" marR="0" algn="just">
                        <a:spcBef>
                          <a:spcPts val="0"/>
                        </a:spcBef>
                        <a:spcAft>
                          <a:spcPts val="0"/>
                        </a:spcAft>
                      </a:pPr>
                      <a:r>
                        <a:rPr lang="en-US" sz="1400">
                          <a:solidFill>
                            <a:schemeClr val="tx1"/>
                          </a:solidFill>
                          <a:effectLst/>
                        </a:rPr>
                        <a:t>Address Lines</a:t>
                      </a:r>
                      <a:endParaRPr lang="en-US" sz="140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5">
                        <a:lumMod val="40000"/>
                        <a:lumOff val="60000"/>
                      </a:schemeClr>
                    </a:solidFill>
                  </a:tcPr>
                </a:tc>
                <a:tc>
                  <a:txBody>
                    <a:bodyPr/>
                    <a:lstStyle/>
                    <a:p>
                      <a:pPr marL="0" marR="0" algn="just">
                        <a:spcBef>
                          <a:spcPts val="0"/>
                        </a:spcBef>
                        <a:spcAft>
                          <a:spcPts val="0"/>
                        </a:spcAft>
                      </a:pPr>
                      <a:r>
                        <a:rPr lang="en-US" sz="1400" dirty="0">
                          <a:solidFill>
                            <a:schemeClr val="tx1"/>
                          </a:solidFill>
                          <a:effectLst/>
                        </a:rPr>
                        <a:t>The address lines are used to designate the source or destination of the data on the data bus.</a:t>
                      </a:r>
                      <a:endParaRPr lang="en-US" sz="1400" dirty="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5">
                        <a:lumMod val="40000"/>
                        <a:lumOff val="60000"/>
                      </a:schemeClr>
                    </a:solidFill>
                  </a:tcPr>
                </a:tc>
                <a:extLst>
                  <a:ext uri="{0D108BD9-81ED-4DB2-BD59-A6C34878D82A}">
                    <a16:rowId xmlns:a16="http://schemas.microsoft.com/office/drawing/2014/main" val="646269627"/>
                  </a:ext>
                </a:extLst>
              </a:tr>
              <a:tr h="2074974">
                <a:tc>
                  <a:txBody>
                    <a:bodyPr/>
                    <a:lstStyle/>
                    <a:p>
                      <a:pPr marL="0" marR="0" algn="just">
                        <a:spcBef>
                          <a:spcPts val="0"/>
                        </a:spcBef>
                        <a:spcAft>
                          <a:spcPts val="0"/>
                        </a:spcAft>
                      </a:pPr>
                      <a:r>
                        <a:rPr lang="en-US" sz="1400">
                          <a:solidFill>
                            <a:schemeClr val="tx1"/>
                          </a:solidFill>
                          <a:effectLst/>
                        </a:rPr>
                        <a:t>Control Lines</a:t>
                      </a:r>
                      <a:endParaRPr lang="en-US" sz="140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5">
                        <a:lumMod val="40000"/>
                        <a:lumOff val="60000"/>
                      </a:schemeClr>
                    </a:solidFill>
                  </a:tcPr>
                </a:tc>
                <a:tc>
                  <a:txBody>
                    <a:bodyPr/>
                    <a:lstStyle/>
                    <a:p>
                      <a:pPr marL="0" marR="0" algn="just">
                        <a:spcBef>
                          <a:spcPts val="0"/>
                        </a:spcBef>
                        <a:spcAft>
                          <a:spcPts val="0"/>
                        </a:spcAft>
                      </a:pPr>
                      <a:r>
                        <a:rPr lang="en-US" sz="1400" dirty="0">
                          <a:solidFill>
                            <a:schemeClr val="tx1"/>
                          </a:solidFill>
                          <a:effectLst/>
                        </a:rPr>
                        <a:t>The control lines are used to control the access to and the use of the data and address lines. </a:t>
                      </a:r>
                    </a:p>
                    <a:p>
                      <a:pPr marL="0" marR="0" algn="just">
                        <a:spcBef>
                          <a:spcPts val="0"/>
                        </a:spcBef>
                        <a:spcAft>
                          <a:spcPts val="0"/>
                        </a:spcAft>
                      </a:pPr>
                      <a:r>
                        <a:rPr lang="en-US" sz="1400" dirty="0">
                          <a:solidFill>
                            <a:schemeClr val="tx1"/>
                          </a:solidFill>
                          <a:effectLst/>
                        </a:rPr>
                        <a:t>Control signals transmit both command and timing information among system modules. </a:t>
                      </a:r>
                    </a:p>
                    <a:p>
                      <a:pPr marL="457200" marR="0" indent="-285750" algn="just">
                        <a:spcBef>
                          <a:spcPts val="0"/>
                        </a:spcBef>
                        <a:spcAft>
                          <a:spcPts val="0"/>
                        </a:spcAft>
                        <a:buFont typeface="Arial" panose="020B0604020202020204" pitchFamily="34" charset="0"/>
                        <a:buChar char="•"/>
                      </a:pPr>
                      <a:r>
                        <a:rPr lang="en-US" sz="1400" dirty="0">
                          <a:solidFill>
                            <a:schemeClr val="tx1"/>
                          </a:solidFill>
                          <a:effectLst/>
                        </a:rPr>
                        <a:t>Timing signals indicate the validity of data and address information. </a:t>
                      </a:r>
                    </a:p>
                    <a:p>
                      <a:pPr marL="457200" marR="0" indent="-285750" algn="just">
                        <a:spcBef>
                          <a:spcPts val="0"/>
                        </a:spcBef>
                        <a:spcAft>
                          <a:spcPts val="0"/>
                        </a:spcAft>
                        <a:buFont typeface="Arial" panose="020B0604020202020204" pitchFamily="34" charset="0"/>
                        <a:buChar char="•"/>
                      </a:pPr>
                      <a:r>
                        <a:rPr lang="en-US" sz="1400" dirty="0">
                          <a:solidFill>
                            <a:schemeClr val="tx1"/>
                          </a:solidFill>
                          <a:effectLst/>
                        </a:rPr>
                        <a:t>Command signals specify operation to be performed.</a:t>
                      </a:r>
                      <a:endParaRPr lang="en-US" sz="1400" dirty="0">
                        <a:solidFill>
                          <a:schemeClr val="tx1"/>
                        </a:solidFill>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solidFill>
                      <a:schemeClr val="accent5">
                        <a:lumMod val="40000"/>
                        <a:lumOff val="60000"/>
                      </a:schemeClr>
                    </a:solidFill>
                  </a:tcPr>
                </a:tc>
                <a:extLst>
                  <a:ext uri="{0D108BD9-81ED-4DB2-BD59-A6C34878D82A}">
                    <a16:rowId xmlns:a16="http://schemas.microsoft.com/office/drawing/2014/main" val="2130142832"/>
                  </a:ext>
                </a:extLst>
              </a:tr>
            </a:tbl>
          </a:graphicData>
        </a:graphic>
      </p:graphicFrame>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pic>
        <p:nvPicPr>
          <p:cNvPr id="7" name="Picture 6">
            <a:extLst>
              <a:ext uri="{FF2B5EF4-FFF2-40B4-BE49-F238E27FC236}">
                <a16:creationId xmlns:a16="http://schemas.microsoft.com/office/drawing/2014/main" id="{8057292F-3A18-499E-882D-122985B6CBE6}"/>
              </a:ext>
            </a:extLst>
          </p:cNvPr>
          <p:cNvPicPr/>
          <p:nvPr/>
        </p:nvPicPr>
        <p:blipFill>
          <a:blip r:embed="rId2"/>
          <a:srcRect b="5692"/>
          <a:stretch>
            <a:fillRect/>
          </a:stretch>
        </p:blipFill>
        <p:spPr bwMode="auto">
          <a:xfrm>
            <a:off x="4876800" y="866060"/>
            <a:ext cx="4267200" cy="2209800"/>
          </a:xfrm>
          <a:prstGeom prst="rect">
            <a:avLst/>
          </a:prstGeom>
          <a:noFill/>
          <a:ln w="9525">
            <a:noFill/>
            <a:miter lim="800000"/>
            <a:headEnd/>
            <a:tailEnd/>
          </a:ln>
        </p:spPr>
      </p:pic>
      <p:sp>
        <p:nvSpPr>
          <p:cNvPr id="3" name="Date Placeholder 2">
            <a:extLst>
              <a:ext uri="{FF2B5EF4-FFF2-40B4-BE49-F238E27FC236}">
                <a16:creationId xmlns:a16="http://schemas.microsoft.com/office/drawing/2014/main" id="{04AC1AB2-D084-421D-8193-82007C791653}"/>
              </a:ext>
            </a:extLst>
          </p:cNvPr>
          <p:cNvSpPr>
            <a:spLocks noGrp="1"/>
          </p:cNvSpPr>
          <p:nvPr>
            <p:ph type="dt" sz="half" idx="10"/>
          </p:nvPr>
        </p:nvSpPr>
        <p:spPr/>
        <p:txBody>
          <a:bodyPr/>
          <a:lstStyle/>
          <a:p>
            <a:fld id="{092E847B-2C33-4D55-AE30-059B1EEE20F4}" type="datetime1">
              <a:rPr lang="en-US" smtClean="0"/>
              <a:t>7/31/2023</a:t>
            </a:fld>
            <a:endParaRPr lang="en-US"/>
          </a:p>
        </p:txBody>
      </p:sp>
      <p:sp>
        <p:nvSpPr>
          <p:cNvPr id="9" name="Slide Number Placeholder 8">
            <a:extLst>
              <a:ext uri="{FF2B5EF4-FFF2-40B4-BE49-F238E27FC236}">
                <a16:creationId xmlns:a16="http://schemas.microsoft.com/office/drawing/2014/main" id="{A2163B46-3D48-42D0-9D36-089E7E33C621}"/>
              </a:ext>
            </a:extLst>
          </p:cNvPr>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28706498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3. Instruction Cycle</a:t>
            </a:r>
          </a:p>
        </p:txBody>
      </p:sp>
      <p:sp>
        <p:nvSpPr>
          <p:cNvPr id="3" name="Content Placeholder 2"/>
          <p:cNvSpPr>
            <a:spLocks noGrp="1"/>
          </p:cNvSpPr>
          <p:nvPr>
            <p:ph idx="1"/>
          </p:nvPr>
        </p:nvSpPr>
        <p:spPr>
          <a:xfrm>
            <a:off x="457200" y="742950"/>
            <a:ext cx="8229600" cy="3851673"/>
          </a:xfrm>
          <a:solidFill>
            <a:schemeClr val="bg1">
              <a:lumMod val="95000"/>
            </a:schemeClr>
          </a:solidFill>
        </p:spPr>
        <p:txBody>
          <a:bodyPr>
            <a:normAutofit/>
          </a:bodyPr>
          <a:lstStyle/>
          <a:p>
            <a:endParaRPr lang="en-US" sz="200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pic>
        <p:nvPicPr>
          <p:cNvPr id="7" name="Picture 6">
            <a:extLst>
              <a:ext uri="{FF2B5EF4-FFF2-40B4-BE49-F238E27FC236}">
                <a16:creationId xmlns:a16="http://schemas.microsoft.com/office/drawing/2014/main" id="{C0CF66BC-67EA-4EA6-AED7-17F9A5480018}"/>
              </a:ext>
            </a:extLst>
          </p:cNvPr>
          <p:cNvPicPr/>
          <p:nvPr/>
        </p:nvPicPr>
        <p:blipFill>
          <a:blip r:embed="rId2"/>
          <a:stretch>
            <a:fillRect/>
          </a:stretch>
        </p:blipFill>
        <p:spPr>
          <a:xfrm>
            <a:off x="1295400" y="1331953"/>
            <a:ext cx="7010400" cy="2209800"/>
          </a:xfrm>
          <a:prstGeom prst="rect">
            <a:avLst/>
          </a:prstGeom>
        </p:spPr>
      </p:pic>
      <p:sp>
        <p:nvSpPr>
          <p:cNvPr id="8" name="Date Placeholder 7">
            <a:extLst>
              <a:ext uri="{FF2B5EF4-FFF2-40B4-BE49-F238E27FC236}">
                <a16:creationId xmlns:a16="http://schemas.microsoft.com/office/drawing/2014/main" id="{9D566510-3E68-48A3-9821-3A6275471FC9}"/>
              </a:ext>
            </a:extLst>
          </p:cNvPr>
          <p:cNvSpPr>
            <a:spLocks noGrp="1"/>
          </p:cNvSpPr>
          <p:nvPr>
            <p:ph type="dt" sz="half" idx="10"/>
          </p:nvPr>
        </p:nvSpPr>
        <p:spPr/>
        <p:txBody>
          <a:bodyPr/>
          <a:lstStyle/>
          <a:p>
            <a:fld id="{ED72C473-80AE-4542-B4C7-D923A8050AA4}" type="datetime1">
              <a:rPr lang="en-US" smtClean="0"/>
              <a:t>7/31/2023</a:t>
            </a:fld>
            <a:endParaRPr lang="en-US"/>
          </a:p>
        </p:txBody>
      </p:sp>
      <p:sp>
        <p:nvSpPr>
          <p:cNvPr id="9" name="Slide Number Placeholder 8">
            <a:extLst>
              <a:ext uri="{FF2B5EF4-FFF2-40B4-BE49-F238E27FC236}">
                <a16:creationId xmlns:a16="http://schemas.microsoft.com/office/drawing/2014/main" id="{42A03877-DC3E-408C-9CC2-613E2356D8AF}"/>
              </a:ext>
            </a:extLst>
          </p:cNvPr>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19543511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D263512-2E45-46B5-8D52-0433CA29775A}"/>
              </a:ext>
            </a:extLst>
          </p:cNvPr>
          <p:cNvPicPr/>
          <p:nvPr/>
        </p:nvPicPr>
        <p:blipFill>
          <a:blip r:embed="rId2"/>
          <a:stretch>
            <a:fillRect/>
          </a:stretch>
        </p:blipFill>
        <p:spPr>
          <a:xfrm>
            <a:off x="4936490" y="44133"/>
            <a:ext cx="3719830" cy="1321435"/>
          </a:xfrm>
          <a:prstGeom prst="rect">
            <a:avLst/>
          </a:prstGeom>
        </p:spPr>
      </p:pic>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3. Instruction Cycle (Contd.)</a:t>
            </a:r>
          </a:p>
        </p:txBody>
      </p:sp>
      <p:sp>
        <p:nvSpPr>
          <p:cNvPr id="3" name="Content Placeholder 2"/>
          <p:cNvSpPr>
            <a:spLocks noGrp="1"/>
          </p:cNvSpPr>
          <p:nvPr>
            <p:ph idx="1"/>
          </p:nvPr>
        </p:nvSpPr>
        <p:spPr>
          <a:xfrm>
            <a:off x="457200" y="1365568"/>
            <a:ext cx="8229600" cy="3229055"/>
          </a:xfrm>
          <a:solidFill>
            <a:schemeClr val="accent2">
              <a:lumMod val="20000"/>
              <a:lumOff val="80000"/>
            </a:schemeClr>
          </a:solidFill>
        </p:spPr>
        <p:txBody>
          <a:bodyPr>
            <a:normAutofit fontScale="70000" lnSpcReduction="20000"/>
          </a:bodyPr>
          <a:lstStyle/>
          <a:p>
            <a:r>
              <a:rPr lang="en-US" dirty="0"/>
              <a:t>The instruction cycle is the procedure a microprocessor goes through to process an instruction.</a:t>
            </a:r>
          </a:p>
          <a:p>
            <a:r>
              <a:rPr lang="en-US" dirty="0"/>
              <a:t>First the microprocessor </a:t>
            </a:r>
            <a:r>
              <a:rPr lang="en-US" b="1" dirty="0"/>
              <a:t>fetches</a:t>
            </a:r>
            <a:r>
              <a:rPr lang="en-US" dirty="0"/>
              <a:t> or reads, the instruction from memory. </a:t>
            </a:r>
          </a:p>
          <a:p>
            <a:r>
              <a:rPr lang="en-US" dirty="0"/>
              <a:t>Then it </a:t>
            </a:r>
            <a:r>
              <a:rPr lang="en-US" b="1" dirty="0"/>
              <a:t>decodes</a:t>
            </a:r>
            <a:r>
              <a:rPr lang="en-US" dirty="0"/>
              <a:t> the instruction, determining which instruction it has fetched. </a:t>
            </a:r>
          </a:p>
          <a:p>
            <a:r>
              <a:rPr lang="en-US" dirty="0"/>
              <a:t>Finally, it performs the operations necessary to </a:t>
            </a:r>
            <a:r>
              <a:rPr lang="en-US" b="1" dirty="0"/>
              <a:t>execute</a:t>
            </a:r>
            <a:r>
              <a:rPr lang="en-US" dirty="0"/>
              <a:t> the instruction.</a:t>
            </a:r>
          </a:p>
          <a:p>
            <a:r>
              <a:rPr lang="en-US" dirty="0"/>
              <a:t>Each of these functions- fetch, decode and execute- consists of a sequence of one or more operations.</a:t>
            </a:r>
          </a:p>
          <a:p>
            <a:endParaRPr lang="en-US" sz="200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sp>
        <p:nvSpPr>
          <p:cNvPr id="8" name="Date Placeholder 7">
            <a:extLst>
              <a:ext uri="{FF2B5EF4-FFF2-40B4-BE49-F238E27FC236}">
                <a16:creationId xmlns:a16="http://schemas.microsoft.com/office/drawing/2014/main" id="{DB4C1326-0F93-47C9-A3B6-F72EA9494B7B}"/>
              </a:ext>
            </a:extLst>
          </p:cNvPr>
          <p:cNvSpPr>
            <a:spLocks noGrp="1"/>
          </p:cNvSpPr>
          <p:nvPr>
            <p:ph type="dt" sz="half" idx="10"/>
          </p:nvPr>
        </p:nvSpPr>
        <p:spPr/>
        <p:txBody>
          <a:bodyPr/>
          <a:lstStyle/>
          <a:p>
            <a:fld id="{CE0A559A-C752-453F-819B-441F74C371A9}" type="datetime1">
              <a:rPr lang="en-US" smtClean="0"/>
              <a:t>7/31/2023</a:t>
            </a:fld>
            <a:endParaRPr lang="en-US"/>
          </a:p>
        </p:txBody>
      </p:sp>
      <p:sp>
        <p:nvSpPr>
          <p:cNvPr id="9" name="Slide Number Placeholder 8">
            <a:extLst>
              <a:ext uri="{FF2B5EF4-FFF2-40B4-BE49-F238E27FC236}">
                <a16:creationId xmlns:a16="http://schemas.microsoft.com/office/drawing/2014/main" id="{79DAF5B7-770C-40EA-9CEA-E35B04695EDD}"/>
              </a:ext>
            </a:extLst>
          </p:cNvPr>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23233317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4. CPU organization</a:t>
            </a:r>
          </a:p>
        </p:txBody>
      </p:sp>
      <p:sp>
        <p:nvSpPr>
          <p:cNvPr id="3" name="Content Placeholder 2"/>
          <p:cNvSpPr>
            <a:spLocks noGrp="1"/>
          </p:cNvSpPr>
          <p:nvPr>
            <p:ph idx="1"/>
          </p:nvPr>
        </p:nvSpPr>
        <p:spPr>
          <a:xfrm>
            <a:off x="457200" y="742950"/>
            <a:ext cx="5715000" cy="3851673"/>
          </a:xfrm>
          <a:solidFill>
            <a:schemeClr val="accent6">
              <a:lumMod val="40000"/>
              <a:lumOff val="60000"/>
            </a:schemeClr>
          </a:solidFill>
        </p:spPr>
        <p:txBody>
          <a:bodyPr>
            <a:normAutofit fontScale="62500" lnSpcReduction="20000"/>
          </a:bodyPr>
          <a:lstStyle/>
          <a:p>
            <a:r>
              <a:rPr lang="en-US" dirty="0"/>
              <a:t>CPU consists of three components: </a:t>
            </a:r>
          </a:p>
          <a:p>
            <a:pPr lvl="1"/>
            <a:r>
              <a:rPr lang="en-US" dirty="0"/>
              <a:t>ALU, </a:t>
            </a:r>
          </a:p>
          <a:p>
            <a:pPr lvl="1"/>
            <a:r>
              <a:rPr lang="en-US" dirty="0"/>
              <a:t>CU and </a:t>
            </a:r>
          </a:p>
          <a:p>
            <a:pPr lvl="1"/>
            <a:r>
              <a:rPr lang="en-US" dirty="0"/>
              <a:t>Registers. </a:t>
            </a:r>
          </a:p>
          <a:p>
            <a:r>
              <a:rPr lang="en-US" dirty="0"/>
              <a:t>ALU performs arithmetic and logical operation, </a:t>
            </a:r>
          </a:p>
          <a:p>
            <a:r>
              <a:rPr lang="en-US" dirty="0"/>
              <a:t>CU provides control signals, and </a:t>
            </a:r>
          </a:p>
          <a:p>
            <a:r>
              <a:rPr lang="en-US" dirty="0"/>
              <a:t>Registers store binary information and provide very fast information to ALU and out of CPU. </a:t>
            </a:r>
          </a:p>
          <a:p>
            <a:r>
              <a:rPr lang="en-US" dirty="0"/>
              <a:t>These components are connected with each other and with external environment through system bus as shown below:</a:t>
            </a:r>
            <a:endParaRPr lang="en-US" sz="200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pic>
        <p:nvPicPr>
          <p:cNvPr id="7" name="Picture 6">
            <a:extLst>
              <a:ext uri="{FF2B5EF4-FFF2-40B4-BE49-F238E27FC236}">
                <a16:creationId xmlns:a16="http://schemas.microsoft.com/office/drawing/2014/main" id="{65CD005B-D02C-4C96-BD31-A421F20F5E85}"/>
              </a:ext>
            </a:extLst>
          </p:cNvPr>
          <p:cNvPicPr/>
          <p:nvPr/>
        </p:nvPicPr>
        <p:blipFill>
          <a:blip r:embed="rId2" cstate="print">
            <a:extLst>
              <a:ext uri="{BEBA8EAE-BF5A-486C-A8C5-ECC9F3942E4B}">
                <a14:imgProps xmlns:a14="http://schemas.microsoft.com/office/drawing/2010/main">
                  <a14:imgLayer r:embed="rId3">
                    <a14:imgEffect>
                      <a14:sharpenSoften amount="100000"/>
                    </a14:imgEffect>
                  </a14:imgLayer>
                </a14:imgProps>
              </a:ext>
            </a:extLst>
          </a:blip>
          <a:srcRect/>
          <a:stretch>
            <a:fillRect/>
          </a:stretch>
        </p:blipFill>
        <p:spPr bwMode="auto">
          <a:xfrm>
            <a:off x="6172200" y="666750"/>
            <a:ext cx="2869324" cy="2667000"/>
          </a:xfrm>
          <a:prstGeom prst="rect">
            <a:avLst/>
          </a:prstGeom>
          <a:noFill/>
          <a:ln w="9525">
            <a:noFill/>
            <a:miter lim="800000"/>
            <a:headEnd/>
            <a:tailEnd/>
          </a:ln>
        </p:spPr>
      </p:pic>
      <p:sp>
        <p:nvSpPr>
          <p:cNvPr id="8" name="Date Placeholder 7">
            <a:extLst>
              <a:ext uri="{FF2B5EF4-FFF2-40B4-BE49-F238E27FC236}">
                <a16:creationId xmlns:a16="http://schemas.microsoft.com/office/drawing/2014/main" id="{6C9E3DFC-C758-46FE-8024-CEB2BE4ED677}"/>
              </a:ext>
            </a:extLst>
          </p:cNvPr>
          <p:cNvSpPr>
            <a:spLocks noGrp="1"/>
          </p:cNvSpPr>
          <p:nvPr>
            <p:ph type="dt" sz="half" idx="10"/>
          </p:nvPr>
        </p:nvSpPr>
        <p:spPr/>
        <p:txBody>
          <a:bodyPr/>
          <a:lstStyle/>
          <a:p>
            <a:fld id="{0B48667C-1756-4A00-8146-1FFAFD3A76B2}" type="datetime1">
              <a:rPr lang="en-US" smtClean="0"/>
              <a:t>7/31/2023</a:t>
            </a:fld>
            <a:endParaRPr lang="en-US"/>
          </a:p>
        </p:txBody>
      </p:sp>
      <p:sp>
        <p:nvSpPr>
          <p:cNvPr id="9" name="Slide Number Placeholder 8">
            <a:extLst>
              <a:ext uri="{FF2B5EF4-FFF2-40B4-BE49-F238E27FC236}">
                <a16:creationId xmlns:a16="http://schemas.microsoft.com/office/drawing/2014/main" id="{9A7746E0-F2E5-44DD-A8E2-9FE6D0EF8A2D}"/>
              </a:ext>
            </a:extLst>
          </p:cNvPr>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3388349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800" b="1" dirty="0">
                <a:solidFill>
                  <a:srgbClr val="FF0000"/>
                </a:solidFill>
              </a:rPr>
              <a:t>2.4 Memory Sub-system Organization and Interfacing</a:t>
            </a:r>
          </a:p>
        </p:txBody>
      </p:sp>
      <p:sp>
        <p:nvSpPr>
          <p:cNvPr id="3" name="Content Placeholder 2"/>
          <p:cNvSpPr>
            <a:spLocks noGrp="1"/>
          </p:cNvSpPr>
          <p:nvPr>
            <p:ph idx="1"/>
          </p:nvPr>
        </p:nvSpPr>
        <p:spPr>
          <a:xfrm>
            <a:off x="457200" y="742950"/>
            <a:ext cx="8229600" cy="3851673"/>
          </a:xfrm>
          <a:solidFill>
            <a:schemeClr val="tx2">
              <a:lumMod val="20000"/>
              <a:lumOff val="80000"/>
            </a:schemeClr>
          </a:solidFill>
        </p:spPr>
        <p:txBody>
          <a:bodyPr>
            <a:normAutofit fontScale="92500" lnSpcReduction="10000"/>
          </a:bodyPr>
          <a:lstStyle/>
          <a:p>
            <a:r>
              <a:rPr lang="en-US" sz="2400" dirty="0"/>
              <a:t>Memory is the group of circuits used to store data. </a:t>
            </a:r>
          </a:p>
          <a:p>
            <a:r>
              <a:rPr lang="en-US" sz="2400" dirty="0"/>
              <a:t>Two types of Memory:</a:t>
            </a:r>
          </a:p>
          <a:p>
            <a:pPr marL="914400" lvl="1" indent="-457200">
              <a:buFont typeface="+mj-lt"/>
              <a:buAutoNum type="arabicPeriod"/>
            </a:pPr>
            <a:r>
              <a:rPr lang="en-US" sz="2000" dirty="0"/>
              <a:t>RAM</a:t>
            </a:r>
          </a:p>
          <a:p>
            <a:pPr marL="1314450" lvl="2" indent="-457200">
              <a:buFont typeface="+mj-lt"/>
              <a:buAutoNum type="alphaLcParenR"/>
            </a:pPr>
            <a:r>
              <a:rPr lang="en-US" sz="1600" dirty="0"/>
              <a:t>SRAM: </a:t>
            </a:r>
          </a:p>
          <a:p>
            <a:pPr marL="1541463" lvl="3" indent="-227013">
              <a:buFont typeface="Wingdings" panose="05000000000000000000" pitchFamily="2" charset="2"/>
              <a:buChar char="§"/>
            </a:pPr>
            <a:r>
              <a:rPr lang="en-US" sz="1200" dirty="0"/>
              <a:t>More like registers, no need of refresh</a:t>
            </a:r>
          </a:p>
          <a:p>
            <a:pPr marL="1314450" lvl="2" indent="-457200">
              <a:buFont typeface="+mj-lt"/>
              <a:buAutoNum type="alphaLcParenR"/>
            </a:pPr>
            <a:r>
              <a:rPr lang="en-US" sz="1600" dirty="0"/>
              <a:t>DRAM: </a:t>
            </a:r>
          </a:p>
          <a:p>
            <a:pPr marL="1541463" lvl="3" indent="-227013">
              <a:buFont typeface="Wingdings" panose="05000000000000000000" pitchFamily="2" charset="2"/>
              <a:buChar char="§"/>
            </a:pPr>
            <a:r>
              <a:rPr lang="en-US" sz="1200" dirty="0"/>
              <a:t>Leaky capacitor, needs refresh</a:t>
            </a:r>
          </a:p>
          <a:p>
            <a:pPr marL="914400" lvl="1" indent="-457200">
              <a:buFont typeface="+mj-lt"/>
              <a:buAutoNum type="arabicPeriod"/>
            </a:pPr>
            <a:r>
              <a:rPr lang="en-US" sz="2000" dirty="0"/>
              <a:t>ROM</a:t>
            </a:r>
          </a:p>
          <a:p>
            <a:pPr marL="1314450" lvl="2" indent="-457200">
              <a:buFont typeface="+mj-lt"/>
              <a:buAutoNum type="alphaLcParenR"/>
            </a:pPr>
            <a:r>
              <a:rPr lang="en-US" sz="1600" dirty="0"/>
              <a:t>PROM (Programmable ROM)</a:t>
            </a:r>
          </a:p>
          <a:p>
            <a:pPr marL="1314450" lvl="2" indent="-457200">
              <a:buFont typeface="+mj-lt"/>
              <a:buAutoNum type="alphaLcParenR"/>
            </a:pPr>
            <a:r>
              <a:rPr lang="en-US" sz="1600" dirty="0"/>
              <a:t>EPROM (Erasable PROM)</a:t>
            </a:r>
          </a:p>
          <a:p>
            <a:pPr marL="1541463" lvl="3" indent="-227013">
              <a:buFont typeface="Wingdings" panose="05000000000000000000" pitchFamily="2" charset="2"/>
              <a:buChar char="§"/>
            </a:pPr>
            <a:r>
              <a:rPr lang="en-US" sz="1200" dirty="0"/>
              <a:t>can be reprogrammed if required by exposing it to ultraviolet light. </a:t>
            </a:r>
            <a:endParaRPr lang="en-US" sz="600" dirty="0"/>
          </a:p>
          <a:p>
            <a:pPr marL="1314450" lvl="2" indent="-457200">
              <a:buFont typeface="+mj-lt"/>
              <a:buAutoNum type="alphaLcParenR"/>
            </a:pPr>
            <a:r>
              <a:rPr lang="en-US" sz="1600" dirty="0"/>
              <a:t>EEPROM (Electrically Erasable PROM)</a:t>
            </a:r>
          </a:p>
          <a:p>
            <a:pPr marL="1541463" lvl="3" indent="-227013">
              <a:buFont typeface="Wingdings" panose="05000000000000000000" pitchFamily="2" charset="2"/>
              <a:buChar char="§"/>
            </a:pPr>
            <a:r>
              <a:rPr lang="en-US" sz="1200" dirty="0"/>
              <a:t>write and erase operations are performed one byte at a time ,  by application of electrical potential</a:t>
            </a:r>
          </a:p>
          <a:p>
            <a:pPr marL="1314450" lvl="2" indent="-457200">
              <a:buFont typeface="+mj-lt"/>
              <a:buAutoNum type="alphaLcParenR"/>
            </a:pPr>
            <a:r>
              <a:rPr lang="en-US" sz="1600" dirty="0"/>
              <a:t>Flash Memory</a:t>
            </a:r>
            <a:endParaRPr lang="en-US" sz="80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sp>
        <p:nvSpPr>
          <p:cNvPr id="7" name="Rectangle 6">
            <a:extLst>
              <a:ext uri="{FF2B5EF4-FFF2-40B4-BE49-F238E27FC236}">
                <a16:creationId xmlns:a16="http://schemas.microsoft.com/office/drawing/2014/main" id="{4655F9CE-D0EF-45A0-90A4-04F48A66D691}"/>
              </a:ext>
            </a:extLst>
          </p:cNvPr>
          <p:cNvSpPr/>
          <p:nvPr/>
        </p:nvSpPr>
        <p:spPr>
          <a:xfrm>
            <a:off x="3429001" y="4248150"/>
            <a:ext cx="5181600" cy="577081"/>
          </a:xfrm>
          <a:prstGeom prst="rect">
            <a:avLst/>
          </a:prstGeom>
        </p:spPr>
        <p:txBody>
          <a:bodyPr wrap="square">
            <a:spAutoFit/>
          </a:bodyPr>
          <a:lstStyle/>
          <a:p>
            <a:r>
              <a:rPr lang="en-US" sz="1050" dirty="0"/>
              <a:t>Reference: </a:t>
            </a:r>
            <a:r>
              <a:rPr lang="en-US" sz="1050" dirty="0">
                <a:hlinkClick r:id="rId2"/>
              </a:rPr>
              <a:t>https://www.guru99.com/different-types-ram-random-access-memory.html</a:t>
            </a:r>
            <a:endParaRPr lang="en-US" sz="1050" dirty="0"/>
          </a:p>
          <a:p>
            <a:r>
              <a:rPr lang="en-US" sz="1050" dirty="0"/>
              <a:t> </a:t>
            </a:r>
            <a:r>
              <a:rPr lang="en-US" sz="1050" dirty="0">
                <a:hlinkClick r:id="rId3"/>
              </a:rPr>
              <a:t>https://www.scaler.com/topics/what-is-rom/</a:t>
            </a:r>
            <a:endParaRPr lang="en-US" sz="1050" dirty="0"/>
          </a:p>
          <a:p>
            <a:endParaRPr lang="en-US" sz="1050" dirty="0"/>
          </a:p>
        </p:txBody>
      </p:sp>
      <p:sp>
        <p:nvSpPr>
          <p:cNvPr id="8" name="Date Placeholder 7">
            <a:extLst>
              <a:ext uri="{FF2B5EF4-FFF2-40B4-BE49-F238E27FC236}">
                <a16:creationId xmlns:a16="http://schemas.microsoft.com/office/drawing/2014/main" id="{7783C9A7-D3A2-4685-9077-A068AEB07A2C}"/>
              </a:ext>
            </a:extLst>
          </p:cNvPr>
          <p:cNvSpPr>
            <a:spLocks noGrp="1"/>
          </p:cNvSpPr>
          <p:nvPr>
            <p:ph type="dt" sz="half" idx="10"/>
          </p:nvPr>
        </p:nvSpPr>
        <p:spPr/>
        <p:txBody>
          <a:bodyPr/>
          <a:lstStyle/>
          <a:p>
            <a:fld id="{6A5230C0-680B-4D25-9346-3AE67CBAC3B4}" type="datetime1">
              <a:rPr lang="en-US" smtClean="0"/>
              <a:t>7/31/2023</a:t>
            </a:fld>
            <a:endParaRPr lang="en-US"/>
          </a:p>
        </p:txBody>
      </p:sp>
      <p:sp>
        <p:nvSpPr>
          <p:cNvPr id="9" name="Slide Number Placeholder 8">
            <a:extLst>
              <a:ext uri="{FF2B5EF4-FFF2-40B4-BE49-F238E27FC236}">
                <a16:creationId xmlns:a16="http://schemas.microsoft.com/office/drawing/2014/main" id="{50AA69B1-7303-46D2-9ADF-2D5161330097}"/>
              </a:ext>
            </a:extLst>
          </p:cNvPr>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30965132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800" b="1" dirty="0">
                <a:solidFill>
                  <a:srgbClr val="00B050"/>
                </a:solidFill>
              </a:rPr>
              <a:t>RAM 			Vs 		ROM</a:t>
            </a:r>
          </a:p>
        </p:txBody>
      </p:sp>
      <p:sp>
        <p:nvSpPr>
          <p:cNvPr id="3" name="Content Placeholder 2"/>
          <p:cNvSpPr>
            <a:spLocks noGrp="1"/>
          </p:cNvSpPr>
          <p:nvPr>
            <p:ph idx="1"/>
          </p:nvPr>
        </p:nvSpPr>
        <p:spPr>
          <a:xfrm>
            <a:off x="457200" y="742950"/>
            <a:ext cx="4114800" cy="3851673"/>
          </a:xfrm>
          <a:solidFill>
            <a:schemeClr val="accent2">
              <a:lumMod val="20000"/>
              <a:lumOff val="80000"/>
            </a:schemeClr>
          </a:solidFill>
        </p:spPr>
        <p:txBody>
          <a:bodyPr>
            <a:normAutofit/>
          </a:bodyPr>
          <a:lstStyle/>
          <a:p>
            <a:pPr lvl="0"/>
            <a:r>
              <a:rPr lang="en-US" sz="1800" dirty="0"/>
              <a:t>Volatile in nature.</a:t>
            </a:r>
          </a:p>
          <a:p>
            <a:pPr lvl="0"/>
            <a:r>
              <a:rPr lang="en-US" sz="1800" dirty="0"/>
              <a:t>Used for reading and writing data in any order as required. </a:t>
            </a:r>
          </a:p>
          <a:p>
            <a:pPr lvl="0"/>
            <a:r>
              <a:rPr lang="en-US" sz="1800" dirty="0"/>
              <a:t>Data is stored and read many times to and from this type of memory.</a:t>
            </a:r>
          </a:p>
          <a:p>
            <a:r>
              <a:rPr lang="en-US" sz="1800" dirty="0"/>
              <a:t> Memory cells can be accessed for information transfer from any desired random location. </a:t>
            </a:r>
            <a:endParaRPr lang="en-US" sz="110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sp>
        <p:nvSpPr>
          <p:cNvPr id="7" name="Content Placeholder 2">
            <a:extLst>
              <a:ext uri="{FF2B5EF4-FFF2-40B4-BE49-F238E27FC236}">
                <a16:creationId xmlns:a16="http://schemas.microsoft.com/office/drawing/2014/main" id="{8A3CCC05-1811-4437-95DD-D5BE1BF89C62}"/>
              </a:ext>
            </a:extLst>
          </p:cNvPr>
          <p:cNvSpPr txBox="1">
            <a:spLocks/>
          </p:cNvSpPr>
          <p:nvPr/>
        </p:nvSpPr>
        <p:spPr>
          <a:xfrm>
            <a:off x="4572000" y="742950"/>
            <a:ext cx="4267200" cy="3851673"/>
          </a:xfrm>
          <a:prstGeom prst="rect">
            <a:avLst/>
          </a:prstGeom>
          <a:solidFill>
            <a:schemeClr val="accent3">
              <a:lumMod val="40000"/>
              <a:lumOff val="60000"/>
            </a:schemeClr>
          </a:solidFill>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r>
              <a:rPr lang="en-US" sz="1800" dirty="0"/>
              <a:t>Read only memory (ROM) contains a permanent pattern of data that cannot be changed. </a:t>
            </a:r>
          </a:p>
          <a:p>
            <a:pPr lvl="0"/>
            <a:r>
              <a:rPr lang="en-US" sz="1800" dirty="0"/>
              <a:t>A ROM is non-volatile, i.e., no power source is required to maintain the bit values in memory.</a:t>
            </a:r>
          </a:p>
          <a:p>
            <a:pPr lvl="0"/>
            <a:r>
              <a:rPr lang="en-US" sz="1800" dirty="0"/>
              <a:t>While it is possible to read a ROM, it is not possible to write new data into it.</a:t>
            </a:r>
          </a:p>
          <a:p>
            <a:pPr lvl="0"/>
            <a:r>
              <a:rPr lang="en-US" sz="1800" dirty="0"/>
              <a:t>The data or program is permanently presented in main memory and never be loaded from a secondary storage device with the advantage of ROM. </a:t>
            </a:r>
          </a:p>
        </p:txBody>
      </p:sp>
      <p:sp>
        <p:nvSpPr>
          <p:cNvPr id="8" name="Date Placeholder 7">
            <a:extLst>
              <a:ext uri="{FF2B5EF4-FFF2-40B4-BE49-F238E27FC236}">
                <a16:creationId xmlns:a16="http://schemas.microsoft.com/office/drawing/2014/main" id="{9F159E28-D0BD-44A7-80B7-96805E0C5861}"/>
              </a:ext>
            </a:extLst>
          </p:cNvPr>
          <p:cNvSpPr>
            <a:spLocks noGrp="1"/>
          </p:cNvSpPr>
          <p:nvPr>
            <p:ph type="dt" sz="half" idx="10"/>
          </p:nvPr>
        </p:nvSpPr>
        <p:spPr/>
        <p:txBody>
          <a:bodyPr/>
          <a:lstStyle/>
          <a:p>
            <a:fld id="{AB3CD597-7E3F-44E4-954C-6E623093F713}" type="datetime1">
              <a:rPr lang="en-US" smtClean="0"/>
              <a:t>7/31/2023</a:t>
            </a:fld>
            <a:endParaRPr lang="en-US"/>
          </a:p>
        </p:txBody>
      </p:sp>
      <p:sp>
        <p:nvSpPr>
          <p:cNvPr id="9" name="Slide Number Placeholder 8">
            <a:extLst>
              <a:ext uri="{FF2B5EF4-FFF2-40B4-BE49-F238E27FC236}">
                <a16:creationId xmlns:a16="http://schemas.microsoft.com/office/drawing/2014/main" id="{5CC180D2-3AF1-412D-A756-F12BE2E0B651}"/>
              </a:ext>
            </a:extLst>
          </p:cNvPr>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11772606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800" b="1" dirty="0">
                <a:solidFill>
                  <a:srgbClr val="00B050"/>
                </a:solidFill>
              </a:rPr>
              <a:t>Internal Chip Organization</a:t>
            </a:r>
          </a:p>
        </p:txBody>
      </p:sp>
      <p:sp>
        <p:nvSpPr>
          <p:cNvPr id="3" name="Content Placeholder 2"/>
          <p:cNvSpPr>
            <a:spLocks noGrp="1"/>
          </p:cNvSpPr>
          <p:nvPr>
            <p:ph idx="1"/>
          </p:nvPr>
        </p:nvSpPr>
        <p:spPr>
          <a:xfrm>
            <a:off x="457200" y="742950"/>
            <a:ext cx="8229600" cy="3851673"/>
          </a:xfrm>
          <a:solidFill>
            <a:schemeClr val="accent2">
              <a:lumMod val="60000"/>
              <a:lumOff val="40000"/>
            </a:schemeClr>
          </a:solidFill>
        </p:spPr>
        <p:txBody>
          <a:bodyPr>
            <a:normAutofit/>
          </a:bodyPr>
          <a:lstStyle/>
          <a:p>
            <a:r>
              <a:rPr lang="en-US" sz="2000" dirty="0"/>
              <a:t>Linear organization</a:t>
            </a:r>
          </a:p>
          <a:p>
            <a:r>
              <a:rPr lang="en-US" sz="2000" dirty="0"/>
              <a:t>Two-dimensional organization</a:t>
            </a:r>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sp>
        <p:nvSpPr>
          <p:cNvPr id="7" name="Date Placeholder 6">
            <a:extLst>
              <a:ext uri="{FF2B5EF4-FFF2-40B4-BE49-F238E27FC236}">
                <a16:creationId xmlns:a16="http://schemas.microsoft.com/office/drawing/2014/main" id="{C681BBDB-FDE2-4C86-82D5-F3B14648CF78}"/>
              </a:ext>
            </a:extLst>
          </p:cNvPr>
          <p:cNvSpPr>
            <a:spLocks noGrp="1"/>
          </p:cNvSpPr>
          <p:nvPr>
            <p:ph type="dt" sz="half" idx="10"/>
          </p:nvPr>
        </p:nvSpPr>
        <p:spPr/>
        <p:txBody>
          <a:bodyPr/>
          <a:lstStyle/>
          <a:p>
            <a:fld id="{1493A2E3-727E-4F61-A540-8E2DEE721AB7}" type="datetime1">
              <a:rPr lang="en-US" smtClean="0"/>
              <a:t>7/31/2023</a:t>
            </a:fld>
            <a:endParaRPr lang="en-US"/>
          </a:p>
        </p:txBody>
      </p:sp>
      <p:sp>
        <p:nvSpPr>
          <p:cNvPr id="8" name="Slide Number Placeholder 7">
            <a:extLst>
              <a:ext uri="{FF2B5EF4-FFF2-40B4-BE49-F238E27FC236}">
                <a16:creationId xmlns:a16="http://schemas.microsoft.com/office/drawing/2014/main" id="{962ABB61-D78B-419A-A809-9FB4DB8143A1}"/>
              </a:ext>
            </a:extLst>
          </p:cNvPr>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42560072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800" b="1" dirty="0">
                <a:solidFill>
                  <a:srgbClr val="0070C0"/>
                </a:solidFill>
              </a:rPr>
              <a:t>Linear organization</a:t>
            </a:r>
          </a:p>
        </p:txBody>
      </p:sp>
      <p:sp>
        <p:nvSpPr>
          <p:cNvPr id="3" name="Content Placeholder 2"/>
          <p:cNvSpPr>
            <a:spLocks noGrp="1"/>
          </p:cNvSpPr>
          <p:nvPr>
            <p:ph idx="1"/>
          </p:nvPr>
        </p:nvSpPr>
        <p:spPr>
          <a:xfrm>
            <a:off x="457199" y="742950"/>
            <a:ext cx="4388225" cy="3851673"/>
          </a:xfrm>
          <a:solidFill>
            <a:schemeClr val="tx2">
              <a:lumMod val="20000"/>
              <a:lumOff val="80000"/>
            </a:schemeClr>
          </a:solidFill>
        </p:spPr>
        <p:txBody>
          <a:bodyPr>
            <a:normAutofit fontScale="47500" lnSpcReduction="20000"/>
          </a:bodyPr>
          <a:lstStyle/>
          <a:p>
            <a:r>
              <a:rPr lang="en-US" sz="4400" dirty="0"/>
              <a:t>Consider an 8 x 2 ROM chip:  (Chip is in 2</a:t>
            </a:r>
            <a:r>
              <a:rPr lang="en-US" sz="4400" baseline="30000" dirty="0"/>
              <a:t>n</a:t>
            </a:r>
            <a:r>
              <a:rPr lang="en-US" sz="4400" dirty="0"/>
              <a:t> x m representation where n is address line and m is data line)</a:t>
            </a:r>
          </a:p>
          <a:p>
            <a:pPr lvl="1"/>
            <a:r>
              <a:rPr lang="en-US" sz="3800" dirty="0"/>
              <a:t>Address line = 3 </a:t>
            </a:r>
          </a:p>
          <a:p>
            <a:pPr lvl="1"/>
            <a:r>
              <a:rPr lang="en-US" sz="3800" dirty="0"/>
              <a:t>Data lines = 2 </a:t>
            </a:r>
          </a:p>
          <a:p>
            <a:pPr lvl="1"/>
            <a:r>
              <a:rPr lang="en-US" sz="3800" dirty="0"/>
              <a:t>16 bits of internal storage </a:t>
            </a:r>
          </a:p>
          <a:p>
            <a:pPr lvl="1"/>
            <a:r>
              <a:rPr lang="en-US" sz="3800" dirty="0"/>
              <a:t>If CE = 0, decoder is disabled and no location is selected. The Tri-state buffer for that location’s cell are enabled, allowing data to pass to the output buffers.</a:t>
            </a:r>
          </a:p>
          <a:p>
            <a:pPr lvl="1"/>
            <a:r>
              <a:rPr lang="en-US" sz="3800" dirty="0"/>
              <a:t>If CE = 1and OE= 1, tri-state buffer for that location cell is enabled and data is output from the chip; otherwise the outputs are tri-stated.</a:t>
            </a:r>
          </a:p>
          <a:p>
            <a:endParaRPr lang="en-US" sz="200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pic>
        <p:nvPicPr>
          <p:cNvPr id="7" name="Picture 6">
            <a:extLst>
              <a:ext uri="{FF2B5EF4-FFF2-40B4-BE49-F238E27FC236}">
                <a16:creationId xmlns:a16="http://schemas.microsoft.com/office/drawing/2014/main" id="{21550B6E-F03E-42DE-8FE9-7AC69F200D68}"/>
              </a:ext>
            </a:extLst>
          </p:cNvPr>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4845425" y="759759"/>
            <a:ext cx="3809999" cy="3342645"/>
          </a:xfrm>
          <a:prstGeom prst="rect">
            <a:avLst/>
          </a:prstGeom>
        </p:spPr>
      </p:pic>
      <p:cxnSp>
        <p:nvCxnSpPr>
          <p:cNvPr id="9" name="Straight Connector 8">
            <a:extLst>
              <a:ext uri="{FF2B5EF4-FFF2-40B4-BE49-F238E27FC236}">
                <a16:creationId xmlns:a16="http://schemas.microsoft.com/office/drawing/2014/main" id="{3F8009CE-B3E7-45BE-BC4E-372A62531D47}"/>
              </a:ext>
            </a:extLst>
          </p:cNvPr>
          <p:cNvCxnSpPr>
            <a:cxnSpLocks/>
          </p:cNvCxnSpPr>
          <p:nvPr/>
        </p:nvCxnSpPr>
        <p:spPr>
          <a:xfrm>
            <a:off x="8115300" y="2876550"/>
            <a:ext cx="0" cy="7620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DBB35418-9678-419A-9E4C-EB419D944446}"/>
              </a:ext>
            </a:extLst>
          </p:cNvPr>
          <p:cNvCxnSpPr/>
          <p:nvPr/>
        </p:nvCxnSpPr>
        <p:spPr>
          <a:xfrm>
            <a:off x="7315200" y="2952750"/>
            <a:ext cx="838200" cy="0"/>
          </a:xfrm>
          <a:prstGeom prst="line">
            <a:avLst/>
          </a:prstGeom>
        </p:spPr>
        <p:style>
          <a:lnRef idx="1">
            <a:schemeClr val="dk1"/>
          </a:lnRef>
          <a:fillRef idx="0">
            <a:schemeClr val="dk1"/>
          </a:fillRef>
          <a:effectRef idx="0">
            <a:schemeClr val="dk1"/>
          </a:effectRef>
          <a:fontRef idx="minor">
            <a:schemeClr val="tx1"/>
          </a:fontRef>
        </p:style>
      </p:cxnSp>
      <p:sp>
        <p:nvSpPr>
          <p:cNvPr id="8" name="Date Placeholder 7">
            <a:extLst>
              <a:ext uri="{FF2B5EF4-FFF2-40B4-BE49-F238E27FC236}">
                <a16:creationId xmlns:a16="http://schemas.microsoft.com/office/drawing/2014/main" id="{A0EFD063-7922-4E8F-BEE9-DF404A5586E1}"/>
              </a:ext>
            </a:extLst>
          </p:cNvPr>
          <p:cNvSpPr>
            <a:spLocks noGrp="1"/>
          </p:cNvSpPr>
          <p:nvPr>
            <p:ph type="dt" sz="half" idx="10"/>
          </p:nvPr>
        </p:nvSpPr>
        <p:spPr/>
        <p:txBody>
          <a:bodyPr/>
          <a:lstStyle/>
          <a:p>
            <a:fld id="{97A0FA81-4A57-4F60-B483-FD2A33994982}" type="datetime1">
              <a:rPr lang="en-US" smtClean="0"/>
              <a:t>7/31/2023</a:t>
            </a:fld>
            <a:endParaRPr lang="en-US"/>
          </a:p>
        </p:txBody>
      </p:sp>
      <p:sp>
        <p:nvSpPr>
          <p:cNvPr id="11" name="Slide Number Placeholder 10">
            <a:extLst>
              <a:ext uri="{FF2B5EF4-FFF2-40B4-BE49-F238E27FC236}">
                <a16:creationId xmlns:a16="http://schemas.microsoft.com/office/drawing/2014/main" id="{E9050972-7E40-4ECA-8580-F1E9E341E27F}"/>
              </a:ext>
            </a:extLst>
          </p:cNvPr>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30239560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800" b="1" dirty="0">
                <a:solidFill>
                  <a:srgbClr val="0070C0"/>
                </a:solidFill>
              </a:rPr>
              <a:t>Classwork:</a:t>
            </a:r>
          </a:p>
        </p:txBody>
      </p:sp>
      <p:sp>
        <p:nvSpPr>
          <p:cNvPr id="3" name="Content Placeholder 2"/>
          <p:cNvSpPr>
            <a:spLocks noGrp="1"/>
          </p:cNvSpPr>
          <p:nvPr>
            <p:ph idx="1"/>
          </p:nvPr>
        </p:nvSpPr>
        <p:spPr>
          <a:xfrm>
            <a:off x="457199" y="742950"/>
            <a:ext cx="2667001" cy="3851673"/>
          </a:xfrm>
          <a:solidFill>
            <a:schemeClr val="tx2">
              <a:lumMod val="20000"/>
              <a:lumOff val="80000"/>
            </a:schemeClr>
          </a:solidFill>
        </p:spPr>
        <p:txBody>
          <a:bodyPr>
            <a:normAutofit/>
          </a:bodyPr>
          <a:lstStyle/>
          <a:p>
            <a:r>
              <a:rPr lang="en-US" sz="2000" b="1" dirty="0"/>
              <a:t>show the internal linear configuration of a 32x2 memory chip. </a:t>
            </a:r>
            <a:endParaRPr lang="en-US" sz="140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pic>
        <p:nvPicPr>
          <p:cNvPr id="8" name="Picture 7">
            <a:extLst>
              <a:ext uri="{FF2B5EF4-FFF2-40B4-BE49-F238E27FC236}">
                <a16:creationId xmlns:a16="http://schemas.microsoft.com/office/drawing/2014/main" id="{C6F6DE07-D40D-434B-90FC-EDD097170DBB}"/>
              </a:ext>
            </a:extLst>
          </p:cNvPr>
          <p:cNvPicPr/>
          <p:nvPr/>
        </p:nvPicPr>
        <p:blipFill>
          <a:blip r:embed="rId2"/>
          <a:stretch>
            <a:fillRect/>
          </a:stretch>
        </p:blipFill>
        <p:spPr>
          <a:xfrm>
            <a:off x="3733800" y="742950"/>
            <a:ext cx="4953000" cy="3851673"/>
          </a:xfrm>
          <a:prstGeom prst="rect">
            <a:avLst/>
          </a:prstGeom>
        </p:spPr>
      </p:pic>
      <p:sp>
        <p:nvSpPr>
          <p:cNvPr id="7" name="Date Placeholder 6">
            <a:extLst>
              <a:ext uri="{FF2B5EF4-FFF2-40B4-BE49-F238E27FC236}">
                <a16:creationId xmlns:a16="http://schemas.microsoft.com/office/drawing/2014/main" id="{9EEC9574-2D59-4CCF-ACEA-A409B38163AF}"/>
              </a:ext>
            </a:extLst>
          </p:cNvPr>
          <p:cNvSpPr>
            <a:spLocks noGrp="1"/>
          </p:cNvSpPr>
          <p:nvPr>
            <p:ph type="dt" sz="half" idx="10"/>
          </p:nvPr>
        </p:nvSpPr>
        <p:spPr/>
        <p:txBody>
          <a:bodyPr/>
          <a:lstStyle/>
          <a:p>
            <a:fld id="{5131207A-5952-460B-B9EC-887CC03D19D6}" type="datetime1">
              <a:rPr lang="en-US" smtClean="0"/>
              <a:t>7/31/2023</a:t>
            </a:fld>
            <a:endParaRPr lang="en-US"/>
          </a:p>
        </p:txBody>
      </p:sp>
      <p:sp>
        <p:nvSpPr>
          <p:cNvPr id="9" name="Slide Number Placeholder 8">
            <a:extLst>
              <a:ext uri="{FF2B5EF4-FFF2-40B4-BE49-F238E27FC236}">
                <a16:creationId xmlns:a16="http://schemas.microsoft.com/office/drawing/2014/main" id="{E767D005-875A-4CB2-B0E2-99BF2A7DE6D9}"/>
              </a:ext>
            </a:extLst>
          </p:cNvPr>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8081626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800" b="1" dirty="0">
                <a:solidFill>
                  <a:srgbClr val="0070C0"/>
                </a:solidFill>
              </a:rPr>
              <a:t>Two-dimensional organization</a:t>
            </a:r>
          </a:p>
        </p:txBody>
      </p:sp>
      <p:sp>
        <p:nvSpPr>
          <p:cNvPr id="3" name="Content Placeholder 2"/>
          <p:cNvSpPr>
            <a:spLocks noGrp="1"/>
          </p:cNvSpPr>
          <p:nvPr>
            <p:ph idx="1"/>
          </p:nvPr>
        </p:nvSpPr>
        <p:spPr>
          <a:xfrm>
            <a:off x="457199" y="742950"/>
            <a:ext cx="3350223" cy="3851673"/>
          </a:xfrm>
          <a:solidFill>
            <a:schemeClr val="accent3">
              <a:lumMod val="40000"/>
              <a:lumOff val="60000"/>
            </a:schemeClr>
          </a:solidFill>
        </p:spPr>
        <p:txBody>
          <a:bodyPr>
            <a:normAutofit lnSpcReduction="10000"/>
          </a:bodyPr>
          <a:lstStyle/>
          <a:p>
            <a:r>
              <a:rPr lang="en-US" sz="1600" dirty="0"/>
              <a:t>As the number of locations increases, the size of address decoder needed, becomes extremely large. </a:t>
            </a:r>
          </a:p>
          <a:p>
            <a:r>
              <a:rPr lang="en-US" sz="1600" dirty="0"/>
              <a:t>To remedy this problem, the memory chip can be designed using multiple dimension of decoding.</a:t>
            </a:r>
          </a:p>
          <a:p>
            <a:r>
              <a:rPr lang="en-US" sz="1600" dirty="0"/>
              <a:t>This configuration has four rows with four bits per row; each holds two data values.</a:t>
            </a:r>
          </a:p>
          <a:p>
            <a:r>
              <a:rPr lang="en-US" sz="1600" dirty="0"/>
              <a:t>Here, </a:t>
            </a:r>
          </a:p>
          <a:p>
            <a:r>
              <a:rPr lang="en-US" sz="1600" dirty="0"/>
              <a:t>A0</a:t>
            </a:r>
            <a:r>
              <a:rPr lang="en-US" sz="1600" dirty="0">
                <a:sym typeface="Wingdings" panose="05000000000000000000" pitchFamily="2" charset="2"/>
              </a:rPr>
              <a:t></a:t>
            </a:r>
            <a:r>
              <a:rPr lang="en-US" sz="1600" dirty="0"/>
              <a:t> selects one of the 2 locations in a row</a:t>
            </a:r>
          </a:p>
          <a:p>
            <a:r>
              <a:rPr lang="en-US" sz="1600" dirty="0"/>
              <a:t>A1, A2</a:t>
            </a:r>
            <a:r>
              <a:rPr lang="en-US" sz="1600" dirty="0">
                <a:sym typeface="Wingdings" panose="05000000000000000000" pitchFamily="2" charset="2"/>
              </a:rPr>
              <a:t></a:t>
            </a:r>
            <a:r>
              <a:rPr lang="en-US" sz="1600" dirty="0"/>
              <a:t> selects one of 4 rows.</a:t>
            </a:r>
          </a:p>
          <a:p>
            <a:endParaRPr lang="en-US" sz="110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pic>
        <p:nvPicPr>
          <p:cNvPr id="7" name="Picture 6">
            <a:extLst>
              <a:ext uri="{FF2B5EF4-FFF2-40B4-BE49-F238E27FC236}">
                <a16:creationId xmlns:a16="http://schemas.microsoft.com/office/drawing/2014/main" id="{719025E1-35A6-49AF-93CF-2B61DE0A381B}"/>
              </a:ext>
            </a:extLst>
          </p:cNvPr>
          <p:cNvPicPr/>
          <p:nvPr/>
        </p:nvPicPr>
        <p:blipFill>
          <a:blip r:embed="rId2">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3807423" y="755276"/>
            <a:ext cx="4726977" cy="3264274"/>
          </a:xfrm>
          <a:prstGeom prst="rect">
            <a:avLst/>
          </a:prstGeom>
        </p:spPr>
      </p:pic>
      <p:sp>
        <p:nvSpPr>
          <p:cNvPr id="8" name="Date Placeholder 7">
            <a:extLst>
              <a:ext uri="{FF2B5EF4-FFF2-40B4-BE49-F238E27FC236}">
                <a16:creationId xmlns:a16="http://schemas.microsoft.com/office/drawing/2014/main" id="{2AA2824E-A4F1-4CFC-8B37-10E613457791}"/>
              </a:ext>
            </a:extLst>
          </p:cNvPr>
          <p:cNvSpPr>
            <a:spLocks noGrp="1"/>
          </p:cNvSpPr>
          <p:nvPr>
            <p:ph type="dt" sz="half" idx="10"/>
          </p:nvPr>
        </p:nvSpPr>
        <p:spPr/>
        <p:txBody>
          <a:bodyPr/>
          <a:lstStyle/>
          <a:p>
            <a:fld id="{00B07874-42A3-486A-AD5C-B40807B5B30E}" type="datetime1">
              <a:rPr lang="en-US" smtClean="0"/>
              <a:t>7/31/2023</a:t>
            </a:fld>
            <a:endParaRPr lang="en-US"/>
          </a:p>
        </p:txBody>
      </p:sp>
      <p:sp>
        <p:nvSpPr>
          <p:cNvPr id="9" name="Slide Number Placeholder 8">
            <a:extLst>
              <a:ext uri="{FF2B5EF4-FFF2-40B4-BE49-F238E27FC236}">
                <a16:creationId xmlns:a16="http://schemas.microsoft.com/office/drawing/2014/main" id="{4463606A-82C9-4E99-A32C-EACE4D86A59C}"/>
              </a:ext>
            </a:extLst>
          </p:cNvPr>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17700592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2.5 Memory Sub system Configuration</a:t>
            </a:r>
          </a:p>
        </p:txBody>
      </p:sp>
      <p:sp>
        <p:nvSpPr>
          <p:cNvPr id="3" name="Content Placeholder 2"/>
          <p:cNvSpPr>
            <a:spLocks noGrp="1"/>
          </p:cNvSpPr>
          <p:nvPr>
            <p:ph idx="1"/>
          </p:nvPr>
        </p:nvSpPr>
        <p:spPr>
          <a:xfrm>
            <a:off x="457200" y="742950"/>
            <a:ext cx="8229600" cy="3851673"/>
          </a:xfrm>
          <a:solidFill>
            <a:schemeClr val="accent6">
              <a:lumMod val="20000"/>
              <a:lumOff val="80000"/>
            </a:schemeClr>
          </a:solidFill>
        </p:spPr>
        <p:txBody>
          <a:bodyPr>
            <a:normAutofit/>
          </a:bodyPr>
          <a:lstStyle/>
          <a:p>
            <a:r>
              <a:rPr lang="en-US" sz="2000" dirty="0"/>
              <a:t>There is technique for joining memory chips to form a memory subsystem. </a:t>
            </a:r>
          </a:p>
          <a:p>
            <a:r>
              <a:rPr lang="en-US" sz="2000" dirty="0"/>
              <a:t>Two or more chips can be combined to generate a memory with more bits per location. </a:t>
            </a:r>
          </a:p>
          <a:p>
            <a:r>
              <a:rPr lang="en-US" sz="2000" dirty="0"/>
              <a:t>This is done by linking the corresponding address and control signals of the chips and linking their data pins to various bits of the data bus.</a:t>
            </a:r>
          </a:p>
          <a:p>
            <a:endParaRPr lang="en-US" sz="180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sp>
        <p:nvSpPr>
          <p:cNvPr id="7" name="Date Placeholder 6">
            <a:extLst>
              <a:ext uri="{FF2B5EF4-FFF2-40B4-BE49-F238E27FC236}">
                <a16:creationId xmlns:a16="http://schemas.microsoft.com/office/drawing/2014/main" id="{3B642383-367F-48AE-8695-87D4FA052E41}"/>
              </a:ext>
            </a:extLst>
          </p:cNvPr>
          <p:cNvSpPr>
            <a:spLocks noGrp="1"/>
          </p:cNvSpPr>
          <p:nvPr>
            <p:ph type="dt" sz="half" idx="10"/>
          </p:nvPr>
        </p:nvSpPr>
        <p:spPr/>
        <p:txBody>
          <a:bodyPr/>
          <a:lstStyle/>
          <a:p>
            <a:fld id="{B64A06F6-A28A-429B-AA68-687E0EFE68C7}" type="datetime1">
              <a:rPr lang="en-US" smtClean="0"/>
              <a:t>7/31/2023</a:t>
            </a:fld>
            <a:endParaRPr lang="en-US"/>
          </a:p>
        </p:txBody>
      </p:sp>
      <p:sp>
        <p:nvSpPr>
          <p:cNvPr id="8" name="Slide Number Placeholder 7">
            <a:extLst>
              <a:ext uri="{FF2B5EF4-FFF2-40B4-BE49-F238E27FC236}">
                <a16:creationId xmlns:a16="http://schemas.microsoft.com/office/drawing/2014/main" id="{CF422C13-F7D2-49F4-BDB8-B1FA327A78FB}"/>
              </a:ext>
            </a:extLst>
          </p:cNvPr>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24811042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800" b="1" dirty="0">
                <a:solidFill>
                  <a:srgbClr val="00B050"/>
                </a:solidFill>
              </a:rPr>
              <a:t>Construction of 8 x 4 ROM from two 8 x 2 ROMs:</a:t>
            </a:r>
            <a:endParaRPr lang="en-US" sz="3200" b="1" dirty="0">
              <a:solidFill>
                <a:srgbClr val="00B050"/>
              </a:solidFill>
            </a:endParaRPr>
          </a:p>
        </p:txBody>
      </p:sp>
      <p:sp>
        <p:nvSpPr>
          <p:cNvPr id="3" name="Content Placeholder 2"/>
          <p:cNvSpPr>
            <a:spLocks noGrp="1"/>
          </p:cNvSpPr>
          <p:nvPr>
            <p:ph idx="1"/>
          </p:nvPr>
        </p:nvSpPr>
        <p:spPr>
          <a:xfrm>
            <a:off x="457200" y="742950"/>
            <a:ext cx="5562600" cy="3851673"/>
          </a:xfrm>
          <a:solidFill>
            <a:schemeClr val="accent5">
              <a:lumMod val="20000"/>
              <a:lumOff val="80000"/>
            </a:schemeClr>
          </a:solidFill>
        </p:spPr>
        <p:txBody>
          <a:bodyPr>
            <a:normAutofit lnSpcReduction="10000"/>
          </a:bodyPr>
          <a:lstStyle/>
          <a:p>
            <a:r>
              <a:rPr lang="en-US" sz="1400" b="1" dirty="0"/>
              <a:t>Two 8 x 2 chips </a:t>
            </a:r>
            <a:r>
              <a:rPr lang="en-US" sz="1400" dirty="0"/>
              <a:t>can be </a:t>
            </a:r>
            <a:r>
              <a:rPr lang="en-US" sz="1400" b="1" dirty="0"/>
              <a:t>combined </a:t>
            </a:r>
            <a:r>
              <a:rPr lang="en-US" sz="1400" dirty="0"/>
              <a:t>to generate an </a:t>
            </a:r>
            <a:r>
              <a:rPr lang="en-US" sz="1400" b="1" dirty="0"/>
              <a:t>8 x 4 memory </a:t>
            </a:r>
            <a:r>
              <a:rPr lang="en-US" sz="1400" dirty="0"/>
              <a:t>as displayed in the figure.</a:t>
            </a:r>
          </a:p>
          <a:p>
            <a:r>
              <a:rPr lang="en-US" sz="1400" b="1" dirty="0"/>
              <a:t>Both chips get the equal three address inputs </a:t>
            </a:r>
            <a:r>
              <a:rPr lang="en-US" sz="1400" dirty="0"/>
              <a:t>from the bus, and the same chip enable (CE) and output enable (OE) signals.</a:t>
            </a:r>
          </a:p>
          <a:p>
            <a:r>
              <a:rPr lang="en-US" sz="1400" dirty="0"/>
              <a:t>The data chips of the first chips are linked to bits 3 and 2 of the data bus(i.e. D</a:t>
            </a:r>
            <a:r>
              <a:rPr lang="en-US" sz="1400" baseline="-25000" dirty="0"/>
              <a:t>3</a:t>
            </a:r>
            <a:r>
              <a:rPr lang="en-US" sz="1400" dirty="0"/>
              <a:t> and D</a:t>
            </a:r>
            <a:r>
              <a:rPr lang="en-US" sz="1400" baseline="-25000" dirty="0"/>
              <a:t>2</a:t>
            </a:r>
            <a:r>
              <a:rPr lang="en-US" sz="1400" dirty="0"/>
              <a:t>) </a:t>
            </a:r>
          </a:p>
          <a:p>
            <a:r>
              <a:rPr lang="en-US" sz="1400" dirty="0"/>
              <a:t>and those of the other chips are linked to bits 1 and 0 (i.e. D</a:t>
            </a:r>
            <a:r>
              <a:rPr lang="en-US" sz="1400" baseline="-25000" dirty="0"/>
              <a:t>1</a:t>
            </a:r>
            <a:r>
              <a:rPr lang="en-US" sz="1400" dirty="0"/>
              <a:t> and D</a:t>
            </a:r>
            <a:r>
              <a:rPr lang="en-US" sz="1400" baseline="-25000" dirty="0"/>
              <a:t>0</a:t>
            </a:r>
            <a:r>
              <a:rPr lang="en-US" sz="1400" dirty="0"/>
              <a:t>) </a:t>
            </a:r>
          </a:p>
          <a:p>
            <a:r>
              <a:rPr lang="en-US" sz="1400" dirty="0"/>
              <a:t>When the CPU reads data, it locates the address on the address bus. </a:t>
            </a:r>
          </a:p>
          <a:p>
            <a:r>
              <a:rPr lang="en-US" sz="1400" dirty="0"/>
              <a:t>Both chips read in address bits A</a:t>
            </a:r>
            <a:r>
              <a:rPr lang="en-US" sz="1400" baseline="-25000" dirty="0"/>
              <a:t>2</a:t>
            </a:r>
            <a:r>
              <a:rPr lang="en-US" sz="1400" dirty="0"/>
              <a:t>, A</a:t>
            </a:r>
            <a:r>
              <a:rPr lang="en-US" sz="1400" baseline="-25000" dirty="0"/>
              <a:t>1</a:t>
            </a:r>
            <a:r>
              <a:rPr lang="en-US" sz="1400" dirty="0"/>
              <a:t>, and A</a:t>
            </a:r>
            <a:r>
              <a:rPr lang="en-US" sz="1400" baseline="-25000" dirty="0"/>
              <a:t>0</a:t>
            </a:r>
            <a:r>
              <a:rPr lang="en-US" sz="1400" dirty="0"/>
              <a:t> and implement their internal decoding..</a:t>
            </a:r>
          </a:p>
          <a:p>
            <a:r>
              <a:rPr lang="en-US" sz="1400" dirty="0"/>
              <a:t>If the </a:t>
            </a:r>
            <a:r>
              <a:rPr lang="en-US" sz="1400" b="1" dirty="0"/>
              <a:t>CE </a:t>
            </a:r>
            <a:r>
              <a:rPr lang="en-US" sz="1400" dirty="0"/>
              <a:t>(Chip Enable) and </a:t>
            </a:r>
            <a:r>
              <a:rPr lang="en-US" sz="1400" b="1" dirty="0"/>
              <a:t>OE</a:t>
            </a:r>
            <a:r>
              <a:rPr lang="en-US" sz="1400" dirty="0"/>
              <a:t> (Output Enable) signals are </a:t>
            </a:r>
            <a:r>
              <a:rPr lang="en-US" sz="1400" b="1" dirty="0"/>
              <a:t>activated</a:t>
            </a:r>
            <a:r>
              <a:rPr lang="en-US" sz="1400" dirty="0"/>
              <a:t>, the </a:t>
            </a:r>
            <a:r>
              <a:rPr lang="en-US" sz="1400" b="1" dirty="0"/>
              <a:t>chips output their data onto the four bits </a:t>
            </a:r>
            <a:r>
              <a:rPr lang="en-US" sz="1400" dirty="0"/>
              <a:t>of the data bus. </a:t>
            </a:r>
          </a:p>
          <a:p>
            <a:r>
              <a:rPr lang="en-US" sz="1400" dirty="0"/>
              <a:t>Because the address and enable signals are equal for both chips, </a:t>
            </a:r>
            <a:r>
              <a:rPr lang="en-US" sz="1400" b="1" dirty="0"/>
              <a:t>either both chips and neither chip is active</a:t>
            </a:r>
            <a:r>
              <a:rPr lang="en-US" sz="1400" dirty="0"/>
              <a:t> at any given time. </a:t>
            </a:r>
          </a:p>
          <a:p>
            <a:r>
              <a:rPr lang="en-US" sz="1400" dirty="0"/>
              <a:t>The device never has only one of the two, active. </a:t>
            </a:r>
          </a:p>
          <a:p>
            <a:r>
              <a:rPr lang="en-US" sz="1400" dirty="0"/>
              <a:t>For this reason, they facilitate as only a single 8 x 4 chip at least until the CPU is concerned.</a:t>
            </a:r>
          </a:p>
          <a:p>
            <a:endParaRPr lang="en-US" sz="100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pic>
        <p:nvPicPr>
          <p:cNvPr id="7" name="Picture 6" descr="https://www.tutorialspoint.com/assets/questions/media/54519/memory_subsystem.jpg">
            <a:extLst>
              <a:ext uri="{FF2B5EF4-FFF2-40B4-BE49-F238E27FC236}">
                <a16:creationId xmlns:a16="http://schemas.microsoft.com/office/drawing/2014/main" id="{A778BC84-F428-427C-A9AA-4986ED84B733}"/>
              </a:ext>
            </a:extLst>
          </p:cNvPr>
          <p:cNvPicPr/>
          <p:nvPr/>
        </p:nvPicPr>
        <p:blipFill rotWithShape="1">
          <a:blip r:embed="rId2">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rcRect t="8354"/>
          <a:stretch/>
        </p:blipFill>
        <p:spPr bwMode="auto">
          <a:xfrm>
            <a:off x="6027821" y="971550"/>
            <a:ext cx="2895600" cy="2994462"/>
          </a:xfrm>
          <a:prstGeom prst="rect">
            <a:avLst/>
          </a:prstGeom>
          <a:noFill/>
          <a:ln>
            <a:noFill/>
          </a:ln>
          <a:extLst>
            <a:ext uri="{53640926-AAD7-44D8-BBD7-CCE9431645EC}">
              <a14:shadowObscured xmlns:a14="http://schemas.microsoft.com/office/drawing/2010/main"/>
            </a:ext>
          </a:extLst>
        </p:spPr>
      </p:pic>
      <p:sp>
        <p:nvSpPr>
          <p:cNvPr id="8" name="Date Placeholder 7">
            <a:extLst>
              <a:ext uri="{FF2B5EF4-FFF2-40B4-BE49-F238E27FC236}">
                <a16:creationId xmlns:a16="http://schemas.microsoft.com/office/drawing/2014/main" id="{B43E8D2D-5AC7-4726-8064-2CCB8EE21801}"/>
              </a:ext>
            </a:extLst>
          </p:cNvPr>
          <p:cNvSpPr>
            <a:spLocks noGrp="1"/>
          </p:cNvSpPr>
          <p:nvPr>
            <p:ph type="dt" sz="half" idx="10"/>
          </p:nvPr>
        </p:nvSpPr>
        <p:spPr/>
        <p:txBody>
          <a:bodyPr/>
          <a:lstStyle/>
          <a:p>
            <a:fld id="{23877AAD-659C-4E35-94F1-9FB07B78018F}" type="datetime1">
              <a:rPr lang="en-US" smtClean="0"/>
              <a:t>7/31/2023</a:t>
            </a:fld>
            <a:endParaRPr lang="en-US"/>
          </a:p>
        </p:txBody>
      </p:sp>
      <p:sp>
        <p:nvSpPr>
          <p:cNvPr id="9" name="Slide Number Placeholder 8">
            <a:extLst>
              <a:ext uri="{FF2B5EF4-FFF2-40B4-BE49-F238E27FC236}">
                <a16:creationId xmlns:a16="http://schemas.microsoft.com/office/drawing/2014/main" id="{78AE204E-C1D5-444E-96CE-44215639054B}"/>
              </a:ext>
            </a:extLst>
          </p:cNvPr>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20624355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800" b="1" dirty="0">
                <a:solidFill>
                  <a:srgbClr val="0070C0"/>
                </a:solidFill>
              </a:rPr>
              <a:t>Construction of 16 x 2 ROM from two 8 x2 ROM chip:</a:t>
            </a:r>
            <a:endParaRPr lang="en-US" sz="3200" b="1" dirty="0">
              <a:solidFill>
                <a:srgbClr val="0070C0"/>
              </a:solidFill>
            </a:endParaRPr>
          </a:p>
        </p:txBody>
      </p:sp>
      <p:sp>
        <p:nvSpPr>
          <p:cNvPr id="3" name="Content Placeholder 2"/>
          <p:cNvSpPr>
            <a:spLocks noGrp="1"/>
          </p:cNvSpPr>
          <p:nvPr>
            <p:ph idx="1"/>
          </p:nvPr>
        </p:nvSpPr>
        <p:spPr>
          <a:xfrm>
            <a:off x="457200" y="590550"/>
            <a:ext cx="1905000" cy="3962400"/>
          </a:xfrm>
          <a:solidFill>
            <a:schemeClr val="accent2">
              <a:lumMod val="20000"/>
              <a:lumOff val="80000"/>
            </a:schemeClr>
          </a:solidFill>
        </p:spPr>
        <p:txBody>
          <a:bodyPr>
            <a:normAutofit/>
          </a:bodyPr>
          <a:lstStyle/>
          <a:p>
            <a:r>
              <a:rPr lang="en-US" sz="1600" dirty="0"/>
              <a:t>Instead of generating wider words, chips can be combined to make more words. </a:t>
            </a:r>
          </a:p>
          <a:p>
            <a:r>
              <a:rPr lang="en-US" sz="1600" dirty="0"/>
              <a:t>The similar two 8 x 2 chips could alternatively be configured as a 16 x 2 memory subsystem.</a:t>
            </a:r>
          </a:p>
          <a:p>
            <a:endParaRPr lang="en-US" sz="160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pic>
        <p:nvPicPr>
          <p:cNvPr id="8" name="Picture 7">
            <a:extLst>
              <a:ext uri="{FF2B5EF4-FFF2-40B4-BE49-F238E27FC236}">
                <a16:creationId xmlns:a16="http://schemas.microsoft.com/office/drawing/2014/main" id="{230E1C32-1B4E-4D25-9585-29522C407CDA}"/>
              </a:ext>
            </a:extLst>
          </p:cNvPr>
          <p:cNvPicPr>
            <a:picLocks noChangeAspect="1"/>
          </p:cNvPicPr>
          <p:nvPr/>
        </p:nvPicPr>
        <p:blipFill>
          <a:blip r:embed="rId2"/>
          <a:stretch>
            <a:fillRect/>
          </a:stretch>
        </p:blipFill>
        <p:spPr>
          <a:xfrm>
            <a:off x="2362200" y="590550"/>
            <a:ext cx="6284259" cy="4176713"/>
          </a:xfrm>
          <a:prstGeom prst="rect">
            <a:avLst/>
          </a:prstGeom>
        </p:spPr>
      </p:pic>
      <p:sp>
        <p:nvSpPr>
          <p:cNvPr id="7" name="Date Placeholder 6">
            <a:extLst>
              <a:ext uri="{FF2B5EF4-FFF2-40B4-BE49-F238E27FC236}">
                <a16:creationId xmlns:a16="http://schemas.microsoft.com/office/drawing/2014/main" id="{8664644B-3EA2-4064-931B-F3225141B0FE}"/>
              </a:ext>
            </a:extLst>
          </p:cNvPr>
          <p:cNvSpPr>
            <a:spLocks noGrp="1"/>
          </p:cNvSpPr>
          <p:nvPr>
            <p:ph type="dt" sz="half" idx="10"/>
          </p:nvPr>
        </p:nvSpPr>
        <p:spPr/>
        <p:txBody>
          <a:bodyPr/>
          <a:lstStyle/>
          <a:p>
            <a:fld id="{6E5902FC-C99E-4BBD-B55F-4413B08F6CEC}" type="datetime1">
              <a:rPr lang="en-US" smtClean="0"/>
              <a:t>7/31/2023</a:t>
            </a:fld>
            <a:endParaRPr lang="en-US"/>
          </a:p>
        </p:txBody>
      </p:sp>
      <p:sp>
        <p:nvSpPr>
          <p:cNvPr id="9" name="Slide Number Placeholder 8">
            <a:extLst>
              <a:ext uri="{FF2B5EF4-FFF2-40B4-BE49-F238E27FC236}">
                <a16:creationId xmlns:a16="http://schemas.microsoft.com/office/drawing/2014/main" id="{26841C36-857B-4607-B7AD-2062244B82D9}"/>
              </a:ext>
            </a:extLst>
          </p:cNvPr>
          <p:cNvSpPr>
            <a:spLocks noGrp="1"/>
          </p:cNvSpPr>
          <p:nvPr>
            <p:ph type="sldNum" sz="quarter" idx="12"/>
          </p:nvPr>
        </p:nvSpPr>
        <p:spPr/>
        <p:txBody>
          <a:bodyPr/>
          <a:lstStyle/>
          <a:p>
            <a:fld id="{B6F15528-21DE-4FAA-801E-634DDDAF4B2B}" type="slidenum">
              <a:rPr lang="en-US" smtClean="0"/>
              <a:pPr/>
              <a:t>59</a:t>
            </a:fld>
            <a:endParaRPr lang="en-US"/>
          </a:p>
        </p:txBody>
      </p:sp>
    </p:spTree>
    <p:extLst>
      <p:ext uri="{BB962C8B-B14F-4D97-AF65-F5344CB8AC3E}">
        <p14:creationId xmlns:p14="http://schemas.microsoft.com/office/powerpoint/2010/main" val="253463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D4F47A-F71A-4869-B607-951E4C83B0FB}"/>
              </a:ext>
            </a:extLst>
          </p:cNvPr>
          <p:cNvPicPr>
            <a:picLocks noChangeAspect="1"/>
          </p:cNvPicPr>
          <p:nvPr/>
        </p:nvPicPr>
        <p:blipFill rotWithShape="1">
          <a:blip r:embed="rId2"/>
          <a:srcRect r="48119" b="3986"/>
          <a:stretch/>
        </p:blipFill>
        <p:spPr>
          <a:xfrm>
            <a:off x="4936035" y="0"/>
            <a:ext cx="4226203" cy="5086350"/>
          </a:xfrm>
          <a:prstGeom prst="rect">
            <a:avLst/>
          </a:prstGeom>
        </p:spPr>
      </p:pic>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400" b="1" dirty="0" err="1">
                <a:solidFill>
                  <a:srgbClr val="7030A0"/>
                </a:solidFill>
              </a:rPr>
              <a:t>i</a:t>
            </a:r>
            <a:r>
              <a:rPr lang="en-US" sz="2400" b="1" dirty="0">
                <a:solidFill>
                  <a:srgbClr val="7030A0"/>
                </a:solidFill>
              </a:rPr>
              <a:t>) Using high-order interleaving</a:t>
            </a:r>
          </a:p>
        </p:txBody>
      </p:sp>
      <p:sp>
        <p:nvSpPr>
          <p:cNvPr id="3" name="Content Placeholder 2"/>
          <p:cNvSpPr>
            <a:spLocks noGrp="1"/>
          </p:cNvSpPr>
          <p:nvPr>
            <p:ph idx="1"/>
          </p:nvPr>
        </p:nvSpPr>
        <p:spPr>
          <a:xfrm>
            <a:off x="457200" y="742950"/>
            <a:ext cx="4648200" cy="3851673"/>
          </a:xfrm>
          <a:solidFill>
            <a:schemeClr val="accent5">
              <a:lumMod val="20000"/>
              <a:lumOff val="80000"/>
            </a:schemeClr>
          </a:solidFill>
        </p:spPr>
        <p:txBody>
          <a:bodyPr>
            <a:normAutofit fontScale="85000" lnSpcReduction="10000"/>
          </a:bodyPr>
          <a:lstStyle/>
          <a:p>
            <a:r>
              <a:rPr lang="en-US" sz="1800" dirty="0"/>
              <a:t>The configuration in figure (a) uses </a:t>
            </a:r>
            <a:r>
              <a:rPr lang="en-US" sz="1800" b="1" dirty="0"/>
              <a:t>high-order interleaving.</a:t>
            </a:r>
            <a:r>
              <a:rPr lang="en-US" sz="1800" dirty="0"/>
              <a:t> All memory locations inside a chip are contiguous within system memory. </a:t>
            </a:r>
          </a:p>
          <a:p>
            <a:r>
              <a:rPr lang="en-US" sz="1800" dirty="0"/>
              <a:t>The </a:t>
            </a:r>
            <a:r>
              <a:rPr lang="en-US" sz="1800" b="1" dirty="0"/>
              <a:t>upper chip </a:t>
            </a:r>
            <a:r>
              <a:rPr lang="en-US" sz="1800" dirty="0"/>
              <a:t>is configured as memory </a:t>
            </a:r>
            <a:r>
              <a:rPr lang="en-US" sz="1800" b="1" dirty="0"/>
              <a:t>locations 0 to 7 </a:t>
            </a:r>
            <a:r>
              <a:rPr lang="en-US" sz="1800" dirty="0"/>
              <a:t>(0000 to 0111) and </a:t>
            </a:r>
          </a:p>
          <a:p>
            <a:r>
              <a:rPr lang="en-US" sz="1800" dirty="0"/>
              <a:t>the </a:t>
            </a:r>
            <a:r>
              <a:rPr lang="en-US" sz="1800" b="1" dirty="0"/>
              <a:t>lower chip</a:t>
            </a:r>
            <a:r>
              <a:rPr lang="en-US" sz="1800" dirty="0"/>
              <a:t> as </a:t>
            </a:r>
            <a:r>
              <a:rPr lang="en-US" sz="1800" b="1" dirty="0"/>
              <a:t>locations 8 to 15 </a:t>
            </a:r>
            <a:r>
              <a:rPr lang="en-US" sz="1800" dirty="0"/>
              <a:t>(1000 to 1111).</a:t>
            </a:r>
          </a:p>
          <a:p>
            <a:r>
              <a:rPr lang="en-US" sz="1800" dirty="0"/>
              <a:t>The upper chip </a:t>
            </a:r>
            <a:r>
              <a:rPr lang="en-US" sz="1800" b="1" dirty="0"/>
              <a:t>always</a:t>
            </a:r>
            <a:r>
              <a:rPr lang="en-US" sz="1800" dirty="0"/>
              <a:t> has</a:t>
            </a:r>
            <a:r>
              <a:rPr lang="en-US" sz="1800" b="1" dirty="0"/>
              <a:t> A</a:t>
            </a:r>
            <a:r>
              <a:rPr lang="en-US" sz="1800" b="1" baseline="-25000" dirty="0"/>
              <a:t>3</a:t>
            </a:r>
            <a:r>
              <a:rPr lang="en-US" sz="1800" b="1" dirty="0"/>
              <a:t>=0 </a:t>
            </a:r>
            <a:r>
              <a:rPr lang="en-US" sz="1800" dirty="0"/>
              <a:t>and the lower chip has </a:t>
            </a:r>
            <a:r>
              <a:rPr lang="en-US" sz="1800" b="1" dirty="0"/>
              <a:t>A</a:t>
            </a:r>
            <a:r>
              <a:rPr lang="en-US" sz="1800" b="1" baseline="-25000" dirty="0"/>
              <a:t>3</a:t>
            </a:r>
            <a:r>
              <a:rPr lang="en-US" sz="1800" b="1" dirty="0"/>
              <a:t>=1. </a:t>
            </a:r>
          </a:p>
          <a:p>
            <a:r>
              <a:rPr lang="en-US" sz="1800" dirty="0"/>
              <a:t>This difference can choose one of the two chips. </a:t>
            </a:r>
          </a:p>
          <a:p>
            <a:r>
              <a:rPr lang="en-US" sz="1800" dirty="0"/>
              <a:t>When </a:t>
            </a:r>
            <a:r>
              <a:rPr lang="en-US" sz="1800" b="1" dirty="0"/>
              <a:t>A</a:t>
            </a:r>
            <a:r>
              <a:rPr lang="en-US" sz="1800" b="1" baseline="-25000" dirty="0"/>
              <a:t>3</a:t>
            </a:r>
            <a:r>
              <a:rPr lang="en-US" sz="1800" b="1" dirty="0"/>
              <a:t>=0, </a:t>
            </a:r>
            <a:r>
              <a:rPr lang="en-US" sz="1800" dirty="0"/>
              <a:t>the </a:t>
            </a:r>
            <a:r>
              <a:rPr lang="en-US" sz="1800" b="1" dirty="0"/>
              <a:t>upper chip is enabled </a:t>
            </a:r>
            <a:r>
              <a:rPr lang="en-US" sz="1800" dirty="0"/>
              <a:t>and the </a:t>
            </a:r>
            <a:r>
              <a:rPr lang="en-US" sz="1800" b="1" dirty="0"/>
              <a:t>lower chip is disabled. </a:t>
            </a:r>
          </a:p>
          <a:p>
            <a:r>
              <a:rPr lang="en-US" sz="1800" dirty="0"/>
              <a:t>The output enables can be linked, because only the chip that is enabled with output data. </a:t>
            </a:r>
          </a:p>
          <a:p>
            <a:r>
              <a:rPr lang="en-US" sz="1800" dirty="0"/>
              <a:t>Both chips correspond to similar data bits, both are linked to D</a:t>
            </a:r>
            <a:r>
              <a:rPr lang="en-US" sz="1800" baseline="-25000" dirty="0"/>
              <a:t>1</a:t>
            </a:r>
            <a:r>
              <a:rPr lang="en-US" sz="1800" dirty="0"/>
              <a:t> and D</a:t>
            </a:r>
            <a:r>
              <a:rPr lang="en-US" sz="1800" baseline="-25000" dirty="0"/>
              <a:t>0</a:t>
            </a:r>
            <a:r>
              <a:rPr lang="en-US" sz="1800" dirty="0"/>
              <a:t> of the data bus</a:t>
            </a:r>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sp>
        <p:nvSpPr>
          <p:cNvPr id="8" name="Rectangle 7">
            <a:extLst>
              <a:ext uri="{FF2B5EF4-FFF2-40B4-BE49-F238E27FC236}">
                <a16:creationId xmlns:a16="http://schemas.microsoft.com/office/drawing/2014/main" id="{D95A7717-AE9D-4ADE-AC27-7562717539D9}"/>
              </a:ext>
            </a:extLst>
          </p:cNvPr>
          <p:cNvSpPr/>
          <p:nvPr/>
        </p:nvSpPr>
        <p:spPr>
          <a:xfrm>
            <a:off x="5105400" y="4248150"/>
            <a:ext cx="457200" cy="42267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a:extLst>
              <a:ext uri="{FF2B5EF4-FFF2-40B4-BE49-F238E27FC236}">
                <a16:creationId xmlns:a16="http://schemas.microsoft.com/office/drawing/2014/main" id="{36B3A98C-995E-4E5E-8FF9-0EED53CC079E}"/>
              </a:ext>
            </a:extLst>
          </p:cNvPr>
          <p:cNvSpPr>
            <a:spLocks noGrp="1"/>
          </p:cNvSpPr>
          <p:nvPr>
            <p:ph type="dt" sz="half" idx="10"/>
          </p:nvPr>
        </p:nvSpPr>
        <p:spPr/>
        <p:txBody>
          <a:bodyPr/>
          <a:lstStyle/>
          <a:p>
            <a:fld id="{BFB8C298-F75F-4DD7-AAEC-C5047BB596C0}" type="datetime1">
              <a:rPr lang="en-US" smtClean="0"/>
              <a:t>7/31/2023</a:t>
            </a:fld>
            <a:endParaRPr lang="en-US"/>
          </a:p>
        </p:txBody>
      </p:sp>
      <p:sp>
        <p:nvSpPr>
          <p:cNvPr id="10" name="Slide Number Placeholder 9">
            <a:extLst>
              <a:ext uri="{FF2B5EF4-FFF2-40B4-BE49-F238E27FC236}">
                <a16:creationId xmlns:a16="http://schemas.microsoft.com/office/drawing/2014/main" id="{C0CF671D-2DD5-4EE9-BC85-8F665F03E5A4}"/>
              </a:ext>
            </a:extLst>
          </p:cNvPr>
          <p:cNvSpPr>
            <a:spLocks noGrp="1"/>
          </p:cNvSpPr>
          <p:nvPr>
            <p:ph type="sldNum" sz="quarter" idx="12"/>
          </p:nvPr>
        </p:nvSpPr>
        <p:spPr/>
        <p:txBody>
          <a:bodyPr/>
          <a:lstStyle/>
          <a:p>
            <a:fld id="{B6F15528-21DE-4FAA-801E-634DDDAF4B2B}" type="slidenum">
              <a:rPr lang="en-US" smtClean="0"/>
              <a:pPr/>
              <a:t>60</a:t>
            </a:fld>
            <a:endParaRPr lang="en-US"/>
          </a:p>
        </p:txBody>
      </p:sp>
    </p:spTree>
    <p:extLst>
      <p:ext uri="{BB962C8B-B14F-4D97-AF65-F5344CB8AC3E}">
        <p14:creationId xmlns:p14="http://schemas.microsoft.com/office/powerpoint/2010/main" val="28604804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D4F47A-F71A-4869-B607-951E4C83B0FB}"/>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86000"/>
                    </a14:imgEffect>
                  </a14:imgLayer>
                </a14:imgProps>
              </a:ext>
            </a:extLst>
          </a:blip>
          <a:srcRect l="47574" t="838" r="545" b="3148"/>
          <a:stretch/>
        </p:blipFill>
        <p:spPr>
          <a:xfrm>
            <a:off x="4801179" y="1"/>
            <a:ext cx="4273689" cy="5143500"/>
          </a:xfrm>
          <a:prstGeom prst="rect">
            <a:avLst/>
          </a:prstGeom>
        </p:spPr>
      </p:pic>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400" b="1" dirty="0">
                <a:solidFill>
                  <a:srgbClr val="7030A0"/>
                </a:solidFill>
              </a:rPr>
              <a:t>ii) Using low-order interleaving</a:t>
            </a:r>
          </a:p>
        </p:txBody>
      </p:sp>
      <p:sp>
        <p:nvSpPr>
          <p:cNvPr id="3" name="Content Placeholder 2"/>
          <p:cNvSpPr>
            <a:spLocks noGrp="1"/>
          </p:cNvSpPr>
          <p:nvPr>
            <p:ph idx="1"/>
          </p:nvPr>
        </p:nvSpPr>
        <p:spPr>
          <a:xfrm>
            <a:off x="457200" y="742950"/>
            <a:ext cx="4648200" cy="3851673"/>
          </a:xfrm>
          <a:solidFill>
            <a:schemeClr val="accent5">
              <a:lumMod val="20000"/>
              <a:lumOff val="80000"/>
            </a:schemeClr>
          </a:solidFill>
        </p:spPr>
        <p:txBody>
          <a:bodyPr>
            <a:normAutofit fontScale="92500"/>
          </a:bodyPr>
          <a:lstStyle/>
          <a:p>
            <a:r>
              <a:rPr lang="en-US" sz="2400" dirty="0"/>
              <a:t>Consider the configuration displayed in figure (b) which uses low-order interleaving. </a:t>
            </a:r>
          </a:p>
          <a:p>
            <a:r>
              <a:rPr lang="en-US" sz="2400" dirty="0"/>
              <a:t>The </a:t>
            </a:r>
            <a:r>
              <a:rPr lang="en-US" sz="2400" b="1" dirty="0"/>
              <a:t>upper chip is enabled </a:t>
            </a:r>
            <a:r>
              <a:rPr lang="en-US" sz="2400" dirty="0"/>
              <a:t>when </a:t>
            </a:r>
            <a:r>
              <a:rPr lang="en-US" sz="2400" b="1" dirty="0"/>
              <a:t>A</a:t>
            </a:r>
            <a:r>
              <a:rPr lang="en-US" sz="2400" b="1" baseline="-25000" dirty="0"/>
              <a:t>0</a:t>
            </a:r>
            <a:r>
              <a:rPr lang="en-US" sz="2400" b="1" dirty="0"/>
              <a:t>=0, </a:t>
            </a:r>
            <a:r>
              <a:rPr lang="en-US" sz="2400" dirty="0"/>
              <a:t>or by addresses XXX0, in this case, </a:t>
            </a:r>
            <a:r>
              <a:rPr lang="en-US" sz="2400" b="1" dirty="0"/>
              <a:t>0, 2, 4, 6, 8, 10,12, and 14. </a:t>
            </a:r>
          </a:p>
          <a:p>
            <a:r>
              <a:rPr lang="en-US" sz="2400" dirty="0"/>
              <a:t>The </a:t>
            </a:r>
            <a:r>
              <a:rPr lang="en-US" sz="2400" b="1" dirty="0"/>
              <a:t>lower chip is enabled </a:t>
            </a:r>
            <a:r>
              <a:rPr lang="en-US" sz="2400" dirty="0"/>
              <a:t>when </a:t>
            </a:r>
            <a:r>
              <a:rPr lang="en-US" sz="2400" b="1" dirty="0"/>
              <a:t>A</a:t>
            </a:r>
            <a:r>
              <a:rPr lang="en-US" sz="2400" b="1" baseline="-25000" dirty="0"/>
              <a:t>0</a:t>
            </a:r>
            <a:r>
              <a:rPr lang="en-US" sz="2400" b="1" dirty="0"/>
              <a:t>=1, </a:t>
            </a:r>
            <a:r>
              <a:rPr lang="en-US" sz="2400" dirty="0"/>
              <a:t>which is correct for addresses </a:t>
            </a:r>
            <a:r>
              <a:rPr lang="en-US" sz="2400" b="1" dirty="0"/>
              <a:t>1, 3, 5, 7, 9, 11, 13, and 15.</a:t>
            </a:r>
          </a:p>
          <a:p>
            <a:endParaRPr lang="en-US" sz="140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sp>
        <p:nvSpPr>
          <p:cNvPr id="8" name="Date Placeholder 7">
            <a:extLst>
              <a:ext uri="{FF2B5EF4-FFF2-40B4-BE49-F238E27FC236}">
                <a16:creationId xmlns:a16="http://schemas.microsoft.com/office/drawing/2014/main" id="{886D5BCC-62DF-48A5-A990-E18E64FEBA6B}"/>
              </a:ext>
            </a:extLst>
          </p:cNvPr>
          <p:cNvSpPr>
            <a:spLocks noGrp="1"/>
          </p:cNvSpPr>
          <p:nvPr>
            <p:ph type="dt" sz="half" idx="10"/>
          </p:nvPr>
        </p:nvSpPr>
        <p:spPr/>
        <p:txBody>
          <a:bodyPr/>
          <a:lstStyle/>
          <a:p>
            <a:fld id="{8A816153-F4AF-44C2-ACCF-E4B80DA4625A}" type="datetime1">
              <a:rPr lang="en-US" smtClean="0"/>
              <a:t>7/31/2023</a:t>
            </a:fld>
            <a:endParaRPr lang="en-US"/>
          </a:p>
        </p:txBody>
      </p:sp>
      <p:sp>
        <p:nvSpPr>
          <p:cNvPr id="9" name="Slide Number Placeholder 8">
            <a:extLst>
              <a:ext uri="{FF2B5EF4-FFF2-40B4-BE49-F238E27FC236}">
                <a16:creationId xmlns:a16="http://schemas.microsoft.com/office/drawing/2014/main" id="{96708E95-3ACB-4DB8-9EE6-B40FEE4CA138}"/>
              </a:ext>
            </a:extLst>
          </p:cNvPr>
          <p:cNvSpPr>
            <a:spLocks noGrp="1"/>
          </p:cNvSpPr>
          <p:nvPr>
            <p:ph type="sldNum" sz="quarter" idx="12"/>
          </p:nvPr>
        </p:nvSpPr>
        <p:spPr/>
        <p:txBody>
          <a:bodyPr/>
          <a:lstStyle/>
          <a:p>
            <a:fld id="{B6F15528-21DE-4FAA-801E-634DDDAF4B2B}" type="slidenum">
              <a:rPr lang="en-US" smtClean="0"/>
              <a:pPr/>
              <a:t>61</a:t>
            </a:fld>
            <a:endParaRPr lang="en-US"/>
          </a:p>
        </p:txBody>
      </p:sp>
    </p:spTree>
    <p:extLst>
      <p:ext uri="{BB962C8B-B14F-4D97-AF65-F5344CB8AC3E}">
        <p14:creationId xmlns:p14="http://schemas.microsoft.com/office/powerpoint/2010/main" val="39090356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D44E0-C344-474D-8CD9-59658BBD8097}"/>
              </a:ext>
            </a:extLst>
          </p:cNvPr>
          <p:cNvSpPr>
            <a:spLocks noGrp="1"/>
          </p:cNvSpPr>
          <p:nvPr>
            <p:ph type="title"/>
          </p:nvPr>
        </p:nvSpPr>
        <p:spPr/>
        <p:txBody>
          <a:bodyPr>
            <a:noAutofit/>
          </a:bodyPr>
          <a:lstStyle/>
          <a:p>
            <a:pPr algn="just"/>
            <a:r>
              <a:rPr lang="en-US" sz="3600" b="1" dirty="0">
                <a:solidFill>
                  <a:srgbClr val="FF0000"/>
                </a:solidFill>
              </a:rPr>
              <a:t>Classwork:</a:t>
            </a:r>
          </a:p>
        </p:txBody>
      </p:sp>
      <p:sp>
        <p:nvSpPr>
          <p:cNvPr id="3" name="Content Placeholder 2">
            <a:extLst>
              <a:ext uri="{FF2B5EF4-FFF2-40B4-BE49-F238E27FC236}">
                <a16:creationId xmlns:a16="http://schemas.microsoft.com/office/drawing/2014/main" id="{86376D59-079A-4129-98CA-6698C0BF6487}"/>
              </a:ext>
            </a:extLst>
          </p:cNvPr>
          <p:cNvSpPr>
            <a:spLocks noGrp="1"/>
          </p:cNvSpPr>
          <p:nvPr>
            <p:ph idx="1"/>
          </p:nvPr>
        </p:nvSpPr>
        <p:spPr/>
        <p:txBody>
          <a:bodyPr>
            <a:normAutofit/>
          </a:bodyPr>
          <a:lstStyle/>
          <a:p>
            <a:pPr marL="514350" lvl="0" indent="-514350">
              <a:buAutoNum type="arabicPeriod"/>
            </a:pPr>
            <a:r>
              <a:rPr lang="en-US" sz="2000" b="1" dirty="0"/>
              <a:t>Design an 8x4 ROM using 4x4 ROM chips using higher order interleaving. Also explain its operation.</a:t>
            </a:r>
          </a:p>
          <a:p>
            <a:pPr marL="514350" lvl="0" indent="-514350">
              <a:buAutoNum type="arabicPeriod"/>
            </a:pPr>
            <a:r>
              <a:rPr lang="en-US" sz="2000" b="1" dirty="0"/>
              <a:t>Design a 16x4 memory subsystem with low order interleaving using 8x2 memory chips for a computer system with an 8-bit address bus.</a:t>
            </a:r>
          </a:p>
          <a:p>
            <a:pPr marL="514350" lvl="0" indent="-514350">
              <a:buAutoNum type="arabicPeriod"/>
            </a:pPr>
            <a:r>
              <a:rPr lang="en-US" sz="2000" b="1" dirty="0"/>
              <a:t>Design a 32x 8 memory subsystem with high-order interleaving using 16x2 memory chips for a computer system with an 8-bit address bus.</a:t>
            </a:r>
            <a:endParaRPr lang="en-US" sz="2000" dirty="0"/>
          </a:p>
        </p:txBody>
      </p:sp>
      <p:sp>
        <p:nvSpPr>
          <p:cNvPr id="4" name="Date Placeholder 3">
            <a:extLst>
              <a:ext uri="{FF2B5EF4-FFF2-40B4-BE49-F238E27FC236}">
                <a16:creationId xmlns:a16="http://schemas.microsoft.com/office/drawing/2014/main" id="{4FF13894-F37D-4112-A341-33B8EAFAEA7C}"/>
              </a:ext>
            </a:extLst>
          </p:cNvPr>
          <p:cNvSpPr>
            <a:spLocks noGrp="1"/>
          </p:cNvSpPr>
          <p:nvPr>
            <p:ph type="dt" sz="half" idx="10"/>
          </p:nvPr>
        </p:nvSpPr>
        <p:spPr/>
        <p:txBody>
          <a:bodyPr/>
          <a:lstStyle/>
          <a:p>
            <a:fld id="{BD50ED8D-CD9A-4047-9433-09A80D5ED4ED}" type="datetime1">
              <a:rPr lang="en-US" smtClean="0"/>
              <a:t>7/31/2023</a:t>
            </a:fld>
            <a:endParaRPr lang="en-US"/>
          </a:p>
        </p:txBody>
      </p:sp>
      <p:sp>
        <p:nvSpPr>
          <p:cNvPr id="5" name="Footer Placeholder 4">
            <a:extLst>
              <a:ext uri="{FF2B5EF4-FFF2-40B4-BE49-F238E27FC236}">
                <a16:creationId xmlns:a16="http://schemas.microsoft.com/office/drawing/2014/main" id="{4721D9BB-76FF-4338-BCD8-92B2A00A2C60}"/>
              </a:ext>
            </a:extLst>
          </p:cNvPr>
          <p:cNvSpPr>
            <a:spLocks noGrp="1"/>
          </p:cNvSpPr>
          <p:nvPr>
            <p:ph type="ftr" sz="quarter" idx="11"/>
          </p:nvPr>
        </p:nvSpPr>
        <p:spPr/>
        <p:txBody>
          <a:bodyPr/>
          <a:lstStyle/>
          <a:p>
            <a:r>
              <a:rPr lang="en-US"/>
              <a:t>Microprocessor and Computer Architecture, BSE-II</a:t>
            </a:r>
          </a:p>
        </p:txBody>
      </p:sp>
      <p:sp>
        <p:nvSpPr>
          <p:cNvPr id="6" name="Slide Number Placeholder 5">
            <a:extLst>
              <a:ext uri="{FF2B5EF4-FFF2-40B4-BE49-F238E27FC236}">
                <a16:creationId xmlns:a16="http://schemas.microsoft.com/office/drawing/2014/main" id="{B98CDC51-5485-4237-BFCE-257BC832E179}"/>
              </a:ext>
            </a:extLst>
          </p:cNvPr>
          <p:cNvSpPr>
            <a:spLocks noGrp="1"/>
          </p:cNvSpPr>
          <p:nvPr>
            <p:ph type="sldNum" sz="quarter" idx="12"/>
          </p:nvPr>
        </p:nvSpPr>
        <p:spPr/>
        <p:txBody>
          <a:bodyPr/>
          <a:lstStyle/>
          <a:p>
            <a:fld id="{B6F15528-21DE-4FAA-801E-634DDDAF4B2B}" type="slidenum">
              <a:rPr lang="en-US" smtClean="0"/>
              <a:pPr/>
              <a:t>62</a:t>
            </a:fld>
            <a:endParaRPr lang="en-US"/>
          </a:p>
        </p:txBody>
      </p:sp>
    </p:spTree>
    <p:extLst>
      <p:ext uri="{BB962C8B-B14F-4D97-AF65-F5344CB8AC3E}">
        <p14:creationId xmlns:p14="http://schemas.microsoft.com/office/powerpoint/2010/main" val="33088795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D44E0-C344-474D-8CD9-59658BBD8097}"/>
              </a:ext>
            </a:extLst>
          </p:cNvPr>
          <p:cNvSpPr>
            <a:spLocks noGrp="1"/>
          </p:cNvSpPr>
          <p:nvPr>
            <p:ph type="title"/>
          </p:nvPr>
        </p:nvSpPr>
        <p:spPr>
          <a:xfrm>
            <a:off x="457200" y="205979"/>
            <a:ext cx="8229600" cy="342898"/>
          </a:xfrm>
        </p:spPr>
        <p:txBody>
          <a:bodyPr>
            <a:noAutofit/>
          </a:bodyPr>
          <a:lstStyle/>
          <a:p>
            <a:pPr lvl="0" algn="l"/>
            <a:r>
              <a:rPr lang="en-US" sz="1800" b="1" dirty="0">
                <a:solidFill>
                  <a:srgbClr val="7030A0"/>
                </a:solidFill>
              </a:rPr>
              <a:t>1. Design an 8x4 ROM using 4x4 ROM chips using higher order interleaving. Also explain its operation.</a:t>
            </a:r>
            <a:endParaRPr lang="en-US" sz="1800" dirty="0">
              <a:solidFill>
                <a:srgbClr val="7030A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6376D59-079A-4129-98CA-6698C0BF6487}"/>
                  </a:ext>
                </a:extLst>
              </p:cNvPr>
              <p:cNvSpPr>
                <a:spLocks noGrp="1"/>
              </p:cNvSpPr>
              <p:nvPr>
                <p:ph idx="1"/>
              </p:nvPr>
            </p:nvSpPr>
            <p:spPr>
              <a:xfrm>
                <a:off x="457200" y="666750"/>
                <a:ext cx="4267200" cy="3927873"/>
              </a:xfrm>
            </p:spPr>
            <p:txBody>
              <a:bodyPr>
                <a:normAutofit/>
              </a:bodyPr>
              <a:lstStyle/>
              <a:p>
                <a:r>
                  <a:rPr lang="en-US" sz="1200" dirty="0"/>
                  <a:t>Here:</a:t>
                </a:r>
              </a:p>
              <a:p>
                <a:r>
                  <a:rPr lang="en-US" sz="1200" dirty="0"/>
                  <a:t>Available ROM size = 4x4</a:t>
                </a:r>
              </a:p>
              <a:p>
                <a:r>
                  <a:rPr lang="en-US" sz="1200" dirty="0"/>
                  <a:t>Required ROM size = 8x4</a:t>
                </a:r>
              </a:p>
              <a:p>
                <a:r>
                  <a:rPr lang="en-US" sz="1200" dirty="0"/>
                  <a:t>No. of required ROMs = </a:t>
                </a:r>
                <a14:m>
                  <m:oMath xmlns:m="http://schemas.openxmlformats.org/officeDocument/2006/math">
                    <m:f>
                      <m:fPr>
                        <m:ctrlPr>
                          <a:rPr lang="en-US" sz="1200" i="1">
                            <a:latin typeface="Cambria Math" panose="02040503050406030204" pitchFamily="18" charset="0"/>
                          </a:rPr>
                        </m:ctrlPr>
                      </m:fPr>
                      <m:num>
                        <m:r>
                          <a:rPr lang="en-US" sz="1200" i="1">
                            <a:latin typeface="Cambria Math" panose="02040503050406030204" pitchFamily="18" charset="0"/>
                          </a:rPr>
                          <m:t>8</m:t>
                        </m:r>
                        <m:r>
                          <a:rPr lang="en-US" sz="1200" i="1">
                            <a:latin typeface="Cambria Math" panose="02040503050406030204" pitchFamily="18" charset="0"/>
                          </a:rPr>
                          <m:t>𝑥</m:t>
                        </m:r>
                        <m:r>
                          <a:rPr lang="en-US" sz="1200" i="1">
                            <a:latin typeface="Cambria Math" panose="02040503050406030204" pitchFamily="18" charset="0"/>
                          </a:rPr>
                          <m:t>4</m:t>
                        </m:r>
                      </m:num>
                      <m:den>
                        <m:r>
                          <a:rPr lang="en-US" sz="1200" i="1">
                            <a:latin typeface="Cambria Math" panose="02040503050406030204" pitchFamily="18" charset="0"/>
                          </a:rPr>
                          <m:t>4</m:t>
                        </m:r>
                        <m:r>
                          <a:rPr lang="en-US" sz="1200" i="1">
                            <a:latin typeface="Cambria Math" panose="02040503050406030204" pitchFamily="18" charset="0"/>
                          </a:rPr>
                          <m:t>𝑥</m:t>
                        </m:r>
                        <m:r>
                          <a:rPr lang="en-US" sz="1200" i="1">
                            <a:latin typeface="Cambria Math" panose="02040503050406030204" pitchFamily="18" charset="0"/>
                          </a:rPr>
                          <m:t>4</m:t>
                        </m:r>
                      </m:den>
                    </m:f>
                  </m:oMath>
                </a14:m>
                <a:r>
                  <a:rPr lang="en-US" sz="1200" dirty="0"/>
                  <a:t> = 2</a:t>
                </a:r>
              </a:p>
              <a:p>
                <a:r>
                  <a:rPr lang="en-US" sz="1200" dirty="0"/>
                  <a:t>Since, the multiplicand is different, we will have vertical arrangement of ROMs as below:</a:t>
                </a:r>
              </a:p>
              <a:p>
                <a:pPr marL="0" indent="0">
                  <a:buNone/>
                </a:pPr>
                <a:endParaRPr lang="en-US" sz="1200" dirty="0"/>
              </a:p>
            </p:txBody>
          </p:sp>
        </mc:Choice>
        <mc:Fallback xmlns="">
          <p:sp>
            <p:nvSpPr>
              <p:cNvPr id="3" name="Content Placeholder 2">
                <a:extLst>
                  <a:ext uri="{FF2B5EF4-FFF2-40B4-BE49-F238E27FC236}">
                    <a16:creationId xmlns:a16="http://schemas.microsoft.com/office/drawing/2014/main" id="{86376D59-079A-4129-98CA-6698C0BF6487}"/>
                  </a:ext>
                </a:extLst>
              </p:cNvPr>
              <p:cNvSpPr>
                <a:spLocks noGrp="1" noRot="1" noChangeAspect="1" noMove="1" noResize="1" noEditPoints="1" noAdjustHandles="1" noChangeArrowheads="1" noChangeShapeType="1" noTextEdit="1"/>
              </p:cNvSpPr>
              <p:nvPr>
                <p:ph idx="1"/>
              </p:nvPr>
            </p:nvSpPr>
            <p:spPr>
              <a:xfrm>
                <a:off x="457200" y="666750"/>
                <a:ext cx="4267200" cy="3927873"/>
              </a:xfrm>
              <a:blipFill>
                <a:blip r:embed="rId2"/>
                <a:stretch>
                  <a:fillRect/>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4FF13894-F37D-4112-A341-33B8EAFAEA7C}"/>
              </a:ext>
            </a:extLst>
          </p:cNvPr>
          <p:cNvSpPr>
            <a:spLocks noGrp="1"/>
          </p:cNvSpPr>
          <p:nvPr>
            <p:ph type="dt" sz="half" idx="10"/>
          </p:nvPr>
        </p:nvSpPr>
        <p:spPr/>
        <p:txBody>
          <a:bodyPr/>
          <a:lstStyle/>
          <a:p>
            <a:fld id="{572DC051-E9C3-4D35-AD26-9A2A4BDEF3E9}" type="datetime1">
              <a:rPr lang="en-US" smtClean="0"/>
              <a:t>7/31/2023</a:t>
            </a:fld>
            <a:endParaRPr lang="en-US"/>
          </a:p>
        </p:txBody>
      </p:sp>
      <p:sp>
        <p:nvSpPr>
          <p:cNvPr id="5" name="Footer Placeholder 4">
            <a:extLst>
              <a:ext uri="{FF2B5EF4-FFF2-40B4-BE49-F238E27FC236}">
                <a16:creationId xmlns:a16="http://schemas.microsoft.com/office/drawing/2014/main" id="{4721D9BB-76FF-4338-BCD8-92B2A00A2C60}"/>
              </a:ext>
            </a:extLst>
          </p:cNvPr>
          <p:cNvSpPr>
            <a:spLocks noGrp="1"/>
          </p:cNvSpPr>
          <p:nvPr>
            <p:ph type="ftr" sz="quarter" idx="11"/>
          </p:nvPr>
        </p:nvSpPr>
        <p:spPr/>
        <p:txBody>
          <a:bodyPr/>
          <a:lstStyle/>
          <a:p>
            <a:r>
              <a:rPr lang="en-US"/>
              <a:t>Microprocessor and Computer Architecture, BSE-II</a:t>
            </a:r>
          </a:p>
        </p:txBody>
      </p:sp>
      <p:sp>
        <p:nvSpPr>
          <p:cNvPr id="6" name="Slide Number Placeholder 5">
            <a:extLst>
              <a:ext uri="{FF2B5EF4-FFF2-40B4-BE49-F238E27FC236}">
                <a16:creationId xmlns:a16="http://schemas.microsoft.com/office/drawing/2014/main" id="{B98CDC51-5485-4237-BFCE-257BC832E179}"/>
              </a:ext>
            </a:extLst>
          </p:cNvPr>
          <p:cNvSpPr>
            <a:spLocks noGrp="1"/>
          </p:cNvSpPr>
          <p:nvPr>
            <p:ph type="sldNum" sz="quarter" idx="12"/>
          </p:nvPr>
        </p:nvSpPr>
        <p:spPr/>
        <p:txBody>
          <a:bodyPr/>
          <a:lstStyle/>
          <a:p>
            <a:fld id="{B6F15528-21DE-4FAA-801E-634DDDAF4B2B}" type="slidenum">
              <a:rPr lang="en-US" smtClean="0"/>
              <a:pPr/>
              <a:t>63</a:t>
            </a:fld>
            <a:endParaRPr lang="en-US"/>
          </a:p>
        </p:txBody>
      </p:sp>
      <p:pic>
        <p:nvPicPr>
          <p:cNvPr id="7" name="Picture 6">
            <a:extLst>
              <a:ext uri="{FF2B5EF4-FFF2-40B4-BE49-F238E27FC236}">
                <a16:creationId xmlns:a16="http://schemas.microsoft.com/office/drawing/2014/main" id="{7A059F7C-10A0-4509-B9D3-9084B31CE23F}"/>
              </a:ext>
            </a:extLst>
          </p:cNvPr>
          <p:cNvPicPr/>
          <p:nvPr/>
        </p:nvPicPr>
        <p:blipFill>
          <a:blip r:embed="rId3" cstate="print">
            <a:extLst>
              <a:ext uri="{BEBA8EAE-BF5A-486C-A8C5-ECC9F3942E4B}">
                <a14:imgProps xmlns:a14="http://schemas.microsoft.com/office/drawing/2010/main">
                  <a14:imgLayer r:embed="rId4">
                    <a14:imgEffect>
                      <a14:sharpenSoften amount="100000"/>
                    </a14:imgEffect>
                    <a14:imgEffect>
                      <a14:brightnessContrast bright="60000"/>
                    </a14:imgEffect>
                  </a14:imgLayer>
                </a14:imgProps>
              </a:ext>
              <a:ext uri="{28A0092B-C50C-407E-A947-70E740481C1C}">
                <a14:useLocalDpi xmlns:a14="http://schemas.microsoft.com/office/drawing/2010/main" val="0"/>
              </a:ext>
            </a:extLst>
          </a:blip>
          <a:srcRect/>
          <a:stretch>
            <a:fillRect/>
          </a:stretch>
        </p:blipFill>
        <p:spPr bwMode="auto">
          <a:xfrm>
            <a:off x="845185" y="2016521"/>
            <a:ext cx="3345815" cy="2921000"/>
          </a:xfrm>
          <a:prstGeom prst="rect">
            <a:avLst/>
          </a:prstGeom>
          <a:noFill/>
          <a:ln>
            <a:noFill/>
          </a:ln>
        </p:spPr>
      </p:pic>
      <p:sp>
        <p:nvSpPr>
          <p:cNvPr id="8" name="Content Placeholder 2">
            <a:extLst>
              <a:ext uri="{FF2B5EF4-FFF2-40B4-BE49-F238E27FC236}">
                <a16:creationId xmlns:a16="http://schemas.microsoft.com/office/drawing/2014/main" id="{8C289B69-8B1E-4DB4-B346-F834AE87DC26}"/>
              </a:ext>
            </a:extLst>
          </p:cNvPr>
          <p:cNvSpPr txBox="1">
            <a:spLocks/>
          </p:cNvSpPr>
          <p:nvPr/>
        </p:nvSpPr>
        <p:spPr>
          <a:xfrm>
            <a:off x="5059101" y="1352550"/>
            <a:ext cx="3657600" cy="332839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a:t>When A2= 0, the 1:2 decoder outputs form the first line (</a:t>
            </a:r>
            <a:r>
              <a:rPr lang="en-US" sz="1400" dirty="0" err="1"/>
              <a:t>i.e</a:t>
            </a:r>
            <a:r>
              <a:rPr lang="en-US" sz="1400" dirty="0"/>
              <a:t> 0) and thus enables ROM1</a:t>
            </a:r>
          </a:p>
          <a:p>
            <a:r>
              <a:rPr lang="en-US" sz="1400" dirty="0"/>
              <a:t>When A2= 0, the 1:2 decoder outputs form the second line (</a:t>
            </a:r>
            <a:r>
              <a:rPr lang="en-US" sz="1400" dirty="0" err="1"/>
              <a:t>i.e</a:t>
            </a:r>
            <a:r>
              <a:rPr lang="en-US" sz="1400" dirty="0"/>
              <a:t> 1) and thus enables ROM2.</a:t>
            </a:r>
          </a:p>
          <a:p>
            <a:r>
              <a:rPr lang="en-US" sz="1400" dirty="0"/>
              <a:t>When address line (A2-A0) is from 000 to 011, the upper ROM1 chip is enabled and the corresponding data (D3-D0) will be out.</a:t>
            </a:r>
          </a:p>
          <a:p>
            <a:r>
              <a:rPr lang="en-US" sz="1400" dirty="0"/>
              <a:t>When address line (A2-A0) is from 100 to 111, the upper ROM1 chip is enabled and the corresponding data (D3-D0) will be out.</a:t>
            </a:r>
          </a:p>
        </p:txBody>
      </p:sp>
    </p:spTree>
    <p:extLst>
      <p:ext uri="{BB962C8B-B14F-4D97-AF65-F5344CB8AC3E}">
        <p14:creationId xmlns:p14="http://schemas.microsoft.com/office/powerpoint/2010/main" val="9917340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D44E0-C344-474D-8CD9-59658BBD8097}"/>
              </a:ext>
            </a:extLst>
          </p:cNvPr>
          <p:cNvSpPr>
            <a:spLocks noGrp="1"/>
          </p:cNvSpPr>
          <p:nvPr>
            <p:ph type="title"/>
          </p:nvPr>
        </p:nvSpPr>
        <p:spPr/>
        <p:txBody>
          <a:bodyPr>
            <a:noAutofit/>
          </a:bodyPr>
          <a:lstStyle/>
          <a:p>
            <a:pPr algn="just"/>
            <a:r>
              <a:rPr lang="en-US" sz="2000" b="1" dirty="0">
                <a:solidFill>
                  <a:srgbClr val="7030A0"/>
                </a:solidFill>
              </a:rPr>
              <a:t>2. Design a 16x4 memory subsystem with low order interleaving using 8x2 memory chips for a computer system with an 8-bit address bus.</a:t>
            </a:r>
            <a:endParaRPr lang="en-US" sz="2000" dirty="0">
              <a:solidFill>
                <a:srgbClr val="7030A0"/>
              </a:solidFill>
            </a:endParaRPr>
          </a:p>
        </p:txBody>
      </p:sp>
      <p:sp>
        <p:nvSpPr>
          <p:cNvPr id="4" name="Date Placeholder 3">
            <a:extLst>
              <a:ext uri="{FF2B5EF4-FFF2-40B4-BE49-F238E27FC236}">
                <a16:creationId xmlns:a16="http://schemas.microsoft.com/office/drawing/2014/main" id="{4FF13894-F37D-4112-A341-33B8EAFAEA7C}"/>
              </a:ext>
            </a:extLst>
          </p:cNvPr>
          <p:cNvSpPr>
            <a:spLocks noGrp="1"/>
          </p:cNvSpPr>
          <p:nvPr>
            <p:ph type="dt" sz="half" idx="10"/>
          </p:nvPr>
        </p:nvSpPr>
        <p:spPr/>
        <p:txBody>
          <a:bodyPr/>
          <a:lstStyle/>
          <a:p>
            <a:fld id="{6BDEB3BF-F869-4199-A3C0-019F5C463E29}" type="datetime1">
              <a:rPr lang="en-US" smtClean="0"/>
              <a:t>7/31/2023</a:t>
            </a:fld>
            <a:endParaRPr lang="en-US"/>
          </a:p>
        </p:txBody>
      </p:sp>
      <p:sp>
        <p:nvSpPr>
          <p:cNvPr id="5" name="Footer Placeholder 4">
            <a:extLst>
              <a:ext uri="{FF2B5EF4-FFF2-40B4-BE49-F238E27FC236}">
                <a16:creationId xmlns:a16="http://schemas.microsoft.com/office/drawing/2014/main" id="{4721D9BB-76FF-4338-BCD8-92B2A00A2C60}"/>
              </a:ext>
            </a:extLst>
          </p:cNvPr>
          <p:cNvSpPr>
            <a:spLocks noGrp="1"/>
          </p:cNvSpPr>
          <p:nvPr>
            <p:ph type="ftr" sz="quarter" idx="11"/>
          </p:nvPr>
        </p:nvSpPr>
        <p:spPr/>
        <p:txBody>
          <a:bodyPr/>
          <a:lstStyle/>
          <a:p>
            <a:r>
              <a:rPr lang="en-US"/>
              <a:t>Microprocessor and Computer Architecture, BSE-II</a:t>
            </a:r>
          </a:p>
        </p:txBody>
      </p:sp>
      <p:sp>
        <p:nvSpPr>
          <p:cNvPr id="6" name="Slide Number Placeholder 5">
            <a:extLst>
              <a:ext uri="{FF2B5EF4-FFF2-40B4-BE49-F238E27FC236}">
                <a16:creationId xmlns:a16="http://schemas.microsoft.com/office/drawing/2014/main" id="{B98CDC51-5485-4237-BFCE-257BC832E179}"/>
              </a:ext>
            </a:extLst>
          </p:cNvPr>
          <p:cNvSpPr>
            <a:spLocks noGrp="1"/>
          </p:cNvSpPr>
          <p:nvPr>
            <p:ph type="sldNum" sz="quarter" idx="12"/>
          </p:nvPr>
        </p:nvSpPr>
        <p:spPr/>
        <p:txBody>
          <a:bodyPr/>
          <a:lstStyle/>
          <a:p>
            <a:fld id="{B6F15528-21DE-4FAA-801E-634DDDAF4B2B}" type="slidenum">
              <a:rPr lang="en-US" smtClean="0"/>
              <a:pPr/>
              <a:t>64</a:t>
            </a:fld>
            <a:endParaRPr lang="en-US"/>
          </a:p>
        </p:txBody>
      </p:sp>
      <p:pic>
        <p:nvPicPr>
          <p:cNvPr id="7" name="image107.png">
            <a:extLst>
              <a:ext uri="{FF2B5EF4-FFF2-40B4-BE49-F238E27FC236}">
                <a16:creationId xmlns:a16="http://schemas.microsoft.com/office/drawing/2014/main" id="{6B99F7B7-8764-4A9B-A44B-320DEF006D6A}"/>
              </a:ext>
            </a:extLst>
          </p:cNvPr>
          <p:cNvPicPr>
            <a:picLocks noGrp="1"/>
          </p:cNvPicPr>
          <p:nvPr>
            <p:ph idx="1"/>
          </p:nvPr>
        </p:nvPicPr>
        <p:blipFill>
          <a:blip r:embed="rId2" cstate="print">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val="0"/>
              </a:ext>
            </a:extLst>
          </a:blip>
          <a:stretch>
            <a:fillRect/>
          </a:stretch>
        </p:blipFill>
        <p:spPr>
          <a:xfrm>
            <a:off x="4170215" y="1039166"/>
            <a:ext cx="4063357" cy="3725089"/>
          </a:xfrm>
          <a:prstGeom prst="rect">
            <a:avLst/>
          </a:prstGeom>
        </p:spPr>
      </p:pic>
      <p:sp>
        <p:nvSpPr>
          <p:cNvPr id="9" name="Rectangle 8">
            <a:extLst>
              <a:ext uri="{FF2B5EF4-FFF2-40B4-BE49-F238E27FC236}">
                <a16:creationId xmlns:a16="http://schemas.microsoft.com/office/drawing/2014/main" id="{ECCC29E2-F455-4E19-8ACC-7779B392C9A9}"/>
              </a:ext>
            </a:extLst>
          </p:cNvPr>
          <p:cNvSpPr/>
          <p:nvPr/>
        </p:nvSpPr>
        <p:spPr>
          <a:xfrm>
            <a:off x="3962400" y="4344590"/>
            <a:ext cx="1853943" cy="4226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3F24791-BE87-489E-BFA9-128ADCB17CE5}"/>
              </a:ext>
            </a:extLst>
          </p:cNvPr>
          <p:cNvSpPr txBox="1"/>
          <p:nvPr/>
        </p:nvSpPr>
        <p:spPr>
          <a:xfrm>
            <a:off x="132302" y="4423767"/>
            <a:ext cx="3296697" cy="246221"/>
          </a:xfrm>
          <a:prstGeom prst="rect">
            <a:avLst/>
          </a:prstGeom>
          <a:noFill/>
        </p:spPr>
        <p:txBody>
          <a:bodyPr wrap="square" rtlCol="0">
            <a:spAutoFit/>
          </a:bodyPr>
          <a:lstStyle/>
          <a:p>
            <a:r>
              <a:rPr lang="en-US" sz="1000" b="1" dirty="0">
                <a:solidFill>
                  <a:srgbClr val="FF0000"/>
                </a:solidFill>
              </a:rPr>
              <a:t>Note: Decoder can be used for bit interleaving as in </a:t>
            </a:r>
            <a:r>
              <a:rPr lang="en-US" sz="1000" b="1" dirty="0" err="1">
                <a:solidFill>
                  <a:srgbClr val="FF0000"/>
                </a:solidFill>
              </a:rPr>
              <a:t>qstn</a:t>
            </a:r>
            <a:r>
              <a:rPr lang="en-US" sz="1000" b="1" dirty="0">
                <a:solidFill>
                  <a:srgbClr val="FF0000"/>
                </a:solidFill>
              </a:rPr>
              <a:t> 1</a:t>
            </a:r>
          </a:p>
        </p:txBody>
      </p:sp>
    </p:spTree>
    <p:extLst>
      <p:ext uri="{BB962C8B-B14F-4D97-AF65-F5344CB8AC3E}">
        <p14:creationId xmlns:p14="http://schemas.microsoft.com/office/powerpoint/2010/main" val="11515077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D01A3-0FB2-43E4-A1C4-59E2BB20565A}"/>
              </a:ext>
            </a:extLst>
          </p:cNvPr>
          <p:cNvSpPr>
            <a:spLocks noGrp="1"/>
          </p:cNvSpPr>
          <p:nvPr>
            <p:ph type="title"/>
          </p:nvPr>
        </p:nvSpPr>
        <p:spPr>
          <a:xfrm>
            <a:off x="457200" y="205979"/>
            <a:ext cx="8229600" cy="583408"/>
          </a:xfrm>
        </p:spPr>
        <p:txBody>
          <a:bodyPr>
            <a:noAutofit/>
          </a:bodyPr>
          <a:lstStyle/>
          <a:p>
            <a:pPr lvl="0" algn="just"/>
            <a:r>
              <a:rPr lang="en-US" sz="2000" b="1" dirty="0">
                <a:solidFill>
                  <a:srgbClr val="7030A0"/>
                </a:solidFill>
              </a:rPr>
              <a:t>3. Design a 32x 8 memory subsystem with high-order interleaving using 16x2 memory chips for a computer system with an 8-bit address bus.</a:t>
            </a:r>
            <a:endParaRPr lang="en-US" sz="2000" dirty="0">
              <a:solidFill>
                <a:srgbClr val="7030A0"/>
              </a:solidFill>
            </a:endParaRPr>
          </a:p>
        </p:txBody>
      </p:sp>
      <p:sp>
        <p:nvSpPr>
          <p:cNvPr id="3" name="Content Placeholder 2">
            <a:extLst>
              <a:ext uri="{FF2B5EF4-FFF2-40B4-BE49-F238E27FC236}">
                <a16:creationId xmlns:a16="http://schemas.microsoft.com/office/drawing/2014/main" id="{F84D46EA-3AC0-4130-9034-90D9C27E54C4}"/>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671A1D70-D5BF-4BA8-B587-4598535F01CB}"/>
              </a:ext>
            </a:extLst>
          </p:cNvPr>
          <p:cNvSpPr>
            <a:spLocks noGrp="1"/>
          </p:cNvSpPr>
          <p:nvPr>
            <p:ph type="dt" sz="half" idx="10"/>
          </p:nvPr>
        </p:nvSpPr>
        <p:spPr/>
        <p:txBody>
          <a:bodyPr/>
          <a:lstStyle/>
          <a:p>
            <a:fld id="{0765FA43-274A-4CB6-9AD2-F4BDD3C997FB}" type="datetime1">
              <a:rPr lang="en-US" smtClean="0"/>
              <a:t>7/31/2023</a:t>
            </a:fld>
            <a:endParaRPr lang="en-US"/>
          </a:p>
        </p:txBody>
      </p:sp>
      <p:sp>
        <p:nvSpPr>
          <p:cNvPr id="5" name="Footer Placeholder 4">
            <a:extLst>
              <a:ext uri="{FF2B5EF4-FFF2-40B4-BE49-F238E27FC236}">
                <a16:creationId xmlns:a16="http://schemas.microsoft.com/office/drawing/2014/main" id="{137AB73B-7CBB-4E58-BF39-62608055A672}"/>
              </a:ext>
            </a:extLst>
          </p:cNvPr>
          <p:cNvSpPr>
            <a:spLocks noGrp="1"/>
          </p:cNvSpPr>
          <p:nvPr>
            <p:ph type="ftr" sz="quarter" idx="11"/>
          </p:nvPr>
        </p:nvSpPr>
        <p:spPr/>
        <p:txBody>
          <a:bodyPr/>
          <a:lstStyle/>
          <a:p>
            <a:r>
              <a:rPr lang="en-US"/>
              <a:t>Microprocessor and Computer Architecture, BSE-II</a:t>
            </a:r>
          </a:p>
        </p:txBody>
      </p:sp>
      <p:sp>
        <p:nvSpPr>
          <p:cNvPr id="6" name="Slide Number Placeholder 5">
            <a:extLst>
              <a:ext uri="{FF2B5EF4-FFF2-40B4-BE49-F238E27FC236}">
                <a16:creationId xmlns:a16="http://schemas.microsoft.com/office/drawing/2014/main" id="{1CCEEE17-A02A-42D8-B722-EF462E1F4218}"/>
              </a:ext>
            </a:extLst>
          </p:cNvPr>
          <p:cNvSpPr>
            <a:spLocks noGrp="1"/>
          </p:cNvSpPr>
          <p:nvPr>
            <p:ph type="sldNum" sz="quarter" idx="12"/>
          </p:nvPr>
        </p:nvSpPr>
        <p:spPr/>
        <p:txBody>
          <a:bodyPr/>
          <a:lstStyle/>
          <a:p>
            <a:fld id="{B6F15528-21DE-4FAA-801E-634DDDAF4B2B}" type="slidenum">
              <a:rPr lang="en-US" smtClean="0"/>
              <a:pPr/>
              <a:t>65</a:t>
            </a:fld>
            <a:endParaRPr lang="en-US"/>
          </a:p>
        </p:txBody>
      </p:sp>
      <p:pic>
        <p:nvPicPr>
          <p:cNvPr id="7" name="image106.png">
            <a:extLst>
              <a:ext uri="{FF2B5EF4-FFF2-40B4-BE49-F238E27FC236}">
                <a16:creationId xmlns:a16="http://schemas.microsoft.com/office/drawing/2014/main" id="{BFAB8CE6-4BB4-405F-B1FD-1714C087FBD6}"/>
              </a:ext>
            </a:extLst>
          </p:cNvPr>
          <p:cNvPicPr>
            <a:picLocks/>
          </p:cNvPicPr>
          <p:nvPr/>
        </p:nvPicPr>
        <p:blipFill rotWithShape="1">
          <a:blip r:embed="rId2" cstate="print">
            <a:extLst>
              <a:ext uri="{28A0092B-C50C-407E-A947-70E740481C1C}">
                <a14:useLocalDpi xmlns:a14="http://schemas.microsoft.com/office/drawing/2010/main" val="0"/>
              </a:ext>
            </a:extLst>
          </a:blip>
          <a:srcRect b="11958"/>
          <a:stretch/>
        </p:blipFill>
        <p:spPr>
          <a:xfrm>
            <a:off x="1905000" y="1063230"/>
            <a:ext cx="6096000" cy="3261120"/>
          </a:xfrm>
          <a:prstGeom prst="rect">
            <a:avLst/>
          </a:prstGeom>
        </p:spPr>
      </p:pic>
      <p:sp>
        <p:nvSpPr>
          <p:cNvPr id="8" name="TextBox 7">
            <a:extLst>
              <a:ext uri="{FF2B5EF4-FFF2-40B4-BE49-F238E27FC236}">
                <a16:creationId xmlns:a16="http://schemas.microsoft.com/office/drawing/2014/main" id="{A4D2E5B0-A828-4B0A-BC00-DEBAD786D91D}"/>
              </a:ext>
            </a:extLst>
          </p:cNvPr>
          <p:cNvSpPr txBox="1"/>
          <p:nvPr/>
        </p:nvSpPr>
        <p:spPr>
          <a:xfrm>
            <a:off x="132302" y="4423767"/>
            <a:ext cx="3296697" cy="246221"/>
          </a:xfrm>
          <a:prstGeom prst="rect">
            <a:avLst/>
          </a:prstGeom>
          <a:noFill/>
        </p:spPr>
        <p:txBody>
          <a:bodyPr wrap="square" rtlCol="0">
            <a:spAutoFit/>
          </a:bodyPr>
          <a:lstStyle/>
          <a:p>
            <a:r>
              <a:rPr lang="en-US" sz="1000" b="1" dirty="0">
                <a:solidFill>
                  <a:srgbClr val="FF0000"/>
                </a:solidFill>
              </a:rPr>
              <a:t>Note: Decoder can be used for bit interleaving as in </a:t>
            </a:r>
            <a:r>
              <a:rPr lang="en-US" sz="1000" b="1" dirty="0" err="1">
                <a:solidFill>
                  <a:srgbClr val="FF0000"/>
                </a:solidFill>
              </a:rPr>
              <a:t>qstn</a:t>
            </a:r>
            <a:r>
              <a:rPr lang="en-US" sz="1000" b="1" dirty="0">
                <a:solidFill>
                  <a:srgbClr val="FF0000"/>
                </a:solidFill>
              </a:rPr>
              <a:t> 1</a:t>
            </a:r>
          </a:p>
        </p:txBody>
      </p:sp>
    </p:spTree>
    <p:extLst>
      <p:ext uri="{BB962C8B-B14F-4D97-AF65-F5344CB8AC3E}">
        <p14:creationId xmlns:p14="http://schemas.microsoft.com/office/powerpoint/2010/main" val="11012627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6. I/O subsystem Organization and Interfacing</a:t>
            </a:r>
          </a:p>
        </p:txBody>
      </p:sp>
      <p:sp>
        <p:nvSpPr>
          <p:cNvPr id="3" name="Content Placeholder 2"/>
          <p:cNvSpPr>
            <a:spLocks noGrp="1"/>
          </p:cNvSpPr>
          <p:nvPr>
            <p:ph idx="1"/>
          </p:nvPr>
        </p:nvSpPr>
        <p:spPr>
          <a:xfrm>
            <a:off x="457200" y="742951"/>
            <a:ext cx="3759799" cy="3657600"/>
          </a:xfrm>
          <a:solidFill>
            <a:schemeClr val="bg2">
              <a:lumMod val="90000"/>
            </a:schemeClr>
          </a:solidFill>
        </p:spPr>
        <p:txBody>
          <a:bodyPr>
            <a:normAutofit fontScale="62500" lnSpcReduction="20000"/>
          </a:bodyPr>
          <a:lstStyle/>
          <a:p>
            <a:r>
              <a:rPr lang="en-US" dirty="0"/>
              <a:t>The I/O subsystem is treated as an independent unit in the computer. </a:t>
            </a:r>
          </a:p>
          <a:p>
            <a:r>
              <a:rPr lang="en-US" dirty="0"/>
              <a:t>The CPU initiates I/O command generally as Read, Write, Scan, etc.</a:t>
            </a:r>
          </a:p>
          <a:p>
            <a:r>
              <a:rPr lang="en-US" dirty="0"/>
              <a:t>As shown in figure:</a:t>
            </a:r>
          </a:p>
          <a:p>
            <a:pPr lvl="1"/>
            <a:r>
              <a:rPr lang="en-US" dirty="0"/>
              <a:t>The </a:t>
            </a:r>
            <a:r>
              <a:rPr lang="en-US" b="1" dirty="0"/>
              <a:t>I/O device </a:t>
            </a:r>
            <a:r>
              <a:rPr lang="en-US" dirty="0"/>
              <a:t>is </a:t>
            </a:r>
            <a:r>
              <a:rPr lang="en-US" b="1" dirty="0"/>
              <a:t>connected to</a:t>
            </a:r>
            <a:r>
              <a:rPr lang="en-US" dirty="0"/>
              <a:t> the computer system </a:t>
            </a:r>
            <a:r>
              <a:rPr lang="en-US" b="1" dirty="0"/>
              <a:t>address, data and control buses</a:t>
            </a:r>
            <a:r>
              <a:rPr lang="en-US" dirty="0"/>
              <a:t>. </a:t>
            </a:r>
          </a:p>
          <a:p>
            <a:pPr lvl="1"/>
            <a:r>
              <a:rPr lang="en-US" b="1" dirty="0"/>
              <a:t>Each I/O device includes I/O circuitry </a:t>
            </a:r>
            <a:r>
              <a:rPr lang="en-US" dirty="0"/>
              <a:t>that interacts with the buses.</a:t>
            </a:r>
          </a:p>
          <a:p>
            <a:endParaRPr lang="en-US" sz="200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pic>
        <p:nvPicPr>
          <p:cNvPr id="7" name="Picture 6">
            <a:extLst>
              <a:ext uri="{FF2B5EF4-FFF2-40B4-BE49-F238E27FC236}">
                <a16:creationId xmlns:a16="http://schemas.microsoft.com/office/drawing/2014/main" id="{E8A3638D-4488-4E91-8B7E-6C7826C0FA9F}"/>
              </a:ext>
            </a:extLst>
          </p:cNvPr>
          <p:cNvPicPr/>
          <p:nvPr/>
        </p:nvPicPr>
        <p:blipFill>
          <a:blip r:embed="rId2">
            <a:extLst>
              <a:ext uri="{BEBA8EAE-BF5A-486C-A8C5-ECC9F3942E4B}">
                <a14:imgProps xmlns:a14="http://schemas.microsoft.com/office/drawing/2010/main">
                  <a14:imgLayer r:embed="rId3">
                    <a14:imgEffect>
                      <a14:sharpenSoften amount="100000"/>
                    </a14:imgEffect>
                    <a14:imgEffect>
                      <a14:brightnessContrast bright="6000"/>
                    </a14:imgEffect>
                  </a14:imgLayer>
                </a14:imgProps>
              </a:ext>
              <a:ext uri="{28A0092B-C50C-407E-A947-70E740481C1C}">
                <a14:useLocalDpi xmlns:a14="http://schemas.microsoft.com/office/drawing/2010/main" val="0"/>
              </a:ext>
            </a:extLst>
          </a:blip>
          <a:stretch>
            <a:fillRect/>
          </a:stretch>
        </p:blipFill>
        <p:spPr>
          <a:xfrm>
            <a:off x="4486834" y="926306"/>
            <a:ext cx="4199965" cy="2788444"/>
          </a:xfrm>
          <a:prstGeom prst="rect">
            <a:avLst/>
          </a:prstGeom>
        </p:spPr>
      </p:pic>
      <p:sp>
        <p:nvSpPr>
          <p:cNvPr id="8" name="Date Placeholder 7">
            <a:extLst>
              <a:ext uri="{FF2B5EF4-FFF2-40B4-BE49-F238E27FC236}">
                <a16:creationId xmlns:a16="http://schemas.microsoft.com/office/drawing/2014/main" id="{89C87B92-55D9-4323-B756-55D829E3B4C1}"/>
              </a:ext>
            </a:extLst>
          </p:cNvPr>
          <p:cNvSpPr>
            <a:spLocks noGrp="1"/>
          </p:cNvSpPr>
          <p:nvPr>
            <p:ph type="dt" sz="half" idx="10"/>
          </p:nvPr>
        </p:nvSpPr>
        <p:spPr/>
        <p:txBody>
          <a:bodyPr/>
          <a:lstStyle/>
          <a:p>
            <a:fld id="{FAC06CD1-C44E-47E6-A0A7-E78BEDAE2F78}" type="datetime1">
              <a:rPr lang="en-US" smtClean="0"/>
              <a:t>7/31/2023</a:t>
            </a:fld>
            <a:endParaRPr lang="en-US"/>
          </a:p>
        </p:txBody>
      </p:sp>
      <p:sp>
        <p:nvSpPr>
          <p:cNvPr id="9" name="Slide Number Placeholder 8">
            <a:extLst>
              <a:ext uri="{FF2B5EF4-FFF2-40B4-BE49-F238E27FC236}">
                <a16:creationId xmlns:a16="http://schemas.microsoft.com/office/drawing/2014/main" id="{B9223BC6-A589-4163-93CC-D4B189D3C670}"/>
              </a:ext>
            </a:extLst>
          </p:cNvPr>
          <p:cNvSpPr>
            <a:spLocks noGrp="1"/>
          </p:cNvSpPr>
          <p:nvPr>
            <p:ph type="sldNum" sz="quarter" idx="12"/>
          </p:nvPr>
        </p:nvSpPr>
        <p:spPr/>
        <p:txBody>
          <a:bodyPr/>
          <a:lstStyle/>
          <a:p>
            <a:fld id="{B6F15528-21DE-4FAA-801E-634DDDAF4B2B}" type="slidenum">
              <a:rPr lang="en-US" smtClean="0"/>
              <a:pPr/>
              <a:t>66</a:t>
            </a:fld>
            <a:endParaRPr lang="en-US"/>
          </a:p>
        </p:txBody>
      </p:sp>
    </p:spTree>
    <p:extLst>
      <p:ext uri="{BB962C8B-B14F-4D97-AF65-F5344CB8AC3E}">
        <p14:creationId xmlns:p14="http://schemas.microsoft.com/office/powerpoint/2010/main" val="40557919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400" b="1" dirty="0" err="1">
                <a:solidFill>
                  <a:srgbClr val="00B050"/>
                </a:solidFill>
              </a:rPr>
              <a:t>i</a:t>
            </a:r>
            <a:r>
              <a:rPr lang="en-US" sz="2400" b="1" dirty="0">
                <a:solidFill>
                  <a:srgbClr val="00B050"/>
                </a:solidFill>
              </a:rPr>
              <a:t>) Input device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742950"/>
                <a:ext cx="4343400" cy="3851673"/>
              </a:xfrm>
              <a:solidFill>
                <a:schemeClr val="tx2">
                  <a:lumMod val="20000"/>
                  <a:lumOff val="80000"/>
                </a:schemeClr>
              </a:solidFill>
            </p:spPr>
            <p:txBody>
              <a:bodyPr>
                <a:normAutofit fontScale="55000" lnSpcReduction="20000"/>
              </a:bodyPr>
              <a:lstStyle/>
              <a:p>
                <a:pPr lvl="0"/>
                <a:r>
                  <a:rPr lang="en-US" dirty="0"/>
                  <a:t>The data from the input device goes to the tri-state buffer. </a:t>
                </a:r>
              </a:p>
              <a:p>
                <a:pPr lvl="0"/>
                <a:r>
                  <a:rPr lang="en-US" b="1" dirty="0"/>
                  <a:t>When</a:t>
                </a:r>
                <a:r>
                  <a:rPr lang="en-US" dirty="0"/>
                  <a:t> the values on the </a:t>
                </a:r>
                <a:r>
                  <a:rPr lang="en-US" b="1" dirty="0"/>
                  <a:t>address bus and control bus are correct,</a:t>
                </a:r>
                <a:r>
                  <a:rPr lang="en-US" dirty="0"/>
                  <a:t> the </a:t>
                </a:r>
                <a:r>
                  <a:rPr lang="en-US" b="1" dirty="0"/>
                  <a:t>buffers are enabled and data passes onto the data bus. </a:t>
                </a:r>
              </a:p>
              <a:p>
                <a:pPr lvl="0"/>
                <a:r>
                  <a:rPr lang="en-US" dirty="0"/>
                  <a:t>The CPU, then can read these data. </a:t>
                </a:r>
              </a:p>
              <a:p>
                <a:pPr lvl="0"/>
                <a:r>
                  <a:rPr lang="en-US" dirty="0"/>
                  <a:t>The key to this design is the enable logic. </a:t>
                </a:r>
              </a:p>
              <a:p>
                <a:pPr lvl="0"/>
                <a:r>
                  <a:rPr lang="en-US" dirty="0"/>
                  <a:t>For the input device, the read signal (RD) should be asserted.</a:t>
                </a:r>
              </a:p>
              <a:p>
                <a:pPr lvl="0"/>
                <a:r>
                  <a:rPr lang="en-US" dirty="0"/>
                  <a:t>Figure (b) shows the enable logic for an input device at address 11110000 with 8-bit address and control signals RD and IO/</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𝑀</m:t>
                        </m:r>
                      </m:e>
                    </m:acc>
                  </m:oMath>
                </a14:m>
                <a:r>
                  <a:rPr lang="en-US" dirty="0"/>
                  <a:t> (IO/Memory).</a:t>
                </a:r>
              </a:p>
              <a:p>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742950"/>
                <a:ext cx="4343400" cy="3851673"/>
              </a:xfrm>
              <a:blipFill>
                <a:blip r:embed="rId2"/>
                <a:stretch>
                  <a:fillRect l="-842" t="-2215" r="-1964"/>
                </a:stretch>
              </a:blipFill>
            </p:spPr>
            <p:txBody>
              <a:bodyPr/>
              <a:lstStyle/>
              <a:p>
                <a:r>
                  <a:rPr lang="en-US">
                    <a:noFill/>
                  </a:rPr>
                  <a:t> </a:t>
                </a:r>
              </a:p>
            </p:txBody>
          </p:sp>
        </mc:Fallback>
      </mc:AlternateContent>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pic>
        <p:nvPicPr>
          <p:cNvPr id="8" name="Picture 7">
            <a:extLst>
              <a:ext uri="{FF2B5EF4-FFF2-40B4-BE49-F238E27FC236}">
                <a16:creationId xmlns:a16="http://schemas.microsoft.com/office/drawing/2014/main" id="{4BB43310-50B3-4ABA-BA68-FD6E94A9A40E}"/>
              </a:ext>
            </a:extLst>
          </p:cNvPr>
          <p:cNvPicPr>
            <a:picLocks noChangeAspect="1"/>
          </p:cNvPicPr>
          <p:nvPr/>
        </p:nvPicPr>
        <p:blipFill>
          <a:blip r:embed="rId3"/>
          <a:stretch>
            <a:fillRect/>
          </a:stretch>
        </p:blipFill>
        <p:spPr>
          <a:xfrm>
            <a:off x="4876800" y="816536"/>
            <a:ext cx="4106686" cy="2136213"/>
          </a:xfrm>
          <a:prstGeom prst="rect">
            <a:avLst/>
          </a:prstGeom>
        </p:spPr>
      </p:pic>
      <p:sp>
        <p:nvSpPr>
          <p:cNvPr id="7" name="Date Placeholder 6">
            <a:extLst>
              <a:ext uri="{FF2B5EF4-FFF2-40B4-BE49-F238E27FC236}">
                <a16:creationId xmlns:a16="http://schemas.microsoft.com/office/drawing/2014/main" id="{528F40EF-F7E9-4367-9272-B3D01100BE4E}"/>
              </a:ext>
            </a:extLst>
          </p:cNvPr>
          <p:cNvSpPr>
            <a:spLocks noGrp="1"/>
          </p:cNvSpPr>
          <p:nvPr>
            <p:ph type="dt" sz="half" idx="10"/>
          </p:nvPr>
        </p:nvSpPr>
        <p:spPr/>
        <p:txBody>
          <a:bodyPr/>
          <a:lstStyle/>
          <a:p>
            <a:fld id="{A6335AF5-BCA3-4574-AC86-17DBFDDF70A4}" type="datetime1">
              <a:rPr lang="en-US" smtClean="0"/>
              <a:t>7/31/2023</a:t>
            </a:fld>
            <a:endParaRPr lang="en-US"/>
          </a:p>
        </p:txBody>
      </p:sp>
      <p:sp>
        <p:nvSpPr>
          <p:cNvPr id="9" name="Slide Number Placeholder 8">
            <a:extLst>
              <a:ext uri="{FF2B5EF4-FFF2-40B4-BE49-F238E27FC236}">
                <a16:creationId xmlns:a16="http://schemas.microsoft.com/office/drawing/2014/main" id="{F53DEBE6-D763-454E-A69A-6F8B437D1B9B}"/>
              </a:ext>
            </a:extLst>
          </p:cNvPr>
          <p:cNvSpPr>
            <a:spLocks noGrp="1"/>
          </p:cNvSpPr>
          <p:nvPr>
            <p:ph type="sldNum" sz="quarter" idx="12"/>
          </p:nvPr>
        </p:nvSpPr>
        <p:spPr/>
        <p:txBody>
          <a:bodyPr/>
          <a:lstStyle/>
          <a:p>
            <a:fld id="{B6F15528-21DE-4FAA-801E-634DDDAF4B2B}" type="slidenum">
              <a:rPr lang="en-US" smtClean="0"/>
              <a:pPr/>
              <a:t>67</a:t>
            </a:fld>
            <a:endParaRPr lang="en-US"/>
          </a:p>
        </p:txBody>
      </p:sp>
    </p:spTree>
    <p:extLst>
      <p:ext uri="{BB962C8B-B14F-4D97-AF65-F5344CB8AC3E}">
        <p14:creationId xmlns:p14="http://schemas.microsoft.com/office/powerpoint/2010/main" val="30510985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400" b="1" dirty="0">
                <a:solidFill>
                  <a:srgbClr val="00B050"/>
                </a:solidFill>
              </a:rPr>
              <a:t>ii) Output Device:</a:t>
            </a:r>
          </a:p>
        </p:txBody>
      </p:sp>
      <p:sp>
        <p:nvSpPr>
          <p:cNvPr id="3" name="Content Placeholder 2"/>
          <p:cNvSpPr>
            <a:spLocks noGrp="1"/>
          </p:cNvSpPr>
          <p:nvPr>
            <p:ph idx="1"/>
          </p:nvPr>
        </p:nvSpPr>
        <p:spPr>
          <a:xfrm>
            <a:off x="457200" y="742950"/>
            <a:ext cx="3505200" cy="3851673"/>
          </a:xfrm>
          <a:solidFill>
            <a:schemeClr val="accent2">
              <a:lumMod val="20000"/>
              <a:lumOff val="80000"/>
            </a:schemeClr>
          </a:solidFill>
        </p:spPr>
        <p:txBody>
          <a:bodyPr>
            <a:normAutofit lnSpcReduction="10000"/>
          </a:bodyPr>
          <a:lstStyle/>
          <a:p>
            <a:pPr lvl="0"/>
            <a:r>
              <a:rPr lang="en-US" sz="1400" dirty="0"/>
              <a:t>For the interface circuit for an output device, the tri-state buffer is replaced by a register. </a:t>
            </a:r>
          </a:p>
          <a:p>
            <a:pPr lvl="0"/>
            <a:r>
              <a:rPr lang="en-US" sz="1400" b="1" dirty="0"/>
              <a:t>Only the device with the correct address will read it in.</a:t>
            </a:r>
          </a:p>
          <a:p>
            <a:pPr lvl="0"/>
            <a:r>
              <a:rPr lang="en-US" sz="1400" dirty="0"/>
              <a:t>The Load logic (LD) plays the role of the enable logic as in the input device.</a:t>
            </a:r>
          </a:p>
          <a:p>
            <a:pPr lvl="0"/>
            <a:r>
              <a:rPr lang="en-US" sz="1400" b="1" dirty="0"/>
              <a:t>When</a:t>
            </a:r>
            <a:r>
              <a:rPr lang="en-US" sz="1400" dirty="0"/>
              <a:t> this </a:t>
            </a:r>
            <a:r>
              <a:rPr lang="en-US" sz="1400" b="1" dirty="0"/>
              <a:t>logic receives the correct address and control signals</a:t>
            </a:r>
            <a:r>
              <a:rPr lang="en-US" sz="1400" dirty="0"/>
              <a:t>, it </a:t>
            </a:r>
            <a:r>
              <a:rPr lang="en-US" sz="1400" b="1" dirty="0"/>
              <a:t>asserts the LD signa</a:t>
            </a:r>
            <a:r>
              <a:rPr lang="en-US" sz="1400" dirty="0"/>
              <a:t>l of the register, causing it to </a:t>
            </a:r>
            <a:r>
              <a:rPr lang="en-US" sz="1400" b="1" dirty="0"/>
              <a:t>read data from the system’s data bus</a:t>
            </a:r>
            <a:r>
              <a:rPr lang="en-US" sz="1400" dirty="0"/>
              <a:t>.</a:t>
            </a:r>
          </a:p>
          <a:p>
            <a:pPr lvl="0"/>
            <a:r>
              <a:rPr lang="en-US" sz="1400" b="1" dirty="0"/>
              <a:t>The output device can then read the data from the register </a:t>
            </a:r>
            <a:r>
              <a:rPr lang="en-US" sz="1400" dirty="0"/>
              <a:t>at its leisure while the CPU performs other tasks.</a:t>
            </a:r>
          </a:p>
          <a:p>
            <a:pPr lvl="0"/>
            <a:r>
              <a:rPr lang="en-US" sz="1400" dirty="0"/>
              <a:t>The logic to generate the load signal for an output device at address 1111 0000 is shown in figure (b).</a:t>
            </a:r>
          </a:p>
          <a:p>
            <a:endParaRPr lang="en-US" sz="100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pic>
        <p:nvPicPr>
          <p:cNvPr id="7" name="Picture 6">
            <a:extLst>
              <a:ext uri="{FF2B5EF4-FFF2-40B4-BE49-F238E27FC236}">
                <a16:creationId xmlns:a16="http://schemas.microsoft.com/office/drawing/2014/main" id="{481F7C7A-CDF9-43C7-9CB7-C7A0C8372A1C}"/>
              </a:ext>
            </a:extLst>
          </p:cNvPr>
          <p:cNvPicPr>
            <a:picLocks noChangeAspect="1"/>
          </p:cNvPicPr>
          <p:nvPr/>
        </p:nvPicPr>
        <p:blipFill>
          <a:blip r:embed="rId2"/>
          <a:stretch>
            <a:fillRect/>
          </a:stretch>
        </p:blipFill>
        <p:spPr>
          <a:xfrm>
            <a:off x="4203184" y="860083"/>
            <a:ext cx="4395234" cy="2123623"/>
          </a:xfrm>
          <a:prstGeom prst="rect">
            <a:avLst/>
          </a:prstGeom>
        </p:spPr>
      </p:pic>
      <p:sp>
        <p:nvSpPr>
          <p:cNvPr id="8" name="Date Placeholder 7">
            <a:extLst>
              <a:ext uri="{FF2B5EF4-FFF2-40B4-BE49-F238E27FC236}">
                <a16:creationId xmlns:a16="http://schemas.microsoft.com/office/drawing/2014/main" id="{5A1DB5AF-A9A8-40ED-825C-ADCA514B3926}"/>
              </a:ext>
            </a:extLst>
          </p:cNvPr>
          <p:cNvSpPr>
            <a:spLocks noGrp="1"/>
          </p:cNvSpPr>
          <p:nvPr>
            <p:ph type="dt" sz="half" idx="10"/>
          </p:nvPr>
        </p:nvSpPr>
        <p:spPr/>
        <p:txBody>
          <a:bodyPr/>
          <a:lstStyle/>
          <a:p>
            <a:fld id="{0DAFF920-09DA-47EA-9E26-5223594C1502}" type="datetime1">
              <a:rPr lang="en-US" smtClean="0"/>
              <a:t>7/31/2023</a:t>
            </a:fld>
            <a:endParaRPr lang="en-US"/>
          </a:p>
        </p:txBody>
      </p:sp>
      <p:sp>
        <p:nvSpPr>
          <p:cNvPr id="9" name="Slide Number Placeholder 8">
            <a:extLst>
              <a:ext uri="{FF2B5EF4-FFF2-40B4-BE49-F238E27FC236}">
                <a16:creationId xmlns:a16="http://schemas.microsoft.com/office/drawing/2014/main" id="{C58AB6D6-88EA-4BEB-8FFE-7512E68A5AAF}"/>
              </a:ext>
            </a:extLst>
          </p:cNvPr>
          <p:cNvSpPr>
            <a:spLocks noGrp="1"/>
          </p:cNvSpPr>
          <p:nvPr>
            <p:ph type="sldNum" sz="quarter" idx="12"/>
          </p:nvPr>
        </p:nvSpPr>
        <p:spPr/>
        <p:txBody>
          <a:bodyPr/>
          <a:lstStyle/>
          <a:p>
            <a:fld id="{B6F15528-21DE-4FAA-801E-634DDDAF4B2B}" type="slidenum">
              <a:rPr lang="en-US" smtClean="0"/>
              <a:pPr/>
              <a:t>68</a:t>
            </a:fld>
            <a:endParaRPr lang="en-US"/>
          </a:p>
        </p:txBody>
      </p:sp>
    </p:spTree>
    <p:extLst>
      <p:ext uri="{BB962C8B-B14F-4D97-AF65-F5344CB8AC3E}">
        <p14:creationId xmlns:p14="http://schemas.microsoft.com/office/powerpoint/2010/main" val="11909285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400" b="1" dirty="0">
                <a:solidFill>
                  <a:srgbClr val="00B050"/>
                </a:solidFill>
              </a:rPr>
              <a:t>iii) Bidirectional IO device </a:t>
            </a:r>
          </a:p>
        </p:txBody>
      </p:sp>
      <p:sp>
        <p:nvSpPr>
          <p:cNvPr id="3" name="Content Placeholder 2"/>
          <p:cNvSpPr>
            <a:spLocks noGrp="1"/>
          </p:cNvSpPr>
          <p:nvPr>
            <p:ph idx="1"/>
          </p:nvPr>
        </p:nvSpPr>
        <p:spPr>
          <a:xfrm>
            <a:off x="457200" y="742950"/>
            <a:ext cx="3810000" cy="3851673"/>
          </a:xfrm>
          <a:solidFill>
            <a:schemeClr val="accent3">
              <a:lumMod val="20000"/>
              <a:lumOff val="80000"/>
            </a:schemeClr>
          </a:solidFill>
        </p:spPr>
        <p:txBody>
          <a:bodyPr>
            <a:normAutofit/>
          </a:bodyPr>
          <a:lstStyle/>
          <a:p>
            <a:r>
              <a:rPr lang="en-US" sz="1600" dirty="0"/>
              <a:t>Some devices are used for both input and output. A personal computer’s hard disk drive falls into this category.</a:t>
            </a:r>
          </a:p>
          <a:p>
            <a:r>
              <a:rPr lang="en-US" sz="1600" dirty="0"/>
              <a:t>Such a device requires a combined interface that is essentially two interfaces, one for input and the other for output.</a:t>
            </a:r>
          </a:p>
          <a:p>
            <a:r>
              <a:rPr lang="en-US" sz="1600" dirty="0"/>
              <a:t>Some logic elements, such as the gates that check the address and the address bus, can be used to generate both the buffer enable and register load signals.</a:t>
            </a:r>
          </a:p>
          <a:p>
            <a:r>
              <a:rPr lang="en-US" sz="1600" dirty="0"/>
              <a:t>Figure below shows a combined I/O interface for address 1111 0000.</a:t>
            </a:r>
          </a:p>
          <a:p>
            <a:endParaRPr lang="en-US" sz="1100" dirty="0"/>
          </a:p>
        </p:txBody>
      </p:sp>
      <p:sp>
        <p:nvSpPr>
          <p:cNvPr id="6" name="Footer Placeholder 5"/>
          <p:cNvSpPr>
            <a:spLocks noGrp="1"/>
          </p:cNvSpPr>
          <p:nvPr>
            <p:ph type="ftr" sz="quarter" idx="11"/>
          </p:nvPr>
        </p:nvSpPr>
        <p:spPr/>
        <p:txBody>
          <a:bodyPr/>
          <a:lstStyle/>
          <a:p>
            <a:r>
              <a:rPr lang="en-US" dirty="0">
                <a:solidFill>
                  <a:srgbClr val="00B050"/>
                </a:solidFill>
              </a:rPr>
              <a:t>Microprocessor and Computer Architecture, BSE-II</a:t>
            </a:r>
          </a:p>
        </p:txBody>
      </p:sp>
      <p:pic>
        <p:nvPicPr>
          <p:cNvPr id="7" name="Picture 6">
            <a:extLst>
              <a:ext uri="{FF2B5EF4-FFF2-40B4-BE49-F238E27FC236}">
                <a16:creationId xmlns:a16="http://schemas.microsoft.com/office/drawing/2014/main" id="{C434E7EA-5DF6-4D2D-9E8A-0B1EB030CB70}"/>
              </a:ext>
            </a:extLst>
          </p:cNvPr>
          <p:cNvPicPr>
            <a:picLocks noChangeAspect="1"/>
          </p:cNvPicPr>
          <p:nvPr/>
        </p:nvPicPr>
        <p:blipFill>
          <a:blip r:embed="rId2"/>
          <a:stretch>
            <a:fillRect/>
          </a:stretch>
        </p:blipFill>
        <p:spPr>
          <a:xfrm>
            <a:off x="4495600" y="748622"/>
            <a:ext cx="4515050" cy="2280328"/>
          </a:xfrm>
          <a:prstGeom prst="rect">
            <a:avLst/>
          </a:prstGeom>
        </p:spPr>
      </p:pic>
      <p:sp>
        <p:nvSpPr>
          <p:cNvPr id="8" name="Date Placeholder 7">
            <a:extLst>
              <a:ext uri="{FF2B5EF4-FFF2-40B4-BE49-F238E27FC236}">
                <a16:creationId xmlns:a16="http://schemas.microsoft.com/office/drawing/2014/main" id="{B866F244-FEAB-4988-BCE8-5FA18BCC2D1D}"/>
              </a:ext>
            </a:extLst>
          </p:cNvPr>
          <p:cNvSpPr>
            <a:spLocks noGrp="1"/>
          </p:cNvSpPr>
          <p:nvPr>
            <p:ph type="dt" sz="half" idx="10"/>
          </p:nvPr>
        </p:nvSpPr>
        <p:spPr/>
        <p:txBody>
          <a:bodyPr/>
          <a:lstStyle/>
          <a:p>
            <a:fld id="{B9149B33-6D85-47F5-93D6-D8E5F10B826B}" type="datetime1">
              <a:rPr lang="en-US" smtClean="0"/>
              <a:t>7/31/2023</a:t>
            </a:fld>
            <a:endParaRPr lang="en-US"/>
          </a:p>
        </p:txBody>
      </p:sp>
      <p:sp>
        <p:nvSpPr>
          <p:cNvPr id="9" name="Slide Number Placeholder 8">
            <a:extLst>
              <a:ext uri="{FF2B5EF4-FFF2-40B4-BE49-F238E27FC236}">
                <a16:creationId xmlns:a16="http://schemas.microsoft.com/office/drawing/2014/main" id="{1E78CA06-8B59-4AAB-B9DC-182B5B09CAD9}"/>
              </a:ext>
            </a:extLst>
          </p:cNvPr>
          <p:cNvSpPr>
            <a:spLocks noGrp="1"/>
          </p:cNvSpPr>
          <p:nvPr>
            <p:ph type="sldNum" sz="quarter" idx="12"/>
          </p:nvPr>
        </p:nvSpPr>
        <p:spPr/>
        <p:txBody>
          <a:bodyPr/>
          <a:lstStyle/>
          <a:p>
            <a:fld id="{B6F15528-21DE-4FAA-801E-634DDDAF4B2B}" type="slidenum">
              <a:rPr lang="en-US" smtClean="0"/>
              <a:pPr/>
              <a:t>69</a:t>
            </a:fld>
            <a:endParaRPr lang="en-US"/>
          </a:p>
        </p:txBody>
      </p:sp>
    </p:spTree>
    <p:extLst>
      <p:ext uri="{BB962C8B-B14F-4D97-AF65-F5344CB8AC3E}">
        <p14:creationId xmlns:p14="http://schemas.microsoft.com/office/powerpoint/2010/main" val="12996185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1800" b="1" dirty="0">
                <a:solidFill>
                  <a:srgbClr val="7030A0"/>
                </a:solidFill>
              </a:rPr>
              <a:t>1. Design an interface for an input device which has binary address 1010 1010. Its computer system uses isolated I/0.</a:t>
            </a:r>
            <a:r>
              <a:rPr lang="en-US" sz="1800" dirty="0">
                <a:solidFill>
                  <a:srgbClr val="7030A0"/>
                </a:solidFill>
              </a:rPr>
              <a:t> </a:t>
            </a:r>
            <a:endParaRPr lang="en-US" sz="1800" b="1" dirty="0">
              <a:solidFill>
                <a:srgbClr val="7030A0"/>
              </a:solidFill>
            </a:endParaRPr>
          </a:p>
        </p:txBody>
      </p:sp>
      <p:sp>
        <p:nvSpPr>
          <p:cNvPr id="3" name="Content Placeholder 2"/>
          <p:cNvSpPr>
            <a:spLocks noGrp="1"/>
          </p:cNvSpPr>
          <p:nvPr>
            <p:ph idx="1"/>
          </p:nvPr>
        </p:nvSpPr>
        <p:spPr>
          <a:xfrm>
            <a:off x="457200" y="742950"/>
            <a:ext cx="8229600" cy="3851673"/>
          </a:xfrm>
        </p:spPr>
        <p:txBody>
          <a:bodyPr>
            <a:normAutofit/>
          </a:bodyPr>
          <a:lstStyle/>
          <a:p>
            <a:endParaRPr lang="en-US" dirty="0"/>
          </a:p>
          <a:p>
            <a:endParaRPr lang="en-US" sz="200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pic>
        <p:nvPicPr>
          <p:cNvPr id="8" name="image110.png">
            <a:extLst>
              <a:ext uri="{FF2B5EF4-FFF2-40B4-BE49-F238E27FC236}">
                <a16:creationId xmlns:a16="http://schemas.microsoft.com/office/drawing/2014/main" id="{6FEE7AF6-9B6B-4C89-B8EF-29B46F64D3A1}"/>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472440" y="839390"/>
            <a:ext cx="7772400" cy="3103960"/>
          </a:xfrm>
          <a:prstGeom prst="rect">
            <a:avLst/>
          </a:prstGeom>
        </p:spPr>
      </p:pic>
      <p:sp>
        <p:nvSpPr>
          <p:cNvPr id="7" name="Date Placeholder 6">
            <a:extLst>
              <a:ext uri="{FF2B5EF4-FFF2-40B4-BE49-F238E27FC236}">
                <a16:creationId xmlns:a16="http://schemas.microsoft.com/office/drawing/2014/main" id="{AAA873BA-B695-4C1B-809C-C3F4187B370D}"/>
              </a:ext>
            </a:extLst>
          </p:cNvPr>
          <p:cNvSpPr>
            <a:spLocks noGrp="1"/>
          </p:cNvSpPr>
          <p:nvPr>
            <p:ph type="dt" sz="half" idx="10"/>
          </p:nvPr>
        </p:nvSpPr>
        <p:spPr/>
        <p:txBody>
          <a:bodyPr/>
          <a:lstStyle/>
          <a:p>
            <a:fld id="{4F62F9D4-0548-42C5-BADA-88185B0DCAE9}" type="datetime1">
              <a:rPr lang="en-US" smtClean="0"/>
              <a:t>7/31/2023</a:t>
            </a:fld>
            <a:endParaRPr lang="en-US"/>
          </a:p>
        </p:txBody>
      </p:sp>
      <p:sp>
        <p:nvSpPr>
          <p:cNvPr id="9" name="Slide Number Placeholder 8">
            <a:extLst>
              <a:ext uri="{FF2B5EF4-FFF2-40B4-BE49-F238E27FC236}">
                <a16:creationId xmlns:a16="http://schemas.microsoft.com/office/drawing/2014/main" id="{06517A4C-F74B-427E-ACF4-B7C2898ABC48}"/>
              </a:ext>
            </a:extLst>
          </p:cNvPr>
          <p:cNvSpPr>
            <a:spLocks noGrp="1"/>
          </p:cNvSpPr>
          <p:nvPr>
            <p:ph type="sldNum" sz="quarter" idx="12"/>
          </p:nvPr>
        </p:nvSpPr>
        <p:spPr/>
        <p:txBody>
          <a:bodyPr/>
          <a:lstStyle/>
          <a:p>
            <a:fld id="{B6F15528-21DE-4FAA-801E-634DDDAF4B2B}" type="slidenum">
              <a:rPr lang="en-US" smtClean="0"/>
              <a:pPr/>
              <a:t>70</a:t>
            </a:fld>
            <a:endParaRPr lang="en-US"/>
          </a:p>
        </p:txBody>
      </p:sp>
    </p:spTree>
    <p:extLst>
      <p:ext uri="{BB962C8B-B14F-4D97-AF65-F5344CB8AC3E}">
        <p14:creationId xmlns:p14="http://schemas.microsoft.com/office/powerpoint/2010/main" val="4065619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1800" b="1" dirty="0">
                <a:solidFill>
                  <a:srgbClr val="7030A0"/>
                </a:solidFill>
              </a:rPr>
              <a:t>2. Design an interface for an input device which has binary address 1010 1010. Its computer system uses memory mapped I/O.</a:t>
            </a: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6" name="Footer Placeholder 5"/>
          <p:cNvSpPr>
            <a:spLocks noGrp="1"/>
          </p:cNvSpPr>
          <p:nvPr>
            <p:ph type="ftr" sz="quarter" idx="11"/>
          </p:nvPr>
        </p:nvSpPr>
        <p:spPr/>
        <p:txBody>
          <a:bodyPr/>
          <a:lstStyle/>
          <a:p>
            <a:r>
              <a:rPr lang="en-US">
                <a:solidFill>
                  <a:srgbClr val="00B050"/>
                </a:solidFill>
              </a:rPr>
              <a:t>Microprocessor and Computer Architecture, BSE-II</a:t>
            </a:r>
            <a:endParaRPr lang="en-US" dirty="0">
              <a:solidFill>
                <a:srgbClr val="00B050"/>
              </a:solidFill>
            </a:endParaRPr>
          </a:p>
        </p:txBody>
      </p:sp>
      <p:pic>
        <p:nvPicPr>
          <p:cNvPr id="7" name="image111.png">
            <a:extLst>
              <a:ext uri="{FF2B5EF4-FFF2-40B4-BE49-F238E27FC236}">
                <a16:creationId xmlns:a16="http://schemas.microsoft.com/office/drawing/2014/main" id="{D5C3A378-1FC9-49DE-BCB8-E3E3FD60ADB0}"/>
              </a:ext>
            </a:extLst>
          </p:cNvPr>
          <p:cNvPicPr/>
          <p:nvPr/>
        </p:nvPicPr>
        <p:blipFill>
          <a:blip r:embed="rId2" cstate="print"/>
          <a:stretch>
            <a:fillRect/>
          </a:stretch>
        </p:blipFill>
        <p:spPr>
          <a:xfrm>
            <a:off x="487680" y="1144270"/>
            <a:ext cx="7589520" cy="2799080"/>
          </a:xfrm>
          <a:prstGeom prst="rect">
            <a:avLst/>
          </a:prstGeom>
        </p:spPr>
      </p:pic>
      <p:sp>
        <p:nvSpPr>
          <p:cNvPr id="8" name="Date Placeholder 7">
            <a:extLst>
              <a:ext uri="{FF2B5EF4-FFF2-40B4-BE49-F238E27FC236}">
                <a16:creationId xmlns:a16="http://schemas.microsoft.com/office/drawing/2014/main" id="{74A15183-947E-46A9-BD38-D252AC5AA1AC}"/>
              </a:ext>
            </a:extLst>
          </p:cNvPr>
          <p:cNvSpPr>
            <a:spLocks noGrp="1"/>
          </p:cNvSpPr>
          <p:nvPr>
            <p:ph type="dt" sz="half" idx="10"/>
          </p:nvPr>
        </p:nvSpPr>
        <p:spPr/>
        <p:txBody>
          <a:bodyPr/>
          <a:lstStyle/>
          <a:p>
            <a:fld id="{72B51BB4-9158-401D-88C6-AD8DF5699B84}" type="datetime1">
              <a:rPr lang="en-US" smtClean="0"/>
              <a:t>7/31/2023</a:t>
            </a:fld>
            <a:endParaRPr lang="en-US"/>
          </a:p>
        </p:txBody>
      </p:sp>
      <p:sp>
        <p:nvSpPr>
          <p:cNvPr id="9" name="Slide Number Placeholder 8">
            <a:extLst>
              <a:ext uri="{FF2B5EF4-FFF2-40B4-BE49-F238E27FC236}">
                <a16:creationId xmlns:a16="http://schemas.microsoft.com/office/drawing/2014/main" id="{43E4FDCD-4A8A-46AF-984F-3C5FD519B35C}"/>
              </a:ext>
            </a:extLst>
          </p:cNvPr>
          <p:cNvSpPr>
            <a:spLocks noGrp="1"/>
          </p:cNvSpPr>
          <p:nvPr>
            <p:ph type="sldNum" sz="quarter" idx="12"/>
          </p:nvPr>
        </p:nvSpPr>
        <p:spPr/>
        <p:txBody>
          <a:bodyPr/>
          <a:lstStyle/>
          <a:p>
            <a:fld id="{B6F15528-21DE-4FAA-801E-634DDDAF4B2B}" type="slidenum">
              <a:rPr lang="en-US" smtClean="0"/>
              <a:pPr/>
              <a:t>71</a:t>
            </a:fld>
            <a:endParaRPr lang="en-US"/>
          </a:p>
        </p:txBody>
      </p:sp>
    </p:spTree>
    <p:extLst>
      <p:ext uri="{BB962C8B-B14F-4D97-AF65-F5344CB8AC3E}">
        <p14:creationId xmlns:p14="http://schemas.microsoft.com/office/powerpoint/2010/main" val="2386014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61951"/>
            <a:ext cx="4363420" cy="685800"/>
          </a:xfrm>
        </p:spPr>
        <p:txBody>
          <a:bodyPr>
            <a:noAutofit/>
          </a:bodyPr>
          <a:lstStyle/>
          <a:p>
            <a:pPr marL="228600" indent="-228600" algn="just">
              <a:tabLst>
                <a:tab pos="463550" algn="l"/>
              </a:tabLst>
            </a:pPr>
            <a:r>
              <a:rPr lang="en-US" sz="1100" b="1" dirty="0">
                <a:solidFill>
                  <a:srgbClr val="7030A0"/>
                </a:solidFill>
                <a:cs typeface="Times New Roman" panose="02020603050405020304" pitchFamily="18" charset="0"/>
              </a:rPr>
              <a:t>6. A CPU with 8-bit data bus and 8-bit address bus uses memory mapped I/O. It has 32 byte of ROM at 00H and 32 byte of ROM at 20H. It also has an I/O device at FFH. Show the load logic and enable logic.</a:t>
            </a:r>
            <a:endParaRPr lang="en-US" sz="1100" b="1" dirty="0">
              <a:solidFill>
                <a:srgbClr val="7030A0"/>
              </a:solidFill>
            </a:endParaRPr>
          </a:p>
        </p:txBody>
      </p:sp>
      <p:sp>
        <p:nvSpPr>
          <p:cNvPr id="4" name="Date Placeholder 3"/>
          <p:cNvSpPr>
            <a:spLocks noGrp="1"/>
          </p:cNvSpPr>
          <p:nvPr>
            <p:ph type="dt" sz="half" idx="10"/>
          </p:nvPr>
        </p:nvSpPr>
        <p:spPr/>
        <p:txBody>
          <a:bodyPr/>
          <a:lstStyle/>
          <a:p>
            <a:fld id="{A34F2BA8-E11B-48FB-A837-C93BE02926C4}" type="datetime1">
              <a:rPr lang="en-US" smtClean="0"/>
              <a:t>7/31/2023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72</a:t>
            </a:fld>
            <a:endParaRPr lang="en-US"/>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9" name="Content Placeholder 2">
            <a:extLst>
              <a:ext uri="{FF2B5EF4-FFF2-40B4-BE49-F238E27FC236}">
                <a16:creationId xmlns:a16="http://schemas.microsoft.com/office/drawing/2014/main" id="{9AAFFF52-6AE1-415C-B125-049EAE9CFD63}"/>
              </a:ext>
            </a:extLst>
          </p:cNvPr>
          <p:cNvSpPr txBox="1">
            <a:spLocks/>
          </p:cNvSpPr>
          <p:nvPr/>
        </p:nvSpPr>
        <p:spPr>
          <a:xfrm>
            <a:off x="457200" y="1276350"/>
            <a:ext cx="3733800" cy="1295399"/>
          </a:xfrm>
          <a:prstGeom prst="rect">
            <a:avLst/>
          </a:prstGeom>
          <a:solidFill>
            <a:schemeClr val="accent2">
              <a:lumMod val="20000"/>
              <a:lumOff val="80000"/>
            </a:schemeClr>
          </a:solidFill>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indent="-114300"/>
            <a:r>
              <a:rPr lang="en-US" sz="1000" dirty="0"/>
              <a:t>Here:</a:t>
            </a:r>
          </a:p>
          <a:p>
            <a:pPr marL="114300" indent="-114300"/>
            <a:r>
              <a:rPr lang="en-US" sz="1000" dirty="0"/>
              <a:t>Data bus width = 8 bits (D7-D0)</a:t>
            </a:r>
          </a:p>
          <a:p>
            <a:pPr marL="114300" indent="-114300"/>
            <a:r>
              <a:rPr lang="en-US" sz="1000" dirty="0"/>
              <a:t>Address bus width = 8 bits (A7-A0)</a:t>
            </a:r>
          </a:p>
          <a:p>
            <a:pPr marL="114300" indent="-114300"/>
            <a:r>
              <a:rPr lang="en-US" sz="1000" dirty="0"/>
              <a:t>ROM1 size= 32x8 starting at 00H (5 Address lines: A4-A0)</a:t>
            </a:r>
          </a:p>
          <a:p>
            <a:pPr marL="114300" indent="-114300"/>
            <a:r>
              <a:rPr lang="en-US" sz="1000" dirty="0"/>
              <a:t>ROM2 size= 32x8 starting at 20H (5 Address lines: A4-A0)</a:t>
            </a:r>
          </a:p>
          <a:p>
            <a:pPr marL="114300" indent="-114300"/>
            <a:r>
              <a:rPr lang="en-US" sz="1000" dirty="0"/>
              <a:t>I/O device starting at FFH</a:t>
            </a:r>
          </a:p>
          <a:p>
            <a:pPr marL="114300" indent="-114300"/>
            <a:endParaRPr lang="en-US" sz="1000" dirty="0"/>
          </a:p>
          <a:p>
            <a:pPr marL="114300" indent="-114300"/>
            <a:endParaRPr lang="en-US" sz="1000" dirty="0"/>
          </a:p>
        </p:txBody>
      </p:sp>
      <p:graphicFrame>
        <p:nvGraphicFramePr>
          <p:cNvPr id="3" name="Table 9">
            <a:extLst>
              <a:ext uri="{FF2B5EF4-FFF2-40B4-BE49-F238E27FC236}">
                <a16:creationId xmlns:a16="http://schemas.microsoft.com/office/drawing/2014/main" id="{A81B73AF-3941-42E4-A4DA-472532B0BFDE}"/>
              </a:ext>
            </a:extLst>
          </p:cNvPr>
          <p:cNvGraphicFramePr>
            <a:graphicFrameLocks noGrp="1"/>
          </p:cNvGraphicFramePr>
          <p:nvPr>
            <p:extLst>
              <p:ext uri="{D42A27DB-BD31-4B8C-83A1-F6EECF244321}">
                <p14:modId xmlns:p14="http://schemas.microsoft.com/office/powerpoint/2010/main" val="4149798660"/>
              </p:ext>
            </p:extLst>
          </p:nvPr>
        </p:nvGraphicFramePr>
        <p:xfrm>
          <a:off x="228600" y="2720340"/>
          <a:ext cx="3886198" cy="1832611"/>
        </p:xfrm>
        <a:graphic>
          <a:graphicData uri="http://schemas.openxmlformats.org/drawingml/2006/table">
            <a:tbl>
              <a:tblPr firstRow="1" bandRow="1">
                <a:tableStyleId>{5C22544A-7EE6-4342-B048-85BDC9FD1C3A}</a:tableStyleId>
              </a:tblPr>
              <a:tblGrid>
                <a:gridCol w="591379">
                  <a:extLst>
                    <a:ext uri="{9D8B030D-6E8A-4147-A177-3AD203B41FA5}">
                      <a16:colId xmlns:a16="http://schemas.microsoft.com/office/drawing/2014/main" val="3861761466"/>
                    </a:ext>
                  </a:extLst>
                </a:gridCol>
                <a:gridCol w="506896">
                  <a:extLst>
                    <a:ext uri="{9D8B030D-6E8A-4147-A177-3AD203B41FA5}">
                      <a16:colId xmlns:a16="http://schemas.microsoft.com/office/drawing/2014/main" val="575378240"/>
                    </a:ext>
                  </a:extLst>
                </a:gridCol>
                <a:gridCol w="422413">
                  <a:extLst>
                    <a:ext uri="{9D8B030D-6E8A-4147-A177-3AD203B41FA5}">
                      <a16:colId xmlns:a16="http://schemas.microsoft.com/office/drawing/2014/main" val="3677740356"/>
                    </a:ext>
                  </a:extLst>
                </a:gridCol>
                <a:gridCol w="337930">
                  <a:extLst>
                    <a:ext uri="{9D8B030D-6E8A-4147-A177-3AD203B41FA5}">
                      <a16:colId xmlns:a16="http://schemas.microsoft.com/office/drawing/2014/main" val="1925663876"/>
                    </a:ext>
                  </a:extLst>
                </a:gridCol>
                <a:gridCol w="337930">
                  <a:extLst>
                    <a:ext uri="{9D8B030D-6E8A-4147-A177-3AD203B41FA5}">
                      <a16:colId xmlns:a16="http://schemas.microsoft.com/office/drawing/2014/main" val="1589778589"/>
                    </a:ext>
                  </a:extLst>
                </a:gridCol>
                <a:gridCol w="337930">
                  <a:extLst>
                    <a:ext uri="{9D8B030D-6E8A-4147-A177-3AD203B41FA5}">
                      <a16:colId xmlns:a16="http://schemas.microsoft.com/office/drawing/2014/main" val="2838242810"/>
                    </a:ext>
                  </a:extLst>
                </a:gridCol>
                <a:gridCol w="337930">
                  <a:extLst>
                    <a:ext uri="{9D8B030D-6E8A-4147-A177-3AD203B41FA5}">
                      <a16:colId xmlns:a16="http://schemas.microsoft.com/office/drawing/2014/main" val="2333745194"/>
                    </a:ext>
                  </a:extLst>
                </a:gridCol>
                <a:gridCol w="337930">
                  <a:extLst>
                    <a:ext uri="{9D8B030D-6E8A-4147-A177-3AD203B41FA5}">
                      <a16:colId xmlns:a16="http://schemas.microsoft.com/office/drawing/2014/main" val="132513013"/>
                    </a:ext>
                  </a:extLst>
                </a:gridCol>
                <a:gridCol w="337930">
                  <a:extLst>
                    <a:ext uri="{9D8B030D-6E8A-4147-A177-3AD203B41FA5}">
                      <a16:colId xmlns:a16="http://schemas.microsoft.com/office/drawing/2014/main" val="3887632822"/>
                    </a:ext>
                  </a:extLst>
                </a:gridCol>
                <a:gridCol w="337930">
                  <a:extLst>
                    <a:ext uri="{9D8B030D-6E8A-4147-A177-3AD203B41FA5}">
                      <a16:colId xmlns:a16="http://schemas.microsoft.com/office/drawing/2014/main" val="2510948532"/>
                    </a:ext>
                  </a:extLst>
                </a:gridCol>
              </a:tblGrid>
              <a:tr h="457518">
                <a:tc>
                  <a:txBody>
                    <a:bodyPr/>
                    <a:lstStyle/>
                    <a:p>
                      <a:r>
                        <a:rPr lang="en-US" sz="700" dirty="0"/>
                        <a:t>Memory</a:t>
                      </a:r>
                    </a:p>
                  </a:txBody>
                  <a:tcPr/>
                </a:tc>
                <a:tc>
                  <a:txBody>
                    <a:bodyPr/>
                    <a:lstStyle/>
                    <a:p>
                      <a:r>
                        <a:rPr lang="en-US" sz="700" dirty="0" err="1"/>
                        <a:t>HexCode</a:t>
                      </a:r>
                      <a:endParaRPr lang="en-US" sz="700" dirty="0"/>
                    </a:p>
                  </a:txBody>
                  <a:tcPr/>
                </a:tc>
                <a:tc>
                  <a:txBody>
                    <a:bodyPr/>
                    <a:lstStyle/>
                    <a:p>
                      <a:r>
                        <a:rPr lang="en-US" sz="700" dirty="0"/>
                        <a:t>A7</a:t>
                      </a:r>
                    </a:p>
                  </a:txBody>
                  <a:tcPr/>
                </a:tc>
                <a:tc>
                  <a:txBody>
                    <a:bodyPr/>
                    <a:lstStyle/>
                    <a:p>
                      <a:r>
                        <a:rPr lang="en-US" sz="700" dirty="0"/>
                        <a:t>A6</a:t>
                      </a:r>
                    </a:p>
                  </a:txBody>
                  <a:tcPr/>
                </a:tc>
                <a:tc>
                  <a:txBody>
                    <a:bodyPr/>
                    <a:lstStyle/>
                    <a:p>
                      <a:r>
                        <a:rPr lang="en-US" sz="700" dirty="0"/>
                        <a:t>A5</a:t>
                      </a:r>
                    </a:p>
                  </a:txBody>
                  <a:tcPr/>
                </a:tc>
                <a:tc>
                  <a:txBody>
                    <a:bodyPr/>
                    <a:lstStyle/>
                    <a:p>
                      <a:r>
                        <a:rPr lang="en-US" sz="700" dirty="0"/>
                        <a:t>A4</a:t>
                      </a:r>
                    </a:p>
                  </a:txBody>
                  <a:tcPr/>
                </a:tc>
                <a:tc>
                  <a:txBody>
                    <a:bodyPr/>
                    <a:lstStyle/>
                    <a:p>
                      <a:r>
                        <a:rPr lang="en-US" sz="700" dirty="0"/>
                        <a:t>A3</a:t>
                      </a:r>
                    </a:p>
                  </a:txBody>
                  <a:tcPr/>
                </a:tc>
                <a:tc>
                  <a:txBody>
                    <a:bodyPr/>
                    <a:lstStyle/>
                    <a:p>
                      <a:r>
                        <a:rPr lang="en-US" sz="700" dirty="0"/>
                        <a:t>A2</a:t>
                      </a:r>
                    </a:p>
                  </a:txBody>
                  <a:tcPr/>
                </a:tc>
                <a:tc>
                  <a:txBody>
                    <a:bodyPr/>
                    <a:lstStyle/>
                    <a:p>
                      <a:r>
                        <a:rPr lang="en-US" sz="700" dirty="0"/>
                        <a:t>A1</a:t>
                      </a:r>
                    </a:p>
                  </a:txBody>
                  <a:tcPr/>
                </a:tc>
                <a:tc>
                  <a:txBody>
                    <a:bodyPr/>
                    <a:lstStyle/>
                    <a:p>
                      <a:r>
                        <a:rPr lang="en-US" sz="700" dirty="0"/>
                        <a:t>A0</a:t>
                      </a:r>
                    </a:p>
                  </a:txBody>
                  <a:tcPr/>
                </a:tc>
                <a:extLst>
                  <a:ext uri="{0D108BD9-81ED-4DB2-BD59-A6C34878D82A}">
                    <a16:rowId xmlns:a16="http://schemas.microsoft.com/office/drawing/2014/main" val="1345140549"/>
                  </a:ext>
                </a:extLst>
              </a:tr>
              <a:tr h="246064">
                <a:tc>
                  <a:txBody>
                    <a:bodyPr/>
                    <a:lstStyle/>
                    <a:p>
                      <a:r>
                        <a:rPr lang="en-US" sz="700" dirty="0"/>
                        <a:t>ROM1</a:t>
                      </a:r>
                    </a:p>
                  </a:txBody>
                  <a:tcPr/>
                </a:tc>
                <a:tc>
                  <a:txBody>
                    <a:bodyPr/>
                    <a:lstStyle/>
                    <a:p>
                      <a:r>
                        <a:rPr lang="en-US" sz="700" dirty="0"/>
                        <a:t>00H</a:t>
                      </a:r>
                    </a:p>
                  </a:txBody>
                  <a:tcPr/>
                </a:tc>
                <a:tc>
                  <a:txBody>
                    <a:bodyPr/>
                    <a:lstStyle/>
                    <a:p>
                      <a:r>
                        <a:rPr lang="en-US" sz="700" b="1" dirty="0"/>
                        <a:t>0</a:t>
                      </a:r>
                    </a:p>
                  </a:txBody>
                  <a:tcPr/>
                </a:tc>
                <a:tc>
                  <a:txBody>
                    <a:bodyPr/>
                    <a:lstStyle/>
                    <a:p>
                      <a:r>
                        <a:rPr lang="en-US" sz="700" b="1" dirty="0"/>
                        <a:t>0</a:t>
                      </a:r>
                    </a:p>
                  </a:txBody>
                  <a:tcPr/>
                </a:tc>
                <a:tc>
                  <a:txBody>
                    <a:bodyPr/>
                    <a:lstStyle/>
                    <a:p>
                      <a:r>
                        <a:rPr lang="en-US" sz="700" b="1" dirty="0"/>
                        <a:t>0</a:t>
                      </a:r>
                    </a:p>
                  </a:txBody>
                  <a:tcPr/>
                </a:tc>
                <a:tc>
                  <a:txBody>
                    <a:bodyPr/>
                    <a:lstStyle/>
                    <a:p>
                      <a:r>
                        <a:rPr lang="en-US" sz="700" b="0" dirty="0"/>
                        <a:t>0</a:t>
                      </a:r>
                    </a:p>
                  </a:txBody>
                  <a:tcPr>
                    <a:solidFill>
                      <a:schemeClr val="accent2">
                        <a:lumMod val="40000"/>
                        <a:lumOff val="60000"/>
                      </a:schemeClr>
                    </a:solidFill>
                  </a:tcPr>
                </a:tc>
                <a:tc>
                  <a:txBody>
                    <a:bodyPr/>
                    <a:lstStyle/>
                    <a:p>
                      <a:r>
                        <a:rPr lang="en-US" sz="700" b="0" dirty="0"/>
                        <a:t>0</a:t>
                      </a:r>
                    </a:p>
                  </a:txBody>
                  <a:tcPr>
                    <a:solidFill>
                      <a:schemeClr val="accent2">
                        <a:lumMod val="40000"/>
                        <a:lumOff val="60000"/>
                      </a:schemeClr>
                    </a:solidFill>
                  </a:tcPr>
                </a:tc>
                <a:tc>
                  <a:txBody>
                    <a:bodyPr/>
                    <a:lstStyle/>
                    <a:p>
                      <a:r>
                        <a:rPr lang="en-US" sz="700" b="0" dirty="0"/>
                        <a:t>0</a:t>
                      </a:r>
                    </a:p>
                  </a:txBody>
                  <a:tcPr>
                    <a:solidFill>
                      <a:schemeClr val="accent2">
                        <a:lumMod val="40000"/>
                        <a:lumOff val="60000"/>
                      </a:schemeClr>
                    </a:solidFill>
                  </a:tcPr>
                </a:tc>
                <a:tc>
                  <a:txBody>
                    <a:bodyPr/>
                    <a:lstStyle/>
                    <a:p>
                      <a:r>
                        <a:rPr lang="en-US" sz="700" b="0" dirty="0"/>
                        <a:t>0</a:t>
                      </a:r>
                    </a:p>
                  </a:txBody>
                  <a:tcPr>
                    <a:solidFill>
                      <a:schemeClr val="accent2">
                        <a:lumMod val="40000"/>
                        <a:lumOff val="60000"/>
                      </a:schemeClr>
                    </a:solidFill>
                  </a:tcPr>
                </a:tc>
                <a:tc>
                  <a:txBody>
                    <a:bodyPr/>
                    <a:lstStyle/>
                    <a:p>
                      <a:r>
                        <a:rPr lang="en-US" sz="700" b="0" dirty="0"/>
                        <a:t>0</a:t>
                      </a:r>
                    </a:p>
                  </a:txBody>
                  <a:tcPr>
                    <a:solidFill>
                      <a:schemeClr val="accent2">
                        <a:lumMod val="40000"/>
                        <a:lumOff val="60000"/>
                      </a:schemeClr>
                    </a:solidFill>
                  </a:tcPr>
                </a:tc>
                <a:extLst>
                  <a:ext uri="{0D108BD9-81ED-4DB2-BD59-A6C34878D82A}">
                    <a16:rowId xmlns:a16="http://schemas.microsoft.com/office/drawing/2014/main" val="1781775666"/>
                  </a:ext>
                </a:extLst>
              </a:tr>
              <a:tr h="262205">
                <a:tc>
                  <a:txBody>
                    <a:bodyPr/>
                    <a:lstStyle/>
                    <a:p>
                      <a:endParaRPr lang="en-US" sz="700" dirty="0"/>
                    </a:p>
                  </a:txBody>
                  <a:tcPr/>
                </a:tc>
                <a:tc>
                  <a:txBody>
                    <a:bodyPr/>
                    <a:lstStyle/>
                    <a:p>
                      <a:r>
                        <a:rPr lang="en-US" sz="700" dirty="0"/>
                        <a:t>1FH</a:t>
                      </a:r>
                    </a:p>
                  </a:txBody>
                  <a:tcPr/>
                </a:tc>
                <a:tc>
                  <a:txBody>
                    <a:bodyPr/>
                    <a:lstStyle/>
                    <a:p>
                      <a:r>
                        <a:rPr lang="en-US" sz="700" b="0" dirty="0"/>
                        <a:t>0</a:t>
                      </a:r>
                    </a:p>
                  </a:txBody>
                  <a:tcPr/>
                </a:tc>
                <a:tc>
                  <a:txBody>
                    <a:bodyPr/>
                    <a:lstStyle/>
                    <a:p>
                      <a:r>
                        <a:rPr lang="en-US" sz="700" b="0" dirty="0"/>
                        <a:t>0</a:t>
                      </a:r>
                    </a:p>
                  </a:txBody>
                  <a:tcPr/>
                </a:tc>
                <a:tc>
                  <a:txBody>
                    <a:bodyPr/>
                    <a:lstStyle/>
                    <a:p>
                      <a:r>
                        <a:rPr lang="en-US" sz="700" b="0" dirty="0"/>
                        <a:t>0</a:t>
                      </a:r>
                    </a:p>
                  </a:txBody>
                  <a:tcPr/>
                </a:tc>
                <a:tc>
                  <a:txBody>
                    <a:bodyPr/>
                    <a:lstStyle/>
                    <a:p>
                      <a:r>
                        <a:rPr lang="en-US" sz="700" b="0" dirty="0"/>
                        <a:t>1</a:t>
                      </a:r>
                    </a:p>
                  </a:txBody>
                  <a:tcPr>
                    <a:solidFill>
                      <a:schemeClr val="accent2">
                        <a:lumMod val="40000"/>
                        <a:lumOff val="60000"/>
                      </a:schemeClr>
                    </a:solidFill>
                  </a:tcPr>
                </a:tc>
                <a:tc>
                  <a:txBody>
                    <a:bodyPr/>
                    <a:lstStyle/>
                    <a:p>
                      <a:r>
                        <a:rPr lang="en-US" sz="700" b="0" dirty="0"/>
                        <a:t>1</a:t>
                      </a:r>
                    </a:p>
                  </a:txBody>
                  <a:tcPr>
                    <a:solidFill>
                      <a:schemeClr val="accent2">
                        <a:lumMod val="40000"/>
                        <a:lumOff val="60000"/>
                      </a:schemeClr>
                    </a:solidFill>
                  </a:tcPr>
                </a:tc>
                <a:tc>
                  <a:txBody>
                    <a:bodyPr/>
                    <a:lstStyle/>
                    <a:p>
                      <a:r>
                        <a:rPr lang="en-US" sz="700" b="0" dirty="0"/>
                        <a:t>1</a:t>
                      </a:r>
                    </a:p>
                  </a:txBody>
                  <a:tcPr>
                    <a:solidFill>
                      <a:schemeClr val="accent2">
                        <a:lumMod val="40000"/>
                        <a:lumOff val="60000"/>
                      </a:schemeClr>
                    </a:solidFill>
                  </a:tcPr>
                </a:tc>
                <a:tc>
                  <a:txBody>
                    <a:bodyPr/>
                    <a:lstStyle/>
                    <a:p>
                      <a:r>
                        <a:rPr lang="en-US" sz="700" b="0" dirty="0"/>
                        <a:t>1</a:t>
                      </a:r>
                    </a:p>
                  </a:txBody>
                  <a:tcPr>
                    <a:solidFill>
                      <a:schemeClr val="accent2">
                        <a:lumMod val="40000"/>
                        <a:lumOff val="60000"/>
                      </a:schemeClr>
                    </a:solidFill>
                  </a:tcPr>
                </a:tc>
                <a:tc>
                  <a:txBody>
                    <a:bodyPr/>
                    <a:lstStyle/>
                    <a:p>
                      <a:r>
                        <a:rPr lang="en-US" sz="700" b="0" dirty="0"/>
                        <a:t>1</a:t>
                      </a:r>
                    </a:p>
                  </a:txBody>
                  <a:tcPr>
                    <a:solidFill>
                      <a:schemeClr val="accent2">
                        <a:lumMod val="40000"/>
                        <a:lumOff val="60000"/>
                      </a:schemeClr>
                    </a:solidFill>
                  </a:tcPr>
                </a:tc>
                <a:extLst>
                  <a:ext uri="{0D108BD9-81ED-4DB2-BD59-A6C34878D82A}">
                    <a16:rowId xmlns:a16="http://schemas.microsoft.com/office/drawing/2014/main" val="2330774971"/>
                  </a:ext>
                </a:extLst>
              </a:tr>
              <a:tr h="338902">
                <a:tc>
                  <a:txBody>
                    <a:bodyPr/>
                    <a:lstStyle/>
                    <a:p>
                      <a:r>
                        <a:rPr lang="en-US" sz="700" dirty="0"/>
                        <a:t>ROM2</a:t>
                      </a:r>
                    </a:p>
                  </a:txBody>
                  <a:tcPr/>
                </a:tc>
                <a:tc>
                  <a:txBody>
                    <a:bodyPr/>
                    <a:lstStyle/>
                    <a:p>
                      <a:r>
                        <a:rPr lang="en-US" sz="700" dirty="0"/>
                        <a:t>20H</a:t>
                      </a:r>
                    </a:p>
                  </a:txBody>
                  <a:tcPr/>
                </a:tc>
                <a:tc>
                  <a:txBody>
                    <a:bodyPr/>
                    <a:lstStyle/>
                    <a:p>
                      <a:r>
                        <a:rPr lang="en-US" sz="700" b="1" dirty="0"/>
                        <a:t>0</a:t>
                      </a:r>
                    </a:p>
                  </a:txBody>
                  <a:tcPr/>
                </a:tc>
                <a:tc>
                  <a:txBody>
                    <a:bodyPr/>
                    <a:lstStyle/>
                    <a:p>
                      <a:r>
                        <a:rPr lang="en-US" sz="700" b="1" dirty="0"/>
                        <a:t>0</a:t>
                      </a:r>
                    </a:p>
                  </a:txBody>
                  <a:tcPr/>
                </a:tc>
                <a:tc>
                  <a:txBody>
                    <a:bodyPr/>
                    <a:lstStyle/>
                    <a:p>
                      <a:r>
                        <a:rPr lang="en-US" sz="700" b="1" dirty="0"/>
                        <a:t>1</a:t>
                      </a:r>
                    </a:p>
                  </a:txBody>
                  <a:tcPr/>
                </a:tc>
                <a:tc>
                  <a:txBody>
                    <a:bodyPr/>
                    <a:lstStyle/>
                    <a:p>
                      <a:r>
                        <a:rPr lang="en-US" sz="700" b="0" dirty="0"/>
                        <a:t>0</a:t>
                      </a:r>
                    </a:p>
                  </a:txBody>
                  <a:tcPr>
                    <a:solidFill>
                      <a:schemeClr val="accent4">
                        <a:lumMod val="60000"/>
                        <a:lumOff val="40000"/>
                      </a:schemeClr>
                    </a:solidFill>
                  </a:tcPr>
                </a:tc>
                <a:tc>
                  <a:txBody>
                    <a:bodyPr/>
                    <a:lstStyle/>
                    <a:p>
                      <a:r>
                        <a:rPr lang="en-US" sz="700" b="0" dirty="0"/>
                        <a:t>0</a:t>
                      </a:r>
                    </a:p>
                  </a:txBody>
                  <a:tcPr>
                    <a:solidFill>
                      <a:schemeClr val="accent4">
                        <a:lumMod val="60000"/>
                        <a:lumOff val="40000"/>
                      </a:schemeClr>
                    </a:solidFill>
                  </a:tcPr>
                </a:tc>
                <a:tc>
                  <a:txBody>
                    <a:bodyPr/>
                    <a:lstStyle/>
                    <a:p>
                      <a:r>
                        <a:rPr lang="en-US" sz="700" b="0" dirty="0"/>
                        <a:t>0</a:t>
                      </a:r>
                    </a:p>
                  </a:txBody>
                  <a:tcPr>
                    <a:solidFill>
                      <a:schemeClr val="accent4">
                        <a:lumMod val="60000"/>
                        <a:lumOff val="40000"/>
                      </a:schemeClr>
                    </a:solidFill>
                  </a:tcPr>
                </a:tc>
                <a:tc>
                  <a:txBody>
                    <a:bodyPr/>
                    <a:lstStyle/>
                    <a:p>
                      <a:r>
                        <a:rPr lang="en-US" sz="700" b="0" dirty="0"/>
                        <a:t>0</a:t>
                      </a:r>
                    </a:p>
                  </a:txBody>
                  <a:tcPr>
                    <a:solidFill>
                      <a:schemeClr val="accent4">
                        <a:lumMod val="60000"/>
                        <a:lumOff val="40000"/>
                      </a:schemeClr>
                    </a:solidFill>
                  </a:tcPr>
                </a:tc>
                <a:tc>
                  <a:txBody>
                    <a:bodyPr/>
                    <a:lstStyle/>
                    <a:p>
                      <a:r>
                        <a:rPr lang="en-US" sz="700" b="0" dirty="0"/>
                        <a:t>0</a:t>
                      </a:r>
                    </a:p>
                  </a:txBody>
                  <a:tcPr>
                    <a:solidFill>
                      <a:schemeClr val="accent4">
                        <a:lumMod val="60000"/>
                        <a:lumOff val="40000"/>
                      </a:schemeClr>
                    </a:solidFill>
                  </a:tcPr>
                </a:tc>
                <a:extLst>
                  <a:ext uri="{0D108BD9-81ED-4DB2-BD59-A6C34878D82A}">
                    <a16:rowId xmlns:a16="http://schemas.microsoft.com/office/drawing/2014/main" val="3372789272"/>
                  </a:ext>
                </a:extLst>
              </a:tr>
              <a:tr h="263961">
                <a:tc>
                  <a:txBody>
                    <a:bodyPr/>
                    <a:lstStyle/>
                    <a:p>
                      <a:endParaRPr lang="en-US" sz="700" dirty="0"/>
                    </a:p>
                  </a:txBody>
                  <a:tcPr/>
                </a:tc>
                <a:tc>
                  <a:txBody>
                    <a:bodyPr/>
                    <a:lstStyle/>
                    <a:p>
                      <a:r>
                        <a:rPr lang="en-US" sz="700" dirty="0"/>
                        <a:t>3FH</a:t>
                      </a:r>
                    </a:p>
                  </a:txBody>
                  <a:tcPr/>
                </a:tc>
                <a:tc>
                  <a:txBody>
                    <a:bodyPr/>
                    <a:lstStyle/>
                    <a:p>
                      <a:r>
                        <a:rPr lang="en-US" sz="700" b="0" dirty="0"/>
                        <a:t>0</a:t>
                      </a:r>
                    </a:p>
                  </a:txBody>
                  <a:tcPr/>
                </a:tc>
                <a:tc>
                  <a:txBody>
                    <a:bodyPr/>
                    <a:lstStyle/>
                    <a:p>
                      <a:r>
                        <a:rPr lang="en-US" sz="700" b="0" dirty="0"/>
                        <a:t>0</a:t>
                      </a:r>
                    </a:p>
                  </a:txBody>
                  <a:tcPr/>
                </a:tc>
                <a:tc>
                  <a:txBody>
                    <a:bodyPr/>
                    <a:lstStyle/>
                    <a:p>
                      <a:r>
                        <a:rPr lang="en-US" sz="700" b="0" dirty="0"/>
                        <a:t>1</a:t>
                      </a:r>
                    </a:p>
                  </a:txBody>
                  <a:tcPr/>
                </a:tc>
                <a:tc>
                  <a:txBody>
                    <a:bodyPr/>
                    <a:lstStyle/>
                    <a:p>
                      <a:r>
                        <a:rPr lang="en-US" sz="700" b="0" dirty="0"/>
                        <a:t>1</a:t>
                      </a:r>
                    </a:p>
                  </a:txBody>
                  <a:tcPr>
                    <a:solidFill>
                      <a:schemeClr val="accent4">
                        <a:lumMod val="60000"/>
                        <a:lumOff val="40000"/>
                      </a:schemeClr>
                    </a:solidFill>
                  </a:tcPr>
                </a:tc>
                <a:tc>
                  <a:txBody>
                    <a:bodyPr/>
                    <a:lstStyle/>
                    <a:p>
                      <a:r>
                        <a:rPr lang="en-US" sz="700" b="0" dirty="0"/>
                        <a:t>1</a:t>
                      </a:r>
                    </a:p>
                  </a:txBody>
                  <a:tcPr>
                    <a:solidFill>
                      <a:schemeClr val="accent4">
                        <a:lumMod val="60000"/>
                        <a:lumOff val="40000"/>
                      </a:schemeClr>
                    </a:solidFill>
                  </a:tcPr>
                </a:tc>
                <a:tc>
                  <a:txBody>
                    <a:bodyPr/>
                    <a:lstStyle/>
                    <a:p>
                      <a:r>
                        <a:rPr lang="en-US" sz="700" b="0" dirty="0"/>
                        <a:t>1</a:t>
                      </a:r>
                    </a:p>
                  </a:txBody>
                  <a:tcPr>
                    <a:solidFill>
                      <a:schemeClr val="accent4">
                        <a:lumMod val="60000"/>
                        <a:lumOff val="40000"/>
                      </a:schemeClr>
                    </a:solidFill>
                  </a:tcPr>
                </a:tc>
                <a:tc>
                  <a:txBody>
                    <a:bodyPr/>
                    <a:lstStyle/>
                    <a:p>
                      <a:r>
                        <a:rPr lang="en-US" sz="700" b="0" dirty="0"/>
                        <a:t>1</a:t>
                      </a:r>
                    </a:p>
                  </a:txBody>
                  <a:tcPr>
                    <a:solidFill>
                      <a:schemeClr val="accent4">
                        <a:lumMod val="60000"/>
                        <a:lumOff val="40000"/>
                      </a:schemeClr>
                    </a:solidFill>
                  </a:tcPr>
                </a:tc>
                <a:tc>
                  <a:txBody>
                    <a:bodyPr/>
                    <a:lstStyle/>
                    <a:p>
                      <a:r>
                        <a:rPr lang="en-US" sz="700" b="0" dirty="0"/>
                        <a:t>1</a:t>
                      </a:r>
                    </a:p>
                  </a:txBody>
                  <a:tcPr>
                    <a:solidFill>
                      <a:schemeClr val="accent4">
                        <a:lumMod val="60000"/>
                        <a:lumOff val="40000"/>
                      </a:schemeClr>
                    </a:solidFill>
                  </a:tcPr>
                </a:tc>
                <a:extLst>
                  <a:ext uri="{0D108BD9-81ED-4DB2-BD59-A6C34878D82A}">
                    <a16:rowId xmlns:a16="http://schemas.microsoft.com/office/drawing/2014/main" val="3138493524"/>
                  </a:ext>
                </a:extLst>
              </a:tr>
              <a:tr h="263961">
                <a:tc>
                  <a:txBody>
                    <a:bodyPr/>
                    <a:lstStyle/>
                    <a:p>
                      <a:r>
                        <a:rPr lang="en-US" sz="700" dirty="0"/>
                        <a:t>IO</a:t>
                      </a:r>
                    </a:p>
                  </a:txBody>
                  <a:tcPr/>
                </a:tc>
                <a:tc>
                  <a:txBody>
                    <a:bodyPr/>
                    <a:lstStyle/>
                    <a:p>
                      <a:r>
                        <a:rPr lang="en-US" sz="700" dirty="0"/>
                        <a:t>FFH</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extLst>
                  <a:ext uri="{0D108BD9-81ED-4DB2-BD59-A6C34878D82A}">
                    <a16:rowId xmlns:a16="http://schemas.microsoft.com/office/drawing/2014/main" val="2484092454"/>
                  </a:ext>
                </a:extLst>
              </a:tr>
            </a:tbl>
          </a:graphicData>
        </a:graphic>
      </p:graphicFrame>
      <p:pic>
        <p:nvPicPr>
          <p:cNvPr id="16" name="Picture 15">
            <a:extLst>
              <a:ext uri="{FF2B5EF4-FFF2-40B4-BE49-F238E27FC236}">
                <a16:creationId xmlns:a16="http://schemas.microsoft.com/office/drawing/2014/main" id="{292D5753-100B-4456-95D2-15E6A84EFA63}"/>
              </a:ext>
            </a:extLst>
          </p:cNvPr>
          <p:cNvPicPr>
            <a:picLocks noChangeAspect="1"/>
          </p:cNvPicPr>
          <p:nvPr/>
        </p:nvPicPr>
        <p:blipFill>
          <a:blip r:embed="rId2" cstate="print">
            <a:extLst>
              <a:ext uri="{BEBA8EAE-BF5A-486C-A8C5-ECC9F3942E4B}">
                <a14:imgProps xmlns:a14="http://schemas.microsoft.com/office/drawing/2010/main">
                  <a14:imgLayer r:embed="rId3">
                    <a14:imgEffect>
                      <a14:sharpenSoften amount="100000"/>
                    </a14:imgEffect>
                    <a14:imgEffect>
                      <a14:brightnessContrast bright="50000"/>
                    </a14:imgEffect>
                  </a14:imgLayer>
                </a14:imgProps>
              </a:ext>
              <a:ext uri="{28A0092B-C50C-407E-A947-70E740481C1C}">
                <a14:useLocalDpi xmlns:a14="http://schemas.microsoft.com/office/drawing/2010/main" val="0"/>
              </a:ext>
            </a:extLst>
          </a:blip>
          <a:stretch>
            <a:fillRect/>
          </a:stretch>
        </p:blipFill>
        <p:spPr>
          <a:xfrm>
            <a:off x="4780512" y="627679"/>
            <a:ext cx="4162962" cy="4305582"/>
          </a:xfrm>
          <a:prstGeom prst="rect">
            <a:avLst/>
          </a:prstGeom>
        </p:spPr>
      </p:pic>
    </p:spTree>
    <p:extLst>
      <p:ext uri="{BB962C8B-B14F-4D97-AF65-F5344CB8AC3E}">
        <p14:creationId xmlns:p14="http://schemas.microsoft.com/office/powerpoint/2010/main" val="38329718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61951"/>
            <a:ext cx="8229600" cy="685800"/>
          </a:xfrm>
        </p:spPr>
        <p:txBody>
          <a:bodyPr>
            <a:noAutofit/>
          </a:bodyPr>
          <a:lstStyle/>
          <a:p>
            <a:pPr marL="228600" indent="-228600" algn="just">
              <a:tabLst>
                <a:tab pos="463550" algn="l"/>
              </a:tabLst>
            </a:pPr>
            <a:r>
              <a:rPr lang="en-US" sz="1800" b="1" dirty="0">
                <a:solidFill>
                  <a:srgbClr val="FF0000"/>
                </a:solidFill>
                <a:cs typeface="Times New Roman" panose="02020603050405020304" pitchFamily="18" charset="0"/>
              </a:rPr>
              <a:t>6. A CPU with 8-bit data bus and 8-bit address bus uses memory mapped I/O. It has 32 byte of ROM at 00H and 32 byte of ROM at 20H. It also has an I/O device at FFH. Show the load logic and enable logic.</a:t>
            </a:r>
            <a:endParaRPr lang="en-US" sz="1800" b="1" dirty="0">
              <a:solidFill>
                <a:srgbClr val="FF0000"/>
              </a:solidFill>
            </a:endParaRPr>
          </a:p>
        </p:txBody>
      </p:sp>
      <p:sp>
        <p:nvSpPr>
          <p:cNvPr id="4" name="Date Placeholder 3"/>
          <p:cNvSpPr>
            <a:spLocks noGrp="1"/>
          </p:cNvSpPr>
          <p:nvPr>
            <p:ph type="dt" sz="half" idx="10"/>
          </p:nvPr>
        </p:nvSpPr>
        <p:spPr/>
        <p:txBody>
          <a:bodyPr/>
          <a:lstStyle/>
          <a:p>
            <a:fld id="{7B0BEAAE-8C57-4B7C-9AA6-F27EE393CAB1}" type="datetime1">
              <a:rPr lang="en-US" smtClean="0"/>
              <a:t>7/31/2023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73</a:t>
            </a:fld>
            <a:endParaRPr lang="en-US"/>
          </a:p>
        </p:txBody>
      </p:sp>
      <p:sp>
        <p:nvSpPr>
          <p:cNvPr id="6" name="Footer Placeholder 5"/>
          <p:cNvSpPr>
            <a:spLocks noGrp="1"/>
          </p:cNvSpPr>
          <p:nvPr>
            <p:ph type="ftr" sz="quarter" idx="11"/>
          </p:nvPr>
        </p:nvSpPr>
        <p:spPr/>
        <p:txBody>
          <a:bodyPr/>
          <a:lstStyle/>
          <a:p>
            <a:r>
              <a:rPr lang="en-US"/>
              <a:t>Microprocessor and Computer Architecture, BSE-II</a:t>
            </a:r>
          </a:p>
        </p:txBody>
      </p:sp>
      <p:pic>
        <p:nvPicPr>
          <p:cNvPr id="7" name="Content Placeholder 3">
            <a:extLst>
              <a:ext uri="{FF2B5EF4-FFF2-40B4-BE49-F238E27FC236}">
                <a16:creationId xmlns:a16="http://schemas.microsoft.com/office/drawing/2014/main" id="{F9808671-E48B-44D2-9FC2-B27ED11283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52800" y="1296476"/>
            <a:ext cx="5638800" cy="3580638"/>
          </a:xfrm>
        </p:spPr>
      </p:pic>
      <p:sp>
        <p:nvSpPr>
          <p:cNvPr id="9" name="Content Placeholder 2">
            <a:extLst>
              <a:ext uri="{FF2B5EF4-FFF2-40B4-BE49-F238E27FC236}">
                <a16:creationId xmlns:a16="http://schemas.microsoft.com/office/drawing/2014/main" id="{9AAFFF52-6AE1-415C-B125-049EAE9CFD63}"/>
              </a:ext>
            </a:extLst>
          </p:cNvPr>
          <p:cNvSpPr txBox="1">
            <a:spLocks/>
          </p:cNvSpPr>
          <p:nvPr/>
        </p:nvSpPr>
        <p:spPr>
          <a:xfrm>
            <a:off x="472440" y="1296476"/>
            <a:ext cx="2209800" cy="1219200"/>
          </a:xfrm>
          <a:prstGeom prst="rect">
            <a:avLst/>
          </a:prstGeom>
          <a:solidFill>
            <a:schemeClr val="accent2">
              <a:lumMod val="20000"/>
              <a:lumOff val="80000"/>
            </a:schemeClr>
          </a:solidFill>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indent="-114300"/>
            <a:r>
              <a:rPr lang="en-US" sz="1000" dirty="0"/>
              <a:t>Here:</a:t>
            </a:r>
          </a:p>
          <a:p>
            <a:pPr marL="114300" indent="-114300"/>
            <a:r>
              <a:rPr lang="en-US" sz="1000" dirty="0"/>
              <a:t>Data bus width = 8 bits (D7-D0)</a:t>
            </a:r>
          </a:p>
          <a:p>
            <a:pPr marL="114300" indent="-114300"/>
            <a:r>
              <a:rPr lang="en-US" sz="1000" dirty="0"/>
              <a:t>Address bus width = 8 bits (A7-A0)</a:t>
            </a:r>
          </a:p>
          <a:p>
            <a:pPr marL="114300" indent="-114300"/>
            <a:r>
              <a:rPr lang="en-US" sz="1000" dirty="0"/>
              <a:t>ROM1 size= 32x8 starting at 00H</a:t>
            </a:r>
          </a:p>
          <a:p>
            <a:pPr marL="114300" indent="-114300"/>
            <a:r>
              <a:rPr lang="en-US" sz="1000" dirty="0"/>
              <a:t>ROM2 size= 32x8 starting at 20H</a:t>
            </a:r>
          </a:p>
          <a:p>
            <a:pPr marL="114300" indent="-114300"/>
            <a:r>
              <a:rPr lang="en-US" sz="1000" dirty="0"/>
              <a:t>I/O device starting at FFH</a:t>
            </a:r>
          </a:p>
          <a:p>
            <a:pPr marL="114300" indent="-114300"/>
            <a:endParaRPr lang="en-US" sz="1000" dirty="0"/>
          </a:p>
          <a:p>
            <a:pPr marL="114300" indent="-114300"/>
            <a:endParaRPr lang="en-US" sz="1000" dirty="0"/>
          </a:p>
        </p:txBody>
      </p:sp>
      <p:graphicFrame>
        <p:nvGraphicFramePr>
          <p:cNvPr id="3" name="Table 9">
            <a:extLst>
              <a:ext uri="{FF2B5EF4-FFF2-40B4-BE49-F238E27FC236}">
                <a16:creationId xmlns:a16="http://schemas.microsoft.com/office/drawing/2014/main" id="{A81B73AF-3941-42E4-A4DA-472532B0BFDE}"/>
              </a:ext>
            </a:extLst>
          </p:cNvPr>
          <p:cNvGraphicFramePr>
            <a:graphicFrameLocks noGrp="1"/>
          </p:cNvGraphicFramePr>
          <p:nvPr/>
        </p:nvGraphicFramePr>
        <p:xfrm>
          <a:off x="228600" y="2720340"/>
          <a:ext cx="3505200" cy="1597740"/>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3861761466"/>
                    </a:ext>
                  </a:extLst>
                </a:gridCol>
                <a:gridCol w="457200">
                  <a:extLst>
                    <a:ext uri="{9D8B030D-6E8A-4147-A177-3AD203B41FA5}">
                      <a16:colId xmlns:a16="http://schemas.microsoft.com/office/drawing/2014/main" val="575378240"/>
                    </a:ext>
                  </a:extLst>
                </a:gridCol>
                <a:gridCol w="381000">
                  <a:extLst>
                    <a:ext uri="{9D8B030D-6E8A-4147-A177-3AD203B41FA5}">
                      <a16:colId xmlns:a16="http://schemas.microsoft.com/office/drawing/2014/main" val="3677740356"/>
                    </a:ext>
                  </a:extLst>
                </a:gridCol>
                <a:gridCol w="304800">
                  <a:extLst>
                    <a:ext uri="{9D8B030D-6E8A-4147-A177-3AD203B41FA5}">
                      <a16:colId xmlns:a16="http://schemas.microsoft.com/office/drawing/2014/main" val="1925663876"/>
                    </a:ext>
                  </a:extLst>
                </a:gridCol>
                <a:gridCol w="304800">
                  <a:extLst>
                    <a:ext uri="{9D8B030D-6E8A-4147-A177-3AD203B41FA5}">
                      <a16:colId xmlns:a16="http://schemas.microsoft.com/office/drawing/2014/main" val="1589778589"/>
                    </a:ext>
                  </a:extLst>
                </a:gridCol>
                <a:gridCol w="304800">
                  <a:extLst>
                    <a:ext uri="{9D8B030D-6E8A-4147-A177-3AD203B41FA5}">
                      <a16:colId xmlns:a16="http://schemas.microsoft.com/office/drawing/2014/main" val="2838242810"/>
                    </a:ext>
                  </a:extLst>
                </a:gridCol>
                <a:gridCol w="304800">
                  <a:extLst>
                    <a:ext uri="{9D8B030D-6E8A-4147-A177-3AD203B41FA5}">
                      <a16:colId xmlns:a16="http://schemas.microsoft.com/office/drawing/2014/main" val="2333745194"/>
                    </a:ext>
                  </a:extLst>
                </a:gridCol>
                <a:gridCol w="304800">
                  <a:extLst>
                    <a:ext uri="{9D8B030D-6E8A-4147-A177-3AD203B41FA5}">
                      <a16:colId xmlns:a16="http://schemas.microsoft.com/office/drawing/2014/main" val="132513013"/>
                    </a:ext>
                  </a:extLst>
                </a:gridCol>
                <a:gridCol w="304800">
                  <a:extLst>
                    <a:ext uri="{9D8B030D-6E8A-4147-A177-3AD203B41FA5}">
                      <a16:colId xmlns:a16="http://schemas.microsoft.com/office/drawing/2014/main" val="3887632822"/>
                    </a:ext>
                  </a:extLst>
                </a:gridCol>
                <a:gridCol w="304800">
                  <a:extLst>
                    <a:ext uri="{9D8B030D-6E8A-4147-A177-3AD203B41FA5}">
                      <a16:colId xmlns:a16="http://schemas.microsoft.com/office/drawing/2014/main" val="2510948532"/>
                    </a:ext>
                  </a:extLst>
                </a:gridCol>
              </a:tblGrid>
              <a:tr h="398882">
                <a:tc>
                  <a:txBody>
                    <a:bodyPr/>
                    <a:lstStyle/>
                    <a:p>
                      <a:r>
                        <a:rPr lang="en-US" sz="700" dirty="0"/>
                        <a:t>Memory</a:t>
                      </a:r>
                    </a:p>
                  </a:txBody>
                  <a:tcPr/>
                </a:tc>
                <a:tc>
                  <a:txBody>
                    <a:bodyPr/>
                    <a:lstStyle/>
                    <a:p>
                      <a:r>
                        <a:rPr lang="en-US" sz="700" dirty="0" err="1"/>
                        <a:t>HexCode</a:t>
                      </a:r>
                      <a:endParaRPr lang="en-US" sz="700" dirty="0"/>
                    </a:p>
                  </a:txBody>
                  <a:tcPr/>
                </a:tc>
                <a:tc>
                  <a:txBody>
                    <a:bodyPr/>
                    <a:lstStyle/>
                    <a:p>
                      <a:r>
                        <a:rPr lang="en-US" sz="700" dirty="0"/>
                        <a:t>A7</a:t>
                      </a:r>
                    </a:p>
                  </a:txBody>
                  <a:tcPr/>
                </a:tc>
                <a:tc>
                  <a:txBody>
                    <a:bodyPr/>
                    <a:lstStyle/>
                    <a:p>
                      <a:r>
                        <a:rPr lang="en-US" sz="700" dirty="0"/>
                        <a:t>A6</a:t>
                      </a:r>
                    </a:p>
                  </a:txBody>
                  <a:tcPr/>
                </a:tc>
                <a:tc>
                  <a:txBody>
                    <a:bodyPr/>
                    <a:lstStyle/>
                    <a:p>
                      <a:r>
                        <a:rPr lang="en-US" sz="700" dirty="0"/>
                        <a:t>A5</a:t>
                      </a:r>
                    </a:p>
                  </a:txBody>
                  <a:tcPr/>
                </a:tc>
                <a:tc>
                  <a:txBody>
                    <a:bodyPr/>
                    <a:lstStyle/>
                    <a:p>
                      <a:r>
                        <a:rPr lang="en-US" sz="700" dirty="0"/>
                        <a:t>A4</a:t>
                      </a:r>
                    </a:p>
                  </a:txBody>
                  <a:tcPr/>
                </a:tc>
                <a:tc>
                  <a:txBody>
                    <a:bodyPr/>
                    <a:lstStyle/>
                    <a:p>
                      <a:r>
                        <a:rPr lang="en-US" sz="700" dirty="0"/>
                        <a:t>A3</a:t>
                      </a:r>
                    </a:p>
                  </a:txBody>
                  <a:tcPr/>
                </a:tc>
                <a:tc>
                  <a:txBody>
                    <a:bodyPr/>
                    <a:lstStyle/>
                    <a:p>
                      <a:r>
                        <a:rPr lang="en-US" sz="700" dirty="0"/>
                        <a:t>A2</a:t>
                      </a:r>
                    </a:p>
                  </a:txBody>
                  <a:tcPr/>
                </a:tc>
                <a:tc>
                  <a:txBody>
                    <a:bodyPr/>
                    <a:lstStyle/>
                    <a:p>
                      <a:r>
                        <a:rPr lang="en-US" sz="700" dirty="0"/>
                        <a:t>A1</a:t>
                      </a:r>
                    </a:p>
                  </a:txBody>
                  <a:tcPr/>
                </a:tc>
                <a:tc>
                  <a:txBody>
                    <a:bodyPr/>
                    <a:lstStyle/>
                    <a:p>
                      <a:r>
                        <a:rPr lang="en-US" sz="700" dirty="0"/>
                        <a:t>A0</a:t>
                      </a:r>
                    </a:p>
                  </a:txBody>
                  <a:tcPr/>
                </a:tc>
                <a:extLst>
                  <a:ext uri="{0D108BD9-81ED-4DB2-BD59-A6C34878D82A}">
                    <a16:rowId xmlns:a16="http://schemas.microsoft.com/office/drawing/2014/main" val="1345140549"/>
                  </a:ext>
                </a:extLst>
              </a:tr>
              <a:tr h="214528">
                <a:tc>
                  <a:txBody>
                    <a:bodyPr/>
                    <a:lstStyle/>
                    <a:p>
                      <a:r>
                        <a:rPr lang="en-US" sz="700" dirty="0"/>
                        <a:t>ROM1</a:t>
                      </a:r>
                    </a:p>
                  </a:txBody>
                  <a:tcPr/>
                </a:tc>
                <a:tc>
                  <a:txBody>
                    <a:bodyPr/>
                    <a:lstStyle/>
                    <a:p>
                      <a:r>
                        <a:rPr lang="en-US" sz="700" dirty="0"/>
                        <a:t>00H</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extLst>
                  <a:ext uri="{0D108BD9-81ED-4DB2-BD59-A6C34878D82A}">
                    <a16:rowId xmlns:a16="http://schemas.microsoft.com/office/drawing/2014/main" val="1781775666"/>
                  </a:ext>
                </a:extLst>
              </a:tr>
              <a:tr h="228600">
                <a:tc>
                  <a:txBody>
                    <a:bodyPr/>
                    <a:lstStyle/>
                    <a:p>
                      <a:endParaRPr lang="en-US" sz="700" dirty="0"/>
                    </a:p>
                  </a:txBody>
                  <a:tcPr/>
                </a:tc>
                <a:tc>
                  <a:txBody>
                    <a:bodyPr/>
                    <a:lstStyle/>
                    <a:p>
                      <a:r>
                        <a:rPr lang="en-US" sz="700" dirty="0"/>
                        <a:t>1FH</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extLst>
                  <a:ext uri="{0D108BD9-81ED-4DB2-BD59-A6C34878D82A}">
                    <a16:rowId xmlns:a16="http://schemas.microsoft.com/office/drawing/2014/main" val="2330774971"/>
                  </a:ext>
                </a:extLst>
              </a:tr>
              <a:tr h="295468">
                <a:tc>
                  <a:txBody>
                    <a:bodyPr/>
                    <a:lstStyle/>
                    <a:p>
                      <a:r>
                        <a:rPr lang="en-US" sz="700" dirty="0"/>
                        <a:t>ROM2</a:t>
                      </a:r>
                    </a:p>
                  </a:txBody>
                  <a:tcPr/>
                </a:tc>
                <a:tc>
                  <a:txBody>
                    <a:bodyPr/>
                    <a:lstStyle/>
                    <a:p>
                      <a:r>
                        <a:rPr lang="en-US" sz="700" dirty="0"/>
                        <a:t>20H</a:t>
                      </a:r>
                    </a:p>
                  </a:txBody>
                  <a:tcPr/>
                </a:tc>
                <a:tc>
                  <a:txBody>
                    <a:bodyPr/>
                    <a:lstStyle/>
                    <a:p>
                      <a:r>
                        <a:rPr lang="en-US" sz="700" dirty="0"/>
                        <a:t>0</a:t>
                      </a:r>
                    </a:p>
                  </a:txBody>
                  <a:tcPr/>
                </a:tc>
                <a:tc>
                  <a:txBody>
                    <a:bodyPr/>
                    <a:lstStyle/>
                    <a:p>
                      <a:r>
                        <a:rPr lang="en-US" sz="700" dirty="0"/>
                        <a:t>0</a:t>
                      </a:r>
                    </a:p>
                  </a:txBody>
                  <a:tcPr/>
                </a:tc>
                <a:tc>
                  <a:txBody>
                    <a:bodyPr/>
                    <a:lstStyle/>
                    <a:p>
                      <a:r>
                        <a:rPr lang="en-US" sz="700" dirty="0"/>
                        <a:t>1</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extLst>
                  <a:ext uri="{0D108BD9-81ED-4DB2-BD59-A6C34878D82A}">
                    <a16:rowId xmlns:a16="http://schemas.microsoft.com/office/drawing/2014/main" val="3372789272"/>
                  </a:ext>
                </a:extLst>
              </a:tr>
              <a:tr h="230131">
                <a:tc>
                  <a:txBody>
                    <a:bodyPr/>
                    <a:lstStyle/>
                    <a:p>
                      <a:endParaRPr lang="en-US" sz="700" dirty="0"/>
                    </a:p>
                  </a:txBody>
                  <a:tcPr/>
                </a:tc>
                <a:tc>
                  <a:txBody>
                    <a:bodyPr/>
                    <a:lstStyle/>
                    <a:p>
                      <a:r>
                        <a:rPr lang="en-US" sz="700" dirty="0"/>
                        <a:t>3FH</a:t>
                      </a:r>
                    </a:p>
                  </a:txBody>
                  <a:tcPr/>
                </a:tc>
                <a:tc>
                  <a:txBody>
                    <a:bodyPr/>
                    <a:lstStyle/>
                    <a:p>
                      <a:r>
                        <a:rPr lang="en-US" sz="700" dirty="0"/>
                        <a:t>0</a:t>
                      </a:r>
                    </a:p>
                  </a:txBody>
                  <a:tcPr/>
                </a:tc>
                <a:tc>
                  <a:txBody>
                    <a:bodyPr/>
                    <a:lstStyle/>
                    <a:p>
                      <a:r>
                        <a:rPr lang="en-US" sz="700" dirty="0"/>
                        <a:t>0</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extLst>
                  <a:ext uri="{0D108BD9-81ED-4DB2-BD59-A6C34878D82A}">
                    <a16:rowId xmlns:a16="http://schemas.microsoft.com/office/drawing/2014/main" val="3138493524"/>
                  </a:ext>
                </a:extLst>
              </a:tr>
              <a:tr h="230131">
                <a:tc>
                  <a:txBody>
                    <a:bodyPr/>
                    <a:lstStyle/>
                    <a:p>
                      <a:r>
                        <a:rPr lang="en-US" sz="700" dirty="0"/>
                        <a:t>IO</a:t>
                      </a:r>
                    </a:p>
                  </a:txBody>
                  <a:tcPr/>
                </a:tc>
                <a:tc>
                  <a:txBody>
                    <a:bodyPr/>
                    <a:lstStyle/>
                    <a:p>
                      <a:r>
                        <a:rPr lang="en-US" sz="700" dirty="0"/>
                        <a:t>FFH</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tc>
                  <a:txBody>
                    <a:bodyPr/>
                    <a:lstStyle/>
                    <a:p>
                      <a:r>
                        <a:rPr lang="en-US" sz="700" dirty="0"/>
                        <a:t>1</a:t>
                      </a:r>
                    </a:p>
                  </a:txBody>
                  <a:tcPr/>
                </a:tc>
                <a:extLst>
                  <a:ext uri="{0D108BD9-81ED-4DB2-BD59-A6C34878D82A}">
                    <a16:rowId xmlns:a16="http://schemas.microsoft.com/office/drawing/2014/main" val="2484092454"/>
                  </a:ext>
                </a:extLst>
              </a:tr>
            </a:tbl>
          </a:graphicData>
        </a:graphic>
      </p:graphicFrame>
    </p:spTree>
    <p:extLst>
      <p:ext uri="{BB962C8B-B14F-4D97-AF65-F5344CB8AC3E}">
        <p14:creationId xmlns:p14="http://schemas.microsoft.com/office/powerpoint/2010/main" val="11865921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851" y="209550"/>
            <a:ext cx="4126349" cy="838201"/>
          </a:xfrm>
        </p:spPr>
        <p:txBody>
          <a:bodyPr>
            <a:noAutofit/>
          </a:bodyPr>
          <a:lstStyle/>
          <a:p>
            <a:pPr marL="228600" indent="-228600" algn="just">
              <a:tabLst>
                <a:tab pos="463550" algn="l"/>
              </a:tabLst>
            </a:pPr>
            <a:r>
              <a:rPr lang="en-US" sz="1100" b="1" dirty="0">
                <a:solidFill>
                  <a:srgbClr val="7030A0"/>
                </a:solidFill>
                <a:cs typeface="Times New Roman" panose="02020603050405020304" pitchFamily="18" charset="0"/>
              </a:rPr>
              <a:t>7. A computer system with an 8-bit address and an 8-bit data bus using isolated I/O. It has 16 x 8 ROM starting at address 00H constructed using 8 x8 chips; 64 x 8 of RAM starting at address 80H constructed using 64 x 4 chips. There is an I/O device at 40H. Show the design for the system.</a:t>
            </a:r>
            <a:endParaRPr lang="en-US" sz="1100" b="1" dirty="0">
              <a:solidFill>
                <a:srgbClr val="7030A0"/>
              </a:solidFill>
            </a:endParaRPr>
          </a:p>
        </p:txBody>
      </p:sp>
      <p:sp>
        <p:nvSpPr>
          <p:cNvPr id="4" name="Date Placeholder 3"/>
          <p:cNvSpPr>
            <a:spLocks noGrp="1"/>
          </p:cNvSpPr>
          <p:nvPr>
            <p:ph type="dt" sz="half" idx="10"/>
          </p:nvPr>
        </p:nvSpPr>
        <p:spPr/>
        <p:txBody>
          <a:bodyPr/>
          <a:lstStyle/>
          <a:p>
            <a:fld id="{A2FE4419-F68B-4934-A8F2-17D12BEDF875}" type="datetime1">
              <a:rPr lang="en-US" smtClean="0"/>
              <a:t>7/31/2023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74</a:t>
            </a:fld>
            <a:endParaRPr lang="en-US"/>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7" name="Content Placeholder 2">
            <a:extLst>
              <a:ext uri="{FF2B5EF4-FFF2-40B4-BE49-F238E27FC236}">
                <a16:creationId xmlns:a16="http://schemas.microsoft.com/office/drawing/2014/main" id="{1FAB34BF-6F1B-4545-8F9F-4664B92E815C}"/>
              </a:ext>
            </a:extLst>
          </p:cNvPr>
          <p:cNvSpPr txBox="1">
            <a:spLocks/>
          </p:cNvSpPr>
          <p:nvPr/>
        </p:nvSpPr>
        <p:spPr>
          <a:xfrm>
            <a:off x="381000" y="1197242"/>
            <a:ext cx="3132221" cy="1219200"/>
          </a:xfrm>
          <a:prstGeom prst="rect">
            <a:avLst/>
          </a:prstGeom>
          <a:solidFill>
            <a:schemeClr val="accent2">
              <a:lumMod val="20000"/>
              <a:lumOff val="80000"/>
            </a:schemeClr>
          </a:solidFill>
        </p:spPr>
        <p:txBody>
          <a:bodyPr vert="horz" lIns="91440" tIns="45720" rIns="91440" bIns="45720" rtlCol="0">
            <a:normAutofit fontScale="8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000" dirty="0"/>
              <a:t>Here:</a:t>
            </a:r>
          </a:p>
          <a:p>
            <a:pPr marL="114300" indent="-114300"/>
            <a:r>
              <a:rPr lang="en-US" sz="1000" dirty="0"/>
              <a:t>Data bus width = 8 bits (D7-D0)</a:t>
            </a:r>
          </a:p>
          <a:p>
            <a:pPr marL="114300" indent="-114300"/>
            <a:r>
              <a:rPr lang="en-US" sz="1000" dirty="0"/>
              <a:t>Address bus width = 8 bits (A7-A0)</a:t>
            </a:r>
          </a:p>
          <a:p>
            <a:pPr marL="114300" indent="-114300"/>
            <a:r>
              <a:rPr lang="en-US" sz="1000" dirty="0"/>
              <a:t>ROM1 size= 8x8 starting at 00H (Address lines: A2-A0)</a:t>
            </a:r>
          </a:p>
          <a:p>
            <a:pPr marL="114300" indent="-114300"/>
            <a:r>
              <a:rPr lang="en-US" sz="1000" dirty="0"/>
              <a:t>ROM2 size= 8x8 </a:t>
            </a:r>
          </a:p>
          <a:p>
            <a:pPr marL="114300" indent="-114300"/>
            <a:r>
              <a:rPr lang="en-US" sz="1000" dirty="0"/>
              <a:t>RAM1 size= 64x4 starting at 80H (Address lines: A5-A0)</a:t>
            </a:r>
          </a:p>
          <a:p>
            <a:pPr marL="114300" indent="-114300"/>
            <a:r>
              <a:rPr lang="en-US" sz="1000" dirty="0"/>
              <a:t>RAM2 size= 64x4</a:t>
            </a:r>
          </a:p>
          <a:p>
            <a:pPr marL="114300" indent="-114300"/>
            <a:r>
              <a:rPr lang="en-US" sz="1000" dirty="0"/>
              <a:t>I/O device starting at 40H</a:t>
            </a:r>
          </a:p>
          <a:p>
            <a:pPr marL="114300" indent="-114300"/>
            <a:endParaRPr lang="en-US" sz="1000" dirty="0"/>
          </a:p>
          <a:p>
            <a:pPr marL="114300" indent="-114300"/>
            <a:endParaRPr lang="en-US" sz="1000" dirty="0"/>
          </a:p>
        </p:txBody>
      </p:sp>
      <p:graphicFrame>
        <p:nvGraphicFramePr>
          <p:cNvPr id="9" name="Table 9">
            <a:extLst>
              <a:ext uri="{FF2B5EF4-FFF2-40B4-BE49-F238E27FC236}">
                <a16:creationId xmlns:a16="http://schemas.microsoft.com/office/drawing/2014/main" id="{001F52CC-68FD-4F57-AB91-2743E25C6D64}"/>
              </a:ext>
            </a:extLst>
          </p:cNvPr>
          <p:cNvGraphicFramePr>
            <a:graphicFrameLocks noGrp="1"/>
          </p:cNvGraphicFramePr>
          <p:nvPr>
            <p:extLst>
              <p:ext uri="{D42A27DB-BD31-4B8C-83A1-F6EECF244321}">
                <p14:modId xmlns:p14="http://schemas.microsoft.com/office/powerpoint/2010/main" val="3368072343"/>
              </p:ext>
            </p:extLst>
          </p:nvPr>
        </p:nvGraphicFramePr>
        <p:xfrm>
          <a:off x="372979" y="2491740"/>
          <a:ext cx="3505200" cy="2239351"/>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3861761466"/>
                    </a:ext>
                  </a:extLst>
                </a:gridCol>
                <a:gridCol w="457200">
                  <a:extLst>
                    <a:ext uri="{9D8B030D-6E8A-4147-A177-3AD203B41FA5}">
                      <a16:colId xmlns:a16="http://schemas.microsoft.com/office/drawing/2014/main" val="575378240"/>
                    </a:ext>
                  </a:extLst>
                </a:gridCol>
                <a:gridCol w="381000">
                  <a:extLst>
                    <a:ext uri="{9D8B030D-6E8A-4147-A177-3AD203B41FA5}">
                      <a16:colId xmlns:a16="http://schemas.microsoft.com/office/drawing/2014/main" val="3677740356"/>
                    </a:ext>
                  </a:extLst>
                </a:gridCol>
                <a:gridCol w="304800">
                  <a:extLst>
                    <a:ext uri="{9D8B030D-6E8A-4147-A177-3AD203B41FA5}">
                      <a16:colId xmlns:a16="http://schemas.microsoft.com/office/drawing/2014/main" val="1925663876"/>
                    </a:ext>
                  </a:extLst>
                </a:gridCol>
                <a:gridCol w="304800">
                  <a:extLst>
                    <a:ext uri="{9D8B030D-6E8A-4147-A177-3AD203B41FA5}">
                      <a16:colId xmlns:a16="http://schemas.microsoft.com/office/drawing/2014/main" val="1589778589"/>
                    </a:ext>
                  </a:extLst>
                </a:gridCol>
                <a:gridCol w="304800">
                  <a:extLst>
                    <a:ext uri="{9D8B030D-6E8A-4147-A177-3AD203B41FA5}">
                      <a16:colId xmlns:a16="http://schemas.microsoft.com/office/drawing/2014/main" val="2838242810"/>
                    </a:ext>
                  </a:extLst>
                </a:gridCol>
                <a:gridCol w="304800">
                  <a:extLst>
                    <a:ext uri="{9D8B030D-6E8A-4147-A177-3AD203B41FA5}">
                      <a16:colId xmlns:a16="http://schemas.microsoft.com/office/drawing/2014/main" val="2333745194"/>
                    </a:ext>
                  </a:extLst>
                </a:gridCol>
                <a:gridCol w="304800">
                  <a:extLst>
                    <a:ext uri="{9D8B030D-6E8A-4147-A177-3AD203B41FA5}">
                      <a16:colId xmlns:a16="http://schemas.microsoft.com/office/drawing/2014/main" val="132513013"/>
                    </a:ext>
                  </a:extLst>
                </a:gridCol>
                <a:gridCol w="304800">
                  <a:extLst>
                    <a:ext uri="{9D8B030D-6E8A-4147-A177-3AD203B41FA5}">
                      <a16:colId xmlns:a16="http://schemas.microsoft.com/office/drawing/2014/main" val="3887632822"/>
                    </a:ext>
                  </a:extLst>
                </a:gridCol>
                <a:gridCol w="304800">
                  <a:extLst>
                    <a:ext uri="{9D8B030D-6E8A-4147-A177-3AD203B41FA5}">
                      <a16:colId xmlns:a16="http://schemas.microsoft.com/office/drawing/2014/main" val="2510948532"/>
                    </a:ext>
                  </a:extLst>
                </a:gridCol>
              </a:tblGrid>
              <a:tr h="398882">
                <a:tc>
                  <a:txBody>
                    <a:bodyPr/>
                    <a:lstStyle/>
                    <a:p>
                      <a:r>
                        <a:rPr lang="en-US" sz="700" dirty="0"/>
                        <a:t>Memory</a:t>
                      </a:r>
                    </a:p>
                  </a:txBody>
                  <a:tcPr>
                    <a:solidFill>
                      <a:srgbClr val="00B050"/>
                    </a:solidFill>
                  </a:tcPr>
                </a:tc>
                <a:tc>
                  <a:txBody>
                    <a:bodyPr/>
                    <a:lstStyle/>
                    <a:p>
                      <a:r>
                        <a:rPr lang="en-US" sz="700" dirty="0" err="1"/>
                        <a:t>HexCode</a:t>
                      </a:r>
                      <a:endParaRPr lang="en-US" sz="700" dirty="0"/>
                    </a:p>
                  </a:txBody>
                  <a:tcPr>
                    <a:solidFill>
                      <a:srgbClr val="00B050"/>
                    </a:solidFill>
                  </a:tcPr>
                </a:tc>
                <a:tc>
                  <a:txBody>
                    <a:bodyPr/>
                    <a:lstStyle/>
                    <a:p>
                      <a:r>
                        <a:rPr lang="en-US" sz="700" dirty="0"/>
                        <a:t>A7</a:t>
                      </a:r>
                    </a:p>
                  </a:txBody>
                  <a:tcPr>
                    <a:solidFill>
                      <a:srgbClr val="00B050"/>
                    </a:solidFill>
                  </a:tcPr>
                </a:tc>
                <a:tc>
                  <a:txBody>
                    <a:bodyPr/>
                    <a:lstStyle/>
                    <a:p>
                      <a:r>
                        <a:rPr lang="en-US" sz="700" dirty="0"/>
                        <a:t>A6</a:t>
                      </a:r>
                    </a:p>
                  </a:txBody>
                  <a:tcPr>
                    <a:solidFill>
                      <a:srgbClr val="00B050"/>
                    </a:solidFill>
                  </a:tcPr>
                </a:tc>
                <a:tc>
                  <a:txBody>
                    <a:bodyPr/>
                    <a:lstStyle/>
                    <a:p>
                      <a:r>
                        <a:rPr lang="en-US" sz="700" dirty="0"/>
                        <a:t>A5</a:t>
                      </a:r>
                    </a:p>
                  </a:txBody>
                  <a:tcPr>
                    <a:solidFill>
                      <a:srgbClr val="00B050"/>
                    </a:solidFill>
                  </a:tcPr>
                </a:tc>
                <a:tc>
                  <a:txBody>
                    <a:bodyPr/>
                    <a:lstStyle/>
                    <a:p>
                      <a:r>
                        <a:rPr lang="en-US" sz="700" dirty="0"/>
                        <a:t>A4</a:t>
                      </a:r>
                    </a:p>
                  </a:txBody>
                  <a:tcPr>
                    <a:solidFill>
                      <a:srgbClr val="00B050"/>
                    </a:solidFill>
                  </a:tcPr>
                </a:tc>
                <a:tc>
                  <a:txBody>
                    <a:bodyPr/>
                    <a:lstStyle/>
                    <a:p>
                      <a:r>
                        <a:rPr lang="en-US" sz="700" dirty="0"/>
                        <a:t>A3</a:t>
                      </a:r>
                    </a:p>
                  </a:txBody>
                  <a:tcPr>
                    <a:solidFill>
                      <a:srgbClr val="00B050"/>
                    </a:solidFill>
                  </a:tcPr>
                </a:tc>
                <a:tc>
                  <a:txBody>
                    <a:bodyPr/>
                    <a:lstStyle/>
                    <a:p>
                      <a:r>
                        <a:rPr lang="en-US" sz="700" dirty="0"/>
                        <a:t>A2</a:t>
                      </a:r>
                    </a:p>
                  </a:txBody>
                  <a:tcPr>
                    <a:solidFill>
                      <a:srgbClr val="00B050"/>
                    </a:solidFill>
                  </a:tcPr>
                </a:tc>
                <a:tc>
                  <a:txBody>
                    <a:bodyPr/>
                    <a:lstStyle/>
                    <a:p>
                      <a:r>
                        <a:rPr lang="en-US" sz="700" dirty="0"/>
                        <a:t>A1</a:t>
                      </a:r>
                    </a:p>
                  </a:txBody>
                  <a:tcPr>
                    <a:solidFill>
                      <a:srgbClr val="00B050"/>
                    </a:solidFill>
                  </a:tcPr>
                </a:tc>
                <a:tc>
                  <a:txBody>
                    <a:bodyPr/>
                    <a:lstStyle/>
                    <a:p>
                      <a:r>
                        <a:rPr lang="en-US" sz="700" dirty="0"/>
                        <a:t>A0</a:t>
                      </a:r>
                    </a:p>
                  </a:txBody>
                  <a:tcPr>
                    <a:solidFill>
                      <a:srgbClr val="00B050"/>
                    </a:solidFill>
                  </a:tcPr>
                </a:tc>
                <a:extLst>
                  <a:ext uri="{0D108BD9-81ED-4DB2-BD59-A6C34878D82A}">
                    <a16:rowId xmlns:a16="http://schemas.microsoft.com/office/drawing/2014/main" val="1345140549"/>
                  </a:ext>
                </a:extLst>
              </a:tr>
              <a:tr h="214528">
                <a:tc>
                  <a:txBody>
                    <a:bodyPr/>
                    <a:lstStyle/>
                    <a:p>
                      <a:r>
                        <a:rPr lang="en-US" sz="700" dirty="0"/>
                        <a:t>ROM1</a:t>
                      </a:r>
                    </a:p>
                  </a:txBody>
                  <a:tcPr/>
                </a:tc>
                <a:tc>
                  <a:txBody>
                    <a:bodyPr/>
                    <a:lstStyle/>
                    <a:p>
                      <a:r>
                        <a:rPr lang="en-US" sz="700" dirty="0"/>
                        <a:t>00H</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b="1" dirty="0"/>
                        <a:t>0</a:t>
                      </a:r>
                    </a:p>
                  </a:txBody>
                  <a:tcPr/>
                </a:tc>
                <a:tc>
                  <a:txBody>
                    <a:bodyPr/>
                    <a:lstStyle/>
                    <a:p>
                      <a:r>
                        <a:rPr lang="en-US" sz="700" b="0" dirty="0"/>
                        <a:t>0</a:t>
                      </a:r>
                    </a:p>
                  </a:txBody>
                  <a:tcPr>
                    <a:solidFill>
                      <a:schemeClr val="accent2">
                        <a:lumMod val="40000"/>
                        <a:lumOff val="60000"/>
                      </a:schemeClr>
                    </a:solidFill>
                  </a:tcPr>
                </a:tc>
                <a:tc>
                  <a:txBody>
                    <a:bodyPr/>
                    <a:lstStyle/>
                    <a:p>
                      <a:r>
                        <a:rPr lang="en-US" sz="700" b="0" dirty="0"/>
                        <a:t>0</a:t>
                      </a:r>
                    </a:p>
                  </a:txBody>
                  <a:tcPr>
                    <a:solidFill>
                      <a:schemeClr val="accent2">
                        <a:lumMod val="40000"/>
                        <a:lumOff val="60000"/>
                      </a:schemeClr>
                    </a:solidFill>
                  </a:tcPr>
                </a:tc>
                <a:tc>
                  <a:txBody>
                    <a:bodyPr/>
                    <a:lstStyle/>
                    <a:p>
                      <a:r>
                        <a:rPr lang="en-US" sz="700" b="0" dirty="0"/>
                        <a:t>0</a:t>
                      </a:r>
                    </a:p>
                  </a:txBody>
                  <a:tcPr>
                    <a:solidFill>
                      <a:schemeClr val="accent2">
                        <a:lumMod val="40000"/>
                        <a:lumOff val="60000"/>
                      </a:schemeClr>
                    </a:solidFill>
                  </a:tcPr>
                </a:tc>
                <a:extLst>
                  <a:ext uri="{0D108BD9-81ED-4DB2-BD59-A6C34878D82A}">
                    <a16:rowId xmlns:a16="http://schemas.microsoft.com/office/drawing/2014/main" val="1781775666"/>
                  </a:ext>
                </a:extLst>
              </a:tr>
              <a:tr h="228600">
                <a:tc>
                  <a:txBody>
                    <a:bodyPr/>
                    <a:lstStyle/>
                    <a:p>
                      <a:endParaRPr lang="en-US" sz="700" dirty="0"/>
                    </a:p>
                  </a:txBody>
                  <a:tcPr/>
                </a:tc>
                <a:tc>
                  <a:txBody>
                    <a:bodyPr/>
                    <a:lstStyle/>
                    <a:p>
                      <a:r>
                        <a:rPr lang="en-US" sz="700" dirty="0"/>
                        <a:t>07H</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b="1" dirty="0"/>
                        <a:t>0</a:t>
                      </a:r>
                    </a:p>
                  </a:txBody>
                  <a:tcPr/>
                </a:tc>
                <a:tc>
                  <a:txBody>
                    <a:bodyPr/>
                    <a:lstStyle/>
                    <a:p>
                      <a:r>
                        <a:rPr lang="en-US" sz="700" b="0" dirty="0"/>
                        <a:t>1</a:t>
                      </a:r>
                    </a:p>
                  </a:txBody>
                  <a:tcPr>
                    <a:solidFill>
                      <a:schemeClr val="accent2">
                        <a:lumMod val="40000"/>
                        <a:lumOff val="60000"/>
                      </a:schemeClr>
                    </a:solidFill>
                  </a:tcPr>
                </a:tc>
                <a:tc>
                  <a:txBody>
                    <a:bodyPr/>
                    <a:lstStyle/>
                    <a:p>
                      <a:r>
                        <a:rPr lang="en-US" sz="700" b="0" dirty="0"/>
                        <a:t>1</a:t>
                      </a:r>
                    </a:p>
                  </a:txBody>
                  <a:tcPr>
                    <a:solidFill>
                      <a:schemeClr val="accent2">
                        <a:lumMod val="40000"/>
                        <a:lumOff val="60000"/>
                      </a:schemeClr>
                    </a:solidFill>
                  </a:tcPr>
                </a:tc>
                <a:tc>
                  <a:txBody>
                    <a:bodyPr/>
                    <a:lstStyle/>
                    <a:p>
                      <a:r>
                        <a:rPr lang="en-US" sz="700" b="0" dirty="0"/>
                        <a:t>1</a:t>
                      </a:r>
                    </a:p>
                  </a:txBody>
                  <a:tcPr>
                    <a:solidFill>
                      <a:schemeClr val="accent2">
                        <a:lumMod val="40000"/>
                        <a:lumOff val="60000"/>
                      </a:schemeClr>
                    </a:solidFill>
                  </a:tcPr>
                </a:tc>
                <a:extLst>
                  <a:ext uri="{0D108BD9-81ED-4DB2-BD59-A6C34878D82A}">
                    <a16:rowId xmlns:a16="http://schemas.microsoft.com/office/drawing/2014/main" val="2330774971"/>
                  </a:ext>
                </a:extLst>
              </a:tr>
              <a:tr h="295468">
                <a:tc>
                  <a:txBody>
                    <a:bodyPr/>
                    <a:lstStyle/>
                    <a:p>
                      <a:r>
                        <a:rPr lang="en-US" sz="700" dirty="0"/>
                        <a:t>ROM2</a:t>
                      </a:r>
                    </a:p>
                  </a:txBody>
                  <a:tcPr/>
                </a:tc>
                <a:tc>
                  <a:txBody>
                    <a:bodyPr/>
                    <a:lstStyle/>
                    <a:p>
                      <a:r>
                        <a:rPr lang="en-US" sz="700" dirty="0"/>
                        <a:t>08H</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b="1" dirty="0"/>
                        <a:t>1</a:t>
                      </a:r>
                    </a:p>
                  </a:txBody>
                  <a:tcPr/>
                </a:tc>
                <a:tc>
                  <a:txBody>
                    <a:bodyPr/>
                    <a:lstStyle/>
                    <a:p>
                      <a:r>
                        <a:rPr lang="en-US" sz="700" b="0" dirty="0"/>
                        <a:t>0</a:t>
                      </a:r>
                    </a:p>
                  </a:txBody>
                  <a:tcPr>
                    <a:solidFill>
                      <a:schemeClr val="accent2">
                        <a:lumMod val="40000"/>
                        <a:lumOff val="60000"/>
                      </a:schemeClr>
                    </a:solidFill>
                  </a:tcPr>
                </a:tc>
                <a:tc>
                  <a:txBody>
                    <a:bodyPr/>
                    <a:lstStyle/>
                    <a:p>
                      <a:r>
                        <a:rPr lang="en-US" sz="700" b="0" dirty="0"/>
                        <a:t>0</a:t>
                      </a:r>
                    </a:p>
                  </a:txBody>
                  <a:tcPr>
                    <a:solidFill>
                      <a:schemeClr val="accent2">
                        <a:lumMod val="40000"/>
                        <a:lumOff val="60000"/>
                      </a:schemeClr>
                    </a:solidFill>
                  </a:tcPr>
                </a:tc>
                <a:tc>
                  <a:txBody>
                    <a:bodyPr/>
                    <a:lstStyle/>
                    <a:p>
                      <a:r>
                        <a:rPr lang="en-US" sz="700" b="0" dirty="0"/>
                        <a:t>0</a:t>
                      </a:r>
                    </a:p>
                  </a:txBody>
                  <a:tcPr>
                    <a:solidFill>
                      <a:schemeClr val="accent2">
                        <a:lumMod val="40000"/>
                        <a:lumOff val="60000"/>
                      </a:schemeClr>
                    </a:solidFill>
                  </a:tcPr>
                </a:tc>
                <a:extLst>
                  <a:ext uri="{0D108BD9-81ED-4DB2-BD59-A6C34878D82A}">
                    <a16:rowId xmlns:a16="http://schemas.microsoft.com/office/drawing/2014/main" val="3372789272"/>
                  </a:ext>
                </a:extLst>
              </a:tr>
              <a:tr h="230131">
                <a:tc>
                  <a:txBody>
                    <a:bodyPr/>
                    <a:lstStyle/>
                    <a:p>
                      <a:endParaRPr lang="en-US" sz="700" dirty="0"/>
                    </a:p>
                  </a:txBody>
                  <a:tcPr/>
                </a:tc>
                <a:tc>
                  <a:txBody>
                    <a:bodyPr/>
                    <a:lstStyle/>
                    <a:p>
                      <a:r>
                        <a:rPr lang="en-US" sz="700" dirty="0"/>
                        <a:t>0FH</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b="1" dirty="0"/>
                        <a:t>1</a:t>
                      </a:r>
                    </a:p>
                  </a:txBody>
                  <a:tcPr/>
                </a:tc>
                <a:tc>
                  <a:txBody>
                    <a:bodyPr/>
                    <a:lstStyle/>
                    <a:p>
                      <a:r>
                        <a:rPr lang="en-US" sz="700" b="0" dirty="0"/>
                        <a:t>1</a:t>
                      </a:r>
                    </a:p>
                  </a:txBody>
                  <a:tcPr>
                    <a:solidFill>
                      <a:schemeClr val="accent2">
                        <a:lumMod val="40000"/>
                        <a:lumOff val="60000"/>
                      </a:schemeClr>
                    </a:solidFill>
                  </a:tcPr>
                </a:tc>
                <a:tc>
                  <a:txBody>
                    <a:bodyPr/>
                    <a:lstStyle/>
                    <a:p>
                      <a:r>
                        <a:rPr lang="en-US" sz="700" b="0" dirty="0"/>
                        <a:t>1</a:t>
                      </a:r>
                    </a:p>
                  </a:txBody>
                  <a:tcPr>
                    <a:solidFill>
                      <a:schemeClr val="accent2">
                        <a:lumMod val="40000"/>
                        <a:lumOff val="60000"/>
                      </a:schemeClr>
                    </a:solidFill>
                  </a:tcPr>
                </a:tc>
                <a:tc>
                  <a:txBody>
                    <a:bodyPr/>
                    <a:lstStyle/>
                    <a:p>
                      <a:r>
                        <a:rPr lang="en-US" sz="700" b="0" dirty="0"/>
                        <a:t>1</a:t>
                      </a:r>
                    </a:p>
                  </a:txBody>
                  <a:tcPr>
                    <a:solidFill>
                      <a:schemeClr val="accent2">
                        <a:lumMod val="40000"/>
                        <a:lumOff val="60000"/>
                      </a:schemeClr>
                    </a:solidFill>
                  </a:tcPr>
                </a:tc>
                <a:extLst>
                  <a:ext uri="{0D108BD9-81ED-4DB2-BD59-A6C34878D82A}">
                    <a16:rowId xmlns:a16="http://schemas.microsoft.com/office/drawing/2014/main" val="3138493524"/>
                  </a:ext>
                </a:extLst>
              </a:tr>
              <a:tr h="230131">
                <a:tc>
                  <a:txBody>
                    <a:bodyPr/>
                    <a:lstStyle/>
                    <a:p>
                      <a:r>
                        <a:rPr lang="en-US" sz="700" dirty="0"/>
                        <a:t>RAM1 and RAM2</a:t>
                      </a:r>
                    </a:p>
                  </a:txBody>
                  <a:tcPr/>
                </a:tc>
                <a:tc>
                  <a:txBody>
                    <a:bodyPr/>
                    <a:lstStyle/>
                    <a:p>
                      <a:r>
                        <a:rPr lang="en-US" sz="700" dirty="0"/>
                        <a:t>80H</a:t>
                      </a:r>
                    </a:p>
                  </a:txBody>
                  <a:tcPr/>
                </a:tc>
                <a:tc>
                  <a:txBody>
                    <a:bodyPr/>
                    <a:lstStyle/>
                    <a:p>
                      <a:r>
                        <a:rPr lang="en-US" sz="700" b="1" dirty="0"/>
                        <a:t>1</a:t>
                      </a:r>
                    </a:p>
                  </a:txBody>
                  <a:tcPr/>
                </a:tc>
                <a:tc>
                  <a:txBody>
                    <a:bodyPr/>
                    <a:lstStyle/>
                    <a:p>
                      <a:r>
                        <a:rPr lang="en-US" sz="700" b="1" dirty="0"/>
                        <a:t>0</a:t>
                      </a:r>
                    </a:p>
                  </a:txBody>
                  <a:tcPr/>
                </a:tc>
                <a:tc>
                  <a:txBody>
                    <a:bodyPr/>
                    <a:lstStyle/>
                    <a:p>
                      <a:r>
                        <a:rPr lang="en-US" sz="700" dirty="0"/>
                        <a:t>0</a:t>
                      </a:r>
                    </a:p>
                  </a:txBody>
                  <a:tcPr>
                    <a:solidFill>
                      <a:srgbClr val="92D050"/>
                    </a:solidFill>
                  </a:tcPr>
                </a:tc>
                <a:tc>
                  <a:txBody>
                    <a:bodyPr/>
                    <a:lstStyle/>
                    <a:p>
                      <a:r>
                        <a:rPr lang="en-US" sz="700" dirty="0"/>
                        <a:t>0</a:t>
                      </a:r>
                    </a:p>
                  </a:txBody>
                  <a:tcP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Calibri"/>
                          <a:ea typeface="+mn-ea"/>
                          <a:cs typeface="+mn-cs"/>
                        </a:rPr>
                        <a:t>0</a:t>
                      </a:r>
                      <a:endParaRPr kumimoji="0" lang="en-US" sz="700" b="0" i="0" u="none" strike="noStrike" kern="1200" cap="none" spc="0" normalizeH="0" baseline="0" noProof="0" dirty="0">
                        <a:ln>
                          <a:noFill/>
                        </a:ln>
                        <a:solidFill>
                          <a:prstClr val="black"/>
                        </a:solidFill>
                        <a:effectLst/>
                        <a:uLnTx/>
                        <a:uFillTx/>
                        <a:latin typeface="Calibri"/>
                        <a:ea typeface="+mn-ea"/>
                        <a:cs typeface="+mn-cs"/>
                      </a:endParaRPr>
                    </a:p>
                  </a:txBody>
                  <a:tcP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Calibri"/>
                          <a:ea typeface="+mn-ea"/>
                          <a:cs typeface="+mn-cs"/>
                        </a:rPr>
                        <a:t>0</a:t>
                      </a:r>
                      <a:endParaRPr kumimoji="0" lang="en-US" sz="700" b="0" i="0" u="none" strike="noStrike" kern="1200" cap="none" spc="0" normalizeH="0" baseline="0" noProof="0" dirty="0">
                        <a:ln>
                          <a:noFill/>
                        </a:ln>
                        <a:solidFill>
                          <a:prstClr val="black"/>
                        </a:solidFill>
                        <a:effectLst/>
                        <a:uLnTx/>
                        <a:uFillTx/>
                        <a:latin typeface="Calibri"/>
                        <a:ea typeface="+mn-ea"/>
                        <a:cs typeface="+mn-cs"/>
                      </a:endParaRPr>
                    </a:p>
                  </a:txBody>
                  <a:tcP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Calibri"/>
                          <a:ea typeface="+mn-ea"/>
                          <a:cs typeface="+mn-cs"/>
                        </a:rPr>
                        <a:t>0</a:t>
                      </a:r>
                      <a:endParaRPr kumimoji="0" lang="en-US" sz="700" b="0" i="0" u="none" strike="noStrike" kern="1200" cap="none" spc="0" normalizeH="0" baseline="0" noProof="0" dirty="0">
                        <a:ln>
                          <a:noFill/>
                        </a:ln>
                        <a:solidFill>
                          <a:prstClr val="black"/>
                        </a:solidFill>
                        <a:effectLst/>
                        <a:uLnTx/>
                        <a:uFillTx/>
                        <a:latin typeface="Calibri"/>
                        <a:ea typeface="+mn-ea"/>
                        <a:cs typeface="+mn-cs"/>
                      </a:endParaRPr>
                    </a:p>
                  </a:txBody>
                  <a:tcPr>
                    <a:solidFill>
                      <a:srgbClr val="92D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a:ea typeface="+mn-ea"/>
                          <a:cs typeface="+mn-cs"/>
                        </a:rPr>
                        <a:t>0</a:t>
                      </a:r>
                    </a:p>
                  </a:txBody>
                  <a:tcPr>
                    <a:solidFill>
                      <a:srgbClr val="92D050"/>
                    </a:solidFill>
                  </a:tcPr>
                </a:tc>
                <a:extLst>
                  <a:ext uri="{0D108BD9-81ED-4DB2-BD59-A6C34878D82A}">
                    <a16:rowId xmlns:a16="http://schemas.microsoft.com/office/drawing/2014/main" val="2484092454"/>
                  </a:ext>
                </a:extLst>
              </a:tr>
              <a:tr h="230131">
                <a:tc>
                  <a:txBody>
                    <a:bodyPr/>
                    <a:lstStyle/>
                    <a:p>
                      <a:endParaRPr lang="en-US" sz="700" dirty="0"/>
                    </a:p>
                  </a:txBody>
                  <a:tcPr/>
                </a:tc>
                <a:tc>
                  <a:txBody>
                    <a:bodyPr/>
                    <a:lstStyle/>
                    <a:p>
                      <a:r>
                        <a:rPr lang="en-US" sz="700" dirty="0"/>
                        <a:t>BFH</a:t>
                      </a:r>
                    </a:p>
                  </a:txBody>
                  <a:tcPr/>
                </a:tc>
                <a:tc>
                  <a:txBody>
                    <a:bodyPr/>
                    <a:lstStyle/>
                    <a:p>
                      <a:r>
                        <a:rPr lang="en-US" sz="700" b="1" dirty="0"/>
                        <a:t>1</a:t>
                      </a:r>
                    </a:p>
                  </a:txBody>
                  <a:tcPr/>
                </a:tc>
                <a:tc>
                  <a:txBody>
                    <a:bodyPr/>
                    <a:lstStyle/>
                    <a:p>
                      <a:r>
                        <a:rPr lang="en-US" sz="700" b="1" dirty="0"/>
                        <a:t>0</a:t>
                      </a:r>
                    </a:p>
                  </a:txBody>
                  <a:tcPr/>
                </a:tc>
                <a:tc>
                  <a:txBody>
                    <a:bodyPr/>
                    <a:lstStyle/>
                    <a:p>
                      <a:r>
                        <a:rPr lang="en-US" sz="700" dirty="0"/>
                        <a:t>1</a:t>
                      </a:r>
                    </a:p>
                  </a:txBody>
                  <a:tcPr>
                    <a:solidFill>
                      <a:srgbClr val="92D050"/>
                    </a:solidFill>
                  </a:tcPr>
                </a:tc>
                <a:tc>
                  <a:txBody>
                    <a:bodyPr/>
                    <a:lstStyle/>
                    <a:p>
                      <a:r>
                        <a:rPr lang="en-US" sz="700" dirty="0"/>
                        <a:t>1</a:t>
                      </a:r>
                    </a:p>
                  </a:txBody>
                  <a:tcPr>
                    <a:solidFill>
                      <a:srgbClr val="92D050"/>
                    </a:solidFill>
                  </a:tcPr>
                </a:tc>
                <a:tc>
                  <a:txBody>
                    <a:bodyPr/>
                    <a:lstStyle/>
                    <a:p>
                      <a:r>
                        <a:rPr lang="en-US" sz="700" dirty="0"/>
                        <a:t>1</a:t>
                      </a:r>
                    </a:p>
                  </a:txBody>
                  <a:tcPr>
                    <a:solidFill>
                      <a:srgbClr val="92D050"/>
                    </a:solidFill>
                  </a:tcPr>
                </a:tc>
                <a:tc>
                  <a:txBody>
                    <a:bodyPr/>
                    <a:lstStyle/>
                    <a:p>
                      <a:r>
                        <a:rPr lang="en-US" sz="700" dirty="0"/>
                        <a:t>1</a:t>
                      </a:r>
                    </a:p>
                  </a:txBody>
                  <a:tcPr>
                    <a:solidFill>
                      <a:srgbClr val="92D050"/>
                    </a:solidFill>
                  </a:tcPr>
                </a:tc>
                <a:tc>
                  <a:txBody>
                    <a:bodyPr/>
                    <a:lstStyle/>
                    <a:p>
                      <a:r>
                        <a:rPr lang="en-US" sz="700" dirty="0"/>
                        <a:t>1</a:t>
                      </a:r>
                    </a:p>
                  </a:txBody>
                  <a:tcPr>
                    <a:solidFill>
                      <a:srgbClr val="92D050"/>
                    </a:solidFill>
                  </a:tcPr>
                </a:tc>
                <a:tc>
                  <a:txBody>
                    <a:bodyPr/>
                    <a:lstStyle/>
                    <a:p>
                      <a:r>
                        <a:rPr lang="en-US" sz="700" dirty="0"/>
                        <a:t>1</a:t>
                      </a:r>
                    </a:p>
                  </a:txBody>
                  <a:tcPr>
                    <a:solidFill>
                      <a:srgbClr val="92D050"/>
                    </a:solidFill>
                  </a:tcPr>
                </a:tc>
                <a:extLst>
                  <a:ext uri="{0D108BD9-81ED-4DB2-BD59-A6C34878D82A}">
                    <a16:rowId xmlns:a16="http://schemas.microsoft.com/office/drawing/2014/main" val="3473965943"/>
                  </a:ext>
                </a:extLst>
              </a:tr>
              <a:tr h="230131">
                <a:tc>
                  <a:txBody>
                    <a:bodyPr/>
                    <a:lstStyle/>
                    <a:p>
                      <a:r>
                        <a:rPr lang="en-US" sz="700" dirty="0"/>
                        <a:t>IO</a:t>
                      </a:r>
                    </a:p>
                  </a:txBody>
                  <a:tcPr/>
                </a:tc>
                <a:tc>
                  <a:txBody>
                    <a:bodyPr/>
                    <a:lstStyle/>
                    <a:p>
                      <a:r>
                        <a:rPr lang="en-US" sz="700" dirty="0"/>
                        <a:t>40H</a:t>
                      </a:r>
                    </a:p>
                  </a:txBody>
                  <a:tcPr/>
                </a:tc>
                <a:tc>
                  <a:txBody>
                    <a:bodyPr/>
                    <a:lstStyle/>
                    <a:p>
                      <a:r>
                        <a:rPr lang="en-US" sz="700" dirty="0"/>
                        <a:t>0</a:t>
                      </a:r>
                    </a:p>
                  </a:txBody>
                  <a:tcPr/>
                </a:tc>
                <a:tc>
                  <a:txBody>
                    <a:bodyPr/>
                    <a:lstStyle/>
                    <a:p>
                      <a:r>
                        <a:rPr lang="en-US" sz="700" b="1" dirty="0"/>
                        <a:t>1</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tc>
                  <a:txBody>
                    <a:bodyPr/>
                    <a:lstStyle/>
                    <a:p>
                      <a:r>
                        <a:rPr lang="en-US" sz="700" dirty="0"/>
                        <a:t>0</a:t>
                      </a:r>
                    </a:p>
                  </a:txBody>
                  <a:tcPr/>
                </a:tc>
                <a:extLst>
                  <a:ext uri="{0D108BD9-81ED-4DB2-BD59-A6C34878D82A}">
                    <a16:rowId xmlns:a16="http://schemas.microsoft.com/office/drawing/2014/main" val="2708323794"/>
                  </a:ext>
                </a:extLst>
              </a:tr>
            </a:tbl>
          </a:graphicData>
        </a:graphic>
      </p:graphicFrame>
      <p:pic>
        <p:nvPicPr>
          <p:cNvPr id="13" name="Picture 12">
            <a:extLst>
              <a:ext uri="{FF2B5EF4-FFF2-40B4-BE49-F238E27FC236}">
                <a16:creationId xmlns:a16="http://schemas.microsoft.com/office/drawing/2014/main" id="{6817A5C3-6A0C-4D38-B45B-84D25057E606}"/>
              </a:ext>
            </a:extLst>
          </p:cNvPr>
          <p:cNvPicPr>
            <a:picLocks noChangeAspect="1"/>
          </p:cNvPicPr>
          <p:nvPr/>
        </p:nvPicPr>
        <p:blipFill>
          <a:blip r:embed="rId2" cstate="print">
            <a:extLst>
              <a:ext uri="{BEBA8EAE-BF5A-486C-A8C5-ECC9F3942E4B}">
                <a14:imgProps xmlns:a14="http://schemas.microsoft.com/office/drawing/2010/main">
                  <a14:imgLayer r:embed="rId3">
                    <a14:imgEffect>
                      <a14:sharpenSoften amount="100000"/>
                    </a14:imgEffect>
                    <a14:imgEffect>
                      <a14:brightnessContrast bright="50000"/>
                    </a14:imgEffect>
                  </a14:imgLayer>
                </a14:imgProps>
              </a:ext>
              <a:ext uri="{28A0092B-C50C-407E-A947-70E740481C1C}">
                <a14:useLocalDpi xmlns:a14="http://schemas.microsoft.com/office/drawing/2010/main" val="0"/>
              </a:ext>
            </a:extLst>
          </a:blip>
          <a:stretch>
            <a:fillRect/>
          </a:stretch>
        </p:blipFill>
        <p:spPr>
          <a:xfrm>
            <a:off x="4572000" y="87354"/>
            <a:ext cx="4299284" cy="4828733"/>
          </a:xfrm>
          <a:prstGeom prst="rect">
            <a:avLst/>
          </a:prstGeom>
        </p:spPr>
      </p:pic>
      <p:sp>
        <p:nvSpPr>
          <p:cNvPr id="14" name="Oval 13">
            <a:extLst>
              <a:ext uri="{FF2B5EF4-FFF2-40B4-BE49-F238E27FC236}">
                <a16:creationId xmlns:a16="http://schemas.microsoft.com/office/drawing/2014/main" id="{72E57F53-4E15-471F-826F-46C2EC650294}"/>
              </a:ext>
            </a:extLst>
          </p:cNvPr>
          <p:cNvSpPr/>
          <p:nvPr/>
        </p:nvSpPr>
        <p:spPr>
          <a:xfrm>
            <a:off x="5715000" y="4019550"/>
            <a:ext cx="533400" cy="1524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D95BE-AD10-4951-BFDA-0F5A76A6CDF6}"/>
              </a:ext>
            </a:extLst>
          </p:cNvPr>
          <p:cNvSpPr/>
          <p:nvPr/>
        </p:nvSpPr>
        <p:spPr>
          <a:xfrm>
            <a:off x="5739063" y="4171950"/>
            <a:ext cx="204537" cy="76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8123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61950"/>
            <a:ext cx="8229600" cy="914399"/>
          </a:xfrm>
        </p:spPr>
        <p:txBody>
          <a:bodyPr>
            <a:noAutofit/>
          </a:bodyPr>
          <a:lstStyle/>
          <a:p>
            <a:pPr algn="just">
              <a:tabLst>
                <a:tab pos="463550" algn="l"/>
              </a:tabLst>
            </a:pPr>
            <a:endParaRPr lang="en-US" sz="1800" b="1" dirty="0">
              <a:solidFill>
                <a:srgbClr val="FF0000"/>
              </a:solidFill>
            </a:endParaRPr>
          </a:p>
        </p:txBody>
      </p:sp>
      <p:sp>
        <p:nvSpPr>
          <p:cNvPr id="4" name="Date Placeholder 3"/>
          <p:cNvSpPr>
            <a:spLocks noGrp="1"/>
          </p:cNvSpPr>
          <p:nvPr>
            <p:ph type="dt" sz="half" idx="10"/>
          </p:nvPr>
        </p:nvSpPr>
        <p:spPr/>
        <p:txBody>
          <a:bodyPr/>
          <a:lstStyle/>
          <a:p>
            <a:fld id="{6BF4F5DB-C56A-41F3-B076-00CCCE7921C3}" type="datetime1">
              <a:rPr lang="en-US" smtClean="0"/>
              <a:t>7/31/2023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75</a:t>
            </a:fld>
            <a:endParaRPr lang="en-US"/>
          </a:p>
        </p:txBody>
      </p:sp>
      <p:sp>
        <p:nvSpPr>
          <p:cNvPr id="6" name="Footer Placeholder 5"/>
          <p:cNvSpPr>
            <a:spLocks noGrp="1"/>
          </p:cNvSpPr>
          <p:nvPr>
            <p:ph type="ftr" sz="quarter" idx="11"/>
          </p:nvPr>
        </p:nvSpPr>
        <p:spPr/>
        <p:txBody>
          <a:bodyPr/>
          <a:lstStyle/>
          <a:p>
            <a:r>
              <a:rPr lang="en-US"/>
              <a:t>Microprocessor and Computer Architecture, BSE-II</a:t>
            </a:r>
          </a:p>
        </p:txBody>
      </p:sp>
      <p:pic>
        <p:nvPicPr>
          <p:cNvPr id="8" name="Content Placeholder 3">
            <a:extLst>
              <a:ext uri="{FF2B5EF4-FFF2-40B4-BE49-F238E27FC236}">
                <a16:creationId xmlns:a16="http://schemas.microsoft.com/office/drawing/2014/main" id="{A6446D28-84E3-4EED-AA12-B0B8305AE9F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020" y="285750"/>
            <a:ext cx="3535350" cy="1720849"/>
          </a:xfrm>
          <a:prstGeom prst="rect">
            <a:avLst/>
          </a:prstGeom>
        </p:spPr>
      </p:pic>
      <p:sp>
        <p:nvSpPr>
          <p:cNvPr id="9" name="Content Placeholder 8">
            <a:extLst>
              <a:ext uri="{FF2B5EF4-FFF2-40B4-BE49-F238E27FC236}">
                <a16:creationId xmlns:a16="http://schemas.microsoft.com/office/drawing/2014/main" id="{3E2D4957-DC0E-4E71-8123-72CB31B829FE}"/>
              </a:ext>
            </a:extLst>
          </p:cNvPr>
          <p:cNvSpPr>
            <a:spLocks noGrp="1"/>
          </p:cNvSpPr>
          <p:nvPr>
            <p:ph idx="1"/>
          </p:nvPr>
        </p:nvSpPr>
        <p:spPr/>
        <p:txBody>
          <a:bodyPr/>
          <a:lstStyle/>
          <a:p>
            <a:endParaRPr lang="en-US"/>
          </a:p>
        </p:txBody>
      </p:sp>
      <p:pic>
        <p:nvPicPr>
          <p:cNvPr id="10" name="Content Placeholder 3">
            <a:extLst>
              <a:ext uri="{FF2B5EF4-FFF2-40B4-BE49-F238E27FC236}">
                <a16:creationId xmlns:a16="http://schemas.microsoft.com/office/drawing/2014/main" id="{0FF8392A-DE21-4D4A-AC80-750C69B1D9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000" y="1290558"/>
            <a:ext cx="4890214" cy="3476705"/>
          </a:xfrm>
          <a:prstGeom prst="rect">
            <a:avLst/>
          </a:prstGeom>
        </p:spPr>
      </p:pic>
    </p:spTree>
    <p:extLst>
      <p:ext uri="{BB962C8B-B14F-4D97-AF65-F5344CB8AC3E}">
        <p14:creationId xmlns:p14="http://schemas.microsoft.com/office/powerpoint/2010/main" val="29379158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1" y="205979"/>
            <a:ext cx="4414154" cy="994171"/>
          </a:xfrm>
        </p:spPr>
        <p:txBody>
          <a:bodyPr>
            <a:noAutofit/>
          </a:bodyPr>
          <a:lstStyle/>
          <a:p>
            <a:pPr marL="174625" indent="-174625" algn="l">
              <a:tabLst>
                <a:tab pos="463550" algn="l"/>
              </a:tabLst>
            </a:pPr>
            <a:r>
              <a:rPr lang="en-US" sz="1000" b="1" dirty="0">
                <a:solidFill>
                  <a:srgbClr val="7030A0"/>
                </a:solidFill>
              </a:rPr>
              <a:t>8. A computer system with 8-bit data bus and 8-bit control bus uses isolated I/O. It has 64 bytes of ROM starting at 00H constructed using 64 x 4 chips; 128 bytes of RAM, starting at address 40H constructed using 32 x 8 chips; an input device with READY signal at address 40H; and an output with no READY signal at address 80H. Show the design for this system. Include all enable and load logic.</a:t>
            </a:r>
            <a:br>
              <a:rPr lang="en-US" sz="1000" dirty="0">
                <a:solidFill>
                  <a:srgbClr val="7030A0"/>
                </a:solidFill>
              </a:rPr>
            </a:br>
            <a:endParaRPr lang="en-US" sz="800" b="1" dirty="0">
              <a:solidFill>
                <a:srgbClr val="7030A0"/>
              </a:solidFill>
            </a:endParaRPr>
          </a:p>
        </p:txBody>
      </p:sp>
      <p:sp>
        <p:nvSpPr>
          <p:cNvPr id="4" name="Date Placeholder 3"/>
          <p:cNvSpPr>
            <a:spLocks noGrp="1"/>
          </p:cNvSpPr>
          <p:nvPr>
            <p:ph type="dt" sz="half" idx="10"/>
          </p:nvPr>
        </p:nvSpPr>
        <p:spPr/>
        <p:txBody>
          <a:bodyPr/>
          <a:lstStyle/>
          <a:p>
            <a:fld id="{7A82764F-3370-4D0F-A48C-DDD975543D49}" type="datetime1">
              <a:rPr lang="en-US" smtClean="0"/>
              <a:t>7/31/2023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76</a:t>
            </a:fld>
            <a:endParaRPr lang="en-US"/>
          </a:p>
        </p:txBody>
      </p:sp>
      <p:sp>
        <p:nvSpPr>
          <p:cNvPr id="6" name="Footer Placeholder 5"/>
          <p:cNvSpPr>
            <a:spLocks noGrp="1"/>
          </p:cNvSpPr>
          <p:nvPr>
            <p:ph type="ftr" sz="quarter" idx="11"/>
          </p:nvPr>
        </p:nvSpPr>
        <p:spPr/>
        <p:txBody>
          <a:bodyPr/>
          <a:lstStyle/>
          <a:p>
            <a:r>
              <a:rPr lang="en-US"/>
              <a:t>Microprocessor and Computer Architecture, BSE-II</a:t>
            </a:r>
          </a:p>
        </p:txBody>
      </p:sp>
      <p:sp>
        <p:nvSpPr>
          <p:cNvPr id="8" name="Content Placeholder 2">
            <a:extLst>
              <a:ext uri="{FF2B5EF4-FFF2-40B4-BE49-F238E27FC236}">
                <a16:creationId xmlns:a16="http://schemas.microsoft.com/office/drawing/2014/main" id="{7678D888-FC5E-4F55-B334-483F6817CDA8}"/>
              </a:ext>
            </a:extLst>
          </p:cNvPr>
          <p:cNvSpPr txBox="1">
            <a:spLocks/>
          </p:cNvSpPr>
          <p:nvPr/>
        </p:nvSpPr>
        <p:spPr>
          <a:xfrm>
            <a:off x="335750" y="1125841"/>
            <a:ext cx="3550450" cy="1683493"/>
          </a:xfrm>
          <a:prstGeom prst="rect">
            <a:avLst/>
          </a:prstGeom>
          <a:solidFill>
            <a:schemeClr val="accent2">
              <a:lumMod val="20000"/>
              <a:lumOff val="80000"/>
            </a:schemeClr>
          </a:solidFill>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000" dirty="0"/>
              <a:t>Here:</a:t>
            </a:r>
          </a:p>
          <a:p>
            <a:pPr marL="114300" indent="-114300"/>
            <a:r>
              <a:rPr lang="en-US" sz="1000" dirty="0"/>
              <a:t>Data bus width = 8 bits (D7-D0)</a:t>
            </a:r>
          </a:p>
          <a:p>
            <a:pPr marL="114300" indent="-114300"/>
            <a:r>
              <a:rPr lang="en-US" sz="1000" dirty="0"/>
              <a:t>Address bus width = 8 bits (A7-A0)</a:t>
            </a:r>
          </a:p>
          <a:p>
            <a:pPr marL="114300" indent="-114300"/>
            <a:r>
              <a:rPr lang="en-US" sz="1000" dirty="0"/>
              <a:t>ROM size= 64x8 starting at 00H (5 Address lines: A4-A0)</a:t>
            </a:r>
          </a:p>
          <a:p>
            <a:pPr marL="514350" lvl="1" indent="-114300"/>
            <a:r>
              <a:rPr lang="en-US" sz="1000" dirty="0"/>
              <a:t>We require two 64x4 ROMs for its construction</a:t>
            </a:r>
          </a:p>
          <a:p>
            <a:pPr marL="114300" indent="-114300"/>
            <a:r>
              <a:rPr lang="en-US" sz="1000" dirty="0"/>
              <a:t>RAM size= 128x8 starting at 40H (6 Address lines: A5-A0)</a:t>
            </a:r>
          </a:p>
          <a:p>
            <a:pPr marL="514350" lvl="1" indent="-114300"/>
            <a:r>
              <a:rPr lang="en-US" sz="1000" dirty="0"/>
              <a:t>We require five 32x8 chips for its construction</a:t>
            </a:r>
          </a:p>
          <a:p>
            <a:pPr marL="114300" indent="-114300"/>
            <a:r>
              <a:rPr lang="en-US" sz="1000" dirty="0"/>
              <a:t>Input device with READY signal at 40H</a:t>
            </a:r>
          </a:p>
          <a:p>
            <a:pPr marL="114300" indent="-114300"/>
            <a:r>
              <a:rPr lang="en-US" sz="1000" dirty="0"/>
              <a:t>Output device with no READY signal at 80H</a:t>
            </a:r>
          </a:p>
          <a:p>
            <a:pPr marL="114300" indent="-114300"/>
            <a:endParaRPr lang="en-US" sz="1000" dirty="0"/>
          </a:p>
          <a:p>
            <a:pPr marL="114300" indent="-114300"/>
            <a:endParaRPr lang="en-US" sz="1000" dirty="0"/>
          </a:p>
        </p:txBody>
      </p:sp>
      <p:pic>
        <p:nvPicPr>
          <p:cNvPr id="9" name="Content Placeholder 7">
            <a:extLst>
              <a:ext uri="{FF2B5EF4-FFF2-40B4-BE49-F238E27FC236}">
                <a16:creationId xmlns:a16="http://schemas.microsoft.com/office/drawing/2014/main" id="{4F7B7F06-DDCF-4B23-8EAC-BF5EA98F1A07}"/>
              </a:ext>
            </a:extLst>
          </p:cNvPr>
          <p:cNvPicPr>
            <a:picLocks noGrp="1" noChangeAspect="1"/>
          </p:cNvPicPr>
          <p:nvPr>
            <p:ph idx="1"/>
          </p:nvPr>
        </p:nvPicPr>
        <p:blipFill>
          <a:blip r:embed="rId2"/>
          <a:stretch>
            <a:fillRect/>
          </a:stretch>
        </p:blipFill>
        <p:spPr>
          <a:xfrm>
            <a:off x="438912" y="2892019"/>
            <a:ext cx="3447288" cy="2045501"/>
          </a:xfrm>
          <a:prstGeom prst="rect">
            <a:avLst/>
          </a:prstGeom>
          <a:ln>
            <a:solidFill>
              <a:schemeClr val="tx1"/>
            </a:solidFill>
          </a:ln>
        </p:spPr>
      </p:pic>
      <p:sp>
        <p:nvSpPr>
          <p:cNvPr id="10" name="Slide Number Placeholder 4">
            <a:extLst>
              <a:ext uri="{FF2B5EF4-FFF2-40B4-BE49-F238E27FC236}">
                <a16:creationId xmlns:a16="http://schemas.microsoft.com/office/drawing/2014/main" id="{6A504071-326D-4669-9379-1B200C8C68C6}"/>
              </a:ext>
            </a:extLst>
          </p:cNvPr>
          <p:cNvSpPr txBox="1">
            <a:spLocks/>
          </p:cNvSpPr>
          <p:nvPr/>
        </p:nvSpPr>
        <p:spPr>
          <a:xfrm>
            <a:off x="6553200" y="4767263"/>
            <a:ext cx="2133600" cy="27384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76</a:t>
            </a:fld>
            <a:endParaRPr lang="en-US"/>
          </a:p>
        </p:txBody>
      </p:sp>
      <p:pic>
        <p:nvPicPr>
          <p:cNvPr id="11" name="image116.png">
            <a:extLst>
              <a:ext uri="{FF2B5EF4-FFF2-40B4-BE49-F238E27FC236}">
                <a16:creationId xmlns:a16="http://schemas.microsoft.com/office/drawing/2014/main" id="{E59001AA-F671-450C-A670-6E07C5217FED}"/>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4665799" y="208831"/>
            <a:ext cx="4030345" cy="4869466"/>
          </a:xfrm>
          <a:prstGeom prst="rect">
            <a:avLst/>
          </a:prstGeom>
        </p:spPr>
      </p:pic>
      <p:sp>
        <p:nvSpPr>
          <p:cNvPr id="12" name="TextBox 11">
            <a:extLst>
              <a:ext uri="{FF2B5EF4-FFF2-40B4-BE49-F238E27FC236}">
                <a16:creationId xmlns:a16="http://schemas.microsoft.com/office/drawing/2014/main" id="{91714B02-3689-47F3-B840-7F4C8BB58B85}"/>
              </a:ext>
            </a:extLst>
          </p:cNvPr>
          <p:cNvSpPr txBox="1"/>
          <p:nvPr/>
        </p:nvSpPr>
        <p:spPr>
          <a:xfrm>
            <a:off x="8610600" y="1428750"/>
            <a:ext cx="645976" cy="307777"/>
          </a:xfrm>
          <a:prstGeom prst="rect">
            <a:avLst/>
          </a:prstGeom>
          <a:noFill/>
        </p:spPr>
        <p:txBody>
          <a:bodyPr wrap="square" rtlCol="0">
            <a:spAutoFit/>
          </a:bodyPr>
          <a:lstStyle/>
          <a:p>
            <a:r>
              <a:rPr lang="en-US" sz="700" dirty="0">
                <a:solidFill>
                  <a:srgbClr val="FF0000"/>
                </a:solidFill>
              </a:rPr>
              <a:t>40H=</a:t>
            </a:r>
          </a:p>
          <a:p>
            <a:r>
              <a:rPr lang="en-US" sz="700" dirty="0">
                <a:solidFill>
                  <a:srgbClr val="FF0000"/>
                </a:solidFill>
              </a:rPr>
              <a:t>0100 0000</a:t>
            </a:r>
          </a:p>
        </p:txBody>
      </p:sp>
      <p:sp>
        <p:nvSpPr>
          <p:cNvPr id="13" name="TextBox 12">
            <a:extLst>
              <a:ext uri="{FF2B5EF4-FFF2-40B4-BE49-F238E27FC236}">
                <a16:creationId xmlns:a16="http://schemas.microsoft.com/office/drawing/2014/main" id="{A421FBB4-87EB-49F6-B307-A828A44E5024}"/>
              </a:ext>
            </a:extLst>
          </p:cNvPr>
          <p:cNvSpPr txBox="1"/>
          <p:nvPr/>
        </p:nvSpPr>
        <p:spPr>
          <a:xfrm>
            <a:off x="8610600" y="2792665"/>
            <a:ext cx="618944" cy="307777"/>
          </a:xfrm>
          <a:prstGeom prst="rect">
            <a:avLst/>
          </a:prstGeom>
          <a:noFill/>
        </p:spPr>
        <p:txBody>
          <a:bodyPr wrap="square" rtlCol="0">
            <a:spAutoFit/>
          </a:bodyPr>
          <a:lstStyle/>
          <a:p>
            <a:r>
              <a:rPr lang="en-US" sz="700" dirty="0">
                <a:solidFill>
                  <a:srgbClr val="FF0000"/>
                </a:solidFill>
              </a:rPr>
              <a:t>80H=</a:t>
            </a:r>
          </a:p>
          <a:p>
            <a:r>
              <a:rPr lang="en-US" sz="700" dirty="0">
                <a:solidFill>
                  <a:srgbClr val="FF0000"/>
                </a:solidFill>
              </a:rPr>
              <a:t>1000 0000</a:t>
            </a:r>
          </a:p>
        </p:txBody>
      </p:sp>
      <p:sp>
        <p:nvSpPr>
          <p:cNvPr id="14" name="TextBox 13">
            <a:extLst>
              <a:ext uri="{FF2B5EF4-FFF2-40B4-BE49-F238E27FC236}">
                <a16:creationId xmlns:a16="http://schemas.microsoft.com/office/drawing/2014/main" id="{AE0C7616-C38A-4881-9AC7-14ABC91A0DEB}"/>
              </a:ext>
            </a:extLst>
          </p:cNvPr>
          <p:cNvSpPr txBox="1"/>
          <p:nvPr/>
        </p:nvSpPr>
        <p:spPr>
          <a:xfrm>
            <a:off x="3205589" y="2846525"/>
            <a:ext cx="707245" cy="200055"/>
          </a:xfrm>
          <a:prstGeom prst="rect">
            <a:avLst/>
          </a:prstGeom>
          <a:solidFill>
            <a:schemeClr val="bg1"/>
          </a:solidFill>
          <a:ln>
            <a:solidFill>
              <a:schemeClr val="tx1"/>
            </a:solidFill>
          </a:ln>
        </p:spPr>
        <p:txBody>
          <a:bodyPr wrap="none" rtlCol="0">
            <a:spAutoFit/>
          </a:bodyPr>
          <a:lstStyle/>
          <a:p>
            <a:r>
              <a:rPr lang="en-US" sz="700" dirty="0"/>
              <a:t>Decimal Value</a:t>
            </a:r>
          </a:p>
        </p:txBody>
      </p:sp>
      <p:sp>
        <p:nvSpPr>
          <p:cNvPr id="3" name="TextBox 2">
            <a:extLst>
              <a:ext uri="{FF2B5EF4-FFF2-40B4-BE49-F238E27FC236}">
                <a16:creationId xmlns:a16="http://schemas.microsoft.com/office/drawing/2014/main" id="{5A66BE28-8C58-4D29-A89C-A1C1941B72D6}"/>
              </a:ext>
            </a:extLst>
          </p:cNvPr>
          <p:cNvSpPr txBox="1"/>
          <p:nvPr/>
        </p:nvSpPr>
        <p:spPr>
          <a:xfrm>
            <a:off x="457200" y="3257550"/>
            <a:ext cx="413896" cy="184666"/>
          </a:xfrm>
          <a:prstGeom prst="rect">
            <a:avLst/>
          </a:prstGeom>
          <a:noFill/>
        </p:spPr>
        <p:txBody>
          <a:bodyPr wrap="none" rtlCol="0">
            <a:spAutoFit/>
          </a:bodyPr>
          <a:lstStyle/>
          <a:p>
            <a:r>
              <a:rPr lang="en-US" sz="600" dirty="0"/>
              <a:t>1 and 2</a:t>
            </a:r>
          </a:p>
        </p:txBody>
      </p:sp>
    </p:spTree>
    <p:extLst>
      <p:ext uri="{BB962C8B-B14F-4D97-AF65-F5344CB8AC3E}">
        <p14:creationId xmlns:p14="http://schemas.microsoft.com/office/powerpoint/2010/main" val="7648567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994171"/>
          </a:xfrm>
        </p:spPr>
        <p:txBody>
          <a:bodyPr>
            <a:noAutofit/>
          </a:bodyPr>
          <a:lstStyle/>
          <a:p>
            <a:pPr algn="just">
              <a:tabLst>
                <a:tab pos="463550" algn="l"/>
              </a:tabLst>
            </a:pPr>
            <a:br>
              <a:rPr lang="en-US" sz="1200" dirty="0"/>
            </a:br>
            <a:endParaRPr lang="en-US" sz="1050" b="1" dirty="0"/>
          </a:p>
        </p:txBody>
      </p:sp>
      <p:sp>
        <p:nvSpPr>
          <p:cNvPr id="4" name="Date Placeholder 3"/>
          <p:cNvSpPr>
            <a:spLocks noGrp="1"/>
          </p:cNvSpPr>
          <p:nvPr>
            <p:ph type="dt" sz="half" idx="10"/>
          </p:nvPr>
        </p:nvSpPr>
        <p:spPr/>
        <p:txBody>
          <a:bodyPr/>
          <a:lstStyle/>
          <a:p>
            <a:fld id="{0711C220-F633-4CD1-B0ED-2EC4A002B9CF}" type="datetime1">
              <a:rPr lang="en-US" sz="1100" smtClean="0"/>
              <a:t>7/31/2023</a:t>
            </a:fld>
            <a:endParaRPr lang="en-US" sz="1100"/>
          </a:p>
        </p:txBody>
      </p:sp>
      <p:sp>
        <p:nvSpPr>
          <p:cNvPr id="5" name="Slide Number Placeholder 4"/>
          <p:cNvSpPr>
            <a:spLocks noGrp="1"/>
          </p:cNvSpPr>
          <p:nvPr>
            <p:ph type="sldNum" sz="quarter" idx="12"/>
          </p:nvPr>
        </p:nvSpPr>
        <p:spPr/>
        <p:txBody>
          <a:bodyPr/>
          <a:lstStyle/>
          <a:p>
            <a:fld id="{B6F15528-21DE-4FAA-801E-634DDDAF4B2B}" type="slidenum">
              <a:rPr lang="en-US" sz="1100" smtClean="0"/>
              <a:pPr/>
              <a:t>77</a:t>
            </a:fld>
            <a:endParaRPr lang="en-US" sz="1100"/>
          </a:p>
        </p:txBody>
      </p:sp>
      <p:sp>
        <p:nvSpPr>
          <p:cNvPr id="6" name="Footer Placeholder 5"/>
          <p:cNvSpPr>
            <a:spLocks noGrp="1"/>
          </p:cNvSpPr>
          <p:nvPr>
            <p:ph type="ftr" sz="quarter" idx="11"/>
          </p:nvPr>
        </p:nvSpPr>
        <p:spPr/>
        <p:txBody>
          <a:bodyPr/>
          <a:lstStyle/>
          <a:p>
            <a:r>
              <a:rPr lang="en-US" sz="1100"/>
              <a:t>Microprocessor and Computer Architecture, BSE-II</a:t>
            </a:r>
          </a:p>
        </p:txBody>
      </p:sp>
      <p:pic>
        <p:nvPicPr>
          <p:cNvPr id="9" name="Picture 8">
            <a:extLst>
              <a:ext uri="{FF2B5EF4-FFF2-40B4-BE49-F238E27FC236}">
                <a16:creationId xmlns:a16="http://schemas.microsoft.com/office/drawing/2014/main" id="{E90DB3D9-FCD2-4377-AF21-B941FDB6F265}"/>
              </a:ext>
            </a:extLst>
          </p:cNvPr>
          <p:cNvPicPr>
            <a:picLocks noChangeAspect="1"/>
          </p:cNvPicPr>
          <p:nvPr/>
        </p:nvPicPr>
        <p:blipFill>
          <a:blip r:embed="rId2"/>
          <a:stretch>
            <a:fillRect/>
          </a:stretch>
        </p:blipFill>
        <p:spPr>
          <a:xfrm>
            <a:off x="342900" y="188673"/>
            <a:ext cx="3886200" cy="1922453"/>
          </a:xfrm>
          <a:prstGeom prst="rect">
            <a:avLst/>
          </a:prstGeom>
          <a:ln>
            <a:solidFill>
              <a:schemeClr val="tx1"/>
            </a:solidFill>
          </a:ln>
        </p:spPr>
      </p:pic>
      <p:sp>
        <p:nvSpPr>
          <p:cNvPr id="10" name="Rectangle 9">
            <a:extLst>
              <a:ext uri="{FF2B5EF4-FFF2-40B4-BE49-F238E27FC236}">
                <a16:creationId xmlns:a16="http://schemas.microsoft.com/office/drawing/2014/main" id="{07BC3BE5-5BE7-4462-8BFC-52507232AA52}"/>
              </a:ext>
            </a:extLst>
          </p:cNvPr>
          <p:cNvSpPr/>
          <p:nvPr/>
        </p:nvSpPr>
        <p:spPr>
          <a:xfrm>
            <a:off x="1371600" y="2647950"/>
            <a:ext cx="1437640" cy="148976"/>
          </a:xfrm>
          <a:prstGeom prst="rect">
            <a:avLst/>
          </a:prstGeom>
          <a:noFill/>
          <a:ln w="31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 name="TextBox 2">
            <a:extLst>
              <a:ext uri="{FF2B5EF4-FFF2-40B4-BE49-F238E27FC236}">
                <a16:creationId xmlns:a16="http://schemas.microsoft.com/office/drawing/2014/main" id="{03BEFAC4-1357-47A7-BBCB-8F3D92AF1612}"/>
              </a:ext>
            </a:extLst>
          </p:cNvPr>
          <p:cNvSpPr txBox="1"/>
          <p:nvPr/>
        </p:nvSpPr>
        <p:spPr>
          <a:xfrm>
            <a:off x="3562417" y="2244081"/>
            <a:ext cx="780983" cy="215444"/>
          </a:xfrm>
          <a:prstGeom prst="rect">
            <a:avLst/>
          </a:prstGeom>
          <a:solidFill>
            <a:schemeClr val="bg1"/>
          </a:solidFill>
        </p:spPr>
        <p:txBody>
          <a:bodyPr wrap="none" rtlCol="0">
            <a:spAutoFit/>
          </a:bodyPr>
          <a:lstStyle/>
          <a:p>
            <a:r>
              <a:rPr lang="en-US" sz="800" dirty="0"/>
              <a:t>Decimal Value</a:t>
            </a:r>
          </a:p>
        </p:txBody>
      </p:sp>
      <p:sp>
        <p:nvSpPr>
          <p:cNvPr id="11" name="Slide Number Placeholder 4">
            <a:extLst>
              <a:ext uri="{FF2B5EF4-FFF2-40B4-BE49-F238E27FC236}">
                <a16:creationId xmlns:a16="http://schemas.microsoft.com/office/drawing/2014/main" id="{84721B67-7C93-4B5E-9B2B-DF147DEA108F}"/>
              </a:ext>
            </a:extLst>
          </p:cNvPr>
          <p:cNvSpPr txBox="1">
            <a:spLocks/>
          </p:cNvSpPr>
          <p:nvPr/>
        </p:nvSpPr>
        <p:spPr>
          <a:xfrm>
            <a:off x="6553200" y="4767263"/>
            <a:ext cx="2133600" cy="27384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77</a:t>
            </a:fld>
            <a:endParaRPr lang="en-US"/>
          </a:p>
        </p:txBody>
      </p:sp>
      <p:pic>
        <p:nvPicPr>
          <p:cNvPr id="12" name="image116.png">
            <a:extLst>
              <a:ext uri="{FF2B5EF4-FFF2-40B4-BE49-F238E27FC236}">
                <a16:creationId xmlns:a16="http://schemas.microsoft.com/office/drawing/2014/main" id="{A6202308-2A2A-46BC-81C1-DC70A5973570}"/>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4665799" y="208831"/>
            <a:ext cx="4030345" cy="4869466"/>
          </a:xfrm>
          <a:prstGeom prst="rect">
            <a:avLst/>
          </a:prstGeom>
        </p:spPr>
      </p:pic>
      <p:sp>
        <p:nvSpPr>
          <p:cNvPr id="13" name="TextBox 12">
            <a:extLst>
              <a:ext uri="{FF2B5EF4-FFF2-40B4-BE49-F238E27FC236}">
                <a16:creationId xmlns:a16="http://schemas.microsoft.com/office/drawing/2014/main" id="{49A463D2-CD2C-454B-B253-D28547BB6777}"/>
              </a:ext>
            </a:extLst>
          </p:cNvPr>
          <p:cNvSpPr txBox="1"/>
          <p:nvPr/>
        </p:nvSpPr>
        <p:spPr>
          <a:xfrm>
            <a:off x="8610600" y="1428750"/>
            <a:ext cx="645976" cy="307777"/>
          </a:xfrm>
          <a:prstGeom prst="rect">
            <a:avLst/>
          </a:prstGeom>
          <a:noFill/>
        </p:spPr>
        <p:txBody>
          <a:bodyPr wrap="square" rtlCol="0">
            <a:spAutoFit/>
          </a:bodyPr>
          <a:lstStyle/>
          <a:p>
            <a:r>
              <a:rPr lang="en-US" sz="700" dirty="0">
                <a:solidFill>
                  <a:srgbClr val="FF0000"/>
                </a:solidFill>
              </a:rPr>
              <a:t>40H=</a:t>
            </a:r>
          </a:p>
          <a:p>
            <a:r>
              <a:rPr lang="en-US" sz="700" dirty="0">
                <a:solidFill>
                  <a:srgbClr val="FF0000"/>
                </a:solidFill>
              </a:rPr>
              <a:t>0100 0000</a:t>
            </a:r>
          </a:p>
        </p:txBody>
      </p:sp>
      <p:sp>
        <p:nvSpPr>
          <p:cNvPr id="14" name="TextBox 13">
            <a:extLst>
              <a:ext uri="{FF2B5EF4-FFF2-40B4-BE49-F238E27FC236}">
                <a16:creationId xmlns:a16="http://schemas.microsoft.com/office/drawing/2014/main" id="{5AA1FBF1-52B9-464A-9D0E-68B18D80843B}"/>
              </a:ext>
            </a:extLst>
          </p:cNvPr>
          <p:cNvSpPr txBox="1"/>
          <p:nvPr/>
        </p:nvSpPr>
        <p:spPr>
          <a:xfrm>
            <a:off x="8610600" y="2792665"/>
            <a:ext cx="618944" cy="307777"/>
          </a:xfrm>
          <a:prstGeom prst="rect">
            <a:avLst/>
          </a:prstGeom>
          <a:noFill/>
        </p:spPr>
        <p:txBody>
          <a:bodyPr wrap="square" rtlCol="0">
            <a:spAutoFit/>
          </a:bodyPr>
          <a:lstStyle/>
          <a:p>
            <a:r>
              <a:rPr lang="en-US" sz="700" dirty="0">
                <a:solidFill>
                  <a:srgbClr val="FF0000"/>
                </a:solidFill>
              </a:rPr>
              <a:t>80H=</a:t>
            </a:r>
          </a:p>
          <a:p>
            <a:r>
              <a:rPr lang="en-US" sz="700" dirty="0">
                <a:solidFill>
                  <a:srgbClr val="FF0000"/>
                </a:solidFill>
              </a:rPr>
              <a:t>1000 0000</a:t>
            </a:r>
          </a:p>
        </p:txBody>
      </p:sp>
      <p:pic>
        <p:nvPicPr>
          <p:cNvPr id="8" name="Content Placeholder 7">
            <a:extLst>
              <a:ext uri="{FF2B5EF4-FFF2-40B4-BE49-F238E27FC236}">
                <a16:creationId xmlns:a16="http://schemas.microsoft.com/office/drawing/2014/main" id="{B0EDD69D-6612-46C2-9D64-921EB495FDF0}"/>
              </a:ext>
            </a:extLst>
          </p:cNvPr>
          <p:cNvPicPr>
            <a:picLocks noGrp="1" noChangeAspect="1"/>
          </p:cNvPicPr>
          <p:nvPr>
            <p:ph idx="1"/>
          </p:nvPr>
        </p:nvPicPr>
        <p:blipFill>
          <a:blip r:embed="rId4"/>
          <a:stretch>
            <a:fillRect/>
          </a:stretch>
        </p:blipFill>
        <p:spPr>
          <a:xfrm>
            <a:off x="228600" y="2209871"/>
            <a:ext cx="4030345" cy="2744956"/>
          </a:xfrm>
          <a:prstGeom prst="rect">
            <a:avLst/>
          </a:prstGeom>
          <a:ln>
            <a:solidFill>
              <a:schemeClr val="tx1"/>
            </a:solidFill>
          </a:ln>
        </p:spPr>
      </p:pic>
    </p:spTree>
    <p:extLst>
      <p:ext uri="{BB962C8B-B14F-4D97-AF65-F5344CB8AC3E}">
        <p14:creationId xmlns:p14="http://schemas.microsoft.com/office/powerpoint/2010/main" val="394211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Exercise:</a:t>
            </a:r>
          </a:p>
        </p:txBody>
      </p:sp>
      <p:sp>
        <p:nvSpPr>
          <p:cNvPr id="3" name="Content Placeholder 2"/>
          <p:cNvSpPr>
            <a:spLocks noGrp="1"/>
          </p:cNvSpPr>
          <p:nvPr>
            <p:ph idx="1"/>
          </p:nvPr>
        </p:nvSpPr>
        <p:spPr>
          <a:xfrm>
            <a:off x="457200" y="742950"/>
            <a:ext cx="8229600" cy="3851673"/>
          </a:xfrm>
          <a:solidFill>
            <a:schemeClr val="bg1"/>
          </a:solidFill>
        </p:spPr>
        <p:txBody>
          <a:bodyPr>
            <a:normAutofit fontScale="92500"/>
          </a:bodyPr>
          <a:lstStyle/>
          <a:p>
            <a:pPr marL="514350" lvl="0" indent="-514350">
              <a:buFont typeface="+mj-lt"/>
              <a:buAutoNum type="arabicPeriod"/>
            </a:pPr>
            <a:r>
              <a:rPr lang="en-US" sz="2400" dirty="0"/>
              <a:t>Differentiate between Microprocessor and Microcontroller.</a:t>
            </a:r>
          </a:p>
          <a:p>
            <a:pPr marL="514350" lvl="0" indent="-514350">
              <a:buFont typeface="+mj-lt"/>
              <a:buAutoNum type="arabicPeriod"/>
            </a:pPr>
            <a:r>
              <a:rPr lang="en-US" sz="2400" dirty="0"/>
              <a:t>Differentiate between Von-Neumann and Harvard Architecture with suitable block diagrams.</a:t>
            </a:r>
          </a:p>
          <a:p>
            <a:pPr marL="514350" lvl="0" indent="-514350">
              <a:buFont typeface="+mj-lt"/>
              <a:buAutoNum type="arabicPeriod"/>
            </a:pPr>
            <a:r>
              <a:rPr lang="en-US" sz="2400" dirty="0"/>
              <a:t>Explain the phases in instruction cycle.</a:t>
            </a:r>
          </a:p>
          <a:p>
            <a:pPr marL="514350" lvl="0" indent="-514350">
              <a:buFont typeface="+mj-lt"/>
              <a:buAutoNum type="arabicPeriod"/>
            </a:pPr>
            <a:r>
              <a:rPr lang="en-US" sz="2400" dirty="0"/>
              <a:t>What are the applications of Microprocessor? Briefly explain.</a:t>
            </a:r>
          </a:p>
          <a:p>
            <a:pPr marL="514350" lvl="0" indent="-514350">
              <a:buFont typeface="+mj-lt"/>
              <a:buAutoNum type="arabicPeriod"/>
            </a:pPr>
            <a:r>
              <a:rPr lang="en-US" sz="2400" dirty="0"/>
              <a:t>What are the applications of Microcontroller? Briefly explain.</a:t>
            </a:r>
          </a:p>
          <a:p>
            <a:pPr marL="514350" lvl="0" indent="-514350">
              <a:buFont typeface="+mj-lt"/>
              <a:buAutoNum type="arabicPeriod"/>
            </a:pPr>
            <a:r>
              <a:rPr lang="en-US" sz="2400" dirty="0"/>
              <a:t>Explain the basic computer organization.</a:t>
            </a:r>
          </a:p>
          <a:p>
            <a:pPr marL="514350" indent="-514350">
              <a:buFont typeface="+mj-lt"/>
              <a:buAutoNum type="arabicPeriod"/>
            </a:pPr>
            <a:r>
              <a:rPr lang="en-US" sz="2400" dirty="0"/>
              <a:t>Explain the linear organization of 8x2 ROM chip.</a:t>
            </a:r>
          </a:p>
          <a:p>
            <a:pPr marL="514350" indent="-514350">
              <a:buFont typeface="+mj-lt"/>
              <a:buAutoNum type="arabicPeriod"/>
            </a:pPr>
            <a:r>
              <a:rPr lang="en-US" sz="2400" dirty="0"/>
              <a:t>Explain the horizontal organization of 8x2 ROM chip.</a:t>
            </a:r>
          </a:p>
          <a:p>
            <a:pPr marL="514350" indent="-514350">
              <a:buFont typeface="+mj-lt"/>
              <a:buAutoNum type="arabicPeriod"/>
            </a:pPr>
            <a:endParaRPr lang="en-US" sz="2400" dirty="0"/>
          </a:p>
          <a:p>
            <a:pPr marL="514350" lvl="0" indent="-514350">
              <a:buFont typeface="+mj-lt"/>
              <a:buAutoNum type="arabicPeriod"/>
            </a:pPr>
            <a:endParaRPr lang="en-US" sz="2400" dirty="0"/>
          </a:p>
          <a:p>
            <a:pPr>
              <a:buFont typeface="+mj-lt"/>
              <a:buAutoNum type="arabicPeriod"/>
            </a:pPr>
            <a:endParaRPr lang="en-US" sz="2400" dirty="0"/>
          </a:p>
        </p:txBody>
      </p:sp>
      <p:sp>
        <p:nvSpPr>
          <p:cNvPr id="6" name="Footer Placeholder 5"/>
          <p:cNvSpPr>
            <a:spLocks noGrp="1"/>
          </p:cNvSpPr>
          <p:nvPr>
            <p:ph type="ftr" sz="quarter" idx="11"/>
          </p:nvPr>
        </p:nvSpPr>
        <p:spPr/>
        <p:txBody>
          <a:bodyPr/>
          <a:lstStyle/>
          <a:p>
            <a:r>
              <a:rPr lang="en-US" dirty="0">
                <a:solidFill>
                  <a:srgbClr val="00B050"/>
                </a:solidFill>
              </a:rPr>
              <a:t>Microprocessor and Computer Architecture, BSE-II</a:t>
            </a:r>
          </a:p>
        </p:txBody>
      </p:sp>
      <p:sp>
        <p:nvSpPr>
          <p:cNvPr id="8" name="Date Placeholder 7">
            <a:extLst>
              <a:ext uri="{FF2B5EF4-FFF2-40B4-BE49-F238E27FC236}">
                <a16:creationId xmlns:a16="http://schemas.microsoft.com/office/drawing/2014/main" id="{B866F244-FEAB-4988-BCE8-5FA18BCC2D1D}"/>
              </a:ext>
            </a:extLst>
          </p:cNvPr>
          <p:cNvSpPr>
            <a:spLocks noGrp="1"/>
          </p:cNvSpPr>
          <p:nvPr>
            <p:ph type="dt" sz="half" idx="10"/>
          </p:nvPr>
        </p:nvSpPr>
        <p:spPr/>
        <p:txBody>
          <a:bodyPr/>
          <a:lstStyle/>
          <a:p>
            <a:fld id="{ADBA8F37-991B-4B88-902A-17CFC256F8A6}" type="datetime1">
              <a:rPr lang="en-US" smtClean="0"/>
              <a:t>7/31/2023</a:t>
            </a:fld>
            <a:endParaRPr lang="en-US"/>
          </a:p>
        </p:txBody>
      </p:sp>
      <p:sp>
        <p:nvSpPr>
          <p:cNvPr id="9" name="Slide Number Placeholder 8">
            <a:extLst>
              <a:ext uri="{FF2B5EF4-FFF2-40B4-BE49-F238E27FC236}">
                <a16:creationId xmlns:a16="http://schemas.microsoft.com/office/drawing/2014/main" id="{1E78CA06-8B59-4AAB-B9DC-182B5B09CAD9}"/>
              </a:ext>
            </a:extLst>
          </p:cNvPr>
          <p:cNvSpPr>
            <a:spLocks noGrp="1"/>
          </p:cNvSpPr>
          <p:nvPr>
            <p:ph type="sldNum" sz="quarter" idx="12"/>
          </p:nvPr>
        </p:nvSpPr>
        <p:spPr/>
        <p:txBody>
          <a:bodyPr/>
          <a:lstStyle/>
          <a:p>
            <a:fld id="{B6F15528-21DE-4FAA-801E-634DDDAF4B2B}" type="slidenum">
              <a:rPr lang="en-US" smtClean="0"/>
              <a:pPr/>
              <a:t>78</a:t>
            </a:fld>
            <a:endParaRPr lang="en-US"/>
          </a:p>
        </p:txBody>
      </p:sp>
    </p:spTree>
    <p:extLst>
      <p:ext uri="{BB962C8B-B14F-4D97-AF65-F5344CB8AC3E}">
        <p14:creationId xmlns:p14="http://schemas.microsoft.com/office/powerpoint/2010/main" val="13201317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solidFill>
            <a:schemeClr val="bg1"/>
          </a:solidFill>
        </p:spPr>
        <p:txBody>
          <a:bodyPr>
            <a:normAutofit fontScale="55000" lnSpcReduction="20000"/>
          </a:bodyPr>
          <a:lstStyle/>
          <a:p>
            <a:pPr marL="514350" lvl="0" indent="-514350">
              <a:buFont typeface="+mj-lt"/>
              <a:buAutoNum type="arabicPeriod" startAt="9"/>
            </a:pPr>
            <a:r>
              <a:rPr lang="en-US" dirty="0"/>
              <a:t>Construct an 8x4 ROM from two 8x2 ROMs.  Also explain it.</a:t>
            </a:r>
          </a:p>
          <a:p>
            <a:pPr marL="514350" lvl="0" indent="-514350">
              <a:buFont typeface="+mj-lt"/>
              <a:buAutoNum type="arabicPeriod" startAt="9"/>
            </a:pPr>
            <a:r>
              <a:rPr lang="en-US" dirty="0"/>
              <a:t>Construct an 8x4 ROM from two 8x2 ROMs using high-order interleaving. Also explain it.</a:t>
            </a:r>
          </a:p>
          <a:p>
            <a:pPr marL="514350" lvl="0" indent="-514350">
              <a:buFont typeface="+mj-lt"/>
              <a:buAutoNum type="arabicPeriod" startAt="9"/>
            </a:pPr>
            <a:r>
              <a:rPr lang="en-US" dirty="0"/>
              <a:t>Construct an 8x4 ROM from two 8x2 ROMs using low-order interleaving. Also explain it.</a:t>
            </a:r>
          </a:p>
          <a:p>
            <a:pPr marL="514350" lvl="0" indent="-514350">
              <a:buFont typeface="+mj-lt"/>
              <a:buAutoNum type="arabicPeriod" startAt="9"/>
            </a:pPr>
            <a:r>
              <a:rPr lang="en-US" dirty="0"/>
              <a:t>Design a 16x4 memory subsystem with high order interleaving using 8x2 memory chips for a computer system with an 8-bit address bus.</a:t>
            </a:r>
          </a:p>
          <a:p>
            <a:pPr marL="514350" lvl="0" indent="-514350">
              <a:buFont typeface="+mj-lt"/>
              <a:buAutoNum type="arabicPeriod" startAt="9"/>
            </a:pPr>
            <a:r>
              <a:rPr lang="en-US" dirty="0"/>
              <a:t>Design a 16x4 memory subsystem with low order interleaving using 8x2 memory chips for a computer system with an 8-bit address bus.</a:t>
            </a:r>
          </a:p>
          <a:p>
            <a:pPr marL="514350" lvl="0" indent="-514350">
              <a:buFont typeface="+mj-lt"/>
              <a:buAutoNum type="arabicPeriod" startAt="9"/>
            </a:pPr>
            <a:r>
              <a:rPr lang="en-US" dirty="0"/>
              <a:t>Design an interface for an input device which has binary address 1010 1010. Its computer system uses isolated I/0.</a:t>
            </a:r>
          </a:p>
          <a:p>
            <a:pPr marL="514350" lvl="0" indent="-514350">
              <a:buFont typeface="+mj-lt"/>
              <a:buAutoNum type="arabicPeriod" startAt="9"/>
            </a:pPr>
            <a:r>
              <a:rPr lang="en-US" dirty="0"/>
              <a:t>Design an interface for an input device which has binary address 1010 1010. Its computer system uses memory mapped I/O.</a:t>
            </a:r>
          </a:p>
          <a:p>
            <a:pPr marL="514350" lvl="0" indent="-514350">
              <a:buFont typeface="+mj-lt"/>
              <a:buAutoNum type="arabicPeriod" startAt="9"/>
            </a:pPr>
            <a:r>
              <a:rPr lang="en-US" dirty="0"/>
              <a:t>Design an interface for a bidirectional Input/output device that has binary address 1000 0001. Its computer system uses Isolated I/O.</a:t>
            </a:r>
          </a:p>
          <a:p>
            <a:pPr marL="457200" indent="-457200">
              <a:buFont typeface="+mj-lt"/>
              <a:buAutoNum type="arabicPeriod" startAt="9"/>
            </a:pPr>
            <a:endParaRPr lang="en-US" sz="700" dirty="0"/>
          </a:p>
        </p:txBody>
      </p:sp>
      <p:sp>
        <p:nvSpPr>
          <p:cNvPr id="6" name="Footer Placeholder 5"/>
          <p:cNvSpPr>
            <a:spLocks noGrp="1"/>
          </p:cNvSpPr>
          <p:nvPr>
            <p:ph type="ftr" sz="quarter" idx="11"/>
          </p:nvPr>
        </p:nvSpPr>
        <p:spPr/>
        <p:txBody>
          <a:bodyPr/>
          <a:lstStyle/>
          <a:p>
            <a:r>
              <a:rPr lang="en-US" dirty="0">
                <a:solidFill>
                  <a:srgbClr val="00B050"/>
                </a:solidFill>
              </a:rPr>
              <a:t>Microprocessor and Computer Architecture, BSE-II</a:t>
            </a:r>
          </a:p>
        </p:txBody>
      </p:sp>
      <p:sp>
        <p:nvSpPr>
          <p:cNvPr id="8" name="Date Placeholder 7">
            <a:extLst>
              <a:ext uri="{FF2B5EF4-FFF2-40B4-BE49-F238E27FC236}">
                <a16:creationId xmlns:a16="http://schemas.microsoft.com/office/drawing/2014/main" id="{B866F244-FEAB-4988-BCE8-5FA18BCC2D1D}"/>
              </a:ext>
            </a:extLst>
          </p:cNvPr>
          <p:cNvSpPr>
            <a:spLocks noGrp="1"/>
          </p:cNvSpPr>
          <p:nvPr>
            <p:ph type="dt" sz="half" idx="10"/>
          </p:nvPr>
        </p:nvSpPr>
        <p:spPr/>
        <p:txBody>
          <a:bodyPr/>
          <a:lstStyle/>
          <a:p>
            <a:fld id="{FC8D858A-DF6E-4D66-8A86-FB80F28E8EEF}" type="datetime1">
              <a:rPr lang="en-US" smtClean="0"/>
              <a:t>7/31/2023</a:t>
            </a:fld>
            <a:endParaRPr lang="en-US"/>
          </a:p>
        </p:txBody>
      </p:sp>
      <p:sp>
        <p:nvSpPr>
          <p:cNvPr id="9" name="Slide Number Placeholder 8">
            <a:extLst>
              <a:ext uri="{FF2B5EF4-FFF2-40B4-BE49-F238E27FC236}">
                <a16:creationId xmlns:a16="http://schemas.microsoft.com/office/drawing/2014/main" id="{1E78CA06-8B59-4AAB-B9DC-182B5B09CAD9}"/>
              </a:ext>
            </a:extLst>
          </p:cNvPr>
          <p:cNvSpPr>
            <a:spLocks noGrp="1"/>
          </p:cNvSpPr>
          <p:nvPr>
            <p:ph type="sldNum" sz="quarter" idx="12"/>
          </p:nvPr>
        </p:nvSpPr>
        <p:spPr/>
        <p:txBody>
          <a:bodyPr/>
          <a:lstStyle/>
          <a:p>
            <a:fld id="{B6F15528-21DE-4FAA-801E-634DDDAF4B2B}" type="slidenum">
              <a:rPr lang="en-US" smtClean="0"/>
              <a:pPr/>
              <a:t>79</a:t>
            </a:fld>
            <a:endParaRPr lang="en-US"/>
          </a:p>
        </p:txBody>
      </p:sp>
    </p:spTree>
    <p:extLst>
      <p:ext uri="{BB962C8B-B14F-4D97-AF65-F5344CB8AC3E}">
        <p14:creationId xmlns:p14="http://schemas.microsoft.com/office/powerpoint/2010/main" val="4608874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a:solidFill>
            <a:schemeClr val="bg1"/>
          </a:solidFill>
        </p:spPr>
        <p:txBody>
          <a:bodyPr>
            <a:normAutofit lnSpcReduction="10000"/>
          </a:bodyPr>
          <a:lstStyle/>
          <a:p>
            <a:pPr marL="403225" lvl="0" indent="-403225">
              <a:buFont typeface="+mj-lt"/>
              <a:buAutoNum type="arabicPeriod" startAt="17"/>
            </a:pPr>
            <a:r>
              <a:rPr lang="en-US" sz="1400" dirty="0"/>
              <a:t>A CPU with 8-bit data bus and 8-bit address bus uses memory mapped I/O. It has 32 byte of ROM at 00H and 32 byte of ROM at 20H. It also has an I/O device at FFH. Show the load logic and enable logic.</a:t>
            </a:r>
          </a:p>
          <a:p>
            <a:pPr marL="403225" lvl="0" indent="-403225">
              <a:buFont typeface="+mj-lt"/>
              <a:buAutoNum type="arabicPeriod" startAt="17"/>
            </a:pPr>
            <a:r>
              <a:rPr lang="en-US" sz="1400" dirty="0"/>
              <a:t>A computer system with an 8-bit address and an 8-bit data bus using isolated I/O. It has 16 x 8 ROM starting at address 00H constructed using 8 x8 chips; 64 x 8 of RAM starting at address 80H constructed using 64 x 4 chips. There is an I/O device at 40H. Show the design for the system.</a:t>
            </a:r>
          </a:p>
          <a:p>
            <a:pPr marL="403225" lvl="0" indent="-403225">
              <a:buFont typeface="+mj-lt"/>
              <a:buAutoNum type="arabicPeriod" startAt="17"/>
            </a:pPr>
            <a:r>
              <a:rPr lang="en-US" sz="1400" dirty="0"/>
              <a:t>8. A computer system with 8-bit data bus and 8-bit control bus uses isolated I/O. It has 64 bytes of ROM starting at 00H constructed using 64 x 4 chips; 128 bytes of RAM, starting at address 40H constructed using 32 x 8 chips; an input device with READY signal at address 40H; and an output with no READY signal at address 80H. Show the design for this system. Include all enable and load logic.</a:t>
            </a:r>
          </a:p>
          <a:p>
            <a:pPr marL="403225" lvl="0" indent="-403225">
              <a:buFont typeface="+mj-lt"/>
              <a:buAutoNum type="arabicPeriod" startAt="17"/>
            </a:pPr>
            <a:r>
              <a:rPr lang="en-US" sz="1400" dirty="0"/>
              <a:t>A computer has a CPU with 8-bit address bus and 16-bit data bus. The computer uses Isolated I/O. It has 64 x 16 of ROM at 00 H; constructed using two 32 x 16 ROM chips. It also has 32 x16 of RAM at C0 H. The system has an input device at 17 H and an output device at B5 H. Show the design for the system including all the required logic. [PU 2018 Fall] </a:t>
            </a:r>
          </a:p>
          <a:p>
            <a:pPr marL="403225" lvl="0" indent="-403225">
              <a:buFont typeface="+mj-lt"/>
              <a:buAutoNum type="arabicPeriod" startAt="17"/>
            </a:pPr>
            <a:r>
              <a:rPr lang="en-US" sz="1400" dirty="0"/>
              <a:t>A computer system with an 8-bit address bus and an 8-bit data bus uses memory-mapped I/O. It has 32 bytes of ROM starting at address 00H constructed using a single 32x8 chip; 128 bytes of RAM starting at address 80H constructed using 64x4 chips; a bidirectional I/O device with no READY signal at address 40H; and an input device with no READY signal at address 60H. Show the design for this system. Include all enable and load logic.</a:t>
            </a:r>
          </a:p>
        </p:txBody>
      </p:sp>
      <p:sp>
        <p:nvSpPr>
          <p:cNvPr id="6" name="Footer Placeholder 5"/>
          <p:cNvSpPr>
            <a:spLocks noGrp="1"/>
          </p:cNvSpPr>
          <p:nvPr>
            <p:ph type="ftr" sz="quarter" idx="11"/>
          </p:nvPr>
        </p:nvSpPr>
        <p:spPr/>
        <p:txBody>
          <a:bodyPr/>
          <a:lstStyle/>
          <a:p>
            <a:r>
              <a:rPr lang="en-US" dirty="0">
                <a:solidFill>
                  <a:srgbClr val="00B050"/>
                </a:solidFill>
              </a:rPr>
              <a:t>Microprocessor and Computer Architecture, BSE-II</a:t>
            </a:r>
          </a:p>
        </p:txBody>
      </p:sp>
      <p:sp>
        <p:nvSpPr>
          <p:cNvPr id="8" name="Date Placeholder 7">
            <a:extLst>
              <a:ext uri="{FF2B5EF4-FFF2-40B4-BE49-F238E27FC236}">
                <a16:creationId xmlns:a16="http://schemas.microsoft.com/office/drawing/2014/main" id="{B866F244-FEAB-4988-BCE8-5FA18BCC2D1D}"/>
              </a:ext>
            </a:extLst>
          </p:cNvPr>
          <p:cNvSpPr>
            <a:spLocks noGrp="1"/>
          </p:cNvSpPr>
          <p:nvPr>
            <p:ph type="dt" sz="half" idx="10"/>
          </p:nvPr>
        </p:nvSpPr>
        <p:spPr/>
        <p:txBody>
          <a:bodyPr/>
          <a:lstStyle/>
          <a:p>
            <a:fld id="{FC22E568-D246-4B19-B405-701AA9CCDF2F}" type="datetime1">
              <a:rPr lang="en-US" smtClean="0"/>
              <a:t>7/31/2023</a:t>
            </a:fld>
            <a:endParaRPr lang="en-US"/>
          </a:p>
        </p:txBody>
      </p:sp>
      <p:sp>
        <p:nvSpPr>
          <p:cNvPr id="9" name="Slide Number Placeholder 8">
            <a:extLst>
              <a:ext uri="{FF2B5EF4-FFF2-40B4-BE49-F238E27FC236}">
                <a16:creationId xmlns:a16="http://schemas.microsoft.com/office/drawing/2014/main" id="{1E78CA06-8B59-4AAB-B9DC-182B5B09CAD9}"/>
              </a:ext>
            </a:extLst>
          </p:cNvPr>
          <p:cNvSpPr>
            <a:spLocks noGrp="1"/>
          </p:cNvSpPr>
          <p:nvPr>
            <p:ph type="sldNum" sz="quarter" idx="12"/>
          </p:nvPr>
        </p:nvSpPr>
        <p:spPr/>
        <p:txBody>
          <a:bodyPr/>
          <a:lstStyle/>
          <a:p>
            <a:fld id="{B6F15528-21DE-4FAA-801E-634DDDAF4B2B}" type="slidenum">
              <a:rPr lang="en-US" smtClean="0"/>
              <a:pPr/>
              <a:t>80</a:t>
            </a:fld>
            <a:endParaRPr lang="en-US"/>
          </a:p>
        </p:txBody>
      </p:sp>
    </p:spTree>
    <p:extLst>
      <p:ext uri="{BB962C8B-B14F-4D97-AF65-F5344CB8AC3E}">
        <p14:creationId xmlns:p14="http://schemas.microsoft.com/office/powerpoint/2010/main" val="235274279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6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pPr marL="0" indent="0" algn="ctr">
              <a:buNone/>
            </a:pPr>
            <a:endParaRPr lang="en-US" sz="3600" b="1" dirty="0">
              <a:solidFill>
                <a:srgbClr val="00B050"/>
              </a:solidFill>
            </a:endParaRPr>
          </a:p>
          <a:p>
            <a:pPr marL="0" indent="0" algn="ctr">
              <a:buNone/>
            </a:pPr>
            <a:endParaRPr lang="en-US" sz="3600" b="1" dirty="0">
              <a:solidFill>
                <a:srgbClr val="00B050"/>
              </a:solidFill>
            </a:endParaRPr>
          </a:p>
          <a:p>
            <a:pPr marL="0" indent="0" algn="ctr">
              <a:buNone/>
            </a:pPr>
            <a:r>
              <a:rPr lang="en-US" sz="3600" b="1" dirty="0">
                <a:solidFill>
                  <a:srgbClr val="00B050"/>
                </a:solidFill>
              </a:rPr>
              <a:t>End of Chapter</a:t>
            </a:r>
            <a:endParaRPr lang="en-US" sz="3600" dirty="0">
              <a:solidFill>
                <a:srgbClr val="00B050"/>
              </a:solidFill>
            </a:endParaRPr>
          </a:p>
        </p:txBody>
      </p:sp>
      <p:sp>
        <p:nvSpPr>
          <p:cNvPr id="6" name="Footer Placeholder 5"/>
          <p:cNvSpPr>
            <a:spLocks noGrp="1"/>
          </p:cNvSpPr>
          <p:nvPr>
            <p:ph type="ftr" sz="quarter" idx="11"/>
          </p:nvPr>
        </p:nvSpPr>
        <p:spPr/>
        <p:txBody>
          <a:bodyPr/>
          <a:lstStyle/>
          <a:p>
            <a:r>
              <a:rPr lang="en-US" dirty="0"/>
              <a:t>Microprocessor and Computer Architecture, BSE-II</a:t>
            </a:r>
          </a:p>
        </p:txBody>
      </p:sp>
      <p:sp>
        <p:nvSpPr>
          <p:cNvPr id="7" name="Date Placeholder 6">
            <a:extLst>
              <a:ext uri="{FF2B5EF4-FFF2-40B4-BE49-F238E27FC236}">
                <a16:creationId xmlns:a16="http://schemas.microsoft.com/office/drawing/2014/main" id="{21B22600-E99B-4AF0-98BB-4C78C38818D7}"/>
              </a:ext>
            </a:extLst>
          </p:cNvPr>
          <p:cNvSpPr>
            <a:spLocks noGrp="1"/>
          </p:cNvSpPr>
          <p:nvPr>
            <p:ph type="dt" sz="half" idx="10"/>
          </p:nvPr>
        </p:nvSpPr>
        <p:spPr/>
        <p:txBody>
          <a:bodyPr/>
          <a:lstStyle/>
          <a:p>
            <a:fld id="{E1D0B6D1-3C57-4573-A004-769BC58D59B2}" type="datetime1">
              <a:rPr lang="en-US" smtClean="0"/>
              <a:t>7/31/2023</a:t>
            </a:fld>
            <a:endParaRPr lang="en-US"/>
          </a:p>
        </p:txBody>
      </p:sp>
      <p:sp>
        <p:nvSpPr>
          <p:cNvPr id="8" name="Slide Number Placeholder 7">
            <a:extLst>
              <a:ext uri="{FF2B5EF4-FFF2-40B4-BE49-F238E27FC236}">
                <a16:creationId xmlns:a16="http://schemas.microsoft.com/office/drawing/2014/main" id="{A4A66301-0084-4CA3-8175-190DD32518FA}"/>
              </a:ext>
            </a:extLst>
          </p:cNvPr>
          <p:cNvSpPr>
            <a:spLocks noGrp="1"/>
          </p:cNvSpPr>
          <p:nvPr>
            <p:ph type="sldNum" sz="quarter" idx="12"/>
          </p:nvPr>
        </p:nvSpPr>
        <p:spPr/>
        <p:txBody>
          <a:bodyPr/>
          <a:lstStyle/>
          <a:p>
            <a:fld id="{B6F15528-21DE-4FAA-801E-634DDDAF4B2B}" type="slidenum">
              <a:rPr lang="en-US" smtClean="0"/>
              <a:pPr/>
              <a:t>81</a:t>
            </a:fld>
            <a:endParaRPr lang="en-US"/>
          </a:p>
        </p:txBody>
      </p:sp>
    </p:spTree>
    <p:extLst>
      <p:ext uri="{BB962C8B-B14F-4D97-AF65-F5344CB8AC3E}">
        <p14:creationId xmlns:p14="http://schemas.microsoft.com/office/powerpoint/2010/main" val="1500153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2859</TotalTime>
  <Words>6915</Words>
  <Application>Microsoft Office PowerPoint</Application>
  <PresentationFormat>On-screen Show (16:9)</PresentationFormat>
  <Paragraphs>930</Paragraphs>
  <Slides>81</Slides>
  <Notes>0</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81</vt:i4>
      </vt:variant>
    </vt:vector>
  </HeadingPairs>
  <TitlesOfParts>
    <vt:vector size="88" baseType="lpstr">
      <vt:lpstr>Arial</vt:lpstr>
      <vt:lpstr>Arial MT</vt:lpstr>
      <vt:lpstr>Calibri</vt:lpstr>
      <vt:lpstr>Cambria Math</vt:lpstr>
      <vt:lpstr>Times New Roman</vt:lpstr>
      <vt:lpstr>Wingdings</vt:lpstr>
      <vt:lpstr>Office Theme</vt:lpstr>
      <vt:lpstr>Chapter 1 An Overview of Computer and Microprocessor</vt:lpstr>
      <vt:lpstr>Google Classroom </vt:lpstr>
      <vt:lpstr>Google Classroom </vt:lpstr>
      <vt:lpstr>Overview: 2 hrs</vt:lpstr>
      <vt:lpstr>PowerPoint Presentation</vt:lpstr>
      <vt:lpstr>PowerPoint Presentation</vt:lpstr>
      <vt:lpstr>Microprocessor</vt:lpstr>
      <vt:lpstr>Definition of the Microprocessor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 Microprocessor-based system</vt:lpstr>
      <vt:lpstr>Inside The Microprocessor</vt:lpstr>
      <vt:lpstr>Organization of a microprocessor-  based system</vt:lpstr>
      <vt:lpstr>Memory</vt:lpstr>
      <vt:lpstr>Memory Map and Addresses</vt:lpstr>
      <vt:lpstr>The three cycle instruction  execution model</vt:lpstr>
      <vt:lpstr>Microcontroller</vt:lpstr>
      <vt:lpstr>PowerPoint Presentation</vt:lpstr>
      <vt:lpstr>PowerPoint Presentation</vt:lpstr>
      <vt:lpstr>Application of Microprocessor</vt:lpstr>
      <vt:lpstr>Application of Microprocessor</vt:lpstr>
      <vt:lpstr>Application of Microcontroller</vt:lpstr>
      <vt:lpstr>Application of Microcontroller</vt:lpstr>
      <vt:lpstr>Assignment:</vt:lpstr>
      <vt:lpstr>PowerPoint Presentation</vt:lpstr>
      <vt:lpstr>Computer Architecture</vt:lpstr>
      <vt:lpstr>Types of Computer Architecture</vt:lpstr>
      <vt:lpstr>Von Neuman Architecture</vt:lpstr>
      <vt:lpstr>Von Neuman Architecture</vt:lpstr>
      <vt:lpstr>Advantages / Disadvantages of Von-Neumann Architecture</vt:lpstr>
      <vt:lpstr>Harvard Architecture</vt:lpstr>
      <vt:lpstr>Harvard Architecture</vt:lpstr>
      <vt:lpstr>Advantages / Disadvantages of Harvard Architecture</vt:lpstr>
      <vt:lpstr>Assignment:</vt:lpstr>
      <vt:lpstr>PowerPoint Presentation</vt:lpstr>
      <vt:lpstr>1. Basic Computer Organization</vt:lpstr>
      <vt:lpstr>Structural view of Computer System</vt:lpstr>
      <vt:lpstr>Structural view of Computer System (Contd.)</vt:lpstr>
      <vt:lpstr>Structural view of Computer System (Contd.)</vt:lpstr>
      <vt:lpstr>2. System Buses</vt:lpstr>
      <vt:lpstr>2. System Buses (Contd.)</vt:lpstr>
      <vt:lpstr>2. System Buses (Contd.)</vt:lpstr>
      <vt:lpstr>3. Instruction Cycle</vt:lpstr>
      <vt:lpstr>3. Instruction Cycle (Contd.)</vt:lpstr>
      <vt:lpstr>4. CPU organization</vt:lpstr>
      <vt:lpstr>2.4 Memory Sub-system Organization and Interfacing</vt:lpstr>
      <vt:lpstr>RAM    Vs   ROM</vt:lpstr>
      <vt:lpstr>Internal Chip Organization</vt:lpstr>
      <vt:lpstr>Linear organization</vt:lpstr>
      <vt:lpstr>Classwork:</vt:lpstr>
      <vt:lpstr>Two-dimensional organization</vt:lpstr>
      <vt:lpstr>2.5 Memory Sub system Configuration</vt:lpstr>
      <vt:lpstr>Construction of 8 x 4 ROM from two 8 x 2 ROMs:</vt:lpstr>
      <vt:lpstr>Construction of 16 x 2 ROM from two 8 x2 ROM chip:</vt:lpstr>
      <vt:lpstr>i) Using high-order interleaving</vt:lpstr>
      <vt:lpstr>ii) Using low-order interleaving</vt:lpstr>
      <vt:lpstr>Classwork:</vt:lpstr>
      <vt:lpstr>1. Design an 8x4 ROM using 4x4 ROM chips using higher order interleaving. Also explain its operation.</vt:lpstr>
      <vt:lpstr>2. Design a 16x4 memory subsystem with low order interleaving using 8x2 memory chips for a computer system with an 8-bit address bus.</vt:lpstr>
      <vt:lpstr>3. Design a 32x 8 memory subsystem with high-order interleaving using 16x2 memory chips for a computer system with an 8-bit address bus.</vt:lpstr>
      <vt:lpstr>6. I/O subsystem Organization and Interfacing</vt:lpstr>
      <vt:lpstr>i) Input device</vt:lpstr>
      <vt:lpstr>ii) Output Device:</vt:lpstr>
      <vt:lpstr>iii) Bidirectional IO device </vt:lpstr>
      <vt:lpstr>1. Design an interface for an input device which has binary address 1010 1010. Its computer system uses isolated I/0. </vt:lpstr>
      <vt:lpstr>2. Design an interface for an input device which has binary address 1010 1010. Its computer system uses memory mapped I/O.</vt:lpstr>
      <vt:lpstr>6. A CPU with 8-bit data bus and 8-bit address bus uses memory mapped I/O. It has 32 byte of ROM at 00H and 32 byte of ROM at 20H. It also has an I/O device at FFH. Show the load logic and enable logic.</vt:lpstr>
      <vt:lpstr>6. A CPU with 8-bit data bus and 8-bit address bus uses memory mapped I/O. It has 32 byte of ROM at 00H and 32 byte of ROM at 20H. It also has an I/O device at FFH. Show the load logic and enable logic.</vt:lpstr>
      <vt:lpstr>7. A computer system with an 8-bit address and an 8-bit data bus using isolated I/O. It has 16 x 8 ROM starting at address 00H constructed using 8 x8 chips; 64 x 8 of RAM starting at address 80H constructed using 64 x 4 chips. There is an I/O device at 40H. Show the design for the system.</vt:lpstr>
      <vt:lpstr>PowerPoint Presentation</vt:lpstr>
      <vt:lpstr>8. A computer system with 8-bit data bus and 8-bit control bus uses isolated I/O. It has 64 bytes of ROM starting at 00H constructed using 64 x 4 chips; 128 bytes of RAM, starting at address 40H constructed using 32 x 8 chips; an input device with READY signal at address 40H; and an output with no READY signal at address 80H. Show the design for this system. Include all enable and load logic. </vt:lpstr>
      <vt:lpstr> </vt:lpstr>
      <vt:lpstr>Exercise: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shiva</dc:creator>
  <cp:lastModifiedBy>Shiva Ram Dam</cp:lastModifiedBy>
  <cp:revision>254</cp:revision>
  <dcterms:created xsi:type="dcterms:W3CDTF">2006-08-16T00:00:00Z</dcterms:created>
  <dcterms:modified xsi:type="dcterms:W3CDTF">2023-07-31T01:29:51Z</dcterms:modified>
</cp:coreProperties>
</file>