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305" r:id="rId4"/>
    <p:sldId id="376" r:id="rId5"/>
    <p:sldId id="375" r:id="rId6"/>
    <p:sldId id="377" r:id="rId7"/>
    <p:sldId id="383" r:id="rId8"/>
    <p:sldId id="414" r:id="rId9"/>
    <p:sldId id="415" r:id="rId10"/>
    <p:sldId id="416" r:id="rId11"/>
    <p:sldId id="378" r:id="rId12"/>
    <p:sldId id="379" r:id="rId13"/>
    <p:sldId id="380" r:id="rId14"/>
    <p:sldId id="381" r:id="rId15"/>
    <p:sldId id="382" r:id="rId16"/>
    <p:sldId id="374" r:id="rId17"/>
    <p:sldId id="373" r:id="rId18"/>
    <p:sldId id="351" r:id="rId19"/>
    <p:sldId id="352" r:id="rId20"/>
    <p:sldId id="384" r:id="rId21"/>
    <p:sldId id="258" r:id="rId22"/>
    <p:sldId id="443" r:id="rId23"/>
    <p:sldId id="386" r:id="rId24"/>
    <p:sldId id="387" r:id="rId25"/>
    <p:sldId id="385" r:id="rId26"/>
    <p:sldId id="439" r:id="rId27"/>
    <p:sldId id="388" r:id="rId28"/>
    <p:sldId id="356" r:id="rId29"/>
    <p:sldId id="353" r:id="rId30"/>
    <p:sldId id="354" r:id="rId31"/>
    <p:sldId id="355" r:id="rId32"/>
    <p:sldId id="390" r:id="rId33"/>
    <p:sldId id="391" r:id="rId34"/>
    <p:sldId id="392" r:id="rId35"/>
    <p:sldId id="259" r:id="rId36"/>
    <p:sldId id="393" r:id="rId37"/>
    <p:sldId id="444" r:id="rId38"/>
    <p:sldId id="394" r:id="rId39"/>
    <p:sldId id="437" r:id="rId40"/>
    <p:sldId id="358" r:id="rId41"/>
    <p:sldId id="359" r:id="rId42"/>
    <p:sldId id="357" r:id="rId43"/>
    <p:sldId id="441" r:id="rId44"/>
    <p:sldId id="350" r:id="rId45"/>
    <p:sldId id="397" r:id="rId46"/>
    <p:sldId id="398" r:id="rId47"/>
    <p:sldId id="395" r:id="rId48"/>
    <p:sldId id="362" r:id="rId49"/>
    <p:sldId id="360" r:id="rId50"/>
    <p:sldId id="361" r:id="rId51"/>
    <p:sldId id="396" r:id="rId52"/>
    <p:sldId id="400" r:id="rId53"/>
    <p:sldId id="413" r:id="rId54"/>
    <p:sldId id="401" r:id="rId55"/>
    <p:sldId id="402" r:id="rId56"/>
    <p:sldId id="403" r:id="rId57"/>
    <p:sldId id="405" r:id="rId58"/>
    <p:sldId id="404" r:id="rId59"/>
    <p:sldId id="417" r:id="rId60"/>
    <p:sldId id="406" r:id="rId61"/>
    <p:sldId id="407" r:id="rId62"/>
    <p:sldId id="418" r:id="rId63"/>
    <p:sldId id="420" r:id="rId64"/>
    <p:sldId id="408" r:id="rId65"/>
    <p:sldId id="421" r:id="rId66"/>
    <p:sldId id="422" r:id="rId67"/>
    <p:sldId id="409" r:id="rId68"/>
    <p:sldId id="423" r:id="rId69"/>
    <p:sldId id="424" r:id="rId70"/>
    <p:sldId id="425" r:id="rId71"/>
    <p:sldId id="410" r:id="rId72"/>
    <p:sldId id="427" r:id="rId73"/>
    <p:sldId id="426" r:id="rId74"/>
    <p:sldId id="428" r:id="rId75"/>
    <p:sldId id="434" r:id="rId76"/>
    <p:sldId id="431" r:id="rId77"/>
    <p:sldId id="430" r:id="rId78"/>
    <p:sldId id="442" r:id="rId79"/>
    <p:sldId id="432" r:id="rId80"/>
    <p:sldId id="433" r:id="rId81"/>
    <p:sldId id="429" r:id="rId82"/>
    <p:sldId id="411" r:id="rId83"/>
    <p:sldId id="435" r:id="rId84"/>
    <p:sldId id="412" r:id="rId85"/>
    <p:sldId id="438" r:id="rId86"/>
    <p:sldId id="419" r:id="rId87"/>
    <p:sldId id="399" r:id="rId8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38" autoAdjust="0"/>
  </p:normalViewPr>
  <p:slideViewPr>
    <p:cSldViewPr>
      <p:cViewPr varScale="1">
        <p:scale>
          <a:sx n="95" d="100"/>
          <a:sy n="95" d="100"/>
        </p:scale>
        <p:origin x="974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8/12/2023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9753-6C96-4FC9-9477-4DD094808C71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C039-3F1D-4D32-B085-7C4E7EBA5869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6D1D-21F8-4C22-9C14-2DF95F812A1A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610A-5F2E-4FE1-A2F9-B338718604A5}" type="datetime1">
              <a:rPr lang="en-US" smtClean="0"/>
              <a:t>8/12/2023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D8935-5A41-4E33-B673-AD6309E10007}" type="datetime1">
              <a:rPr lang="en-US" smtClean="0"/>
              <a:t>8/12/2023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F2A94-023A-4FE6-A85C-F8AE9B544C4F}" type="datetime1">
              <a:rPr lang="en-US" smtClean="0"/>
              <a:t>8/12/2023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AC76-E0B1-4AF6-A3D0-F3BCC48B5C1F}" type="datetime1">
              <a:rPr lang="en-US" smtClean="0"/>
              <a:t>8/12/2023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88983-DEF9-4C2C-96DE-5659195419C9}" type="datetime1">
              <a:rPr lang="en-US" smtClean="0"/>
              <a:t>8/12/2023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486B-5321-4338-B4CA-4090C8042D6B}" type="datetime1">
              <a:rPr lang="en-US" smtClean="0"/>
              <a:t>8/12/2023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4A93-B2FB-4584-9BF0-F85C366DFE82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04F41-0385-466A-8D1B-71B7CC4B656D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E77C9-5B11-44BC-80D2-93C97BE50B3E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Arithmetic Unit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microsoft.com/office/2007/relationships/hdphoto" Target="../media/hdphoto7.wdp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hardwarebee.com/overview-of-lookup-tables-in-fpga-design/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_Wxrp-2DZQ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_Wxrp-2DZQ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Chapter 6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Arithmetic Unit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Representation of Binary number and Arithmetic in Unsigned Notation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Addition and Subtraction in Unsigned Notation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Multiplication in Unsigned Notation, Shift Add Multiplication Algorithm, Booth’s Algorithm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Division in Unsigned Notation, Shift Subtract Division Algorithm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Signed Notation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Addition and Subtraction in Signed Notation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Binary Coded Decimal (BCD), BCD Numeric format, BCD Addition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Specialized Arithmetic Hardware: Lookup ROM, Wallace Tree, Arithmetic Pipeline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Floating Point Numbers, Numeric Format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IEEE 754 Floating Point Standard, numeric Format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37BFA-C8D1-4021-ACE7-7C8A7D97DBFB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6.1 Arithmetic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r>
              <a:rPr lang="en-US" sz="2000" dirty="0"/>
              <a:t>The Arithmetic unit is a part of processor that </a:t>
            </a:r>
            <a:r>
              <a:rPr lang="en-US" sz="2000" dirty="0">
                <a:solidFill>
                  <a:srgbClr val="C00000"/>
                </a:solidFill>
              </a:rPr>
              <a:t>executes arithmetic operations.</a:t>
            </a:r>
          </a:p>
          <a:p>
            <a:r>
              <a:rPr lang="en-US" sz="2000" dirty="0"/>
              <a:t>A </a:t>
            </a:r>
            <a:r>
              <a:rPr lang="en-US" sz="2000" dirty="0">
                <a:solidFill>
                  <a:srgbClr val="C00000"/>
                </a:solidFill>
              </a:rPr>
              <a:t>microprocessor is capable of processing numeric data in  one or more formats.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83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r>
              <a:rPr lang="en-US" sz="2800" dirty="0"/>
              <a:t>Data representation should require three provisions:</a:t>
            </a:r>
          </a:p>
          <a:p>
            <a:pPr lvl="1"/>
            <a:r>
              <a:rPr lang="en-US" sz="2400" dirty="0"/>
              <a:t>Provision for +</a:t>
            </a:r>
            <a:r>
              <a:rPr lang="en-US" sz="2400" dirty="0" err="1"/>
              <a:t>ve</a:t>
            </a:r>
            <a:r>
              <a:rPr lang="en-US" sz="2400" dirty="0"/>
              <a:t> number(or Unsigned  number) representation</a:t>
            </a:r>
          </a:p>
          <a:p>
            <a:pPr lvl="1"/>
            <a:r>
              <a:rPr lang="en-US" sz="2400" dirty="0"/>
              <a:t>Provision for –</a:t>
            </a:r>
            <a:r>
              <a:rPr lang="en-US" sz="2400" dirty="0" err="1"/>
              <a:t>ve</a:t>
            </a:r>
            <a:r>
              <a:rPr lang="en-US" sz="2400" dirty="0"/>
              <a:t> number (or signed number) representation.</a:t>
            </a:r>
          </a:p>
          <a:p>
            <a:pPr lvl="1"/>
            <a:r>
              <a:rPr lang="en-US" sz="2400" dirty="0"/>
              <a:t>Provision for fractional number representation.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91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2800" b="1">
                <a:solidFill>
                  <a:srgbClr val="FF0000"/>
                </a:solidFill>
              </a:rPr>
              <a:t>Representation of Binary number and Arithmetic in signed Notation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470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12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a) Unsigned Number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3505200" cy="3699273"/>
          </a:xfrm>
        </p:spPr>
        <p:txBody>
          <a:bodyPr>
            <a:normAutofit/>
          </a:bodyPr>
          <a:lstStyle/>
          <a:p>
            <a:r>
              <a:rPr lang="en-US" sz="2000" dirty="0"/>
              <a:t>In </a:t>
            </a:r>
            <a:r>
              <a:rPr lang="en-US" sz="2000" dirty="0">
                <a:solidFill>
                  <a:srgbClr val="C00000"/>
                </a:solidFill>
              </a:rPr>
              <a:t>unsigned</a:t>
            </a:r>
            <a:r>
              <a:rPr lang="en-US" sz="2000" dirty="0"/>
              <a:t> notation, there is </a:t>
            </a:r>
            <a:r>
              <a:rPr lang="en-US" sz="2000" dirty="0">
                <a:solidFill>
                  <a:srgbClr val="C00000"/>
                </a:solidFill>
              </a:rPr>
              <a:t>no any separate bit </a:t>
            </a:r>
            <a:r>
              <a:rPr lang="en-US" sz="2000" dirty="0"/>
              <a:t>to represent the sign (Positive or Negative) of the number.</a:t>
            </a:r>
          </a:p>
          <a:p>
            <a:r>
              <a:rPr lang="en-US" sz="2000" dirty="0" err="1"/>
              <a:t>Eg</a:t>
            </a:r>
            <a:r>
              <a:rPr lang="en-US" sz="2000" dirty="0"/>
              <a:t>: </a:t>
            </a:r>
          </a:p>
          <a:p>
            <a:pPr lvl="1"/>
            <a:r>
              <a:rPr lang="en-US" sz="1600" dirty="0"/>
              <a:t>1111</a:t>
            </a:r>
          </a:p>
          <a:p>
            <a:pPr lvl="1"/>
            <a:r>
              <a:rPr lang="en-US" sz="1600" dirty="0"/>
              <a:t>This is equivalent to 15 in decimal value.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4C7B4E-E2FE-46D3-A958-C8FA0F6A0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991790"/>
            <a:ext cx="46101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9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) Addition in Unsigned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4343400" cy="3699273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For both the non-negative and two’s complement notations, addition and subtraction are fairly straightforward.</a:t>
            </a:r>
          </a:p>
          <a:p>
            <a:r>
              <a:rPr lang="en-US" sz="2000" dirty="0"/>
              <a:t>Addition is implemented as a straight binary addition.</a:t>
            </a:r>
          </a:p>
          <a:p>
            <a:r>
              <a:rPr lang="en-US" sz="2000" dirty="0"/>
              <a:t>It is realized in hardware by using a </a:t>
            </a:r>
            <a:r>
              <a:rPr lang="en-US" sz="2000" dirty="0">
                <a:solidFill>
                  <a:srgbClr val="C00000"/>
                </a:solidFill>
              </a:rPr>
              <a:t>parallel adder </a:t>
            </a:r>
            <a:r>
              <a:rPr lang="en-US" sz="2000" dirty="0"/>
              <a:t>as shown in the figure.</a:t>
            </a:r>
          </a:p>
          <a:p>
            <a:r>
              <a:rPr lang="en-US" sz="2000" dirty="0"/>
              <a:t>Here, X and Y are 8-bit registers.</a:t>
            </a:r>
          </a:p>
          <a:p>
            <a:r>
              <a:rPr lang="en-US" sz="2000" dirty="0"/>
              <a:t>The circuit performs the micro-operation </a:t>
            </a:r>
          </a:p>
          <a:p>
            <a:r>
              <a:rPr lang="en-US" sz="2000" dirty="0"/>
              <a:t>ADD: X</a:t>
            </a:r>
            <a:r>
              <a:rPr lang="en-US" sz="2000" dirty="0">
                <a:sym typeface="Wingdings" panose="05000000000000000000" pitchFamily="2" charset="2"/>
              </a:rPr>
              <a:t> X+Y.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E324F-2B9A-4973-A8B7-ED3DE001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938212"/>
            <a:ext cx="2486025" cy="3267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42ED7A-EC24-4DDA-916F-323C8306F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4396976"/>
            <a:ext cx="3581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8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Overflow during Addition in Unsigned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638"/>
            <a:ext cx="3810000" cy="370998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Overflow</a:t>
            </a:r>
            <a:r>
              <a:rPr lang="en-US" sz="2000" dirty="0"/>
              <a:t> only occurs when two numbers with the </a:t>
            </a:r>
            <a:r>
              <a:rPr lang="en-US" sz="2000" dirty="0">
                <a:solidFill>
                  <a:srgbClr val="C00000"/>
                </a:solidFill>
              </a:rPr>
              <a:t>same sign</a:t>
            </a:r>
            <a:r>
              <a:rPr lang="en-US" sz="2000" dirty="0"/>
              <a:t> are added.</a:t>
            </a:r>
          </a:p>
          <a:p>
            <a:r>
              <a:rPr lang="en-US" sz="2000" dirty="0"/>
              <a:t>Adding two numbers with </a:t>
            </a:r>
            <a:r>
              <a:rPr lang="en-US" sz="2000" dirty="0">
                <a:solidFill>
                  <a:srgbClr val="C00000"/>
                </a:solidFill>
              </a:rPr>
              <a:t>different signs always produce a valid result</a:t>
            </a:r>
            <a:r>
              <a:rPr lang="en-US" sz="2000" dirty="0"/>
              <a:t>.</a:t>
            </a:r>
          </a:p>
          <a:p>
            <a:r>
              <a:rPr lang="en-US" sz="2000" dirty="0"/>
              <a:t>Subtraction can be converted to addition and performed in a similar manner.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B6ECA-1278-4E42-B743-DF6FE0B92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043581"/>
            <a:ext cx="4445000" cy="281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69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ii) Subtraction in Unsigned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638"/>
            <a:ext cx="3810000" cy="3709986"/>
          </a:xfrm>
        </p:spPr>
        <p:txBody>
          <a:bodyPr>
            <a:normAutofit/>
          </a:bodyPr>
          <a:lstStyle/>
          <a:p>
            <a:r>
              <a:rPr lang="en-US" sz="2000" dirty="0"/>
              <a:t>Subtracting numbers in two’s complement notation is also implemented as X-Y = X+(-Y).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9083A7-8FBE-4C9E-9821-279B02A5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1" y="798317"/>
            <a:ext cx="2277597" cy="35123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3509D2-133B-46C0-BFCB-AAAD51F8E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424659"/>
            <a:ext cx="33528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69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Overflow during Subtraction in Unsigned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638"/>
            <a:ext cx="3810000" cy="3709986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A78B1-86FC-43BD-AACE-FF8EFEC0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489771"/>
            <a:ext cx="5140483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475DA0-B106-41FF-B0AC-B4FE05E52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0" y="4350743"/>
            <a:ext cx="437197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4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b) Signed Number Representation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r>
              <a:rPr lang="en-US" sz="2800" dirty="0"/>
              <a:t>There are three ways to represent –</a:t>
            </a:r>
            <a:r>
              <a:rPr lang="en-US" sz="2800" dirty="0" err="1"/>
              <a:t>ve</a:t>
            </a:r>
            <a:r>
              <a:rPr lang="en-US" sz="2800" dirty="0"/>
              <a:t> numbers.</a:t>
            </a:r>
          </a:p>
          <a:p>
            <a:pPr lvl="1"/>
            <a:r>
              <a:rPr lang="en-US" sz="1800" dirty="0"/>
              <a:t>Signed Magnitude Representation</a:t>
            </a:r>
          </a:p>
          <a:p>
            <a:pPr lvl="1"/>
            <a:r>
              <a:rPr lang="en-US" sz="1800" dirty="0"/>
              <a:t>1’s Complement Representation</a:t>
            </a:r>
          </a:p>
          <a:p>
            <a:pPr lvl="1"/>
            <a:r>
              <a:rPr lang="en-US" sz="1800" dirty="0"/>
              <a:t>2’s Complement Representation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960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endParaRPr lang="en-US" sz="5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07C1E3-BA78-4E0E-B019-0D1F7A41A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812800"/>
            <a:ext cx="8079989" cy="36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70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en-US" b="1" i="1" dirty="0"/>
              <a:t>2) One’s Complement Representation</a:t>
            </a:r>
            <a:endParaRPr lang="en-US" dirty="0"/>
          </a:p>
          <a:p>
            <a:pPr lvl="1"/>
            <a:r>
              <a:rPr lang="en-US" dirty="0"/>
              <a:t>Here, negative numbers are represented by complementing each bit.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	+6 = 0110</a:t>
            </a:r>
          </a:p>
          <a:p>
            <a:pPr marL="0" indent="0">
              <a:buNone/>
            </a:pPr>
            <a:r>
              <a:rPr lang="en-US" dirty="0"/>
              <a:t>		- 6 = 1001</a:t>
            </a:r>
          </a:p>
          <a:p>
            <a:pPr lvl="1"/>
            <a:r>
              <a:rPr lang="en-US" dirty="0"/>
              <a:t>Limitation: 	It represents +0 and -0 by different value.</a:t>
            </a:r>
          </a:p>
          <a:p>
            <a:r>
              <a:rPr lang="en-US" dirty="0" err="1"/>
              <a:t>Eg</a:t>
            </a:r>
            <a:r>
              <a:rPr lang="en-US" dirty="0"/>
              <a:t>: 	</a:t>
            </a:r>
          </a:p>
          <a:p>
            <a:pPr marL="800100" lvl="2" indent="0">
              <a:buNone/>
            </a:pPr>
            <a:r>
              <a:rPr lang="en-US" dirty="0"/>
              <a:t>+0 = 0000</a:t>
            </a:r>
          </a:p>
          <a:p>
            <a:pPr marL="800100" lvl="2" indent="0">
              <a:buNone/>
            </a:pPr>
            <a:r>
              <a:rPr lang="en-US" dirty="0"/>
              <a:t>-0 = 1111 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1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i="1" dirty="0"/>
              <a:t>3) Two’s Complement Representation</a:t>
            </a:r>
            <a:endParaRPr lang="en-US" dirty="0"/>
          </a:p>
          <a:p>
            <a:pPr lvl="0"/>
            <a:r>
              <a:rPr lang="en-US" dirty="0"/>
              <a:t>Two’s complement representation overcomes the fore-mentioned limitation.</a:t>
            </a:r>
          </a:p>
          <a:p>
            <a:pPr lvl="0"/>
            <a:r>
              <a:rPr lang="en-US" dirty="0"/>
              <a:t>Two’s complement = One’s complement + 1</a:t>
            </a:r>
          </a:p>
          <a:p>
            <a:pPr lvl="0"/>
            <a:r>
              <a:rPr lang="en-US" dirty="0" err="1"/>
              <a:t>Eg</a:t>
            </a:r>
            <a:r>
              <a:rPr lang="en-US" dirty="0"/>
              <a:t>:	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+6 = 0110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-6  = 2’s complement of 0110 = 1001+1 = 1010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10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FDC4B-DF3D-4D7A-99D4-48CD4FF1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25" y="863600"/>
            <a:ext cx="8495603" cy="24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304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Addition and Subtraction in signed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8229600" cy="36230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064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6.3 Multiplication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Unsigned Multiplication	</a:t>
            </a:r>
          </a:p>
          <a:p>
            <a:pPr lvl="1"/>
            <a:r>
              <a:rPr lang="en-US" sz="1800" dirty="0"/>
              <a:t>Shift-Add Algorithm</a:t>
            </a:r>
          </a:p>
          <a:p>
            <a:r>
              <a:rPr lang="en-US" sz="2400" dirty="0"/>
              <a:t>Signed Multiplication</a:t>
            </a:r>
          </a:p>
          <a:p>
            <a:pPr lvl="1"/>
            <a:r>
              <a:rPr lang="en-US" sz="1800" dirty="0"/>
              <a:t>Booth’s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23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Unsigned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742950"/>
            <a:ext cx="19431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Let us consider:</a:t>
            </a:r>
          </a:p>
          <a:p>
            <a:r>
              <a:rPr lang="en-US" sz="1600" dirty="0"/>
              <a:t>M=Multiplicand     </a:t>
            </a:r>
          </a:p>
          <a:p>
            <a:r>
              <a:rPr lang="en-US" sz="1600" dirty="0"/>
              <a:t>Q= Multiplier</a:t>
            </a:r>
          </a:p>
          <a:p>
            <a:r>
              <a:rPr lang="en-US" sz="1600" dirty="0"/>
              <a:t>A= Result stored register	</a:t>
            </a:r>
          </a:p>
          <a:p>
            <a:r>
              <a:rPr lang="en-US" sz="1600" dirty="0"/>
              <a:t>C= 1 bit register for carry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93B7D-9F57-4BC2-A630-A11ECE50F8CC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Arithmetic Unit</a:t>
            </a:r>
          </a:p>
        </p:txBody>
      </p:sp>
      <p:pic>
        <p:nvPicPr>
          <p:cNvPr id="7" name="Picture 6" descr="Image result for flowchart for unsigned binary multiplication">
            <a:extLst>
              <a:ext uri="{FF2B5EF4-FFF2-40B4-BE49-F238E27FC236}">
                <a16:creationId xmlns:a16="http://schemas.microsoft.com/office/drawing/2014/main" id="{E9A0F65F-2820-4F29-9C36-4F528DEF179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5810" y="213823"/>
            <a:ext cx="3107690" cy="448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C2CF0-5F68-4532-8778-9CB500861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-26000" contrast="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8055" y="882848"/>
            <a:ext cx="3543300" cy="3571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3A10B5-56AD-4425-9A35-EAE75F0EDB7A}"/>
              </a:ext>
            </a:extLst>
          </p:cNvPr>
          <p:cNvSpPr/>
          <p:nvPr/>
        </p:nvSpPr>
        <p:spPr>
          <a:xfrm>
            <a:off x="186373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</p:spTree>
    <p:extLst>
      <p:ext uri="{BB962C8B-B14F-4D97-AF65-F5344CB8AC3E}">
        <p14:creationId xmlns:p14="http://schemas.microsoft.com/office/powerpoint/2010/main" val="997373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A78E7CD-0B6C-447F-8D4C-CA26B94AF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-14000" contrast="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1975" y="957416"/>
            <a:ext cx="6229941" cy="34384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3E23-FA49-4381-8FAF-B55E85784A1D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 descr="Image result for flowchart for unsigned binary multiplication">
            <a:extLst>
              <a:ext uri="{FF2B5EF4-FFF2-40B4-BE49-F238E27FC236}">
                <a16:creationId xmlns:a16="http://schemas.microsoft.com/office/drawing/2014/main" id="{A5673619-7078-4DCA-90C4-3FCCB77ED836}"/>
              </a:ext>
            </a:extLst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39195"/>
            <a:ext cx="2821081" cy="428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96DCE1-AE39-4244-A228-52A5559F5DD7}"/>
              </a:ext>
            </a:extLst>
          </p:cNvPr>
          <p:cNvSpPr/>
          <p:nvPr/>
        </p:nvSpPr>
        <p:spPr>
          <a:xfrm>
            <a:off x="186373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29EBC-ABD4-430C-B180-4D412F59B2F3}"/>
              </a:ext>
            </a:extLst>
          </p:cNvPr>
          <p:cNvSpPr/>
          <p:nvPr/>
        </p:nvSpPr>
        <p:spPr>
          <a:xfrm>
            <a:off x="3200400" y="2190750"/>
            <a:ext cx="3048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6AB4F-998A-44CF-B759-3585E0A45A93}"/>
              </a:ext>
            </a:extLst>
          </p:cNvPr>
          <p:cNvSpPr/>
          <p:nvPr/>
        </p:nvSpPr>
        <p:spPr>
          <a:xfrm>
            <a:off x="3200400" y="1969217"/>
            <a:ext cx="3048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8F12A-97CB-438B-8281-72E68543D11B}"/>
              </a:ext>
            </a:extLst>
          </p:cNvPr>
          <p:cNvSpPr/>
          <p:nvPr/>
        </p:nvSpPr>
        <p:spPr>
          <a:xfrm>
            <a:off x="3081973" y="2190750"/>
            <a:ext cx="6062027" cy="374829"/>
          </a:xfrm>
          <a:prstGeom prst="rect">
            <a:avLst/>
          </a:prstGeom>
          <a:solidFill>
            <a:schemeClr val="accent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58B99-4395-4B29-A5D7-9E7215C5B08F}"/>
              </a:ext>
            </a:extLst>
          </p:cNvPr>
          <p:cNvSpPr/>
          <p:nvPr/>
        </p:nvSpPr>
        <p:spPr>
          <a:xfrm>
            <a:off x="3049889" y="3009541"/>
            <a:ext cx="6062027" cy="123877"/>
          </a:xfrm>
          <a:prstGeom prst="rect">
            <a:avLst/>
          </a:prstGeom>
          <a:solidFill>
            <a:schemeClr val="accent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74B8E-9840-4D47-A6B7-3E16E3C8EA70}"/>
              </a:ext>
            </a:extLst>
          </p:cNvPr>
          <p:cNvSpPr/>
          <p:nvPr/>
        </p:nvSpPr>
        <p:spPr>
          <a:xfrm>
            <a:off x="3172326" y="3224305"/>
            <a:ext cx="308811" cy="102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6B9D66-4F72-4064-BB84-215DDB11866A}"/>
              </a:ext>
            </a:extLst>
          </p:cNvPr>
          <p:cNvSpPr/>
          <p:nvPr/>
        </p:nvSpPr>
        <p:spPr>
          <a:xfrm>
            <a:off x="3176337" y="3424084"/>
            <a:ext cx="3048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288C6-2B81-46A6-BE13-92446DE7F447}"/>
              </a:ext>
            </a:extLst>
          </p:cNvPr>
          <p:cNvSpPr txBox="1"/>
          <p:nvPr/>
        </p:nvSpPr>
        <p:spPr>
          <a:xfrm>
            <a:off x="8547350" y="2331701"/>
            <a:ext cx="6142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,Count--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BF5376-5F7E-435B-BA6C-A576F6CDD0FB}"/>
              </a:ext>
            </a:extLst>
          </p:cNvPr>
          <p:cNvSpPr txBox="1"/>
          <p:nvPr/>
        </p:nvSpPr>
        <p:spPr>
          <a:xfrm>
            <a:off x="8570885" y="2741098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, Count--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6E589-65DF-4B99-BDF9-D69C3CDBC289}"/>
              </a:ext>
            </a:extLst>
          </p:cNvPr>
          <p:cNvSpPr txBox="1"/>
          <p:nvPr/>
        </p:nvSpPr>
        <p:spPr>
          <a:xfrm>
            <a:off x="8563392" y="2978084"/>
            <a:ext cx="6142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,Count--</a:t>
            </a:r>
          </a:p>
        </p:txBody>
      </p:sp>
    </p:spTree>
    <p:extLst>
      <p:ext uri="{BB962C8B-B14F-4D97-AF65-F5344CB8AC3E}">
        <p14:creationId xmlns:p14="http://schemas.microsoft.com/office/powerpoint/2010/main" val="3542241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a) Shift Add Algorithm for Unsigned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724151"/>
            <a:ext cx="5486400" cy="1814512"/>
          </a:xfrm>
        </p:spPr>
        <p:txBody>
          <a:bodyPr>
            <a:normAutofit/>
          </a:bodyPr>
          <a:lstStyle/>
          <a:p>
            <a:r>
              <a:rPr lang="en-US" sz="2000" b="1" dirty="0"/>
              <a:t>RTL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AD943-4019-4B78-BF45-E254E56F1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3103936"/>
            <a:ext cx="2148840" cy="1538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E91364-3FD0-4ABB-9AC3-EF843879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00" y="1244226"/>
            <a:ext cx="3852600" cy="135669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BE870C-01DF-4DFE-A64D-3A3BB8FBA0DC}"/>
              </a:ext>
            </a:extLst>
          </p:cNvPr>
          <p:cNvSpPr txBox="1">
            <a:spLocks/>
          </p:cNvSpPr>
          <p:nvPr/>
        </p:nvSpPr>
        <p:spPr>
          <a:xfrm>
            <a:off x="609600" y="839390"/>
            <a:ext cx="4800600" cy="3907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Algorithm</a:t>
            </a:r>
          </a:p>
          <a:p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976EFF-DAC5-4A59-8D87-92556CEDF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799" y="819150"/>
            <a:ext cx="32766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06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flowchart for unsigned binary multiplication">
            <a:extLst>
              <a:ext uri="{FF2B5EF4-FFF2-40B4-BE49-F238E27FC236}">
                <a16:creationId xmlns:a16="http://schemas.microsoft.com/office/drawing/2014/main" id="{F59BF671-3FF2-41F4-89DC-EB7092B4A33D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203715" y="95865"/>
            <a:ext cx="3541222" cy="4222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14009D-F406-438E-9D31-EAFF5981FA78}"/>
              </a:ext>
            </a:extLst>
          </p:cNvPr>
          <p:cNvSpPr txBox="1"/>
          <p:nvPr/>
        </p:nvSpPr>
        <p:spPr>
          <a:xfrm>
            <a:off x="3265323" y="685800"/>
            <a:ext cx="1153313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C,U,V,Z </a:t>
            </a:r>
            <a:r>
              <a:rPr lang="en-US" sz="1050" b="1" dirty="0">
                <a:sym typeface="Wingdings" panose="05000000000000000000" pitchFamily="2" charset="2"/>
              </a:rPr>
              <a:t> 0</a:t>
            </a:r>
          </a:p>
          <a:p>
            <a:r>
              <a:rPr lang="en-US" sz="1050" b="1" dirty="0"/>
              <a:t>X </a:t>
            </a:r>
            <a:r>
              <a:rPr lang="en-US" sz="1050" b="1" dirty="0">
                <a:sym typeface="Wingdings" panose="05000000000000000000" pitchFamily="2" charset="2"/>
              </a:rPr>
              <a:t> Multiplicand</a:t>
            </a:r>
          </a:p>
          <a:p>
            <a:r>
              <a:rPr lang="en-US" sz="1050" b="1" dirty="0">
                <a:sym typeface="Wingdings" panose="05000000000000000000" pitchFamily="2" charset="2"/>
              </a:rPr>
              <a:t>Y  Multiplier</a:t>
            </a:r>
          </a:p>
          <a:p>
            <a:r>
              <a:rPr lang="en-US" sz="1050" b="1" dirty="0">
                <a:sym typeface="Wingdings" panose="05000000000000000000" pitchFamily="2" charset="2"/>
              </a:rPr>
              <a:t>Count  n</a:t>
            </a:r>
            <a:endParaRPr lang="en-US" sz="1050" b="1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EEE2BAE9-988F-4C6C-92B5-797E078E85BF}"/>
              </a:ext>
            </a:extLst>
          </p:cNvPr>
          <p:cNvSpPr/>
          <p:nvPr/>
        </p:nvSpPr>
        <p:spPr>
          <a:xfrm>
            <a:off x="3381885" y="1801913"/>
            <a:ext cx="920188" cy="405234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Y</a:t>
            </a:r>
            <a:r>
              <a:rPr lang="en-US" sz="900" b="1" baseline="-25000" dirty="0">
                <a:solidFill>
                  <a:schemeClr val="tx1"/>
                </a:solidFill>
              </a:rPr>
              <a:t>0</a:t>
            </a:r>
            <a:r>
              <a:rPr lang="en-US" sz="900" b="1" dirty="0">
                <a:solidFill>
                  <a:schemeClr val="tx1"/>
                </a:solidFill>
              </a:rPr>
              <a:t>=1?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57027-17A2-4FB1-A453-9F8AE2403EEF}"/>
              </a:ext>
            </a:extLst>
          </p:cNvPr>
          <p:cNvSpPr txBox="1"/>
          <p:nvPr/>
        </p:nvSpPr>
        <p:spPr>
          <a:xfrm>
            <a:off x="4236334" y="2558971"/>
            <a:ext cx="854449" cy="2308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2: C,U</a:t>
            </a:r>
            <a:r>
              <a:rPr lang="en-US" sz="900" b="1" dirty="0">
                <a:sym typeface="Wingdings" panose="05000000000000000000" pitchFamily="2" charset="2"/>
              </a:rPr>
              <a:t> U +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A2EC5-A552-46BC-9BA7-CA6FDA6B1490}"/>
              </a:ext>
            </a:extLst>
          </p:cNvPr>
          <p:cNvSpPr txBox="1"/>
          <p:nvPr/>
        </p:nvSpPr>
        <p:spPr>
          <a:xfrm>
            <a:off x="3257494" y="3063646"/>
            <a:ext cx="1109908" cy="5078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2: Count</a:t>
            </a:r>
            <a:r>
              <a:rPr lang="en-US" sz="900" b="1" dirty="0">
                <a:sym typeface="Wingdings" panose="05000000000000000000" pitchFamily="2" charset="2"/>
              </a:rPr>
              <a:t> count-1</a:t>
            </a:r>
            <a:endParaRPr lang="en-US" sz="900" b="1" dirty="0"/>
          </a:p>
          <a:p>
            <a:r>
              <a:rPr lang="en-US" sz="900" b="1" dirty="0"/>
              <a:t>3: Shift right CUV</a:t>
            </a:r>
          </a:p>
          <a:p>
            <a:r>
              <a:rPr lang="en-US" sz="900" b="1" dirty="0"/>
              <a:t>3: Cir(Y)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C28E3A-4F1C-4643-9416-A2F2C3CCE344}"/>
              </a:ext>
            </a:extLst>
          </p:cNvPr>
          <p:cNvSpPr txBox="1"/>
          <p:nvPr/>
        </p:nvSpPr>
        <p:spPr>
          <a:xfrm>
            <a:off x="2916821" y="766591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78064-F68C-4C86-AA35-44070657425E}"/>
              </a:ext>
            </a:extLst>
          </p:cNvPr>
          <p:cNvSpPr txBox="1"/>
          <p:nvPr/>
        </p:nvSpPr>
        <p:spPr>
          <a:xfrm>
            <a:off x="3252523" y="4111788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3: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AA4E20-B1B1-43CA-8752-64F5D7681EB9}"/>
              </a:ext>
            </a:extLst>
          </p:cNvPr>
          <p:cNvSpPr txBox="1"/>
          <p:nvPr/>
        </p:nvSpPr>
        <p:spPr>
          <a:xfrm>
            <a:off x="4582160" y="3993047"/>
            <a:ext cx="1178996" cy="2308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Z</a:t>
            </a:r>
            <a:r>
              <a:rPr lang="en-US" sz="900" b="1" dirty="0">
                <a:sym typeface="Wingdings" panose="05000000000000000000" pitchFamily="2" charset="2"/>
              </a:rPr>
              <a:t> 1</a:t>
            </a:r>
            <a:endParaRPr lang="en-US" sz="9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54E6CC-0CB6-428E-8997-893374BD9121}"/>
              </a:ext>
            </a:extLst>
          </p:cNvPr>
          <p:cNvSpPr/>
          <p:nvPr/>
        </p:nvSpPr>
        <p:spPr>
          <a:xfrm>
            <a:off x="4886517" y="4417103"/>
            <a:ext cx="511250" cy="3022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8BE1FB-DD3D-4FB5-A77D-F5A3C5ED47B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142142" y="4265868"/>
            <a:ext cx="0" cy="151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56A9C2-42C3-4F68-BBA3-A8517BEADAAE}"/>
              </a:ext>
            </a:extLst>
          </p:cNvPr>
          <p:cNvSpPr txBox="1"/>
          <p:nvPr/>
        </p:nvSpPr>
        <p:spPr>
          <a:xfrm>
            <a:off x="4765894" y="4832191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Product in U,V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31D36E6-CEA8-4671-BF8C-1BDA1B7BDE33}"/>
              </a:ext>
            </a:extLst>
          </p:cNvPr>
          <p:cNvSpPr/>
          <p:nvPr/>
        </p:nvSpPr>
        <p:spPr>
          <a:xfrm>
            <a:off x="3365849" y="3839072"/>
            <a:ext cx="920188" cy="518066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Count= 0?</a:t>
            </a:r>
          </a:p>
        </p:txBody>
      </p:sp>
    </p:spTree>
    <p:extLst>
      <p:ext uri="{BB962C8B-B14F-4D97-AF65-F5344CB8AC3E}">
        <p14:creationId xmlns:p14="http://schemas.microsoft.com/office/powerpoint/2010/main" val="2883508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FED0-3074-47DB-B9B2-CE91FC46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7876D-51FB-48C8-B48E-F1A21E3C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A26A5-9E76-4A3A-81E7-3BB39270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C039-3F1D-4D32-B085-7C4E7EBA5869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7DB9A-721E-4257-9A39-DEC3FF40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F6A84-BB7B-4038-AA30-F525F9932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4425A-9858-4860-9D26-DC77BA83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40268"/>
            <a:ext cx="3276600" cy="41313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BBDCB0-DADE-4AF1-BBC0-92C3983D8EA5}"/>
              </a:ext>
            </a:extLst>
          </p:cNvPr>
          <p:cNvSpPr txBox="1"/>
          <p:nvPr/>
        </p:nvSpPr>
        <p:spPr>
          <a:xfrm>
            <a:off x="5486400" y="4134787"/>
            <a:ext cx="9261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Product in U,V</a:t>
            </a:r>
          </a:p>
        </p:txBody>
      </p:sp>
    </p:spTree>
    <p:extLst>
      <p:ext uri="{BB962C8B-B14F-4D97-AF65-F5344CB8AC3E}">
        <p14:creationId xmlns:p14="http://schemas.microsoft.com/office/powerpoint/2010/main" val="2774639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Multiplication of 13 x11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r>
              <a:rPr lang="en-US" sz="2000" dirty="0"/>
              <a:t>Initially  X=1101 and Y=1011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0EDA0B-1D10-4B88-9E37-9C35E3923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674" y="1088233"/>
            <a:ext cx="4724126" cy="350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14366F-3514-42B0-92EF-D2F9BAAF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86" y="2038350"/>
            <a:ext cx="2810514" cy="989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28514-1215-414A-BAFD-D88AE019D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499" y="4670823"/>
            <a:ext cx="2266950" cy="219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09B8BF-86F2-48AB-BF31-2CA6857F54E6}"/>
              </a:ext>
            </a:extLst>
          </p:cNvPr>
          <p:cNvSpPr/>
          <p:nvPr/>
        </p:nvSpPr>
        <p:spPr>
          <a:xfrm>
            <a:off x="3962674" y="1657350"/>
            <a:ext cx="4647926" cy="61317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119B83-D5A3-42C8-AC6D-D9FE98BB3569}"/>
              </a:ext>
            </a:extLst>
          </p:cNvPr>
          <p:cNvSpPr/>
          <p:nvPr/>
        </p:nvSpPr>
        <p:spPr>
          <a:xfrm>
            <a:off x="3942620" y="2952750"/>
            <a:ext cx="4667979" cy="685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B1DE55-95B3-4E77-B430-D62BFB9BB0B7}"/>
              </a:ext>
            </a:extLst>
          </p:cNvPr>
          <p:cNvCxnSpPr/>
          <p:nvPr/>
        </p:nvCxnSpPr>
        <p:spPr>
          <a:xfrm>
            <a:off x="4495800" y="590550"/>
            <a:ext cx="25146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8635D5-8F4F-434A-85E4-B320A45DF930}"/>
              </a:ext>
            </a:extLst>
          </p:cNvPr>
          <p:cNvCxnSpPr>
            <a:cxnSpLocks/>
          </p:cNvCxnSpPr>
          <p:nvPr/>
        </p:nvCxnSpPr>
        <p:spPr>
          <a:xfrm flipV="1">
            <a:off x="2855867" y="1737121"/>
            <a:ext cx="2897233" cy="73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3EADE1-5B2B-4E65-BB22-FD4438189F3C}"/>
              </a:ext>
            </a:extLst>
          </p:cNvPr>
          <p:cNvCxnSpPr>
            <a:cxnSpLocks/>
          </p:cNvCxnSpPr>
          <p:nvPr/>
        </p:nvCxnSpPr>
        <p:spPr>
          <a:xfrm flipV="1">
            <a:off x="1739084" y="1623135"/>
            <a:ext cx="5576116" cy="84027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66B15C-00AB-4A00-84FC-8F9CB9469C37}"/>
              </a:ext>
            </a:extLst>
          </p:cNvPr>
          <p:cNvCxnSpPr/>
          <p:nvPr/>
        </p:nvCxnSpPr>
        <p:spPr>
          <a:xfrm flipV="1">
            <a:off x="2971800" y="2102800"/>
            <a:ext cx="3022602" cy="642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92BA8B-EC34-4727-944D-375E541D0F8C}"/>
              </a:ext>
            </a:extLst>
          </p:cNvPr>
          <p:cNvCxnSpPr>
            <a:cxnSpLocks/>
          </p:cNvCxnSpPr>
          <p:nvPr/>
        </p:nvCxnSpPr>
        <p:spPr>
          <a:xfrm flipV="1">
            <a:off x="2963779" y="2228632"/>
            <a:ext cx="4022037" cy="66706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238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RTL code to realize Add-shift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4876800" cy="3699273"/>
          </a:xfrm>
        </p:spPr>
        <p:txBody>
          <a:bodyPr>
            <a:normAutofit/>
          </a:bodyPr>
          <a:lstStyle/>
          <a:p>
            <a:r>
              <a:rPr lang="en-US" sz="2000" dirty="0"/>
              <a:t>The RTL code to realize this algorithm, with these changes, is as follows.</a:t>
            </a:r>
          </a:p>
          <a:p>
            <a:r>
              <a:rPr lang="en-US" sz="2000" dirty="0"/>
              <a:t>Note that Z=1 when </a:t>
            </a:r>
            <a:r>
              <a:rPr lang="en-US" sz="2000" dirty="0" err="1"/>
              <a:t>i</a:t>
            </a:r>
            <a:r>
              <a:rPr lang="en-US" sz="2000" dirty="0"/>
              <a:t>=0 and 1,2 and are consecutive states, that is, the algorithm goes from 1 to 2 to 3.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BA7AF0-CD61-459D-B3CB-57C83E365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599238"/>
            <a:ext cx="2910840" cy="2084619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4451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RTL code for Unsigned Multiplication for 13 x11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2895600" cy="3775474"/>
          </a:xfrm>
        </p:spPr>
        <p:txBody>
          <a:bodyPr>
            <a:normAutofit/>
          </a:bodyPr>
          <a:lstStyle/>
          <a:p>
            <a:r>
              <a:rPr lang="en-US" sz="1600" dirty="0"/>
              <a:t>Again X=1101 and Y=1011</a:t>
            </a:r>
          </a:p>
          <a:p>
            <a:r>
              <a:rPr lang="en-US" sz="1600" dirty="0"/>
              <a:t>It is same as the trace of above table,</a:t>
            </a:r>
          </a:p>
          <a:p>
            <a:r>
              <a:rPr lang="en-US" sz="1600" dirty="0"/>
              <a:t>Except it shows the condition met and micro-operations performed during every cycle.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D7A787-CE8F-4214-BA11-B1365907F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566" y="792774"/>
            <a:ext cx="5486400" cy="36200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C2E1FD-6892-4B0E-B003-D3D3163F8D98}"/>
              </a:ext>
            </a:extLst>
          </p:cNvPr>
          <p:cNvSpPr/>
          <p:nvPr/>
        </p:nvSpPr>
        <p:spPr>
          <a:xfrm>
            <a:off x="6477000" y="3926447"/>
            <a:ext cx="990600" cy="397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57939B-8071-404D-B007-E3B55B17E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4561881"/>
            <a:ext cx="3686175" cy="2762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7B0AB89-4016-4BA4-8A00-1763192DBFFA}"/>
              </a:ext>
            </a:extLst>
          </p:cNvPr>
          <p:cNvSpPr/>
          <p:nvPr/>
        </p:nvSpPr>
        <p:spPr>
          <a:xfrm>
            <a:off x="3581400" y="1581150"/>
            <a:ext cx="5334000" cy="68937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424C6B-E0F1-44A7-B0A2-1FB38A4BFF31}"/>
              </a:ext>
            </a:extLst>
          </p:cNvPr>
          <p:cNvSpPr/>
          <p:nvPr/>
        </p:nvSpPr>
        <p:spPr>
          <a:xfrm>
            <a:off x="3581400" y="3048280"/>
            <a:ext cx="5334000" cy="55011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F8F2EF-189B-4F27-B16F-75E1AEFAD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4" y="3068474"/>
            <a:ext cx="2015991" cy="144376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4E1467-CCF2-4269-AE4F-6FE0716FE21B}"/>
              </a:ext>
            </a:extLst>
          </p:cNvPr>
          <p:cNvCxnSpPr>
            <a:cxnSpLocks/>
          </p:cNvCxnSpPr>
          <p:nvPr/>
        </p:nvCxnSpPr>
        <p:spPr>
          <a:xfrm flipV="1">
            <a:off x="1600200" y="1491032"/>
            <a:ext cx="1993232" cy="176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0520E3-E7D9-413A-A3AB-22DC3501A818}"/>
              </a:ext>
            </a:extLst>
          </p:cNvPr>
          <p:cNvCxnSpPr>
            <a:cxnSpLocks/>
          </p:cNvCxnSpPr>
          <p:nvPr/>
        </p:nvCxnSpPr>
        <p:spPr>
          <a:xfrm flipV="1">
            <a:off x="1657350" y="1776142"/>
            <a:ext cx="1993232" cy="176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5509C2-46A4-4F5F-B833-33A292D4E46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105025" y="2190751"/>
            <a:ext cx="1545557" cy="1599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249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08247E-219B-4364-BBF3-DC8ED7127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4" y="758750"/>
            <a:ext cx="3309036" cy="4136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RTL code for Unsigned Multiplication for 13 x11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2895600" cy="3775474"/>
          </a:xfrm>
        </p:spPr>
        <p:txBody>
          <a:bodyPr>
            <a:normAutofit/>
          </a:bodyPr>
          <a:lstStyle/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D7A787-CE8F-4214-BA11-B1365907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60296"/>
            <a:ext cx="5486400" cy="36200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C2E1FD-6892-4B0E-B003-D3D3163F8D98}"/>
              </a:ext>
            </a:extLst>
          </p:cNvPr>
          <p:cNvSpPr/>
          <p:nvPr/>
        </p:nvSpPr>
        <p:spPr>
          <a:xfrm>
            <a:off x="6543040" y="3960977"/>
            <a:ext cx="990600" cy="397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57939B-8071-404D-B007-E3B55B17E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4561881"/>
            <a:ext cx="3686175" cy="2762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7B0AB89-4016-4BA4-8A00-1763192DBFFA}"/>
              </a:ext>
            </a:extLst>
          </p:cNvPr>
          <p:cNvSpPr/>
          <p:nvPr/>
        </p:nvSpPr>
        <p:spPr>
          <a:xfrm>
            <a:off x="3581400" y="1581150"/>
            <a:ext cx="5334000" cy="7143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424C6B-E0F1-44A7-B0A2-1FB38A4BFF31}"/>
              </a:ext>
            </a:extLst>
          </p:cNvPr>
          <p:cNvSpPr/>
          <p:nvPr/>
        </p:nvSpPr>
        <p:spPr>
          <a:xfrm>
            <a:off x="3581400" y="3048279"/>
            <a:ext cx="5334000" cy="5912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4DB3F6-DE4C-4A16-84A5-F65612B50B0C}"/>
              </a:ext>
            </a:extLst>
          </p:cNvPr>
          <p:cNvSpPr txBox="1"/>
          <p:nvPr/>
        </p:nvSpPr>
        <p:spPr>
          <a:xfrm>
            <a:off x="2075563" y="4679601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F8F2EF-189B-4F27-B16F-75E1AEFAD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68" y="706064"/>
            <a:ext cx="1437280" cy="10293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FE8102D-D33F-4247-8455-CA04AADB03D4}"/>
              </a:ext>
            </a:extLst>
          </p:cNvPr>
          <p:cNvSpPr/>
          <p:nvPr/>
        </p:nvSpPr>
        <p:spPr>
          <a:xfrm>
            <a:off x="7848600" y="1090113"/>
            <a:ext cx="152400" cy="308371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F1B549-5BEE-4381-9E9A-03CF77968937}"/>
              </a:ext>
            </a:extLst>
          </p:cNvPr>
          <p:cNvSpPr/>
          <p:nvPr/>
        </p:nvSpPr>
        <p:spPr>
          <a:xfrm>
            <a:off x="7848600" y="1903946"/>
            <a:ext cx="152400" cy="308371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9B19B1-56E8-4D16-8D33-E3FEA4F40FE2}"/>
              </a:ext>
            </a:extLst>
          </p:cNvPr>
          <p:cNvSpPr/>
          <p:nvPr/>
        </p:nvSpPr>
        <p:spPr>
          <a:xfrm>
            <a:off x="7848600" y="2582369"/>
            <a:ext cx="152400" cy="308371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F853CB-084A-4245-B3F5-2960436B4CC1}"/>
              </a:ext>
            </a:extLst>
          </p:cNvPr>
          <p:cNvSpPr/>
          <p:nvPr/>
        </p:nvSpPr>
        <p:spPr>
          <a:xfrm>
            <a:off x="7848600" y="3197388"/>
            <a:ext cx="152400" cy="308371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62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05979"/>
            <a:ext cx="2362201" cy="15275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00B050"/>
                </a:solidFill>
              </a:rPr>
              <a:t>Hardware Implementation of </a:t>
            </a:r>
            <a:br>
              <a:rPr lang="en-US" sz="2000" b="1" dirty="0">
                <a:solidFill>
                  <a:srgbClr val="00B050"/>
                </a:solidFill>
              </a:rPr>
            </a:br>
            <a:r>
              <a:rPr lang="en-US" sz="2000" b="1" dirty="0">
                <a:solidFill>
                  <a:srgbClr val="00B050"/>
                </a:solidFill>
              </a:rPr>
              <a:t>Shift-Add Multiplication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554510-D22E-462D-AD11-EC7C535387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38"/>
          <a:stretch/>
        </p:blipFill>
        <p:spPr>
          <a:xfrm>
            <a:off x="2590800" y="263129"/>
            <a:ext cx="5614938" cy="4752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F78129-3E15-48E3-8B6D-4CB55161B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7" y="2283934"/>
            <a:ext cx="1887453" cy="13517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6B246C-B4A2-400F-81CA-95E477E1A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042" y="3761566"/>
            <a:ext cx="2810514" cy="9897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BA06EA-96D4-4DEB-9EA7-C95C2EFB2F6A}"/>
              </a:ext>
            </a:extLst>
          </p:cNvPr>
          <p:cNvSpPr txBox="1"/>
          <p:nvPr/>
        </p:nvSpPr>
        <p:spPr>
          <a:xfrm>
            <a:off x="6019800" y="914400"/>
            <a:ext cx="1808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713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Classwork: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Perform: 10</a:t>
            </a:r>
            <a:r>
              <a:rPr lang="en-US" baseline="-25000" dirty="0"/>
              <a:t>10</a:t>
            </a:r>
            <a:r>
              <a:rPr lang="en-US" dirty="0"/>
              <a:t> x 12</a:t>
            </a:r>
            <a:r>
              <a:rPr lang="en-US" baseline="-25000" dirty="0"/>
              <a:t>10 </a:t>
            </a:r>
            <a:r>
              <a:rPr lang="en-US" dirty="0"/>
              <a:t>= ?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3BE6-035E-46B3-8D59-20FF68F15402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229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b) Signed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It is also called Booth’s algorithm or Two’s complement multiplication. </a:t>
            </a:r>
          </a:p>
          <a:p>
            <a:r>
              <a:rPr lang="en-US" sz="2400" dirty="0"/>
              <a:t>Here, negative numbers are represented by 2’s complement representation.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70D2-45F9-4330-9BDB-C8E23F81E7AE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03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742950"/>
            <a:ext cx="1996906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Suppose: 	</a:t>
            </a:r>
          </a:p>
          <a:p>
            <a:r>
              <a:rPr lang="en-US" sz="1400" dirty="0"/>
              <a:t>M= multiplicand</a:t>
            </a:r>
          </a:p>
          <a:p>
            <a:r>
              <a:rPr lang="en-US" sz="1400" dirty="0"/>
              <a:t>Q=multiplier</a:t>
            </a:r>
          </a:p>
          <a:p>
            <a:r>
              <a:rPr lang="en-US" sz="1400" dirty="0"/>
              <a:t>A,Q= result stored register</a:t>
            </a:r>
          </a:p>
          <a:p>
            <a:r>
              <a:rPr lang="en-US" sz="1400" dirty="0"/>
              <a:t>Q </a:t>
            </a:r>
            <a:r>
              <a:rPr lang="en-US" sz="1400" baseline="-25000" dirty="0"/>
              <a:t>-1</a:t>
            </a:r>
            <a:r>
              <a:rPr lang="en-US" sz="1400" dirty="0"/>
              <a:t> = 1 bit register which is adjusted after Q</a:t>
            </a:r>
            <a:r>
              <a:rPr lang="en-US" sz="1400" baseline="-25000" dirty="0"/>
              <a:t>0</a:t>
            </a:r>
            <a:r>
              <a:rPr lang="en-US" sz="1400" dirty="0"/>
              <a:t>.</a:t>
            </a:r>
          </a:p>
          <a:p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D39A-E6BD-47DB-934C-F71F093A5BDD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9FCCE-C7C2-410A-B504-56E703CB7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brightnessContrast brigh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3500" y="645913"/>
            <a:ext cx="3267045" cy="38516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 descr="Image result for flowchart for unsigned binary multiplication">
            <a:extLst>
              <a:ext uri="{FF2B5EF4-FFF2-40B4-BE49-F238E27FC236}">
                <a16:creationId xmlns:a16="http://schemas.microsoft.com/office/drawing/2014/main" id="{71BD71C0-7B70-49AA-904A-B5DAE70042F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2340" y="438150"/>
            <a:ext cx="2723809" cy="408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75C7A3B-8F0E-4046-81C1-12D0D5C9FC3B}"/>
              </a:ext>
            </a:extLst>
          </p:cNvPr>
          <p:cNvSpPr/>
          <p:nvPr/>
        </p:nvSpPr>
        <p:spPr>
          <a:xfrm>
            <a:off x="0" y="4487084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</p:spTree>
    <p:extLst>
      <p:ext uri="{BB962C8B-B14F-4D97-AF65-F5344CB8AC3E}">
        <p14:creationId xmlns:p14="http://schemas.microsoft.com/office/powerpoint/2010/main" val="3680598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146" y="1585055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E87C79-7892-49A8-BDD7-C07F7D42B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6000"/>
                    </a14:imgEffect>
                    <a14:imgEffect>
                      <a14:brightnessContrast bright="-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24956" y="790890"/>
            <a:ext cx="6337566" cy="364371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D6346-5750-4557-8AAD-C722A61689F0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 descr="Image result for flowchart for unsigned binary multiplication">
            <a:extLst>
              <a:ext uri="{FF2B5EF4-FFF2-40B4-BE49-F238E27FC236}">
                <a16:creationId xmlns:a16="http://schemas.microsoft.com/office/drawing/2014/main" id="{EA2DC2FC-B21D-4306-A557-4601ED4DA50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168" y="40105"/>
            <a:ext cx="2657786" cy="435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399A9F-5A73-462E-B239-CAA59150AE17}"/>
              </a:ext>
            </a:extLst>
          </p:cNvPr>
          <p:cNvSpPr/>
          <p:nvPr/>
        </p:nvSpPr>
        <p:spPr>
          <a:xfrm>
            <a:off x="186373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8F46E4-2ACE-40A4-900B-3B468B88924D}"/>
              </a:ext>
            </a:extLst>
          </p:cNvPr>
          <p:cNvSpPr/>
          <p:nvPr/>
        </p:nvSpPr>
        <p:spPr>
          <a:xfrm>
            <a:off x="2661885" y="2685249"/>
            <a:ext cx="6463708" cy="267389"/>
          </a:xfrm>
          <a:prstGeom prst="rect">
            <a:avLst/>
          </a:prstGeom>
          <a:solidFill>
            <a:schemeClr val="accent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53BF8F-5CD1-4220-8698-0EA5732C0CF1}"/>
              </a:ext>
            </a:extLst>
          </p:cNvPr>
          <p:cNvSpPr/>
          <p:nvPr/>
        </p:nvSpPr>
        <p:spPr>
          <a:xfrm>
            <a:off x="2590800" y="3135211"/>
            <a:ext cx="6463708" cy="267389"/>
          </a:xfrm>
          <a:prstGeom prst="rect">
            <a:avLst/>
          </a:prstGeom>
          <a:solidFill>
            <a:schemeClr val="accent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E44025-7801-4FE8-8FA3-79A91BA76B4C}"/>
              </a:ext>
            </a:extLst>
          </p:cNvPr>
          <p:cNvSpPr/>
          <p:nvPr/>
        </p:nvSpPr>
        <p:spPr>
          <a:xfrm>
            <a:off x="2782668" y="1670485"/>
            <a:ext cx="3048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B0895C-6C8C-43AA-A497-AC8F2B9406E5}"/>
              </a:ext>
            </a:extLst>
          </p:cNvPr>
          <p:cNvSpPr/>
          <p:nvPr/>
        </p:nvSpPr>
        <p:spPr>
          <a:xfrm>
            <a:off x="2782668" y="1922423"/>
            <a:ext cx="304800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529815-E855-4136-8BBA-9D06ABE5B7D6}"/>
              </a:ext>
            </a:extLst>
          </p:cNvPr>
          <p:cNvSpPr/>
          <p:nvPr/>
        </p:nvSpPr>
        <p:spPr>
          <a:xfrm>
            <a:off x="2598814" y="1850746"/>
            <a:ext cx="6463708" cy="460771"/>
          </a:xfrm>
          <a:prstGeom prst="rect">
            <a:avLst/>
          </a:prstGeom>
          <a:solidFill>
            <a:schemeClr val="accent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01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b) Booth’s Algorithm for Signed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1731" y="2448736"/>
            <a:ext cx="3429000" cy="2137171"/>
          </a:xfrm>
        </p:spPr>
        <p:txBody>
          <a:bodyPr>
            <a:normAutofit/>
          </a:bodyPr>
          <a:lstStyle/>
          <a:p>
            <a:r>
              <a:rPr lang="en-US" sz="2000" b="1" dirty="0"/>
              <a:t>RTL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BE870C-01DF-4DFE-A64D-3A3BB8FBA0DC}"/>
              </a:ext>
            </a:extLst>
          </p:cNvPr>
          <p:cNvSpPr txBox="1">
            <a:spLocks/>
          </p:cNvSpPr>
          <p:nvPr/>
        </p:nvSpPr>
        <p:spPr>
          <a:xfrm>
            <a:off x="609600" y="839390"/>
            <a:ext cx="4800600" cy="3907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Algorithm</a:t>
            </a:r>
          </a:p>
          <a:p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B62D6-2F01-43FC-B1AD-23CE37513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371" y="2910285"/>
            <a:ext cx="2149539" cy="13045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9C718-739F-4C2D-9D45-E9790FC6E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7" y="1168919"/>
            <a:ext cx="4710085" cy="11430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C955C5-B09E-4466-B2D5-FF82B241C1A4}"/>
              </a:ext>
            </a:extLst>
          </p:cNvPr>
          <p:cNvSpPr txBox="1"/>
          <p:nvPr/>
        </p:nvSpPr>
        <p:spPr>
          <a:xfrm>
            <a:off x="706592" y="2831581"/>
            <a:ext cx="2145139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U= 0; Y-1=0;</a:t>
            </a:r>
          </a:p>
          <a:p>
            <a:r>
              <a:rPr lang="en-US" sz="1200" b="1" dirty="0"/>
              <a:t>FOR </a:t>
            </a:r>
            <a:r>
              <a:rPr lang="en-US" sz="1200" b="1" dirty="0" err="1"/>
              <a:t>i</a:t>
            </a:r>
            <a:r>
              <a:rPr lang="en-US" sz="1200" b="1" dirty="0"/>
              <a:t>=1 to n DO</a:t>
            </a:r>
          </a:p>
          <a:p>
            <a:r>
              <a:rPr lang="en-US" sz="1200" b="1" dirty="0"/>
              <a:t>{</a:t>
            </a:r>
          </a:p>
          <a:p>
            <a:r>
              <a:rPr lang="en-US" sz="1200" b="1" dirty="0"/>
              <a:t>IF Y</a:t>
            </a:r>
            <a:r>
              <a:rPr lang="en-US" sz="1200" b="1" baseline="-25000" dirty="0"/>
              <a:t>0</a:t>
            </a:r>
            <a:r>
              <a:rPr lang="en-US" sz="1200" b="1" dirty="0"/>
              <a:t>Y</a:t>
            </a:r>
            <a:r>
              <a:rPr lang="en-US" sz="1200" b="1" baseline="-25000" dirty="0"/>
              <a:t>-1</a:t>
            </a:r>
            <a:r>
              <a:rPr lang="en-US" sz="1200" b="1" dirty="0"/>
              <a:t>= 01, THEN U=U+X</a:t>
            </a:r>
          </a:p>
          <a:p>
            <a:r>
              <a:rPr lang="en-US" sz="1200" b="1" dirty="0"/>
              <a:t>ELSE IF Y</a:t>
            </a:r>
            <a:r>
              <a:rPr lang="en-US" sz="1200" b="1" baseline="-25000" dirty="0"/>
              <a:t>0</a:t>
            </a:r>
            <a:r>
              <a:rPr lang="en-US" sz="1200" b="1" dirty="0"/>
              <a:t>Y</a:t>
            </a:r>
            <a:r>
              <a:rPr lang="en-US" sz="1200" b="1" baseline="-25000" dirty="0"/>
              <a:t>-1 </a:t>
            </a:r>
            <a:r>
              <a:rPr lang="en-US" sz="1200" b="1" dirty="0"/>
              <a:t>= 10, THEN U=U+X</a:t>
            </a:r>
          </a:p>
          <a:p>
            <a:r>
              <a:rPr lang="en-US" sz="1200" b="1" dirty="0"/>
              <a:t>Arithmetic Shift Right CUV;</a:t>
            </a:r>
          </a:p>
          <a:p>
            <a:r>
              <a:rPr lang="en-US" sz="1200" b="1" dirty="0"/>
              <a:t>Circular Right Shift Y;</a:t>
            </a:r>
          </a:p>
          <a:p>
            <a:r>
              <a:rPr lang="en-US" sz="1200" b="1" dirty="0"/>
              <a:t>Y</a:t>
            </a:r>
            <a:r>
              <a:rPr lang="en-US" sz="1200" b="1" baseline="-25000" dirty="0"/>
              <a:t>-1</a:t>
            </a:r>
            <a:r>
              <a:rPr lang="en-US" sz="1200" b="1" dirty="0"/>
              <a:t>-=Y0;</a:t>
            </a:r>
          </a:p>
          <a:p>
            <a:r>
              <a:rPr lang="en-US" sz="1200" b="1" dirty="0"/>
              <a:t>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26AFDB2-62F8-43A5-B366-A4E179532D2C}"/>
              </a:ext>
            </a:extLst>
          </p:cNvPr>
          <p:cNvSpPr/>
          <p:nvPr/>
        </p:nvSpPr>
        <p:spPr>
          <a:xfrm rot="5400000">
            <a:off x="1752600" y="2503171"/>
            <a:ext cx="291499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74E50-6AC9-4943-A3A7-153BEC9F8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353" y="1036346"/>
            <a:ext cx="3457157" cy="345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54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Multiplication of -3 x-5 using Booth’s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r>
              <a:rPr lang="en-US" sz="2000" dirty="0"/>
              <a:t>Initially  X=1101 and Y=1011</a:t>
            </a:r>
          </a:p>
          <a:p>
            <a:r>
              <a:rPr lang="en-US" sz="2000" dirty="0"/>
              <a:t>U=0000</a:t>
            </a:r>
          </a:p>
          <a:p>
            <a:r>
              <a:rPr lang="en-US" sz="2000" dirty="0"/>
              <a:t>V=0000</a:t>
            </a:r>
          </a:p>
          <a:p>
            <a:r>
              <a:rPr lang="en-US" sz="2000" dirty="0"/>
              <a:t>Y</a:t>
            </a:r>
            <a:r>
              <a:rPr lang="en-US" sz="2000" baseline="-25000" dirty="0"/>
              <a:t>-1</a:t>
            </a:r>
            <a:r>
              <a:rPr lang="en-US" sz="2000" dirty="0"/>
              <a:t>=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A98D21-77DE-43CD-A392-07C7961F1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584" y="2603500"/>
            <a:ext cx="3989047" cy="11612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E2EA65-666F-4909-8076-9E6BD3843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4104" y="949933"/>
            <a:ext cx="4498192" cy="3590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3E3ED1-14DE-4C2A-BB16-1BC344B77D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0200" y="4680346"/>
            <a:ext cx="1943100" cy="257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A2FAFE4-781C-44A7-8590-5D20144DBEA6}"/>
              </a:ext>
            </a:extLst>
          </p:cNvPr>
          <p:cNvSpPr/>
          <p:nvPr/>
        </p:nvSpPr>
        <p:spPr>
          <a:xfrm>
            <a:off x="5715000" y="4248150"/>
            <a:ext cx="933450" cy="373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B89CA4-A1AD-4024-B267-4D0028F9A125}"/>
              </a:ext>
            </a:extLst>
          </p:cNvPr>
          <p:cNvSpPr/>
          <p:nvPr/>
        </p:nvSpPr>
        <p:spPr>
          <a:xfrm>
            <a:off x="4181017" y="1173181"/>
            <a:ext cx="4737399" cy="7127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BEF63C-F6FB-4B08-9B6F-48B5C0D01CB8}"/>
              </a:ext>
            </a:extLst>
          </p:cNvPr>
          <p:cNvSpPr/>
          <p:nvPr/>
        </p:nvSpPr>
        <p:spPr>
          <a:xfrm>
            <a:off x="4304103" y="2860414"/>
            <a:ext cx="4569575" cy="7127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7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RTL code to realize Booth’s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/>
          </a:bodyPr>
          <a:lstStyle/>
          <a:p>
            <a:r>
              <a:rPr lang="en-US" sz="2000" dirty="0"/>
              <a:t>The RTL code to realize this algorithm, with these changes, is as follows.</a:t>
            </a:r>
          </a:p>
          <a:p>
            <a:r>
              <a:rPr lang="en-US" sz="2000" dirty="0"/>
              <a:t>U,V, X and Y are n-bit values and Y-1 is a 1-bit value</a:t>
            </a:r>
          </a:p>
          <a:p>
            <a:r>
              <a:rPr lang="en-US" sz="2000" dirty="0" err="1"/>
              <a:t>i</a:t>
            </a:r>
            <a:r>
              <a:rPr lang="en-US" sz="2000" dirty="0"/>
              <a:t> counts down from n to 0.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8D3381-E9A1-4DB4-BD5B-4E0EDADF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2114550"/>
            <a:ext cx="343965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7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flowchart for unsigned binary multiplication">
            <a:extLst>
              <a:ext uri="{FF2B5EF4-FFF2-40B4-BE49-F238E27FC236}">
                <a16:creationId xmlns:a16="http://schemas.microsoft.com/office/drawing/2014/main" id="{807DAF59-4C89-4720-B4EF-234D4E5D21C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4020" y="464130"/>
            <a:ext cx="3215934" cy="3997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81E036-631C-44D2-B888-27511B9FD404}"/>
              </a:ext>
            </a:extLst>
          </p:cNvPr>
          <p:cNvSpPr txBox="1"/>
          <p:nvPr/>
        </p:nvSpPr>
        <p:spPr>
          <a:xfrm>
            <a:off x="2319093" y="1006997"/>
            <a:ext cx="1153313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U,V,Y</a:t>
            </a:r>
            <a:r>
              <a:rPr lang="en-US" sz="1050" b="1" baseline="-25000" dirty="0"/>
              <a:t>-1</a:t>
            </a:r>
            <a:r>
              <a:rPr lang="en-US" sz="1050" b="1" dirty="0"/>
              <a:t>, Z </a:t>
            </a:r>
            <a:r>
              <a:rPr lang="en-US" sz="1050" b="1" dirty="0">
                <a:sym typeface="Wingdings" panose="05000000000000000000" pitchFamily="2" charset="2"/>
              </a:rPr>
              <a:t> 0</a:t>
            </a:r>
          </a:p>
          <a:p>
            <a:r>
              <a:rPr lang="en-US" sz="1050" b="1" dirty="0"/>
              <a:t>X </a:t>
            </a:r>
            <a:r>
              <a:rPr lang="en-US" sz="1050" b="1" dirty="0">
                <a:sym typeface="Wingdings" panose="05000000000000000000" pitchFamily="2" charset="2"/>
              </a:rPr>
              <a:t> Multiplicand</a:t>
            </a:r>
          </a:p>
          <a:p>
            <a:r>
              <a:rPr lang="en-US" sz="1050" b="1" dirty="0">
                <a:sym typeface="Wingdings" panose="05000000000000000000" pitchFamily="2" charset="2"/>
              </a:rPr>
              <a:t>Y  Multiplier</a:t>
            </a:r>
          </a:p>
          <a:p>
            <a:r>
              <a:rPr lang="en-US" sz="1050" b="1" dirty="0">
                <a:sym typeface="Wingdings" panose="05000000000000000000" pitchFamily="2" charset="2"/>
              </a:rPr>
              <a:t>Count  n</a:t>
            </a:r>
            <a:endParaRPr lang="en-US" sz="1050" b="1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88EED06-31C5-4BCC-B2CF-602B14564867}"/>
              </a:ext>
            </a:extLst>
          </p:cNvPr>
          <p:cNvSpPr/>
          <p:nvPr/>
        </p:nvSpPr>
        <p:spPr>
          <a:xfrm>
            <a:off x="2435655" y="2062829"/>
            <a:ext cx="920188" cy="405234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Y</a:t>
            </a:r>
            <a:r>
              <a:rPr lang="en-US" sz="1050" b="1" baseline="-25000" dirty="0">
                <a:solidFill>
                  <a:schemeClr val="tx1"/>
                </a:solidFill>
              </a:rPr>
              <a:t>0 </a:t>
            </a:r>
            <a:r>
              <a:rPr lang="en-US" sz="1050" b="1" dirty="0">
                <a:solidFill>
                  <a:schemeClr val="tx1"/>
                </a:solidFill>
              </a:rPr>
              <a:t>Y</a:t>
            </a:r>
            <a:r>
              <a:rPr lang="en-US" sz="1050" b="1" baseline="-25000" dirty="0">
                <a:solidFill>
                  <a:schemeClr val="tx1"/>
                </a:solidFill>
              </a:rPr>
              <a:t>-1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245F3-9B9B-4B1E-8C99-C2CBD099054B}"/>
              </a:ext>
            </a:extLst>
          </p:cNvPr>
          <p:cNvSpPr txBox="1"/>
          <p:nvPr/>
        </p:nvSpPr>
        <p:spPr>
          <a:xfrm>
            <a:off x="3355843" y="2780684"/>
            <a:ext cx="854449" cy="2308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U</a:t>
            </a:r>
            <a:r>
              <a:rPr lang="en-US" sz="900" b="1" dirty="0">
                <a:sym typeface="Wingdings" panose="05000000000000000000" pitchFamily="2" charset="2"/>
              </a:rPr>
              <a:t> U +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DC375-89F6-4222-AE3B-A8368654CF7F}"/>
              </a:ext>
            </a:extLst>
          </p:cNvPr>
          <p:cNvSpPr txBox="1"/>
          <p:nvPr/>
        </p:nvSpPr>
        <p:spPr>
          <a:xfrm>
            <a:off x="1581207" y="2780684"/>
            <a:ext cx="854449" cy="2308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U</a:t>
            </a:r>
            <a:r>
              <a:rPr lang="en-US" sz="900" b="1" dirty="0">
                <a:sym typeface="Wingdings" panose="05000000000000000000" pitchFamily="2" charset="2"/>
              </a:rPr>
              <a:t> U -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9C672-60CE-4192-8B3D-EC3634739E18}"/>
              </a:ext>
            </a:extLst>
          </p:cNvPr>
          <p:cNvSpPr txBox="1"/>
          <p:nvPr/>
        </p:nvSpPr>
        <p:spPr>
          <a:xfrm>
            <a:off x="2340795" y="3214546"/>
            <a:ext cx="110990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2: Count</a:t>
            </a:r>
            <a:r>
              <a:rPr lang="en-US" sz="900" b="1" dirty="0">
                <a:sym typeface="Wingdings" panose="05000000000000000000" pitchFamily="2" charset="2"/>
              </a:rPr>
              <a:t> count-1</a:t>
            </a:r>
            <a:endParaRPr lang="en-US" sz="900" b="1" dirty="0"/>
          </a:p>
          <a:p>
            <a:r>
              <a:rPr lang="en-US" sz="900" b="1" dirty="0"/>
              <a:t>3: Ar. Shift right UV</a:t>
            </a:r>
          </a:p>
          <a:p>
            <a:r>
              <a:rPr lang="en-US" sz="900" b="1" dirty="0"/>
              <a:t>3: Cir(Y)</a:t>
            </a:r>
          </a:p>
          <a:p>
            <a:r>
              <a:rPr lang="en-US" sz="900" b="1" dirty="0"/>
              <a:t>3:  Y</a:t>
            </a:r>
            <a:r>
              <a:rPr lang="en-US" sz="900" b="1" baseline="-25000" dirty="0"/>
              <a:t>-1 </a:t>
            </a:r>
            <a:r>
              <a:rPr lang="en-US" sz="900" b="1" dirty="0">
                <a:sym typeface="Wingdings" panose="05000000000000000000" pitchFamily="2" charset="2"/>
              </a:rPr>
              <a:t></a:t>
            </a:r>
            <a:r>
              <a:rPr lang="en-US" sz="900" b="1" dirty="0"/>
              <a:t>Y</a:t>
            </a:r>
            <a:r>
              <a:rPr lang="en-US" sz="900" b="1" baseline="-25000" dirty="0"/>
              <a:t>0 </a:t>
            </a:r>
            <a:endParaRPr lang="en-US" sz="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34405C-D316-4E52-A86C-FBC659902C41}"/>
              </a:ext>
            </a:extLst>
          </p:cNvPr>
          <p:cNvSpPr txBox="1"/>
          <p:nvPr/>
        </p:nvSpPr>
        <p:spPr>
          <a:xfrm>
            <a:off x="3669264" y="4149735"/>
            <a:ext cx="1109908" cy="2308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Z </a:t>
            </a:r>
            <a:r>
              <a:rPr lang="en-US" sz="900" b="1" dirty="0">
                <a:sym typeface="Wingdings" panose="05000000000000000000" pitchFamily="2" charset="2"/>
              </a:rPr>
              <a:t> 1</a:t>
            </a:r>
            <a:endParaRPr lang="en-US" sz="9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BC566E-65EE-444C-B2E5-ABA0E56612EE}"/>
              </a:ext>
            </a:extLst>
          </p:cNvPr>
          <p:cNvSpPr/>
          <p:nvPr/>
        </p:nvSpPr>
        <p:spPr>
          <a:xfrm>
            <a:off x="4004999" y="4537546"/>
            <a:ext cx="643201" cy="28364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33D204-6977-4ED3-9FDD-9D18121BC445}"/>
              </a:ext>
            </a:extLst>
          </p:cNvPr>
          <p:cNvCxnSpPr/>
          <p:nvPr/>
        </p:nvCxnSpPr>
        <p:spPr>
          <a:xfrm>
            <a:off x="4203558" y="4395722"/>
            <a:ext cx="6734" cy="155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BDB0EE-5E67-4AA0-85F0-AFA64167E2B8}"/>
              </a:ext>
            </a:extLst>
          </p:cNvPr>
          <p:cNvSpPr txBox="1"/>
          <p:nvPr/>
        </p:nvSpPr>
        <p:spPr>
          <a:xfrm>
            <a:off x="4749204" y="4575904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Product in U,V</a:t>
            </a:r>
          </a:p>
        </p:txBody>
      </p:sp>
    </p:spTree>
    <p:extLst>
      <p:ext uri="{BB962C8B-B14F-4D97-AF65-F5344CB8AC3E}">
        <p14:creationId xmlns:p14="http://schemas.microsoft.com/office/powerpoint/2010/main" val="1063792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13171"/>
          </a:xfrm>
        </p:spPr>
        <p:txBody>
          <a:bodyPr>
            <a:noAutofit/>
          </a:bodyPr>
          <a:lstStyle/>
          <a:p>
            <a:pPr algn="just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RTL code for Booth’s Algorithm for -3 x 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9262" y="4437576"/>
            <a:ext cx="2562225" cy="613171"/>
          </a:xfrm>
          <a:solidFill>
            <a:srgbClr val="FFFF00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600" b="1" dirty="0"/>
              <a:t>Note:</a:t>
            </a:r>
          </a:p>
          <a:p>
            <a:pPr marL="0" indent="0">
              <a:buNone/>
            </a:pPr>
            <a:r>
              <a:rPr lang="en-US" sz="1600" dirty="0"/>
              <a:t>If you get 1 at MSB of U, then your result is negative. So, you need to re-complement it to verify your answer.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F55283-EEC5-4B3A-9FCE-8439E42E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2394"/>
            <a:ext cx="1731606" cy="963818"/>
          </a:xfrm>
          <a:prstGeom prst="rect">
            <a:avLst/>
          </a:prstGeom>
          <a:solidFill>
            <a:srgbClr val="FFFF00"/>
          </a:solidFill>
          <a:ln>
            <a:solidFill>
              <a:srgbClr val="00B05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F1E522-BEFE-4AD1-B7B8-3625BE694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21901"/>
            <a:ext cx="4703406" cy="33020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CCB7C6-3A21-4391-9DCB-EBF4B60596FA}"/>
              </a:ext>
            </a:extLst>
          </p:cNvPr>
          <p:cNvSpPr/>
          <p:nvPr/>
        </p:nvSpPr>
        <p:spPr>
          <a:xfrm>
            <a:off x="6629400" y="3806315"/>
            <a:ext cx="838200" cy="4667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AA5F1D-C06D-43D6-B3E0-F88132378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4459008"/>
            <a:ext cx="3143250" cy="2095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F333FC-108D-4007-BD71-8CAF64E45A40}"/>
              </a:ext>
            </a:extLst>
          </p:cNvPr>
          <p:cNvCxnSpPr>
            <a:cxnSpLocks/>
          </p:cNvCxnSpPr>
          <p:nvPr/>
        </p:nvCxnSpPr>
        <p:spPr>
          <a:xfrm flipV="1">
            <a:off x="4531663" y="4009328"/>
            <a:ext cx="2173937" cy="46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83DDB41-849D-42B3-8964-9A0B46D14BFA}"/>
              </a:ext>
            </a:extLst>
          </p:cNvPr>
          <p:cNvSpPr/>
          <p:nvPr/>
        </p:nvSpPr>
        <p:spPr>
          <a:xfrm>
            <a:off x="3962400" y="1738656"/>
            <a:ext cx="5084406" cy="68069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5246D8-576E-44CA-968A-C26A650913F9}"/>
              </a:ext>
            </a:extLst>
          </p:cNvPr>
          <p:cNvSpPr/>
          <p:nvPr/>
        </p:nvSpPr>
        <p:spPr>
          <a:xfrm>
            <a:off x="3938337" y="2903970"/>
            <a:ext cx="5084406" cy="65737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928FC3-7358-40A4-97FE-45B34C61A27C}"/>
              </a:ext>
            </a:extLst>
          </p:cNvPr>
          <p:cNvSpPr txBox="1"/>
          <p:nvPr/>
        </p:nvSpPr>
        <p:spPr>
          <a:xfrm>
            <a:off x="2281716" y="4367139"/>
            <a:ext cx="184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054C38-535A-44FD-8E56-CD0138ABB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16" y="1047162"/>
            <a:ext cx="3457157" cy="34510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7B5D0A7-6FE9-41B8-8839-08A670BFF569}"/>
              </a:ext>
            </a:extLst>
          </p:cNvPr>
          <p:cNvSpPr/>
          <p:nvPr/>
        </p:nvSpPr>
        <p:spPr>
          <a:xfrm>
            <a:off x="7751064" y="1312226"/>
            <a:ext cx="457200" cy="271860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18BA99-C541-4042-8AE2-3DF754E6D3B9}"/>
              </a:ext>
            </a:extLst>
          </p:cNvPr>
          <p:cNvSpPr/>
          <p:nvPr/>
        </p:nvSpPr>
        <p:spPr>
          <a:xfrm>
            <a:off x="7772400" y="2077827"/>
            <a:ext cx="457200" cy="17430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CFE043-980A-44A5-B44E-0CD06EE05FDE}"/>
              </a:ext>
            </a:extLst>
          </p:cNvPr>
          <p:cNvSpPr/>
          <p:nvPr/>
        </p:nvSpPr>
        <p:spPr>
          <a:xfrm>
            <a:off x="7760208" y="2566006"/>
            <a:ext cx="457200" cy="17430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5240A-96FF-4B4A-B629-46C7A9FC1FBB}"/>
              </a:ext>
            </a:extLst>
          </p:cNvPr>
          <p:cNvSpPr/>
          <p:nvPr/>
        </p:nvSpPr>
        <p:spPr>
          <a:xfrm>
            <a:off x="7751064" y="3224933"/>
            <a:ext cx="457200" cy="17430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049929-F3CB-49D9-A4C7-D8C5F364357C}"/>
              </a:ext>
            </a:extLst>
          </p:cNvPr>
          <p:cNvCxnSpPr>
            <a:cxnSpLocks/>
          </p:cNvCxnSpPr>
          <p:nvPr/>
        </p:nvCxnSpPr>
        <p:spPr>
          <a:xfrm>
            <a:off x="7844028" y="1414057"/>
            <a:ext cx="233172" cy="654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AAE3CB-0CB3-4CEF-A891-CCBEE31C1748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844028" y="2238604"/>
            <a:ext cx="144780" cy="3274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88A232-AAFF-4A6B-91E2-A110274B4D67}"/>
              </a:ext>
            </a:extLst>
          </p:cNvPr>
          <p:cNvCxnSpPr>
            <a:cxnSpLocks/>
          </p:cNvCxnSpPr>
          <p:nvPr/>
        </p:nvCxnSpPr>
        <p:spPr>
          <a:xfrm>
            <a:off x="7850124" y="2701017"/>
            <a:ext cx="227076" cy="470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86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3329-27E4-4B94-B390-C3A002EA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417B0-7E02-4E34-8ED1-3946FA96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C039-3F1D-4D32-B085-7C4E7EBA5869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05DC5-F9D5-4C9D-8146-07A46615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Arithmetic Unit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5BBE0-B790-4874-8FF8-C00C1365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C63EF-226A-4386-8EF4-84D2CDEFF8C4}"/>
              </a:ext>
            </a:extLst>
          </p:cNvPr>
          <p:cNvSpPr/>
          <p:nvPr/>
        </p:nvSpPr>
        <p:spPr>
          <a:xfrm>
            <a:off x="304800" y="323851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Reminder Note: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1A7E0AC-950E-4513-BAFB-AAE80922D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72629"/>
            <a:ext cx="82296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If you are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 given -13 and -4 to be multiplied.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First find 2's complement of each negative numbers.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Eg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: -13= 2's complement of 1101 = 0010+1= 0011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Then take one more extra bit for sign.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ie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. -13 = 10011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Similarly, -4 =2's complement of 00100 = 11011+1= 11100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How</a:t>
            </a:r>
            <a:r>
              <a:rPr lang="en-US" altLang="en-US" sz="2000" dirty="0">
                <a:latin typeface="-apple-system"/>
              </a:rPr>
              <a:t>ever, for multiplication of -7 and -5, only 3 bits are enough to represent each of them. So, we can be take only 4 bits  for each.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-apple-system"/>
              </a:rPr>
              <a:t>Alert!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If you do not take 1 extra bit, your calculation will be considered totally wrong.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421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05979"/>
            <a:ext cx="2362201" cy="15275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00B050"/>
                </a:solidFill>
              </a:rPr>
              <a:t>Hardware Implementation of </a:t>
            </a:r>
            <a:br>
              <a:rPr lang="en-US" sz="2000" b="1" dirty="0">
                <a:solidFill>
                  <a:srgbClr val="00B050"/>
                </a:solidFill>
              </a:rPr>
            </a:br>
            <a:r>
              <a:rPr lang="en-US" sz="2000" b="1" dirty="0">
                <a:solidFill>
                  <a:srgbClr val="00B050"/>
                </a:solidFill>
              </a:rPr>
              <a:t>Booth’s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7B47-A74B-40DA-A83A-EEC7B5E1E3E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DEE36-4F73-4BC6-A57A-F27527D3C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906" y="180425"/>
            <a:ext cx="4370416" cy="4568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4D281-28BE-4F8E-B8DF-06D848099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306" y="3660723"/>
            <a:ext cx="2312800" cy="1287313"/>
          </a:xfrm>
          <a:prstGeom prst="rect">
            <a:avLst/>
          </a:prstGeom>
          <a:solidFill>
            <a:srgbClr val="FFFF00"/>
          </a:solidFill>
          <a:ln>
            <a:solidFill>
              <a:srgbClr val="00B05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11F690-2C5E-47BA-8807-1E9FEAD7D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257550"/>
            <a:ext cx="3886200" cy="9430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AEA55A-D232-452F-A22C-501F0ABAE329}"/>
              </a:ext>
            </a:extLst>
          </p:cNvPr>
          <p:cNvSpPr txBox="1"/>
          <p:nvPr/>
        </p:nvSpPr>
        <p:spPr>
          <a:xfrm>
            <a:off x="7848600" y="895350"/>
            <a:ext cx="30480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1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BF429-37D2-4EB7-8A7C-53BD270DD2AE}"/>
              </a:ext>
            </a:extLst>
          </p:cNvPr>
          <p:cNvSpPr txBox="1"/>
          <p:nvPr/>
        </p:nvSpPr>
        <p:spPr>
          <a:xfrm>
            <a:off x="7343274" y="838959"/>
            <a:ext cx="2286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6642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Classwork: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Multiply 4 x -8 using Booth’s Algorithm.</a:t>
            </a:r>
          </a:p>
          <a:p>
            <a:pPr marL="514350" indent="-514350">
              <a:buAutoNum type="arabicPeriod"/>
            </a:pPr>
            <a:r>
              <a:rPr lang="en-US" dirty="0"/>
              <a:t>Perform: 7</a:t>
            </a:r>
            <a:r>
              <a:rPr lang="en-US" baseline="-25000" dirty="0"/>
              <a:t>10</a:t>
            </a:r>
            <a:r>
              <a:rPr lang="en-US" dirty="0"/>
              <a:t> x -3</a:t>
            </a:r>
            <a:r>
              <a:rPr lang="en-US" baseline="-25000" dirty="0"/>
              <a:t>10</a:t>
            </a:r>
            <a:r>
              <a:rPr lang="en-US" dirty="0"/>
              <a:t> =?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Perform: 9</a:t>
            </a:r>
            <a:r>
              <a:rPr lang="en-US" baseline="-25000" dirty="0"/>
              <a:t>10</a:t>
            </a:r>
            <a:r>
              <a:rPr lang="en-US" dirty="0"/>
              <a:t> x -3</a:t>
            </a:r>
            <a:r>
              <a:rPr lang="en-US" baseline="-25000" dirty="0"/>
              <a:t>10</a:t>
            </a:r>
            <a:r>
              <a:rPr lang="en-US" dirty="0"/>
              <a:t> =?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 algn="r">
              <a:buNone/>
            </a:pPr>
            <a:r>
              <a:rPr lang="en-US" sz="1400" dirty="0"/>
              <a:t>[Hint: Take 5 bits for both X and Y]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D623F-C044-4BA0-945E-F16165B71A42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456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a) Unsigned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709E6-3D18-4E24-BD5C-E3433577ECDC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 descr="Image result for flowchart for unsigned binary multiplication">
            <a:extLst>
              <a:ext uri="{FF2B5EF4-FFF2-40B4-BE49-F238E27FC236}">
                <a16:creationId xmlns:a16="http://schemas.microsoft.com/office/drawing/2014/main" id="{088B87F6-1F4D-4C71-AF19-C4B5186DD202}"/>
              </a:ext>
            </a:extLst>
          </p:cNvPr>
          <p:cNvPicPr/>
          <p:nvPr/>
        </p:nvPicPr>
        <p:blipFill>
          <a:blip r:embed="rId2"/>
          <a:srcRect l="6919" r="5189"/>
          <a:stretch>
            <a:fillRect/>
          </a:stretch>
        </p:blipFill>
        <p:spPr bwMode="auto">
          <a:xfrm>
            <a:off x="5124449" y="102393"/>
            <a:ext cx="3257551" cy="4835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0DFA8C-D36C-46A0-8F63-51C47866D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6862" y="703328"/>
            <a:ext cx="2850738" cy="37210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E32F3A-2F80-4CE2-BE2A-E7F63AD06DBC}"/>
              </a:ext>
            </a:extLst>
          </p:cNvPr>
          <p:cNvSpPr/>
          <p:nvPr/>
        </p:nvSpPr>
        <p:spPr>
          <a:xfrm>
            <a:off x="186373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</p:spTree>
    <p:extLst>
      <p:ext uri="{BB962C8B-B14F-4D97-AF65-F5344CB8AC3E}">
        <p14:creationId xmlns:p14="http://schemas.microsoft.com/office/powerpoint/2010/main" val="1936732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7EAA-C8AA-45F5-9928-75EFF56759EF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 descr="Image result for flowchart for unsigned binary multiplication">
            <a:extLst>
              <a:ext uri="{FF2B5EF4-FFF2-40B4-BE49-F238E27FC236}">
                <a16:creationId xmlns:a16="http://schemas.microsoft.com/office/drawing/2014/main" id="{EA142D7C-01EF-4ECB-A56F-3197E08B2B01}"/>
              </a:ext>
            </a:extLst>
          </p:cNvPr>
          <p:cNvPicPr/>
          <p:nvPr/>
        </p:nvPicPr>
        <p:blipFill>
          <a:blip r:embed="rId2"/>
          <a:srcRect l="6919" r="5189"/>
          <a:stretch>
            <a:fillRect/>
          </a:stretch>
        </p:blipFill>
        <p:spPr bwMode="auto">
          <a:xfrm>
            <a:off x="372817" y="615372"/>
            <a:ext cx="2192952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751D58-03BE-4AFD-8B1B-6A5445641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1973" y="302652"/>
            <a:ext cx="5909648" cy="43782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1CDE0C-B8D8-49D5-9C4F-D82264724547}"/>
              </a:ext>
            </a:extLst>
          </p:cNvPr>
          <p:cNvSpPr/>
          <p:nvPr/>
        </p:nvSpPr>
        <p:spPr>
          <a:xfrm>
            <a:off x="186373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</p:spTree>
    <p:extLst>
      <p:ext uri="{BB962C8B-B14F-4D97-AF65-F5344CB8AC3E}">
        <p14:creationId xmlns:p14="http://schemas.microsoft.com/office/powerpoint/2010/main" val="646775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6.4 Division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800" dirty="0"/>
              <a:t>Division in Unsigned notation</a:t>
            </a:r>
          </a:p>
          <a:p>
            <a:pPr lvl="1"/>
            <a:r>
              <a:rPr lang="en-US" sz="2000" dirty="0"/>
              <a:t>Shift-Subtract Division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BE0E2-B002-47A4-B035-C5252F153F75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49F667-73ED-4348-ABEB-3339C2B22DDD}"/>
              </a:ext>
            </a:extLst>
          </p:cNvPr>
          <p:cNvSpPr txBox="1">
            <a:spLocks/>
          </p:cNvSpPr>
          <p:nvPr/>
        </p:nvSpPr>
        <p:spPr>
          <a:xfrm>
            <a:off x="457200" y="1962150"/>
            <a:ext cx="4191000" cy="26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Algorithm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285D37-7709-4F31-BD35-CB3F5AFF7272}"/>
              </a:ext>
            </a:extLst>
          </p:cNvPr>
          <p:cNvSpPr txBox="1">
            <a:spLocks/>
          </p:cNvSpPr>
          <p:nvPr/>
        </p:nvSpPr>
        <p:spPr>
          <a:xfrm>
            <a:off x="4536908" y="1786502"/>
            <a:ext cx="4229100" cy="255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RTL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F23162-A80E-4F2E-AB8D-D81355F40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2564732"/>
            <a:ext cx="3819525" cy="116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4FC56D-4CEA-48D5-B68F-ABD37F977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245" y="2489164"/>
            <a:ext cx="3714750" cy="1476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C5EC927-27A7-452C-AEA0-67DFDC1BB7FF}"/>
              </a:ext>
            </a:extLst>
          </p:cNvPr>
          <p:cNvSpPr txBox="1">
            <a:spLocks/>
          </p:cNvSpPr>
          <p:nvPr/>
        </p:nvSpPr>
        <p:spPr>
          <a:xfrm>
            <a:off x="609600" y="3902248"/>
            <a:ext cx="4800600" cy="84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Assignment: </a:t>
            </a:r>
          </a:p>
          <a:p>
            <a:pPr marL="0" indent="0">
              <a:buNone/>
            </a:pPr>
            <a:r>
              <a:rPr lang="en-US" sz="2000" b="1" dirty="0"/>
              <a:t>Construct the flowchart yourself.</a:t>
            </a:r>
          </a:p>
        </p:txBody>
      </p:sp>
    </p:spTree>
    <p:extLst>
      <p:ext uri="{BB962C8B-B14F-4D97-AF65-F5344CB8AC3E}">
        <p14:creationId xmlns:p14="http://schemas.microsoft.com/office/powerpoint/2010/main" val="3444308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Shift-Subtract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191000" cy="3851673"/>
          </a:xfrm>
        </p:spPr>
        <p:txBody>
          <a:bodyPr>
            <a:normAutofit/>
          </a:bodyPr>
          <a:lstStyle/>
          <a:p>
            <a:r>
              <a:rPr lang="en-US" sz="2000" b="1" dirty="0"/>
              <a:t>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E95E-4A6C-48BD-BB57-97D1B2B19850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FC7481-8C3F-4282-A59E-3E8023E9D355}"/>
              </a:ext>
            </a:extLst>
          </p:cNvPr>
          <p:cNvSpPr txBox="1">
            <a:spLocks/>
          </p:cNvSpPr>
          <p:nvPr/>
        </p:nvSpPr>
        <p:spPr>
          <a:xfrm>
            <a:off x="4457700" y="666750"/>
            <a:ext cx="41910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RTL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659F31-02B0-4127-845C-87C593768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1372007"/>
            <a:ext cx="3819525" cy="1164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0CCF8-4AF0-4D10-B651-A1E7FA49C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36" y="1127521"/>
            <a:ext cx="37147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66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Division of 147/13 using Shift-Subtract Division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1242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Initially U=1001,  V=0011</a:t>
            </a:r>
          </a:p>
          <a:p>
            <a:r>
              <a:rPr lang="en-US" sz="2000" dirty="0"/>
              <a:t>X=1101 and </a:t>
            </a:r>
          </a:p>
          <a:p>
            <a:r>
              <a:rPr lang="en-US" sz="2000" dirty="0"/>
              <a:t>N=4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820F8-B704-4232-B74D-3C1E65F5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200" y="762160"/>
            <a:ext cx="4999600" cy="36191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77F7FC-8E0E-44E7-9514-CC98BDEE1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228502"/>
            <a:ext cx="3374156" cy="10290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EACB40-B484-41D8-9485-34E7869B92F6}"/>
              </a:ext>
            </a:extLst>
          </p:cNvPr>
          <p:cNvSpPr/>
          <p:nvPr/>
        </p:nvSpPr>
        <p:spPr>
          <a:xfrm>
            <a:off x="3660725" y="1504950"/>
            <a:ext cx="4999600" cy="675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F2801-5FF6-4D3F-820B-BF9D70D2D27B}"/>
              </a:ext>
            </a:extLst>
          </p:cNvPr>
          <p:cNvSpPr/>
          <p:nvPr/>
        </p:nvSpPr>
        <p:spPr>
          <a:xfrm>
            <a:off x="3607874" y="2947146"/>
            <a:ext cx="4999599" cy="675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1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RTL code to realize Shift-subtract Division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In the following RTL code for this algorithm,  X, U, V and Y are n-bit values and C and OVERLOW are 1-bit values.</a:t>
            </a:r>
          </a:p>
          <a:p>
            <a:r>
              <a:rPr lang="en-US" sz="2000" dirty="0"/>
              <a:t>As before Z=1 when </a:t>
            </a:r>
            <a:r>
              <a:rPr lang="en-US" sz="2000" dirty="0" err="1"/>
              <a:t>i</a:t>
            </a:r>
            <a:r>
              <a:rPr lang="en-US" sz="2000" dirty="0"/>
              <a:t>= 0.</a:t>
            </a:r>
          </a:p>
          <a:p>
            <a:r>
              <a:rPr lang="en-US" sz="2000" dirty="0"/>
              <a:t>For this algorithm, G=1 if U&gt;=X.</a:t>
            </a:r>
          </a:p>
          <a:p>
            <a:r>
              <a:rPr lang="en-US" sz="2000" dirty="0"/>
              <a:t>FINISH is the same as on shift- add multiplication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EB227-C23C-455F-AAFD-954FF6E4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00350"/>
            <a:ext cx="3714750" cy="147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3F1EE-4317-4C4D-9D01-E68EFC857A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8093" b="7693"/>
          <a:stretch/>
        </p:blipFill>
        <p:spPr>
          <a:xfrm>
            <a:off x="7467600" y="4556523"/>
            <a:ext cx="57777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82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RTL code to realize Shift-subtract Division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E0E6A9-FE67-46DC-980D-7B3F010E1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1" y="1617169"/>
            <a:ext cx="2907509" cy="11555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C83CC-CE3F-4B6F-8BAC-3C4A82C1A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973" y="720622"/>
            <a:ext cx="4769827" cy="4014891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4DAB56B-685C-4313-AAC6-948D717BC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-1" r="8093" b="7693"/>
          <a:stretch/>
        </p:blipFill>
        <p:spPr>
          <a:xfrm>
            <a:off x="457200" y="4652962"/>
            <a:ext cx="577773" cy="2286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292EED-EF13-4C46-898C-5EAC4920BC7C}"/>
              </a:ext>
            </a:extLst>
          </p:cNvPr>
          <p:cNvSpPr/>
          <p:nvPr/>
        </p:nvSpPr>
        <p:spPr>
          <a:xfrm>
            <a:off x="7010400" y="4171950"/>
            <a:ext cx="457200" cy="250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4EDE6-FC2E-4CB7-8F60-6B76C1484DE5}"/>
              </a:ext>
            </a:extLst>
          </p:cNvPr>
          <p:cNvSpPr/>
          <p:nvPr/>
        </p:nvSpPr>
        <p:spPr>
          <a:xfrm>
            <a:off x="6172200" y="4123403"/>
            <a:ext cx="457200" cy="250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E97EC-3874-4AB5-B7F7-5CAB7EB3CE77}"/>
              </a:ext>
            </a:extLst>
          </p:cNvPr>
          <p:cNvSpPr/>
          <p:nvPr/>
        </p:nvSpPr>
        <p:spPr>
          <a:xfrm>
            <a:off x="5535948" y="4743063"/>
            <a:ext cx="8648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Remainder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CB1EE2-54B4-46E0-9931-B4EA6AF25163}"/>
              </a:ext>
            </a:extLst>
          </p:cNvPr>
          <p:cNvCxnSpPr/>
          <p:nvPr/>
        </p:nvCxnSpPr>
        <p:spPr>
          <a:xfrm flipV="1">
            <a:off x="5867400" y="4374331"/>
            <a:ext cx="304800" cy="361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A6F47F9-9293-49E0-BDF3-141E9CAB4437}"/>
              </a:ext>
            </a:extLst>
          </p:cNvPr>
          <p:cNvSpPr/>
          <p:nvPr/>
        </p:nvSpPr>
        <p:spPr>
          <a:xfrm>
            <a:off x="6705600" y="4735394"/>
            <a:ext cx="7443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Quotient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0200BE-0A55-4BE7-ADE4-42D78380DDCA}"/>
              </a:ext>
            </a:extLst>
          </p:cNvPr>
          <p:cNvCxnSpPr/>
          <p:nvPr/>
        </p:nvCxnSpPr>
        <p:spPr>
          <a:xfrm flipV="1">
            <a:off x="6874221" y="4428203"/>
            <a:ext cx="304800" cy="361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C71DE-7E0C-4D72-A67C-8B8E2327B6AB}"/>
              </a:ext>
            </a:extLst>
          </p:cNvPr>
          <p:cNvSpPr/>
          <p:nvPr/>
        </p:nvSpPr>
        <p:spPr>
          <a:xfrm>
            <a:off x="3855241" y="1818137"/>
            <a:ext cx="4693627" cy="75361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4AB925-EC31-44A2-8604-9C936351EF8E}"/>
              </a:ext>
            </a:extLst>
          </p:cNvPr>
          <p:cNvSpPr/>
          <p:nvPr/>
        </p:nvSpPr>
        <p:spPr>
          <a:xfrm>
            <a:off x="3916973" y="3069298"/>
            <a:ext cx="4693627" cy="75361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E8BC53-6516-4BBC-A6A0-0EBB4ED87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17" y="3166541"/>
            <a:ext cx="3374156" cy="10290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33319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1981200" cy="22133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00B050"/>
                </a:solidFill>
              </a:rPr>
              <a:t>Hardware Implementation of </a:t>
            </a:r>
            <a:br>
              <a:rPr lang="en-US" sz="2000" b="1" dirty="0">
                <a:solidFill>
                  <a:srgbClr val="00B050"/>
                </a:solidFill>
              </a:rPr>
            </a:br>
            <a:r>
              <a:rPr lang="en-US" sz="2000" b="1" dirty="0">
                <a:solidFill>
                  <a:srgbClr val="00B050"/>
                </a:solidFill>
              </a:rPr>
              <a:t>Shift-Subtract Division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198514-5FAA-4F08-8F0E-FB6BACAC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614" y="382789"/>
            <a:ext cx="4702175" cy="4073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8B28AB-1E08-48C7-B40C-B877E5031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12" y="2419350"/>
            <a:ext cx="3059909" cy="12161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92A42D-E8A4-458C-BE55-9B1D70BDC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75" y="3845161"/>
            <a:ext cx="3203525" cy="97700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5485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Classwork: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lphaLcParenR"/>
            </a:pPr>
            <a:r>
              <a:rPr lang="en-US" dirty="0"/>
              <a:t>Perform 14 ÷5		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0972-CCD4-47F2-A085-2DD6449905C9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0356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b) Signed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D997-6464-4B36-8C27-D9F162E0C3E9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17282-B4EA-455A-9779-3E78A7F9622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205979"/>
            <a:ext cx="2767965" cy="449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73B3E6-C848-45CD-9694-FF3D03109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35" y="811411"/>
            <a:ext cx="3085465" cy="1453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DBD577-8182-41EA-B748-50EDC906EC63}"/>
              </a:ext>
            </a:extLst>
          </p:cNvPr>
          <p:cNvPicPr/>
          <p:nvPr/>
        </p:nvPicPr>
        <p:blipFill rotWithShape="1">
          <a:blip r:embed="rId4"/>
          <a:srcRect b="23088"/>
          <a:stretch/>
        </p:blipFill>
        <p:spPr bwMode="auto">
          <a:xfrm>
            <a:off x="1180148" y="2228850"/>
            <a:ext cx="3803650" cy="219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3E75AC-208E-4655-9282-0290E2873C9D}"/>
              </a:ext>
            </a:extLst>
          </p:cNvPr>
          <p:cNvSpPr/>
          <p:nvPr/>
        </p:nvSpPr>
        <p:spPr>
          <a:xfrm>
            <a:off x="186373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</p:spTree>
    <p:extLst>
      <p:ext uri="{BB962C8B-B14F-4D97-AF65-F5344CB8AC3E}">
        <p14:creationId xmlns:p14="http://schemas.microsoft.com/office/powerpoint/2010/main" val="28549348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EDDBE-FF95-46A1-9447-578B9F77FAE0}" type="datetime1">
              <a:rPr lang="en-US" smtClean="0">
                <a:solidFill>
                  <a:srgbClr val="00B050"/>
                </a:solidFill>
              </a:rPr>
              <a:t>8/12/2023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Arithmetic Unit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BCF37-9017-4190-B45B-369236A492F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864" y="325386"/>
            <a:ext cx="2481520" cy="396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51F34-5A39-4CD8-B7BB-124E36FD6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874" y="302649"/>
            <a:ext cx="5965809" cy="44455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0F62FF-4324-4616-8511-5915AACBEAA4}"/>
              </a:ext>
            </a:extLst>
          </p:cNvPr>
          <p:cNvSpPr/>
          <p:nvPr/>
        </p:nvSpPr>
        <p:spPr>
          <a:xfrm>
            <a:off x="115606" y="4462463"/>
            <a:ext cx="28956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This is just for reference.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Do not follow this</a:t>
            </a:r>
          </a:p>
        </p:txBody>
      </p:sp>
    </p:spTree>
    <p:extLst>
      <p:ext uri="{BB962C8B-B14F-4D97-AF65-F5344CB8AC3E}">
        <p14:creationId xmlns:p14="http://schemas.microsoft.com/office/powerpoint/2010/main" val="10791144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6.7 Binary Coded Decimal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862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It is the most popular format to represent decimal data</a:t>
            </a:r>
          </a:p>
          <a:p>
            <a:r>
              <a:rPr lang="en-US" sz="2400" dirty="0"/>
              <a:t>In BCD, each 4 bits represent one decimal digit.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1026" name="Picture 2" descr="What is BCD? Binary Coded Decimal Learning Guide">
            <a:extLst>
              <a:ext uri="{FF2B5EF4-FFF2-40B4-BE49-F238E27FC236}">
                <a16:creationId xmlns:a16="http://schemas.microsoft.com/office/drawing/2014/main" id="{B2F69DAD-3079-4D56-91AE-320F49A6EB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6"/>
          <a:stretch/>
        </p:blipFill>
        <p:spPr bwMode="auto">
          <a:xfrm>
            <a:off x="5105400" y="355666"/>
            <a:ext cx="2895599" cy="427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2567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BCD Addition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Like other number system in BCD arithmetical operation may be required. </a:t>
            </a:r>
          </a:p>
          <a:p>
            <a:r>
              <a:rPr lang="en-US" sz="2000" dirty="0"/>
              <a:t>BCD is a numerical code which has several rules for addition. </a:t>
            </a:r>
          </a:p>
          <a:p>
            <a:r>
              <a:rPr lang="en-US" sz="2000" dirty="0"/>
              <a:t>The rules are given below in three steps with an example to make the idea of </a:t>
            </a:r>
            <a:r>
              <a:rPr lang="en-US" sz="2000" b="1" dirty="0"/>
              <a:t>BCD Addition</a:t>
            </a:r>
            <a:r>
              <a:rPr lang="en-US" sz="2000" dirty="0"/>
              <a:t> clear.</a:t>
            </a:r>
          </a:p>
          <a:p>
            <a:pPr marL="457200" lvl="1" indent="0">
              <a:buNone/>
            </a:pPr>
            <a:r>
              <a:rPr lang="en-US" sz="1600" dirty="0"/>
              <a:t>1.  At first the given number are to be added using the rule of binary. For example,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7E9A5-55D4-4CD4-8001-34E2264E08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459"/>
          <a:stretch/>
        </p:blipFill>
        <p:spPr>
          <a:xfrm>
            <a:off x="1871662" y="2555655"/>
            <a:ext cx="1438275" cy="1733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F33876-5B26-4738-8B8A-A61A844B1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646"/>
          <a:stretch/>
        </p:blipFill>
        <p:spPr>
          <a:xfrm>
            <a:off x="4191000" y="2558669"/>
            <a:ext cx="1438275" cy="165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057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BCD Addition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6477000" cy="3851673"/>
          </a:xfrm>
        </p:spPr>
        <p:txBody>
          <a:bodyPr>
            <a:noAutofit/>
          </a:bodyPr>
          <a:lstStyle/>
          <a:p>
            <a:r>
              <a:rPr lang="en-US" sz="1800" dirty="0"/>
              <a:t>In second step we have to judge the result of addition. Here two cases are shown to describe the rules of </a:t>
            </a:r>
            <a:r>
              <a:rPr lang="en-US" sz="1800" b="1" dirty="0"/>
              <a:t>BCD Addition</a:t>
            </a:r>
            <a:r>
              <a:rPr lang="en-US" sz="1800" dirty="0"/>
              <a:t>. In case 1 the result of addition of two binary number is</a:t>
            </a:r>
            <a:r>
              <a:rPr lang="en-US" sz="1800" b="1" dirty="0"/>
              <a:t> greater than 9</a:t>
            </a:r>
            <a:r>
              <a:rPr lang="en-US" sz="1800" dirty="0"/>
              <a:t>, which is not valid for BCD number. But the result of addition in case 2 is less than 9, which is valid for BCD numbers.</a:t>
            </a:r>
          </a:p>
          <a:p>
            <a:endParaRPr lang="en-US" sz="1800" dirty="0"/>
          </a:p>
          <a:p>
            <a:r>
              <a:rPr lang="en-US" sz="1800" dirty="0"/>
              <a:t>If the four bit result of addition is greater than 9 and if a carry bit is present in the result then it is invalid and we have to add 6 whose binary equivalent is (0110)</a:t>
            </a:r>
            <a:r>
              <a:rPr lang="en-US" sz="1800" baseline="-25000" dirty="0"/>
              <a:t>2</a:t>
            </a:r>
            <a:r>
              <a:rPr lang="en-US" sz="1800" dirty="0"/>
              <a:t> to the result of addition. Then the resultant that we would get will be a valid binary coded number. In case 1 the result was (1111)</a:t>
            </a:r>
            <a:r>
              <a:rPr lang="en-US" sz="1800" baseline="-25000" dirty="0"/>
              <a:t>2</a:t>
            </a:r>
            <a:r>
              <a:rPr lang="en-US" sz="1800" dirty="0"/>
              <a:t>, which is greater than 9 so we have to add 6 or (0110)</a:t>
            </a:r>
            <a:r>
              <a:rPr lang="en-US" sz="1800" baseline="-25000" dirty="0"/>
              <a:t>2</a:t>
            </a:r>
            <a:r>
              <a:rPr lang="en-US" sz="1800" dirty="0"/>
              <a:t> to it.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7E9A5-55D4-4CD4-8001-34E2264E08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459"/>
          <a:stretch/>
        </p:blipFill>
        <p:spPr>
          <a:xfrm>
            <a:off x="7248525" y="450109"/>
            <a:ext cx="1438275" cy="1733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F33876-5B26-4738-8B8A-A61A844B1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646"/>
          <a:stretch/>
        </p:blipFill>
        <p:spPr>
          <a:xfrm>
            <a:off x="7271674" y="2392223"/>
            <a:ext cx="1438275" cy="16580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0C3B64-E63B-4901-A4B2-4200B69E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4261843"/>
            <a:ext cx="39243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910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BCD Addition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As you can see the result is valid in BCD.</a:t>
            </a:r>
            <a:br>
              <a:rPr lang="en-US" sz="1600" dirty="0"/>
            </a:br>
            <a:r>
              <a:rPr lang="en-US" sz="2000" dirty="0"/>
              <a:t>But in case 2 the result was already valid BCD, so there is no need to add 6. This is how BCD Addition could be.</a:t>
            </a:r>
            <a:endParaRPr lang="en-US" sz="1600" dirty="0"/>
          </a:p>
          <a:p>
            <a:r>
              <a:rPr lang="en-US" sz="2000" dirty="0"/>
              <a:t>Now a question may arrive that why 6 is being added to the addition result in case BCD Addition instead of any other numbers. It is done to skip the six invalid states of binary coded decimal </a:t>
            </a:r>
            <a:r>
              <a:rPr lang="en-US" sz="2000" dirty="0" err="1"/>
              <a:t>i.e</a:t>
            </a:r>
            <a:r>
              <a:rPr lang="en-US" sz="2000" dirty="0"/>
              <a:t> from 10 to 15 and again return to the BCD codes.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671990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BCD Addition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B3AD83-1E72-4E88-9865-866260EE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698898"/>
            <a:ext cx="75438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890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BCD Addition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B9537-3754-4A74-B090-359E95FE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3040"/>
            <a:ext cx="6934200" cy="393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05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BCD Adder Hardware Implementation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82F3B8-198B-48D9-82A0-B5013CCDF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023" y="710381"/>
            <a:ext cx="4670961" cy="206431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0C0663-7AD5-4F1E-B0E7-84364401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43" y="805286"/>
            <a:ext cx="3934234" cy="3532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E4A070-D53D-47B5-B017-1CC1D9241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2" y="2818329"/>
            <a:ext cx="4538002" cy="817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140C9-24F3-45EE-960D-E10B98CD095C}"/>
              </a:ext>
            </a:extLst>
          </p:cNvPr>
          <p:cNvSpPr txBox="1"/>
          <p:nvPr/>
        </p:nvSpPr>
        <p:spPr>
          <a:xfrm>
            <a:off x="8060766" y="0"/>
            <a:ext cx="106680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Invalid BCD numbers</a:t>
            </a:r>
          </a:p>
          <a:p>
            <a:r>
              <a:rPr lang="en-US" sz="800" b="1" dirty="0">
                <a:solidFill>
                  <a:srgbClr val="C00000"/>
                </a:solidFill>
              </a:rPr>
              <a:t>1010</a:t>
            </a:r>
          </a:p>
          <a:p>
            <a:r>
              <a:rPr lang="en-US" sz="800" b="1" dirty="0">
                <a:solidFill>
                  <a:srgbClr val="C00000"/>
                </a:solidFill>
              </a:rPr>
              <a:t>1011</a:t>
            </a:r>
          </a:p>
          <a:p>
            <a:r>
              <a:rPr lang="en-US" sz="800" b="1" dirty="0">
                <a:solidFill>
                  <a:srgbClr val="C00000"/>
                </a:solidFill>
              </a:rPr>
              <a:t>1100</a:t>
            </a:r>
          </a:p>
          <a:p>
            <a:r>
              <a:rPr lang="en-US" sz="800" b="1" dirty="0">
                <a:solidFill>
                  <a:srgbClr val="C00000"/>
                </a:solidFill>
              </a:rPr>
              <a:t>1101</a:t>
            </a:r>
          </a:p>
          <a:p>
            <a:r>
              <a:rPr lang="en-US" sz="800" b="1" dirty="0">
                <a:solidFill>
                  <a:srgbClr val="C00000"/>
                </a:solidFill>
              </a:rPr>
              <a:t>1110</a:t>
            </a:r>
          </a:p>
          <a:p>
            <a:r>
              <a:rPr lang="en-US" sz="800" b="1" dirty="0">
                <a:solidFill>
                  <a:srgbClr val="C00000"/>
                </a:solidFill>
              </a:rPr>
              <a:t>1111</a:t>
            </a:r>
          </a:p>
        </p:txBody>
      </p:sp>
    </p:spTree>
    <p:extLst>
      <p:ext uri="{BB962C8B-B14F-4D97-AF65-F5344CB8AC3E}">
        <p14:creationId xmlns:p14="http://schemas.microsoft.com/office/powerpoint/2010/main" val="25680436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Advantages and Disadvantages of using BCD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038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Advantages: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1E947-4925-4461-ABC9-BC45B2CB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065" y="1201740"/>
            <a:ext cx="4060608" cy="265548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EC791C-370B-4C35-B0BB-A36D1B2FAF3B}"/>
              </a:ext>
            </a:extLst>
          </p:cNvPr>
          <p:cNvSpPr txBox="1">
            <a:spLocks/>
          </p:cNvSpPr>
          <p:nvPr/>
        </p:nvSpPr>
        <p:spPr>
          <a:xfrm>
            <a:off x="4572000" y="635000"/>
            <a:ext cx="40386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Disadvantages: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B4ED75-399A-4927-AA5A-1A1C33D5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12" y="1201740"/>
            <a:ext cx="3611564" cy="346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517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6.8 Specialized Arithmetic Hardware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The different special arithmetic hardware are designed to speed up arithmetic computation.</a:t>
            </a:r>
          </a:p>
          <a:p>
            <a:r>
              <a:rPr lang="en-US" sz="2400" dirty="0"/>
              <a:t>Coprocessors were formerly used to speed up computations.</a:t>
            </a:r>
          </a:p>
          <a:p>
            <a:r>
              <a:rPr lang="en-US" sz="2400" dirty="0"/>
              <a:t>The coprocessor chip had specialized hardware that performed arithmetic calculations much more quickly than microprocessor.</a:t>
            </a:r>
          </a:p>
          <a:p>
            <a:r>
              <a:rPr lang="en-US" sz="2400" dirty="0"/>
              <a:t>Th coprocessor monitored instructions on system </a:t>
            </a:r>
            <a:r>
              <a:rPr lang="en-US" sz="2400" dirty="0" err="1"/>
              <a:t>databus</a:t>
            </a:r>
            <a:r>
              <a:rPr lang="en-US" sz="2400" dirty="0"/>
              <a:t>. </a:t>
            </a:r>
          </a:p>
          <a:p>
            <a:r>
              <a:rPr lang="en-US" sz="2400" dirty="0"/>
              <a:t>When the microprocessor fetched an instruction that the coprocessor could execute, the coprocessor sent a signal to microprocessor indicating that it would perform computation.</a:t>
            </a:r>
          </a:p>
          <a:p>
            <a:r>
              <a:rPr lang="en-US" sz="2400" dirty="0"/>
              <a:t>The coprocessor then calculates the result and send it to microprocessor.</a:t>
            </a:r>
          </a:p>
          <a:p>
            <a:r>
              <a:rPr lang="en-US" sz="2400" dirty="0"/>
              <a:t>If the coprocessor was not present, the microprocessor executes the instruction in slow way.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19737887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Specialized Arithmetic Hardware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Three techniques to improve speed of arithmetic calculation: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Pipelining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Look up Tables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Wallace Tree multipliers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39328526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1. Pipelining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 arithmetic pipeline is similar to an assembly line in a factory.</a:t>
            </a:r>
          </a:p>
          <a:p>
            <a:r>
              <a:rPr lang="en-US" sz="2400" dirty="0"/>
              <a:t>Data enters a stage of the pipeline, which performs some arithmetic operation on the data.</a:t>
            </a:r>
          </a:p>
          <a:p>
            <a:r>
              <a:rPr lang="en-US" sz="2400" dirty="0"/>
              <a:t>The results are then passed to the next stage, which performs its operations, and so on, until the final computation has been performed.</a:t>
            </a:r>
          </a:p>
          <a:p>
            <a:r>
              <a:rPr lang="en-US" sz="2400" dirty="0"/>
              <a:t>Each stage performs only its specific function.</a:t>
            </a:r>
          </a:p>
          <a:p>
            <a:r>
              <a:rPr lang="en-US" sz="2400" dirty="0"/>
              <a:t>It improves performance by overlapping computations; each stage can operate on different data simultaneously.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17004805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70C0"/>
                </a:solidFill>
              </a:rPr>
              <a:t>Pipelining example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Pipelining is a technique of decomposing a sequential process into sub-operations, with each subprocess being executed in a special dedicated segment that operates concurrently with all other segments.</a:t>
            </a:r>
          </a:p>
          <a:p>
            <a:pPr lvl="0"/>
            <a:r>
              <a:rPr lang="en-US" dirty="0"/>
              <a:t>The overlapping of computation is made possible by associating a register with each segment in the pipeline. </a:t>
            </a:r>
          </a:p>
          <a:p>
            <a:pPr lvl="0"/>
            <a:r>
              <a:rPr lang="en-US" dirty="0"/>
              <a:t>The registers provide isolation between each segment so that each can operate on distinct data simultaneously.</a:t>
            </a:r>
          </a:p>
          <a:p>
            <a:pPr lvl="0"/>
            <a:r>
              <a:rPr lang="en-US" dirty="0"/>
              <a:t>A clock is applied to all registers after enough time has elapsed to perform all segment activity.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38875784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70C0"/>
                </a:solidFill>
              </a:rPr>
              <a:t>Pipelining example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lvl="0"/>
            <a:r>
              <a:rPr lang="en-US" sz="1800" dirty="0"/>
              <a:t>Consider the below example: To perform the combined multiply and add operations with a stream of numbers A</a:t>
            </a:r>
            <a:r>
              <a:rPr lang="en-US" sz="1800" baseline="-25000" dirty="0"/>
              <a:t>i</a:t>
            </a:r>
            <a:r>
              <a:rPr lang="en-US" sz="1800" dirty="0"/>
              <a:t> * B</a:t>
            </a:r>
            <a:r>
              <a:rPr lang="en-US" sz="1800" baseline="-25000" dirty="0"/>
              <a:t>i</a:t>
            </a:r>
            <a:r>
              <a:rPr lang="en-US" sz="1800" dirty="0"/>
              <a:t> + C</a:t>
            </a:r>
            <a:r>
              <a:rPr lang="en-US" sz="1800" baseline="-25000" dirty="0"/>
              <a:t>i</a:t>
            </a:r>
            <a:r>
              <a:rPr lang="en-US" sz="1800" dirty="0"/>
              <a:t> for </a:t>
            </a:r>
            <a:r>
              <a:rPr lang="en-US" sz="1800" dirty="0" err="1"/>
              <a:t>i</a:t>
            </a:r>
            <a:r>
              <a:rPr lang="en-US" sz="1800" dirty="0"/>
              <a:t> = 1, 2, 3, …, 7</a:t>
            </a:r>
          </a:p>
          <a:p>
            <a:r>
              <a:rPr lang="en-US" sz="1800" dirty="0"/>
              <a:t>Each sub-operation is to be implemented in a segment within a pipeline. </a:t>
            </a:r>
          </a:p>
          <a:p>
            <a:pPr marL="457200" lvl="1" indent="0">
              <a:buNone/>
            </a:pPr>
            <a:r>
              <a:rPr lang="en-US" sz="1600" dirty="0"/>
              <a:t>R1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A</a:t>
            </a:r>
            <a:r>
              <a:rPr lang="en-US" sz="1600" baseline="-25000" dirty="0"/>
              <a:t>i</a:t>
            </a:r>
            <a:r>
              <a:rPr lang="en-US" sz="1600" dirty="0"/>
              <a:t>, R2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B</a:t>
            </a:r>
            <a:r>
              <a:rPr lang="en-US" sz="1600" baseline="-25000" dirty="0"/>
              <a:t>i</a:t>
            </a:r>
            <a:r>
              <a:rPr lang="en-US" sz="1600" dirty="0"/>
              <a:t>          	Input A</a:t>
            </a:r>
            <a:r>
              <a:rPr lang="en-US" sz="1600" baseline="-25000" dirty="0"/>
              <a:t>i</a:t>
            </a:r>
            <a:r>
              <a:rPr lang="en-US" sz="1600" dirty="0"/>
              <a:t> and B</a:t>
            </a:r>
            <a:r>
              <a:rPr lang="en-US" sz="1600" baseline="-25000" dirty="0"/>
              <a:t>i</a:t>
            </a:r>
            <a:r>
              <a:rPr lang="en-US" sz="1600" dirty="0"/>
              <a:t> </a:t>
            </a:r>
          </a:p>
          <a:p>
            <a:pPr marL="457200" lvl="1" indent="0">
              <a:buNone/>
            </a:pPr>
            <a:r>
              <a:rPr lang="en-US" sz="1600" dirty="0"/>
              <a:t>R3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R1 * R2, R4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C</a:t>
            </a:r>
            <a:r>
              <a:rPr lang="en-US" sz="1600" baseline="-25000" dirty="0"/>
              <a:t>i</a:t>
            </a:r>
            <a:r>
              <a:rPr lang="en-US" sz="1600" dirty="0"/>
              <a:t> 	Multiply and input C</a:t>
            </a:r>
            <a:r>
              <a:rPr lang="en-US" sz="1600" baseline="-25000" dirty="0"/>
              <a:t>i</a:t>
            </a:r>
            <a:r>
              <a:rPr lang="en-US" sz="1600" dirty="0"/>
              <a:t>  </a:t>
            </a:r>
          </a:p>
          <a:p>
            <a:pPr marL="457200" lvl="1" indent="0">
              <a:buNone/>
            </a:pPr>
            <a:r>
              <a:rPr lang="en-US" sz="1600" dirty="0"/>
              <a:t>R5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R3 + R4               	Add C</a:t>
            </a:r>
            <a:r>
              <a:rPr lang="en-US" sz="1600" baseline="-25000" dirty="0"/>
              <a:t>i </a:t>
            </a:r>
            <a:r>
              <a:rPr lang="en-US" sz="1600" dirty="0"/>
              <a:t>to product</a:t>
            </a:r>
          </a:p>
          <a:p>
            <a:endParaRPr lang="en-US" sz="1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A1FA6A-6A5E-4125-AB43-7CCD56F9E58C}"/>
              </a:ext>
            </a:extLst>
          </p:cNvPr>
          <p:cNvPicPr/>
          <p:nvPr/>
        </p:nvPicPr>
        <p:blipFill>
          <a:blip r:embed="rId2" cstate="print">
            <a:lum contrast="44000"/>
          </a:blip>
          <a:srcRect l="5360" t="-2567"/>
          <a:stretch>
            <a:fillRect/>
          </a:stretch>
        </p:blipFill>
        <p:spPr bwMode="auto">
          <a:xfrm>
            <a:off x="1098550" y="2675337"/>
            <a:ext cx="2895600" cy="236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ACE526-FF7D-4117-AAB8-6E38D157BAA9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35500" y="2530079"/>
            <a:ext cx="4343400" cy="2594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41782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2. Lookup Table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combinational circuit </a:t>
            </a:r>
            <a:r>
              <a:rPr lang="en-US" sz="2400" dirty="0"/>
              <a:t>can be implemented by a ROM configured as </a:t>
            </a:r>
            <a:r>
              <a:rPr lang="en-US" sz="2400" dirty="0" err="1">
                <a:solidFill>
                  <a:srgbClr val="FF0000"/>
                </a:solidFill>
              </a:rPr>
              <a:t>LookUp</a:t>
            </a:r>
            <a:r>
              <a:rPr lang="en-US" sz="2400" dirty="0">
                <a:solidFill>
                  <a:srgbClr val="FF0000"/>
                </a:solidFill>
              </a:rPr>
              <a:t> table</a:t>
            </a:r>
            <a:r>
              <a:rPr lang="en-US" sz="2400" dirty="0"/>
              <a:t>.</a:t>
            </a:r>
          </a:p>
          <a:p>
            <a:r>
              <a:rPr lang="en-US" sz="2400" dirty="0"/>
              <a:t>The inputs to the combinational circuit serve as address inputs of the ROM.</a:t>
            </a:r>
          </a:p>
          <a:p>
            <a:r>
              <a:rPr lang="en-US" sz="2400" dirty="0"/>
              <a:t>The data outputs of ROM corresponds to the outputs of combinational circuit.</a:t>
            </a:r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ROM is programmed with data </a:t>
            </a:r>
            <a:r>
              <a:rPr lang="en-US" sz="2400" dirty="0"/>
              <a:t>such that the correct values are output for any possible input values.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17164678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2. Lookup Table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Example: Let us consider </a:t>
            </a:r>
            <a:r>
              <a:rPr lang="en-US" sz="2000" dirty="0">
                <a:solidFill>
                  <a:srgbClr val="C00000"/>
                </a:solidFill>
              </a:rPr>
              <a:t>4 x 1 ROM </a:t>
            </a:r>
            <a:r>
              <a:rPr lang="en-US" sz="2000" dirty="0"/>
              <a:t>programmed to mimic </a:t>
            </a:r>
            <a:r>
              <a:rPr lang="en-US" sz="2000" dirty="0">
                <a:solidFill>
                  <a:srgbClr val="C00000"/>
                </a:solidFill>
              </a:rPr>
              <a:t>a two input AND gate.</a:t>
            </a:r>
          </a:p>
          <a:p>
            <a:r>
              <a:rPr lang="en-US" sz="2000" dirty="0"/>
              <a:t>The inputs to the AND gate serve as the address inputs to the ROM, and the output of the ROM corresponds to the AND gate output.</a:t>
            </a:r>
          </a:p>
          <a:p>
            <a:r>
              <a:rPr lang="en-US" sz="2000" dirty="0"/>
              <a:t>By programming the ROM with the data shown, it outputs the same values as the AND gate for all possible of X and 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787C2E-8189-4DC6-9261-323F73098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2780858"/>
            <a:ext cx="5715000" cy="173816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2A51FD-A829-4391-82F3-D9660D9F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557119"/>
            <a:ext cx="38100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318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70C0"/>
                </a:solidFill>
              </a:rPr>
              <a:t>A Multiplier implemented using a Lookup ROM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267200" cy="3851673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Recalling the shift-add multiplication algorithm for unsigned numbers, we can construct a hardware implementation for a multiplier using Lookup table.</a:t>
            </a:r>
          </a:p>
          <a:p>
            <a:r>
              <a:rPr lang="en-US" sz="2400" dirty="0"/>
              <a:t>UV</a:t>
            </a:r>
            <a:r>
              <a:rPr lang="en-US" sz="2400" dirty="0">
                <a:sym typeface="Wingdings" panose="05000000000000000000" pitchFamily="2" charset="2"/>
              </a:rPr>
              <a:t>X.Y</a:t>
            </a:r>
          </a:p>
          <a:p>
            <a:r>
              <a:rPr lang="en-US" sz="2400" dirty="0">
                <a:sym typeface="Wingdings" panose="05000000000000000000" pitchFamily="2" charset="2"/>
              </a:rPr>
              <a:t>Where U, V, X and Y are 4-bit registers.</a:t>
            </a:r>
          </a:p>
          <a:p>
            <a:r>
              <a:rPr lang="en-US" sz="2400" dirty="0">
                <a:sym typeface="Wingdings" panose="05000000000000000000" pitchFamily="2" charset="2"/>
              </a:rPr>
              <a:t>Registers X and Y supply the address inputs to the lookup ROM. Its inputs are the product of X and Y, and are routed to registers U and V.</a:t>
            </a:r>
          </a:p>
          <a:p>
            <a:r>
              <a:rPr lang="en-US" sz="2400" dirty="0">
                <a:sym typeface="Wingdings" panose="05000000000000000000" pitchFamily="2" charset="2"/>
              </a:rPr>
              <a:t>Each of the 256 locations must contain the 8-bit product of X and Y.</a:t>
            </a:r>
          </a:p>
          <a:p>
            <a:r>
              <a:rPr lang="en-US" sz="2400" dirty="0">
                <a:sym typeface="Wingdings" panose="05000000000000000000" pitchFamily="2" charset="2"/>
              </a:rPr>
              <a:t>For example, location 1011 1101 contains the data 1000 1111 (</a:t>
            </a:r>
            <a:r>
              <a:rPr lang="en-US" sz="2400" dirty="0" err="1">
                <a:sym typeface="Wingdings" panose="05000000000000000000" pitchFamily="2" charset="2"/>
              </a:rPr>
              <a:t>i.e</a:t>
            </a:r>
            <a:r>
              <a:rPr lang="en-US" sz="2400" dirty="0">
                <a:sym typeface="Wingdings" panose="05000000000000000000" pitchFamily="2" charset="2"/>
              </a:rPr>
              <a:t> 143) , the product of 11 and 13.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9AE4B-44B0-4099-B1CA-A24F88B3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136153"/>
            <a:ext cx="3230925" cy="28711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4A7BF-1678-4443-843F-79BBE5C8A78D}"/>
              </a:ext>
            </a:extLst>
          </p:cNvPr>
          <p:cNvSpPr txBox="1"/>
          <p:nvPr/>
        </p:nvSpPr>
        <p:spPr>
          <a:xfrm>
            <a:off x="990600" y="4400550"/>
            <a:ext cx="769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Learn more from: </a:t>
            </a:r>
            <a:r>
              <a:rPr lang="en-US" sz="1600" i="1" dirty="0">
                <a:hlinkClick r:id="rId3"/>
              </a:rPr>
              <a:t>https://hardwarebee.com/overview-of-lookup-tables-in-fpga-design/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6294253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70C0"/>
                </a:solidFill>
              </a:rPr>
              <a:t>Classwork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Design a Lookup ROM to implement the function  f=</a:t>
            </a:r>
            <a:r>
              <a:rPr lang="en-US" sz="2400" dirty="0" err="1">
                <a:solidFill>
                  <a:srgbClr val="FF0000"/>
                </a:solidFill>
              </a:rPr>
              <a:t>xy</a:t>
            </a:r>
            <a:r>
              <a:rPr lang="en-US" sz="2400" dirty="0">
                <a:solidFill>
                  <a:srgbClr val="FF0000"/>
                </a:solidFill>
              </a:rPr>
              <a:t> + </a:t>
            </a:r>
            <a:r>
              <a:rPr lang="en-US" sz="2400" dirty="0" err="1">
                <a:solidFill>
                  <a:srgbClr val="FF0000"/>
                </a:solidFill>
              </a:rPr>
              <a:t>y’z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9411989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3. Wallace Tree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A Wallace tree is a </a:t>
            </a:r>
            <a:r>
              <a:rPr lang="en-US" sz="2000" dirty="0">
                <a:solidFill>
                  <a:srgbClr val="C00000"/>
                </a:solidFill>
              </a:rPr>
              <a:t>combinational circuit used to multiply two numbers</a:t>
            </a:r>
            <a:r>
              <a:rPr lang="en-US" sz="2000" dirty="0"/>
              <a:t>. It requires more hardware but can produce a product in less time.</a:t>
            </a:r>
          </a:p>
          <a:p>
            <a:r>
              <a:rPr lang="en-US" sz="2000" dirty="0"/>
              <a:t>It requires carry save adders and only one parallel adder.</a:t>
            </a:r>
          </a:p>
          <a:p>
            <a:r>
              <a:rPr lang="en-US" sz="2000" dirty="0"/>
              <a:t>A carry-save adder can add 3 values simultaneously instead of just two. It outputs both sum and a set of carry bits.</a:t>
            </a:r>
          </a:p>
          <a:p>
            <a:r>
              <a:rPr lang="en-US" sz="2000" dirty="0"/>
              <a:t>This is illustrated below: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1ACD1-7DDE-4721-8DB3-2F0092EDF4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3" t="19058" r="2593" b="9316"/>
          <a:stretch/>
        </p:blipFill>
        <p:spPr>
          <a:xfrm>
            <a:off x="1676399" y="2876551"/>
            <a:ext cx="5562601" cy="1679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C1B75-E0AA-4570-9598-69D21453F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625" y="4649788"/>
            <a:ext cx="14382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260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Wallace Tree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29233"/>
            <a:ext cx="8229600" cy="1865390"/>
          </a:xfrm>
        </p:spPr>
        <p:txBody>
          <a:bodyPr>
            <a:normAutofit/>
          </a:bodyPr>
          <a:lstStyle/>
          <a:p>
            <a:r>
              <a:rPr lang="en-US" sz="2000" dirty="0"/>
              <a:t>Each bit S</a:t>
            </a:r>
            <a:r>
              <a:rPr lang="en-US" sz="2000" baseline="-25000" dirty="0"/>
              <a:t>i</a:t>
            </a:r>
            <a:r>
              <a:rPr lang="en-US" sz="2000" dirty="0"/>
              <a:t> is the binary sum of bits X</a:t>
            </a:r>
            <a:r>
              <a:rPr lang="en-US" sz="2000" baseline="-25000" dirty="0"/>
              <a:t>i</a:t>
            </a:r>
            <a:r>
              <a:rPr lang="en-US" sz="2000" dirty="0"/>
              <a:t>, Y</a:t>
            </a:r>
            <a:r>
              <a:rPr lang="en-US" sz="2000" baseline="-25000" dirty="0"/>
              <a:t>i</a:t>
            </a:r>
            <a:r>
              <a:rPr lang="en-US" sz="2000" dirty="0"/>
              <a:t> and Z</a:t>
            </a:r>
            <a:r>
              <a:rPr lang="en-US" sz="2000" baseline="-25000" dirty="0"/>
              <a:t>i</a:t>
            </a:r>
          </a:p>
          <a:p>
            <a:r>
              <a:rPr lang="en-US" sz="2000" dirty="0"/>
              <a:t>Carry bit C</a:t>
            </a:r>
            <a:r>
              <a:rPr lang="en-US" sz="2000" baseline="-25000" dirty="0"/>
              <a:t>i+1 </a:t>
            </a:r>
            <a:r>
              <a:rPr lang="en-US" sz="2000" dirty="0"/>
              <a:t>is the carry generated by this sum.</a:t>
            </a:r>
          </a:p>
          <a:p>
            <a:r>
              <a:rPr lang="en-US" sz="2000" dirty="0"/>
              <a:t>To form a final sum, C and S must be added together. </a:t>
            </a:r>
          </a:p>
          <a:p>
            <a:r>
              <a:rPr lang="en-US" sz="2000" dirty="0"/>
              <a:t>Because carry bits do not propagate through the adder, it is faster than a parallel adder.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1ACD1-7DDE-4721-8DB3-2F0092EDF4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3" t="19058" r="2593" b="9316"/>
          <a:stretch/>
        </p:blipFill>
        <p:spPr>
          <a:xfrm>
            <a:off x="1524000" y="752475"/>
            <a:ext cx="5562601" cy="16792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C1B75-E0AA-4570-9598-69D21453F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425" y="2529208"/>
            <a:ext cx="14382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1880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212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example of addition for three numbers : 7+11+2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Adding  S and C using a parallel adder, it produces the result 10100 (20) which is by 00110+1110 =10100.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B8E4ED7-0B36-42AE-8076-D86544E32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28750"/>
            <a:ext cx="2133600" cy="18498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4CC74-40E3-4FA5-90A7-651FCD3D10B1}"/>
              </a:ext>
            </a:extLst>
          </p:cNvPr>
          <p:cNvSpPr txBox="1"/>
          <p:nvPr/>
        </p:nvSpPr>
        <p:spPr>
          <a:xfrm>
            <a:off x="2895600" y="1200861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C</a:t>
            </a:r>
            <a:r>
              <a:rPr lang="en-US" sz="1200" b="1" baseline="-25000" dirty="0">
                <a:solidFill>
                  <a:srgbClr val="C00000"/>
                </a:solidFill>
              </a:rPr>
              <a:t>3  </a:t>
            </a:r>
            <a:r>
              <a:rPr lang="en-US" sz="1200" b="1" dirty="0">
                <a:solidFill>
                  <a:srgbClr val="C00000"/>
                </a:solidFill>
              </a:rPr>
              <a:t>C</a:t>
            </a:r>
            <a:r>
              <a:rPr lang="en-US" sz="1200" b="1" baseline="-25000" dirty="0">
                <a:solidFill>
                  <a:srgbClr val="C00000"/>
                </a:solidFill>
              </a:rPr>
              <a:t>2  </a:t>
            </a:r>
            <a:r>
              <a:rPr lang="en-US" sz="1200" b="1" dirty="0">
                <a:solidFill>
                  <a:srgbClr val="C00000"/>
                </a:solidFill>
              </a:rPr>
              <a:t>C</a:t>
            </a:r>
            <a:r>
              <a:rPr lang="en-US" sz="1200" b="1" baseline="-25000" dirty="0">
                <a:solidFill>
                  <a:srgbClr val="C00000"/>
                </a:solidFill>
              </a:rPr>
              <a:t>1  </a:t>
            </a:r>
            <a:r>
              <a:rPr lang="en-US" sz="1200" b="1" dirty="0">
                <a:solidFill>
                  <a:srgbClr val="C00000"/>
                </a:solidFill>
              </a:rPr>
              <a:t>C</a:t>
            </a:r>
            <a:r>
              <a:rPr lang="en-US" sz="1200" b="1" baseline="-25000" dirty="0">
                <a:solidFill>
                  <a:srgbClr val="C0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239546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Wallace Tree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To use a carry-save adder to perform multiplication we first calculate the partial products (PP) of the multiplication, then input them to the carry-save adder.</a:t>
            </a:r>
          </a:p>
          <a:p>
            <a:r>
              <a:rPr lang="en-US" sz="2400" dirty="0"/>
              <a:t>Consider a numeric example multiplication of 7x6.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6AE8A8-D1A6-495B-AFC0-709BE86C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908" y="2571750"/>
            <a:ext cx="4266184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406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A 3x3 Wallace Tree Multiplier</a:t>
            </a:r>
            <a:endParaRPr lang="en-US" sz="2400" b="1" dirty="0">
              <a:solidFill>
                <a:srgbClr val="00B050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FFC1A2F-3AA4-456B-8660-3C977047A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0200" y="1242878"/>
            <a:ext cx="3130550" cy="33039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6AE8A8-D1A6-495B-AFC0-709BE86C2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492" y="28575"/>
            <a:ext cx="2358708" cy="1095375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53E287-66E9-4901-9C7D-E854FD0BC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1312464"/>
            <a:ext cx="3962400" cy="31648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151276-9700-4E25-A215-B3F9B7CBA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63" y="4561683"/>
            <a:ext cx="4086225" cy="249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1FDC63-F62A-419A-B465-0A20FBAC1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284" y="4621825"/>
            <a:ext cx="3702050" cy="206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2537CB-EFA3-4A15-8C10-81864591C012}"/>
              </a:ext>
            </a:extLst>
          </p:cNvPr>
          <p:cNvSpPr txBox="1"/>
          <p:nvPr/>
        </p:nvSpPr>
        <p:spPr>
          <a:xfrm>
            <a:off x="2453774" y="4402863"/>
            <a:ext cx="5613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1   1  0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04648-16BF-43EB-8154-8AC51A6C1EBC}"/>
              </a:ext>
            </a:extLst>
          </p:cNvPr>
          <p:cNvSpPr txBox="1"/>
          <p:nvPr/>
        </p:nvSpPr>
        <p:spPr>
          <a:xfrm>
            <a:off x="373063" y="1733550"/>
            <a:ext cx="5613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1   1  1</a:t>
            </a:r>
          </a:p>
        </p:txBody>
      </p:sp>
    </p:spTree>
    <p:extLst>
      <p:ext uri="{BB962C8B-B14F-4D97-AF65-F5344CB8AC3E}">
        <p14:creationId xmlns:p14="http://schemas.microsoft.com/office/powerpoint/2010/main" val="1882978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6.9 Floating Point Numbers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The floating point representation of a number has two parts.</a:t>
            </a:r>
          </a:p>
          <a:p>
            <a:pPr lvl="1"/>
            <a:r>
              <a:rPr lang="en-US" sz="1400" dirty="0"/>
              <a:t>The </a:t>
            </a:r>
            <a:r>
              <a:rPr lang="en-US" sz="1400" b="1" dirty="0">
                <a:solidFill>
                  <a:srgbClr val="C00000"/>
                </a:solidFill>
              </a:rPr>
              <a:t>first part </a:t>
            </a:r>
            <a:r>
              <a:rPr lang="en-US" sz="1400" dirty="0"/>
              <a:t>represent a signed fixed point number called </a:t>
            </a:r>
            <a:r>
              <a:rPr lang="en-US" sz="1400" b="1" dirty="0">
                <a:solidFill>
                  <a:srgbClr val="C00000"/>
                </a:solidFill>
              </a:rPr>
              <a:t>mantissa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The </a:t>
            </a:r>
            <a:r>
              <a:rPr lang="en-US" sz="1400" b="1" dirty="0">
                <a:solidFill>
                  <a:srgbClr val="C00000"/>
                </a:solidFill>
              </a:rPr>
              <a:t>second part </a:t>
            </a:r>
            <a:r>
              <a:rPr lang="en-US" sz="1400" dirty="0"/>
              <a:t>designates the position of decimal (or binary) point and is called </a:t>
            </a:r>
            <a:r>
              <a:rPr lang="en-US" sz="1400" b="1" dirty="0">
                <a:solidFill>
                  <a:srgbClr val="C00000"/>
                </a:solidFill>
              </a:rPr>
              <a:t>exponent</a:t>
            </a:r>
            <a:r>
              <a:rPr lang="en-US" sz="1400" dirty="0"/>
              <a:t>.</a:t>
            </a:r>
          </a:p>
          <a:p>
            <a:r>
              <a:rPr lang="en-US" sz="1800" dirty="0"/>
              <a:t>The fixed point mantissa may be fraction or an integer.</a:t>
            </a:r>
          </a:p>
          <a:p>
            <a:r>
              <a:rPr lang="en-US" sz="1800" dirty="0"/>
              <a:t>For example:</a:t>
            </a:r>
          </a:p>
          <a:p>
            <a:pPr lvl="1"/>
            <a:r>
              <a:rPr lang="en-US" sz="1400" dirty="0"/>
              <a:t>The decimal number </a:t>
            </a:r>
            <a:r>
              <a:rPr lang="en-US" sz="1400" b="1" dirty="0"/>
              <a:t>6132.789</a:t>
            </a:r>
            <a:r>
              <a:rPr lang="en-US" sz="1400" dirty="0"/>
              <a:t> is represented in floating point as 0.6132789 x 10</a:t>
            </a:r>
            <a:r>
              <a:rPr lang="en-US" sz="1400" baseline="30000" dirty="0"/>
              <a:t>4</a:t>
            </a:r>
          </a:p>
          <a:p>
            <a:r>
              <a:rPr lang="en-US" sz="1800" dirty="0"/>
              <a:t>This is in the form: m x r</a:t>
            </a:r>
            <a:r>
              <a:rPr lang="en-US" sz="1800" baseline="30000" dirty="0"/>
              <a:t>e</a:t>
            </a:r>
            <a:r>
              <a:rPr lang="en-US" sz="1800" dirty="0"/>
              <a:t> </a:t>
            </a:r>
          </a:p>
          <a:p>
            <a:pPr lvl="1"/>
            <a:r>
              <a:rPr lang="en-US" sz="1400" dirty="0"/>
              <a:t>where </a:t>
            </a:r>
          </a:p>
          <a:p>
            <a:pPr lvl="2"/>
            <a:r>
              <a:rPr lang="en-US" sz="1300" b="1" dirty="0"/>
              <a:t>m</a:t>
            </a:r>
            <a:r>
              <a:rPr lang="en-US" sz="1300" dirty="0"/>
              <a:t> is mantissa and </a:t>
            </a:r>
          </a:p>
          <a:p>
            <a:pPr lvl="2"/>
            <a:r>
              <a:rPr lang="en-US" sz="1300" b="1" dirty="0"/>
              <a:t>e</a:t>
            </a:r>
            <a:r>
              <a:rPr lang="en-US" sz="1300" dirty="0"/>
              <a:t> is exponent.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value of exponent indicates that actual position of decimal point is four position to right of indicate decimal point in fraction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5580148-003C-49F8-8434-1C3750D31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175365"/>
              </p:ext>
            </p:extLst>
          </p:nvPr>
        </p:nvGraphicFramePr>
        <p:xfrm>
          <a:off x="5486400" y="2876550"/>
          <a:ext cx="28194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74795008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583071317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dirty="0"/>
                        <a:t>Fraction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888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dirty="0"/>
                        <a:t>0.6132789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364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1149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6.9 Floating Point Numbers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For example a decimal number 	3.25</a:t>
            </a:r>
            <a:r>
              <a:rPr lang="en-US" sz="2400" baseline="-25000" dirty="0"/>
              <a:t>10</a:t>
            </a:r>
            <a:r>
              <a:rPr lang="en-US" sz="2400" dirty="0"/>
              <a:t>= 11.01</a:t>
            </a:r>
            <a:r>
              <a:rPr lang="en-US" sz="2400" baseline="-25000" dirty="0"/>
              <a:t>2</a:t>
            </a:r>
          </a:p>
          <a:p>
            <a:pPr lvl="8"/>
            <a:endParaRPr lang="en-US" sz="1400" baseline="-25000" dirty="0"/>
          </a:p>
          <a:p>
            <a:pPr marL="0" indent="0">
              <a:buNone/>
            </a:pPr>
            <a:r>
              <a:rPr lang="en-US" sz="2400" baseline="30000" dirty="0"/>
              <a:t>						= </a:t>
            </a:r>
            <a:r>
              <a:rPr lang="en-US" sz="2800" baseline="30000" dirty="0"/>
              <a:t>1.101</a:t>
            </a:r>
            <a:r>
              <a:rPr lang="en-US" sz="2800" baseline="-25000" dirty="0"/>
              <a:t>2</a:t>
            </a:r>
            <a:r>
              <a:rPr lang="en-US" sz="2800" baseline="30000" dirty="0"/>
              <a:t> x10</a:t>
            </a:r>
            <a:r>
              <a:rPr lang="en-US" sz="2800" baseline="-25000" dirty="0"/>
              <a:t>2</a:t>
            </a:r>
          </a:p>
          <a:p>
            <a:pPr marL="0" indent="0">
              <a:buNone/>
            </a:pPr>
            <a:r>
              <a:rPr lang="en-US" sz="2800" baseline="-25000" dirty="0"/>
              <a:t>						=1.101 x 2</a:t>
            </a:r>
            <a:r>
              <a:rPr lang="en-US" sz="2800" baseline="30000" dirty="0"/>
              <a:t>1</a:t>
            </a:r>
            <a:r>
              <a:rPr lang="en-US" sz="2800" baseline="-25000" dirty="0"/>
              <a:t>	</a:t>
            </a:r>
            <a:endParaRPr lang="en-US" sz="2400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7BEA37F-B80F-4A0E-875F-B63E62A83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06603"/>
              </p:ext>
            </p:extLst>
          </p:nvPr>
        </p:nvGraphicFramePr>
        <p:xfrm>
          <a:off x="2438400" y="1956316"/>
          <a:ext cx="28194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747950083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1583071317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dirty="0"/>
                        <a:t>Fraction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8881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dirty="0"/>
                        <a:t>1.101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364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625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6.10 IEEE 754 floating Point Standard, Numeric Format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fontAlgn="base"/>
            <a:r>
              <a:rPr lang="en-US" sz="2000" dirty="0"/>
              <a:t>The IEEE Standard for Floating-Point Arithmetic (IEEE 754) is a technical standard for floating-point computation which was established in 1985 by the </a:t>
            </a:r>
            <a:r>
              <a:rPr lang="en-US" sz="2000" b="1" dirty="0"/>
              <a:t>Institute of Electrical and Electronics Engineers (IEEE)</a:t>
            </a:r>
            <a:r>
              <a:rPr lang="en-US" sz="2000" dirty="0"/>
              <a:t>. </a:t>
            </a:r>
          </a:p>
          <a:p>
            <a:pPr fontAlgn="base"/>
            <a:r>
              <a:rPr lang="en-US" sz="2000" dirty="0"/>
              <a:t>The standard addressed many problems found in the diverse floating point implementations that made them difficult to use reliably and reduced their portability. </a:t>
            </a:r>
          </a:p>
          <a:p>
            <a:pPr fontAlgn="base"/>
            <a:r>
              <a:rPr lang="en-US" sz="2000" dirty="0">
                <a:solidFill>
                  <a:srgbClr val="C00000"/>
                </a:solidFill>
              </a:rPr>
              <a:t>IEEE Standard 754 </a:t>
            </a:r>
            <a:r>
              <a:rPr lang="en-US" sz="2000" dirty="0"/>
              <a:t>floating point is </a:t>
            </a:r>
            <a:r>
              <a:rPr lang="en-US" sz="2000" dirty="0">
                <a:solidFill>
                  <a:srgbClr val="C00000"/>
                </a:solidFill>
              </a:rPr>
              <a:t>the most common </a:t>
            </a:r>
            <a:r>
              <a:rPr lang="en-US" sz="2000" dirty="0"/>
              <a:t>representation today for real numbers on computers, including Intel-based PC’s, Macs, and most Unix platforms.</a:t>
            </a:r>
          </a:p>
          <a:p>
            <a:pPr fontAlgn="base"/>
            <a:r>
              <a:rPr lang="en-US" sz="2000" dirty="0"/>
              <a:t>There are several ways to represent floating point number but </a:t>
            </a:r>
            <a:r>
              <a:rPr lang="en-US" sz="2000" dirty="0">
                <a:solidFill>
                  <a:srgbClr val="C00000"/>
                </a:solidFill>
              </a:rPr>
              <a:t>IEEE 754 is the most efficient</a:t>
            </a:r>
            <a:r>
              <a:rPr lang="en-US" sz="2000" dirty="0"/>
              <a:t> in most cases.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26199484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6.10 IEEE 754 floating Point Standard, Numeric Format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n-US" sz="2400" dirty="0"/>
              <a:t>There are several ways to represent floating point number but IEEE 754 is the most efficient in most cases. </a:t>
            </a:r>
          </a:p>
          <a:p>
            <a:pPr fontAlgn="base"/>
            <a:r>
              <a:rPr lang="en-US" sz="2400" dirty="0"/>
              <a:t>IEEE 754 has 3 basic components:</a:t>
            </a:r>
          </a:p>
          <a:p>
            <a:pPr lvl="1"/>
            <a:r>
              <a:rPr lang="en-US" sz="2000" b="1" dirty="0"/>
              <a:t>The Sign of Mantissa –</a:t>
            </a:r>
            <a:br>
              <a:rPr lang="en-US" sz="2000" dirty="0"/>
            </a:br>
            <a:r>
              <a:rPr lang="en-US" sz="2000" dirty="0"/>
              <a:t>This is as simple as the name. 0 represents a positive number while 1 represents a negative number.</a:t>
            </a:r>
          </a:p>
          <a:p>
            <a:pPr lvl="1"/>
            <a:r>
              <a:rPr lang="en-US" sz="2000" b="1" dirty="0"/>
              <a:t>The Biased exponent –</a:t>
            </a:r>
            <a:br>
              <a:rPr lang="en-US" sz="2000" dirty="0"/>
            </a:br>
            <a:r>
              <a:rPr lang="en-US" sz="2000" dirty="0"/>
              <a:t>The exponent field needs to represent both positive and negative exponents. A bias is added to the actual exponent in order to get the stored exponent.</a:t>
            </a:r>
          </a:p>
          <a:p>
            <a:pPr lvl="1"/>
            <a:r>
              <a:rPr lang="en-US" sz="2000" b="1" dirty="0"/>
              <a:t>The </a:t>
            </a:r>
            <a:r>
              <a:rPr lang="en-US" sz="2000" b="1" dirty="0" err="1"/>
              <a:t>Normalised</a:t>
            </a:r>
            <a:r>
              <a:rPr lang="en-US" sz="2000" b="1" dirty="0"/>
              <a:t> </a:t>
            </a:r>
            <a:r>
              <a:rPr lang="en-US" sz="2000" b="1" dirty="0" err="1"/>
              <a:t>Mantisa</a:t>
            </a:r>
            <a:r>
              <a:rPr lang="en-US" sz="2000" b="1" dirty="0"/>
              <a:t> –</a:t>
            </a:r>
            <a:br>
              <a:rPr lang="en-US" sz="2000" dirty="0"/>
            </a:br>
            <a:r>
              <a:rPr lang="en-US" sz="2000" dirty="0"/>
              <a:t>The mantissa is part of a number in scientific notation or a floating-point number, consisting of its significant digits. Here we have only 2 digits, i.e. O and 1. So a </a:t>
            </a:r>
            <a:r>
              <a:rPr lang="en-US" sz="2000" dirty="0" err="1"/>
              <a:t>normalised</a:t>
            </a:r>
            <a:r>
              <a:rPr lang="en-US" sz="2000" dirty="0"/>
              <a:t> mantissa is one with only one 1 to the left of the decimal.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8531560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6.10 IEEE 754 floating Point Standard, Numeric Format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IEEE 754 numbers are divided into two based on the above three components: single precision and double precision.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71D63-8843-45A0-A88F-3AFFC29AC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78534"/>
            <a:ext cx="5472112" cy="347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182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Denormalization 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400" dirty="0" err="1"/>
              <a:t>Denormalize</a:t>
            </a:r>
            <a:r>
              <a:rPr lang="en-US" sz="2400" dirty="0"/>
              <a:t>: 1.101 x2</a:t>
            </a:r>
            <a:r>
              <a:rPr lang="en-US" sz="2400" baseline="30000" dirty="0"/>
              <a:t>1</a:t>
            </a:r>
          </a:p>
          <a:p>
            <a:r>
              <a:rPr lang="en-US" sz="2400" dirty="0"/>
              <a:t>Here:	exponent of base 2 =1</a:t>
            </a:r>
          </a:p>
          <a:p>
            <a:pPr marL="0" indent="0">
              <a:buNone/>
            </a:pPr>
            <a:r>
              <a:rPr lang="en-US" sz="2400" dirty="0"/>
              <a:t>		Bias=127</a:t>
            </a:r>
          </a:p>
          <a:p>
            <a:pPr marL="0" indent="0">
              <a:buNone/>
            </a:pPr>
            <a:r>
              <a:rPr lang="en-US" sz="2400" dirty="0"/>
              <a:t>		E=127+1 =128</a:t>
            </a:r>
          </a:p>
          <a:p>
            <a:pPr marL="0" indent="0">
              <a:buNone/>
            </a:pPr>
            <a:r>
              <a:rPr lang="en-US" sz="2400" dirty="0"/>
              <a:t>Hence the denormalized encoding of 1.101 x2</a:t>
            </a:r>
            <a:r>
              <a:rPr lang="en-US" sz="2400" baseline="30000" dirty="0"/>
              <a:t>1</a:t>
            </a:r>
            <a:r>
              <a:rPr lang="en-US" sz="2400" dirty="0"/>
              <a:t> is: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34656AB5-49BE-4302-93AB-16C7739B18B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2000" y="3105150"/>
          <a:ext cx="7772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1969186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5599252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8077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Exponent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Significant no (fractional no)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14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101 0000 0000 0000 0000 0000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94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1 bit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8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23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5316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1FEF91E-6415-4695-A974-94E81DC21A70}"/>
              </a:ext>
            </a:extLst>
          </p:cNvPr>
          <p:cNvSpPr/>
          <p:nvPr/>
        </p:nvSpPr>
        <p:spPr>
          <a:xfrm>
            <a:off x="1905000" y="4271457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https://www.youtube.com/watch?v=T_Wxrp-2DZQ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554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00B050"/>
                </a:solidFill>
              </a:rPr>
              <a:t>Represent (1259.125)</a:t>
            </a:r>
            <a:r>
              <a:rPr lang="en-US" sz="2400" b="1" baseline="-25000" dirty="0">
                <a:solidFill>
                  <a:srgbClr val="00B050"/>
                </a:solidFill>
              </a:rPr>
              <a:t>10</a:t>
            </a:r>
            <a:r>
              <a:rPr lang="en-US" sz="2400" b="1" dirty="0">
                <a:solidFill>
                  <a:srgbClr val="00B050"/>
                </a:solidFill>
              </a:rPr>
              <a:t> in single precision format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1400" dirty="0"/>
              <a:t>Step 1: Convert decimal number to binary number</a:t>
            </a:r>
          </a:p>
          <a:p>
            <a:pPr marL="457200" lvl="1" indent="0">
              <a:buNone/>
            </a:pPr>
            <a:r>
              <a:rPr lang="en-US" sz="1800" baseline="30000" dirty="0"/>
              <a:t>1259.125</a:t>
            </a:r>
            <a:r>
              <a:rPr lang="en-US" sz="1800" baseline="-25000" dirty="0"/>
              <a:t>10</a:t>
            </a:r>
            <a:r>
              <a:rPr lang="en-US" sz="1800" baseline="30000" dirty="0"/>
              <a:t> =  10011101011.001</a:t>
            </a:r>
            <a:r>
              <a:rPr lang="en-US" sz="1800" baseline="-25000" dirty="0"/>
              <a:t>2</a:t>
            </a:r>
            <a:endParaRPr lang="en-US" sz="1800" dirty="0"/>
          </a:p>
          <a:p>
            <a:r>
              <a:rPr lang="en-US" sz="1400" dirty="0"/>
              <a:t>Step 2: Normalize the number in the form:   (1.N )2</a:t>
            </a:r>
            <a:r>
              <a:rPr lang="en-US" sz="1400" baseline="30000" dirty="0"/>
              <a:t>E-127</a:t>
            </a:r>
          </a:p>
          <a:p>
            <a:r>
              <a:rPr lang="en-US" sz="1400" baseline="30000" dirty="0"/>
              <a:t> 	</a:t>
            </a:r>
            <a:r>
              <a:rPr lang="en-US" sz="1400" dirty="0"/>
              <a:t>10011101011.001</a:t>
            </a:r>
            <a:r>
              <a:rPr lang="en-US" sz="1400" baseline="-25000" dirty="0"/>
              <a:t>2</a:t>
            </a:r>
            <a:r>
              <a:rPr lang="en-US" sz="1400" dirty="0"/>
              <a:t> = 1.0011101011001 x 2 </a:t>
            </a:r>
            <a:r>
              <a:rPr lang="en-US" sz="1400" baseline="30000" dirty="0"/>
              <a:t>10</a:t>
            </a:r>
          </a:p>
          <a:p>
            <a:r>
              <a:rPr lang="en-US" sz="1400" dirty="0"/>
              <a:t>Here:	exponent of base 2 =10</a:t>
            </a:r>
          </a:p>
          <a:p>
            <a:pPr marL="0" indent="0">
              <a:buNone/>
            </a:pPr>
            <a:r>
              <a:rPr lang="en-US" sz="1400" dirty="0"/>
              <a:t>		Bias=127</a:t>
            </a:r>
          </a:p>
          <a:p>
            <a:pPr marL="0" indent="0">
              <a:buNone/>
            </a:pPr>
            <a:r>
              <a:rPr lang="en-US" sz="1400" dirty="0"/>
              <a:t>		E=127+10 =137 =10001001</a:t>
            </a:r>
          </a:p>
          <a:p>
            <a:pPr marL="0" indent="0">
              <a:buNone/>
            </a:pPr>
            <a:r>
              <a:rPr lang="en-US" sz="1400" dirty="0"/>
              <a:t>Hence the denormalized encoding of 1.0011101011001 x2</a:t>
            </a:r>
            <a:r>
              <a:rPr lang="en-US" sz="1400" baseline="30000" dirty="0"/>
              <a:t>10001001</a:t>
            </a:r>
            <a:r>
              <a:rPr lang="en-US" sz="1400" dirty="0"/>
              <a:t> is: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34656AB5-49BE-4302-93AB-16C7739B1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46633"/>
              </p:ext>
            </p:extLst>
          </p:nvPr>
        </p:nvGraphicFramePr>
        <p:xfrm>
          <a:off x="838200" y="3035618"/>
          <a:ext cx="7772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1969186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5599252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8077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Exponent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Significant no (fractional no)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14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1000 1001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001 1101 0110 0100 0000 0000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94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1 bit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8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23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53160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1FEF91E-6415-4695-A974-94E81DC21A70}"/>
              </a:ext>
            </a:extLst>
          </p:cNvPr>
          <p:cNvSpPr/>
          <p:nvPr/>
        </p:nvSpPr>
        <p:spPr>
          <a:xfrm>
            <a:off x="1905000" y="4271457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https://www.youtube.com/watch?v=T_Wxrp-2DZQ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827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Normalization 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4550"/>
            <a:ext cx="8229600" cy="24700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dirty="0"/>
              <a:t>Here, sign bit =1	Hence, the no. Is negative</a:t>
            </a:r>
          </a:p>
          <a:p>
            <a:pPr marL="0" indent="0">
              <a:buNone/>
            </a:pPr>
            <a:r>
              <a:rPr lang="en-US" sz="2400" dirty="0"/>
              <a:t>Exponent =1000 0000</a:t>
            </a:r>
          </a:p>
          <a:p>
            <a:pPr marL="0" indent="0">
              <a:buNone/>
            </a:pPr>
            <a:r>
              <a:rPr lang="en-US" sz="2400" dirty="0"/>
              <a:t>So, E=128-127 =1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Also, S=101 0000 0000 0000 0000 0000</a:t>
            </a:r>
          </a:p>
          <a:p>
            <a:pPr marL="0" indent="0">
              <a:buNone/>
            </a:pPr>
            <a:r>
              <a:rPr lang="en-US" sz="2400" dirty="0"/>
              <a:t>	=1.101</a:t>
            </a:r>
          </a:p>
          <a:p>
            <a:pPr marL="0" indent="0">
              <a:buNone/>
            </a:pPr>
            <a:r>
              <a:rPr lang="en-US" sz="2400" dirty="0"/>
              <a:t>Therefore, binary no is: 	= -1.101 x 2</a:t>
            </a:r>
            <a:r>
              <a:rPr lang="en-US" sz="2400" baseline="30000" dirty="0"/>
              <a:t>1</a:t>
            </a:r>
          </a:p>
          <a:p>
            <a:pPr marL="0" indent="0">
              <a:buNone/>
            </a:pPr>
            <a:r>
              <a:rPr lang="en-US" sz="2400" baseline="30000" dirty="0"/>
              <a:t>			</a:t>
            </a:r>
            <a:r>
              <a:rPr lang="en-US" sz="2400" dirty="0"/>
              <a:t>=-1.101 x 10</a:t>
            </a:r>
          </a:p>
          <a:p>
            <a:pPr marL="0" indent="0">
              <a:buNone/>
            </a:pPr>
            <a:r>
              <a:rPr lang="en-US" sz="2400" baseline="30000" dirty="0"/>
              <a:t>			</a:t>
            </a:r>
            <a:r>
              <a:rPr lang="en-US" sz="2400" dirty="0"/>
              <a:t>=-11.01</a:t>
            </a:r>
            <a:r>
              <a:rPr lang="en-US" sz="2400" baseline="-25000" dirty="0"/>
              <a:t>2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34656AB5-49BE-4302-93AB-16C7739B1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72597"/>
              </p:ext>
            </p:extLst>
          </p:nvPr>
        </p:nvGraphicFramePr>
        <p:xfrm>
          <a:off x="685800" y="839390"/>
          <a:ext cx="7772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1969186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5599252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80774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Exponent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Significant no (fractional no)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148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101 0000 0000 0000 0000 0000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94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1 bit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8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tx1"/>
                          </a:solidFill>
                        </a:rPr>
                        <a:t>23 bits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53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3446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Floating point Addition/Subtraction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dirty="0"/>
              <a:t>Let </a:t>
            </a:r>
          </a:p>
          <a:p>
            <a:pPr marL="457200" lvl="1" indent="0">
              <a:buNone/>
            </a:pPr>
            <a:r>
              <a:rPr lang="en-US" dirty="0"/>
              <a:t>X= ± X</a:t>
            </a:r>
            <a:r>
              <a:rPr lang="en-US" baseline="-25000" dirty="0"/>
              <a:t>S</a:t>
            </a:r>
            <a:r>
              <a:rPr lang="en-US" dirty="0"/>
              <a:t> + B </a:t>
            </a:r>
            <a:r>
              <a:rPr lang="en-US" baseline="30000" dirty="0"/>
              <a:t>± XE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Y= ± Y</a:t>
            </a:r>
            <a:r>
              <a:rPr lang="en-US" baseline="-25000" dirty="0"/>
              <a:t>S</a:t>
            </a:r>
            <a:r>
              <a:rPr lang="en-US" dirty="0"/>
              <a:t> + B </a:t>
            </a:r>
            <a:r>
              <a:rPr lang="en-US" baseline="30000" dirty="0"/>
              <a:t>± YE</a:t>
            </a:r>
            <a:endParaRPr lang="en-US" dirty="0"/>
          </a:p>
          <a:p>
            <a:r>
              <a:rPr lang="en-US" dirty="0"/>
              <a:t>For X</a:t>
            </a:r>
            <a:r>
              <a:rPr lang="en-US" baseline="-25000" dirty="0"/>
              <a:t>E</a:t>
            </a:r>
            <a:r>
              <a:rPr lang="en-US" dirty="0"/>
              <a:t> = Y</a:t>
            </a:r>
            <a:r>
              <a:rPr lang="en-US" baseline="-25000" dirty="0"/>
              <a:t>E  </a:t>
            </a:r>
            <a:r>
              <a:rPr lang="en-US" dirty="0"/>
              <a:t>,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CECDB6D-3B59-41D4-BEDB-0A72AD1CE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6607"/>
              </p:ext>
            </p:extLst>
          </p:nvPr>
        </p:nvGraphicFramePr>
        <p:xfrm>
          <a:off x="1676400" y="3106645"/>
          <a:ext cx="5486400" cy="14879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4310">
                  <a:extLst>
                    <a:ext uri="{9D8B030D-6E8A-4147-A177-3AD203B41FA5}">
                      <a16:colId xmlns:a16="http://schemas.microsoft.com/office/drawing/2014/main" val="3058392455"/>
                    </a:ext>
                  </a:extLst>
                </a:gridCol>
                <a:gridCol w="3442090">
                  <a:extLst>
                    <a:ext uri="{9D8B030D-6E8A-4147-A177-3AD203B41FA5}">
                      <a16:colId xmlns:a16="http://schemas.microsoft.com/office/drawing/2014/main" val="3958181961"/>
                    </a:ext>
                  </a:extLst>
                </a:gridCol>
              </a:tblGrid>
              <a:tr h="34728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Addition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X+Y= (X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+ Y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) x B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 X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499255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Subtraction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X-Y= (X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- Y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) x B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 X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93387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Multiplication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X*Y= (X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*Y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) x B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 X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</a:rPr>
                        <a:t>E +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972081"/>
                  </a:ext>
                </a:extLst>
              </a:tr>
              <a:tr h="34728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Division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X÷Y= (X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÷Y</a:t>
                      </a:r>
                      <a:r>
                        <a:rPr lang="en-US" sz="2400" b="0" baseline="-25000" dirty="0">
                          <a:solidFill>
                            <a:schemeClr val="tx1"/>
                          </a:solidFill>
                          <a:effectLst/>
                        </a:rPr>
                        <a:t>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) x B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 X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2400" b="0" baseline="30000" dirty="0">
                          <a:solidFill>
                            <a:schemeClr val="tx1"/>
                          </a:solidFill>
                          <a:effectLst/>
                        </a:rPr>
                        <a:t> -Y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8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3915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179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B050"/>
                </a:solidFill>
              </a:rPr>
              <a:t>Given two fractional no:  	X= 0.3 x 10</a:t>
            </a:r>
            <a:r>
              <a:rPr lang="en-US" sz="3200" b="1" baseline="30000" dirty="0">
                <a:solidFill>
                  <a:srgbClr val="00B050"/>
                </a:solidFill>
              </a:rPr>
              <a:t>2</a:t>
            </a:r>
            <a:r>
              <a:rPr lang="en-US" sz="3200" b="1" dirty="0">
                <a:solidFill>
                  <a:srgbClr val="00B050"/>
                </a:solidFill>
              </a:rPr>
              <a:t> 	Y= 3.0 x 10</a:t>
            </a:r>
            <a:r>
              <a:rPr lang="en-US" sz="3200" b="1" baseline="30000" dirty="0">
                <a:solidFill>
                  <a:srgbClr val="00B050"/>
                </a:solidFill>
              </a:rPr>
              <a:t>2    </a:t>
            </a:r>
            <a:r>
              <a:rPr lang="en-US" sz="3200" b="1" dirty="0">
                <a:solidFill>
                  <a:srgbClr val="00B050"/>
                </a:solidFill>
              </a:rPr>
              <a:t>Perform addition.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4706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400050" lvl="1" indent="0">
              <a:buNone/>
            </a:pPr>
            <a:r>
              <a:rPr lang="en-US" dirty="0"/>
              <a:t>Here, 	X</a:t>
            </a:r>
            <a:r>
              <a:rPr lang="en-US" baseline="-25000" dirty="0"/>
              <a:t>S</a:t>
            </a:r>
            <a:r>
              <a:rPr lang="en-US" dirty="0"/>
              <a:t>=0.3		B</a:t>
            </a:r>
            <a:r>
              <a:rPr lang="en-US" baseline="30000" dirty="0"/>
              <a:t>XE</a:t>
            </a:r>
            <a:r>
              <a:rPr lang="en-US" dirty="0"/>
              <a:t>=10</a:t>
            </a:r>
            <a:r>
              <a:rPr lang="en-US" baseline="30000" dirty="0"/>
              <a:t>2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		Y</a:t>
            </a:r>
            <a:r>
              <a:rPr lang="en-US" baseline="-25000" dirty="0"/>
              <a:t>S</a:t>
            </a:r>
            <a:r>
              <a:rPr lang="en-US" dirty="0"/>
              <a:t>=3.0		B</a:t>
            </a:r>
            <a:r>
              <a:rPr lang="en-US" baseline="30000" dirty="0"/>
              <a:t>YE</a:t>
            </a:r>
            <a:r>
              <a:rPr lang="en-US" dirty="0"/>
              <a:t>=10</a:t>
            </a:r>
            <a:r>
              <a:rPr lang="en-US" baseline="30000" dirty="0"/>
              <a:t>2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Now,</a:t>
            </a:r>
          </a:p>
          <a:p>
            <a:pPr marL="400050" lvl="1" indent="0">
              <a:buNone/>
            </a:pPr>
            <a:r>
              <a:rPr lang="en-US" dirty="0"/>
              <a:t>X+Y	= (X</a:t>
            </a:r>
            <a:r>
              <a:rPr lang="en-US" baseline="-25000" dirty="0"/>
              <a:t>S</a:t>
            </a:r>
            <a:r>
              <a:rPr lang="en-US" dirty="0"/>
              <a:t> + Y</a:t>
            </a:r>
            <a:r>
              <a:rPr lang="en-US" baseline="-25000" dirty="0"/>
              <a:t>S</a:t>
            </a:r>
            <a:r>
              <a:rPr lang="en-US" dirty="0"/>
              <a:t>) x B</a:t>
            </a:r>
            <a:r>
              <a:rPr lang="en-US" baseline="30000" dirty="0"/>
              <a:t>XE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	= (0.3 +3.0) x 10</a:t>
            </a:r>
            <a:r>
              <a:rPr lang="en-US" baseline="30000" dirty="0"/>
              <a:t>2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	=3.3 x 10</a:t>
            </a:r>
            <a:r>
              <a:rPr lang="en-US" baseline="30000" dirty="0"/>
              <a:t>2</a:t>
            </a:r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21686120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179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Perform addition for the given binary floating numbers. And also normalize the result.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b="1" dirty="0">
                <a:solidFill>
                  <a:srgbClr val="00B050"/>
                </a:solidFill>
              </a:rPr>
              <a:t>X=-1.01 x 2</a:t>
            </a:r>
            <a:r>
              <a:rPr lang="en-US" sz="2400" b="1" baseline="30000" dirty="0">
                <a:solidFill>
                  <a:srgbClr val="00B050"/>
                </a:solidFill>
              </a:rPr>
              <a:t>2</a:t>
            </a:r>
            <a:r>
              <a:rPr lang="en-US" sz="2400" b="1" dirty="0">
                <a:solidFill>
                  <a:srgbClr val="00B050"/>
                </a:solidFill>
              </a:rPr>
              <a:t>		Y=1.1 x 2</a:t>
            </a:r>
            <a:r>
              <a:rPr lang="en-US" sz="2400" b="1" baseline="30000" dirty="0">
                <a:solidFill>
                  <a:srgbClr val="00B050"/>
                </a:solidFill>
              </a:rPr>
              <a:t>4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47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0" indent="0">
              <a:buNone/>
            </a:pPr>
            <a:r>
              <a:rPr lang="en-US" dirty="0"/>
              <a:t>X =  -1.01 x 2</a:t>
            </a:r>
            <a:r>
              <a:rPr lang="en-US" baseline="30000" dirty="0"/>
              <a:t>2</a:t>
            </a:r>
            <a:r>
              <a:rPr lang="en-US" dirty="0"/>
              <a:t>			                      Y = 1.1 x 2</a:t>
            </a:r>
            <a:r>
              <a:rPr lang="en-US" baseline="30000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=  -0.0101 x 2</a:t>
            </a:r>
            <a:r>
              <a:rPr lang="en-US" baseline="30000" dirty="0"/>
              <a:t>4 </a:t>
            </a:r>
            <a:r>
              <a:rPr lang="en-US" dirty="0"/>
              <a:t>			 	  = 1.1 x 2</a:t>
            </a:r>
            <a:r>
              <a:rPr lang="en-US" baseline="30000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baseline="30000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Here, </a:t>
            </a:r>
          </a:p>
          <a:p>
            <a:pPr marL="0" indent="0">
              <a:buNone/>
            </a:pPr>
            <a:r>
              <a:rPr lang="en-US" dirty="0"/>
              <a:t>	           X+Y	= (X</a:t>
            </a:r>
            <a:r>
              <a:rPr lang="en-US" baseline="-25000" dirty="0"/>
              <a:t>S</a:t>
            </a:r>
            <a:r>
              <a:rPr lang="en-US" dirty="0"/>
              <a:t>+Y</a:t>
            </a:r>
            <a:r>
              <a:rPr lang="en-US" baseline="-25000" dirty="0"/>
              <a:t>S</a:t>
            </a:r>
            <a:r>
              <a:rPr lang="en-US" dirty="0"/>
              <a:t>) x B</a:t>
            </a:r>
            <a:r>
              <a:rPr lang="en-US" baseline="30000" dirty="0"/>
              <a:t>XE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=(-0.0101 +1.1) X 2</a:t>
            </a:r>
            <a:r>
              <a:rPr lang="en-US" baseline="30000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=1.0011X 2</a:t>
            </a:r>
            <a:r>
              <a:rPr lang="en-US" baseline="30000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Now to normalize for 1.0011 x 2</a:t>
            </a:r>
            <a:r>
              <a:rPr lang="en-US" baseline="30000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baseline="30000" dirty="0"/>
              <a:t>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Exponent of base 2 =4</a:t>
            </a:r>
          </a:p>
          <a:p>
            <a:pPr marL="0" indent="0">
              <a:buNone/>
            </a:pPr>
            <a:r>
              <a:rPr lang="en-US" dirty="0"/>
              <a:t>	Bias 	= 127 			for 8 bit</a:t>
            </a:r>
          </a:p>
          <a:p>
            <a:pPr marL="0" indent="0">
              <a:buNone/>
            </a:pPr>
            <a:r>
              <a:rPr lang="en-US" dirty="0"/>
              <a:t>	E	=127 + 4 = 131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Hence, normalized encoding of 1.0011 x 2</a:t>
            </a:r>
            <a:r>
              <a:rPr lang="en-US" baseline="30000" dirty="0"/>
              <a:t>4 </a:t>
            </a:r>
            <a:r>
              <a:rPr lang="en-US" dirty="0"/>
              <a:t>is: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65DCED-4C4D-4065-9F78-B98AE17F5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215077"/>
              </p:ext>
            </p:extLst>
          </p:nvPr>
        </p:nvGraphicFramePr>
        <p:xfrm>
          <a:off x="2209800" y="4396979"/>
          <a:ext cx="4724400" cy="370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2356">
                  <a:extLst>
                    <a:ext uri="{9D8B030D-6E8A-4147-A177-3AD203B41FA5}">
                      <a16:colId xmlns:a16="http://schemas.microsoft.com/office/drawing/2014/main" val="2652526694"/>
                    </a:ext>
                  </a:extLst>
                </a:gridCol>
                <a:gridCol w="1179028">
                  <a:extLst>
                    <a:ext uri="{9D8B030D-6E8A-4147-A177-3AD203B41FA5}">
                      <a16:colId xmlns:a16="http://schemas.microsoft.com/office/drawing/2014/main" val="200155976"/>
                    </a:ext>
                  </a:extLst>
                </a:gridCol>
                <a:gridCol w="2673016">
                  <a:extLst>
                    <a:ext uri="{9D8B030D-6E8A-4147-A177-3AD203B41FA5}">
                      <a16:colId xmlns:a16="http://schemas.microsoft.com/office/drawing/2014/main" val="2088873413"/>
                    </a:ext>
                  </a:extLst>
                </a:gridCol>
              </a:tblGrid>
              <a:tr h="37028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1000 1000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0011 0000 0000 0000 0000 0000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6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7299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Assignment: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/>
              <a:t>Trace the multiplication of -9 and -12 using RTL code of Booth’s algorithm. Also verify the obtained product.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Write RTL code for Booth’s algorithm. Trace the multiplication of 7 and -4 using RTL code of Booth’s algorithm. Also verify the obtained product.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Show the Wallace tree to perform 4x4 multiplication for 1101 x1110.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Describe about BCD addition.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What is Lookup ROM? Describe in brief demonstrating a Lookup ROM working as XOR gate.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Show the memory content of a Lookup ROM equivalent to input OR gate.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Design a Lookup ROM to implement the function  f=</a:t>
            </a:r>
            <a:r>
              <a:rPr lang="en-US" sz="1800" dirty="0" err="1"/>
              <a:t>xy</a:t>
            </a:r>
            <a:r>
              <a:rPr lang="en-US" sz="1800" dirty="0"/>
              <a:t> + </a:t>
            </a:r>
            <a:r>
              <a:rPr lang="en-US" sz="1800" dirty="0" err="1"/>
              <a:t>y+z</a:t>
            </a:r>
            <a:r>
              <a:rPr lang="en-US" sz="1800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Design a Lookup ROM to implement the function  f=</a:t>
            </a:r>
            <a:r>
              <a:rPr lang="en-US" sz="1800" dirty="0" err="1"/>
              <a:t>xyz</a:t>
            </a:r>
            <a:r>
              <a:rPr lang="en-US" sz="1800" dirty="0"/>
              <a:t> + </a:t>
            </a:r>
            <a:r>
              <a:rPr lang="en-US" sz="1800" dirty="0" err="1"/>
              <a:t>yz</a:t>
            </a:r>
            <a:r>
              <a:rPr lang="en-US" sz="1800" dirty="0"/>
              <a:t>. 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40366993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Exam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dirty="0"/>
              <a:t>Trace the multiplication of (4) and (3) using RTL code of shift Add Multiplication Algorithm. [PU 2017 Fall]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600" dirty="0"/>
              <a:t>Write the RTL code for Booth’s Algorithm. Show the hardware implementation for the RTL code. [PU 2017 Fall]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600" dirty="0"/>
              <a:t>What is Wallace Tree? Describe in brief demonstrating a 3x3 multiplier being constructed using Wallace tree and carry save adder. [PU 2017 Fall]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What is Lookup ROM? Show the memory content of a Lookup ROM equivalent to input OR gate. [PU 2017 Spring]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Write the RTL code for Shift Add Algorithm. Show the hardware implementation for the RTL code. [PU 2017 Spring]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What is Arithmetic Pipelining? Describe in brief with an example. [PU 2017 Spring]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List out the RTL code for arithmetic and logical operations. Also show the implantation of addition and subtraction using parallel adder. [PU 2018 Fall]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Write down the RTL code for Booth’s Algorithm. [PU 2018 Fall]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What is Lookup ROM? Describe in brief demonstrating a Lookup ROM working as XOR gate. [PU 2018 Fall]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Trace RTL code of shift add multiplication algorithm for multiplication of 3 and 4. [PU 2018 Spring]</a:t>
            </a:r>
          </a:p>
          <a:p>
            <a:pPr marL="457200" indent="-457200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25258023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Exam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en-US" sz="1600" dirty="0"/>
              <a:t>What is Lookup ROM? Illustrate with an example how it works? [PU 2018 Spring]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sz="1600" dirty="0"/>
              <a:t>Trace RTL code for Booth’s Algorithm for multiplication of 9 and -3. [PU 2019 Spring]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sz="1600" dirty="0"/>
              <a:t>What is Lookup ROM? Design a Lookup ROM to implement the function  f=</a:t>
            </a:r>
            <a:r>
              <a:rPr lang="en-US" sz="1600" dirty="0" err="1"/>
              <a:t>xy</a:t>
            </a:r>
            <a:r>
              <a:rPr lang="en-US" sz="1600" dirty="0"/>
              <a:t> + </a:t>
            </a:r>
            <a:r>
              <a:rPr lang="en-US" sz="1600" dirty="0" err="1"/>
              <a:t>y’z</a:t>
            </a:r>
            <a:r>
              <a:rPr lang="en-US" sz="1600" dirty="0"/>
              <a:t>. [PU 2019 Spring]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sz="1600" dirty="0"/>
              <a:t>Perform -7 x -2 using booth’s algorithm. Can booths algorithm be used if both numbers are positive, if yes how? [PU 2020 Spring]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sz="1600" dirty="0"/>
              <a:t>Write short notes on: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400" dirty="0"/>
              <a:t>Signed and Unsigned Number representation. [PU 2017 Spring]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400" dirty="0"/>
              <a:t>BCD addition [PU 2018 Fall]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1400" dirty="0"/>
              <a:t>BCD adder [PU 2018 Spring]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30606694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End of Chapter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D341-E375-4EB9-B5A4-90241A501D57}" type="datetime1">
              <a:rPr lang="en-US" smtClean="0"/>
              <a:t>8/12/2023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Arithmetic Unit</a:t>
            </a:r>
          </a:p>
        </p:txBody>
      </p:sp>
    </p:spTree>
    <p:extLst>
      <p:ext uri="{BB962C8B-B14F-4D97-AF65-F5344CB8AC3E}">
        <p14:creationId xmlns:p14="http://schemas.microsoft.com/office/powerpoint/2010/main" val="286039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3283</TotalTime>
  <Words>3627</Words>
  <Application>Microsoft Office PowerPoint</Application>
  <PresentationFormat>On-screen Show (16:9)</PresentationFormat>
  <Paragraphs>744</Paragraphs>
  <Slides>87</Slides>
  <Notes>0</Notes>
  <HiddenSlides>18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2" baseType="lpstr">
      <vt:lpstr>-apple-system</vt:lpstr>
      <vt:lpstr>Arial</vt:lpstr>
      <vt:lpstr>Calibri</vt:lpstr>
      <vt:lpstr>Wingdings</vt:lpstr>
      <vt:lpstr>Office Theme</vt:lpstr>
      <vt:lpstr>Chapter 6 Arithmetic Unit</vt:lpstr>
      <vt:lpstr>Contents:</vt:lpstr>
      <vt:lpstr>6.1 Arithmetic Unit</vt:lpstr>
      <vt:lpstr>Data Representation</vt:lpstr>
      <vt:lpstr>Representation of Binary number and Arithmetic in signed Notation</vt:lpstr>
      <vt:lpstr>a) Unsigned Number Representation</vt:lpstr>
      <vt:lpstr>i) Addition in Unsigned Notation</vt:lpstr>
      <vt:lpstr>Overflow during Addition in Unsigned Notation</vt:lpstr>
      <vt:lpstr>ii) Subtraction in Unsigned Notation</vt:lpstr>
      <vt:lpstr>Overflow during Subtraction in Unsigned Notation</vt:lpstr>
      <vt:lpstr>b) Signed Number Representation </vt:lpstr>
      <vt:lpstr>PowerPoint Presentation</vt:lpstr>
      <vt:lpstr>PowerPoint Presentation</vt:lpstr>
      <vt:lpstr>PowerPoint Presentation</vt:lpstr>
      <vt:lpstr>PowerPoint Presentation</vt:lpstr>
      <vt:lpstr>Addition and Subtraction in signed Notation</vt:lpstr>
      <vt:lpstr>6.3 Multiplication Algorithm</vt:lpstr>
      <vt:lpstr>Unsigned Multiplication</vt:lpstr>
      <vt:lpstr>PowerPoint Presentation</vt:lpstr>
      <vt:lpstr>a) Shift Add Algorithm for Unsigned Multiplication</vt:lpstr>
      <vt:lpstr>PowerPoint Presentation</vt:lpstr>
      <vt:lpstr>PowerPoint Presentation</vt:lpstr>
      <vt:lpstr>Multiplication of 13 x11</vt:lpstr>
      <vt:lpstr>RTL code to realize Add-shift Algorithm</vt:lpstr>
      <vt:lpstr>RTL code for Unsigned Multiplication for 13 x11</vt:lpstr>
      <vt:lpstr>RTL code for Unsigned Multiplication for 13 x11</vt:lpstr>
      <vt:lpstr>Hardware Implementation of  Shift-Add Multiplication Algorithm</vt:lpstr>
      <vt:lpstr>Classwork:</vt:lpstr>
      <vt:lpstr>b) Signed Multiplication</vt:lpstr>
      <vt:lpstr>PowerPoint Presentation</vt:lpstr>
      <vt:lpstr>PowerPoint Presentation</vt:lpstr>
      <vt:lpstr>b) Booth’s Algorithm for Signed Multiplication</vt:lpstr>
      <vt:lpstr>Multiplication of -3 x-5 using Booth’s Algorithm</vt:lpstr>
      <vt:lpstr>RTL code to realize Booth’s Algorithm</vt:lpstr>
      <vt:lpstr>PowerPoint Presentation</vt:lpstr>
      <vt:lpstr>RTL code for Booth’s Algorithm for -3 x -5</vt:lpstr>
      <vt:lpstr>PowerPoint Presentation</vt:lpstr>
      <vt:lpstr>Hardware Implementation of  Booth’s Algorithm</vt:lpstr>
      <vt:lpstr>Classwork:</vt:lpstr>
      <vt:lpstr>a) Unsigned Division</vt:lpstr>
      <vt:lpstr>PowerPoint Presentation</vt:lpstr>
      <vt:lpstr>6.4 Division Algorithm</vt:lpstr>
      <vt:lpstr>Shift-Subtract Division</vt:lpstr>
      <vt:lpstr>Division of 147/13 using Shift-Subtract Division Algorithm</vt:lpstr>
      <vt:lpstr>RTL code to realize Shift-subtract Division Algorithm</vt:lpstr>
      <vt:lpstr>RTL code to realize Shift-subtract Division Algorithm</vt:lpstr>
      <vt:lpstr>Hardware Implementation of  Shift-Subtract Division Algorithm</vt:lpstr>
      <vt:lpstr>Classwork:</vt:lpstr>
      <vt:lpstr>b) Signed Division</vt:lpstr>
      <vt:lpstr>PowerPoint Presentation</vt:lpstr>
      <vt:lpstr>6.7 Binary Coded Decimal</vt:lpstr>
      <vt:lpstr>BCD Addition</vt:lpstr>
      <vt:lpstr>BCD Addition</vt:lpstr>
      <vt:lpstr>BCD Addition</vt:lpstr>
      <vt:lpstr>BCD Addition</vt:lpstr>
      <vt:lpstr>BCD Addition</vt:lpstr>
      <vt:lpstr>BCD Adder Hardware Implementation</vt:lpstr>
      <vt:lpstr>Advantages and Disadvantages of using BCD notations</vt:lpstr>
      <vt:lpstr>6.8 Specialized Arithmetic Hardware</vt:lpstr>
      <vt:lpstr>Specialized Arithmetic Hardware</vt:lpstr>
      <vt:lpstr>1. Pipelining</vt:lpstr>
      <vt:lpstr>Pipelining example</vt:lpstr>
      <vt:lpstr>Pipelining example</vt:lpstr>
      <vt:lpstr>2. Lookup Table</vt:lpstr>
      <vt:lpstr>2. Lookup Table</vt:lpstr>
      <vt:lpstr>A Multiplier implemented using a Lookup ROM</vt:lpstr>
      <vt:lpstr>Classwork</vt:lpstr>
      <vt:lpstr>3. Wallace Tree</vt:lpstr>
      <vt:lpstr>Wallace Tree</vt:lpstr>
      <vt:lpstr>PowerPoint Presentation</vt:lpstr>
      <vt:lpstr>Wallace Tree</vt:lpstr>
      <vt:lpstr>A 3x3 Wallace Tree Multiplier</vt:lpstr>
      <vt:lpstr>6.9 Floating Point Numbers</vt:lpstr>
      <vt:lpstr>6.9 Floating Point Numbers</vt:lpstr>
      <vt:lpstr>6.10 IEEE 754 floating Point Standard, Numeric Format</vt:lpstr>
      <vt:lpstr>6.10 IEEE 754 floating Point Standard, Numeric Format</vt:lpstr>
      <vt:lpstr>6.10 IEEE 754 floating Point Standard, Numeric Format</vt:lpstr>
      <vt:lpstr>Denormalization </vt:lpstr>
      <vt:lpstr>Represent (1259.125)10 in single precision format</vt:lpstr>
      <vt:lpstr>Normalization </vt:lpstr>
      <vt:lpstr>Floating point Addition/Subtraction</vt:lpstr>
      <vt:lpstr>Given two fractional no:   X= 0.3 x 102  Y= 3.0 x 102    Perform addition.</vt:lpstr>
      <vt:lpstr>Perform addition for the given binary floating numbers. And also normalize the result. X=-1.01 x 22  Y=1.1 x 24</vt:lpstr>
      <vt:lpstr>Assignment:</vt:lpstr>
      <vt:lpstr>Exam Questions:</vt:lpstr>
      <vt:lpstr>Exam Questions: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295</cp:revision>
  <dcterms:created xsi:type="dcterms:W3CDTF">2006-08-16T00:00:00Z</dcterms:created>
  <dcterms:modified xsi:type="dcterms:W3CDTF">2023-08-12T15:43:11Z</dcterms:modified>
</cp:coreProperties>
</file>