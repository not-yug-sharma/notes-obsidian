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425" r:id="rId4"/>
    <p:sldId id="426" r:id="rId5"/>
    <p:sldId id="427" r:id="rId6"/>
    <p:sldId id="428" r:id="rId7"/>
    <p:sldId id="441" r:id="rId8"/>
    <p:sldId id="448" r:id="rId9"/>
    <p:sldId id="429" r:id="rId10"/>
    <p:sldId id="444" r:id="rId11"/>
    <p:sldId id="432" r:id="rId12"/>
    <p:sldId id="433" r:id="rId13"/>
    <p:sldId id="442" r:id="rId14"/>
    <p:sldId id="434" r:id="rId15"/>
    <p:sldId id="443" r:id="rId16"/>
    <p:sldId id="446" r:id="rId17"/>
    <p:sldId id="447" r:id="rId18"/>
    <p:sldId id="430" r:id="rId19"/>
    <p:sldId id="435" r:id="rId20"/>
    <p:sldId id="449" r:id="rId21"/>
    <p:sldId id="450" r:id="rId22"/>
    <p:sldId id="454" r:id="rId23"/>
    <p:sldId id="455" r:id="rId24"/>
    <p:sldId id="456" r:id="rId25"/>
    <p:sldId id="452" r:id="rId26"/>
    <p:sldId id="453" r:id="rId27"/>
    <p:sldId id="437" r:id="rId28"/>
    <p:sldId id="438" r:id="rId29"/>
    <p:sldId id="457" r:id="rId30"/>
    <p:sldId id="439" r:id="rId31"/>
    <p:sldId id="461" r:id="rId32"/>
    <p:sldId id="458" r:id="rId33"/>
    <p:sldId id="459" r:id="rId34"/>
    <p:sldId id="460" r:id="rId35"/>
    <p:sldId id="463" r:id="rId36"/>
    <p:sldId id="424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3DD2F5"/>
    <a:srgbClr val="3399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38" autoAdjust="0"/>
  </p:normalViewPr>
  <p:slideViewPr>
    <p:cSldViewPr>
      <p:cViewPr varScale="1">
        <p:scale>
          <a:sx n="57" d="100"/>
          <a:sy n="57" d="100"/>
        </p:scale>
        <p:origin x="62" y="6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7/27/2023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F4337-3376-4503-8767-3F46CB17D24D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83B6-DE09-46C0-AC77-730B764F3FA6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B61C-D341-4BE5-949E-EEC641282986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51BA-AB04-49AF-BFA8-151FCF47C50B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D3BA-6E9A-425E-B106-0352F44AE1B6}" type="datetime1">
              <a:rPr lang="en-US" smtClean="0"/>
              <a:t>7/27/2023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01C0E-E052-4FF5-93A8-23526C13E365}" type="datetime1">
              <a:rPr lang="en-US" smtClean="0"/>
              <a:t>7/27/2023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94D2-3952-4B7B-AF62-7A6261422751}" type="datetime1">
              <a:rPr lang="en-US" smtClean="0"/>
              <a:t>7/27/2023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A70F-231B-4B92-894F-3BB7B7AC6497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BC8AD-29E5-4713-9FD1-A433C34B52BD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59A8-DA17-46EB-87EE-D9D15F10EBB2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24D5E-4F8C-4806-9929-364D3574BA9A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564BA-91A6-425E-BAB0-CCD28D549767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Overview of 8086 Microprocessor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47751"/>
            <a:ext cx="7772400" cy="1652588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Chapter 3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Overview of 8086 Microprocessor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181350"/>
            <a:ext cx="6400800" cy="104775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Credit: 3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hrs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Overview: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Architecture of 8086 Microprocessor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Addressing modes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ALP Development Tools: Editor, </a:t>
            </a:r>
            <a:r>
              <a:rPr lang="en-US" sz="2000"/>
              <a:t>Assemebler</a:t>
            </a:r>
            <a:r>
              <a:rPr lang="en-US" sz="2000" dirty="0"/>
              <a:t> and Linker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F430C-DE29-4ADA-8A8F-EBC83498159C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1. Introduction to 8086 Microprocessor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r>
              <a:rPr lang="en-US" sz="2000" dirty="0"/>
              <a:t>8086 Microprocessor is an </a:t>
            </a:r>
            <a:r>
              <a:rPr lang="en-US" sz="2000" dirty="0">
                <a:solidFill>
                  <a:srgbClr val="C00000"/>
                </a:solidFill>
              </a:rPr>
              <a:t>enhanced version of 8085 </a:t>
            </a:r>
            <a:r>
              <a:rPr lang="en-US" sz="2000" dirty="0"/>
              <a:t>Microprocessor that was designed by Intel in 1976. </a:t>
            </a:r>
          </a:p>
          <a:p>
            <a:r>
              <a:rPr lang="en-US" sz="2000" dirty="0"/>
              <a:t>It is </a:t>
            </a:r>
            <a:r>
              <a:rPr lang="en-US" sz="2000" dirty="0">
                <a:solidFill>
                  <a:srgbClr val="C00000"/>
                </a:solidFill>
              </a:rPr>
              <a:t>a 16-bit Microprocessor </a:t>
            </a:r>
            <a:r>
              <a:rPr lang="en-US" sz="2000" dirty="0"/>
              <a:t>having: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20 address lines </a:t>
            </a:r>
            <a:r>
              <a:rPr lang="en-US" sz="1600" dirty="0"/>
              <a:t>and 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16 data lines </a:t>
            </a:r>
            <a:r>
              <a:rPr lang="en-US" sz="1600" dirty="0"/>
              <a:t>that provides up to 1MB storage. </a:t>
            </a:r>
          </a:p>
          <a:p>
            <a:r>
              <a:rPr lang="en-US" sz="2000" dirty="0"/>
              <a:t>It consists of powerful instruction set, which provides operations like multiplication and division easily.</a:t>
            </a:r>
          </a:p>
          <a:p>
            <a:r>
              <a:rPr lang="en-US" sz="2000" dirty="0"/>
              <a:t>It </a:t>
            </a:r>
            <a:r>
              <a:rPr lang="en-US" sz="2000" dirty="0">
                <a:solidFill>
                  <a:srgbClr val="C00000"/>
                </a:solidFill>
              </a:rPr>
              <a:t>supports two modes of operation</a:t>
            </a:r>
            <a:r>
              <a:rPr lang="en-US" sz="2000" dirty="0"/>
              <a:t>, i.e. Maximum mode and Minimum mode. 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Maximum mode </a:t>
            </a:r>
            <a:r>
              <a:rPr lang="en-US" sz="1800" dirty="0"/>
              <a:t>is suitable for system having </a:t>
            </a:r>
            <a:r>
              <a:rPr lang="en-US" sz="1800" dirty="0">
                <a:solidFill>
                  <a:srgbClr val="C00000"/>
                </a:solidFill>
              </a:rPr>
              <a:t>multiple processors </a:t>
            </a:r>
            <a:r>
              <a:rPr lang="en-US" sz="1800" dirty="0"/>
              <a:t>and 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Minimum mode </a:t>
            </a:r>
            <a:r>
              <a:rPr lang="en-US" sz="1800" dirty="0"/>
              <a:t>is suitable for system having a </a:t>
            </a:r>
            <a:r>
              <a:rPr lang="en-US" sz="1800" dirty="0">
                <a:solidFill>
                  <a:srgbClr val="C00000"/>
                </a:solidFill>
              </a:rPr>
              <a:t>single processor.</a:t>
            </a:r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4FDE-50F0-4940-A267-0811F915BBC2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266680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Features of 8086 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was the </a:t>
            </a:r>
            <a:r>
              <a:rPr lang="en-US" sz="2000" dirty="0">
                <a:solidFill>
                  <a:srgbClr val="C00000"/>
                </a:solidFill>
              </a:rPr>
              <a:t>first 16-bit microprocessor.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has a 16-bit data bus, so it can read data from or write data to memory and ports either 16-bit or 8-bit at a time. 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has </a:t>
            </a:r>
            <a:r>
              <a:rPr lang="en-US" sz="2000" dirty="0">
                <a:solidFill>
                  <a:srgbClr val="C00000"/>
                </a:solidFill>
              </a:rPr>
              <a:t>20 bit address bus </a:t>
            </a:r>
            <a:r>
              <a:rPr lang="en-US" sz="2000" dirty="0"/>
              <a:t>and can access up to 220 memory locations (1 MB). 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can </a:t>
            </a:r>
            <a:r>
              <a:rPr lang="en-US" sz="2000" dirty="0">
                <a:solidFill>
                  <a:srgbClr val="C00000"/>
                </a:solidFill>
              </a:rPr>
              <a:t>support up to 64K I/O ports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provides </a:t>
            </a:r>
            <a:r>
              <a:rPr lang="en-US" sz="2000" dirty="0">
                <a:solidFill>
                  <a:srgbClr val="C00000"/>
                </a:solidFill>
              </a:rPr>
              <a:t>fourteen 16-bit registers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has </a:t>
            </a:r>
            <a:r>
              <a:rPr lang="en-US" sz="2000" dirty="0">
                <a:solidFill>
                  <a:srgbClr val="C00000"/>
                </a:solidFill>
              </a:rPr>
              <a:t>multiplexed address and data bus </a:t>
            </a:r>
            <a:r>
              <a:rPr lang="en-US" sz="2000" dirty="0"/>
              <a:t>AD0-AD15 &amp; A16-A19 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It </a:t>
            </a:r>
            <a:r>
              <a:rPr lang="en-US" sz="2000" dirty="0">
                <a:solidFill>
                  <a:srgbClr val="C00000"/>
                </a:solidFill>
              </a:rPr>
              <a:t>requires single phase clock </a:t>
            </a:r>
            <a:r>
              <a:rPr lang="en-US" sz="2000" dirty="0"/>
              <a:t>with 33% duty cycle to provide internal timing. 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Prefetches up to 6 instruction bytes from memory and queues them in order to speed up the processing. 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8086 </a:t>
            </a:r>
            <a:r>
              <a:rPr lang="en-US" sz="2000" dirty="0">
                <a:solidFill>
                  <a:srgbClr val="C00000"/>
                </a:solidFill>
              </a:rPr>
              <a:t>supports two modes of operation</a:t>
            </a:r>
            <a:r>
              <a:rPr lang="en-US" sz="2000" dirty="0"/>
              <a:t>: Minimum mode and Maximum mode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46C0-C665-41BF-8532-43B496612FE1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137040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00B050"/>
                </a:solidFill>
              </a:rPr>
              <a:t>Comparison between 8085 &amp; 8086 Microprocessor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r>
              <a:rPr lang="en-US" sz="1800" b="1" dirty="0"/>
              <a:t>Size</a:t>
            </a:r>
            <a:r>
              <a:rPr lang="en-US" sz="1800" dirty="0"/>
              <a:t> − 8085 is </a:t>
            </a:r>
            <a:r>
              <a:rPr lang="en-US" sz="1800" dirty="0">
                <a:solidFill>
                  <a:srgbClr val="C00000"/>
                </a:solidFill>
              </a:rPr>
              <a:t>8-bit</a:t>
            </a:r>
            <a:r>
              <a:rPr lang="en-US" sz="1800" dirty="0"/>
              <a:t> microprocessor, whereas 8086 is </a:t>
            </a:r>
            <a:r>
              <a:rPr lang="en-US" sz="1800" dirty="0">
                <a:solidFill>
                  <a:srgbClr val="0070C0"/>
                </a:solidFill>
              </a:rPr>
              <a:t>16-bit</a:t>
            </a:r>
            <a:r>
              <a:rPr lang="en-US" sz="1800" dirty="0"/>
              <a:t> microprocessor.</a:t>
            </a:r>
          </a:p>
          <a:p>
            <a:r>
              <a:rPr lang="en-US" sz="1800" b="1" dirty="0"/>
              <a:t>Address Bus</a:t>
            </a:r>
            <a:r>
              <a:rPr lang="en-US" sz="1800" dirty="0"/>
              <a:t> − 8085 has </a:t>
            </a:r>
            <a:r>
              <a:rPr lang="en-US" sz="1800" dirty="0">
                <a:solidFill>
                  <a:srgbClr val="C00000"/>
                </a:solidFill>
              </a:rPr>
              <a:t>16-bit address bus </a:t>
            </a:r>
            <a:r>
              <a:rPr lang="en-US" sz="1800" dirty="0"/>
              <a:t>while 8086 has </a:t>
            </a:r>
            <a:r>
              <a:rPr lang="en-US" sz="1800" dirty="0">
                <a:solidFill>
                  <a:srgbClr val="0070C0"/>
                </a:solidFill>
              </a:rPr>
              <a:t>20-bit address </a:t>
            </a:r>
            <a:r>
              <a:rPr lang="en-US" sz="1800" dirty="0"/>
              <a:t>bus.</a:t>
            </a:r>
          </a:p>
          <a:p>
            <a:r>
              <a:rPr lang="en-US" sz="1800" b="1" dirty="0"/>
              <a:t>Memory</a:t>
            </a:r>
            <a:r>
              <a:rPr lang="en-US" sz="1800" dirty="0"/>
              <a:t> − 8085 can access up to </a:t>
            </a:r>
            <a:r>
              <a:rPr lang="en-US" sz="1800" dirty="0">
                <a:solidFill>
                  <a:srgbClr val="C00000"/>
                </a:solidFill>
              </a:rPr>
              <a:t>64Kb, </a:t>
            </a:r>
            <a:r>
              <a:rPr lang="en-US" sz="1800" dirty="0"/>
              <a:t>whereas 8086 can </a:t>
            </a:r>
            <a:r>
              <a:rPr lang="en-US" sz="1800" dirty="0">
                <a:solidFill>
                  <a:srgbClr val="0070C0"/>
                </a:solidFill>
              </a:rPr>
              <a:t>access up to 1 Mb </a:t>
            </a:r>
            <a:r>
              <a:rPr lang="en-US" sz="1800" dirty="0"/>
              <a:t>of memory.</a:t>
            </a:r>
            <a:r>
              <a:rPr lang="en-US" sz="1800" b="1" dirty="0"/>
              <a:t> </a:t>
            </a:r>
          </a:p>
          <a:p>
            <a:r>
              <a:rPr lang="en-US" sz="1800" b="1" dirty="0"/>
              <a:t>Instruction</a:t>
            </a:r>
            <a:r>
              <a:rPr lang="en-US" sz="1800" dirty="0"/>
              <a:t> − 8085 </a:t>
            </a:r>
            <a:r>
              <a:rPr lang="en-US" sz="1800" dirty="0">
                <a:solidFill>
                  <a:srgbClr val="C00000"/>
                </a:solidFill>
              </a:rPr>
              <a:t>doesn’t have an instruction queue</a:t>
            </a:r>
            <a:r>
              <a:rPr lang="en-US" sz="1800" dirty="0"/>
              <a:t>, whereas </a:t>
            </a:r>
            <a:r>
              <a:rPr lang="en-US" sz="1800" dirty="0">
                <a:solidFill>
                  <a:srgbClr val="0070C0"/>
                </a:solidFill>
              </a:rPr>
              <a:t>8086 has an instruction queue.</a:t>
            </a:r>
          </a:p>
          <a:p>
            <a:r>
              <a:rPr lang="en-US" sz="1800" b="1" dirty="0"/>
              <a:t>Pipelining</a:t>
            </a:r>
            <a:r>
              <a:rPr lang="en-US" sz="1800" dirty="0"/>
              <a:t> − 8085 </a:t>
            </a:r>
            <a:r>
              <a:rPr lang="en-US" sz="1800" dirty="0">
                <a:solidFill>
                  <a:srgbClr val="C00000"/>
                </a:solidFill>
              </a:rPr>
              <a:t>doesn’t support a pipelined architecture </a:t>
            </a:r>
            <a:r>
              <a:rPr lang="en-US" sz="1800" dirty="0"/>
              <a:t>while 8086 </a:t>
            </a:r>
            <a:r>
              <a:rPr lang="en-US" sz="1800" dirty="0">
                <a:solidFill>
                  <a:srgbClr val="0070C0"/>
                </a:solidFill>
              </a:rPr>
              <a:t>supports a pipelined architecture.</a:t>
            </a:r>
          </a:p>
          <a:p>
            <a:r>
              <a:rPr lang="en-US" sz="1800" b="1" dirty="0"/>
              <a:t>I/O</a:t>
            </a:r>
            <a:r>
              <a:rPr lang="en-US" sz="1800" dirty="0"/>
              <a:t> − 8085 can </a:t>
            </a:r>
            <a:r>
              <a:rPr lang="en-US" sz="1800" dirty="0">
                <a:solidFill>
                  <a:srgbClr val="C00000"/>
                </a:solidFill>
              </a:rPr>
              <a:t>address 2^8 </a:t>
            </a:r>
            <a:r>
              <a:rPr lang="en-US" sz="1800" dirty="0"/>
              <a:t>= 256 I/O's, whereas 8086 can access </a:t>
            </a:r>
            <a:r>
              <a:rPr lang="en-US" sz="1800" dirty="0">
                <a:solidFill>
                  <a:srgbClr val="0070C0"/>
                </a:solidFill>
              </a:rPr>
              <a:t>2^16 = 65,536 I/O’s.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</a:p>
          <a:p>
            <a:r>
              <a:rPr lang="en-US" sz="1800" b="1" dirty="0"/>
              <a:t>Cost</a:t>
            </a:r>
            <a:r>
              <a:rPr lang="en-US" sz="1800" dirty="0"/>
              <a:t> − The </a:t>
            </a:r>
            <a:r>
              <a:rPr lang="en-US" sz="1800" dirty="0">
                <a:solidFill>
                  <a:srgbClr val="C00000"/>
                </a:solidFill>
              </a:rPr>
              <a:t>cost of 8085 is low </a:t>
            </a:r>
            <a:r>
              <a:rPr lang="en-US" sz="1800" dirty="0"/>
              <a:t>whereas that of </a:t>
            </a:r>
            <a:r>
              <a:rPr lang="en-US" sz="1800" dirty="0">
                <a:solidFill>
                  <a:srgbClr val="0070C0"/>
                </a:solidFill>
              </a:rPr>
              <a:t>8086 is high.</a:t>
            </a:r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F533D-167A-4B23-8850-700435DE0EE1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09198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2. Architecture of 8086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0480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000" dirty="0"/>
              <a:t>As shown in the figure, the 8086 CPU is divided into two independent functional parts: </a:t>
            </a:r>
          </a:p>
          <a:p>
            <a:pPr lvl="1">
              <a:tabLst>
                <a:tab pos="463550" algn="l"/>
              </a:tabLst>
            </a:pPr>
            <a:r>
              <a:rPr lang="en-US" sz="1600" dirty="0">
                <a:solidFill>
                  <a:srgbClr val="C00000"/>
                </a:solidFill>
              </a:rPr>
              <a:t>Bus Interface Unit(BIU)</a:t>
            </a:r>
          </a:p>
          <a:p>
            <a:pPr lvl="1">
              <a:tabLst>
                <a:tab pos="463550" algn="l"/>
              </a:tabLst>
            </a:pPr>
            <a:r>
              <a:rPr lang="en-US" sz="1600" dirty="0">
                <a:solidFill>
                  <a:srgbClr val="C00000"/>
                </a:solidFill>
              </a:rPr>
              <a:t>Execution Unit(EU)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Dividing the work between these two units’ speeds up processing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E940-F430-4031-926F-E1A03E3FB74D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1FB0B64-A507-42F8-A856-8B5A6C27E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263" y="595376"/>
            <a:ext cx="5486400" cy="385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36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419600" cy="3851673"/>
          </a:xfrm>
          <a:noFill/>
        </p:spPr>
        <p:txBody>
          <a:bodyPr>
            <a:noAutofit/>
          </a:bodyPr>
          <a:lstStyle/>
          <a:p>
            <a:pPr marL="0" indent="0">
              <a:buNone/>
              <a:tabLst>
                <a:tab pos="463550" algn="l"/>
              </a:tabLst>
            </a:pPr>
            <a:r>
              <a:rPr lang="en-US" sz="1200" b="1" dirty="0">
                <a:solidFill>
                  <a:srgbClr val="0070C0"/>
                </a:solidFill>
              </a:rPr>
              <a:t>a) The execution unit (EU):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200" dirty="0"/>
              <a:t>The execution unit of the 8086 </a:t>
            </a:r>
            <a:r>
              <a:rPr lang="en-US" sz="1200" dirty="0">
                <a:solidFill>
                  <a:srgbClr val="C00000"/>
                </a:solidFill>
              </a:rPr>
              <a:t>tells the BIU where to fetch instructions or data from, decodes instructions, and executes instructions.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200" dirty="0"/>
              <a:t>The EU </a:t>
            </a:r>
            <a:r>
              <a:rPr lang="en-US" sz="1200" dirty="0">
                <a:solidFill>
                  <a:srgbClr val="C00000"/>
                </a:solidFill>
              </a:rPr>
              <a:t>contains control circuitry, </a:t>
            </a:r>
            <a:r>
              <a:rPr lang="en-US" sz="1200" dirty="0"/>
              <a:t>which directs internal operations. 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200" dirty="0"/>
              <a:t>A decoder in the EU translates instructions fetched from memory into a series of actions, which the EU carries out. 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200" dirty="0"/>
              <a:t>The EU has a 16-bit arithmetic logic unit (ALU) which can add, subtract, AND, OR, XOR, increment, decrement, complement or shift binary numbers. 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200" dirty="0"/>
              <a:t>The </a:t>
            </a:r>
            <a:r>
              <a:rPr lang="en-US" sz="1200" dirty="0">
                <a:solidFill>
                  <a:srgbClr val="C00000"/>
                </a:solidFill>
              </a:rPr>
              <a:t>main functions </a:t>
            </a:r>
            <a:r>
              <a:rPr lang="en-US" sz="1200" dirty="0"/>
              <a:t>of EU are: </a:t>
            </a:r>
          </a:p>
          <a:p>
            <a:pPr marL="457200" lvl="1" indent="-223838">
              <a:tabLst>
                <a:tab pos="463550" algn="l"/>
              </a:tabLst>
            </a:pPr>
            <a:r>
              <a:rPr lang="en-US" sz="1200" dirty="0">
                <a:solidFill>
                  <a:srgbClr val="C00000"/>
                </a:solidFill>
              </a:rPr>
              <a:t>Decoding </a:t>
            </a:r>
            <a:r>
              <a:rPr lang="en-US" sz="1200" dirty="0"/>
              <a:t>of instructions</a:t>
            </a:r>
          </a:p>
          <a:p>
            <a:pPr marL="457200" lvl="1" indent="-223838">
              <a:tabLst>
                <a:tab pos="463550" algn="l"/>
              </a:tabLst>
            </a:pPr>
            <a:r>
              <a:rPr lang="en-US" sz="1200" dirty="0">
                <a:solidFill>
                  <a:srgbClr val="C00000"/>
                </a:solidFill>
              </a:rPr>
              <a:t>Execution </a:t>
            </a:r>
            <a:r>
              <a:rPr lang="en-US" sz="1200" dirty="0"/>
              <a:t>of instructions</a:t>
            </a:r>
          </a:p>
          <a:p>
            <a:pPr marL="690563" lvl="2" indent="-233363">
              <a:tabLst>
                <a:tab pos="463550" algn="l"/>
              </a:tabLst>
            </a:pPr>
            <a:r>
              <a:rPr lang="en-US" sz="1050" dirty="0"/>
              <a:t>EU extracts instructions from top of queue in BIU</a:t>
            </a:r>
          </a:p>
          <a:p>
            <a:pPr marL="690563" lvl="2" indent="-233363">
              <a:tabLst>
                <a:tab pos="463550" algn="l"/>
              </a:tabLst>
            </a:pPr>
            <a:r>
              <a:rPr lang="en-US" sz="1050" dirty="0"/>
              <a:t>Decode the instructions </a:t>
            </a:r>
          </a:p>
          <a:p>
            <a:pPr marL="690563" lvl="2" indent="-233363">
              <a:tabLst>
                <a:tab pos="463550" algn="l"/>
              </a:tabLst>
            </a:pPr>
            <a:r>
              <a:rPr lang="en-US" sz="1050" dirty="0"/>
              <a:t>Generates operands if necessary </a:t>
            </a:r>
          </a:p>
          <a:p>
            <a:pPr marL="690563" lvl="2" indent="-233363">
              <a:tabLst>
                <a:tab pos="463550" algn="l"/>
              </a:tabLst>
            </a:pPr>
            <a:r>
              <a:rPr lang="en-US" sz="1050" dirty="0"/>
              <a:t>Passes operands to BIU &amp; requests it to perform read or write bus cycles to memory or I/O </a:t>
            </a:r>
          </a:p>
          <a:p>
            <a:pPr marL="690563" lvl="2" indent="-233363">
              <a:tabLst>
                <a:tab pos="463550" algn="l"/>
              </a:tabLst>
            </a:pPr>
            <a:r>
              <a:rPr lang="en-US" sz="1050" dirty="0"/>
              <a:t>Perform the operation specified by the instruction on operands </a:t>
            </a:r>
          </a:p>
          <a:p>
            <a:pPr lvl="1"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A984-9697-4802-A2D5-8EBFE0FB7ABE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40F24E-1330-4AEA-B4E3-D937B9B5A7F0}"/>
              </a:ext>
            </a:extLst>
          </p:cNvPr>
          <p:cNvSpPr txBox="1">
            <a:spLocks/>
          </p:cNvSpPr>
          <p:nvPr/>
        </p:nvSpPr>
        <p:spPr>
          <a:xfrm>
            <a:off x="4648200" y="3248497"/>
            <a:ext cx="4321048" cy="14848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63550" algn="l"/>
              </a:tabLst>
            </a:pPr>
            <a:r>
              <a:rPr lang="en-US" sz="1100" b="1" dirty="0">
                <a:solidFill>
                  <a:srgbClr val="0070C0"/>
                </a:solidFill>
              </a:rPr>
              <a:t>b)   Bus Interface Unit (BIU): 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050" dirty="0"/>
              <a:t>The BIU:</a:t>
            </a:r>
          </a:p>
          <a:p>
            <a:pPr marL="633413" lvl="1" indent="-233363">
              <a:tabLst>
                <a:tab pos="463550" algn="l"/>
              </a:tabLst>
            </a:pPr>
            <a:r>
              <a:rPr lang="en-US" sz="1000" dirty="0">
                <a:solidFill>
                  <a:srgbClr val="C00000"/>
                </a:solidFill>
              </a:rPr>
              <a:t>sends out addresses, </a:t>
            </a:r>
          </a:p>
          <a:p>
            <a:pPr marL="633413" lvl="1" indent="-233363">
              <a:tabLst>
                <a:tab pos="463550" algn="l"/>
              </a:tabLst>
            </a:pPr>
            <a:r>
              <a:rPr lang="en-US" sz="1000" dirty="0">
                <a:solidFill>
                  <a:srgbClr val="C00000"/>
                </a:solidFill>
              </a:rPr>
              <a:t>fetches instructions from memory, </a:t>
            </a:r>
          </a:p>
          <a:p>
            <a:pPr marL="633413" lvl="1" indent="-233363">
              <a:tabLst>
                <a:tab pos="463550" algn="l"/>
              </a:tabLst>
            </a:pPr>
            <a:r>
              <a:rPr lang="en-US" sz="1000" dirty="0">
                <a:solidFill>
                  <a:srgbClr val="C00000"/>
                </a:solidFill>
              </a:rPr>
              <a:t>reads data from ports and memory, and </a:t>
            </a:r>
          </a:p>
          <a:p>
            <a:pPr marL="633413" lvl="1" indent="-233363">
              <a:tabLst>
                <a:tab pos="463550" algn="l"/>
              </a:tabLst>
            </a:pPr>
            <a:r>
              <a:rPr lang="en-US" sz="1000" dirty="0">
                <a:solidFill>
                  <a:srgbClr val="C00000"/>
                </a:solidFill>
              </a:rPr>
              <a:t>writes data to ports and memory.</a:t>
            </a:r>
          </a:p>
          <a:p>
            <a:pPr marL="233363" indent="-233363">
              <a:tabLst>
                <a:tab pos="463550" algn="l"/>
              </a:tabLst>
            </a:pPr>
            <a:r>
              <a:rPr lang="en-US" sz="1050" dirty="0"/>
              <a:t>In simple words, the </a:t>
            </a:r>
            <a:r>
              <a:rPr lang="en-US" sz="1050" dirty="0">
                <a:solidFill>
                  <a:srgbClr val="C00000"/>
                </a:solidFill>
              </a:rPr>
              <a:t>BIU handles all transfers of data and addresses </a:t>
            </a:r>
            <a:r>
              <a:rPr lang="en-US" sz="1050" dirty="0"/>
              <a:t>on the buses for the execution unit.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36C7623-7CA8-4CD6-99DC-5D679116B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924" y="169854"/>
            <a:ext cx="4268875" cy="300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7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DAF9833-91F1-4510-B205-D6FD5B1D5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716631"/>
            <a:ext cx="57150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Functional parts of 8086 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483224" cy="3851673"/>
          </a:xfrm>
          <a:noFill/>
        </p:spPr>
        <p:txBody>
          <a:bodyPr>
            <a:normAutofit/>
          </a:bodyPr>
          <a:lstStyle/>
          <a:p>
            <a:pPr>
              <a:buAutoNum type="arabicPeriod"/>
              <a:tabLst>
                <a:tab pos="463550" algn="l"/>
              </a:tabLst>
            </a:pPr>
            <a:r>
              <a:rPr lang="en-US" sz="1600" b="1" dirty="0"/>
              <a:t>Execution Unit (EU)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ALU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General Purpose Registers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Stack Pointer Registers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Flag Registers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Control System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endParaRPr lang="en-US" sz="1200" b="1" dirty="0"/>
          </a:p>
          <a:p>
            <a:pPr>
              <a:buAutoNum type="arabicPeriod"/>
              <a:tabLst>
                <a:tab pos="463550" algn="l"/>
              </a:tabLst>
            </a:pPr>
            <a:r>
              <a:rPr lang="en-US" sz="1600" b="1" dirty="0"/>
              <a:t>Bus Interface Unit (BIU)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Instruction Queue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Segment Registers</a:t>
            </a:r>
          </a:p>
          <a:p>
            <a:pPr lvl="1">
              <a:buFont typeface="+mj-lt"/>
              <a:buAutoNum type="alphaLcParenR"/>
              <a:tabLst>
                <a:tab pos="463550" algn="l"/>
              </a:tabLst>
            </a:pPr>
            <a:r>
              <a:rPr lang="en-US" sz="1200" b="1" dirty="0"/>
              <a:t>Interface Unit</a:t>
            </a:r>
          </a:p>
          <a:p>
            <a:pPr>
              <a:buAutoNum type="arabicPeriod"/>
              <a:tabLst>
                <a:tab pos="463550" algn="l"/>
              </a:tabLst>
            </a:pPr>
            <a:endParaRPr lang="en-US" sz="1200" b="1" dirty="0"/>
          </a:p>
          <a:p>
            <a:pPr>
              <a:buAutoNum type="arabicPeriod"/>
              <a:tabLst>
                <a:tab pos="463550" algn="l"/>
              </a:tabLst>
            </a:pPr>
            <a:endParaRPr lang="en-US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F15B-6B87-45D4-9010-4A7D220263C5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A3E5EF-6E2A-4AAC-A8A0-1A34D17C59E9}"/>
              </a:ext>
            </a:extLst>
          </p:cNvPr>
          <p:cNvSpPr txBox="1"/>
          <p:nvPr/>
        </p:nvSpPr>
        <p:spPr>
          <a:xfrm rot="16200000">
            <a:off x="4764429" y="230625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FF0000"/>
                </a:solidFill>
              </a:rPr>
              <a:t>Segment 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Registers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215E9B-A2B6-4D58-8CA1-AE42B583CEAF}"/>
              </a:ext>
            </a:extLst>
          </p:cNvPr>
          <p:cNvSpPr txBox="1"/>
          <p:nvPr/>
        </p:nvSpPr>
        <p:spPr>
          <a:xfrm rot="16200000">
            <a:off x="4888462" y="3533439"/>
            <a:ext cx="5100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FF0000"/>
                </a:solidFill>
              </a:rPr>
              <a:t>General 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Purpose 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Register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AA4B34-43A5-40B0-A698-2442CDA7A8C8}"/>
              </a:ext>
            </a:extLst>
          </p:cNvPr>
          <p:cNvSpPr txBox="1"/>
          <p:nvPr/>
        </p:nvSpPr>
        <p:spPr>
          <a:xfrm rot="16200000">
            <a:off x="4881249" y="4053760"/>
            <a:ext cx="5245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FF0000"/>
                </a:solidFill>
              </a:rPr>
              <a:t>Stack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Pointer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Registers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86187209-2143-41D2-BA1F-AA8071438139}"/>
              </a:ext>
            </a:extLst>
          </p:cNvPr>
          <p:cNvSpPr/>
          <p:nvPr/>
        </p:nvSpPr>
        <p:spPr>
          <a:xfrm>
            <a:off x="4935750" y="3502471"/>
            <a:ext cx="45719" cy="464958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79AF7554-7ECA-4A32-9D2A-CAB57572326A}"/>
              </a:ext>
            </a:extLst>
          </p:cNvPr>
          <p:cNvSpPr/>
          <p:nvPr/>
        </p:nvSpPr>
        <p:spPr>
          <a:xfrm>
            <a:off x="4918500" y="4013590"/>
            <a:ext cx="45719" cy="464958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00B050"/>
                </a:solidFill>
              </a:rPr>
              <a:t>1. Execution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483224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463550" algn="l"/>
              </a:tabLst>
            </a:pPr>
            <a:r>
              <a:rPr lang="en-US" sz="1800" b="1" dirty="0">
                <a:solidFill>
                  <a:srgbClr val="0070C0"/>
                </a:solidFill>
              </a:rPr>
              <a:t>a)  ALU</a:t>
            </a:r>
          </a:p>
          <a:p>
            <a:pPr>
              <a:tabLst>
                <a:tab pos="463550" algn="l"/>
              </a:tabLst>
            </a:pPr>
            <a:r>
              <a:rPr lang="en-US" sz="1800" dirty="0"/>
              <a:t>It </a:t>
            </a:r>
            <a:r>
              <a:rPr lang="en-US" sz="1800" dirty="0">
                <a:solidFill>
                  <a:srgbClr val="C00000"/>
                </a:solidFill>
              </a:rPr>
              <a:t>handles all arithmetic and logical operations, </a:t>
            </a:r>
            <a:r>
              <a:rPr lang="en-US" sz="1800" dirty="0"/>
              <a:t>like +, −, ×, /, OR, AND, NOT operations.</a:t>
            </a:r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340-4D2C-43C2-8217-B43E2EE724A6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AF9833-91F1-4510-B205-D6FD5B1D5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716631"/>
            <a:ext cx="57150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25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524500" cy="3851673"/>
          </a:xfrm>
          <a:noFill/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b) General purpose register</a:t>
            </a:r>
          </a:p>
          <a:p>
            <a:r>
              <a:rPr lang="en-US" sz="1400" dirty="0"/>
              <a:t>There are 8 general purpose registers, i.e., AH, AL, BH, BL, CH, CL, DH, and DL. </a:t>
            </a:r>
          </a:p>
          <a:p>
            <a:r>
              <a:rPr lang="en-US" sz="1400" dirty="0"/>
              <a:t>These registers can be used individually to store 8-bit data and can be used in pairs to store 16bit data. </a:t>
            </a:r>
          </a:p>
          <a:p>
            <a:r>
              <a:rPr lang="en-US" sz="1400" dirty="0"/>
              <a:t>The valid register pairs are AH and AL, BH and BL, CH and CL, and DH and DL. </a:t>
            </a:r>
          </a:p>
          <a:p>
            <a:r>
              <a:rPr lang="en-US" sz="1400" dirty="0"/>
              <a:t>It is referred to the AX, BX, CX, and DX respectively.</a:t>
            </a:r>
          </a:p>
          <a:p>
            <a:pPr marL="625475" lvl="1"/>
            <a:r>
              <a:rPr lang="en-US" sz="1400" b="1" dirty="0"/>
              <a:t>AX register:</a:t>
            </a:r>
          </a:p>
          <a:p>
            <a:pPr marL="1025525" lvl="2"/>
            <a:r>
              <a:rPr lang="en-US" sz="1400" dirty="0"/>
              <a:t> It is also known as accumulator register. </a:t>
            </a:r>
          </a:p>
          <a:p>
            <a:pPr marL="1025525" lvl="2"/>
            <a:r>
              <a:rPr lang="en-US" sz="1400" dirty="0"/>
              <a:t>It is used to store operands for arithmetic operations.</a:t>
            </a:r>
          </a:p>
          <a:p>
            <a:pPr marL="625475" lvl="1"/>
            <a:r>
              <a:rPr lang="en-US" sz="1400" b="1" dirty="0"/>
              <a:t>BX register</a:t>
            </a:r>
            <a:r>
              <a:rPr lang="en-US" sz="1400" dirty="0"/>
              <a:t> </a:t>
            </a:r>
          </a:p>
          <a:p>
            <a:pPr marL="1025525" lvl="2"/>
            <a:r>
              <a:rPr lang="en-US" sz="1400" dirty="0"/>
              <a:t>It is used as a base register. </a:t>
            </a:r>
          </a:p>
          <a:p>
            <a:pPr marL="1025525" lvl="2"/>
            <a:r>
              <a:rPr lang="en-US" sz="1400" dirty="0"/>
              <a:t>It is used to store the starting base address of the memory area within the data segment.</a:t>
            </a:r>
          </a:p>
          <a:p>
            <a:pPr marL="625475" lvl="1"/>
            <a:r>
              <a:rPr lang="en-US" sz="1400" b="1" dirty="0"/>
              <a:t>CX register</a:t>
            </a:r>
            <a:r>
              <a:rPr lang="en-US" sz="1400" dirty="0"/>
              <a:t> </a:t>
            </a:r>
          </a:p>
          <a:p>
            <a:pPr marL="1025525" lvl="2"/>
            <a:r>
              <a:rPr lang="en-US" sz="1400" dirty="0"/>
              <a:t>It is referred to as counter. </a:t>
            </a:r>
          </a:p>
          <a:p>
            <a:pPr marL="1025525" lvl="2"/>
            <a:r>
              <a:rPr lang="en-US" sz="1400" dirty="0"/>
              <a:t>It is used in loop instruction to store the loop counter.</a:t>
            </a:r>
          </a:p>
          <a:p>
            <a:pPr marL="625475" lvl="1"/>
            <a:r>
              <a:rPr lang="en-US" sz="1400" b="1" dirty="0"/>
              <a:t>DX register</a:t>
            </a:r>
            <a:r>
              <a:rPr lang="en-US" sz="1400" dirty="0"/>
              <a:t> </a:t>
            </a:r>
          </a:p>
          <a:p>
            <a:pPr marL="1025525" lvl="2"/>
            <a:r>
              <a:rPr lang="en-US" sz="1400" dirty="0"/>
              <a:t>This register is used to hold I/O port address for I/O instruction.</a:t>
            </a:r>
          </a:p>
          <a:p>
            <a:pPr>
              <a:tabLst>
                <a:tab pos="463550" algn="l"/>
              </a:tabLst>
            </a:pPr>
            <a:endParaRPr lang="en-US" sz="7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DFC86-1E0D-4C31-8B45-5CA64A7759B3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71FDD3F-9E02-4910-843D-DFAF8AD6F0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2" r="7039" b="2007"/>
          <a:stretch/>
        </p:blipFill>
        <p:spPr bwMode="auto">
          <a:xfrm>
            <a:off x="5981700" y="1352550"/>
            <a:ext cx="29337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7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AE972-6039-474C-890E-6C1A4DD09921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3ECF27-88BE-445D-941D-F14AA19DDF76}"/>
              </a:ext>
            </a:extLst>
          </p:cNvPr>
          <p:cNvSpPr txBox="1">
            <a:spLocks/>
          </p:cNvSpPr>
          <p:nvPr/>
        </p:nvSpPr>
        <p:spPr>
          <a:xfrm>
            <a:off x="4724400" y="742950"/>
            <a:ext cx="3962400" cy="385167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  <a:defRPr/>
            </a:pPr>
            <a:r>
              <a:rPr lang="en-US" sz="1400" b="1" dirty="0">
                <a:solidFill>
                  <a:schemeClr val="accent2"/>
                </a:solidFill>
              </a:rPr>
              <a:t>AX</a:t>
            </a:r>
            <a:r>
              <a:rPr lang="en-US" sz="1400" b="1" dirty="0"/>
              <a:t> </a:t>
            </a:r>
            <a:endParaRPr lang="en-US" sz="1800" b="1" dirty="0"/>
          </a:p>
          <a:p>
            <a:pPr lvl="1">
              <a:buFontTx/>
              <a:buChar char="–"/>
              <a:defRPr/>
            </a:pPr>
            <a:r>
              <a:rPr lang="en-US" sz="1200" dirty="0"/>
              <a:t>Accumulator Register </a:t>
            </a:r>
          </a:p>
          <a:p>
            <a:pPr lvl="1">
              <a:buFontTx/>
              <a:buChar char="–"/>
              <a:defRPr/>
            </a:pPr>
            <a:r>
              <a:rPr lang="en-US" sz="1200" dirty="0"/>
              <a:t>Preferred register to use in arithmetic, logic and data transfer instructions because it generates the shortest Machine Language Code</a:t>
            </a:r>
          </a:p>
          <a:p>
            <a:pPr lvl="1">
              <a:buFontTx/>
              <a:buChar char="–"/>
              <a:defRPr/>
            </a:pPr>
            <a:r>
              <a:rPr lang="en-US" sz="1200" dirty="0"/>
              <a:t>Must be used in multiplication and division operations</a:t>
            </a:r>
          </a:p>
          <a:p>
            <a:pPr lvl="1">
              <a:buFontTx/>
              <a:buChar char="–"/>
              <a:defRPr/>
            </a:pPr>
            <a:r>
              <a:rPr lang="en-US" sz="1200" dirty="0"/>
              <a:t>Must also be used in I/O operations</a:t>
            </a:r>
            <a:endParaRPr lang="en-US" sz="900" dirty="0"/>
          </a:p>
          <a:p>
            <a:pPr>
              <a:buFontTx/>
              <a:buChar char="•"/>
              <a:defRPr/>
            </a:pPr>
            <a:r>
              <a:rPr lang="en-US" sz="1400" b="1" dirty="0">
                <a:solidFill>
                  <a:schemeClr val="accent2"/>
                </a:solidFill>
              </a:rPr>
              <a:t>BX</a:t>
            </a:r>
            <a:endParaRPr lang="en-US" sz="1800" b="1" dirty="0"/>
          </a:p>
          <a:p>
            <a:pPr lvl="1">
              <a:buFontTx/>
              <a:buChar char="–"/>
              <a:defRPr/>
            </a:pPr>
            <a:r>
              <a:rPr lang="en-US" sz="1200" dirty="0"/>
              <a:t>Base Register</a:t>
            </a:r>
          </a:p>
          <a:p>
            <a:pPr lvl="1">
              <a:buFontTx/>
              <a:buChar char="–"/>
              <a:defRPr/>
            </a:pPr>
            <a:r>
              <a:rPr lang="en-US" sz="1200" dirty="0"/>
              <a:t>Also serves as an address register</a:t>
            </a:r>
          </a:p>
          <a:p>
            <a:pPr>
              <a:buFontTx/>
              <a:buChar char="•"/>
            </a:pPr>
            <a:r>
              <a:rPr lang="en-US" altLang="en-US" sz="1400" b="1" dirty="0">
                <a:solidFill>
                  <a:schemeClr val="accent2"/>
                </a:solidFill>
              </a:rPr>
              <a:t>CX</a:t>
            </a:r>
            <a:endParaRPr lang="en-US" altLang="en-US" sz="1800" b="1" dirty="0"/>
          </a:p>
          <a:p>
            <a:pPr lvl="1">
              <a:buFontTx/>
              <a:buChar char="–"/>
            </a:pPr>
            <a:r>
              <a:rPr lang="en-US" altLang="en-US" sz="1200" dirty="0"/>
              <a:t>Count register</a:t>
            </a:r>
          </a:p>
          <a:p>
            <a:pPr lvl="1">
              <a:buFontTx/>
              <a:buChar char="–"/>
            </a:pPr>
            <a:r>
              <a:rPr lang="en-US" altLang="en-US" sz="1200" dirty="0"/>
              <a:t>Used as a loop counter</a:t>
            </a:r>
          </a:p>
          <a:p>
            <a:pPr lvl="1">
              <a:buFontTx/>
              <a:buChar char="–"/>
            </a:pPr>
            <a:r>
              <a:rPr lang="en-US" altLang="en-US" sz="1200" dirty="0"/>
              <a:t>Used in shift and rotate operations</a:t>
            </a:r>
            <a:endParaRPr lang="en-US" altLang="en-US" sz="1200" dirty="0">
              <a:solidFill>
                <a:schemeClr val="accent2"/>
              </a:solidFill>
            </a:endParaRPr>
          </a:p>
          <a:p>
            <a:pPr>
              <a:buFontTx/>
              <a:buChar char="•"/>
            </a:pPr>
            <a:r>
              <a:rPr lang="en-US" altLang="en-US" sz="1400" b="1" dirty="0">
                <a:solidFill>
                  <a:schemeClr val="accent2"/>
                </a:solidFill>
              </a:rPr>
              <a:t>DX</a:t>
            </a:r>
            <a:endParaRPr lang="en-US" altLang="en-US" sz="1800" b="1" dirty="0"/>
          </a:p>
          <a:p>
            <a:pPr lvl="1">
              <a:buFontTx/>
              <a:buChar char="–"/>
            </a:pPr>
            <a:r>
              <a:rPr lang="en-US" altLang="en-US" sz="1200" dirty="0"/>
              <a:t>Data register</a:t>
            </a:r>
          </a:p>
          <a:p>
            <a:pPr lvl="1">
              <a:buFontTx/>
              <a:buChar char="–"/>
            </a:pPr>
            <a:r>
              <a:rPr lang="en-US" altLang="en-US" sz="1200" dirty="0"/>
              <a:t>Used in multiplication and division</a:t>
            </a:r>
          </a:p>
          <a:p>
            <a:pPr lvl="1">
              <a:buFontTx/>
              <a:buChar char="–"/>
            </a:pPr>
            <a:r>
              <a:rPr lang="en-US" altLang="en-US" sz="1200" dirty="0"/>
              <a:t>Also used in I/O operations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B2373CF-50E2-4C44-981F-4C0371EF7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011311"/>
            <a:ext cx="3152853" cy="194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3CFD24-588E-4A88-BF16-E06232A2B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61574"/>
            <a:ext cx="159217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lvl="4">
              <a:lnSpc>
                <a:spcPct val="90000"/>
              </a:lnSpc>
            </a:pPr>
            <a:r>
              <a:rPr lang="en-US" altLang="en-US" sz="1200" b="1" dirty="0">
                <a:solidFill>
                  <a:srgbClr val="00B0F0"/>
                </a:solidFill>
                <a:latin typeface="Calibri" panose="020F0502020204030204" pitchFamily="34" charset="0"/>
              </a:rPr>
              <a:t>AX - the Accumulator</a:t>
            </a:r>
          </a:p>
          <a:p>
            <a:pPr marL="0" lvl="4">
              <a:lnSpc>
                <a:spcPct val="90000"/>
              </a:lnSpc>
            </a:pPr>
            <a:r>
              <a:rPr lang="en-US" altLang="en-US" sz="1200" b="1" dirty="0">
                <a:solidFill>
                  <a:srgbClr val="00B0F0"/>
                </a:solidFill>
                <a:latin typeface="Calibri" panose="020F0502020204030204" pitchFamily="34" charset="0"/>
              </a:rPr>
              <a:t>BX - the Base Register</a:t>
            </a:r>
          </a:p>
          <a:p>
            <a:pPr marL="0" lvl="4">
              <a:lnSpc>
                <a:spcPct val="90000"/>
              </a:lnSpc>
            </a:pPr>
            <a:r>
              <a:rPr lang="en-US" altLang="en-US" sz="1200" b="1" dirty="0">
                <a:solidFill>
                  <a:srgbClr val="00B0F0"/>
                </a:solidFill>
                <a:latin typeface="Calibri" panose="020F0502020204030204" pitchFamily="34" charset="0"/>
              </a:rPr>
              <a:t>CX - the Count Register</a:t>
            </a:r>
          </a:p>
          <a:p>
            <a:pPr marL="0" lvl="4">
              <a:lnSpc>
                <a:spcPct val="90000"/>
              </a:lnSpc>
            </a:pPr>
            <a:r>
              <a:rPr lang="en-US" altLang="en-US" sz="1200" b="1" dirty="0">
                <a:solidFill>
                  <a:srgbClr val="00B0F0"/>
                </a:solidFill>
                <a:latin typeface="Calibri" panose="020F0502020204030204" pitchFamily="34" charset="0"/>
              </a:rPr>
              <a:t>DX - the Data Register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A20FD9E-4F4A-4CE3-80FF-9A5A0063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25389"/>
            <a:ext cx="4114800" cy="1469233"/>
          </a:xfrm>
          <a:noFill/>
        </p:spPr>
        <p:txBody>
          <a:bodyPr>
            <a:normAutofit/>
          </a:bodyPr>
          <a:lstStyle/>
          <a:p>
            <a:r>
              <a:rPr lang="en-US" altLang="en-US" sz="1400" dirty="0"/>
              <a:t>Normally used for storing temporary results </a:t>
            </a:r>
          </a:p>
          <a:p>
            <a:r>
              <a:rPr lang="en-US" altLang="en-US" sz="1400" dirty="0"/>
              <a:t>Each of the registers is 16 bits wide </a:t>
            </a:r>
            <a:r>
              <a:rPr lang="en-US" altLang="en-US" sz="1400" b="1" dirty="0">
                <a:solidFill>
                  <a:srgbClr val="00B0F0"/>
                </a:solidFill>
              </a:rPr>
              <a:t>(AX, BX, CX, DX)</a:t>
            </a:r>
          </a:p>
          <a:p>
            <a:r>
              <a:rPr lang="en-US" altLang="en-US" sz="1400" dirty="0"/>
              <a:t>Can be accessed as either 16 or 8 bits AX, AH, AL</a:t>
            </a:r>
          </a:p>
          <a:p>
            <a:pPr>
              <a:tabLst>
                <a:tab pos="463550" algn="l"/>
              </a:tabLs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475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altLang="en-US" sz="1800" b="1" dirty="0">
                <a:solidFill>
                  <a:srgbClr val="0070C0"/>
                </a:solidFill>
              </a:rPr>
              <a:t>c) Pointer and Index Registers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742950"/>
            <a:ext cx="4114800" cy="3851673"/>
          </a:xfrm>
          <a:noFill/>
        </p:spPr>
        <p:txBody>
          <a:bodyPr>
            <a:normAutofit/>
          </a:bodyPr>
          <a:lstStyle/>
          <a:p>
            <a:r>
              <a:rPr lang="en-US" sz="1800" b="1" dirty="0"/>
              <a:t>Stack pointer register</a:t>
            </a:r>
            <a:endParaRPr lang="en-US" sz="1800" dirty="0"/>
          </a:p>
          <a:p>
            <a:pPr lvl="1"/>
            <a:r>
              <a:rPr lang="en-US" sz="1600" dirty="0"/>
              <a:t>It is a 16-bit register, which </a:t>
            </a:r>
            <a:r>
              <a:rPr lang="en-US" sz="1600" dirty="0">
                <a:solidFill>
                  <a:srgbClr val="C00000"/>
                </a:solidFill>
              </a:rPr>
              <a:t>holds the address </a:t>
            </a:r>
            <a:r>
              <a:rPr lang="en-US" sz="1600" dirty="0"/>
              <a:t>from the start of the segment to the memory location, where a word was most recently stored on the stack.</a:t>
            </a:r>
          </a:p>
          <a:p>
            <a:r>
              <a:rPr lang="en-US" sz="1800" b="1" dirty="0"/>
              <a:t>Instruction pointer</a:t>
            </a:r>
            <a:r>
              <a:rPr lang="en-US" sz="1800" dirty="0"/>
              <a:t> </a:t>
            </a:r>
          </a:p>
          <a:p>
            <a:pPr lvl="1"/>
            <a:r>
              <a:rPr lang="en-US" sz="1600" dirty="0"/>
              <a:t>It is a 16-bit register </a:t>
            </a:r>
            <a:r>
              <a:rPr lang="en-US" sz="1600" dirty="0">
                <a:solidFill>
                  <a:srgbClr val="C00000"/>
                </a:solidFill>
              </a:rPr>
              <a:t>used to hold the address of the next instruction </a:t>
            </a:r>
            <a:r>
              <a:rPr lang="en-US" sz="1600" dirty="0"/>
              <a:t>to be executed.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1A82-AD53-46C9-9ED7-5585B296FCBF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E07957E5-F323-44A9-A0F8-50FBD5D9F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42950"/>
            <a:ext cx="3150510" cy="173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B8E00C-CB77-483E-84D7-27EFC6E1955F}"/>
              </a:ext>
            </a:extLst>
          </p:cNvPr>
          <p:cNvSpPr txBox="1">
            <a:spLocks/>
          </p:cNvSpPr>
          <p:nvPr/>
        </p:nvSpPr>
        <p:spPr>
          <a:xfrm>
            <a:off x="228600" y="2668191"/>
            <a:ext cx="4343400" cy="207883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  <a:defRPr/>
            </a:pPr>
            <a:r>
              <a:rPr lang="en-US" sz="2400" dirty="0"/>
              <a:t>All 16 bits wide, L/H bytes are not accessible</a:t>
            </a:r>
          </a:p>
          <a:p>
            <a:pPr>
              <a:buFontTx/>
              <a:buChar char="•"/>
              <a:defRPr/>
            </a:pPr>
            <a:r>
              <a:rPr lang="en-US" sz="2400" dirty="0"/>
              <a:t>Used as memory pointers</a:t>
            </a:r>
          </a:p>
          <a:p>
            <a:pPr lvl="1">
              <a:defRPr/>
            </a:pPr>
            <a:r>
              <a:rPr lang="en-US" sz="2000" dirty="0"/>
              <a:t>Example: MOV AH, [SI]</a:t>
            </a:r>
          </a:p>
          <a:p>
            <a:pPr lvl="2">
              <a:defRPr/>
            </a:pPr>
            <a:r>
              <a:rPr lang="en-US" sz="1800" i="1" dirty="0"/>
              <a:t>Move the byte stored in memory location whose address</a:t>
            </a:r>
            <a:r>
              <a:rPr lang="en-US" sz="1800" dirty="0"/>
              <a:t> </a:t>
            </a:r>
            <a:r>
              <a:rPr lang="en-US" sz="1800" i="1" dirty="0"/>
              <a:t>is contained in register SI to register AH</a:t>
            </a:r>
          </a:p>
          <a:p>
            <a:pPr>
              <a:buFontTx/>
              <a:buChar char="•"/>
              <a:defRPr/>
            </a:pPr>
            <a:r>
              <a:rPr lang="en-US" sz="2400" dirty="0">
                <a:solidFill>
                  <a:srgbClr val="FF0000"/>
                </a:solidFill>
              </a:rPr>
              <a:t>IP is not under direct control of the programmer</a:t>
            </a:r>
          </a:p>
          <a:p>
            <a:pPr>
              <a:tabLst>
                <a:tab pos="463550" algn="l"/>
              </a:tabLs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41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0480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d)  Flag Register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It is a 16-bit register that </a:t>
            </a:r>
            <a:r>
              <a:rPr lang="en-US" sz="2000" dirty="0">
                <a:solidFill>
                  <a:srgbClr val="C00000"/>
                </a:solidFill>
              </a:rPr>
              <a:t>behaves like a flip-flop,</a:t>
            </a:r>
            <a:r>
              <a:rPr lang="en-US" sz="2000" dirty="0"/>
              <a:t> i.e. it changes its status according to the result stored in the accumulator. </a:t>
            </a:r>
          </a:p>
          <a:p>
            <a:r>
              <a:rPr lang="en-US" sz="2000" dirty="0"/>
              <a:t>It </a:t>
            </a:r>
            <a:r>
              <a:rPr lang="en-US" sz="2000" dirty="0">
                <a:solidFill>
                  <a:srgbClr val="C00000"/>
                </a:solidFill>
              </a:rPr>
              <a:t>has 9 flags </a:t>
            </a:r>
            <a:r>
              <a:rPr lang="en-US" sz="2000" dirty="0"/>
              <a:t>and they are divided into 2 groups − </a:t>
            </a:r>
          </a:p>
          <a:p>
            <a:pPr lvl="1"/>
            <a:r>
              <a:rPr lang="en-US" sz="1600" dirty="0"/>
              <a:t>Conditional Flags and </a:t>
            </a:r>
          </a:p>
          <a:p>
            <a:pPr lvl="1"/>
            <a:r>
              <a:rPr lang="en-US" sz="1600" dirty="0"/>
              <a:t>Control Flags.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7833D-F023-4D00-B962-B19B9ABCF2BD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5107F-B6DC-4E4A-81EB-28BF18C2F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2340" y="666750"/>
            <a:ext cx="5489799" cy="35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71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Conditional Flags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/>
              <a:t> </a:t>
            </a:r>
            <a:r>
              <a:rPr lang="en-US" sz="1300" dirty="0"/>
              <a:t>It represents the result of the last arithmetic or logical instruction executed. Following is the list of conditional flags −</a:t>
            </a:r>
          </a:p>
          <a:p>
            <a:pPr lvl="1"/>
            <a:r>
              <a:rPr lang="en-US" sz="1300" b="1" dirty="0"/>
              <a:t>Carry flag</a:t>
            </a:r>
            <a:r>
              <a:rPr lang="en-US" sz="1300" dirty="0"/>
              <a:t> </a:t>
            </a:r>
          </a:p>
          <a:p>
            <a:pPr lvl="2"/>
            <a:r>
              <a:rPr lang="en-US" sz="1300" dirty="0"/>
              <a:t>This flag </a:t>
            </a:r>
            <a:r>
              <a:rPr lang="en-US" sz="1300" dirty="0">
                <a:solidFill>
                  <a:srgbClr val="C00000"/>
                </a:solidFill>
              </a:rPr>
              <a:t>indicates an overflow condition </a:t>
            </a:r>
            <a:r>
              <a:rPr lang="en-US" sz="1300" dirty="0"/>
              <a:t>for arithmetic operations.</a:t>
            </a:r>
          </a:p>
          <a:p>
            <a:pPr lvl="1"/>
            <a:r>
              <a:rPr lang="en-US" sz="1300" b="1" dirty="0"/>
              <a:t>Auxiliary flag:</a:t>
            </a:r>
          </a:p>
          <a:p>
            <a:pPr lvl="2"/>
            <a:r>
              <a:rPr lang="en-US" sz="1300" dirty="0"/>
              <a:t>When an operation is performed at ALU, it results in a carry/borrow from lower nibble (i.e. D0 – D3) to upper nibble (i.e. D4 – D7), </a:t>
            </a:r>
            <a:r>
              <a:rPr lang="en-US" sz="1300" dirty="0">
                <a:solidFill>
                  <a:srgbClr val="C00000"/>
                </a:solidFill>
              </a:rPr>
              <a:t>then this flag is set</a:t>
            </a:r>
            <a:r>
              <a:rPr lang="en-US" sz="1300" dirty="0"/>
              <a:t>, i.e. carry given by D3 bit to D4 is AF flag. </a:t>
            </a:r>
          </a:p>
          <a:p>
            <a:pPr lvl="2"/>
            <a:r>
              <a:rPr lang="en-US" sz="1300" dirty="0"/>
              <a:t>The processor uses this flag to perform binary to BCD conversion.</a:t>
            </a:r>
          </a:p>
          <a:p>
            <a:pPr lvl="1"/>
            <a:r>
              <a:rPr lang="en-US" sz="1300" b="1" dirty="0"/>
              <a:t>Parity flag</a:t>
            </a:r>
            <a:r>
              <a:rPr lang="en-US" sz="1300" dirty="0"/>
              <a:t> :</a:t>
            </a:r>
          </a:p>
          <a:p>
            <a:pPr lvl="2"/>
            <a:r>
              <a:rPr lang="en-US" sz="1300" dirty="0"/>
              <a:t>This flag is used to </a:t>
            </a:r>
            <a:r>
              <a:rPr lang="en-US" sz="1300" dirty="0">
                <a:solidFill>
                  <a:srgbClr val="C00000"/>
                </a:solidFill>
              </a:rPr>
              <a:t>indicate the parity of the result, </a:t>
            </a:r>
            <a:r>
              <a:rPr lang="en-US" sz="1300" dirty="0"/>
              <a:t>i.e. when the lower order 8-bits of the result contains even number of 1’s, then the Parity Flag is set. For odd number of 1’s, the Parity Flag is reset.</a:t>
            </a:r>
          </a:p>
          <a:p>
            <a:pPr lvl="1"/>
            <a:r>
              <a:rPr lang="en-US" sz="1300" b="1" dirty="0"/>
              <a:t>Zero flag</a:t>
            </a:r>
            <a:r>
              <a:rPr lang="en-US" sz="1300" dirty="0"/>
              <a:t> :</a:t>
            </a:r>
          </a:p>
          <a:p>
            <a:pPr lvl="2"/>
            <a:r>
              <a:rPr lang="en-US" sz="1300" dirty="0"/>
              <a:t>This flag is </a:t>
            </a:r>
            <a:r>
              <a:rPr lang="en-US" sz="1300" dirty="0">
                <a:solidFill>
                  <a:srgbClr val="C00000"/>
                </a:solidFill>
              </a:rPr>
              <a:t>set to 1 when the result of arithmetic or logical operation is zero </a:t>
            </a:r>
            <a:r>
              <a:rPr lang="en-US" sz="1300" dirty="0"/>
              <a:t>else it is set to 0.</a:t>
            </a:r>
          </a:p>
          <a:p>
            <a:pPr lvl="1"/>
            <a:r>
              <a:rPr lang="en-US" sz="1300" b="1" dirty="0"/>
              <a:t>Sign flag</a:t>
            </a:r>
            <a:r>
              <a:rPr lang="en-US" sz="1300" dirty="0"/>
              <a:t> :</a:t>
            </a:r>
          </a:p>
          <a:p>
            <a:pPr lvl="2"/>
            <a:r>
              <a:rPr lang="en-US" sz="1300" dirty="0"/>
              <a:t>This flag holds the sign of the result, i.e. </a:t>
            </a:r>
            <a:r>
              <a:rPr lang="en-US" sz="1300" dirty="0">
                <a:solidFill>
                  <a:srgbClr val="C00000"/>
                </a:solidFill>
              </a:rPr>
              <a:t>when the result of the operation is negative, then the sign flag is set to 1 </a:t>
            </a:r>
            <a:r>
              <a:rPr lang="en-US" sz="1300" dirty="0"/>
              <a:t>else set to 0.</a:t>
            </a:r>
          </a:p>
          <a:p>
            <a:pPr lvl="1"/>
            <a:r>
              <a:rPr lang="en-US" sz="1300" b="1" dirty="0"/>
              <a:t>Overflow flag</a:t>
            </a:r>
            <a:r>
              <a:rPr lang="en-US" sz="1300" dirty="0"/>
              <a:t> :</a:t>
            </a:r>
          </a:p>
          <a:p>
            <a:pPr lvl="2"/>
            <a:r>
              <a:rPr lang="en-US" sz="1300" dirty="0"/>
              <a:t>This flag represents the result </a:t>
            </a:r>
            <a:r>
              <a:rPr lang="en-US" sz="1300" dirty="0">
                <a:solidFill>
                  <a:srgbClr val="C00000"/>
                </a:solidFill>
              </a:rPr>
              <a:t>when the system capacity is exceeded</a:t>
            </a:r>
            <a:r>
              <a:rPr lang="en-US" sz="1300" dirty="0"/>
              <a:t>.</a:t>
            </a:r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0002-63BE-4824-838F-E010D0A7D7F4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345319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Control Flags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400" dirty="0"/>
              <a:t>Control flags controls the operations of the execution unit. Following is the list of control flags −</a:t>
            </a:r>
          </a:p>
          <a:p>
            <a:pPr lvl="1"/>
            <a:r>
              <a:rPr lang="en-US" sz="1400" b="1" dirty="0"/>
              <a:t>Trap flag:</a:t>
            </a:r>
          </a:p>
          <a:p>
            <a:pPr lvl="2"/>
            <a:r>
              <a:rPr lang="en-US" sz="1400" dirty="0"/>
              <a:t>It is </a:t>
            </a:r>
            <a:r>
              <a:rPr lang="en-US" sz="1400" dirty="0">
                <a:solidFill>
                  <a:srgbClr val="C00000"/>
                </a:solidFill>
              </a:rPr>
              <a:t>used for single step control </a:t>
            </a:r>
            <a:r>
              <a:rPr lang="en-US" sz="1400" dirty="0"/>
              <a:t>and allows the user to execute one instruction at a time for debugging. </a:t>
            </a:r>
          </a:p>
          <a:p>
            <a:pPr lvl="2"/>
            <a:r>
              <a:rPr lang="en-US" sz="1400" dirty="0"/>
              <a:t>If it is set, then the program can be run in a single step mode.</a:t>
            </a:r>
          </a:p>
          <a:p>
            <a:pPr lvl="1"/>
            <a:r>
              <a:rPr lang="en-US" sz="1400" b="1" dirty="0"/>
              <a:t>Interrupt flag</a:t>
            </a:r>
            <a:r>
              <a:rPr lang="en-US" sz="1400" dirty="0"/>
              <a:t> :</a:t>
            </a:r>
          </a:p>
          <a:p>
            <a:pPr lvl="2"/>
            <a:r>
              <a:rPr lang="en-US" sz="1400" dirty="0"/>
              <a:t>It is </a:t>
            </a:r>
            <a:r>
              <a:rPr lang="en-US" sz="1400" dirty="0">
                <a:solidFill>
                  <a:srgbClr val="C00000"/>
                </a:solidFill>
              </a:rPr>
              <a:t>an interrupt enable/disable flag, </a:t>
            </a:r>
            <a:r>
              <a:rPr lang="en-US" sz="1400" dirty="0"/>
              <a:t>i.e. used to allow/prohibit the interruption of a program. </a:t>
            </a:r>
          </a:p>
          <a:p>
            <a:pPr lvl="2"/>
            <a:r>
              <a:rPr lang="en-US" sz="1400" dirty="0"/>
              <a:t>It is </a:t>
            </a:r>
            <a:r>
              <a:rPr lang="en-US" sz="1400" dirty="0">
                <a:solidFill>
                  <a:srgbClr val="C00000"/>
                </a:solidFill>
              </a:rPr>
              <a:t>set to 1 for interrupt enabled condition </a:t>
            </a:r>
            <a:r>
              <a:rPr lang="en-US" sz="1400" dirty="0"/>
              <a:t>and set to 0 for interrupt disabled condition.</a:t>
            </a:r>
          </a:p>
          <a:p>
            <a:pPr lvl="1"/>
            <a:r>
              <a:rPr lang="en-US" sz="1400" b="1" dirty="0"/>
              <a:t>Direction flag</a:t>
            </a:r>
            <a:r>
              <a:rPr lang="en-US" sz="1400" dirty="0"/>
              <a:t> :</a:t>
            </a:r>
          </a:p>
          <a:p>
            <a:pPr lvl="2"/>
            <a:r>
              <a:rPr lang="en-US" sz="1400" dirty="0"/>
              <a:t>It is </a:t>
            </a:r>
            <a:r>
              <a:rPr lang="en-US" sz="1400" dirty="0">
                <a:solidFill>
                  <a:srgbClr val="C00000"/>
                </a:solidFill>
              </a:rPr>
              <a:t>used in string operation. </a:t>
            </a:r>
          </a:p>
          <a:p>
            <a:pPr lvl="2"/>
            <a:r>
              <a:rPr lang="en-US" sz="1400" dirty="0"/>
              <a:t>As the name suggests when it is set then string bytes are accessed from the higher memory address to the lower memory address and vice-a-versa.</a:t>
            </a:r>
          </a:p>
          <a:p>
            <a:pPr>
              <a:tabLst>
                <a:tab pos="463550" algn="l"/>
              </a:tabLst>
            </a:pPr>
            <a:endParaRPr lang="en-US" sz="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4285B-37D0-4011-BA8D-EB93CF96C585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8763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00B050"/>
                </a:solidFill>
              </a:rPr>
              <a:t>2. Bus Interface Unit (BIU)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  <a:tabLst>
                <a:tab pos="463550" algn="l"/>
              </a:tabLst>
            </a:pPr>
            <a:r>
              <a:rPr lang="en-US" sz="2400" b="1" dirty="0">
                <a:solidFill>
                  <a:srgbClr val="0070C0"/>
                </a:solidFill>
              </a:rPr>
              <a:t>a)  Instruction queue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BIU contains the instruction queue. 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BIU gets </a:t>
            </a:r>
            <a:r>
              <a:rPr lang="en-US" sz="2000" dirty="0" err="1"/>
              <a:t>upto</a:t>
            </a:r>
            <a:r>
              <a:rPr lang="en-US" sz="2000" dirty="0"/>
              <a:t> 6 bytes of next instructions and stores them in the instruction queue. 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When EU executes instructions and is ready for its next instruction, then it </a:t>
            </a:r>
            <a:r>
              <a:rPr lang="en-US" sz="2000" dirty="0">
                <a:solidFill>
                  <a:srgbClr val="C00000"/>
                </a:solidFill>
              </a:rPr>
              <a:t>simply reads the instruction from this instruction queue resulting in increased execution speed</a:t>
            </a:r>
            <a:r>
              <a:rPr lang="en-US" sz="2000" dirty="0"/>
              <a:t>.</a:t>
            </a:r>
          </a:p>
          <a:p>
            <a:pPr>
              <a:tabLst>
                <a:tab pos="463550" algn="l"/>
              </a:tabLst>
            </a:pPr>
            <a:endParaRPr lang="en-US" sz="10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51ED-D207-4017-8121-2D4DF868B3F5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2812877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b) Segment Register</a:t>
            </a:r>
          </a:p>
          <a:p>
            <a:pPr>
              <a:spcAft>
                <a:spcPts val="600"/>
              </a:spcAft>
            </a:pPr>
            <a:r>
              <a:rPr lang="en-US" sz="1900" dirty="0"/>
              <a:t>It </a:t>
            </a:r>
            <a:r>
              <a:rPr lang="en-US" sz="1900" dirty="0">
                <a:solidFill>
                  <a:srgbClr val="C00000"/>
                </a:solidFill>
              </a:rPr>
              <a:t>holds the addresses of instructions and data in memory, </a:t>
            </a:r>
            <a:r>
              <a:rPr lang="en-US" sz="1900" dirty="0"/>
              <a:t>which are </a:t>
            </a:r>
            <a:r>
              <a:rPr lang="en-US" sz="1900" dirty="0">
                <a:solidFill>
                  <a:srgbClr val="C00000"/>
                </a:solidFill>
              </a:rPr>
              <a:t>used by the processor to access memory locations.</a:t>
            </a:r>
            <a:r>
              <a:rPr lang="en-US" sz="1900" dirty="0"/>
              <a:t> </a:t>
            </a:r>
          </a:p>
          <a:p>
            <a:pPr>
              <a:spcAft>
                <a:spcPts val="600"/>
              </a:spcAft>
            </a:pPr>
            <a:r>
              <a:rPr lang="en-US" sz="1900" dirty="0"/>
              <a:t>BIU has 4 segment buses, i.e. CS, DS, SS&amp; ES. </a:t>
            </a:r>
          </a:p>
          <a:p>
            <a:pPr lvl="1">
              <a:spcAft>
                <a:spcPts val="600"/>
              </a:spcAft>
            </a:pPr>
            <a:r>
              <a:rPr lang="en-US" sz="1500" b="1" dirty="0"/>
              <a:t>CS</a:t>
            </a:r>
            <a:r>
              <a:rPr lang="en-US" sz="1500" dirty="0"/>
              <a:t> (</a:t>
            </a:r>
            <a:r>
              <a:rPr lang="en-US" sz="1500" b="1" dirty="0"/>
              <a:t>Code Segment): </a:t>
            </a:r>
            <a:r>
              <a:rPr lang="en-US" sz="1500" dirty="0"/>
              <a:t>It is </a:t>
            </a:r>
            <a:r>
              <a:rPr lang="en-US" sz="1500" dirty="0">
                <a:solidFill>
                  <a:srgbClr val="C00000"/>
                </a:solidFill>
              </a:rPr>
              <a:t>used for addressing a memory location </a:t>
            </a:r>
            <a:r>
              <a:rPr lang="en-US" sz="1500" dirty="0"/>
              <a:t>in the code segment of the memory, where the executable program is stored.</a:t>
            </a:r>
          </a:p>
          <a:p>
            <a:pPr lvl="1">
              <a:spcAft>
                <a:spcPts val="600"/>
              </a:spcAft>
            </a:pPr>
            <a:r>
              <a:rPr lang="en-US" sz="1500" b="1" dirty="0"/>
              <a:t>DS</a:t>
            </a:r>
            <a:r>
              <a:rPr lang="en-US" sz="1500" dirty="0"/>
              <a:t> (</a:t>
            </a:r>
            <a:r>
              <a:rPr lang="en-US" sz="1500" b="1" dirty="0"/>
              <a:t>Data</a:t>
            </a:r>
            <a:r>
              <a:rPr lang="en-US" sz="1500" dirty="0"/>
              <a:t> </a:t>
            </a:r>
            <a:r>
              <a:rPr lang="en-US" sz="1500" b="1" dirty="0"/>
              <a:t>Segment):</a:t>
            </a:r>
            <a:r>
              <a:rPr lang="en-US" sz="1500" dirty="0"/>
              <a:t> It </a:t>
            </a:r>
            <a:r>
              <a:rPr lang="en-US" sz="1500" dirty="0">
                <a:solidFill>
                  <a:srgbClr val="C00000"/>
                </a:solidFill>
              </a:rPr>
              <a:t>consists of data used by the program </a:t>
            </a:r>
            <a:r>
              <a:rPr lang="en-US" sz="1500" dirty="0"/>
              <a:t>and is accessed in the data segment by an offset address or the content of other register that holds the offset address. </a:t>
            </a:r>
          </a:p>
          <a:p>
            <a:pPr lvl="1">
              <a:spcAft>
                <a:spcPts val="600"/>
              </a:spcAft>
            </a:pPr>
            <a:r>
              <a:rPr lang="en-US" sz="1500" b="1" dirty="0"/>
              <a:t>SS</a:t>
            </a:r>
            <a:r>
              <a:rPr lang="en-US" sz="1500" dirty="0"/>
              <a:t> (</a:t>
            </a:r>
            <a:r>
              <a:rPr lang="en-US" sz="1500" b="1" dirty="0"/>
              <a:t>Stack</a:t>
            </a:r>
            <a:r>
              <a:rPr lang="en-US" sz="1500" dirty="0"/>
              <a:t> </a:t>
            </a:r>
            <a:r>
              <a:rPr lang="en-US" sz="1500" b="1" dirty="0"/>
              <a:t>Segment): </a:t>
            </a:r>
            <a:r>
              <a:rPr lang="en-US" sz="1500" dirty="0"/>
              <a:t> It </a:t>
            </a:r>
            <a:r>
              <a:rPr lang="en-US" sz="1500" dirty="0">
                <a:solidFill>
                  <a:srgbClr val="C00000"/>
                </a:solidFill>
              </a:rPr>
              <a:t>handles memory to store data and addresses during execution.</a:t>
            </a:r>
          </a:p>
          <a:p>
            <a:pPr lvl="1">
              <a:spcAft>
                <a:spcPts val="600"/>
              </a:spcAft>
            </a:pPr>
            <a:r>
              <a:rPr lang="en-US" sz="1500" b="1" dirty="0"/>
              <a:t>ES</a:t>
            </a:r>
            <a:r>
              <a:rPr lang="en-US" sz="1500" dirty="0"/>
              <a:t> (</a:t>
            </a:r>
            <a:r>
              <a:rPr lang="en-US" sz="1500" b="1" dirty="0"/>
              <a:t>Extra</a:t>
            </a:r>
            <a:r>
              <a:rPr lang="en-US" sz="1500" dirty="0"/>
              <a:t> </a:t>
            </a:r>
            <a:r>
              <a:rPr lang="en-US" sz="1500" b="1" dirty="0"/>
              <a:t>Segment):</a:t>
            </a:r>
            <a:r>
              <a:rPr lang="en-US" sz="1500" dirty="0"/>
              <a:t> ES is additional data segment, which is used by the string </a:t>
            </a:r>
            <a:r>
              <a:rPr lang="en-US" sz="1500" dirty="0">
                <a:solidFill>
                  <a:srgbClr val="C00000"/>
                </a:solidFill>
              </a:rPr>
              <a:t>to hold the extra destination data.</a:t>
            </a:r>
          </a:p>
          <a:p>
            <a:pPr>
              <a:spcAft>
                <a:spcPts val="600"/>
              </a:spcAft>
            </a:pPr>
            <a:r>
              <a:rPr lang="en-US" sz="1900" dirty="0"/>
              <a:t>It also contains 1 pointer register IP, which holds the address of the next instruction to executed by the EU. </a:t>
            </a:r>
          </a:p>
          <a:p>
            <a:pPr>
              <a:tabLst>
                <a:tab pos="463550" algn="l"/>
              </a:tabLst>
            </a:pPr>
            <a:endParaRPr lang="en-US" sz="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31BE-540B-4BCA-B2C2-2D16007C0269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247257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7030A0"/>
                </a:solidFill>
              </a:rPr>
              <a:t>8086 Registers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794C-82B8-4B26-B002-3C7F8FB61A92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6329062-839D-46CD-B045-CAA981B61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51" y="1007269"/>
            <a:ext cx="3975497" cy="375999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C5A94A-0B8B-4010-BB50-51486D468B57}"/>
              </a:ext>
            </a:extLst>
          </p:cNvPr>
          <p:cNvSpPr txBox="1"/>
          <p:nvPr/>
        </p:nvSpPr>
        <p:spPr>
          <a:xfrm>
            <a:off x="6400800" y="2571750"/>
            <a:ext cx="2262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has been already </a:t>
            </a:r>
          </a:p>
          <a:p>
            <a:r>
              <a:rPr lang="en-US" dirty="0"/>
              <a:t>discussed ahead.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48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4. Pin Diagram of 8086 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029200" cy="3851673"/>
          </a:xfrm>
          <a:noFill/>
        </p:spPr>
        <p:txBody>
          <a:bodyPr>
            <a:noAutofit/>
          </a:bodyPr>
          <a:lstStyle/>
          <a:p>
            <a:pPr marL="233363" indent="-233363">
              <a:buFont typeface="+mj-lt"/>
              <a:buAutoNum type="arabicPeriod"/>
            </a:pPr>
            <a:r>
              <a:rPr lang="en-US" sz="1100" b="1" dirty="0"/>
              <a:t>Power supply</a:t>
            </a:r>
            <a:endParaRPr lang="en-US" sz="1100" dirty="0"/>
          </a:p>
          <a:p>
            <a:pPr marL="457200" lvl="1" indent="-223838"/>
            <a:r>
              <a:rPr lang="en-US" sz="1100" dirty="0"/>
              <a:t>It uses </a:t>
            </a:r>
            <a:r>
              <a:rPr lang="en-US" sz="1100" dirty="0">
                <a:solidFill>
                  <a:srgbClr val="C00000"/>
                </a:solidFill>
              </a:rPr>
              <a:t>5V DC supply at VCC pin </a:t>
            </a:r>
            <a:r>
              <a:rPr lang="en-US" sz="1100" dirty="0"/>
              <a:t>40, and </a:t>
            </a:r>
          </a:p>
          <a:p>
            <a:pPr marL="457200" lvl="1" indent="-223838"/>
            <a:r>
              <a:rPr lang="en-US" sz="1100" dirty="0"/>
              <a:t>uses </a:t>
            </a:r>
            <a:r>
              <a:rPr lang="en-US" sz="1100" dirty="0">
                <a:solidFill>
                  <a:srgbClr val="C00000"/>
                </a:solidFill>
              </a:rPr>
              <a:t>ground at VSS  </a:t>
            </a:r>
            <a:r>
              <a:rPr lang="en-US" sz="1100" dirty="0"/>
              <a:t>pin 1 and 20 for its operation.</a:t>
            </a:r>
          </a:p>
          <a:p>
            <a:pPr marL="233363" indent="-233363">
              <a:buFont typeface="+mj-lt"/>
              <a:buAutoNum type="arabicPeriod"/>
            </a:pPr>
            <a:r>
              <a:rPr lang="en-US" sz="1100" b="1" dirty="0"/>
              <a:t>Clock signal</a:t>
            </a:r>
            <a:endParaRPr lang="en-US" sz="1100" dirty="0"/>
          </a:p>
          <a:p>
            <a:pPr marL="457200" lvl="1" indent="-223838"/>
            <a:r>
              <a:rPr lang="en-US" sz="1100" dirty="0"/>
              <a:t>Clock signal is provided through Pin-19. </a:t>
            </a:r>
          </a:p>
          <a:p>
            <a:pPr marL="457200" lvl="1" indent="-223838"/>
            <a:r>
              <a:rPr lang="en-US" sz="1100" dirty="0"/>
              <a:t>It </a:t>
            </a:r>
            <a:r>
              <a:rPr lang="en-US" sz="1100" dirty="0">
                <a:solidFill>
                  <a:srgbClr val="C00000"/>
                </a:solidFill>
              </a:rPr>
              <a:t>provides timing </a:t>
            </a:r>
            <a:r>
              <a:rPr lang="en-US" sz="1100" dirty="0"/>
              <a:t>to the processor for operations. </a:t>
            </a:r>
          </a:p>
          <a:p>
            <a:pPr marL="457200" lvl="1" indent="-223838"/>
            <a:r>
              <a:rPr lang="en-US" sz="1100" dirty="0"/>
              <a:t>Its frequency is different for different versions, i.e. 5MHz, 8MHz and 10MHz.</a:t>
            </a:r>
          </a:p>
          <a:p>
            <a:pPr marL="233363" indent="-233363">
              <a:buFont typeface="+mj-lt"/>
              <a:buAutoNum type="arabicPeriod"/>
            </a:pPr>
            <a:r>
              <a:rPr lang="en-US" sz="1100" b="1" dirty="0"/>
              <a:t>Address/data bus </a:t>
            </a:r>
          </a:p>
          <a:p>
            <a:pPr marL="457200" lvl="1" indent="-223838"/>
            <a:r>
              <a:rPr lang="en-US" sz="1100" dirty="0"/>
              <a:t>AD0-AD15. </a:t>
            </a:r>
          </a:p>
          <a:p>
            <a:pPr marL="457200" lvl="1" indent="-223838"/>
            <a:r>
              <a:rPr lang="en-US" sz="1100" dirty="0"/>
              <a:t>These </a:t>
            </a:r>
            <a:r>
              <a:rPr lang="en-US" sz="1100" dirty="0">
                <a:solidFill>
                  <a:srgbClr val="C00000"/>
                </a:solidFill>
              </a:rPr>
              <a:t>are 16 address/data bus. </a:t>
            </a:r>
          </a:p>
          <a:p>
            <a:pPr marL="457200" lvl="1" indent="-223838"/>
            <a:r>
              <a:rPr lang="en-US" sz="1100" dirty="0"/>
              <a:t>AD0-AD7 carries low order byte data and </a:t>
            </a:r>
          </a:p>
          <a:p>
            <a:pPr marL="457200" lvl="1" indent="-223838"/>
            <a:r>
              <a:rPr lang="en-US" sz="1100" dirty="0"/>
              <a:t>AD8-AD15 carries higher order byte data. </a:t>
            </a:r>
          </a:p>
          <a:p>
            <a:pPr marL="457200" lvl="1" indent="-223838"/>
            <a:r>
              <a:rPr lang="en-US" sz="1100" dirty="0"/>
              <a:t>During the first clock cycle, it carries 16-bit address and after that it carries 16-bit data.</a:t>
            </a:r>
          </a:p>
          <a:p>
            <a:pPr marL="349250" indent="-349250">
              <a:buFont typeface="+mj-lt"/>
              <a:buAutoNum type="arabicPeriod" startAt="4"/>
            </a:pPr>
            <a:r>
              <a:rPr lang="en-US" sz="1100" b="1" dirty="0"/>
              <a:t>Address/status bus</a:t>
            </a:r>
            <a:endParaRPr lang="en-US" sz="1100" dirty="0"/>
          </a:p>
          <a:p>
            <a:pPr marL="569913" lvl="1" indent="-225425"/>
            <a:r>
              <a:rPr lang="en-US" sz="1100" dirty="0"/>
              <a:t>A16-A19/S3-S6. </a:t>
            </a:r>
          </a:p>
          <a:p>
            <a:pPr marL="569913" lvl="1" indent="-225425"/>
            <a:r>
              <a:rPr lang="en-US" sz="1100" dirty="0"/>
              <a:t>These are the </a:t>
            </a:r>
            <a:r>
              <a:rPr lang="en-US" sz="1100" dirty="0">
                <a:solidFill>
                  <a:srgbClr val="C00000"/>
                </a:solidFill>
              </a:rPr>
              <a:t>4 address/status buses. </a:t>
            </a:r>
          </a:p>
          <a:p>
            <a:pPr marL="569913" lvl="1" indent="-225425"/>
            <a:r>
              <a:rPr lang="en-US" sz="1100" dirty="0"/>
              <a:t>During the first clock cycle, it carries 4-bit address and later it carries status signals.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446C-B9E1-4183-9EB7-55BD21C0F967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AED3093-0876-487E-8EA0-2F1DB7B8A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9AB7E7-2479-4233-9DD8-04B03BFC3D79}"/>
              </a:ext>
            </a:extLst>
          </p:cNvPr>
          <p:cNvSpPr/>
          <p:nvPr/>
        </p:nvSpPr>
        <p:spPr>
          <a:xfrm>
            <a:off x="5791199" y="971550"/>
            <a:ext cx="675499" cy="14738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93862-5D3E-4049-BCAA-6DD65C6CFE03}"/>
              </a:ext>
            </a:extLst>
          </p:cNvPr>
          <p:cNvSpPr/>
          <p:nvPr/>
        </p:nvSpPr>
        <p:spPr>
          <a:xfrm>
            <a:off x="7114674" y="976563"/>
            <a:ext cx="733926" cy="14738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85C05-BD2D-447A-924A-26640C56B20A}"/>
              </a:ext>
            </a:extLst>
          </p:cNvPr>
          <p:cNvSpPr/>
          <p:nvPr/>
        </p:nvSpPr>
        <p:spPr>
          <a:xfrm>
            <a:off x="5777163" y="4632910"/>
            <a:ext cx="689535" cy="25209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A8BF81-F60D-4093-8DEA-40BEE55DAB11}"/>
              </a:ext>
            </a:extLst>
          </p:cNvPr>
          <p:cNvSpPr/>
          <p:nvPr/>
        </p:nvSpPr>
        <p:spPr>
          <a:xfrm>
            <a:off x="5777162" y="4421104"/>
            <a:ext cx="689535" cy="21506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BB0A7-6C31-423B-A4BE-1B478F7BFE45}"/>
              </a:ext>
            </a:extLst>
          </p:cNvPr>
          <p:cNvSpPr/>
          <p:nvPr/>
        </p:nvSpPr>
        <p:spPr>
          <a:xfrm>
            <a:off x="5784907" y="1184044"/>
            <a:ext cx="689535" cy="2911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D0CA1-CBC2-42ED-B15C-36500CFBCBFA}"/>
              </a:ext>
            </a:extLst>
          </p:cNvPr>
          <p:cNvSpPr/>
          <p:nvPr/>
        </p:nvSpPr>
        <p:spPr>
          <a:xfrm>
            <a:off x="7116127" y="1148953"/>
            <a:ext cx="732473" cy="204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9F8514-C8D7-4E0B-9299-A7998A4B1074}"/>
              </a:ext>
            </a:extLst>
          </p:cNvPr>
          <p:cNvSpPr/>
          <p:nvPr/>
        </p:nvSpPr>
        <p:spPr>
          <a:xfrm>
            <a:off x="7086600" y="1352550"/>
            <a:ext cx="914400" cy="76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40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953000" cy="3851673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 dirty="0"/>
              <a:t>5.   S7/BHE</a:t>
            </a:r>
            <a:endParaRPr lang="en-US" sz="1100" dirty="0"/>
          </a:p>
          <a:p>
            <a:pPr marL="569913" lvl="1" indent="-225425"/>
            <a:r>
              <a:rPr lang="en-US" sz="1100" dirty="0"/>
              <a:t>BHE stands for Bus High Enable. </a:t>
            </a:r>
          </a:p>
          <a:p>
            <a:pPr marL="569913" lvl="1" indent="-225425"/>
            <a:r>
              <a:rPr lang="en-US" sz="1100" dirty="0"/>
              <a:t>It is available at pin 34 and </a:t>
            </a:r>
            <a:r>
              <a:rPr lang="en-US" sz="1100" dirty="0">
                <a:solidFill>
                  <a:srgbClr val="C00000"/>
                </a:solidFill>
              </a:rPr>
              <a:t>used to indicate the transfer of data </a:t>
            </a:r>
            <a:r>
              <a:rPr lang="en-US" sz="1100" dirty="0"/>
              <a:t>using data bus D8-D15. </a:t>
            </a:r>
          </a:p>
          <a:p>
            <a:pPr marL="569913" lvl="1" indent="-225425"/>
            <a:r>
              <a:rPr lang="en-US" sz="1100" dirty="0"/>
              <a:t>This signal is low during the first clock cycle, thereafter it is active.</a:t>
            </a:r>
          </a:p>
          <a:p>
            <a:pPr marL="0" indent="0">
              <a:buNone/>
            </a:pPr>
            <a:r>
              <a:rPr lang="en-US" sz="1100" b="1" dirty="0"/>
              <a:t>6.   Read</a:t>
            </a:r>
            <a:endParaRPr lang="en-US" sz="1100" dirty="0"/>
          </a:p>
          <a:p>
            <a:pPr marL="569913" lvl="1" indent="-225425"/>
            <a:r>
              <a:rPr lang="en-US" sz="1100" dirty="0"/>
              <a:t>It is available at pin 32 and is used to read </a:t>
            </a:r>
            <a:r>
              <a:rPr lang="en-US" sz="1100" dirty="0">
                <a:solidFill>
                  <a:srgbClr val="C00000"/>
                </a:solidFill>
              </a:rPr>
              <a:t>signal for Read operation.</a:t>
            </a:r>
          </a:p>
          <a:p>
            <a:pPr marL="0" indent="0">
              <a:buNone/>
            </a:pPr>
            <a:r>
              <a:rPr lang="en-US" sz="1100" b="1" dirty="0"/>
              <a:t>7.   Ready</a:t>
            </a:r>
            <a:endParaRPr lang="en-US" sz="1100" dirty="0"/>
          </a:p>
          <a:p>
            <a:pPr marL="569913" lvl="1" indent="-225425"/>
            <a:r>
              <a:rPr lang="en-US" sz="1100" dirty="0"/>
              <a:t>It is available at pin 22. </a:t>
            </a:r>
          </a:p>
          <a:p>
            <a:pPr marL="569913" lvl="1" indent="-225425"/>
            <a:r>
              <a:rPr lang="en-US" sz="1100" dirty="0"/>
              <a:t>It is an </a:t>
            </a:r>
            <a:r>
              <a:rPr lang="en-US" sz="1100" dirty="0">
                <a:solidFill>
                  <a:srgbClr val="C00000"/>
                </a:solidFill>
              </a:rPr>
              <a:t>acknowledgement signal from I/O devices that data is transferred</a:t>
            </a:r>
            <a:r>
              <a:rPr lang="en-US" sz="1100" dirty="0"/>
              <a:t>.</a:t>
            </a:r>
          </a:p>
          <a:p>
            <a:pPr marL="569913" lvl="1" indent="-225425"/>
            <a:r>
              <a:rPr lang="en-US" sz="1100" dirty="0"/>
              <a:t>It is an active high signal. When it is high, it indicates that the device is ready to transfer data.</a:t>
            </a:r>
          </a:p>
          <a:p>
            <a:pPr marL="569913" lvl="1" indent="-225425"/>
            <a:r>
              <a:rPr lang="en-US" sz="1100" dirty="0"/>
              <a:t>When it is low, it indicates wait state.</a:t>
            </a:r>
          </a:p>
          <a:p>
            <a:pPr marL="0" indent="0">
              <a:buNone/>
            </a:pPr>
            <a:r>
              <a:rPr lang="en-US" sz="1100" b="1" dirty="0"/>
              <a:t>8.   RESET</a:t>
            </a:r>
            <a:endParaRPr lang="en-US" sz="1100" dirty="0"/>
          </a:p>
          <a:p>
            <a:pPr marL="569913" lvl="1" indent="-225425"/>
            <a:r>
              <a:rPr lang="en-US" sz="1100" dirty="0"/>
              <a:t>It is available at pin 21 and is </a:t>
            </a:r>
            <a:r>
              <a:rPr lang="en-US" sz="1100" dirty="0">
                <a:solidFill>
                  <a:srgbClr val="C00000"/>
                </a:solidFill>
              </a:rPr>
              <a:t>used to restart the execution. </a:t>
            </a:r>
          </a:p>
          <a:p>
            <a:pPr marL="569913" lvl="1" indent="-225425"/>
            <a:r>
              <a:rPr lang="en-US" sz="1100" dirty="0"/>
              <a:t>It causes the processor to immediately terminate its present activity. </a:t>
            </a:r>
          </a:p>
          <a:p>
            <a:pPr marL="569913" lvl="1" indent="-225425"/>
            <a:r>
              <a:rPr lang="en-US" sz="1100" dirty="0"/>
              <a:t>This signal is active high for the first 4 clock cycles to RESET the microprocessor.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5471-D0CC-4CD9-B714-1E173A8E2B14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416F4-9DB7-4A33-8CE6-DA2FD7D49D8F}"/>
              </a:ext>
            </a:extLst>
          </p:cNvPr>
          <p:cNvSpPr/>
          <p:nvPr/>
        </p:nvSpPr>
        <p:spPr>
          <a:xfrm>
            <a:off x="7106653" y="2114550"/>
            <a:ext cx="914400" cy="2292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B6653-FEDA-427A-9558-1F6219F7FB67}"/>
              </a:ext>
            </a:extLst>
          </p:cNvPr>
          <p:cNvSpPr/>
          <p:nvPr/>
        </p:nvSpPr>
        <p:spPr>
          <a:xfrm>
            <a:off x="7086600" y="4408409"/>
            <a:ext cx="914400" cy="2083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94F14-A9A0-46E9-ACC9-66A0CDB7D542}"/>
              </a:ext>
            </a:extLst>
          </p:cNvPr>
          <p:cNvSpPr/>
          <p:nvPr/>
        </p:nvSpPr>
        <p:spPr>
          <a:xfrm>
            <a:off x="7079720" y="2492409"/>
            <a:ext cx="914400" cy="20836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AA053-5D8F-4DDD-BBA2-F68DBD80F83A}"/>
              </a:ext>
            </a:extLst>
          </p:cNvPr>
          <p:cNvSpPr/>
          <p:nvPr/>
        </p:nvSpPr>
        <p:spPr>
          <a:xfrm>
            <a:off x="7086600" y="4606712"/>
            <a:ext cx="914400" cy="27384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4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4953000" cy="3851673"/>
              </a:xfrm>
              <a:noFill/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9.   INTR</a:t>
                </a:r>
                <a:endParaRPr lang="en-US" sz="1800" dirty="0"/>
              </a:p>
              <a:p>
                <a:pPr marL="569913" lvl="1" indent="-225425"/>
                <a:r>
                  <a:rPr lang="en-US" sz="1400" dirty="0"/>
                  <a:t>It is available at pin 18. </a:t>
                </a:r>
              </a:p>
              <a:p>
                <a:pPr marL="569913" lvl="1" indent="-225425"/>
                <a:r>
                  <a:rPr lang="en-US" sz="1400" dirty="0"/>
                  <a:t>It is </a:t>
                </a:r>
                <a:r>
                  <a:rPr lang="en-US" sz="1400" dirty="0">
                    <a:solidFill>
                      <a:srgbClr val="C00000"/>
                    </a:solidFill>
                  </a:rPr>
                  <a:t>an interrupt request signal, </a:t>
                </a:r>
                <a:r>
                  <a:rPr lang="en-US" sz="1400" dirty="0"/>
                  <a:t>which is sampled during the last clock cycle of each instruction to determine if the processor considered this as an interrupt or not.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10. NMI</a:t>
                </a:r>
              </a:p>
              <a:p>
                <a:pPr marL="569913" lvl="1" indent="-225425"/>
                <a:r>
                  <a:rPr lang="en-US" sz="1400" dirty="0"/>
                  <a:t>It stands for </a:t>
                </a:r>
                <a:r>
                  <a:rPr lang="en-US" sz="1400" dirty="0">
                    <a:solidFill>
                      <a:srgbClr val="C00000"/>
                    </a:solidFill>
                  </a:rPr>
                  <a:t>non-maskable interrupt </a:t>
                </a:r>
                <a:r>
                  <a:rPr lang="en-US" sz="1400" dirty="0"/>
                  <a:t>and is available at pin 17. </a:t>
                </a:r>
              </a:p>
              <a:p>
                <a:pPr marL="569913" lvl="1" indent="-225425"/>
                <a:r>
                  <a:rPr lang="en-US" sz="1400" dirty="0"/>
                  <a:t>It is an edge triggered input, which </a:t>
                </a:r>
                <a:r>
                  <a:rPr lang="en-US" sz="1400" dirty="0">
                    <a:solidFill>
                      <a:srgbClr val="C00000"/>
                    </a:solidFill>
                  </a:rPr>
                  <a:t>causes an interrupt request to the microprocessor.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11.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>
                            <a:latin typeface="Cambria Math" panose="02040503050406030204" pitchFamily="18" charset="0"/>
                          </a:rPr>
                          <m:t>𝐓𝐄𝐒𝐓</m:t>
                        </m:r>
                      </m:e>
                    </m:acc>
                  </m:oMath>
                </a14:m>
                <a:endParaRPr lang="en-US" sz="1800" b="1" dirty="0"/>
              </a:p>
              <a:p>
                <a:pPr marL="625475" lvl="1"/>
                <a:r>
                  <a:rPr lang="en-US" sz="1400" dirty="0"/>
                  <a:t>This signal is like wait state and is available at pin 23. </a:t>
                </a:r>
              </a:p>
              <a:p>
                <a:pPr marL="625475" lvl="1"/>
                <a:r>
                  <a:rPr lang="en-US" sz="1400" dirty="0">
                    <a:solidFill>
                      <a:srgbClr val="C00000"/>
                    </a:solidFill>
                  </a:rPr>
                  <a:t>When this signal is high, then the processor has to wait </a:t>
                </a:r>
                <a:r>
                  <a:rPr lang="en-US" sz="1400" dirty="0"/>
                  <a:t>for IDLE state, else the execution continues.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12. MN/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>
                            <a:latin typeface="Cambria Math" panose="02040503050406030204" pitchFamily="18" charset="0"/>
                          </a:rPr>
                          <m:t>𝐌𝐗</m:t>
                        </m:r>
                      </m:e>
                    </m:acc>
                  </m:oMath>
                </a14:m>
                <a:endParaRPr lang="en-US" sz="1800" dirty="0"/>
              </a:p>
              <a:p>
                <a:pPr marL="625475" lvl="1"/>
                <a:r>
                  <a:rPr lang="en-US" sz="1400" dirty="0"/>
                  <a:t>It stands for Minimum/Maximum and is available at pin 33. </a:t>
                </a:r>
              </a:p>
              <a:p>
                <a:pPr marL="625475" lvl="1"/>
                <a:r>
                  <a:rPr lang="en-US" sz="1400" dirty="0"/>
                  <a:t>It </a:t>
                </a:r>
                <a:r>
                  <a:rPr lang="en-US" sz="1400" dirty="0">
                    <a:solidFill>
                      <a:srgbClr val="C00000"/>
                    </a:solidFill>
                  </a:rPr>
                  <a:t>indicates what mode the processor </a:t>
                </a:r>
                <a:r>
                  <a:rPr lang="en-US" sz="1400" dirty="0"/>
                  <a:t>is to operate in; when it is high, it works in the minimum mode and vice-versa.</a:t>
                </a:r>
              </a:p>
              <a:p>
                <a:pPr marL="569913" lvl="1" indent="-225425"/>
                <a:endParaRPr lang="en-US" sz="1400" dirty="0"/>
              </a:p>
              <a:p>
                <a:pPr marL="569913" lvl="1" indent="-225425"/>
                <a:endParaRPr lang="en-US" sz="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4953000" cy="3851673"/>
              </a:xfrm>
              <a:blipFill>
                <a:blip r:embed="rId2"/>
                <a:stretch>
                  <a:fillRect l="-738" t="-1266" r="-615" b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8E1-A49F-4CFD-A06E-41B060CFBA6C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78DF40-1E04-4E23-89EE-CC2D0025BBFF}"/>
              </a:ext>
            </a:extLst>
          </p:cNvPr>
          <p:cNvSpPr/>
          <p:nvPr/>
        </p:nvSpPr>
        <p:spPr>
          <a:xfrm>
            <a:off x="5715000" y="4236601"/>
            <a:ext cx="914400" cy="172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63AFDF-742D-47B1-A42A-096653D2D9DD}"/>
              </a:ext>
            </a:extLst>
          </p:cNvPr>
          <p:cNvSpPr/>
          <p:nvPr/>
        </p:nvSpPr>
        <p:spPr>
          <a:xfrm>
            <a:off x="5715000" y="4072652"/>
            <a:ext cx="914400" cy="1639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DDF484-385A-4CCF-9A8E-0EC58DAB2954}"/>
              </a:ext>
            </a:extLst>
          </p:cNvPr>
          <p:cNvSpPr/>
          <p:nvPr/>
        </p:nvSpPr>
        <p:spPr>
          <a:xfrm>
            <a:off x="6953387" y="4240026"/>
            <a:ext cx="914400" cy="27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375AD-8FCA-4B91-A195-C2D75D674BF5}"/>
              </a:ext>
            </a:extLst>
          </p:cNvPr>
          <p:cNvSpPr/>
          <p:nvPr/>
        </p:nvSpPr>
        <p:spPr>
          <a:xfrm>
            <a:off x="7086600" y="2255400"/>
            <a:ext cx="914400" cy="2738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6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9530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13.  QS1 and QS0</a:t>
            </a:r>
            <a:endParaRPr lang="en-US" sz="2000" dirty="0"/>
          </a:p>
          <a:p>
            <a:pPr lvl="1"/>
            <a:r>
              <a:rPr lang="en-US" sz="1600" dirty="0"/>
              <a:t>These are queue status signals and are available at pin 24 and 25. </a:t>
            </a:r>
          </a:p>
          <a:p>
            <a:pPr lvl="1"/>
            <a:r>
              <a:rPr lang="en-US" sz="1600" dirty="0"/>
              <a:t>These signals </a:t>
            </a:r>
            <a:r>
              <a:rPr lang="en-US" sz="1600" dirty="0">
                <a:solidFill>
                  <a:srgbClr val="C00000"/>
                </a:solidFill>
              </a:rPr>
              <a:t>provide the status of instruction queue</a:t>
            </a:r>
          </a:p>
          <a:p>
            <a:pPr marL="457200" indent="-457200">
              <a:buFont typeface="+mj-lt"/>
              <a:buAutoNum type="arabicPeriod" startAt="21"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6EA49-1133-4D8C-9AD5-29941B042530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8A30C3-D3F0-4A60-96AC-E2EDBE28F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11071"/>
              </p:ext>
            </p:extLst>
          </p:nvPr>
        </p:nvGraphicFramePr>
        <p:xfrm>
          <a:off x="1400175" y="2343150"/>
          <a:ext cx="3448050" cy="160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607">
                  <a:extLst>
                    <a:ext uri="{9D8B030D-6E8A-4147-A177-3AD203B41FA5}">
                      <a16:colId xmlns:a16="http://schemas.microsoft.com/office/drawing/2014/main" val="3158139653"/>
                    </a:ext>
                  </a:extLst>
                </a:gridCol>
                <a:gridCol w="435468">
                  <a:extLst>
                    <a:ext uri="{9D8B030D-6E8A-4147-A177-3AD203B41FA5}">
                      <a16:colId xmlns:a16="http://schemas.microsoft.com/office/drawing/2014/main" val="537871371"/>
                    </a:ext>
                  </a:extLst>
                </a:gridCol>
                <a:gridCol w="2569975">
                  <a:extLst>
                    <a:ext uri="{9D8B030D-6E8A-4147-A177-3AD203B41FA5}">
                      <a16:colId xmlns:a16="http://schemas.microsoft.com/office/drawing/2014/main" val="2111185528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>
                          <a:effectLst/>
                        </a:rPr>
                        <a:t>QS</a:t>
                      </a:r>
                      <a:r>
                        <a:rPr lang="en-US" sz="1150" b="1" baseline="-25000">
                          <a:effectLst/>
                        </a:rPr>
                        <a:t>0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>
                          <a:effectLst/>
                        </a:rPr>
                        <a:t>QS</a:t>
                      </a:r>
                      <a:r>
                        <a:rPr lang="en-US" sz="1150" b="1" baseline="-25000">
                          <a:effectLst/>
                        </a:rPr>
                        <a:t>1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 dirty="0">
                          <a:effectLst/>
                        </a:rPr>
                        <a:t>Status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78287077"/>
                  </a:ext>
                </a:extLst>
              </a:tr>
              <a:tr h="768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58859427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dirty="0">
                          <a:effectLst/>
                        </a:rPr>
                        <a:t>No operation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8398136"/>
                  </a:ext>
                </a:extLst>
              </a:tr>
              <a:tr h="825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8274858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First byte of opcode from the queue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52082604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9809811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Empty the queue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00481516"/>
                  </a:ext>
                </a:extLst>
              </a:tr>
              <a:tr h="825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65894963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Subsequent byte from the queue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83529893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47012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DE82691-AA7C-4BF5-81C7-556CE148FC95}"/>
              </a:ext>
            </a:extLst>
          </p:cNvPr>
          <p:cNvSpPr/>
          <p:nvPr/>
        </p:nvSpPr>
        <p:spPr>
          <a:xfrm>
            <a:off x="7010400" y="3861887"/>
            <a:ext cx="770021" cy="460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43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9530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14.  S0, S1, S2</a:t>
            </a:r>
            <a:endParaRPr lang="en-US" sz="1600" dirty="0"/>
          </a:p>
          <a:p>
            <a:pPr marL="625475" lvl="1" indent="-280988"/>
            <a:r>
              <a:rPr lang="en-US" sz="1200" dirty="0"/>
              <a:t>These are the status signals that </a:t>
            </a:r>
            <a:r>
              <a:rPr lang="en-US" sz="1200" dirty="0">
                <a:solidFill>
                  <a:srgbClr val="C00000"/>
                </a:solidFill>
              </a:rPr>
              <a:t>provide the status of operation</a:t>
            </a:r>
            <a:r>
              <a:rPr lang="en-US" sz="1200" dirty="0"/>
              <a:t>, which is used by the Bus Controller 8288 to generate memory &amp; I/O control signals. </a:t>
            </a:r>
          </a:p>
          <a:p>
            <a:pPr marL="625475" lvl="1" indent="-280988"/>
            <a:r>
              <a:rPr lang="en-US" sz="1200" dirty="0"/>
              <a:t>These are available at pin 26, 27, and 28. </a:t>
            </a:r>
          </a:p>
          <a:p>
            <a:pPr marL="625475" lvl="1" indent="-280988"/>
            <a:r>
              <a:rPr lang="en-US" sz="1200" dirty="0"/>
              <a:t>Following is the table showing their status −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DB74-7D2C-447F-B6FD-F5C6C23806BF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8FC2AF-BAB6-4C4A-90F4-AA76C1D2C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91672"/>
              </p:ext>
            </p:extLst>
          </p:nvPr>
        </p:nvGraphicFramePr>
        <p:xfrm>
          <a:off x="1066800" y="2259494"/>
          <a:ext cx="4057651" cy="2324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8448">
                  <a:extLst>
                    <a:ext uri="{9D8B030D-6E8A-4147-A177-3AD203B41FA5}">
                      <a16:colId xmlns:a16="http://schemas.microsoft.com/office/drawing/2014/main" val="1161605601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597620953"/>
                    </a:ext>
                  </a:extLst>
                </a:gridCol>
                <a:gridCol w="428448">
                  <a:extLst>
                    <a:ext uri="{9D8B030D-6E8A-4147-A177-3AD203B41FA5}">
                      <a16:colId xmlns:a16="http://schemas.microsoft.com/office/drawing/2014/main" val="328817054"/>
                    </a:ext>
                  </a:extLst>
                </a:gridCol>
                <a:gridCol w="2780708">
                  <a:extLst>
                    <a:ext uri="{9D8B030D-6E8A-4147-A177-3AD203B41FA5}">
                      <a16:colId xmlns:a16="http://schemas.microsoft.com/office/drawing/2014/main" val="197952759"/>
                    </a:ext>
                  </a:extLst>
                </a:gridCol>
              </a:tblGrid>
              <a:tr h="1744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>
                          <a:effectLst/>
                        </a:rPr>
                        <a:t>S</a:t>
                      </a:r>
                      <a:r>
                        <a:rPr lang="en-US" sz="1150" b="1" baseline="-25000">
                          <a:effectLst/>
                        </a:rPr>
                        <a:t>2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>
                          <a:effectLst/>
                        </a:rPr>
                        <a:t>S</a:t>
                      </a:r>
                      <a:r>
                        <a:rPr lang="en-US" sz="1150" b="1" baseline="-25000">
                          <a:effectLst/>
                        </a:rPr>
                        <a:t>1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>
                          <a:effectLst/>
                        </a:rPr>
                        <a:t>S</a:t>
                      </a:r>
                      <a:r>
                        <a:rPr lang="en-US" sz="1150" b="1" baseline="-25000">
                          <a:effectLst/>
                        </a:rPr>
                        <a:t>0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1" dirty="0">
                          <a:effectLst/>
                        </a:rPr>
                        <a:t>Status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7221853"/>
                  </a:ext>
                </a:extLst>
              </a:tr>
              <a:tr h="5315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815432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Interrupt acknowledgement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05717889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95195219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I/O Read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37287402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7218290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I/O Write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504421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2912931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Halt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95533691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7434747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Opcode fetch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05133063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63026289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Memory read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47516310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2445635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Memory write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4355318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4604304"/>
                  </a:ext>
                </a:extLst>
              </a:tr>
              <a:tr h="1629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Passive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701184"/>
                  </a:ext>
                </a:extLst>
              </a:tr>
              <a:tr h="5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5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4072496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A158EA4-2240-4BC8-B730-EBDB68ED708A}"/>
              </a:ext>
            </a:extLst>
          </p:cNvPr>
          <p:cNvSpPr/>
          <p:nvPr/>
        </p:nvSpPr>
        <p:spPr>
          <a:xfrm>
            <a:off x="7010400" y="3257551"/>
            <a:ext cx="770021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4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953000" cy="385167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15.  LOCK</a:t>
            </a:r>
            <a:endParaRPr lang="en-US" sz="1600" dirty="0"/>
          </a:p>
          <a:p>
            <a:pPr lvl="1"/>
            <a:r>
              <a:rPr lang="en-US" sz="1400" dirty="0"/>
              <a:t>When this signal is active, it </a:t>
            </a:r>
            <a:r>
              <a:rPr lang="en-US" sz="1400" dirty="0">
                <a:solidFill>
                  <a:srgbClr val="C00000"/>
                </a:solidFill>
              </a:rPr>
              <a:t>indicates to the other processors not to ask the CPU to leave the system bus</a:t>
            </a:r>
            <a:r>
              <a:rPr lang="en-US" sz="1400" dirty="0"/>
              <a:t>. </a:t>
            </a:r>
          </a:p>
          <a:p>
            <a:pPr lvl="1"/>
            <a:r>
              <a:rPr lang="en-US" sz="1400" dirty="0"/>
              <a:t>It is activated using the LOCK prefix on any instruction and is available at pin 29.</a:t>
            </a:r>
          </a:p>
          <a:p>
            <a:pPr marL="0" indent="0">
              <a:buNone/>
            </a:pPr>
            <a:r>
              <a:rPr lang="en-US" sz="1600" b="1" dirty="0"/>
              <a:t>16.  RQ/GT1 and RQ/GT0</a:t>
            </a:r>
            <a:endParaRPr lang="en-US" sz="1600" dirty="0"/>
          </a:p>
          <a:p>
            <a:pPr lvl="1"/>
            <a:r>
              <a:rPr lang="en-US" sz="1400" dirty="0"/>
              <a:t>These are the Request/Grant </a:t>
            </a:r>
            <a:r>
              <a:rPr lang="en-US" sz="1400" dirty="0">
                <a:solidFill>
                  <a:srgbClr val="C00000"/>
                </a:solidFill>
              </a:rPr>
              <a:t>signals used by the other processors requesting the CPU to release the system bus. </a:t>
            </a:r>
          </a:p>
          <a:p>
            <a:pPr lvl="1"/>
            <a:r>
              <a:rPr lang="en-US" sz="1400" dirty="0"/>
              <a:t>When the signal is received by CPU, then it sends acknowledgment. </a:t>
            </a:r>
          </a:p>
          <a:p>
            <a:pPr lvl="1"/>
            <a:r>
              <a:rPr lang="en-US" sz="1400" dirty="0"/>
              <a:t>RQ/GT0 has a higher priority than RQ/GT1.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7FF-EE9D-45CC-A429-602C2C47F65A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C649F4-834F-45C1-8F6E-26C70D450382}"/>
              </a:ext>
            </a:extLst>
          </p:cNvPr>
          <p:cNvSpPr/>
          <p:nvPr/>
        </p:nvSpPr>
        <p:spPr>
          <a:xfrm>
            <a:off x="7086599" y="2653106"/>
            <a:ext cx="894347" cy="60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15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245D7DD-E92B-4102-95E1-C78B3754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953000" cy="3851673"/>
          </a:xfrm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17.  INTA</a:t>
            </a:r>
            <a:endParaRPr lang="en-US" sz="1800" dirty="0"/>
          </a:p>
          <a:p>
            <a:pPr marL="625475" lvl="1"/>
            <a:r>
              <a:rPr lang="en-US" sz="1400" dirty="0"/>
              <a:t>It is an </a:t>
            </a:r>
            <a:r>
              <a:rPr lang="en-US" sz="1400" dirty="0">
                <a:solidFill>
                  <a:srgbClr val="C00000"/>
                </a:solidFill>
              </a:rPr>
              <a:t>interrupt acknowledgement signal </a:t>
            </a:r>
            <a:r>
              <a:rPr lang="en-US" sz="1400" dirty="0"/>
              <a:t>and id available at pin 24. </a:t>
            </a:r>
          </a:p>
          <a:p>
            <a:pPr marL="625475" lvl="1"/>
            <a:r>
              <a:rPr lang="en-US" sz="1400" dirty="0"/>
              <a:t>When the microprocessor receives this signal, it acknowledges the interrupt.</a:t>
            </a:r>
          </a:p>
          <a:p>
            <a:pPr marL="0" indent="0">
              <a:buNone/>
            </a:pPr>
            <a:r>
              <a:rPr lang="en-US" sz="1800" b="1" dirty="0"/>
              <a:t>18.  ALE</a:t>
            </a:r>
            <a:endParaRPr lang="en-US" sz="1800" dirty="0"/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It stands for address enable latch and is available at pin 25.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A positive pulse is generated each time the processor begins any operation.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This signal </a:t>
            </a:r>
            <a:r>
              <a:rPr lang="en-US" sz="1400" dirty="0">
                <a:solidFill>
                  <a:srgbClr val="C00000"/>
                </a:solidFill>
              </a:rPr>
              <a:t>indicates the availability of a valid address on the address/data lines.</a:t>
            </a:r>
          </a:p>
          <a:p>
            <a:pPr marL="0" indent="0">
              <a:buNone/>
            </a:pPr>
            <a:r>
              <a:rPr lang="en-US" sz="1800" b="1" dirty="0"/>
              <a:t>19.  DEN</a:t>
            </a:r>
            <a:endParaRPr lang="en-US" sz="1800" dirty="0"/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It stands for Data Enable and is available at pin 26.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It is </a:t>
            </a:r>
            <a:r>
              <a:rPr lang="en-US" sz="1400" dirty="0">
                <a:solidFill>
                  <a:srgbClr val="C00000"/>
                </a:solidFill>
              </a:rPr>
              <a:t>used to enable </a:t>
            </a:r>
            <a:r>
              <a:rPr lang="en-US" sz="1400" dirty="0" err="1">
                <a:solidFill>
                  <a:srgbClr val="C00000"/>
                </a:solidFill>
              </a:rPr>
              <a:t>Transreceiver</a:t>
            </a:r>
            <a:r>
              <a:rPr lang="en-US" sz="1400" dirty="0">
                <a:solidFill>
                  <a:srgbClr val="C00000"/>
                </a:solidFill>
              </a:rPr>
              <a:t> 8286.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The </a:t>
            </a:r>
            <a:r>
              <a:rPr lang="en-US" sz="1400" dirty="0" err="1"/>
              <a:t>transreceiver</a:t>
            </a:r>
            <a:r>
              <a:rPr lang="en-US" sz="1400" dirty="0"/>
              <a:t> is a device used to separate data from the address/data bus.</a:t>
            </a:r>
          </a:p>
          <a:p>
            <a:pPr marL="0" indent="0">
              <a:buNone/>
            </a:pPr>
            <a:r>
              <a:rPr lang="en-US" sz="1800" b="1" dirty="0"/>
              <a:t>20.  DT/R</a:t>
            </a:r>
            <a:endParaRPr lang="en-US" sz="1800" dirty="0"/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It stands for Data Transmit/Receive signal and is available at pin 27.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It </a:t>
            </a:r>
            <a:r>
              <a:rPr lang="en-US" sz="1400" dirty="0">
                <a:solidFill>
                  <a:srgbClr val="C00000"/>
                </a:solidFill>
              </a:rPr>
              <a:t>decides the direction of data flow through the </a:t>
            </a:r>
            <a:r>
              <a:rPr lang="en-US" sz="1400" dirty="0" err="1">
                <a:solidFill>
                  <a:srgbClr val="C00000"/>
                </a:solidFill>
              </a:rPr>
              <a:t>transreceiver</a:t>
            </a:r>
            <a:r>
              <a:rPr lang="en-US" sz="1400" dirty="0">
                <a:solidFill>
                  <a:srgbClr val="C00000"/>
                </a:solidFill>
              </a:rPr>
              <a:t>. </a:t>
            </a:r>
          </a:p>
          <a:p>
            <a:pPr marL="625475" lvl="1" indent="-223838">
              <a:tabLst>
                <a:tab pos="569913" algn="l"/>
              </a:tabLst>
            </a:pPr>
            <a:r>
              <a:rPr lang="en-US" sz="1400" dirty="0"/>
              <a:t>When it </a:t>
            </a:r>
            <a:r>
              <a:rPr lang="en-US" sz="1400" dirty="0">
                <a:solidFill>
                  <a:srgbClr val="C00000"/>
                </a:solidFill>
              </a:rPr>
              <a:t>is high, data is transmitted out </a:t>
            </a:r>
            <a:r>
              <a:rPr lang="en-US" sz="1400" dirty="0"/>
              <a:t>and vice-a-versa.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83A03-14D1-43E3-A616-A26348637AA7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E7397-6E0D-4A99-AA64-8171A2BB16DD}"/>
              </a:ext>
            </a:extLst>
          </p:cNvPr>
          <p:cNvSpPr/>
          <p:nvPr/>
        </p:nvSpPr>
        <p:spPr>
          <a:xfrm>
            <a:off x="7848600" y="3409950"/>
            <a:ext cx="647975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4953000" cy="3851673"/>
              </a:xfrm>
              <a:noFill/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21. M/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𝐈𝐎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690563" lvl="1" indent="-290513"/>
                <a:r>
                  <a:rPr lang="en-US" sz="1400" dirty="0"/>
                  <a:t>This signal is used to </a:t>
                </a:r>
                <a:r>
                  <a:rPr lang="en-US" sz="1400" dirty="0">
                    <a:solidFill>
                      <a:srgbClr val="C00000"/>
                    </a:solidFill>
                  </a:rPr>
                  <a:t>distinguish between memory and I/O operations. </a:t>
                </a:r>
              </a:p>
              <a:p>
                <a:pPr marL="690563" lvl="1" indent="-290513"/>
                <a:r>
                  <a:rPr lang="en-US" sz="1400" dirty="0"/>
                  <a:t>When it is high, it indicates I/O operation and when it is low indicates the memory operation. </a:t>
                </a:r>
              </a:p>
              <a:p>
                <a:pPr marL="690563" lvl="1" indent="-290513"/>
                <a:r>
                  <a:rPr lang="en-US" sz="1400" dirty="0"/>
                  <a:t>It is available at pin 28.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22.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𝐖𝐑</m:t>
                        </m:r>
                      </m:e>
                    </m:acc>
                  </m:oMath>
                </a14:m>
                <a:endParaRPr lang="en-US" sz="1600" b="1" dirty="0"/>
              </a:p>
              <a:p>
                <a:pPr marL="690563" lvl="1" indent="-290513"/>
                <a:r>
                  <a:rPr lang="en-US" sz="1400" dirty="0"/>
                  <a:t>It </a:t>
                </a:r>
                <a:r>
                  <a:rPr lang="en-US" sz="1400" dirty="0">
                    <a:solidFill>
                      <a:srgbClr val="C00000"/>
                    </a:solidFill>
                  </a:rPr>
                  <a:t>stands for write signal </a:t>
                </a:r>
                <a:r>
                  <a:rPr lang="en-US" sz="1400" dirty="0"/>
                  <a:t>and is available at pin 29. </a:t>
                </a:r>
              </a:p>
              <a:p>
                <a:pPr marL="690563" lvl="1" indent="-290513"/>
                <a:r>
                  <a:rPr lang="en-US" sz="1400" dirty="0"/>
                  <a:t>It is used to write the data into the memory or the output device depending on the status of M/IO signal.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23. HLDA</a:t>
                </a:r>
                <a:endParaRPr lang="en-US" sz="1600" dirty="0"/>
              </a:p>
              <a:p>
                <a:pPr marL="690563" lvl="1" indent="-290513"/>
                <a:r>
                  <a:rPr lang="en-US" sz="1400" dirty="0"/>
                  <a:t>It stands for </a:t>
                </a:r>
                <a:r>
                  <a:rPr lang="en-US" sz="1400" dirty="0">
                    <a:solidFill>
                      <a:srgbClr val="C00000"/>
                    </a:solidFill>
                  </a:rPr>
                  <a:t>Hold Acknowledgement signal and </a:t>
                </a:r>
                <a:r>
                  <a:rPr lang="en-US" sz="1400" dirty="0"/>
                  <a:t>is available at pin 30. </a:t>
                </a:r>
              </a:p>
              <a:p>
                <a:pPr marL="690563" lvl="1" indent="-290513"/>
                <a:r>
                  <a:rPr lang="en-US" sz="1400" dirty="0"/>
                  <a:t>This signal acknowledges the HOLD signal.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24. HOLD</a:t>
                </a:r>
                <a:endParaRPr lang="en-US" sz="1600" dirty="0"/>
              </a:p>
              <a:p>
                <a:pPr marL="690563" lvl="1" indent="-290513"/>
                <a:r>
                  <a:rPr lang="en-US" sz="1400" dirty="0"/>
                  <a:t>This signal </a:t>
                </a:r>
                <a:r>
                  <a:rPr lang="en-US" sz="1400" dirty="0">
                    <a:solidFill>
                      <a:srgbClr val="C00000"/>
                    </a:solidFill>
                  </a:rPr>
                  <a:t>indicates to the processor that external devices are requesting to access the address/data buses. </a:t>
                </a:r>
              </a:p>
              <a:p>
                <a:pPr marL="690563" lvl="1" indent="-290513"/>
                <a:r>
                  <a:rPr lang="en-US" sz="1400" dirty="0"/>
                  <a:t>It is available at pin 31. </a:t>
                </a:r>
              </a:p>
              <a:p>
                <a:pPr marL="344488" indent="-344488">
                  <a:buFont typeface="+mj-lt"/>
                  <a:buAutoNum type="arabicPeriod" startAt="17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4953000" cy="3851673"/>
              </a:xfrm>
              <a:blipFill>
                <a:blip r:embed="rId2"/>
                <a:stretch>
                  <a:fillRect l="-492" t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CD8A9-9AF4-4261-8571-C3B69611EEC0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DE4D3B0-368F-4B50-89D3-02F6777F7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5243"/>
            <a:ext cx="3086375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D53984-67F6-4F01-88A2-F145ADF42BC0}"/>
              </a:ext>
            </a:extLst>
          </p:cNvPr>
          <p:cNvSpPr/>
          <p:nvPr/>
        </p:nvSpPr>
        <p:spPr>
          <a:xfrm>
            <a:off x="7924799" y="2647951"/>
            <a:ext cx="571775" cy="8381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48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5. Addressing Modes of 8086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000" dirty="0"/>
              <a:t>The different ways in which a source operand is denoted in an instruction is known as </a:t>
            </a:r>
            <a:r>
              <a:rPr lang="en-US" sz="2000" b="1" dirty="0"/>
              <a:t>addressing modes</a:t>
            </a:r>
            <a:r>
              <a:rPr lang="en-US" sz="2000" dirty="0"/>
              <a:t>. 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There are 8 different addressing modes in 8086 programming: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Immediate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Register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Direct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Register indirect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Based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Indexed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Based-index addressing mode</a:t>
            </a:r>
          </a:p>
          <a:p>
            <a:pPr marL="971550" lvl="1" indent="-514350">
              <a:buFont typeface="+mj-lt"/>
              <a:buAutoNum type="arabicPeriod"/>
              <a:tabLst>
                <a:tab pos="463550" algn="l"/>
              </a:tabLst>
            </a:pPr>
            <a:r>
              <a:rPr lang="en-US" sz="1800" dirty="0"/>
              <a:t>Based indexed with displacement mode</a:t>
            </a: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D394-EF75-4E54-85A0-363706770448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17966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962400" cy="3851673"/>
          </a:xfrm>
          <a:noFill/>
        </p:spPr>
        <p:txBody>
          <a:bodyPr>
            <a:noAutofit/>
          </a:bodyPr>
          <a:lstStyle/>
          <a:p>
            <a:pPr marL="233363" indent="-233363">
              <a:buFont typeface="+mj-lt"/>
              <a:buAutoNum type="arabicPeriod"/>
            </a:pPr>
            <a:r>
              <a:rPr lang="en-US" sz="1600" b="1" dirty="0">
                <a:solidFill>
                  <a:srgbClr val="0070C0"/>
                </a:solidFill>
              </a:rPr>
              <a:t>Immediate addressing mode</a:t>
            </a:r>
          </a:p>
          <a:p>
            <a:pPr marL="512763" lvl="1" indent="-280988"/>
            <a:r>
              <a:rPr lang="en-US" sz="1300" dirty="0"/>
              <a:t>The addressing mode in which the </a:t>
            </a:r>
            <a:r>
              <a:rPr lang="en-US" sz="1300" dirty="0">
                <a:solidFill>
                  <a:srgbClr val="C00000"/>
                </a:solidFill>
              </a:rPr>
              <a:t>data operand is a part of the instruction itself </a:t>
            </a:r>
            <a:r>
              <a:rPr lang="en-US" sz="1300" dirty="0"/>
              <a:t>is known as immediate addressing mode.</a:t>
            </a:r>
          </a:p>
          <a:p>
            <a:pPr marL="512763" lvl="1" indent="-280988"/>
            <a:r>
              <a:rPr lang="en-US" sz="1300" b="1" dirty="0"/>
              <a:t>Example:</a:t>
            </a:r>
            <a:endParaRPr lang="en-US" sz="1300" dirty="0"/>
          </a:p>
          <a:p>
            <a:pPr marL="685800" lvl="2" indent="-163513" defTabSz="741363"/>
            <a:r>
              <a:rPr lang="en-US" sz="1300" dirty="0"/>
              <a:t>MOV CX, 4929 H</a:t>
            </a:r>
          </a:p>
          <a:p>
            <a:pPr marL="685800" lvl="2" indent="-163513" defTabSz="741363"/>
            <a:r>
              <a:rPr lang="en-US" sz="1300" dirty="0"/>
              <a:t>ADD AX, 2387 H</a:t>
            </a:r>
          </a:p>
          <a:p>
            <a:pPr marL="685800" lvl="2" indent="-163513" defTabSz="741363"/>
            <a:r>
              <a:rPr lang="en-US" sz="1300" dirty="0"/>
              <a:t>MOV AL, FFH</a:t>
            </a:r>
          </a:p>
          <a:p>
            <a:pPr marL="685800" lvl="2" indent="-163513" defTabSz="741363"/>
            <a:endParaRPr lang="en-US" sz="1300" dirty="0"/>
          </a:p>
          <a:p>
            <a:pPr marL="233363" indent="-233363">
              <a:buFont typeface="+mj-lt"/>
              <a:buAutoNum type="arabicPeriod"/>
            </a:pPr>
            <a:r>
              <a:rPr lang="en-US" sz="1600" b="1" dirty="0">
                <a:solidFill>
                  <a:srgbClr val="0070C0"/>
                </a:solidFill>
              </a:rPr>
              <a:t>Register addressing mode</a:t>
            </a:r>
          </a:p>
          <a:p>
            <a:pPr marL="512763" lvl="1" indent="-280988"/>
            <a:r>
              <a:rPr lang="en-US" sz="1300" dirty="0"/>
              <a:t>It means that </a:t>
            </a:r>
            <a:r>
              <a:rPr lang="en-US" sz="1300" dirty="0">
                <a:solidFill>
                  <a:srgbClr val="C00000"/>
                </a:solidFill>
              </a:rPr>
              <a:t>the register is the source </a:t>
            </a:r>
            <a:r>
              <a:rPr lang="en-US" sz="1300" dirty="0"/>
              <a:t>of an operand for an instruction. </a:t>
            </a:r>
          </a:p>
          <a:p>
            <a:pPr marL="512763" lvl="1" indent="-280988"/>
            <a:r>
              <a:rPr lang="en-US" sz="1300" b="1" dirty="0"/>
              <a:t>Example</a:t>
            </a:r>
            <a:endParaRPr lang="en-US" sz="1300" dirty="0"/>
          </a:p>
          <a:p>
            <a:pPr marL="685800" lvl="2" indent="-163513" defTabSz="741363"/>
            <a:r>
              <a:rPr lang="en-US" sz="1300" dirty="0"/>
              <a:t>MOV CX, AX    ; copies the contents of the 16-bit AX register into the 16-bit CX register),</a:t>
            </a:r>
          </a:p>
          <a:p>
            <a:pPr marL="685800" lvl="2" indent="-163513" defTabSz="741363"/>
            <a:r>
              <a:rPr lang="en-US" sz="1300" dirty="0"/>
              <a:t>ADD BX, AX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8FAA4-9C57-49F9-8B90-E557E66BF830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349BCB-3E5E-4F71-9084-28B7C4706F5B}"/>
              </a:ext>
            </a:extLst>
          </p:cNvPr>
          <p:cNvSpPr txBox="1">
            <a:spLocks/>
          </p:cNvSpPr>
          <p:nvPr/>
        </p:nvSpPr>
        <p:spPr>
          <a:xfrm>
            <a:off x="4572000" y="829270"/>
            <a:ext cx="4343400" cy="385167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3.    Direct addressing mode</a:t>
            </a:r>
          </a:p>
          <a:p>
            <a:pPr marL="512763" lvl="1" indent="-280988"/>
            <a:r>
              <a:rPr lang="en-US" sz="1300" dirty="0"/>
              <a:t> The addressing mode in which </a:t>
            </a:r>
            <a:r>
              <a:rPr lang="en-US" sz="1300" dirty="0">
                <a:solidFill>
                  <a:srgbClr val="C00000"/>
                </a:solidFill>
              </a:rPr>
              <a:t>the effective address of the memory location is written directly </a:t>
            </a:r>
            <a:r>
              <a:rPr lang="en-US" sz="1300" dirty="0"/>
              <a:t>in the instruction.</a:t>
            </a:r>
          </a:p>
          <a:p>
            <a:pPr marL="512763" lvl="1" indent="-280988"/>
            <a:r>
              <a:rPr lang="en-US" sz="1300" b="1" dirty="0"/>
              <a:t>Example</a:t>
            </a:r>
            <a:endParaRPr lang="en-US" sz="1300" dirty="0"/>
          </a:p>
          <a:p>
            <a:pPr marL="685800" lvl="2" indent="-163513" defTabSz="741363"/>
            <a:r>
              <a:rPr lang="en-US" sz="1300" dirty="0"/>
              <a:t>MOV AX, [1592H]</a:t>
            </a:r>
          </a:p>
          <a:p>
            <a:pPr marL="685800" lvl="2" indent="-163513" defTabSz="741363"/>
            <a:r>
              <a:rPr lang="en-US" sz="1300" dirty="0"/>
              <a:t>MOV AL, [0300H]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4.    Register indirect addressing mode</a:t>
            </a:r>
          </a:p>
          <a:p>
            <a:pPr marL="512763" lvl="1" indent="-280988"/>
            <a:r>
              <a:rPr lang="en-US" sz="1300" dirty="0"/>
              <a:t>This addressing mode </a:t>
            </a:r>
            <a:r>
              <a:rPr lang="en-US" sz="1300" dirty="0">
                <a:solidFill>
                  <a:srgbClr val="C00000"/>
                </a:solidFill>
              </a:rPr>
              <a:t>allows data to be addressed at any memory location through an offset address </a:t>
            </a:r>
            <a:r>
              <a:rPr lang="en-US" sz="1300" dirty="0"/>
              <a:t>held in any of the following registers: BP, BX, DI &amp; SI. </a:t>
            </a:r>
          </a:p>
          <a:p>
            <a:pPr marL="512763" lvl="1" indent="-280988"/>
            <a:r>
              <a:rPr lang="en-US" sz="1300" b="1" dirty="0"/>
              <a:t>Example</a:t>
            </a:r>
            <a:endParaRPr lang="en-US" sz="1300" dirty="0"/>
          </a:p>
          <a:p>
            <a:pPr marL="685800" lvl="2" indent="-163513" defTabSz="741363"/>
            <a:r>
              <a:rPr lang="en-US" sz="1300" dirty="0"/>
              <a:t>MOV AX, [BX] ; Suppose the register BX contains 4895H, then the contents 4895H are moved to AX </a:t>
            </a:r>
          </a:p>
          <a:p>
            <a:pPr marL="685800" lvl="2" indent="-163513" defTabSz="741363"/>
            <a:r>
              <a:rPr lang="en-US" sz="1300" dirty="0"/>
              <a:t>ADD CX, [BX]</a:t>
            </a:r>
          </a:p>
          <a:p>
            <a:pPr marL="233363" indent="-233363">
              <a:buFont typeface="+mj-lt"/>
              <a:buAutoNum type="arabicPeriod"/>
              <a:tabLst>
                <a:tab pos="463550" algn="l"/>
              </a:tabLst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02936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14800" cy="3851673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5.    Based addressing mode</a:t>
            </a:r>
          </a:p>
          <a:p>
            <a:pPr marL="457200" lvl="1" indent="-223838"/>
            <a:r>
              <a:rPr lang="en-US" sz="1400" dirty="0"/>
              <a:t>In this addressing mode, the </a:t>
            </a:r>
            <a:r>
              <a:rPr lang="en-US" sz="1400" dirty="0">
                <a:solidFill>
                  <a:srgbClr val="C00000"/>
                </a:solidFill>
              </a:rPr>
              <a:t>offset address </a:t>
            </a:r>
            <a:r>
              <a:rPr lang="en-US" sz="1400" dirty="0"/>
              <a:t>of the operand is given by the </a:t>
            </a:r>
            <a:r>
              <a:rPr lang="en-US" sz="1400" dirty="0">
                <a:solidFill>
                  <a:srgbClr val="C00000"/>
                </a:solidFill>
              </a:rPr>
              <a:t>sum of contents of the BX/BP registers and 8-bit/16-bit </a:t>
            </a:r>
            <a:r>
              <a:rPr lang="en-US" sz="1400" dirty="0"/>
              <a:t>displacement.</a:t>
            </a:r>
          </a:p>
          <a:p>
            <a:pPr marL="457200" lvl="1" indent="-223838"/>
            <a:r>
              <a:rPr lang="en-US" sz="1400" b="1" dirty="0"/>
              <a:t>Example</a:t>
            </a:r>
            <a:endParaRPr lang="en-US" sz="1400" dirty="0"/>
          </a:p>
          <a:p>
            <a:pPr marL="857250" lvl="2" indent="-223838"/>
            <a:r>
              <a:rPr lang="en-US" sz="1400" dirty="0"/>
              <a:t>MOV DX, [BX+04],</a:t>
            </a:r>
          </a:p>
          <a:p>
            <a:pPr marL="857250" lvl="2" indent="-223838"/>
            <a:r>
              <a:rPr lang="en-US" sz="1400" dirty="0"/>
              <a:t>ADD CL, [BX+08]</a:t>
            </a:r>
          </a:p>
          <a:p>
            <a:pPr marL="233363" indent="-233363"/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6.    Indexed addressing mode</a:t>
            </a:r>
          </a:p>
          <a:p>
            <a:pPr marL="457200" lvl="1" indent="-223838"/>
            <a:r>
              <a:rPr lang="en-US" sz="1400" dirty="0"/>
              <a:t>In this addressing mode, </a:t>
            </a:r>
            <a:r>
              <a:rPr lang="en-US" sz="1400" dirty="0">
                <a:solidFill>
                  <a:srgbClr val="C00000"/>
                </a:solidFill>
              </a:rPr>
              <a:t>the operands offset address is found by adding the contents of SI or DI register and 8-bit/16-bit displacements</a:t>
            </a:r>
            <a:r>
              <a:rPr lang="en-US" sz="1400" dirty="0"/>
              <a:t>.</a:t>
            </a:r>
          </a:p>
          <a:p>
            <a:pPr marL="457200" lvl="1" indent="-223838"/>
            <a:r>
              <a:rPr lang="en-US" sz="1400" b="1" dirty="0"/>
              <a:t>Example</a:t>
            </a:r>
            <a:endParaRPr lang="en-US" sz="1400" dirty="0"/>
          </a:p>
          <a:p>
            <a:pPr marL="857250" lvl="2" indent="-223838"/>
            <a:r>
              <a:rPr lang="en-US" sz="1400" dirty="0"/>
              <a:t>MOV BX, [SI+16]</a:t>
            </a:r>
          </a:p>
          <a:p>
            <a:pPr marL="857250" lvl="2" indent="-223838"/>
            <a:r>
              <a:rPr lang="en-US" sz="1400" dirty="0"/>
              <a:t>ADD AL, [DI+16]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B661-D73D-4111-B434-FD84F0842DCF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349BCB-3E5E-4F71-9084-28B7C4706F5B}"/>
              </a:ext>
            </a:extLst>
          </p:cNvPr>
          <p:cNvSpPr txBox="1">
            <a:spLocks/>
          </p:cNvSpPr>
          <p:nvPr/>
        </p:nvSpPr>
        <p:spPr>
          <a:xfrm>
            <a:off x="4648200" y="829270"/>
            <a:ext cx="4114800" cy="385167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7.   Based-index addressing mode</a:t>
            </a:r>
          </a:p>
          <a:p>
            <a:pPr marL="457200" lvl="1" indent="-233363"/>
            <a:r>
              <a:rPr lang="en-US" sz="1400" dirty="0"/>
              <a:t>In this addressing mode, the offset address of the operand is computed by </a:t>
            </a:r>
            <a:r>
              <a:rPr lang="en-US" sz="1400" dirty="0">
                <a:solidFill>
                  <a:srgbClr val="C00000"/>
                </a:solidFill>
              </a:rPr>
              <a:t>summing the base register to the contents of an Index register.</a:t>
            </a:r>
          </a:p>
          <a:p>
            <a:pPr marL="457200" lvl="1" indent="-233363"/>
            <a:r>
              <a:rPr lang="en-US" sz="1400" b="1" dirty="0"/>
              <a:t>Example</a:t>
            </a:r>
            <a:endParaRPr lang="en-US" sz="1400" dirty="0"/>
          </a:p>
          <a:p>
            <a:pPr marL="857250" lvl="2" indent="-233363"/>
            <a:r>
              <a:rPr lang="en-US" sz="1400" dirty="0"/>
              <a:t>ADD CX, [BX+SI]</a:t>
            </a:r>
          </a:p>
          <a:p>
            <a:pPr marL="857250" lvl="2" indent="-233363"/>
            <a:r>
              <a:rPr lang="en-US" sz="1400" dirty="0"/>
              <a:t>MOV AX, [BX+DI]</a:t>
            </a:r>
          </a:p>
          <a:p>
            <a:pPr marL="457200" lvl="1" indent="-233363"/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8.    Based indexed with displacement mode</a:t>
            </a:r>
          </a:p>
          <a:p>
            <a:pPr marL="457200" lvl="1" indent="-233363"/>
            <a:r>
              <a:rPr lang="en-US" sz="1400" dirty="0"/>
              <a:t>In this addressing mode, the operands offset is computed by </a:t>
            </a:r>
            <a:r>
              <a:rPr lang="en-US" sz="1400" dirty="0">
                <a:solidFill>
                  <a:srgbClr val="C00000"/>
                </a:solidFill>
              </a:rPr>
              <a:t>adding the base register contents. An Index registers contents and 8 or 16-bit </a:t>
            </a:r>
            <a:r>
              <a:rPr lang="en-US" sz="1400" dirty="0"/>
              <a:t>displacement.</a:t>
            </a:r>
          </a:p>
          <a:p>
            <a:pPr marL="457200" lvl="1" indent="-233363"/>
            <a:r>
              <a:rPr lang="en-US" sz="1400" b="1" dirty="0"/>
              <a:t>Example</a:t>
            </a:r>
            <a:endParaRPr lang="en-US" sz="1400" dirty="0"/>
          </a:p>
          <a:p>
            <a:pPr marL="857250" lvl="2" indent="-233363"/>
            <a:r>
              <a:rPr lang="en-US" sz="1400" dirty="0"/>
              <a:t>MOV AX, [BX+DI+08]</a:t>
            </a:r>
          </a:p>
          <a:p>
            <a:pPr marL="857250" lvl="2" indent="-233363"/>
            <a:r>
              <a:rPr lang="en-US" sz="1400" dirty="0"/>
              <a:t>ADD CX, [BX+SI+16]</a:t>
            </a:r>
          </a:p>
        </p:txBody>
      </p:sp>
    </p:spTree>
    <p:extLst>
      <p:ext uri="{BB962C8B-B14F-4D97-AF65-F5344CB8AC3E}">
        <p14:creationId xmlns:p14="http://schemas.microsoft.com/office/powerpoint/2010/main" val="7119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6. Assembly Language Programming (ALP)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1800" dirty="0"/>
              <a:t>Assembly language programming is a </a:t>
            </a:r>
            <a:r>
              <a:rPr lang="en-US" sz="1800" i="1" dirty="0">
                <a:solidFill>
                  <a:srgbClr val="C00000"/>
                </a:solidFill>
              </a:rPr>
              <a:t>low-level programming language</a:t>
            </a:r>
            <a:r>
              <a:rPr lang="en-US" sz="1800" dirty="0"/>
              <a:t> in which the instructions are written in the form of </a:t>
            </a:r>
            <a:r>
              <a:rPr lang="en-US" sz="1800" b="1" dirty="0"/>
              <a:t>mnemonics</a:t>
            </a:r>
            <a:r>
              <a:rPr lang="en-US" sz="1800" dirty="0"/>
              <a:t>. </a:t>
            </a:r>
          </a:p>
          <a:p>
            <a:pPr>
              <a:tabLst>
                <a:tab pos="463550" algn="l"/>
              </a:tabLst>
            </a:pPr>
            <a:r>
              <a:rPr lang="en-US" sz="1800" dirty="0"/>
              <a:t>More simply, we can say the language in the form of mnemonics is known as assembly language. </a:t>
            </a:r>
          </a:p>
          <a:p>
            <a:pPr>
              <a:tabLst>
                <a:tab pos="463550" algn="l"/>
              </a:tabLst>
            </a:pPr>
            <a:r>
              <a:rPr lang="en-US" sz="1800" dirty="0"/>
              <a:t>Basically </a:t>
            </a:r>
            <a:r>
              <a:rPr lang="en-US" sz="1800" dirty="0">
                <a:solidFill>
                  <a:srgbClr val="C00000"/>
                </a:solidFill>
              </a:rPr>
              <a:t>mnemonics are the short form of the words </a:t>
            </a:r>
            <a:r>
              <a:rPr lang="en-US" sz="1800" dirty="0"/>
              <a:t>that are used to specify the operation performed by an instruction. </a:t>
            </a:r>
          </a:p>
          <a:p>
            <a:pPr>
              <a:tabLst>
                <a:tab pos="463550" algn="l"/>
              </a:tabLst>
            </a:pPr>
            <a:r>
              <a:rPr lang="en-US" sz="1800" b="1" dirty="0"/>
              <a:t>For example</a:t>
            </a:r>
            <a:r>
              <a:rPr lang="en-US" sz="1800" dirty="0"/>
              <a:t>: for addition, the mnemonics used in assembly language is ADD, for transferring data from one location to another, the mnemonics used is MOV.</a:t>
            </a:r>
          </a:p>
          <a:p>
            <a:pPr>
              <a:tabLst>
                <a:tab pos="463550" algn="l"/>
              </a:tabLst>
            </a:pPr>
            <a:r>
              <a:rPr lang="en-US" sz="1800" dirty="0"/>
              <a:t>This programming language allows the creation of human-readable program equivalent to machine code.</a:t>
            </a:r>
            <a:endParaRPr lang="en-US" sz="1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191C-94A9-4102-870C-8CE4D098B1B2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250363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7. ALP Development Tools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400" dirty="0"/>
              <a:t>Basically, before the fabrication of a microprocessor-based system, the designers first need to design and test the software and hardware of the system. </a:t>
            </a:r>
          </a:p>
          <a:p>
            <a:pPr>
              <a:tabLst>
                <a:tab pos="463550" algn="l"/>
              </a:tabLst>
            </a:pPr>
            <a:r>
              <a:rPr lang="en-US" sz="2400" dirty="0"/>
              <a:t>So the development system requires a set of tools. 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Editor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Assembler</a:t>
            </a:r>
          </a:p>
          <a:p>
            <a:pPr lvl="1">
              <a:tabLst>
                <a:tab pos="463550" algn="l"/>
              </a:tabLst>
            </a:pPr>
            <a:r>
              <a:rPr lang="en-US" sz="2000" dirty="0"/>
              <a:t>Linker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9208-1D5E-46AC-A36E-F90539896253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612098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1.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000" dirty="0"/>
              <a:t>An editor is a program which </a:t>
            </a:r>
            <a:r>
              <a:rPr lang="en-US" sz="2000" dirty="0">
                <a:solidFill>
                  <a:srgbClr val="C00000"/>
                </a:solidFill>
              </a:rPr>
              <a:t>allows us to create a file </a:t>
            </a:r>
            <a:r>
              <a:rPr lang="en-US" sz="2000" dirty="0"/>
              <a:t>containing the assembly language statements for the program.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Examples of some editors are: PC-Write, </a:t>
            </a:r>
            <a:r>
              <a:rPr lang="en-US" sz="2000" dirty="0" err="1"/>
              <a:t>Wordstar</a:t>
            </a:r>
            <a:r>
              <a:rPr lang="en-US" sz="2000" dirty="0"/>
              <a:t>.</a:t>
            </a:r>
          </a:p>
          <a:p>
            <a:r>
              <a:rPr lang="en-US" sz="2000" dirty="0"/>
              <a:t>As we type the program the   editor stores the ACSII codes for the letters and numbers in successive RAM locations.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When we have typed in all your program, we then save the file on the hard disk. This file is called </a:t>
            </a:r>
            <a:r>
              <a:rPr lang="en-US" sz="2000" i="1" dirty="0">
                <a:solidFill>
                  <a:srgbClr val="C00000"/>
                </a:solidFill>
              </a:rPr>
              <a:t>source</a:t>
            </a:r>
            <a:r>
              <a:rPr lang="en-US" sz="2000" i="1" dirty="0"/>
              <a:t> </a:t>
            </a:r>
            <a:r>
              <a:rPr lang="en-US" sz="2000" i="1" dirty="0">
                <a:solidFill>
                  <a:srgbClr val="C00000"/>
                </a:solidFill>
              </a:rPr>
              <a:t>file</a:t>
            </a:r>
            <a:r>
              <a:rPr lang="en-US" sz="2000" dirty="0"/>
              <a:t> and the </a:t>
            </a:r>
            <a:r>
              <a:rPr lang="en-US" sz="2000" dirty="0">
                <a:solidFill>
                  <a:srgbClr val="C00000"/>
                </a:solidFill>
              </a:rPr>
              <a:t>extension is </a:t>
            </a:r>
            <a:r>
              <a:rPr lang="en-US" sz="2000" i="1" dirty="0">
                <a:solidFill>
                  <a:srgbClr val="C00000"/>
                </a:solidFill>
              </a:rPr>
              <a:t>.</a:t>
            </a:r>
            <a:r>
              <a:rPr lang="en-US" sz="2000" i="1" dirty="0" err="1">
                <a:solidFill>
                  <a:srgbClr val="C00000"/>
                </a:solidFill>
              </a:rPr>
              <a:t>asm</a:t>
            </a:r>
            <a:r>
              <a:rPr lang="en-US" sz="2000" i="1" dirty="0">
                <a:solidFill>
                  <a:srgbClr val="C00000"/>
                </a:solidFill>
              </a:rPr>
              <a:t>.</a:t>
            </a:r>
          </a:p>
          <a:p>
            <a:pPr>
              <a:tabLst>
                <a:tab pos="463550" algn="l"/>
              </a:tabLst>
            </a:pPr>
            <a:r>
              <a:rPr lang="en-US" sz="2000" b="1" dirty="0"/>
              <a:t> Ex: Sample. </a:t>
            </a:r>
            <a:r>
              <a:rPr lang="en-US" sz="2000" b="1" dirty="0" err="1"/>
              <a:t>asm</a:t>
            </a:r>
            <a:endParaRPr lang="en-US" sz="2000" dirty="0"/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9643-8052-48C2-8ED0-63B7A7F58255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3178254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2. Assembler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000" dirty="0"/>
              <a:t>An assembler program is used to </a:t>
            </a:r>
            <a:r>
              <a:rPr lang="en-US" sz="2000" dirty="0">
                <a:solidFill>
                  <a:srgbClr val="C00000"/>
                </a:solidFill>
              </a:rPr>
              <a:t>translate the assembly language mnemonics for instructions to corresponding binary codes. 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When we run the assembler, it reads the source file of our program from the disk where we have saved it after editing.</a:t>
            </a:r>
          </a:p>
          <a:p>
            <a:r>
              <a:rPr lang="en-US" sz="2000" dirty="0"/>
              <a:t>The assembler generates two files:</a:t>
            </a:r>
          </a:p>
          <a:p>
            <a:pPr lvl="1"/>
            <a:r>
              <a:rPr lang="en-US" sz="1600" dirty="0"/>
              <a:t>The first file is the </a:t>
            </a:r>
            <a:r>
              <a:rPr lang="en-US" sz="1600" dirty="0">
                <a:solidFill>
                  <a:srgbClr val="C00000"/>
                </a:solidFill>
              </a:rPr>
              <a:t>Object file with the extension   </a:t>
            </a:r>
            <a:r>
              <a:rPr lang="en-US" sz="1600" b="1" i="1" dirty="0">
                <a:solidFill>
                  <a:srgbClr val="C00000"/>
                </a:solidFill>
              </a:rPr>
              <a:t>.OBJ</a:t>
            </a:r>
            <a:r>
              <a:rPr lang="en-US" sz="1600" dirty="0">
                <a:solidFill>
                  <a:srgbClr val="C00000"/>
                </a:solidFill>
              </a:rPr>
              <a:t>. </a:t>
            </a:r>
          </a:p>
          <a:p>
            <a:pPr lvl="2"/>
            <a:r>
              <a:rPr lang="en-US" sz="1600" dirty="0"/>
              <a:t>The object file consists of the binary codes for the instructions and information about the addresses of the instructions.</a:t>
            </a:r>
          </a:p>
          <a:p>
            <a:pPr lvl="2"/>
            <a:r>
              <a:rPr lang="en-US" sz="1600" dirty="0"/>
              <a:t>After further processing,   the contents of the file will be loaded in to memory and run. </a:t>
            </a:r>
          </a:p>
          <a:p>
            <a:pPr lvl="1"/>
            <a:r>
              <a:rPr lang="en-US" sz="1800" dirty="0"/>
              <a:t>The second file is the </a:t>
            </a:r>
            <a:r>
              <a:rPr lang="en-US" sz="1800" dirty="0">
                <a:solidFill>
                  <a:srgbClr val="C00000"/>
                </a:solidFill>
              </a:rPr>
              <a:t>assembler list file with the extension  </a:t>
            </a:r>
            <a:r>
              <a:rPr lang="en-US" sz="1800" b="1" dirty="0">
                <a:solidFill>
                  <a:srgbClr val="C00000"/>
                </a:solidFill>
              </a:rPr>
              <a:t>.LST</a:t>
            </a:r>
            <a:r>
              <a:rPr lang="en-US" sz="1800" dirty="0">
                <a:solidFill>
                  <a:srgbClr val="C00000"/>
                </a:solidFill>
              </a:rPr>
              <a:t>. </a:t>
            </a:r>
          </a:p>
          <a:p>
            <a:pPr>
              <a:tabLst>
                <a:tab pos="463550" algn="l"/>
              </a:tabLst>
            </a:pPr>
            <a:endParaRPr lang="en-US" sz="2000" dirty="0"/>
          </a:p>
          <a:p>
            <a:pPr>
              <a:tabLst>
                <a:tab pos="463550" algn="l"/>
              </a:tabLs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DD6C-39C8-4AAD-95E4-053BF3AB8937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255928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3. Linker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>
              <a:tabLst>
                <a:tab pos="463550" algn="l"/>
              </a:tabLst>
            </a:pPr>
            <a:r>
              <a:rPr lang="en-US" sz="2000" dirty="0"/>
              <a:t>A linker is a program </a:t>
            </a:r>
            <a:r>
              <a:rPr lang="en-US" sz="2000" dirty="0">
                <a:solidFill>
                  <a:srgbClr val="C00000"/>
                </a:solidFill>
              </a:rPr>
              <a:t>used to join several object files </a:t>
            </a:r>
            <a:r>
              <a:rPr lang="en-US" sz="2000" dirty="0"/>
              <a:t>into one large object file.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The linker produces a link file which contains the binary codes for all the combined modules. </a:t>
            </a:r>
          </a:p>
          <a:p>
            <a:pPr>
              <a:tabLst>
                <a:tab pos="463550" algn="l"/>
              </a:tabLst>
            </a:pPr>
            <a:r>
              <a:rPr lang="en-US" sz="2000" dirty="0"/>
              <a:t>The linker also </a:t>
            </a:r>
            <a:r>
              <a:rPr lang="en-US" sz="2000" dirty="0">
                <a:solidFill>
                  <a:srgbClr val="C00000"/>
                </a:solidFill>
              </a:rPr>
              <a:t>produces a link map file </a:t>
            </a:r>
            <a:r>
              <a:rPr lang="en-US" sz="2000" dirty="0"/>
              <a:t>which contains the address information about the linked files 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i="1" dirty="0">
                <a:solidFill>
                  <a:srgbClr val="C00000"/>
                </a:solidFill>
              </a:rPr>
              <a:t>.exe</a:t>
            </a:r>
            <a:r>
              <a:rPr lang="en-US" sz="2000" dirty="0">
                <a:solidFill>
                  <a:srgbClr val="C00000"/>
                </a:solidFill>
              </a:rPr>
              <a:t>).</a:t>
            </a:r>
          </a:p>
          <a:p>
            <a:pPr>
              <a:tabLst>
                <a:tab pos="463550" algn="l"/>
              </a:tabLst>
            </a:pP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B202-CA5C-4EAC-8401-82274C6EDF40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3028271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Exercise: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noFill/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the 8086 MP architecture with its block diagram.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the pin configuration of 8086 in brief.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different flags used in 8086 MP.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different General-purpose registers in 8086 MP.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different segment registers in 8086 MP.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Explain the addressing modes of 8086 MP.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Compare 8085 and 8086 MPs.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What is editor, assembler and linker?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B202-CA5C-4EAC-8401-82274C6EDF40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780428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End of chapter 3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21D8-64ED-4896-A681-D237256C4DCD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 of 8086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372824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3187</TotalTime>
  <Words>3342</Words>
  <Application>Microsoft Office PowerPoint</Application>
  <PresentationFormat>On-screen Show (16:9)</PresentationFormat>
  <Paragraphs>569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 Math</vt:lpstr>
      <vt:lpstr>Office Theme</vt:lpstr>
      <vt:lpstr>Chapter 3 Overview of 8086 Microprocessor</vt:lpstr>
      <vt:lpstr>Overview: </vt:lpstr>
      <vt:lpstr>1. Introduction to 8086 Microprocessor</vt:lpstr>
      <vt:lpstr>Features of 8086 MP</vt:lpstr>
      <vt:lpstr>Comparison between 8085 &amp; 8086 Microprocessor</vt:lpstr>
      <vt:lpstr>2. Architecture of 8086</vt:lpstr>
      <vt:lpstr>PowerPoint Presentation</vt:lpstr>
      <vt:lpstr>Functional parts of 8086 MP</vt:lpstr>
      <vt:lpstr>1. Execution Unit</vt:lpstr>
      <vt:lpstr>PowerPoint Presentation</vt:lpstr>
      <vt:lpstr>PowerPoint Presentation</vt:lpstr>
      <vt:lpstr>c) Pointer and Index Registers</vt:lpstr>
      <vt:lpstr>PowerPoint Presentation</vt:lpstr>
      <vt:lpstr>PowerPoint Presentation</vt:lpstr>
      <vt:lpstr>PowerPoint Presentation</vt:lpstr>
      <vt:lpstr>2. Bus Interface Unit (BIU)</vt:lpstr>
      <vt:lpstr>PowerPoint Presentation</vt:lpstr>
      <vt:lpstr>8086 Registers </vt:lpstr>
      <vt:lpstr>4. Pin Diagram of 8086 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Addressing Modes of 8086</vt:lpstr>
      <vt:lpstr>PowerPoint Presentation</vt:lpstr>
      <vt:lpstr>PowerPoint Presentation</vt:lpstr>
      <vt:lpstr>6. Assembly Language Programming (ALP)</vt:lpstr>
      <vt:lpstr>7. ALP Development Tools</vt:lpstr>
      <vt:lpstr>1. Editor</vt:lpstr>
      <vt:lpstr>2. Assembler</vt:lpstr>
      <vt:lpstr>3. Linker</vt:lpstr>
      <vt:lpstr>Exercise: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265</cp:revision>
  <dcterms:created xsi:type="dcterms:W3CDTF">2006-08-16T00:00:00Z</dcterms:created>
  <dcterms:modified xsi:type="dcterms:W3CDTF">2023-07-27T14:35:59Z</dcterms:modified>
</cp:coreProperties>
</file>