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4"/>
  </p:notesMasterIdLst>
  <p:sldIdLst>
    <p:sldId id="256" r:id="rId2"/>
    <p:sldId id="257" r:id="rId3"/>
    <p:sldId id="397" r:id="rId4"/>
    <p:sldId id="422" r:id="rId5"/>
    <p:sldId id="424" r:id="rId6"/>
    <p:sldId id="423" r:id="rId7"/>
    <p:sldId id="421" r:id="rId8"/>
    <p:sldId id="426" r:id="rId9"/>
    <p:sldId id="425" r:id="rId10"/>
    <p:sldId id="417" r:id="rId11"/>
    <p:sldId id="364" r:id="rId12"/>
    <p:sldId id="365" r:id="rId13"/>
    <p:sldId id="373" r:id="rId14"/>
    <p:sldId id="366" r:id="rId15"/>
    <p:sldId id="367" r:id="rId16"/>
    <p:sldId id="435" r:id="rId17"/>
    <p:sldId id="436" r:id="rId18"/>
    <p:sldId id="374" r:id="rId19"/>
    <p:sldId id="375" r:id="rId20"/>
    <p:sldId id="371" r:id="rId21"/>
    <p:sldId id="382" r:id="rId22"/>
    <p:sldId id="357" r:id="rId23"/>
    <p:sldId id="358" r:id="rId24"/>
    <p:sldId id="390" r:id="rId25"/>
    <p:sldId id="354" r:id="rId26"/>
    <p:sldId id="355" r:id="rId27"/>
    <p:sldId id="356" r:id="rId28"/>
    <p:sldId id="431" r:id="rId29"/>
    <p:sldId id="360" r:id="rId30"/>
    <p:sldId id="361" r:id="rId31"/>
    <p:sldId id="362" r:id="rId32"/>
    <p:sldId id="437" r:id="rId33"/>
    <p:sldId id="438" r:id="rId34"/>
    <p:sldId id="439" r:id="rId35"/>
    <p:sldId id="440" r:id="rId36"/>
    <p:sldId id="441" r:id="rId37"/>
    <p:sldId id="442" r:id="rId38"/>
    <p:sldId id="369" r:id="rId39"/>
    <p:sldId id="370" r:id="rId40"/>
    <p:sldId id="444" r:id="rId41"/>
    <p:sldId id="432" r:id="rId42"/>
    <p:sldId id="378" r:id="rId43"/>
    <p:sldId id="443" r:id="rId44"/>
    <p:sldId id="363" r:id="rId45"/>
    <p:sldId id="411" r:id="rId46"/>
    <p:sldId id="412" r:id="rId47"/>
    <p:sldId id="410" r:id="rId48"/>
    <p:sldId id="396" r:id="rId49"/>
    <p:sldId id="383" r:id="rId50"/>
    <p:sldId id="380" r:id="rId51"/>
    <p:sldId id="350" r:id="rId52"/>
    <p:sldId id="385" r:id="rId5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193" autoAdjust="0"/>
    <p:restoredTop sz="94638" autoAdjust="0"/>
  </p:normalViewPr>
  <p:slideViewPr>
    <p:cSldViewPr>
      <p:cViewPr varScale="1">
        <p:scale>
          <a:sx n="47" d="100"/>
          <a:sy n="47" d="100"/>
        </p:scale>
        <p:origin x="58" y="840"/>
      </p:cViewPr>
      <p:guideLst>
        <p:guide orient="horz" pos="1620"/>
        <p:guide pos="2880"/>
      </p:guideLst>
    </p:cSldViewPr>
  </p:slideViewPr>
  <p:outlineViewPr>
    <p:cViewPr>
      <p:scale>
        <a:sx n="33" d="100"/>
        <a:sy n="33" d="100"/>
      </p:scale>
      <p:origin x="0" y="-32525"/>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898897-BDF1-4279-BA28-06DD7EC1DE0C}" type="datetimeFigureOut">
              <a:rPr lang="en-US" smtClean="0"/>
              <a:pPr/>
              <a:t>8/22/2023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78CF50-4ED8-4D7B-8802-3C44BEF0A8F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2B2CA39-B40A-4C2D-A773-C4E0FF981256}" type="datetime1">
              <a:rPr lang="en-US" smtClean="0"/>
              <a:t>8/22/2023</a:t>
            </a:fld>
            <a:endParaRPr lang="en-US"/>
          </a:p>
        </p:txBody>
      </p:sp>
      <p:sp>
        <p:nvSpPr>
          <p:cNvPr id="5" name="Footer Placeholder 4"/>
          <p:cNvSpPr>
            <a:spLocks noGrp="1"/>
          </p:cNvSpPr>
          <p:nvPr>
            <p:ph type="ftr" sz="quarter" idx="11"/>
          </p:nvPr>
        </p:nvSpPr>
        <p:spPr/>
        <p:txBody>
          <a:bodyPr/>
          <a:lstStyle/>
          <a:p>
            <a:r>
              <a:rPr lang="en-US"/>
              <a:t>Advanced Architecture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B05297-FCF4-4451-97AD-CBEA49530835}" type="datetime1">
              <a:rPr lang="en-US" smtClean="0"/>
              <a:t>8/22/2023</a:t>
            </a:fld>
            <a:endParaRPr lang="en-US"/>
          </a:p>
        </p:txBody>
      </p:sp>
      <p:sp>
        <p:nvSpPr>
          <p:cNvPr id="5" name="Footer Placeholder 4"/>
          <p:cNvSpPr>
            <a:spLocks noGrp="1"/>
          </p:cNvSpPr>
          <p:nvPr>
            <p:ph type="ftr" sz="quarter" idx="11"/>
          </p:nvPr>
        </p:nvSpPr>
        <p:spPr/>
        <p:txBody>
          <a:bodyPr/>
          <a:lstStyle/>
          <a:p>
            <a:r>
              <a:rPr lang="en-US"/>
              <a:t>Advanced Architecture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CB8111-2E3A-410F-AB1E-8AA83F40B31C}" type="datetime1">
              <a:rPr lang="en-US" smtClean="0"/>
              <a:t>8/22/2023</a:t>
            </a:fld>
            <a:endParaRPr lang="en-US"/>
          </a:p>
        </p:txBody>
      </p:sp>
      <p:sp>
        <p:nvSpPr>
          <p:cNvPr id="5" name="Footer Placeholder 4"/>
          <p:cNvSpPr>
            <a:spLocks noGrp="1"/>
          </p:cNvSpPr>
          <p:nvPr>
            <p:ph type="ftr" sz="quarter" idx="11"/>
          </p:nvPr>
        </p:nvSpPr>
        <p:spPr/>
        <p:txBody>
          <a:bodyPr/>
          <a:lstStyle/>
          <a:p>
            <a:r>
              <a:rPr lang="en-US"/>
              <a:t>Advanced Architecture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A5383E6-6A16-4BA3-9A13-EF417CDD1587}" type="datetime1">
              <a:rPr lang="en-US" smtClean="0"/>
              <a:t>8/22/2023</a:t>
            </a:fld>
            <a:endParaRPr lang="en-US"/>
          </a:p>
        </p:txBody>
      </p:sp>
      <p:sp>
        <p:nvSpPr>
          <p:cNvPr id="6" name="Footer Placeholder 5"/>
          <p:cNvSpPr>
            <a:spLocks noGrp="1"/>
          </p:cNvSpPr>
          <p:nvPr>
            <p:ph type="ftr" sz="quarter" idx="11"/>
          </p:nvPr>
        </p:nvSpPr>
        <p:spPr/>
        <p:txBody>
          <a:bodyPr/>
          <a:lstStyle/>
          <a:p>
            <a:r>
              <a:rPr lang="en-US"/>
              <a:t>Advanced Architecture</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FA3A953-7A15-46F9-B68D-3D8D19AD6B02}" type="datetime1">
              <a:rPr lang="en-US" smtClean="0"/>
              <a:t>8/22/2023</a:t>
            </a:fld>
            <a:endParaRPr lang="en-US"/>
          </a:p>
        </p:txBody>
      </p:sp>
      <p:sp>
        <p:nvSpPr>
          <p:cNvPr id="8" name="Footer Placeholder 7"/>
          <p:cNvSpPr>
            <a:spLocks noGrp="1"/>
          </p:cNvSpPr>
          <p:nvPr>
            <p:ph type="ftr" sz="quarter" idx="11"/>
          </p:nvPr>
        </p:nvSpPr>
        <p:spPr/>
        <p:txBody>
          <a:bodyPr/>
          <a:lstStyle/>
          <a:p>
            <a:r>
              <a:rPr lang="en-US"/>
              <a:t>Advanced Architecture</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0CEA495-FDD0-451A-9BE0-B7E4E85AACA2}" type="datetime1">
              <a:rPr lang="en-US" smtClean="0"/>
              <a:t>8/22/2023</a:t>
            </a:fld>
            <a:endParaRPr lang="en-US"/>
          </a:p>
        </p:txBody>
      </p:sp>
      <p:sp>
        <p:nvSpPr>
          <p:cNvPr id="4" name="Footer Placeholder 3"/>
          <p:cNvSpPr>
            <a:spLocks noGrp="1"/>
          </p:cNvSpPr>
          <p:nvPr>
            <p:ph type="ftr" sz="quarter" idx="11"/>
          </p:nvPr>
        </p:nvSpPr>
        <p:spPr/>
        <p:txBody>
          <a:bodyPr/>
          <a:lstStyle/>
          <a:p>
            <a:r>
              <a:rPr lang="en-US"/>
              <a:t>Advanced Architecture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E258C3-D262-45E4-A972-A9871371BD18}" type="datetime1">
              <a:rPr lang="en-US" smtClean="0"/>
              <a:t>8/22/2023</a:t>
            </a:fld>
            <a:endParaRPr lang="en-US"/>
          </a:p>
        </p:txBody>
      </p:sp>
      <p:sp>
        <p:nvSpPr>
          <p:cNvPr id="3" name="Footer Placeholder 2"/>
          <p:cNvSpPr>
            <a:spLocks noGrp="1"/>
          </p:cNvSpPr>
          <p:nvPr>
            <p:ph type="ftr" sz="quarter" idx="11"/>
          </p:nvPr>
        </p:nvSpPr>
        <p:spPr/>
        <p:txBody>
          <a:bodyPr/>
          <a:lstStyle/>
          <a:p>
            <a:r>
              <a:rPr lang="en-US"/>
              <a:t>Advanced Architecture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EE163E-0057-4FB8-9D83-2784ED6E3CCB}" type="datetime1">
              <a:rPr lang="en-US" smtClean="0"/>
              <a:t>8/22/2023</a:t>
            </a:fld>
            <a:endParaRPr lang="en-US"/>
          </a:p>
        </p:txBody>
      </p:sp>
      <p:sp>
        <p:nvSpPr>
          <p:cNvPr id="6" name="Footer Placeholder 5"/>
          <p:cNvSpPr>
            <a:spLocks noGrp="1"/>
          </p:cNvSpPr>
          <p:nvPr>
            <p:ph type="ftr" sz="quarter" idx="11"/>
          </p:nvPr>
        </p:nvSpPr>
        <p:spPr/>
        <p:txBody>
          <a:bodyPr/>
          <a:lstStyle/>
          <a:p>
            <a:r>
              <a:rPr lang="en-US"/>
              <a:t>Advanced Architecture</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25921B-96E1-44B4-B233-5F7120576AE0}" type="datetime1">
              <a:rPr lang="en-US" smtClean="0"/>
              <a:t>8/22/2023</a:t>
            </a:fld>
            <a:endParaRPr lang="en-US"/>
          </a:p>
        </p:txBody>
      </p:sp>
      <p:sp>
        <p:nvSpPr>
          <p:cNvPr id="6" name="Footer Placeholder 5"/>
          <p:cNvSpPr>
            <a:spLocks noGrp="1"/>
          </p:cNvSpPr>
          <p:nvPr>
            <p:ph type="ftr" sz="quarter" idx="11"/>
          </p:nvPr>
        </p:nvSpPr>
        <p:spPr/>
        <p:txBody>
          <a:bodyPr/>
          <a:lstStyle/>
          <a:p>
            <a:r>
              <a:rPr lang="en-US"/>
              <a:t>Advanced Architecture</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F73295-95C7-42A2-A54A-AD42CC4D3949}" type="datetime1">
              <a:rPr lang="en-US" smtClean="0"/>
              <a:t>8/22/2023</a:t>
            </a:fld>
            <a:endParaRPr lang="en-US"/>
          </a:p>
        </p:txBody>
      </p:sp>
      <p:sp>
        <p:nvSpPr>
          <p:cNvPr id="5" name="Footer Placeholder 4"/>
          <p:cNvSpPr>
            <a:spLocks noGrp="1"/>
          </p:cNvSpPr>
          <p:nvPr>
            <p:ph type="ftr" sz="quarter" idx="11"/>
          </p:nvPr>
        </p:nvSpPr>
        <p:spPr/>
        <p:txBody>
          <a:bodyPr/>
          <a:lstStyle/>
          <a:p>
            <a:r>
              <a:rPr lang="en-US"/>
              <a:t>Advanced Architecture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1BAD50-D69F-472B-9E1A-E30C079763C5}" type="datetime1">
              <a:rPr lang="en-US" smtClean="0"/>
              <a:t>8/22/2023</a:t>
            </a:fld>
            <a:endParaRPr lang="en-US"/>
          </a:p>
        </p:txBody>
      </p:sp>
      <p:sp>
        <p:nvSpPr>
          <p:cNvPr id="5" name="Footer Placeholder 4"/>
          <p:cNvSpPr>
            <a:spLocks noGrp="1"/>
          </p:cNvSpPr>
          <p:nvPr>
            <p:ph type="ftr" sz="quarter" idx="11"/>
          </p:nvPr>
        </p:nvSpPr>
        <p:spPr/>
        <p:txBody>
          <a:bodyPr/>
          <a:lstStyle/>
          <a:p>
            <a:r>
              <a:rPr lang="en-US"/>
              <a:t>Advanced Architecture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08D44A67-3EC0-4241-B954-C356454F7F59}" type="datetime1">
              <a:rPr lang="en-US" smtClean="0"/>
              <a:t>8/22/2023</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Advanced Architecture</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youtube.com/watch?v=3NieJAgkYiw" TargetMode="Externa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8.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youtube.com/watch?v=3NieJAgkYiw" TargetMode="Externa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0.png"/><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youtube.com/watch?v=GPIgi-OIe_g"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youtube.com/watch?v=GPIgi-OIe_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youtube.com/watch?v=gCOEunP5kjs" TargetMode="External"/><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hyperlink" Target="https://www.youtube.com/watch?v=vXcMGqFng-o" TargetMode="External"/></Relationships>
</file>

<file path=ppt/slides/_rels/slide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hyperlink" Target="https://www.youtube.com/watch?v=vXcMGqFng-o" TargetMode="External"/><Relationship Id="rId4" Type="http://schemas.openxmlformats.org/officeDocument/2006/relationships/hyperlink" Target="https://www.youtube.com/watch?v=gCOEunP5kjs"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www.javatpoint.com/uniform-memory-access-vs-non-uniform-memory-access" TargetMode="External"/><Relationship Id="rId2" Type="http://schemas.openxmlformats.org/officeDocument/2006/relationships/hyperlink" Target="https://www.geeksforgeeks.org/difference-between-uniform-memory-access-uma-and-non-uniform-memory-access-numa/"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cs.cmu.edu/~fp/courses/15213-s07/lectures/27-multicore.pdf" TargetMode="External"/><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cs.cmu.edu/~fp/courses/15213-s07/lectures/27-multicore.pdf" TargetMode="External"/><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cs.cmu.edu/~fp/courses/15213-s07/lectures/27-multicore.pdf" TargetMode="External"/><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3100" b="1" dirty="0"/>
              <a:t>Chapter 9</a:t>
            </a:r>
            <a:br>
              <a:rPr lang="en-US" b="1" dirty="0"/>
            </a:br>
            <a:r>
              <a:rPr lang="en-US" b="1" dirty="0">
                <a:solidFill>
                  <a:srgbClr val="FF0000"/>
                </a:solidFill>
              </a:rPr>
              <a:t>Advanced Architecture</a:t>
            </a:r>
          </a:p>
        </p:txBody>
      </p:sp>
      <p:sp>
        <p:nvSpPr>
          <p:cNvPr id="5" name="Subtitle 4"/>
          <p:cNvSpPr>
            <a:spLocks noGrp="1"/>
          </p:cNvSpPr>
          <p:nvPr>
            <p:ph type="subTitle" idx="1"/>
          </p:nvPr>
        </p:nvSpPr>
        <p:spPr/>
        <p:txBody>
          <a:bodyPr>
            <a:normAutofit/>
          </a:bodyPr>
          <a:lstStyle/>
          <a:p>
            <a:endParaRPr lang="en-US" sz="1800" dirty="0">
              <a:solidFill>
                <a:schemeClr val="bg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r>
              <a:rPr lang="en-US" sz="3200" b="1" dirty="0">
                <a:solidFill>
                  <a:srgbClr val="FF0000"/>
                </a:solidFill>
              </a:rPr>
              <a:t>Contents:</a:t>
            </a:r>
          </a:p>
        </p:txBody>
      </p:sp>
      <p:sp>
        <p:nvSpPr>
          <p:cNvPr id="3" name="Content Placeholder 2"/>
          <p:cNvSpPr>
            <a:spLocks noGrp="1"/>
          </p:cNvSpPr>
          <p:nvPr>
            <p:ph idx="1"/>
          </p:nvPr>
        </p:nvSpPr>
        <p:spPr>
          <a:xfrm>
            <a:off x="457200" y="742950"/>
            <a:ext cx="8229600" cy="3851673"/>
          </a:xfrm>
        </p:spPr>
        <p:txBody>
          <a:bodyPr>
            <a:normAutofit/>
          </a:bodyPr>
          <a:lstStyle/>
          <a:p>
            <a:pPr marL="457200" indent="-457200">
              <a:buFont typeface="+mj-lt"/>
              <a:buAutoNum type="arabicPeriod"/>
              <a:tabLst>
                <a:tab pos="463550" algn="l"/>
              </a:tabLst>
            </a:pPr>
            <a:r>
              <a:rPr lang="en-US" sz="2000" dirty="0"/>
              <a:t>RISC  and CISC Fundamentals</a:t>
            </a:r>
          </a:p>
          <a:p>
            <a:pPr marL="457200" indent="-457200">
              <a:buFont typeface="+mj-lt"/>
              <a:buAutoNum type="arabicPeriod"/>
              <a:tabLst>
                <a:tab pos="463550" algn="l"/>
              </a:tabLst>
            </a:pPr>
            <a:r>
              <a:rPr lang="en-US" sz="2000" dirty="0"/>
              <a:t>Instruction Pipeline, Register Windows and Renaming</a:t>
            </a:r>
          </a:p>
          <a:p>
            <a:pPr marL="457200" indent="-457200">
              <a:buFont typeface="+mj-lt"/>
              <a:buAutoNum type="arabicPeriod"/>
              <a:tabLst>
                <a:tab pos="463550" algn="l"/>
              </a:tabLst>
            </a:pPr>
            <a:r>
              <a:rPr lang="en-US" sz="2000" dirty="0"/>
              <a:t>Flynn’s Taxonomy</a:t>
            </a:r>
          </a:p>
          <a:p>
            <a:pPr marL="457200" indent="-457200">
              <a:buFont typeface="+mj-lt"/>
              <a:buAutoNum type="arabicPeriod"/>
              <a:tabLst>
                <a:tab pos="463550" algn="l"/>
              </a:tabLst>
            </a:pPr>
            <a:r>
              <a:rPr lang="en-US" sz="2000" dirty="0"/>
              <a:t>MIMD System topologies and architectures</a:t>
            </a:r>
          </a:p>
          <a:p>
            <a:pPr marL="457200" indent="-457200">
              <a:buFont typeface="+mj-lt"/>
              <a:buAutoNum type="arabicPeriod"/>
              <a:tabLst>
                <a:tab pos="463550" algn="l"/>
              </a:tabLst>
            </a:pPr>
            <a:r>
              <a:rPr lang="en-US" sz="2000" dirty="0"/>
              <a:t>Introduction to Multicore architecture</a:t>
            </a:r>
          </a:p>
        </p:txBody>
      </p:sp>
      <p:sp>
        <p:nvSpPr>
          <p:cNvPr id="4" name="Date Placeholder 3"/>
          <p:cNvSpPr>
            <a:spLocks noGrp="1"/>
          </p:cNvSpPr>
          <p:nvPr>
            <p:ph type="dt" sz="half" idx="10"/>
          </p:nvPr>
        </p:nvSpPr>
        <p:spPr/>
        <p:txBody>
          <a:bodyPr/>
          <a:lstStyle/>
          <a:p>
            <a:fld id="{B09BB510-CCD7-46B0-9C72-FF62371316E8}" type="datetime1">
              <a:rPr lang="en-US" smtClean="0"/>
              <a:t>8/22/2023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Footer Placeholder 5"/>
          <p:cNvSpPr>
            <a:spLocks noGrp="1"/>
          </p:cNvSpPr>
          <p:nvPr>
            <p:ph type="ftr" sz="quarter" idx="11"/>
          </p:nvPr>
        </p:nvSpPr>
        <p:spPr/>
        <p:txBody>
          <a:bodyPr/>
          <a:lstStyle/>
          <a:p>
            <a:r>
              <a:rPr lang="en-US"/>
              <a:t>Advanced Architecture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9.1 RISC and CISC Fundamentals</a:t>
            </a:r>
          </a:p>
        </p:txBody>
      </p:sp>
      <p:sp>
        <p:nvSpPr>
          <p:cNvPr id="3" name="Content Placeholder 2"/>
          <p:cNvSpPr>
            <a:spLocks noGrp="1"/>
          </p:cNvSpPr>
          <p:nvPr>
            <p:ph idx="1"/>
          </p:nvPr>
        </p:nvSpPr>
        <p:spPr>
          <a:xfrm>
            <a:off x="457200" y="742950"/>
            <a:ext cx="8229600" cy="3851673"/>
          </a:xfrm>
        </p:spPr>
        <p:txBody>
          <a:bodyPr>
            <a:noAutofit/>
          </a:bodyPr>
          <a:lstStyle/>
          <a:p>
            <a:endParaRPr lang="en-US" sz="1600" dirty="0"/>
          </a:p>
        </p:txBody>
      </p:sp>
      <p:sp>
        <p:nvSpPr>
          <p:cNvPr id="4" name="Date Placeholder 3"/>
          <p:cNvSpPr>
            <a:spLocks noGrp="1"/>
          </p:cNvSpPr>
          <p:nvPr>
            <p:ph type="dt" sz="half" idx="10"/>
          </p:nvPr>
        </p:nvSpPr>
        <p:spPr/>
        <p:txBody>
          <a:bodyPr/>
          <a:lstStyle/>
          <a:p>
            <a:fld id="{5277EB06-ECE2-4DFE-BD24-49B43A5A65F6}"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2468119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RISC</a:t>
            </a:r>
          </a:p>
        </p:txBody>
      </p:sp>
      <p:sp>
        <p:nvSpPr>
          <p:cNvPr id="3" name="Content Placeholder 2"/>
          <p:cNvSpPr>
            <a:spLocks noGrp="1"/>
          </p:cNvSpPr>
          <p:nvPr>
            <p:ph idx="1"/>
          </p:nvPr>
        </p:nvSpPr>
        <p:spPr>
          <a:xfrm>
            <a:off x="457200" y="742950"/>
            <a:ext cx="8229600" cy="3851673"/>
          </a:xfrm>
        </p:spPr>
        <p:txBody>
          <a:bodyPr>
            <a:noAutofit/>
          </a:bodyPr>
          <a:lstStyle/>
          <a:p>
            <a:r>
              <a:rPr lang="en-US" sz="1800" dirty="0"/>
              <a:t>RISC stands for </a:t>
            </a:r>
            <a:r>
              <a:rPr lang="en-US" sz="1800" b="1" dirty="0"/>
              <a:t>Reduced Instruction Set Computer Processor</a:t>
            </a:r>
            <a:r>
              <a:rPr lang="en-US" sz="1800" dirty="0"/>
              <a:t>, a microprocessor architecture with a simple collection and highly customized set of instructions. </a:t>
            </a:r>
          </a:p>
          <a:p>
            <a:r>
              <a:rPr lang="en-US" sz="1800" dirty="0"/>
              <a:t>It is built to minimize the instruction execution time by optimizing and limiting the number of instructions. </a:t>
            </a:r>
          </a:p>
          <a:p>
            <a:r>
              <a:rPr lang="en-US" sz="1800" dirty="0"/>
              <a:t>It means each instruction cycle requires only one clock cycle, and each cycle contains three parameters: fetch, decode and execute. </a:t>
            </a:r>
          </a:p>
          <a:p>
            <a:r>
              <a:rPr lang="en-US" sz="1800" dirty="0"/>
              <a:t>The RISC processor is also used to perform various complex instructions by combining them into simpler ones. </a:t>
            </a:r>
          </a:p>
          <a:p>
            <a:r>
              <a:rPr lang="en-US" sz="1800" dirty="0"/>
              <a:t>RISC chips require several transistors, making it cheaper to design and reduce the execution time for instruction.</a:t>
            </a:r>
          </a:p>
          <a:p>
            <a:r>
              <a:rPr lang="en-US" sz="1800" dirty="0"/>
              <a:t>Examples of RISC processors are SUN's SPARC, PowerPC, Microchip PIC processors, RISC-V.</a:t>
            </a:r>
          </a:p>
          <a:p>
            <a:endParaRPr lang="en-US" sz="1050" dirty="0"/>
          </a:p>
        </p:txBody>
      </p:sp>
      <p:sp>
        <p:nvSpPr>
          <p:cNvPr id="4" name="Date Placeholder 3"/>
          <p:cNvSpPr>
            <a:spLocks noGrp="1"/>
          </p:cNvSpPr>
          <p:nvPr>
            <p:ph type="dt" sz="half" idx="10"/>
          </p:nvPr>
        </p:nvSpPr>
        <p:spPr/>
        <p:txBody>
          <a:bodyPr/>
          <a:lstStyle/>
          <a:p>
            <a:fld id="{3482AF7B-459F-442A-B0C3-D0BCAF4BE89F}"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4221235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Features of RISC </a:t>
            </a:r>
          </a:p>
        </p:txBody>
      </p:sp>
      <p:sp>
        <p:nvSpPr>
          <p:cNvPr id="3" name="Content Placeholder 2"/>
          <p:cNvSpPr>
            <a:spLocks noGrp="1"/>
          </p:cNvSpPr>
          <p:nvPr>
            <p:ph idx="1"/>
          </p:nvPr>
        </p:nvSpPr>
        <p:spPr>
          <a:xfrm>
            <a:off x="457200" y="742950"/>
            <a:ext cx="8229600" cy="3851673"/>
          </a:xfrm>
        </p:spPr>
        <p:txBody>
          <a:bodyPr>
            <a:noAutofit/>
          </a:bodyPr>
          <a:lstStyle/>
          <a:p>
            <a:pPr>
              <a:buFont typeface="+mj-lt"/>
              <a:buAutoNum type="arabicPeriod"/>
            </a:pPr>
            <a:r>
              <a:rPr lang="en-US" sz="1800" b="1" dirty="0"/>
              <a:t>One cycle execution time:</a:t>
            </a:r>
            <a:r>
              <a:rPr lang="en-US" sz="1800" dirty="0"/>
              <a:t> For executing each instruction in a computer, the RISC processors require one CPI (Clock per cycle). And each CPI includes the fetch, decode and execute method applied in computer instruction.</a:t>
            </a:r>
          </a:p>
          <a:p>
            <a:pPr>
              <a:buFont typeface="+mj-lt"/>
              <a:buAutoNum type="arabicPeriod"/>
            </a:pPr>
            <a:r>
              <a:rPr lang="en-US" sz="1800" b="1" dirty="0"/>
              <a:t>Pipelining technique:</a:t>
            </a:r>
            <a:r>
              <a:rPr lang="en-US" sz="1800" dirty="0"/>
              <a:t> The pipelining technique is used in the RISC processors to execute multiple parts or stages of instructions to perform more efficiently.</a:t>
            </a:r>
          </a:p>
          <a:p>
            <a:pPr>
              <a:buFont typeface="+mj-lt"/>
              <a:buAutoNum type="arabicPeriod"/>
            </a:pPr>
            <a:r>
              <a:rPr lang="en-US" sz="1800" b="1" dirty="0"/>
              <a:t>A large number of registers:</a:t>
            </a:r>
            <a:r>
              <a:rPr lang="en-US" sz="1800" dirty="0"/>
              <a:t> RISC processors are optimized with multiple registers that can be used to store instruction and quickly respond to the computer and minimize interaction with computer memory.</a:t>
            </a:r>
          </a:p>
          <a:p>
            <a:pPr>
              <a:buFont typeface="+mj-lt"/>
              <a:buAutoNum type="arabicPeriod"/>
            </a:pPr>
            <a:r>
              <a:rPr lang="en-US" sz="1800" dirty="0"/>
              <a:t>It supports a simple addressing mode and fixed length of instruction for executing the pipeline.</a:t>
            </a:r>
          </a:p>
          <a:p>
            <a:pPr>
              <a:buFont typeface="+mj-lt"/>
              <a:buAutoNum type="arabicPeriod"/>
            </a:pPr>
            <a:r>
              <a:rPr lang="en-US" sz="1800" dirty="0"/>
              <a:t>It uses LOAD and STORE instruction to access the memory location.</a:t>
            </a:r>
          </a:p>
          <a:p>
            <a:pPr>
              <a:buFont typeface="+mj-lt"/>
              <a:buAutoNum type="arabicPeriod"/>
            </a:pPr>
            <a:r>
              <a:rPr lang="en-US" sz="1800" dirty="0"/>
              <a:t>Simple and limited instruction reduces the execution time of a process in a RISC.</a:t>
            </a:r>
          </a:p>
          <a:p>
            <a:pPr>
              <a:buFont typeface="+mj-lt"/>
              <a:buAutoNum type="arabicPeriod"/>
            </a:pPr>
            <a:endParaRPr lang="en-US" sz="700" dirty="0"/>
          </a:p>
        </p:txBody>
      </p:sp>
      <p:sp>
        <p:nvSpPr>
          <p:cNvPr id="4" name="Date Placeholder 3"/>
          <p:cNvSpPr>
            <a:spLocks noGrp="1"/>
          </p:cNvSpPr>
          <p:nvPr>
            <p:ph type="dt" sz="half" idx="10"/>
          </p:nvPr>
        </p:nvSpPr>
        <p:spPr/>
        <p:txBody>
          <a:bodyPr/>
          <a:lstStyle/>
          <a:p>
            <a:fld id="{24AD92AE-9207-42A1-B05A-F84046363DCA}"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3537673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Advantages			Disadvantages </a:t>
            </a:r>
          </a:p>
        </p:txBody>
      </p:sp>
      <p:sp>
        <p:nvSpPr>
          <p:cNvPr id="3" name="Content Placeholder 2"/>
          <p:cNvSpPr>
            <a:spLocks noGrp="1"/>
          </p:cNvSpPr>
          <p:nvPr>
            <p:ph idx="1"/>
          </p:nvPr>
        </p:nvSpPr>
        <p:spPr>
          <a:xfrm>
            <a:off x="457200" y="742950"/>
            <a:ext cx="3810000" cy="3851673"/>
          </a:xfrm>
        </p:spPr>
        <p:txBody>
          <a:bodyPr>
            <a:noAutofit/>
          </a:bodyPr>
          <a:lstStyle/>
          <a:p>
            <a:pPr>
              <a:buFont typeface="+mj-lt"/>
              <a:buAutoNum type="arabicPeriod"/>
            </a:pPr>
            <a:r>
              <a:rPr lang="en-US" sz="1800" dirty="0"/>
              <a:t>The RISC processor's performance is better due to the simple and limited number of the instruction set.</a:t>
            </a:r>
          </a:p>
          <a:p>
            <a:pPr>
              <a:buFont typeface="+mj-lt"/>
              <a:buAutoNum type="arabicPeriod"/>
            </a:pPr>
            <a:r>
              <a:rPr lang="en-US" sz="1800" dirty="0"/>
              <a:t>It requires several transistors that make it cheaper to design.</a:t>
            </a:r>
          </a:p>
          <a:p>
            <a:pPr>
              <a:buFont typeface="+mj-lt"/>
              <a:buAutoNum type="arabicPeriod"/>
            </a:pPr>
            <a:r>
              <a:rPr lang="en-US" sz="1800" dirty="0"/>
              <a:t>RISC allows the instruction to use free space on a microprocessor because of its simplicity.</a:t>
            </a:r>
          </a:p>
          <a:p>
            <a:pPr>
              <a:buFont typeface="+mj-lt"/>
              <a:buAutoNum type="arabicPeriod"/>
            </a:pPr>
            <a:r>
              <a:rPr lang="en-US" sz="1800" dirty="0"/>
              <a:t>RISC processor is simpler than a CISC processor because of its simple and quick design, and it can complete its work in one clock cycle.</a:t>
            </a:r>
          </a:p>
          <a:p>
            <a:pPr marL="228600" indent="-228600">
              <a:buFont typeface="+mj-lt"/>
              <a:buAutoNum type="arabicPeriod"/>
            </a:pPr>
            <a:endParaRPr lang="en-US" sz="700" dirty="0"/>
          </a:p>
        </p:txBody>
      </p:sp>
      <p:sp>
        <p:nvSpPr>
          <p:cNvPr id="4" name="Date Placeholder 3"/>
          <p:cNvSpPr>
            <a:spLocks noGrp="1"/>
          </p:cNvSpPr>
          <p:nvPr>
            <p:ph type="dt" sz="half" idx="10"/>
          </p:nvPr>
        </p:nvSpPr>
        <p:spPr/>
        <p:txBody>
          <a:bodyPr/>
          <a:lstStyle/>
          <a:p>
            <a:fld id="{B90B12DF-A65C-4592-A705-B1C5BD3911FA}"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
        <p:nvSpPr>
          <p:cNvPr id="7" name="Content Placeholder 2">
            <a:extLst>
              <a:ext uri="{FF2B5EF4-FFF2-40B4-BE49-F238E27FC236}">
                <a16:creationId xmlns:a16="http://schemas.microsoft.com/office/drawing/2014/main" id="{C186BA58-D95D-471E-8B86-BA6C40B6BDA4}"/>
              </a:ext>
            </a:extLst>
          </p:cNvPr>
          <p:cNvSpPr txBox="1">
            <a:spLocks/>
          </p:cNvSpPr>
          <p:nvPr/>
        </p:nvSpPr>
        <p:spPr>
          <a:xfrm>
            <a:off x="4876800" y="742950"/>
            <a:ext cx="3810000" cy="385167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mj-lt"/>
              <a:buAutoNum type="arabicPeriod"/>
            </a:pPr>
            <a:r>
              <a:rPr lang="en-US" sz="1800" dirty="0"/>
              <a:t>The RISC processor's performance may vary according to the code executed because subsequent instructions may depend on the previous instruction for their execution in a cycle.</a:t>
            </a:r>
          </a:p>
          <a:p>
            <a:pPr>
              <a:buFont typeface="+mj-lt"/>
              <a:buAutoNum type="arabicPeriod"/>
            </a:pPr>
            <a:r>
              <a:rPr lang="en-US" sz="1800" dirty="0"/>
              <a:t>Programmers and compilers often use complex instructions.</a:t>
            </a:r>
          </a:p>
          <a:p>
            <a:pPr>
              <a:buFont typeface="+mj-lt"/>
              <a:buAutoNum type="arabicPeriod"/>
            </a:pPr>
            <a:r>
              <a:rPr lang="en-US" sz="1800" dirty="0"/>
              <a:t>RISC processors require very fast memory to save various instructions that require a large collection of cache memory to respond to the instruction in a short time.</a:t>
            </a:r>
          </a:p>
        </p:txBody>
      </p:sp>
    </p:spTree>
    <p:extLst>
      <p:ext uri="{BB962C8B-B14F-4D97-AF65-F5344CB8AC3E}">
        <p14:creationId xmlns:p14="http://schemas.microsoft.com/office/powerpoint/2010/main" val="1922478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CISC</a:t>
            </a:r>
          </a:p>
        </p:txBody>
      </p:sp>
      <p:sp>
        <p:nvSpPr>
          <p:cNvPr id="3" name="Content Placeholder 2"/>
          <p:cNvSpPr>
            <a:spLocks noGrp="1"/>
          </p:cNvSpPr>
          <p:nvPr>
            <p:ph idx="1"/>
          </p:nvPr>
        </p:nvSpPr>
        <p:spPr>
          <a:xfrm>
            <a:off x="457200" y="742950"/>
            <a:ext cx="8229600" cy="3851673"/>
          </a:xfrm>
        </p:spPr>
        <p:txBody>
          <a:bodyPr>
            <a:noAutofit/>
          </a:bodyPr>
          <a:lstStyle/>
          <a:p>
            <a:r>
              <a:rPr lang="en-US" sz="2000" dirty="0"/>
              <a:t>The CISC Stands for </a:t>
            </a:r>
            <a:r>
              <a:rPr lang="en-US" sz="2000" b="1" dirty="0"/>
              <a:t>Complex Instruction Set Computer</a:t>
            </a:r>
            <a:r>
              <a:rPr lang="en-US" sz="2000" dirty="0"/>
              <a:t>, developed by the Intel. </a:t>
            </a:r>
          </a:p>
          <a:p>
            <a:r>
              <a:rPr lang="en-US" sz="2000" dirty="0"/>
              <a:t>It has a large collection of complex instructions that range from simple to very complex and specialized in the assembly language level, which takes a long time to execute the instructions. </a:t>
            </a:r>
          </a:p>
          <a:p>
            <a:r>
              <a:rPr lang="en-US" sz="2000" dirty="0"/>
              <a:t>So, CISC approaches reducing the number of instruction on each program and ignoring the number of cycles per instruction. </a:t>
            </a:r>
          </a:p>
          <a:p>
            <a:r>
              <a:rPr lang="en-US" sz="2000" dirty="0"/>
              <a:t>It emphasizes to build complex instructions directly in the hardware because the hardware is always faster than software. </a:t>
            </a:r>
          </a:p>
          <a:p>
            <a:r>
              <a:rPr lang="en-US" sz="2000" dirty="0"/>
              <a:t>However, CISC chips are relatively slower as compared to RISC chips but use little instruction than RISC. </a:t>
            </a:r>
          </a:p>
          <a:p>
            <a:r>
              <a:rPr lang="en-US" sz="2000" dirty="0"/>
              <a:t>Examples of CISC processors are VAX, AMD, Intel x86 and the System/360.</a:t>
            </a:r>
            <a:endParaRPr lang="en-US" sz="1100" dirty="0"/>
          </a:p>
        </p:txBody>
      </p:sp>
      <p:sp>
        <p:nvSpPr>
          <p:cNvPr id="4" name="Date Placeholder 3"/>
          <p:cNvSpPr>
            <a:spLocks noGrp="1"/>
          </p:cNvSpPr>
          <p:nvPr>
            <p:ph type="dt" sz="half" idx="10"/>
          </p:nvPr>
        </p:nvSpPr>
        <p:spPr/>
        <p:txBody>
          <a:bodyPr/>
          <a:lstStyle/>
          <a:p>
            <a:fld id="{AD17D27C-6AD4-4A4D-82AC-E0139002F0CF}"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3406825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Features of CISC </a:t>
            </a:r>
          </a:p>
        </p:txBody>
      </p:sp>
      <p:sp>
        <p:nvSpPr>
          <p:cNvPr id="3" name="Content Placeholder 2"/>
          <p:cNvSpPr>
            <a:spLocks noGrp="1"/>
          </p:cNvSpPr>
          <p:nvPr>
            <p:ph idx="1"/>
          </p:nvPr>
        </p:nvSpPr>
        <p:spPr>
          <a:xfrm>
            <a:off x="457200" y="742950"/>
            <a:ext cx="8229600" cy="3851673"/>
          </a:xfrm>
        </p:spPr>
        <p:txBody>
          <a:bodyPr>
            <a:noAutofit/>
          </a:bodyPr>
          <a:lstStyle/>
          <a:p>
            <a:pPr marL="457200" indent="-457200" fontAlgn="base">
              <a:buFont typeface="+mj-lt"/>
              <a:buAutoNum type="arabicPeriod"/>
            </a:pPr>
            <a:r>
              <a:rPr lang="en-US" sz="2000" dirty="0"/>
              <a:t>Complex instruction, hence complex instruction decoding.</a:t>
            </a:r>
          </a:p>
          <a:p>
            <a:pPr marL="457200" indent="-457200" fontAlgn="base">
              <a:buFont typeface="+mj-lt"/>
              <a:buAutoNum type="arabicPeriod"/>
            </a:pPr>
            <a:r>
              <a:rPr lang="en-US" sz="2000" dirty="0"/>
              <a:t>Instructions are larger than one-word size.</a:t>
            </a:r>
          </a:p>
          <a:p>
            <a:pPr marL="457200" indent="-457200" fontAlgn="base">
              <a:buFont typeface="+mj-lt"/>
              <a:buAutoNum type="arabicPeriod"/>
            </a:pPr>
            <a:r>
              <a:rPr lang="en-US" sz="2000" dirty="0"/>
              <a:t>Instruction may take more than a single clock cycle to get executed.</a:t>
            </a:r>
          </a:p>
          <a:p>
            <a:pPr marL="457200" indent="-457200" fontAlgn="base">
              <a:buFont typeface="+mj-lt"/>
              <a:buAutoNum type="arabicPeriod"/>
            </a:pPr>
            <a:r>
              <a:rPr lang="en-US" sz="2000" dirty="0"/>
              <a:t>Less number of general-purpose registers as operations get performed in memory itself.</a:t>
            </a:r>
          </a:p>
          <a:p>
            <a:pPr marL="457200" indent="-457200" fontAlgn="base">
              <a:buFont typeface="+mj-lt"/>
              <a:buAutoNum type="arabicPeriod"/>
            </a:pPr>
            <a:r>
              <a:rPr lang="en-US" sz="2000" dirty="0"/>
              <a:t>Complex Addressing Modes.</a:t>
            </a:r>
          </a:p>
          <a:p>
            <a:pPr marL="457200" indent="-457200" fontAlgn="base">
              <a:buFont typeface="+mj-lt"/>
              <a:buAutoNum type="arabicPeriod"/>
            </a:pPr>
            <a:r>
              <a:rPr lang="en-US" sz="2000" dirty="0"/>
              <a:t>More Data types. </a:t>
            </a:r>
          </a:p>
          <a:p>
            <a:pPr>
              <a:buFont typeface="+mj-lt"/>
              <a:buAutoNum type="arabicPeriod"/>
            </a:pPr>
            <a:endParaRPr lang="en-US" sz="2000" dirty="0"/>
          </a:p>
          <a:p>
            <a:pPr>
              <a:buFont typeface="+mj-lt"/>
              <a:buAutoNum type="arabicPeriod"/>
            </a:pPr>
            <a:endParaRPr lang="en-US" sz="1800" dirty="0"/>
          </a:p>
        </p:txBody>
      </p:sp>
      <p:sp>
        <p:nvSpPr>
          <p:cNvPr id="4" name="Date Placeholder 3"/>
          <p:cNvSpPr>
            <a:spLocks noGrp="1"/>
          </p:cNvSpPr>
          <p:nvPr>
            <p:ph type="dt" sz="half" idx="10"/>
          </p:nvPr>
        </p:nvSpPr>
        <p:spPr/>
        <p:txBody>
          <a:bodyPr/>
          <a:lstStyle/>
          <a:p>
            <a:fld id="{E3EA3383-82D6-403A-B388-65620CC0F388}"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1729960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Advantages			Disadvantages </a:t>
            </a:r>
            <a:endParaRPr lang="en-US" sz="3200" b="1" dirty="0">
              <a:solidFill>
                <a:srgbClr val="FF0000"/>
              </a:solidFill>
            </a:endParaRPr>
          </a:p>
        </p:txBody>
      </p:sp>
      <p:sp>
        <p:nvSpPr>
          <p:cNvPr id="3" name="Content Placeholder 2"/>
          <p:cNvSpPr>
            <a:spLocks noGrp="1"/>
          </p:cNvSpPr>
          <p:nvPr>
            <p:ph idx="1"/>
          </p:nvPr>
        </p:nvSpPr>
        <p:spPr>
          <a:xfrm>
            <a:off x="457200" y="742950"/>
            <a:ext cx="4114800" cy="3851673"/>
          </a:xfrm>
        </p:spPr>
        <p:txBody>
          <a:bodyPr>
            <a:noAutofit/>
          </a:bodyPr>
          <a:lstStyle/>
          <a:p>
            <a:pPr>
              <a:buFont typeface="+mj-lt"/>
              <a:buAutoNum type="arabicPeriod"/>
            </a:pPr>
            <a:r>
              <a:rPr lang="en-US" sz="1600" dirty="0"/>
              <a:t>The compiler requires little effort to translate high-level programs or statement languages into assembly or machine language in CISC processors.</a:t>
            </a:r>
          </a:p>
          <a:p>
            <a:pPr>
              <a:buFont typeface="+mj-lt"/>
              <a:buAutoNum type="arabicPeriod"/>
            </a:pPr>
            <a:r>
              <a:rPr lang="en-US" sz="1600" dirty="0"/>
              <a:t>The code length is quite short, which minimizes the memory requirement.</a:t>
            </a:r>
          </a:p>
          <a:p>
            <a:pPr>
              <a:buFont typeface="+mj-lt"/>
              <a:buAutoNum type="arabicPeriod"/>
            </a:pPr>
            <a:r>
              <a:rPr lang="en-US" sz="1600" dirty="0"/>
              <a:t>To store the instruction on each CISC, it requires very less RAM.</a:t>
            </a:r>
          </a:p>
          <a:p>
            <a:pPr>
              <a:buFont typeface="+mj-lt"/>
              <a:buAutoNum type="arabicPeriod"/>
            </a:pPr>
            <a:r>
              <a:rPr lang="en-US" sz="1600" dirty="0"/>
              <a:t>Execution of a single instruction requires several low-level tasks.</a:t>
            </a:r>
          </a:p>
          <a:p>
            <a:pPr>
              <a:buFont typeface="+mj-lt"/>
              <a:buAutoNum type="arabicPeriod"/>
            </a:pPr>
            <a:r>
              <a:rPr lang="en-US" sz="1600" dirty="0"/>
              <a:t>CISC creates a process to manage power usage that adjusts clock speed and voltage.</a:t>
            </a:r>
          </a:p>
          <a:p>
            <a:pPr>
              <a:buFont typeface="+mj-lt"/>
              <a:buAutoNum type="arabicPeriod"/>
            </a:pPr>
            <a:r>
              <a:rPr lang="en-US" sz="1600" dirty="0"/>
              <a:t>It uses fewer instructions set to perform the same instruction as the RISC.</a:t>
            </a:r>
          </a:p>
          <a:p>
            <a:pPr>
              <a:buFont typeface="+mj-lt"/>
              <a:buAutoNum type="arabicPeriod"/>
            </a:pPr>
            <a:endParaRPr lang="en-US" sz="700" dirty="0"/>
          </a:p>
        </p:txBody>
      </p:sp>
      <p:sp>
        <p:nvSpPr>
          <p:cNvPr id="4" name="Date Placeholder 3"/>
          <p:cNvSpPr>
            <a:spLocks noGrp="1"/>
          </p:cNvSpPr>
          <p:nvPr>
            <p:ph type="dt" sz="half" idx="10"/>
          </p:nvPr>
        </p:nvSpPr>
        <p:spPr/>
        <p:txBody>
          <a:bodyPr/>
          <a:lstStyle/>
          <a:p>
            <a:fld id="{E80C0DBE-48A9-4553-88C8-2EE02A3667D2}"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
        <p:nvSpPr>
          <p:cNvPr id="7" name="Content Placeholder 2">
            <a:extLst>
              <a:ext uri="{FF2B5EF4-FFF2-40B4-BE49-F238E27FC236}">
                <a16:creationId xmlns:a16="http://schemas.microsoft.com/office/drawing/2014/main" id="{30605D1B-63BE-4569-868C-72E3B2D8F986}"/>
              </a:ext>
            </a:extLst>
          </p:cNvPr>
          <p:cNvSpPr txBox="1">
            <a:spLocks/>
          </p:cNvSpPr>
          <p:nvPr/>
        </p:nvSpPr>
        <p:spPr>
          <a:xfrm>
            <a:off x="4800600" y="742950"/>
            <a:ext cx="4114800" cy="385167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mj-lt"/>
              <a:buAutoNum type="arabicPeriod"/>
            </a:pPr>
            <a:r>
              <a:rPr lang="en-US" sz="1600" dirty="0"/>
              <a:t>CISC chips are slower than RSIC chips to execute per instruction cycle on each program.</a:t>
            </a:r>
          </a:p>
          <a:p>
            <a:pPr>
              <a:buFont typeface="+mj-lt"/>
              <a:buAutoNum type="arabicPeriod"/>
            </a:pPr>
            <a:r>
              <a:rPr lang="en-US" sz="1600" dirty="0"/>
              <a:t>The performance of the machine decreases due to the slowness of the clock speed.</a:t>
            </a:r>
          </a:p>
          <a:p>
            <a:pPr>
              <a:buFont typeface="+mj-lt"/>
              <a:buAutoNum type="arabicPeriod"/>
            </a:pPr>
            <a:r>
              <a:rPr lang="en-US" sz="1600" dirty="0"/>
              <a:t>Executing the pipeline in the CISC processor makes it complicated to use.</a:t>
            </a:r>
          </a:p>
          <a:p>
            <a:pPr>
              <a:buFont typeface="+mj-lt"/>
              <a:buAutoNum type="arabicPeriod"/>
            </a:pPr>
            <a:r>
              <a:rPr lang="en-US" sz="1600" dirty="0"/>
              <a:t>The CISC chips require more transistors as compared to RISC design.</a:t>
            </a:r>
          </a:p>
          <a:p>
            <a:pPr>
              <a:buFont typeface="+mj-lt"/>
              <a:buAutoNum type="arabicPeriod"/>
            </a:pPr>
            <a:r>
              <a:rPr lang="en-US" sz="1600" dirty="0"/>
              <a:t>In CISC it uses only 20% of existing instructions in a programming event.</a:t>
            </a:r>
          </a:p>
        </p:txBody>
      </p:sp>
    </p:spTree>
    <p:extLst>
      <p:ext uri="{BB962C8B-B14F-4D97-AF65-F5344CB8AC3E}">
        <p14:creationId xmlns:p14="http://schemas.microsoft.com/office/powerpoint/2010/main" val="240693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1524000" cy="1375171"/>
          </a:xfrm>
        </p:spPr>
        <p:txBody>
          <a:bodyPr>
            <a:noAutofit/>
          </a:bodyPr>
          <a:lstStyle/>
          <a:p>
            <a:pPr algn="l">
              <a:tabLst>
                <a:tab pos="463550" algn="l"/>
              </a:tabLst>
            </a:pPr>
            <a:r>
              <a:rPr lang="en-US" sz="3200" b="1" dirty="0">
                <a:solidFill>
                  <a:srgbClr val="00B050"/>
                </a:solidFill>
              </a:rPr>
              <a:t>RISC Vs CISC</a:t>
            </a:r>
          </a:p>
        </p:txBody>
      </p:sp>
      <p:sp>
        <p:nvSpPr>
          <p:cNvPr id="4" name="Date Placeholder 3"/>
          <p:cNvSpPr>
            <a:spLocks noGrp="1"/>
          </p:cNvSpPr>
          <p:nvPr>
            <p:ph type="dt" sz="half" idx="10"/>
          </p:nvPr>
        </p:nvSpPr>
        <p:spPr/>
        <p:txBody>
          <a:bodyPr/>
          <a:lstStyle/>
          <a:p>
            <a:fld id="{012C36A8-0A52-4E65-AC0F-9F6D549077DE}"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graphicFrame>
        <p:nvGraphicFramePr>
          <p:cNvPr id="7" name="Content Placeholder 9">
            <a:extLst>
              <a:ext uri="{FF2B5EF4-FFF2-40B4-BE49-F238E27FC236}">
                <a16:creationId xmlns:a16="http://schemas.microsoft.com/office/drawing/2014/main" id="{CE8CBC40-11A4-4F8E-970B-1E7843B8F573}"/>
              </a:ext>
            </a:extLst>
          </p:cNvPr>
          <p:cNvGraphicFramePr>
            <a:graphicFrameLocks noGrp="1"/>
          </p:cNvGraphicFramePr>
          <p:nvPr>
            <p:ph idx="1"/>
            <p:extLst/>
          </p:nvPr>
        </p:nvGraphicFramePr>
        <p:xfrm>
          <a:off x="2400300" y="102393"/>
          <a:ext cx="6553200" cy="4740250"/>
        </p:xfrm>
        <a:graphic>
          <a:graphicData uri="http://schemas.openxmlformats.org/drawingml/2006/table">
            <a:tbl>
              <a:tblPr firstRow="1" bandRow="1">
                <a:solidFill>
                  <a:schemeClr val="bg1">
                    <a:lumMod val="95000"/>
                  </a:schemeClr>
                </a:solidFill>
              </a:tblPr>
              <a:tblGrid>
                <a:gridCol w="3304389">
                  <a:extLst>
                    <a:ext uri="{9D8B030D-6E8A-4147-A177-3AD203B41FA5}">
                      <a16:colId xmlns:a16="http://schemas.microsoft.com/office/drawing/2014/main" val="3008613796"/>
                    </a:ext>
                  </a:extLst>
                </a:gridCol>
                <a:gridCol w="3248811">
                  <a:extLst>
                    <a:ext uri="{9D8B030D-6E8A-4147-A177-3AD203B41FA5}">
                      <a16:colId xmlns:a16="http://schemas.microsoft.com/office/drawing/2014/main" val="308081566"/>
                    </a:ext>
                  </a:extLst>
                </a:gridCol>
              </a:tblGrid>
              <a:tr h="301346">
                <a:tc>
                  <a:txBody>
                    <a:bodyPr/>
                    <a:lstStyle/>
                    <a:p>
                      <a:pPr algn="l" fontAlgn="base"/>
                      <a:r>
                        <a:rPr lang="en-US" sz="1400" b="1" cap="none" spc="0">
                          <a:solidFill>
                            <a:schemeClr val="tx1"/>
                          </a:solidFill>
                          <a:effectLst/>
                        </a:rPr>
                        <a:t>RISC</a:t>
                      </a:r>
                    </a:p>
                  </a:txBody>
                  <a:tcPr marL="63406" marR="45648" marT="18116" marB="135869" anchor="b">
                    <a:lnL w="12700" cmpd="sng">
                      <a:noFill/>
                    </a:lnL>
                    <a:lnR w="12700" cmpd="sng">
                      <a:noFill/>
                    </a:lnR>
                    <a:lnT w="9525" cap="flat" cmpd="sng" algn="ctr">
                      <a:noFill/>
                      <a:prstDash val="solid"/>
                    </a:lnT>
                    <a:lnB w="38100" cmpd="sng">
                      <a:noFill/>
                    </a:lnB>
                    <a:solidFill>
                      <a:schemeClr val="tx2">
                        <a:lumMod val="40000"/>
                        <a:lumOff val="60000"/>
                      </a:schemeClr>
                    </a:solidFill>
                  </a:tcPr>
                </a:tc>
                <a:tc>
                  <a:txBody>
                    <a:bodyPr/>
                    <a:lstStyle/>
                    <a:p>
                      <a:pPr algn="l" fontAlgn="base"/>
                      <a:r>
                        <a:rPr lang="en-US" sz="1400" b="1" cap="none" spc="0" dirty="0">
                          <a:solidFill>
                            <a:schemeClr val="tx1"/>
                          </a:solidFill>
                          <a:effectLst/>
                        </a:rPr>
                        <a:t>CISC</a:t>
                      </a:r>
                    </a:p>
                  </a:txBody>
                  <a:tcPr marL="63406" marR="45648" marT="18116" marB="135869" anchor="b">
                    <a:lnL w="12700" cmpd="sng">
                      <a:noFill/>
                    </a:lnL>
                    <a:lnR w="12700" cmpd="sng">
                      <a:noFill/>
                    </a:lnR>
                    <a:lnT w="9525" cap="flat" cmpd="sng" algn="ctr">
                      <a:noFill/>
                      <a:prstDash val="solid"/>
                    </a:lnT>
                    <a:lnB w="38100" cmpd="sng">
                      <a:noFill/>
                    </a:lnB>
                    <a:solidFill>
                      <a:schemeClr val="tx2">
                        <a:lumMod val="40000"/>
                        <a:lumOff val="60000"/>
                      </a:schemeClr>
                    </a:solidFill>
                  </a:tcPr>
                </a:tc>
                <a:extLst>
                  <a:ext uri="{0D108BD9-81ED-4DB2-BD59-A6C34878D82A}">
                    <a16:rowId xmlns:a16="http://schemas.microsoft.com/office/drawing/2014/main" val="2011165381"/>
                  </a:ext>
                </a:extLst>
              </a:tr>
              <a:tr h="297951">
                <a:tc>
                  <a:txBody>
                    <a:bodyPr/>
                    <a:lstStyle/>
                    <a:p>
                      <a:pPr algn="l" fontAlgn="base"/>
                      <a:r>
                        <a:rPr lang="en-US" sz="1400" b="0" cap="none" spc="0" dirty="0">
                          <a:solidFill>
                            <a:schemeClr val="tx1"/>
                          </a:solidFill>
                          <a:effectLst/>
                        </a:rPr>
                        <a:t>Focus on software</a:t>
                      </a:r>
                    </a:p>
                  </a:txBody>
                  <a:tcPr marL="63406" marR="45648" marT="18116" marB="135869" anchor="ctr">
                    <a:lnL w="12700" cap="flat" cmpd="sng" algn="ctr">
                      <a:solidFill>
                        <a:schemeClr val="tx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lgn="l" fontAlgn="base"/>
                      <a:r>
                        <a:rPr lang="en-US" sz="1400" b="0" cap="none" spc="0">
                          <a:solidFill>
                            <a:schemeClr val="tx1"/>
                          </a:solidFill>
                          <a:effectLst/>
                        </a:rPr>
                        <a:t>Focus on hardware</a:t>
                      </a:r>
                    </a:p>
                  </a:txBody>
                  <a:tcPr marL="63406" marR="45648" marT="18116" marB="135869"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3297532403"/>
                  </a:ext>
                </a:extLst>
              </a:tr>
              <a:tr h="471006">
                <a:tc>
                  <a:txBody>
                    <a:bodyPr/>
                    <a:lstStyle/>
                    <a:p>
                      <a:pPr algn="l" fontAlgn="base"/>
                      <a:r>
                        <a:rPr lang="en-US" sz="1400" b="0" cap="none" spc="0" dirty="0">
                          <a:solidFill>
                            <a:schemeClr val="tx1"/>
                          </a:solidFill>
                          <a:effectLst/>
                        </a:rPr>
                        <a:t>Uses only Hardwired control unit</a:t>
                      </a:r>
                    </a:p>
                  </a:txBody>
                  <a:tcPr marL="63406" marR="45648" marT="18116" marB="135869"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l" fontAlgn="base"/>
                      <a:r>
                        <a:rPr lang="en-US" sz="1400" b="0" cap="none" spc="0" dirty="0">
                          <a:solidFill>
                            <a:schemeClr val="tx1"/>
                          </a:solidFill>
                          <a:effectLst/>
                        </a:rPr>
                        <a:t>Uses both hardwired and microprogrammed control unit</a:t>
                      </a:r>
                    </a:p>
                  </a:txBody>
                  <a:tcPr marL="63406" marR="45648" marT="18116" marB="13586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634044472"/>
                  </a:ext>
                </a:extLst>
              </a:tr>
              <a:tr h="471006">
                <a:tc>
                  <a:txBody>
                    <a:bodyPr/>
                    <a:lstStyle/>
                    <a:p>
                      <a:pPr algn="l" fontAlgn="base"/>
                      <a:r>
                        <a:rPr lang="en-US" sz="1400" b="0" cap="none" spc="0" dirty="0">
                          <a:solidFill>
                            <a:schemeClr val="tx1"/>
                          </a:solidFill>
                          <a:effectLst/>
                        </a:rPr>
                        <a:t>Transistors are used for more registers</a:t>
                      </a:r>
                    </a:p>
                  </a:txBody>
                  <a:tcPr marL="63406" marR="45648" marT="18116" marB="135869"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gn="l" fontAlgn="base"/>
                      <a:r>
                        <a:rPr lang="en-US" sz="1400" b="0" cap="none" spc="0">
                          <a:solidFill>
                            <a:schemeClr val="tx1"/>
                          </a:solidFill>
                          <a:effectLst/>
                        </a:rPr>
                        <a:t>Transistors are used for storing complex </a:t>
                      </a:r>
                      <a:br>
                        <a:rPr lang="en-US" sz="1400" b="0" cap="none" spc="0">
                          <a:solidFill>
                            <a:schemeClr val="tx1"/>
                          </a:solidFill>
                          <a:effectLst/>
                        </a:rPr>
                      </a:br>
                      <a:r>
                        <a:rPr lang="en-US" sz="1400" b="0" cap="none" spc="0">
                          <a:solidFill>
                            <a:schemeClr val="tx1"/>
                          </a:solidFill>
                          <a:effectLst/>
                        </a:rPr>
                        <a:t>Instructions</a:t>
                      </a:r>
                    </a:p>
                  </a:txBody>
                  <a:tcPr marL="63406" marR="45648" marT="18116" marB="13586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1149958871"/>
                  </a:ext>
                </a:extLst>
              </a:tr>
              <a:tr h="297951">
                <a:tc>
                  <a:txBody>
                    <a:bodyPr/>
                    <a:lstStyle/>
                    <a:p>
                      <a:pPr algn="l" fontAlgn="base"/>
                      <a:r>
                        <a:rPr lang="en-US" sz="1400" b="0" cap="none" spc="0" dirty="0">
                          <a:solidFill>
                            <a:schemeClr val="tx1"/>
                          </a:solidFill>
                          <a:effectLst/>
                        </a:rPr>
                        <a:t>Fixed sized instructions</a:t>
                      </a:r>
                    </a:p>
                  </a:txBody>
                  <a:tcPr marL="63406" marR="45648" marT="18116" marB="135869"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l" fontAlgn="base"/>
                      <a:r>
                        <a:rPr lang="en-US" sz="1400" b="0" cap="none" spc="0">
                          <a:solidFill>
                            <a:schemeClr val="tx1"/>
                          </a:solidFill>
                          <a:effectLst/>
                        </a:rPr>
                        <a:t>Variable sized instructions</a:t>
                      </a:r>
                    </a:p>
                  </a:txBody>
                  <a:tcPr marL="63406" marR="45648" marT="18116" marB="13586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985581445"/>
                  </a:ext>
                </a:extLst>
              </a:tr>
              <a:tr h="471006">
                <a:tc>
                  <a:txBody>
                    <a:bodyPr/>
                    <a:lstStyle/>
                    <a:p>
                      <a:pPr algn="l" fontAlgn="base"/>
                      <a:r>
                        <a:rPr lang="en-US" sz="1400" b="0" cap="none" spc="0" dirty="0">
                          <a:solidFill>
                            <a:schemeClr val="tx1"/>
                          </a:solidFill>
                          <a:effectLst/>
                        </a:rPr>
                        <a:t>Can perform only Register to Register Arithmetic operations</a:t>
                      </a:r>
                    </a:p>
                  </a:txBody>
                  <a:tcPr marL="63406" marR="45648" marT="18116" marB="135869"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gn="l" fontAlgn="base"/>
                      <a:r>
                        <a:rPr lang="en-US" sz="1400" b="0" cap="none" spc="0">
                          <a:solidFill>
                            <a:schemeClr val="tx1"/>
                          </a:solidFill>
                          <a:effectLst/>
                        </a:rPr>
                        <a:t>Can perform REG to REG or REG to MEM or MEM to MEM</a:t>
                      </a:r>
                    </a:p>
                  </a:txBody>
                  <a:tcPr marL="63406" marR="45648" marT="18116" marB="13586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2085017926"/>
                  </a:ext>
                </a:extLst>
              </a:tr>
              <a:tr h="297951">
                <a:tc>
                  <a:txBody>
                    <a:bodyPr/>
                    <a:lstStyle/>
                    <a:p>
                      <a:pPr algn="l" fontAlgn="base"/>
                      <a:r>
                        <a:rPr lang="en-US" sz="1400" b="0" cap="none" spc="0">
                          <a:solidFill>
                            <a:schemeClr val="tx1"/>
                          </a:solidFill>
                          <a:effectLst/>
                        </a:rPr>
                        <a:t>Requires more number of registers</a:t>
                      </a:r>
                    </a:p>
                  </a:txBody>
                  <a:tcPr marL="63406" marR="45648" marT="18116" marB="135869"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l" fontAlgn="base"/>
                      <a:r>
                        <a:rPr lang="en-US" sz="1400" b="0" cap="none" spc="0">
                          <a:solidFill>
                            <a:schemeClr val="tx1"/>
                          </a:solidFill>
                          <a:effectLst/>
                        </a:rPr>
                        <a:t>Requires less number of registers</a:t>
                      </a:r>
                    </a:p>
                  </a:txBody>
                  <a:tcPr marL="63406" marR="45648" marT="18116" marB="13586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007254594"/>
                  </a:ext>
                </a:extLst>
              </a:tr>
              <a:tr h="297951">
                <a:tc>
                  <a:txBody>
                    <a:bodyPr/>
                    <a:lstStyle/>
                    <a:p>
                      <a:pPr algn="l" fontAlgn="base"/>
                      <a:r>
                        <a:rPr lang="en-US" sz="1400" b="0" cap="none" spc="0">
                          <a:solidFill>
                            <a:schemeClr val="tx1"/>
                          </a:solidFill>
                          <a:effectLst/>
                        </a:rPr>
                        <a:t>Code size is large</a:t>
                      </a:r>
                    </a:p>
                  </a:txBody>
                  <a:tcPr marL="63406" marR="45648" marT="18116" marB="135869"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gn="l" fontAlgn="base"/>
                      <a:r>
                        <a:rPr lang="en-US" sz="1400" b="0" cap="none" spc="0">
                          <a:solidFill>
                            <a:schemeClr val="tx1"/>
                          </a:solidFill>
                          <a:effectLst/>
                        </a:rPr>
                        <a:t>Code size is small</a:t>
                      </a:r>
                    </a:p>
                  </a:txBody>
                  <a:tcPr marL="63406" marR="45648" marT="18116" marB="13586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2595023203"/>
                  </a:ext>
                </a:extLst>
              </a:tr>
              <a:tr h="471006">
                <a:tc>
                  <a:txBody>
                    <a:bodyPr/>
                    <a:lstStyle/>
                    <a:p>
                      <a:pPr algn="l" fontAlgn="base"/>
                      <a:r>
                        <a:rPr lang="en-US" sz="1400" b="0" cap="none" spc="0">
                          <a:solidFill>
                            <a:schemeClr val="tx1"/>
                          </a:solidFill>
                          <a:effectLst/>
                        </a:rPr>
                        <a:t>An instruction executed in a single clock cycle</a:t>
                      </a:r>
                    </a:p>
                  </a:txBody>
                  <a:tcPr marL="63406" marR="45648" marT="18116" marB="135869"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l" fontAlgn="base"/>
                      <a:r>
                        <a:rPr lang="en-US" sz="1400" b="0" cap="none" spc="0">
                          <a:solidFill>
                            <a:schemeClr val="tx1"/>
                          </a:solidFill>
                          <a:effectLst/>
                        </a:rPr>
                        <a:t>Instruction takes more than one clock cycle</a:t>
                      </a:r>
                    </a:p>
                  </a:txBody>
                  <a:tcPr marL="63406" marR="45648" marT="18116" marB="13586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836586889"/>
                  </a:ext>
                </a:extLst>
              </a:tr>
              <a:tr h="471006">
                <a:tc>
                  <a:txBody>
                    <a:bodyPr/>
                    <a:lstStyle/>
                    <a:p>
                      <a:pPr algn="l" fontAlgn="base"/>
                      <a:r>
                        <a:rPr lang="en-US" sz="1400" b="0" cap="none" spc="0">
                          <a:solidFill>
                            <a:schemeClr val="tx1"/>
                          </a:solidFill>
                          <a:effectLst/>
                        </a:rPr>
                        <a:t>An instruction fit in one word</a:t>
                      </a:r>
                    </a:p>
                  </a:txBody>
                  <a:tcPr marL="63406" marR="45648" marT="18116" marB="135869" anchor="ctr">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base"/>
                      <a:r>
                        <a:rPr lang="en-US" sz="1400" b="0" cap="none" spc="0" dirty="0">
                          <a:solidFill>
                            <a:schemeClr val="tx1"/>
                          </a:solidFill>
                          <a:effectLst/>
                        </a:rPr>
                        <a:t>Instructions are larger than the size of one word</a:t>
                      </a:r>
                    </a:p>
                  </a:txBody>
                  <a:tcPr marL="63406" marR="45648" marT="18116" marB="135869"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826078227"/>
                  </a:ext>
                </a:extLst>
              </a:tr>
            </a:tbl>
          </a:graphicData>
        </a:graphic>
      </p:graphicFrame>
    </p:spTree>
    <p:extLst>
      <p:ext uri="{BB962C8B-B14F-4D97-AF65-F5344CB8AC3E}">
        <p14:creationId xmlns:p14="http://schemas.microsoft.com/office/powerpoint/2010/main" val="2744135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9.2 Instruction Pipeline</a:t>
            </a:r>
          </a:p>
        </p:txBody>
      </p:sp>
      <p:sp>
        <p:nvSpPr>
          <p:cNvPr id="3" name="Content Placeholder 2"/>
          <p:cNvSpPr>
            <a:spLocks noGrp="1"/>
          </p:cNvSpPr>
          <p:nvPr>
            <p:ph idx="1"/>
          </p:nvPr>
        </p:nvSpPr>
        <p:spPr>
          <a:xfrm>
            <a:off x="457200" y="742950"/>
            <a:ext cx="3886200" cy="3851673"/>
          </a:xfrm>
        </p:spPr>
        <p:txBody>
          <a:bodyPr>
            <a:normAutofit fontScale="85000" lnSpcReduction="10000"/>
          </a:bodyPr>
          <a:lstStyle/>
          <a:p>
            <a:r>
              <a:rPr lang="en-US" sz="2000" dirty="0"/>
              <a:t>A pipeline is like an assembly line in which many products are being worked on simultaneously, each at a different station.</a:t>
            </a:r>
          </a:p>
          <a:p>
            <a:r>
              <a:rPr lang="en-US" sz="2000" dirty="0"/>
              <a:t>In RISC processors, one instruction is executed while the next is being decoded and its operands are being loaded, while the following instruction is being fetched.</a:t>
            </a:r>
          </a:p>
          <a:p>
            <a:r>
              <a:rPr lang="en-US" sz="2000" dirty="0"/>
              <a:t>By overlapping these operations, the CPU executes one instruction per clock cycle, even though each instruction requires three cycles to be fetched, decoded, and executed.</a:t>
            </a:r>
          </a:p>
          <a:p>
            <a:endParaRPr lang="en-US" sz="2000" dirty="0"/>
          </a:p>
        </p:txBody>
      </p:sp>
      <p:sp>
        <p:nvSpPr>
          <p:cNvPr id="4" name="Date Placeholder 3"/>
          <p:cNvSpPr>
            <a:spLocks noGrp="1"/>
          </p:cNvSpPr>
          <p:nvPr>
            <p:ph type="dt" sz="half" idx="10"/>
          </p:nvPr>
        </p:nvSpPr>
        <p:spPr/>
        <p:txBody>
          <a:bodyPr/>
          <a:lstStyle/>
          <a:p>
            <a:fld id="{1A4D3297-F37B-4ADC-9700-1CA8AEAC21F3}"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7" name="Picture 6">
            <a:extLst>
              <a:ext uri="{FF2B5EF4-FFF2-40B4-BE49-F238E27FC236}">
                <a16:creationId xmlns:a16="http://schemas.microsoft.com/office/drawing/2014/main" id="{EE01E8CF-EB60-4C6A-A079-DBB136B21AAF}"/>
              </a:ext>
            </a:extLst>
          </p:cNvPr>
          <p:cNvPicPr>
            <a:picLocks noChangeAspect="1"/>
          </p:cNvPicPr>
          <p:nvPr/>
        </p:nvPicPr>
        <p:blipFill>
          <a:blip r:embed="rId2"/>
          <a:stretch>
            <a:fillRect/>
          </a:stretch>
        </p:blipFill>
        <p:spPr>
          <a:xfrm>
            <a:off x="4374776" y="864393"/>
            <a:ext cx="4568678" cy="2500313"/>
          </a:xfrm>
          <a:prstGeom prst="rect">
            <a:avLst/>
          </a:prstGeom>
        </p:spPr>
      </p:pic>
    </p:spTree>
    <p:extLst>
      <p:ext uri="{BB962C8B-B14F-4D97-AF65-F5344CB8AC3E}">
        <p14:creationId xmlns:p14="http://schemas.microsoft.com/office/powerpoint/2010/main" val="1612282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2438400" cy="841771"/>
          </a:xfrm>
        </p:spPr>
        <p:txBody>
          <a:bodyPr>
            <a:noAutofit/>
          </a:bodyPr>
          <a:lstStyle/>
          <a:p>
            <a:pPr algn="l">
              <a:tabLst>
                <a:tab pos="463550" algn="l"/>
              </a:tabLst>
            </a:pPr>
            <a:r>
              <a:rPr lang="en-US" sz="2800" b="1" dirty="0">
                <a:solidFill>
                  <a:srgbClr val="00B050"/>
                </a:solidFill>
              </a:rPr>
              <a:t>Instruction Pipeline</a:t>
            </a:r>
          </a:p>
        </p:txBody>
      </p:sp>
      <p:sp>
        <p:nvSpPr>
          <p:cNvPr id="4" name="Date Placeholder 3"/>
          <p:cNvSpPr>
            <a:spLocks noGrp="1"/>
          </p:cNvSpPr>
          <p:nvPr>
            <p:ph type="dt" sz="half" idx="10"/>
          </p:nvPr>
        </p:nvSpPr>
        <p:spPr/>
        <p:txBody>
          <a:bodyPr/>
          <a:lstStyle/>
          <a:p>
            <a:fld id="{533CCD5A-8C60-4047-A6C8-F1680E6A22F8}"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7" name="Picture 6">
            <a:extLst>
              <a:ext uri="{FF2B5EF4-FFF2-40B4-BE49-F238E27FC236}">
                <a16:creationId xmlns:a16="http://schemas.microsoft.com/office/drawing/2014/main" id="{EE01E8CF-EB60-4C6A-A079-DBB136B21AAF}"/>
              </a:ext>
            </a:extLst>
          </p:cNvPr>
          <p:cNvPicPr>
            <a:picLocks noChangeAspect="1"/>
          </p:cNvPicPr>
          <p:nvPr/>
        </p:nvPicPr>
        <p:blipFill>
          <a:blip r:embed="rId2"/>
          <a:stretch>
            <a:fillRect/>
          </a:stretch>
        </p:blipFill>
        <p:spPr>
          <a:xfrm>
            <a:off x="3961579" y="183300"/>
            <a:ext cx="4116442" cy="2252817"/>
          </a:xfrm>
          <a:prstGeom prst="rect">
            <a:avLst/>
          </a:prstGeom>
        </p:spPr>
      </p:pic>
      <p:pic>
        <p:nvPicPr>
          <p:cNvPr id="8" name="Picture 7">
            <a:extLst>
              <a:ext uri="{FF2B5EF4-FFF2-40B4-BE49-F238E27FC236}">
                <a16:creationId xmlns:a16="http://schemas.microsoft.com/office/drawing/2014/main" id="{8F8A75D0-6E6D-4D54-857A-2DF6ADA8EAD0}"/>
              </a:ext>
            </a:extLst>
          </p:cNvPr>
          <p:cNvPicPr>
            <a:picLocks noChangeAspect="1"/>
          </p:cNvPicPr>
          <p:nvPr/>
        </p:nvPicPr>
        <p:blipFill rotWithShape="1">
          <a:blip r:embed="rId3"/>
          <a:srcRect l="2717" t="1790" r="56983" b="55250"/>
          <a:stretch/>
        </p:blipFill>
        <p:spPr>
          <a:xfrm>
            <a:off x="312015" y="2424687"/>
            <a:ext cx="3168903" cy="2136338"/>
          </a:xfrm>
          <a:prstGeom prst="rect">
            <a:avLst/>
          </a:prstGeom>
        </p:spPr>
      </p:pic>
      <p:pic>
        <p:nvPicPr>
          <p:cNvPr id="9" name="Picture 8">
            <a:extLst>
              <a:ext uri="{FF2B5EF4-FFF2-40B4-BE49-F238E27FC236}">
                <a16:creationId xmlns:a16="http://schemas.microsoft.com/office/drawing/2014/main" id="{87C27675-C0A1-4A34-9DAE-EF834ED27073}"/>
              </a:ext>
            </a:extLst>
          </p:cNvPr>
          <p:cNvPicPr>
            <a:picLocks noChangeAspect="1"/>
          </p:cNvPicPr>
          <p:nvPr/>
        </p:nvPicPr>
        <p:blipFill rotWithShape="1">
          <a:blip r:embed="rId3"/>
          <a:srcRect l="55720" t="2414" r="2530" b="53151"/>
          <a:stretch/>
        </p:blipFill>
        <p:spPr>
          <a:xfrm>
            <a:off x="3545492" y="2642355"/>
            <a:ext cx="2737002" cy="1842212"/>
          </a:xfrm>
          <a:prstGeom prst="rect">
            <a:avLst/>
          </a:prstGeom>
        </p:spPr>
      </p:pic>
      <p:pic>
        <p:nvPicPr>
          <p:cNvPr id="10" name="Picture 9">
            <a:extLst>
              <a:ext uri="{FF2B5EF4-FFF2-40B4-BE49-F238E27FC236}">
                <a16:creationId xmlns:a16="http://schemas.microsoft.com/office/drawing/2014/main" id="{AD188CDD-D222-41A9-B822-911D1E59EDE9}"/>
              </a:ext>
            </a:extLst>
          </p:cNvPr>
          <p:cNvPicPr>
            <a:picLocks noChangeAspect="1"/>
          </p:cNvPicPr>
          <p:nvPr/>
        </p:nvPicPr>
        <p:blipFill rotWithShape="1">
          <a:blip r:embed="rId3"/>
          <a:srcRect l="30831" t="45063" r="29026" b="3638"/>
          <a:stretch/>
        </p:blipFill>
        <p:spPr>
          <a:xfrm>
            <a:off x="6347068" y="2614454"/>
            <a:ext cx="2545862" cy="2057401"/>
          </a:xfrm>
          <a:prstGeom prst="rect">
            <a:avLst/>
          </a:prstGeom>
        </p:spPr>
      </p:pic>
      <p:sp>
        <p:nvSpPr>
          <p:cNvPr id="11" name="TextBox 10">
            <a:extLst>
              <a:ext uri="{FF2B5EF4-FFF2-40B4-BE49-F238E27FC236}">
                <a16:creationId xmlns:a16="http://schemas.microsoft.com/office/drawing/2014/main" id="{04A97E7A-E2AC-4345-A50A-D1B815BF55A2}"/>
              </a:ext>
            </a:extLst>
          </p:cNvPr>
          <p:cNvSpPr txBox="1"/>
          <p:nvPr/>
        </p:nvSpPr>
        <p:spPr>
          <a:xfrm>
            <a:off x="1493520" y="4508836"/>
            <a:ext cx="6999316" cy="369332"/>
          </a:xfrm>
          <a:prstGeom prst="rect">
            <a:avLst/>
          </a:prstGeom>
          <a:noFill/>
        </p:spPr>
        <p:txBody>
          <a:bodyPr wrap="square" rtlCol="0">
            <a:spAutoFit/>
          </a:bodyPr>
          <a:lstStyle/>
          <a:p>
            <a:r>
              <a:rPr lang="en-US" b="1" i="1" dirty="0"/>
              <a:t>Figure: Data flow through Three, Four, and Five stage RISC pipelines</a:t>
            </a:r>
          </a:p>
        </p:txBody>
      </p:sp>
    </p:spTree>
    <p:extLst>
      <p:ext uri="{BB962C8B-B14F-4D97-AF65-F5344CB8AC3E}">
        <p14:creationId xmlns:p14="http://schemas.microsoft.com/office/powerpoint/2010/main" val="3080314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9.3 Register Windowing</a:t>
            </a:r>
          </a:p>
        </p:txBody>
      </p:sp>
      <p:sp>
        <p:nvSpPr>
          <p:cNvPr id="3" name="Content Placeholder 2"/>
          <p:cNvSpPr>
            <a:spLocks noGrp="1"/>
          </p:cNvSpPr>
          <p:nvPr>
            <p:ph idx="1"/>
          </p:nvPr>
        </p:nvSpPr>
        <p:spPr>
          <a:xfrm>
            <a:off x="457200" y="742950"/>
            <a:ext cx="4023361" cy="3851673"/>
          </a:xfrm>
        </p:spPr>
        <p:txBody>
          <a:bodyPr>
            <a:normAutofit/>
          </a:bodyPr>
          <a:lstStyle/>
          <a:p>
            <a:r>
              <a:rPr lang="en-US" sz="1600" dirty="0"/>
              <a:t>To store more content in the CPU, we need registers in the CPU.</a:t>
            </a:r>
          </a:p>
          <a:p>
            <a:r>
              <a:rPr lang="en-US" sz="1600" dirty="0"/>
              <a:t>But RISC CPU has limited no. of registers. </a:t>
            </a:r>
          </a:p>
          <a:p>
            <a:r>
              <a:rPr lang="en-US" sz="1600" dirty="0"/>
              <a:t>So, all the registers cannot be accessed at once. Otherwise, it would be like accessing the memory as in CISC.</a:t>
            </a:r>
          </a:p>
          <a:p>
            <a:r>
              <a:rPr lang="en-US" sz="1600" dirty="0"/>
              <a:t>RISC has following types of registers:</a:t>
            </a:r>
          </a:p>
          <a:p>
            <a:pPr lvl="1"/>
            <a:r>
              <a:rPr lang="en-US" sz="1200" dirty="0"/>
              <a:t>Global registers</a:t>
            </a:r>
          </a:p>
          <a:p>
            <a:pPr lvl="1"/>
            <a:r>
              <a:rPr lang="en-US" sz="1200" dirty="0"/>
              <a:t>Local registers.</a:t>
            </a:r>
          </a:p>
          <a:p>
            <a:pPr lvl="1"/>
            <a:r>
              <a:rPr lang="en-US" sz="1200" dirty="0"/>
              <a:t>Input Shared registers</a:t>
            </a:r>
          </a:p>
          <a:p>
            <a:pPr lvl="1"/>
            <a:r>
              <a:rPr lang="en-US" sz="1200" dirty="0"/>
              <a:t>Output Shared registers</a:t>
            </a:r>
          </a:p>
          <a:p>
            <a:r>
              <a:rPr lang="en-US" sz="1600" dirty="0"/>
              <a:t>Register window comes in RISC.</a:t>
            </a:r>
          </a:p>
          <a:p>
            <a:pPr lvl="1"/>
            <a:r>
              <a:rPr lang="en-US" sz="1200" dirty="0"/>
              <a:t>It consists of the above last three registers.</a:t>
            </a:r>
          </a:p>
          <a:p>
            <a:pPr lvl="1"/>
            <a:r>
              <a:rPr lang="en-US" sz="1200" dirty="0"/>
              <a:t>The size of Input shared register and the output shared register should be same.</a:t>
            </a:r>
          </a:p>
          <a:p>
            <a:pPr lvl="1"/>
            <a:endParaRPr lang="en-US" sz="1200" dirty="0"/>
          </a:p>
        </p:txBody>
      </p:sp>
      <p:sp>
        <p:nvSpPr>
          <p:cNvPr id="4" name="Date Placeholder 3"/>
          <p:cNvSpPr>
            <a:spLocks noGrp="1"/>
          </p:cNvSpPr>
          <p:nvPr>
            <p:ph type="dt" sz="half" idx="10"/>
          </p:nvPr>
        </p:nvSpPr>
        <p:spPr/>
        <p:txBody>
          <a:bodyPr/>
          <a:lstStyle/>
          <a:p>
            <a:fld id="{CF134067-C20B-4CE3-82F5-BC9AF6CB4B50}"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9" name="Content Placeholder 3">
            <a:extLst>
              <a:ext uri="{FF2B5EF4-FFF2-40B4-BE49-F238E27FC236}">
                <a16:creationId xmlns:a16="http://schemas.microsoft.com/office/drawing/2014/main" id="{3C0C5B09-10C3-4E4E-B36B-D0210EA78A5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072" t="6972"/>
          <a:stretch/>
        </p:blipFill>
        <p:spPr>
          <a:xfrm>
            <a:off x="4663441" y="839390"/>
            <a:ext cx="4142076" cy="3130203"/>
          </a:xfrm>
          <a:prstGeom prst="rect">
            <a:avLst/>
          </a:prstGeom>
        </p:spPr>
      </p:pic>
      <p:pic>
        <p:nvPicPr>
          <p:cNvPr id="10" name="Content Placeholder 3">
            <a:extLst>
              <a:ext uri="{FF2B5EF4-FFF2-40B4-BE49-F238E27FC236}">
                <a16:creationId xmlns:a16="http://schemas.microsoft.com/office/drawing/2014/main" id="{77372256-4FF5-47DD-9EA9-9C63F5468ACA}"/>
              </a:ext>
            </a:extLst>
          </p:cNvPr>
          <p:cNvPicPr>
            <a:picLocks noChangeAspect="1"/>
          </p:cNvPicPr>
          <p:nvPr/>
        </p:nvPicPr>
        <p:blipFill rotWithShape="1">
          <a:blip r:embed="rId2">
            <a:extLst>
              <a:ext uri="{28A0092B-C50C-407E-A947-70E740481C1C}">
                <a14:useLocalDpi xmlns:a14="http://schemas.microsoft.com/office/drawing/2010/main" val="0"/>
              </a:ext>
            </a:extLst>
          </a:blip>
          <a:srcRect r="47486" b="94760"/>
          <a:stretch/>
        </p:blipFill>
        <p:spPr>
          <a:xfrm>
            <a:off x="5257800" y="4193110"/>
            <a:ext cx="3284294" cy="215243"/>
          </a:xfrm>
          <a:prstGeom prst="rect">
            <a:avLst/>
          </a:prstGeom>
        </p:spPr>
      </p:pic>
      <p:sp>
        <p:nvSpPr>
          <p:cNvPr id="16" name="Rectangle 15">
            <a:extLst>
              <a:ext uri="{FF2B5EF4-FFF2-40B4-BE49-F238E27FC236}">
                <a16:creationId xmlns:a16="http://schemas.microsoft.com/office/drawing/2014/main" id="{D77FB72A-ACD0-4661-9653-5B05CC4AC9B9}"/>
              </a:ext>
            </a:extLst>
          </p:cNvPr>
          <p:cNvSpPr/>
          <p:nvPr/>
        </p:nvSpPr>
        <p:spPr>
          <a:xfrm>
            <a:off x="4876800" y="2038351"/>
            <a:ext cx="685800" cy="223516"/>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CBDF40A0-F577-46A2-BC51-0BF6C2E248F2}"/>
              </a:ext>
            </a:extLst>
          </p:cNvPr>
          <p:cNvSpPr txBox="1"/>
          <p:nvPr/>
        </p:nvSpPr>
        <p:spPr>
          <a:xfrm>
            <a:off x="6677526" y="1497744"/>
            <a:ext cx="1069524" cy="253916"/>
          </a:xfrm>
          <a:prstGeom prst="rect">
            <a:avLst/>
          </a:prstGeom>
          <a:noFill/>
        </p:spPr>
        <p:txBody>
          <a:bodyPr wrap="none" rtlCol="0">
            <a:spAutoFit/>
          </a:bodyPr>
          <a:lstStyle/>
          <a:p>
            <a:r>
              <a:rPr lang="en-US" sz="1050" dirty="0"/>
              <a:t>Shared registers</a:t>
            </a:r>
          </a:p>
        </p:txBody>
      </p:sp>
      <p:cxnSp>
        <p:nvCxnSpPr>
          <p:cNvPr id="19" name="Straight Arrow Connector 18">
            <a:extLst>
              <a:ext uri="{FF2B5EF4-FFF2-40B4-BE49-F238E27FC236}">
                <a16:creationId xmlns:a16="http://schemas.microsoft.com/office/drawing/2014/main" id="{B30B1830-4209-4143-8BEC-1746F8F13EDD}"/>
              </a:ext>
            </a:extLst>
          </p:cNvPr>
          <p:cNvCxnSpPr/>
          <p:nvPr/>
        </p:nvCxnSpPr>
        <p:spPr>
          <a:xfrm flipV="1">
            <a:off x="5410200" y="1657350"/>
            <a:ext cx="1295400" cy="381000"/>
          </a:xfrm>
          <a:prstGeom prst="straightConnector1">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Rectangle 6">
            <a:extLst>
              <a:ext uri="{FF2B5EF4-FFF2-40B4-BE49-F238E27FC236}">
                <a16:creationId xmlns:a16="http://schemas.microsoft.com/office/drawing/2014/main" id="{7E1D1717-B27B-40B1-901D-C2E4AFAE82F1}"/>
              </a:ext>
            </a:extLst>
          </p:cNvPr>
          <p:cNvSpPr/>
          <p:nvPr/>
        </p:nvSpPr>
        <p:spPr>
          <a:xfrm>
            <a:off x="5568935" y="4824643"/>
            <a:ext cx="2331087" cy="253916"/>
          </a:xfrm>
          <a:prstGeom prst="rect">
            <a:avLst/>
          </a:prstGeom>
        </p:spPr>
        <p:txBody>
          <a:bodyPr wrap="none">
            <a:spAutoFit/>
          </a:bodyPr>
          <a:lstStyle/>
          <a:p>
            <a:r>
              <a:rPr lang="en-US" sz="1050" dirty="0">
                <a:latin typeface="Google Sans"/>
              </a:rPr>
              <a:t>SPARC: Scalable Processor Architecture</a:t>
            </a:r>
            <a:endParaRPr lang="en-US" sz="1050" dirty="0"/>
          </a:p>
        </p:txBody>
      </p:sp>
    </p:spTree>
    <p:extLst>
      <p:ext uri="{BB962C8B-B14F-4D97-AF65-F5344CB8AC3E}">
        <p14:creationId xmlns:p14="http://schemas.microsoft.com/office/powerpoint/2010/main" val="4088026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Register Windowing (Contd.)</a:t>
            </a:r>
          </a:p>
        </p:txBody>
      </p:sp>
      <p:sp>
        <p:nvSpPr>
          <p:cNvPr id="3" name="Content Placeholder 2"/>
          <p:cNvSpPr>
            <a:spLocks noGrp="1"/>
          </p:cNvSpPr>
          <p:nvPr>
            <p:ph idx="1"/>
          </p:nvPr>
        </p:nvSpPr>
        <p:spPr>
          <a:xfrm>
            <a:off x="457200" y="742950"/>
            <a:ext cx="3886200" cy="3851673"/>
          </a:xfrm>
        </p:spPr>
        <p:txBody>
          <a:bodyPr>
            <a:normAutofit fontScale="92500" lnSpcReduction="10000"/>
          </a:bodyPr>
          <a:lstStyle/>
          <a:p>
            <a:r>
              <a:rPr lang="en-US" sz="1600" dirty="0"/>
              <a:t>The reduced hardware requirement of RISC processor leave additional space available on the chip for the system designer.</a:t>
            </a:r>
          </a:p>
          <a:p>
            <a:r>
              <a:rPr lang="en-US" sz="1600" dirty="0"/>
              <a:t>RISC CPU generally use this space to include a large number of registers, sometimes more than 100.</a:t>
            </a:r>
          </a:p>
          <a:p>
            <a:r>
              <a:rPr lang="en-US" sz="1600" dirty="0"/>
              <a:t>The CPU can access data in register more quickly than data in memory.</a:t>
            </a:r>
          </a:p>
          <a:p>
            <a:r>
              <a:rPr lang="en-US" sz="1600" dirty="0"/>
              <a:t>Although, a RISC processor has many register, it may not be able to access all of them at any time.</a:t>
            </a:r>
          </a:p>
          <a:p>
            <a:r>
              <a:rPr lang="en-US" sz="1600" dirty="0"/>
              <a:t>Most RISC CPU has some global register which are always accessible.</a:t>
            </a:r>
          </a:p>
          <a:p>
            <a:r>
              <a:rPr lang="en-US" sz="1600" dirty="0"/>
              <a:t>The remaining register are windowed such that only a subset of the registers are accessible at any specific time.</a:t>
            </a:r>
          </a:p>
          <a:p>
            <a:endParaRPr lang="en-US" sz="1600" dirty="0"/>
          </a:p>
        </p:txBody>
      </p:sp>
      <p:sp>
        <p:nvSpPr>
          <p:cNvPr id="4" name="Date Placeholder 3"/>
          <p:cNvSpPr>
            <a:spLocks noGrp="1"/>
          </p:cNvSpPr>
          <p:nvPr>
            <p:ph type="dt" sz="half" idx="10"/>
          </p:nvPr>
        </p:nvSpPr>
        <p:spPr/>
        <p:txBody>
          <a:bodyPr/>
          <a:lstStyle/>
          <a:p>
            <a:fld id="{63581471-9AD5-41D9-9973-2ABDB0461932}"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
        <p:nvSpPr>
          <p:cNvPr id="9" name="Rectangle 8">
            <a:extLst>
              <a:ext uri="{FF2B5EF4-FFF2-40B4-BE49-F238E27FC236}">
                <a16:creationId xmlns:a16="http://schemas.microsoft.com/office/drawing/2014/main" id="{B43027CB-B07B-42D9-87B0-69053A08EF7B}"/>
              </a:ext>
            </a:extLst>
          </p:cNvPr>
          <p:cNvSpPr/>
          <p:nvPr/>
        </p:nvSpPr>
        <p:spPr>
          <a:xfrm>
            <a:off x="5063048" y="4094668"/>
            <a:ext cx="2311851" cy="261610"/>
          </a:xfrm>
          <a:prstGeom prst="rect">
            <a:avLst/>
          </a:prstGeom>
        </p:spPr>
        <p:txBody>
          <a:bodyPr wrap="none">
            <a:spAutoFit/>
          </a:bodyPr>
          <a:lstStyle/>
          <a:p>
            <a:r>
              <a:rPr lang="en-US" sz="1100" i="1" dirty="0">
                <a:solidFill>
                  <a:srgbClr val="000000"/>
                </a:solidFill>
              </a:rPr>
              <a:t>Figure: Overlapping register windows</a:t>
            </a:r>
            <a:endParaRPr lang="en-US" sz="1100" i="1" dirty="0"/>
          </a:p>
        </p:txBody>
      </p:sp>
      <p:pic>
        <p:nvPicPr>
          <p:cNvPr id="10" name="Picture 9">
            <a:extLst>
              <a:ext uri="{FF2B5EF4-FFF2-40B4-BE49-F238E27FC236}">
                <a16:creationId xmlns:a16="http://schemas.microsoft.com/office/drawing/2014/main" id="{E6BD7F7B-EB10-4DCD-B95E-940B22E9025C}"/>
              </a:ext>
            </a:extLst>
          </p:cNvPr>
          <p:cNvPicPr>
            <a:picLocks noChangeAspect="1"/>
          </p:cNvPicPr>
          <p:nvPr/>
        </p:nvPicPr>
        <p:blipFill>
          <a:blip r:embed="rId2"/>
          <a:stretch>
            <a:fillRect/>
          </a:stretch>
        </p:blipFill>
        <p:spPr>
          <a:xfrm>
            <a:off x="4343400" y="910416"/>
            <a:ext cx="4276725" cy="2902486"/>
          </a:xfrm>
          <a:prstGeom prst="rect">
            <a:avLst/>
          </a:prstGeom>
        </p:spPr>
      </p:pic>
    </p:spTree>
    <p:extLst>
      <p:ext uri="{BB962C8B-B14F-4D97-AF65-F5344CB8AC3E}">
        <p14:creationId xmlns:p14="http://schemas.microsoft.com/office/powerpoint/2010/main" val="1738854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Register Windowing (Contd.)</a:t>
            </a:r>
          </a:p>
        </p:txBody>
      </p:sp>
      <p:sp>
        <p:nvSpPr>
          <p:cNvPr id="3" name="Content Placeholder 2"/>
          <p:cNvSpPr>
            <a:spLocks noGrp="1"/>
          </p:cNvSpPr>
          <p:nvPr>
            <p:ph idx="1"/>
          </p:nvPr>
        </p:nvSpPr>
        <p:spPr>
          <a:xfrm>
            <a:off x="457200" y="742950"/>
            <a:ext cx="3429000" cy="3851673"/>
          </a:xfrm>
        </p:spPr>
        <p:txBody>
          <a:bodyPr>
            <a:normAutofit lnSpcReduction="10000"/>
          </a:bodyPr>
          <a:lstStyle/>
          <a:p>
            <a:pPr marL="233363" indent="-233363"/>
            <a:r>
              <a:rPr lang="en-US" sz="1400" dirty="0"/>
              <a:t>Consider a CPU with 48 registers.</a:t>
            </a:r>
          </a:p>
          <a:p>
            <a:pPr marL="233363" indent="-233363"/>
            <a:r>
              <a:rPr lang="en-US" sz="1400" dirty="0"/>
              <a:t>The CPU has </a:t>
            </a:r>
            <a:r>
              <a:rPr lang="en-US" sz="1400" dirty="0">
                <a:solidFill>
                  <a:srgbClr val="C00000"/>
                </a:solidFill>
              </a:rPr>
              <a:t>four</a:t>
            </a:r>
            <a:r>
              <a:rPr lang="en-US" sz="1400" dirty="0"/>
              <a:t> </a:t>
            </a:r>
            <a:r>
              <a:rPr lang="en-US" sz="1400" dirty="0">
                <a:solidFill>
                  <a:srgbClr val="C00000"/>
                </a:solidFill>
              </a:rPr>
              <a:t>windows</a:t>
            </a:r>
            <a:r>
              <a:rPr lang="en-US" sz="1400" dirty="0"/>
              <a:t> with 16 registers each, </a:t>
            </a:r>
          </a:p>
          <a:p>
            <a:pPr marL="457200" lvl="1" indent="-233363"/>
            <a:r>
              <a:rPr lang="en-US" sz="1200" dirty="0"/>
              <a:t>and overlap of four registers between windows.</a:t>
            </a:r>
          </a:p>
          <a:p>
            <a:pPr marL="457200" lvl="1" indent="-233363"/>
            <a:r>
              <a:rPr lang="en-US" sz="1200" dirty="0"/>
              <a:t>These are shared registers.</a:t>
            </a:r>
          </a:p>
          <a:p>
            <a:pPr marL="233363" indent="-233363"/>
            <a:r>
              <a:rPr lang="en-US" sz="1400" dirty="0"/>
              <a:t>Initially, the CPU is running a program using its first register window.</a:t>
            </a:r>
          </a:p>
          <a:p>
            <a:pPr marL="457200" lvl="1" indent="-233363"/>
            <a:r>
              <a:rPr lang="en-US" sz="1100" dirty="0"/>
              <a:t>It must call a subroutine and pass three parameters to it.</a:t>
            </a:r>
          </a:p>
          <a:p>
            <a:pPr marL="457200" lvl="1" indent="-233363"/>
            <a:r>
              <a:rPr lang="en-US" sz="1100" dirty="0"/>
              <a:t>The CPU stores these parameters in three of the four overlapping registers and calls subroutine.</a:t>
            </a:r>
          </a:p>
          <a:p>
            <a:pPr marL="457200" lvl="1" indent="-233363"/>
            <a:r>
              <a:rPr lang="en-US" sz="1100" dirty="0"/>
              <a:t>The subroutine can directly access these parameters.</a:t>
            </a:r>
          </a:p>
          <a:p>
            <a:pPr marL="457200" lvl="1" indent="-233363"/>
            <a:r>
              <a:rPr lang="en-US" sz="1100" dirty="0"/>
              <a:t>Subroutine calculates a result, stores the value in one of the overlapping registers, and returns to the main program.</a:t>
            </a:r>
          </a:p>
          <a:p>
            <a:pPr marL="233363" indent="-233363"/>
            <a:r>
              <a:rPr lang="en-US" sz="1400" dirty="0"/>
              <a:t>This deactivates the second window; the CPU now works with the first window and can directly access the result.</a:t>
            </a:r>
          </a:p>
          <a:p>
            <a:pPr marL="233363" indent="-233363"/>
            <a:endParaRPr lang="en-US" sz="1400" dirty="0"/>
          </a:p>
        </p:txBody>
      </p:sp>
      <p:sp>
        <p:nvSpPr>
          <p:cNvPr id="4" name="Date Placeholder 3"/>
          <p:cNvSpPr>
            <a:spLocks noGrp="1"/>
          </p:cNvSpPr>
          <p:nvPr>
            <p:ph type="dt" sz="half" idx="10"/>
          </p:nvPr>
        </p:nvSpPr>
        <p:spPr/>
        <p:txBody>
          <a:bodyPr/>
          <a:lstStyle/>
          <a:p>
            <a:fld id="{46BDF380-5F4A-4569-9F19-C9B379A3BB95}"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9" name="Content Placeholder 6">
            <a:extLst>
              <a:ext uri="{FF2B5EF4-FFF2-40B4-BE49-F238E27FC236}">
                <a16:creationId xmlns:a16="http://schemas.microsoft.com/office/drawing/2014/main" id="{CE499003-E536-4C90-9557-DF68654A3E1D}"/>
              </a:ext>
            </a:extLst>
          </p:cNvPr>
          <p:cNvPicPr>
            <a:picLocks noChangeAspect="1"/>
          </p:cNvPicPr>
          <p:nvPr/>
        </p:nvPicPr>
        <p:blipFill>
          <a:blip r:embed="rId2"/>
          <a:stretch>
            <a:fillRect/>
          </a:stretch>
        </p:blipFill>
        <p:spPr>
          <a:xfrm>
            <a:off x="3886200" y="613285"/>
            <a:ext cx="5108090" cy="3696045"/>
          </a:xfrm>
          <a:prstGeom prst="rect">
            <a:avLst/>
          </a:prstGeom>
        </p:spPr>
      </p:pic>
      <p:pic>
        <p:nvPicPr>
          <p:cNvPr id="10" name="Picture 9">
            <a:extLst>
              <a:ext uri="{FF2B5EF4-FFF2-40B4-BE49-F238E27FC236}">
                <a16:creationId xmlns:a16="http://schemas.microsoft.com/office/drawing/2014/main" id="{84E1A04F-DE1D-460B-9573-D0316F230FD1}"/>
              </a:ext>
            </a:extLst>
          </p:cNvPr>
          <p:cNvPicPr>
            <a:picLocks noChangeAspect="1"/>
          </p:cNvPicPr>
          <p:nvPr/>
        </p:nvPicPr>
        <p:blipFill>
          <a:blip r:embed="rId3"/>
          <a:stretch>
            <a:fillRect/>
          </a:stretch>
        </p:blipFill>
        <p:spPr>
          <a:xfrm>
            <a:off x="4205287" y="4424677"/>
            <a:ext cx="4695825" cy="371475"/>
          </a:xfrm>
          <a:prstGeom prst="rect">
            <a:avLst/>
          </a:prstGeom>
        </p:spPr>
      </p:pic>
      <p:sp>
        <p:nvSpPr>
          <p:cNvPr id="7" name="Rectangle 6">
            <a:extLst>
              <a:ext uri="{FF2B5EF4-FFF2-40B4-BE49-F238E27FC236}">
                <a16:creationId xmlns:a16="http://schemas.microsoft.com/office/drawing/2014/main" id="{78BF4955-5EE3-4E70-86E7-47D991DE3058}"/>
              </a:ext>
            </a:extLst>
          </p:cNvPr>
          <p:cNvSpPr/>
          <p:nvPr/>
        </p:nvSpPr>
        <p:spPr>
          <a:xfrm>
            <a:off x="5105400" y="1200150"/>
            <a:ext cx="649704" cy="533400"/>
          </a:xfrm>
          <a:prstGeom prst="rect">
            <a:avLst/>
          </a:prstGeom>
          <a:solidFill>
            <a:srgbClr val="FFFF00">
              <a:alpha val="22000"/>
            </a:srgb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82DAE99-16D8-42CD-A099-AF23D9E1A8FC}"/>
              </a:ext>
            </a:extLst>
          </p:cNvPr>
          <p:cNvSpPr/>
          <p:nvPr/>
        </p:nvSpPr>
        <p:spPr>
          <a:xfrm>
            <a:off x="7315200" y="1163827"/>
            <a:ext cx="649704" cy="569723"/>
          </a:xfrm>
          <a:prstGeom prst="rect">
            <a:avLst/>
          </a:prstGeom>
          <a:solidFill>
            <a:srgbClr val="92D05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F6572D31-7F26-439E-9ABA-F7746AFCB730}"/>
              </a:ext>
            </a:extLst>
          </p:cNvPr>
          <p:cNvCxnSpPr>
            <a:cxnSpLocks/>
          </p:cNvCxnSpPr>
          <p:nvPr/>
        </p:nvCxnSpPr>
        <p:spPr>
          <a:xfrm flipV="1">
            <a:off x="2743200" y="1312674"/>
            <a:ext cx="2362200" cy="569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0071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Register Renaming</a:t>
            </a:r>
          </a:p>
        </p:txBody>
      </p:sp>
      <p:sp>
        <p:nvSpPr>
          <p:cNvPr id="3" name="Content Placeholder 2"/>
          <p:cNvSpPr>
            <a:spLocks noGrp="1"/>
          </p:cNvSpPr>
          <p:nvPr>
            <p:ph idx="1"/>
          </p:nvPr>
        </p:nvSpPr>
        <p:spPr>
          <a:xfrm>
            <a:off x="457200" y="742950"/>
            <a:ext cx="4343400" cy="3851673"/>
          </a:xfrm>
        </p:spPr>
        <p:txBody>
          <a:bodyPr>
            <a:normAutofit fontScale="92500" lnSpcReduction="10000"/>
          </a:bodyPr>
          <a:lstStyle/>
          <a:p>
            <a:r>
              <a:rPr lang="en-US" sz="1800" dirty="0"/>
              <a:t>Register renaming is a standard approach for eliminating false data dependencies, such as WAR and WAW dependencies, between register data. </a:t>
            </a:r>
          </a:p>
          <a:p>
            <a:r>
              <a:rPr lang="en-US" sz="1800" b="1" dirty="0"/>
              <a:t>Case of WAW</a:t>
            </a:r>
          </a:p>
          <a:p>
            <a:pPr lvl="1"/>
            <a:r>
              <a:rPr lang="en-US" sz="1500" dirty="0"/>
              <a:t>If, may be because of the operator used (here / and + ), the I2  might be executed before I1. </a:t>
            </a:r>
          </a:p>
          <a:p>
            <a:pPr lvl="1"/>
            <a:r>
              <a:rPr lang="en-US" sz="1500" dirty="0"/>
              <a:t>Here, first R3 is written with I2, and then again R3 is written with I1. So, new value of R3 is actually overwritten by I1.</a:t>
            </a:r>
          </a:p>
          <a:p>
            <a:pPr lvl="1"/>
            <a:r>
              <a:rPr lang="en-US" sz="1500" dirty="0"/>
              <a:t>This causes WAW hazard.</a:t>
            </a:r>
          </a:p>
          <a:p>
            <a:r>
              <a:rPr lang="en-US" sz="1800" b="1" dirty="0"/>
              <a:t>Solution:  Register Renaming</a:t>
            </a:r>
          </a:p>
          <a:p>
            <a:pPr lvl="1"/>
            <a:r>
              <a:rPr lang="en-US" sz="1500" dirty="0"/>
              <a:t>Store the result of I2 in a temporary register T2</a:t>
            </a:r>
          </a:p>
          <a:p>
            <a:pPr lvl="1"/>
            <a:r>
              <a:rPr lang="en-US" sz="1500" dirty="0"/>
              <a:t>Store the result of I1 in another temporary register T1.</a:t>
            </a:r>
          </a:p>
          <a:p>
            <a:pPr lvl="1"/>
            <a:r>
              <a:rPr lang="en-US" sz="1500" dirty="0"/>
              <a:t>Thus, solved.</a:t>
            </a:r>
            <a:endParaRPr lang="en-US" sz="800" dirty="0"/>
          </a:p>
        </p:txBody>
      </p:sp>
      <p:sp>
        <p:nvSpPr>
          <p:cNvPr id="4" name="Date Placeholder 3"/>
          <p:cNvSpPr>
            <a:spLocks noGrp="1"/>
          </p:cNvSpPr>
          <p:nvPr>
            <p:ph type="dt" sz="half" idx="10"/>
          </p:nvPr>
        </p:nvSpPr>
        <p:spPr/>
        <p:txBody>
          <a:bodyPr/>
          <a:lstStyle/>
          <a:p>
            <a:fld id="{4EEC39A0-253D-41F0-90D5-3CFD575BA914}"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
        <p:nvSpPr>
          <p:cNvPr id="7" name="Rectangle 6">
            <a:extLst>
              <a:ext uri="{FF2B5EF4-FFF2-40B4-BE49-F238E27FC236}">
                <a16:creationId xmlns:a16="http://schemas.microsoft.com/office/drawing/2014/main" id="{99C7B22B-CC03-4D66-88FF-B03C4695C0F8}"/>
              </a:ext>
            </a:extLst>
          </p:cNvPr>
          <p:cNvSpPr/>
          <p:nvPr/>
        </p:nvSpPr>
        <p:spPr>
          <a:xfrm>
            <a:off x="5715000" y="4142223"/>
            <a:ext cx="3124200" cy="600164"/>
          </a:xfrm>
          <a:prstGeom prst="rect">
            <a:avLst/>
          </a:prstGeom>
        </p:spPr>
        <p:txBody>
          <a:bodyPr wrap="square">
            <a:spAutoFit/>
          </a:bodyPr>
          <a:lstStyle/>
          <a:p>
            <a:r>
              <a:rPr lang="en-US" sz="1100" dirty="0"/>
              <a:t>Reference: </a:t>
            </a:r>
            <a:r>
              <a:rPr lang="en-US" sz="1100" dirty="0">
                <a:hlinkClick r:id="rId2"/>
              </a:rPr>
              <a:t>https://www.youtube.com/watch?v=3NieJAgkYiw</a:t>
            </a:r>
            <a:endParaRPr lang="en-US" sz="1100" dirty="0"/>
          </a:p>
          <a:p>
            <a:endParaRPr lang="en-US" sz="1100" dirty="0"/>
          </a:p>
        </p:txBody>
      </p:sp>
      <p:pic>
        <p:nvPicPr>
          <p:cNvPr id="8" name="Picture 7">
            <a:extLst>
              <a:ext uri="{FF2B5EF4-FFF2-40B4-BE49-F238E27FC236}">
                <a16:creationId xmlns:a16="http://schemas.microsoft.com/office/drawing/2014/main" id="{1FDA1BEA-F4EC-4C13-9B4A-D02BEE3C70E2}"/>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83000"/>
                    </a14:imgEffect>
                    <a14:imgEffect>
                      <a14:brightnessContrast bright="17000"/>
                    </a14:imgEffect>
                  </a14:imgLayer>
                </a14:imgProps>
              </a:ext>
            </a:extLst>
          </a:blip>
          <a:srcRect r="75323"/>
          <a:stretch/>
        </p:blipFill>
        <p:spPr>
          <a:xfrm>
            <a:off x="5191125" y="1713193"/>
            <a:ext cx="1362075" cy="955592"/>
          </a:xfrm>
          <a:prstGeom prst="rect">
            <a:avLst/>
          </a:prstGeom>
        </p:spPr>
      </p:pic>
      <p:pic>
        <p:nvPicPr>
          <p:cNvPr id="10" name="Picture 9">
            <a:extLst>
              <a:ext uri="{FF2B5EF4-FFF2-40B4-BE49-F238E27FC236}">
                <a16:creationId xmlns:a16="http://schemas.microsoft.com/office/drawing/2014/main" id="{FC0146A6-F0DD-4479-922A-755CA0555CD8}"/>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93000"/>
                    </a14:imgEffect>
                  </a14:imgLayer>
                </a14:imgProps>
              </a:ext>
            </a:extLst>
          </a:blip>
          <a:stretch>
            <a:fillRect/>
          </a:stretch>
        </p:blipFill>
        <p:spPr>
          <a:xfrm>
            <a:off x="7639050" y="1106725"/>
            <a:ext cx="1200150" cy="2066925"/>
          </a:xfrm>
          <a:prstGeom prst="rect">
            <a:avLst/>
          </a:prstGeom>
        </p:spPr>
      </p:pic>
      <p:sp>
        <p:nvSpPr>
          <p:cNvPr id="11" name="TextBox 10">
            <a:extLst>
              <a:ext uri="{FF2B5EF4-FFF2-40B4-BE49-F238E27FC236}">
                <a16:creationId xmlns:a16="http://schemas.microsoft.com/office/drawing/2014/main" id="{B24B4E39-8619-4AB5-9939-3EE3D8741A2E}"/>
              </a:ext>
            </a:extLst>
          </p:cNvPr>
          <p:cNvSpPr txBox="1"/>
          <p:nvPr/>
        </p:nvSpPr>
        <p:spPr>
          <a:xfrm>
            <a:off x="8153400" y="1200150"/>
            <a:ext cx="346570" cy="276999"/>
          </a:xfrm>
          <a:prstGeom prst="rect">
            <a:avLst/>
          </a:prstGeom>
          <a:noFill/>
        </p:spPr>
        <p:txBody>
          <a:bodyPr wrap="none" rtlCol="0">
            <a:spAutoFit/>
          </a:bodyPr>
          <a:lstStyle/>
          <a:p>
            <a:r>
              <a:rPr lang="en-US" sz="1200" dirty="0"/>
              <a:t>R3</a:t>
            </a:r>
          </a:p>
        </p:txBody>
      </p:sp>
      <p:sp>
        <p:nvSpPr>
          <p:cNvPr id="12" name="TextBox 11">
            <a:extLst>
              <a:ext uri="{FF2B5EF4-FFF2-40B4-BE49-F238E27FC236}">
                <a16:creationId xmlns:a16="http://schemas.microsoft.com/office/drawing/2014/main" id="{F8C91D57-620E-4AF5-AF1A-3761701B278E}"/>
              </a:ext>
            </a:extLst>
          </p:cNvPr>
          <p:cNvSpPr txBox="1"/>
          <p:nvPr/>
        </p:nvSpPr>
        <p:spPr>
          <a:xfrm>
            <a:off x="8153400" y="1496823"/>
            <a:ext cx="346570" cy="276999"/>
          </a:xfrm>
          <a:prstGeom prst="rect">
            <a:avLst/>
          </a:prstGeom>
          <a:noFill/>
        </p:spPr>
        <p:txBody>
          <a:bodyPr wrap="none" rtlCol="0">
            <a:spAutoFit/>
          </a:bodyPr>
          <a:lstStyle/>
          <a:p>
            <a:r>
              <a:rPr lang="en-US" sz="1200" dirty="0"/>
              <a:t>R3</a:t>
            </a:r>
          </a:p>
        </p:txBody>
      </p:sp>
      <p:sp>
        <p:nvSpPr>
          <p:cNvPr id="13" name="TextBox 12">
            <a:extLst>
              <a:ext uri="{FF2B5EF4-FFF2-40B4-BE49-F238E27FC236}">
                <a16:creationId xmlns:a16="http://schemas.microsoft.com/office/drawing/2014/main" id="{F4784B1F-1DA0-4063-B031-AD2B0FF599DC}"/>
              </a:ext>
            </a:extLst>
          </p:cNvPr>
          <p:cNvSpPr txBox="1"/>
          <p:nvPr/>
        </p:nvSpPr>
        <p:spPr>
          <a:xfrm>
            <a:off x="7299820" y="1127491"/>
            <a:ext cx="338554" cy="646331"/>
          </a:xfrm>
          <a:prstGeom prst="rect">
            <a:avLst/>
          </a:prstGeom>
          <a:noFill/>
        </p:spPr>
        <p:txBody>
          <a:bodyPr wrap="none" rtlCol="0">
            <a:spAutoFit/>
          </a:bodyPr>
          <a:lstStyle/>
          <a:p>
            <a:r>
              <a:rPr lang="en-US" sz="1200" dirty="0"/>
              <a:t>T1</a:t>
            </a:r>
          </a:p>
          <a:p>
            <a:endParaRPr lang="en-US" sz="1200" dirty="0"/>
          </a:p>
          <a:p>
            <a:r>
              <a:rPr lang="en-US" sz="1200" dirty="0"/>
              <a:t>T2</a:t>
            </a:r>
          </a:p>
        </p:txBody>
      </p:sp>
      <p:cxnSp>
        <p:nvCxnSpPr>
          <p:cNvPr id="15" name="Straight Arrow Connector 14">
            <a:extLst>
              <a:ext uri="{FF2B5EF4-FFF2-40B4-BE49-F238E27FC236}">
                <a16:creationId xmlns:a16="http://schemas.microsoft.com/office/drawing/2014/main" id="{BB1AFC3A-D4C2-4840-A152-AADABA3FAA90}"/>
              </a:ext>
            </a:extLst>
          </p:cNvPr>
          <p:cNvCxnSpPr>
            <a:cxnSpLocks/>
          </p:cNvCxnSpPr>
          <p:nvPr/>
        </p:nvCxnSpPr>
        <p:spPr>
          <a:xfrm flipV="1">
            <a:off x="6755322" y="1395521"/>
            <a:ext cx="1245678" cy="679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C445CA3-C023-43A5-8BB5-0BA37AC8B194}"/>
              </a:ext>
            </a:extLst>
          </p:cNvPr>
          <p:cNvCxnSpPr>
            <a:cxnSpLocks/>
          </p:cNvCxnSpPr>
          <p:nvPr/>
        </p:nvCxnSpPr>
        <p:spPr>
          <a:xfrm flipV="1">
            <a:off x="6711073" y="1735147"/>
            <a:ext cx="1335673" cy="688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67ADB5E-1F92-4CD2-A2A0-0173DCE8360E}"/>
              </a:ext>
            </a:extLst>
          </p:cNvPr>
          <p:cNvSpPr txBox="1"/>
          <p:nvPr/>
        </p:nvSpPr>
        <p:spPr>
          <a:xfrm>
            <a:off x="7585064" y="817046"/>
            <a:ext cx="1422121" cy="276999"/>
          </a:xfrm>
          <a:prstGeom prst="rect">
            <a:avLst/>
          </a:prstGeom>
          <a:noFill/>
        </p:spPr>
        <p:txBody>
          <a:bodyPr wrap="none" rtlCol="0">
            <a:spAutoFit/>
          </a:bodyPr>
          <a:lstStyle/>
          <a:p>
            <a:r>
              <a:rPr lang="en-US" sz="1200" dirty="0"/>
              <a:t>Temporary registers</a:t>
            </a:r>
          </a:p>
        </p:txBody>
      </p:sp>
    </p:spTree>
    <p:extLst>
      <p:ext uri="{BB962C8B-B14F-4D97-AF65-F5344CB8AC3E}">
        <p14:creationId xmlns:p14="http://schemas.microsoft.com/office/powerpoint/2010/main" val="8691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Register Renaming</a:t>
            </a:r>
          </a:p>
        </p:txBody>
      </p:sp>
      <p:sp>
        <p:nvSpPr>
          <p:cNvPr id="3" name="Content Placeholder 2"/>
          <p:cNvSpPr>
            <a:spLocks noGrp="1"/>
          </p:cNvSpPr>
          <p:nvPr>
            <p:ph idx="1"/>
          </p:nvPr>
        </p:nvSpPr>
        <p:spPr>
          <a:xfrm>
            <a:off x="457200" y="742950"/>
            <a:ext cx="4343400" cy="3851673"/>
          </a:xfrm>
        </p:spPr>
        <p:txBody>
          <a:bodyPr>
            <a:normAutofit/>
          </a:bodyPr>
          <a:lstStyle/>
          <a:p>
            <a:r>
              <a:rPr lang="en-US" sz="1800" b="1" dirty="0"/>
              <a:t>Case of WAW</a:t>
            </a:r>
          </a:p>
          <a:p>
            <a:pPr lvl="1"/>
            <a:r>
              <a:rPr lang="en-US" sz="1400" dirty="0"/>
              <a:t>If, may be because of the operator used (here / and +), the I2  might be executed before I1. </a:t>
            </a:r>
          </a:p>
          <a:p>
            <a:pPr lvl="1"/>
            <a:r>
              <a:rPr lang="en-US" sz="1400" dirty="0"/>
              <a:t>Here, first R1 is written with I2, and then again R3 is written with I1. But, new value of R1 is actually taken here. This was not supposed to be.</a:t>
            </a:r>
          </a:p>
          <a:p>
            <a:pPr lvl="1"/>
            <a:r>
              <a:rPr lang="en-US" sz="1400" dirty="0"/>
              <a:t>This causes WAW hazard.</a:t>
            </a:r>
          </a:p>
          <a:p>
            <a:r>
              <a:rPr lang="en-US" sz="1800" b="1" dirty="0"/>
              <a:t>Solution:  Register Renaming</a:t>
            </a:r>
          </a:p>
          <a:p>
            <a:pPr lvl="1"/>
            <a:r>
              <a:rPr lang="en-US" sz="1400" dirty="0"/>
              <a:t>Store the result of I2 in a temporary register T4</a:t>
            </a:r>
          </a:p>
          <a:p>
            <a:pPr lvl="1"/>
            <a:r>
              <a:rPr lang="en-US" sz="1400" dirty="0"/>
              <a:t>Store the result of I1 in another temporary register T3.</a:t>
            </a:r>
          </a:p>
          <a:p>
            <a:pPr lvl="1"/>
            <a:r>
              <a:rPr lang="en-US" sz="1400" dirty="0"/>
              <a:t>Thus, solved.</a:t>
            </a:r>
            <a:endParaRPr lang="en-US" sz="700" dirty="0"/>
          </a:p>
        </p:txBody>
      </p:sp>
      <p:sp>
        <p:nvSpPr>
          <p:cNvPr id="4" name="Date Placeholder 3"/>
          <p:cNvSpPr>
            <a:spLocks noGrp="1"/>
          </p:cNvSpPr>
          <p:nvPr>
            <p:ph type="dt" sz="half" idx="10"/>
          </p:nvPr>
        </p:nvSpPr>
        <p:spPr/>
        <p:txBody>
          <a:bodyPr/>
          <a:lstStyle/>
          <a:p>
            <a:fld id="{91940522-ACF2-45D4-937C-D1FE0ACC796A}"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
        <p:nvSpPr>
          <p:cNvPr id="7" name="Rectangle 6">
            <a:extLst>
              <a:ext uri="{FF2B5EF4-FFF2-40B4-BE49-F238E27FC236}">
                <a16:creationId xmlns:a16="http://schemas.microsoft.com/office/drawing/2014/main" id="{99C7B22B-CC03-4D66-88FF-B03C4695C0F8}"/>
              </a:ext>
            </a:extLst>
          </p:cNvPr>
          <p:cNvSpPr/>
          <p:nvPr/>
        </p:nvSpPr>
        <p:spPr>
          <a:xfrm>
            <a:off x="5715000" y="4142223"/>
            <a:ext cx="3124200" cy="600164"/>
          </a:xfrm>
          <a:prstGeom prst="rect">
            <a:avLst/>
          </a:prstGeom>
        </p:spPr>
        <p:txBody>
          <a:bodyPr wrap="square">
            <a:spAutoFit/>
          </a:bodyPr>
          <a:lstStyle/>
          <a:p>
            <a:r>
              <a:rPr lang="en-US" sz="1100" dirty="0"/>
              <a:t>Reference: </a:t>
            </a:r>
            <a:r>
              <a:rPr lang="en-US" sz="1100" dirty="0">
                <a:hlinkClick r:id="rId2"/>
              </a:rPr>
              <a:t>https://www.youtube.com/watch?v=3NieJAgkYiw</a:t>
            </a:r>
            <a:endParaRPr lang="en-US" sz="1100" dirty="0"/>
          </a:p>
          <a:p>
            <a:endParaRPr lang="en-US" sz="1100" dirty="0"/>
          </a:p>
        </p:txBody>
      </p:sp>
      <p:pic>
        <p:nvPicPr>
          <p:cNvPr id="10" name="Picture 9">
            <a:extLst>
              <a:ext uri="{FF2B5EF4-FFF2-40B4-BE49-F238E27FC236}">
                <a16:creationId xmlns:a16="http://schemas.microsoft.com/office/drawing/2014/main" id="{FC0146A6-F0DD-4479-922A-755CA0555CD8}"/>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100000"/>
                    </a14:imgEffect>
                  </a14:imgLayer>
                </a14:imgProps>
              </a:ext>
            </a:extLst>
          </a:blip>
          <a:srcRect b="988"/>
          <a:stretch/>
        </p:blipFill>
        <p:spPr>
          <a:xfrm>
            <a:off x="7639050" y="1106725"/>
            <a:ext cx="1200150" cy="2046519"/>
          </a:xfrm>
          <a:prstGeom prst="rect">
            <a:avLst/>
          </a:prstGeom>
        </p:spPr>
      </p:pic>
      <p:sp>
        <p:nvSpPr>
          <p:cNvPr id="11" name="TextBox 10">
            <a:extLst>
              <a:ext uri="{FF2B5EF4-FFF2-40B4-BE49-F238E27FC236}">
                <a16:creationId xmlns:a16="http://schemas.microsoft.com/office/drawing/2014/main" id="{B24B4E39-8619-4AB5-9939-3EE3D8741A2E}"/>
              </a:ext>
            </a:extLst>
          </p:cNvPr>
          <p:cNvSpPr txBox="1"/>
          <p:nvPr/>
        </p:nvSpPr>
        <p:spPr>
          <a:xfrm>
            <a:off x="8157158" y="1806025"/>
            <a:ext cx="346570" cy="276999"/>
          </a:xfrm>
          <a:prstGeom prst="rect">
            <a:avLst/>
          </a:prstGeom>
          <a:noFill/>
        </p:spPr>
        <p:txBody>
          <a:bodyPr wrap="none" rtlCol="0">
            <a:spAutoFit/>
          </a:bodyPr>
          <a:lstStyle/>
          <a:p>
            <a:r>
              <a:rPr lang="en-US" sz="1200" dirty="0"/>
              <a:t>R3</a:t>
            </a:r>
          </a:p>
        </p:txBody>
      </p:sp>
      <p:sp>
        <p:nvSpPr>
          <p:cNvPr id="12" name="TextBox 11">
            <a:extLst>
              <a:ext uri="{FF2B5EF4-FFF2-40B4-BE49-F238E27FC236}">
                <a16:creationId xmlns:a16="http://schemas.microsoft.com/office/drawing/2014/main" id="{F8C91D57-620E-4AF5-AF1A-3761701B278E}"/>
              </a:ext>
            </a:extLst>
          </p:cNvPr>
          <p:cNvSpPr txBox="1"/>
          <p:nvPr/>
        </p:nvSpPr>
        <p:spPr>
          <a:xfrm>
            <a:off x="8157158" y="2102698"/>
            <a:ext cx="346570" cy="276999"/>
          </a:xfrm>
          <a:prstGeom prst="rect">
            <a:avLst/>
          </a:prstGeom>
          <a:noFill/>
        </p:spPr>
        <p:txBody>
          <a:bodyPr wrap="none" rtlCol="0">
            <a:spAutoFit/>
          </a:bodyPr>
          <a:lstStyle/>
          <a:p>
            <a:r>
              <a:rPr lang="en-US" sz="1200" dirty="0"/>
              <a:t>R1</a:t>
            </a:r>
          </a:p>
        </p:txBody>
      </p:sp>
      <p:sp>
        <p:nvSpPr>
          <p:cNvPr id="13" name="TextBox 12">
            <a:extLst>
              <a:ext uri="{FF2B5EF4-FFF2-40B4-BE49-F238E27FC236}">
                <a16:creationId xmlns:a16="http://schemas.microsoft.com/office/drawing/2014/main" id="{F4784B1F-1DA0-4063-B031-AD2B0FF599DC}"/>
              </a:ext>
            </a:extLst>
          </p:cNvPr>
          <p:cNvSpPr txBox="1"/>
          <p:nvPr/>
        </p:nvSpPr>
        <p:spPr>
          <a:xfrm>
            <a:off x="7309386" y="1859527"/>
            <a:ext cx="338554" cy="646331"/>
          </a:xfrm>
          <a:prstGeom prst="rect">
            <a:avLst/>
          </a:prstGeom>
          <a:noFill/>
        </p:spPr>
        <p:txBody>
          <a:bodyPr wrap="none" rtlCol="0">
            <a:spAutoFit/>
          </a:bodyPr>
          <a:lstStyle/>
          <a:p>
            <a:r>
              <a:rPr lang="en-US" sz="1200" dirty="0"/>
              <a:t>T3</a:t>
            </a:r>
          </a:p>
          <a:p>
            <a:endParaRPr lang="en-US" sz="1200" dirty="0"/>
          </a:p>
          <a:p>
            <a:r>
              <a:rPr lang="en-US" sz="1200" dirty="0"/>
              <a:t>T4</a:t>
            </a:r>
          </a:p>
        </p:txBody>
      </p:sp>
      <p:cxnSp>
        <p:nvCxnSpPr>
          <p:cNvPr id="15" name="Straight Arrow Connector 14">
            <a:extLst>
              <a:ext uri="{FF2B5EF4-FFF2-40B4-BE49-F238E27FC236}">
                <a16:creationId xmlns:a16="http://schemas.microsoft.com/office/drawing/2014/main" id="{BB1AFC3A-D4C2-4840-A152-AADABA3FAA90}"/>
              </a:ext>
            </a:extLst>
          </p:cNvPr>
          <p:cNvCxnSpPr>
            <a:cxnSpLocks/>
          </p:cNvCxnSpPr>
          <p:nvPr/>
        </p:nvCxnSpPr>
        <p:spPr>
          <a:xfrm flipV="1">
            <a:off x="6751563" y="1944524"/>
            <a:ext cx="1249437" cy="744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C445CA3-C023-43A5-8BB5-0BA37AC8B194}"/>
              </a:ext>
            </a:extLst>
          </p:cNvPr>
          <p:cNvCxnSpPr>
            <a:cxnSpLocks/>
          </p:cNvCxnSpPr>
          <p:nvPr/>
        </p:nvCxnSpPr>
        <p:spPr>
          <a:xfrm flipV="1">
            <a:off x="6521811" y="2309795"/>
            <a:ext cx="1479189" cy="7593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945FA7B8-E0B4-40A4-AFBF-934029DF86DE}"/>
              </a:ext>
            </a:extLst>
          </p:cNvPr>
          <p:cNvPicPr>
            <a:picLocks noChangeAspect="1"/>
          </p:cNvPicPr>
          <p:nvPr/>
        </p:nvPicPr>
        <p:blipFill rotWithShape="1">
          <a:blip r:embed="rId5">
            <a:extLst>
              <a:ext uri="{BEBA8EAE-BF5A-486C-A8C5-ECC9F3942E4B}">
                <a14:imgProps xmlns:a14="http://schemas.microsoft.com/office/drawing/2010/main">
                  <a14:imgLayer r:embed="rId6">
                    <a14:imgEffect>
                      <a14:sharpenSoften amount="100000"/>
                    </a14:imgEffect>
                    <a14:imgEffect>
                      <a14:brightnessContrast bright="10000"/>
                    </a14:imgEffect>
                  </a14:imgLayer>
                </a14:imgProps>
              </a:ext>
            </a:extLst>
          </a:blip>
          <a:srcRect l="71960" t="61" r="3363" b="-61"/>
          <a:stretch/>
        </p:blipFill>
        <p:spPr>
          <a:xfrm>
            <a:off x="5411465" y="2309795"/>
            <a:ext cx="1362075" cy="955592"/>
          </a:xfrm>
          <a:prstGeom prst="rect">
            <a:avLst/>
          </a:prstGeom>
        </p:spPr>
      </p:pic>
      <p:sp>
        <p:nvSpPr>
          <p:cNvPr id="23" name="TextBox 22">
            <a:extLst>
              <a:ext uri="{FF2B5EF4-FFF2-40B4-BE49-F238E27FC236}">
                <a16:creationId xmlns:a16="http://schemas.microsoft.com/office/drawing/2014/main" id="{480718B4-CB2F-434D-AD98-59FC12B160CB}"/>
              </a:ext>
            </a:extLst>
          </p:cNvPr>
          <p:cNvSpPr txBox="1"/>
          <p:nvPr/>
        </p:nvSpPr>
        <p:spPr>
          <a:xfrm>
            <a:off x="7585064" y="817046"/>
            <a:ext cx="1422121" cy="276999"/>
          </a:xfrm>
          <a:prstGeom prst="rect">
            <a:avLst/>
          </a:prstGeom>
          <a:noFill/>
        </p:spPr>
        <p:txBody>
          <a:bodyPr wrap="none" rtlCol="0">
            <a:spAutoFit/>
          </a:bodyPr>
          <a:lstStyle/>
          <a:p>
            <a:r>
              <a:rPr lang="en-US" sz="1200" dirty="0"/>
              <a:t>Temporary registers</a:t>
            </a:r>
          </a:p>
        </p:txBody>
      </p:sp>
    </p:spTree>
    <p:extLst>
      <p:ext uri="{BB962C8B-B14F-4D97-AF65-F5344CB8AC3E}">
        <p14:creationId xmlns:p14="http://schemas.microsoft.com/office/powerpoint/2010/main" val="1281350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4495800" cy="536971"/>
          </a:xfrm>
        </p:spPr>
        <p:txBody>
          <a:bodyPr>
            <a:noAutofit/>
          </a:bodyPr>
          <a:lstStyle/>
          <a:p>
            <a:pPr algn="l">
              <a:tabLst>
                <a:tab pos="463550" algn="l"/>
              </a:tabLst>
            </a:pPr>
            <a:r>
              <a:rPr lang="en-US" sz="2800" b="1" dirty="0">
                <a:solidFill>
                  <a:srgbClr val="FF0000"/>
                </a:solidFill>
              </a:rPr>
              <a:t>9.4 Register Organization in RISC CPU</a:t>
            </a:r>
            <a:endParaRPr lang="en-US" sz="2800" b="1" dirty="0">
              <a:solidFill>
                <a:srgbClr val="00B050"/>
              </a:solidFill>
            </a:endParaRPr>
          </a:p>
        </p:txBody>
      </p:sp>
      <p:sp>
        <p:nvSpPr>
          <p:cNvPr id="3" name="Content Placeholder 2"/>
          <p:cNvSpPr>
            <a:spLocks noGrp="1"/>
          </p:cNvSpPr>
          <p:nvPr>
            <p:ph idx="1"/>
          </p:nvPr>
        </p:nvSpPr>
        <p:spPr>
          <a:xfrm>
            <a:off x="457200" y="895350"/>
            <a:ext cx="4343400" cy="3965377"/>
          </a:xfrm>
        </p:spPr>
        <p:txBody>
          <a:bodyPr>
            <a:normAutofit fontScale="92500" lnSpcReduction="20000"/>
          </a:bodyPr>
          <a:lstStyle/>
          <a:p>
            <a:pPr fontAlgn="base"/>
            <a:r>
              <a:rPr lang="en-US" sz="1600" dirty="0"/>
              <a:t>In this organization, the RISC CPU contains 74 registers. </a:t>
            </a:r>
          </a:p>
          <a:p>
            <a:pPr lvl="1" fontAlgn="base"/>
            <a:r>
              <a:rPr lang="en-US" sz="1500" dirty="0"/>
              <a:t>Registers R0 to R9 are </a:t>
            </a:r>
            <a:r>
              <a:rPr lang="en-US" sz="1500" b="1" dirty="0"/>
              <a:t>global</a:t>
            </a:r>
            <a:r>
              <a:rPr lang="en-US" sz="1500" dirty="0"/>
              <a:t> registers that contain parameters which are common to all procedures.</a:t>
            </a:r>
          </a:p>
          <a:p>
            <a:pPr lvl="1" fontAlgn="base"/>
            <a:r>
              <a:rPr lang="en-US" sz="1500" dirty="0"/>
              <a:t>The remaining registers(R10 to R73) are divided into four windows to contain procedures A, B, C and D.</a:t>
            </a:r>
          </a:p>
          <a:p>
            <a:pPr fontAlgn="base"/>
            <a:r>
              <a:rPr lang="en-US" sz="1600" dirty="0"/>
              <a:t>Each window contains 10 </a:t>
            </a:r>
            <a:r>
              <a:rPr lang="en-US" sz="1600" b="1" dirty="0"/>
              <a:t>local</a:t>
            </a:r>
            <a:r>
              <a:rPr lang="en-US" sz="1600" dirty="0"/>
              <a:t> registers and two sets of 6 registers </a:t>
            </a:r>
            <a:r>
              <a:rPr lang="en-US" sz="1600" b="1" dirty="0"/>
              <a:t>common</a:t>
            </a:r>
            <a:r>
              <a:rPr lang="en-US" sz="1600" dirty="0"/>
              <a:t> to consecutive windows. </a:t>
            </a:r>
          </a:p>
          <a:p>
            <a:pPr fontAlgn="base"/>
            <a:r>
              <a:rPr lang="en-US" sz="1600" dirty="0"/>
              <a:t>Local registers contain local variables and common overlapped registers help to pass parameters between adjacent procedures without actual movement of data.</a:t>
            </a:r>
          </a:p>
          <a:p>
            <a:pPr fontAlgn="base"/>
            <a:r>
              <a:rPr lang="en-US" sz="1600" dirty="0"/>
              <a:t>One of the register window is activated at a time. The high registers of the calling procedure overlap the low registers of the called procedures, therefore parameters are passed from calling to called procedure easily.</a:t>
            </a:r>
          </a:p>
          <a:p>
            <a:pPr fontAlgn="base"/>
            <a:endParaRPr lang="en-US" sz="1600" dirty="0"/>
          </a:p>
        </p:txBody>
      </p:sp>
      <p:sp>
        <p:nvSpPr>
          <p:cNvPr id="4" name="Date Placeholder 3"/>
          <p:cNvSpPr>
            <a:spLocks noGrp="1"/>
          </p:cNvSpPr>
          <p:nvPr>
            <p:ph type="dt" sz="half" idx="10"/>
          </p:nvPr>
        </p:nvSpPr>
        <p:spPr/>
        <p:txBody>
          <a:bodyPr/>
          <a:lstStyle/>
          <a:p>
            <a:fld id="{3782242B-4141-4613-9ADF-4AED569E5BF3}"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1026" name="Picture 2" descr="Lightbox">
            <a:extLst>
              <a:ext uri="{FF2B5EF4-FFF2-40B4-BE49-F238E27FC236}">
                <a16:creationId xmlns:a16="http://schemas.microsoft.com/office/drawing/2014/main" id="{67F679A9-E9DB-4706-A47D-DDF092C31C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2079" y="114719"/>
            <a:ext cx="3414721" cy="443823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C21E9D0E-BED8-4B67-A0EC-7349E6E91843}"/>
              </a:ext>
            </a:extLst>
          </p:cNvPr>
          <p:cNvSpPr/>
          <p:nvPr/>
        </p:nvSpPr>
        <p:spPr>
          <a:xfrm>
            <a:off x="5105400" y="4552950"/>
            <a:ext cx="3733800" cy="307777"/>
          </a:xfrm>
          <a:prstGeom prst="rect">
            <a:avLst/>
          </a:prstGeom>
        </p:spPr>
        <p:txBody>
          <a:bodyPr wrap="square">
            <a:spAutoFit/>
          </a:bodyPr>
          <a:lstStyle/>
          <a:p>
            <a:r>
              <a:rPr lang="en-US" sz="1400" b="1" i="1" dirty="0">
                <a:solidFill>
                  <a:srgbClr val="273239"/>
                </a:solidFill>
                <a:latin typeface="urw-din"/>
              </a:rPr>
              <a:t>Figure: Overlapped register window of RISC CPU</a:t>
            </a:r>
            <a:endParaRPr lang="en-US" sz="1400" dirty="0"/>
          </a:p>
        </p:txBody>
      </p:sp>
      <p:sp>
        <p:nvSpPr>
          <p:cNvPr id="9" name="Rectangle 8">
            <a:extLst>
              <a:ext uri="{FF2B5EF4-FFF2-40B4-BE49-F238E27FC236}">
                <a16:creationId xmlns:a16="http://schemas.microsoft.com/office/drawing/2014/main" id="{B1D72A80-0B95-43D1-85E5-625DF0596A31}"/>
              </a:ext>
            </a:extLst>
          </p:cNvPr>
          <p:cNvSpPr/>
          <p:nvPr/>
        </p:nvSpPr>
        <p:spPr>
          <a:xfrm>
            <a:off x="5304163" y="1047749"/>
            <a:ext cx="990600" cy="410807"/>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C8E169-E1F8-4A07-A631-965BCA538159}"/>
              </a:ext>
            </a:extLst>
          </p:cNvPr>
          <p:cNvSpPr/>
          <p:nvPr/>
        </p:nvSpPr>
        <p:spPr>
          <a:xfrm>
            <a:off x="5913763" y="1985496"/>
            <a:ext cx="990600" cy="457200"/>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B5AE5AF-551B-4C31-B8AD-586DCB9337DE}"/>
              </a:ext>
            </a:extLst>
          </p:cNvPr>
          <p:cNvSpPr/>
          <p:nvPr/>
        </p:nvSpPr>
        <p:spPr>
          <a:xfrm>
            <a:off x="6518600" y="2859832"/>
            <a:ext cx="990600" cy="457200"/>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E32246-7AB0-4769-859A-C5EA996A5E14}"/>
              </a:ext>
            </a:extLst>
          </p:cNvPr>
          <p:cNvSpPr/>
          <p:nvPr/>
        </p:nvSpPr>
        <p:spPr>
          <a:xfrm>
            <a:off x="7023416" y="3686982"/>
            <a:ext cx="485784" cy="457200"/>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01F5042-EECD-48BF-8C5F-596F1FD863E8}"/>
              </a:ext>
            </a:extLst>
          </p:cNvPr>
          <p:cNvSpPr/>
          <p:nvPr/>
        </p:nvSpPr>
        <p:spPr>
          <a:xfrm>
            <a:off x="5304163" y="84664"/>
            <a:ext cx="485784" cy="457200"/>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Brace 17">
            <a:extLst>
              <a:ext uri="{FF2B5EF4-FFF2-40B4-BE49-F238E27FC236}">
                <a16:creationId xmlns:a16="http://schemas.microsoft.com/office/drawing/2014/main" id="{37847FE8-6E38-4CBC-AF48-8B468960DD3E}"/>
              </a:ext>
            </a:extLst>
          </p:cNvPr>
          <p:cNvSpPr/>
          <p:nvPr/>
        </p:nvSpPr>
        <p:spPr>
          <a:xfrm>
            <a:off x="7533263" y="169665"/>
            <a:ext cx="228599" cy="128889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94C8D771-D4D1-44B8-B34C-45BF228321EA}"/>
              </a:ext>
            </a:extLst>
          </p:cNvPr>
          <p:cNvSpPr/>
          <p:nvPr/>
        </p:nvSpPr>
        <p:spPr>
          <a:xfrm>
            <a:off x="7955764" y="1047749"/>
            <a:ext cx="187100" cy="139494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ight Brace 21">
            <a:extLst>
              <a:ext uri="{FF2B5EF4-FFF2-40B4-BE49-F238E27FC236}">
                <a16:creationId xmlns:a16="http://schemas.microsoft.com/office/drawing/2014/main" id="{13D2C871-55F7-4492-AC34-97D232599F9E}"/>
              </a:ext>
            </a:extLst>
          </p:cNvPr>
          <p:cNvSpPr/>
          <p:nvPr/>
        </p:nvSpPr>
        <p:spPr>
          <a:xfrm>
            <a:off x="8295128" y="1983594"/>
            <a:ext cx="228599" cy="128889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Right Brace 22">
            <a:extLst>
              <a:ext uri="{FF2B5EF4-FFF2-40B4-BE49-F238E27FC236}">
                <a16:creationId xmlns:a16="http://schemas.microsoft.com/office/drawing/2014/main" id="{5366B618-41B3-47A5-8F4A-D1424BD8AE71}"/>
              </a:ext>
            </a:extLst>
          </p:cNvPr>
          <p:cNvSpPr/>
          <p:nvPr/>
        </p:nvSpPr>
        <p:spPr>
          <a:xfrm>
            <a:off x="8561692" y="2859832"/>
            <a:ext cx="194030" cy="138831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367F9127-C942-4575-8131-33511E013863}"/>
              </a:ext>
            </a:extLst>
          </p:cNvPr>
          <p:cNvSpPr txBox="1"/>
          <p:nvPr/>
        </p:nvSpPr>
        <p:spPr>
          <a:xfrm rot="16200000">
            <a:off x="8399753" y="3486773"/>
            <a:ext cx="777777" cy="261610"/>
          </a:xfrm>
          <a:prstGeom prst="rect">
            <a:avLst/>
          </a:prstGeom>
          <a:noFill/>
        </p:spPr>
        <p:txBody>
          <a:bodyPr wrap="none" rtlCol="0">
            <a:spAutoFit/>
          </a:bodyPr>
          <a:lstStyle/>
          <a:p>
            <a:r>
              <a:rPr lang="en-US" sz="1050" dirty="0"/>
              <a:t>Window A</a:t>
            </a:r>
          </a:p>
        </p:txBody>
      </p:sp>
      <p:sp>
        <p:nvSpPr>
          <p:cNvPr id="25" name="TextBox 24">
            <a:extLst>
              <a:ext uri="{FF2B5EF4-FFF2-40B4-BE49-F238E27FC236}">
                <a16:creationId xmlns:a16="http://schemas.microsoft.com/office/drawing/2014/main" id="{32A48DF7-B3A8-4BFF-B048-C700267EA2FF}"/>
              </a:ext>
            </a:extLst>
          </p:cNvPr>
          <p:cNvSpPr txBox="1"/>
          <p:nvPr/>
        </p:nvSpPr>
        <p:spPr>
          <a:xfrm rot="16200000">
            <a:off x="8177415" y="2476026"/>
            <a:ext cx="747320" cy="253916"/>
          </a:xfrm>
          <a:prstGeom prst="rect">
            <a:avLst/>
          </a:prstGeom>
          <a:noFill/>
        </p:spPr>
        <p:txBody>
          <a:bodyPr wrap="none" rtlCol="0">
            <a:spAutoFit/>
          </a:bodyPr>
          <a:lstStyle/>
          <a:p>
            <a:r>
              <a:rPr lang="en-US" sz="1050" dirty="0"/>
              <a:t>Window B</a:t>
            </a:r>
          </a:p>
        </p:txBody>
      </p:sp>
      <p:sp>
        <p:nvSpPr>
          <p:cNvPr id="26" name="TextBox 25">
            <a:extLst>
              <a:ext uri="{FF2B5EF4-FFF2-40B4-BE49-F238E27FC236}">
                <a16:creationId xmlns:a16="http://schemas.microsoft.com/office/drawing/2014/main" id="{4A1E6EA6-95A5-4648-9EBE-B53EB2860672}"/>
              </a:ext>
            </a:extLst>
          </p:cNvPr>
          <p:cNvSpPr txBox="1"/>
          <p:nvPr/>
        </p:nvSpPr>
        <p:spPr>
          <a:xfrm rot="16200000">
            <a:off x="7860483" y="1486521"/>
            <a:ext cx="745717" cy="253916"/>
          </a:xfrm>
          <a:prstGeom prst="rect">
            <a:avLst/>
          </a:prstGeom>
          <a:noFill/>
        </p:spPr>
        <p:txBody>
          <a:bodyPr wrap="none" rtlCol="0">
            <a:spAutoFit/>
          </a:bodyPr>
          <a:lstStyle/>
          <a:p>
            <a:r>
              <a:rPr lang="en-US" sz="1050" dirty="0"/>
              <a:t>Window C</a:t>
            </a:r>
          </a:p>
        </p:txBody>
      </p:sp>
      <p:sp>
        <p:nvSpPr>
          <p:cNvPr id="27" name="TextBox 26">
            <a:extLst>
              <a:ext uri="{FF2B5EF4-FFF2-40B4-BE49-F238E27FC236}">
                <a16:creationId xmlns:a16="http://schemas.microsoft.com/office/drawing/2014/main" id="{6788DB52-2332-4652-B152-3A05FC55511A}"/>
              </a:ext>
            </a:extLst>
          </p:cNvPr>
          <p:cNvSpPr txBox="1"/>
          <p:nvPr/>
        </p:nvSpPr>
        <p:spPr>
          <a:xfrm rot="16200000">
            <a:off x="7468313" y="575194"/>
            <a:ext cx="756938" cy="253916"/>
          </a:xfrm>
          <a:prstGeom prst="rect">
            <a:avLst/>
          </a:prstGeom>
          <a:noFill/>
        </p:spPr>
        <p:txBody>
          <a:bodyPr wrap="none" rtlCol="0">
            <a:spAutoFit/>
          </a:bodyPr>
          <a:lstStyle/>
          <a:p>
            <a:r>
              <a:rPr lang="en-US" sz="1050" dirty="0"/>
              <a:t>Window D</a:t>
            </a:r>
          </a:p>
        </p:txBody>
      </p:sp>
    </p:spTree>
    <p:extLst>
      <p:ext uri="{BB962C8B-B14F-4D97-AF65-F5344CB8AC3E}">
        <p14:creationId xmlns:p14="http://schemas.microsoft.com/office/powerpoint/2010/main" val="463626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4495800" cy="536971"/>
          </a:xfrm>
        </p:spPr>
        <p:txBody>
          <a:bodyPr>
            <a:noAutofit/>
          </a:bodyPr>
          <a:lstStyle/>
          <a:p>
            <a:pPr algn="l">
              <a:tabLst>
                <a:tab pos="463550" algn="l"/>
              </a:tabLst>
            </a:pPr>
            <a:r>
              <a:rPr lang="en-US" sz="2800" b="1" dirty="0">
                <a:solidFill>
                  <a:srgbClr val="FF0000"/>
                </a:solidFill>
              </a:rPr>
              <a:t>9.4 Register Organization in RISC CPU (Contd.)</a:t>
            </a:r>
            <a:endParaRPr lang="en-US" sz="2800" b="1" dirty="0">
              <a:solidFill>
                <a:srgbClr val="00B050"/>
              </a:solidFill>
            </a:endParaRPr>
          </a:p>
        </p:txBody>
      </p:sp>
      <p:sp>
        <p:nvSpPr>
          <p:cNvPr id="3" name="Content Placeholder 2"/>
          <p:cNvSpPr>
            <a:spLocks noGrp="1"/>
          </p:cNvSpPr>
          <p:nvPr>
            <p:ph idx="1"/>
          </p:nvPr>
        </p:nvSpPr>
        <p:spPr>
          <a:xfrm>
            <a:off x="457200" y="1047750"/>
            <a:ext cx="4114800" cy="3623073"/>
          </a:xfrm>
        </p:spPr>
        <p:txBody>
          <a:bodyPr>
            <a:normAutofit/>
          </a:bodyPr>
          <a:lstStyle/>
          <a:p>
            <a:pPr fontAlgn="base"/>
            <a:r>
              <a:rPr lang="en-US" sz="1600" dirty="0"/>
              <a:t>The organization of register windows has the relationship as</a:t>
            </a:r>
          </a:p>
          <a:p>
            <a:pPr lvl="1" fontAlgn="base"/>
            <a:r>
              <a:rPr lang="en-US" sz="1050" dirty="0"/>
              <a:t>Number of global registers = G</a:t>
            </a:r>
          </a:p>
          <a:p>
            <a:pPr lvl="1" fontAlgn="base"/>
            <a:r>
              <a:rPr lang="en-US" sz="1050" dirty="0"/>
              <a:t>Number of local registers present in each window = L</a:t>
            </a:r>
          </a:p>
          <a:p>
            <a:pPr lvl="1" fontAlgn="base"/>
            <a:r>
              <a:rPr lang="en-US" sz="1050" dirty="0"/>
              <a:t>Number of registers common to two adjacent windows = C</a:t>
            </a:r>
          </a:p>
          <a:p>
            <a:pPr lvl="1" fontAlgn="base"/>
            <a:r>
              <a:rPr lang="en-US" sz="1050" dirty="0"/>
              <a:t>Number of windows  = W</a:t>
            </a:r>
          </a:p>
          <a:p>
            <a:pPr fontAlgn="base"/>
            <a:r>
              <a:rPr lang="en-US" sz="1600" dirty="0"/>
              <a:t>Then the number of registers available for each window is calculated by :</a:t>
            </a:r>
          </a:p>
          <a:p>
            <a:pPr lvl="1" fontAlgn="base"/>
            <a:r>
              <a:rPr lang="en-US" sz="1050" dirty="0"/>
              <a:t>Window size (S)= L+2C</a:t>
            </a:r>
          </a:p>
          <a:p>
            <a:pPr lvl="1" fontAlgn="base"/>
            <a:r>
              <a:rPr lang="en-US" sz="1050" dirty="0"/>
              <a:t>The total number of registers required in the processor is</a:t>
            </a:r>
          </a:p>
          <a:p>
            <a:pPr lvl="1"/>
            <a:r>
              <a:rPr lang="en-US" sz="1050" dirty="0"/>
              <a:t>Register File = (L+C)W + G</a:t>
            </a:r>
            <a:endParaRPr lang="en-US" sz="1600" dirty="0"/>
          </a:p>
          <a:p>
            <a:pPr indent="-285750"/>
            <a:endParaRPr lang="en-US" sz="1400" b="1" dirty="0"/>
          </a:p>
          <a:p>
            <a:pPr indent="-285750"/>
            <a:r>
              <a:rPr lang="en-US" sz="1400" b="1" dirty="0"/>
              <a:t>Here:</a:t>
            </a:r>
            <a:endParaRPr lang="en-US" sz="1400" dirty="0"/>
          </a:p>
          <a:p>
            <a:pPr lvl="1" fontAlgn="base"/>
            <a:r>
              <a:rPr lang="en-US" sz="1050" dirty="0"/>
              <a:t>In the above figure we have: G= 10, L= 10, C= 6, w= 4, then</a:t>
            </a:r>
          </a:p>
          <a:p>
            <a:pPr lvl="1" fontAlgn="base"/>
            <a:r>
              <a:rPr lang="en-US" sz="1050" dirty="0"/>
              <a:t>the window size = 10+2×6 = 22 </a:t>
            </a:r>
          </a:p>
          <a:p>
            <a:pPr lvl="1" fontAlgn="base"/>
            <a:r>
              <a:rPr lang="en-US" sz="1050" dirty="0"/>
              <a:t>register file size = (10+6)×4 + 10 = 74</a:t>
            </a:r>
          </a:p>
          <a:p>
            <a:endParaRPr lang="en-US" sz="1600" dirty="0"/>
          </a:p>
        </p:txBody>
      </p:sp>
      <p:sp>
        <p:nvSpPr>
          <p:cNvPr id="4" name="Date Placeholder 3"/>
          <p:cNvSpPr>
            <a:spLocks noGrp="1"/>
          </p:cNvSpPr>
          <p:nvPr>
            <p:ph type="dt" sz="half" idx="10"/>
          </p:nvPr>
        </p:nvSpPr>
        <p:spPr/>
        <p:txBody>
          <a:bodyPr/>
          <a:lstStyle/>
          <a:p>
            <a:fld id="{C7B0119F-2D6C-4510-82A2-6663D599021D}"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8" name="Picture 2" descr="Lightbox">
            <a:extLst>
              <a:ext uri="{FF2B5EF4-FFF2-40B4-BE49-F238E27FC236}">
                <a16:creationId xmlns:a16="http://schemas.microsoft.com/office/drawing/2014/main" id="{E9095CC9-CFF0-4BA0-AB41-AE0902412F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2079" y="329032"/>
            <a:ext cx="3414721" cy="443823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6B26F84-DEB8-4A68-A0B8-3891202237A7}"/>
              </a:ext>
            </a:extLst>
          </p:cNvPr>
          <p:cNvSpPr/>
          <p:nvPr/>
        </p:nvSpPr>
        <p:spPr>
          <a:xfrm>
            <a:off x="5304163" y="1262062"/>
            <a:ext cx="990600" cy="410807"/>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E9105DF-85BD-4DCD-965C-23C1C921F0E5}"/>
              </a:ext>
            </a:extLst>
          </p:cNvPr>
          <p:cNvSpPr/>
          <p:nvPr/>
        </p:nvSpPr>
        <p:spPr>
          <a:xfrm>
            <a:off x="5913763" y="2199809"/>
            <a:ext cx="990600" cy="457200"/>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5F2B4C0-D3BB-4C00-8FC0-7C0DAC3F3B72}"/>
              </a:ext>
            </a:extLst>
          </p:cNvPr>
          <p:cNvSpPr/>
          <p:nvPr/>
        </p:nvSpPr>
        <p:spPr>
          <a:xfrm>
            <a:off x="6518600" y="3074145"/>
            <a:ext cx="990600" cy="457200"/>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452AC2F-C298-4BF6-A401-949E5300CAE6}"/>
              </a:ext>
            </a:extLst>
          </p:cNvPr>
          <p:cNvSpPr/>
          <p:nvPr/>
        </p:nvSpPr>
        <p:spPr>
          <a:xfrm>
            <a:off x="7023416" y="3901295"/>
            <a:ext cx="485784" cy="457200"/>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40977A-43DF-49FB-8226-37C1B66160C8}"/>
              </a:ext>
            </a:extLst>
          </p:cNvPr>
          <p:cNvSpPr/>
          <p:nvPr/>
        </p:nvSpPr>
        <p:spPr>
          <a:xfrm>
            <a:off x="5304163" y="298977"/>
            <a:ext cx="485784" cy="457200"/>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Brace 13">
            <a:extLst>
              <a:ext uri="{FF2B5EF4-FFF2-40B4-BE49-F238E27FC236}">
                <a16:creationId xmlns:a16="http://schemas.microsoft.com/office/drawing/2014/main" id="{F2F49DE3-492A-4493-A05B-A61D54DC0657}"/>
              </a:ext>
            </a:extLst>
          </p:cNvPr>
          <p:cNvSpPr/>
          <p:nvPr/>
        </p:nvSpPr>
        <p:spPr>
          <a:xfrm>
            <a:off x="7533263" y="383978"/>
            <a:ext cx="228599" cy="128889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A4E655F9-D9ED-4202-B413-BDC89D71A4FC}"/>
              </a:ext>
            </a:extLst>
          </p:cNvPr>
          <p:cNvSpPr/>
          <p:nvPr/>
        </p:nvSpPr>
        <p:spPr>
          <a:xfrm>
            <a:off x="7955764" y="1262062"/>
            <a:ext cx="187100" cy="139494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ight Brace 15">
            <a:extLst>
              <a:ext uri="{FF2B5EF4-FFF2-40B4-BE49-F238E27FC236}">
                <a16:creationId xmlns:a16="http://schemas.microsoft.com/office/drawing/2014/main" id="{C0E5EF4E-3E0A-469F-8F29-7413B8C36DD3}"/>
              </a:ext>
            </a:extLst>
          </p:cNvPr>
          <p:cNvSpPr/>
          <p:nvPr/>
        </p:nvSpPr>
        <p:spPr>
          <a:xfrm>
            <a:off x="8295128" y="2197907"/>
            <a:ext cx="228599" cy="128889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ight Brace 16">
            <a:extLst>
              <a:ext uri="{FF2B5EF4-FFF2-40B4-BE49-F238E27FC236}">
                <a16:creationId xmlns:a16="http://schemas.microsoft.com/office/drawing/2014/main" id="{BC660738-6B51-4DD6-87C3-0580F4A2699B}"/>
              </a:ext>
            </a:extLst>
          </p:cNvPr>
          <p:cNvSpPr/>
          <p:nvPr/>
        </p:nvSpPr>
        <p:spPr>
          <a:xfrm>
            <a:off x="8561692" y="3074145"/>
            <a:ext cx="194030" cy="138831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7C846737-D856-4E5B-878D-E688AB2C9E08}"/>
              </a:ext>
            </a:extLst>
          </p:cNvPr>
          <p:cNvSpPr txBox="1"/>
          <p:nvPr/>
        </p:nvSpPr>
        <p:spPr>
          <a:xfrm rot="16200000">
            <a:off x="8399753" y="3701086"/>
            <a:ext cx="777777" cy="261610"/>
          </a:xfrm>
          <a:prstGeom prst="rect">
            <a:avLst/>
          </a:prstGeom>
          <a:noFill/>
        </p:spPr>
        <p:txBody>
          <a:bodyPr wrap="none" rtlCol="0">
            <a:spAutoFit/>
          </a:bodyPr>
          <a:lstStyle/>
          <a:p>
            <a:r>
              <a:rPr lang="en-US" sz="1050" dirty="0"/>
              <a:t>Window A</a:t>
            </a:r>
          </a:p>
        </p:txBody>
      </p:sp>
      <p:sp>
        <p:nvSpPr>
          <p:cNvPr id="19" name="TextBox 18">
            <a:extLst>
              <a:ext uri="{FF2B5EF4-FFF2-40B4-BE49-F238E27FC236}">
                <a16:creationId xmlns:a16="http://schemas.microsoft.com/office/drawing/2014/main" id="{A39C2474-262A-43A2-81A6-C5A182BD9BA0}"/>
              </a:ext>
            </a:extLst>
          </p:cNvPr>
          <p:cNvSpPr txBox="1"/>
          <p:nvPr/>
        </p:nvSpPr>
        <p:spPr>
          <a:xfrm rot="16200000">
            <a:off x="8177415" y="2690339"/>
            <a:ext cx="747320" cy="253916"/>
          </a:xfrm>
          <a:prstGeom prst="rect">
            <a:avLst/>
          </a:prstGeom>
          <a:noFill/>
        </p:spPr>
        <p:txBody>
          <a:bodyPr wrap="none" rtlCol="0">
            <a:spAutoFit/>
          </a:bodyPr>
          <a:lstStyle/>
          <a:p>
            <a:r>
              <a:rPr lang="en-US" sz="1050" dirty="0"/>
              <a:t>Window B</a:t>
            </a:r>
          </a:p>
        </p:txBody>
      </p:sp>
      <p:sp>
        <p:nvSpPr>
          <p:cNvPr id="20" name="TextBox 19">
            <a:extLst>
              <a:ext uri="{FF2B5EF4-FFF2-40B4-BE49-F238E27FC236}">
                <a16:creationId xmlns:a16="http://schemas.microsoft.com/office/drawing/2014/main" id="{8A739FD7-3929-4D9A-BD66-6BCA2985122B}"/>
              </a:ext>
            </a:extLst>
          </p:cNvPr>
          <p:cNvSpPr txBox="1"/>
          <p:nvPr/>
        </p:nvSpPr>
        <p:spPr>
          <a:xfrm rot="16200000">
            <a:off x="7860483" y="1700834"/>
            <a:ext cx="745717" cy="253916"/>
          </a:xfrm>
          <a:prstGeom prst="rect">
            <a:avLst/>
          </a:prstGeom>
          <a:noFill/>
        </p:spPr>
        <p:txBody>
          <a:bodyPr wrap="none" rtlCol="0">
            <a:spAutoFit/>
          </a:bodyPr>
          <a:lstStyle/>
          <a:p>
            <a:r>
              <a:rPr lang="en-US" sz="1050" dirty="0"/>
              <a:t>Window C</a:t>
            </a:r>
          </a:p>
        </p:txBody>
      </p:sp>
      <p:sp>
        <p:nvSpPr>
          <p:cNvPr id="21" name="TextBox 20">
            <a:extLst>
              <a:ext uri="{FF2B5EF4-FFF2-40B4-BE49-F238E27FC236}">
                <a16:creationId xmlns:a16="http://schemas.microsoft.com/office/drawing/2014/main" id="{3CC9A334-05A4-46BA-8E0C-B9EF1975FEA4}"/>
              </a:ext>
            </a:extLst>
          </p:cNvPr>
          <p:cNvSpPr txBox="1"/>
          <p:nvPr/>
        </p:nvSpPr>
        <p:spPr>
          <a:xfrm rot="16200000">
            <a:off x="7468313" y="789507"/>
            <a:ext cx="756938" cy="253916"/>
          </a:xfrm>
          <a:prstGeom prst="rect">
            <a:avLst/>
          </a:prstGeom>
          <a:noFill/>
        </p:spPr>
        <p:txBody>
          <a:bodyPr wrap="none" rtlCol="0">
            <a:spAutoFit/>
          </a:bodyPr>
          <a:lstStyle/>
          <a:p>
            <a:r>
              <a:rPr lang="en-US" sz="1050" dirty="0"/>
              <a:t>Window D</a:t>
            </a:r>
          </a:p>
        </p:txBody>
      </p:sp>
    </p:spTree>
    <p:extLst>
      <p:ext uri="{BB962C8B-B14F-4D97-AF65-F5344CB8AC3E}">
        <p14:creationId xmlns:p14="http://schemas.microsoft.com/office/powerpoint/2010/main" val="2534451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600" b="1" dirty="0">
                <a:solidFill>
                  <a:srgbClr val="FF0000"/>
                </a:solidFill>
              </a:rPr>
              <a:t>Numerical:</a:t>
            </a:r>
          </a:p>
        </p:txBody>
      </p:sp>
      <p:sp>
        <p:nvSpPr>
          <p:cNvPr id="3" name="Content Placeholder 2"/>
          <p:cNvSpPr>
            <a:spLocks noGrp="1"/>
          </p:cNvSpPr>
          <p:nvPr>
            <p:ph idx="1"/>
          </p:nvPr>
        </p:nvSpPr>
        <p:spPr>
          <a:xfrm>
            <a:off x="457200" y="686990"/>
            <a:ext cx="4343400" cy="3907634"/>
          </a:xfrm>
        </p:spPr>
        <p:txBody>
          <a:bodyPr>
            <a:normAutofit/>
          </a:bodyPr>
          <a:lstStyle/>
          <a:p>
            <a:pPr marL="0" indent="0">
              <a:buNone/>
            </a:pPr>
            <a:r>
              <a:rPr lang="en-US" sz="1100" b="1" dirty="0"/>
              <a:t>In a system, there are 8 windows of registers, each register share 8 input registers, and 8 output registers. Each of the windows has 4 local registers. The system has 10 global registers. Calculate the total number of registers in the system. Show the pictorial representation as well. [PU 2018 Spring]</a:t>
            </a:r>
          </a:p>
          <a:p>
            <a:pPr marL="0" indent="0">
              <a:buNone/>
            </a:pPr>
            <a:endParaRPr lang="en-US" sz="1100" b="1" dirty="0">
              <a:solidFill>
                <a:srgbClr val="00B050"/>
              </a:solidFill>
            </a:endParaRPr>
          </a:p>
        </p:txBody>
      </p:sp>
      <p:sp>
        <p:nvSpPr>
          <p:cNvPr id="4" name="Date Placeholder 3"/>
          <p:cNvSpPr>
            <a:spLocks noGrp="1"/>
          </p:cNvSpPr>
          <p:nvPr>
            <p:ph type="dt" sz="half" idx="10"/>
          </p:nvPr>
        </p:nvSpPr>
        <p:spPr/>
        <p:txBody>
          <a:bodyPr/>
          <a:lstStyle/>
          <a:p>
            <a:fld id="{0C78BB5A-8BB5-4F19-9C07-87782ABE5021}" type="datetime1">
              <a:rPr lang="en-US" smtClean="0"/>
              <a:t>8/22/2023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a:p>
        </p:txBody>
      </p:sp>
      <p:sp>
        <p:nvSpPr>
          <p:cNvPr id="6" name="Footer Placeholder 5"/>
          <p:cNvSpPr>
            <a:spLocks noGrp="1"/>
          </p:cNvSpPr>
          <p:nvPr>
            <p:ph type="ftr" sz="quarter" idx="11"/>
          </p:nvPr>
        </p:nvSpPr>
        <p:spPr>
          <a:xfrm>
            <a:off x="3124200" y="4767263"/>
            <a:ext cx="2895600" cy="273844"/>
          </a:xfrm>
        </p:spPr>
        <p:txBody>
          <a:bodyPr/>
          <a:lstStyle/>
          <a:p>
            <a:r>
              <a:rPr lang="en-US"/>
              <a:t>Advanced Architecture</a:t>
            </a:r>
            <a:endParaRPr lang="en-US" dirty="0"/>
          </a:p>
        </p:txBody>
      </p:sp>
      <p:sp>
        <p:nvSpPr>
          <p:cNvPr id="7" name="Rectangle 6">
            <a:extLst>
              <a:ext uri="{FF2B5EF4-FFF2-40B4-BE49-F238E27FC236}">
                <a16:creationId xmlns:a16="http://schemas.microsoft.com/office/drawing/2014/main" id="{16A57F14-C10B-4419-97CF-68F146AA5A3F}"/>
              </a:ext>
            </a:extLst>
          </p:cNvPr>
          <p:cNvSpPr/>
          <p:nvPr/>
        </p:nvSpPr>
        <p:spPr>
          <a:xfrm>
            <a:off x="2362200" y="4326687"/>
            <a:ext cx="4572000" cy="430887"/>
          </a:xfrm>
          <a:prstGeom prst="rect">
            <a:avLst/>
          </a:prstGeom>
        </p:spPr>
        <p:txBody>
          <a:bodyPr wrap="square">
            <a:spAutoFit/>
          </a:bodyPr>
          <a:lstStyle/>
          <a:p>
            <a:r>
              <a:rPr lang="en-US" sz="1100" dirty="0"/>
              <a:t>Reference: </a:t>
            </a:r>
            <a:r>
              <a:rPr lang="en-US" sz="1100" dirty="0">
                <a:hlinkClick r:id="rId2"/>
              </a:rPr>
              <a:t>https://www.youtube.com/watch?v=GPIgi-OIe_g</a:t>
            </a:r>
            <a:endParaRPr lang="en-US" sz="1100" dirty="0"/>
          </a:p>
          <a:p>
            <a:endParaRPr lang="en-US" sz="1100" dirty="0"/>
          </a:p>
        </p:txBody>
      </p:sp>
      <p:sp>
        <p:nvSpPr>
          <p:cNvPr id="8" name="Content Placeholder 2">
            <a:extLst>
              <a:ext uri="{FF2B5EF4-FFF2-40B4-BE49-F238E27FC236}">
                <a16:creationId xmlns:a16="http://schemas.microsoft.com/office/drawing/2014/main" id="{64D47292-78A5-4E62-A00F-AD20B52A1CC1}"/>
              </a:ext>
            </a:extLst>
          </p:cNvPr>
          <p:cNvSpPr txBox="1">
            <a:spLocks/>
          </p:cNvSpPr>
          <p:nvPr/>
        </p:nvSpPr>
        <p:spPr>
          <a:xfrm>
            <a:off x="457200" y="1581150"/>
            <a:ext cx="4419600" cy="30896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base"/>
            <a:r>
              <a:rPr lang="en-US" sz="1600" dirty="0"/>
              <a:t>Here:</a:t>
            </a:r>
          </a:p>
          <a:p>
            <a:pPr lvl="1" fontAlgn="base"/>
            <a:r>
              <a:rPr lang="en-US" sz="1050" dirty="0"/>
              <a:t>Number of global registers ( G) =10</a:t>
            </a:r>
          </a:p>
          <a:p>
            <a:pPr lvl="1" fontAlgn="base"/>
            <a:r>
              <a:rPr lang="en-US" sz="1050" dirty="0"/>
              <a:t>Number of local registers present in each window (L)= 4</a:t>
            </a:r>
          </a:p>
          <a:p>
            <a:pPr lvl="1" fontAlgn="base"/>
            <a:r>
              <a:rPr lang="en-US" sz="1050" dirty="0"/>
              <a:t>Number of registers common to two adjacent windows (C) = </a:t>
            </a:r>
            <a:r>
              <a:rPr lang="en-US" sz="1050" b="1" dirty="0"/>
              <a:t>8   </a:t>
            </a:r>
            <a:r>
              <a:rPr lang="en-US" sz="1050" dirty="0"/>
              <a:t>            (</a:t>
            </a:r>
            <a:r>
              <a:rPr lang="en-US" sz="1050" i="1" dirty="0"/>
              <a:t>here common input and output register is 8)</a:t>
            </a:r>
          </a:p>
          <a:p>
            <a:pPr lvl="1" fontAlgn="base"/>
            <a:r>
              <a:rPr lang="en-US" sz="1050" dirty="0"/>
              <a:t>Number of windows (W)= 8</a:t>
            </a:r>
          </a:p>
          <a:p>
            <a:pPr fontAlgn="base"/>
            <a:r>
              <a:rPr lang="en-US" sz="1600" dirty="0"/>
              <a:t>We have:</a:t>
            </a:r>
          </a:p>
          <a:p>
            <a:pPr lvl="1" fontAlgn="base"/>
            <a:r>
              <a:rPr lang="en-US" sz="1050" dirty="0"/>
              <a:t>Window size (S)= L+2C =4+2*8 =20</a:t>
            </a:r>
          </a:p>
          <a:p>
            <a:pPr lvl="1" fontAlgn="base"/>
            <a:r>
              <a:rPr lang="en-US" sz="1050" dirty="0"/>
              <a:t>The total number of registers required in the processor is  = (L+C)W + G =(4+8) *8+10= 106</a:t>
            </a:r>
            <a:endParaRPr lang="en-US" sz="1600" dirty="0"/>
          </a:p>
          <a:p>
            <a:pPr indent="-285750"/>
            <a:endParaRPr lang="en-US" sz="1400" b="1" dirty="0"/>
          </a:p>
          <a:p>
            <a:endParaRPr lang="en-US" sz="1600" dirty="0"/>
          </a:p>
        </p:txBody>
      </p:sp>
      <p:sp>
        <p:nvSpPr>
          <p:cNvPr id="15" name="Rectangle 14">
            <a:extLst>
              <a:ext uri="{FF2B5EF4-FFF2-40B4-BE49-F238E27FC236}">
                <a16:creationId xmlns:a16="http://schemas.microsoft.com/office/drawing/2014/main" id="{FB441719-8EFC-46A2-BC17-245AF27C5F53}"/>
              </a:ext>
            </a:extLst>
          </p:cNvPr>
          <p:cNvSpPr/>
          <p:nvPr/>
        </p:nvSpPr>
        <p:spPr>
          <a:xfrm>
            <a:off x="6400800" y="1334065"/>
            <a:ext cx="1447800" cy="2475369"/>
          </a:xfrm>
          <a:prstGeom prst="rect">
            <a:avLst/>
          </a:prstGeom>
          <a:solidFill>
            <a:srgbClr val="FFFF00"/>
          </a:solidFill>
          <a:ln>
            <a:solidFill>
              <a:srgbClr val="FF0000"/>
            </a:solidFill>
          </a:ln>
        </p:spPr>
        <p:txBody>
          <a:bodyPr wrap="square">
            <a:spAutoFit/>
          </a:bodyPr>
          <a:lstStyle/>
          <a:p>
            <a:r>
              <a:rPr lang="en-US" sz="1100" dirty="0"/>
              <a:t>Draw figure here as in the previous slide </a:t>
            </a:r>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p:txBody>
      </p:sp>
    </p:spTree>
    <p:extLst>
      <p:ext uri="{BB962C8B-B14F-4D97-AF65-F5344CB8AC3E}">
        <p14:creationId xmlns:p14="http://schemas.microsoft.com/office/powerpoint/2010/main" val="145743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600" b="1" dirty="0">
                <a:solidFill>
                  <a:srgbClr val="FF0000"/>
                </a:solidFill>
              </a:rPr>
              <a:t>Assignment:</a:t>
            </a:r>
          </a:p>
        </p:txBody>
      </p:sp>
      <p:sp>
        <p:nvSpPr>
          <p:cNvPr id="3" name="Content Placeholder 2"/>
          <p:cNvSpPr>
            <a:spLocks noGrp="1"/>
          </p:cNvSpPr>
          <p:nvPr>
            <p:ph idx="1"/>
          </p:nvPr>
        </p:nvSpPr>
        <p:spPr>
          <a:xfrm>
            <a:off x="457200" y="686990"/>
            <a:ext cx="8305800" cy="3907634"/>
          </a:xfrm>
        </p:spPr>
        <p:txBody>
          <a:bodyPr>
            <a:normAutofit/>
          </a:bodyPr>
          <a:lstStyle/>
          <a:p>
            <a:pPr marL="0" indent="0">
              <a:buNone/>
            </a:pPr>
            <a:r>
              <a:rPr lang="en-US" sz="2000" b="1" dirty="0"/>
              <a:t>In a RISC processor system, there are 10 global registers and 8 register windows, each having 4 common input registers, 10 local registers, and 4 common output registers. How many registers are in this CPU? Also show the diagrammatic representation.</a:t>
            </a:r>
          </a:p>
          <a:p>
            <a:pPr marL="0" indent="0">
              <a:buNone/>
            </a:pPr>
            <a:endParaRPr lang="en-US" sz="2000" b="1" dirty="0"/>
          </a:p>
          <a:p>
            <a:pPr marL="0" indent="0">
              <a:buNone/>
            </a:pPr>
            <a:endParaRPr lang="en-US" sz="2000" b="1" dirty="0"/>
          </a:p>
          <a:p>
            <a:pPr marL="0" indent="0">
              <a:buNone/>
            </a:pPr>
            <a:endParaRPr lang="en-US" sz="2000" b="1" dirty="0">
              <a:solidFill>
                <a:srgbClr val="00B050"/>
              </a:solidFill>
            </a:endParaRPr>
          </a:p>
        </p:txBody>
      </p:sp>
      <p:sp>
        <p:nvSpPr>
          <p:cNvPr id="4" name="Date Placeholder 3"/>
          <p:cNvSpPr>
            <a:spLocks noGrp="1"/>
          </p:cNvSpPr>
          <p:nvPr>
            <p:ph type="dt" sz="half" idx="10"/>
          </p:nvPr>
        </p:nvSpPr>
        <p:spPr/>
        <p:txBody>
          <a:bodyPr/>
          <a:lstStyle/>
          <a:p>
            <a:fld id="{4D8DA298-4843-43EA-9E53-C11F4DE9A194}" type="datetime1">
              <a:rPr lang="en-US" smtClean="0"/>
              <a:t>8/22/2023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a:p>
        </p:txBody>
      </p:sp>
      <p:sp>
        <p:nvSpPr>
          <p:cNvPr id="6" name="Footer Placeholder 5"/>
          <p:cNvSpPr>
            <a:spLocks noGrp="1"/>
          </p:cNvSpPr>
          <p:nvPr>
            <p:ph type="ftr" sz="quarter" idx="11"/>
          </p:nvPr>
        </p:nvSpPr>
        <p:spPr/>
        <p:txBody>
          <a:bodyPr/>
          <a:lstStyle/>
          <a:p>
            <a:r>
              <a:rPr lang="en-US"/>
              <a:t>Advanced Architecture</a:t>
            </a:r>
          </a:p>
        </p:txBody>
      </p:sp>
      <p:sp>
        <p:nvSpPr>
          <p:cNvPr id="7" name="Rectangle 6">
            <a:extLst>
              <a:ext uri="{FF2B5EF4-FFF2-40B4-BE49-F238E27FC236}">
                <a16:creationId xmlns:a16="http://schemas.microsoft.com/office/drawing/2014/main" id="{16A57F14-C10B-4419-97CF-68F146AA5A3F}"/>
              </a:ext>
            </a:extLst>
          </p:cNvPr>
          <p:cNvSpPr/>
          <p:nvPr/>
        </p:nvSpPr>
        <p:spPr>
          <a:xfrm>
            <a:off x="2438400" y="4691062"/>
            <a:ext cx="4572000" cy="430887"/>
          </a:xfrm>
          <a:prstGeom prst="rect">
            <a:avLst/>
          </a:prstGeom>
        </p:spPr>
        <p:txBody>
          <a:bodyPr wrap="square">
            <a:spAutoFit/>
          </a:bodyPr>
          <a:lstStyle/>
          <a:p>
            <a:r>
              <a:rPr lang="en-US" sz="1100" dirty="0"/>
              <a:t>Reference: </a:t>
            </a:r>
            <a:r>
              <a:rPr lang="en-US" sz="1100" dirty="0">
                <a:hlinkClick r:id="rId2"/>
              </a:rPr>
              <a:t>https://www.youtube.com/watch?v=GPIgi-OIe_g</a:t>
            </a:r>
            <a:endParaRPr lang="en-US" sz="1100" dirty="0"/>
          </a:p>
          <a:p>
            <a:endParaRPr lang="en-US" sz="1100" dirty="0"/>
          </a:p>
        </p:txBody>
      </p:sp>
      <p:sp>
        <p:nvSpPr>
          <p:cNvPr id="8" name="Content Placeholder 2">
            <a:extLst>
              <a:ext uri="{FF2B5EF4-FFF2-40B4-BE49-F238E27FC236}">
                <a16:creationId xmlns:a16="http://schemas.microsoft.com/office/drawing/2014/main" id="{64D47292-78A5-4E62-A00F-AD20B52A1CC1}"/>
              </a:ext>
            </a:extLst>
          </p:cNvPr>
          <p:cNvSpPr txBox="1">
            <a:spLocks/>
          </p:cNvSpPr>
          <p:nvPr/>
        </p:nvSpPr>
        <p:spPr>
          <a:xfrm>
            <a:off x="457200" y="1581150"/>
            <a:ext cx="3810000" cy="30896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dirty="0"/>
          </a:p>
        </p:txBody>
      </p:sp>
    </p:spTree>
    <p:extLst>
      <p:ext uri="{BB962C8B-B14F-4D97-AF65-F5344CB8AC3E}">
        <p14:creationId xmlns:p14="http://schemas.microsoft.com/office/powerpoint/2010/main" val="2874020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9.5 Organization of Multiprocessor System</a:t>
            </a:r>
          </a:p>
        </p:txBody>
      </p:sp>
      <p:sp>
        <p:nvSpPr>
          <p:cNvPr id="3" name="Content Placeholder 2"/>
          <p:cNvSpPr>
            <a:spLocks noGrp="1"/>
          </p:cNvSpPr>
          <p:nvPr>
            <p:ph idx="1"/>
          </p:nvPr>
        </p:nvSpPr>
        <p:spPr>
          <a:xfrm>
            <a:off x="457200" y="742950"/>
            <a:ext cx="8229600" cy="3851673"/>
          </a:xfrm>
        </p:spPr>
        <p:txBody>
          <a:bodyPr>
            <a:normAutofit/>
          </a:bodyPr>
          <a:lstStyle/>
          <a:p>
            <a:r>
              <a:rPr lang="en-US" sz="2000" dirty="0"/>
              <a:t>Characteristics of Multiprocessor</a:t>
            </a:r>
          </a:p>
          <a:p>
            <a:r>
              <a:rPr lang="en-US" sz="2000" dirty="0"/>
              <a:t>Flynn’s Classification</a:t>
            </a:r>
          </a:p>
          <a:p>
            <a:r>
              <a:rPr lang="en-US" sz="2000" dirty="0"/>
              <a:t>System topologies</a:t>
            </a:r>
          </a:p>
          <a:p>
            <a:r>
              <a:rPr lang="en-US" sz="2000" dirty="0"/>
              <a:t>MIMD system architectures</a:t>
            </a:r>
          </a:p>
        </p:txBody>
      </p:sp>
      <p:sp>
        <p:nvSpPr>
          <p:cNvPr id="4" name="Date Placeholder 3"/>
          <p:cNvSpPr>
            <a:spLocks noGrp="1"/>
          </p:cNvSpPr>
          <p:nvPr>
            <p:ph type="dt" sz="half" idx="10"/>
          </p:nvPr>
        </p:nvSpPr>
        <p:spPr/>
        <p:txBody>
          <a:bodyPr/>
          <a:lstStyle/>
          <a:p>
            <a:fld id="{DF277D22-024D-44CC-A608-5D9E61998975}"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11175771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a) Characteristics of multiprocessor:</a:t>
            </a:r>
            <a:endParaRPr lang="en-US" sz="2000" b="1" dirty="0">
              <a:solidFill>
                <a:srgbClr val="00B050"/>
              </a:solidFill>
            </a:endParaRPr>
          </a:p>
        </p:txBody>
      </p:sp>
      <p:sp>
        <p:nvSpPr>
          <p:cNvPr id="3" name="Content Placeholder 2"/>
          <p:cNvSpPr>
            <a:spLocks noGrp="1"/>
          </p:cNvSpPr>
          <p:nvPr>
            <p:ph idx="1"/>
          </p:nvPr>
        </p:nvSpPr>
        <p:spPr>
          <a:xfrm>
            <a:off x="457200" y="742950"/>
            <a:ext cx="8229600" cy="3851673"/>
          </a:xfrm>
        </p:spPr>
        <p:txBody>
          <a:bodyPr>
            <a:normAutofit lnSpcReduction="10000"/>
          </a:bodyPr>
          <a:lstStyle/>
          <a:p>
            <a:pPr marL="285750" lvl="1"/>
            <a:r>
              <a:rPr lang="en-US" sz="2000" dirty="0"/>
              <a:t>A multiprocessor system is </a:t>
            </a:r>
            <a:r>
              <a:rPr lang="en-US" sz="2000" dirty="0">
                <a:solidFill>
                  <a:srgbClr val="C00000"/>
                </a:solidFill>
              </a:rPr>
              <a:t>controlled by one operating system </a:t>
            </a:r>
            <a:r>
              <a:rPr lang="en-US" sz="2000" dirty="0"/>
              <a:t>that provides interaction between processor and all component of system.</a:t>
            </a:r>
            <a:endParaRPr lang="en-US" sz="1800" dirty="0"/>
          </a:p>
          <a:p>
            <a:pPr marL="285750" lvl="1"/>
            <a:r>
              <a:rPr lang="en-US" sz="2000" dirty="0"/>
              <a:t>VLSI technology has reduced cost of multiple processor system.</a:t>
            </a:r>
            <a:endParaRPr lang="en-US" sz="1800" dirty="0"/>
          </a:p>
          <a:p>
            <a:pPr marL="285750" lvl="1"/>
            <a:r>
              <a:rPr lang="en-US" sz="2000" dirty="0"/>
              <a:t>Multiprocessing </a:t>
            </a:r>
            <a:r>
              <a:rPr lang="en-US" sz="2000" dirty="0">
                <a:solidFill>
                  <a:srgbClr val="C00000"/>
                </a:solidFill>
              </a:rPr>
              <a:t>improves</a:t>
            </a:r>
            <a:r>
              <a:rPr lang="en-US" sz="2000" dirty="0"/>
              <a:t> </a:t>
            </a:r>
            <a:r>
              <a:rPr lang="en-US" sz="2000" dirty="0">
                <a:solidFill>
                  <a:srgbClr val="C00000"/>
                </a:solidFill>
              </a:rPr>
              <a:t>reliability</a:t>
            </a:r>
            <a:r>
              <a:rPr lang="en-US" sz="2000" dirty="0"/>
              <a:t> of the system so that </a:t>
            </a:r>
            <a:r>
              <a:rPr lang="en-US" sz="2000" dirty="0">
                <a:solidFill>
                  <a:srgbClr val="C00000"/>
                </a:solidFill>
              </a:rPr>
              <a:t>a failure or error in one part has less effect on rest of system.</a:t>
            </a:r>
            <a:endParaRPr lang="en-US" sz="1800" dirty="0">
              <a:solidFill>
                <a:srgbClr val="C00000"/>
              </a:solidFill>
            </a:endParaRPr>
          </a:p>
          <a:p>
            <a:pPr marL="285750" lvl="1"/>
            <a:r>
              <a:rPr lang="en-US" sz="2000" dirty="0"/>
              <a:t>Multiprocessor improves performance by decomposing a program into parallel executable tasks.</a:t>
            </a:r>
            <a:endParaRPr lang="en-US" sz="1800" dirty="0"/>
          </a:p>
          <a:p>
            <a:pPr marL="285750" lvl="1"/>
            <a:r>
              <a:rPr lang="en-US" sz="2000" dirty="0"/>
              <a:t>Multiprocessor are </a:t>
            </a:r>
            <a:r>
              <a:rPr lang="en-US" sz="2000" dirty="0">
                <a:solidFill>
                  <a:srgbClr val="C00000"/>
                </a:solidFill>
              </a:rPr>
              <a:t>classified by the way their memory organized. </a:t>
            </a:r>
          </a:p>
          <a:p>
            <a:pPr marL="685800" lvl="2"/>
            <a:r>
              <a:rPr lang="en-US" sz="1800" dirty="0"/>
              <a:t>A multiprocessor with common shared memory is shared memory multiprocessor. </a:t>
            </a:r>
          </a:p>
          <a:p>
            <a:pPr marL="685800" lvl="2"/>
            <a:r>
              <a:rPr lang="en-US" sz="1800" dirty="0"/>
              <a:t>A multiprocessor that has its own private local memory is distributed memory multiprocessor.</a:t>
            </a:r>
            <a:endParaRPr lang="en-US" sz="1600" dirty="0"/>
          </a:p>
          <a:p>
            <a:pPr marL="285750" indent="-285750"/>
            <a:endParaRPr lang="en-US" sz="1400" dirty="0"/>
          </a:p>
        </p:txBody>
      </p:sp>
      <p:sp>
        <p:nvSpPr>
          <p:cNvPr id="4" name="Date Placeholder 3"/>
          <p:cNvSpPr>
            <a:spLocks noGrp="1"/>
          </p:cNvSpPr>
          <p:nvPr>
            <p:ph type="dt" sz="half" idx="10"/>
          </p:nvPr>
        </p:nvSpPr>
        <p:spPr/>
        <p:txBody>
          <a:bodyPr/>
          <a:lstStyle/>
          <a:p>
            <a:fld id="{FE8411D6-F0E4-4EC8-94B5-C56393735068}"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1612212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b) Flynn’s Classification</a:t>
            </a:r>
          </a:p>
        </p:txBody>
      </p:sp>
      <p:sp>
        <p:nvSpPr>
          <p:cNvPr id="3" name="Content Placeholder 2"/>
          <p:cNvSpPr>
            <a:spLocks noGrp="1"/>
          </p:cNvSpPr>
          <p:nvPr>
            <p:ph idx="1"/>
          </p:nvPr>
        </p:nvSpPr>
        <p:spPr>
          <a:xfrm>
            <a:off x="457200" y="742950"/>
            <a:ext cx="8229600" cy="3851673"/>
          </a:xfrm>
        </p:spPr>
        <p:txBody>
          <a:bodyPr>
            <a:normAutofit/>
          </a:bodyPr>
          <a:lstStyle/>
          <a:p>
            <a:pPr lvl="0"/>
            <a:r>
              <a:rPr lang="en-US" sz="2000" dirty="0"/>
              <a:t>Flynn's classification </a:t>
            </a:r>
            <a:r>
              <a:rPr lang="en-US" sz="2000" dirty="0">
                <a:solidFill>
                  <a:srgbClr val="C00000"/>
                </a:solidFill>
              </a:rPr>
              <a:t>divides computers into four major groups </a:t>
            </a:r>
            <a:r>
              <a:rPr lang="en-US" sz="2000" dirty="0"/>
              <a:t>based on instruction and data processing. </a:t>
            </a:r>
          </a:p>
          <a:p>
            <a:pPr lvl="0"/>
            <a:r>
              <a:rPr lang="en-US" sz="2000" dirty="0"/>
              <a:t>A computer is classified by </a:t>
            </a:r>
          </a:p>
          <a:p>
            <a:pPr lvl="1"/>
            <a:r>
              <a:rPr lang="en-US" sz="1600" dirty="0">
                <a:solidFill>
                  <a:srgbClr val="C00000"/>
                </a:solidFill>
              </a:rPr>
              <a:t>whether it processes a single instruction at a time or multiple instructions</a:t>
            </a:r>
            <a:r>
              <a:rPr lang="en-US" sz="1600" dirty="0"/>
              <a:t> simultaneously, and </a:t>
            </a:r>
          </a:p>
          <a:p>
            <a:pPr lvl="1"/>
            <a:r>
              <a:rPr lang="en-US" sz="1600" dirty="0"/>
              <a:t>whether it </a:t>
            </a:r>
            <a:r>
              <a:rPr lang="en-US" sz="1600" dirty="0">
                <a:solidFill>
                  <a:srgbClr val="C00000"/>
                </a:solidFill>
              </a:rPr>
              <a:t>operates on one or multiple data sets.</a:t>
            </a:r>
          </a:p>
        </p:txBody>
      </p:sp>
      <p:sp>
        <p:nvSpPr>
          <p:cNvPr id="4" name="Date Placeholder 3"/>
          <p:cNvSpPr>
            <a:spLocks noGrp="1"/>
          </p:cNvSpPr>
          <p:nvPr>
            <p:ph type="dt" sz="half" idx="10"/>
          </p:nvPr>
        </p:nvSpPr>
        <p:spPr/>
        <p:txBody>
          <a:bodyPr/>
          <a:lstStyle/>
          <a:p>
            <a:fld id="{EEE9358C-91BF-44CA-AEE9-F26396ED7C28}"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graphicFrame>
        <p:nvGraphicFramePr>
          <p:cNvPr id="7" name="Content Placeholder 7">
            <a:extLst>
              <a:ext uri="{FF2B5EF4-FFF2-40B4-BE49-F238E27FC236}">
                <a16:creationId xmlns:a16="http://schemas.microsoft.com/office/drawing/2014/main" id="{5D5BE360-8B1D-4949-9C33-D197BD238F69}"/>
              </a:ext>
            </a:extLst>
          </p:cNvPr>
          <p:cNvGraphicFramePr>
            <a:graphicFrameLocks/>
          </p:cNvGraphicFramePr>
          <p:nvPr>
            <p:extLst/>
          </p:nvPr>
        </p:nvGraphicFramePr>
        <p:xfrm>
          <a:off x="1295401" y="3105150"/>
          <a:ext cx="5562601" cy="1143000"/>
        </p:xfrm>
        <a:graphic>
          <a:graphicData uri="http://schemas.openxmlformats.org/drawingml/2006/table">
            <a:tbl>
              <a:tblPr firstRow="1" firstCol="1" bandRow="1">
                <a:tableStyleId>{5C22544A-7EE6-4342-B048-85BDC9FD1C3A}</a:tableStyleId>
              </a:tblPr>
              <a:tblGrid>
                <a:gridCol w="492889">
                  <a:extLst>
                    <a:ext uri="{9D8B030D-6E8A-4147-A177-3AD203B41FA5}">
                      <a16:colId xmlns:a16="http://schemas.microsoft.com/office/drawing/2014/main" val="716250058"/>
                    </a:ext>
                  </a:extLst>
                </a:gridCol>
                <a:gridCol w="915365">
                  <a:extLst>
                    <a:ext uri="{9D8B030D-6E8A-4147-A177-3AD203B41FA5}">
                      <a16:colId xmlns:a16="http://schemas.microsoft.com/office/drawing/2014/main" val="3607284373"/>
                    </a:ext>
                  </a:extLst>
                </a:gridCol>
                <a:gridCol w="4154347">
                  <a:extLst>
                    <a:ext uri="{9D8B030D-6E8A-4147-A177-3AD203B41FA5}">
                      <a16:colId xmlns:a16="http://schemas.microsoft.com/office/drawing/2014/main" val="3385594324"/>
                    </a:ext>
                  </a:extLst>
                </a:gridCol>
              </a:tblGrid>
              <a:tr h="273326">
                <a:tc>
                  <a:txBody>
                    <a:bodyPr/>
                    <a:lstStyle/>
                    <a:p>
                      <a:pPr marL="0" marR="0" algn="just">
                        <a:spcBef>
                          <a:spcPts val="0"/>
                        </a:spcBef>
                        <a:spcAft>
                          <a:spcPts val="0"/>
                        </a:spcAft>
                      </a:pPr>
                      <a:r>
                        <a:rPr lang="en-US" sz="1600" dirty="0" err="1">
                          <a:effectLst/>
                        </a:rPr>
                        <a:t>i</a:t>
                      </a:r>
                      <a:r>
                        <a:rPr lang="en-US" sz="1600" dirty="0">
                          <a:effectLst/>
                        </a:rPr>
                        <a:t>.</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just">
                        <a:spcBef>
                          <a:spcPts val="0"/>
                        </a:spcBef>
                        <a:spcAft>
                          <a:spcPts val="0"/>
                        </a:spcAft>
                      </a:pPr>
                      <a:r>
                        <a:rPr lang="en-US" sz="1600" b="0">
                          <a:solidFill>
                            <a:schemeClr val="tx1"/>
                          </a:solidFill>
                          <a:effectLst/>
                        </a:rPr>
                        <a:t>SISD</a:t>
                      </a:r>
                      <a:endParaRPr lang="en-US" sz="1600" b="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20000"/>
                        <a:lumOff val="80000"/>
                      </a:schemeClr>
                    </a:solidFill>
                  </a:tcPr>
                </a:tc>
                <a:tc>
                  <a:txBody>
                    <a:bodyPr/>
                    <a:lstStyle/>
                    <a:p>
                      <a:pPr marL="0" marR="0" algn="just">
                        <a:spcBef>
                          <a:spcPts val="0"/>
                        </a:spcBef>
                        <a:spcAft>
                          <a:spcPts val="0"/>
                        </a:spcAft>
                      </a:pPr>
                      <a:r>
                        <a:rPr lang="en-US" sz="1600" b="0" dirty="0">
                          <a:solidFill>
                            <a:schemeClr val="tx1"/>
                          </a:solidFill>
                          <a:effectLst/>
                        </a:rPr>
                        <a:t>Single Instruction with Single Data</a:t>
                      </a:r>
                      <a:endParaRPr lang="en-US" sz="1600" b="0" dirty="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1224140030"/>
                  </a:ext>
                </a:extLst>
              </a:tr>
              <a:tr h="273326">
                <a:tc>
                  <a:txBody>
                    <a:bodyPr/>
                    <a:lstStyle/>
                    <a:p>
                      <a:pPr marL="0" marR="0" algn="just">
                        <a:spcBef>
                          <a:spcPts val="0"/>
                        </a:spcBef>
                        <a:spcAft>
                          <a:spcPts val="0"/>
                        </a:spcAft>
                      </a:pPr>
                      <a:r>
                        <a:rPr lang="en-US" sz="1600">
                          <a:effectLst/>
                        </a:rPr>
                        <a:t>ii.</a:t>
                      </a:r>
                      <a:endParaRPr lang="en-US"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just">
                        <a:spcBef>
                          <a:spcPts val="0"/>
                        </a:spcBef>
                        <a:spcAft>
                          <a:spcPts val="0"/>
                        </a:spcAft>
                      </a:pPr>
                      <a:r>
                        <a:rPr lang="en-US" sz="1600">
                          <a:effectLst/>
                        </a:rPr>
                        <a:t>SIMD</a:t>
                      </a:r>
                      <a:endParaRPr lang="en-US"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just">
                        <a:spcBef>
                          <a:spcPts val="0"/>
                        </a:spcBef>
                        <a:spcAft>
                          <a:spcPts val="0"/>
                        </a:spcAft>
                      </a:pPr>
                      <a:r>
                        <a:rPr lang="en-US" sz="1600" dirty="0">
                          <a:effectLst/>
                        </a:rPr>
                        <a:t>Single Instruction with Multiple Data</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1892113177"/>
                  </a:ext>
                </a:extLst>
              </a:tr>
              <a:tr h="298174">
                <a:tc>
                  <a:txBody>
                    <a:bodyPr/>
                    <a:lstStyle/>
                    <a:p>
                      <a:pPr marL="0" marR="0" algn="just">
                        <a:spcBef>
                          <a:spcPts val="0"/>
                        </a:spcBef>
                        <a:spcAft>
                          <a:spcPts val="0"/>
                        </a:spcAft>
                      </a:pPr>
                      <a:r>
                        <a:rPr lang="en-US" sz="1600">
                          <a:effectLst/>
                        </a:rPr>
                        <a:t>iii.</a:t>
                      </a:r>
                      <a:endParaRPr lang="en-US"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just">
                        <a:spcBef>
                          <a:spcPts val="0"/>
                        </a:spcBef>
                        <a:spcAft>
                          <a:spcPts val="0"/>
                        </a:spcAft>
                      </a:pPr>
                      <a:r>
                        <a:rPr lang="en-US" sz="1600">
                          <a:effectLst/>
                        </a:rPr>
                        <a:t>MISD</a:t>
                      </a:r>
                      <a:endParaRPr lang="en-US"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just">
                        <a:spcBef>
                          <a:spcPts val="0"/>
                        </a:spcBef>
                        <a:spcAft>
                          <a:spcPts val="0"/>
                        </a:spcAft>
                      </a:pPr>
                      <a:r>
                        <a:rPr lang="en-US" sz="1600" dirty="0">
                          <a:effectLst/>
                        </a:rPr>
                        <a:t>Multiple Instruction with Single Data</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2941546353"/>
                  </a:ext>
                </a:extLst>
              </a:tr>
              <a:tr h="298174">
                <a:tc>
                  <a:txBody>
                    <a:bodyPr/>
                    <a:lstStyle/>
                    <a:p>
                      <a:pPr marL="0" marR="0" algn="just">
                        <a:spcBef>
                          <a:spcPts val="0"/>
                        </a:spcBef>
                        <a:spcAft>
                          <a:spcPts val="0"/>
                        </a:spcAft>
                      </a:pPr>
                      <a:r>
                        <a:rPr lang="en-US" sz="1600">
                          <a:effectLst/>
                        </a:rPr>
                        <a:t>iv.</a:t>
                      </a:r>
                      <a:endParaRPr lang="en-US"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just">
                        <a:spcBef>
                          <a:spcPts val="0"/>
                        </a:spcBef>
                        <a:spcAft>
                          <a:spcPts val="0"/>
                        </a:spcAft>
                      </a:pPr>
                      <a:r>
                        <a:rPr lang="en-US" sz="1600">
                          <a:effectLst/>
                        </a:rPr>
                        <a:t>MIMD</a:t>
                      </a:r>
                      <a:endParaRPr lang="en-US"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just">
                        <a:spcBef>
                          <a:spcPts val="0"/>
                        </a:spcBef>
                        <a:spcAft>
                          <a:spcPts val="0"/>
                        </a:spcAft>
                      </a:pPr>
                      <a:r>
                        <a:rPr lang="en-US" sz="1600" dirty="0">
                          <a:effectLst/>
                        </a:rPr>
                        <a:t>Multiple Instruction with Multiple Data</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2874124484"/>
                  </a:ext>
                </a:extLst>
              </a:tr>
            </a:tbl>
          </a:graphicData>
        </a:graphic>
      </p:graphicFrame>
    </p:spTree>
    <p:extLst>
      <p:ext uri="{BB962C8B-B14F-4D97-AF65-F5344CB8AC3E}">
        <p14:creationId xmlns:p14="http://schemas.microsoft.com/office/powerpoint/2010/main" val="3129964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err="1">
                <a:solidFill>
                  <a:srgbClr val="7030A0"/>
                </a:solidFill>
              </a:rPr>
              <a:t>i</a:t>
            </a:r>
            <a:r>
              <a:rPr lang="en-US" sz="3200" b="1" dirty="0">
                <a:solidFill>
                  <a:srgbClr val="7030A0"/>
                </a:solidFill>
              </a:rPr>
              <a:t>) SISD</a:t>
            </a:r>
          </a:p>
        </p:txBody>
      </p:sp>
      <p:sp>
        <p:nvSpPr>
          <p:cNvPr id="3" name="Content Placeholder 2"/>
          <p:cNvSpPr>
            <a:spLocks noGrp="1"/>
          </p:cNvSpPr>
          <p:nvPr>
            <p:ph idx="1"/>
          </p:nvPr>
        </p:nvSpPr>
        <p:spPr>
          <a:xfrm>
            <a:off x="457200" y="742950"/>
            <a:ext cx="4648200" cy="3851673"/>
          </a:xfrm>
        </p:spPr>
        <p:txBody>
          <a:bodyPr>
            <a:normAutofit/>
          </a:bodyPr>
          <a:lstStyle/>
          <a:p>
            <a:r>
              <a:rPr lang="en-US" sz="2000" dirty="0"/>
              <a:t>Single Instruction with Single Data</a:t>
            </a:r>
            <a:endParaRPr lang="en-US" sz="2000" dirty="0">
              <a:latin typeface="Calibri" panose="020F0502020204030204" pitchFamily="34" charset="0"/>
              <a:ea typeface="Times New Roman" panose="02020603050405020304" pitchFamily="18" charset="0"/>
              <a:cs typeface="Mangal" panose="02040503050203030202" pitchFamily="18" charset="0"/>
            </a:endParaRPr>
          </a:p>
          <a:p>
            <a:pPr lvl="0"/>
            <a:r>
              <a:rPr lang="en-US" sz="2000" dirty="0"/>
              <a:t>Represents the organization of a single computer containing a control unit, a processor unit, and a memory unit. </a:t>
            </a:r>
          </a:p>
          <a:p>
            <a:pPr lvl="0"/>
            <a:r>
              <a:rPr lang="en-US" sz="2000" dirty="0"/>
              <a:t>Instructions are executed sequentially and the system </a:t>
            </a:r>
            <a:r>
              <a:rPr lang="en-US" sz="2000" dirty="0">
                <a:solidFill>
                  <a:srgbClr val="C00000"/>
                </a:solidFill>
              </a:rPr>
              <a:t>may or may not have internal parallel processing capabilities</a:t>
            </a:r>
            <a:r>
              <a:rPr lang="en-US" sz="2000" dirty="0"/>
              <a:t>. </a:t>
            </a:r>
          </a:p>
          <a:p>
            <a:r>
              <a:rPr lang="en-US" sz="2000" dirty="0">
                <a:solidFill>
                  <a:srgbClr val="C00000"/>
                </a:solidFill>
              </a:rPr>
              <a:t>Parallel processing may be achieved </a:t>
            </a:r>
            <a:r>
              <a:rPr lang="en-US" sz="2000" dirty="0"/>
              <a:t>by means of multiple functional units or by pipeline processing.</a:t>
            </a:r>
            <a:endParaRPr lang="en-US" sz="1200" dirty="0"/>
          </a:p>
        </p:txBody>
      </p:sp>
      <p:sp>
        <p:nvSpPr>
          <p:cNvPr id="4" name="Date Placeholder 3"/>
          <p:cNvSpPr>
            <a:spLocks noGrp="1"/>
          </p:cNvSpPr>
          <p:nvPr>
            <p:ph type="dt" sz="half" idx="10"/>
          </p:nvPr>
        </p:nvSpPr>
        <p:spPr/>
        <p:txBody>
          <a:bodyPr/>
          <a:lstStyle/>
          <a:p>
            <a:fld id="{DEFF9C5E-CFD4-488E-B6B3-393BEF190AE4}"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7" name="Picture 6">
            <a:extLst>
              <a:ext uri="{FF2B5EF4-FFF2-40B4-BE49-F238E27FC236}">
                <a16:creationId xmlns:a16="http://schemas.microsoft.com/office/drawing/2014/main" id="{A7A54EAE-BBEC-4265-8785-F96CABA31AA9}"/>
              </a:ext>
            </a:extLst>
          </p:cNvPr>
          <p:cNvPicPr/>
          <p:nvPr/>
        </p:nvPicPr>
        <p:blipFill>
          <a:blip r:embed="rId2">
            <a:lum contrast="20000"/>
          </a:blip>
          <a:srcRect/>
          <a:stretch>
            <a:fillRect/>
          </a:stretch>
        </p:blipFill>
        <p:spPr bwMode="auto">
          <a:xfrm>
            <a:off x="5135880" y="1047750"/>
            <a:ext cx="3810000" cy="2590800"/>
          </a:xfrm>
          <a:prstGeom prst="rect">
            <a:avLst/>
          </a:prstGeom>
          <a:noFill/>
          <a:ln w="9525">
            <a:noFill/>
            <a:miter lim="800000"/>
            <a:headEnd/>
            <a:tailEnd/>
          </a:ln>
        </p:spPr>
      </p:pic>
    </p:spTree>
    <p:extLst>
      <p:ext uri="{BB962C8B-B14F-4D97-AF65-F5344CB8AC3E}">
        <p14:creationId xmlns:p14="http://schemas.microsoft.com/office/powerpoint/2010/main" val="935347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7030A0"/>
                </a:solidFill>
              </a:rPr>
              <a:t>ii) SIMD</a:t>
            </a:r>
          </a:p>
        </p:txBody>
      </p:sp>
      <p:sp>
        <p:nvSpPr>
          <p:cNvPr id="3" name="Content Placeholder 2"/>
          <p:cNvSpPr>
            <a:spLocks noGrp="1"/>
          </p:cNvSpPr>
          <p:nvPr>
            <p:ph idx="1"/>
          </p:nvPr>
        </p:nvSpPr>
        <p:spPr>
          <a:xfrm>
            <a:off x="457200" y="742950"/>
            <a:ext cx="3870960" cy="3851673"/>
          </a:xfrm>
        </p:spPr>
        <p:txBody>
          <a:bodyPr>
            <a:normAutofit fontScale="92500" lnSpcReduction="10000"/>
          </a:bodyPr>
          <a:lstStyle/>
          <a:p>
            <a:r>
              <a:rPr lang="en-US" sz="1800" dirty="0"/>
              <a:t>Single Instruction with Multiple Data</a:t>
            </a:r>
            <a:endParaRPr lang="en-US" sz="1800" dirty="0">
              <a:latin typeface="Calibri" panose="020F0502020204030204" pitchFamily="34" charset="0"/>
              <a:ea typeface="Times New Roman" panose="02020603050405020304" pitchFamily="18" charset="0"/>
              <a:cs typeface="Mangal" panose="02040503050203030202" pitchFamily="18" charset="0"/>
            </a:endParaRPr>
          </a:p>
          <a:p>
            <a:pPr lvl="0"/>
            <a:r>
              <a:rPr lang="en-US" sz="1800" dirty="0"/>
              <a:t>Represents an organization that </a:t>
            </a:r>
            <a:r>
              <a:rPr lang="en-US" sz="1800" dirty="0">
                <a:solidFill>
                  <a:srgbClr val="C00000"/>
                </a:solidFill>
              </a:rPr>
              <a:t>includes many processing units</a:t>
            </a:r>
            <a:r>
              <a:rPr lang="en-US" sz="1800" dirty="0"/>
              <a:t> under the supervision of a common control unit. </a:t>
            </a:r>
          </a:p>
          <a:p>
            <a:pPr lvl="0"/>
            <a:r>
              <a:rPr lang="en-US" sz="1800" dirty="0">
                <a:solidFill>
                  <a:srgbClr val="C00000"/>
                </a:solidFill>
              </a:rPr>
              <a:t>All processors receive the same instruction </a:t>
            </a:r>
            <a:r>
              <a:rPr lang="en-US" sz="1800" dirty="0"/>
              <a:t>from the control unit but </a:t>
            </a:r>
            <a:r>
              <a:rPr lang="en-US" sz="1800" dirty="0">
                <a:solidFill>
                  <a:srgbClr val="C00000"/>
                </a:solidFill>
              </a:rPr>
              <a:t>operate on different items of data. </a:t>
            </a:r>
          </a:p>
          <a:p>
            <a:pPr lvl="0"/>
            <a:r>
              <a:rPr lang="en-US" sz="1800" dirty="0"/>
              <a:t>The shared memory unit must contain multiple modules so that it can communicate with all the processors simultaneously.  </a:t>
            </a:r>
          </a:p>
          <a:p>
            <a:pPr lvl="0"/>
            <a:r>
              <a:rPr lang="en-US" sz="1800" dirty="0"/>
              <a:t>Since there is only </a:t>
            </a:r>
            <a:r>
              <a:rPr lang="en-US" sz="1800" dirty="0">
                <a:solidFill>
                  <a:srgbClr val="C00000"/>
                </a:solidFill>
              </a:rPr>
              <a:t>one</a:t>
            </a:r>
            <a:r>
              <a:rPr lang="en-US" sz="1800" dirty="0"/>
              <a:t> instruction, each processor </a:t>
            </a:r>
            <a:r>
              <a:rPr lang="en-US" sz="1800" dirty="0">
                <a:solidFill>
                  <a:srgbClr val="C00000"/>
                </a:solidFill>
              </a:rPr>
              <a:t>does not have to fetch and decode each instruction.</a:t>
            </a:r>
          </a:p>
          <a:p>
            <a:endParaRPr lang="en-US" sz="1200" dirty="0"/>
          </a:p>
        </p:txBody>
      </p:sp>
      <p:sp>
        <p:nvSpPr>
          <p:cNvPr id="4" name="Date Placeholder 3"/>
          <p:cNvSpPr>
            <a:spLocks noGrp="1"/>
          </p:cNvSpPr>
          <p:nvPr>
            <p:ph type="dt" sz="half" idx="10"/>
          </p:nvPr>
        </p:nvSpPr>
        <p:spPr/>
        <p:txBody>
          <a:bodyPr/>
          <a:lstStyle/>
          <a:p>
            <a:fld id="{C580502C-1979-45EA-92AD-ED553842172A}"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7" name="Picture 6">
            <a:extLst>
              <a:ext uri="{FF2B5EF4-FFF2-40B4-BE49-F238E27FC236}">
                <a16:creationId xmlns:a16="http://schemas.microsoft.com/office/drawing/2014/main" id="{E65BE10F-868B-4034-B622-83E6703F5A75}"/>
              </a:ext>
            </a:extLst>
          </p:cNvPr>
          <p:cNvPicPr/>
          <p:nvPr/>
        </p:nvPicPr>
        <p:blipFill>
          <a:blip r:embed="rId2"/>
          <a:srcRect/>
          <a:stretch>
            <a:fillRect/>
          </a:stretch>
        </p:blipFill>
        <p:spPr bwMode="auto">
          <a:xfrm>
            <a:off x="5105400" y="192009"/>
            <a:ext cx="3581400" cy="2151141"/>
          </a:xfrm>
          <a:prstGeom prst="rect">
            <a:avLst/>
          </a:prstGeom>
          <a:noFill/>
          <a:ln w="9525">
            <a:noFill/>
            <a:miter lim="800000"/>
            <a:headEnd/>
            <a:tailEnd/>
          </a:ln>
        </p:spPr>
      </p:pic>
      <p:pic>
        <p:nvPicPr>
          <p:cNvPr id="8" name="Picture 7">
            <a:extLst>
              <a:ext uri="{FF2B5EF4-FFF2-40B4-BE49-F238E27FC236}">
                <a16:creationId xmlns:a16="http://schemas.microsoft.com/office/drawing/2014/main" id="{3DC1D313-28ED-4263-9CD6-953A93841EA3}"/>
              </a:ext>
            </a:extLst>
          </p:cNvPr>
          <p:cNvPicPr/>
          <p:nvPr/>
        </p:nvPicPr>
        <p:blipFill>
          <a:blip r:embed="rId3"/>
          <a:stretch>
            <a:fillRect/>
          </a:stretch>
        </p:blipFill>
        <p:spPr>
          <a:xfrm>
            <a:off x="4815842" y="2759313"/>
            <a:ext cx="3870960" cy="1827610"/>
          </a:xfrm>
          <a:prstGeom prst="rect">
            <a:avLst/>
          </a:prstGeom>
        </p:spPr>
      </p:pic>
      <p:sp>
        <p:nvSpPr>
          <p:cNvPr id="9" name="Rectangle 8">
            <a:extLst>
              <a:ext uri="{FF2B5EF4-FFF2-40B4-BE49-F238E27FC236}">
                <a16:creationId xmlns:a16="http://schemas.microsoft.com/office/drawing/2014/main" id="{BB589C14-FDF0-48FA-8A5F-214A67ED9064}"/>
              </a:ext>
            </a:extLst>
          </p:cNvPr>
          <p:cNvSpPr/>
          <p:nvPr/>
        </p:nvSpPr>
        <p:spPr>
          <a:xfrm>
            <a:off x="5791200" y="4595547"/>
            <a:ext cx="2419701" cy="276999"/>
          </a:xfrm>
          <a:prstGeom prst="rect">
            <a:avLst/>
          </a:prstGeom>
        </p:spPr>
        <p:txBody>
          <a:bodyPr wrap="none">
            <a:spAutoFit/>
          </a:bodyPr>
          <a:lstStyle/>
          <a:p>
            <a:r>
              <a:rPr lang="en-US" sz="1200" i="1" dirty="0">
                <a:latin typeface="Calibri" panose="020F0502020204030204" pitchFamily="34" charset="0"/>
                <a:ea typeface="Calibri" panose="020F0502020204030204" pitchFamily="34" charset="0"/>
                <a:cs typeface="Mangal" panose="02040503050203030202" pitchFamily="18" charset="0"/>
              </a:rPr>
              <a:t>Figure: A generic SIMD organization</a:t>
            </a:r>
            <a:endParaRPr lang="en-US" sz="1200" dirty="0"/>
          </a:p>
        </p:txBody>
      </p:sp>
    </p:spTree>
    <p:extLst>
      <p:ext uri="{BB962C8B-B14F-4D97-AF65-F5344CB8AC3E}">
        <p14:creationId xmlns:p14="http://schemas.microsoft.com/office/powerpoint/2010/main" val="36288141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7030A0"/>
                </a:solidFill>
              </a:rPr>
              <a:t>iii) MISD </a:t>
            </a:r>
          </a:p>
        </p:txBody>
      </p:sp>
      <p:sp>
        <p:nvSpPr>
          <p:cNvPr id="3" name="Content Placeholder 2"/>
          <p:cNvSpPr>
            <a:spLocks noGrp="1"/>
          </p:cNvSpPr>
          <p:nvPr>
            <p:ph idx="1"/>
          </p:nvPr>
        </p:nvSpPr>
        <p:spPr>
          <a:xfrm>
            <a:off x="457200" y="742950"/>
            <a:ext cx="3886200" cy="3851673"/>
          </a:xfrm>
        </p:spPr>
        <p:txBody>
          <a:bodyPr>
            <a:normAutofit/>
          </a:bodyPr>
          <a:lstStyle/>
          <a:p>
            <a:r>
              <a:rPr lang="en-US" sz="1600" dirty="0"/>
              <a:t>Multiple Instruction with Single Data</a:t>
            </a:r>
            <a:endParaRPr lang="en-US" sz="1600" dirty="0">
              <a:latin typeface="Calibri" panose="020F0502020204030204" pitchFamily="34" charset="0"/>
              <a:ea typeface="Times New Roman" panose="02020603050405020304" pitchFamily="18" charset="0"/>
              <a:cs typeface="Mangal" panose="02040503050203030202" pitchFamily="18" charset="0"/>
            </a:endParaRPr>
          </a:p>
          <a:p>
            <a:r>
              <a:rPr lang="en-US" sz="1600" dirty="0"/>
              <a:t>Multiple instructions operate on a single data stream.</a:t>
            </a:r>
            <a:endParaRPr lang="en-US" sz="1100" dirty="0"/>
          </a:p>
          <a:p>
            <a:r>
              <a:rPr lang="en-US" sz="1600" dirty="0"/>
              <a:t>This classification is </a:t>
            </a:r>
            <a:r>
              <a:rPr lang="en-US" sz="1600" dirty="0">
                <a:solidFill>
                  <a:srgbClr val="C00000"/>
                </a:solidFill>
              </a:rPr>
              <a:t>not</a:t>
            </a:r>
            <a:r>
              <a:rPr lang="en-US" sz="1600" dirty="0"/>
              <a:t> </a:t>
            </a:r>
            <a:r>
              <a:rPr lang="en-US" sz="1600" dirty="0">
                <a:solidFill>
                  <a:srgbClr val="C00000"/>
                </a:solidFill>
              </a:rPr>
              <a:t>practical</a:t>
            </a:r>
            <a:r>
              <a:rPr lang="en-US" sz="1600" dirty="0"/>
              <a:t> to implement. </a:t>
            </a:r>
          </a:p>
          <a:p>
            <a:r>
              <a:rPr lang="en-US" sz="1600" dirty="0"/>
              <a:t>So, no significant MISD computers ever been built. It is used for fault tolerance.</a:t>
            </a:r>
          </a:p>
        </p:txBody>
      </p:sp>
      <p:sp>
        <p:nvSpPr>
          <p:cNvPr id="4" name="Date Placeholder 3"/>
          <p:cNvSpPr>
            <a:spLocks noGrp="1"/>
          </p:cNvSpPr>
          <p:nvPr>
            <p:ph type="dt" sz="half" idx="10"/>
          </p:nvPr>
        </p:nvSpPr>
        <p:spPr/>
        <p:txBody>
          <a:bodyPr/>
          <a:lstStyle/>
          <a:p>
            <a:fld id="{A93BF446-FA8C-494B-B4CB-0B48522F87EF}"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7" name="Picture 6">
            <a:extLst>
              <a:ext uri="{FF2B5EF4-FFF2-40B4-BE49-F238E27FC236}">
                <a16:creationId xmlns:a16="http://schemas.microsoft.com/office/drawing/2014/main" id="{9325037C-814B-424E-AA94-F1D079BFED69}"/>
              </a:ext>
            </a:extLst>
          </p:cNvPr>
          <p:cNvPicPr/>
          <p:nvPr/>
        </p:nvPicPr>
        <p:blipFill>
          <a:blip r:embed="rId2">
            <a:lum contrast="20000"/>
          </a:blip>
          <a:srcRect/>
          <a:stretch>
            <a:fillRect/>
          </a:stretch>
        </p:blipFill>
        <p:spPr bwMode="auto">
          <a:xfrm>
            <a:off x="5029199" y="1123950"/>
            <a:ext cx="3657601" cy="1863090"/>
          </a:xfrm>
          <a:prstGeom prst="rect">
            <a:avLst/>
          </a:prstGeom>
          <a:noFill/>
          <a:ln w="9525">
            <a:noFill/>
            <a:miter lim="800000"/>
            <a:headEnd/>
            <a:tailEnd/>
          </a:ln>
        </p:spPr>
      </p:pic>
      <p:sp>
        <p:nvSpPr>
          <p:cNvPr id="8" name="Content Placeholder 2">
            <a:extLst>
              <a:ext uri="{FF2B5EF4-FFF2-40B4-BE49-F238E27FC236}">
                <a16:creationId xmlns:a16="http://schemas.microsoft.com/office/drawing/2014/main" id="{0B3CAE87-AE13-45C4-B857-D5C0602E264B}"/>
              </a:ext>
            </a:extLst>
          </p:cNvPr>
          <p:cNvSpPr txBox="1">
            <a:spLocks/>
          </p:cNvSpPr>
          <p:nvPr/>
        </p:nvSpPr>
        <p:spPr>
          <a:xfrm>
            <a:off x="4572000" y="678180"/>
            <a:ext cx="4114800" cy="38516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dirty="0"/>
          </a:p>
        </p:txBody>
      </p:sp>
    </p:spTree>
    <p:extLst>
      <p:ext uri="{BB962C8B-B14F-4D97-AF65-F5344CB8AC3E}">
        <p14:creationId xmlns:p14="http://schemas.microsoft.com/office/powerpoint/2010/main" val="27642093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7030A0"/>
                </a:solidFill>
              </a:rPr>
              <a:t>iv) MIMD</a:t>
            </a:r>
          </a:p>
        </p:txBody>
      </p:sp>
      <p:sp>
        <p:nvSpPr>
          <p:cNvPr id="4" name="Date Placeholder 3"/>
          <p:cNvSpPr>
            <a:spLocks noGrp="1"/>
          </p:cNvSpPr>
          <p:nvPr>
            <p:ph type="dt" sz="half" idx="10"/>
          </p:nvPr>
        </p:nvSpPr>
        <p:spPr/>
        <p:txBody>
          <a:bodyPr/>
          <a:lstStyle/>
          <a:p>
            <a:fld id="{407513E7-0C64-4B45-9347-5EAD567DADCA}"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
        <p:nvSpPr>
          <p:cNvPr id="8" name="Content Placeholder 2">
            <a:extLst>
              <a:ext uri="{FF2B5EF4-FFF2-40B4-BE49-F238E27FC236}">
                <a16:creationId xmlns:a16="http://schemas.microsoft.com/office/drawing/2014/main" id="{0B3CAE87-AE13-45C4-B857-D5C0602E264B}"/>
              </a:ext>
            </a:extLst>
          </p:cNvPr>
          <p:cNvSpPr txBox="1">
            <a:spLocks/>
          </p:cNvSpPr>
          <p:nvPr/>
        </p:nvSpPr>
        <p:spPr>
          <a:xfrm>
            <a:off x="609600" y="764618"/>
            <a:ext cx="4114800" cy="38516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dirty="0"/>
              <a:t>Multiple Instruction with Multiple Data</a:t>
            </a:r>
            <a:endParaRPr lang="en-US" sz="1600" dirty="0">
              <a:latin typeface="Calibri" panose="020F0502020204030204" pitchFamily="34" charset="0"/>
              <a:ea typeface="Times New Roman" panose="02020603050405020304" pitchFamily="18" charset="0"/>
              <a:cs typeface="Mangal" panose="02040503050203030202" pitchFamily="18" charset="0"/>
            </a:endParaRPr>
          </a:p>
          <a:p>
            <a:r>
              <a:rPr lang="en-US" sz="1600" dirty="0"/>
              <a:t>Systems referred to as multiprocessors or multi-computers are usually MIMD. </a:t>
            </a:r>
          </a:p>
          <a:p>
            <a:r>
              <a:rPr lang="en-US" sz="1600" dirty="0"/>
              <a:t>It </a:t>
            </a:r>
            <a:r>
              <a:rPr lang="en-US" sz="1600" dirty="0">
                <a:solidFill>
                  <a:srgbClr val="C00000"/>
                </a:solidFill>
              </a:rPr>
              <a:t>may execute multiple instructions </a:t>
            </a:r>
            <a:r>
              <a:rPr lang="en-US" sz="1600" dirty="0"/>
              <a:t>simultaneously unlike SIMD. </a:t>
            </a:r>
          </a:p>
          <a:p>
            <a:r>
              <a:rPr lang="en-US" sz="1600" dirty="0"/>
              <a:t>So, </a:t>
            </a:r>
            <a:r>
              <a:rPr lang="en-US" sz="1600" dirty="0">
                <a:solidFill>
                  <a:srgbClr val="C00000"/>
                </a:solidFill>
              </a:rPr>
              <a:t>each processor must include its own control unit. </a:t>
            </a:r>
          </a:p>
          <a:p>
            <a:r>
              <a:rPr lang="en-US" sz="1600" dirty="0"/>
              <a:t>MIMD machines are well suited for general purpose use.</a:t>
            </a:r>
          </a:p>
          <a:p>
            <a:endParaRPr lang="en-US" sz="1600" dirty="0"/>
          </a:p>
        </p:txBody>
      </p:sp>
      <p:pic>
        <p:nvPicPr>
          <p:cNvPr id="9" name="Picture 8">
            <a:extLst>
              <a:ext uri="{FF2B5EF4-FFF2-40B4-BE49-F238E27FC236}">
                <a16:creationId xmlns:a16="http://schemas.microsoft.com/office/drawing/2014/main" id="{3746A3CF-05DB-4C86-AB4D-88FCB1046F61}"/>
              </a:ext>
            </a:extLst>
          </p:cNvPr>
          <p:cNvPicPr/>
          <p:nvPr/>
        </p:nvPicPr>
        <p:blipFill>
          <a:blip r:embed="rId2">
            <a:lum contrast="27000"/>
          </a:blip>
          <a:srcRect/>
          <a:stretch>
            <a:fillRect/>
          </a:stretch>
        </p:blipFill>
        <p:spPr bwMode="auto">
          <a:xfrm>
            <a:off x="4953000" y="1047750"/>
            <a:ext cx="3352165" cy="1832769"/>
          </a:xfrm>
          <a:prstGeom prst="rect">
            <a:avLst/>
          </a:prstGeom>
          <a:noFill/>
          <a:ln w="9525">
            <a:noFill/>
            <a:miter lim="800000"/>
            <a:headEnd/>
            <a:tailEnd/>
          </a:ln>
        </p:spPr>
      </p:pic>
    </p:spTree>
    <p:extLst>
      <p:ext uri="{BB962C8B-B14F-4D97-AF65-F5344CB8AC3E}">
        <p14:creationId xmlns:p14="http://schemas.microsoft.com/office/powerpoint/2010/main" val="2962747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C) System Topologies</a:t>
            </a:r>
          </a:p>
        </p:txBody>
      </p:sp>
      <p:sp>
        <p:nvSpPr>
          <p:cNvPr id="3" name="Content Placeholder 2"/>
          <p:cNvSpPr>
            <a:spLocks noGrp="1"/>
          </p:cNvSpPr>
          <p:nvPr>
            <p:ph idx="1"/>
          </p:nvPr>
        </p:nvSpPr>
        <p:spPr>
          <a:xfrm>
            <a:off x="457200" y="742950"/>
            <a:ext cx="8229600" cy="3851673"/>
          </a:xfrm>
        </p:spPr>
        <p:txBody>
          <a:bodyPr>
            <a:normAutofit/>
          </a:bodyPr>
          <a:lstStyle/>
          <a:p>
            <a:r>
              <a:rPr lang="en-US" sz="2400" dirty="0"/>
              <a:t>It refers to the various ways of connection of processor. MIMD system topologies</a:t>
            </a:r>
          </a:p>
          <a:p>
            <a:pPr marL="914400" lvl="1" indent="-514350">
              <a:buFont typeface="+mj-lt"/>
              <a:buAutoNum type="alphaLcParenR"/>
            </a:pPr>
            <a:r>
              <a:rPr lang="en-US" sz="2000" dirty="0"/>
              <a:t>Shared bus Topology</a:t>
            </a:r>
          </a:p>
          <a:p>
            <a:pPr marL="914400" lvl="1" indent="-514350">
              <a:buFont typeface="+mj-lt"/>
              <a:buAutoNum type="alphaLcParenR"/>
            </a:pPr>
            <a:r>
              <a:rPr lang="en-US" sz="2000" dirty="0"/>
              <a:t>Ring Topology</a:t>
            </a:r>
          </a:p>
          <a:p>
            <a:pPr marL="914400" lvl="1" indent="-514350">
              <a:buFont typeface="+mj-lt"/>
              <a:buAutoNum type="alphaLcParenR"/>
            </a:pPr>
            <a:r>
              <a:rPr lang="en-US" sz="2000" dirty="0"/>
              <a:t>Tree Topology</a:t>
            </a:r>
          </a:p>
          <a:p>
            <a:pPr marL="914400" lvl="1" indent="-514350">
              <a:buFont typeface="+mj-lt"/>
              <a:buAutoNum type="alphaLcParenR"/>
            </a:pPr>
            <a:r>
              <a:rPr lang="en-US" sz="2000" dirty="0"/>
              <a:t>Mesh Topology</a:t>
            </a:r>
          </a:p>
          <a:p>
            <a:pPr marL="914400" lvl="1" indent="-514350">
              <a:buFont typeface="+mj-lt"/>
              <a:buAutoNum type="alphaLcParenR"/>
            </a:pPr>
            <a:r>
              <a:rPr lang="en-US" sz="2000" dirty="0"/>
              <a:t>Hyper cube Topology</a:t>
            </a:r>
          </a:p>
          <a:p>
            <a:pPr marL="914400" lvl="1" indent="-514350">
              <a:buFont typeface="+mj-lt"/>
              <a:buAutoNum type="alphaLcParenR"/>
            </a:pPr>
            <a:r>
              <a:rPr lang="en-US" sz="2000" dirty="0"/>
              <a:t>Completely connected Topology</a:t>
            </a:r>
          </a:p>
          <a:p>
            <a:endParaRPr lang="en-US" sz="1600" dirty="0"/>
          </a:p>
        </p:txBody>
      </p:sp>
      <p:sp>
        <p:nvSpPr>
          <p:cNvPr id="4" name="Date Placeholder 3"/>
          <p:cNvSpPr>
            <a:spLocks noGrp="1"/>
          </p:cNvSpPr>
          <p:nvPr>
            <p:ph type="dt" sz="half" idx="10"/>
          </p:nvPr>
        </p:nvSpPr>
        <p:spPr/>
        <p:txBody>
          <a:bodyPr/>
          <a:lstStyle/>
          <a:p>
            <a:fld id="{843409A2-DC88-42D5-B6C9-D4C06BAEA1AE}"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1001015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7030A0"/>
                </a:solidFill>
              </a:rPr>
              <a:t>a) Shared Bus Topology</a:t>
            </a:r>
          </a:p>
        </p:txBody>
      </p:sp>
      <p:sp>
        <p:nvSpPr>
          <p:cNvPr id="3" name="Content Placeholder 2"/>
          <p:cNvSpPr>
            <a:spLocks noGrp="1"/>
          </p:cNvSpPr>
          <p:nvPr>
            <p:ph idx="1"/>
          </p:nvPr>
        </p:nvSpPr>
        <p:spPr>
          <a:xfrm>
            <a:off x="457200" y="742950"/>
            <a:ext cx="4572000" cy="3851673"/>
          </a:xfrm>
        </p:spPr>
        <p:txBody>
          <a:bodyPr>
            <a:normAutofit/>
          </a:bodyPr>
          <a:lstStyle/>
          <a:p>
            <a:r>
              <a:rPr lang="en-US" sz="1600" dirty="0"/>
              <a:t>Simplest topology</a:t>
            </a:r>
          </a:p>
          <a:p>
            <a:r>
              <a:rPr lang="en-US" sz="1600" dirty="0"/>
              <a:t>A processor communicates with each other  exclusively via the bus.</a:t>
            </a:r>
          </a:p>
          <a:p>
            <a:r>
              <a:rPr lang="en-US" sz="1600" dirty="0"/>
              <a:t>This bus can handle only one data transmission at a time. This is controlled by bus arbitration.</a:t>
            </a:r>
          </a:p>
          <a:p>
            <a:r>
              <a:rPr lang="en-US" sz="1600" dirty="0"/>
              <a:t>If more processors are added, then demand of bus will be high resulting in delays.</a:t>
            </a:r>
          </a:p>
          <a:p>
            <a:r>
              <a:rPr lang="en-US" sz="1600" dirty="0"/>
              <a:t>Shared bus systems are easy to expand.</a:t>
            </a:r>
          </a:p>
          <a:p>
            <a:endParaRPr lang="en-US" sz="1600" dirty="0"/>
          </a:p>
        </p:txBody>
      </p:sp>
      <p:sp>
        <p:nvSpPr>
          <p:cNvPr id="4" name="Date Placeholder 3"/>
          <p:cNvSpPr>
            <a:spLocks noGrp="1"/>
          </p:cNvSpPr>
          <p:nvPr>
            <p:ph type="dt" sz="half" idx="10"/>
          </p:nvPr>
        </p:nvSpPr>
        <p:spPr/>
        <p:txBody>
          <a:bodyPr/>
          <a:lstStyle/>
          <a:p>
            <a:fld id="{B973A484-7533-4FB0-87B7-C00189885B74}"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8" name="Picture 7">
            <a:extLst>
              <a:ext uri="{FF2B5EF4-FFF2-40B4-BE49-F238E27FC236}">
                <a16:creationId xmlns:a16="http://schemas.microsoft.com/office/drawing/2014/main" id="{9922141D-A2B1-41B8-B154-7BD618769DC4}"/>
              </a:ext>
            </a:extLst>
          </p:cNvPr>
          <p:cNvPicPr>
            <a:picLocks noChangeAspect="1"/>
          </p:cNvPicPr>
          <p:nvPr/>
        </p:nvPicPr>
        <p:blipFill>
          <a:blip r:embed="rId2"/>
          <a:stretch>
            <a:fillRect/>
          </a:stretch>
        </p:blipFill>
        <p:spPr>
          <a:xfrm>
            <a:off x="5410200" y="742950"/>
            <a:ext cx="2956605" cy="3277552"/>
          </a:xfrm>
          <a:prstGeom prst="rect">
            <a:avLst/>
          </a:prstGeom>
        </p:spPr>
      </p:pic>
    </p:spTree>
    <p:extLst>
      <p:ext uri="{BB962C8B-B14F-4D97-AF65-F5344CB8AC3E}">
        <p14:creationId xmlns:p14="http://schemas.microsoft.com/office/powerpoint/2010/main" val="976365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7030A0"/>
                </a:solidFill>
              </a:rPr>
              <a:t>b) Ring topology</a:t>
            </a:r>
          </a:p>
        </p:txBody>
      </p:sp>
      <p:sp>
        <p:nvSpPr>
          <p:cNvPr id="3" name="Content Placeholder 2"/>
          <p:cNvSpPr>
            <a:spLocks noGrp="1"/>
          </p:cNvSpPr>
          <p:nvPr>
            <p:ph idx="1"/>
          </p:nvPr>
        </p:nvSpPr>
        <p:spPr>
          <a:xfrm>
            <a:off x="457200" y="742950"/>
            <a:ext cx="5410200" cy="3851673"/>
          </a:xfrm>
        </p:spPr>
        <p:txBody>
          <a:bodyPr>
            <a:normAutofit/>
          </a:bodyPr>
          <a:lstStyle/>
          <a:p>
            <a:r>
              <a:rPr lang="en-US" sz="2000" dirty="0"/>
              <a:t>Uses direct dedicated connections between processors.</a:t>
            </a:r>
          </a:p>
          <a:p>
            <a:r>
              <a:rPr lang="en-US" sz="2000" dirty="0"/>
              <a:t>No need of a shared bus.</a:t>
            </a:r>
          </a:p>
          <a:p>
            <a:r>
              <a:rPr lang="en-US" sz="2000" dirty="0"/>
              <a:t>However, a piece of data may have to travel through several processors to reach its final destination. </a:t>
            </a:r>
          </a:p>
        </p:txBody>
      </p:sp>
      <p:sp>
        <p:nvSpPr>
          <p:cNvPr id="4" name="Date Placeholder 3"/>
          <p:cNvSpPr>
            <a:spLocks noGrp="1"/>
          </p:cNvSpPr>
          <p:nvPr>
            <p:ph type="dt" sz="half" idx="10"/>
          </p:nvPr>
        </p:nvSpPr>
        <p:spPr/>
        <p:txBody>
          <a:bodyPr/>
          <a:lstStyle/>
          <a:p>
            <a:fld id="{8C26B046-B0B6-4702-9BAF-B370AE316416}"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8" name="Picture 7">
            <a:extLst>
              <a:ext uri="{FF2B5EF4-FFF2-40B4-BE49-F238E27FC236}">
                <a16:creationId xmlns:a16="http://schemas.microsoft.com/office/drawing/2014/main" id="{147AE7DF-A8E2-4D8C-B796-A01751C26429}"/>
              </a:ext>
            </a:extLst>
          </p:cNvPr>
          <p:cNvPicPr>
            <a:picLocks noChangeAspect="1"/>
          </p:cNvPicPr>
          <p:nvPr/>
        </p:nvPicPr>
        <p:blipFill>
          <a:blip r:embed="rId2"/>
          <a:stretch>
            <a:fillRect/>
          </a:stretch>
        </p:blipFill>
        <p:spPr>
          <a:xfrm>
            <a:off x="6183630" y="914400"/>
            <a:ext cx="2457450" cy="3314700"/>
          </a:xfrm>
          <a:prstGeom prst="rect">
            <a:avLst/>
          </a:prstGeom>
        </p:spPr>
      </p:pic>
    </p:spTree>
    <p:extLst>
      <p:ext uri="{BB962C8B-B14F-4D97-AF65-F5344CB8AC3E}">
        <p14:creationId xmlns:p14="http://schemas.microsoft.com/office/powerpoint/2010/main" val="113270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7030A0"/>
                </a:solidFill>
              </a:rPr>
              <a:t>c) Tree topology</a:t>
            </a:r>
          </a:p>
        </p:txBody>
      </p:sp>
      <p:sp>
        <p:nvSpPr>
          <p:cNvPr id="3" name="Content Placeholder 2"/>
          <p:cNvSpPr>
            <a:spLocks noGrp="1"/>
          </p:cNvSpPr>
          <p:nvPr>
            <p:ph idx="1"/>
          </p:nvPr>
        </p:nvSpPr>
        <p:spPr>
          <a:xfrm>
            <a:off x="457200" y="742950"/>
            <a:ext cx="5029200" cy="3851673"/>
          </a:xfrm>
        </p:spPr>
        <p:txBody>
          <a:bodyPr>
            <a:normAutofit/>
          </a:bodyPr>
          <a:lstStyle/>
          <a:p>
            <a:r>
              <a:rPr lang="en-US" sz="2000" dirty="0"/>
              <a:t>All processors must have two communication links.</a:t>
            </a:r>
          </a:p>
          <a:p>
            <a:r>
              <a:rPr lang="en-US" sz="2000" dirty="0"/>
              <a:t>It uses direct connection between processors.</a:t>
            </a:r>
          </a:p>
          <a:p>
            <a:r>
              <a:rPr lang="en-US" sz="2000" dirty="0"/>
              <a:t>There is only one unique path between any pair of processors.</a:t>
            </a:r>
          </a:p>
        </p:txBody>
      </p:sp>
      <p:sp>
        <p:nvSpPr>
          <p:cNvPr id="4" name="Date Placeholder 3"/>
          <p:cNvSpPr>
            <a:spLocks noGrp="1"/>
          </p:cNvSpPr>
          <p:nvPr>
            <p:ph type="dt" sz="half" idx="10"/>
          </p:nvPr>
        </p:nvSpPr>
        <p:spPr/>
        <p:txBody>
          <a:bodyPr/>
          <a:lstStyle/>
          <a:p>
            <a:fld id="{7DE3ECCB-ED2E-4B12-87C2-92AC17B08D38}"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8" name="Picture 7">
            <a:extLst>
              <a:ext uri="{FF2B5EF4-FFF2-40B4-BE49-F238E27FC236}">
                <a16:creationId xmlns:a16="http://schemas.microsoft.com/office/drawing/2014/main" id="{7A453F0F-DE70-41AF-A141-80EE11C3AD18}"/>
              </a:ext>
            </a:extLst>
          </p:cNvPr>
          <p:cNvPicPr>
            <a:picLocks noChangeAspect="1"/>
          </p:cNvPicPr>
          <p:nvPr/>
        </p:nvPicPr>
        <p:blipFill rotWithShape="1">
          <a:blip r:embed="rId2"/>
          <a:srcRect l="32744" t="21886" r="25442" b="-1243"/>
          <a:stretch/>
        </p:blipFill>
        <p:spPr>
          <a:xfrm>
            <a:off x="5471160" y="1028700"/>
            <a:ext cx="3503109" cy="2434829"/>
          </a:xfrm>
          <a:prstGeom prst="rect">
            <a:avLst/>
          </a:prstGeom>
        </p:spPr>
      </p:pic>
    </p:spTree>
    <p:extLst>
      <p:ext uri="{BB962C8B-B14F-4D97-AF65-F5344CB8AC3E}">
        <p14:creationId xmlns:p14="http://schemas.microsoft.com/office/powerpoint/2010/main" val="27133756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986FD625-EE21-4CAA-86D7-A4786E843ED9}"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7" name="Picture 6">
            <a:extLst>
              <a:ext uri="{FF2B5EF4-FFF2-40B4-BE49-F238E27FC236}">
                <a16:creationId xmlns:a16="http://schemas.microsoft.com/office/drawing/2014/main" id="{F0959900-3CFA-4049-B645-8D601AE8BC46}"/>
              </a:ext>
            </a:extLst>
          </p:cNvPr>
          <p:cNvPicPr>
            <a:picLocks noChangeAspect="1"/>
          </p:cNvPicPr>
          <p:nvPr/>
        </p:nvPicPr>
        <p:blipFill rotWithShape="1">
          <a:blip r:embed="rId2"/>
          <a:srcRect l="-1655" t="-1093" r="1655" b="-1335"/>
          <a:stretch/>
        </p:blipFill>
        <p:spPr>
          <a:xfrm>
            <a:off x="472439" y="805100"/>
            <a:ext cx="8288479" cy="3214450"/>
          </a:xfrm>
          <a:prstGeom prst="rect">
            <a:avLst/>
          </a:prstGeom>
        </p:spPr>
      </p:pic>
    </p:spTree>
    <p:extLst>
      <p:ext uri="{BB962C8B-B14F-4D97-AF65-F5344CB8AC3E}">
        <p14:creationId xmlns:p14="http://schemas.microsoft.com/office/powerpoint/2010/main" val="387902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9B95A647-6A86-4116-AE6D-7C29F0628871}"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7" name="Picture 6">
            <a:extLst>
              <a:ext uri="{FF2B5EF4-FFF2-40B4-BE49-F238E27FC236}">
                <a16:creationId xmlns:a16="http://schemas.microsoft.com/office/drawing/2014/main" id="{70FB4EEA-5D2E-417C-9328-6D731EECEDE2}"/>
              </a:ext>
            </a:extLst>
          </p:cNvPr>
          <p:cNvPicPr>
            <a:picLocks noChangeAspect="1"/>
          </p:cNvPicPr>
          <p:nvPr/>
        </p:nvPicPr>
        <p:blipFill rotWithShape="1">
          <a:blip r:embed="rId2"/>
          <a:srcRect b="55354"/>
          <a:stretch/>
        </p:blipFill>
        <p:spPr>
          <a:xfrm>
            <a:off x="609600" y="520779"/>
            <a:ext cx="7772400" cy="1898571"/>
          </a:xfrm>
          <a:prstGeom prst="rect">
            <a:avLst/>
          </a:prstGeom>
        </p:spPr>
      </p:pic>
      <p:pic>
        <p:nvPicPr>
          <p:cNvPr id="8" name="Picture 7">
            <a:extLst>
              <a:ext uri="{FF2B5EF4-FFF2-40B4-BE49-F238E27FC236}">
                <a16:creationId xmlns:a16="http://schemas.microsoft.com/office/drawing/2014/main" id="{FEC26961-3A91-4CAC-9EA5-B4ECB58097C2}"/>
              </a:ext>
            </a:extLst>
          </p:cNvPr>
          <p:cNvPicPr>
            <a:picLocks noChangeAspect="1"/>
          </p:cNvPicPr>
          <p:nvPr/>
        </p:nvPicPr>
        <p:blipFill>
          <a:blip r:embed="rId3"/>
          <a:stretch>
            <a:fillRect/>
          </a:stretch>
        </p:blipFill>
        <p:spPr>
          <a:xfrm>
            <a:off x="2743200" y="2476126"/>
            <a:ext cx="3276600" cy="2275908"/>
          </a:xfrm>
          <a:prstGeom prst="rect">
            <a:avLst/>
          </a:prstGeom>
        </p:spPr>
      </p:pic>
    </p:spTree>
    <p:extLst>
      <p:ext uri="{BB962C8B-B14F-4D97-AF65-F5344CB8AC3E}">
        <p14:creationId xmlns:p14="http://schemas.microsoft.com/office/powerpoint/2010/main" val="1096215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pic>
        <p:nvPicPr>
          <p:cNvPr id="8" name="Content Placeholder 7">
            <a:extLst>
              <a:ext uri="{FF2B5EF4-FFF2-40B4-BE49-F238E27FC236}">
                <a16:creationId xmlns:a16="http://schemas.microsoft.com/office/drawing/2014/main" id="{6B625C88-A788-46E6-B7DF-89B98B0A726F}"/>
              </a:ext>
            </a:extLst>
          </p:cNvPr>
          <p:cNvPicPr>
            <a:picLocks noGrp="1" noChangeAspect="1"/>
          </p:cNvPicPr>
          <p:nvPr>
            <p:ph idx="1"/>
          </p:nvPr>
        </p:nvPicPr>
        <p:blipFill>
          <a:blip r:embed="rId2"/>
          <a:stretch>
            <a:fillRect/>
          </a:stretch>
        </p:blipFill>
        <p:spPr>
          <a:xfrm>
            <a:off x="3200400" y="1581150"/>
            <a:ext cx="2895599" cy="2846933"/>
          </a:xfrm>
          <a:prstGeom prst="rect">
            <a:avLst/>
          </a:prstGeom>
        </p:spPr>
      </p:pic>
      <p:sp>
        <p:nvSpPr>
          <p:cNvPr id="4" name="Date Placeholder 3"/>
          <p:cNvSpPr>
            <a:spLocks noGrp="1"/>
          </p:cNvSpPr>
          <p:nvPr>
            <p:ph type="dt" sz="half" idx="10"/>
          </p:nvPr>
        </p:nvSpPr>
        <p:spPr/>
        <p:txBody>
          <a:bodyPr/>
          <a:lstStyle/>
          <a:p>
            <a:fld id="{98FCA09F-51EA-4616-A800-F42B80D07656}"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7" name="Picture 6">
            <a:extLst>
              <a:ext uri="{FF2B5EF4-FFF2-40B4-BE49-F238E27FC236}">
                <a16:creationId xmlns:a16="http://schemas.microsoft.com/office/drawing/2014/main" id="{6B7FC322-7267-4DF4-B68B-5AF007BA6D6A}"/>
              </a:ext>
            </a:extLst>
          </p:cNvPr>
          <p:cNvPicPr>
            <a:picLocks noChangeAspect="1"/>
          </p:cNvPicPr>
          <p:nvPr/>
        </p:nvPicPr>
        <p:blipFill rotWithShape="1">
          <a:blip r:embed="rId3"/>
          <a:srcRect b="74790"/>
          <a:stretch/>
        </p:blipFill>
        <p:spPr>
          <a:xfrm>
            <a:off x="1103600" y="628768"/>
            <a:ext cx="6516400" cy="1028582"/>
          </a:xfrm>
          <a:prstGeom prst="rect">
            <a:avLst/>
          </a:prstGeom>
        </p:spPr>
      </p:pic>
    </p:spTree>
    <p:extLst>
      <p:ext uri="{BB962C8B-B14F-4D97-AF65-F5344CB8AC3E}">
        <p14:creationId xmlns:p14="http://schemas.microsoft.com/office/powerpoint/2010/main" val="13331410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9.6 MIMD System Architecture:</a:t>
            </a:r>
          </a:p>
        </p:txBody>
      </p:sp>
      <p:sp>
        <p:nvSpPr>
          <p:cNvPr id="3" name="Content Placeholder 2"/>
          <p:cNvSpPr>
            <a:spLocks noGrp="1"/>
          </p:cNvSpPr>
          <p:nvPr>
            <p:ph idx="1"/>
          </p:nvPr>
        </p:nvSpPr>
        <p:spPr>
          <a:xfrm>
            <a:off x="457200" y="742950"/>
            <a:ext cx="8229600" cy="3851673"/>
          </a:xfrm>
        </p:spPr>
        <p:txBody>
          <a:bodyPr>
            <a:normAutofit/>
          </a:bodyPr>
          <a:lstStyle/>
          <a:p>
            <a:r>
              <a:rPr lang="en-US" sz="2000" dirty="0"/>
              <a:t>It refers to its connections with respect to system memory.</a:t>
            </a:r>
          </a:p>
          <a:p>
            <a:r>
              <a:rPr lang="en-US" sz="2000" b="1" u="sng" dirty="0"/>
              <a:t>Symmetric multiprocessor (SMP)</a:t>
            </a:r>
            <a:endParaRPr lang="en-US" sz="2000" dirty="0"/>
          </a:p>
          <a:p>
            <a:r>
              <a:rPr lang="en-US" sz="2000" dirty="0"/>
              <a:t>A computer </a:t>
            </a:r>
            <a:r>
              <a:rPr lang="en-US" sz="2000" dirty="0">
                <a:solidFill>
                  <a:srgbClr val="C00000"/>
                </a:solidFill>
              </a:rPr>
              <a:t>system that has two or more processors </a:t>
            </a:r>
            <a:r>
              <a:rPr lang="en-US" sz="2000" dirty="0"/>
              <a:t>with comparable capabilities. </a:t>
            </a:r>
          </a:p>
          <a:p>
            <a:r>
              <a:rPr lang="en-US" sz="2000" dirty="0">
                <a:solidFill>
                  <a:srgbClr val="C00000"/>
                </a:solidFill>
              </a:rPr>
              <a:t>All processors </a:t>
            </a:r>
            <a:r>
              <a:rPr lang="en-US" sz="2000" dirty="0"/>
              <a:t>must be capable of </a:t>
            </a:r>
            <a:r>
              <a:rPr lang="en-US" sz="2000" dirty="0">
                <a:solidFill>
                  <a:srgbClr val="C00000"/>
                </a:solidFill>
              </a:rPr>
              <a:t>performing the same functions</a:t>
            </a:r>
            <a:r>
              <a:rPr lang="en-US" sz="2000" dirty="0"/>
              <a:t>, this is the symmetry of SMPs.</a:t>
            </a:r>
          </a:p>
          <a:p>
            <a:r>
              <a:rPr lang="en-US" sz="2000" dirty="0"/>
              <a:t>An </a:t>
            </a:r>
            <a:r>
              <a:rPr lang="en-US" sz="2000" dirty="0">
                <a:solidFill>
                  <a:srgbClr val="C00000"/>
                </a:solidFill>
              </a:rPr>
              <a:t>integrated OS </a:t>
            </a:r>
            <a:r>
              <a:rPr lang="en-US" sz="2000" dirty="0"/>
              <a:t>controls entire computer system.</a:t>
            </a:r>
          </a:p>
          <a:p>
            <a:r>
              <a:rPr lang="en-US" sz="2000" dirty="0"/>
              <a:t>All processor has access to same I/O devices and memory modules.</a:t>
            </a:r>
          </a:p>
          <a:p>
            <a:r>
              <a:rPr lang="en-US" sz="2000" dirty="0"/>
              <a:t>Types of SMP:</a:t>
            </a:r>
          </a:p>
          <a:p>
            <a:pPr lvl="1"/>
            <a:r>
              <a:rPr lang="en-US" sz="1600" dirty="0"/>
              <a:t>UMA (Uniform Memory Access)</a:t>
            </a:r>
          </a:p>
          <a:p>
            <a:pPr lvl="1"/>
            <a:r>
              <a:rPr lang="en-US" sz="1600" dirty="0"/>
              <a:t>NUMA (Non Uniform Memory Access)</a:t>
            </a:r>
          </a:p>
          <a:p>
            <a:endParaRPr lang="en-US" sz="2000" dirty="0"/>
          </a:p>
          <a:p>
            <a:endParaRPr lang="en-US" sz="1400" dirty="0"/>
          </a:p>
        </p:txBody>
      </p:sp>
      <p:sp>
        <p:nvSpPr>
          <p:cNvPr id="4" name="Date Placeholder 3"/>
          <p:cNvSpPr>
            <a:spLocks noGrp="1"/>
          </p:cNvSpPr>
          <p:nvPr>
            <p:ph type="dt" sz="half" idx="10"/>
          </p:nvPr>
        </p:nvSpPr>
        <p:spPr/>
        <p:txBody>
          <a:bodyPr/>
          <a:lstStyle/>
          <a:p>
            <a:fld id="{4D28C8F3-6595-426E-A5C8-15DDA204DA76}"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26988287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Shared Memory model of MIMD</a:t>
            </a:r>
          </a:p>
        </p:txBody>
      </p:sp>
      <p:sp>
        <p:nvSpPr>
          <p:cNvPr id="3" name="Content Placeholder 2"/>
          <p:cNvSpPr>
            <a:spLocks noGrp="1"/>
          </p:cNvSpPr>
          <p:nvPr>
            <p:ph idx="1"/>
          </p:nvPr>
        </p:nvSpPr>
        <p:spPr>
          <a:xfrm>
            <a:off x="457200" y="742950"/>
            <a:ext cx="8229600" cy="3851673"/>
          </a:xfrm>
        </p:spPr>
        <p:txBody>
          <a:bodyPr>
            <a:normAutofit/>
          </a:bodyPr>
          <a:lstStyle/>
          <a:p>
            <a:r>
              <a:rPr lang="en-US" sz="2000" dirty="0"/>
              <a:t>UMA (Uniform Memory Access)</a:t>
            </a:r>
          </a:p>
          <a:p>
            <a:r>
              <a:rPr lang="en-US" sz="2000" dirty="0"/>
              <a:t>NUMA (Non Uniform Memory Access)</a:t>
            </a:r>
          </a:p>
          <a:p>
            <a:r>
              <a:rPr lang="en-US" sz="2000" dirty="0"/>
              <a:t>COMA</a:t>
            </a:r>
          </a:p>
          <a:p>
            <a:endParaRPr lang="en-US" sz="2000" dirty="0"/>
          </a:p>
          <a:p>
            <a:endParaRPr lang="en-US" sz="1400" dirty="0"/>
          </a:p>
        </p:txBody>
      </p:sp>
      <p:sp>
        <p:nvSpPr>
          <p:cNvPr id="4" name="Date Placeholder 3"/>
          <p:cNvSpPr>
            <a:spLocks noGrp="1"/>
          </p:cNvSpPr>
          <p:nvPr>
            <p:ph type="dt" sz="half" idx="10"/>
          </p:nvPr>
        </p:nvSpPr>
        <p:spPr/>
        <p:txBody>
          <a:bodyPr/>
          <a:lstStyle/>
          <a:p>
            <a:fld id="{EF223ED7-568D-49C5-A38E-56BB913890E5}"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42926549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400" b="1" dirty="0" err="1">
                <a:solidFill>
                  <a:srgbClr val="7030A0"/>
                </a:solidFill>
              </a:rPr>
              <a:t>i</a:t>
            </a:r>
            <a:r>
              <a:rPr lang="en-US" sz="2400" b="1" dirty="0">
                <a:solidFill>
                  <a:srgbClr val="7030A0"/>
                </a:solidFill>
              </a:rPr>
              <a:t>) UMA (Uniform Memory Access) Architecture</a:t>
            </a:r>
          </a:p>
        </p:txBody>
      </p:sp>
      <p:sp>
        <p:nvSpPr>
          <p:cNvPr id="3" name="Content Placeholder 2"/>
          <p:cNvSpPr>
            <a:spLocks noGrp="1"/>
          </p:cNvSpPr>
          <p:nvPr>
            <p:ph idx="1"/>
          </p:nvPr>
        </p:nvSpPr>
        <p:spPr>
          <a:xfrm>
            <a:off x="457200" y="742950"/>
            <a:ext cx="7391400" cy="3851673"/>
          </a:xfrm>
        </p:spPr>
        <p:txBody>
          <a:bodyPr>
            <a:normAutofit/>
          </a:bodyPr>
          <a:lstStyle/>
          <a:p>
            <a:r>
              <a:rPr lang="en-US" sz="2000" dirty="0"/>
              <a:t>This architecture has a single shared memory.</a:t>
            </a:r>
          </a:p>
          <a:p>
            <a:r>
              <a:rPr lang="en-US" sz="2000" dirty="0"/>
              <a:t>It gives all CPU equal access to all locations in shared memory.</a:t>
            </a:r>
          </a:p>
          <a:p>
            <a:r>
              <a:rPr lang="en-US" sz="2000" dirty="0"/>
              <a:t>They interact with shared memory through some common mechanism.</a:t>
            </a:r>
          </a:p>
        </p:txBody>
      </p:sp>
      <p:sp>
        <p:nvSpPr>
          <p:cNvPr id="4" name="Date Placeholder 3"/>
          <p:cNvSpPr>
            <a:spLocks noGrp="1"/>
          </p:cNvSpPr>
          <p:nvPr>
            <p:ph type="dt" sz="half" idx="10"/>
          </p:nvPr>
        </p:nvSpPr>
        <p:spPr/>
        <p:txBody>
          <a:bodyPr/>
          <a:lstStyle/>
          <a:p>
            <a:fld id="{FAFE626F-C6B7-4BDF-8275-F92CA9131A81}"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7" name="Picture 6">
            <a:extLst>
              <a:ext uri="{FF2B5EF4-FFF2-40B4-BE49-F238E27FC236}">
                <a16:creationId xmlns:a16="http://schemas.microsoft.com/office/drawing/2014/main" id="{C8B24CD2-3FB1-44E5-8710-1906F8E069A6}"/>
              </a:ext>
            </a:extLst>
          </p:cNvPr>
          <p:cNvPicPr>
            <a:picLocks noChangeAspect="1"/>
          </p:cNvPicPr>
          <p:nvPr/>
        </p:nvPicPr>
        <p:blipFill rotWithShape="1">
          <a:blip r:embed="rId2"/>
          <a:srcRect l="24380" t="23436"/>
          <a:stretch/>
        </p:blipFill>
        <p:spPr>
          <a:xfrm>
            <a:off x="1945024" y="1817781"/>
            <a:ext cx="4608176" cy="2949482"/>
          </a:xfrm>
          <a:prstGeom prst="rect">
            <a:avLst/>
          </a:prstGeom>
        </p:spPr>
      </p:pic>
      <p:pic>
        <p:nvPicPr>
          <p:cNvPr id="8" name="Picture 7">
            <a:extLst>
              <a:ext uri="{FF2B5EF4-FFF2-40B4-BE49-F238E27FC236}">
                <a16:creationId xmlns:a16="http://schemas.microsoft.com/office/drawing/2014/main" id="{BCAC72B2-6E1D-4836-B22B-ADD5AC8D5F2F}"/>
              </a:ext>
            </a:extLst>
          </p:cNvPr>
          <p:cNvPicPr>
            <a:picLocks noChangeAspect="1"/>
          </p:cNvPicPr>
          <p:nvPr/>
        </p:nvPicPr>
        <p:blipFill rotWithShape="1">
          <a:blip r:embed="rId3"/>
          <a:srcRect b="5055"/>
          <a:stretch/>
        </p:blipFill>
        <p:spPr>
          <a:xfrm>
            <a:off x="7467600" y="-1190"/>
            <a:ext cx="1608347" cy="1142999"/>
          </a:xfrm>
          <a:prstGeom prst="rect">
            <a:avLst/>
          </a:prstGeom>
        </p:spPr>
      </p:pic>
    </p:spTree>
    <p:extLst>
      <p:ext uri="{BB962C8B-B14F-4D97-AF65-F5344CB8AC3E}">
        <p14:creationId xmlns:p14="http://schemas.microsoft.com/office/powerpoint/2010/main" val="25176191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7030A0"/>
                </a:solidFill>
              </a:rPr>
              <a:t>ii) NUMA</a:t>
            </a:r>
          </a:p>
        </p:txBody>
      </p:sp>
      <p:sp>
        <p:nvSpPr>
          <p:cNvPr id="3" name="Content Placeholder 2"/>
          <p:cNvSpPr>
            <a:spLocks noGrp="1"/>
          </p:cNvSpPr>
          <p:nvPr>
            <p:ph idx="1"/>
          </p:nvPr>
        </p:nvSpPr>
        <p:spPr>
          <a:xfrm>
            <a:off x="457200" y="742950"/>
            <a:ext cx="4953000" cy="3851673"/>
          </a:xfrm>
        </p:spPr>
        <p:txBody>
          <a:bodyPr>
            <a:normAutofit fontScale="77500" lnSpcReduction="20000"/>
          </a:bodyPr>
          <a:lstStyle/>
          <a:p>
            <a:r>
              <a:rPr lang="en-US" sz="1800" dirty="0"/>
              <a:t>Non-Uniform Memory Access architecture</a:t>
            </a:r>
          </a:p>
          <a:p>
            <a:r>
              <a:rPr lang="en-US" sz="1800" dirty="0"/>
              <a:t>It </a:t>
            </a:r>
            <a:r>
              <a:rPr lang="en-US" sz="1800" dirty="0">
                <a:solidFill>
                  <a:srgbClr val="C00000"/>
                </a:solidFill>
              </a:rPr>
              <a:t>does not allow uniform access </a:t>
            </a:r>
            <a:r>
              <a:rPr lang="en-US" sz="1800" dirty="0"/>
              <a:t>to all shared memory locations</a:t>
            </a:r>
          </a:p>
          <a:p>
            <a:r>
              <a:rPr lang="en-US" sz="1800" dirty="0"/>
              <a:t>This architecture still allows all processors to memory module closest to it, i.e. its local shared memory, more quickly than other. Hence, memory access time are non-uniform.</a:t>
            </a:r>
          </a:p>
          <a:p>
            <a:r>
              <a:rPr lang="en-US" sz="1800" dirty="0"/>
              <a:t>Every memory module has a different address range.</a:t>
            </a:r>
          </a:p>
          <a:p>
            <a:r>
              <a:rPr lang="en-US" sz="1800" dirty="0"/>
              <a:t>NUMA computer may not be SMP.</a:t>
            </a:r>
          </a:p>
          <a:p>
            <a:r>
              <a:rPr lang="en-US" sz="1800" dirty="0"/>
              <a:t>NUMA has better performance and scalability than UMA.</a:t>
            </a:r>
          </a:p>
          <a:p>
            <a:r>
              <a:rPr lang="en-US" sz="1800" dirty="0" err="1"/>
              <a:t>Eg</a:t>
            </a:r>
            <a:r>
              <a:rPr lang="en-US" sz="1800" dirty="0"/>
              <a:t>: CRAY T3E supercomputer</a:t>
            </a:r>
          </a:p>
          <a:p>
            <a:pPr marL="0" indent="0">
              <a:buNone/>
            </a:pPr>
            <a:endParaRPr lang="en-US" sz="1800" b="1" dirty="0"/>
          </a:p>
          <a:p>
            <a:pPr marL="0" indent="0">
              <a:buNone/>
            </a:pPr>
            <a:r>
              <a:rPr lang="en-US" sz="1800" b="1" dirty="0"/>
              <a:t>Cache-coherent NUMA </a:t>
            </a:r>
          </a:p>
          <a:p>
            <a:r>
              <a:rPr lang="en-US" sz="1800" b="1" dirty="0"/>
              <a:t>CC-NUMA</a:t>
            </a:r>
            <a:r>
              <a:rPr lang="en-US" sz="1800" dirty="0"/>
              <a:t> is similar to the NUMA architecture, except each processor includes cache memory.</a:t>
            </a:r>
          </a:p>
          <a:p>
            <a:r>
              <a:rPr lang="en-US" sz="1800" dirty="0"/>
              <a:t>The cache can buffer data from memory modules that are not local to the processor, thus reducing the access time of the most lengthy memory transfers.</a:t>
            </a:r>
          </a:p>
          <a:p>
            <a:r>
              <a:rPr lang="en-US" sz="1800" dirty="0"/>
              <a:t>However, CC-NUMA introduces cache coherence problem.</a:t>
            </a:r>
          </a:p>
          <a:p>
            <a:endParaRPr lang="en-US" sz="1800" dirty="0"/>
          </a:p>
          <a:p>
            <a:endParaRPr lang="en-US" sz="1800" dirty="0"/>
          </a:p>
        </p:txBody>
      </p:sp>
      <p:sp>
        <p:nvSpPr>
          <p:cNvPr id="4" name="Date Placeholder 3"/>
          <p:cNvSpPr>
            <a:spLocks noGrp="1"/>
          </p:cNvSpPr>
          <p:nvPr>
            <p:ph type="dt" sz="half" idx="10"/>
          </p:nvPr>
        </p:nvSpPr>
        <p:spPr/>
        <p:txBody>
          <a:bodyPr/>
          <a:lstStyle/>
          <a:p>
            <a:fld id="{4C001876-9776-4DD2-9EF8-586C7243AFFF}"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7" name="Picture 6">
            <a:extLst>
              <a:ext uri="{FF2B5EF4-FFF2-40B4-BE49-F238E27FC236}">
                <a16:creationId xmlns:a16="http://schemas.microsoft.com/office/drawing/2014/main" id="{A9D90922-C74F-4C00-B97C-FC1B2B611BAF}"/>
              </a:ext>
            </a:extLst>
          </p:cNvPr>
          <p:cNvPicPr>
            <a:picLocks noChangeAspect="1"/>
          </p:cNvPicPr>
          <p:nvPr/>
        </p:nvPicPr>
        <p:blipFill rotWithShape="1">
          <a:blip r:embed="rId2"/>
          <a:srcRect l="23100" t="46218" r="23478"/>
          <a:stretch/>
        </p:blipFill>
        <p:spPr>
          <a:xfrm>
            <a:off x="5638800" y="1823443"/>
            <a:ext cx="3188013" cy="1905000"/>
          </a:xfrm>
          <a:prstGeom prst="rect">
            <a:avLst/>
          </a:prstGeom>
        </p:spPr>
      </p:pic>
      <p:sp>
        <p:nvSpPr>
          <p:cNvPr id="8" name="Rectangle 7">
            <a:extLst>
              <a:ext uri="{FF2B5EF4-FFF2-40B4-BE49-F238E27FC236}">
                <a16:creationId xmlns:a16="http://schemas.microsoft.com/office/drawing/2014/main" id="{C8B33D3D-8949-45BB-8816-BB8BFC18EE75}"/>
              </a:ext>
            </a:extLst>
          </p:cNvPr>
          <p:cNvSpPr/>
          <p:nvPr/>
        </p:nvSpPr>
        <p:spPr>
          <a:xfrm>
            <a:off x="5410200" y="4257854"/>
            <a:ext cx="4572000" cy="938719"/>
          </a:xfrm>
          <a:prstGeom prst="rect">
            <a:avLst/>
          </a:prstGeom>
        </p:spPr>
        <p:txBody>
          <a:bodyPr>
            <a:spAutoFit/>
          </a:bodyPr>
          <a:lstStyle/>
          <a:p>
            <a:r>
              <a:rPr lang="en-US" sz="1100" dirty="0"/>
              <a:t>Reference: </a:t>
            </a:r>
            <a:r>
              <a:rPr lang="en-US" sz="1100" dirty="0">
                <a:hlinkClick r:id="rId3"/>
              </a:rPr>
              <a:t>https://www.youtube.com/watch?v=gCOEunP5kjs</a:t>
            </a:r>
            <a:endParaRPr lang="en-US" sz="1100" dirty="0"/>
          </a:p>
          <a:p>
            <a:endParaRPr lang="en-US" sz="1100" dirty="0"/>
          </a:p>
          <a:p>
            <a:r>
              <a:rPr lang="en-US" sz="1100" dirty="0">
                <a:hlinkClick r:id="rId4"/>
              </a:rPr>
              <a:t> https://www.youtube.com/watch?v=vXcMGqFng-o</a:t>
            </a:r>
            <a:endParaRPr lang="en-US" sz="1100" dirty="0"/>
          </a:p>
          <a:p>
            <a:endParaRPr lang="en-US" sz="1100" dirty="0"/>
          </a:p>
          <a:p>
            <a:endParaRPr lang="en-US" sz="1100" dirty="0"/>
          </a:p>
        </p:txBody>
      </p:sp>
    </p:spTree>
    <p:extLst>
      <p:ext uri="{BB962C8B-B14F-4D97-AF65-F5344CB8AC3E}">
        <p14:creationId xmlns:p14="http://schemas.microsoft.com/office/powerpoint/2010/main" val="1789535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7030A0"/>
              </a:solidFill>
            </a:endParaRPr>
          </a:p>
        </p:txBody>
      </p:sp>
      <p:sp>
        <p:nvSpPr>
          <p:cNvPr id="3" name="Content Placeholder 2"/>
          <p:cNvSpPr>
            <a:spLocks noGrp="1"/>
          </p:cNvSpPr>
          <p:nvPr>
            <p:ph idx="1"/>
          </p:nvPr>
        </p:nvSpPr>
        <p:spPr>
          <a:xfrm>
            <a:off x="457200" y="742950"/>
            <a:ext cx="4709083" cy="3851673"/>
          </a:xfrm>
        </p:spPr>
        <p:txBody>
          <a:bodyPr>
            <a:normAutofit/>
          </a:bodyPr>
          <a:lstStyle/>
          <a:p>
            <a:pPr marL="0" indent="0">
              <a:buNone/>
            </a:pPr>
            <a:endParaRPr lang="en-US" sz="1800" b="1" dirty="0"/>
          </a:p>
          <a:p>
            <a:pPr marL="0" indent="0">
              <a:buNone/>
            </a:pPr>
            <a:r>
              <a:rPr lang="en-US" sz="1800" b="1" dirty="0"/>
              <a:t>Cache-coherent NUMA </a:t>
            </a:r>
          </a:p>
          <a:p>
            <a:r>
              <a:rPr lang="en-US" sz="1800" b="1" dirty="0"/>
              <a:t>CC-NUMA</a:t>
            </a:r>
            <a:r>
              <a:rPr lang="en-US" sz="1800" dirty="0"/>
              <a:t> is similar to the NUMA architecture, except each processor includes cache memory.</a:t>
            </a:r>
          </a:p>
          <a:p>
            <a:r>
              <a:rPr lang="en-US" sz="1800" dirty="0"/>
              <a:t>The cache can buffer data from memory modules that are not local to the processor, thus reducing the access time of the most lengthy memory transfers.</a:t>
            </a:r>
          </a:p>
          <a:p>
            <a:r>
              <a:rPr lang="en-US" sz="1800" dirty="0"/>
              <a:t>However, CC-NUMA introduces cache coherence problem.</a:t>
            </a:r>
          </a:p>
          <a:p>
            <a:endParaRPr lang="en-US" sz="1800" dirty="0"/>
          </a:p>
          <a:p>
            <a:endParaRPr lang="en-US" sz="1800" dirty="0"/>
          </a:p>
        </p:txBody>
      </p:sp>
      <p:sp>
        <p:nvSpPr>
          <p:cNvPr id="4" name="Date Placeholder 3"/>
          <p:cNvSpPr>
            <a:spLocks noGrp="1"/>
          </p:cNvSpPr>
          <p:nvPr>
            <p:ph type="dt" sz="half" idx="10"/>
          </p:nvPr>
        </p:nvSpPr>
        <p:spPr/>
        <p:txBody>
          <a:bodyPr/>
          <a:lstStyle/>
          <a:p>
            <a:fld id="{2128B1AC-4D95-43D6-8BFB-D2ABF4EAEC2D}"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Parallel Processing</a:t>
            </a:r>
            <a:endParaRPr lang="en-US" dirty="0">
              <a:solidFill>
                <a:srgbClr val="00B050"/>
              </a:solidFill>
            </a:endParaRPr>
          </a:p>
        </p:txBody>
      </p:sp>
      <p:pic>
        <p:nvPicPr>
          <p:cNvPr id="7" name="Picture 6">
            <a:extLst>
              <a:ext uri="{FF2B5EF4-FFF2-40B4-BE49-F238E27FC236}">
                <a16:creationId xmlns:a16="http://schemas.microsoft.com/office/drawing/2014/main" id="{A9D90922-C74F-4C00-B97C-FC1B2B611BAF}"/>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l="23100" t="46218" r="23478"/>
          <a:stretch/>
        </p:blipFill>
        <p:spPr>
          <a:xfrm>
            <a:off x="5166283" y="955125"/>
            <a:ext cx="3953136" cy="2362200"/>
          </a:xfrm>
          <a:prstGeom prst="rect">
            <a:avLst/>
          </a:prstGeom>
        </p:spPr>
      </p:pic>
      <p:sp>
        <p:nvSpPr>
          <p:cNvPr id="8" name="Rectangle 7">
            <a:extLst>
              <a:ext uri="{FF2B5EF4-FFF2-40B4-BE49-F238E27FC236}">
                <a16:creationId xmlns:a16="http://schemas.microsoft.com/office/drawing/2014/main" id="{C8B33D3D-8949-45BB-8816-BB8BFC18EE75}"/>
              </a:ext>
            </a:extLst>
          </p:cNvPr>
          <p:cNvSpPr/>
          <p:nvPr/>
        </p:nvSpPr>
        <p:spPr>
          <a:xfrm>
            <a:off x="5410200" y="4257854"/>
            <a:ext cx="4572000" cy="938719"/>
          </a:xfrm>
          <a:prstGeom prst="rect">
            <a:avLst/>
          </a:prstGeom>
        </p:spPr>
        <p:txBody>
          <a:bodyPr>
            <a:spAutoFit/>
          </a:bodyPr>
          <a:lstStyle/>
          <a:p>
            <a:r>
              <a:rPr lang="en-US" sz="1100" dirty="0"/>
              <a:t>Reference: </a:t>
            </a:r>
            <a:r>
              <a:rPr lang="en-US" sz="1100" dirty="0">
                <a:hlinkClick r:id="rId4"/>
              </a:rPr>
              <a:t>https://www.youtube.com/watch?v=gCOEunP5kjs</a:t>
            </a:r>
            <a:endParaRPr lang="en-US" sz="1100" dirty="0"/>
          </a:p>
          <a:p>
            <a:endParaRPr lang="en-US" sz="1100" dirty="0"/>
          </a:p>
          <a:p>
            <a:r>
              <a:rPr lang="en-US" sz="1100" dirty="0">
                <a:hlinkClick r:id="rId5"/>
              </a:rPr>
              <a:t> https://www.youtube.com/watch?v=vXcMGqFng-o</a:t>
            </a:r>
            <a:endParaRPr lang="en-US" sz="1100" dirty="0"/>
          </a:p>
          <a:p>
            <a:endParaRPr lang="en-US" sz="1100" dirty="0"/>
          </a:p>
          <a:p>
            <a:endParaRPr lang="en-US" sz="1100" dirty="0"/>
          </a:p>
        </p:txBody>
      </p:sp>
      <p:sp>
        <p:nvSpPr>
          <p:cNvPr id="9" name="Rectangle 8">
            <a:extLst>
              <a:ext uri="{FF2B5EF4-FFF2-40B4-BE49-F238E27FC236}">
                <a16:creationId xmlns:a16="http://schemas.microsoft.com/office/drawing/2014/main" id="{2A6D3CB4-489E-4F41-8E00-DFD377AB2FC5}"/>
              </a:ext>
            </a:extLst>
          </p:cNvPr>
          <p:cNvSpPr/>
          <p:nvPr/>
        </p:nvSpPr>
        <p:spPr>
          <a:xfrm>
            <a:off x="5257800" y="1607278"/>
            <a:ext cx="762000" cy="2024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Cache</a:t>
            </a:r>
          </a:p>
        </p:txBody>
      </p:sp>
      <p:sp>
        <p:nvSpPr>
          <p:cNvPr id="10" name="Rectangle 9">
            <a:extLst>
              <a:ext uri="{FF2B5EF4-FFF2-40B4-BE49-F238E27FC236}">
                <a16:creationId xmlns:a16="http://schemas.microsoft.com/office/drawing/2014/main" id="{F79E1FF6-3316-411D-AEE3-CBDBCEA671D2}"/>
              </a:ext>
            </a:extLst>
          </p:cNvPr>
          <p:cNvSpPr/>
          <p:nvPr/>
        </p:nvSpPr>
        <p:spPr>
          <a:xfrm>
            <a:off x="6441926" y="1543526"/>
            <a:ext cx="762000" cy="2024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Cache</a:t>
            </a:r>
          </a:p>
        </p:txBody>
      </p:sp>
      <p:sp>
        <p:nvSpPr>
          <p:cNvPr id="11" name="Rectangle 10">
            <a:extLst>
              <a:ext uri="{FF2B5EF4-FFF2-40B4-BE49-F238E27FC236}">
                <a16:creationId xmlns:a16="http://schemas.microsoft.com/office/drawing/2014/main" id="{897A0FCD-6C57-4860-BE8D-E095E63E4E27}"/>
              </a:ext>
            </a:extLst>
          </p:cNvPr>
          <p:cNvSpPr/>
          <p:nvPr/>
        </p:nvSpPr>
        <p:spPr>
          <a:xfrm>
            <a:off x="7924800" y="1543526"/>
            <a:ext cx="762000" cy="2024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Cache</a:t>
            </a:r>
          </a:p>
        </p:txBody>
      </p:sp>
    </p:spTree>
    <p:extLst>
      <p:ext uri="{BB962C8B-B14F-4D97-AF65-F5344CB8AC3E}">
        <p14:creationId xmlns:p14="http://schemas.microsoft.com/office/powerpoint/2010/main" val="16728241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Assignment:</a:t>
            </a:r>
          </a:p>
        </p:txBody>
      </p:sp>
      <p:sp>
        <p:nvSpPr>
          <p:cNvPr id="3" name="Content Placeholder 2"/>
          <p:cNvSpPr>
            <a:spLocks noGrp="1"/>
          </p:cNvSpPr>
          <p:nvPr>
            <p:ph idx="1"/>
          </p:nvPr>
        </p:nvSpPr>
        <p:spPr>
          <a:xfrm>
            <a:off x="457200" y="1047750"/>
            <a:ext cx="7772400" cy="3546873"/>
          </a:xfrm>
        </p:spPr>
        <p:txBody>
          <a:bodyPr>
            <a:normAutofit/>
          </a:bodyPr>
          <a:lstStyle/>
          <a:p>
            <a:pPr marL="0" indent="0">
              <a:buNone/>
            </a:pPr>
            <a:r>
              <a:rPr lang="en-US" sz="2400" b="1" dirty="0"/>
              <a:t>Differentiate between UMA and NUMA architecture </a:t>
            </a:r>
          </a:p>
          <a:p>
            <a:endParaRPr lang="en-US" sz="1800" dirty="0"/>
          </a:p>
          <a:p>
            <a:r>
              <a:rPr lang="en-US" sz="1800" dirty="0">
                <a:hlinkClick r:id="rId2"/>
              </a:rPr>
              <a:t>https://www.geeksforgeeks.org/difference-between-uniform-memory-access-uma-and-non-uniform-memory-access-numa/</a:t>
            </a:r>
            <a:endParaRPr lang="en-US" sz="1800" dirty="0"/>
          </a:p>
          <a:p>
            <a:r>
              <a:rPr lang="en-US" sz="1800" dirty="0">
                <a:hlinkClick r:id="rId3"/>
              </a:rPr>
              <a:t>https://www.javatpoint.com/uniform-memory-access-vs-non-uniform-memory-access</a:t>
            </a:r>
            <a:endParaRPr lang="en-US" sz="1800" dirty="0"/>
          </a:p>
          <a:p>
            <a:endParaRPr lang="en-US" sz="1800" dirty="0"/>
          </a:p>
          <a:p>
            <a:endParaRPr lang="en-US" sz="1800" dirty="0"/>
          </a:p>
        </p:txBody>
      </p:sp>
      <p:sp>
        <p:nvSpPr>
          <p:cNvPr id="4" name="Date Placeholder 3"/>
          <p:cNvSpPr>
            <a:spLocks noGrp="1"/>
          </p:cNvSpPr>
          <p:nvPr>
            <p:ph type="dt" sz="half" idx="10"/>
          </p:nvPr>
        </p:nvSpPr>
        <p:spPr/>
        <p:txBody>
          <a:bodyPr/>
          <a:lstStyle/>
          <a:p>
            <a:fld id="{4FF3FFDE-2E75-4A9C-88E9-9C09622C414F}"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29211569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Cache Coherence</a:t>
            </a:r>
          </a:p>
        </p:txBody>
      </p:sp>
      <p:sp>
        <p:nvSpPr>
          <p:cNvPr id="3" name="Content Placeholder 2"/>
          <p:cNvSpPr>
            <a:spLocks noGrp="1"/>
          </p:cNvSpPr>
          <p:nvPr>
            <p:ph idx="1"/>
          </p:nvPr>
        </p:nvSpPr>
        <p:spPr>
          <a:xfrm>
            <a:off x="457200" y="742950"/>
            <a:ext cx="8229600" cy="3851673"/>
          </a:xfrm>
        </p:spPr>
        <p:txBody>
          <a:bodyPr>
            <a:normAutofit/>
          </a:bodyPr>
          <a:lstStyle/>
          <a:p>
            <a:pPr marL="168275" indent="-168275"/>
            <a:r>
              <a:rPr lang="en-US" sz="1200" dirty="0"/>
              <a:t>It is a </a:t>
            </a:r>
            <a:r>
              <a:rPr lang="en-US" sz="1200" dirty="0">
                <a:solidFill>
                  <a:srgbClr val="C00000"/>
                </a:solidFill>
              </a:rPr>
              <a:t>problem in multiprocessor system.</a:t>
            </a:r>
          </a:p>
          <a:p>
            <a:pPr marL="168275" indent="-168275"/>
            <a:r>
              <a:rPr lang="en-US" sz="1200" dirty="0"/>
              <a:t>Multiprocessor </a:t>
            </a:r>
            <a:r>
              <a:rPr lang="en-US" sz="1200" dirty="0">
                <a:solidFill>
                  <a:srgbClr val="C00000"/>
                </a:solidFill>
              </a:rPr>
              <a:t>have individual </a:t>
            </a:r>
            <a:r>
              <a:rPr lang="en-US" sz="1200" dirty="0"/>
              <a:t>cache for each processor. </a:t>
            </a:r>
          </a:p>
          <a:p>
            <a:pPr marL="168275" indent="-168275"/>
            <a:r>
              <a:rPr lang="en-US" sz="1200" dirty="0"/>
              <a:t>This can lead to </a:t>
            </a:r>
            <a:r>
              <a:rPr lang="en-US" sz="1200" dirty="0">
                <a:solidFill>
                  <a:srgbClr val="C00000"/>
                </a:solidFill>
              </a:rPr>
              <a:t>problem when two or more caches hold the value of same memory location simultaneously.</a:t>
            </a:r>
          </a:p>
          <a:p>
            <a:pPr marL="168275" indent="-168275"/>
            <a:r>
              <a:rPr lang="en-US" sz="1200" dirty="0"/>
              <a:t>As one processor stores a value to that location in its cache, the other cache will have an invalid value in its location.</a:t>
            </a:r>
          </a:p>
          <a:p>
            <a:pPr marL="168275" indent="-168275"/>
            <a:r>
              <a:rPr lang="en-US" sz="1200" dirty="0"/>
              <a:t>The extra writes to main memory is needed which decreases system performance.</a:t>
            </a:r>
          </a:p>
          <a:p>
            <a:pPr marL="168275" indent="-168275"/>
            <a:r>
              <a:rPr lang="en-US" sz="1200" dirty="0"/>
              <a:t>This is cache coherence.</a:t>
            </a:r>
          </a:p>
          <a:p>
            <a:pPr marL="168275" indent="-168275"/>
            <a:endParaRPr lang="en-US" sz="900" dirty="0"/>
          </a:p>
        </p:txBody>
      </p:sp>
      <p:sp>
        <p:nvSpPr>
          <p:cNvPr id="4" name="Date Placeholder 3"/>
          <p:cNvSpPr>
            <a:spLocks noGrp="1"/>
          </p:cNvSpPr>
          <p:nvPr>
            <p:ph type="dt" sz="half" idx="10"/>
          </p:nvPr>
        </p:nvSpPr>
        <p:spPr/>
        <p:txBody>
          <a:bodyPr/>
          <a:lstStyle/>
          <a:p>
            <a:fld id="{A0563576-90FD-4694-8C2A-66642B3B080D}"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Parallel Processing</a:t>
            </a:r>
            <a:endParaRPr lang="en-US" dirty="0">
              <a:solidFill>
                <a:srgbClr val="00B050"/>
              </a:solidFill>
            </a:endParaRPr>
          </a:p>
        </p:txBody>
      </p:sp>
      <p:pic>
        <p:nvPicPr>
          <p:cNvPr id="7" name="Picture 6">
            <a:extLst>
              <a:ext uri="{FF2B5EF4-FFF2-40B4-BE49-F238E27FC236}">
                <a16:creationId xmlns:a16="http://schemas.microsoft.com/office/drawing/2014/main" id="{2DB1F6DD-A364-422C-8C6C-CA0DE69BA852}"/>
              </a:ext>
            </a:extLst>
          </p:cNvPr>
          <p:cNvPicPr/>
          <p:nvPr/>
        </p:nvPicPr>
        <p:blipFill>
          <a:blip r:embed="rId2"/>
          <a:stretch>
            <a:fillRect/>
          </a:stretch>
        </p:blipFill>
        <p:spPr>
          <a:xfrm>
            <a:off x="1295400" y="2166341"/>
            <a:ext cx="4495800" cy="956073"/>
          </a:xfrm>
          <a:prstGeom prst="rect">
            <a:avLst/>
          </a:prstGeom>
        </p:spPr>
      </p:pic>
      <p:sp>
        <p:nvSpPr>
          <p:cNvPr id="8" name="Content Placeholder 2">
            <a:extLst>
              <a:ext uri="{FF2B5EF4-FFF2-40B4-BE49-F238E27FC236}">
                <a16:creationId xmlns:a16="http://schemas.microsoft.com/office/drawing/2014/main" id="{C70734CD-E898-48FE-87C4-7CD824FB5145}"/>
              </a:ext>
            </a:extLst>
          </p:cNvPr>
          <p:cNvSpPr txBox="1">
            <a:spLocks/>
          </p:cNvSpPr>
          <p:nvPr/>
        </p:nvSpPr>
        <p:spPr>
          <a:xfrm>
            <a:off x="457200" y="3409950"/>
            <a:ext cx="7391400" cy="11846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68275" indent="-168275"/>
            <a:r>
              <a:rPr lang="en-US" sz="1200" dirty="0"/>
              <a:t>A system with 4 processor, each of which has write-back cache. </a:t>
            </a:r>
          </a:p>
          <a:p>
            <a:pPr marL="168275" indent="-168275"/>
            <a:r>
              <a:rPr lang="en-US" sz="1200" dirty="0"/>
              <a:t>Assume all 4 cache have loaded content of shared memory location1234H which is 56H. </a:t>
            </a:r>
          </a:p>
          <a:p>
            <a:pPr marL="168275" indent="-168275"/>
            <a:r>
              <a:rPr lang="en-US" sz="1200" dirty="0"/>
              <a:t>Then one of the processors, processor 0 writes value 78H to this location in its cache. </a:t>
            </a:r>
          </a:p>
          <a:p>
            <a:pPr marL="168275" indent="-168275"/>
            <a:r>
              <a:rPr lang="en-US" sz="1200" dirty="0"/>
              <a:t>But caches 1,2and 3 do not have correct value. </a:t>
            </a:r>
          </a:p>
          <a:p>
            <a:pPr marL="168275" indent="-168275"/>
            <a:r>
              <a:rPr lang="en-US" sz="1200" dirty="0"/>
              <a:t>If one of the other processors reads then it will read the old incorrect value 56H instead of correct value 78H.</a:t>
            </a:r>
          </a:p>
        </p:txBody>
      </p:sp>
    </p:spTree>
    <p:extLst>
      <p:ext uri="{BB962C8B-B14F-4D97-AF65-F5344CB8AC3E}">
        <p14:creationId xmlns:p14="http://schemas.microsoft.com/office/powerpoint/2010/main" val="13172423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800" b="1" dirty="0">
                <a:solidFill>
                  <a:srgbClr val="7030A0"/>
                </a:solidFill>
              </a:rPr>
              <a:t>iii) COMA architecture</a:t>
            </a:r>
          </a:p>
        </p:txBody>
      </p:sp>
      <p:sp>
        <p:nvSpPr>
          <p:cNvPr id="3" name="Content Placeholder 2"/>
          <p:cNvSpPr>
            <a:spLocks noGrp="1"/>
          </p:cNvSpPr>
          <p:nvPr>
            <p:ph idx="1"/>
          </p:nvPr>
        </p:nvSpPr>
        <p:spPr>
          <a:xfrm>
            <a:off x="457200" y="742950"/>
            <a:ext cx="8229600" cy="3851673"/>
          </a:xfrm>
        </p:spPr>
        <p:txBody>
          <a:bodyPr>
            <a:normAutofit/>
          </a:bodyPr>
          <a:lstStyle/>
          <a:p>
            <a:r>
              <a:rPr lang="en-US" sz="1600" dirty="0"/>
              <a:t>However, CC-NUMA introduces cache coherence problem when two or more caches hold the same piece of data. </a:t>
            </a:r>
          </a:p>
          <a:p>
            <a:r>
              <a:rPr lang="en-US" sz="1600" dirty="0"/>
              <a:t>When one processor changes the value of this data, the other’s caches’ values are invalid.</a:t>
            </a:r>
          </a:p>
          <a:p>
            <a:r>
              <a:rPr lang="en-US" sz="1600" dirty="0"/>
              <a:t>A solution to this problem is </a:t>
            </a:r>
            <a:r>
              <a:rPr lang="en-US" sz="1600" b="1" dirty="0"/>
              <a:t>Cache Only Memory Access (COMA) architecture.</a:t>
            </a:r>
          </a:p>
          <a:p>
            <a:r>
              <a:rPr lang="en-US" sz="1600" dirty="0"/>
              <a:t>Each processor’s local memory is treated as a cache.</a:t>
            </a:r>
          </a:p>
          <a:p>
            <a:r>
              <a:rPr lang="en-US" sz="1600" dirty="0"/>
              <a:t>When processor request data that is not in cache local memory), the system loads that data into local memory as part of  memory operation.</a:t>
            </a:r>
          </a:p>
          <a:p>
            <a:r>
              <a:rPr lang="en-US" sz="1600" dirty="0" err="1"/>
              <a:t>Eg</a:t>
            </a:r>
            <a:r>
              <a:rPr lang="en-US" sz="1600" dirty="0"/>
              <a:t>: KSR1, KSR2, DDM</a:t>
            </a:r>
          </a:p>
          <a:p>
            <a:endParaRPr lang="en-US" sz="1600" dirty="0"/>
          </a:p>
        </p:txBody>
      </p:sp>
      <p:sp>
        <p:nvSpPr>
          <p:cNvPr id="4" name="Date Placeholder 3"/>
          <p:cNvSpPr>
            <a:spLocks noGrp="1"/>
          </p:cNvSpPr>
          <p:nvPr>
            <p:ph type="dt" sz="half" idx="10"/>
          </p:nvPr>
        </p:nvSpPr>
        <p:spPr/>
        <p:txBody>
          <a:bodyPr/>
          <a:lstStyle/>
          <a:p>
            <a:fld id="{960EBBEE-2233-4A53-AEE4-E3443E169101}"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2960633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9.7 Introduction to Multicore Architecture</a:t>
            </a:r>
          </a:p>
        </p:txBody>
      </p:sp>
      <p:sp>
        <p:nvSpPr>
          <p:cNvPr id="4" name="Date Placeholder 3"/>
          <p:cNvSpPr>
            <a:spLocks noGrp="1"/>
          </p:cNvSpPr>
          <p:nvPr>
            <p:ph type="dt" sz="half" idx="10"/>
          </p:nvPr>
        </p:nvSpPr>
        <p:spPr/>
        <p:txBody>
          <a:bodyPr/>
          <a:lstStyle/>
          <a:p>
            <a:fld id="{1C54EA6A-33E0-49BD-A26E-7D34D99B702F}"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7" name="Picture 6">
            <a:extLst>
              <a:ext uri="{FF2B5EF4-FFF2-40B4-BE49-F238E27FC236}">
                <a16:creationId xmlns:a16="http://schemas.microsoft.com/office/drawing/2014/main" id="{40D9A4D9-AE8F-458F-939A-172A1D81CB6E}"/>
              </a:ext>
            </a:extLst>
          </p:cNvPr>
          <p:cNvPicPr>
            <a:picLocks noChangeAspect="1"/>
          </p:cNvPicPr>
          <p:nvPr/>
        </p:nvPicPr>
        <p:blipFill>
          <a:blip r:embed="rId2"/>
          <a:stretch>
            <a:fillRect/>
          </a:stretch>
        </p:blipFill>
        <p:spPr>
          <a:xfrm>
            <a:off x="416299" y="859555"/>
            <a:ext cx="5572125" cy="3823594"/>
          </a:xfrm>
          <a:prstGeom prst="rect">
            <a:avLst/>
          </a:prstGeom>
        </p:spPr>
      </p:pic>
      <p:sp>
        <p:nvSpPr>
          <p:cNvPr id="10" name="Content Placeholder 9">
            <a:extLst>
              <a:ext uri="{FF2B5EF4-FFF2-40B4-BE49-F238E27FC236}">
                <a16:creationId xmlns:a16="http://schemas.microsoft.com/office/drawing/2014/main" id="{207BA316-D3B9-45F7-A974-24C364BBDEB5}"/>
              </a:ext>
            </a:extLst>
          </p:cNvPr>
          <p:cNvSpPr>
            <a:spLocks noGrp="1"/>
          </p:cNvSpPr>
          <p:nvPr>
            <p:ph idx="1"/>
          </p:nvPr>
        </p:nvSpPr>
        <p:spPr>
          <a:xfrm>
            <a:off x="5394512" y="1204491"/>
            <a:ext cx="3733800" cy="830998"/>
          </a:xfrm>
        </p:spPr>
        <p:txBody>
          <a:bodyPr>
            <a:normAutofit/>
          </a:bodyPr>
          <a:lstStyle/>
          <a:p>
            <a:pPr marL="0" indent="0">
              <a:buNone/>
            </a:pPr>
            <a:r>
              <a:rPr lang="en-US" sz="2000" b="1" dirty="0"/>
              <a:t>Figure: Single-core CPU chip</a:t>
            </a:r>
          </a:p>
        </p:txBody>
      </p:sp>
      <p:sp>
        <p:nvSpPr>
          <p:cNvPr id="11" name="Rectangle 10">
            <a:extLst>
              <a:ext uri="{FF2B5EF4-FFF2-40B4-BE49-F238E27FC236}">
                <a16:creationId xmlns:a16="http://schemas.microsoft.com/office/drawing/2014/main" id="{C218B34E-27A4-43EC-A4D4-09A3F6546856}"/>
              </a:ext>
            </a:extLst>
          </p:cNvPr>
          <p:cNvSpPr/>
          <p:nvPr/>
        </p:nvSpPr>
        <p:spPr>
          <a:xfrm>
            <a:off x="5562600" y="4019550"/>
            <a:ext cx="2971800" cy="830997"/>
          </a:xfrm>
          <a:prstGeom prst="rect">
            <a:avLst/>
          </a:prstGeom>
        </p:spPr>
        <p:txBody>
          <a:bodyPr wrap="square">
            <a:spAutoFit/>
          </a:bodyPr>
          <a:lstStyle/>
          <a:p>
            <a:r>
              <a:rPr lang="en-US" sz="1200" dirty="0"/>
              <a:t>Reference: </a:t>
            </a:r>
            <a:r>
              <a:rPr lang="en-US" sz="1200" dirty="0">
                <a:hlinkClick r:id="rId3"/>
              </a:rPr>
              <a:t>https://www.cs.cmu.edu/~fp/courses/15213-s07/lectures/27-multicore.pdf</a:t>
            </a:r>
            <a:endParaRPr lang="en-US" sz="1200" dirty="0"/>
          </a:p>
          <a:p>
            <a:endParaRPr lang="en-US" sz="1200" dirty="0"/>
          </a:p>
        </p:txBody>
      </p:sp>
    </p:spTree>
    <p:extLst>
      <p:ext uri="{BB962C8B-B14F-4D97-AF65-F5344CB8AC3E}">
        <p14:creationId xmlns:p14="http://schemas.microsoft.com/office/powerpoint/2010/main" val="4159972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Introduction to Multicore Architecture</a:t>
            </a:r>
          </a:p>
        </p:txBody>
      </p:sp>
      <p:sp>
        <p:nvSpPr>
          <p:cNvPr id="3" name="Content Placeholder 2"/>
          <p:cNvSpPr>
            <a:spLocks noGrp="1"/>
          </p:cNvSpPr>
          <p:nvPr>
            <p:ph idx="1"/>
          </p:nvPr>
        </p:nvSpPr>
        <p:spPr>
          <a:xfrm>
            <a:off x="457200" y="742950"/>
            <a:ext cx="8229600" cy="3851673"/>
          </a:xfrm>
        </p:spPr>
        <p:txBody>
          <a:bodyPr>
            <a:noAutofit/>
          </a:bodyPr>
          <a:lstStyle/>
          <a:p>
            <a:pPr marL="457200" indent="-457200">
              <a:buFont typeface="+mj-lt"/>
              <a:buAutoNum type="arabicPeriod"/>
            </a:pPr>
            <a:r>
              <a:rPr lang="en-US" sz="1800" dirty="0"/>
              <a:t>Replicate multiprocessor cores on a single die.</a:t>
            </a:r>
          </a:p>
        </p:txBody>
      </p:sp>
      <p:sp>
        <p:nvSpPr>
          <p:cNvPr id="4" name="Date Placeholder 3"/>
          <p:cNvSpPr>
            <a:spLocks noGrp="1"/>
          </p:cNvSpPr>
          <p:nvPr>
            <p:ph type="dt" sz="half" idx="10"/>
          </p:nvPr>
        </p:nvSpPr>
        <p:spPr/>
        <p:txBody>
          <a:bodyPr/>
          <a:lstStyle/>
          <a:p>
            <a:fld id="{79C8F7B9-E080-45B8-8686-540C9DC6D0DB}"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7" name="Picture 6">
            <a:extLst>
              <a:ext uri="{FF2B5EF4-FFF2-40B4-BE49-F238E27FC236}">
                <a16:creationId xmlns:a16="http://schemas.microsoft.com/office/drawing/2014/main" id="{3B43A583-9E97-4599-BC77-0860A530C077}"/>
              </a:ext>
            </a:extLst>
          </p:cNvPr>
          <p:cNvPicPr>
            <a:picLocks noChangeAspect="1"/>
          </p:cNvPicPr>
          <p:nvPr/>
        </p:nvPicPr>
        <p:blipFill>
          <a:blip r:embed="rId2"/>
          <a:stretch>
            <a:fillRect/>
          </a:stretch>
        </p:blipFill>
        <p:spPr>
          <a:xfrm>
            <a:off x="646579" y="1430536"/>
            <a:ext cx="6991350" cy="2476500"/>
          </a:xfrm>
          <a:prstGeom prst="rect">
            <a:avLst/>
          </a:prstGeom>
        </p:spPr>
      </p:pic>
      <p:sp>
        <p:nvSpPr>
          <p:cNvPr id="9" name="Rectangle 8">
            <a:extLst>
              <a:ext uri="{FF2B5EF4-FFF2-40B4-BE49-F238E27FC236}">
                <a16:creationId xmlns:a16="http://schemas.microsoft.com/office/drawing/2014/main" id="{4B8DA9F9-3C3B-4346-AA5A-F54A01C3AF8E}"/>
              </a:ext>
            </a:extLst>
          </p:cNvPr>
          <p:cNvSpPr/>
          <p:nvPr/>
        </p:nvSpPr>
        <p:spPr>
          <a:xfrm>
            <a:off x="1295400" y="4019550"/>
            <a:ext cx="7239000" cy="461665"/>
          </a:xfrm>
          <a:prstGeom prst="rect">
            <a:avLst/>
          </a:prstGeom>
        </p:spPr>
        <p:txBody>
          <a:bodyPr wrap="square">
            <a:spAutoFit/>
          </a:bodyPr>
          <a:lstStyle/>
          <a:p>
            <a:r>
              <a:rPr lang="en-US" sz="1200" dirty="0"/>
              <a:t>Reference: </a:t>
            </a:r>
            <a:r>
              <a:rPr lang="en-US" sz="1200" dirty="0">
                <a:hlinkClick r:id="rId3"/>
              </a:rPr>
              <a:t>https://www.cs.cmu.edu/~fp/courses/15213-s07/lectures/27-multicore.pdf</a:t>
            </a:r>
            <a:endParaRPr lang="en-US" sz="1200" dirty="0"/>
          </a:p>
          <a:p>
            <a:endParaRPr lang="en-US" sz="1200" dirty="0"/>
          </a:p>
        </p:txBody>
      </p:sp>
    </p:spTree>
    <p:extLst>
      <p:ext uri="{BB962C8B-B14F-4D97-AF65-F5344CB8AC3E}">
        <p14:creationId xmlns:p14="http://schemas.microsoft.com/office/powerpoint/2010/main" val="39691451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Introduction to Multicore Architecture</a:t>
            </a:r>
          </a:p>
        </p:txBody>
      </p:sp>
      <p:sp>
        <p:nvSpPr>
          <p:cNvPr id="3" name="Content Placeholder 2"/>
          <p:cNvSpPr>
            <a:spLocks noGrp="1"/>
          </p:cNvSpPr>
          <p:nvPr>
            <p:ph idx="1"/>
          </p:nvPr>
        </p:nvSpPr>
        <p:spPr>
          <a:xfrm>
            <a:off x="457200" y="742950"/>
            <a:ext cx="8229600" cy="3851673"/>
          </a:xfrm>
        </p:spPr>
        <p:txBody>
          <a:bodyPr>
            <a:noAutofit/>
          </a:bodyPr>
          <a:lstStyle/>
          <a:p>
            <a:r>
              <a:rPr lang="en-US" sz="1800" dirty="0"/>
              <a:t>The cores fit on a single processor socket.</a:t>
            </a:r>
          </a:p>
          <a:p>
            <a:r>
              <a:rPr lang="en-US" sz="1800" dirty="0"/>
              <a:t>The core runs in parallel. </a:t>
            </a:r>
          </a:p>
          <a:p>
            <a:r>
              <a:rPr lang="en-US" sz="1800" dirty="0"/>
              <a:t>Also called CMP (Chip Multi-Processor)</a:t>
            </a:r>
          </a:p>
        </p:txBody>
      </p:sp>
      <p:sp>
        <p:nvSpPr>
          <p:cNvPr id="4" name="Date Placeholder 3"/>
          <p:cNvSpPr>
            <a:spLocks noGrp="1"/>
          </p:cNvSpPr>
          <p:nvPr>
            <p:ph type="dt" sz="half" idx="10"/>
          </p:nvPr>
        </p:nvSpPr>
        <p:spPr/>
        <p:txBody>
          <a:bodyPr/>
          <a:lstStyle/>
          <a:p>
            <a:fld id="{3D06E71A-396B-4CA7-AE01-9F13CD6D71F8}"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pic>
        <p:nvPicPr>
          <p:cNvPr id="9" name="Picture 8">
            <a:extLst>
              <a:ext uri="{FF2B5EF4-FFF2-40B4-BE49-F238E27FC236}">
                <a16:creationId xmlns:a16="http://schemas.microsoft.com/office/drawing/2014/main" id="{23C193F0-519D-4F34-BFAD-BA4603B76EA5}"/>
              </a:ext>
            </a:extLst>
          </p:cNvPr>
          <p:cNvPicPr>
            <a:picLocks noChangeAspect="1"/>
          </p:cNvPicPr>
          <p:nvPr/>
        </p:nvPicPr>
        <p:blipFill>
          <a:blip r:embed="rId2"/>
          <a:stretch>
            <a:fillRect/>
          </a:stretch>
        </p:blipFill>
        <p:spPr>
          <a:xfrm>
            <a:off x="1143000" y="2073225"/>
            <a:ext cx="3657600" cy="2524760"/>
          </a:xfrm>
          <a:prstGeom prst="rect">
            <a:avLst/>
          </a:prstGeom>
        </p:spPr>
      </p:pic>
      <p:sp>
        <p:nvSpPr>
          <p:cNvPr id="10" name="Rectangle 9">
            <a:extLst>
              <a:ext uri="{FF2B5EF4-FFF2-40B4-BE49-F238E27FC236}">
                <a16:creationId xmlns:a16="http://schemas.microsoft.com/office/drawing/2014/main" id="{A89499F8-1239-4C96-AA22-68E40AA8F935}"/>
              </a:ext>
            </a:extLst>
          </p:cNvPr>
          <p:cNvSpPr/>
          <p:nvPr/>
        </p:nvSpPr>
        <p:spPr>
          <a:xfrm>
            <a:off x="6019800" y="3486150"/>
            <a:ext cx="2702858" cy="1169551"/>
          </a:xfrm>
          <a:prstGeom prst="rect">
            <a:avLst/>
          </a:prstGeom>
        </p:spPr>
        <p:txBody>
          <a:bodyPr wrap="square">
            <a:spAutoFit/>
          </a:bodyPr>
          <a:lstStyle/>
          <a:p>
            <a:r>
              <a:rPr lang="en-US" sz="1400" dirty="0"/>
              <a:t>Reference: </a:t>
            </a:r>
            <a:r>
              <a:rPr lang="en-US" sz="1400" dirty="0">
                <a:hlinkClick r:id="rId3"/>
              </a:rPr>
              <a:t>https://www.cs.cmu.edu/~fp/courses/15213-s07/lectures/27-multicore.pdf</a:t>
            </a:r>
            <a:endParaRPr lang="en-US" sz="1400" dirty="0"/>
          </a:p>
          <a:p>
            <a:endParaRPr lang="en-US" sz="1400" dirty="0"/>
          </a:p>
        </p:txBody>
      </p:sp>
    </p:spTree>
    <p:extLst>
      <p:ext uri="{BB962C8B-B14F-4D97-AF65-F5344CB8AC3E}">
        <p14:creationId xmlns:p14="http://schemas.microsoft.com/office/powerpoint/2010/main" val="29100437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Introduction to Multicore Architecture</a:t>
            </a:r>
          </a:p>
        </p:txBody>
      </p:sp>
      <p:sp>
        <p:nvSpPr>
          <p:cNvPr id="3" name="Content Placeholder 2"/>
          <p:cNvSpPr>
            <a:spLocks noGrp="1"/>
          </p:cNvSpPr>
          <p:nvPr>
            <p:ph idx="1"/>
          </p:nvPr>
        </p:nvSpPr>
        <p:spPr>
          <a:xfrm>
            <a:off x="457200" y="742950"/>
            <a:ext cx="8229600" cy="3851673"/>
          </a:xfrm>
        </p:spPr>
        <p:txBody>
          <a:bodyPr>
            <a:noAutofit/>
          </a:bodyPr>
          <a:lstStyle/>
          <a:p>
            <a:r>
              <a:rPr lang="en-US" sz="2000" dirty="0"/>
              <a:t>Multicore refers to an architecture in which a single physical processor incorporates the core logic of more than one processor. </a:t>
            </a:r>
          </a:p>
          <a:p>
            <a:r>
              <a:rPr lang="en-US" sz="2000" dirty="0"/>
              <a:t>A single integrated circuit is used to package or hold these processors. </a:t>
            </a:r>
          </a:p>
          <a:p>
            <a:r>
              <a:rPr lang="en-US" sz="2000" dirty="0"/>
              <a:t>These single integrated circuits are known as a die. </a:t>
            </a:r>
          </a:p>
          <a:p>
            <a:r>
              <a:rPr lang="en-US" sz="2000" dirty="0"/>
              <a:t>Multicore architecture places multiple processor cores and bundles them as a single physical processor. </a:t>
            </a:r>
          </a:p>
          <a:p>
            <a:r>
              <a:rPr lang="en-US" sz="2000" dirty="0"/>
              <a:t>The objective is to create a system that can complete more tasks at the same time, thereby gaining better overall system performance.</a:t>
            </a:r>
            <a:endParaRPr lang="en-US" sz="1200" dirty="0"/>
          </a:p>
        </p:txBody>
      </p:sp>
      <p:sp>
        <p:nvSpPr>
          <p:cNvPr id="4" name="Date Placeholder 3"/>
          <p:cNvSpPr>
            <a:spLocks noGrp="1"/>
          </p:cNvSpPr>
          <p:nvPr>
            <p:ph type="dt" sz="half" idx="10"/>
          </p:nvPr>
        </p:nvSpPr>
        <p:spPr/>
        <p:txBody>
          <a:bodyPr/>
          <a:lstStyle/>
          <a:p>
            <a:fld id="{C0BAB8AE-F9A9-44B2-AFF6-1FAE2F055509}"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1660848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Assignment:</a:t>
            </a:r>
          </a:p>
        </p:txBody>
      </p:sp>
      <p:sp>
        <p:nvSpPr>
          <p:cNvPr id="3" name="Content Placeholder 2"/>
          <p:cNvSpPr>
            <a:spLocks noGrp="1"/>
          </p:cNvSpPr>
          <p:nvPr>
            <p:ph idx="1"/>
          </p:nvPr>
        </p:nvSpPr>
        <p:spPr>
          <a:xfrm>
            <a:off x="457200" y="742950"/>
            <a:ext cx="8229600" cy="3851673"/>
          </a:xfrm>
        </p:spPr>
        <p:txBody>
          <a:bodyPr>
            <a:noAutofit/>
          </a:bodyPr>
          <a:lstStyle/>
          <a:p>
            <a:pPr>
              <a:buFont typeface="+mj-lt"/>
              <a:buAutoNum type="arabicPeriod"/>
            </a:pPr>
            <a:r>
              <a:rPr lang="en-US" sz="1800" dirty="0"/>
              <a:t>In a RISC processor system, there are 10 global registers and 8 register windows, each having 4 common input registers, 10 local registers, and 4 common output registers. How many registers are in this CPU? Also show the diagrammatic representation.</a:t>
            </a:r>
          </a:p>
          <a:p>
            <a:pPr>
              <a:buFont typeface="+mj-lt"/>
              <a:buAutoNum type="arabicPeriod"/>
            </a:pPr>
            <a:r>
              <a:rPr lang="en-US" sz="1800" dirty="0"/>
              <a:t>Define instruction pipeline.  Explain it.</a:t>
            </a:r>
          </a:p>
          <a:p>
            <a:pPr marL="457200" indent="-457200">
              <a:buFont typeface="+mj-lt"/>
              <a:buAutoNum type="arabicPeriod"/>
            </a:pPr>
            <a:r>
              <a:rPr lang="en-US" sz="1800" dirty="0"/>
              <a:t>Explain the Flynn’s Taxonomy.</a:t>
            </a:r>
          </a:p>
          <a:p>
            <a:pPr marL="457200" indent="-457200">
              <a:buFont typeface="+mj-lt"/>
              <a:buAutoNum type="arabicPeriod"/>
            </a:pPr>
            <a:r>
              <a:rPr lang="en-US" sz="1800" dirty="0"/>
              <a:t>What do you mean by MIMD system architecture? Compare UMA architecture and NUMA architecture.</a:t>
            </a:r>
          </a:p>
          <a:p>
            <a:pPr>
              <a:buFont typeface="+mj-lt"/>
              <a:buAutoNum type="arabicPeriod"/>
            </a:pPr>
            <a:r>
              <a:rPr lang="en-US" sz="1800" dirty="0"/>
              <a:t>Explain the multicore architecture of processor.</a:t>
            </a:r>
          </a:p>
          <a:p>
            <a:pPr marL="0" indent="0">
              <a:buNone/>
            </a:pPr>
            <a:endParaRPr lang="en-US" sz="1800" dirty="0"/>
          </a:p>
          <a:p>
            <a:pPr>
              <a:buFont typeface="+mj-lt"/>
              <a:buAutoNum type="arabicPeriod"/>
            </a:pPr>
            <a:endParaRPr lang="en-US" sz="1800" dirty="0">
              <a:solidFill>
                <a:srgbClr val="00B050"/>
              </a:solidFill>
            </a:endParaRPr>
          </a:p>
          <a:p>
            <a:pPr marL="457200" indent="-457200">
              <a:buFont typeface="+mj-lt"/>
              <a:buAutoNum type="arabicPeriod"/>
            </a:pPr>
            <a:endParaRPr lang="en-US" sz="1800" dirty="0"/>
          </a:p>
        </p:txBody>
      </p:sp>
      <p:sp>
        <p:nvSpPr>
          <p:cNvPr id="4" name="Date Placeholder 3"/>
          <p:cNvSpPr>
            <a:spLocks noGrp="1"/>
          </p:cNvSpPr>
          <p:nvPr>
            <p:ph type="dt" sz="half" idx="10"/>
          </p:nvPr>
        </p:nvSpPr>
        <p:spPr/>
        <p:txBody>
          <a:bodyPr/>
          <a:lstStyle/>
          <a:p>
            <a:fld id="{2D4E1F2A-AB4C-4940-A248-920498ED2773}"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17520350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Exam questions:</a:t>
            </a:r>
          </a:p>
        </p:txBody>
      </p:sp>
      <p:sp>
        <p:nvSpPr>
          <p:cNvPr id="3" name="Content Placeholder 2"/>
          <p:cNvSpPr>
            <a:spLocks noGrp="1"/>
          </p:cNvSpPr>
          <p:nvPr>
            <p:ph idx="1"/>
          </p:nvPr>
        </p:nvSpPr>
        <p:spPr>
          <a:xfrm>
            <a:off x="457200" y="742950"/>
            <a:ext cx="8229600" cy="3851673"/>
          </a:xfrm>
        </p:spPr>
        <p:txBody>
          <a:bodyPr>
            <a:noAutofit/>
          </a:bodyPr>
          <a:lstStyle/>
          <a:p>
            <a:pPr marL="514350" indent="-514350">
              <a:buFont typeface="+mj-lt"/>
              <a:buAutoNum type="arabicPeriod"/>
            </a:pPr>
            <a:r>
              <a:rPr lang="en-US" sz="1600" dirty="0"/>
              <a:t>What is instruction pipelining? Differentiate between RISC and CISC processors.  [PU 2017 Fall]</a:t>
            </a:r>
          </a:p>
          <a:p>
            <a:pPr marL="514350" indent="-514350">
              <a:buFont typeface="+mj-lt"/>
              <a:buAutoNum type="arabicPeriod"/>
            </a:pPr>
            <a:r>
              <a:rPr lang="en-US" sz="1600" dirty="0"/>
              <a:t>What is Register Windows? In a system, there are 5 windows of registers, each register share 4 input registers, and 4 output registers. Each of the windows has 10 local registers. The system has 20 global registers. Calculate the total number of registers in the system. Show the pictorial representation as well. [PU 2018 Fall]</a:t>
            </a:r>
          </a:p>
          <a:p>
            <a:pPr marL="514350" indent="-514350">
              <a:buFont typeface="+mj-lt"/>
              <a:buAutoNum type="arabicPeriod"/>
            </a:pPr>
            <a:r>
              <a:rPr lang="en-US" sz="1600" dirty="0"/>
              <a:t>What is Register Windows? In a system, there are 8 windows of registers, each register share 8 input registers, and 8 output registers. Each of the windows has 4 local registers. The system has 10 global registers. Calculate the total number of registers in the system. Show the pictorial representation as well. [PU 2018 Spring]</a:t>
            </a:r>
          </a:p>
          <a:p>
            <a:pPr marL="514350" indent="-514350">
              <a:buFont typeface="+mj-lt"/>
              <a:buAutoNum type="arabicPeriod"/>
            </a:pPr>
            <a:r>
              <a:rPr lang="en-US" sz="1600" dirty="0"/>
              <a:t>What is Register Windows? In a system, there are 8 windows of registers, each register shares 8 input registers, and 8 output registers. Each of the windows has 4 local registers. The system has 10 global registers. Calculate the total number of registers in the system. Show the pictorial representation as well. [PU 2019 Spring]</a:t>
            </a:r>
          </a:p>
        </p:txBody>
      </p:sp>
      <p:sp>
        <p:nvSpPr>
          <p:cNvPr id="4" name="Date Placeholder 3"/>
          <p:cNvSpPr>
            <a:spLocks noGrp="1"/>
          </p:cNvSpPr>
          <p:nvPr>
            <p:ph type="dt" sz="half" idx="10"/>
          </p:nvPr>
        </p:nvSpPr>
        <p:spPr/>
        <p:txBody>
          <a:bodyPr/>
          <a:lstStyle/>
          <a:p>
            <a:fld id="{F43E187B-3CB1-487E-AEA1-7A852955B344}"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32066450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Exam questions:</a:t>
            </a:r>
          </a:p>
        </p:txBody>
      </p:sp>
      <p:sp>
        <p:nvSpPr>
          <p:cNvPr id="3" name="Content Placeholder 2"/>
          <p:cNvSpPr>
            <a:spLocks noGrp="1"/>
          </p:cNvSpPr>
          <p:nvPr>
            <p:ph idx="1"/>
          </p:nvPr>
        </p:nvSpPr>
        <p:spPr>
          <a:xfrm>
            <a:off x="457200" y="742950"/>
            <a:ext cx="8229600" cy="3851673"/>
          </a:xfrm>
        </p:spPr>
        <p:txBody>
          <a:bodyPr>
            <a:noAutofit/>
          </a:bodyPr>
          <a:lstStyle/>
          <a:p>
            <a:pPr marL="457200" lvl="0" indent="-457200">
              <a:buFont typeface="+mj-lt"/>
              <a:buAutoNum type="arabicPeriod"/>
            </a:pPr>
            <a:r>
              <a:rPr lang="en-US" sz="2000" dirty="0"/>
              <a:t>What is cache coherence? Describe how cache coherence can be dealt? List them. Also explain in brief about MESI protocol. [PU 2017 Fall]</a:t>
            </a:r>
          </a:p>
          <a:p>
            <a:pPr marL="457200" indent="-457200">
              <a:buFont typeface="+mj-lt"/>
              <a:buAutoNum type="arabicPeriod"/>
            </a:pPr>
            <a:r>
              <a:rPr lang="en-US" sz="2000" dirty="0"/>
              <a:t>How are memory organized in multiprocessor system? Illustrate with suitable diagrams. [PU 2018 Spring]</a:t>
            </a:r>
          </a:p>
          <a:p>
            <a:pPr marL="457200" indent="-457200">
              <a:buFont typeface="+mj-lt"/>
              <a:buAutoNum type="arabicPeriod"/>
            </a:pPr>
            <a:r>
              <a:rPr lang="en-US" sz="2000" dirty="0"/>
              <a:t>What is Flynn’s Taxonomy? [PU 2017 Spring]</a:t>
            </a:r>
          </a:p>
          <a:p>
            <a:endParaRPr lang="en-US" sz="1800" dirty="0"/>
          </a:p>
          <a:p>
            <a:pPr marL="457200" indent="-457200">
              <a:buFont typeface="+mj-lt"/>
              <a:buAutoNum type="arabicPeriod"/>
            </a:pPr>
            <a:endParaRPr lang="en-US" sz="2000" dirty="0"/>
          </a:p>
          <a:p>
            <a:pPr marL="457200" lvl="0" indent="-457200">
              <a:buFont typeface="+mj-lt"/>
              <a:buAutoNum type="arabicPeriod"/>
            </a:pPr>
            <a:endParaRPr lang="en-US" sz="2000" dirty="0"/>
          </a:p>
        </p:txBody>
      </p:sp>
      <p:sp>
        <p:nvSpPr>
          <p:cNvPr id="4" name="Date Placeholder 3"/>
          <p:cNvSpPr>
            <a:spLocks noGrp="1"/>
          </p:cNvSpPr>
          <p:nvPr>
            <p:ph type="dt" sz="half" idx="10"/>
          </p:nvPr>
        </p:nvSpPr>
        <p:spPr/>
        <p:txBody>
          <a:bodyPr/>
          <a:lstStyle/>
          <a:p>
            <a:fld id="{7641D711-8532-4C1E-B27C-13D010D949B3}" type="datetime1">
              <a:rPr lang="en-US" smtClean="0">
                <a:solidFill>
                  <a:srgbClr val="00B050"/>
                </a:solidFill>
              </a:rPr>
              <a:t>8/22/2023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50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Advanced Architecture</a:t>
            </a:r>
            <a:endParaRPr lang="en-US" dirty="0">
              <a:solidFill>
                <a:srgbClr val="00B050"/>
              </a:solidFill>
            </a:endParaRPr>
          </a:p>
        </p:txBody>
      </p:sp>
    </p:spTree>
    <p:extLst>
      <p:ext uri="{BB962C8B-B14F-4D97-AF65-F5344CB8AC3E}">
        <p14:creationId xmlns:p14="http://schemas.microsoft.com/office/powerpoint/2010/main" val="26260970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6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pPr marL="0" indent="0">
              <a:buNone/>
            </a:pPr>
            <a:endParaRPr lang="en-US" sz="3600" b="1" dirty="0">
              <a:solidFill>
                <a:srgbClr val="00B050"/>
              </a:solidFill>
            </a:endParaRPr>
          </a:p>
          <a:p>
            <a:pPr marL="0" indent="0" algn="ctr">
              <a:buNone/>
            </a:pPr>
            <a:endParaRPr lang="en-US" sz="3600" b="1" dirty="0">
              <a:solidFill>
                <a:srgbClr val="00B050"/>
              </a:solidFill>
            </a:endParaRPr>
          </a:p>
          <a:p>
            <a:pPr marL="0" indent="0" algn="ctr">
              <a:buNone/>
            </a:pPr>
            <a:r>
              <a:rPr lang="en-US" sz="3600" b="1" dirty="0">
                <a:solidFill>
                  <a:srgbClr val="00B050"/>
                </a:solidFill>
              </a:rPr>
              <a:t>End of </a:t>
            </a:r>
            <a:r>
              <a:rPr lang="en-US" sz="3600" b="1">
                <a:solidFill>
                  <a:srgbClr val="00B050"/>
                </a:solidFill>
              </a:rPr>
              <a:t>chapter 9</a:t>
            </a:r>
            <a:endParaRPr lang="en-US" sz="3600" dirty="0">
              <a:solidFill>
                <a:srgbClr val="00B050"/>
              </a:solidFill>
            </a:endParaRPr>
          </a:p>
        </p:txBody>
      </p:sp>
      <p:sp>
        <p:nvSpPr>
          <p:cNvPr id="4" name="Date Placeholder 3"/>
          <p:cNvSpPr>
            <a:spLocks noGrp="1"/>
          </p:cNvSpPr>
          <p:nvPr>
            <p:ph type="dt" sz="half" idx="10"/>
          </p:nvPr>
        </p:nvSpPr>
        <p:spPr/>
        <p:txBody>
          <a:bodyPr/>
          <a:lstStyle/>
          <a:p>
            <a:fld id="{0CD86C7B-1747-4833-BD1D-2461E4766F54}" type="datetime1">
              <a:rPr lang="en-US" smtClean="0"/>
              <a:t>8/22/2023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51</a:t>
            </a:fld>
            <a:endParaRPr lang="en-US"/>
          </a:p>
        </p:txBody>
      </p:sp>
      <p:sp>
        <p:nvSpPr>
          <p:cNvPr id="6" name="Footer Placeholder 5"/>
          <p:cNvSpPr>
            <a:spLocks noGrp="1"/>
          </p:cNvSpPr>
          <p:nvPr>
            <p:ph type="ftr" sz="quarter" idx="11"/>
          </p:nvPr>
        </p:nvSpPr>
        <p:spPr/>
        <p:txBody>
          <a:bodyPr/>
          <a:lstStyle/>
          <a:p>
            <a:r>
              <a:rPr lang="en-US"/>
              <a:t>Advanced Architecture</a:t>
            </a:r>
          </a:p>
        </p:txBody>
      </p:sp>
    </p:spTree>
    <p:extLst>
      <p:ext uri="{BB962C8B-B14F-4D97-AF65-F5344CB8AC3E}">
        <p14:creationId xmlns:p14="http://schemas.microsoft.com/office/powerpoint/2010/main" val="394211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BD1B1-EA1D-436A-9BED-61DE06B494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514C80-9AC2-4EE6-A90B-E09E9CB73AB2}"/>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B8FC91E9-C0E1-462E-BCD5-1F928B32BC76}"/>
              </a:ext>
            </a:extLst>
          </p:cNvPr>
          <p:cNvSpPr>
            <a:spLocks noGrp="1"/>
          </p:cNvSpPr>
          <p:nvPr>
            <p:ph type="dt" sz="half" idx="10"/>
          </p:nvPr>
        </p:nvSpPr>
        <p:spPr/>
        <p:txBody>
          <a:bodyPr/>
          <a:lstStyle/>
          <a:p>
            <a:fld id="{90C20261-C59F-41A8-B813-D6EEE2F69705}" type="datetime1">
              <a:rPr lang="en-US" smtClean="0"/>
              <a:t>8/22/2023</a:t>
            </a:fld>
            <a:endParaRPr lang="en-US"/>
          </a:p>
        </p:txBody>
      </p:sp>
      <p:sp>
        <p:nvSpPr>
          <p:cNvPr id="5" name="Footer Placeholder 4">
            <a:extLst>
              <a:ext uri="{FF2B5EF4-FFF2-40B4-BE49-F238E27FC236}">
                <a16:creationId xmlns:a16="http://schemas.microsoft.com/office/drawing/2014/main" id="{E3BA7106-60D6-45EE-9B0B-E69B2AF8B557}"/>
              </a:ext>
            </a:extLst>
          </p:cNvPr>
          <p:cNvSpPr>
            <a:spLocks noGrp="1"/>
          </p:cNvSpPr>
          <p:nvPr>
            <p:ph type="ftr" sz="quarter" idx="11"/>
          </p:nvPr>
        </p:nvSpPr>
        <p:spPr/>
        <p:txBody>
          <a:bodyPr/>
          <a:lstStyle/>
          <a:p>
            <a:r>
              <a:rPr lang="en-US"/>
              <a:t>Advanced Architecture</a:t>
            </a:r>
          </a:p>
        </p:txBody>
      </p:sp>
      <p:sp>
        <p:nvSpPr>
          <p:cNvPr id="6" name="Slide Number Placeholder 5">
            <a:extLst>
              <a:ext uri="{FF2B5EF4-FFF2-40B4-BE49-F238E27FC236}">
                <a16:creationId xmlns:a16="http://schemas.microsoft.com/office/drawing/2014/main" id="{8C26A75F-20AB-4562-8F32-92B85F825A90}"/>
              </a:ext>
            </a:extLst>
          </p:cNvPr>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2213610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2260</TotalTime>
  <Words>3639</Words>
  <Application>Microsoft Office PowerPoint</Application>
  <PresentationFormat>On-screen Show (16:9)</PresentationFormat>
  <Paragraphs>540</Paragraphs>
  <Slides>52</Slides>
  <Notes>0</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Google Sans</vt:lpstr>
      <vt:lpstr>urw-din</vt:lpstr>
      <vt:lpstr>Office Theme</vt:lpstr>
      <vt:lpstr>Chapter 9 Advanced Architecture</vt:lpstr>
      <vt:lpstr>Contents:</vt:lpstr>
      <vt:lpstr>9.1 RISC and CISC Fundamentals</vt:lpstr>
      <vt:lpstr>RISC</vt:lpstr>
      <vt:lpstr>Features of RISC </vt:lpstr>
      <vt:lpstr>Advantages   Disadvantages </vt:lpstr>
      <vt:lpstr>CISC</vt:lpstr>
      <vt:lpstr>Features of CISC </vt:lpstr>
      <vt:lpstr>Advantages   Disadvantages </vt:lpstr>
      <vt:lpstr>RISC Vs CISC</vt:lpstr>
      <vt:lpstr>9.2 Instruction Pipeline</vt:lpstr>
      <vt:lpstr>Instruction Pipeline</vt:lpstr>
      <vt:lpstr>9.3 Register Windowing</vt:lpstr>
      <vt:lpstr>Register Windowing (Contd.)</vt:lpstr>
      <vt:lpstr>Register Windowing (Contd.)</vt:lpstr>
      <vt:lpstr>Register Renaming</vt:lpstr>
      <vt:lpstr>Register Renaming</vt:lpstr>
      <vt:lpstr>9.4 Register Organization in RISC CPU</vt:lpstr>
      <vt:lpstr>9.4 Register Organization in RISC CPU (Contd.)</vt:lpstr>
      <vt:lpstr>Numerical:</vt:lpstr>
      <vt:lpstr>Assignment:</vt:lpstr>
      <vt:lpstr>9.5 Organization of Multiprocessor System</vt:lpstr>
      <vt:lpstr>a) Characteristics of multiprocessor:</vt:lpstr>
      <vt:lpstr>b) Flynn’s Classification</vt:lpstr>
      <vt:lpstr>i) SISD</vt:lpstr>
      <vt:lpstr>ii) SIMD</vt:lpstr>
      <vt:lpstr>iii) MISD </vt:lpstr>
      <vt:lpstr>iv) MIMD</vt:lpstr>
      <vt:lpstr>C) System Topologies</vt:lpstr>
      <vt:lpstr>a) Shared Bus Topology</vt:lpstr>
      <vt:lpstr>b) Ring topology</vt:lpstr>
      <vt:lpstr>c) Tree topology</vt:lpstr>
      <vt:lpstr>PowerPoint Presentation</vt:lpstr>
      <vt:lpstr>PowerPoint Presentation</vt:lpstr>
      <vt:lpstr>PowerPoint Presentation</vt:lpstr>
      <vt:lpstr>9.6 MIMD System Architecture:</vt:lpstr>
      <vt:lpstr>Shared Memory model of MIMD</vt:lpstr>
      <vt:lpstr>i) UMA (Uniform Memory Access) Architecture</vt:lpstr>
      <vt:lpstr>ii) NUMA</vt:lpstr>
      <vt:lpstr>PowerPoint Presentation</vt:lpstr>
      <vt:lpstr>Assignment:</vt:lpstr>
      <vt:lpstr>Cache Coherence</vt:lpstr>
      <vt:lpstr>iii) COMA architecture</vt:lpstr>
      <vt:lpstr>9.7 Introduction to Multicore Architecture</vt:lpstr>
      <vt:lpstr>Introduction to Multicore Architecture</vt:lpstr>
      <vt:lpstr>Introduction to Multicore Architecture</vt:lpstr>
      <vt:lpstr>Introduction to Multicore Architecture</vt:lpstr>
      <vt:lpstr>Assignment:</vt:lpstr>
      <vt:lpstr>Exam questions:</vt:lpstr>
      <vt:lpstr>Exam questions: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shiva</dc:creator>
  <cp:lastModifiedBy>Shiva Ram Dam</cp:lastModifiedBy>
  <cp:revision>185</cp:revision>
  <dcterms:created xsi:type="dcterms:W3CDTF">2006-08-16T00:00:00Z</dcterms:created>
  <dcterms:modified xsi:type="dcterms:W3CDTF">2023-08-22T12:20:07Z</dcterms:modified>
</cp:coreProperties>
</file>