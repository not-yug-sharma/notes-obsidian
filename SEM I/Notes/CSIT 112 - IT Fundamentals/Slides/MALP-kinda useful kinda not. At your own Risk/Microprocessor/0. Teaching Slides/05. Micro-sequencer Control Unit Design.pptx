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386" r:id="rId4"/>
    <p:sldId id="305" r:id="rId5"/>
    <p:sldId id="387" r:id="rId6"/>
    <p:sldId id="351" r:id="rId7"/>
    <p:sldId id="405" r:id="rId8"/>
    <p:sldId id="358" r:id="rId9"/>
    <p:sldId id="391" r:id="rId10"/>
    <p:sldId id="406" r:id="rId11"/>
    <p:sldId id="393" r:id="rId12"/>
    <p:sldId id="390" r:id="rId13"/>
    <p:sldId id="392" r:id="rId14"/>
    <p:sldId id="353" r:id="rId15"/>
    <p:sldId id="399" r:id="rId16"/>
    <p:sldId id="395" r:id="rId17"/>
    <p:sldId id="397" r:id="rId18"/>
    <p:sldId id="354" r:id="rId19"/>
    <p:sldId id="400" r:id="rId20"/>
    <p:sldId id="401" r:id="rId21"/>
    <p:sldId id="416" r:id="rId22"/>
    <p:sldId id="417" r:id="rId23"/>
    <p:sldId id="402" r:id="rId24"/>
    <p:sldId id="403" r:id="rId25"/>
    <p:sldId id="404" r:id="rId26"/>
    <p:sldId id="418" r:id="rId27"/>
    <p:sldId id="407" r:id="rId28"/>
    <p:sldId id="413" r:id="rId29"/>
    <p:sldId id="414" r:id="rId30"/>
    <p:sldId id="409" r:id="rId31"/>
    <p:sldId id="411" r:id="rId32"/>
    <p:sldId id="415" r:id="rId33"/>
    <p:sldId id="419" r:id="rId34"/>
    <p:sldId id="420" r:id="rId35"/>
    <p:sldId id="408" r:id="rId36"/>
    <p:sldId id="385" r:id="rId37"/>
    <p:sldId id="383" r:id="rId38"/>
    <p:sldId id="384" r:id="rId39"/>
    <p:sldId id="382" r:id="rId40"/>
    <p:sldId id="381" r:id="rId41"/>
    <p:sldId id="350" r:id="rId4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38" autoAdjust="0"/>
  </p:normalViewPr>
  <p:slideViewPr>
    <p:cSldViewPr>
      <p:cViewPr varScale="1">
        <p:scale>
          <a:sx n="95" d="100"/>
          <a:sy n="95" d="100"/>
        </p:scale>
        <p:origin x="797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8/19/2023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9884-7E38-4C95-8E3A-F58284B89EF1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7DA4-55C8-4B75-86EE-F445D5FBB882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1499-3D14-4169-AA2D-58D2A34875E3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02214-54E4-466D-9FC3-A3CB4AF8FF74}" type="datetime1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F9F53-FF6F-4B09-B4DE-C97C10077A7B}" type="datetime1">
              <a:rPr lang="en-US" smtClean="0"/>
              <a:t>8/19/2023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AC63-2E6F-4A1C-BADF-D8F25AEF4DD5}" type="datetime1">
              <a:rPr lang="en-US" smtClean="0"/>
              <a:t>8/19/2023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4626-89B5-4B9D-83DD-A45E704D19BF}" type="datetime1">
              <a:rPr lang="en-US" smtClean="0"/>
              <a:t>8/19/2023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B61B0-6201-4BD3-B6BA-A460F1DA2206}" type="datetime1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15D85-FC76-4319-81C5-EC0984C06203}" type="datetime1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F286B-1A82-43EC-9FCE-72B501AA0AA5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3939-9849-4E4E-940A-613CF44871B4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D0E9E-87EF-461A-94CC-FDA299E0F02E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27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12" Type="http://schemas.microsoft.com/office/2007/relationships/hdphoto" Target="../media/hdphoto8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2.png"/><Relationship Id="rId5" Type="http://schemas.microsoft.com/office/2007/relationships/hdphoto" Target="../media/hdphoto5.wdp"/><Relationship Id="rId10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microsoft.com/office/2007/relationships/hdphoto" Target="../media/hdphoto7.wdp"/><Relationship Id="rId14" Type="http://schemas.microsoft.com/office/2007/relationships/hdphoto" Target="../media/hdphoto3.wdp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4.wdp"/><Relationship Id="rId7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microsoft.com/office/2007/relationships/hdphoto" Target="../media/hdphoto9.wdp"/><Relationship Id="rId5" Type="http://schemas.microsoft.com/office/2007/relationships/hdphoto" Target="../media/hdphoto2.wdp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Chapter 5</a:t>
            </a:r>
            <a:br>
              <a:rPr lang="en-US" sz="3100" b="1" dirty="0"/>
            </a:br>
            <a:r>
              <a:rPr lang="en-US" b="1" dirty="0">
                <a:solidFill>
                  <a:srgbClr val="FF0000"/>
                </a:solidFill>
              </a:rPr>
              <a:t>MICRO-SEQUENCER CONTROL UNIT DESIGN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Basic Micro-sequencer (Control Unit) Design and Operations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Micro-instruction Formats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Design and Implementation of a Very Simple Micro-sequencer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Control Unit: Layout, Control Sequence Generation, Mapping Logic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Generation of Micro-operations using Horizontal and Vertical Microcode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Directly generating the control signal from the Microcode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Reducing tile Number of Micro-instructions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Micro-programmed Vs Hardwired Control Unit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110D-8C97-4C08-A7CE-6C8EFD77C816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5.0 Introduction to Micro sequencer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b="1" dirty="0"/>
              <a:t>Hardwired control </a:t>
            </a:r>
            <a:r>
              <a:rPr lang="en-US" sz="2000" dirty="0"/>
              <a:t>is one of the two most commonly used control methods.</a:t>
            </a:r>
          </a:p>
          <a:p>
            <a:r>
              <a:rPr lang="en-US" sz="2000" dirty="0"/>
              <a:t>The another popular control method is the </a:t>
            </a:r>
            <a:r>
              <a:rPr lang="en-US" sz="2000" b="1" dirty="0"/>
              <a:t>micro-sequencing.</a:t>
            </a:r>
          </a:p>
          <a:p>
            <a:r>
              <a:rPr lang="en-US" sz="2000" dirty="0"/>
              <a:t>Instead of generating the control signals using combinational and sequential logic, a </a:t>
            </a:r>
            <a:r>
              <a:rPr lang="en-US" sz="2000" dirty="0" err="1"/>
              <a:t>microsequencer</a:t>
            </a:r>
            <a:r>
              <a:rPr lang="en-US" sz="2000" dirty="0"/>
              <a:t> </a:t>
            </a:r>
            <a:r>
              <a:rPr lang="en-US" sz="2000" b="1" dirty="0"/>
              <a:t>stores its control signals </a:t>
            </a:r>
            <a:r>
              <a:rPr lang="en-US" sz="2000" dirty="0"/>
              <a:t>in a </a:t>
            </a:r>
            <a:r>
              <a:rPr lang="en-US" sz="2000" b="1" dirty="0"/>
              <a:t>lookup ROM</a:t>
            </a:r>
            <a:r>
              <a:rPr lang="en-US" sz="2000" dirty="0"/>
              <a:t>, the microcode memory.</a:t>
            </a:r>
          </a:p>
          <a:p>
            <a:r>
              <a:rPr lang="en-US" sz="2000" b="1" dirty="0"/>
              <a:t>By accessing the locations of the ROM in the correct order</a:t>
            </a:r>
            <a:r>
              <a:rPr lang="en-US" sz="2000" dirty="0"/>
              <a:t>, the lookup ROM </a:t>
            </a:r>
            <a:r>
              <a:rPr lang="en-US" sz="2000" b="1" dirty="0"/>
              <a:t>asserts the control signals </a:t>
            </a:r>
            <a:r>
              <a:rPr lang="en-US" sz="2000" dirty="0"/>
              <a:t>in the proper sequence to realize the instructions in the processor’s instruction set.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DFB7-92A6-45B9-9237-0D2ED5880057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8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5.1 Basic </a:t>
            </a:r>
            <a:r>
              <a:rPr lang="en-US" sz="2800" b="1" dirty="0" err="1">
                <a:solidFill>
                  <a:srgbClr val="FF0000"/>
                </a:solidFill>
              </a:rPr>
              <a:t>Microsequencer</a:t>
            </a:r>
            <a:r>
              <a:rPr lang="en-US" sz="2800" b="1" dirty="0">
                <a:solidFill>
                  <a:srgbClr val="FF0000"/>
                </a:solidFill>
              </a:rPr>
              <a:t> (CU) Design and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6750"/>
            <a:ext cx="5085510" cy="385167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Like in hardwired control unit, a </a:t>
            </a:r>
            <a:r>
              <a:rPr lang="en-US" sz="1800" dirty="0" err="1"/>
              <a:t>microsequencer</a:t>
            </a:r>
            <a:r>
              <a:rPr lang="en-US" sz="1800" dirty="0"/>
              <a:t> </a:t>
            </a:r>
            <a:r>
              <a:rPr lang="en-US" sz="1800" b="1" dirty="0"/>
              <a:t>is also designed as a finite state machine.</a:t>
            </a:r>
          </a:p>
          <a:p>
            <a:r>
              <a:rPr lang="en-US" sz="1800" dirty="0"/>
              <a:t>The microprogram sequencer is a general-purpose building block for the microprogrammed control unit. </a:t>
            </a:r>
          </a:p>
          <a:p>
            <a:r>
              <a:rPr lang="en-US" sz="1800" dirty="0"/>
              <a:t>The main objective of the microprogram sequencer is to demonstrate an address to the control memory so that microinstruction can be read and executed. </a:t>
            </a:r>
          </a:p>
          <a:p>
            <a:r>
              <a:rPr lang="en-US" sz="1800" dirty="0"/>
              <a:t>The next address logic of the sequencer decides the particular address source to be loaded into the control address register (CAR). </a:t>
            </a:r>
          </a:p>
          <a:p>
            <a:r>
              <a:rPr lang="en-US" sz="1800" dirty="0"/>
              <a:t>The figure shows the layout of the simple </a:t>
            </a:r>
            <a:r>
              <a:rPr lang="en-US" sz="1800" dirty="0" err="1"/>
              <a:t>microsequencer</a:t>
            </a:r>
            <a:r>
              <a:rPr lang="en-US" sz="18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C7F0-707C-4E8B-8587-EBE55A84AE44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ABBA81-6032-460D-A462-AF7969F314FB}"/>
              </a:ext>
            </a:extLst>
          </p:cNvPr>
          <p:cNvSpPr/>
          <p:nvPr/>
        </p:nvSpPr>
        <p:spPr>
          <a:xfrm>
            <a:off x="5055297" y="4333757"/>
            <a:ext cx="3770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Generic </a:t>
            </a:r>
            <a:r>
              <a:rPr lang="en-US" b="1" dirty="0" err="1"/>
              <a:t>microsequencer</a:t>
            </a:r>
            <a:r>
              <a:rPr lang="en-US" b="1" dirty="0"/>
              <a:t> Organization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037879-9A85-4B9F-BB2D-6079E0BEE9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28" t="10764" r="4864" b="3758"/>
          <a:stretch/>
        </p:blipFill>
        <p:spPr>
          <a:xfrm>
            <a:off x="6096000" y="915590"/>
            <a:ext cx="2514600" cy="335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36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6750"/>
            <a:ext cx="5410200" cy="4036339"/>
          </a:xfrm>
        </p:spPr>
        <p:txBody>
          <a:bodyPr>
            <a:noAutofit/>
          </a:bodyPr>
          <a:lstStyle/>
          <a:p>
            <a:pPr marL="288925" indent="-288925">
              <a:buFont typeface="+mj-lt"/>
              <a:buAutoNum type="arabicPeriod"/>
            </a:pPr>
            <a:r>
              <a:rPr lang="en-US" sz="1300" b="1" dirty="0"/>
              <a:t>Generate Next Address: </a:t>
            </a:r>
            <a:r>
              <a:rPr lang="en-US" sz="1300" dirty="0"/>
              <a:t>This block typically </a:t>
            </a:r>
            <a:r>
              <a:rPr lang="en-US" sz="1300" dirty="0">
                <a:solidFill>
                  <a:srgbClr val="C00000"/>
                </a:solidFill>
              </a:rPr>
              <a:t>generate all possible next address </a:t>
            </a:r>
            <a:r>
              <a:rPr lang="en-US" sz="1300" dirty="0"/>
              <a:t>and then </a:t>
            </a:r>
            <a:r>
              <a:rPr lang="en-US" sz="1300" dirty="0">
                <a:solidFill>
                  <a:srgbClr val="C00000"/>
                </a:solidFill>
              </a:rPr>
              <a:t>select correct next address </a:t>
            </a:r>
            <a:r>
              <a:rPr lang="en-US" sz="1300" dirty="0"/>
              <a:t>to </a:t>
            </a:r>
            <a:r>
              <a:rPr lang="en-US" sz="1300" dirty="0">
                <a:solidFill>
                  <a:srgbClr val="C00000"/>
                </a:solidFill>
              </a:rPr>
              <a:t>pass to the register</a:t>
            </a:r>
            <a:r>
              <a:rPr lang="en-US" sz="1300" dirty="0"/>
              <a:t>. </a:t>
            </a:r>
          </a:p>
          <a:p>
            <a:pPr marL="569913" lvl="1"/>
            <a:r>
              <a:rPr lang="en-US" sz="1300" dirty="0"/>
              <a:t>One possible value of the next address is the current address + 1. </a:t>
            </a:r>
          </a:p>
          <a:p>
            <a:pPr marL="569913" lvl="1"/>
            <a:r>
              <a:rPr lang="en-US" sz="1300" dirty="0"/>
              <a:t>Another possible address is an </a:t>
            </a:r>
            <a:r>
              <a:rPr lang="en-US" sz="1300" dirty="0">
                <a:solidFill>
                  <a:srgbClr val="C00000"/>
                </a:solidFill>
              </a:rPr>
              <a:t>absolute address </a:t>
            </a:r>
            <a:r>
              <a:rPr lang="en-US" sz="1300" dirty="0"/>
              <a:t>supplied by the micro-code memory</a:t>
            </a:r>
            <a:endParaRPr lang="en-US" sz="1300" b="1" dirty="0"/>
          </a:p>
          <a:p>
            <a:pPr marL="288925" lvl="0" indent="-288925">
              <a:buFont typeface="+mj-lt"/>
              <a:buAutoNum type="arabicPeriod"/>
            </a:pPr>
            <a:r>
              <a:rPr lang="en-US" sz="1300" b="1" dirty="0"/>
              <a:t>REGISTER: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C00000"/>
                </a:solidFill>
              </a:rPr>
              <a:t>stores a value </a:t>
            </a:r>
            <a:r>
              <a:rPr lang="en-US" sz="1300" dirty="0"/>
              <a:t>that corresponds to 1-state in the CPU state diagram. </a:t>
            </a:r>
          </a:p>
          <a:p>
            <a:pPr marL="569913" lvl="1" indent="-288925"/>
            <a:r>
              <a:rPr lang="en-US" sz="1300" dirty="0"/>
              <a:t>It </a:t>
            </a:r>
            <a:r>
              <a:rPr lang="en-US" sz="1300" dirty="0">
                <a:solidFill>
                  <a:srgbClr val="C00000"/>
                </a:solidFill>
              </a:rPr>
              <a:t>serves as the address </a:t>
            </a:r>
            <a:r>
              <a:rPr lang="en-US" sz="1300" dirty="0"/>
              <a:t>i.e. </a:t>
            </a:r>
            <a:r>
              <a:rPr lang="en-US" sz="1300" dirty="0">
                <a:solidFill>
                  <a:srgbClr val="C00000"/>
                </a:solidFill>
              </a:rPr>
              <a:t>input to the micro-code memory. 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1300" b="1" dirty="0"/>
              <a:t>MICRO-CODE</a:t>
            </a:r>
            <a:r>
              <a:rPr lang="en-US" sz="1300" dirty="0"/>
              <a:t> </a:t>
            </a:r>
            <a:r>
              <a:rPr lang="en-US" sz="1300" b="1" dirty="0"/>
              <a:t>memory: </a:t>
            </a:r>
            <a:r>
              <a:rPr lang="en-US" sz="1300" dirty="0">
                <a:solidFill>
                  <a:srgbClr val="C00000"/>
                </a:solidFill>
              </a:rPr>
              <a:t>outputs a micro-instruction </a:t>
            </a:r>
            <a:r>
              <a:rPr lang="en-US" sz="1300" dirty="0"/>
              <a:t>(the content of memory location for this address). </a:t>
            </a:r>
            <a:r>
              <a:rPr lang="en-US" sz="1300" dirty="0">
                <a:solidFill>
                  <a:srgbClr val="C00000"/>
                </a:solidFill>
              </a:rPr>
              <a:t>Collectively</a:t>
            </a:r>
            <a:r>
              <a:rPr lang="en-US" sz="1300" dirty="0"/>
              <a:t>, all of the microinstructions comprise the microcode, or </a:t>
            </a:r>
            <a:r>
              <a:rPr lang="en-US" sz="1300" dirty="0">
                <a:solidFill>
                  <a:srgbClr val="C00000"/>
                </a:solidFill>
              </a:rPr>
              <a:t>microprogram</a:t>
            </a:r>
            <a:r>
              <a:rPr lang="en-US" sz="1300" dirty="0"/>
              <a:t>, for the CPU. It consists of micro-instructions.</a:t>
            </a:r>
          </a:p>
          <a:p>
            <a:pPr marL="569913" lvl="1" indent="-288925"/>
            <a:r>
              <a:rPr lang="en-US" sz="1300" b="1" dirty="0"/>
              <a:t>MICRO-INSTRUCTION: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C00000"/>
                </a:solidFill>
              </a:rPr>
              <a:t>consists of several bit of fields </a:t>
            </a:r>
            <a:r>
              <a:rPr lang="en-US" sz="1300" dirty="0"/>
              <a:t>which can be broadly classified into two groups: </a:t>
            </a:r>
          </a:p>
          <a:p>
            <a:pPr marL="858838" lvl="2" indent="-288925">
              <a:buFont typeface="+mj-lt"/>
              <a:buAutoNum type="alphaLcParenR"/>
            </a:pPr>
            <a:r>
              <a:rPr lang="en-US" sz="1300" b="1" dirty="0"/>
              <a:t>micro-operation</a:t>
            </a:r>
            <a:r>
              <a:rPr lang="en-US" sz="1300" dirty="0"/>
              <a:t> that </a:t>
            </a:r>
            <a:r>
              <a:rPr lang="en-US" sz="1300" dirty="0">
                <a:solidFill>
                  <a:srgbClr val="C00000"/>
                </a:solidFill>
              </a:rPr>
              <a:t>generates the control signal. </a:t>
            </a:r>
          </a:p>
          <a:p>
            <a:pPr marL="858838" lvl="2" indent="-288925">
              <a:buFont typeface="+mj-lt"/>
              <a:buAutoNum type="alphaLcParenR"/>
            </a:pPr>
            <a:r>
              <a:rPr lang="en-US" sz="1300" b="1" dirty="0"/>
              <a:t>Sequencer </a:t>
            </a:r>
            <a:r>
              <a:rPr lang="en-US" sz="1300" dirty="0"/>
              <a:t>is used to </a:t>
            </a:r>
            <a:r>
              <a:rPr lang="en-US" sz="1300" dirty="0">
                <a:solidFill>
                  <a:srgbClr val="C00000"/>
                </a:solidFill>
              </a:rPr>
              <a:t>generate the next address </a:t>
            </a:r>
            <a:r>
              <a:rPr lang="en-US" sz="1300" dirty="0"/>
              <a:t>to be stored in the register.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879C-CE58-4976-9A8F-19DFC5611A03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03706E-0AD1-4237-8E04-EBE15C2C2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28" t="10764" r="4864" b="3758"/>
          <a:stretch/>
        </p:blipFill>
        <p:spPr>
          <a:xfrm>
            <a:off x="6096000" y="915590"/>
            <a:ext cx="2514600" cy="335399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ABBA81-6032-460D-A462-AF7969F314FB}"/>
              </a:ext>
            </a:extLst>
          </p:cNvPr>
          <p:cNvSpPr/>
          <p:nvPr/>
        </p:nvSpPr>
        <p:spPr>
          <a:xfrm>
            <a:off x="6017823" y="4319678"/>
            <a:ext cx="25875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/>
              <a:t>Generic </a:t>
            </a:r>
            <a:r>
              <a:rPr lang="en-US" sz="1200" b="1" dirty="0" err="1"/>
              <a:t>microsequencer</a:t>
            </a:r>
            <a:r>
              <a:rPr lang="en-US" sz="1200" b="1" dirty="0"/>
              <a:t> Organization</a:t>
            </a:r>
          </a:p>
        </p:txBody>
      </p:sp>
    </p:spTree>
    <p:extLst>
      <p:ext uri="{BB962C8B-B14F-4D97-AF65-F5344CB8AC3E}">
        <p14:creationId xmlns:p14="http://schemas.microsoft.com/office/powerpoint/2010/main" val="57685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2.5 Micro-instruction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33550"/>
            <a:ext cx="4648200" cy="2861074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sz="2000" b="1" dirty="0"/>
              <a:t>Each micro-instruction in the Microcode memory consists of :</a:t>
            </a:r>
          </a:p>
          <a:p>
            <a:pPr marL="633413" lvl="1" indent="-233363">
              <a:buFont typeface="+mj-lt"/>
              <a:buAutoNum type="arabicPeriod"/>
            </a:pPr>
            <a:r>
              <a:rPr lang="en-US" sz="1600" b="1" dirty="0"/>
              <a:t>SELECT field: </a:t>
            </a:r>
            <a:r>
              <a:rPr lang="en-US" sz="1600" dirty="0"/>
              <a:t>determines </a:t>
            </a:r>
            <a:r>
              <a:rPr lang="en-US" sz="1600" dirty="0">
                <a:solidFill>
                  <a:srgbClr val="C00000"/>
                </a:solidFill>
              </a:rPr>
              <a:t>source of address </a:t>
            </a:r>
            <a:r>
              <a:rPr lang="en-US" sz="1600" dirty="0"/>
              <a:t>of next microinstruction. It doesn’t specify the actual address, but only the source of the address.</a:t>
            </a:r>
          </a:p>
          <a:p>
            <a:pPr marL="633413" lvl="1" indent="-233363">
              <a:buFont typeface="+mj-lt"/>
              <a:buAutoNum type="arabicPeriod"/>
            </a:pPr>
            <a:endParaRPr lang="en-US" sz="1600" dirty="0"/>
          </a:p>
          <a:p>
            <a:pPr marL="633413" lvl="1" indent="-233363">
              <a:buFont typeface="+mj-lt"/>
              <a:buAutoNum type="arabicPeriod"/>
            </a:pPr>
            <a:r>
              <a:rPr lang="en-US" sz="1600" b="1" dirty="0"/>
              <a:t>ADDR field: </a:t>
            </a:r>
            <a:r>
              <a:rPr lang="en-US" sz="1600" dirty="0"/>
              <a:t>specifies an </a:t>
            </a:r>
            <a:r>
              <a:rPr lang="en-US" sz="1600" dirty="0">
                <a:solidFill>
                  <a:srgbClr val="C00000"/>
                </a:solidFill>
              </a:rPr>
              <a:t>absolute address</a:t>
            </a:r>
            <a:r>
              <a:rPr lang="en-US" sz="1600" dirty="0"/>
              <a:t>. Used when performing absolute jump. =&gt; Microinstructions that specify another source for the next address, such as mapping address do not use bits of this field. </a:t>
            </a:r>
          </a:p>
          <a:p>
            <a:pPr marL="633413" lvl="1" indent="-233363">
              <a:buFont typeface="+mj-lt"/>
              <a:buAutoNum type="arabicPeriod"/>
            </a:pPr>
            <a:endParaRPr lang="en-US" sz="1600" dirty="0"/>
          </a:p>
          <a:p>
            <a:pPr marL="633413" lvl="1" indent="-233363">
              <a:buFont typeface="+mj-lt"/>
              <a:buAutoNum type="arabicPeriod"/>
            </a:pPr>
            <a:r>
              <a:rPr lang="en-US" sz="1600" b="1" dirty="0"/>
              <a:t>MICRO-OPERATIONS field: </a:t>
            </a:r>
            <a:r>
              <a:rPr lang="en-US" sz="1600" dirty="0"/>
              <a:t>three primary methods. </a:t>
            </a:r>
          </a:p>
          <a:p>
            <a:pPr lvl="2"/>
            <a:r>
              <a:rPr lang="en-US" sz="1600" dirty="0"/>
              <a:t>horizontal microcode </a:t>
            </a:r>
          </a:p>
          <a:p>
            <a:pPr lvl="2"/>
            <a:r>
              <a:rPr lang="en-US" sz="1600" dirty="0"/>
              <a:t>vertical microcode </a:t>
            </a:r>
          </a:p>
          <a:p>
            <a:pPr lvl="2"/>
            <a:r>
              <a:rPr lang="en-US" sz="1600" dirty="0"/>
              <a:t>Direct generation of control signals</a:t>
            </a:r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1F78-C2C2-4BC6-80D8-B9BF9865B3C1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76A40F-C617-4926-93EB-D4125FC0B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77323"/>
              </p:ext>
            </p:extLst>
          </p:nvPr>
        </p:nvGraphicFramePr>
        <p:xfrm>
          <a:off x="1295400" y="1077366"/>
          <a:ext cx="3657600" cy="356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97132169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2352718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31184460"/>
                    </a:ext>
                  </a:extLst>
                </a:gridCol>
              </a:tblGrid>
              <a:tr h="356667">
                <a:tc>
                  <a:txBody>
                    <a:bodyPr/>
                    <a:lstStyle/>
                    <a:p>
                      <a:r>
                        <a:rPr lang="en-US" sz="1400" dirty="0"/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MICRO-OPERATIONS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40659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F15B1B1-F9B3-4301-B41D-3CDA21A1C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0" y="2266950"/>
            <a:ext cx="3431071" cy="21474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B03B65-0325-47E5-991E-10B18CEDBCF3}"/>
              </a:ext>
            </a:extLst>
          </p:cNvPr>
          <p:cNvSpPr txBox="1"/>
          <p:nvPr/>
        </p:nvSpPr>
        <p:spPr>
          <a:xfrm>
            <a:off x="6019800" y="1885950"/>
            <a:ext cx="109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81730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a) Horizontal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3350"/>
            <a:ext cx="8229600" cy="2411274"/>
          </a:xfrm>
        </p:spPr>
        <p:txBody>
          <a:bodyPr>
            <a:noAutofit/>
          </a:bodyPr>
          <a:lstStyle/>
          <a:p>
            <a:r>
              <a:rPr lang="en-US" sz="1200" dirty="0"/>
              <a:t>In horizontal micro-instruction, </a:t>
            </a:r>
            <a:r>
              <a:rPr lang="en-US" sz="1200" b="1" dirty="0">
                <a:solidFill>
                  <a:srgbClr val="C00000"/>
                </a:solidFill>
              </a:rPr>
              <a:t>each control signal is represented by a single bit </a:t>
            </a:r>
            <a:r>
              <a:rPr lang="en-US" sz="1200" dirty="0"/>
              <a:t>in the control word. </a:t>
            </a:r>
          </a:p>
          <a:p>
            <a:r>
              <a:rPr lang="en-US" sz="1200" dirty="0"/>
              <a:t>Thus, </a:t>
            </a:r>
            <a:r>
              <a:rPr lang="en-US" sz="1200" b="1" i="1" dirty="0">
                <a:solidFill>
                  <a:srgbClr val="0070C0"/>
                </a:solidFill>
              </a:rPr>
              <a:t>if the design has 500 control signals, it requires 500 bits </a:t>
            </a:r>
            <a:r>
              <a:rPr lang="en-US" sz="1200" dirty="0"/>
              <a:t>in each control word to store the control bits. </a:t>
            </a:r>
          </a:p>
          <a:p>
            <a:r>
              <a:rPr lang="en-US" sz="1200" dirty="0"/>
              <a:t>In this format, the control store looks horizontal in shape, since the control words are wide.</a:t>
            </a:r>
          </a:p>
          <a:p>
            <a:r>
              <a:rPr lang="en-US" sz="1200" dirty="0"/>
              <a:t>The format of the horizontal instruction is as:</a:t>
            </a:r>
          </a:p>
          <a:p>
            <a:pPr lvl="1"/>
            <a:r>
              <a:rPr lang="en-US" sz="1200" dirty="0"/>
              <a:t>One bit for each internal processor control line</a:t>
            </a:r>
          </a:p>
          <a:p>
            <a:pPr lvl="1"/>
            <a:r>
              <a:rPr lang="en-US" sz="1200" dirty="0"/>
              <a:t>One bit for each system bus control line</a:t>
            </a:r>
          </a:p>
          <a:p>
            <a:pPr lvl="1"/>
            <a:r>
              <a:rPr lang="en-US" sz="1200" dirty="0"/>
              <a:t>Condition bit for flags</a:t>
            </a:r>
          </a:p>
          <a:p>
            <a:pPr lvl="1"/>
            <a:r>
              <a:rPr lang="en-US" sz="1200" dirty="0"/>
              <a:t>Address field</a:t>
            </a:r>
          </a:p>
          <a:p>
            <a:r>
              <a:rPr lang="en-US" sz="1200" b="1" dirty="0"/>
              <a:t>Advantage: </a:t>
            </a:r>
            <a:r>
              <a:rPr lang="en-US" sz="1200" dirty="0"/>
              <a:t>Fast operation as the control signals will be ready as soon as the control word is fetched form the control store.</a:t>
            </a:r>
          </a:p>
          <a:p>
            <a:r>
              <a:rPr lang="en-US" sz="1200" b="1" dirty="0"/>
              <a:t>Disadvantages: </a:t>
            </a:r>
            <a:r>
              <a:rPr lang="en-US" sz="1200" dirty="0"/>
              <a:t>The control word occupies more space of the control store.</a:t>
            </a:r>
          </a:p>
          <a:p>
            <a:pPr lvl="1"/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B30F7-DCF9-446D-8EA4-C817A1FFD4B4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A79B01-B884-4F71-9502-1F83EAAECCA9}"/>
              </a:ext>
            </a:extLst>
          </p:cNvPr>
          <p:cNvPicPr/>
          <p:nvPr/>
        </p:nvPicPr>
        <p:blipFill rotWithShape="1">
          <a:blip r:embed="rId2"/>
          <a:srcRect t="9317" b="13646"/>
          <a:stretch/>
        </p:blipFill>
        <p:spPr bwMode="auto">
          <a:xfrm>
            <a:off x="2362200" y="701040"/>
            <a:ext cx="4583499" cy="974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EE85E8-D0D0-44BD-B672-25550F1DCF15}"/>
              </a:ext>
            </a:extLst>
          </p:cNvPr>
          <p:cNvSpPr/>
          <p:nvPr/>
        </p:nvSpPr>
        <p:spPr>
          <a:xfrm>
            <a:off x="2754034" y="1814017"/>
            <a:ext cx="32657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Figure: Horizontal microinstruction format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4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a) Horizontal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76962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Firstly, Listing every microoperation performed by CPU (mnemonics are used).</a:t>
            </a:r>
          </a:p>
          <a:p>
            <a:r>
              <a:rPr lang="en-US" sz="2000" dirty="0"/>
              <a:t>Assign one bit in the microoperations field of microinstruction to each microoperation. This will result in large microinstruction.</a:t>
            </a:r>
          </a:p>
          <a:p>
            <a:r>
              <a:rPr lang="en-US" sz="2000" dirty="0"/>
              <a:t>For example:</a:t>
            </a:r>
          </a:p>
          <a:p>
            <a:pPr lvl="1"/>
            <a:r>
              <a:rPr lang="en-US" sz="1800" dirty="0"/>
              <a:t>If a CPU performs 50 different microoperations, the micro-operation field uses 50 bits for every micro-operation.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79D35-A71D-43B0-95F9-BD9D027269BD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5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b) Vertical Microcode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0750"/>
            <a:ext cx="8153400" cy="2403873"/>
          </a:xfrm>
        </p:spPr>
        <p:txBody>
          <a:bodyPr>
            <a:noAutofit/>
          </a:bodyPr>
          <a:lstStyle/>
          <a:p>
            <a:r>
              <a:rPr lang="en-US" sz="1200" dirty="0"/>
              <a:t>A vertical micro-instruction format is quite similar to the horizontal micro-instruction. It also consists of four fields:</a:t>
            </a:r>
          </a:p>
          <a:p>
            <a:pPr lvl="1"/>
            <a:r>
              <a:rPr lang="en-US" sz="1100" dirty="0"/>
              <a:t>Microinstruction address field</a:t>
            </a:r>
          </a:p>
          <a:p>
            <a:pPr lvl="1"/>
            <a:r>
              <a:rPr lang="en-US" sz="1100" dirty="0"/>
              <a:t>Condition field</a:t>
            </a:r>
          </a:p>
          <a:p>
            <a:pPr lvl="1"/>
            <a:r>
              <a:rPr lang="en-US" sz="1100" dirty="0"/>
              <a:t>Control signals to CPU</a:t>
            </a:r>
          </a:p>
          <a:p>
            <a:pPr lvl="1"/>
            <a:r>
              <a:rPr lang="en-US" sz="1100" dirty="0"/>
              <a:t>Control signals to system bus</a:t>
            </a:r>
          </a:p>
          <a:p>
            <a:r>
              <a:rPr lang="en-US" sz="1200" dirty="0"/>
              <a:t>Here, the difference is that: </a:t>
            </a:r>
            <a:r>
              <a:rPr lang="en-US" sz="1200" b="1" dirty="0">
                <a:solidFill>
                  <a:srgbClr val="C00000"/>
                </a:solidFill>
              </a:rPr>
              <a:t>instead of a single 1-bit for each element, a code is used for each action </a:t>
            </a:r>
            <a:r>
              <a:rPr lang="en-US" sz="1200" dirty="0"/>
              <a:t>to be performed. However, a decoder is used for translation of these codes into individual control signals.</a:t>
            </a:r>
          </a:p>
          <a:p>
            <a:r>
              <a:rPr lang="en-US" sz="1200" dirty="0"/>
              <a:t>These are more compact than the horizontal microinstruction. Hence, called vertical since the width is reduced.</a:t>
            </a:r>
          </a:p>
          <a:p>
            <a:r>
              <a:rPr lang="en-US" sz="1200" dirty="0"/>
              <a:t>For </a:t>
            </a:r>
            <a:r>
              <a:rPr lang="en-US" sz="1200" dirty="0" err="1"/>
              <a:t>eg</a:t>
            </a:r>
            <a:r>
              <a:rPr lang="en-US" sz="1200" dirty="0"/>
              <a:t>: </a:t>
            </a: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for each 16 ALU operations, 16 individual bits are required </a:t>
            </a:r>
            <a:r>
              <a:rPr lang="en-US" sz="1200" dirty="0"/>
              <a:t>in horizontal micro-instruction</a:t>
            </a: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. But only 4 encoded bits are used in vertical micro-operation.</a:t>
            </a:r>
          </a:p>
          <a:p>
            <a:r>
              <a:rPr lang="en-US" sz="1200" dirty="0"/>
              <a:t> </a:t>
            </a:r>
            <a:r>
              <a:rPr lang="en-US" sz="1200" b="1" dirty="0"/>
              <a:t>Advantage: </a:t>
            </a:r>
            <a:r>
              <a:rPr lang="en-US" sz="1200" dirty="0"/>
              <a:t>shorter width of control word</a:t>
            </a:r>
          </a:p>
          <a:p>
            <a:r>
              <a:rPr lang="en-US" sz="1200" b="1" dirty="0"/>
              <a:t>Disadvantage:  </a:t>
            </a:r>
            <a:r>
              <a:rPr lang="en-US" sz="1200" dirty="0"/>
              <a:t>slower implementation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46A8-4FF8-4045-B4DF-2628E8CBF395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5C0DF-973C-43FA-8A50-A18510C63F5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666750"/>
            <a:ext cx="5166995" cy="1207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BDD58F-9E31-4EA9-9E60-30D9938A97DA}"/>
              </a:ext>
            </a:extLst>
          </p:cNvPr>
          <p:cNvSpPr/>
          <p:nvPr/>
        </p:nvSpPr>
        <p:spPr>
          <a:xfrm>
            <a:off x="2839574" y="1814017"/>
            <a:ext cx="30946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Figure: Vertical microinstruction format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77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b) Vertical Microcode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077200" cy="3851673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The number of bits in micro-operation filed can be reduced by using vertical micro-code.</a:t>
            </a:r>
          </a:p>
          <a:p>
            <a:r>
              <a:rPr lang="en-US" sz="2000" dirty="0"/>
              <a:t>In vertical microcode, the micro-operations are</a:t>
            </a:r>
            <a:r>
              <a:rPr lang="en-US" sz="2000" dirty="0">
                <a:solidFill>
                  <a:srgbClr val="C00000"/>
                </a:solidFill>
              </a:rPr>
              <a:t> grouped into fields.</a:t>
            </a:r>
          </a:p>
          <a:p>
            <a:r>
              <a:rPr lang="en-US" sz="2000" dirty="0"/>
              <a:t>Each microoperation is assigned a unique encoded value in this field.</a:t>
            </a:r>
          </a:p>
          <a:p>
            <a:r>
              <a:rPr lang="en-US" sz="2000" dirty="0"/>
              <a:t>For example:</a:t>
            </a:r>
          </a:p>
          <a:p>
            <a:r>
              <a:rPr lang="en-US" sz="2000" dirty="0"/>
              <a:t>16 microoperations can be encoded using 4 bits, from 0000 to 1111.</a:t>
            </a:r>
          </a:p>
          <a:p>
            <a:r>
              <a:rPr lang="en-US" sz="2000" dirty="0"/>
              <a:t>Vertical microinstruction require fewer bits than their equivalent horizontal micro-instructions. However, micro sequencers  that use vertical microcode must include a decoder for each micro-operation field to generate actual micro-operation signals.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 both horizontal and vertical microcode, the CPU must convert micro-operation signals to the control signals that load, clear and increment registers, enable buffers and select the functions to be performed by ALU.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2BBD-D95A-47E5-A6D3-592ED6EEA723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372C0-B386-4EAD-9864-ACCC12E57025}"/>
              </a:ext>
            </a:extLst>
          </p:cNvPr>
          <p:cNvSpPr/>
          <p:nvPr/>
        </p:nvSpPr>
        <p:spPr>
          <a:xfrm>
            <a:off x="457200" y="3714750"/>
            <a:ext cx="8077200" cy="83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4742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93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5.3 Design and Implementation of a Very Simple Micro-sequencer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0"/>
            <a:ext cx="4876800" cy="3546873"/>
          </a:xfrm>
        </p:spPr>
        <p:txBody>
          <a:bodyPr>
            <a:normAutofit/>
          </a:bodyPr>
          <a:lstStyle/>
          <a:p>
            <a:r>
              <a:rPr lang="en-US" sz="1200" dirty="0"/>
              <a:t>To illustrate the process of </a:t>
            </a:r>
            <a:r>
              <a:rPr lang="en-US" sz="1200" dirty="0" err="1"/>
              <a:t>microsequencer</a:t>
            </a:r>
            <a:r>
              <a:rPr lang="en-US" sz="1200" dirty="0"/>
              <a:t> design, </a:t>
            </a:r>
            <a:r>
              <a:rPr lang="en-US" sz="1200" dirty="0">
                <a:solidFill>
                  <a:srgbClr val="C00000"/>
                </a:solidFill>
              </a:rPr>
              <a:t>let us consider the very simple CPU </a:t>
            </a:r>
            <a:r>
              <a:rPr lang="en-US" sz="1200" dirty="0"/>
              <a:t>that was developed in the previous chapter.</a:t>
            </a:r>
          </a:p>
          <a:p>
            <a:r>
              <a:rPr lang="en-US" sz="1200" dirty="0"/>
              <a:t>We redesign this CPU ,</a:t>
            </a:r>
            <a:r>
              <a:rPr lang="en-US" sz="1200" dirty="0">
                <a:solidFill>
                  <a:srgbClr val="C00000"/>
                </a:solidFill>
              </a:rPr>
              <a:t>this time using a </a:t>
            </a:r>
            <a:r>
              <a:rPr lang="en-US" sz="1200" dirty="0" err="1">
                <a:solidFill>
                  <a:srgbClr val="C00000"/>
                </a:solidFill>
              </a:rPr>
              <a:t>microsequencer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/>
              <a:t>instead of hardwired control.</a:t>
            </a:r>
          </a:p>
          <a:p>
            <a:r>
              <a:rPr lang="en-US" sz="1200" dirty="0"/>
              <a:t>The instruction set, finite state machine, data paths and ALU are the same.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1336-5B60-4606-A30C-EB74881728E4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FDEEF7-333E-4FBC-B0EF-D56CAFDDC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851" y="4422874"/>
            <a:ext cx="2981325" cy="266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79ED61-15BD-44EF-B7A3-60ED2E4D69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28" t="10764" r="4864" b="3758"/>
          <a:stretch/>
        </p:blipFill>
        <p:spPr>
          <a:xfrm>
            <a:off x="6096000" y="915590"/>
            <a:ext cx="2514600" cy="3353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915A29-8213-4364-AEE2-BE1B608E1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0" y="2357814"/>
            <a:ext cx="3431071" cy="2147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94CC76-DA4C-4F28-9FDE-5CBE04707D90}"/>
              </a:ext>
            </a:extLst>
          </p:cNvPr>
          <p:cNvSpPr txBox="1"/>
          <p:nvPr/>
        </p:nvSpPr>
        <p:spPr>
          <a:xfrm rot="21426160">
            <a:off x="1570965" y="4409956"/>
            <a:ext cx="1645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72592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93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5.3 Design and Implementation of a Very Simple Micro-sequencer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0"/>
            <a:ext cx="4876800" cy="3546873"/>
          </a:xfrm>
        </p:spPr>
        <p:txBody>
          <a:bodyPr>
            <a:normAutofit/>
          </a:bodyPr>
          <a:lstStyle/>
          <a:p>
            <a:r>
              <a:rPr lang="en-US" sz="2000" dirty="0"/>
              <a:t>Here, only two possible next address are used:</a:t>
            </a:r>
          </a:p>
          <a:p>
            <a:pPr lvl="1"/>
            <a:r>
              <a:rPr lang="en-US" sz="1600" dirty="0" err="1"/>
              <a:t>i</a:t>
            </a:r>
            <a:r>
              <a:rPr lang="en-US" sz="1600" dirty="0"/>
              <a:t>) the </a:t>
            </a:r>
            <a:r>
              <a:rPr lang="en-US" sz="1600" b="1" i="1" dirty="0"/>
              <a:t>opcode mapping </a:t>
            </a:r>
            <a:r>
              <a:rPr lang="en-US" sz="1600" dirty="0"/>
              <a:t>and </a:t>
            </a:r>
          </a:p>
          <a:p>
            <a:pPr lvl="1"/>
            <a:r>
              <a:rPr lang="en-US" sz="1600" dirty="0"/>
              <a:t>ii) </a:t>
            </a:r>
            <a:r>
              <a:rPr lang="en-US" sz="1600" b="1" i="1" dirty="0"/>
              <a:t>Absolute jump.</a:t>
            </a:r>
          </a:p>
          <a:p>
            <a:r>
              <a:rPr lang="en-US" sz="2000" dirty="0"/>
              <a:t>The last state of  fetch cycle, fetch 3, goes to one of the 4 execute routines (ADD, AND , JMP, INC). This is implemented by </a:t>
            </a:r>
            <a:r>
              <a:rPr lang="en-US" sz="2000" b="1" i="1" dirty="0"/>
              <a:t>mapping input.</a:t>
            </a:r>
          </a:p>
          <a:p>
            <a:r>
              <a:rPr lang="en-US" sz="2000" dirty="0"/>
              <a:t>The remaining states , each must go to one specific next state, which is implemented by using an </a:t>
            </a:r>
            <a:r>
              <a:rPr lang="en-US" sz="2000" b="1" i="1" dirty="0"/>
              <a:t>absolute jump.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7513-97D5-4A26-83F7-D5DA8E5B8C83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7882-2B36-473D-BD92-AD713F9F1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8" y="1037665"/>
            <a:ext cx="3489903" cy="289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1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93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5.3 Design and Implementation of a Very Simple Micro-sequencer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0"/>
            <a:ext cx="8534400" cy="3546873"/>
          </a:xfrm>
        </p:spPr>
        <p:txBody>
          <a:bodyPr>
            <a:normAutofit/>
          </a:bodyPr>
          <a:lstStyle/>
          <a:p>
            <a:r>
              <a:rPr lang="en-US" sz="1200" dirty="0"/>
              <a:t>Since, there are </a:t>
            </a:r>
            <a:r>
              <a:rPr lang="en-US" sz="1200" dirty="0">
                <a:solidFill>
                  <a:srgbClr val="C00000"/>
                </a:solidFill>
              </a:rPr>
              <a:t>two possible addresses</a:t>
            </a:r>
            <a:r>
              <a:rPr lang="en-US" sz="1200" dirty="0"/>
              <a:t>, the micro-sequencer </a:t>
            </a:r>
            <a:r>
              <a:rPr lang="en-US" sz="1200" dirty="0">
                <a:solidFill>
                  <a:srgbClr val="C00000"/>
                </a:solidFill>
              </a:rPr>
              <a:t>must select one of them</a:t>
            </a:r>
            <a:r>
              <a:rPr lang="en-US" sz="1200" dirty="0"/>
              <a:t>. So, there is a </a:t>
            </a:r>
            <a:r>
              <a:rPr lang="en-US" sz="1200" b="1" dirty="0"/>
              <a:t>multiplexer</a:t>
            </a:r>
            <a:r>
              <a:rPr lang="en-US" sz="1200" dirty="0"/>
              <a:t> to do this. </a:t>
            </a:r>
          </a:p>
          <a:p>
            <a:r>
              <a:rPr lang="en-US" sz="1200" dirty="0"/>
              <a:t>The </a:t>
            </a:r>
            <a:r>
              <a:rPr lang="en-US" sz="1200" b="1" dirty="0">
                <a:solidFill>
                  <a:srgbClr val="C00000"/>
                </a:solidFill>
              </a:rPr>
              <a:t>select bit </a:t>
            </a:r>
            <a:r>
              <a:rPr lang="en-US" sz="1200" dirty="0"/>
              <a:t>is </a:t>
            </a:r>
            <a:r>
              <a:rPr lang="en-US" sz="1200" dirty="0">
                <a:solidFill>
                  <a:srgbClr val="C00000"/>
                </a:solidFill>
              </a:rPr>
              <a:t>generated by </a:t>
            </a:r>
            <a:r>
              <a:rPr lang="en-US" sz="1200" dirty="0" err="1">
                <a:solidFill>
                  <a:srgbClr val="C00000"/>
                </a:solidFill>
              </a:rPr>
              <a:t>microsequencer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/>
              <a:t>to choose the correct next address.</a:t>
            </a:r>
          </a:p>
          <a:p>
            <a:r>
              <a:rPr lang="en-US" sz="1200" dirty="0"/>
              <a:t>The minimum number of bits needed to select is 4, which is the size of absolute address (because for our CPU, a total of 9 states are there). </a:t>
            </a:r>
          </a:p>
          <a:p>
            <a:pPr lvl="1"/>
            <a:r>
              <a:rPr lang="en-US" sz="1200" dirty="0"/>
              <a:t>The </a:t>
            </a:r>
            <a:r>
              <a:rPr lang="en-US" sz="1200" dirty="0">
                <a:solidFill>
                  <a:srgbClr val="C00000"/>
                </a:solidFill>
              </a:rPr>
              <a:t>mapping hardware </a:t>
            </a:r>
            <a:r>
              <a:rPr lang="en-US" sz="1200" dirty="0"/>
              <a:t>also generates an address of 4 bits wide. </a:t>
            </a:r>
          </a:p>
          <a:p>
            <a:pPr lvl="1"/>
            <a:r>
              <a:rPr lang="en-US" sz="1200" dirty="0"/>
              <a:t>The </a:t>
            </a:r>
            <a:r>
              <a:rPr lang="en-US" sz="1200" dirty="0">
                <a:solidFill>
                  <a:srgbClr val="C00000"/>
                </a:solidFill>
              </a:rPr>
              <a:t>output of multiplexer </a:t>
            </a:r>
            <a:r>
              <a:rPr lang="en-US" sz="1200" dirty="0"/>
              <a:t>is also 4 bits that is </a:t>
            </a:r>
            <a:r>
              <a:rPr lang="en-US" sz="1200" dirty="0">
                <a:solidFill>
                  <a:srgbClr val="C00000"/>
                </a:solidFill>
              </a:rPr>
              <a:t>input to register </a:t>
            </a:r>
            <a:r>
              <a:rPr lang="en-US" sz="1200" dirty="0"/>
              <a:t>and 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C00000"/>
                </a:solidFill>
              </a:rPr>
              <a:t>	output of register </a:t>
            </a:r>
            <a:r>
              <a:rPr lang="en-US" sz="1200" dirty="0"/>
              <a:t>that is </a:t>
            </a:r>
            <a:r>
              <a:rPr lang="en-US" sz="1200" dirty="0">
                <a:solidFill>
                  <a:srgbClr val="C00000"/>
                </a:solidFill>
              </a:rPr>
              <a:t>input to </a:t>
            </a:r>
            <a:r>
              <a:rPr lang="en-US" sz="1200" dirty="0"/>
              <a:t>address inputs of </a:t>
            </a:r>
            <a:r>
              <a:rPr lang="en-US" sz="1200" dirty="0">
                <a:solidFill>
                  <a:srgbClr val="C00000"/>
                </a:solidFill>
              </a:rPr>
              <a:t>microcode memory.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69DE-ECE5-437D-8828-B1AA47A01A1A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4CCE03-EFB0-4119-9424-FBC6CF08C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9863" y="2619861"/>
            <a:ext cx="3431071" cy="21474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C0869F-5117-4699-A178-418CD447F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80" y="2714588"/>
            <a:ext cx="2028652" cy="2397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3C2DD4-CB9C-41B3-B881-42941E422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187" y="2217171"/>
            <a:ext cx="2333625" cy="255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71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5.4 Control unit : </a:t>
            </a:r>
            <a:br>
              <a:rPr lang="en-US" sz="3200" b="1" dirty="0">
                <a:solidFill>
                  <a:srgbClr val="FF0000"/>
                </a:solidFill>
              </a:rPr>
            </a:b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4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Layout, Control Sequence Generation, Mapping Logic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7056-AE67-4C6C-9A5A-A1AFBB6E032D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307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4C2186-342A-4E31-A217-7420D1B43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3132" y="1317881"/>
            <a:ext cx="2977114" cy="301823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AF02-9EE8-4E31-8D66-98070011F204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56A6E-4592-4E73-BAAB-E955095A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72220"/>
            <a:ext cx="3172706" cy="2509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A35C1F-7A62-4103-8592-1CF7BF265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376237"/>
            <a:ext cx="2984900" cy="27384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B1C51-B6A8-4883-AFBD-58CF2E16E41A}"/>
              </a:ext>
            </a:extLst>
          </p:cNvPr>
          <p:cNvSpPr txBox="1">
            <a:spLocks/>
          </p:cNvSpPr>
          <p:nvPr/>
        </p:nvSpPr>
        <p:spPr>
          <a:xfrm>
            <a:off x="457199" y="770336"/>
            <a:ext cx="8209355" cy="5818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Consider below state diagram and Hardwired Control Unit for a relatively small CPU (from previous chapter).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CF83A7-B2F1-4438-988A-A36B2C383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300" y="1672695"/>
            <a:ext cx="1766887" cy="121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A0B2EA-A0BD-47B8-AAC1-7892586A25DD}"/>
              </a:ext>
            </a:extLst>
          </p:cNvPr>
          <p:cNvSpPr/>
          <p:nvPr/>
        </p:nvSpPr>
        <p:spPr>
          <a:xfrm>
            <a:off x="7839461" y="3069048"/>
            <a:ext cx="7445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RTL code</a:t>
            </a:r>
          </a:p>
        </p:txBody>
      </p:sp>
    </p:spTree>
    <p:extLst>
      <p:ext uri="{BB962C8B-B14F-4D97-AF65-F5344CB8AC3E}">
        <p14:creationId xmlns:p14="http://schemas.microsoft.com/office/powerpoint/2010/main" val="125315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638800" cy="2362199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For this CPU, the micro-sequencer use the same mapping function  that was used for hardwired control unit. 1 IR[1..0]0</a:t>
            </a:r>
          </a:p>
          <a:p>
            <a:r>
              <a:rPr lang="en-US" sz="1800" dirty="0"/>
              <a:t>This produces address of 1</a:t>
            </a:r>
            <a:r>
              <a:rPr lang="en-US" sz="1800" b="1" u="sng" dirty="0"/>
              <a:t>00</a:t>
            </a:r>
            <a:r>
              <a:rPr lang="en-US" sz="1800" dirty="0"/>
              <a:t>0, 1</a:t>
            </a:r>
            <a:r>
              <a:rPr lang="en-US" sz="1800" b="1" u="sng" dirty="0"/>
              <a:t>01</a:t>
            </a:r>
            <a:r>
              <a:rPr lang="en-US" sz="1800" dirty="0"/>
              <a:t>0, 1</a:t>
            </a:r>
            <a:r>
              <a:rPr lang="en-US" sz="1800" b="1" u="sng" dirty="0"/>
              <a:t>10</a:t>
            </a:r>
            <a:r>
              <a:rPr lang="en-US" sz="1800" dirty="0"/>
              <a:t>0  and 1</a:t>
            </a:r>
            <a:r>
              <a:rPr lang="en-US" sz="1800" b="1" u="sng" dirty="0"/>
              <a:t>11</a:t>
            </a:r>
            <a:r>
              <a:rPr lang="en-US" sz="1800" dirty="0"/>
              <a:t>0 (8, 10, 12 and 14) for ADD1, AND1, JMP and INC1.</a:t>
            </a:r>
          </a:p>
          <a:p>
            <a:r>
              <a:rPr lang="en-US" sz="1800" dirty="0"/>
              <a:t>The address for remaining states can be assigned somewhat randomly. Here we assign consecutive states to consecutive location in microcode memory (control memory)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07A5-F546-4AB6-B47F-D5D57B932BA2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01E598-98F7-425C-90B0-6FEDCC93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105150"/>
            <a:ext cx="1418090" cy="1396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1A343-CA5D-4843-9EA5-2508A197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916" y="4616703"/>
            <a:ext cx="2725284" cy="202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FD9ED7-4C57-4641-969D-1D38D9A31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820" y="2097443"/>
            <a:ext cx="1614132" cy="2192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2552C5-F5D9-4C1C-AFBC-470981607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598" y="4370903"/>
            <a:ext cx="3723411" cy="24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972927-F47E-4AFA-9C3B-2B45EC3F5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407" y="102393"/>
            <a:ext cx="1543393" cy="168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16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C939-C1C6-434E-9820-705397EF6ED1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F93DD-D52A-4E5A-B659-E198FE45F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2238179"/>
            <a:ext cx="2743200" cy="2253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F87B61-42E9-48E8-9CF5-12498AD64F19}"/>
              </a:ext>
            </a:extLst>
          </p:cNvPr>
          <p:cNvSpPr txBox="1"/>
          <p:nvPr/>
        </p:nvSpPr>
        <p:spPr>
          <a:xfrm>
            <a:off x="4884409" y="4491241"/>
            <a:ext cx="3602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Partial Microcode for the very simple microprocessor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32F804C-2708-446D-84E9-5E3782AC7089}"/>
              </a:ext>
            </a:extLst>
          </p:cNvPr>
          <p:cNvSpPr txBox="1">
            <a:spLocks/>
          </p:cNvSpPr>
          <p:nvPr/>
        </p:nvSpPr>
        <p:spPr>
          <a:xfrm>
            <a:off x="457200" y="742950"/>
            <a:ext cx="3802392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To go from Fetch1 to Fetch2, SEL=0 and ADDR=0001</a:t>
            </a:r>
          </a:p>
          <a:p>
            <a:pPr lvl="1"/>
            <a:r>
              <a:rPr lang="en-US" sz="1400" dirty="0"/>
              <a:t>Setting SEL=0 causes micro-sequencer to get its next address from ADDR field; </a:t>
            </a:r>
          </a:p>
          <a:p>
            <a:pPr lvl="1"/>
            <a:r>
              <a:rPr lang="en-US" sz="1400" dirty="0"/>
              <a:t>and setting  ADDR field to 0001 causes it to go to location corresponding to state Fetch2.</a:t>
            </a:r>
          </a:p>
          <a:p>
            <a:r>
              <a:rPr lang="en-US" sz="1800" dirty="0"/>
              <a:t>But Fetch 3 must map to correct execute routine. </a:t>
            </a:r>
          </a:p>
          <a:p>
            <a:pPr lvl="1"/>
            <a:r>
              <a:rPr lang="en-US" sz="1400" dirty="0"/>
              <a:t>So, it requires SEL=1 to select mapping address.</a:t>
            </a:r>
          </a:p>
          <a:p>
            <a:pPr lvl="1"/>
            <a:r>
              <a:rPr lang="en-US" sz="1400" dirty="0"/>
              <a:t>Now, the contents of ADDR field are not used in microinstruction, it does not matter what value it has.</a:t>
            </a:r>
          </a:p>
          <a:p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D0040C-F94B-454C-8FFB-F3BF48CF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5981"/>
            <a:ext cx="1981200" cy="15670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370CD6-5FE4-423E-AC1B-EBD9677C6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348" y="19339"/>
            <a:ext cx="1623720" cy="17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70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3600" b="1" dirty="0">
              <a:solidFill>
                <a:srgbClr val="FF0000"/>
              </a:solidFill>
            </a:endParaRPr>
          </a:p>
          <a:p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5.5 Generation of Micro-operations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805F-621D-46D0-A2C8-53AF66E27782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402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 err="1">
                <a:solidFill>
                  <a:srgbClr val="FF0000"/>
                </a:solidFill>
              </a:rPr>
              <a:t>i</a:t>
            </a:r>
            <a:r>
              <a:rPr lang="en-US" sz="2400" b="1" dirty="0">
                <a:solidFill>
                  <a:srgbClr val="FF0000"/>
                </a:solidFill>
              </a:rPr>
              <a:t>) Generating the micro-operations using Horizontal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029200" cy="3944855"/>
          </a:xfrm>
        </p:spPr>
        <p:txBody>
          <a:bodyPr>
            <a:normAutofit fontScale="92500"/>
          </a:bodyPr>
          <a:lstStyle/>
          <a:p>
            <a:r>
              <a:rPr lang="en-US" sz="1800" dirty="0" err="1"/>
              <a:t>Microsequencer</a:t>
            </a:r>
            <a:r>
              <a:rPr lang="en-US" sz="1800" dirty="0"/>
              <a:t> has two tasks:</a:t>
            </a:r>
          </a:p>
          <a:p>
            <a:pPr lvl="1"/>
            <a:r>
              <a:rPr lang="en-US" sz="1400" dirty="0" err="1"/>
              <a:t>i</a:t>
            </a:r>
            <a:r>
              <a:rPr lang="en-US" sz="1400" dirty="0"/>
              <a:t>) to generate the correct micro-operations, and</a:t>
            </a:r>
          </a:p>
          <a:p>
            <a:pPr lvl="1"/>
            <a:r>
              <a:rPr lang="en-US" sz="1400" dirty="0"/>
              <a:t>ii) to follow the correct sequence of states.</a:t>
            </a:r>
          </a:p>
          <a:p>
            <a:r>
              <a:rPr lang="en-US" sz="1800" dirty="0"/>
              <a:t>One task is complete. </a:t>
            </a:r>
          </a:p>
          <a:p>
            <a:r>
              <a:rPr lang="en-US" sz="1800" dirty="0"/>
              <a:t>Now, the other task is to generate correct micro-operations, and associated</a:t>
            </a:r>
            <a:r>
              <a:rPr lang="en-US" sz="1800" dirty="0">
                <a:solidFill>
                  <a:srgbClr val="C00000"/>
                </a:solidFill>
              </a:rPr>
              <a:t> control signals</a:t>
            </a:r>
            <a:r>
              <a:rPr lang="en-US" sz="1800" dirty="0"/>
              <a:t>. This can be done by </a:t>
            </a:r>
            <a:r>
              <a:rPr lang="en-US" sz="1800" dirty="0">
                <a:solidFill>
                  <a:srgbClr val="C00000"/>
                </a:solidFill>
              </a:rPr>
              <a:t>horizontal microcode</a:t>
            </a:r>
            <a:r>
              <a:rPr lang="en-US" sz="1800" dirty="0"/>
              <a:t> or </a:t>
            </a:r>
            <a:r>
              <a:rPr lang="en-US" sz="1800" dirty="0">
                <a:solidFill>
                  <a:srgbClr val="C00000"/>
                </a:solidFill>
              </a:rPr>
              <a:t>vertical microcode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C00000"/>
                </a:solidFill>
              </a:rPr>
              <a:t>Direct generation </a:t>
            </a:r>
            <a:r>
              <a:rPr lang="en-US" sz="1800" dirty="0"/>
              <a:t>of control signals.</a:t>
            </a:r>
          </a:p>
          <a:p>
            <a:r>
              <a:rPr lang="en-US" sz="1800" dirty="0"/>
              <a:t>In horizontal microcode, </a:t>
            </a:r>
            <a:r>
              <a:rPr lang="en-US" sz="1800" dirty="0">
                <a:solidFill>
                  <a:srgbClr val="C00000"/>
                </a:solidFill>
              </a:rPr>
              <a:t>each microoperation  is represented by one-bit in each micro-instruction</a:t>
            </a:r>
            <a:r>
              <a:rPr lang="en-US" sz="1800" dirty="0"/>
              <a:t>. The greater the number of microoperation, the larger the microcode will be.</a:t>
            </a:r>
          </a:p>
          <a:p>
            <a:r>
              <a:rPr lang="en-US" sz="1800" dirty="0"/>
              <a:t>The microoperations and their mnemonics are: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8F5A-E5ED-479E-95CE-5E5ACCF8A86B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8D73D7-7334-4AEE-A9E9-4494A92C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056828"/>
            <a:ext cx="2895600" cy="2886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70E44-050E-4FDF-9CFF-E9BA314D6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928318"/>
            <a:ext cx="3619500" cy="45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76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" y="205979"/>
            <a:ext cx="867156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Horizontal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281847" cy="3851673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/>
              <a:t>Since there are 9 micro-operations, each word of microcode </a:t>
            </a:r>
            <a:r>
              <a:rPr lang="en-US" sz="1800" dirty="0">
                <a:solidFill>
                  <a:srgbClr val="C00000"/>
                </a:solidFill>
              </a:rPr>
              <a:t>requires 9 bits to represent them</a:t>
            </a:r>
            <a:r>
              <a:rPr lang="en-US" sz="1800" dirty="0"/>
              <a:t>, 1 bit per micro-operation. </a:t>
            </a:r>
          </a:p>
          <a:p>
            <a:r>
              <a:rPr lang="en-US" sz="1800" dirty="0"/>
              <a:t>A value of 1 means the micro-operation is to occur and a value of 0 means that it does not.</a:t>
            </a:r>
          </a:p>
          <a:p>
            <a:r>
              <a:rPr lang="en-US" sz="1800" dirty="0"/>
              <a:t>To complete the microcode, we simply fill in the values for micro-operations. </a:t>
            </a:r>
          </a:p>
          <a:p>
            <a:r>
              <a:rPr lang="en-US" sz="1800" dirty="0"/>
              <a:t>The resultant microcode is shown in table aside (below).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6317-385E-4F07-AFB2-5CB2D98AFFD6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58A9C2-9467-42D4-9937-1A45D5CA8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750" y="1713569"/>
            <a:ext cx="5298982" cy="2771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53D9F0-4303-44EF-BE79-85220C2EE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382" y="4488060"/>
            <a:ext cx="5177118" cy="343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F4CC37-C18E-4FDF-90C9-324480209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873" y="0"/>
            <a:ext cx="1766887" cy="12143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41F7AE-EACD-43ED-8C2C-8B07F85A3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506" y="19674"/>
            <a:ext cx="1575687" cy="12941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DF1FD1-4C51-44C8-B3BC-17E46F39E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524" y="11430"/>
            <a:ext cx="1286756" cy="12827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015A9C-5F6F-44ED-990A-D11660A490A2}"/>
              </a:ext>
            </a:extLst>
          </p:cNvPr>
          <p:cNvSpPr/>
          <p:nvPr/>
        </p:nvSpPr>
        <p:spPr>
          <a:xfrm>
            <a:off x="3810000" y="11430"/>
            <a:ext cx="5334000" cy="15646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93B69-B6AA-4364-B4C9-5D9CDA24BF5D}"/>
              </a:ext>
            </a:extLst>
          </p:cNvPr>
          <p:cNvSpPr txBox="1"/>
          <p:nvPr/>
        </p:nvSpPr>
        <p:spPr>
          <a:xfrm>
            <a:off x="6019800" y="1337172"/>
            <a:ext cx="87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References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A59F10-9316-4D5D-A5EC-DC6201906D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4520" y="-2828"/>
            <a:ext cx="1888880" cy="156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76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Horizontal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895600" cy="3851673"/>
          </a:xfrm>
        </p:spPr>
        <p:txBody>
          <a:bodyPr>
            <a:normAutofit/>
          </a:bodyPr>
          <a:lstStyle/>
          <a:p>
            <a:r>
              <a:rPr lang="en-US" sz="1800" dirty="0"/>
              <a:t>Here, for all the states, ARDR and IRDS have the same value.</a:t>
            </a:r>
          </a:p>
          <a:p>
            <a:r>
              <a:rPr lang="en-US" sz="1800" dirty="0"/>
              <a:t>So, we can use one output to drive both micro-operations.</a:t>
            </a:r>
          </a:p>
          <a:p>
            <a:r>
              <a:rPr lang="en-US" sz="1800" dirty="0"/>
              <a:t>Hence, we use AIDR that combines both operations AR</a:t>
            </a:r>
            <a:r>
              <a:rPr lang="en-US" sz="1800" dirty="0">
                <a:sym typeface="Wingdings" panose="05000000000000000000" pitchFamily="2" charset="2"/>
              </a:rPr>
              <a:t>DR[5..0] and IRDR[7..6]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0145D-0008-4B88-9D67-A1126C200241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15A9C-5F6F-44ED-990A-D11660A490A2}"/>
              </a:ext>
            </a:extLst>
          </p:cNvPr>
          <p:cNvSpPr/>
          <p:nvPr/>
        </p:nvSpPr>
        <p:spPr>
          <a:xfrm>
            <a:off x="6477000" y="11430"/>
            <a:ext cx="2667000" cy="15646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93B69-B6AA-4364-B4C9-5D9CDA24BF5D}"/>
              </a:ext>
            </a:extLst>
          </p:cNvPr>
          <p:cNvSpPr txBox="1"/>
          <p:nvPr/>
        </p:nvSpPr>
        <p:spPr>
          <a:xfrm>
            <a:off x="7543800" y="1358953"/>
            <a:ext cx="87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References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701D27-523C-4F5C-8636-28D04538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71311"/>
            <a:ext cx="2560466" cy="13393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276002-B38C-4E98-91A1-84F8C925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35" y="1673370"/>
            <a:ext cx="4614865" cy="278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27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Summary: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25639"/>
            <a:ext cx="23622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1. The State diagram and RTL code for our derived CPU are as below: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39767-5819-4390-A1D9-A374DCB50C15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4F1721-E998-4F07-9D39-EF862CD10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81" y="3230988"/>
            <a:ext cx="2016746" cy="13861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3C4130-A9AF-48CF-A4AB-355D4844E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80" y="1225480"/>
            <a:ext cx="2239840" cy="18553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4CF746-CF78-49DF-A52A-E79F9CC7F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019" y="666750"/>
            <a:ext cx="1524000" cy="1519222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76FD1D8-3CDB-4B08-AA97-34FE3C9EE5C7}"/>
              </a:ext>
            </a:extLst>
          </p:cNvPr>
          <p:cNvSpPr txBox="1">
            <a:spLocks/>
          </p:cNvSpPr>
          <p:nvPr/>
        </p:nvSpPr>
        <p:spPr>
          <a:xfrm>
            <a:off x="2677574" y="174981"/>
            <a:ext cx="2912663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200" b="1" dirty="0"/>
              <a:t>2. Let us assume the mnemonics for all the involved micro-operations as below: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06A428-BE53-4A82-900B-C00380726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505" y="2926770"/>
            <a:ext cx="3030392" cy="15851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6E222B-B2E9-4B1D-A49B-CDFD04BF9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9701" y="4626682"/>
            <a:ext cx="3048000" cy="20248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9562AE9-239D-48C6-BAD5-C8C2334D9085}"/>
              </a:ext>
            </a:extLst>
          </p:cNvPr>
          <p:cNvSpPr txBox="1">
            <a:spLocks/>
          </p:cNvSpPr>
          <p:nvPr/>
        </p:nvSpPr>
        <p:spPr>
          <a:xfrm>
            <a:off x="2677573" y="2500697"/>
            <a:ext cx="3052765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200" b="1" dirty="0"/>
              <a:t>3. Now, the preliminary microcode for our CPU is: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E32DC-DEB7-445E-9208-4B59643854E2}"/>
              </a:ext>
            </a:extLst>
          </p:cNvPr>
          <p:cNvSpPr/>
          <p:nvPr/>
        </p:nvSpPr>
        <p:spPr>
          <a:xfrm>
            <a:off x="5945982" y="141442"/>
            <a:ext cx="309656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4. Here, for all the states, ARDR and IRDR have the same value. So, we can combine these two control signals to a single </a:t>
            </a:r>
            <a:r>
              <a:rPr lang="en-US" sz="1100" b="1" dirty="0" err="1"/>
              <a:t>menmonic</a:t>
            </a:r>
            <a:r>
              <a:rPr lang="en-US" sz="1100" b="1" dirty="0"/>
              <a:t> as AIDR. </a:t>
            </a:r>
          </a:p>
          <a:p>
            <a:r>
              <a:rPr lang="en-US" sz="1100" b="1" dirty="0"/>
              <a:t>The optimized microcode for our CPU stored in Microcode memory  is: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52A3FF-C1CA-4BE9-8CA6-3CA85A262C9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595" b="-1"/>
          <a:stretch/>
        </p:blipFill>
        <p:spPr>
          <a:xfrm>
            <a:off x="5945982" y="1116329"/>
            <a:ext cx="3052765" cy="1779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59E34B-DA4A-4D95-826E-BD44FED15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935" y="3461099"/>
            <a:ext cx="1351095" cy="1476422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2A2B46B-18C9-4201-B350-A88886CA251A}"/>
              </a:ext>
            </a:extLst>
          </p:cNvPr>
          <p:cNvSpPr txBox="1">
            <a:spLocks/>
          </p:cNvSpPr>
          <p:nvPr/>
        </p:nvSpPr>
        <p:spPr>
          <a:xfrm>
            <a:off x="5920163" y="2931511"/>
            <a:ext cx="3030392" cy="609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200" b="1" dirty="0"/>
              <a:t>5. The logic implementation of our required micro-sequencer Control Unit with horizontal microcode is as below:</a:t>
            </a:r>
          </a:p>
        </p:txBody>
      </p:sp>
    </p:spTree>
    <p:extLst>
      <p:ext uri="{BB962C8B-B14F-4D97-AF65-F5344CB8AC3E}">
        <p14:creationId xmlns:p14="http://schemas.microsoft.com/office/powerpoint/2010/main" val="1718020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ii) Generating Micro-operation using Vertical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4852987" cy="3851673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Vertical microcode </a:t>
            </a:r>
            <a:r>
              <a:rPr lang="en-US" sz="2000" dirty="0">
                <a:solidFill>
                  <a:srgbClr val="C00000"/>
                </a:solidFill>
              </a:rPr>
              <a:t>reduce the number of bits </a:t>
            </a:r>
            <a:r>
              <a:rPr lang="en-US" sz="2000" dirty="0"/>
              <a:t>in section of microcode.</a:t>
            </a:r>
          </a:p>
          <a:p>
            <a:r>
              <a:rPr lang="en-US" sz="2000" dirty="0"/>
              <a:t>In vertical microcode, the microoperations are grouped into fields such that no more than one microoperation in a field is active  during any state. Then </a:t>
            </a:r>
            <a:r>
              <a:rPr lang="en-US" sz="2000" dirty="0">
                <a:solidFill>
                  <a:srgbClr val="C00000"/>
                </a:solidFill>
              </a:rPr>
              <a:t>a unique value is assigned to each microoperation</a:t>
            </a:r>
            <a:r>
              <a:rPr lang="en-US" sz="2000" dirty="0"/>
              <a:t> in the field.</a:t>
            </a:r>
          </a:p>
          <a:p>
            <a:r>
              <a:rPr lang="en-US" sz="2000" dirty="0"/>
              <a:t>For </a:t>
            </a:r>
            <a:r>
              <a:rPr lang="en-US" sz="2000" dirty="0" err="1"/>
              <a:t>eg</a:t>
            </a:r>
            <a:r>
              <a:rPr lang="en-US" sz="2000" dirty="0"/>
              <a:t>, a field with  </a:t>
            </a:r>
            <a:r>
              <a:rPr lang="en-US" sz="2000" dirty="0">
                <a:solidFill>
                  <a:srgbClr val="C00000"/>
                </a:solidFill>
              </a:rPr>
              <a:t>8 (i.e. 2</a:t>
            </a:r>
            <a:r>
              <a:rPr lang="en-US" sz="2000" baseline="30000" dirty="0">
                <a:solidFill>
                  <a:srgbClr val="C00000"/>
                </a:solidFill>
              </a:rPr>
              <a:t>3</a:t>
            </a:r>
            <a:r>
              <a:rPr lang="en-US" sz="2000" dirty="0">
                <a:solidFill>
                  <a:srgbClr val="C00000"/>
                </a:solidFill>
              </a:rPr>
              <a:t>=8)  different  microoperations would require 3 bits </a:t>
            </a:r>
            <a:r>
              <a:rPr lang="en-US" sz="2000" dirty="0"/>
              <a:t>each value from 000 to 111 would be assigned to one of the eight microoperations. The microoperation field bits are output from microcode memory to a decoder. 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7F10-B032-4AD7-ABF5-42B39065C924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EF65C-4233-4612-99B5-7988D54F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839390"/>
            <a:ext cx="3019425" cy="2752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7AEB6-CF6A-469C-B9E9-4506F0795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187" y="3740032"/>
            <a:ext cx="3733800" cy="3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00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419600" cy="3851673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rgbClr val="C00000"/>
                </a:solidFill>
              </a:rPr>
              <a:t>When two microoperations occurs during the same state, assign them to different fields.</a:t>
            </a:r>
          </a:p>
          <a:p>
            <a:pPr marL="400050" lvl="1" indent="0">
              <a:buNone/>
            </a:pPr>
            <a:r>
              <a:rPr lang="en-US" sz="2000" dirty="0"/>
              <a:t>For </a:t>
            </a:r>
            <a:r>
              <a:rPr lang="en-US" sz="2000" dirty="0" err="1"/>
              <a:t>eg</a:t>
            </a:r>
            <a:r>
              <a:rPr lang="en-US" sz="2000" dirty="0"/>
              <a:t>, DRM and PCIN both occur during Fetch2 states. So, must be assigned to different fields, one in </a:t>
            </a:r>
            <a:r>
              <a:rPr lang="en-US" sz="2000" dirty="0">
                <a:solidFill>
                  <a:srgbClr val="C00000"/>
                </a:solidFill>
              </a:rPr>
              <a:t>M1 field </a:t>
            </a:r>
            <a:r>
              <a:rPr lang="en-US" sz="2000" dirty="0"/>
              <a:t>and other in </a:t>
            </a:r>
            <a:r>
              <a:rPr lang="en-US" sz="2000" dirty="0">
                <a:solidFill>
                  <a:srgbClr val="C00000"/>
                </a:solidFill>
              </a:rPr>
              <a:t>M2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rgbClr val="C00000"/>
                </a:solidFill>
              </a:rPr>
              <a:t>Include a NOP </a:t>
            </a:r>
            <a:r>
              <a:rPr lang="en-US" sz="2000" dirty="0"/>
              <a:t>(No operation ) if necessary, when no microoperation is active.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rgbClr val="C00000"/>
                </a:solidFill>
              </a:rPr>
              <a:t>Group together micro-operation in same field </a:t>
            </a:r>
            <a:r>
              <a:rPr lang="en-US" sz="2000" dirty="0"/>
              <a:t>that modify some register.</a:t>
            </a:r>
          </a:p>
          <a:p>
            <a:pPr marL="457200" indent="-457200">
              <a:buFont typeface="+mj-lt"/>
              <a:buAutoNum type="alphaLcParenR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CPU </a:t>
            </a:r>
            <a:r>
              <a:rPr lang="en-US" sz="2000" dirty="0">
                <a:solidFill>
                  <a:srgbClr val="C00000"/>
                </a:solidFill>
              </a:rPr>
              <a:t>requires at least two fields </a:t>
            </a:r>
            <a:r>
              <a:rPr lang="en-US" sz="2000" dirty="0"/>
              <a:t>for its microoperation labeled as M1 and M2.</a:t>
            </a:r>
          </a:p>
          <a:p>
            <a:pPr marL="457200" indent="-457200">
              <a:buFont typeface="+mj-lt"/>
              <a:buAutoNum type="alphaLcParenR"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25C0-4CA6-4D03-8A5F-74AE2DD1FF32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02EA21-758D-4BF7-8DC8-676D9BCF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42" y="160990"/>
            <a:ext cx="2089409" cy="1436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A5E70D-084D-4730-BE55-110266C80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815" y="102393"/>
            <a:ext cx="1737212" cy="1731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0ED99-6765-4F14-94D1-EDECECD8DB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684" t="11625"/>
          <a:stretch/>
        </p:blipFill>
        <p:spPr>
          <a:xfrm>
            <a:off x="5302794" y="2365611"/>
            <a:ext cx="3318495" cy="19679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15C25D-D925-4A86-9BAE-A0D4AFEDE4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507" b="87354"/>
          <a:stretch/>
        </p:blipFill>
        <p:spPr>
          <a:xfrm>
            <a:off x="5701198" y="4348432"/>
            <a:ext cx="2521688" cy="29747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A0B0991-D4E1-46F6-8609-7B3E5E707D48}"/>
              </a:ext>
            </a:extLst>
          </p:cNvPr>
          <p:cNvSpPr/>
          <p:nvPr/>
        </p:nvSpPr>
        <p:spPr>
          <a:xfrm>
            <a:off x="4800600" y="11430"/>
            <a:ext cx="4343400" cy="20334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A56E1B-19E0-4175-B145-A21F7B2AEA55}"/>
              </a:ext>
            </a:extLst>
          </p:cNvPr>
          <p:cNvSpPr txBox="1"/>
          <p:nvPr/>
        </p:nvSpPr>
        <p:spPr>
          <a:xfrm>
            <a:off x="6553200" y="1767846"/>
            <a:ext cx="87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18269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0EBF8E-C571-440A-949F-0A8BAD4DA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49" t="9335"/>
          <a:stretch/>
        </p:blipFill>
        <p:spPr>
          <a:xfrm>
            <a:off x="644423" y="2279349"/>
            <a:ext cx="3892754" cy="222630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DAE5-937C-44E8-8AE2-6FFDE07E0059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0DE6AB-FBBA-49A0-A6F1-9ED540B2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5840"/>
            <a:ext cx="2089409" cy="14360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AF1C01-0E06-43AF-A762-E41A3AEBA680}"/>
              </a:ext>
            </a:extLst>
          </p:cNvPr>
          <p:cNvSpPr txBox="1"/>
          <p:nvPr/>
        </p:nvSpPr>
        <p:spPr>
          <a:xfrm>
            <a:off x="762000" y="4505653"/>
            <a:ext cx="34339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/>
              <a:t>Vertical Microcode for the Very Simple Micro-sequencer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4CD1B8-50BB-46CD-9D51-14D9B7495BE4}"/>
              </a:ext>
            </a:extLst>
          </p:cNvPr>
          <p:cNvSpPr/>
          <p:nvPr/>
        </p:nvSpPr>
        <p:spPr>
          <a:xfrm>
            <a:off x="5674423" y="4459264"/>
            <a:ext cx="31647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Fig: Logic Implementation for Micro-sequencer CU with vertical microcode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DE3F9D-25E9-4920-9269-586C16D42C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684" t="11625"/>
          <a:stretch/>
        </p:blipFill>
        <p:spPr>
          <a:xfrm>
            <a:off x="6572864" y="91444"/>
            <a:ext cx="2421635" cy="14360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AABFDE7-1CF3-4D4F-B8C4-2636CA6B929E}"/>
              </a:ext>
            </a:extLst>
          </p:cNvPr>
          <p:cNvSpPr/>
          <p:nvPr/>
        </p:nvSpPr>
        <p:spPr>
          <a:xfrm>
            <a:off x="3810000" y="11430"/>
            <a:ext cx="5334000" cy="189579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3ABC6D-D79A-434E-91A7-5A7415CF87C5}"/>
              </a:ext>
            </a:extLst>
          </p:cNvPr>
          <p:cNvSpPr txBox="1"/>
          <p:nvPr/>
        </p:nvSpPr>
        <p:spPr>
          <a:xfrm>
            <a:off x="5996792" y="1525344"/>
            <a:ext cx="87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References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697B98-6FA6-4727-B75C-0A6A0656B5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0001" y="2110342"/>
            <a:ext cx="1503680" cy="229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98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Summary: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25639"/>
            <a:ext cx="23622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1. The State diagram and RTL code for our derived CPU are as below: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6CCE-124C-4F0D-8A7E-6ED594291931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4F1721-E998-4F07-9D39-EF862CD10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181" y="3230988"/>
            <a:ext cx="2016746" cy="13861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3C4130-A9AF-48CF-A4AB-355D4844E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8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780" y="1225480"/>
            <a:ext cx="2239840" cy="18553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4CF746-CF78-49DF-A52A-E79F9CC7F5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7831" y="581379"/>
            <a:ext cx="1221581" cy="1217751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76FD1D8-3CDB-4B08-AA97-34FE3C9EE5C7}"/>
              </a:ext>
            </a:extLst>
          </p:cNvPr>
          <p:cNvSpPr txBox="1">
            <a:spLocks/>
          </p:cNvSpPr>
          <p:nvPr/>
        </p:nvSpPr>
        <p:spPr>
          <a:xfrm>
            <a:off x="2677574" y="174981"/>
            <a:ext cx="2808826" cy="4063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050" b="1" dirty="0"/>
              <a:t>2. Let us assume the mnemonics for all the involved micro-operations as below: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9562AE9-239D-48C6-BAD5-C8C2334D9085}"/>
              </a:ext>
            </a:extLst>
          </p:cNvPr>
          <p:cNvSpPr txBox="1">
            <a:spLocks/>
          </p:cNvSpPr>
          <p:nvPr/>
        </p:nvSpPr>
        <p:spPr>
          <a:xfrm>
            <a:off x="2733452" y="1892902"/>
            <a:ext cx="3030392" cy="1270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00" b="1" dirty="0"/>
              <a:t>3. In Fetch 2 and Fetch 3, there are double operations. </a:t>
            </a:r>
          </a:p>
          <a:p>
            <a:pPr marL="0" indent="0">
              <a:buFont typeface="Arial" pitchFamily="34" charset="0"/>
              <a:buNone/>
            </a:pPr>
            <a:r>
              <a:rPr lang="en-US" sz="900" b="1" dirty="0"/>
              <a:t>If there are two operations in a single state, we require to make two vertical microcode represented in binary form. </a:t>
            </a:r>
          </a:p>
          <a:p>
            <a:pPr marL="0" indent="0">
              <a:buFont typeface="Arial" pitchFamily="34" charset="0"/>
              <a:buNone/>
            </a:pPr>
            <a:r>
              <a:rPr lang="en-US" sz="900" b="1" dirty="0"/>
              <a:t>Unused microcode are represented by NOP</a:t>
            </a:r>
          </a:p>
          <a:p>
            <a:pPr marL="0" indent="0">
              <a:buFont typeface="Arial" pitchFamily="34" charset="0"/>
              <a:buNone/>
            </a:pPr>
            <a:r>
              <a:rPr lang="en-US" sz="900" b="1" dirty="0"/>
              <a:t>Here, IRDR and ARDR are two operations to be performed simultaneously. Hence, this is represented as AIDR and included in M1.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E32DC-DEB7-445E-9208-4B59643854E2}"/>
              </a:ext>
            </a:extLst>
          </p:cNvPr>
          <p:cNvSpPr/>
          <p:nvPr/>
        </p:nvSpPr>
        <p:spPr>
          <a:xfrm>
            <a:off x="5945982" y="141442"/>
            <a:ext cx="309656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4. The two vertical </a:t>
            </a:r>
            <a:r>
              <a:rPr lang="en-US" sz="1100" b="1" dirty="0" err="1"/>
              <a:t>microcodes</a:t>
            </a:r>
            <a:r>
              <a:rPr lang="en-US" sz="1100" b="1" dirty="0"/>
              <a:t> for our CPU stored in Microcode memory  is: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2A2B46B-18C9-4201-B350-A88886CA251A}"/>
              </a:ext>
            </a:extLst>
          </p:cNvPr>
          <p:cNvSpPr txBox="1">
            <a:spLocks/>
          </p:cNvSpPr>
          <p:nvPr/>
        </p:nvSpPr>
        <p:spPr>
          <a:xfrm>
            <a:off x="5979066" y="2270788"/>
            <a:ext cx="3164933" cy="460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00" b="1" dirty="0"/>
              <a:t>5. The logic implementation of our required micro-sequencer Control Unit with vertical microcode is as below: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BC4904-E58C-4F4E-B802-79074AA0CDE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8684" t="11625"/>
          <a:stretch/>
        </p:blipFill>
        <p:spPr>
          <a:xfrm>
            <a:off x="2970632" y="3199121"/>
            <a:ext cx="2323825" cy="1378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959F6C-AEF0-43CD-8968-7C10F60F627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1507" b="87354"/>
          <a:stretch/>
        </p:blipFill>
        <p:spPr>
          <a:xfrm>
            <a:off x="3207778" y="4613081"/>
            <a:ext cx="1849533" cy="218185"/>
          </a:xfrm>
          <a:prstGeom prst="rect">
            <a:avLst/>
          </a:prstGeom>
        </p:spPr>
      </p:pic>
      <p:pic>
        <p:nvPicPr>
          <p:cNvPr id="25" name="Content Placeholder 9">
            <a:extLst>
              <a:ext uri="{FF2B5EF4-FFF2-40B4-BE49-F238E27FC236}">
                <a16:creationId xmlns:a16="http://schemas.microsoft.com/office/drawing/2014/main" id="{D71ED31A-598F-44C8-9845-D5479C71767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0049" t="9335"/>
          <a:stretch/>
        </p:blipFill>
        <p:spPr>
          <a:xfrm>
            <a:off x="6314101" y="568429"/>
            <a:ext cx="2490905" cy="142457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B6791CD-2B3D-48FD-B252-921EEDECC262}"/>
              </a:ext>
            </a:extLst>
          </p:cNvPr>
          <p:cNvSpPr txBox="1"/>
          <p:nvPr/>
        </p:nvSpPr>
        <p:spPr>
          <a:xfrm>
            <a:off x="6019851" y="1993002"/>
            <a:ext cx="30227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/>
              <a:t>Fig: Vertical Microcode for the Very Simple Micro-sequencer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9DC1E-E5CB-41AF-ACF9-5BB1C0E7B6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3520" y="2654554"/>
            <a:ext cx="1503680" cy="229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99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iii) Directly generating the control signals from the Microcode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Instead of outputting micro-operations form the microcode memory and then generating the control signals from these micro-operations, we can output the control signals directly.</a:t>
            </a:r>
          </a:p>
          <a:p>
            <a:r>
              <a:rPr lang="en-US" sz="2000" dirty="0"/>
              <a:t>As before, the sequencing portion of the control unit design remains the same.</a:t>
            </a:r>
          </a:p>
          <a:p>
            <a:r>
              <a:rPr lang="en-US" sz="2000" dirty="0"/>
              <a:t>This portion includes the </a:t>
            </a:r>
            <a:r>
              <a:rPr lang="en-US" sz="2000" dirty="0">
                <a:solidFill>
                  <a:srgbClr val="C00000"/>
                </a:solidFill>
              </a:rPr>
              <a:t>mapping logic, next address multiplexer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C00000"/>
                </a:solidFill>
              </a:rPr>
              <a:t>register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C00000"/>
                </a:solidFill>
              </a:rPr>
              <a:t>microcode memory </a:t>
            </a:r>
            <a:r>
              <a:rPr lang="en-US" sz="2000" dirty="0"/>
              <a:t>as well as microcode fields SEL and ADDR.</a:t>
            </a:r>
          </a:p>
          <a:p>
            <a:r>
              <a:rPr lang="en-US" sz="2000" dirty="0"/>
              <a:t>In place of the micro-operations( in the horizontal microcode design) or M1 and M2 (in the vertical microcode design), </a:t>
            </a:r>
            <a:r>
              <a:rPr lang="en-US" sz="2000" dirty="0">
                <a:solidFill>
                  <a:srgbClr val="C00000"/>
                </a:solidFill>
              </a:rPr>
              <a:t>the micro-sequencer can include 1 bit for each control signal.</a:t>
            </a:r>
          </a:p>
          <a:p>
            <a:r>
              <a:rPr lang="en-US" sz="2000" dirty="0"/>
              <a:t>For each word of microcode memory, </a:t>
            </a:r>
            <a:r>
              <a:rPr lang="en-US" sz="2000" dirty="0">
                <a:solidFill>
                  <a:srgbClr val="C00000"/>
                </a:solidFill>
              </a:rPr>
              <a:t>each control bit is set to 1 if the signal is to be active 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C00000"/>
                </a:solidFill>
              </a:rPr>
              <a:t>0 otherwise.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D489-378B-439A-A641-0D8DEF3A31DF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454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0" y="791170"/>
            <a:ext cx="4343400" cy="3851673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To illustrate this, consider the micro-operations that occur during FETCH2, DR</a:t>
            </a:r>
            <a:r>
              <a:rPr lang="en-US" sz="1600" dirty="0">
                <a:sym typeface="Wingdings" panose="05000000000000000000" pitchFamily="2" charset="2"/>
              </a:rPr>
              <a:t> M and PC PC +1</a:t>
            </a:r>
          </a:p>
          <a:p>
            <a:r>
              <a:rPr lang="en-US" sz="1600" dirty="0">
                <a:sym typeface="Wingdings" panose="05000000000000000000" pitchFamily="2" charset="2"/>
              </a:rPr>
              <a:t>To implement </a:t>
            </a:r>
            <a:r>
              <a:rPr lang="en-US" sz="1600" dirty="0"/>
              <a:t>DR</a:t>
            </a:r>
            <a:r>
              <a:rPr lang="en-US" sz="1600" dirty="0">
                <a:sym typeface="Wingdings" panose="05000000000000000000" pitchFamily="2" charset="2"/>
              </a:rPr>
              <a:t> M , we must enable</a:t>
            </a:r>
            <a:r>
              <a:rPr lang="en-US" sz="1600" dirty="0">
                <a:solidFill>
                  <a:srgbClr val="C00000"/>
                </a:solidFill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READ </a:t>
            </a:r>
            <a:r>
              <a:rPr lang="en-US" sz="1400" dirty="0">
                <a:sym typeface="Wingdings" panose="05000000000000000000" pitchFamily="2" charset="2"/>
              </a:rPr>
              <a:t>to output data from memory, </a:t>
            </a:r>
          </a:p>
          <a:p>
            <a:pPr lvl="1"/>
            <a:r>
              <a:rPr 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MEMBUS</a:t>
            </a:r>
            <a:r>
              <a:rPr lang="en-US" sz="1400" dirty="0">
                <a:sym typeface="Wingdings" panose="05000000000000000000" pitchFamily="2" charset="2"/>
              </a:rPr>
              <a:t> to allow this data onto the internal system bus, and </a:t>
            </a:r>
          </a:p>
          <a:p>
            <a:pPr lvl="1"/>
            <a:r>
              <a:rPr 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DRLOAD</a:t>
            </a:r>
            <a:r>
              <a:rPr lang="en-US" sz="1400" dirty="0">
                <a:sym typeface="Wingdings" panose="05000000000000000000" pitchFamily="2" charset="2"/>
              </a:rPr>
              <a:t> to load the data from the bus into DR.</a:t>
            </a:r>
          </a:p>
          <a:p>
            <a:r>
              <a:rPr lang="en-US" sz="1600" dirty="0">
                <a:sym typeface="Wingdings" panose="05000000000000000000" pitchFamily="2" charset="2"/>
              </a:rPr>
              <a:t>Also, we must enable:</a:t>
            </a:r>
          </a:p>
          <a:p>
            <a:pPr lvl="1"/>
            <a:r>
              <a:rPr 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PCINC</a:t>
            </a:r>
            <a:r>
              <a:rPr lang="en-US" sz="1400" dirty="0">
                <a:sym typeface="Wingdings" panose="05000000000000000000" pitchFamily="2" charset="2"/>
              </a:rPr>
              <a:t> to perform the second microoperation.</a:t>
            </a:r>
          </a:p>
          <a:p>
            <a:r>
              <a:rPr lang="en-US" sz="1600" dirty="0">
                <a:sym typeface="Wingdings" panose="05000000000000000000" pitchFamily="2" charset="2"/>
              </a:rPr>
              <a:t>All the other signals must be 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set to zero for this microinstruction so that no other micro-operation is triggered.</a:t>
            </a:r>
          </a:p>
          <a:p>
            <a:r>
              <a:rPr lang="en-US" sz="1600" dirty="0">
                <a:sym typeface="Wingdings" panose="05000000000000000000" pitchFamily="2" charset="2"/>
              </a:rPr>
              <a:t>Doing this for every microinstruction produces the microcode shown in Table in next slide.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7CF9-A7C3-4271-B468-A720358A5853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BE67A-80DC-4292-8CF9-2F71FB47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10116"/>
            <a:ext cx="2320559" cy="15949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3189CB-B96B-4015-9EBF-E0B0D22DF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00" y="102393"/>
            <a:ext cx="2440001" cy="288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89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048000" cy="3851673"/>
          </a:xfrm>
        </p:spPr>
        <p:txBody>
          <a:bodyPr>
            <a:normAutofit fontScale="92500" lnSpcReduction="20000"/>
          </a:bodyPr>
          <a:lstStyle/>
          <a:p>
            <a:pPr marL="200025" indent="-200025"/>
            <a:r>
              <a:rPr lang="en-US" sz="1400" dirty="0"/>
              <a:t>To illustrate this, consider the micro-operations that occur during FETCH2, DR</a:t>
            </a:r>
            <a:r>
              <a:rPr lang="en-US" sz="1400" dirty="0">
                <a:sym typeface="Wingdings" panose="05000000000000000000" pitchFamily="2" charset="2"/>
              </a:rPr>
              <a:t> M and PC PC +1</a:t>
            </a:r>
          </a:p>
          <a:p>
            <a:pPr marL="200025" indent="-200025"/>
            <a:r>
              <a:rPr lang="en-US" sz="1400" dirty="0">
                <a:sym typeface="Wingdings" panose="05000000000000000000" pitchFamily="2" charset="2"/>
              </a:rPr>
              <a:t>To implement </a:t>
            </a:r>
            <a:r>
              <a:rPr lang="en-US" sz="1400" dirty="0"/>
              <a:t>DR</a:t>
            </a:r>
            <a:r>
              <a:rPr lang="en-US" sz="1400" dirty="0">
                <a:sym typeface="Wingdings" panose="05000000000000000000" pitchFamily="2" charset="2"/>
              </a:rPr>
              <a:t> M , we must enable</a:t>
            </a:r>
            <a:r>
              <a:rPr 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:</a:t>
            </a:r>
          </a:p>
          <a:p>
            <a:pPr marL="457200" lvl="1" indent="-168275"/>
            <a:r>
              <a:rPr lang="en-US" sz="1200" dirty="0">
                <a:solidFill>
                  <a:srgbClr val="C00000"/>
                </a:solidFill>
                <a:sym typeface="Wingdings" panose="05000000000000000000" pitchFamily="2" charset="2"/>
              </a:rPr>
              <a:t>READ </a:t>
            </a:r>
            <a:r>
              <a:rPr lang="en-US" sz="1200" dirty="0">
                <a:sym typeface="Wingdings" panose="05000000000000000000" pitchFamily="2" charset="2"/>
              </a:rPr>
              <a:t>to output data from memory, </a:t>
            </a:r>
          </a:p>
          <a:p>
            <a:pPr marL="457200" lvl="1" indent="-168275"/>
            <a:r>
              <a:rPr lang="en-US" sz="1200" dirty="0">
                <a:solidFill>
                  <a:srgbClr val="C00000"/>
                </a:solidFill>
                <a:sym typeface="Wingdings" panose="05000000000000000000" pitchFamily="2" charset="2"/>
              </a:rPr>
              <a:t>MEMBUS</a:t>
            </a:r>
            <a:r>
              <a:rPr lang="en-US" sz="1200" dirty="0">
                <a:sym typeface="Wingdings" panose="05000000000000000000" pitchFamily="2" charset="2"/>
              </a:rPr>
              <a:t> to allow this data onto the internal system bus, and </a:t>
            </a:r>
          </a:p>
          <a:p>
            <a:pPr marL="457200" lvl="1" indent="-168275"/>
            <a:r>
              <a:rPr lang="en-US" sz="1200" dirty="0">
                <a:solidFill>
                  <a:srgbClr val="C00000"/>
                </a:solidFill>
                <a:sym typeface="Wingdings" panose="05000000000000000000" pitchFamily="2" charset="2"/>
              </a:rPr>
              <a:t>DRLOAD</a:t>
            </a:r>
            <a:r>
              <a:rPr lang="en-US" sz="1200" dirty="0">
                <a:sym typeface="Wingdings" panose="05000000000000000000" pitchFamily="2" charset="2"/>
              </a:rPr>
              <a:t> to load the data from the bus into DR.</a:t>
            </a:r>
          </a:p>
          <a:p>
            <a:pPr marL="200025" indent="-200025"/>
            <a:r>
              <a:rPr lang="en-US" sz="1400" dirty="0">
                <a:sym typeface="Wingdings" panose="05000000000000000000" pitchFamily="2" charset="2"/>
              </a:rPr>
              <a:t>Also, we must enable:</a:t>
            </a:r>
          </a:p>
          <a:p>
            <a:pPr marL="457200" lvl="1" indent="-168275"/>
            <a:r>
              <a:rPr lang="en-US" sz="1200" dirty="0">
                <a:solidFill>
                  <a:srgbClr val="C00000"/>
                </a:solidFill>
                <a:sym typeface="Wingdings" panose="05000000000000000000" pitchFamily="2" charset="2"/>
              </a:rPr>
              <a:t>PCINC</a:t>
            </a:r>
            <a:r>
              <a:rPr lang="en-US" sz="1200" dirty="0">
                <a:sym typeface="Wingdings" panose="05000000000000000000" pitchFamily="2" charset="2"/>
              </a:rPr>
              <a:t> to perform the second microoperation.</a:t>
            </a:r>
          </a:p>
          <a:p>
            <a:pPr marL="200025" indent="-200025"/>
            <a:r>
              <a:rPr lang="en-US" sz="1400" dirty="0">
                <a:sym typeface="Wingdings" panose="05000000000000000000" pitchFamily="2" charset="2"/>
              </a:rPr>
              <a:t>All the other signals must be </a:t>
            </a:r>
          </a:p>
          <a:p>
            <a:pPr marL="457200" lvl="1" indent="-168275"/>
            <a:r>
              <a:rPr lang="en-US" sz="1200" dirty="0">
                <a:sym typeface="Wingdings" panose="05000000000000000000" pitchFamily="2" charset="2"/>
              </a:rPr>
              <a:t>set to zero for this microinstruction so that no other micro-operation is triggered</a:t>
            </a:r>
            <a:r>
              <a:rPr lang="en-US" sz="1000" dirty="0">
                <a:sym typeface="Wingdings" panose="05000000000000000000" pitchFamily="2" charset="2"/>
              </a:rPr>
              <a:t>.</a:t>
            </a:r>
          </a:p>
          <a:p>
            <a:pPr marL="200025" indent="-200025"/>
            <a:r>
              <a:rPr lang="en-US" sz="1400" dirty="0">
                <a:sym typeface="Wingdings" panose="05000000000000000000" pitchFamily="2" charset="2"/>
              </a:rPr>
              <a:t>Doing this for every microinstruction produces the microcode shown in Table in next slide</a:t>
            </a:r>
          </a:p>
          <a:p>
            <a:pPr marL="200025" indent="-200025"/>
            <a:r>
              <a:rPr lang="en-US" sz="1400" dirty="0"/>
              <a:t>In table above, it is to be noted that DRLOAD, MEMBUS and READ always have the same value.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B4AF8-EA9D-4FCC-81F2-D0229EB75E9C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6E44F-C6CB-4C16-859B-37D8B89EA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699" y="2105993"/>
            <a:ext cx="4714090" cy="295040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16BB3EC-2D88-44E3-A811-38C7F3683495}"/>
              </a:ext>
            </a:extLst>
          </p:cNvPr>
          <p:cNvSpPr txBox="1">
            <a:spLocks/>
          </p:cNvSpPr>
          <p:nvPr/>
        </p:nvSpPr>
        <p:spPr>
          <a:xfrm>
            <a:off x="4038600" y="666750"/>
            <a:ext cx="4648200" cy="3927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B7C8EF-6FE3-4EBF-B9B3-AD0756779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51559"/>
            <a:ext cx="1830349" cy="12580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F75F23D-057A-4902-8D0A-69FECCFD7487}"/>
              </a:ext>
            </a:extLst>
          </p:cNvPr>
          <p:cNvSpPr/>
          <p:nvPr/>
        </p:nvSpPr>
        <p:spPr>
          <a:xfrm>
            <a:off x="6248400" y="11430"/>
            <a:ext cx="2895600" cy="147066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DB338-F2D5-4EB1-943C-B8D4C285D45C}"/>
              </a:ext>
            </a:extLst>
          </p:cNvPr>
          <p:cNvSpPr txBox="1"/>
          <p:nvPr/>
        </p:nvSpPr>
        <p:spPr>
          <a:xfrm>
            <a:off x="6292315" y="1012319"/>
            <a:ext cx="87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References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AB5578-BCD5-4EA2-B51D-30650B1875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7245" y="-4214"/>
            <a:ext cx="2028652" cy="239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31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Directly generating the control signals offers advantage over the other two methods.</a:t>
            </a:r>
          </a:p>
          <a:p>
            <a:r>
              <a:rPr lang="en-US" sz="2000" dirty="0"/>
              <a:t>It does not require additional logic to convert the outputs of the microcode memory to control signals.</a:t>
            </a:r>
          </a:p>
          <a:p>
            <a:r>
              <a:rPr lang="en-US" sz="2000" dirty="0"/>
              <a:t>However, this type of code is less readable and thus more difficult to debug.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BCE10-7163-414C-904E-0EC373FB8C5B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258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5.6 Reducing the number of micro-instructions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667000" cy="3851673"/>
          </a:xfrm>
        </p:spPr>
        <p:txBody>
          <a:bodyPr>
            <a:normAutofit/>
          </a:bodyPr>
          <a:lstStyle/>
          <a:p>
            <a:r>
              <a:rPr lang="en-US" sz="1600" dirty="0"/>
              <a:t>Just as with the micro-operations ARDR and IRDR in the horizontal microcode design, we can combine these signals because they always have the same value.</a:t>
            </a:r>
          </a:p>
          <a:p>
            <a:r>
              <a:rPr lang="en-US" sz="1600" dirty="0"/>
              <a:t>One bit can be used instead of three; that one bit can drive all three signals.</a:t>
            </a:r>
          </a:p>
          <a:p>
            <a:r>
              <a:rPr lang="en-US" sz="1600" dirty="0"/>
              <a:t>The revised microcode with the one bit labeled DMR is shown in Table 7.10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9109-F939-487F-8B68-8C15357E95DA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6BD127-77D2-4C48-80CC-70B83BC0A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3800" y="1643548"/>
            <a:ext cx="4853082" cy="30373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11F63E-ED47-4F36-A1CC-E32F9F40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51559"/>
            <a:ext cx="1830349" cy="12580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25B738-3508-4133-BE42-0E643943FDD4}"/>
              </a:ext>
            </a:extLst>
          </p:cNvPr>
          <p:cNvSpPr/>
          <p:nvPr/>
        </p:nvSpPr>
        <p:spPr>
          <a:xfrm>
            <a:off x="7772400" y="285750"/>
            <a:ext cx="1371600" cy="17680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DCC79-7672-4317-9304-0B2FB7A3D327}"/>
              </a:ext>
            </a:extLst>
          </p:cNvPr>
          <p:cNvSpPr/>
          <p:nvPr/>
        </p:nvSpPr>
        <p:spPr>
          <a:xfrm>
            <a:off x="5913521" y="2125794"/>
            <a:ext cx="212558" cy="252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AAA6E4-2716-466E-B2C9-B6F6C07BB488}"/>
              </a:ext>
            </a:extLst>
          </p:cNvPr>
          <p:cNvSpPr/>
          <p:nvPr/>
        </p:nvSpPr>
        <p:spPr>
          <a:xfrm>
            <a:off x="7848600" y="1900211"/>
            <a:ext cx="212558" cy="269441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C37CDA-47B2-4538-AA50-9C08B83979FE}"/>
              </a:ext>
            </a:extLst>
          </p:cNvPr>
          <p:cNvSpPr/>
          <p:nvPr/>
        </p:nvSpPr>
        <p:spPr>
          <a:xfrm>
            <a:off x="7090611" y="2020858"/>
            <a:ext cx="252318" cy="269441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34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5.6 Reducing the number of micro-instructions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DEDC-8E42-4401-A5E2-336A4E96C011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CC303-F979-4D70-9857-A3EBE526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90618"/>
            <a:ext cx="4709470" cy="2895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DA2154-5F6C-4DC6-9CE7-733EFC758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" y="1733550"/>
            <a:ext cx="3856250" cy="2413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698F33-F76F-4D7D-910F-B767F5BDA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51559"/>
            <a:ext cx="1830349" cy="12580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202C84-2C30-45CC-9DB4-775CDF53611B}"/>
              </a:ext>
            </a:extLst>
          </p:cNvPr>
          <p:cNvSpPr/>
          <p:nvPr/>
        </p:nvSpPr>
        <p:spPr>
          <a:xfrm>
            <a:off x="7772400" y="285750"/>
            <a:ext cx="1371600" cy="17680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529F08-24EA-4BA1-97F9-2FC4B53053F4}"/>
              </a:ext>
            </a:extLst>
          </p:cNvPr>
          <p:cNvSpPr/>
          <p:nvPr/>
        </p:nvSpPr>
        <p:spPr>
          <a:xfrm>
            <a:off x="6416842" y="1962150"/>
            <a:ext cx="212558" cy="252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D8A523-72F8-4FEB-A4FB-C47FDA9F1702}"/>
              </a:ext>
            </a:extLst>
          </p:cNvPr>
          <p:cNvSpPr/>
          <p:nvPr/>
        </p:nvSpPr>
        <p:spPr>
          <a:xfrm>
            <a:off x="1813651" y="1962150"/>
            <a:ext cx="167549" cy="252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262465-2961-45F4-944F-7F2EC68AD9CA}"/>
              </a:ext>
            </a:extLst>
          </p:cNvPr>
          <p:cNvSpPr/>
          <p:nvPr/>
        </p:nvSpPr>
        <p:spPr>
          <a:xfrm>
            <a:off x="2720477" y="1962150"/>
            <a:ext cx="167549" cy="252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B9D1E1-DF5B-40BC-B40B-E87552D467E4}"/>
              </a:ext>
            </a:extLst>
          </p:cNvPr>
          <p:cNvSpPr/>
          <p:nvPr/>
        </p:nvSpPr>
        <p:spPr>
          <a:xfrm>
            <a:off x="3272018" y="1933093"/>
            <a:ext cx="233182" cy="252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70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Summary: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29" y="581379"/>
            <a:ext cx="2441671" cy="495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1. The register section and RTL code for each state are: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00734-4611-4589-ADD6-A9A337DABABD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4F1721-E998-4F07-9D39-EF862CD10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203" y="3762164"/>
            <a:ext cx="1746561" cy="1200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76FD1D8-3CDB-4B08-AA97-34FE3C9EE5C7}"/>
              </a:ext>
            </a:extLst>
          </p:cNvPr>
          <p:cNvSpPr txBox="1">
            <a:spLocks/>
          </p:cNvSpPr>
          <p:nvPr/>
        </p:nvSpPr>
        <p:spPr>
          <a:xfrm>
            <a:off x="2677574" y="174981"/>
            <a:ext cx="2808826" cy="4063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050" b="1" dirty="0"/>
              <a:t>2. Let us assume the mnemonics for all the control required in the register section as: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9562AE9-239D-48C6-BAD5-C8C2334D9085}"/>
              </a:ext>
            </a:extLst>
          </p:cNvPr>
          <p:cNvSpPr txBox="1">
            <a:spLocks/>
          </p:cNvSpPr>
          <p:nvPr/>
        </p:nvSpPr>
        <p:spPr>
          <a:xfrm>
            <a:off x="2733452" y="1892902"/>
            <a:ext cx="3030392" cy="1270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9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E32DC-DEB7-445E-9208-4B59643854E2}"/>
              </a:ext>
            </a:extLst>
          </p:cNvPr>
          <p:cNvSpPr/>
          <p:nvPr/>
        </p:nvSpPr>
        <p:spPr>
          <a:xfrm>
            <a:off x="2726538" y="2586849"/>
            <a:ext cx="30965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3. The directly generated </a:t>
            </a:r>
            <a:r>
              <a:rPr lang="en-US" sz="1000" b="1" dirty="0" err="1"/>
              <a:t>microcodes</a:t>
            </a:r>
            <a:r>
              <a:rPr lang="en-US" sz="1000" b="1" dirty="0"/>
              <a:t> for our CPU stored in Microcode memory  is: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2A2B46B-18C9-4201-B350-A88886CA251A}"/>
              </a:ext>
            </a:extLst>
          </p:cNvPr>
          <p:cNvSpPr txBox="1">
            <a:spLocks/>
          </p:cNvSpPr>
          <p:nvPr/>
        </p:nvSpPr>
        <p:spPr>
          <a:xfrm>
            <a:off x="5993236" y="2892797"/>
            <a:ext cx="3164933" cy="460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00" b="1" dirty="0"/>
              <a:t>5. The logic implementation of our required micro-sequencer Control Unit with Directly generated microcode is as below: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22C9CB-3547-43AE-8A58-1530BA433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2783" y="1053101"/>
            <a:ext cx="2229393" cy="26351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A4BBF0-6D6E-48B5-A89C-30C1125E35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-2147"/>
          <a:stretch/>
        </p:blipFill>
        <p:spPr>
          <a:xfrm>
            <a:off x="2692168" y="2961205"/>
            <a:ext cx="3201866" cy="20469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F6144A-034C-4AF1-866A-F7E3BD28B0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963" y="3264697"/>
            <a:ext cx="1589884" cy="1737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6F1784-C121-4203-B404-5291B11C2B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1870" y="508805"/>
            <a:ext cx="1853714" cy="20629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3FF1ED3-B4AA-4847-938D-9381E4C2528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t="6755"/>
          <a:stretch/>
        </p:blipFill>
        <p:spPr>
          <a:xfrm>
            <a:off x="5904194" y="1024221"/>
            <a:ext cx="3030392" cy="173736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C8E3E14-18E2-4094-BEFE-1A63C56D5103}"/>
              </a:ext>
            </a:extLst>
          </p:cNvPr>
          <p:cNvSpPr/>
          <p:nvPr/>
        </p:nvSpPr>
        <p:spPr>
          <a:xfrm>
            <a:off x="5822371" y="189772"/>
            <a:ext cx="309656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4. Here, for all the states, DRBUS, MEMBUS and READ have the same value. So, we can combine these three control signals to a single </a:t>
            </a:r>
            <a:r>
              <a:rPr lang="en-US" sz="1000" b="1" dirty="0" err="1"/>
              <a:t>menmonic</a:t>
            </a:r>
            <a:r>
              <a:rPr lang="en-US" sz="1000" b="1" dirty="0"/>
              <a:t> as DMR. </a:t>
            </a:r>
          </a:p>
          <a:p>
            <a:r>
              <a:rPr lang="en-US" sz="1000" b="1" dirty="0"/>
              <a:t>The optimized directly generated </a:t>
            </a:r>
            <a:r>
              <a:rPr lang="en-US" sz="1000" b="1" dirty="0" err="1"/>
              <a:t>microcodes</a:t>
            </a:r>
            <a:r>
              <a:rPr lang="en-US" sz="1000" b="1" dirty="0"/>
              <a:t> for our CPU stored in Microcode memory  is:</a:t>
            </a:r>
          </a:p>
        </p:txBody>
      </p:sp>
    </p:spTree>
    <p:extLst>
      <p:ext uri="{BB962C8B-B14F-4D97-AF65-F5344CB8AC3E}">
        <p14:creationId xmlns:p14="http://schemas.microsoft.com/office/powerpoint/2010/main" val="833165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8959E-40EB-4FE9-BF39-A6655166C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5B2F-677F-46D3-8FAC-5DAF8E3E5C31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0B4CB-356F-4E16-B5AE-8D54E8E7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BBA40-500B-483D-A8F2-B062E36F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6E1346FF-4C50-4AE1-8286-FC6B54100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07437"/>
              </p:ext>
            </p:extLst>
          </p:nvPr>
        </p:nvGraphicFramePr>
        <p:xfrm>
          <a:off x="2362200" y="209551"/>
          <a:ext cx="4038600" cy="4557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64">
                  <a:extLst>
                    <a:ext uri="{9D8B030D-6E8A-4147-A177-3AD203B41FA5}">
                      <a16:colId xmlns:a16="http://schemas.microsoft.com/office/drawing/2014/main" val="2330080898"/>
                    </a:ext>
                  </a:extLst>
                </a:gridCol>
                <a:gridCol w="2742736">
                  <a:extLst>
                    <a:ext uri="{9D8B030D-6E8A-4147-A177-3AD203B41FA5}">
                      <a16:colId xmlns:a16="http://schemas.microsoft.com/office/drawing/2014/main" val="3714124959"/>
                    </a:ext>
                  </a:extLst>
                </a:gridCol>
              </a:tblGrid>
              <a:tr h="350593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Mnemonics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49620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ARLOAD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PC,  ARDR[5..0]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451091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PCLOAD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PC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DR [5..0]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161782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PCINC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PC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PC+1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072113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DRLOAD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M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603739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ACLOAD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AC^DR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76021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ACINC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AC+1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437294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IRLOAD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IR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DR[7..6]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232748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ALUSEL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Selection of ALU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71163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MEMBUS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out from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58756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PCBUS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Address out from 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918532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DRBUS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out from 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776288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r>
                        <a:rPr lang="en-US" sz="1600" b="1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READ signal to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2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663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5.8 Micro-programmed Vs Hardwired Control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DDD95-6175-4377-9186-F62C4047B85B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0469B68-C418-4F52-88EC-24DB6F071BCB}"/>
              </a:ext>
            </a:extLst>
          </p:cNvPr>
          <p:cNvGraphicFramePr>
            <a:graphicFrameLocks/>
          </p:cNvGraphicFramePr>
          <p:nvPr/>
        </p:nvGraphicFramePr>
        <p:xfrm>
          <a:off x="762000" y="819150"/>
          <a:ext cx="7391400" cy="3733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03">
                  <a:extLst>
                    <a:ext uri="{9D8B030D-6E8A-4147-A177-3AD203B41FA5}">
                      <a16:colId xmlns:a16="http://schemas.microsoft.com/office/drawing/2014/main" val="1245403785"/>
                    </a:ext>
                  </a:extLst>
                </a:gridCol>
                <a:gridCol w="3210406">
                  <a:extLst>
                    <a:ext uri="{9D8B030D-6E8A-4147-A177-3AD203B41FA5}">
                      <a16:colId xmlns:a16="http://schemas.microsoft.com/office/drawing/2014/main" val="3649382325"/>
                    </a:ext>
                  </a:extLst>
                </a:gridCol>
                <a:gridCol w="373303">
                  <a:extLst>
                    <a:ext uri="{9D8B030D-6E8A-4147-A177-3AD203B41FA5}">
                      <a16:colId xmlns:a16="http://schemas.microsoft.com/office/drawing/2014/main" val="1860130686"/>
                    </a:ext>
                  </a:extLst>
                </a:gridCol>
                <a:gridCol w="3434388">
                  <a:extLst>
                    <a:ext uri="{9D8B030D-6E8A-4147-A177-3AD203B41FA5}">
                      <a16:colId xmlns:a16="http://schemas.microsoft.com/office/drawing/2014/main" val="2641311615"/>
                    </a:ext>
                  </a:extLst>
                </a:gridCol>
              </a:tblGrid>
              <a:tr h="2872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Hardwired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Micro-programmed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4843527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Uses flags, decoder, logic gates and other digital circuits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1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Uses sequence of micro-instruction in micro-programming language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56824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name implies, it is a hardware control unit.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It is midway between Hardware and software.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9671064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On the basis of input signal, output is generated.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It generates a set of control signal on the basis of control line.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1295276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Difficult to design, test and implement.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Easy to design and implement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3760328"/>
                  </a:ext>
                </a:extLst>
              </a:tr>
              <a:tr h="2872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Inflexible to modify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Flexible to modify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6192796"/>
                  </a:ext>
                </a:extLst>
              </a:tr>
              <a:tr h="2872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Faster mode of operation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Slower mode of operation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6807368"/>
                  </a:ext>
                </a:extLst>
              </a:tr>
              <a:tr h="2872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Expensive and high error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Cheaper and less error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4385586"/>
                  </a:ext>
                </a:extLst>
              </a:tr>
              <a:tr h="2872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Used in RISC processor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Used in CISC processor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2297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974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Exam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266950"/>
            <a:ext cx="7924800" cy="232767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endParaRPr lang="en-US" sz="2000" b="1" dirty="0"/>
          </a:p>
          <a:p>
            <a:pPr marL="514350" lvl="0" indent="-514350">
              <a:buFont typeface="+mj-lt"/>
              <a:buAutoNum type="arabicPeriod"/>
            </a:pPr>
            <a:endParaRPr lang="en-US" sz="2000" b="1" dirty="0"/>
          </a:p>
          <a:p>
            <a:pPr marL="514350" lvl="0" indent="-514350">
              <a:buFont typeface="+mj-lt"/>
              <a:buAutoNum type="arabicPeriod"/>
            </a:pPr>
            <a:endParaRPr lang="en-US" sz="2000" b="1" dirty="0"/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Design a </a:t>
            </a:r>
            <a:r>
              <a:rPr lang="en-US" sz="2000" b="1" dirty="0" err="1"/>
              <a:t>microsequencer</a:t>
            </a:r>
            <a:r>
              <a:rPr lang="en-US" sz="2000" b="1" dirty="0"/>
              <a:t> control unit with horizontal microcode for the CPU described in question 7 (i.e. above question). [PU 2017 Fall]</a:t>
            </a:r>
            <a:endParaRPr lang="en-US" sz="2000" dirty="0"/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F1FF-8893-4D63-A5BC-E05FCA01C9E7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F606DA-C380-411A-BC9B-FC7E20D1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39390"/>
            <a:ext cx="6491287" cy="191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19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7.  There is a very simple CPU for the given set of Instruction: [PU 2017 Spring]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Let the instruction width be 8 bits and address is 6 bits. Design the CPU’s register section, state diagram and ALU.</a:t>
            </a:r>
          </a:p>
          <a:p>
            <a:endParaRPr lang="en-US" sz="1800" dirty="0"/>
          </a:p>
          <a:p>
            <a:pPr marL="282575" indent="-282575">
              <a:buNone/>
            </a:pPr>
            <a:r>
              <a:rPr lang="en-US" sz="1800" b="1" dirty="0"/>
              <a:t>2.  Design a </a:t>
            </a:r>
            <a:r>
              <a:rPr lang="en-US" sz="1800" b="1" dirty="0" err="1"/>
              <a:t>microsequencer</a:t>
            </a:r>
            <a:r>
              <a:rPr lang="en-US" sz="1800" b="1" dirty="0"/>
              <a:t> control unit which directly generate control signals for the CPU described in question 7 (Above question) . [PU 2017 Spring]</a:t>
            </a:r>
            <a:endParaRPr lang="en-US" sz="1800" dirty="0"/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967F-B4FA-4531-B300-75EAE1FF7D18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42E385-5100-4140-946E-1048CAE57C40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2200" y="1123950"/>
            <a:ext cx="3505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12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7. There is a very simple CPU for the given set of Instruction: [PU 2018 Fall]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Let the instruction width be 8 bits and address is 6 bits. Design the CPU’s register section, state diagram and ALU.</a:t>
            </a:r>
          </a:p>
          <a:p>
            <a:pPr marL="0" indent="0">
              <a:buNone/>
            </a:pPr>
            <a:endParaRPr lang="en-US" sz="2000" dirty="0"/>
          </a:p>
          <a:p>
            <a:pPr marL="403225" indent="-403225">
              <a:buNone/>
            </a:pPr>
            <a:r>
              <a:rPr lang="en-US" sz="2000" b="1" dirty="0"/>
              <a:t>3. 	Design a </a:t>
            </a:r>
            <a:r>
              <a:rPr lang="en-US" sz="2000" b="1" dirty="0" err="1"/>
              <a:t>microsequencer</a:t>
            </a:r>
            <a:r>
              <a:rPr lang="en-US" sz="2000" b="1" dirty="0"/>
              <a:t> control unit with horizontal microcode for the CPU described in question 7 (above question) [PU 2018 Fall]</a:t>
            </a:r>
            <a:endParaRPr lang="en-US" sz="2000" dirty="0"/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D2F2-0AEE-4CF7-A1A3-EEA9C86E4542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962568-4224-43D7-B6B1-D2637590E357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00" y="1200150"/>
            <a:ext cx="41148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40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88480"/>
            <a:ext cx="8077200" cy="1506143"/>
          </a:xfrm>
        </p:spPr>
        <p:txBody>
          <a:bodyPr>
            <a:normAutofit/>
          </a:bodyPr>
          <a:lstStyle/>
          <a:p>
            <a:pPr marL="403225" indent="-403225">
              <a:buNone/>
            </a:pPr>
            <a:r>
              <a:rPr lang="en-US" sz="2000" b="1" dirty="0"/>
              <a:t>4. 	Design a </a:t>
            </a:r>
            <a:r>
              <a:rPr lang="en-US" sz="2000" b="1" dirty="0" err="1"/>
              <a:t>microsequencer</a:t>
            </a:r>
            <a:r>
              <a:rPr lang="en-US" sz="2000" b="1" dirty="0"/>
              <a:t> control unit with horizontal microcode for the CPU described in question 7. [PU 2018 Spring]</a:t>
            </a:r>
            <a:endParaRPr lang="en-US" sz="2000" dirty="0"/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972AA-1617-4C16-8ED9-A44041D7EA3F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543726-E87D-48BA-B2AC-53F6429BA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567" y="1012030"/>
            <a:ext cx="6786865" cy="188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07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028950"/>
            <a:ext cx="8153400" cy="1565673"/>
          </a:xfrm>
        </p:spPr>
        <p:txBody>
          <a:bodyPr>
            <a:normAutofit/>
          </a:bodyPr>
          <a:lstStyle/>
          <a:p>
            <a:pPr marL="282575" indent="-282575">
              <a:buNone/>
            </a:pPr>
            <a:r>
              <a:rPr lang="en-US" sz="2000" b="1" dirty="0"/>
              <a:t>5.  Design a </a:t>
            </a:r>
            <a:r>
              <a:rPr lang="en-US" sz="2000" b="1" dirty="0" err="1"/>
              <a:t>microsequencer</a:t>
            </a:r>
            <a:r>
              <a:rPr lang="en-US" sz="2000" b="1" dirty="0"/>
              <a:t> control unit with horizontal microcode for the CPU described in question 7. [PU 2019 Spring]</a:t>
            </a:r>
            <a:endParaRPr lang="en-US" sz="2000" dirty="0"/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0AED-1A00-4E02-AE63-86EB20B825EA}" type="datetime1">
              <a:rPr lang="en-US" smtClean="0">
                <a:solidFill>
                  <a:srgbClr val="00B050"/>
                </a:solidFill>
              </a:rPr>
              <a:t>8/19/2023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5. Micro-sequencer Control Unit Design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FC1F8-0000-4655-96C5-0DF43BBB3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878086"/>
            <a:ext cx="75533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18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End of chapter 5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37BD-D975-4A35-8006-0733AB2E265E}" type="datetime1">
              <a:rPr lang="en-US" smtClean="0"/>
              <a:t>8/19/2023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5. Micro-sequencer Control Unit Design</a:t>
            </a:r>
          </a:p>
        </p:txBody>
      </p:sp>
    </p:spTree>
    <p:extLst>
      <p:ext uri="{BB962C8B-B14F-4D97-AF65-F5344CB8AC3E}">
        <p14:creationId xmlns:p14="http://schemas.microsoft.com/office/powerpoint/2010/main" val="39421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4429</TotalTime>
  <Words>3460</Words>
  <Application>Microsoft Office PowerPoint</Application>
  <PresentationFormat>On-screen Show (16:9)</PresentationFormat>
  <Paragraphs>425</Paragraphs>
  <Slides>41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Wingdings</vt:lpstr>
      <vt:lpstr>Office Theme</vt:lpstr>
      <vt:lpstr>Chapter 5 MICRO-SEQUENCER CONTROL UNIT DESIGN</vt:lpstr>
      <vt:lpstr>Contents:</vt:lpstr>
      <vt:lpstr>5.0 Introduction to Micro sequencer</vt:lpstr>
      <vt:lpstr>5.1 Basic Microsequencer (CU) Design and Operations</vt:lpstr>
      <vt:lpstr>PowerPoint Presentation</vt:lpstr>
      <vt:lpstr>2.5 Micro-instruction formats</vt:lpstr>
      <vt:lpstr>a) Horizontal Microcode</vt:lpstr>
      <vt:lpstr>a) Horizontal Microcode</vt:lpstr>
      <vt:lpstr>b) Vertical Microcode</vt:lpstr>
      <vt:lpstr>b) Vertical Microcode</vt:lpstr>
      <vt:lpstr>5.3 Design and Implementation of a Very Simple Micro-sequencer</vt:lpstr>
      <vt:lpstr>5.3 Design and Implementation of a Very Simple Micro-sequencer</vt:lpstr>
      <vt:lpstr>5.3 Design and Implementation of a Very Simple Micro-sequencer</vt:lpstr>
      <vt:lpstr>5.4 Control unit :  </vt:lpstr>
      <vt:lpstr>PowerPoint Presentation</vt:lpstr>
      <vt:lpstr>PowerPoint Presentation</vt:lpstr>
      <vt:lpstr>PowerPoint Presentation</vt:lpstr>
      <vt:lpstr>PowerPoint Presentation</vt:lpstr>
      <vt:lpstr>i) Generating the micro-operations using Horizontal Microcode</vt:lpstr>
      <vt:lpstr>Horizontal Microcode</vt:lpstr>
      <vt:lpstr>Horizontal Microcode</vt:lpstr>
      <vt:lpstr>Summary:</vt:lpstr>
      <vt:lpstr>ii) Generating Micro-operation using Vertical Microcode</vt:lpstr>
      <vt:lpstr>PowerPoint Presentation</vt:lpstr>
      <vt:lpstr>PowerPoint Presentation</vt:lpstr>
      <vt:lpstr>Summary:</vt:lpstr>
      <vt:lpstr>iii) Directly generating the control signals from the Microcode</vt:lpstr>
      <vt:lpstr>PowerPoint Presentation</vt:lpstr>
      <vt:lpstr>PowerPoint Presentation</vt:lpstr>
      <vt:lpstr>PowerPoint Presentation</vt:lpstr>
      <vt:lpstr>5.6 Reducing the number of micro-instructions</vt:lpstr>
      <vt:lpstr>5.6 Reducing the number of micro-instructions</vt:lpstr>
      <vt:lpstr>Summary:</vt:lpstr>
      <vt:lpstr>PowerPoint Presentation</vt:lpstr>
      <vt:lpstr>5.8 Micro-programmed Vs Hardwired Control Unit</vt:lpstr>
      <vt:lpstr>Exam questions: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223</cp:revision>
  <dcterms:created xsi:type="dcterms:W3CDTF">2006-08-16T00:00:00Z</dcterms:created>
  <dcterms:modified xsi:type="dcterms:W3CDTF">2023-08-19T04:22:27Z</dcterms:modified>
</cp:coreProperties>
</file>