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2"/>
  </p:notesMasterIdLst>
  <p:sldIdLst>
    <p:sldId id="256" r:id="rId2"/>
    <p:sldId id="257" r:id="rId3"/>
    <p:sldId id="399" r:id="rId4"/>
    <p:sldId id="397" r:id="rId5"/>
    <p:sldId id="398" r:id="rId6"/>
    <p:sldId id="400" r:id="rId7"/>
    <p:sldId id="384" r:id="rId8"/>
    <p:sldId id="362" r:id="rId9"/>
    <p:sldId id="365" r:id="rId10"/>
    <p:sldId id="363" r:id="rId11"/>
    <p:sldId id="364" r:id="rId12"/>
    <p:sldId id="366" r:id="rId13"/>
    <p:sldId id="367" r:id="rId14"/>
    <p:sldId id="368" r:id="rId15"/>
    <p:sldId id="369" r:id="rId16"/>
    <p:sldId id="370" r:id="rId17"/>
    <p:sldId id="371" r:id="rId18"/>
    <p:sldId id="372" r:id="rId19"/>
    <p:sldId id="386" r:id="rId20"/>
    <p:sldId id="373" r:id="rId21"/>
    <p:sldId id="374" r:id="rId22"/>
    <p:sldId id="262" r:id="rId23"/>
    <p:sldId id="375" r:id="rId24"/>
    <p:sldId id="376" r:id="rId25"/>
    <p:sldId id="377" r:id="rId26"/>
    <p:sldId id="378" r:id="rId27"/>
    <p:sldId id="379" r:id="rId28"/>
    <p:sldId id="380" r:id="rId29"/>
    <p:sldId id="387" r:id="rId30"/>
    <p:sldId id="388" r:id="rId31"/>
    <p:sldId id="390" r:id="rId32"/>
    <p:sldId id="389" r:id="rId33"/>
    <p:sldId id="391" r:id="rId34"/>
    <p:sldId id="392" r:id="rId35"/>
    <p:sldId id="352" r:id="rId36"/>
    <p:sldId id="395" r:id="rId37"/>
    <p:sldId id="396" r:id="rId38"/>
    <p:sldId id="393" r:id="rId39"/>
    <p:sldId id="394" r:id="rId40"/>
    <p:sldId id="350" r:id="rId4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38" autoAdjust="0"/>
  </p:normalViewPr>
  <p:slideViewPr>
    <p:cSldViewPr>
      <p:cViewPr varScale="1">
        <p:scale>
          <a:sx n="57" d="100"/>
          <a:sy n="57" d="100"/>
        </p:scale>
        <p:origin x="62" y="677"/>
      </p:cViewPr>
      <p:guideLst>
        <p:guide orient="horz" pos="1620"/>
        <p:guide pos="2880"/>
      </p:guideLst>
    </p:cSldViewPr>
  </p:slideViewPr>
  <p:outlineViewPr>
    <p:cViewPr>
      <p:scale>
        <a:sx n="33" d="100"/>
        <a:sy n="33" d="100"/>
      </p:scale>
      <p:origin x="0" y="-32525"/>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898897-BDF1-4279-BA28-06DD7EC1DE0C}" type="datetimeFigureOut">
              <a:rPr lang="en-US" smtClean="0"/>
              <a:pPr/>
              <a:t>7/26/2023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378CF50-4ED8-4D7B-8802-3C44BEF0A8F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22ee2655c5b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22ee2655c5b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58D51EC-DB34-4D69-96D1-88C074190D34}" type="datetime1">
              <a:rPr lang="en-US" smtClean="0"/>
              <a:t>7/26/2023</a:t>
            </a:fld>
            <a:endParaRPr lang="en-US"/>
          </a:p>
        </p:txBody>
      </p:sp>
      <p:sp>
        <p:nvSpPr>
          <p:cNvPr id="5" name="Footer Placeholder 4"/>
          <p:cNvSpPr>
            <a:spLocks noGrp="1"/>
          </p:cNvSpPr>
          <p:nvPr>
            <p:ph type="ftr" sz="quarter" idx="11"/>
          </p:nvPr>
        </p:nvSpPr>
        <p:spPr/>
        <p:txBody>
          <a:bodyPr/>
          <a:lstStyle/>
          <a:p>
            <a:r>
              <a:rPr lang="en-US"/>
              <a:t>IO organization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A47C6D-9BAC-4675-8EA0-6A00A25CA7E3}" type="datetime1">
              <a:rPr lang="en-US" smtClean="0"/>
              <a:t>7/26/2023</a:t>
            </a:fld>
            <a:endParaRPr lang="en-US"/>
          </a:p>
        </p:txBody>
      </p:sp>
      <p:sp>
        <p:nvSpPr>
          <p:cNvPr id="5" name="Footer Placeholder 4"/>
          <p:cNvSpPr>
            <a:spLocks noGrp="1"/>
          </p:cNvSpPr>
          <p:nvPr>
            <p:ph type="ftr" sz="quarter" idx="11"/>
          </p:nvPr>
        </p:nvSpPr>
        <p:spPr/>
        <p:txBody>
          <a:bodyPr/>
          <a:lstStyle/>
          <a:p>
            <a:r>
              <a:rPr lang="en-US"/>
              <a:t>IO organization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98348A-58F1-4028-9A37-865F43810B22}" type="datetime1">
              <a:rPr lang="en-US" smtClean="0"/>
              <a:t>7/26/2023</a:t>
            </a:fld>
            <a:endParaRPr lang="en-US"/>
          </a:p>
        </p:txBody>
      </p:sp>
      <p:sp>
        <p:nvSpPr>
          <p:cNvPr id="5" name="Footer Placeholder 4"/>
          <p:cNvSpPr>
            <a:spLocks noGrp="1"/>
          </p:cNvSpPr>
          <p:nvPr>
            <p:ph type="ftr" sz="quarter" idx="11"/>
          </p:nvPr>
        </p:nvSpPr>
        <p:spPr/>
        <p:txBody>
          <a:bodyPr/>
          <a:lstStyle/>
          <a:p>
            <a:r>
              <a:rPr lang="en-US"/>
              <a:t>IO organization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AD1A152-2785-4900-ADA7-9BCF711D2846}" type="datetime1">
              <a:rPr lang="en-US" smtClean="0"/>
              <a:t>7/26/2023</a:t>
            </a:fld>
            <a:endParaRPr lang="en-US"/>
          </a:p>
        </p:txBody>
      </p:sp>
      <p:sp>
        <p:nvSpPr>
          <p:cNvPr id="6" name="Footer Placeholder 5"/>
          <p:cNvSpPr>
            <a:spLocks noGrp="1"/>
          </p:cNvSpPr>
          <p:nvPr>
            <p:ph type="ftr" sz="quarter" idx="11"/>
          </p:nvPr>
        </p:nvSpPr>
        <p:spPr/>
        <p:txBody>
          <a:bodyPr/>
          <a:lstStyle/>
          <a:p>
            <a:r>
              <a:rPr lang="en-US"/>
              <a:t>IO organization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F635B61-E45A-42E1-8756-B97ADBCB8395}" type="datetime1">
              <a:rPr lang="en-US" smtClean="0"/>
              <a:t>7/26/2023</a:t>
            </a:fld>
            <a:endParaRPr lang="en-US"/>
          </a:p>
        </p:txBody>
      </p:sp>
      <p:sp>
        <p:nvSpPr>
          <p:cNvPr id="8" name="Footer Placeholder 7"/>
          <p:cNvSpPr>
            <a:spLocks noGrp="1"/>
          </p:cNvSpPr>
          <p:nvPr>
            <p:ph type="ftr" sz="quarter" idx="11"/>
          </p:nvPr>
        </p:nvSpPr>
        <p:spPr/>
        <p:txBody>
          <a:bodyPr/>
          <a:lstStyle/>
          <a:p>
            <a:r>
              <a:rPr lang="en-US"/>
              <a:t>IO organization</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DC41601-F609-4B37-9532-DA645ABE8BF9}" type="datetime1">
              <a:rPr lang="en-US" smtClean="0"/>
              <a:t>7/26/2023</a:t>
            </a:fld>
            <a:endParaRPr lang="en-US"/>
          </a:p>
        </p:txBody>
      </p:sp>
      <p:sp>
        <p:nvSpPr>
          <p:cNvPr id="4" name="Footer Placeholder 3"/>
          <p:cNvSpPr>
            <a:spLocks noGrp="1"/>
          </p:cNvSpPr>
          <p:nvPr>
            <p:ph type="ftr" sz="quarter" idx="11"/>
          </p:nvPr>
        </p:nvSpPr>
        <p:spPr/>
        <p:txBody>
          <a:bodyPr/>
          <a:lstStyle/>
          <a:p>
            <a:r>
              <a:rPr lang="en-US"/>
              <a:t>IO organization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27BBB0-94E4-4CE7-B68A-99EB12D5BC9C}" type="datetime1">
              <a:rPr lang="en-US" smtClean="0"/>
              <a:t>7/26/2023</a:t>
            </a:fld>
            <a:endParaRPr lang="en-US"/>
          </a:p>
        </p:txBody>
      </p:sp>
      <p:sp>
        <p:nvSpPr>
          <p:cNvPr id="3" name="Footer Placeholder 2"/>
          <p:cNvSpPr>
            <a:spLocks noGrp="1"/>
          </p:cNvSpPr>
          <p:nvPr>
            <p:ph type="ftr" sz="quarter" idx="11"/>
          </p:nvPr>
        </p:nvSpPr>
        <p:spPr/>
        <p:txBody>
          <a:bodyPr/>
          <a:lstStyle/>
          <a:p>
            <a:r>
              <a:rPr lang="en-US"/>
              <a:t>IO organization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93E55E-BA56-4A1E-A73A-243BD7E7CBD0}" type="datetime1">
              <a:rPr lang="en-US" smtClean="0"/>
              <a:t>7/26/2023</a:t>
            </a:fld>
            <a:endParaRPr lang="en-US"/>
          </a:p>
        </p:txBody>
      </p:sp>
      <p:sp>
        <p:nvSpPr>
          <p:cNvPr id="6" name="Footer Placeholder 5"/>
          <p:cNvSpPr>
            <a:spLocks noGrp="1"/>
          </p:cNvSpPr>
          <p:nvPr>
            <p:ph type="ftr" sz="quarter" idx="11"/>
          </p:nvPr>
        </p:nvSpPr>
        <p:spPr/>
        <p:txBody>
          <a:bodyPr/>
          <a:lstStyle/>
          <a:p>
            <a:r>
              <a:rPr lang="en-US"/>
              <a:t>IO organization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48DD88D-323E-4CC3-8140-18BBD4AFD7AA}" type="datetime1">
              <a:rPr lang="en-US" smtClean="0"/>
              <a:t>7/26/2023</a:t>
            </a:fld>
            <a:endParaRPr lang="en-US"/>
          </a:p>
        </p:txBody>
      </p:sp>
      <p:sp>
        <p:nvSpPr>
          <p:cNvPr id="6" name="Footer Placeholder 5"/>
          <p:cNvSpPr>
            <a:spLocks noGrp="1"/>
          </p:cNvSpPr>
          <p:nvPr>
            <p:ph type="ftr" sz="quarter" idx="11"/>
          </p:nvPr>
        </p:nvSpPr>
        <p:spPr/>
        <p:txBody>
          <a:bodyPr/>
          <a:lstStyle/>
          <a:p>
            <a:r>
              <a:rPr lang="en-US"/>
              <a:t>IO organization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91572F-40CB-4546-89D0-990BFB9C2AA4}" type="datetime1">
              <a:rPr lang="en-US" smtClean="0"/>
              <a:t>7/26/2023</a:t>
            </a:fld>
            <a:endParaRPr lang="en-US"/>
          </a:p>
        </p:txBody>
      </p:sp>
      <p:sp>
        <p:nvSpPr>
          <p:cNvPr id="5" name="Footer Placeholder 4"/>
          <p:cNvSpPr>
            <a:spLocks noGrp="1"/>
          </p:cNvSpPr>
          <p:nvPr>
            <p:ph type="ftr" sz="quarter" idx="11"/>
          </p:nvPr>
        </p:nvSpPr>
        <p:spPr/>
        <p:txBody>
          <a:bodyPr/>
          <a:lstStyle/>
          <a:p>
            <a:r>
              <a:rPr lang="en-US"/>
              <a:t>IO organization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A60879-4120-42F5-85B2-E21412363DC5}" type="datetime1">
              <a:rPr lang="en-US" smtClean="0"/>
              <a:t>7/26/2023</a:t>
            </a:fld>
            <a:endParaRPr lang="en-US"/>
          </a:p>
        </p:txBody>
      </p:sp>
      <p:sp>
        <p:nvSpPr>
          <p:cNvPr id="5" name="Footer Placeholder 4"/>
          <p:cNvSpPr>
            <a:spLocks noGrp="1"/>
          </p:cNvSpPr>
          <p:nvPr>
            <p:ph type="ftr" sz="quarter" idx="11"/>
          </p:nvPr>
        </p:nvSpPr>
        <p:spPr/>
        <p:txBody>
          <a:bodyPr/>
          <a:lstStyle/>
          <a:p>
            <a:r>
              <a:rPr lang="en-US"/>
              <a:t>IO organization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839068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722C3B9-5F91-43CB-A25F-E91D3AD4E5BC}" type="datetime1">
              <a:rPr lang="en-US" smtClean="0"/>
              <a:t>7/26/2023</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IO organization</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ques10.com/p/24258/what-is-difference-between-parallel-and-serial-int/"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youtube.com/watch?v=4SezIktwRhk"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cie-group.com/how-to-av/videos-and-blogs/hdmi-standards"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z="3100" b="1" dirty="0"/>
              <a:t>Chapter 8</a:t>
            </a:r>
            <a:br>
              <a:rPr lang="en-US" b="1" dirty="0"/>
            </a:br>
            <a:r>
              <a:rPr lang="en-US" b="1" dirty="0">
                <a:solidFill>
                  <a:srgbClr val="FF0000"/>
                </a:solidFill>
              </a:rPr>
              <a:t>IO Organization</a:t>
            </a:r>
          </a:p>
        </p:txBody>
      </p:sp>
      <p:sp>
        <p:nvSpPr>
          <p:cNvPr id="5" name="Subtitle 4"/>
          <p:cNvSpPr>
            <a:spLocks noGrp="1"/>
          </p:cNvSpPr>
          <p:nvPr>
            <p:ph type="subTitle" idx="1"/>
          </p:nvPr>
        </p:nvSpPr>
        <p:spPr/>
        <p:txBody>
          <a:bodyPr>
            <a:normAutofit/>
          </a:bodyPr>
          <a:lstStyle/>
          <a:p>
            <a:r>
              <a:rPr lang="en-US" sz="1800" dirty="0">
                <a:solidFill>
                  <a:schemeClr val="bg1">
                    <a:lumMod val="50000"/>
                  </a:schemeClr>
                </a:solidFill>
              </a:rPr>
              <a:t>MPCA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r>
              <a:rPr lang="en-US" sz="3200" b="1" dirty="0">
                <a:solidFill>
                  <a:srgbClr val="FF0000"/>
                </a:solidFill>
              </a:rPr>
              <a:t>Contents:</a:t>
            </a:r>
          </a:p>
        </p:txBody>
      </p:sp>
      <p:sp>
        <p:nvSpPr>
          <p:cNvPr id="3" name="Content Placeholder 2"/>
          <p:cNvSpPr>
            <a:spLocks noGrp="1"/>
          </p:cNvSpPr>
          <p:nvPr>
            <p:ph idx="1"/>
          </p:nvPr>
        </p:nvSpPr>
        <p:spPr>
          <a:xfrm>
            <a:off x="457200" y="742950"/>
            <a:ext cx="8229600" cy="3851673"/>
          </a:xfrm>
        </p:spPr>
        <p:txBody>
          <a:bodyPr>
            <a:normAutofit/>
          </a:bodyPr>
          <a:lstStyle/>
          <a:p>
            <a:pPr marL="457200" indent="-457200">
              <a:buFont typeface="+mj-lt"/>
              <a:buAutoNum type="arabicPeriod"/>
              <a:tabLst>
                <a:tab pos="463550" algn="l"/>
              </a:tabLst>
            </a:pPr>
            <a:r>
              <a:rPr lang="en-US" sz="2000" dirty="0"/>
              <a:t>Serial and Parallel Communication Interfaces</a:t>
            </a:r>
          </a:p>
          <a:p>
            <a:pPr marL="457200" indent="-457200">
              <a:buFont typeface="+mj-lt"/>
              <a:buAutoNum type="arabicPeriod"/>
              <a:tabLst>
                <a:tab pos="463550" algn="l"/>
              </a:tabLst>
            </a:pPr>
            <a:r>
              <a:rPr lang="en-US" sz="2000" dirty="0"/>
              <a:t>Programmed IO</a:t>
            </a:r>
          </a:p>
          <a:p>
            <a:pPr marL="457200" indent="-457200">
              <a:buFont typeface="+mj-lt"/>
              <a:buAutoNum type="arabicPeriod"/>
              <a:tabLst>
                <a:tab pos="463550" algn="l"/>
              </a:tabLst>
            </a:pPr>
            <a:r>
              <a:rPr lang="en-US" sz="2000" dirty="0"/>
              <a:t>Interrupts: types of interrupt, Interrupt Processing, Interrupt Hardware and priority</a:t>
            </a:r>
          </a:p>
          <a:p>
            <a:pPr marL="457200" indent="-457200">
              <a:buFont typeface="+mj-lt"/>
              <a:buAutoNum type="arabicPeriod"/>
              <a:tabLst>
                <a:tab pos="463550" algn="l"/>
              </a:tabLst>
            </a:pPr>
            <a:r>
              <a:rPr lang="en-US" sz="2000" dirty="0"/>
              <a:t>DMA, IO processors</a:t>
            </a:r>
          </a:p>
          <a:p>
            <a:pPr marL="457200" indent="-457200">
              <a:buFont typeface="+mj-lt"/>
              <a:buAutoNum type="arabicPeriod"/>
              <a:tabLst>
                <a:tab pos="463550" algn="l"/>
              </a:tabLst>
            </a:pPr>
            <a:r>
              <a:rPr lang="en-US" sz="2000" dirty="0"/>
              <a:t>UART</a:t>
            </a:r>
          </a:p>
          <a:p>
            <a:pPr marL="457200" indent="-457200">
              <a:buFont typeface="+mj-lt"/>
              <a:buAutoNum type="arabicPeriod"/>
              <a:tabLst>
                <a:tab pos="463550" algn="l"/>
              </a:tabLst>
            </a:pPr>
            <a:r>
              <a:rPr lang="en-US" sz="2000"/>
              <a:t>USB and </a:t>
            </a:r>
            <a:r>
              <a:rPr lang="en-US" sz="2000" dirty="0"/>
              <a:t>HDMI standards</a:t>
            </a:r>
          </a:p>
        </p:txBody>
      </p:sp>
      <p:sp>
        <p:nvSpPr>
          <p:cNvPr id="4" name="Date Placeholder 3"/>
          <p:cNvSpPr>
            <a:spLocks noGrp="1"/>
          </p:cNvSpPr>
          <p:nvPr>
            <p:ph type="dt" sz="half" idx="10"/>
          </p:nvPr>
        </p:nvSpPr>
        <p:spPr/>
        <p:txBody>
          <a:bodyPr/>
          <a:lstStyle/>
          <a:p>
            <a:fld id="{8566BA34-60D3-42A4-BC4F-DAB8B3FA6A17}" type="datetime1">
              <a:rPr lang="en-US" smtClean="0"/>
              <a:t>7/26/2023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
        <p:nvSpPr>
          <p:cNvPr id="6" name="Footer Placeholder 5"/>
          <p:cNvSpPr>
            <a:spLocks noGrp="1"/>
          </p:cNvSpPr>
          <p:nvPr>
            <p:ph type="ftr" sz="quarter" idx="11"/>
          </p:nvPr>
        </p:nvSpPr>
        <p:spPr/>
        <p:txBody>
          <a:bodyPr/>
          <a:lstStyle/>
          <a:p>
            <a:r>
              <a:rPr lang="en-US"/>
              <a:t>IO organization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2800" b="1" dirty="0">
                <a:solidFill>
                  <a:srgbClr val="FF0000"/>
                </a:solidFill>
              </a:rPr>
              <a:t>8.1 Serial and Parallel Communication Interfaces</a:t>
            </a:r>
          </a:p>
        </p:txBody>
      </p:sp>
      <p:sp>
        <p:nvSpPr>
          <p:cNvPr id="3" name="Content Placeholder 2"/>
          <p:cNvSpPr>
            <a:spLocks noGrp="1"/>
          </p:cNvSpPr>
          <p:nvPr>
            <p:ph idx="1"/>
          </p:nvPr>
        </p:nvSpPr>
        <p:spPr>
          <a:xfrm>
            <a:off x="457200" y="742950"/>
            <a:ext cx="8229600" cy="3851673"/>
          </a:xfrm>
        </p:spPr>
        <p:txBody>
          <a:bodyPr>
            <a:normAutofit/>
          </a:bodyPr>
          <a:lstStyle/>
          <a:p>
            <a:pPr>
              <a:tabLst>
                <a:tab pos="463550" algn="l"/>
              </a:tabLst>
            </a:pPr>
            <a:r>
              <a:rPr lang="en-US" sz="2400" dirty="0"/>
              <a:t>The serial interface acts as a communication interface between two digital systems that sends data as a series of voltage pulses over a wire. </a:t>
            </a:r>
          </a:p>
          <a:p>
            <a:pPr>
              <a:tabLst>
                <a:tab pos="463550" algn="l"/>
              </a:tabLst>
            </a:pPr>
            <a:r>
              <a:rPr lang="en-US" sz="2400" dirty="0"/>
              <a:t>Some devices that use the serial interface include the Universal Serial Bus (USB), Recommended Standard No. 232 (RS-232), 1-Wire and I2C.</a:t>
            </a:r>
          </a:p>
          <a:p>
            <a:pPr>
              <a:tabLst>
                <a:tab pos="463550" algn="l"/>
              </a:tabLst>
            </a:pPr>
            <a:r>
              <a:rPr lang="en-US" sz="2400" dirty="0"/>
              <a:t>In contrast, a parallel interface transmits multiple bits simultaneously using different wires.</a:t>
            </a:r>
          </a:p>
        </p:txBody>
      </p:sp>
      <p:sp>
        <p:nvSpPr>
          <p:cNvPr id="4" name="Date Placeholder 3"/>
          <p:cNvSpPr>
            <a:spLocks noGrp="1"/>
          </p:cNvSpPr>
          <p:nvPr>
            <p:ph type="dt" sz="half" idx="10"/>
          </p:nvPr>
        </p:nvSpPr>
        <p:spPr/>
        <p:txBody>
          <a:bodyPr/>
          <a:lstStyle/>
          <a:p>
            <a:fld id="{3CD47D6A-D9B7-4094-9C4C-5ECA11A842E9}" type="datetime1">
              <a:rPr lang="en-US" smtClean="0"/>
              <a:t>7/26/2023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a:t>
            </a:fld>
            <a:endParaRPr lang="en-US"/>
          </a:p>
        </p:txBody>
      </p:sp>
      <p:sp>
        <p:nvSpPr>
          <p:cNvPr id="6" name="Footer Placeholder 5"/>
          <p:cNvSpPr>
            <a:spLocks noGrp="1"/>
          </p:cNvSpPr>
          <p:nvPr>
            <p:ph type="ftr" sz="quarter" idx="11"/>
          </p:nvPr>
        </p:nvSpPr>
        <p:spPr/>
        <p:txBody>
          <a:bodyPr/>
          <a:lstStyle/>
          <a:p>
            <a:r>
              <a:rPr lang="en-US"/>
              <a:t>IO organization</a:t>
            </a:r>
          </a:p>
        </p:txBody>
      </p:sp>
    </p:spTree>
    <p:extLst>
      <p:ext uri="{BB962C8B-B14F-4D97-AF65-F5344CB8AC3E}">
        <p14:creationId xmlns:p14="http://schemas.microsoft.com/office/powerpoint/2010/main" val="723511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a) Parallel Communication</a:t>
            </a:r>
          </a:p>
        </p:txBody>
      </p:sp>
      <p:sp>
        <p:nvSpPr>
          <p:cNvPr id="3" name="Content Placeholder 2"/>
          <p:cNvSpPr>
            <a:spLocks noGrp="1"/>
          </p:cNvSpPr>
          <p:nvPr>
            <p:ph idx="1"/>
          </p:nvPr>
        </p:nvSpPr>
        <p:spPr>
          <a:xfrm>
            <a:off x="457200" y="742950"/>
            <a:ext cx="4648200" cy="3851673"/>
          </a:xfrm>
        </p:spPr>
        <p:txBody>
          <a:bodyPr>
            <a:normAutofit lnSpcReduction="10000"/>
          </a:bodyPr>
          <a:lstStyle/>
          <a:p>
            <a:pPr lvl="0"/>
            <a:r>
              <a:rPr lang="en-US" sz="1600" dirty="0"/>
              <a:t>Parallel communication takes place when the physical layer is capable of carrying multiple bits of data from one device to another.</a:t>
            </a:r>
          </a:p>
          <a:p>
            <a:pPr lvl="0"/>
            <a:r>
              <a:rPr lang="en-US" sz="1600" dirty="0"/>
              <a:t>The data bus is composed of multiple data wires, each wire carries one of the bits.</a:t>
            </a:r>
          </a:p>
          <a:p>
            <a:pPr lvl="0"/>
            <a:r>
              <a:rPr lang="en-US" sz="1600" dirty="0"/>
              <a:t>For parallel communication, binary data of 0s and 1s are organized into a group of n bits each, And for that n bits, we need n wires, By grouping, we can send n-bits at a time. It is suitable for short distances.</a:t>
            </a:r>
          </a:p>
          <a:p>
            <a:pPr lvl="0"/>
            <a:r>
              <a:rPr lang="en-US" sz="1600" dirty="0"/>
              <a:t>Used when connecting devices reside on the same IC, or the device are on the same circuit board.</a:t>
            </a:r>
          </a:p>
          <a:p>
            <a:pPr lvl="0"/>
            <a:r>
              <a:rPr lang="en-US" sz="1600" dirty="0"/>
              <a:t>Advantages: high speed and high data rate</a:t>
            </a:r>
          </a:p>
          <a:p>
            <a:pPr lvl="0"/>
            <a:r>
              <a:rPr lang="en-US" sz="1600" dirty="0"/>
              <a:t>Disadvantages: high cost due to more communication channel.</a:t>
            </a:r>
          </a:p>
          <a:p>
            <a:endParaRPr lang="en-US" sz="800" dirty="0"/>
          </a:p>
        </p:txBody>
      </p:sp>
      <p:sp>
        <p:nvSpPr>
          <p:cNvPr id="4" name="Date Placeholder 3"/>
          <p:cNvSpPr>
            <a:spLocks noGrp="1"/>
          </p:cNvSpPr>
          <p:nvPr>
            <p:ph type="dt" sz="half" idx="10"/>
          </p:nvPr>
        </p:nvSpPr>
        <p:spPr/>
        <p:txBody>
          <a:bodyPr/>
          <a:lstStyle/>
          <a:p>
            <a:fld id="{B91A9EFB-0A2F-4E70-92AF-AE63AB3F240A}"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pic>
        <p:nvPicPr>
          <p:cNvPr id="7" name="Picture 6" descr="C:\Users\User\AppData\Local\Microsoft\Windows\INetCache\Content.MSO\F1A9A6C6.tmp">
            <a:extLst>
              <a:ext uri="{FF2B5EF4-FFF2-40B4-BE49-F238E27FC236}">
                <a16:creationId xmlns:a16="http://schemas.microsoft.com/office/drawing/2014/main" id="{1CD62ADA-2B05-4D9D-86A4-CFB10CE4334D}"/>
              </a:ext>
            </a:extLst>
          </p:cNvPr>
          <p:cNvPicPr/>
          <p:nvPr/>
        </p:nvPicPr>
        <p:blipFill rotWithShape="1">
          <a:blip r:embed="rId2">
            <a:extLst>
              <a:ext uri="{28A0092B-C50C-407E-A947-70E740481C1C}">
                <a14:useLocalDpi xmlns:a14="http://schemas.microsoft.com/office/drawing/2010/main" val="0"/>
              </a:ext>
            </a:extLst>
          </a:blip>
          <a:srcRect b="29016"/>
          <a:stretch/>
        </p:blipFill>
        <p:spPr bwMode="auto">
          <a:xfrm>
            <a:off x="5334000" y="1508760"/>
            <a:ext cx="3505200" cy="152019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88609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b) Serial Communication</a:t>
            </a:r>
          </a:p>
        </p:txBody>
      </p:sp>
      <p:sp>
        <p:nvSpPr>
          <p:cNvPr id="3" name="Content Placeholder 2"/>
          <p:cNvSpPr>
            <a:spLocks noGrp="1"/>
          </p:cNvSpPr>
          <p:nvPr>
            <p:ph idx="1"/>
          </p:nvPr>
        </p:nvSpPr>
        <p:spPr>
          <a:xfrm>
            <a:off x="457200" y="742951"/>
            <a:ext cx="7848600" cy="2381248"/>
          </a:xfrm>
        </p:spPr>
        <p:txBody>
          <a:bodyPr>
            <a:normAutofit fontScale="55000" lnSpcReduction="20000"/>
          </a:bodyPr>
          <a:lstStyle/>
          <a:p>
            <a:pPr lvl="0"/>
            <a:r>
              <a:rPr lang="en-US" dirty="0"/>
              <a:t>Serial communication involves a physical layer that carries one bit of data at a time.</a:t>
            </a:r>
          </a:p>
          <a:p>
            <a:pPr lvl="0"/>
            <a:r>
              <a:rPr lang="en-US" dirty="0"/>
              <a:t>The data bus is composed of a single data wire, with control and possibly power wires, running from one device to another.</a:t>
            </a:r>
          </a:p>
          <a:p>
            <a:pPr lvl="0"/>
            <a:r>
              <a:rPr lang="en-US" dirty="0"/>
              <a:t>When data is to be sent, the sender first transmits a start bit. This start bit merely signals the receiver to wakeup and start receiving data.</a:t>
            </a:r>
          </a:p>
          <a:p>
            <a:pPr lvl="0"/>
            <a:r>
              <a:rPr lang="en-US" dirty="0"/>
              <a:t>The start bit is followed by N data bits, and a stop bit.</a:t>
            </a:r>
          </a:p>
          <a:p>
            <a:pPr lvl="0"/>
            <a:r>
              <a:rPr lang="en-US" dirty="0"/>
              <a:t>Advantage: low cost and suitable for long distance communication</a:t>
            </a:r>
          </a:p>
          <a:p>
            <a:pPr lvl="0"/>
            <a:r>
              <a:rPr lang="en-US" dirty="0"/>
              <a:t>Disadvantage: low speed and low data rate.</a:t>
            </a:r>
          </a:p>
          <a:p>
            <a:endParaRPr lang="en-US" sz="1600" dirty="0"/>
          </a:p>
        </p:txBody>
      </p:sp>
      <p:sp>
        <p:nvSpPr>
          <p:cNvPr id="4" name="Date Placeholder 3"/>
          <p:cNvSpPr>
            <a:spLocks noGrp="1"/>
          </p:cNvSpPr>
          <p:nvPr>
            <p:ph type="dt" sz="half" idx="10"/>
          </p:nvPr>
        </p:nvSpPr>
        <p:spPr/>
        <p:txBody>
          <a:bodyPr/>
          <a:lstStyle/>
          <a:p>
            <a:fld id="{B7B4B2CB-A2C9-448F-9D43-9A6367B4F7D3}"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5</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pic>
        <p:nvPicPr>
          <p:cNvPr id="7" name="Picture 6" descr="C:\Users\User\AppData\Local\Microsoft\Windows\INetCache\Content.MSO\C657A6C4.tmp">
            <a:extLst>
              <a:ext uri="{FF2B5EF4-FFF2-40B4-BE49-F238E27FC236}">
                <a16:creationId xmlns:a16="http://schemas.microsoft.com/office/drawing/2014/main" id="{09A9B0DB-CE43-4B0A-9122-BC291BC7611F}"/>
              </a:ext>
            </a:extLst>
          </p:cNvPr>
          <p:cNvPicPr/>
          <p:nvPr/>
        </p:nvPicPr>
        <p:blipFill rotWithShape="1">
          <a:blip r:embed="rId2">
            <a:extLst>
              <a:ext uri="{28A0092B-C50C-407E-A947-70E740481C1C}">
                <a14:useLocalDpi xmlns:a14="http://schemas.microsoft.com/office/drawing/2010/main" val="0"/>
              </a:ext>
            </a:extLst>
          </a:blip>
          <a:srcRect b="30337"/>
          <a:stretch/>
        </p:blipFill>
        <p:spPr bwMode="auto">
          <a:xfrm>
            <a:off x="2737485" y="3307556"/>
            <a:ext cx="3669030" cy="1276349"/>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696417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Serial Interface Vs Parallel Interface</a:t>
            </a:r>
          </a:p>
        </p:txBody>
      </p:sp>
      <p:sp>
        <p:nvSpPr>
          <p:cNvPr id="3" name="Content Placeholder 2"/>
          <p:cNvSpPr>
            <a:spLocks noGrp="1"/>
          </p:cNvSpPr>
          <p:nvPr>
            <p:ph idx="1"/>
          </p:nvPr>
        </p:nvSpPr>
        <p:spPr>
          <a:xfrm>
            <a:off x="457200" y="1657349"/>
            <a:ext cx="7848600" cy="1466849"/>
          </a:xfrm>
        </p:spPr>
        <p:txBody>
          <a:bodyPr>
            <a:normAutofit/>
          </a:bodyPr>
          <a:lstStyle/>
          <a:p>
            <a:r>
              <a:rPr lang="en-US" sz="1600" dirty="0">
                <a:hlinkClick r:id="rId2"/>
              </a:rPr>
              <a:t>https://www.ques10.com/p/24258/what-is-difference-between-parallel-and-serial-int/</a:t>
            </a:r>
            <a:endParaRPr lang="en-US" sz="1600" dirty="0"/>
          </a:p>
          <a:p>
            <a:endParaRPr lang="en-US" sz="1600" dirty="0"/>
          </a:p>
        </p:txBody>
      </p:sp>
      <p:sp>
        <p:nvSpPr>
          <p:cNvPr id="4" name="Date Placeholder 3"/>
          <p:cNvSpPr>
            <a:spLocks noGrp="1"/>
          </p:cNvSpPr>
          <p:nvPr>
            <p:ph type="dt" sz="half" idx="10"/>
          </p:nvPr>
        </p:nvSpPr>
        <p:spPr/>
        <p:txBody>
          <a:bodyPr/>
          <a:lstStyle/>
          <a:p>
            <a:fld id="{5DB0A82E-ED38-4952-8DEF-7AB3C4C58CB6}"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6</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sp>
        <p:nvSpPr>
          <p:cNvPr id="8" name="TextBox 7">
            <a:extLst>
              <a:ext uri="{FF2B5EF4-FFF2-40B4-BE49-F238E27FC236}">
                <a16:creationId xmlns:a16="http://schemas.microsoft.com/office/drawing/2014/main" id="{3500B984-FF30-4F4E-8152-BB841C1BF967}"/>
              </a:ext>
            </a:extLst>
          </p:cNvPr>
          <p:cNvSpPr txBox="1"/>
          <p:nvPr/>
        </p:nvSpPr>
        <p:spPr>
          <a:xfrm>
            <a:off x="609600" y="1123950"/>
            <a:ext cx="1256626" cy="369332"/>
          </a:xfrm>
          <a:prstGeom prst="rect">
            <a:avLst/>
          </a:prstGeom>
          <a:noFill/>
        </p:spPr>
        <p:txBody>
          <a:bodyPr wrap="none" rtlCol="0">
            <a:spAutoFit/>
          </a:bodyPr>
          <a:lstStyle/>
          <a:p>
            <a:r>
              <a:rPr lang="en-US" b="1" dirty="0"/>
              <a:t>Reference: </a:t>
            </a:r>
          </a:p>
        </p:txBody>
      </p:sp>
    </p:spTree>
    <p:extLst>
      <p:ext uri="{BB962C8B-B14F-4D97-AF65-F5344CB8AC3E}">
        <p14:creationId xmlns:p14="http://schemas.microsoft.com/office/powerpoint/2010/main" val="1944201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8.2 IO Techniques (Modes of IO transfer)</a:t>
            </a:r>
          </a:p>
        </p:txBody>
      </p:sp>
      <p:sp>
        <p:nvSpPr>
          <p:cNvPr id="3" name="Content Placeholder 2"/>
          <p:cNvSpPr>
            <a:spLocks noGrp="1"/>
          </p:cNvSpPr>
          <p:nvPr>
            <p:ph idx="1"/>
          </p:nvPr>
        </p:nvSpPr>
        <p:spPr>
          <a:xfrm>
            <a:off x="457200" y="742950"/>
            <a:ext cx="5715000" cy="3851673"/>
          </a:xfrm>
        </p:spPr>
        <p:txBody>
          <a:bodyPr>
            <a:normAutofit fontScale="85000" lnSpcReduction="10000"/>
          </a:bodyPr>
          <a:lstStyle/>
          <a:p>
            <a:r>
              <a:rPr lang="en-US" sz="2400" dirty="0"/>
              <a:t>I/O operation deals with the exchanges of data between the memory and the external devices either in the direction to the memory (READ) or in the direction from the memory (WRITE). </a:t>
            </a:r>
          </a:p>
          <a:p>
            <a:r>
              <a:rPr lang="en-US" sz="2400" dirty="0"/>
              <a:t>But the problem arises on how the processor will manage the flow of data to and from the external devices in term of transfer speed, processor idle time, complexity and etc. </a:t>
            </a:r>
          </a:p>
          <a:p>
            <a:r>
              <a:rPr lang="en-US" sz="2400" dirty="0"/>
              <a:t>So in general, there are three techniques for I/O operation, which are:</a:t>
            </a:r>
          </a:p>
          <a:p>
            <a:pPr lvl="1"/>
            <a:r>
              <a:rPr lang="en-US" sz="2000" dirty="0"/>
              <a:t>Programmed I/O</a:t>
            </a:r>
          </a:p>
          <a:p>
            <a:pPr lvl="1"/>
            <a:r>
              <a:rPr lang="en-US" sz="2000" dirty="0"/>
              <a:t>Interrupt Driven I/O</a:t>
            </a:r>
          </a:p>
          <a:p>
            <a:pPr lvl="1"/>
            <a:r>
              <a:rPr lang="en-US" sz="2000" dirty="0"/>
              <a:t>DMA</a:t>
            </a:r>
          </a:p>
        </p:txBody>
      </p:sp>
      <p:sp>
        <p:nvSpPr>
          <p:cNvPr id="4" name="Date Placeholder 3"/>
          <p:cNvSpPr>
            <a:spLocks noGrp="1"/>
          </p:cNvSpPr>
          <p:nvPr>
            <p:ph type="dt" sz="half" idx="10"/>
          </p:nvPr>
        </p:nvSpPr>
        <p:spPr>
          <a:xfrm>
            <a:off x="457200" y="4767263"/>
            <a:ext cx="2133600" cy="273844"/>
          </a:xfrm>
        </p:spPr>
        <p:txBody>
          <a:bodyPr/>
          <a:lstStyle/>
          <a:p>
            <a:fld id="{DACB0E72-455B-4AEE-AC5A-DC34B54D4C16}"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7</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spTree>
    <p:extLst>
      <p:ext uri="{BB962C8B-B14F-4D97-AF65-F5344CB8AC3E}">
        <p14:creationId xmlns:p14="http://schemas.microsoft.com/office/powerpoint/2010/main" val="3689754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I) Programmed I/O</a:t>
            </a:r>
          </a:p>
        </p:txBody>
      </p:sp>
      <p:sp>
        <p:nvSpPr>
          <p:cNvPr id="3" name="Content Placeholder 2"/>
          <p:cNvSpPr>
            <a:spLocks noGrp="1"/>
          </p:cNvSpPr>
          <p:nvPr>
            <p:ph idx="1"/>
          </p:nvPr>
        </p:nvSpPr>
        <p:spPr>
          <a:xfrm>
            <a:off x="425824" y="825552"/>
            <a:ext cx="8229600" cy="3620395"/>
          </a:xfrm>
        </p:spPr>
        <p:txBody>
          <a:bodyPr>
            <a:normAutofit fontScale="85000" lnSpcReduction="20000"/>
          </a:bodyPr>
          <a:lstStyle/>
          <a:p>
            <a:pPr fontAlgn="base"/>
            <a:r>
              <a:rPr lang="en-US" sz="2400" dirty="0"/>
              <a:t>In the programmed I/O method, the I/O device doesn’t have direct memory access. </a:t>
            </a:r>
          </a:p>
          <a:p>
            <a:pPr fontAlgn="base"/>
            <a:r>
              <a:rPr lang="en-US" sz="2400" dirty="0"/>
              <a:t>The data transfer from an I/O device to memory requires the execution of a program or several instructions by CPU So that this method says Programmed I/O.</a:t>
            </a:r>
          </a:p>
          <a:p>
            <a:pPr fontAlgn="base"/>
            <a:r>
              <a:rPr lang="en-US" sz="2400" dirty="0"/>
              <a:t>In this method, the CPU stays in a program loop until the I/O unit indicates that is ready for data transfer. </a:t>
            </a:r>
          </a:p>
          <a:p>
            <a:pPr fontAlgn="base"/>
            <a:r>
              <a:rPr lang="en-US" sz="2400" dirty="0"/>
              <a:t>It is a time-consuming process for the CPU. </a:t>
            </a:r>
          </a:p>
          <a:p>
            <a:pPr fontAlgn="base"/>
            <a:r>
              <a:rPr lang="en-US" sz="2400" dirty="0"/>
              <a:t>The programmed I/O method is particularly useful in small low-speed computers. </a:t>
            </a:r>
          </a:p>
          <a:p>
            <a:pPr fontAlgn="base"/>
            <a:r>
              <a:rPr lang="en-US" sz="2400" dirty="0"/>
              <a:t>The CPU sends the ‘</a:t>
            </a:r>
            <a:r>
              <a:rPr lang="en-US" sz="2400" b="1" dirty="0"/>
              <a:t>Read</a:t>
            </a:r>
            <a:r>
              <a:rPr lang="en-US" sz="2400" dirty="0"/>
              <a:t>‘ command to the I/O device and wait in the program loop until it receives a response from the I/O device.</a:t>
            </a:r>
          </a:p>
          <a:p>
            <a:endParaRPr lang="en-US" sz="1400" dirty="0"/>
          </a:p>
        </p:txBody>
      </p:sp>
      <p:sp>
        <p:nvSpPr>
          <p:cNvPr id="4" name="Date Placeholder 3"/>
          <p:cNvSpPr>
            <a:spLocks noGrp="1"/>
          </p:cNvSpPr>
          <p:nvPr>
            <p:ph type="dt" sz="half" idx="10"/>
          </p:nvPr>
        </p:nvSpPr>
        <p:spPr/>
        <p:txBody>
          <a:bodyPr/>
          <a:lstStyle/>
          <a:p>
            <a:fld id="{173E94C6-E07F-4A74-A734-A6D6ACCFBF56}"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endParaRPr lang="en-US" dirty="0">
              <a:solidFill>
                <a:srgbClr val="00B050"/>
              </a:solidFill>
            </a:endParaRPr>
          </a:p>
          <a:p>
            <a:endParaRPr lang="en-US" dirty="0">
              <a:solidFill>
                <a:srgbClr val="00B050"/>
              </a:solidFill>
            </a:endParaRPr>
          </a:p>
          <a:p>
            <a:fld id="{B6F15528-21DE-4FAA-801E-634DDDAF4B2B}" type="slidenum">
              <a:rPr lang="en-US" smtClean="0">
                <a:solidFill>
                  <a:srgbClr val="00B050"/>
                </a:solidFill>
              </a:rPr>
              <a:pPr/>
              <a:t>8</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sp>
        <p:nvSpPr>
          <p:cNvPr id="7" name="Rectangle 6">
            <a:extLst>
              <a:ext uri="{FF2B5EF4-FFF2-40B4-BE49-F238E27FC236}">
                <a16:creationId xmlns:a16="http://schemas.microsoft.com/office/drawing/2014/main" id="{D4902500-EF38-4FA0-9510-760B8B7BA3CB}"/>
              </a:ext>
            </a:extLst>
          </p:cNvPr>
          <p:cNvSpPr/>
          <p:nvPr/>
        </p:nvSpPr>
        <p:spPr>
          <a:xfrm>
            <a:off x="2819400" y="4476750"/>
            <a:ext cx="5898776" cy="533554"/>
          </a:xfrm>
          <a:prstGeom prst="rect">
            <a:avLst/>
          </a:prstGeom>
        </p:spPr>
        <p:txBody>
          <a:bodyPr wrap="square">
            <a:spAutoFit/>
          </a:bodyPr>
          <a:lstStyle/>
          <a:p>
            <a:pPr algn="r"/>
            <a:r>
              <a:rPr lang="en-US" sz="1400" b="1" dirty="0"/>
              <a:t>For More Understanding: </a:t>
            </a:r>
            <a:r>
              <a:rPr lang="en-US" sz="1400" dirty="0">
                <a:hlinkClick r:id="rId2"/>
              </a:rPr>
              <a:t>https://www.youtube.com/watch?v=4SezIktwRhk</a:t>
            </a:r>
            <a:endParaRPr lang="en-US" sz="1400" dirty="0"/>
          </a:p>
          <a:p>
            <a:endParaRPr lang="en-US" sz="1400" dirty="0"/>
          </a:p>
        </p:txBody>
      </p:sp>
    </p:spTree>
    <p:extLst>
      <p:ext uri="{BB962C8B-B14F-4D97-AF65-F5344CB8AC3E}">
        <p14:creationId xmlns:p14="http://schemas.microsoft.com/office/powerpoint/2010/main" val="2612363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685800" y="2317310"/>
            <a:ext cx="8001000" cy="2277314"/>
          </a:xfrm>
        </p:spPr>
        <p:txBody>
          <a:bodyPr>
            <a:normAutofit fontScale="85000" lnSpcReduction="20000"/>
          </a:bodyPr>
          <a:lstStyle/>
          <a:p>
            <a:r>
              <a:rPr lang="en-US" sz="2000" dirty="0"/>
              <a:t>The device transfers </a:t>
            </a:r>
            <a:r>
              <a:rPr lang="en-US" sz="2000" b="1" dirty="0"/>
              <a:t>bytes of data </a:t>
            </a:r>
            <a:r>
              <a:rPr lang="en-US" sz="2000" dirty="0"/>
              <a:t>one at a time as they are available.</a:t>
            </a:r>
          </a:p>
          <a:p>
            <a:r>
              <a:rPr lang="en-US" sz="2000" dirty="0"/>
              <a:t>When a byte of data is available , the device places it in the </a:t>
            </a:r>
            <a:r>
              <a:rPr lang="en-US" sz="2000" b="1" dirty="0"/>
              <a:t>I/O bus and enables its data valid line.</a:t>
            </a:r>
          </a:p>
          <a:p>
            <a:r>
              <a:rPr lang="en-US" sz="2000" dirty="0"/>
              <a:t>The </a:t>
            </a:r>
            <a:r>
              <a:rPr lang="en-US" sz="2000" b="1" dirty="0"/>
              <a:t>interface accepts </a:t>
            </a:r>
            <a:r>
              <a:rPr lang="en-US" sz="2000" dirty="0"/>
              <a:t>the byte into its </a:t>
            </a:r>
            <a:r>
              <a:rPr lang="en-US" sz="2000" b="1" dirty="0"/>
              <a:t>data register</a:t>
            </a:r>
            <a:r>
              <a:rPr lang="en-US" sz="2000" dirty="0"/>
              <a:t> and enables </a:t>
            </a:r>
            <a:r>
              <a:rPr lang="en-US" sz="2000" b="1" dirty="0"/>
              <a:t>the data accepted line.</a:t>
            </a:r>
          </a:p>
          <a:p>
            <a:r>
              <a:rPr lang="en-US" sz="2000" dirty="0"/>
              <a:t>The interface sets a bit in the </a:t>
            </a:r>
            <a:r>
              <a:rPr lang="en-US" sz="2000" b="1" dirty="0"/>
              <a:t>status register </a:t>
            </a:r>
            <a:r>
              <a:rPr lang="en-US" sz="2000" dirty="0"/>
              <a:t>that we will refer to as an </a:t>
            </a:r>
            <a:r>
              <a:rPr lang="en-US" sz="2000" b="1" dirty="0"/>
              <a:t>F or “ flag”</a:t>
            </a:r>
            <a:r>
              <a:rPr lang="en-US" sz="2000" dirty="0"/>
              <a:t> bit.</a:t>
            </a:r>
          </a:p>
          <a:p>
            <a:r>
              <a:rPr lang="en-US" sz="2000" dirty="0"/>
              <a:t>The device can now disable the </a:t>
            </a:r>
            <a:r>
              <a:rPr lang="en-US" sz="2000" b="1" dirty="0"/>
              <a:t>data valid line</a:t>
            </a:r>
            <a:r>
              <a:rPr lang="en-US" sz="2000" dirty="0"/>
              <a:t>, but it will not transfer another byte until the </a:t>
            </a:r>
            <a:r>
              <a:rPr lang="en-US" sz="2000" b="1" dirty="0"/>
              <a:t>data accepted line </a:t>
            </a:r>
            <a:r>
              <a:rPr lang="en-US" sz="2000" dirty="0"/>
              <a:t>is disabled by the interface.</a:t>
            </a:r>
          </a:p>
        </p:txBody>
      </p:sp>
      <p:sp>
        <p:nvSpPr>
          <p:cNvPr id="4" name="Date Placeholder 3"/>
          <p:cNvSpPr>
            <a:spLocks noGrp="1"/>
          </p:cNvSpPr>
          <p:nvPr>
            <p:ph type="dt" sz="half" idx="10"/>
          </p:nvPr>
        </p:nvSpPr>
        <p:spPr/>
        <p:txBody>
          <a:bodyPr/>
          <a:lstStyle/>
          <a:p>
            <a:fld id="{6EF02B50-1299-4FF3-BC11-4E0593D78561}"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9</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pic>
        <p:nvPicPr>
          <p:cNvPr id="7" name="Picture 6">
            <a:extLst>
              <a:ext uri="{FF2B5EF4-FFF2-40B4-BE49-F238E27FC236}">
                <a16:creationId xmlns:a16="http://schemas.microsoft.com/office/drawing/2014/main" id="{50D3C66E-8912-4B37-AF69-3531DCD6C2DC}"/>
              </a:ext>
            </a:extLst>
          </p:cNvPr>
          <p:cNvPicPr/>
          <p:nvPr/>
        </p:nvPicPr>
        <p:blipFill>
          <a:blip r:embed="rId2">
            <a:extLst>
              <a:ext uri="{28A0092B-C50C-407E-A947-70E740481C1C}">
                <a14:useLocalDpi xmlns:a14="http://schemas.microsoft.com/office/drawing/2010/main" val="0"/>
              </a:ext>
            </a:extLst>
          </a:blip>
          <a:stretch>
            <a:fillRect/>
          </a:stretch>
        </p:blipFill>
        <p:spPr>
          <a:xfrm>
            <a:off x="1524000" y="328194"/>
            <a:ext cx="5943600" cy="1866900"/>
          </a:xfrm>
          <a:prstGeom prst="rect">
            <a:avLst/>
          </a:prstGeom>
        </p:spPr>
      </p:pic>
    </p:spTree>
    <p:extLst>
      <p:ext uri="{BB962C8B-B14F-4D97-AF65-F5344CB8AC3E}">
        <p14:creationId xmlns:p14="http://schemas.microsoft.com/office/powerpoint/2010/main" val="35967894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ii) Interrupt-initiated I/O</a:t>
            </a:r>
          </a:p>
        </p:txBody>
      </p:sp>
      <p:sp>
        <p:nvSpPr>
          <p:cNvPr id="3" name="Content Placeholder 2"/>
          <p:cNvSpPr>
            <a:spLocks noGrp="1"/>
          </p:cNvSpPr>
          <p:nvPr>
            <p:ph idx="1"/>
          </p:nvPr>
        </p:nvSpPr>
        <p:spPr>
          <a:xfrm>
            <a:off x="457200" y="742950"/>
            <a:ext cx="8229600" cy="3851673"/>
          </a:xfrm>
        </p:spPr>
        <p:txBody>
          <a:bodyPr>
            <a:normAutofit fontScale="92500" lnSpcReduction="20000"/>
          </a:bodyPr>
          <a:lstStyle/>
          <a:p>
            <a:pPr fontAlgn="base"/>
            <a:r>
              <a:rPr lang="en-US" sz="2000" dirty="0"/>
              <a:t>The problem in programmed I/O is that the CPU has to wait for the ready signal from the I/O device. </a:t>
            </a:r>
          </a:p>
          <a:p>
            <a:pPr fontAlgn="base"/>
            <a:r>
              <a:rPr lang="en-US" sz="2000" dirty="0"/>
              <a:t>The alternative method for this problem is </a:t>
            </a:r>
            <a:r>
              <a:rPr lang="en-US" sz="2000" b="1" dirty="0">
                <a:solidFill>
                  <a:srgbClr val="FF0000"/>
                </a:solidFill>
              </a:rPr>
              <a:t> </a:t>
            </a:r>
            <a:r>
              <a:rPr lang="en-US" sz="2000" b="1" dirty="0"/>
              <a:t>Interrupt-initiated I/O</a:t>
            </a:r>
            <a:r>
              <a:rPr lang="en-US" sz="2000" b="1" dirty="0">
                <a:solidFill>
                  <a:srgbClr val="FF0000"/>
                </a:solidFill>
              </a:rPr>
              <a:t> </a:t>
            </a:r>
            <a:r>
              <a:rPr lang="en-US" sz="2000" dirty="0"/>
              <a:t> or </a:t>
            </a:r>
            <a:r>
              <a:rPr lang="en-US" sz="2000" b="1" dirty="0"/>
              <a:t>Interrupt driven I/O</a:t>
            </a:r>
            <a:r>
              <a:rPr lang="en-US" sz="2000" dirty="0"/>
              <a:t>. </a:t>
            </a:r>
          </a:p>
          <a:p>
            <a:pPr fontAlgn="base"/>
            <a:r>
              <a:rPr lang="en-US" sz="2000" dirty="0"/>
              <a:t>In this method, the CPU issues a read command to the I/O device about the status, and then go on to do some useful work. </a:t>
            </a:r>
          </a:p>
          <a:p>
            <a:pPr fontAlgn="base"/>
            <a:r>
              <a:rPr lang="en-US" sz="2000" dirty="0"/>
              <a:t>When the I/O device is ready, the I/O device sends an interrupt signal to the processor.</a:t>
            </a:r>
          </a:p>
          <a:p>
            <a:pPr fontAlgn="base"/>
            <a:r>
              <a:rPr lang="en-US" sz="2000" dirty="0"/>
              <a:t>When the CPU receives the interrupt signal from the I/O device, it checks the status. </a:t>
            </a:r>
          </a:p>
          <a:p>
            <a:pPr fontAlgn="base"/>
            <a:r>
              <a:rPr lang="en-US" sz="2000" dirty="0"/>
              <a:t>If the status is ready, then the CPU read the word from the I/O device and write the word into the main memory. </a:t>
            </a:r>
          </a:p>
          <a:p>
            <a:pPr fontAlgn="base"/>
            <a:r>
              <a:rPr lang="en-US" sz="2000" dirty="0"/>
              <a:t>If the operation was done successfully, then the processor goes on to the next instruction.</a:t>
            </a:r>
          </a:p>
          <a:p>
            <a:endParaRPr lang="en-US" sz="1200" dirty="0"/>
          </a:p>
        </p:txBody>
      </p:sp>
      <p:sp>
        <p:nvSpPr>
          <p:cNvPr id="4" name="Date Placeholder 3"/>
          <p:cNvSpPr>
            <a:spLocks noGrp="1"/>
          </p:cNvSpPr>
          <p:nvPr>
            <p:ph type="dt" sz="half" idx="10"/>
          </p:nvPr>
        </p:nvSpPr>
        <p:spPr/>
        <p:txBody>
          <a:bodyPr/>
          <a:lstStyle/>
          <a:p>
            <a:fld id="{26AF4B89-8C6F-46CB-A51F-C317A9AEE7B9}"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10</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spTree>
    <p:extLst>
      <p:ext uri="{BB962C8B-B14F-4D97-AF65-F5344CB8AC3E}">
        <p14:creationId xmlns:p14="http://schemas.microsoft.com/office/powerpoint/2010/main" val="3531932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iii) Direct Memory Access</a:t>
            </a:r>
          </a:p>
        </p:txBody>
      </p:sp>
      <p:sp>
        <p:nvSpPr>
          <p:cNvPr id="3" name="Content Placeholder 2"/>
          <p:cNvSpPr>
            <a:spLocks noGrp="1"/>
          </p:cNvSpPr>
          <p:nvPr>
            <p:ph idx="1"/>
          </p:nvPr>
        </p:nvSpPr>
        <p:spPr>
          <a:xfrm>
            <a:off x="457200" y="742950"/>
            <a:ext cx="8229600" cy="3851673"/>
          </a:xfrm>
        </p:spPr>
        <p:txBody>
          <a:bodyPr>
            <a:normAutofit/>
          </a:bodyPr>
          <a:lstStyle/>
          <a:p>
            <a:r>
              <a:rPr lang="en-US" sz="2400" b="1" dirty="0"/>
              <a:t>Direct Memory Access</a:t>
            </a:r>
            <a:r>
              <a:rPr lang="en-US" sz="2400" dirty="0"/>
              <a:t> (DMA) transfers the block of data between the </a:t>
            </a:r>
            <a:r>
              <a:rPr lang="en-US" sz="2400" i="1" dirty="0"/>
              <a:t>memory</a:t>
            </a:r>
            <a:r>
              <a:rPr lang="en-US" sz="2400" dirty="0"/>
              <a:t> and </a:t>
            </a:r>
            <a:r>
              <a:rPr lang="en-US" sz="2400" i="1" dirty="0"/>
              <a:t>peripheral devices</a:t>
            </a:r>
            <a:r>
              <a:rPr lang="en-US" sz="2400" dirty="0"/>
              <a:t> of the system,</a:t>
            </a:r>
            <a:r>
              <a:rPr lang="en-US" sz="2400" b="1" dirty="0"/>
              <a:t> without the participation </a:t>
            </a:r>
            <a:r>
              <a:rPr lang="en-US" sz="2400" dirty="0"/>
              <a:t>of the </a:t>
            </a:r>
            <a:r>
              <a:rPr lang="en-US" sz="2400" b="1" dirty="0"/>
              <a:t>processor</a:t>
            </a:r>
            <a:r>
              <a:rPr lang="en-US" sz="2400" dirty="0"/>
              <a:t>. </a:t>
            </a:r>
          </a:p>
          <a:p>
            <a:r>
              <a:rPr lang="en-US" sz="2400" dirty="0"/>
              <a:t>The unit that controls the activity of accessing memory directly is called a </a:t>
            </a:r>
            <a:r>
              <a:rPr lang="en-US" sz="2400" b="1" dirty="0"/>
              <a:t>DMA controller</a:t>
            </a:r>
            <a:r>
              <a:rPr lang="en-US" sz="2400" dirty="0"/>
              <a:t>.</a:t>
            </a:r>
          </a:p>
          <a:p>
            <a:r>
              <a:rPr lang="en-US" sz="2400" dirty="0"/>
              <a:t>The processor </a:t>
            </a:r>
            <a:r>
              <a:rPr lang="en-US" sz="2400" b="1" dirty="0"/>
              <a:t>relinquishes the system bus</a:t>
            </a:r>
            <a:r>
              <a:rPr lang="en-US" sz="2400" dirty="0"/>
              <a:t> for a few clock cycles. So, the DMA controller can accomplish the task of data transfer via the system bus. </a:t>
            </a:r>
          </a:p>
        </p:txBody>
      </p:sp>
      <p:sp>
        <p:nvSpPr>
          <p:cNvPr id="4" name="Date Placeholder 3"/>
          <p:cNvSpPr>
            <a:spLocks noGrp="1"/>
          </p:cNvSpPr>
          <p:nvPr>
            <p:ph type="dt" sz="half" idx="10"/>
          </p:nvPr>
        </p:nvSpPr>
        <p:spPr/>
        <p:txBody>
          <a:bodyPr/>
          <a:lstStyle/>
          <a:p>
            <a:fld id="{F5E4DC8F-559C-4A7B-AFBC-71F33E81BF60}"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11</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spTree>
    <p:extLst>
      <p:ext uri="{BB962C8B-B14F-4D97-AF65-F5344CB8AC3E}">
        <p14:creationId xmlns:p14="http://schemas.microsoft.com/office/powerpoint/2010/main" val="376202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61950"/>
            <a:ext cx="4191000" cy="4232673"/>
          </a:xfrm>
        </p:spPr>
        <p:txBody>
          <a:bodyPr>
            <a:normAutofit lnSpcReduction="10000"/>
          </a:bodyPr>
          <a:lstStyle/>
          <a:p>
            <a:r>
              <a:rPr lang="en-US" sz="1400" dirty="0"/>
              <a:t>Whenever an I/O device wants to transfer the data to or from memory, it sends the DMA request (</a:t>
            </a:r>
            <a:r>
              <a:rPr lang="en-US" sz="1400" b="1" dirty="0"/>
              <a:t>DRQ</a:t>
            </a:r>
            <a:r>
              <a:rPr lang="en-US" sz="1400" dirty="0"/>
              <a:t>) to the DMA controller. DMA controller accepts this DRQ and asks the CPU to hold for a few clock cycles by sending it the Hold request (</a:t>
            </a:r>
            <a:r>
              <a:rPr lang="en-US" sz="1400" b="1" dirty="0"/>
              <a:t>HLD</a:t>
            </a:r>
            <a:r>
              <a:rPr lang="en-US" sz="1400" dirty="0"/>
              <a:t>).</a:t>
            </a:r>
          </a:p>
          <a:p>
            <a:r>
              <a:rPr lang="en-US" sz="1400" dirty="0"/>
              <a:t>CPU receives the Hold request (HLD) from DMA controller and relinquishes the bus and sends the Hold acknowledgement (</a:t>
            </a:r>
            <a:r>
              <a:rPr lang="en-US" sz="1400" b="1" dirty="0"/>
              <a:t>HLDA</a:t>
            </a:r>
            <a:r>
              <a:rPr lang="en-US" sz="1400" dirty="0"/>
              <a:t>) to DMA controller.</a:t>
            </a:r>
          </a:p>
          <a:p>
            <a:r>
              <a:rPr lang="en-US" sz="1400" dirty="0"/>
              <a:t>After receiving the Hold acknowledgement (HLDA), DMA controller acknowledges I/O device </a:t>
            </a:r>
            <a:r>
              <a:rPr lang="en-US" sz="1400" b="1" dirty="0"/>
              <a:t>(DACK)</a:t>
            </a:r>
            <a:r>
              <a:rPr lang="en-US" sz="1400" dirty="0"/>
              <a:t> that the data transfer can be performed and DMA controller takes the charge of the system bus and transfers the data to or from memory.</a:t>
            </a:r>
          </a:p>
          <a:p>
            <a:r>
              <a:rPr lang="en-US" sz="1400" dirty="0"/>
              <a:t>When the data transfer is accomplished, the DMA raise an </a:t>
            </a:r>
            <a:r>
              <a:rPr lang="en-US" sz="1400" b="1" dirty="0"/>
              <a:t>interrupt</a:t>
            </a:r>
            <a:r>
              <a:rPr lang="en-US" sz="1400" dirty="0"/>
              <a:t> to let know the processor that the task of data transfer is finished and the processor can take control over the bus again and start processing where it has left.</a:t>
            </a:r>
          </a:p>
          <a:p>
            <a:endParaRPr lang="en-US" sz="900" dirty="0"/>
          </a:p>
        </p:txBody>
      </p:sp>
      <p:sp>
        <p:nvSpPr>
          <p:cNvPr id="4" name="Date Placeholder 3"/>
          <p:cNvSpPr>
            <a:spLocks noGrp="1"/>
          </p:cNvSpPr>
          <p:nvPr>
            <p:ph type="dt" sz="half" idx="10"/>
          </p:nvPr>
        </p:nvSpPr>
        <p:spPr/>
        <p:txBody>
          <a:bodyPr/>
          <a:lstStyle/>
          <a:p>
            <a:fld id="{596299A8-3DF4-4FD2-AFF5-6D3267C0E907}"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12</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pic>
        <p:nvPicPr>
          <p:cNvPr id="7170" name="Picture 2" descr="Direct Memory Access controller data transfer">
            <a:extLst>
              <a:ext uri="{FF2B5EF4-FFF2-40B4-BE49-F238E27FC236}">
                <a16:creationId xmlns:a16="http://schemas.microsoft.com/office/drawing/2014/main" id="{CC1D7E10-DFAE-4ED6-8DB5-0206F2CFA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9214" y="1116806"/>
            <a:ext cx="4013637" cy="2909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92625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8.3 Interrupts and its types:</a:t>
            </a:r>
          </a:p>
        </p:txBody>
      </p:sp>
      <p:sp>
        <p:nvSpPr>
          <p:cNvPr id="3" name="Content Placeholder 2"/>
          <p:cNvSpPr>
            <a:spLocks noGrp="1"/>
          </p:cNvSpPr>
          <p:nvPr>
            <p:ph idx="1"/>
          </p:nvPr>
        </p:nvSpPr>
        <p:spPr>
          <a:xfrm>
            <a:off x="457200" y="742950"/>
            <a:ext cx="8229600" cy="3851673"/>
          </a:xfrm>
        </p:spPr>
        <p:txBody>
          <a:bodyPr>
            <a:normAutofit/>
          </a:bodyPr>
          <a:lstStyle/>
          <a:p>
            <a:r>
              <a:rPr lang="en-US" sz="2800" dirty="0"/>
              <a:t>Interrupt is an external event or signal generated by I/O device to process to request for service.</a:t>
            </a:r>
          </a:p>
          <a:p>
            <a:r>
              <a:rPr lang="en-US" sz="2800" dirty="0"/>
              <a:t>Types of Interrupts: -</a:t>
            </a:r>
          </a:p>
          <a:p>
            <a:pPr lvl="1"/>
            <a:r>
              <a:rPr lang="en-US" sz="2400" dirty="0"/>
              <a:t>External Interrupts</a:t>
            </a:r>
          </a:p>
          <a:p>
            <a:pPr lvl="1"/>
            <a:r>
              <a:rPr lang="en-US" sz="2400" dirty="0"/>
              <a:t>Internal Interrupts</a:t>
            </a:r>
          </a:p>
          <a:p>
            <a:pPr lvl="1"/>
            <a:r>
              <a:rPr lang="en-US" sz="2400" dirty="0"/>
              <a:t>Software Interrupts</a:t>
            </a:r>
            <a:endParaRPr lang="en-US" sz="1400" dirty="0"/>
          </a:p>
        </p:txBody>
      </p:sp>
      <p:sp>
        <p:nvSpPr>
          <p:cNvPr id="4" name="Date Placeholder 3"/>
          <p:cNvSpPr>
            <a:spLocks noGrp="1"/>
          </p:cNvSpPr>
          <p:nvPr>
            <p:ph type="dt" sz="half" idx="10"/>
          </p:nvPr>
        </p:nvSpPr>
        <p:spPr/>
        <p:txBody>
          <a:bodyPr/>
          <a:lstStyle/>
          <a:p>
            <a:fld id="{51253551-0FE6-4B7F-B4EF-7B534EAE0AD5}"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13</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spTree>
    <p:extLst>
      <p:ext uri="{BB962C8B-B14F-4D97-AF65-F5344CB8AC3E}">
        <p14:creationId xmlns:p14="http://schemas.microsoft.com/office/powerpoint/2010/main" val="420119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err="1">
                <a:solidFill>
                  <a:srgbClr val="00B050"/>
                </a:solidFill>
              </a:rPr>
              <a:t>i</a:t>
            </a:r>
            <a:r>
              <a:rPr lang="en-US" sz="3200" b="1" dirty="0">
                <a:solidFill>
                  <a:srgbClr val="00B050"/>
                </a:solidFill>
              </a:rPr>
              <a:t>) External interrupt</a:t>
            </a:r>
          </a:p>
        </p:txBody>
      </p:sp>
      <p:sp>
        <p:nvSpPr>
          <p:cNvPr id="3" name="Content Placeholder 2"/>
          <p:cNvSpPr>
            <a:spLocks noGrp="1"/>
          </p:cNvSpPr>
          <p:nvPr>
            <p:ph idx="1"/>
          </p:nvPr>
        </p:nvSpPr>
        <p:spPr>
          <a:xfrm>
            <a:off x="457200" y="742950"/>
            <a:ext cx="8229600" cy="3851673"/>
          </a:xfrm>
        </p:spPr>
        <p:txBody>
          <a:bodyPr>
            <a:normAutofit fontScale="85000" lnSpcReduction="10000"/>
          </a:bodyPr>
          <a:lstStyle/>
          <a:p>
            <a:r>
              <a:rPr lang="en-US" dirty="0"/>
              <a:t>External interruptions are generated by peripheral devices, such as keyboards, printers, communication cards, etc.</a:t>
            </a:r>
          </a:p>
          <a:p>
            <a:r>
              <a:rPr lang="en-US" dirty="0"/>
              <a:t>The External Interrupt occurs when any Input and Output Device request for any Operation and the CPU will Execute that instructions first.</a:t>
            </a:r>
          </a:p>
          <a:p>
            <a:r>
              <a:rPr lang="en-US" dirty="0"/>
              <a:t>These interruptions are not sent directly to the CPU but they are sent to an integrated circuit whose function is to exclusively handle this type of interruptions.</a:t>
            </a:r>
          </a:p>
          <a:p>
            <a:endParaRPr lang="en-US" sz="2000" dirty="0"/>
          </a:p>
        </p:txBody>
      </p:sp>
      <p:sp>
        <p:nvSpPr>
          <p:cNvPr id="4" name="Date Placeholder 3"/>
          <p:cNvSpPr>
            <a:spLocks noGrp="1"/>
          </p:cNvSpPr>
          <p:nvPr>
            <p:ph type="dt" sz="half" idx="10"/>
          </p:nvPr>
        </p:nvSpPr>
        <p:spPr/>
        <p:txBody>
          <a:bodyPr/>
          <a:lstStyle/>
          <a:p>
            <a:fld id="{C2028524-1D8C-4FEF-8AFF-C8FAA3D4D6A7}"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14</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spTree>
    <p:extLst>
      <p:ext uri="{BB962C8B-B14F-4D97-AF65-F5344CB8AC3E}">
        <p14:creationId xmlns:p14="http://schemas.microsoft.com/office/powerpoint/2010/main" val="3704817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ii) Internal Interrupt</a:t>
            </a:r>
          </a:p>
        </p:txBody>
      </p:sp>
      <p:sp>
        <p:nvSpPr>
          <p:cNvPr id="3" name="Content Placeholder 2"/>
          <p:cNvSpPr>
            <a:spLocks noGrp="1"/>
          </p:cNvSpPr>
          <p:nvPr>
            <p:ph idx="1"/>
          </p:nvPr>
        </p:nvSpPr>
        <p:spPr>
          <a:xfrm>
            <a:off x="457200" y="742950"/>
            <a:ext cx="8229600" cy="3851673"/>
          </a:xfrm>
        </p:spPr>
        <p:txBody>
          <a:bodyPr>
            <a:normAutofit lnSpcReduction="10000"/>
          </a:bodyPr>
          <a:lstStyle/>
          <a:p>
            <a:r>
              <a:rPr lang="en-US" dirty="0"/>
              <a:t>As clear to its name, internal interrupts are those which are occurred due to Some Problem in the Execution.</a:t>
            </a:r>
          </a:p>
          <a:p>
            <a:r>
              <a:rPr lang="en-US" dirty="0"/>
              <a:t>It seems to be used mostly to refer to what are also known as exceptions: interrupts that occur in response to a processing error, such as referencing an invalid address in memory, division by zero, or similar error condition.</a:t>
            </a:r>
            <a:endParaRPr lang="en-US" sz="2000" dirty="0"/>
          </a:p>
        </p:txBody>
      </p:sp>
      <p:sp>
        <p:nvSpPr>
          <p:cNvPr id="4" name="Date Placeholder 3"/>
          <p:cNvSpPr>
            <a:spLocks noGrp="1"/>
          </p:cNvSpPr>
          <p:nvPr>
            <p:ph type="dt" sz="half" idx="10"/>
          </p:nvPr>
        </p:nvSpPr>
        <p:spPr/>
        <p:txBody>
          <a:bodyPr/>
          <a:lstStyle/>
          <a:p>
            <a:fld id="{37DB3769-202F-4BB0-8490-3CF8F99A7EBE}"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15</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spTree>
    <p:extLst>
      <p:ext uri="{BB962C8B-B14F-4D97-AF65-F5344CB8AC3E}">
        <p14:creationId xmlns:p14="http://schemas.microsoft.com/office/powerpoint/2010/main" val="347094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iii) Software Interrupt</a:t>
            </a:r>
          </a:p>
        </p:txBody>
      </p:sp>
      <p:sp>
        <p:nvSpPr>
          <p:cNvPr id="3" name="Content Placeholder 2"/>
          <p:cNvSpPr>
            <a:spLocks noGrp="1"/>
          </p:cNvSpPr>
          <p:nvPr>
            <p:ph idx="1"/>
          </p:nvPr>
        </p:nvSpPr>
        <p:spPr>
          <a:xfrm>
            <a:off x="457200" y="742950"/>
            <a:ext cx="8229600" cy="3851673"/>
          </a:xfrm>
        </p:spPr>
        <p:txBody>
          <a:bodyPr>
            <a:normAutofit fontScale="85000" lnSpcReduction="10000"/>
          </a:bodyPr>
          <a:lstStyle/>
          <a:p>
            <a:r>
              <a:rPr lang="en-US" dirty="0"/>
              <a:t>A software interrupt is a type of interrupt  generated by executing an instruction is called software interrupt. </a:t>
            </a:r>
          </a:p>
          <a:p>
            <a:r>
              <a:rPr lang="en-US" dirty="0"/>
              <a:t>A software interrupt is invoked by software, unlike a hardware interrupt, and is considered one of the ways to communicate with the kernel or to invoke system calls, especially during error or exception handling.</a:t>
            </a:r>
          </a:p>
          <a:p>
            <a:r>
              <a:rPr lang="en-US" dirty="0"/>
              <a:t>Software interrupts are generally used to make system calls.</a:t>
            </a:r>
            <a:endParaRPr lang="en-US" sz="2000" dirty="0"/>
          </a:p>
        </p:txBody>
      </p:sp>
      <p:sp>
        <p:nvSpPr>
          <p:cNvPr id="4" name="Date Placeholder 3"/>
          <p:cNvSpPr>
            <a:spLocks noGrp="1"/>
          </p:cNvSpPr>
          <p:nvPr>
            <p:ph type="dt" sz="half" idx="10"/>
          </p:nvPr>
        </p:nvSpPr>
        <p:spPr/>
        <p:txBody>
          <a:bodyPr/>
          <a:lstStyle/>
          <a:p>
            <a:fld id="{6A7B13B8-E0AD-4F75-814B-8702268C8040}"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16</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spTree>
    <p:extLst>
      <p:ext uri="{BB962C8B-B14F-4D97-AF65-F5344CB8AC3E}">
        <p14:creationId xmlns:p14="http://schemas.microsoft.com/office/powerpoint/2010/main" val="2770605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7030A0"/>
                </a:solidFill>
              </a:rPr>
              <a:t>Maskable and Non-maskable Interrupt</a:t>
            </a:r>
          </a:p>
        </p:txBody>
      </p:sp>
      <p:sp>
        <p:nvSpPr>
          <p:cNvPr id="3" name="Content Placeholder 2"/>
          <p:cNvSpPr>
            <a:spLocks noGrp="1"/>
          </p:cNvSpPr>
          <p:nvPr>
            <p:ph idx="1"/>
          </p:nvPr>
        </p:nvSpPr>
        <p:spPr>
          <a:xfrm>
            <a:off x="457200" y="742950"/>
            <a:ext cx="8229600" cy="3851673"/>
          </a:xfrm>
        </p:spPr>
        <p:txBody>
          <a:bodyPr>
            <a:normAutofit/>
          </a:bodyPr>
          <a:lstStyle/>
          <a:p>
            <a:r>
              <a:rPr lang="en-US" dirty="0"/>
              <a:t> An interrupt that can be disabled by writing some instruction is known as Maskable Interrupt.</a:t>
            </a:r>
          </a:p>
          <a:p>
            <a:r>
              <a:rPr lang="en-US" dirty="0"/>
              <a:t>A non-maskable interrupt (NMI) is a hardware interrupt that standard interrupt-masking techniques in the system cannot ignore.</a:t>
            </a:r>
          </a:p>
          <a:p>
            <a:endParaRPr lang="en-US" sz="2000" dirty="0"/>
          </a:p>
        </p:txBody>
      </p:sp>
      <p:sp>
        <p:nvSpPr>
          <p:cNvPr id="4" name="Date Placeholder 3"/>
          <p:cNvSpPr>
            <a:spLocks noGrp="1"/>
          </p:cNvSpPr>
          <p:nvPr>
            <p:ph type="dt" sz="half" idx="10"/>
          </p:nvPr>
        </p:nvSpPr>
        <p:spPr/>
        <p:txBody>
          <a:bodyPr/>
          <a:lstStyle/>
          <a:p>
            <a:fld id="{8AF8407C-B69E-4D3F-9FAB-4F63CD7CDF93}"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17</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spTree>
    <p:extLst>
      <p:ext uri="{BB962C8B-B14F-4D97-AF65-F5344CB8AC3E}">
        <p14:creationId xmlns:p14="http://schemas.microsoft.com/office/powerpoint/2010/main" val="14446763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7030A0"/>
                </a:solidFill>
              </a:rPr>
              <a:t>Interrupt Processing</a:t>
            </a:r>
          </a:p>
        </p:txBody>
      </p:sp>
      <p:sp>
        <p:nvSpPr>
          <p:cNvPr id="3" name="Content Placeholder 2"/>
          <p:cNvSpPr>
            <a:spLocks noGrp="1"/>
          </p:cNvSpPr>
          <p:nvPr>
            <p:ph idx="1"/>
          </p:nvPr>
        </p:nvSpPr>
        <p:spPr>
          <a:xfrm>
            <a:off x="457199" y="742950"/>
            <a:ext cx="4800601" cy="3851673"/>
          </a:xfrm>
        </p:spPr>
        <p:txBody>
          <a:bodyPr>
            <a:normAutofit lnSpcReduction="10000"/>
          </a:bodyPr>
          <a:lstStyle/>
          <a:p>
            <a:pPr marL="346075" indent="-346075">
              <a:buFont typeface="+mj-lt"/>
              <a:buAutoNum type="arabicPeriod"/>
            </a:pPr>
            <a:r>
              <a:rPr lang="en-US" sz="1800" dirty="0"/>
              <a:t>Input output device issues the interrupts.</a:t>
            </a:r>
          </a:p>
          <a:p>
            <a:pPr marL="346075" indent="-346075">
              <a:buFont typeface="+mj-lt"/>
              <a:buAutoNum type="arabicPeriod"/>
            </a:pPr>
            <a:r>
              <a:rPr lang="en-US" sz="1800" dirty="0"/>
              <a:t>The Processor finishes the execution of an instruction before responding to the interrupt.</a:t>
            </a:r>
          </a:p>
          <a:p>
            <a:pPr marL="346075" indent="-346075">
              <a:buFont typeface="+mj-lt"/>
              <a:buAutoNum type="arabicPeriod"/>
            </a:pPr>
            <a:r>
              <a:rPr lang="en-US" sz="1800" dirty="0"/>
              <a:t>The Processor checks for an interrupt. If there is one, it then sends an </a:t>
            </a:r>
            <a:r>
              <a:rPr lang="en-US" sz="1800" b="1" dirty="0"/>
              <a:t>acknowledgement signal </a:t>
            </a:r>
            <a:r>
              <a:rPr lang="en-US" sz="1800" dirty="0"/>
              <a:t>to the input output device that issued the interrupt. The signal allows the device to remove its interrupt signal.</a:t>
            </a:r>
          </a:p>
          <a:p>
            <a:pPr marL="346075" indent="-346075">
              <a:buFont typeface="+mj-lt"/>
              <a:buAutoNum type="arabicPeriod"/>
            </a:pPr>
            <a:r>
              <a:rPr lang="en-US" sz="1800" dirty="0"/>
              <a:t>To switch to run </a:t>
            </a:r>
            <a:r>
              <a:rPr lang="en-US" sz="1800" b="1" dirty="0"/>
              <a:t>interrupt Handler,</a:t>
            </a:r>
            <a:r>
              <a:rPr lang="en-US" sz="1800" dirty="0"/>
              <a:t> information about the current program is stored, so that it execution maybe resumed later including Program status word(</a:t>
            </a:r>
            <a:r>
              <a:rPr lang="en-US" sz="1800" dirty="0" err="1"/>
              <a:t>psw</a:t>
            </a:r>
            <a:r>
              <a:rPr lang="en-US" sz="1800" dirty="0"/>
              <a:t>) and program counter(PC).</a:t>
            </a:r>
            <a:endParaRPr lang="en-US" sz="1100" dirty="0"/>
          </a:p>
        </p:txBody>
      </p:sp>
      <p:sp>
        <p:nvSpPr>
          <p:cNvPr id="4" name="Date Placeholder 3"/>
          <p:cNvSpPr>
            <a:spLocks noGrp="1"/>
          </p:cNvSpPr>
          <p:nvPr>
            <p:ph type="dt" sz="half" idx="10"/>
          </p:nvPr>
        </p:nvSpPr>
        <p:spPr/>
        <p:txBody>
          <a:bodyPr/>
          <a:lstStyle/>
          <a:p>
            <a:fld id="{B948A3F0-F10B-4A12-BA17-D4C6DB802A71}"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18</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pic>
        <p:nvPicPr>
          <p:cNvPr id="7" name="Picture 6">
            <a:extLst>
              <a:ext uri="{FF2B5EF4-FFF2-40B4-BE49-F238E27FC236}">
                <a16:creationId xmlns:a16="http://schemas.microsoft.com/office/drawing/2014/main" id="{3EF7EC43-DD7D-4E6B-9D1F-8312DB135687}"/>
              </a:ext>
            </a:extLst>
          </p:cNvPr>
          <p:cNvPicPr/>
          <p:nvPr/>
        </p:nvPicPr>
        <p:blipFill>
          <a:blip r:embed="rId2"/>
          <a:srcRect/>
          <a:stretch>
            <a:fillRect/>
          </a:stretch>
        </p:blipFill>
        <p:spPr bwMode="auto">
          <a:xfrm>
            <a:off x="5257801" y="436363"/>
            <a:ext cx="3733800" cy="4158259"/>
          </a:xfrm>
          <a:prstGeom prst="rect">
            <a:avLst/>
          </a:prstGeom>
          <a:noFill/>
          <a:ln w="9525">
            <a:noFill/>
            <a:miter lim="800000"/>
            <a:headEnd/>
            <a:tailEnd/>
          </a:ln>
        </p:spPr>
      </p:pic>
    </p:spTree>
    <p:extLst>
      <p:ext uri="{BB962C8B-B14F-4D97-AF65-F5344CB8AC3E}">
        <p14:creationId xmlns:p14="http://schemas.microsoft.com/office/powerpoint/2010/main" val="134618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7030A0"/>
                </a:solidFill>
              </a:rPr>
              <a:t>Interrupt Processing</a:t>
            </a:r>
          </a:p>
        </p:txBody>
      </p:sp>
      <p:sp>
        <p:nvSpPr>
          <p:cNvPr id="3" name="Content Placeholder 2"/>
          <p:cNvSpPr>
            <a:spLocks noGrp="1"/>
          </p:cNvSpPr>
          <p:nvPr>
            <p:ph idx="1"/>
          </p:nvPr>
        </p:nvSpPr>
        <p:spPr>
          <a:xfrm>
            <a:off x="457199" y="742950"/>
            <a:ext cx="4800601" cy="3851673"/>
          </a:xfrm>
        </p:spPr>
        <p:txBody>
          <a:bodyPr>
            <a:normAutofit fontScale="92500" lnSpcReduction="10000"/>
          </a:bodyPr>
          <a:lstStyle/>
          <a:p>
            <a:pPr marL="346075" indent="-346075">
              <a:buFont typeface="+mj-lt"/>
              <a:buAutoNum type="arabicPeriod" startAt="5"/>
            </a:pPr>
            <a:r>
              <a:rPr lang="en-US" sz="1800" dirty="0"/>
              <a:t>The processor loads the </a:t>
            </a:r>
            <a:r>
              <a:rPr lang="en-US" sz="1800" b="1" dirty="0"/>
              <a:t>program counter</a:t>
            </a:r>
            <a:r>
              <a:rPr lang="en-US" sz="1800" dirty="0"/>
              <a:t> with the entry location of the interrupt Handler. Typical case is there are set of routines. Each for one type of interrupt or each for one device.</a:t>
            </a:r>
          </a:p>
          <a:p>
            <a:pPr marL="346075" indent="-346075">
              <a:buFont typeface="+mj-lt"/>
              <a:buAutoNum type="arabicPeriod" startAt="5"/>
            </a:pPr>
            <a:r>
              <a:rPr lang="en-US" sz="1800" dirty="0"/>
              <a:t>The </a:t>
            </a:r>
            <a:r>
              <a:rPr lang="en-US" sz="1800" b="1" dirty="0"/>
              <a:t>Interrupt Handler</a:t>
            </a:r>
            <a:r>
              <a:rPr lang="en-US" sz="1800" dirty="0"/>
              <a:t> may continue to save other information that is considered as part of process state.</a:t>
            </a:r>
          </a:p>
          <a:p>
            <a:pPr marL="346075" indent="-346075">
              <a:buFont typeface="+mj-lt"/>
              <a:buAutoNum type="arabicPeriod" startAt="5"/>
            </a:pPr>
            <a:r>
              <a:rPr lang="en-US" sz="1800" dirty="0"/>
              <a:t>The handler performs the interrupt processing.</a:t>
            </a:r>
          </a:p>
          <a:p>
            <a:pPr marL="346075" indent="-346075">
              <a:buFont typeface="+mj-lt"/>
              <a:buAutoNum type="arabicPeriod" startAt="5"/>
            </a:pPr>
            <a:r>
              <a:rPr lang="en-US" sz="1800" dirty="0"/>
              <a:t>When handler finishes, the saved Register values are stored into the registers that originally hold them when interrupt handler returns.</a:t>
            </a:r>
          </a:p>
          <a:p>
            <a:pPr marL="346075" indent="-346075">
              <a:buFont typeface="+mj-lt"/>
              <a:buAutoNum type="arabicPeriod" startAt="5"/>
            </a:pPr>
            <a:r>
              <a:rPr lang="en-US" sz="1800" dirty="0"/>
              <a:t>Finally PSW and PC values of the interrupted program are restored, thus the program may continue to execute.</a:t>
            </a:r>
          </a:p>
          <a:p>
            <a:pPr marL="346075" indent="-346075">
              <a:buFont typeface="+mj-lt"/>
              <a:buAutoNum type="arabicPeriod" startAt="5"/>
            </a:pPr>
            <a:endParaRPr lang="en-US" sz="1200" dirty="0"/>
          </a:p>
        </p:txBody>
      </p:sp>
      <p:sp>
        <p:nvSpPr>
          <p:cNvPr id="4" name="Date Placeholder 3"/>
          <p:cNvSpPr>
            <a:spLocks noGrp="1"/>
          </p:cNvSpPr>
          <p:nvPr>
            <p:ph type="dt" sz="half" idx="10"/>
          </p:nvPr>
        </p:nvSpPr>
        <p:spPr/>
        <p:txBody>
          <a:bodyPr/>
          <a:lstStyle/>
          <a:p>
            <a:fld id="{DB3C3BC5-C615-4093-AF9C-EE266D237F30}"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19</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pic>
        <p:nvPicPr>
          <p:cNvPr id="7" name="Picture 6">
            <a:extLst>
              <a:ext uri="{FF2B5EF4-FFF2-40B4-BE49-F238E27FC236}">
                <a16:creationId xmlns:a16="http://schemas.microsoft.com/office/drawing/2014/main" id="{3EF7EC43-DD7D-4E6B-9D1F-8312DB135687}"/>
              </a:ext>
            </a:extLst>
          </p:cNvPr>
          <p:cNvPicPr/>
          <p:nvPr/>
        </p:nvPicPr>
        <p:blipFill>
          <a:blip r:embed="rId2"/>
          <a:srcRect/>
          <a:stretch>
            <a:fillRect/>
          </a:stretch>
        </p:blipFill>
        <p:spPr bwMode="auto">
          <a:xfrm>
            <a:off x="5257801" y="436363"/>
            <a:ext cx="3733800" cy="4158259"/>
          </a:xfrm>
          <a:prstGeom prst="rect">
            <a:avLst/>
          </a:prstGeom>
          <a:noFill/>
          <a:ln w="9525">
            <a:noFill/>
            <a:miter lim="800000"/>
            <a:headEnd/>
            <a:tailEnd/>
          </a:ln>
        </p:spPr>
      </p:pic>
    </p:spTree>
    <p:extLst>
      <p:ext uri="{BB962C8B-B14F-4D97-AF65-F5344CB8AC3E}">
        <p14:creationId xmlns:p14="http://schemas.microsoft.com/office/powerpoint/2010/main" val="3103448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Interrupt Hardware and Priority</a:t>
            </a:r>
          </a:p>
        </p:txBody>
      </p:sp>
      <p:sp>
        <p:nvSpPr>
          <p:cNvPr id="3" name="Content Placeholder 2"/>
          <p:cNvSpPr>
            <a:spLocks noGrp="1"/>
          </p:cNvSpPr>
          <p:nvPr>
            <p:ph idx="1"/>
          </p:nvPr>
        </p:nvSpPr>
        <p:spPr>
          <a:xfrm>
            <a:off x="457200" y="742950"/>
            <a:ext cx="4648200" cy="3851673"/>
          </a:xfrm>
        </p:spPr>
        <p:txBody>
          <a:bodyPr>
            <a:normAutofit fontScale="92500" lnSpcReduction="10000"/>
          </a:bodyPr>
          <a:lstStyle/>
          <a:p>
            <a:r>
              <a:rPr lang="en-US" sz="2000" dirty="0"/>
              <a:t>An external device sends an interrupt to the CPU by asserting its Interrupt Request (IRQ) signal.</a:t>
            </a:r>
          </a:p>
          <a:p>
            <a:r>
              <a:rPr lang="en-US" sz="2000" dirty="0"/>
              <a:t>When the CPU is ready to process the interrupt request, it asserts its interrupt acknowledge signal (IACK), thus informing the I/O device that it is ready to proceed.</a:t>
            </a:r>
          </a:p>
          <a:p>
            <a:r>
              <a:rPr lang="en-US" sz="2000" dirty="0"/>
              <a:t>Because its request has been acknowledged, the device sets IRQ low, which causes the CPU to set IACK low.</a:t>
            </a:r>
          </a:p>
          <a:p>
            <a:r>
              <a:rPr lang="en-US" sz="2000" dirty="0"/>
              <a:t>As the handler routine proceeds, it transfers data between the CPU and the interrupting device.</a:t>
            </a:r>
          </a:p>
        </p:txBody>
      </p:sp>
      <p:sp>
        <p:nvSpPr>
          <p:cNvPr id="4" name="Date Placeholder 3"/>
          <p:cNvSpPr>
            <a:spLocks noGrp="1"/>
          </p:cNvSpPr>
          <p:nvPr>
            <p:ph type="dt" sz="half" idx="10"/>
          </p:nvPr>
        </p:nvSpPr>
        <p:spPr/>
        <p:txBody>
          <a:bodyPr/>
          <a:lstStyle/>
          <a:p>
            <a:fld id="{3E4216B4-9778-4921-A5F3-4C682E1F73EB}"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20</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pic>
        <p:nvPicPr>
          <p:cNvPr id="7" name="Picture 6">
            <a:extLst>
              <a:ext uri="{FF2B5EF4-FFF2-40B4-BE49-F238E27FC236}">
                <a16:creationId xmlns:a16="http://schemas.microsoft.com/office/drawing/2014/main" id="{118D39F7-4F8F-4845-892A-8111FBD16768}"/>
              </a:ext>
            </a:extLst>
          </p:cNvPr>
          <p:cNvPicPr>
            <a:picLocks noChangeAspect="1"/>
          </p:cNvPicPr>
          <p:nvPr/>
        </p:nvPicPr>
        <p:blipFill>
          <a:blip r:embed="rId2"/>
          <a:stretch>
            <a:fillRect/>
          </a:stretch>
        </p:blipFill>
        <p:spPr>
          <a:xfrm>
            <a:off x="5334000" y="856199"/>
            <a:ext cx="3622755" cy="3278386"/>
          </a:xfrm>
          <a:prstGeom prst="rect">
            <a:avLst/>
          </a:prstGeom>
        </p:spPr>
      </p:pic>
      <p:pic>
        <p:nvPicPr>
          <p:cNvPr id="8" name="Picture 7">
            <a:extLst>
              <a:ext uri="{FF2B5EF4-FFF2-40B4-BE49-F238E27FC236}">
                <a16:creationId xmlns:a16="http://schemas.microsoft.com/office/drawing/2014/main" id="{502A17EF-8023-437C-8834-163601F4DEBA}"/>
              </a:ext>
            </a:extLst>
          </p:cNvPr>
          <p:cNvPicPr>
            <a:picLocks noChangeAspect="1"/>
          </p:cNvPicPr>
          <p:nvPr/>
        </p:nvPicPr>
        <p:blipFill>
          <a:blip r:embed="rId3"/>
          <a:stretch>
            <a:fillRect/>
          </a:stretch>
        </p:blipFill>
        <p:spPr>
          <a:xfrm>
            <a:off x="4881563" y="4210785"/>
            <a:ext cx="4262437" cy="273843"/>
          </a:xfrm>
          <a:prstGeom prst="rect">
            <a:avLst/>
          </a:prstGeom>
        </p:spPr>
      </p:pic>
    </p:spTree>
    <p:extLst>
      <p:ext uri="{BB962C8B-B14F-4D97-AF65-F5344CB8AC3E}">
        <p14:creationId xmlns:p14="http://schemas.microsoft.com/office/powerpoint/2010/main" val="2103856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4648200" cy="3851673"/>
          </a:xfrm>
        </p:spPr>
        <p:txBody>
          <a:bodyPr>
            <a:normAutofit lnSpcReduction="10000"/>
          </a:bodyPr>
          <a:lstStyle/>
          <a:p>
            <a:r>
              <a:rPr lang="en-US" sz="2000" dirty="0"/>
              <a:t>In a vectored interrupt, data is transferred later via a synchronous transfer.</a:t>
            </a:r>
          </a:p>
          <a:p>
            <a:r>
              <a:rPr lang="en-US" sz="2000" dirty="0"/>
              <a:t>A </a:t>
            </a:r>
            <a:r>
              <a:rPr lang="en-US" sz="2000" b="1" dirty="0"/>
              <a:t>vectored interrupt </a:t>
            </a:r>
            <a:r>
              <a:rPr lang="en-US" sz="2000" dirty="0"/>
              <a:t>is more complex.</a:t>
            </a:r>
          </a:p>
          <a:p>
            <a:r>
              <a:rPr lang="en-US" sz="2000" dirty="0"/>
              <a:t>After acknowledging the interrupt, the CPU must input an interrupt vector from the device and call an Interrupt Service Routine (ISR) handler; the address of this routine is a function of this vector.</a:t>
            </a:r>
          </a:p>
          <a:p>
            <a:r>
              <a:rPr lang="en-US" sz="2000" dirty="0"/>
              <a:t>Figure aside show a hardware block diagram and timing diagram for this system.</a:t>
            </a:r>
          </a:p>
        </p:txBody>
      </p:sp>
      <p:sp>
        <p:nvSpPr>
          <p:cNvPr id="4" name="Date Placeholder 3"/>
          <p:cNvSpPr>
            <a:spLocks noGrp="1"/>
          </p:cNvSpPr>
          <p:nvPr>
            <p:ph type="dt" sz="half" idx="10"/>
          </p:nvPr>
        </p:nvSpPr>
        <p:spPr/>
        <p:txBody>
          <a:bodyPr/>
          <a:lstStyle/>
          <a:p>
            <a:fld id="{48FFCB19-1209-4C49-AA6B-299A85E082A3}"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21</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pic>
        <p:nvPicPr>
          <p:cNvPr id="7" name="Picture 6">
            <a:extLst>
              <a:ext uri="{FF2B5EF4-FFF2-40B4-BE49-F238E27FC236}">
                <a16:creationId xmlns:a16="http://schemas.microsoft.com/office/drawing/2014/main" id="{672A4D45-8599-450F-8542-32949DEE4C70}"/>
              </a:ext>
            </a:extLst>
          </p:cNvPr>
          <p:cNvPicPr>
            <a:picLocks noChangeAspect="1"/>
          </p:cNvPicPr>
          <p:nvPr/>
        </p:nvPicPr>
        <p:blipFill>
          <a:blip r:embed="rId2"/>
          <a:stretch>
            <a:fillRect/>
          </a:stretch>
        </p:blipFill>
        <p:spPr>
          <a:xfrm>
            <a:off x="5274380" y="640907"/>
            <a:ext cx="3435112" cy="3073843"/>
          </a:xfrm>
          <a:prstGeom prst="rect">
            <a:avLst/>
          </a:prstGeom>
        </p:spPr>
      </p:pic>
      <p:pic>
        <p:nvPicPr>
          <p:cNvPr id="8" name="Picture 7">
            <a:extLst>
              <a:ext uri="{FF2B5EF4-FFF2-40B4-BE49-F238E27FC236}">
                <a16:creationId xmlns:a16="http://schemas.microsoft.com/office/drawing/2014/main" id="{8C553A7D-F5BF-46EF-8D3C-C34052E8B170}"/>
              </a:ext>
            </a:extLst>
          </p:cNvPr>
          <p:cNvPicPr>
            <a:picLocks noChangeAspect="1"/>
          </p:cNvPicPr>
          <p:nvPr/>
        </p:nvPicPr>
        <p:blipFill>
          <a:blip r:embed="rId3"/>
          <a:stretch>
            <a:fillRect/>
          </a:stretch>
        </p:blipFill>
        <p:spPr>
          <a:xfrm>
            <a:off x="5039311" y="3872822"/>
            <a:ext cx="3905250" cy="249128"/>
          </a:xfrm>
          <a:prstGeom prst="rect">
            <a:avLst/>
          </a:prstGeom>
        </p:spPr>
      </p:pic>
    </p:spTree>
    <p:extLst>
      <p:ext uri="{BB962C8B-B14F-4D97-AF65-F5344CB8AC3E}">
        <p14:creationId xmlns:p14="http://schemas.microsoft.com/office/powerpoint/2010/main" val="1031615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Interrupt Hardware</a:t>
            </a:r>
            <a:endParaRPr/>
          </a:p>
        </p:txBody>
      </p:sp>
      <p:sp>
        <p:nvSpPr>
          <p:cNvPr id="92" name="Google Shape;92;p19"/>
          <p:cNvSpPr txBox="1">
            <a:spLocks noGrp="1"/>
          </p:cNvSpPr>
          <p:nvPr>
            <p:ph type="body" idx="1"/>
          </p:nvPr>
        </p:nvSpPr>
        <p:spPr>
          <a:xfrm>
            <a:off x="311700" y="1124400"/>
            <a:ext cx="3453000" cy="3444600"/>
          </a:xfrm>
          <a:prstGeom prst="rect">
            <a:avLst/>
          </a:prstGeom>
        </p:spPr>
        <p:txBody>
          <a:bodyPr spcFirstLastPara="1" wrap="square" lIns="91425" tIns="91425" rIns="91425" bIns="91425" anchor="t" anchorCtr="0">
            <a:normAutofit fontScale="47500" lnSpcReduction="20000"/>
          </a:bodyPr>
          <a:lstStyle/>
          <a:p>
            <a:pPr marL="0" lvl="0" indent="0" algn="l" rtl="0">
              <a:spcBef>
                <a:spcPts val="0"/>
              </a:spcBef>
              <a:spcAft>
                <a:spcPts val="0"/>
              </a:spcAft>
              <a:buNone/>
            </a:pPr>
            <a:r>
              <a:rPr lang="en-GB"/>
              <a:t>To request an interrupt, a device closes its associated switch, the voltage on INTR</a:t>
            </a:r>
            <a:endParaRPr/>
          </a:p>
          <a:p>
            <a:pPr marL="0" lvl="0" indent="0" algn="l" rtl="0">
              <a:spcBef>
                <a:spcPts val="1200"/>
              </a:spcBef>
              <a:spcAft>
                <a:spcPts val="0"/>
              </a:spcAft>
              <a:buNone/>
            </a:pPr>
            <a:r>
              <a:rPr lang="en-GB"/>
              <a:t>line drops to 0(zero).</a:t>
            </a:r>
            <a:endParaRPr/>
          </a:p>
          <a:p>
            <a:pPr marL="0" lvl="0" indent="0" algn="l" rtl="0">
              <a:spcBef>
                <a:spcPts val="1200"/>
              </a:spcBef>
              <a:spcAft>
                <a:spcPts val="0"/>
              </a:spcAft>
              <a:buNone/>
            </a:pPr>
            <a:r>
              <a:rPr lang="en-GB"/>
              <a:t>If all the interrupt request signals (INTR1 to INTRn) are inactive, all switches are</a:t>
            </a:r>
            <a:endParaRPr/>
          </a:p>
          <a:p>
            <a:pPr marL="0" lvl="0" indent="0" algn="l" rtl="0">
              <a:spcBef>
                <a:spcPts val="1200"/>
              </a:spcBef>
              <a:spcAft>
                <a:spcPts val="0"/>
              </a:spcAft>
              <a:buNone/>
            </a:pPr>
            <a:r>
              <a:rPr lang="en-GB"/>
              <a:t>open and the voltage on INTR line is equal to Vdd.</a:t>
            </a:r>
            <a:endParaRPr/>
          </a:p>
          <a:p>
            <a:pPr marL="0" lvl="0" indent="0" algn="l" rtl="0">
              <a:spcBef>
                <a:spcPts val="1200"/>
              </a:spcBef>
              <a:spcAft>
                <a:spcPts val="0"/>
              </a:spcAft>
              <a:buNone/>
            </a:pPr>
            <a:r>
              <a:rPr lang="en-GB"/>
              <a:t>When a device requests an interrupts, the value of INTR is the logical OR of the</a:t>
            </a:r>
            <a:endParaRPr/>
          </a:p>
          <a:p>
            <a:pPr marL="0" lvl="0" indent="0" algn="l" rtl="0">
              <a:spcBef>
                <a:spcPts val="1200"/>
              </a:spcBef>
              <a:spcAft>
                <a:spcPts val="0"/>
              </a:spcAft>
              <a:buNone/>
            </a:pPr>
            <a:r>
              <a:rPr lang="en-GB"/>
              <a:t>requests from individual devices.</a:t>
            </a:r>
            <a:endParaRPr/>
          </a:p>
          <a:p>
            <a:pPr marL="0" lvl="0" indent="0" algn="l" rtl="0">
              <a:spcBef>
                <a:spcPts val="1200"/>
              </a:spcBef>
              <a:spcAft>
                <a:spcPts val="0"/>
              </a:spcAft>
              <a:buNone/>
            </a:pPr>
            <a:r>
              <a:rPr lang="en-GB"/>
              <a:t>(ie) INTR = INTR1+…………+INTRn</a:t>
            </a:r>
            <a:endParaRPr/>
          </a:p>
          <a:p>
            <a:pPr marL="0" lvl="0" indent="0" algn="l" rtl="0">
              <a:spcBef>
                <a:spcPts val="1200"/>
              </a:spcBef>
              <a:spcAft>
                <a:spcPts val="1200"/>
              </a:spcAft>
              <a:buNone/>
            </a:pPr>
            <a:endParaRPr/>
          </a:p>
        </p:txBody>
      </p:sp>
      <p:pic>
        <p:nvPicPr>
          <p:cNvPr id="93" name="Google Shape;93;p19"/>
          <p:cNvPicPr preferRelativeResize="0"/>
          <p:nvPr/>
        </p:nvPicPr>
        <p:blipFill>
          <a:blip r:embed="rId3">
            <a:alphaModFix/>
          </a:blip>
          <a:stretch>
            <a:fillRect/>
          </a:stretch>
        </p:blipFill>
        <p:spPr>
          <a:xfrm>
            <a:off x="3886200" y="2097426"/>
            <a:ext cx="5074500" cy="19216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chemeClr val="accent2">
                    <a:lumMod val="75000"/>
                  </a:schemeClr>
                </a:solidFill>
              </a:rPr>
              <a:t>Priority Interrupt</a:t>
            </a:r>
          </a:p>
        </p:txBody>
      </p:sp>
      <p:sp>
        <p:nvSpPr>
          <p:cNvPr id="3" name="Content Placeholder 2"/>
          <p:cNvSpPr>
            <a:spLocks noGrp="1"/>
          </p:cNvSpPr>
          <p:nvPr>
            <p:ph idx="1"/>
          </p:nvPr>
        </p:nvSpPr>
        <p:spPr>
          <a:xfrm>
            <a:off x="457200" y="742950"/>
            <a:ext cx="8229600" cy="3851673"/>
          </a:xfrm>
        </p:spPr>
        <p:txBody>
          <a:bodyPr>
            <a:normAutofit fontScale="70000" lnSpcReduction="20000"/>
          </a:bodyPr>
          <a:lstStyle/>
          <a:p>
            <a:r>
              <a:rPr lang="en-US" dirty="0"/>
              <a:t>A priority interrupt is a system which decides the priority at which various devices, which generates the interrupt signal at the same time, will be serviced by the CPU. </a:t>
            </a:r>
          </a:p>
          <a:p>
            <a:r>
              <a:rPr lang="en-US" dirty="0"/>
              <a:t>The system has authority to decide which conditions are allowed to interrupt the CPU, while some other interrupt is being serviced. </a:t>
            </a:r>
          </a:p>
          <a:p>
            <a:r>
              <a:rPr lang="en-US" dirty="0"/>
              <a:t>Generally, devices with high speed transfer such as </a:t>
            </a:r>
            <a:r>
              <a:rPr lang="en-US" i="1" dirty="0"/>
              <a:t>magnetic disks</a:t>
            </a:r>
            <a:r>
              <a:rPr lang="en-US" dirty="0"/>
              <a:t> are given high priority and slow devices such as </a:t>
            </a:r>
            <a:r>
              <a:rPr lang="en-US" i="1" dirty="0"/>
              <a:t>keyboards</a:t>
            </a:r>
            <a:r>
              <a:rPr lang="en-US" dirty="0"/>
              <a:t> are given low priority.</a:t>
            </a:r>
          </a:p>
          <a:p>
            <a:r>
              <a:rPr lang="en-US" dirty="0"/>
              <a:t>When two or more devices interrupt the computer simultaneously, the computer services the device with the higher priority first.</a:t>
            </a:r>
          </a:p>
          <a:p>
            <a:endParaRPr lang="en-US" sz="2000" dirty="0"/>
          </a:p>
        </p:txBody>
      </p:sp>
      <p:sp>
        <p:nvSpPr>
          <p:cNvPr id="4" name="Date Placeholder 3"/>
          <p:cNvSpPr>
            <a:spLocks noGrp="1"/>
          </p:cNvSpPr>
          <p:nvPr>
            <p:ph type="dt" sz="half" idx="10"/>
          </p:nvPr>
        </p:nvSpPr>
        <p:spPr/>
        <p:txBody>
          <a:bodyPr/>
          <a:lstStyle/>
          <a:p>
            <a:fld id="{EC5C382D-E580-4658-BCB4-02C98EFB5873}"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23</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spTree>
    <p:extLst>
      <p:ext uri="{BB962C8B-B14F-4D97-AF65-F5344CB8AC3E}">
        <p14:creationId xmlns:p14="http://schemas.microsoft.com/office/powerpoint/2010/main" val="14857470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4343400" cy="3851673"/>
          </a:xfrm>
        </p:spPr>
        <p:txBody>
          <a:bodyPr>
            <a:normAutofit fontScale="85000" lnSpcReduction="20000"/>
          </a:bodyPr>
          <a:lstStyle/>
          <a:p>
            <a:pPr lvl="0">
              <a:buFont typeface="+mj-lt"/>
              <a:buAutoNum type="arabicPeriod"/>
            </a:pPr>
            <a:r>
              <a:rPr lang="en-US" sz="2000" dirty="0"/>
              <a:t>The Processor is executing its program.</a:t>
            </a:r>
          </a:p>
          <a:p>
            <a:pPr lvl="0">
              <a:buFont typeface="+mj-lt"/>
              <a:buAutoNum type="arabicPeriod"/>
            </a:pPr>
            <a:r>
              <a:rPr lang="en-US" sz="2000" dirty="0"/>
              <a:t>Peripheral1 needs servicing so asserts </a:t>
            </a:r>
            <a:r>
              <a:rPr lang="en-US" sz="2000" b="1" dirty="0"/>
              <a:t>Ireq1</a:t>
            </a:r>
            <a:r>
              <a:rPr lang="en-US" sz="2000" dirty="0"/>
              <a:t>. Peripheral2 also needs servicing so asserts </a:t>
            </a:r>
            <a:r>
              <a:rPr lang="en-US" sz="2000" b="1" dirty="0"/>
              <a:t>Ireq2</a:t>
            </a:r>
            <a:r>
              <a:rPr lang="en-US" sz="2000" dirty="0"/>
              <a:t>.</a:t>
            </a:r>
          </a:p>
          <a:p>
            <a:pPr lvl="0">
              <a:buFont typeface="+mj-lt"/>
              <a:buAutoNum type="arabicPeriod"/>
            </a:pPr>
            <a:r>
              <a:rPr lang="en-US" sz="2000" dirty="0"/>
              <a:t>Priority arbiter sees at least one </a:t>
            </a:r>
            <a:r>
              <a:rPr lang="en-US" sz="2000" dirty="0" err="1"/>
              <a:t>I</a:t>
            </a:r>
            <a:r>
              <a:rPr lang="en-US" sz="2000" b="1" dirty="0" err="1"/>
              <a:t>req</a:t>
            </a:r>
            <a:r>
              <a:rPr lang="en-US" sz="2000" dirty="0"/>
              <a:t> input asserted, so asserts </a:t>
            </a:r>
            <a:r>
              <a:rPr lang="en-US" sz="2000" b="1" dirty="0"/>
              <a:t>Int</a:t>
            </a:r>
            <a:r>
              <a:rPr lang="en-US" sz="2000" dirty="0"/>
              <a:t>.</a:t>
            </a:r>
          </a:p>
          <a:p>
            <a:pPr lvl="0">
              <a:buFont typeface="+mj-lt"/>
              <a:buAutoNum type="arabicPeriod"/>
            </a:pPr>
            <a:r>
              <a:rPr lang="en-US" sz="2000" dirty="0"/>
              <a:t>Processor stops executing its program and stores its state.</a:t>
            </a:r>
          </a:p>
          <a:p>
            <a:pPr lvl="0">
              <a:buFont typeface="+mj-lt"/>
              <a:buAutoNum type="arabicPeriod"/>
            </a:pPr>
            <a:r>
              <a:rPr lang="en-US" sz="2000" dirty="0"/>
              <a:t>Processor asserts </a:t>
            </a:r>
            <a:r>
              <a:rPr lang="en-US" sz="2000" b="1" dirty="0" err="1"/>
              <a:t>Inta</a:t>
            </a:r>
            <a:r>
              <a:rPr lang="en-US" sz="2000" dirty="0"/>
              <a:t>.</a:t>
            </a:r>
          </a:p>
          <a:p>
            <a:pPr lvl="0">
              <a:buFont typeface="+mj-lt"/>
              <a:buAutoNum type="arabicPeriod"/>
            </a:pPr>
            <a:r>
              <a:rPr lang="en-US" sz="2000" dirty="0"/>
              <a:t>Priority arbiter asserts </a:t>
            </a:r>
            <a:r>
              <a:rPr lang="en-US" sz="2000" b="1" dirty="0"/>
              <a:t>Iack1</a:t>
            </a:r>
            <a:r>
              <a:rPr lang="en-US" sz="2000" dirty="0"/>
              <a:t> to acknowledge Peripheral1.</a:t>
            </a:r>
          </a:p>
          <a:p>
            <a:pPr lvl="0">
              <a:buFont typeface="+mj-lt"/>
              <a:buAutoNum type="arabicPeriod"/>
            </a:pPr>
            <a:r>
              <a:rPr lang="en-US" sz="2000" dirty="0"/>
              <a:t>Peripheral1 puts its interrupt address vector on the system bus</a:t>
            </a:r>
          </a:p>
          <a:p>
            <a:pPr lvl="0">
              <a:buFont typeface="+mj-lt"/>
              <a:buAutoNum type="arabicPeriod"/>
            </a:pPr>
            <a:r>
              <a:rPr lang="en-US" sz="2000" dirty="0"/>
              <a:t>Processor jumps to the address of ISR read from data bus, ISR executes and returns (and completes handshake with arbiter).</a:t>
            </a:r>
          </a:p>
          <a:p>
            <a:endParaRPr lang="en-US" sz="1050" dirty="0"/>
          </a:p>
          <a:p>
            <a:endParaRPr lang="en-US" sz="2000" dirty="0"/>
          </a:p>
        </p:txBody>
      </p:sp>
      <p:sp>
        <p:nvSpPr>
          <p:cNvPr id="4" name="Date Placeholder 3"/>
          <p:cNvSpPr>
            <a:spLocks noGrp="1"/>
          </p:cNvSpPr>
          <p:nvPr>
            <p:ph type="dt" sz="half" idx="10"/>
          </p:nvPr>
        </p:nvSpPr>
        <p:spPr/>
        <p:txBody>
          <a:bodyPr/>
          <a:lstStyle/>
          <a:p>
            <a:fld id="{4F56C213-2B89-4E87-8217-404BED4970DD}"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24</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pic>
        <p:nvPicPr>
          <p:cNvPr id="7" name="Picture 6">
            <a:extLst>
              <a:ext uri="{FF2B5EF4-FFF2-40B4-BE49-F238E27FC236}">
                <a16:creationId xmlns:a16="http://schemas.microsoft.com/office/drawing/2014/main" id="{3C340D3C-DFB0-4459-99F3-690F0ED0040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648200" y="1504950"/>
            <a:ext cx="4002741" cy="1981200"/>
          </a:xfrm>
          <a:prstGeom prst="rect">
            <a:avLst/>
          </a:prstGeom>
          <a:noFill/>
        </p:spPr>
      </p:pic>
    </p:spTree>
    <p:extLst>
      <p:ext uri="{BB962C8B-B14F-4D97-AF65-F5344CB8AC3E}">
        <p14:creationId xmlns:p14="http://schemas.microsoft.com/office/powerpoint/2010/main" val="7736657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chemeClr val="accent2">
                    <a:lumMod val="75000"/>
                  </a:schemeClr>
                </a:solidFill>
              </a:rPr>
              <a:t>Daisy Chaining Priority</a:t>
            </a:r>
          </a:p>
        </p:txBody>
      </p:sp>
      <p:sp>
        <p:nvSpPr>
          <p:cNvPr id="3" name="Content Placeholder 2"/>
          <p:cNvSpPr>
            <a:spLocks noGrp="1"/>
          </p:cNvSpPr>
          <p:nvPr>
            <p:ph idx="1"/>
          </p:nvPr>
        </p:nvSpPr>
        <p:spPr>
          <a:xfrm>
            <a:off x="457200" y="742950"/>
            <a:ext cx="4876800" cy="3851673"/>
          </a:xfrm>
        </p:spPr>
        <p:txBody>
          <a:bodyPr>
            <a:noAutofit/>
          </a:bodyPr>
          <a:lstStyle/>
          <a:p>
            <a:r>
              <a:rPr lang="en-US" sz="1400" dirty="0"/>
              <a:t>In daisy chaining system all the devices are connected in a serial form. The device with the highest priority is placed at the first position followed by lower priority devices </a:t>
            </a:r>
          </a:p>
          <a:p>
            <a:r>
              <a:rPr lang="en-US" sz="1400" dirty="0"/>
              <a:t>The interrupt line request is common to all devices. </a:t>
            </a:r>
          </a:p>
          <a:p>
            <a:r>
              <a:rPr lang="en-US" sz="1400" dirty="0"/>
              <a:t>When there is no interrupt, the interrupt line (i.e. Interrupt request) stays in high level state. </a:t>
            </a:r>
          </a:p>
          <a:p>
            <a:r>
              <a:rPr lang="en-US" sz="1400" dirty="0"/>
              <a:t>If any device has interrupt signal in low level state then interrupt line goes to low level state and enables the interrupt input in the CPU. </a:t>
            </a:r>
          </a:p>
          <a:p>
            <a:r>
              <a:rPr lang="en-US" sz="1400" dirty="0"/>
              <a:t>The CPU respond to the interrupt by enabling the interrupt acknowledge line. </a:t>
            </a:r>
          </a:p>
          <a:p>
            <a:r>
              <a:rPr lang="en-US" sz="1400" dirty="0"/>
              <a:t>This signal is received by the device 1 at its PI input. </a:t>
            </a:r>
          </a:p>
          <a:p>
            <a:r>
              <a:rPr lang="en-US" sz="1400" dirty="0"/>
              <a:t>The acknowledge signal passes to next device through PO output only if device 1 is not requesting an interrupt. (it sets PI=1 ad PO=1).</a:t>
            </a:r>
          </a:p>
          <a:p>
            <a:r>
              <a:rPr lang="en-US" sz="1400" dirty="0"/>
              <a:t>However, if the device had requested the interrupt, (PI =1 &amp; PO = 0)</a:t>
            </a:r>
          </a:p>
          <a:p>
            <a:endParaRPr lang="en-US" sz="1400" dirty="0"/>
          </a:p>
        </p:txBody>
      </p:sp>
      <p:sp>
        <p:nvSpPr>
          <p:cNvPr id="4" name="Date Placeholder 3"/>
          <p:cNvSpPr>
            <a:spLocks noGrp="1"/>
          </p:cNvSpPr>
          <p:nvPr>
            <p:ph type="dt" sz="half" idx="10"/>
          </p:nvPr>
        </p:nvSpPr>
        <p:spPr/>
        <p:txBody>
          <a:bodyPr/>
          <a:lstStyle/>
          <a:p>
            <a:fld id="{A90F304A-C29B-40D7-8D81-513ADD77468F}"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25</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pic>
        <p:nvPicPr>
          <p:cNvPr id="8194" name="Picture 2" descr="Priority Interrupt">
            <a:extLst>
              <a:ext uri="{FF2B5EF4-FFF2-40B4-BE49-F238E27FC236}">
                <a16:creationId xmlns:a16="http://schemas.microsoft.com/office/drawing/2014/main" id="{34E8A759-BA8E-484D-9E15-0B7027E927EF}"/>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100000"/>
                    </a14:imgEffect>
                    <a14:imgEffect>
                      <a14:brightnessContrast contrast="60000"/>
                    </a14:imgEffect>
                  </a14:imgLayer>
                </a14:imgProps>
              </a:ext>
              <a:ext uri="{28A0092B-C50C-407E-A947-70E740481C1C}">
                <a14:useLocalDpi xmlns:a14="http://schemas.microsoft.com/office/drawing/2010/main" val="0"/>
              </a:ext>
            </a:extLst>
          </a:blip>
          <a:srcRect l="2513" r="4988"/>
          <a:stretch/>
        </p:blipFill>
        <p:spPr bwMode="auto">
          <a:xfrm>
            <a:off x="5334000" y="483394"/>
            <a:ext cx="3657600" cy="2233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83766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DMA Transfer Modes</a:t>
            </a:r>
          </a:p>
        </p:txBody>
      </p:sp>
      <p:sp>
        <p:nvSpPr>
          <p:cNvPr id="3" name="Content Placeholder 2"/>
          <p:cNvSpPr>
            <a:spLocks noGrp="1"/>
          </p:cNvSpPr>
          <p:nvPr>
            <p:ph idx="1"/>
          </p:nvPr>
        </p:nvSpPr>
        <p:spPr>
          <a:xfrm>
            <a:off x="457200" y="666750"/>
            <a:ext cx="8229600" cy="3927873"/>
          </a:xfrm>
        </p:spPr>
        <p:txBody>
          <a:bodyPr>
            <a:noAutofit/>
          </a:bodyPr>
          <a:lstStyle/>
          <a:p>
            <a:pPr lvl="0">
              <a:buFont typeface="+mj-lt"/>
              <a:buAutoNum type="arabicPeriod"/>
            </a:pPr>
            <a:r>
              <a:rPr lang="en-US" sz="1300" b="1" u="sng" dirty="0"/>
              <a:t>Burst transfer mode (Block Transfer Mode)</a:t>
            </a:r>
            <a:endParaRPr lang="en-US" sz="1300" b="1" dirty="0"/>
          </a:p>
          <a:p>
            <a:pPr lvl="1"/>
            <a:r>
              <a:rPr lang="en-US" sz="1300" dirty="0"/>
              <a:t>In this mode, an entire block of data is transferred in one contiguous sequence.</a:t>
            </a:r>
          </a:p>
          <a:p>
            <a:pPr lvl="1"/>
            <a:r>
              <a:rPr lang="en-US" sz="1300" dirty="0"/>
              <a:t>Once the DMA controller is granted access to the system buses by the CPU, it transfer all bytes of data in the data block before relinquishing control of the system buses back to the CPU.</a:t>
            </a:r>
          </a:p>
          <a:p>
            <a:pPr lvl="1"/>
            <a:r>
              <a:rPr lang="en-US" sz="1300" dirty="0"/>
              <a:t>This transfer mode is needed for faster devices such as magnetic desks, where data transmission cannot be stopped or slowed down until an entire block is transformed.</a:t>
            </a:r>
          </a:p>
          <a:p>
            <a:pPr lvl="0">
              <a:buFont typeface="+mj-lt"/>
              <a:buAutoNum type="arabicPeriod"/>
            </a:pPr>
            <a:r>
              <a:rPr lang="en-US" sz="1300" b="1" u="sng" dirty="0"/>
              <a:t>Cycle stealing</a:t>
            </a:r>
            <a:r>
              <a:rPr lang="en-US" sz="1300" b="1" dirty="0"/>
              <a:t>: - </a:t>
            </a:r>
          </a:p>
          <a:p>
            <a:pPr lvl="1"/>
            <a:r>
              <a:rPr lang="en-US" sz="1300" dirty="0"/>
              <a:t>In this mode, the DMA controller obtains access to the system buses as in the Burst mode.</a:t>
            </a:r>
          </a:p>
          <a:p>
            <a:pPr lvl="1"/>
            <a:r>
              <a:rPr lang="en-US" sz="1300" dirty="0"/>
              <a:t>However, it transfers one byte of data and then assert BR signal, returning control of the system buses to the CPU.</a:t>
            </a:r>
          </a:p>
          <a:p>
            <a:pPr lvl="1"/>
            <a:r>
              <a:rPr lang="en-US" sz="1300" dirty="0"/>
              <a:t>It continually issues requests via BR, transferring one byte of data per request, until it has transferred its entire block of data.</a:t>
            </a:r>
          </a:p>
          <a:p>
            <a:pPr lvl="0">
              <a:buFont typeface="+mj-lt"/>
              <a:buAutoNum type="arabicPeriod"/>
            </a:pPr>
            <a:r>
              <a:rPr lang="en-US" sz="1300" b="1" u="sng" dirty="0"/>
              <a:t>Transparent mode</a:t>
            </a:r>
            <a:r>
              <a:rPr lang="en-US" sz="1300" b="1" dirty="0"/>
              <a:t>: - </a:t>
            </a:r>
          </a:p>
          <a:p>
            <a:pPr lvl="1"/>
            <a:r>
              <a:rPr lang="en-US" sz="1300" dirty="0"/>
              <a:t>In the transparent mode the DMA controller transfers data only when the CPU is performing operations that do not use the system bus. </a:t>
            </a:r>
          </a:p>
          <a:p>
            <a:pPr lvl="1"/>
            <a:r>
              <a:rPr lang="en-US" sz="1300" dirty="0"/>
              <a:t>This way the DMA transfer never interferes with the CPU executing its programs. </a:t>
            </a:r>
          </a:p>
          <a:p>
            <a:pPr lvl="1"/>
            <a:r>
              <a:rPr lang="en-US" sz="1300" dirty="0"/>
              <a:t>Disadvantage of transparent mode is: complexity of determining when the CPU is not using the system bus. </a:t>
            </a:r>
          </a:p>
          <a:p>
            <a:pPr lvl="1"/>
            <a:r>
              <a:rPr lang="en-US" sz="1300" dirty="0"/>
              <a:t>This can be inefficient in terms of overall system performance</a:t>
            </a:r>
          </a:p>
        </p:txBody>
      </p:sp>
      <p:sp>
        <p:nvSpPr>
          <p:cNvPr id="4" name="Date Placeholder 3"/>
          <p:cNvSpPr>
            <a:spLocks noGrp="1"/>
          </p:cNvSpPr>
          <p:nvPr>
            <p:ph type="dt" sz="half" idx="10"/>
          </p:nvPr>
        </p:nvSpPr>
        <p:spPr/>
        <p:txBody>
          <a:bodyPr/>
          <a:lstStyle/>
          <a:p>
            <a:fld id="{4943ED9F-FF3D-4258-8B3C-D2CE5DEB2868}"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26</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spTree>
    <p:extLst>
      <p:ext uri="{BB962C8B-B14F-4D97-AF65-F5344CB8AC3E}">
        <p14:creationId xmlns:p14="http://schemas.microsoft.com/office/powerpoint/2010/main" val="25391309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8.4 I/O processors</a:t>
            </a:r>
          </a:p>
        </p:txBody>
      </p:sp>
      <p:sp>
        <p:nvSpPr>
          <p:cNvPr id="3" name="Content Placeholder 2"/>
          <p:cNvSpPr>
            <a:spLocks noGrp="1"/>
          </p:cNvSpPr>
          <p:nvPr>
            <p:ph idx="1"/>
          </p:nvPr>
        </p:nvSpPr>
        <p:spPr>
          <a:xfrm>
            <a:off x="457200" y="742950"/>
            <a:ext cx="4343400" cy="3851673"/>
          </a:xfrm>
        </p:spPr>
        <p:txBody>
          <a:bodyPr>
            <a:normAutofit fontScale="85000" lnSpcReduction="20000"/>
          </a:bodyPr>
          <a:lstStyle/>
          <a:p>
            <a:r>
              <a:rPr lang="en-US" sz="2000" dirty="0"/>
              <a:t>IO processors, sometimes also called I/O controllers, Channel controllers or peripheral processing units (PPUs)</a:t>
            </a:r>
          </a:p>
          <a:p>
            <a:r>
              <a:rPr lang="en-US" sz="2000" dirty="0"/>
              <a:t>The perform the functions of DMA controllers and much more. In fact, they usually incorporate several DMA controllers within their circuitry.</a:t>
            </a:r>
          </a:p>
          <a:p>
            <a:r>
              <a:rPr lang="en-US" sz="2000" dirty="0"/>
              <a:t>As shown in figure, the IO processor is situated between the IO devices and the rest of the system.</a:t>
            </a:r>
          </a:p>
          <a:p>
            <a:r>
              <a:rPr lang="en-US" sz="2000" dirty="0"/>
              <a:t>The IO processor, unlike DMA controller, connects to more than one IO device and coordinate transfers from several different IO devices.</a:t>
            </a:r>
          </a:p>
          <a:p>
            <a:r>
              <a:rPr lang="en-US" sz="2000" dirty="0"/>
              <a:t>It handles all of the interactions between the IO devices and the CPU.</a:t>
            </a:r>
          </a:p>
          <a:p>
            <a:endParaRPr lang="en-US" sz="2000" dirty="0"/>
          </a:p>
        </p:txBody>
      </p:sp>
      <p:sp>
        <p:nvSpPr>
          <p:cNvPr id="4" name="Date Placeholder 3"/>
          <p:cNvSpPr>
            <a:spLocks noGrp="1"/>
          </p:cNvSpPr>
          <p:nvPr>
            <p:ph type="dt" sz="half" idx="10"/>
          </p:nvPr>
        </p:nvSpPr>
        <p:spPr/>
        <p:txBody>
          <a:bodyPr/>
          <a:lstStyle/>
          <a:p>
            <a:fld id="{E517D2CF-3C26-436F-A79E-ADA314613DF1}"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27</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pic>
        <p:nvPicPr>
          <p:cNvPr id="7" name="Picture 6">
            <a:extLst>
              <a:ext uri="{FF2B5EF4-FFF2-40B4-BE49-F238E27FC236}">
                <a16:creationId xmlns:a16="http://schemas.microsoft.com/office/drawing/2014/main" id="{2093B13D-A20E-4A4C-A1DD-3DB52896FCC1}"/>
              </a:ext>
            </a:extLst>
          </p:cNvPr>
          <p:cNvPicPr>
            <a:picLocks noChangeAspect="1"/>
          </p:cNvPicPr>
          <p:nvPr/>
        </p:nvPicPr>
        <p:blipFill>
          <a:blip r:embed="rId2"/>
          <a:stretch>
            <a:fillRect/>
          </a:stretch>
        </p:blipFill>
        <p:spPr>
          <a:xfrm>
            <a:off x="5105400" y="666750"/>
            <a:ext cx="3709869" cy="2609850"/>
          </a:xfrm>
          <a:prstGeom prst="rect">
            <a:avLst/>
          </a:prstGeom>
        </p:spPr>
      </p:pic>
      <p:pic>
        <p:nvPicPr>
          <p:cNvPr id="8" name="Picture 7">
            <a:extLst>
              <a:ext uri="{FF2B5EF4-FFF2-40B4-BE49-F238E27FC236}">
                <a16:creationId xmlns:a16="http://schemas.microsoft.com/office/drawing/2014/main" id="{DF034DCE-3E34-4ECA-B3BB-57AC89BEC178}"/>
              </a:ext>
            </a:extLst>
          </p:cNvPr>
          <p:cNvPicPr>
            <a:picLocks noChangeAspect="1"/>
          </p:cNvPicPr>
          <p:nvPr/>
        </p:nvPicPr>
        <p:blipFill>
          <a:blip r:embed="rId3"/>
          <a:stretch>
            <a:fillRect/>
          </a:stretch>
        </p:blipFill>
        <p:spPr>
          <a:xfrm>
            <a:off x="4950559" y="3353990"/>
            <a:ext cx="4019550" cy="190500"/>
          </a:xfrm>
          <a:prstGeom prst="rect">
            <a:avLst/>
          </a:prstGeom>
        </p:spPr>
      </p:pic>
    </p:spTree>
    <p:extLst>
      <p:ext uri="{BB962C8B-B14F-4D97-AF65-F5344CB8AC3E}">
        <p14:creationId xmlns:p14="http://schemas.microsoft.com/office/powerpoint/2010/main" val="24730301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8.5 Serial Communication, UART</a:t>
            </a:r>
          </a:p>
        </p:txBody>
      </p:sp>
      <p:sp>
        <p:nvSpPr>
          <p:cNvPr id="3" name="Content Placeholder 2"/>
          <p:cNvSpPr>
            <a:spLocks noGrp="1"/>
          </p:cNvSpPr>
          <p:nvPr>
            <p:ph idx="1"/>
          </p:nvPr>
        </p:nvSpPr>
        <p:spPr>
          <a:xfrm>
            <a:off x="457200" y="742950"/>
            <a:ext cx="8229600" cy="3851673"/>
          </a:xfrm>
        </p:spPr>
        <p:txBody>
          <a:bodyPr>
            <a:normAutofit lnSpcReduction="10000"/>
          </a:bodyPr>
          <a:lstStyle/>
          <a:p>
            <a:r>
              <a:rPr lang="en-US" sz="2000" dirty="0"/>
              <a:t>Some devices cannot handle more than one bit of data at a time by design; they utilize serial communication.</a:t>
            </a:r>
          </a:p>
          <a:p>
            <a:r>
              <a:rPr lang="en-US" sz="2000" dirty="0"/>
              <a:t>This may be done to reduce cost or to facilitate communication with devices outside of the computer system.</a:t>
            </a:r>
          </a:p>
          <a:p>
            <a:r>
              <a:rPr lang="en-US" sz="2000" dirty="0"/>
              <a:t>In fact, CPU interacts with devices using parallel communication. So, and interface or the device itself converts the data between serial parallel forms. </a:t>
            </a:r>
          </a:p>
          <a:p>
            <a:r>
              <a:rPr lang="en-US" sz="2000" dirty="0"/>
              <a:t>Asynchronous serial communication is used to interact with devices outside of the computer, such as when connecting to another computer via modem. The connected devices do not  share a common clock.</a:t>
            </a:r>
          </a:p>
          <a:p>
            <a:r>
              <a:rPr lang="en-US" sz="2000" dirty="0"/>
              <a:t>Synchronous Serial transmission is more efficient. It transmits block of data in frames, which  consist of leading transmission information.</a:t>
            </a:r>
          </a:p>
        </p:txBody>
      </p:sp>
      <p:sp>
        <p:nvSpPr>
          <p:cNvPr id="4" name="Date Placeholder 3"/>
          <p:cNvSpPr>
            <a:spLocks noGrp="1"/>
          </p:cNvSpPr>
          <p:nvPr>
            <p:ph type="dt" sz="half" idx="10"/>
          </p:nvPr>
        </p:nvSpPr>
        <p:spPr/>
        <p:txBody>
          <a:bodyPr/>
          <a:lstStyle/>
          <a:p>
            <a:fld id="{26001C55-6620-49B6-9059-96C06A039A26}"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28</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spTree>
    <p:extLst>
      <p:ext uri="{BB962C8B-B14F-4D97-AF65-F5344CB8AC3E}">
        <p14:creationId xmlns:p14="http://schemas.microsoft.com/office/powerpoint/2010/main" val="32911265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7030A0"/>
                </a:solidFill>
              </a:rPr>
              <a:t>Serial Communication</a:t>
            </a:r>
          </a:p>
        </p:txBody>
      </p:sp>
      <p:sp>
        <p:nvSpPr>
          <p:cNvPr id="3" name="Content Placeholder 2"/>
          <p:cNvSpPr>
            <a:spLocks noGrp="1"/>
          </p:cNvSpPr>
          <p:nvPr>
            <p:ph idx="1"/>
          </p:nvPr>
        </p:nvSpPr>
        <p:spPr>
          <a:xfrm>
            <a:off x="457200" y="742950"/>
            <a:ext cx="8229600" cy="3851673"/>
          </a:xfrm>
        </p:spPr>
        <p:txBody>
          <a:bodyPr>
            <a:normAutofit/>
          </a:bodyPr>
          <a:lstStyle/>
          <a:p>
            <a:pPr lvl="0"/>
            <a:r>
              <a:rPr lang="en-US" sz="1600" dirty="0"/>
              <a:t>Serial communication involves a physical layer that carries one bit of data at a time.</a:t>
            </a:r>
          </a:p>
          <a:p>
            <a:pPr lvl="0"/>
            <a:r>
              <a:rPr lang="en-US" sz="1600" dirty="0"/>
              <a:t>The data bus is composed of a single data wire, with control and possibly power wires, running from one device to another.</a:t>
            </a:r>
          </a:p>
          <a:p>
            <a:pPr lvl="0"/>
            <a:r>
              <a:rPr lang="en-US" sz="1600" dirty="0"/>
              <a:t>When data is to be sent, the sender first transmits a start bit. This start bit merely signals the receiver to wakeup and start receiving data.</a:t>
            </a:r>
          </a:p>
          <a:p>
            <a:pPr lvl="0"/>
            <a:r>
              <a:rPr lang="en-US" sz="1600" dirty="0"/>
              <a:t>The start bit is followed by N data bits, and a stop bit.</a:t>
            </a:r>
          </a:p>
          <a:p>
            <a:pPr lvl="0"/>
            <a:r>
              <a:rPr lang="en-US" sz="1600" dirty="0"/>
              <a:t>Advantage: low cost and suitable for long distance communication</a:t>
            </a:r>
          </a:p>
          <a:p>
            <a:pPr lvl="0"/>
            <a:r>
              <a:rPr lang="en-US" sz="1600" dirty="0"/>
              <a:t>Disadvantage: low speed and low data rate.</a:t>
            </a:r>
          </a:p>
          <a:p>
            <a:endParaRPr lang="en-US" sz="1000" dirty="0"/>
          </a:p>
          <a:p>
            <a:endParaRPr lang="en-US" sz="1600" dirty="0"/>
          </a:p>
        </p:txBody>
      </p:sp>
      <p:sp>
        <p:nvSpPr>
          <p:cNvPr id="4" name="Date Placeholder 3"/>
          <p:cNvSpPr>
            <a:spLocks noGrp="1"/>
          </p:cNvSpPr>
          <p:nvPr>
            <p:ph type="dt" sz="half" idx="10"/>
          </p:nvPr>
        </p:nvSpPr>
        <p:spPr/>
        <p:txBody>
          <a:bodyPr/>
          <a:lstStyle/>
          <a:p>
            <a:fld id="{A6A7B603-F733-4DC7-AD9E-0EEED6BF8584}"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29</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pic>
        <p:nvPicPr>
          <p:cNvPr id="7" name="Picture 6" descr="C:\Users\User\AppData\Local\Microsoft\Windows\INetCache\Content.MSO\C657A6C4.tmp">
            <a:extLst>
              <a:ext uri="{FF2B5EF4-FFF2-40B4-BE49-F238E27FC236}">
                <a16:creationId xmlns:a16="http://schemas.microsoft.com/office/drawing/2014/main" id="{580A4C92-D6B5-48D2-976D-20D67CA42F4F}"/>
              </a:ext>
            </a:extLst>
          </p:cNvPr>
          <p:cNvPicPr/>
          <p:nvPr/>
        </p:nvPicPr>
        <p:blipFill rotWithShape="1">
          <a:blip r:embed="rId2">
            <a:extLst>
              <a:ext uri="{28A0092B-C50C-407E-A947-70E740481C1C}">
                <a14:useLocalDpi xmlns:a14="http://schemas.microsoft.com/office/drawing/2010/main" val="0"/>
              </a:ext>
            </a:extLst>
          </a:blip>
          <a:srcRect b="30337"/>
          <a:stretch/>
        </p:blipFill>
        <p:spPr bwMode="auto">
          <a:xfrm>
            <a:off x="2737485" y="3307556"/>
            <a:ext cx="3669030" cy="1276349"/>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3751503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3352800" cy="592931"/>
          </a:xfrm>
        </p:spPr>
        <p:txBody>
          <a:bodyPr>
            <a:noAutofit/>
          </a:bodyPr>
          <a:lstStyle/>
          <a:p>
            <a:pPr algn="l">
              <a:tabLst>
                <a:tab pos="463550" algn="l"/>
              </a:tabLst>
            </a:pPr>
            <a:r>
              <a:rPr lang="en-US" sz="2000" b="1" dirty="0">
                <a:solidFill>
                  <a:srgbClr val="7030A0"/>
                </a:solidFill>
              </a:rPr>
              <a:t>Universal Asynchronous Receiver/Transmitters (UART)</a:t>
            </a:r>
          </a:p>
        </p:txBody>
      </p:sp>
      <p:sp>
        <p:nvSpPr>
          <p:cNvPr id="3" name="Content Placeholder 2"/>
          <p:cNvSpPr>
            <a:spLocks noGrp="1"/>
          </p:cNvSpPr>
          <p:nvPr>
            <p:ph idx="1"/>
          </p:nvPr>
        </p:nvSpPr>
        <p:spPr>
          <a:xfrm>
            <a:off x="457200" y="971550"/>
            <a:ext cx="4800600" cy="3623073"/>
          </a:xfrm>
        </p:spPr>
        <p:txBody>
          <a:bodyPr>
            <a:normAutofit/>
          </a:bodyPr>
          <a:lstStyle/>
          <a:p>
            <a:r>
              <a:rPr lang="en-US" sz="1600" dirty="0"/>
              <a:t>A device for asynchronous communication</a:t>
            </a:r>
          </a:p>
          <a:p>
            <a:pPr lvl="0"/>
            <a:r>
              <a:rPr lang="en-US" sz="1600" dirty="0"/>
              <a:t>UART is parallel I/O device as seen by CPU.</a:t>
            </a:r>
          </a:p>
          <a:p>
            <a:pPr lvl="0"/>
            <a:r>
              <a:rPr lang="en-US" sz="1600" dirty="0"/>
              <a:t>But it inputs and outputs data serially. It can interact with any device that can access serial data.</a:t>
            </a:r>
          </a:p>
          <a:p>
            <a:pPr lvl="0"/>
            <a:r>
              <a:rPr lang="en-US" sz="1600" dirty="0"/>
              <a:t>In given figure, UART exchange data with a modem</a:t>
            </a:r>
          </a:p>
          <a:p>
            <a:pPr lvl="0"/>
            <a:r>
              <a:rPr lang="en-US" sz="1600" dirty="0"/>
              <a:t>For transmitting data, UART O/P sequential data to modem in which modules the data, combining with carrier frequency and transmitting it.</a:t>
            </a:r>
          </a:p>
          <a:p>
            <a:pPr lvl="0"/>
            <a:r>
              <a:rPr lang="en-US" sz="1600" dirty="0"/>
              <a:t>For receiving data, modem accepts a signal at different carrier frequency and demodulates it, extracts data and transmit it serially to UART.</a:t>
            </a:r>
          </a:p>
          <a:p>
            <a:endParaRPr lang="en-US" sz="1100" dirty="0"/>
          </a:p>
        </p:txBody>
      </p:sp>
      <p:sp>
        <p:nvSpPr>
          <p:cNvPr id="4" name="Date Placeholder 3"/>
          <p:cNvSpPr>
            <a:spLocks noGrp="1"/>
          </p:cNvSpPr>
          <p:nvPr>
            <p:ph type="dt" sz="half" idx="10"/>
          </p:nvPr>
        </p:nvSpPr>
        <p:spPr/>
        <p:txBody>
          <a:bodyPr/>
          <a:lstStyle/>
          <a:p>
            <a:fld id="{88E3BF45-2600-49EE-810A-379E7E996040}"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30</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pic>
        <p:nvPicPr>
          <p:cNvPr id="7" name="Picture 6">
            <a:extLst>
              <a:ext uri="{FF2B5EF4-FFF2-40B4-BE49-F238E27FC236}">
                <a16:creationId xmlns:a16="http://schemas.microsoft.com/office/drawing/2014/main" id="{6FF1AB5D-3180-4B0A-B701-FAC2A514EC36}"/>
              </a:ext>
            </a:extLst>
          </p:cNvPr>
          <p:cNvPicPr/>
          <p:nvPr/>
        </p:nvPicPr>
        <p:blipFill rotWithShape="1">
          <a:blip r:embed="rId2">
            <a:extLst>
              <a:ext uri="{28A0092B-C50C-407E-A947-70E740481C1C}">
                <a14:useLocalDpi xmlns:a14="http://schemas.microsoft.com/office/drawing/2010/main" val="0"/>
              </a:ext>
            </a:extLst>
          </a:blip>
          <a:srcRect l="5999" t="3024" r="5001" b="4442"/>
          <a:stretch/>
        </p:blipFill>
        <p:spPr>
          <a:xfrm>
            <a:off x="5728616" y="102392"/>
            <a:ext cx="3243263" cy="2164557"/>
          </a:xfrm>
          <a:prstGeom prst="rect">
            <a:avLst/>
          </a:prstGeom>
        </p:spPr>
      </p:pic>
      <p:pic>
        <p:nvPicPr>
          <p:cNvPr id="8" name="Picture 7">
            <a:extLst>
              <a:ext uri="{FF2B5EF4-FFF2-40B4-BE49-F238E27FC236}">
                <a16:creationId xmlns:a16="http://schemas.microsoft.com/office/drawing/2014/main" id="{562E6A0A-51CE-45E1-85BF-D618845A320F}"/>
              </a:ext>
            </a:extLst>
          </p:cNvPr>
          <p:cNvPicPr>
            <a:picLocks noChangeAspect="1"/>
          </p:cNvPicPr>
          <p:nvPr/>
        </p:nvPicPr>
        <p:blipFill>
          <a:blip r:embed="rId3"/>
          <a:stretch>
            <a:fillRect/>
          </a:stretch>
        </p:blipFill>
        <p:spPr>
          <a:xfrm>
            <a:off x="5728616" y="2290991"/>
            <a:ext cx="3019425" cy="219075"/>
          </a:xfrm>
          <a:prstGeom prst="rect">
            <a:avLst/>
          </a:prstGeom>
        </p:spPr>
      </p:pic>
      <p:pic>
        <p:nvPicPr>
          <p:cNvPr id="9" name="Picture 8">
            <a:extLst>
              <a:ext uri="{FF2B5EF4-FFF2-40B4-BE49-F238E27FC236}">
                <a16:creationId xmlns:a16="http://schemas.microsoft.com/office/drawing/2014/main" id="{2A9F1494-6D2B-4F64-A707-B266CCA03811}"/>
              </a:ext>
            </a:extLst>
          </p:cNvPr>
          <p:cNvPicPr>
            <a:picLocks noChangeAspect="1"/>
          </p:cNvPicPr>
          <p:nvPr/>
        </p:nvPicPr>
        <p:blipFill>
          <a:blip r:embed="rId4"/>
          <a:stretch>
            <a:fillRect/>
          </a:stretch>
        </p:blipFill>
        <p:spPr>
          <a:xfrm>
            <a:off x="5852441" y="2682706"/>
            <a:ext cx="3019425" cy="2100470"/>
          </a:xfrm>
          <a:prstGeom prst="rect">
            <a:avLst/>
          </a:prstGeom>
        </p:spPr>
      </p:pic>
      <p:pic>
        <p:nvPicPr>
          <p:cNvPr id="10" name="Picture 9">
            <a:extLst>
              <a:ext uri="{FF2B5EF4-FFF2-40B4-BE49-F238E27FC236}">
                <a16:creationId xmlns:a16="http://schemas.microsoft.com/office/drawing/2014/main" id="{5BD82507-F369-4115-82AE-66E0F67F8403}"/>
              </a:ext>
            </a:extLst>
          </p:cNvPr>
          <p:cNvPicPr>
            <a:picLocks noChangeAspect="1"/>
          </p:cNvPicPr>
          <p:nvPr/>
        </p:nvPicPr>
        <p:blipFill>
          <a:blip r:embed="rId5"/>
          <a:stretch>
            <a:fillRect/>
          </a:stretch>
        </p:blipFill>
        <p:spPr>
          <a:xfrm>
            <a:off x="5971503" y="4765074"/>
            <a:ext cx="2533650" cy="333375"/>
          </a:xfrm>
          <a:prstGeom prst="rect">
            <a:avLst/>
          </a:prstGeom>
        </p:spPr>
      </p:pic>
    </p:spTree>
    <p:extLst>
      <p:ext uri="{BB962C8B-B14F-4D97-AF65-F5344CB8AC3E}">
        <p14:creationId xmlns:p14="http://schemas.microsoft.com/office/powerpoint/2010/main" val="9931425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3352800" cy="592931"/>
          </a:xfrm>
        </p:spPr>
        <p:txBody>
          <a:bodyPr>
            <a:noAutofit/>
          </a:bodyPr>
          <a:lstStyle/>
          <a:p>
            <a:pPr algn="l">
              <a:tabLst>
                <a:tab pos="463550" algn="l"/>
              </a:tabLst>
            </a:pPr>
            <a:r>
              <a:rPr lang="en-US" sz="2000" b="1" dirty="0">
                <a:solidFill>
                  <a:srgbClr val="FF0000"/>
                </a:solidFill>
              </a:rPr>
              <a:t>Universal Asynchronous Receiver/Transmitters (UART)</a:t>
            </a:r>
          </a:p>
        </p:txBody>
      </p:sp>
      <p:sp>
        <p:nvSpPr>
          <p:cNvPr id="3" name="Content Placeholder 2"/>
          <p:cNvSpPr>
            <a:spLocks noGrp="1"/>
          </p:cNvSpPr>
          <p:nvPr>
            <p:ph idx="1"/>
          </p:nvPr>
        </p:nvSpPr>
        <p:spPr>
          <a:xfrm>
            <a:off x="457200" y="971550"/>
            <a:ext cx="4800600" cy="3623073"/>
          </a:xfrm>
        </p:spPr>
        <p:txBody>
          <a:bodyPr>
            <a:normAutofit fontScale="92500" lnSpcReduction="20000"/>
          </a:bodyPr>
          <a:lstStyle/>
          <a:p>
            <a:r>
              <a:rPr lang="en-US" sz="1800" dirty="0"/>
              <a:t>Th UART has several internal registers,  just as in the DMA controller.</a:t>
            </a:r>
          </a:p>
          <a:p>
            <a:r>
              <a:rPr lang="en-US" sz="1800" dirty="0"/>
              <a:t>Like the DMA controller, the CPU treats these registers as individual IO ports.</a:t>
            </a:r>
          </a:p>
          <a:p>
            <a:r>
              <a:rPr lang="en-US" sz="1800" dirty="0"/>
              <a:t>A typical UART contains registers to hold transmitted and received data, a control register, and a status register, all of which are accessible to the CPU.</a:t>
            </a:r>
          </a:p>
          <a:p>
            <a:r>
              <a:rPr lang="en-US" sz="1800" dirty="0"/>
              <a:t>It also contains shift registers, which convert data from parallel to serial  (For data transmission) and vice-versa  (For data reception) </a:t>
            </a:r>
          </a:p>
          <a:p>
            <a:r>
              <a:rPr lang="en-US" sz="1800" dirty="0"/>
              <a:t>The UART’s control unit also coordinates the insertion and removal of start, parity and stop bits.</a:t>
            </a:r>
          </a:p>
        </p:txBody>
      </p:sp>
      <p:sp>
        <p:nvSpPr>
          <p:cNvPr id="4" name="Date Placeholder 3"/>
          <p:cNvSpPr>
            <a:spLocks noGrp="1"/>
          </p:cNvSpPr>
          <p:nvPr>
            <p:ph type="dt" sz="half" idx="10"/>
          </p:nvPr>
        </p:nvSpPr>
        <p:spPr/>
        <p:txBody>
          <a:bodyPr/>
          <a:lstStyle/>
          <a:p>
            <a:fld id="{858930FB-E854-4722-AB84-45795D717E94}"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31</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pic>
        <p:nvPicPr>
          <p:cNvPr id="7" name="Picture 6">
            <a:extLst>
              <a:ext uri="{FF2B5EF4-FFF2-40B4-BE49-F238E27FC236}">
                <a16:creationId xmlns:a16="http://schemas.microsoft.com/office/drawing/2014/main" id="{6FF1AB5D-3180-4B0A-B701-FAC2A514EC36}"/>
              </a:ext>
            </a:extLst>
          </p:cNvPr>
          <p:cNvPicPr/>
          <p:nvPr/>
        </p:nvPicPr>
        <p:blipFill rotWithShape="1">
          <a:blip r:embed="rId2">
            <a:extLst>
              <a:ext uri="{28A0092B-C50C-407E-A947-70E740481C1C}">
                <a14:useLocalDpi xmlns:a14="http://schemas.microsoft.com/office/drawing/2010/main" val="0"/>
              </a:ext>
            </a:extLst>
          </a:blip>
          <a:srcRect l="5999" t="3024" r="5001" b="4442"/>
          <a:stretch/>
        </p:blipFill>
        <p:spPr>
          <a:xfrm>
            <a:off x="5728616" y="102392"/>
            <a:ext cx="3243263" cy="2164557"/>
          </a:xfrm>
          <a:prstGeom prst="rect">
            <a:avLst/>
          </a:prstGeom>
        </p:spPr>
      </p:pic>
      <p:pic>
        <p:nvPicPr>
          <p:cNvPr id="8" name="Picture 7">
            <a:extLst>
              <a:ext uri="{FF2B5EF4-FFF2-40B4-BE49-F238E27FC236}">
                <a16:creationId xmlns:a16="http://schemas.microsoft.com/office/drawing/2014/main" id="{562E6A0A-51CE-45E1-85BF-D618845A320F}"/>
              </a:ext>
            </a:extLst>
          </p:cNvPr>
          <p:cNvPicPr>
            <a:picLocks noChangeAspect="1"/>
          </p:cNvPicPr>
          <p:nvPr/>
        </p:nvPicPr>
        <p:blipFill>
          <a:blip r:embed="rId3"/>
          <a:stretch>
            <a:fillRect/>
          </a:stretch>
        </p:blipFill>
        <p:spPr>
          <a:xfrm>
            <a:off x="5728616" y="2290991"/>
            <a:ext cx="3019425" cy="219075"/>
          </a:xfrm>
          <a:prstGeom prst="rect">
            <a:avLst/>
          </a:prstGeom>
        </p:spPr>
      </p:pic>
      <p:pic>
        <p:nvPicPr>
          <p:cNvPr id="9" name="Picture 8">
            <a:extLst>
              <a:ext uri="{FF2B5EF4-FFF2-40B4-BE49-F238E27FC236}">
                <a16:creationId xmlns:a16="http://schemas.microsoft.com/office/drawing/2014/main" id="{2A9F1494-6D2B-4F64-A707-B266CCA03811}"/>
              </a:ext>
            </a:extLst>
          </p:cNvPr>
          <p:cNvPicPr>
            <a:picLocks noChangeAspect="1"/>
          </p:cNvPicPr>
          <p:nvPr/>
        </p:nvPicPr>
        <p:blipFill>
          <a:blip r:embed="rId4"/>
          <a:stretch>
            <a:fillRect/>
          </a:stretch>
        </p:blipFill>
        <p:spPr>
          <a:xfrm>
            <a:off x="5852441" y="2682706"/>
            <a:ext cx="3019425" cy="2100470"/>
          </a:xfrm>
          <a:prstGeom prst="rect">
            <a:avLst/>
          </a:prstGeom>
        </p:spPr>
      </p:pic>
      <p:pic>
        <p:nvPicPr>
          <p:cNvPr id="10" name="Picture 9">
            <a:extLst>
              <a:ext uri="{FF2B5EF4-FFF2-40B4-BE49-F238E27FC236}">
                <a16:creationId xmlns:a16="http://schemas.microsoft.com/office/drawing/2014/main" id="{5BD82507-F369-4115-82AE-66E0F67F8403}"/>
              </a:ext>
            </a:extLst>
          </p:cNvPr>
          <p:cNvPicPr>
            <a:picLocks noChangeAspect="1"/>
          </p:cNvPicPr>
          <p:nvPr/>
        </p:nvPicPr>
        <p:blipFill>
          <a:blip r:embed="rId5"/>
          <a:stretch>
            <a:fillRect/>
          </a:stretch>
        </p:blipFill>
        <p:spPr>
          <a:xfrm>
            <a:off x="5971503" y="4765074"/>
            <a:ext cx="2533650" cy="333375"/>
          </a:xfrm>
          <a:prstGeom prst="rect">
            <a:avLst/>
          </a:prstGeom>
        </p:spPr>
      </p:pic>
    </p:spTree>
    <p:extLst>
      <p:ext uri="{BB962C8B-B14F-4D97-AF65-F5344CB8AC3E}">
        <p14:creationId xmlns:p14="http://schemas.microsoft.com/office/powerpoint/2010/main" val="30761796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8.6 USB standards</a:t>
            </a:r>
          </a:p>
        </p:txBody>
      </p:sp>
      <p:sp>
        <p:nvSpPr>
          <p:cNvPr id="3" name="Content Placeholder 2"/>
          <p:cNvSpPr>
            <a:spLocks noGrp="1"/>
          </p:cNvSpPr>
          <p:nvPr>
            <p:ph idx="1"/>
          </p:nvPr>
        </p:nvSpPr>
        <p:spPr>
          <a:xfrm>
            <a:off x="457200" y="742950"/>
            <a:ext cx="8229600" cy="3851673"/>
          </a:xfrm>
        </p:spPr>
        <p:txBody>
          <a:bodyPr>
            <a:normAutofit lnSpcReduction="10000"/>
          </a:bodyPr>
          <a:lstStyle/>
          <a:p>
            <a:pPr lvl="0"/>
            <a:r>
              <a:rPr lang="en-US" sz="1600" dirty="0"/>
              <a:t>USB is a specification to establish communication between devices and computer. It replace serial and parallel ports.</a:t>
            </a:r>
          </a:p>
          <a:p>
            <a:pPr lvl="0"/>
            <a:r>
              <a:rPr lang="en-US" sz="1600" dirty="0"/>
              <a:t>USB is an industry standard developed to provide two speed of operations called low speed and full speed. They provide simple, low cost and easy to use interconnection system.</a:t>
            </a:r>
          </a:p>
          <a:p>
            <a:r>
              <a:rPr lang="en-US" sz="1600" dirty="0"/>
              <a:t>                          Low speed- 1.5mbps</a:t>
            </a:r>
          </a:p>
          <a:p>
            <a:r>
              <a:rPr lang="en-US" sz="1600" dirty="0"/>
              <a:t>                          High speed- 12mbps</a:t>
            </a:r>
          </a:p>
          <a:p>
            <a:pPr lvl="0"/>
            <a:r>
              <a:rPr lang="en-US" sz="1600" dirty="0"/>
              <a:t>USB transmits data in packets. This packet can specify an address, allowing several devices to be connected to USB- port.</a:t>
            </a:r>
          </a:p>
          <a:p>
            <a:pPr lvl="0"/>
            <a:r>
              <a:rPr lang="en-US" sz="1600" dirty="0"/>
              <a:t>USB port is faster than RS-232C port.</a:t>
            </a:r>
          </a:p>
          <a:p>
            <a:pPr lvl="0"/>
            <a:r>
              <a:rPr lang="en-US" sz="1600" dirty="0"/>
              <a:t>The USB standard specifies 4 types of packets which are used to communicate between a computer and its USB peripherals.</a:t>
            </a:r>
          </a:p>
          <a:p>
            <a:pPr lvl="1"/>
            <a:r>
              <a:rPr lang="en-US" sz="1400" u="sng" dirty="0"/>
              <a:t>Token packets:</a:t>
            </a:r>
            <a:r>
              <a:rPr lang="en-US" sz="1400" dirty="0"/>
              <a:t> - It is used to initiates data transfer. It specifies address and end point for a transfer.</a:t>
            </a:r>
          </a:p>
          <a:p>
            <a:pPr lvl="1"/>
            <a:r>
              <a:rPr lang="en-US" sz="1400" u="sng" dirty="0"/>
              <a:t>Data packets:</a:t>
            </a:r>
            <a:r>
              <a:rPr lang="en-US" sz="1400" dirty="0"/>
              <a:t> - It contains data transferred to or from a device</a:t>
            </a:r>
          </a:p>
          <a:p>
            <a:pPr lvl="1"/>
            <a:r>
              <a:rPr lang="en-US" sz="1400" u="sng" dirty="0"/>
              <a:t>Handshake packet:</a:t>
            </a:r>
            <a:r>
              <a:rPr lang="en-US" sz="1400" dirty="0"/>
              <a:t> - It transfer information used to coordinate data transfers</a:t>
            </a:r>
            <a:endParaRPr lang="en-US" sz="1200" dirty="0"/>
          </a:p>
          <a:p>
            <a:pPr lvl="1"/>
            <a:r>
              <a:rPr lang="en-US" sz="1400" u="sng" dirty="0"/>
              <a:t>Special packets:</a:t>
            </a:r>
            <a:r>
              <a:rPr lang="en-US" sz="1400" dirty="0"/>
              <a:t> - It includes different other functions.</a:t>
            </a:r>
            <a:endParaRPr lang="en-US" sz="1200" dirty="0"/>
          </a:p>
          <a:p>
            <a:pPr lvl="1"/>
            <a:endParaRPr lang="en-US" sz="900" dirty="0"/>
          </a:p>
        </p:txBody>
      </p:sp>
      <p:sp>
        <p:nvSpPr>
          <p:cNvPr id="4" name="Date Placeholder 3"/>
          <p:cNvSpPr>
            <a:spLocks noGrp="1"/>
          </p:cNvSpPr>
          <p:nvPr>
            <p:ph type="dt" sz="half" idx="10"/>
          </p:nvPr>
        </p:nvSpPr>
        <p:spPr/>
        <p:txBody>
          <a:bodyPr/>
          <a:lstStyle/>
          <a:p>
            <a:fld id="{5629CFC1-6A7A-47D0-9E8E-8B5D167799D3}"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32</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spTree>
    <p:extLst>
      <p:ext uri="{BB962C8B-B14F-4D97-AF65-F5344CB8AC3E}">
        <p14:creationId xmlns:p14="http://schemas.microsoft.com/office/powerpoint/2010/main" val="20008098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p:spPr>
        <p:txBody>
          <a:bodyPr>
            <a:normAutofit/>
          </a:bodyPr>
          <a:lstStyle/>
          <a:p>
            <a:endParaRPr lang="en-US" sz="2000" dirty="0"/>
          </a:p>
        </p:txBody>
      </p:sp>
      <p:sp>
        <p:nvSpPr>
          <p:cNvPr id="4" name="Date Placeholder 3"/>
          <p:cNvSpPr>
            <a:spLocks noGrp="1"/>
          </p:cNvSpPr>
          <p:nvPr>
            <p:ph type="dt" sz="half" idx="10"/>
          </p:nvPr>
        </p:nvSpPr>
        <p:spPr/>
        <p:txBody>
          <a:bodyPr/>
          <a:lstStyle/>
          <a:p>
            <a:fld id="{D9E3223F-FC30-46DF-8D51-556129BA7E95}"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33</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pic>
        <p:nvPicPr>
          <p:cNvPr id="7" name="Picture 6">
            <a:extLst>
              <a:ext uri="{FF2B5EF4-FFF2-40B4-BE49-F238E27FC236}">
                <a16:creationId xmlns:a16="http://schemas.microsoft.com/office/drawing/2014/main" id="{04AE3351-2151-4BEC-B929-81577116FAEF}"/>
              </a:ext>
            </a:extLst>
          </p:cNvPr>
          <p:cNvPicPr>
            <a:picLocks noChangeAspect="1"/>
          </p:cNvPicPr>
          <p:nvPr/>
        </p:nvPicPr>
        <p:blipFill>
          <a:blip r:embed="rId2"/>
          <a:stretch>
            <a:fillRect/>
          </a:stretch>
        </p:blipFill>
        <p:spPr>
          <a:xfrm>
            <a:off x="1843087" y="205979"/>
            <a:ext cx="5457825" cy="4419600"/>
          </a:xfrm>
          <a:prstGeom prst="rect">
            <a:avLst/>
          </a:prstGeom>
        </p:spPr>
      </p:pic>
    </p:spTree>
    <p:extLst>
      <p:ext uri="{BB962C8B-B14F-4D97-AF65-F5344CB8AC3E}">
        <p14:creationId xmlns:p14="http://schemas.microsoft.com/office/powerpoint/2010/main" val="21563650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RS 232 C-standard</a:t>
            </a:r>
          </a:p>
        </p:txBody>
      </p:sp>
      <p:sp>
        <p:nvSpPr>
          <p:cNvPr id="3" name="Content Placeholder 2"/>
          <p:cNvSpPr>
            <a:spLocks noGrp="1"/>
          </p:cNvSpPr>
          <p:nvPr>
            <p:ph idx="1"/>
          </p:nvPr>
        </p:nvSpPr>
        <p:spPr>
          <a:xfrm>
            <a:off x="457200" y="742950"/>
            <a:ext cx="8229600" cy="3851673"/>
          </a:xfrm>
        </p:spPr>
        <p:txBody>
          <a:bodyPr>
            <a:normAutofit/>
          </a:bodyPr>
          <a:lstStyle/>
          <a:p>
            <a:r>
              <a:rPr lang="en-US" sz="2400" dirty="0"/>
              <a:t>RS 232-C is an interface convention developed to standardize the interface between data terminal equipment (DTE) and data common equipment (DCE), serial binary data exchange. </a:t>
            </a:r>
          </a:p>
          <a:p>
            <a:endParaRPr lang="en-US" sz="1600" dirty="0"/>
          </a:p>
        </p:txBody>
      </p:sp>
      <p:sp>
        <p:nvSpPr>
          <p:cNvPr id="4" name="Date Placeholder 3"/>
          <p:cNvSpPr>
            <a:spLocks noGrp="1"/>
          </p:cNvSpPr>
          <p:nvPr>
            <p:ph type="dt" sz="half" idx="10"/>
          </p:nvPr>
        </p:nvSpPr>
        <p:spPr/>
        <p:txBody>
          <a:bodyPr/>
          <a:lstStyle/>
          <a:p>
            <a:fld id="{41CF05B1-3988-42C7-AE85-1304178BF4FE}"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34</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pic>
        <p:nvPicPr>
          <p:cNvPr id="7" name="Picture 6">
            <a:extLst>
              <a:ext uri="{FF2B5EF4-FFF2-40B4-BE49-F238E27FC236}">
                <a16:creationId xmlns:a16="http://schemas.microsoft.com/office/drawing/2014/main" id="{5519C245-8AF3-4D4F-BCE0-78387EE50A99}"/>
              </a:ext>
            </a:extLst>
          </p:cNvPr>
          <p:cNvPicPr/>
          <p:nvPr/>
        </p:nvPicPr>
        <p:blipFill>
          <a:blip r:embed="rId2">
            <a:extLst>
              <a:ext uri="{28A0092B-C50C-407E-A947-70E740481C1C}">
                <a14:useLocalDpi xmlns:a14="http://schemas.microsoft.com/office/drawing/2010/main" val="0"/>
              </a:ext>
            </a:extLst>
          </a:blip>
          <a:stretch>
            <a:fillRect/>
          </a:stretch>
        </p:blipFill>
        <p:spPr>
          <a:xfrm>
            <a:off x="2057400" y="2036326"/>
            <a:ext cx="4876800" cy="2059424"/>
          </a:xfrm>
          <a:prstGeom prst="rect">
            <a:avLst/>
          </a:prstGeom>
        </p:spPr>
      </p:pic>
    </p:spTree>
    <p:extLst>
      <p:ext uri="{BB962C8B-B14F-4D97-AF65-F5344CB8AC3E}">
        <p14:creationId xmlns:p14="http://schemas.microsoft.com/office/powerpoint/2010/main" val="39995658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RS 422A Standard:</a:t>
            </a:r>
          </a:p>
        </p:txBody>
      </p:sp>
      <p:sp>
        <p:nvSpPr>
          <p:cNvPr id="3" name="Content Placeholder 2"/>
          <p:cNvSpPr>
            <a:spLocks noGrp="1"/>
          </p:cNvSpPr>
          <p:nvPr>
            <p:ph idx="1"/>
          </p:nvPr>
        </p:nvSpPr>
        <p:spPr>
          <a:xfrm>
            <a:off x="457200" y="742950"/>
            <a:ext cx="8229600" cy="3851673"/>
          </a:xfrm>
        </p:spPr>
        <p:txBody>
          <a:bodyPr>
            <a:normAutofit fontScale="85000" lnSpcReduction="10000"/>
          </a:bodyPr>
          <a:lstStyle/>
          <a:p>
            <a:r>
              <a:rPr lang="en-US" sz="2400" dirty="0"/>
              <a:t>The main problem with RS 232-C is that it can only transfer data reliably about so at a maximum rate of 20,000 Bd. This limitation is due to open signal lines with a common ground that are used for RS 232-C </a:t>
            </a:r>
          </a:p>
          <a:p>
            <a:r>
              <a:rPr lang="en-US" sz="2400" dirty="0"/>
              <a:t>RS 422A specifies that each signal will send differentially over two adjacent wires in a ribbon or a twisted pair cable. Data rates for this standard are 10 </a:t>
            </a:r>
            <a:r>
              <a:rPr lang="en-US" sz="2400" dirty="0" err="1"/>
              <a:t>mbps</a:t>
            </a:r>
            <a:r>
              <a:rPr lang="en-US" sz="2400" dirty="0"/>
              <a:t> for a distance of soft or 100,000 Bd for a distance of 4000ft.</a:t>
            </a:r>
          </a:p>
          <a:p>
            <a:r>
              <a:rPr lang="en-US" sz="2400" dirty="0"/>
              <a:t>It is because the differential lines are terminated by resistors so that they act as simple </a:t>
            </a:r>
            <a:r>
              <a:rPr lang="en-US" sz="2400" dirty="0" err="1"/>
              <a:t>tx</a:t>
            </a:r>
            <a:r>
              <a:rPr lang="en-US" sz="2400" dirty="0"/>
              <a:t>-lines of simply open wire.</a:t>
            </a:r>
          </a:p>
          <a:p>
            <a:r>
              <a:rPr lang="en-US" sz="2400" dirty="0"/>
              <a:t>For RS 422A, a logic high or 1 is indicated by B signal line being more positive than A signal line. And logic low or 0 by vice versa. The voltage difference between two lines must be greater than 0.4v but not greater than 12v.</a:t>
            </a:r>
          </a:p>
          <a:p>
            <a:pPr marL="457200" indent="-457200">
              <a:buFont typeface="+mj-lt"/>
              <a:buAutoNum type="arabicPeriod"/>
            </a:pPr>
            <a:endParaRPr lang="en-US" sz="1400" b="1" dirty="0"/>
          </a:p>
        </p:txBody>
      </p:sp>
      <p:sp>
        <p:nvSpPr>
          <p:cNvPr id="4" name="Date Placeholder 3"/>
          <p:cNvSpPr>
            <a:spLocks noGrp="1"/>
          </p:cNvSpPr>
          <p:nvPr>
            <p:ph type="dt" sz="half" idx="10"/>
          </p:nvPr>
        </p:nvSpPr>
        <p:spPr/>
        <p:txBody>
          <a:bodyPr/>
          <a:lstStyle/>
          <a:p>
            <a:fld id="{39C817D7-7251-40D0-9378-EBD7B64114A2}"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35</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spTree>
    <p:extLst>
      <p:ext uri="{BB962C8B-B14F-4D97-AF65-F5344CB8AC3E}">
        <p14:creationId xmlns:p14="http://schemas.microsoft.com/office/powerpoint/2010/main" val="17180197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8.7 HDMI standards</a:t>
            </a:r>
          </a:p>
        </p:txBody>
      </p:sp>
      <p:sp>
        <p:nvSpPr>
          <p:cNvPr id="3" name="Content Placeholder 2"/>
          <p:cNvSpPr>
            <a:spLocks noGrp="1"/>
          </p:cNvSpPr>
          <p:nvPr>
            <p:ph idx="1"/>
          </p:nvPr>
        </p:nvSpPr>
        <p:spPr>
          <a:xfrm>
            <a:off x="457200" y="742950"/>
            <a:ext cx="8229600" cy="3851673"/>
          </a:xfrm>
        </p:spPr>
        <p:txBody>
          <a:bodyPr>
            <a:normAutofit fontScale="62500" lnSpcReduction="20000"/>
          </a:bodyPr>
          <a:lstStyle/>
          <a:p>
            <a:pPr marL="400050"/>
            <a:r>
              <a:rPr lang="en-US" dirty="0"/>
              <a:t>HDMI (High-Definition Multimedia Interface) is a proprietary specification designed to ensure compatibility between video and audio devices over a single digital interface. </a:t>
            </a:r>
          </a:p>
          <a:p>
            <a:pPr marL="400050"/>
            <a:r>
              <a:rPr lang="en-US" dirty="0"/>
              <a:t>The specification is used for consumer electronics -- including high-definition and ultra-HD TVs, DVD and Blu-ray players, game consoles, streaming devices such as Roku, soundbars, laptops and PCs -- as well as for automotive and commercial devices. </a:t>
            </a:r>
          </a:p>
          <a:p>
            <a:pPr marL="400050"/>
            <a:r>
              <a:rPr lang="en-US" dirty="0"/>
              <a:t>HDMI cables connect these devices and carry both uncompressed digital audio and video signals over a single cable.</a:t>
            </a:r>
          </a:p>
          <a:p>
            <a:pPr marL="400050"/>
            <a:r>
              <a:rPr lang="en-US" dirty="0"/>
              <a:t>HDMI specifications include physical features, or how cables and devices interface mechanically; electrical features, or how much power the cable carries; and communication protocols, or what signals are sent over cables to allow two pieces of equipment to communicate.</a:t>
            </a:r>
            <a:endParaRPr lang="en-US" sz="2400" dirty="0"/>
          </a:p>
        </p:txBody>
      </p:sp>
      <p:sp>
        <p:nvSpPr>
          <p:cNvPr id="4" name="Date Placeholder 3"/>
          <p:cNvSpPr>
            <a:spLocks noGrp="1"/>
          </p:cNvSpPr>
          <p:nvPr>
            <p:ph type="dt" sz="half" idx="10"/>
          </p:nvPr>
        </p:nvSpPr>
        <p:spPr/>
        <p:txBody>
          <a:bodyPr/>
          <a:lstStyle/>
          <a:p>
            <a:fld id="{0670353C-219D-4404-A500-DA58CE87E5ED}"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36</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spTree>
    <p:extLst>
      <p:ext uri="{BB962C8B-B14F-4D97-AF65-F5344CB8AC3E}">
        <p14:creationId xmlns:p14="http://schemas.microsoft.com/office/powerpoint/2010/main" val="2158403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graphicFrame>
        <p:nvGraphicFramePr>
          <p:cNvPr id="7" name="Content Placeholder 6">
            <a:extLst>
              <a:ext uri="{FF2B5EF4-FFF2-40B4-BE49-F238E27FC236}">
                <a16:creationId xmlns:a16="http://schemas.microsoft.com/office/drawing/2014/main" id="{7AAD1438-5763-4632-ACAC-8629759BD15F}"/>
              </a:ext>
            </a:extLst>
          </p:cNvPr>
          <p:cNvGraphicFramePr>
            <a:graphicFrameLocks noGrp="1"/>
          </p:cNvGraphicFramePr>
          <p:nvPr>
            <p:ph idx="1"/>
            <p:extLst>
              <p:ext uri="{D42A27DB-BD31-4B8C-83A1-F6EECF244321}">
                <p14:modId xmlns:p14="http://schemas.microsoft.com/office/powerpoint/2010/main" val="2094062717"/>
              </p:ext>
            </p:extLst>
          </p:nvPr>
        </p:nvGraphicFramePr>
        <p:xfrm>
          <a:off x="685800" y="742950"/>
          <a:ext cx="7772400" cy="3513406"/>
        </p:xfrm>
        <a:graphic>
          <a:graphicData uri="http://schemas.openxmlformats.org/drawingml/2006/table">
            <a:tbl>
              <a:tblPr/>
              <a:tblGrid>
                <a:gridCol w="2590800">
                  <a:extLst>
                    <a:ext uri="{9D8B030D-6E8A-4147-A177-3AD203B41FA5}">
                      <a16:colId xmlns:a16="http://schemas.microsoft.com/office/drawing/2014/main" val="3054446374"/>
                    </a:ext>
                  </a:extLst>
                </a:gridCol>
                <a:gridCol w="1828800">
                  <a:extLst>
                    <a:ext uri="{9D8B030D-6E8A-4147-A177-3AD203B41FA5}">
                      <a16:colId xmlns:a16="http://schemas.microsoft.com/office/drawing/2014/main" val="373810665"/>
                    </a:ext>
                  </a:extLst>
                </a:gridCol>
                <a:gridCol w="3352800">
                  <a:extLst>
                    <a:ext uri="{9D8B030D-6E8A-4147-A177-3AD203B41FA5}">
                      <a16:colId xmlns:a16="http://schemas.microsoft.com/office/drawing/2014/main" val="2036864271"/>
                    </a:ext>
                  </a:extLst>
                </a:gridCol>
              </a:tblGrid>
              <a:tr h="527538">
                <a:tc>
                  <a:txBody>
                    <a:bodyPr/>
                    <a:lstStyle/>
                    <a:p>
                      <a:pPr algn="l" fontAlgn="ctr"/>
                      <a:r>
                        <a:rPr lang="en-US" sz="1800" b="1">
                          <a:effectLst/>
                        </a:rPr>
                        <a:t>HDMI STANDARD</a:t>
                      </a:r>
                      <a:endParaRPr lang="en-US" sz="1800">
                        <a:effectLst/>
                      </a:endParaRPr>
                    </a:p>
                  </a:txBody>
                  <a:tcPr marL="0" marR="0" marT="0" marB="0" anchor="ctr">
                    <a:lnL>
                      <a:noFill/>
                    </a:lnL>
                    <a:lnR>
                      <a:noFill/>
                    </a:lnR>
                    <a:lnT>
                      <a:noFill/>
                    </a:lnT>
                    <a:lnB>
                      <a:noFill/>
                    </a:lnB>
                    <a:solidFill>
                      <a:srgbClr val="CCCCCC"/>
                    </a:solidFill>
                  </a:tcPr>
                </a:tc>
                <a:tc>
                  <a:txBody>
                    <a:bodyPr/>
                    <a:lstStyle/>
                    <a:p>
                      <a:pPr algn="l" fontAlgn="ctr"/>
                      <a:r>
                        <a:rPr lang="en-US" sz="1800" b="1">
                          <a:effectLst/>
                        </a:rPr>
                        <a:t>Bandwidth  </a:t>
                      </a:r>
                      <a:r>
                        <a:rPr lang="en-US" sz="1800" b="1" i="1">
                          <a:effectLst/>
                        </a:rPr>
                        <a:t>(up to)</a:t>
                      </a:r>
                      <a:endParaRPr lang="en-US" sz="1800">
                        <a:effectLst/>
                      </a:endParaRPr>
                    </a:p>
                  </a:txBody>
                  <a:tcPr marL="0" marR="0" marT="0" marB="0" anchor="ctr">
                    <a:lnL>
                      <a:noFill/>
                    </a:lnL>
                    <a:lnR>
                      <a:noFill/>
                    </a:lnR>
                    <a:lnT>
                      <a:noFill/>
                    </a:lnT>
                    <a:lnB>
                      <a:noFill/>
                    </a:lnB>
                    <a:solidFill>
                      <a:srgbClr val="CCCCCC"/>
                    </a:solidFill>
                  </a:tcPr>
                </a:tc>
                <a:tc>
                  <a:txBody>
                    <a:bodyPr/>
                    <a:lstStyle/>
                    <a:p>
                      <a:pPr algn="l" fontAlgn="ctr"/>
                      <a:r>
                        <a:rPr lang="en-US" sz="1800" b="1">
                          <a:effectLst/>
                        </a:rPr>
                        <a:t>AV Capabilities</a:t>
                      </a:r>
                      <a:endParaRPr lang="en-US" sz="1800">
                        <a:effectLst/>
                      </a:endParaRPr>
                    </a:p>
                  </a:txBody>
                  <a:tcPr marL="0" marR="0" marT="0" marB="0" anchor="ctr">
                    <a:lnL>
                      <a:noFill/>
                    </a:lnL>
                    <a:lnR>
                      <a:noFill/>
                    </a:lnR>
                    <a:lnT>
                      <a:noFill/>
                    </a:lnT>
                    <a:lnB>
                      <a:noFill/>
                    </a:lnB>
                    <a:solidFill>
                      <a:srgbClr val="CCCCCC"/>
                    </a:solidFill>
                  </a:tcPr>
                </a:tc>
                <a:extLst>
                  <a:ext uri="{0D108BD9-81ED-4DB2-BD59-A6C34878D82A}">
                    <a16:rowId xmlns:a16="http://schemas.microsoft.com/office/drawing/2014/main" val="1222667615"/>
                  </a:ext>
                </a:extLst>
              </a:tr>
              <a:tr h="263769">
                <a:tc>
                  <a:txBody>
                    <a:bodyPr/>
                    <a:lstStyle/>
                    <a:p>
                      <a:pPr algn="l" fontAlgn="ctr"/>
                      <a:r>
                        <a:rPr lang="en-US" sz="1800">
                          <a:effectLst/>
                        </a:rPr>
                        <a:t>Standard HDMI</a:t>
                      </a:r>
                    </a:p>
                  </a:txBody>
                  <a:tcPr marL="0" marR="0" marT="0" marB="0" anchor="ctr">
                    <a:lnL>
                      <a:noFill/>
                    </a:lnL>
                    <a:lnR>
                      <a:noFill/>
                    </a:lnR>
                    <a:lnT>
                      <a:noFill/>
                    </a:lnT>
                    <a:lnB>
                      <a:noFill/>
                    </a:lnB>
                    <a:solidFill>
                      <a:srgbClr val="FFFFFF"/>
                    </a:solidFill>
                  </a:tcPr>
                </a:tc>
                <a:tc>
                  <a:txBody>
                    <a:bodyPr/>
                    <a:lstStyle/>
                    <a:p>
                      <a:pPr algn="l" fontAlgn="ctr"/>
                      <a:r>
                        <a:rPr lang="en-US" sz="1800">
                          <a:effectLst/>
                        </a:rPr>
                        <a:t>4.95Gbps</a:t>
                      </a:r>
                    </a:p>
                  </a:txBody>
                  <a:tcPr marL="0" marR="0" marT="0" marB="0" anchor="ctr">
                    <a:lnL>
                      <a:noFill/>
                    </a:lnL>
                    <a:lnR>
                      <a:noFill/>
                    </a:lnR>
                    <a:lnT>
                      <a:noFill/>
                    </a:lnT>
                    <a:lnB>
                      <a:noFill/>
                    </a:lnB>
                    <a:solidFill>
                      <a:srgbClr val="FFFFFF"/>
                    </a:solidFill>
                  </a:tcPr>
                </a:tc>
                <a:tc>
                  <a:txBody>
                    <a:bodyPr/>
                    <a:lstStyle/>
                    <a:p>
                      <a:pPr algn="l" fontAlgn="ctr"/>
                      <a:r>
                        <a:rPr lang="en-US" sz="1800">
                          <a:effectLst/>
                        </a:rPr>
                        <a:t>1080p</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457919718"/>
                  </a:ext>
                </a:extLst>
              </a:tr>
              <a:tr h="527538">
                <a:tc>
                  <a:txBody>
                    <a:bodyPr/>
                    <a:lstStyle/>
                    <a:p>
                      <a:pPr algn="l" fontAlgn="ctr"/>
                      <a:r>
                        <a:rPr lang="en-US" sz="1800">
                          <a:effectLst/>
                        </a:rPr>
                        <a:t>High Speed HDMI</a:t>
                      </a:r>
                    </a:p>
                  </a:txBody>
                  <a:tcPr marL="0" marR="0" marT="0" marB="0" anchor="ctr">
                    <a:lnL>
                      <a:noFill/>
                    </a:lnL>
                    <a:lnR>
                      <a:noFill/>
                    </a:lnR>
                    <a:lnT>
                      <a:noFill/>
                    </a:lnT>
                    <a:lnB>
                      <a:noFill/>
                    </a:lnB>
                    <a:solidFill>
                      <a:srgbClr val="FFFFFF"/>
                    </a:solidFill>
                  </a:tcPr>
                </a:tc>
                <a:tc>
                  <a:txBody>
                    <a:bodyPr/>
                    <a:lstStyle/>
                    <a:p>
                      <a:pPr algn="l" fontAlgn="ctr"/>
                      <a:r>
                        <a:rPr lang="en-US" sz="1800">
                          <a:effectLst/>
                        </a:rPr>
                        <a:t>10.2Gbps</a:t>
                      </a:r>
                      <a:endParaRPr lang="en-US" sz="1800" dirty="0">
                        <a:effectLst/>
                      </a:endParaRPr>
                    </a:p>
                  </a:txBody>
                  <a:tcPr marL="0" marR="0" marT="0" marB="0" anchor="ctr">
                    <a:lnL>
                      <a:noFill/>
                    </a:lnL>
                    <a:lnR>
                      <a:noFill/>
                    </a:lnR>
                    <a:lnT>
                      <a:noFill/>
                    </a:lnT>
                    <a:lnB>
                      <a:noFill/>
                    </a:lnB>
                    <a:solidFill>
                      <a:srgbClr val="FFFFFF"/>
                    </a:solidFill>
                  </a:tcPr>
                </a:tc>
                <a:tc>
                  <a:txBody>
                    <a:bodyPr/>
                    <a:lstStyle/>
                    <a:p>
                      <a:pPr algn="l" fontAlgn="ctr"/>
                      <a:r>
                        <a:rPr lang="en-US" sz="1800">
                          <a:effectLst/>
                        </a:rPr>
                        <a:t>4K24 (4K 24 fps), HDR, wide colour gamuts</a:t>
                      </a:r>
                      <a:endParaRPr lang="en-US" sz="1800" dirty="0">
                        <a:effectLst/>
                      </a:endParaRP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845550542"/>
                  </a:ext>
                </a:extLst>
              </a:tr>
              <a:tr h="791308">
                <a:tc>
                  <a:txBody>
                    <a:bodyPr/>
                    <a:lstStyle/>
                    <a:p>
                      <a:pPr algn="l" fontAlgn="ctr"/>
                      <a:r>
                        <a:rPr lang="en-US" sz="1800">
                          <a:effectLst/>
                        </a:rPr>
                        <a:t>High Speed HDMI with Ethernet</a:t>
                      </a:r>
                    </a:p>
                  </a:txBody>
                  <a:tcPr marL="0" marR="0" marT="0" marB="0" anchor="ctr">
                    <a:lnL>
                      <a:noFill/>
                    </a:lnL>
                    <a:lnR>
                      <a:noFill/>
                    </a:lnR>
                    <a:lnT>
                      <a:noFill/>
                    </a:lnT>
                    <a:lnB>
                      <a:noFill/>
                    </a:lnB>
                    <a:solidFill>
                      <a:srgbClr val="FFFFFF"/>
                    </a:solidFill>
                  </a:tcPr>
                </a:tc>
                <a:tc>
                  <a:txBody>
                    <a:bodyPr/>
                    <a:lstStyle/>
                    <a:p>
                      <a:pPr algn="l" fontAlgn="ctr"/>
                      <a:r>
                        <a:rPr lang="en-US" sz="1800">
                          <a:effectLst/>
                        </a:rPr>
                        <a:t>10.2Gbps</a:t>
                      </a:r>
                    </a:p>
                  </a:txBody>
                  <a:tcPr marL="0" marR="0" marT="0" marB="0" anchor="ctr">
                    <a:lnL>
                      <a:noFill/>
                    </a:lnL>
                    <a:lnR>
                      <a:noFill/>
                    </a:lnR>
                    <a:lnT>
                      <a:noFill/>
                    </a:lnT>
                    <a:lnB>
                      <a:noFill/>
                    </a:lnB>
                    <a:solidFill>
                      <a:srgbClr val="FFFFFF"/>
                    </a:solidFill>
                  </a:tcPr>
                </a:tc>
                <a:tc>
                  <a:txBody>
                    <a:bodyPr/>
                    <a:lstStyle/>
                    <a:p>
                      <a:pPr algn="l" fontAlgn="ctr"/>
                      <a:r>
                        <a:rPr lang="en-US" sz="1800">
                          <a:effectLst/>
                        </a:rPr>
                        <a:t>4K24 (4K 24 fps), HDR, wide colour gamuts, additional Ethernet channel</a:t>
                      </a:r>
                      <a:endParaRPr lang="en-US" sz="1800" dirty="0">
                        <a:effectLst/>
                      </a:endParaRP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827253001"/>
                  </a:ext>
                </a:extLst>
              </a:tr>
              <a:tr h="791308">
                <a:tc>
                  <a:txBody>
                    <a:bodyPr/>
                    <a:lstStyle/>
                    <a:p>
                      <a:pPr algn="l" fontAlgn="ctr"/>
                      <a:r>
                        <a:rPr lang="en-US" sz="1800">
                          <a:effectLst/>
                        </a:rPr>
                        <a:t>Premium High Speed HDMI</a:t>
                      </a:r>
                    </a:p>
                  </a:txBody>
                  <a:tcPr marL="0" marR="0" marT="0" marB="0" anchor="ctr">
                    <a:lnL>
                      <a:noFill/>
                    </a:lnL>
                    <a:lnR>
                      <a:noFill/>
                    </a:lnR>
                    <a:lnT>
                      <a:noFill/>
                    </a:lnT>
                    <a:lnB>
                      <a:noFill/>
                    </a:lnB>
                    <a:solidFill>
                      <a:srgbClr val="FFFFFF"/>
                    </a:solidFill>
                  </a:tcPr>
                </a:tc>
                <a:tc>
                  <a:txBody>
                    <a:bodyPr/>
                    <a:lstStyle/>
                    <a:p>
                      <a:pPr algn="l" fontAlgn="ctr"/>
                      <a:r>
                        <a:rPr lang="en-US" sz="1800">
                          <a:effectLst/>
                        </a:rPr>
                        <a:t>18Gbps</a:t>
                      </a:r>
                    </a:p>
                  </a:txBody>
                  <a:tcPr marL="0" marR="0" marT="0" marB="0" anchor="ctr">
                    <a:lnL>
                      <a:noFill/>
                    </a:lnL>
                    <a:lnR>
                      <a:noFill/>
                    </a:lnR>
                    <a:lnT>
                      <a:noFill/>
                    </a:lnT>
                    <a:lnB>
                      <a:noFill/>
                    </a:lnB>
                    <a:solidFill>
                      <a:srgbClr val="FFFFFF"/>
                    </a:solidFill>
                  </a:tcPr>
                </a:tc>
                <a:tc>
                  <a:txBody>
                    <a:bodyPr/>
                    <a:lstStyle/>
                    <a:p>
                      <a:pPr algn="l" fontAlgn="ctr"/>
                      <a:r>
                        <a:rPr lang="en-US" sz="1800">
                          <a:effectLst/>
                        </a:rPr>
                        <a:t>4K60 (4K at 60 fps), 4:4:4 chroma sampling, 8K at lower frame rates</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769170235"/>
                  </a:ext>
                </a:extLst>
              </a:tr>
              <a:tr h="527538">
                <a:tc>
                  <a:txBody>
                    <a:bodyPr/>
                    <a:lstStyle/>
                    <a:p>
                      <a:pPr algn="l" fontAlgn="ctr"/>
                      <a:r>
                        <a:rPr lang="en-US" sz="1800">
                          <a:effectLst/>
                        </a:rPr>
                        <a:t>Ultra High Speed HDMI</a:t>
                      </a:r>
                    </a:p>
                  </a:txBody>
                  <a:tcPr marL="0" marR="0" marT="0" marB="0" anchor="ctr">
                    <a:lnL>
                      <a:noFill/>
                    </a:lnL>
                    <a:lnR>
                      <a:noFill/>
                    </a:lnR>
                    <a:lnT>
                      <a:noFill/>
                    </a:lnT>
                    <a:lnB>
                      <a:noFill/>
                    </a:lnB>
                    <a:solidFill>
                      <a:srgbClr val="FFFFFF"/>
                    </a:solidFill>
                  </a:tcPr>
                </a:tc>
                <a:tc>
                  <a:txBody>
                    <a:bodyPr/>
                    <a:lstStyle/>
                    <a:p>
                      <a:pPr algn="l" fontAlgn="ctr"/>
                      <a:r>
                        <a:rPr lang="en-US" sz="1800">
                          <a:effectLst/>
                        </a:rPr>
                        <a:t>48Gbps</a:t>
                      </a:r>
                      <a:endParaRPr lang="en-US" sz="1800" dirty="0">
                        <a:effectLst/>
                      </a:endParaRPr>
                    </a:p>
                  </a:txBody>
                  <a:tcPr marL="0" marR="0" marT="0" marB="0" anchor="ctr">
                    <a:lnL>
                      <a:noFill/>
                    </a:lnL>
                    <a:lnR>
                      <a:noFill/>
                    </a:lnR>
                    <a:lnT>
                      <a:noFill/>
                    </a:lnT>
                    <a:lnB>
                      <a:noFill/>
                    </a:lnB>
                    <a:solidFill>
                      <a:srgbClr val="FFFFFF"/>
                    </a:solidFill>
                  </a:tcPr>
                </a:tc>
                <a:tc>
                  <a:txBody>
                    <a:bodyPr/>
                    <a:lstStyle/>
                    <a:p>
                      <a:pPr algn="l" fontAlgn="ctr"/>
                      <a:r>
                        <a:rPr lang="en-US" sz="1800" dirty="0">
                          <a:effectLst/>
                        </a:rPr>
                        <a:t>Uncompressed 8K video - 8K60, 4K120</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278418832"/>
                  </a:ext>
                </a:extLst>
              </a:tr>
            </a:tbl>
          </a:graphicData>
        </a:graphic>
      </p:graphicFrame>
      <p:sp>
        <p:nvSpPr>
          <p:cNvPr id="4" name="Date Placeholder 3"/>
          <p:cNvSpPr>
            <a:spLocks noGrp="1"/>
          </p:cNvSpPr>
          <p:nvPr>
            <p:ph type="dt" sz="half" idx="10"/>
          </p:nvPr>
        </p:nvSpPr>
        <p:spPr/>
        <p:txBody>
          <a:bodyPr/>
          <a:lstStyle/>
          <a:p>
            <a:fld id="{31FEB12C-2CF4-45DE-A5A6-D36EEFED3F90}"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37</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sp>
        <p:nvSpPr>
          <p:cNvPr id="8" name="Rectangle 7">
            <a:extLst>
              <a:ext uri="{FF2B5EF4-FFF2-40B4-BE49-F238E27FC236}">
                <a16:creationId xmlns:a16="http://schemas.microsoft.com/office/drawing/2014/main" id="{76556C8B-0AC9-4FF2-9927-067D8F246938}"/>
              </a:ext>
            </a:extLst>
          </p:cNvPr>
          <p:cNvSpPr/>
          <p:nvPr/>
        </p:nvSpPr>
        <p:spPr>
          <a:xfrm>
            <a:off x="685800" y="4400550"/>
            <a:ext cx="8229600" cy="307777"/>
          </a:xfrm>
          <a:prstGeom prst="rect">
            <a:avLst/>
          </a:prstGeom>
        </p:spPr>
        <p:txBody>
          <a:bodyPr wrap="square">
            <a:spAutoFit/>
          </a:bodyPr>
          <a:lstStyle/>
          <a:p>
            <a:pPr algn="r"/>
            <a:r>
              <a:rPr lang="en-US" sz="1400" dirty="0"/>
              <a:t>Reference: </a:t>
            </a:r>
            <a:r>
              <a:rPr lang="en-US" sz="1400" dirty="0">
                <a:hlinkClick r:id="rId2"/>
              </a:rPr>
              <a:t>https://cie-group.com/how-to-av/videos-and-blogs/hdmi-standards</a:t>
            </a:r>
            <a:endParaRPr lang="en-US" sz="1400" dirty="0"/>
          </a:p>
        </p:txBody>
      </p:sp>
    </p:spTree>
    <p:extLst>
      <p:ext uri="{BB962C8B-B14F-4D97-AF65-F5344CB8AC3E}">
        <p14:creationId xmlns:p14="http://schemas.microsoft.com/office/powerpoint/2010/main" val="435690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Assignment:</a:t>
            </a:r>
          </a:p>
        </p:txBody>
      </p:sp>
      <p:sp>
        <p:nvSpPr>
          <p:cNvPr id="3" name="Content Placeholder 2"/>
          <p:cNvSpPr>
            <a:spLocks noGrp="1"/>
          </p:cNvSpPr>
          <p:nvPr>
            <p:ph idx="1"/>
          </p:nvPr>
        </p:nvSpPr>
        <p:spPr>
          <a:xfrm>
            <a:off x="457200" y="742950"/>
            <a:ext cx="8229600" cy="3851673"/>
          </a:xfrm>
        </p:spPr>
        <p:txBody>
          <a:bodyPr>
            <a:normAutofit/>
          </a:bodyPr>
          <a:lstStyle/>
          <a:p>
            <a:pPr marL="457200" indent="-457200">
              <a:buFont typeface="+mj-lt"/>
              <a:buAutoNum type="arabicPeriod"/>
            </a:pPr>
            <a:r>
              <a:rPr lang="en-US" sz="2000" dirty="0"/>
              <a:t>Define DMA. Explain DMA different transfer modes and I/O processors in DMA.</a:t>
            </a:r>
          </a:p>
          <a:p>
            <a:pPr marL="457200" indent="-457200">
              <a:buFont typeface="+mj-lt"/>
              <a:buAutoNum type="arabicPeriod"/>
            </a:pPr>
            <a:r>
              <a:rPr lang="en-US" sz="2000" dirty="0"/>
              <a:t>What is arbitration? Explain Daisy chain arbitration with necessary diagram.</a:t>
            </a:r>
          </a:p>
          <a:p>
            <a:pPr marL="457200" indent="-457200">
              <a:buFont typeface="+mj-lt"/>
              <a:buAutoNum type="arabicPeriod"/>
            </a:pPr>
            <a:r>
              <a:rPr lang="en-US" sz="2000" dirty="0"/>
              <a:t>What is priority interrupt? How priority interrupts are handled?</a:t>
            </a:r>
          </a:p>
          <a:p>
            <a:pPr marL="457200" indent="-457200">
              <a:buFont typeface="+mj-lt"/>
              <a:buAutoNum type="arabicPeriod"/>
            </a:pPr>
            <a:r>
              <a:rPr lang="en-US" sz="2000" dirty="0"/>
              <a:t>How DMA is executed? Explain.</a:t>
            </a:r>
          </a:p>
        </p:txBody>
      </p:sp>
      <p:sp>
        <p:nvSpPr>
          <p:cNvPr id="4" name="Date Placeholder 3"/>
          <p:cNvSpPr>
            <a:spLocks noGrp="1"/>
          </p:cNvSpPr>
          <p:nvPr>
            <p:ph type="dt" sz="half" idx="10"/>
          </p:nvPr>
        </p:nvSpPr>
        <p:spPr/>
        <p:txBody>
          <a:bodyPr/>
          <a:lstStyle/>
          <a:p>
            <a:fld id="{01E56B1D-B1B0-44C3-816A-8185164DDD56}"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38</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spTree>
    <p:extLst>
      <p:ext uri="{BB962C8B-B14F-4D97-AF65-F5344CB8AC3E}">
        <p14:creationId xmlns:p14="http://schemas.microsoft.com/office/powerpoint/2010/main" val="2005727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Exam Questions:</a:t>
            </a:r>
          </a:p>
        </p:txBody>
      </p:sp>
      <p:sp>
        <p:nvSpPr>
          <p:cNvPr id="3" name="Content Placeholder 2"/>
          <p:cNvSpPr>
            <a:spLocks noGrp="1"/>
          </p:cNvSpPr>
          <p:nvPr>
            <p:ph idx="1"/>
          </p:nvPr>
        </p:nvSpPr>
        <p:spPr>
          <a:xfrm>
            <a:off x="457200" y="742950"/>
            <a:ext cx="8229600" cy="3851673"/>
          </a:xfrm>
        </p:spPr>
        <p:txBody>
          <a:bodyPr>
            <a:normAutofit fontScale="55000" lnSpcReduction="20000"/>
          </a:bodyPr>
          <a:lstStyle/>
          <a:p>
            <a:pPr marL="514350" lvl="0" indent="-514350">
              <a:buFont typeface="+mj-lt"/>
              <a:buAutoNum type="arabicPeriod"/>
            </a:pPr>
            <a:r>
              <a:rPr lang="en-US" dirty="0"/>
              <a:t>What are IO processors? Describe how they work using suitable diagram. [PU 2017 Fall]</a:t>
            </a:r>
          </a:p>
          <a:p>
            <a:pPr marL="514350" indent="-514350">
              <a:buFont typeface="+mj-lt"/>
              <a:buAutoNum type="arabicPeriod"/>
            </a:pPr>
            <a:r>
              <a:rPr lang="en-US" dirty="0"/>
              <a:t>What is DMA? Describe how they work using suitable diagram. [PU 2017 Spring]</a:t>
            </a:r>
          </a:p>
          <a:p>
            <a:pPr marL="514350" indent="-514350">
              <a:buFont typeface="+mj-lt"/>
              <a:buAutoNum type="arabicPeriod"/>
            </a:pPr>
            <a:r>
              <a:rPr lang="en-US" dirty="0"/>
              <a:t>Differentiate between: [PU 2018 Fall]</a:t>
            </a:r>
          </a:p>
          <a:p>
            <a:pPr marL="914400" lvl="1" indent="-403225">
              <a:buFont typeface="+mj-lt"/>
              <a:buAutoNum type="alphaLcParenR"/>
            </a:pPr>
            <a:r>
              <a:rPr lang="en-US" dirty="0"/>
              <a:t>Interrupt driven IO and Programmed IO</a:t>
            </a:r>
          </a:p>
          <a:p>
            <a:pPr marL="914400" lvl="1" indent="-403225">
              <a:buFont typeface="+mj-lt"/>
              <a:buAutoNum type="alphaLcParenR"/>
            </a:pPr>
            <a:r>
              <a:rPr lang="en-US" dirty="0"/>
              <a:t>Vectored and Non Vectored Interrupt Hardware.</a:t>
            </a:r>
          </a:p>
          <a:p>
            <a:pPr marL="514350" indent="-514350">
              <a:buFont typeface="+mj-lt"/>
              <a:buAutoNum type="arabicPeriod"/>
            </a:pPr>
            <a:r>
              <a:rPr lang="en-US" dirty="0"/>
              <a:t>Why do we need input output module? Compare programmed IO, interrupt driven data transfer and Direct Memory Access (DMA). [PU 2020 Spring]</a:t>
            </a:r>
          </a:p>
          <a:p>
            <a:pPr marL="514350" indent="-514350">
              <a:buFont typeface="+mj-lt"/>
              <a:buAutoNum type="arabicPeriod"/>
            </a:pPr>
            <a:r>
              <a:rPr lang="en-US" dirty="0"/>
              <a:t>What is DMA? Describe how it works. [PU 2018 Spring]</a:t>
            </a:r>
          </a:p>
          <a:p>
            <a:pPr marL="514350" indent="-514350">
              <a:buFont typeface="+mj-lt"/>
              <a:buAutoNum type="arabicPeriod"/>
            </a:pPr>
            <a:r>
              <a:rPr lang="en-US" dirty="0"/>
              <a:t>Write Short notes on:</a:t>
            </a:r>
          </a:p>
          <a:p>
            <a:pPr marL="914400" lvl="1" indent="-403225">
              <a:buFont typeface="+mj-lt"/>
              <a:buAutoNum type="alphaLcParenR"/>
            </a:pPr>
            <a:r>
              <a:rPr lang="en-US" dirty="0"/>
              <a:t>Interrupt Vector [PU 2018 Spring]</a:t>
            </a:r>
          </a:p>
          <a:p>
            <a:pPr marL="914400" lvl="1" indent="-403225">
              <a:buFont typeface="+mj-lt"/>
              <a:buAutoNum type="alphaLcParenR"/>
            </a:pPr>
            <a:r>
              <a:rPr lang="en-US" dirty="0"/>
              <a:t>DMA [PU 2018 Fall]</a:t>
            </a:r>
          </a:p>
          <a:p>
            <a:pPr marL="914400" lvl="1" indent="-403225">
              <a:buFont typeface="+mj-lt"/>
              <a:buAutoNum type="alphaLcParenR"/>
            </a:pPr>
            <a:r>
              <a:rPr lang="en-US" dirty="0"/>
              <a:t>Programmed IO [PU 2017 Fall]</a:t>
            </a:r>
          </a:p>
          <a:p>
            <a:pPr marL="914400" lvl="1" indent="-403225">
              <a:buFont typeface="+mj-lt"/>
              <a:buAutoNum type="alphaLcParenR"/>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457200" indent="-457200">
              <a:buFont typeface="+mj-lt"/>
              <a:buAutoNum type="arabicPeriod"/>
            </a:pPr>
            <a:endParaRPr lang="en-US" sz="2000" b="1" dirty="0"/>
          </a:p>
        </p:txBody>
      </p:sp>
      <p:sp>
        <p:nvSpPr>
          <p:cNvPr id="4" name="Date Placeholder 3"/>
          <p:cNvSpPr>
            <a:spLocks noGrp="1"/>
          </p:cNvSpPr>
          <p:nvPr>
            <p:ph type="dt" sz="half" idx="10"/>
          </p:nvPr>
        </p:nvSpPr>
        <p:spPr/>
        <p:txBody>
          <a:bodyPr/>
          <a:lstStyle/>
          <a:p>
            <a:fld id="{AAF651C0-BBD4-4274-ACAB-9B8DAB88DCEB}" type="datetime1">
              <a:rPr lang="en-US" smtClean="0">
                <a:solidFill>
                  <a:srgbClr val="00B050"/>
                </a:solidFill>
              </a:rPr>
              <a:t>7/26/2023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39</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IO organization</a:t>
            </a:r>
            <a:endParaRPr lang="en-US" dirty="0">
              <a:solidFill>
                <a:srgbClr val="00B050"/>
              </a:solidFill>
            </a:endParaRPr>
          </a:p>
        </p:txBody>
      </p:sp>
    </p:spTree>
    <p:extLst>
      <p:ext uri="{BB962C8B-B14F-4D97-AF65-F5344CB8AC3E}">
        <p14:creationId xmlns:p14="http://schemas.microsoft.com/office/powerpoint/2010/main" val="34991352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600" b="1" dirty="0">
              <a:solidFill>
                <a:srgbClr val="FF0000"/>
              </a:solidFill>
            </a:endParaRPr>
          </a:p>
        </p:txBody>
      </p:sp>
      <p:sp>
        <p:nvSpPr>
          <p:cNvPr id="3" name="Content Placeholder 2"/>
          <p:cNvSpPr>
            <a:spLocks noGrp="1"/>
          </p:cNvSpPr>
          <p:nvPr>
            <p:ph idx="1"/>
          </p:nvPr>
        </p:nvSpPr>
        <p:spPr>
          <a:xfrm>
            <a:off x="457200" y="742950"/>
            <a:ext cx="8229600" cy="3851673"/>
          </a:xfrm>
        </p:spPr>
        <p:txBody>
          <a:bodyPr>
            <a:normAutofit/>
          </a:bodyPr>
          <a:lstStyle/>
          <a:p>
            <a:pPr marL="0" indent="0">
              <a:buNone/>
            </a:pPr>
            <a:endParaRPr lang="en-US" sz="3600" b="1" dirty="0">
              <a:solidFill>
                <a:srgbClr val="00B050"/>
              </a:solidFill>
            </a:endParaRPr>
          </a:p>
          <a:p>
            <a:pPr marL="0" indent="0" algn="ctr">
              <a:buNone/>
            </a:pPr>
            <a:endParaRPr lang="en-US" sz="3600" b="1" dirty="0">
              <a:solidFill>
                <a:srgbClr val="00B050"/>
              </a:solidFill>
            </a:endParaRPr>
          </a:p>
          <a:p>
            <a:pPr marL="0" indent="0" algn="ctr">
              <a:buNone/>
            </a:pPr>
            <a:r>
              <a:rPr lang="en-US" sz="3600" b="1" dirty="0">
                <a:solidFill>
                  <a:srgbClr val="00B050"/>
                </a:solidFill>
              </a:rPr>
              <a:t>End of chapter 8</a:t>
            </a:r>
            <a:endParaRPr lang="en-US" sz="3600" dirty="0">
              <a:solidFill>
                <a:srgbClr val="00B050"/>
              </a:solidFill>
            </a:endParaRPr>
          </a:p>
        </p:txBody>
      </p:sp>
      <p:sp>
        <p:nvSpPr>
          <p:cNvPr id="4" name="Date Placeholder 3"/>
          <p:cNvSpPr>
            <a:spLocks noGrp="1"/>
          </p:cNvSpPr>
          <p:nvPr>
            <p:ph type="dt" sz="half" idx="10"/>
          </p:nvPr>
        </p:nvSpPr>
        <p:spPr/>
        <p:txBody>
          <a:bodyPr/>
          <a:lstStyle/>
          <a:p>
            <a:fld id="{71AC1484-990A-4FBB-9761-7E8F1CA3DBE4}" type="datetime1">
              <a:rPr lang="en-US" smtClean="0"/>
              <a:t>7/26/2023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40</a:t>
            </a:fld>
            <a:endParaRPr lang="en-US"/>
          </a:p>
        </p:txBody>
      </p:sp>
      <p:sp>
        <p:nvSpPr>
          <p:cNvPr id="6" name="Footer Placeholder 5"/>
          <p:cNvSpPr>
            <a:spLocks noGrp="1"/>
          </p:cNvSpPr>
          <p:nvPr>
            <p:ph type="ftr" sz="quarter" idx="11"/>
          </p:nvPr>
        </p:nvSpPr>
        <p:spPr/>
        <p:txBody>
          <a:bodyPr/>
          <a:lstStyle/>
          <a:p>
            <a:r>
              <a:rPr lang="en-US"/>
              <a:t>IO organization</a:t>
            </a:r>
          </a:p>
        </p:txBody>
      </p:sp>
    </p:spTree>
    <p:extLst>
      <p:ext uri="{BB962C8B-B14F-4D97-AF65-F5344CB8AC3E}">
        <p14:creationId xmlns:p14="http://schemas.microsoft.com/office/powerpoint/2010/main" val="394211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2290</TotalTime>
  <Words>3276</Words>
  <Application>Microsoft Office PowerPoint</Application>
  <PresentationFormat>On-screen Show (16:9)</PresentationFormat>
  <Paragraphs>363</Paragraphs>
  <Slides>40</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Chapter 8 IO Organization</vt:lpstr>
      <vt:lpstr>Contents:</vt:lpstr>
      <vt:lpstr>8.1 Serial and Parallel Communication Interfaces</vt:lpstr>
      <vt:lpstr>a) Parallel Communication</vt:lpstr>
      <vt:lpstr>b) Serial Communication</vt:lpstr>
      <vt:lpstr>Serial Interface Vs Parallel Interface</vt:lpstr>
      <vt:lpstr>8.2 IO Techniques (Modes of IO transfer)</vt:lpstr>
      <vt:lpstr>I) Programmed I/O</vt:lpstr>
      <vt:lpstr>PowerPoint Presentation</vt:lpstr>
      <vt:lpstr>ii) Interrupt-initiated I/O</vt:lpstr>
      <vt:lpstr>iii) Direct Memory Access</vt:lpstr>
      <vt:lpstr>PowerPoint Presentation</vt:lpstr>
      <vt:lpstr>8.3 Interrupts and its types:</vt:lpstr>
      <vt:lpstr>i) External interrupt</vt:lpstr>
      <vt:lpstr>ii) Internal Interrupt</vt:lpstr>
      <vt:lpstr>iii) Software Interrupt</vt:lpstr>
      <vt:lpstr>Maskable and Non-maskable Interrupt</vt:lpstr>
      <vt:lpstr>Interrupt Processing</vt:lpstr>
      <vt:lpstr>Interrupt Processing</vt:lpstr>
      <vt:lpstr>Interrupt Hardware and Priority</vt:lpstr>
      <vt:lpstr>PowerPoint Presentation</vt:lpstr>
      <vt:lpstr>Interrupt Hardware</vt:lpstr>
      <vt:lpstr>Priority Interrupt</vt:lpstr>
      <vt:lpstr>PowerPoint Presentation</vt:lpstr>
      <vt:lpstr>Daisy Chaining Priority</vt:lpstr>
      <vt:lpstr>DMA Transfer Modes</vt:lpstr>
      <vt:lpstr>8.4 I/O processors</vt:lpstr>
      <vt:lpstr>8.5 Serial Communication, UART</vt:lpstr>
      <vt:lpstr>Serial Communication</vt:lpstr>
      <vt:lpstr>Universal Asynchronous Receiver/Transmitters (UART)</vt:lpstr>
      <vt:lpstr>Universal Asynchronous Receiver/Transmitters (UART)</vt:lpstr>
      <vt:lpstr>8.6 USB standards</vt:lpstr>
      <vt:lpstr>PowerPoint Presentation</vt:lpstr>
      <vt:lpstr>RS 232 C-standard</vt:lpstr>
      <vt:lpstr>RS 422A Standard:</vt:lpstr>
      <vt:lpstr>8.7 HDMI standards</vt:lpstr>
      <vt:lpstr>PowerPoint Presentation</vt:lpstr>
      <vt:lpstr>Assignment:</vt:lpstr>
      <vt:lpstr>Exam 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shiva</dc:creator>
  <cp:lastModifiedBy>Shiva Ram Dam</cp:lastModifiedBy>
  <cp:revision>181</cp:revision>
  <dcterms:created xsi:type="dcterms:W3CDTF">2006-08-16T00:00:00Z</dcterms:created>
  <dcterms:modified xsi:type="dcterms:W3CDTF">2023-07-26T17:11:06Z</dcterms:modified>
</cp:coreProperties>
</file>