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4"/>
  </p:notesMasterIdLst>
  <p:sldIdLst>
    <p:sldId id="256" r:id="rId2"/>
    <p:sldId id="257" r:id="rId3"/>
    <p:sldId id="430" r:id="rId4"/>
    <p:sldId id="438" r:id="rId5"/>
    <p:sldId id="431" r:id="rId6"/>
    <p:sldId id="432" r:id="rId7"/>
    <p:sldId id="433" r:id="rId8"/>
    <p:sldId id="452" r:id="rId9"/>
    <p:sldId id="453" r:id="rId10"/>
    <p:sldId id="454" r:id="rId11"/>
    <p:sldId id="455" r:id="rId12"/>
    <p:sldId id="434" r:id="rId13"/>
    <p:sldId id="435" r:id="rId14"/>
    <p:sldId id="456" r:id="rId15"/>
    <p:sldId id="458" r:id="rId16"/>
    <p:sldId id="459" r:id="rId17"/>
    <p:sldId id="427" r:id="rId18"/>
    <p:sldId id="460" r:id="rId19"/>
    <p:sldId id="461" r:id="rId20"/>
    <p:sldId id="462" r:id="rId21"/>
    <p:sldId id="464" r:id="rId22"/>
    <p:sldId id="465" r:id="rId23"/>
    <p:sldId id="466" r:id="rId24"/>
    <p:sldId id="467" r:id="rId25"/>
    <p:sldId id="469" r:id="rId26"/>
    <p:sldId id="476" r:id="rId27"/>
    <p:sldId id="468" r:id="rId28"/>
    <p:sldId id="426" r:id="rId29"/>
    <p:sldId id="451" r:id="rId30"/>
    <p:sldId id="470" r:id="rId31"/>
    <p:sldId id="521" r:id="rId32"/>
    <p:sldId id="428" r:id="rId33"/>
    <p:sldId id="475" r:id="rId34"/>
    <p:sldId id="477" r:id="rId35"/>
    <p:sldId id="479" r:id="rId36"/>
    <p:sldId id="480" r:id="rId37"/>
    <p:sldId id="450" r:id="rId38"/>
    <p:sldId id="483" r:id="rId39"/>
    <p:sldId id="489" r:id="rId40"/>
    <p:sldId id="471" r:id="rId41"/>
    <p:sldId id="482" r:id="rId42"/>
    <p:sldId id="472" r:id="rId43"/>
    <p:sldId id="473" r:id="rId44"/>
    <p:sldId id="478" r:id="rId45"/>
    <p:sldId id="474" r:id="rId46"/>
    <p:sldId id="481" r:id="rId47"/>
    <p:sldId id="441" r:id="rId48"/>
    <p:sldId id="491" r:id="rId49"/>
    <p:sldId id="484" r:id="rId50"/>
    <p:sldId id="485" r:id="rId51"/>
    <p:sldId id="486" r:id="rId52"/>
    <p:sldId id="487" r:id="rId53"/>
    <p:sldId id="488" r:id="rId54"/>
    <p:sldId id="492" r:id="rId55"/>
    <p:sldId id="493" r:id="rId56"/>
    <p:sldId id="522" r:id="rId57"/>
    <p:sldId id="523" r:id="rId58"/>
    <p:sldId id="524" r:id="rId59"/>
    <p:sldId id="490" r:id="rId60"/>
    <p:sldId id="495" r:id="rId61"/>
    <p:sldId id="444" r:id="rId62"/>
    <p:sldId id="429" r:id="rId63"/>
    <p:sldId id="442" r:id="rId64"/>
    <p:sldId id="516" r:id="rId65"/>
    <p:sldId id="513" r:id="rId66"/>
    <p:sldId id="518" r:id="rId67"/>
    <p:sldId id="517" r:id="rId68"/>
    <p:sldId id="514" r:id="rId69"/>
    <p:sldId id="515" r:id="rId70"/>
    <p:sldId id="531" r:id="rId71"/>
    <p:sldId id="541" r:id="rId72"/>
    <p:sldId id="532" r:id="rId73"/>
    <p:sldId id="540" r:id="rId74"/>
    <p:sldId id="439" r:id="rId75"/>
    <p:sldId id="534" r:id="rId76"/>
    <p:sldId id="533" r:id="rId77"/>
    <p:sldId id="535" r:id="rId78"/>
    <p:sldId id="536" r:id="rId79"/>
    <p:sldId id="537" r:id="rId80"/>
    <p:sldId id="539" r:id="rId81"/>
    <p:sldId id="520" r:id="rId82"/>
    <p:sldId id="526" r:id="rId83"/>
    <p:sldId id="528" r:id="rId84"/>
    <p:sldId id="529" r:id="rId85"/>
    <p:sldId id="494" r:id="rId86"/>
    <p:sldId id="511" r:id="rId87"/>
    <p:sldId id="367" r:id="rId88"/>
    <p:sldId id="398" r:id="rId89"/>
    <p:sldId id="368" r:id="rId90"/>
    <p:sldId id="372" r:id="rId91"/>
    <p:sldId id="381" r:id="rId92"/>
    <p:sldId id="510" r:id="rId93"/>
    <p:sldId id="382" r:id="rId94"/>
    <p:sldId id="383" r:id="rId95"/>
    <p:sldId id="384" r:id="rId96"/>
    <p:sldId id="385" r:id="rId97"/>
    <p:sldId id="386" r:id="rId98"/>
    <p:sldId id="387" r:id="rId99"/>
    <p:sldId id="512" r:id="rId100"/>
    <p:sldId id="448" r:id="rId101"/>
    <p:sldId id="449" r:id="rId102"/>
    <p:sldId id="424" r:id="rId10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3DD2F5"/>
    <a:srgbClr val="33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638" autoAdjust="0"/>
  </p:normalViewPr>
  <p:slideViewPr>
    <p:cSldViewPr>
      <p:cViewPr varScale="1">
        <p:scale>
          <a:sx n="60" d="100"/>
          <a:sy n="60" d="100"/>
        </p:scale>
        <p:origin x="34" y="624"/>
      </p:cViewPr>
      <p:guideLst>
        <p:guide orient="horz" pos="1620"/>
        <p:guide pos="2880"/>
      </p:guideLst>
    </p:cSldViewPr>
  </p:slideViewPr>
  <p:outlineViewPr>
    <p:cViewPr>
      <p:scale>
        <a:sx n="33" d="100"/>
        <a:sy n="33" d="100"/>
      </p:scale>
      <p:origin x="0" y="-32525"/>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heme" Target="theme/theme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98897-BDF1-4279-BA28-06DD7EC1DE0C}" type="datetimeFigureOut">
              <a:rPr lang="en-US" smtClean="0"/>
              <a:pPr/>
              <a:t>8/1/2023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78CF50-4ED8-4D7B-8802-3C44BEF0A8F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N-channel Metal Oxide Semiconductor:   is a microelectronic circuits used for logic and memory.</a:t>
            </a:r>
          </a:p>
        </p:txBody>
      </p:sp>
      <p:sp>
        <p:nvSpPr>
          <p:cNvPr id="4" name="Slide Number Placeholder 3"/>
          <p:cNvSpPr>
            <a:spLocks noGrp="1"/>
          </p:cNvSpPr>
          <p:nvPr>
            <p:ph type="sldNum" sz="quarter" idx="5"/>
          </p:nvPr>
        </p:nvSpPr>
        <p:spPr/>
        <p:txBody>
          <a:bodyPr/>
          <a:lstStyle/>
          <a:p>
            <a:fld id="{0378CF50-4ED8-4D7B-8802-3C44BEF0A8F3}" type="slidenum">
              <a:rPr lang="en-US" smtClean="0"/>
              <a:pPr/>
              <a:t>4</a:t>
            </a:fld>
            <a:endParaRPr lang="en-US"/>
          </a:p>
        </p:txBody>
      </p:sp>
    </p:spTree>
    <p:extLst>
      <p:ext uri="{BB962C8B-B14F-4D97-AF65-F5344CB8AC3E}">
        <p14:creationId xmlns:p14="http://schemas.microsoft.com/office/powerpoint/2010/main" val="3174943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5C09BD1-E73C-4B81-8B68-F5F70E592D63}" type="datetime1">
              <a:rPr lang="en-US" smtClean="0"/>
              <a:t>8/1/2023</a:t>
            </a:fld>
            <a:endParaRPr lang="en-US"/>
          </a:p>
        </p:txBody>
      </p:sp>
      <p:sp>
        <p:nvSpPr>
          <p:cNvPr id="5" name="Footer Placeholder 4"/>
          <p:cNvSpPr>
            <a:spLocks noGrp="1"/>
          </p:cNvSpPr>
          <p:nvPr>
            <p:ph type="ftr" sz="quarter" idx="11"/>
          </p:nvPr>
        </p:nvSpPr>
        <p:spPr/>
        <p:txBody>
          <a:bodyPr/>
          <a:lstStyle/>
          <a:p>
            <a:r>
              <a:rPr lang="en-US"/>
              <a:t>Architectural Details and Assembly Language Programming of 8085 MPU</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9C5203-F1BE-4D1F-A528-7C2342986FBE}" type="datetime1">
              <a:rPr lang="en-US" smtClean="0"/>
              <a:t>8/1/2023</a:t>
            </a:fld>
            <a:endParaRPr lang="en-US"/>
          </a:p>
        </p:txBody>
      </p:sp>
      <p:sp>
        <p:nvSpPr>
          <p:cNvPr id="5" name="Footer Placeholder 4"/>
          <p:cNvSpPr>
            <a:spLocks noGrp="1"/>
          </p:cNvSpPr>
          <p:nvPr>
            <p:ph type="ftr" sz="quarter" idx="11"/>
          </p:nvPr>
        </p:nvSpPr>
        <p:spPr/>
        <p:txBody>
          <a:bodyPr/>
          <a:lstStyle/>
          <a:p>
            <a:r>
              <a:rPr lang="en-US"/>
              <a:t>Architectural Details and Assembly Language Programming of 8085 MPU</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0CC97F-3344-4777-A25D-3BD508997E39}" type="datetime1">
              <a:rPr lang="en-US" smtClean="0"/>
              <a:t>8/1/2023</a:t>
            </a:fld>
            <a:endParaRPr lang="en-US"/>
          </a:p>
        </p:txBody>
      </p:sp>
      <p:sp>
        <p:nvSpPr>
          <p:cNvPr id="5" name="Footer Placeholder 4"/>
          <p:cNvSpPr>
            <a:spLocks noGrp="1"/>
          </p:cNvSpPr>
          <p:nvPr>
            <p:ph type="ftr" sz="quarter" idx="11"/>
          </p:nvPr>
        </p:nvSpPr>
        <p:spPr/>
        <p:txBody>
          <a:bodyPr/>
          <a:lstStyle/>
          <a:p>
            <a:r>
              <a:rPr lang="en-US"/>
              <a:t>Architectural Details and Assembly Language Programming of 8085 MPU</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D2353B-4AC1-446A-8DA0-EBF812AFE38A}" type="datetime1">
              <a:rPr lang="en-US" smtClean="0"/>
              <a:t>8/1/2023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219070B-D97C-47ED-8C60-D3B9F35864FF}" type="datetime1">
              <a:rPr lang="en-US" smtClean="0"/>
              <a:t>8/1/2023</a:t>
            </a:fld>
            <a:endParaRPr lang="en-US"/>
          </a:p>
        </p:txBody>
      </p:sp>
      <p:sp>
        <p:nvSpPr>
          <p:cNvPr id="8" name="Footer Placeholder 7"/>
          <p:cNvSpPr>
            <a:spLocks noGrp="1"/>
          </p:cNvSpPr>
          <p:nvPr>
            <p:ph type="ftr" sz="quarter" idx="11"/>
          </p:nvPr>
        </p:nvSpPr>
        <p:spPr/>
        <p:txBody>
          <a:bodyPr/>
          <a:lstStyle/>
          <a:p>
            <a:r>
              <a:rPr lang="en-US"/>
              <a:t>Architectural Details and Assembly Language Programming of 8085 MPU</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57C3605-ECD8-4655-909B-680DD5546FED}" type="datetime1">
              <a:rPr lang="en-US" smtClean="0"/>
              <a:t>8/1/2023</a:t>
            </a:fld>
            <a:endParaRPr lang="en-US"/>
          </a:p>
        </p:txBody>
      </p:sp>
      <p:sp>
        <p:nvSpPr>
          <p:cNvPr id="4" name="Footer Placeholder 3"/>
          <p:cNvSpPr>
            <a:spLocks noGrp="1"/>
          </p:cNvSpPr>
          <p:nvPr>
            <p:ph type="ftr" sz="quarter" idx="11"/>
          </p:nvPr>
        </p:nvSpPr>
        <p:spPr/>
        <p:txBody>
          <a:bodyPr/>
          <a:lstStyle/>
          <a:p>
            <a:r>
              <a:rPr lang="en-US"/>
              <a:t>Architectural Details and Assembly Language Programming of 8085 MPU</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0AEA6-BD2D-4F01-BD56-A960349CAF60}" type="datetime1">
              <a:rPr lang="en-US" smtClean="0"/>
              <a:t>8/1/2023</a:t>
            </a:fld>
            <a:endParaRPr lang="en-US"/>
          </a:p>
        </p:txBody>
      </p:sp>
      <p:sp>
        <p:nvSpPr>
          <p:cNvPr id="3" name="Footer Placeholder 2"/>
          <p:cNvSpPr>
            <a:spLocks noGrp="1"/>
          </p:cNvSpPr>
          <p:nvPr>
            <p:ph type="ftr" sz="quarter" idx="11"/>
          </p:nvPr>
        </p:nvSpPr>
        <p:spPr/>
        <p:txBody>
          <a:bodyPr/>
          <a:lstStyle/>
          <a:p>
            <a:r>
              <a:rPr lang="en-US"/>
              <a:t>Architectural Details and Assembly Language Programming of 8085 MPU</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212DD0-3C11-4F9B-978D-8FEBD581E512}" type="datetime1">
              <a:rPr lang="en-US" smtClean="0"/>
              <a:t>8/1/2023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271FCA-96D8-4C66-989E-9BBAA8E19BBD}" type="datetime1">
              <a:rPr lang="en-US" smtClean="0"/>
              <a:t>8/1/2023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1B939D-9C64-4433-8029-BFBBE40B55FA}" type="datetime1">
              <a:rPr lang="en-US" smtClean="0"/>
              <a:t>8/1/2023</a:t>
            </a:fld>
            <a:endParaRPr lang="en-US"/>
          </a:p>
        </p:txBody>
      </p:sp>
      <p:sp>
        <p:nvSpPr>
          <p:cNvPr id="5" name="Footer Placeholder 4"/>
          <p:cNvSpPr>
            <a:spLocks noGrp="1"/>
          </p:cNvSpPr>
          <p:nvPr>
            <p:ph type="ftr" sz="quarter" idx="11"/>
          </p:nvPr>
        </p:nvSpPr>
        <p:spPr/>
        <p:txBody>
          <a:bodyPr/>
          <a:lstStyle/>
          <a:p>
            <a:r>
              <a:rPr lang="en-US"/>
              <a:t>Architectural Details and Assembly Language Programming of 8085 MPU</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CB0413-047C-4A1C-B412-AD0EB479796F}" type="datetime1">
              <a:rPr lang="en-US" smtClean="0"/>
              <a:t>8/1/2023</a:t>
            </a:fld>
            <a:endParaRPr lang="en-US"/>
          </a:p>
        </p:txBody>
      </p:sp>
      <p:sp>
        <p:nvSpPr>
          <p:cNvPr id="5" name="Footer Placeholder 4"/>
          <p:cNvSpPr>
            <a:spLocks noGrp="1"/>
          </p:cNvSpPr>
          <p:nvPr>
            <p:ph type="ftr" sz="quarter" idx="11"/>
          </p:nvPr>
        </p:nvSpPr>
        <p:spPr/>
        <p:txBody>
          <a:bodyPr/>
          <a:lstStyle/>
          <a:p>
            <a:r>
              <a:rPr lang="en-US"/>
              <a:t>Architectural Details and Assembly Language Programming of 8085 MPU</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F4F1359-DCC1-4F77-B4F4-8709DCFD0628}" type="datetime1">
              <a:rPr lang="en-US" smtClean="0"/>
              <a:t>8/1/2023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Architectural Details and Assembly Language Programming of 8085 MPU</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www.youtube.com/watch?v=GoPh2PS25AU" TargetMode="External"/></Relationships>
</file>

<file path=ppt/slides/_rels/slide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www.eeeguide.com/machine-cycle-in-8085-microprocessor/"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8.png"/><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0.png"/><Relationship Id="rId1" Type="http://schemas.openxmlformats.org/officeDocument/2006/relationships/slideLayout" Target="../slideLayouts/slideLayout2.xml"/><Relationship Id="rId5" Type="http://schemas.microsoft.com/office/2007/relationships/hdphoto" Target="../media/hdphoto6.wdp"/><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2.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4.png"/><Relationship Id="rId1" Type="http://schemas.openxmlformats.org/officeDocument/2006/relationships/slideLayout" Target="../slideLayouts/slideLayout2.xml"/><Relationship Id="rId5" Type="http://schemas.microsoft.com/office/2007/relationships/hdphoto" Target="../media/hdphoto10.wdp"/><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youtube.com/watch?v=KQ18sRHBpTM" TargetMode="External"/><Relationship Id="rId1" Type="http://schemas.openxmlformats.org/officeDocument/2006/relationships/slideLayout" Target="../slideLayouts/slideLayout2.xml"/><Relationship Id="rId4" Type="http://schemas.microsoft.com/office/2007/relationships/hdphoto" Target="../media/hdphoto12.wdp"/></Relationships>
</file>

<file path=ppt/slides/_rels/slide54.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hyperlink" Target="https://www.youtube.com/watch?v=KQ18sRHBpTM"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60.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s://www.youtube.com/watch?v=GLfEQGY70Ek&amp;list=PLndX8heiWwErijxt7FpnRilO2KV4UhFmN"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www.youtube.com/watch?v=_4Q-upoIv8c&amp;list=PLndX8heiWwErijxt7FpnRilO2KV4UhFmN&amp;index=2"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image" Target="../media/image48.png"/><Relationship Id="rId3" Type="http://schemas.microsoft.com/office/2007/relationships/hdphoto" Target="../media/hdphoto21.wdp"/><Relationship Id="rId7" Type="http://schemas.microsoft.com/office/2007/relationships/hdphoto" Target="../media/hdphoto23.wdp"/><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7.png"/><Relationship Id="rId5" Type="http://schemas.microsoft.com/office/2007/relationships/hdphoto" Target="../media/hdphoto22.wdp"/><Relationship Id="rId4" Type="http://schemas.openxmlformats.org/officeDocument/2006/relationships/image" Target="../media/image46.png"/><Relationship Id="rId9" Type="http://schemas.microsoft.com/office/2007/relationships/hdphoto" Target="../media/hdphoto24.wdp"/></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54.png"/><Relationship Id="rId3" Type="http://schemas.microsoft.com/office/2007/relationships/hdphoto" Target="../media/hdphoto25.wdp"/><Relationship Id="rId7" Type="http://schemas.microsoft.com/office/2007/relationships/hdphoto" Target="../media/hdphoto27.wdp"/><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3.png"/><Relationship Id="rId5" Type="http://schemas.microsoft.com/office/2007/relationships/hdphoto" Target="../media/hdphoto26.wdp"/><Relationship Id="rId4" Type="http://schemas.openxmlformats.org/officeDocument/2006/relationships/image" Target="../media/image52.png"/><Relationship Id="rId9" Type="http://schemas.microsoft.com/office/2007/relationships/hdphoto" Target="../media/hdphoto28.wdp"/></Relationships>
</file>

<file path=ppt/slides/_rels/slide86.xml.rels><?xml version="1.0" encoding="UTF-8" standalone="yes"?>
<Relationships xmlns="http://schemas.openxmlformats.org/package/2006/relationships"><Relationship Id="rId3" Type="http://schemas.microsoft.com/office/2007/relationships/hdphoto" Target="../media/hdphoto29.wdp"/><Relationship Id="rId7" Type="http://schemas.microsoft.com/office/2007/relationships/hdphoto" Target="../media/hdphoto31.wdp"/><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7.png"/><Relationship Id="rId5" Type="http://schemas.microsoft.com/office/2007/relationships/hdphoto" Target="../media/hdphoto30.wdp"/><Relationship Id="rId4" Type="http://schemas.openxmlformats.org/officeDocument/2006/relationships/image" Target="../media/image56.png"/></Relationships>
</file>

<file path=ppt/slides/_rels/slide87.xml.rels><?xml version="1.0" encoding="UTF-8" standalone="yes"?>
<Relationships xmlns="http://schemas.openxmlformats.org/package/2006/relationships"><Relationship Id="rId3" Type="http://schemas.microsoft.com/office/2007/relationships/hdphoto" Target="../media/hdphoto32.wdp"/><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0.png"/><Relationship Id="rId5" Type="http://schemas.microsoft.com/office/2007/relationships/hdphoto" Target="../media/hdphoto33.wdp"/><Relationship Id="rId4" Type="http://schemas.openxmlformats.org/officeDocument/2006/relationships/image" Target="../media/image59.png"/></Relationships>
</file>

<file path=ppt/slides/_rels/slide88.xml.rels><?xml version="1.0" encoding="UTF-8" standalone="yes"?>
<Relationships xmlns="http://schemas.openxmlformats.org/package/2006/relationships"><Relationship Id="rId3" Type="http://schemas.microsoft.com/office/2007/relationships/hdphoto" Target="../media/hdphoto34.wdp"/><Relationship Id="rId2" Type="http://schemas.openxmlformats.org/officeDocument/2006/relationships/image" Target="../media/image61.png"/><Relationship Id="rId1" Type="http://schemas.openxmlformats.org/officeDocument/2006/relationships/slideLayout" Target="../slideLayouts/slideLayout2.xml"/><Relationship Id="rId5" Type="http://schemas.microsoft.com/office/2007/relationships/hdphoto" Target="../media/hdphoto35.wdp"/><Relationship Id="rId4" Type="http://schemas.openxmlformats.org/officeDocument/2006/relationships/image" Target="../media/image62.png"/></Relationships>
</file>

<file path=ppt/slides/_rels/slide89.xml.rels><?xml version="1.0" encoding="UTF-8" standalone="yes"?>
<Relationships xmlns="http://schemas.openxmlformats.org/package/2006/relationships"><Relationship Id="rId8" Type="http://schemas.openxmlformats.org/officeDocument/2006/relationships/image" Target="../media/image66.png"/><Relationship Id="rId3" Type="http://schemas.microsoft.com/office/2007/relationships/hdphoto" Target="../media/hdphoto36.wdp"/><Relationship Id="rId7" Type="http://schemas.microsoft.com/office/2007/relationships/hdphoto" Target="../media/hdphoto38.wdp"/><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5.png"/><Relationship Id="rId5" Type="http://schemas.microsoft.com/office/2007/relationships/hdphoto" Target="../media/hdphoto37.wdp"/><Relationship Id="rId4" Type="http://schemas.openxmlformats.org/officeDocument/2006/relationships/image" Target="../media/image64.png"/><Relationship Id="rId9" Type="http://schemas.microsoft.com/office/2007/relationships/hdphoto" Target="../media/hdphoto39.wdp"/></Relationships>
</file>

<file path=ppt/slides/_rels/slide90.xml.rels><?xml version="1.0" encoding="UTF-8" standalone="yes"?>
<Relationships xmlns="http://schemas.openxmlformats.org/package/2006/relationships"><Relationship Id="rId8" Type="http://schemas.openxmlformats.org/officeDocument/2006/relationships/image" Target="../media/image63.png"/><Relationship Id="rId13" Type="http://schemas.microsoft.com/office/2007/relationships/hdphoto" Target="../media/hdphoto43.wdp"/><Relationship Id="rId3" Type="http://schemas.microsoft.com/office/2007/relationships/hdphoto" Target="../media/hdphoto40.wdp"/><Relationship Id="rId7" Type="http://schemas.microsoft.com/office/2007/relationships/hdphoto" Target="../media/hdphoto39.wdp"/><Relationship Id="rId12" Type="http://schemas.openxmlformats.org/officeDocument/2006/relationships/image" Target="../media/image70.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66.png"/><Relationship Id="rId11" Type="http://schemas.microsoft.com/office/2007/relationships/hdphoto" Target="../media/hdphoto42.wdp"/><Relationship Id="rId5" Type="http://schemas.microsoft.com/office/2007/relationships/hdphoto" Target="../media/hdphoto41.wdp"/><Relationship Id="rId10" Type="http://schemas.openxmlformats.org/officeDocument/2006/relationships/image" Target="../media/image69.png"/><Relationship Id="rId4" Type="http://schemas.openxmlformats.org/officeDocument/2006/relationships/image" Target="../media/image68.png"/><Relationship Id="rId9" Type="http://schemas.microsoft.com/office/2007/relationships/hdphoto" Target="../media/hdphoto36.wdp"/></Relationships>
</file>

<file path=ppt/slides/_rels/slide9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9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9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2.png"/></Relationships>
</file>

<file path=ppt/slides/_rels/slide9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9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microsoft.com/office/2007/relationships/hdphoto" Target="../media/hdphoto44.wdp"/><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47750"/>
            <a:ext cx="7772400" cy="2133599"/>
          </a:xfrm>
        </p:spPr>
        <p:txBody>
          <a:bodyPr>
            <a:normAutofit fontScale="90000"/>
          </a:bodyPr>
          <a:lstStyle/>
          <a:p>
            <a:r>
              <a:rPr lang="en-US" sz="3100" b="1" dirty="0"/>
              <a:t>Chapter 2</a:t>
            </a:r>
            <a:br>
              <a:rPr lang="en-US" b="1" dirty="0"/>
            </a:br>
            <a:r>
              <a:rPr lang="en-US" b="1" dirty="0">
                <a:solidFill>
                  <a:srgbClr val="FF0000"/>
                </a:solidFill>
              </a:rPr>
              <a:t>Architectural Details and Assembly Language Programming of 8085 MPU</a:t>
            </a:r>
          </a:p>
        </p:txBody>
      </p:sp>
      <p:sp>
        <p:nvSpPr>
          <p:cNvPr id="5" name="Subtitle 4"/>
          <p:cNvSpPr>
            <a:spLocks noGrp="1"/>
          </p:cNvSpPr>
          <p:nvPr>
            <p:ph type="subTitle" idx="1"/>
          </p:nvPr>
        </p:nvSpPr>
        <p:spPr>
          <a:xfrm>
            <a:off x="1371600" y="3181350"/>
            <a:ext cx="6400800" cy="1047750"/>
          </a:xfrm>
        </p:spPr>
        <p:txBody>
          <a:bodyPr>
            <a:normAutofit/>
          </a:bodyPr>
          <a:lstStyle/>
          <a:p>
            <a:r>
              <a:rPr lang="en-US" sz="1800" b="1" dirty="0">
                <a:solidFill>
                  <a:srgbClr val="FF0000"/>
                </a:solidFill>
              </a:rPr>
              <a:t>Credit: 10 </a:t>
            </a:r>
            <a:r>
              <a:rPr lang="en-US" sz="1800" b="1" dirty="0" err="1">
                <a:solidFill>
                  <a:srgbClr val="FF0000"/>
                </a:solidFill>
              </a:rPr>
              <a:t>hrs</a:t>
            </a:r>
            <a:endParaRPr lang="en-US" sz="180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Overview:	</a:t>
            </a: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r>
              <a:rPr lang="en-US" sz="2000" dirty="0"/>
              <a:t>Internal architecture and description</a:t>
            </a:r>
          </a:p>
          <a:p>
            <a:pPr marL="457200" indent="-457200">
              <a:buFont typeface="+mj-lt"/>
              <a:buAutoNum type="arabicPeriod"/>
              <a:tabLst>
                <a:tab pos="463550" algn="l"/>
              </a:tabLst>
            </a:pPr>
            <a:r>
              <a:rPr lang="en-US" sz="2000" dirty="0"/>
              <a:t>Instruction classification</a:t>
            </a:r>
          </a:p>
          <a:p>
            <a:pPr marL="457200" indent="-457200">
              <a:buFont typeface="+mj-lt"/>
              <a:buAutoNum type="arabicPeriod"/>
              <a:tabLst>
                <a:tab pos="463550" algn="l"/>
              </a:tabLst>
            </a:pPr>
            <a:r>
              <a:rPr lang="en-US" sz="2000" dirty="0"/>
              <a:t>Addressing modes</a:t>
            </a:r>
          </a:p>
          <a:p>
            <a:pPr marL="457200" indent="-457200">
              <a:buFont typeface="+mj-lt"/>
              <a:buAutoNum type="arabicPeriod"/>
              <a:tabLst>
                <a:tab pos="463550" algn="l"/>
              </a:tabLst>
            </a:pPr>
            <a:r>
              <a:rPr lang="en-US" sz="2000" dirty="0"/>
              <a:t>Instruction Cycle, Machine cycle, t-state, Timing diagram, RTL</a:t>
            </a:r>
          </a:p>
          <a:p>
            <a:pPr marL="457200" indent="-457200">
              <a:buFont typeface="+mj-lt"/>
              <a:buAutoNum type="arabicPeriod"/>
              <a:tabLst>
                <a:tab pos="463550" algn="l"/>
              </a:tabLst>
            </a:pPr>
            <a:r>
              <a:rPr lang="en-US" sz="2000" dirty="0"/>
              <a:t>Basic Assembly language programs of 8085</a:t>
            </a:r>
          </a:p>
        </p:txBody>
      </p:sp>
      <p:sp>
        <p:nvSpPr>
          <p:cNvPr id="4" name="Date Placeholder 3"/>
          <p:cNvSpPr>
            <a:spLocks noGrp="1"/>
          </p:cNvSpPr>
          <p:nvPr>
            <p:ph type="dt" sz="half" idx="10"/>
          </p:nvPr>
        </p:nvSpPr>
        <p:spPr/>
        <p:txBody>
          <a:bodyPr/>
          <a:lstStyle/>
          <a:p>
            <a:fld id="{3F9591A7-142E-4F4F-A2AC-3489774ECAFC}"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4000" b="1" dirty="0">
              <a:solidFill>
                <a:srgbClr val="FF0000"/>
              </a:solidFill>
            </a:endParaRPr>
          </a:p>
          <a:p>
            <a:pPr marL="0" indent="0" algn="ctr">
              <a:buNone/>
              <a:tabLst>
                <a:tab pos="463550" algn="l"/>
              </a:tabLst>
            </a:pPr>
            <a:r>
              <a:rPr lang="en-US" sz="4000" b="1" dirty="0">
                <a:solidFill>
                  <a:srgbClr val="FF0000"/>
                </a:solidFill>
              </a:rPr>
              <a:t>1. Internal architecture and description</a:t>
            </a:r>
            <a:endParaRPr lang="en-US" sz="4000" dirty="0"/>
          </a:p>
        </p:txBody>
      </p:sp>
      <p:sp>
        <p:nvSpPr>
          <p:cNvPr id="4" name="Date Placeholder 3"/>
          <p:cNvSpPr>
            <a:spLocks noGrp="1"/>
          </p:cNvSpPr>
          <p:nvPr>
            <p:ph type="dt" sz="half" idx="10"/>
          </p:nvPr>
        </p:nvSpPr>
        <p:spPr/>
        <p:txBody>
          <a:bodyPr/>
          <a:lstStyle/>
          <a:p>
            <a:fld id="{63998A3E-291D-424E-B204-57AE60AFC280}"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062734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Microprocessor: Introduction</a:t>
            </a:r>
          </a:p>
        </p:txBody>
      </p:sp>
      <p:sp>
        <p:nvSpPr>
          <p:cNvPr id="3" name="Content Placeholder 2"/>
          <p:cNvSpPr>
            <a:spLocks noGrp="1"/>
          </p:cNvSpPr>
          <p:nvPr>
            <p:ph idx="1"/>
          </p:nvPr>
        </p:nvSpPr>
        <p:spPr>
          <a:xfrm>
            <a:off x="457200" y="742950"/>
            <a:ext cx="8229600" cy="3851673"/>
          </a:xfrm>
          <a:noFill/>
        </p:spPr>
        <p:txBody>
          <a:bodyPr>
            <a:normAutofit fontScale="70000" lnSpcReduction="20000"/>
          </a:bodyPr>
          <a:lstStyle/>
          <a:p>
            <a:pPr>
              <a:tabLst>
                <a:tab pos="463550" algn="l"/>
              </a:tabLst>
            </a:pPr>
            <a:r>
              <a:rPr lang="en-US" dirty="0"/>
              <a:t>8085 is pronounced as "eighty-eighty-five" microprocessor. It is an 8-bit microprocessor designed by Intel in 1977 using NMOS technology.</a:t>
            </a:r>
          </a:p>
          <a:p>
            <a:r>
              <a:rPr lang="en-US" dirty="0"/>
              <a:t>It has the following configuration −</a:t>
            </a:r>
          </a:p>
          <a:p>
            <a:pPr lvl="1"/>
            <a:r>
              <a:rPr lang="en-US" dirty="0"/>
              <a:t>8-bit data bus</a:t>
            </a:r>
          </a:p>
          <a:p>
            <a:pPr lvl="1"/>
            <a:r>
              <a:rPr lang="en-US" dirty="0"/>
              <a:t>16-bit address bus, which can address </a:t>
            </a:r>
            <a:r>
              <a:rPr lang="en-US" dirty="0" err="1"/>
              <a:t>upto</a:t>
            </a:r>
            <a:r>
              <a:rPr lang="en-US" dirty="0"/>
              <a:t> 64KB</a:t>
            </a:r>
          </a:p>
          <a:p>
            <a:pPr lvl="1"/>
            <a:r>
              <a:rPr lang="en-US" dirty="0"/>
              <a:t>A 16-bit program counter</a:t>
            </a:r>
          </a:p>
          <a:p>
            <a:pPr lvl="1"/>
            <a:r>
              <a:rPr lang="en-US" dirty="0"/>
              <a:t>A 16-bit stack pointer</a:t>
            </a:r>
          </a:p>
          <a:p>
            <a:pPr lvl="1"/>
            <a:r>
              <a:rPr lang="en-US" dirty="0"/>
              <a:t>Six 8-bit registers arranged in pairs: BC, DE, HL</a:t>
            </a:r>
          </a:p>
          <a:p>
            <a:pPr lvl="1"/>
            <a:r>
              <a:rPr lang="en-US" dirty="0"/>
              <a:t>Requires +5V supply to operate at 3.2 MHZ single phase clock</a:t>
            </a:r>
          </a:p>
          <a:p>
            <a:r>
              <a:rPr lang="en-US" dirty="0"/>
              <a:t>It is used in washing machines, microwave ovens, mobile phones, </a:t>
            </a:r>
            <a:r>
              <a:rPr lang="en-US" dirty="0" err="1"/>
              <a:t>etc</a:t>
            </a:r>
            <a:endParaRPr lang="en-US" dirty="0"/>
          </a:p>
          <a:p>
            <a:pPr>
              <a:tabLst>
                <a:tab pos="463550" algn="l"/>
              </a:tabLst>
            </a:pPr>
            <a:endParaRPr lang="en-US" sz="2000" dirty="0"/>
          </a:p>
        </p:txBody>
      </p:sp>
      <p:sp>
        <p:nvSpPr>
          <p:cNvPr id="4" name="Date Placeholder 3"/>
          <p:cNvSpPr>
            <a:spLocks noGrp="1"/>
          </p:cNvSpPr>
          <p:nvPr>
            <p:ph type="dt" sz="half" idx="10"/>
          </p:nvPr>
        </p:nvSpPr>
        <p:spPr/>
        <p:txBody>
          <a:bodyPr/>
          <a:lstStyle/>
          <a:p>
            <a:fld id="{287F03BC-3440-4D58-8F2F-3238C5DD2BF8}"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390691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MP- Block Diagram</a:t>
            </a: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5DA4E279-6888-4D96-960A-70916D7F73BD}"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76B4422D-7C61-4A5C-AC3C-EA5EDC62BDE5}"/>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1768"/>
          <a:stretch/>
        </p:blipFill>
        <p:spPr>
          <a:xfrm>
            <a:off x="1560831" y="737347"/>
            <a:ext cx="6022338" cy="4120403"/>
          </a:xfrm>
          <a:prstGeom prst="rect">
            <a:avLst/>
          </a:prstGeom>
        </p:spPr>
      </p:pic>
    </p:spTree>
    <p:extLst>
      <p:ext uri="{BB962C8B-B14F-4D97-AF65-F5344CB8AC3E}">
        <p14:creationId xmlns:p14="http://schemas.microsoft.com/office/powerpoint/2010/main" val="115637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MP- functional Units</a:t>
            </a:r>
          </a:p>
        </p:txBody>
      </p:sp>
      <p:sp>
        <p:nvSpPr>
          <p:cNvPr id="3" name="Content Placeholder 2"/>
          <p:cNvSpPr>
            <a:spLocks noGrp="1"/>
          </p:cNvSpPr>
          <p:nvPr>
            <p:ph idx="1"/>
          </p:nvPr>
        </p:nvSpPr>
        <p:spPr>
          <a:xfrm>
            <a:off x="457200" y="742950"/>
            <a:ext cx="2057400" cy="3851673"/>
          </a:xfrm>
          <a:noFill/>
        </p:spPr>
        <p:txBody>
          <a:bodyPr>
            <a:normAutofit/>
          </a:bodyPr>
          <a:lstStyle/>
          <a:p>
            <a:pPr marL="228600" indent="-228600">
              <a:buFont typeface="+mj-lt"/>
              <a:buAutoNum type="arabicPeriod"/>
            </a:pPr>
            <a:r>
              <a:rPr lang="en-US" sz="1200" dirty="0"/>
              <a:t>Accumulator</a:t>
            </a:r>
          </a:p>
          <a:p>
            <a:pPr marL="228600" indent="-228600">
              <a:buFont typeface="+mj-lt"/>
              <a:buAutoNum type="arabicPeriod"/>
            </a:pPr>
            <a:r>
              <a:rPr lang="en-US" sz="1200" dirty="0"/>
              <a:t>Arithmetic and logic unit</a:t>
            </a:r>
          </a:p>
          <a:p>
            <a:pPr marL="228600" indent="-228600">
              <a:buFont typeface="+mj-lt"/>
              <a:buAutoNum type="arabicPeriod"/>
            </a:pPr>
            <a:r>
              <a:rPr lang="en-US" sz="1200" dirty="0"/>
              <a:t>General purpose register</a:t>
            </a:r>
          </a:p>
          <a:p>
            <a:pPr marL="228600" indent="-228600">
              <a:buFont typeface="+mj-lt"/>
              <a:buAutoNum type="arabicPeriod"/>
            </a:pPr>
            <a:r>
              <a:rPr lang="en-US" sz="1200" dirty="0"/>
              <a:t>Program counter</a:t>
            </a:r>
          </a:p>
          <a:p>
            <a:pPr marL="228600" indent="-228600">
              <a:buFont typeface="+mj-lt"/>
              <a:buAutoNum type="arabicPeriod"/>
            </a:pPr>
            <a:r>
              <a:rPr lang="en-US" sz="1200" dirty="0"/>
              <a:t>Stack pointer</a:t>
            </a:r>
          </a:p>
          <a:p>
            <a:pPr marL="228600" indent="-228600">
              <a:buFont typeface="+mj-lt"/>
              <a:buAutoNum type="arabicPeriod"/>
            </a:pPr>
            <a:r>
              <a:rPr lang="en-US" sz="1200" dirty="0"/>
              <a:t>Flag register</a:t>
            </a:r>
          </a:p>
          <a:p>
            <a:pPr marL="228600" indent="-228600">
              <a:buFont typeface="+mj-lt"/>
              <a:buAutoNum type="arabicPeriod"/>
            </a:pPr>
            <a:r>
              <a:rPr lang="en-US" sz="1200" dirty="0"/>
              <a:t>Instruction register and decoder</a:t>
            </a:r>
          </a:p>
          <a:p>
            <a:pPr marL="228600" indent="-228600">
              <a:buFont typeface="+mj-lt"/>
              <a:buAutoNum type="arabicPeriod"/>
            </a:pPr>
            <a:r>
              <a:rPr lang="en-US" sz="1200" dirty="0"/>
              <a:t>Timing and control unit</a:t>
            </a:r>
          </a:p>
          <a:p>
            <a:pPr marL="228600" indent="-228600">
              <a:buFont typeface="+mj-lt"/>
              <a:buAutoNum type="arabicPeriod"/>
            </a:pPr>
            <a:r>
              <a:rPr lang="en-US" sz="1200" dirty="0"/>
              <a:t>Interrupt control</a:t>
            </a:r>
          </a:p>
          <a:p>
            <a:pPr marL="228600" indent="-228600">
              <a:buFont typeface="+mj-lt"/>
              <a:buAutoNum type="arabicPeriod"/>
            </a:pPr>
            <a:r>
              <a:rPr lang="en-US" sz="1200" dirty="0"/>
              <a:t>Serial Input/output control</a:t>
            </a:r>
          </a:p>
          <a:p>
            <a:pPr marL="228600" indent="-228600">
              <a:buFont typeface="+mj-lt"/>
              <a:buAutoNum type="arabicPeriod"/>
            </a:pPr>
            <a:r>
              <a:rPr lang="en-US" sz="1200" dirty="0"/>
              <a:t>Address buffer and address-data buffer</a:t>
            </a:r>
          </a:p>
          <a:p>
            <a:pPr marL="228600" indent="-228600">
              <a:buFont typeface="+mj-lt"/>
              <a:buAutoNum type="arabicPeriod"/>
            </a:pPr>
            <a:r>
              <a:rPr lang="en-US" sz="1200" dirty="0"/>
              <a:t>Address bus and data bus</a:t>
            </a:r>
          </a:p>
        </p:txBody>
      </p:sp>
      <p:sp>
        <p:nvSpPr>
          <p:cNvPr id="4" name="Date Placeholder 3"/>
          <p:cNvSpPr>
            <a:spLocks noGrp="1"/>
          </p:cNvSpPr>
          <p:nvPr>
            <p:ph type="dt" sz="half" idx="10"/>
          </p:nvPr>
        </p:nvSpPr>
        <p:spPr/>
        <p:txBody>
          <a:bodyPr/>
          <a:lstStyle/>
          <a:p>
            <a:fld id="{66DF3EC4-2D9E-4FEF-87F5-13DAEAB8EBB9}"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9" name="Picture 8">
            <a:extLst>
              <a:ext uri="{FF2B5EF4-FFF2-40B4-BE49-F238E27FC236}">
                <a16:creationId xmlns:a16="http://schemas.microsoft.com/office/drawing/2014/main" id="{A7857D37-6E1C-42F0-9D01-6D941508F1CE}"/>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1768"/>
          <a:stretch/>
        </p:blipFill>
        <p:spPr>
          <a:xfrm>
            <a:off x="2895600" y="715879"/>
            <a:ext cx="6022338" cy="4120403"/>
          </a:xfrm>
          <a:prstGeom prst="rect">
            <a:avLst/>
          </a:prstGeom>
        </p:spPr>
      </p:pic>
    </p:spTree>
    <p:extLst>
      <p:ext uri="{BB962C8B-B14F-4D97-AF65-F5344CB8AC3E}">
        <p14:creationId xmlns:p14="http://schemas.microsoft.com/office/powerpoint/2010/main" val="1306686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MP- functional Units</a:t>
            </a:r>
          </a:p>
        </p:txBody>
      </p:sp>
      <p:sp>
        <p:nvSpPr>
          <p:cNvPr id="3" name="Content Placeholder 2"/>
          <p:cNvSpPr>
            <a:spLocks noGrp="1"/>
          </p:cNvSpPr>
          <p:nvPr>
            <p:ph idx="1"/>
          </p:nvPr>
        </p:nvSpPr>
        <p:spPr>
          <a:xfrm>
            <a:off x="457200" y="742950"/>
            <a:ext cx="4521652" cy="3851673"/>
          </a:xfrm>
          <a:noFill/>
        </p:spPr>
        <p:txBody>
          <a:bodyPr>
            <a:normAutofit fontScale="55000" lnSpcReduction="20000"/>
          </a:bodyPr>
          <a:lstStyle/>
          <a:p>
            <a:pPr marL="514350" indent="-514350">
              <a:buFont typeface="+mj-lt"/>
              <a:buAutoNum type="arabicPeriod"/>
            </a:pPr>
            <a:r>
              <a:rPr lang="en-US" b="1" dirty="0"/>
              <a:t>Accumulator</a:t>
            </a:r>
          </a:p>
          <a:p>
            <a:pPr lvl="1"/>
            <a:r>
              <a:rPr lang="en-US" dirty="0"/>
              <a:t>It is an 8-bit register </a:t>
            </a:r>
            <a:r>
              <a:rPr lang="en-US" dirty="0">
                <a:solidFill>
                  <a:srgbClr val="C00000"/>
                </a:solidFill>
              </a:rPr>
              <a:t>used to store arithmetic, logical, I/O &amp; LOAD/STORE operation results. </a:t>
            </a:r>
          </a:p>
          <a:p>
            <a:pPr lvl="1"/>
            <a:r>
              <a:rPr lang="en-US" dirty="0"/>
              <a:t>It is connected to internal data bus &amp; ALU.</a:t>
            </a:r>
          </a:p>
          <a:p>
            <a:pPr lvl="1"/>
            <a:endParaRPr lang="en-US" dirty="0"/>
          </a:p>
          <a:p>
            <a:pPr marL="514350" indent="-514350">
              <a:buFont typeface="+mj-lt"/>
              <a:buAutoNum type="arabicPeriod"/>
            </a:pPr>
            <a:r>
              <a:rPr lang="en-US" b="1" dirty="0"/>
              <a:t>Arithmetic and logic unit</a:t>
            </a:r>
          </a:p>
          <a:p>
            <a:pPr lvl="1"/>
            <a:r>
              <a:rPr lang="en-US" dirty="0"/>
              <a:t>It </a:t>
            </a:r>
            <a:r>
              <a:rPr lang="en-US" dirty="0">
                <a:solidFill>
                  <a:srgbClr val="C00000"/>
                </a:solidFill>
              </a:rPr>
              <a:t>performs arithmetic and logical operations </a:t>
            </a:r>
            <a:r>
              <a:rPr lang="en-US" dirty="0"/>
              <a:t>like Addition, Subtraction, AND, OR, etc. on 8-bit data.</a:t>
            </a:r>
          </a:p>
          <a:p>
            <a:pPr lvl="1"/>
            <a:endParaRPr lang="en-US" dirty="0"/>
          </a:p>
          <a:p>
            <a:pPr marL="514350" indent="-514350">
              <a:buFont typeface="+mj-lt"/>
              <a:buAutoNum type="arabicPeriod"/>
            </a:pPr>
            <a:r>
              <a:rPr lang="en-US" b="1" dirty="0"/>
              <a:t>General purpose register</a:t>
            </a:r>
          </a:p>
          <a:p>
            <a:pPr lvl="1"/>
            <a:r>
              <a:rPr lang="en-US" dirty="0"/>
              <a:t>There are 6 general purpose registers in 8085 processor, i.e. B, C, D, E, H &amp; L. </a:t>
            </a:r>
          </a:p>
          <a:p>
            <a:pPr lvl="1"/>
            <a:r>
              <a:rPr lang="en-US" dirty="0"/>
              <a:t>Each register can </a:t>
            </a:r>
            <a:r>
              <a:rPr lang="en-US" dirty="0">
                <a:solidFill>
                  <a:srgbClr val="C00000"/>
                </a:solidFill>
              </a:rPr>
              <a:t>hold 8-bit data.</a:t>
            </a:r>
          </a:p>
          <a:p>
            <a:pPr lvl="1"/>
            <a:r>
              <a:rPr lang="en-US" dirty="0"/>
              <a:t>These registers </a:t>
            </a:r>
            <a:r>
              <a:rPr lang="en-US" dirty="0">
                <a:solidFill>
                  <a:srgbClr val="C00000"/>
                </a:solidFill>
              </a:rPr>
              <a:t>can work in pair to hold 16-bit </a:t>
            </a:r>
            <a:r>
              <a:rPr lang="en-US" dirty="0"/>
              <a:t>data and their pairing combination is like B-C, D-E &amp; H-L.</a:t>
            </a:r>
          </a:p>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4152F082-A81A-40CE-B583-5E41371C90D3}"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D5BB336F-FBB3-4926-89EB-775749CEEB0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1768"/>
          <a:stretch/>
        </p:blipFill>
        <p:spPr>
          <a:xfrm>
            <a:off x="4978852" y="836382"/>
            <a:ext cx="4048999" cy="2770271"/>
          </a:xfrm>
          <a:prstGeom prst="rect">
            <a:avLst/>
          </a:prstGeom>
        </p:spPr>
      </p:pic>
    </p:spTree>
    <p:extLst>
      <p:ext uri="{BB962C8B-B14F-4D97-AF65-F5344CB8AC3E}">
        <p14:creationId xmlns:p14="http://schemas.microsoft.com/office/powerpoint/2010/main" val="1124186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MP- functional Units</a:t>
            </a:r>
          </a:p>
        </p:txBody>
      </p:sp>
      <p:sp>
        <p:nvSpPr>
          <p:cNvPr id="3" name="Content Placeholder 2"/>
          <p:cNvSpPr>
            <a:spLocks noGrp="1"/>
          </p:cNvSpPr>
          <p:nvPr>
            <p:ph idx="1"/>
          </p:nvPr>
        </p:nvSpPr>
        <p:spPr>
          <a:xfrm>
            <a:off x="457200" y="742950"/>
            <a:ext cx="4521652" cy="3851673"/>
          </a:xfrm>
          <a:noFill/>
        </p:spPr>
        <p:txBody>
          <a:bodyPr>
            <a:normAutofit fontScale="47500" lnSpcReduction="20000"/>
          </a:bodyPr>
          <a:lstStyle/>
          <a:p>
            <a:pPr marL="514350" indent="-514350">
              <a:buFont typeface="+mj-lt"/>
              <a:buAutoNum type="arabicPeriod" startAt="3"/>
            </a:pPr>
            <a:r>
              <a:rPr lang="en-US" b="1" dirty="0"/>
              <a:t>Program counter (PC)</a:t>
            </a:r>
          </a:p>
          <a:p>
            <a:pPr lvl="1"/>
            <a:r>
              <a:rPr lang="en-US" dirty="0"/>
              <a:t>It is a 16-bit register </a:t>
            </a:r>
            <a:r>
              <a:rPr lang="en-US" dirty="0">
                <a:solidFill>
                  <a:srgbClr val="C00000"/>
                </a:solidFill>
              </a:rPr>
              <a:t>used to store the memory address location of the next </a:t>
            </a:r>
            <a:r>
              <a:rPr lang="en-US" dirty="0"/>
              <a:t>instruction to be executed. </a:t>
            </a:r>
          </a:p>
          <a:p>
            <a:pPr lvl="1"/>
            <a:r>
              <a:rPr lang="en-US" dirty="0"/>
              <a:t>The  </a:t>
            </a:r>
            <a:r>
              <a:rPr lang="en-US" dirty="0">
                <a:solidFill>
                  <a:srgbClr val="C00000"/>
                </a:solidFill>
              </a:rPr>
              <a:t>PC is incremented </a:t>
            </a:r>
            <a:r>
              <a:rPr lang="en-US" dirty="0"/>
              <a:t>after each instruction is executed.</a:t>
            </a:r>
          </a:p>
          <a:p>
            <a:pPr lvl="1"/>
            <a:r>
              <a:rPr lang="en-US" dirty="0"/>
              <a:t>Then, the </a:t>
            </a:r>
            <a:r>
              <a:rPr lang="en-US" dirty="0">
                <a:solidFill>
                  <a:srgbClr val="C00000"/>
                </a:solidFill>
              </a:rPr>
              <a:t>PC points to the memory address of the next instruction </a:t>
            </a:r>
            <a:r>
              <a:rPr lang="en-US" dirty="0"/>
              <a:t>that is going to be executed.</a:t>
            </a:r>
          </a:p>
          <a:p>
            <a:pPr marL="514350" indent="-514350">
              <a:buFont typeface="+mj-lt"/>
              <a:buAutoNum type="arabicPeriod" startAt="3"/>
            </a:pPr>
            <a:r>
              <a:rPr lang="en-US" b="1" dirty="0"/>
              <a:t>Stack pointer</a:t>
            </a:r>
          </a:p>
          <a:p>
            <a:pPr lvl="1"/>
            <a:r>
              <a:rPr lang="en-US" dirty="0"/>
              <a:t>It is also a 16-bit register works like stack.</a:t>
            </a:r>
          </a:p>
          <a:p>
            <a:pPr lvl="1"/>
            <a:r>
              <a:rPr lang="en-US" dirty="0"/>
              <a:t>It </a:t>
            </a:r>
            <a:r>
              <a:rPr lang="en-US" dirty="0">
                <a:solidFill>
                  <a:srgbClr val="C00000"/>
                </a:solidFill>
              </a:rPr>
              <a:t>keeps track of the TOS </a:t>
            </a:r>
            <a:r>
              <a:rPr lang="en-US" dirty="0"/>
              <a:t>(top of stack).</a:t>
            </a:r>
          </a:p>
          <a:p>
            <a:pPr lvl="1"/>
            <a:r>
              <a:rPr lang="en-US" dirty="0"/>
              <a:t>It is always incremented/decremented by 2 during push &amp; pop operations.</a:t>
            </a:r>
          </a:p>
          <a:p>
            <a:pPr marL="514350" indent="-514350">
              <a:buFont typeface="+mj-lt"/>
              <a:buAutoNum type="arabicPeriod" startAt="3"/>
            </a:pPr>
            <a:r>
              <a:rPr lang="en-US" b="1" dirty="0"/>
              <a:t>Temporary register</a:t>
            </a:r>
          </a:p>
          <a:p>
            <a:pPr lvl="1"/>
            <a:r>
              <a:rPr lang="en-US" dirty="0"/>
              <a:t>It is an 8-bit register, </a:t>
            </a:r>
            <a:r>
              <a:rPr lang="en-US" dirty="0">
                <a:solidFill>
                  <a:srgbClr val="C00000"/>
                </a:solidFill>
              </a:rPr>
              <a:t>which holds the temporary data </a:t>
            </a:r>
            <a:r>
              <a:rPr lang="en-US" dirty="0"/>
              <a:t>of arithmetic and logical operations.</a:t>
            </a:r>
          </a:p>
        </p:txBody>
      </p:sp>
      <p:sp>
        <p:nvSpPr>
          <p:cNvPr id="4" name="Date Placeholder 3"/>
          <p:cNvSpPr>
            <a:spLocks noGrp="1"/>
          </p:cNvSpPr>
          <p:nvPr>
            <p:ph type="dt" sz="half" idx="10"/>
          </p:nvPr>
        </p:nvSpPr>
        <p:spPr/>
        <p:txBody>
          <a:bodyPr/>
          <a:lstStyle/>
          <a:p>
            <a:fld id="{8195A942-E18C-45D0-A968-41793464AB62}"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BD13805A-C4A3-410F-AAF8-E40F5BB3C07F}"/>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1768"/>
          <a:stretch/>
        </p:blipFill>
        <p:spPr>
          <a:xfrm>
            <a:off x="4978852" y="836382"/>
            <a:ext cx="4048999" cy="2770271"/>
          </a:xfrm>
          <a:prstGeom prst="rect">
            <a:avLst/>
          </a:prstGeom>
        </p:spPr>
      </p:pic>
    </p:spTree>
    <p:extLst>
      <p:ext uri="{BB962C8B-B14F-4D97-AF65-F5344CB8AC3E}">
        <p14:creationId xmlns:p14="http://schemas.microsoft.com/office/powerpoint/2010/main" val="3241892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MP- functional Units</a:t>
            </a:r>
          </a:p>
        </p:txBody>
      </p:sp>
      <p:sp>
        <p:nvSpPr>
          <p:cNvPr id="3" name="Content Placeholder 2"/>
          <p:cNvSpPr>
            <a:spLocks noGrp="1"/>
          </p:cNvSpPr>
          <p:nvPr>
            <p:ph idx="1"/>
          </p:nvPr>
        </p:nvSpPr>
        <p:spPr>
          <a:xfrm>
            <a:off x="457200" y="742950"/>
            <a:ext cx="4800600" cy="3851673"/>
          </a:xfrm>
          <a:noFill/>
        </p:spPr>
        <p:txBody>
          <a:bodyPr>
            <a:normAutofit/>
          </a:bodyPr>
          <a:lstStyle/>
          <a:p>
            <a:pPr marL="228600" indent="-228600">
              <a:buFont typeface="+mj-lt"/>
              <a:buAutoNum type="arabicPeriod" startAt="6"/>
            </a:pPr>
            <a:r>
              <a:rPr lang="en-US" sz="1600" b="1" dirty="0"/>
              <a:t>Flag register</a:t>
            </a:r>
          </a:p>
          <a:p>
            <a:pPr marL="457200" lvl="1" indent="-228600"/>
            <a:r>
              <a:rPr lang="en-US" sz="1200" dirty="0"/>
              <a:t>It is an 8-bit register having five 1-bit flip-flops, which </a:t>
            </a:r>
            <a:r>
              <a:rPr lang="en-US" sz="1200" dirty="0">
                <a:solidFill>
                  <a:srgbClr val="C00000"/>
                </a:solidFill>
              </a:rPr>
              <a:t>holds either 0 or 1 depending upon the result stored in the accumulator.</a:t>
            </a:r>
          </a:p>
          <a:p>
            <a:pPr marL="457200" lvl="1" indent="-228600"/>
            <a:r>
              <a:rPr lang="en-US" sz="1200" dirty="0"/>
              <a:t>These are the set of 5 flip-flops −</a:t>
            </a:r>
          </a:p>
          <a:p>
            <a:pPr marL="685800" lvl="2"/>
            <a:r>
              <a:rPr lang="en-US" sz="1000" dirty="0"/>
              <a:t>Sign (S)</a:t>
            </a:r>
          </a:p>
          <a:p>
            <a:pPr marL="685800" lvl="2"/>
            <a:r>
              <a:rPr lang="en-US" sz="1000" dirty="0"/>
              <a:t>Zero (Z)</a:t>
            </a:r>
          </a:p>
          <a:p>
            <a:pPr marL="685800" lvl="2"/>
            <a:r>
              <a:rPr lang="en-US" sz="1000" dirty="0"/>
              <a:t>Auxiliary Carry (AC)</a:t>
            </a:r>
          </a:p>
          <a:p>
            <a:pPr marL="685800" lvl="2"/>
            <a:r>
              <a:rPr lang="en-US" sz="1000" dirty="0"/>
              <a:t>Parity (P)</a:t>
            </a:r>
          </a:p>
          <a:p>
            <a:pPr marL="685800" lvl="2"/>
            <a:r>
              <a:rPr lang="en-US" sz="1000" dirty="0"/>
              <a:t>Carry </a:t>
            </a:r>
          </a:p>
          <a:p>
            <a:pPr marL="457200" lvl="1" indent="-228600"/>
            <a:r>
              <a:rPr lang="en-US" sz="1200" dirty="0"/>
              <a:t>Its bit position is shown in the following table :</a:t>
            </a:r>
          </a:p>
          <a:p>
            <a:pPr marL="457200" lvl="1" indent="-228600"/>
            <a:endParaRPr lang="en-US" sz="1200" dirty="0"/>
          </a:p>
          <a:p>
            <a:pPr marL="457200" lvl="1" indent="-228600"/>
            <a:endParaRPr lang="en-US" sz="1200" dirty="0"/>
          </a:p>
          <a:p>
            <a:pPr marL="457200" lvl="1" indent="-228600"/>
            <a:endParaRPr lang="en-US" sz="1200" dirty="0"/>
          </a:p>
          <a:p>
            <a:pPr>
              <a:buAutoNum type="arabicPeriod" startAt="7"/>
            </a:pPr>
            <a:r>
              <a:rPr lang="en-US" sz="1600" b="1" dirty="0"/>
              <a:t>Instruction Register and Decoder</a:t>
            </a:r>
          </a:p>
          <a:p>
            <a:pPr marL="457200" lvl="1"/>
            <a:r>
              <a:rPr lang="en-US" sz="1200" dirty="0"/>
              <a:t>It </a:t>
            </a:r>
            <a:r>
              <a:rPr lang="en-US" sz="1200" dirty="0">
                <a:solidFill>
                  <a:srgbClr val="C00000"/>
                </a:solidFill>
              </a:rPr>
              <a:t>stores the instruction </a:t>
            </a:r>
            <a:r>
              <a:rPr lang="en-US" sz="1200" dirty="0"/>
              <a:t>fetched from the memory.</a:t>
            </a:r>
          </a:p>
          <a:p>
            <a:pPr marL="457200" lvl="1"/>
            <a:r>
              <a:rPr lang="en-US" sz="1200" dirty="0"/>
              <a:t>Instruction decoder </a:t>
            </a:r>
            <a:r>
              <a:rPr lang="en-US" sz="1200" dirty="0">
                <a:solidFill>
                  <a:srgbClr val="C00000"/>
                </a:solidFill>
              </a:rPr>
              <a:t>decodes the information present in the IR.</a:t>
            </a:r>
          </a:p>
          <a:p>
            <a:pPr marL="228600" lvl="1" indent="-228600"/>
            <a:endParaRPr lang="en-US" sz="1200" dirty="0"/>
          </a:p>
        </p:txBody>
      </p:sp>
      <p:sp>
        <p:nvSpPr>
          <p:cNvPr id="4" name="Date Placeholder 3"/>
          <p:cNvSpPr>
            <a:spLocks noGrp="1"/>
          </p:cNvSpPr>
          <p:nvPr>
            <p:ph type="dt" sz="half" idx="10"/>
          </p:nvPr>
        </p:nvSpPr>
        <p:spPr/>
        <p:txBody>
          <a:bodyPr/>
          <a:lstStyle/>
          <a:p>
            <a:fld id="{1366BDB1-15BD-49B0-89B7-17968B2C33A1}"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F2D95CD3-19DB-4D9A-8845-BA8D919A6991}"/>
              </a:ext>
            </a:extLst>
          </p:cNvPr>
          <p:cNvPicPr>
            <a:picLocks noChangeAspect="1"/>
          </p:cNvPicPr>
          <p:nvPr/>
        </p:nvPicPr>
        <p:blipFill>
          <a:blip r:embed="rId2"/>
          <a:stretch>
            <a:fillRect/>
          </a:stretch>
        </p:blipFill>
        <p:spPr>
          <a:xfrm>
            <a:off x="1066800" y="2876550"/>
            <a:ext cx="3088646" cy="457200"/>
          </a:xfrm>
          <a:prstGeom prst="rect">
            <a:avLst/>
          </a:prstGeom>
        </p:spPr>
      </p:pic>
      <p:pic>
        <p:nvPicPr>
          <p:cNvPr id="9" name="Picture 8">
            <a:extLst>
              <a:ext uri="{FF2B5EF4-FFF2-40B4-BE49-F238E27FC236}">
                <a16:creationId xmlns:a16="http://schemas.microsoft.com/office/drawing/2014/main" id="{E9DA472A-B49C-43F7-A522-845031A5F9FA}"/>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50000"/>
                    </a14:imgEffect>
                  </a14:imgLayer>
                </a14:imgProps>
              </a:ext>
            </a:extLst>
          </a:blip>
          <a:srcRect b="1768"/>
          <a:stretch/>
        </p:blipFill>
        <p:spPr>
          <a:xfrm>
            <a:off x="4978852" y="836382"/>
            <a:ext cx="4048999" cy="2770271"/>
          </a:xfrm>
          <a:prstGeom prst="rect">
            <a:avLst/>
          </a:prstGeom>
        </p:spPr>
      </p:pic>
    </p:spTree>
    <p:extLst>
      <p:ext uri="{BB962C8B-B14F-4D97-AF65-F5344CB8AC3E}">
        <p14:creationId xmlns:p14="http://schemas.microsoft.com/office/powerpoint/2010/main" val="3011456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MP- functional Units</a:t>
            </a:r>
          </a:p>
        </p:txBody>
      </p:sp>
      <p:sp>
        <p:nvSpPr>
          <p:cNvPr id="3" name="Content Placeholder 2"/>
          <p:cNvSpPr>
            <a:spLocks noGrp="1"/>
          </p:cNvSpPr>
          <p:nvPr>
            <p:ph idx="1"/>
          </p:nvPr>
        </p:nvSpPr>
        <p:spPr>
          <a:xfrm>
            <a:off x="457200" y="742950"/>
            <a:ext cx="4521652" cy="3851673"/>
          </a:xfrm>
          <a:noFill/>
        </p:spPr>
        <p:txBody>
          <a:bodyPr>
            <a:normAutofit fontScale="77500" lnSpcReduction="20000"/>
          </a:bodyPr>
          <a:lstStyle/>
          <a:p>
            <a:pPr marL="514350" indent="-514350">
              <a:buFont typeface="+mj-lt"/>
              <a:buAutoNum type="arabicPeriod" startAt="8"/>
            </a:pPr>
            <a:r>
              <a:rPr lang="en-US" sz="2000" b="1" dirty="0"/>
              <a:t>Timing and control unit</a:t>
            </a:r>
          </a:p>
          <a:p>
            <a:pPr lvl="1"/>
            <a:r>
              <a:rPr lang="en-US" sz="1600" dirty="0"/>
              <a:t>It </a:t>
            </a:r>
            <a:r>
              <a:rPr lang="en-US" sz="1600" dirty="0">
                <a:solidFill>
                  <a:srgbClr val="C00000"/>
                </a:solidFill>
              </a:rPr>
              <a:t>provides timing and control signal </a:t>
            </a:r>
            <a:r>
              <a:rPr lang="en-US" sz="1600" dirty="0"/>
              <a:t>to the microprocessor to perform operations. </a:t>
            </a:r>
          </a:p>
          <a:p>
            <a:pPr lvl="1"/>
            <a:r>
              <a:rPr lang="en-US" sz="1600" dirty="0"/>
              <a:t>Following are the timing and control signals, which control external and internal circuits −</a:t>
            </a:r>
          </a:p>
          <a:p>
            <a:pPr lvl="2"/>
            <a:r>
              <a:rPr lang="en-US" sz="1300" b="1" dirty="0"/>
              <a:t>Control Signals</a:t>
            </a:r>
            <a:r>
              <a:rPr lang="en-US" sz="1300" dirty="0"/>
              <a:t>: READY, RD’, WR’, ALE</a:t>
            </a:r>
          </a:p>
          <a:p>
            <a:pPr lvl="2"/>
            <a:r>
              <a:rPr lang="en-US" sz="1300" b="1" dirty="0"/>
              <a:t>Status Signals: </a:t>
            </a:r>
            <a:r>
              <a:rPr lang="en-US" sz="1300" dirty="0"/>
              <a:t>S0, S1, IO/M’</a:t>
            </a:r>
          </a:p>
          <a:p>
            <a:pPr lvl="2"/>
            <a:r>
              <a:rPr lang="en-US" sz="1300" b="1" dirty="0"/>
              <a:t>DMA Signals: </a:t>
            </a:r>
            <a:r>
              <a:rPr lang="en-US" sz="1300" dirty="0"/>
              <a:t>HOLD, HLDA</a:t>
            </a:r>
          </a:p>
          <a:p>
            <a:pPr lvl="2"/>
            <a:r>
              <a:rPr lang="en-US" sz="1300" b="1" dirty="0"/>
              <a:t>RESET Signals: </a:t>
            </a:r>
            <a:r>
              <a:rPr lang="en-US" sz="1300" dirty="0"/>
              <a:t>RESET IN, RESET OUT</a:t>
            </a:r>
          </a:p>
          <a:p>
            <a:pPr marL="914400" lvl="2" indent="0">
              <a:buNone/>
            </a:pPr>
            <a:endParaRPr lang="en-US" sz="1300" dirty="0"/>
          </a:p>
          <a:p>
            <a:pPr marL="514350" indent="-514350">
              <a:buFont typeface="+mj-lt"/>
              <a:buAutoNum type="arabicPeriod" startAt="8"/>
            </a:pPr>
            <a:r>
              <a:rPr lang="en-US" sz="2000" b="1" dirty="0"/>
              <a:t>Interrupt control</a:t>
            </a:r>
          </a:p>
          <a:p>
            <a:pPr lvl="1"/>
            <a:r>
              <a:rPr lang="en-US" sz="1600" dirty="0"/>
              <a:t>It </a:t>
            </a:r>
            <a:r>
              <a:rPr lang="en-US" sz="1600" dirty="0">
                <a:solidFill>
                  <a:srgbClr val="C00000"/>
                </a:solidFill>
              </a:rPr>
              <a:t>controls the interrupts </a:t>
            </a:r>
            <a:r>
              <a:rPr lang="en-US" sz="1600" dirty="0"/>
              <a:t>during a process. </a:t>
            </a:r>
          </a:p>
          <a:p>
            <a:pPr lvl="1"/>
            <a:r>
              <a:rPr lang="en-US" sz="1600" dirty="0"/>
              <a:t>When a microprocessor is executing a main program and whenever an interrupt occurs, the microprocessor shifts the control from the main program to process the incoming request. </a:t>
            </a:r>
          </a:p>
          <a:p>
            <a:pPr lvl="1"/>
            <a:r>
              <a:rPr lang="en-US" sz="1600" dirty="0"/>
              <a:t>After the request is completed, the control goes back to the main program.</a:t>
            </a:r>
          </a:p>
          <a:p>
            <a:pPr lvl="1"/>
            <a:r>
              <a:rPr lang="en-US" sz="1600" dirty="0"/>
              <a:t>There are 5 interrupt signals in 8085 microprocessor: </a:t>
            </a:r>
            <a:r>
              <a:rPr lang="en-US" sz="1600" b="1" dirty="0"/>
              <a:t>INTR, RST 7.5, RST 6.5, RST 5.5, TRAP.</a:t>
            </a:r>
          </a:p>
        </p:txBody>
      </p:sp>
      <p:sp>
        <p:nvSpPr>
          <p:cNvPr id="4" name="Date Placeholder 3"/>
          <p:cNvSpPr>
            <a:spLocks noGrp="1"/>
          </p:cNvSpPr>
          <p:nvPr>
            <p:ph type="dt" sz="half" idx="10"/>
          </p:nvPr>
        </p:nvSpPr>
        <p:spPr/>
        <p:txBody>
          <a:bodyPr/>
          <a:lstStyle/>
          <a:p>
            <a:fld id="{AABEA882-4DF8-47F8-B96F-9A6A1451EB73}"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DDFCB9EB-B1E6-4772-A1DC-B39F0DDD80A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1768"/>
          <a:stretch/>
        </p:blipFill>
        <p:spPr>
          <a:xfrm>
            <a:off x="4978852" y="836382"/>
            <a:ext cx="4048999" cy="2770271"/>
          </a:xfrm>
          <a:prstGeom prst="rect">
            <a:avLst/>
          </a:prstGeom>
        </p:spPr>
      </p:pic>
      <p:sp>
        <p:nvSpPr>
          <p:cNvPr id="9" name="TextBox 8">
            <a:extLst>
              <a:ext uri="{FF2B5EF4-FFF2-40B4-BE49-F238E27FC236}">
                <a16:creationId xmlns:a16="http://schemas.microsoft.com/office/drawing/2014/main" id="{918454F2-2913-4539-B77A-14195FD02FE1}"/>
              </a:ext>
            </a:extLst>
          </p:cNvPr>
          <p:cNvSpPr txBox="1"/>
          <p:nvPr/>
        </p:nvSpPr>
        <p:spPr>
          <a:xfrm>
            <a:off x="6477000" y="4814410"/>
            <a:ext cx="1544012" cy="246221"/>
          </a:xfrm>
          <a:prstGeom prst="rect">
            <a:avLst/>
          </a:prstGeom>
          <a:noFill/>
        </p:spPr>
        <p:txBody>
          <a:bodyPr wrap="none" rtlCol="0">
            <a:spAutoFit/>
          </a:bodyPr>
          <a:lstStyle/>
          <a:p>
            <a:r>
              <a:rPr lang="en-US" sz="1000" b="1" dirty="0"/>
              <a:t>ALE: </a:t>
            </a:r>
            <a:r>
              <a:rPr lang="en-US" sz="1000" dirty="0"/>
              <a:t>Address Latch Enable</a:t>
            </a:r>
          </a:p>
        </p:txBody>
      </p:sp>
    </p:spTree>
    <p:extLst>
      <p:ext uri="{BB962C8B-B14F-4D97-AF65-F5344CB8AC3E}">
        <p14:creationId xmlns:p14="http://schemas.microsoft.com/office/powerpoint/2010/main" val="1108271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MP- functional Units</a:t>
            </a:r>
          </a:p>
        </p:txBody>
      </p:sp>
      <p:sp>
        <p:nvSpPr>
          <p:cNvPr id="3" name="Content Placeholder 2"/>
          <p:cNvSpPr>
            <a:spLocks noGrp="1"/>
          </p:cNvSpPr>
          <p:nvPr>
            <p:ph idx="1"/>
          </p:nvPr>
        </p:nvSpPr>
        <p:spPr>
          <a:xfrm>
            <a:off x="457200" y="742950"/>
            <a:ext cx="4521652" cy="3851673"/>
          </a:xfrm>
          <a:noFill/>
        </p:spPr>
        <p:txBody>
          <a:bodyPr>
            <a:normAutofit fontScale="70000" lnSpcReduction="20000"/>
          </a:bodyPr>
          <a:lstStyle/>
          <a:p>
            <a:pPr marL="514350" indent="-514350">
              <a:buFont typeface="+mj-lt"/>
              <a:buAutoNum type="arabicPeriod" startAt="10"/>
            </a:pPr>
            <a:r>
              <a:rPr lang="en-US" sz="2400" b="1" dirty="0"/>
              <a:t>Serial Input/output control</a:t>
            </a:r>
          </a:p>
          <a:p>
            <a:pPr lvl="1"/>
            <a:r>
              <a:rPr lang="en-US" sz="2000" dirty="0"/>
              <a:t>It </a:t>
            </a:r>
            <a:r>
              <a:rPr lang="en-US" sz="2000" dirty="0">
                <a:solidFill>
                  <a:srgbClr val="C00000"/>
                </a:solidFill>
              </a:rPr>
              <a:t>controls the serial data communication </a:t>
            </a:r>
            <a:r>
              <a:rPr lang="en-US" sz="2000" dirty="0"/>
              <a:t>by using these two instructions: SID (Serial input data) and SOD (Serial output data).</a:t>
            </a:r>
          </a:p>
          <a:p>
            <a:pPr lvl="1"/>
            <a:endParaRPr lang="en-US" sz="2000" dirty="0"/>
          </a:p>
          <a:p>
            <a:pPr marL="514350" indent="-514350">
              <a:buFont typeface="+mj-lt"/>
              <a:buAutoNum type="arabicPeriod" startAt="10"/>
            </a:pPr>
            <a:r>
              <a:rPr lang="en-US" sz="2400" b="1" dirty="0"/>
              <a:t>Address buffer and address-data buffer</a:t>
            </a:r>
          </a:p>
          <a:p>
            <a:pPr lvl="1"/>
            <a:r>
              <a:rPr lang="en-US" sz="2000" dirty="0"/>
              <a:t>The </a:t>
            </a:r>
            <a:r>
              <a:rPr lang="en-US" sz="2000" dirty="0">
                <a:solidFill>
                  <a:srgbClr val="C00000"/>
                </a:solidFill>
              </a:rPr>
              <a:t>content stored in the stack pointer and PC is loaded into the address buffer and address-data buffer </a:t>
            </a:r>
            <a:r>
              <a:rPr lang="en-US" sz="2000" dirty="0"/>
              <a:t>to communicate with the CPU. </a:t>
            </a:r>
          </a:p>
          <a:p>
            <a:pPr lvl="1"/>
            <a:r>
              <a:rPr lang="en-US" sz="2000" dirty="0"/>
              <a:t>The memory and I/O chips are connected to these buses; the CPU can exchange the desired data with the memory and I/O chips.</a:t>
            </a:r>
          </a:p>
          <a:p>
            <a:pPr lvl="1"/>
            <a:endParaRPr lang="en-US" sz="2000" dirty="0"/>
          </a:p>
          <a:p>
            <a:pPr marL="514350" indent="-514350">
              <a:buFont typeface="+mj-lt"/>
              <a:buAutoNum type="arabicPeriod" startAt="10"/>
            </a:pPr>
            <a:r>
              <a:rPr lang="en-US" sz="2400" b="1" dirty="0"/>
              <a:t>Address bus and data bus</a:t>
            </a:r>
          </a:p>
          <a:p>
            <a:pPr lvl="1"/>
            <a:r>
              <a:rPr lang="en-US" sz="2000" dirty="0"/>
              <a:t>Data bus </a:t>
            </a:r>
            <a:r>
              <a:rPr lang="en-US" sz="2000" dirty="0">
                <a:solidFill>
                  <a:srgbClr val="C00000"/>
                </a:solidFill>
              </a:rPr>
              <a:t>carries the data </a:t>
            </a:r>
            <a:r>
              <a:rPr lang="en-US" sz="2000" dirty="0"/>
              <a:t>to be stored. It is bidirectional.</a:t>
            </a:r>
          </a:p>
          <a:p>
            <a:pPr lvl="1"/>
            <a:r>
              <a:rPr lang="en-US" sz="2000" dirty="0"/>
              <a:t>Address bus </a:t>
            </a:r>
            <a:r>
              <a:rPr lang="en-US" sz="2000" dirty="0">
                <a:solidFill>
                  <a:srgbClr val="C00000"/>
                </a:solidFill>
              </a:rPr>
              <a:t>carries the location (address) </a:t>
            </a:r>
            <a:r>
              <a:rPr lang="en-US" sz="2000" dirty="0"/>
              <a:t>to where it should be stored and it is unidirectional. </a:t>
            </a:r>
          </a:p>
        </p:txBody>
      </p:sp>
      <p:sp>
        <p:nvSpPr>
          <p:cNvPr id="4" name="Date Placeholder 3"/>
          <p:cNvSpPr>
            <a:spLocks noGrp="1"/>
          </p:cNvSpPr>
          <p:nvPr>
            <p:ph type="dt" sz="half" idx="10"/>
          </p:nvPr>
        </p:nvSpPr>
        <p:spPr/>
        <p:txBody>
          <a:bodyPr/>
          <a:lstStyle/>
          <a:p>
            <a:fld id="{17FCC2FF-534D-4155-B485-55F18B5D8B31}"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126EEB38-EE54-4FBB-BF01-D2ADF5026789}"/>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b="1768"/>
          <a:stretch/>
        </p:blipFill>
        <p:spPr>
          <a:xfrm>
            <a:off x="4978852" y="836382"/>
            <a:ext cx="4048999" cy="2770271"/>
          </a:xfrm>
          <a:prstGeom prst="rect">
            <a:avLst/>
          </a:prstGeom>
        </p:spPr>
      </p:pic>
    </p:spTree>
    <p:extLst>
      <p:ext uri="{BB962C8B-B14F-4D97-AF65-F5344CB8AC3E}">
        <p14:creationId xmlns:p14="http://schemas.microsoft.com/office/powerpoint/2010/main" val="804921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Pin Configuration</a:t>
            </a:r>
          </a:p>
        </p:txBody>
      </p:sp>
      <p:sp>
        <p:nvSpPr>
          <p:cNvPr id="3" name="Content Placeholder 2"/>
          <p:cNvSpPr>
            <a:spLocks noGrp="1"/>
          </p:cNvSpPr>
          <p:nvPr>
            <p:ph idx="1"/>
          </p:nvPr>
        </p:nvSpPr>
        <p:spPr>
          <a:xfrm>
            <a:off x="457200" y="742950"/>
            <a:ext cx="1600200" cy="3851673"/>
          </a:xfrm>
          <a:noFill/>
        </p:spPr>
        <p:txBody>
          <a:bodyPr>
            <a:normAutofit/>
          </a:bodyPr>
          <a:lstStyle/>
          <a:p>
            <a:pPr marL="0" indent="0">
              <a:buNone/>
              <a:tabLst>
                <a:tab pos="463550" algn="l"/>
              </a:tabLst>
            </a:pPr>
            <a:r>
              <a:rPr lang="en-US" sz="1400" dirty="0"/>
              <a:t>The pins of a 8085 microprocessor can be classified into seven groups −</a:t>
            </a:r>
          </a:p>
          <a:p>
            <a:pPr marL="233363" lvl="1" indent="-233363">
              <a:buFont typeface="+mj-lt"/>
              <a:buAutoNum type="arabicPeriod"/>
              <a:tabLst>
                <a:tab pos="463550" algn="l"/>
              </a:tabLst>
            </a:pPr>
            <a:r>
              <a:rPr lang="en-US" sz="1400" dirty="0"/>
              <a:t>Address Bus</a:t>
            </a:r>
          </a:p>
          <a:p>
            <a:pPr marL="233363" lvl="1" indent="-233363">
              <a:buFont typeface="+mj-lt"/>
              <a:buAutoNum type="arabicPeriod"/>
              <a:tabLst>
                <a:tab pos="463550" algn="l"/>
              </a:tabLst>
            </a:pPr>
            <a:r>
              <a:rPr lang="en-US" sz="1400" dirty="0"/>
              <a:t>Data Bus</a:t>
            </a:r>
          </a:p>
          <a:p>
            <a:pPr marL="233363" lvl="1" indent="-233363">
              <a:buFont typeface="+mj-lt"/>
              <a:buAutoNum type="arabicPeriod"/>
              <a:tabLst>
                <a:tab pos="463550" algn="l"/>
              </a:tabLst>
            </a:pPr>
            <a:r>
              <a:rPr lang="en-US" sz="1400" dirty="0"/>
              <a:t>Control and Status Signals</a:t>
            </a:r>
          </a:p>
          <a:p>
            <a:pPr marL="233363" lvl="1" indent="-233363">
              <a:buFont typeface="+mj-lt"/>
              <a:buAutoNum type="arabicPeriod"/>
              <a:tabLst>
                <a:tab pos="463550" algn="l"/>
              </a:tabLst>
            </a:pPr>
            <a:r>
              <a:rPr lang="en-US" sz="1400" dirty="0"/>
              <a:t>Power Supply</a:t>
            </a:r>
          </a:p>
          <a:p>
            <a:pPr marL="233363" lvl="1" indent="-233363">
              <a:buFont typeface="+mj-lt"/>
              <a:buAutoNum type="arabicPeriod"/>
              <a:tabLst>
                <a:tab pos="463550" algn="l"/>
              </a:tabLst>
            </a:pPr>
            <a:r>
              <a:rPr lang="en-US" sz="1400" dirty="0"/>
              <a:t>Clock Signals</a:t>
            </a:r>
          </a:p>
          <a:p>
            <a:pPr marL="233363" lvl="1" indent="-233363">
              <a:buFont typeface="+mj-lt"/>
              <a:buAutoNum type="arabicPeriod"/>
              <a:tabLst>
                <a:tab pos="463550" algn="l"/>
              </a:tabLst>
            </a:pPr>
            <a:r>
              <a:rPr lang="en-US" sz="1400" dirty="0"/>
              <a:t>Interrupts &amp; Externally initiated signals</a:t>
            </a:r>
          </a:p>
          <a:p>
            <a:pPr marL="233363" lvl="1" indent="-233363">
              <a:buFont typeface="+mj-lt"/>
              <a:buAutoNum type="arabicPeriod"/>
              <a:tabLst>
                <a:tab pos="463550" algn="l"/>
              </a:tabLst>
            </a:pPr>
            <a:r>
              <a:rPr lang="en-US" sz="1400" dirty="0"/>
              <a:t>Serial I/O signals</a:t>
            </a:r>
          </a:p>
        </p:txBody>
      </p:sp>
      <p:sp>
        <p:nvSpPr>
          <p:cNvPr id="4" name="Date Placeholder 3"/>
          <p:cNvSpPr>
            <a:spLocks noGrp="1"/>
          </p:cNvSpPr>
          <p:nvPr>
            <p:ph type="dt" sz="half" idx="10"/>
          </p:nvPr>
        </p:nvSpPr>
        <p:spPr/>
        <p:txBody>
          <a:bodyPr/>
          <a:lstStyle/>
          <a:p>
            <a:fld id="{7625B190-901B-42CE-A037-B82C3952AA98}"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88A2E424-B64A-454F-AA69-9AF2C938A808}"/>
              </a:ext>
            </a:extLst>
          </p:cNvPr>
          <p:cNvPicPr>
            <a:picLocks noChangeAspect="1"/>
          </p:cNvPicPr>
          <p:nvPr/>
        </p:nvPicPr>
        <p:blipFill>
          <a:blip r:embed="rId2"/>
          <a:stretch>
            <a:fillRect/>
          </a:stretch>
        </p:blipFill>
        <p:spPr>
          <a:xfrm>
            <a:off x="2041358" y="742950"/>
            <a:ext cx="3581399" cy="3826664"/>
          </a:xfrm>
          <a:prstGeom prst="rect">
            <a:avLst/>
          </a:prstGeom>
        </p:spPr>
      </p:pic>
      <p:pic>
        <p:nvPicPr>
          <p:cNvPr id="9" name="object 3">
            <a:extLst>
              <a:ext uri="{FF2B5EF4-FFF2-40B4-BE49-F238E27FC236}">
                <a16:creationId xmlns:a16="http://schemas.microsoft.com/office/drawing/2014/main" id="{1448DB0F-E172-4CF6-BFDC-809B65FBFB13}"/>
              </a:ext>
            </a:extLst>
          </p:cNvPr>
          <p:cNvPicPr/>
          <p:nvPr/>
        </p:nvPicPr>
        <p:blipFill>
          <a:blip r:embed="rId3" cstate="print"/>
          <a:stretch>
            <a:fillRect/>
          </a:stretch>
        </p:blipFill>
        <p:spPr>
          <a:xfrm>
            <a:off x="6019800" y="742950"/>
            <a:ext cx="2819400" cy="3851673"/>
          </a:xfrm>
          <a:prstGeom prst="rect">
            <a:avLst/>
          </a:prstGeom>
        </p:spPr>
      </p:pic>
    </p:spTree>
    <p:extLst>
      <p:ext uri="{BB962C8B-B14F-4D97-AF65-F5344CB8AC3E}">
        <p14:creationId xmlns:p14="http://schemas.microsoft.com/office/powerpoint/2010/main" val="2609604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Pin Configuration</a:t>
            </a:r>
          </a:p>
        </p:txBody>
      </p:sp>
      <p:sp>
        <p:nvSpPr>
          <p:cNvPr id="3" name="Content Placeholder 2"/>
          <p:cNvSpPr>
            <a:spLocks noGrp="1"/>
          </p:cNvSpPr>
          <p:nvPr>
            <p:ph idx="1"/>
          </p:nvPr>
        </p:nvSpPr>
        <p:spPr>
          <a:xfrm>
            <a:off x="457200" y="742950"/>
            <a:ext cx="4953000" cy="3851673"/>
          </a:xfrm>
          <a:noFill/>
        </p:spPr>
        <p:txBody>
          <a:bodyPr>
            <a:noAutofit/>
          </a:bodyPr>
          <a:lstStyle/>
          <a:p>
            <a:pPr marL="403225" indent="-403225">
              <a:buFont typeface="+mj-lt"/>
              <a:buAutoNum type="arabicPeriod"/>
            </a:pPr>
            <a:r>
              <a:rPr lang="en-US" sz="1200" b="1" dirty="0"/>
              <a:t>Address bus</a:t>
            </a:r>
          </a:p>
          <a:p>
            <a:pPr lvl="1"/>
            <a:r>
              <a:rPr lang="en-US" sz="1200" dirty="0">
                <a:solidFill>
                  <a:srgbClr val="C00000"/>
                </a:solidFill>
              </a:rPr>
              <a:t>A15-A8, </a:t>
            </a:r>
            <a:r>
              <a:rPr lang="en-US" sz="1200" dirty="0"/>
              <a:t>it carries the most significant 8-bits of memory/IO address.</a:t>
            </a:r>
          </a:p>
          <a:p>
            <a:pPr marL="403225" indent="-403225">
              <a:buFont typeface="+mj-lt"/>
              <a:buAutoNum type="arabicPeriod"/>
            </a:pPr>
            <a:r>
              <a:rPr lang="en-US" sz="1200" b="1" dirty="0"/>
              <a:t>Data bus</a:t>
            </a:r>
          </a:p>
          <a:p>
            <a:pPr lvl="1"/>
            <a:r>
              <a:rPr lang="en-US" sz="1200" dirty="0">
                <a:solidFill>
                  <a:srgbClr val="C00000"/>
                </a:solidFill>
              </a:rPr>
              <a:t>AD7-AD0</a:t>
            </a:r>
            <a:r>
              <a:rPr lang="en-US" sz="1200" dirty="0"/>
              <a:t>, it carries the least significant 8-bit address and data bus.</a:t>
            </a:r>
          </a:p>
          <a:p>
            <a:pPr marL="403225" indent="-403225">
              <a:buFont typeface="+mj-lt"/>
              <a:buAutoNum type="arabicPeriod"/>
            </a:pPr>
            <a:r>
              <a:rPr lang="en-US" sz="1200" b="1" dirty="0"/>
              <a:t>Power supply</a:t>
            </a:r>
          </a:p>
          <a:p>
            <a:pPr lvl="1"/>
            <a:r>
              <a:rPr lang="en-US" sz="1200" dirty="0"/>
              <a:t>There are 2 power supply signals − VCC &amp; VSS. </a:t>
            </a:r>
          </a:p>
          <a:p>
            <a:pPr lvl="1"/>
            <a:r>
              <a:rPr lang="en-US" sz="1200" dirty="0">
                <a:solidFill>
                  <a:srgbClr val="C00000"/>
                </a:solidFill>
              </a:rPr>
              <a:t>VCC indicates +5v </a:t>
            </a:r>
            <a:r>
              <a:rPr lang="en-US" sz="1200" dirty="0"/>
              <a:t>power supply and </a:t>
            </a:r>
          </a:p>
          <a:p>
            <a:pPr lvl="1"/>
            <a:r>
              <a:rPr lang="en-US" sz="1200" dirty="0">
                <a:solidFill>
                  <a:srgbClr val="C00000"/>
                </a:solidFill>
              </a:rPr>
              <a:t>VSS indicates ground signal.</a:t>
            </a:r>
            <a:endParaRPr lang="en-US" sz="1200" dirty="0"/>
          </a:p>
          <a:p>
            <a:pPr marL="403225" indent="-403225">
              <a:buFont typeface="+mj-lt"/>
              <a:buAutoNum type="arabicPeriod"/>
            </a:pPr>
            <a:r>
              <a:rPr lang="en-US" sz="1200" b="1" dirty="0"/>
              <a:t>Clock signals</a:t>
            </a:r>
          </a:p>
          <a:p>
            <a:pPr lvl="1"/>
            <a:r>
              <a:rPr lang="en-US" sz="1200" dirty="0"/>
              <a:t>There are 3 clock signals, i.e. X1, X2, CLK OUT.</a:t>
            </a:r>
          </a:p>
          <a:p>
            <a:pPr marL="1035050" lvl="2"/>
            <a:r>
              <a:rPr lang="en-US" sz="1200" b="1" dirty="0"/>
              <a:t>X1, X2</a:t>
            </a:r>
            <a:r>
              <a:rPr lang="en-US" sz="1200" dirty="0"/>
              <a:t> − A crystal (RC, LC N/W) is connected at these two pins and is used to set frequency of the internal clock generator. This frequency is internally divided by 2.</a:t>
            </a:r>
          </a:p>
          <a:p>
            <a:pPr marL="1035050" lvl="2"/>
            <a:r>
              <a:rPr lang="en-US" sz="1200" b="1" dirty="0"/>
              <a:t>CLK OUT</a:t>
            </a:r>
            <a:r>
              <a:rPr lang="en-US" sz="1200" dirty="0"/>
              <a:t> − This signal is used as the system clock for devices connected with the microprocessor</a:t>
            </a:r>
          </a:p>
          <a:p>
            <a:pPr marL="403225" indent="-403225">
              <a:buFont typeface="+mj-lt"/>
              <a:buAutoNum type="arabicPeriod"/>
              <a:tabLst>
                <a:tab pos="463550" algn="l"/>
              </a:tabLst>
            </a:pPr>
            <a:endParaRPr lang="en-US" sz="1200" dirty="0"/>
          </a:p>
        </p:txBody>
      </p:sp>
      <p:sp>
        <p:nvSpPr>
          <p:cNvPr id="4" name="Date Placeholder 3"/>
          <p:cNvSpPr>
            <a:spLocks noGrp="1"/>
          </p:cNvSpPr>
          <p:nvPr>
            <p:ph type="dt" sz="half" idx="10"/>
          </p:nvPr>
        </p:nvSpPr>
        <p:spPr/>
        <p:txBody>
          <a:bodyPr/>
          <a:lstStyle/>
          <a:p>
            <a:fld id="{7711BB20-D7CE-4F33-8835-824BBEB9A89B}"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44C75D57-F262-4148-BE96-8852D4FAFC5F}"/>
              </a:ext>
            </a:extLst>
          </p:cNvPr>
          <p:cNvPicPr>
            <a:picLocks noChangeAspect="1"/>
          </p:cNvPicPr>
          <p:nvPr/>
        </p:nvPicPr>
        <p:blipFill>
          <a:blip r:embed="rId2"/>
          <a:stretch>
            <a:fillRect/>
          </a:stretch>
        </p:blipFill>
        <p:spPr>
          <a:xfrm>
            <a:off x="5588001" y="734060"/>
            <a:ext cx="3581399" cy="3826664"/>
          </a:xfrm>
          <a:prstGeom prst="rect">
            <a:avLst/>
          </a:prstGeom>
        </p:spPr>
      </p:pic>
    </p:spTree>
    <p:extLst>
      <p:ext uri="{BB962C8B-B14F-4D97-AF65-F5344CB8AC3E}">
        <p14:creationId xmlns:p14="http://schemas.microsoft.com/office/powerpoint/2010/main" val="2384692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Pin Configuration</a:t>
            </a:r>
          </a:p>
        </p:txBody>
      </p:sp>
      <p:sp>
        <p:nvSpPr>
          <p:cNvPr id="3" name="Content Placeholder 2"/>
          <p:cNvSpPr>
            <a:spLocks noGrp="1"/>
          </p:cNvSpPr>
          <p:nvPr>
            <p:ph idx="1"/>
          </p:nvPr>
        </p:nvSpPr>
        <p:spPr>
          <a:xfrm>
            <a:off x="457199" y="742950"/>
            <a:ext cx="5130801" cy="4024313"/>
          </a:xfrm>
          <a:noFill/>
        </p:spPr>
        <p:txBody>
          <a:bodyPr>
            <a:normAutofit fontScale="92500" lnSpcReduction="10000"/>
          </a:bodyPr>
          <a:lstStyle/>
          <a:p>
            <a:pPr marL="0" indent="0">
              <a:buNone/>
            </a:pPr>
            <a:r>
              <a:rPr lang="en-US" sz="1400" b="1" dirty="0"/>
              <a:t>5.      </a:t>
            </a:r>
            <a:r>
              <a:rPr lang="en-US" sz="1800" b="1" dirty="0"/>
              <a:t>Control and status signals</a:t>
            </a:r>
          </a:p>
          <a:p>
            <a:pPr lvl="1"/>
            <a:r>
              <a:rPr lang="en-US" sz="1600" dirty="0"/>
              <a:t>These signals are </a:t>
            </a:r>
            <a:r>
              <a:rPr lang="en-US" sz="1600" dirty="0">
                <a:solidFill>
                  <a:srgbClr val="C00000"/>
                </a:solidFill>
              </a:rPr>
              <a:t>used to identify the nature of operation. </a:t>
            </a:r>
          </a:p>
          <a:p>
            <a:pPr lvl="1"/>
            <a:r>
              <a:rPr lang="en-US" sz="1600" dirty="0"/>
              <a:t>There are 3 control signal and 3 status signals.</a:t>
            </a:r>
          </a:p>
          <a:p>
            <a:pPr lvl="1"/>
            <a:r>
              <a:rPr lang="en-US" sz="1600" dirty="0"/>
              <a:t>Three control signals are RD’, WR &amp; ALE.</a:t>
            </a:r>
          </a:p>
          <a:p>
            <a:pPr marL="1203325" lvl="3">
              <a:buFont typeface="+mj-lt"/>
              <a:buAutoNum type="arabicPeriod"/>
            </a:pPr>
            <a:r>
              <a:rPr lang="en-US" sz="1200" b="1" dirty="0"/>
              <a:t>RD’</a:t>
            </a:r>
            <a:r>
              <a:rPr lang="en-US" sz="1200" dirty="0"/>
              <a:t> − This signal indicates that the </a:t>
            </a:r>
            <a:r>
              <a:rPr lang="en-US" sz="1200" dirty="0">
                <a:solidFill>
                  <a:srgbClr val="C00000"/>
                </a:solidFill>
              </a:rPr>
              <a:t>selected IO or memory device </a:t>
            </a:r>
            <a:r>
              <a:rPr lang="en-US" sz="1200" dirty="0"/>
              <a:t>is to be read and is </a:t>
            </a:r>
            <a:r>
              <a:rPr lang="en-US" sz="1200" dirty="0">
                <a:solidFill>
                  <a:srgbClr val="C00000"/>
                </a:solidFill>
              </a:rPr>
              <a:t>ready for accepting data </a:t>
            </a:r>
            <a:r>
              <a:rPr lang="en-US" sz="1200" dirty="0"/>
              <a:t>available on the data bus.</a:t>
            </a:r>
          </a:p>
          <a:p>
            <a:pPr marL="1203325" lvl="3">
              <a:buFont typeface="+mj-lt"/>
              <a:buAutoNum type="arabicPeriod"/>
            </a:pPr>
            <a:r>
              <a:rPr lang="en-US" sz="1200" b="1" dirty="0"/>
              <a:t>WR’</a:t>
            </a:r>
            <a:r>
              <a:rPr lang="en-US" sz="1200" dirty="0"/>
              <a:t> − This signal indicates that the </a:t>
            </a:r>
            <a:r>
              <a:rPr lang="en-US" sz="1200" dirty="0">
                <a:solidFill>
                  <a:srgbClr val="C00000"/>
                </a:solidFill>
              </a:rPr>
              <a:t>data on the data bus is to be written </a:t>
            </a:r>
            <a:r>
              <a:rPr lang="en-US" sz="1200" dirty="0"/>
              <a:t>into a selected memory or IO location.</a:t>
            </a:r>
          </a:p>
          <a:p>
            <a:pPr marL="1203325" lvl="3">
              <a:buFont typeface="+mj-lt"/>
              <a:buAutoNum type="arabicPeriod"/>
            </a:pPr>
            <a:r>
              <a:rPr lang="en-US" sz="1200" b="1" dirty="0"/>
              <a:t>ALE</a:t>
            </a:r>
            <a:r>
              <a:rPr lang="en-US" sz="1200" dirty="0"/>
              <a:t> − It is a positive going pulse generated when a new operation is started by the microprocessor. When the </a:t>
            </a:r>
            <a:r>
              <a:rPr lang="en-US" sz="1200" dirty="0">
                <a:solidFill>
                  <a:srgbClr val="C00000"/>
                </a:solidFill>
              </a:rPr>
              <a:t>pulse goes high</a:t>
            </a:r>
            <a:r>
              <a:rPr lang="en-US" sz="1200" dirty="0"/>
              <a:t>, it </a:t>
            </a:r>
            <a:r>
              <a:rPr lang="en-US" sz="1200" dirty="0">
                <a:solidFill>
                  <a:srgbClr val="C00000"/>
                </a:solidFill>
              </a:rPr>
              <a:t>indicates address</a:t>
            </a:r>
            <a:r>
              <a:rPr lang="en-US" sz="1200" dirty="0"/>
              <a:t>. When the </a:t>
            </a:r>
            <a:r>
              <a:rPr lang="en-US" sz="1200" dirty="0">
                <a:solidFill>
                  <a:srgbClr val="0070C0"/>
                </a:solidFill>
              </a:rPr>
              <a:t>pulse goes, down it indicates data.</a:t>
            </a:r>
          </a:p>
          <a:p>
            <a:pPr lvl="1"/>
            <a:r>
              <a:rPr lang="en-US" sz="1600" dirty="0"/>
              <a:t>Three status signals are IO/M’, S0 &amp; S1.</a:t>
            </a:r>
          </a:p>
          <a:p>
            <a:pPr marL="1203325" lvl="3">
              <a:buFont typeface="+mj-lt"/>
              <a:buAutoNum type="arabicPeriod"/>
            </a:pPr>
            <a:r>
              <a:rPr lang="en-US" sz="1200" b="1" dirty="0"/>
              <a:t>IO/M’: </a:t>
            </a:r>
            <a:r>
              <a:rPr lang="en-US" sz="1200" dirty="0"/>
              <a:t>This signal is used to differentiate between IO and Memory operations, i.e. </a:t>
            </a:r>
          </a:p>
          <a:p>
            <a:pPr marL="1660525" lvl="5"/>
            <a:r>
              <a:rPr lang="en-US" sz="1200" dirty="0"/>
              <a:t>when it is </a:t>
            </a:r>
            <a:r>
              <a:rPr lang="en-US" sz="1200" dirty="0">
                <a:solidFill>
                  <a:srgbClr val="C00000"/>
                </a:solidFill>
              </a:rPr>
              <a:t>high indicates IO operation </a:t>
            </a:r>
            <a:r>
              <a:rPr lang="en-US" sz="1200" dirty="0"/>
              <a:t>and </a:t>
            </a:r>
          </a:p>
          <a:p>
            <a:pPr marL="1660525" lvl="5"/>
            <a:r>
              <a:rPr lang="en-US" sz="1200" dirty="0"/>
              <a:t>when it is </a:t>
            </a:r>
            <a:r>
              <a:rPr lang="en-US" sz="1200" dirty="0">
                <a:solidFill>
                  <a:srgbClr val="C00000"/>
                </a:solidFill>
              </a:rPr>
              <a:t>low</a:t>
            </a:r>
            <a:r>
              <a:rPr lang="en-US" sz="1200" dirty="0"/>
              <a:t> then it </a:t>
            </a:r>
            <a:r>
              <a:rPr lang="en-US" sz="1200" dirty="0">
                <a:solidFill>
                  <a:srgbClr val="C00000"/>
                </a:solidFill>
              </a:rPr>
              <a:t>indicates</a:t>
            </a:r>
            <a:r>
              <a:rPr lang="en-US" sz="1200" dirty="0"/>
              <a:t> </a:t>
            </a:r>
            <a:r>
              <a:rPr lang="en-US" sz="1200" dirty="0">
                <a:solidFill>
                  <a:srgbClr val="C00000"/>
                </a:solidFill>
              </a:rPr>
              <a:t>memory operation.</a:t>
            </a:r>
          </a:p>
          <a:p>
            <a:pPr marL="1203325" lvl="3">
              <a:buFont typeface="+mj-lt"/>
              <a:buAutoNum type="arabicPeriod"/>
            </a:pPr>
            <a:r>
              <a:rPr lang="en-US" sz="1200" b="1" dirty="0"/>
              <a:t>S1 &amp; S0: </a:t>
            </a:r>
            <a:r>
              <a:rPr lang="en-US" sz="1200" dirty="0"/>
              <a:t>These signals are used to identify the type of current operation.</a:t>
            </a:r>
          </a:p>
        </p:txBody>
      </p:sp>
      <p:sp>
        <p:nvSpPr>
          <p:cNvPr id="4" name="Date Placeholder 3"/>
          <p:cNvSpPr>
            <a:spLocks noGrp="1"/>
          </p:cNvSpPr>
          <p:nvPr>
            <p:ph type="dt" sz="half" idx="10"/>
          </p:nvPr>
        </p:nvSpPr>
        <p:spPr/>
        <p:txBody>
          <a:bodyPr/>
          <a:lstStyle/>
          <a:p>
            <a:fld id="{D71BF5F7-8580-43BB-BA85-9CDC1CA85427}"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71D51533-208D-49F8-A611-5ACBD6F389F7}"/>
              </a:ext>
            </a:extLst>
          </p:cNvPr>
          <p:cNvPicPr>
            <a:picLocks noChangeAspect="1"/>
          </p:cNvPicPr>
          <p:nvPr/>
        </p:nvPicPr>
        <p:blipFill>
          <a:blip r:embed="rId2"/>
          <a:stretch>
            <a:fillRect/>
          </a:stretch>
        </p:blipFill>
        <p:spPr>
          <a:xfrm>
            <a:off x="5588001" y="734060"/>
            <a:ext cx="3581399" cy="3826664"/>
          </a:xfrm>
          <a:prstGeom prst="rect">
            <a:avLst/>
          </a:prstGeom>
        </p:spPr>
      </p:pic>
    </p:spTree>
    <p:extLst>
      <p:ext uri="{BB962C8B-B14F-4D97-AF65-F5344CB8AC3E}">
        <p14:creationId xmlns:p14="http://schemas.microsoft.com/office/powerpoint/2010/main" val="1941480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Pin Configuration</a:t>
            </a:r>
          </a:p>
        </p:txBody>
      </p:sp>
      <p:sp>
        <p:nvSpPr>
          <p:cNvPr id="3" name="Content Placeholder 2"/>
          <p:cNvSpPr>
            <a:spLocks noGrp="1"/>
          </p:cNvSpPr>
          <p:nvPr>
            <p:ph idx="1"/>
          </p:nvPr>
        </p:nvSpPr>
        <p:spPr>
          <a:xfrm>
            <a:off x="457200" y="742950"/>
            <a:ext cx="5029200" cy="3851673"/>
          </a:xfrm>
          <a:noFill/>
        </p:spPr>
        <p:txBody>
          <a:bodyPr>
            <a:normAutofit fontScale="92500" lnSpcReduction="20000"/>
          </a:bodyPr>
          <a:lstStyle/>
          <a:p>
            <a:pPr marL="514350" indent="-514350">
              <a:buFont typeface="+mj-lt"/>
              <a:buAutoNum type="arabicPeriod" startAt="6"/>
            </a:pPr>
            <a:r>
              <a:rPr lang="en-US" sz="2000" b="1" dirty="0"/>
              <a:t>Interrupts &amp; externally initiated signals</a:t>
            </a:r>
          </a:p>
          <a:p>
            <a:pPr lvl="1"/>
            <a:r>
              <a:rPr lang="en-US" sz="1600" dirty="0"/>
              <a:t>Interrupts are the signals </a:t>
            </a:r>
            <a:r>
              <a:rPr lang="en-US" sz="1600" dirty="0">
                <a:solidFill>
                  <a:srgbClr val="C00000"/>
                </a:solidFill>
              </a:rPr>
              <a:t>generated by external devices </a:t>
            </a:r>
            <a:r>
              <a:rPr lang="en-US" sz="1600" dirty="0"/>
              <a:t>to request the microprocessor to perform a task. </a:t>
            </a:r>
          </a:p>
          <a:p>
            <a:pPr lvl="1"/>
            <a:r>
              <a:rPr lang="en-US" sz="1600" dirty="0"/>
              <a:t>There are 5 interrupt signals, i.e. TRAP, RST 7.5, RST 6.5, RST 5.5, and INTR. </a:t>
            </a:r>
          </a:p>
          <a:p>
            <a:pPr marL="1035050" lvl="2" indent="-177800">
              <a:buFont typeface="+mj-lt"/>
              <a:buAutoNum type="arabicPeriod"/>
            </a:pPr>
            <a:r>
              <a:rPr lang="en-US" sz="1400" b="1" dirty="0"/>
              <a:t>INTA</a:t>
            </a:r>
            <a:r>
              <a:rPr lang="en-US" sz="1400" dirty="0"/>
              <a:t> − It is an </a:t>
            </a:r>
            <a:r>
              <a:rPr lang="en-US" sz="1400" dirty="0">
                <a:solidFill>
                  <a:srgbClr val="C00000"/>
                </a:solidFill>
              </a:rPr>
              <a:t>interrupt acknowledgment </a:t>
            </a:r>
            <a:r>
              <a:rPr lang="en-US" sz="1400" dirty="0"/>
              <a:t>signal.</a:t>
            </a:r>
          </a:p>
          <a:p>
            <a:pPr marL="1035050" lvl="2" indent="-177800">
              <a:buFont typeface="+mj-lt"/>
              <a:buAutoNum type="arabicPeriod"/>
            </a:pPr>
            <a:r>
              <a:rPr lang="en-US" sz="1400" b="1" dirty="0"/>
              <a:t>RESET IN</a:t>
            </a:r>
            <a:r>
              <a:rPr lang="en-US" sz="1400" dirty="0"/>
              <a:t> − This signal is </a:t>
            </a:r>
            <a:r>
              <a:rPr lang="en-US" sz="1400" dirty="0">
                <a:solidFill>
                  <a:srgbClr val="C00000"/>
                </a:solidFill>
              </a:rPr>
              <a:t>used to reset the microprocessor </a:t>
            </a:r>
            <a:r>
              <a:rPr lang="en-US" sz="1400" dirty="0"/>
              <a:t>by setting the PC to zero.</a:t>
            </a:r>
          </a:p>
          <a:p>
            <a:pPr marL="1035050" lvl="2" indent="-177800">
              <a:buFont typeface="+mj-lt"/>
              <a:buAutoNum type="arabicPeriod"/>
            </a:pPr>
            <a:r>
              <a:rPr lang="en-US" sz="1400" b="1" dirty="0"/>
              <a:t>RESET OUT</a:t>
            </a:r>
            <a:r>
              <a:rPr lang="en-US" sz="1400" dirty="0"/>
              <a:t> − This signal is </a:t>
            </a:r>
            <a:r>
              <a:rPr lang="en-US" sz="1400" dirty="0">
                <a:solidFill>
                  <a:srgbClr val="C00000"/>
                </a:solidFill>
              </a:rPr>
              <a:t>used to reset all the connected devices </a:t>
            </a:r>
            <a:r>
              <a:rPr lang="en-US" sz="1400" dirty="0"/>
              <a:t>when the microprocessor is reset.</a:t>
            </a:r>
          </a:p>
          <a:p>
            <a:pPr marL="1035050" lvl="2" indent="-177800">
              <a:buFont typeface="+mj-lt"/>
              <a:buAutoNum type="arabicPeriod"/>
            </a:pPr>
            <a:r>
              <a:rPr lang="en-US" sz="1400" b="1" dirty="0"/>
              <a:t>READY</a:t>
            </a:r>
            <a:r>
              <a:rPr lang="en-US" sz="1400" dirty="0"/>
              <a:t> − This signal </a:t>
            </a:r>
            <a:r>
              <a:rPr lang="en-US" sz="1400" dirty="0">
                <a:solidFill>
                  <a:srgbClr val="C00000"/>
                </a:solidFill>
              </a:rPr>
              <a:t>indicates that the device is ready to send or receive data. </a:t>
            </a:r>
            <a:r>
              <a:rPr lang="en-US" sz="1400" dirty="0"/>
              <a:t>If READY is low, then the CPU has to wait for READY to go high.</a:t>
            </a:r>
          </a:p>
          <a:p>
            <a:pPr marL="1035050" lvl="2" indent="-177800">
              <a:buFont typeface="+mj-lt"/>
              <a:buAutoNum type="arabicPeriod"/>
            </a:pPr>
            <a:r>
              <a:rPr lang="en-US" sz="1400" b="1" dirty="0"/>
              <a:t>HOLD</a:t>
            </a:r>
            <a:r>
              <a:rPr lang="en-US" sz="1400" dirty="0"/>
              <a:t> − This signal </a:t>
            </a:r>
            <a:r>
              <a:rPr lang="en-US" sz="1400" dirty="0">
                <a:solidFill>
                  <a:srgbClr val="C00000"/>
                </a:solidFill>
              </a:rPr>
              <a:t>indicates that another master is requesting the use of the address and data buses.</a:t>
            </a:r>
          </a:p>
          <a:p>
            <a:pPr marL="1035050" lvl="2" indent="-177800">
              <a:buFont typeface="+mj-lt"/>
              <a:buAutoNum type="arabicPeriod"/>
            </a:pPr>
            <a:r>
              <a:rPr lang="en-US" sz="1400" b="1" dirty="0"/>
              <a:t>HLDA (HOLD Acknowledge)</a:t>
            </a:r>
            <a:r>
              <a:rPr lang="en-US" sz="1400" dirty="0"/>
              <a:t> − It </a:t>
            </a:r>
            <a:r>
              <a:rPr lang="en-US" sz="1400" dirty="0">
                <a:solidFill>
                  <a:srgbClr val="C00000"/>
                </a:solidFill>
              </a:rPr>
              <a:t>indicates</a:t>
            </a:r>
            <a:r>
              <a:rPr lang="en-US" sz="1400" dirty="0"/>
              <a:t> that the </a:t>
            </a:r>
            <a:r>
              <a:rPr lang="en-US" sz="1400" dirty="0">
                <a:solidFill>
                  <a:srgbClr val="C00000"/>
                </a:solidFill>
              </a:rPr>
              <a:t>CPU has received the HOLD request </a:t>
            </a:r>
            <a:r>
              <a:rPr lang="en-US" sz="1400" dirty="0"/>
              <a:t>and it will relinquish the bus in the next clock cycle. HLDA is set to low after the HOLD signal is removed.</a:t>
            </a:r>
          </a:p>
        </p:txBody>
      </p:sp>
      <p:sp>
        <p:nvSpPr>
          <p:cNvPr id="4" name="Date Placeholder 3"/>
          <p:cNvSpPr>
            <a:spLocks noGrp="1"/>
          </p:cNvSpPr>
          <p:nvPr>
            <p:ph type="dt" sz="half" idx="10"/>
          </p:nvPr>
        </p:nvSpPr>
        <p:spPr/>
        <p:txBody>
          <a:bodyPr/>
          <a:lstStyle/>
          <a:p>
            <a:fld id="{51C24E1D-8E02-44E9-BF73-52BB1950078C}"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3C213985-513E-4A60-98EA-31E4C1CE2CAD}"/>
              </a:ext>
            </a:extLst>
          </p:cNvPr>
          <p:cNvPicPr>
            <a:picLocks noChangeAspect="1"/>
          </p:cNvPicPr>
          <p:nvPr/>
        </p:nvPicPr>
        <p:blipFill>
          <a:blip r:embed="rId2"/>
          <a:stretch>
            <a:fillRect/>
          </a:stretch>
        </p:blipFill>
        <p:spPr>
          <a:xfrm>
            <a:off x="5588001" y="734060"/>
            <a:ext cx="3581399" cy="3826664"/>
          </a:xfrm>
          <a:prstGeom prst="rect">
            <a:avLst/>
          </a:prstGeom>
        </p:spPr>
      </p:pic>
    </p:spTree>
    <p:extLst>
      <p:ext uri="{BB962C8B-B14F-4D97-AF65-F5344CB8AC3E}">
        <p14:creationId xmlns:p14="http://schemas.microsoft.com/office/powerpoint/2010/main" val="4228198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8085 Pin Configuration</a:t>
            </a:r>
          </a:p>
        </p:txBody>
      </p:sp>
      <p:sp>
        <p:nvSpPr>
          <p:cNvPr id="3" name="Content Placeholder 2"/>
          <p:cNvSpPr>
            <a:spLocks noGrp="1"/>
          </p:cNvSpPr>
          <p:nvPr>
            <p:ph idx="1"/>
          </p:nvPr>
        </p:nvSpPr>
        <p:spPr>
          <a:xfrm>
            <a:off x="457200" y="742950"/>
            <a:ext cx="4876800" cy="3851673"/>
          </a:xfrm>
          <a:noFill/>
        </p:spPr>
        <p:txBody>
          <a:bodyPr>
            <a:normAutofit/>
          </a:bodyPr>
          <a:lstStyle/>
          <a:p>
            <a:pPr marL="514350" indent="-514350">
              <a:buFont typeface="+mj-lt"/>
              <a:buAutoNum type="arabicPeriod" startAt="7"/>
            </a:pPr>
            <a:r>
              <a:rPr lang="en-US" sz="1800" b="1" dirty="0"/>
              <a:t>Serial I/O signals</a:t>
            </a:r>
          </a:p>
          <a:p>
            <a:pPr marL="914400" lvl="1" indent="-514350"/>
            <a:r>
              <a:rPr lang="en-US" sz="1600" dirty="0"/>
              <a:t>There are 2 serial signals, i.e. SID and SOD and these signals are </a:t>
            </a:r>
            <a:r>
              <a:rPr lang="en-US" sz="1600" dirty="0">
                <a:solidFill>
                  <a:srgbClr val="C00000"/>
                </a:solidFill>
              </a:rPr>
              <a:t>used for serial communication.</a:t>
            </a:r>
          </a:p>
          <a:p>
            <a:pPr marL="1089025" lvl="2" indent="-288925"/>
            <a:r>
              <a:rPr lang="en-US" sz="1200" b="1" dirty="0"/>
              <a:t>SOD</a:t>
            </a:r>
            <a:r>
              <a:rPr lang="en-US" sz="1200" dirty="0"/>
              <a:t> (Serial output data line) − The </a:t>
            </a:r>
            <a:r>
              <a:rPr lang="en-US" sz="1200" dirty="0">
                <a:solidFill>
                  <a:srgbClr val="C00000"/>
                </a:solidFill>
              </a:rPr>
              <a:t>output SOD is set/reset </a:t>
            </a:r>
            <a:r>
              <a:rPr lang="en-US" sz="1200" dirty="0"/>
              <a:t>as specified by the SIM instruction.</a:t>
            </a:r>
          </a:p>
          <a:p>
            <a:pPr marL="1089025" lvl="2" indent="-288925"/>
            <a:endParaRPr lang="en-US" sz="1200" dirty="0"/>
          </a:p>
          <a:p>
            <a:pPr marL="1089025" lvl="2" indent="-288925"/>
            <a:r>
              <a:rPr lang="en-US" sz="1200" b="1" dirty="0"/>
              <a:t>SID</a:t>
            </a:r>
            <a:r>
              <a:rPr lang="en-US" sz="1200" dirty="0"/>
              <a:t> (Serial input data line) − The </a:t>
            </a:r>
            <a:r>
              <a:rPr lang="en-US" sz="1200" dirty="0">
                <a:solidFill>
                  <a:srgbClr val="C00000"/>
                </a:solidFill>
              </a:rPr>
              <a:t>data on this line is loaded into accumulator </a:t>
            </a:r>
            <a:r>
              <a:rPr lang="en-US" sz="1200" dirty="0"/>
              <a:t>whenever a RIM instruction is executed.</a:t>
            </a:r>
          </a:p>
        </p:txBody>
      </p:sp>
      <p:sp>
        <p:nvSpPr>
          <p:cNvPr id="4" name="Date Placeholder 3"/>
          <p:cNvSpPr>
            <a:spLocks noGrp="1"/>
          </p:cNvSpPr>
          <p:nvPr>
            <p:ph type="dt" sz="half" idx="10"/>
          </p:nvPr>
        </p:nvSpPr>
        <p:spPr/>
        <p:txBody>
          <a:bodyPr/>
          <a:lstStyle/>
          <a:p>
            <a:fld id="{A522F1DB-D5C6-4170-BABC-3AEECE99763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99A49157-C14D-495A-9070-5CDD16B2B99D}"/>
              </a:ext>
            </a:extLst>
          </p:cNvPr>
          <p:cNvPicPr>
            <a:picLocks noChangeAspect="1"/>
          </p:cNvPicPr>
          <p:nvPr/>
        </p:nvPicPr>
        <p:blipFill>
          <a:blip r:embed="rId2"/>
          <a:stretch>
            <a:fillRect/>
          </a:stretch>
        </p:blipFill>
        <p:spPr>
          <a:xfrm>
            <a:off x="5588001" y="734060"/>
            <a:ext cx="3581399" cy="3826664"/>
          </a:xfrm>
          <a:prstGeom prst="rect">
            <a:avLst/>
          </a:prstGeom>
        </p:spPr>
      </p:pic>
    </p:spTree>
    <p:extLst>
      <p:ext uri="{BB962C8B-B14F-4D97-AF65-F5344CB8AC3E}">
        <p14:creationId xmlns:p14="http://schemas.microsoft.com/office/powerpoint/2010/main" val="3512891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4800" b="1" dirty="0">
              <a:solidFill>
                <a:srgbClr val="FF0000"/>
              </a:solidFill>
            </a:endParaRPr>
          </a:p>
          <a:p>
            <a:pPr marL="0" indent="0" algn="ctr">
              <a:buNone/>
              <a:tabLst>
                <a:tab pos="463550" algn="l"/>
              </a:tabLst>
            </a:pPr>
            <a:r>
              <a:rPr lang="en-US" sz="4800" b="1" dirty="0">
                <a:solidFill>
                  <a:srgbClr val="FF0000"/>
                </a:solidFill>
              </a:rPr>
              <a:t>2. Instruction classification</a:t>
            </a:r>
            <a:endParaRPr lang="en-US" sz="4800" dirty="0"/>
          </a:p>
        </p:txBody>
      </p:sp>
      <p:sp>
        <p:nvSpPr>
          <p:cNvPr id="4" name="Date Placeholder 3"/>
          <p:cNvSpPr>
            <a:spLocks noGrp="1"/>
          </p:cNvSpPr>
          <p:nvPr>
            <p:ph type="dt" sz="half" idx="10"/>
          </p:nvPr>
        </p:nvSpPr>
        <p:spPr/>
        <p:txBody>
          <a:bodyPr/>
          <a:lstStyle/>
          <a:p>
            <a:fld id="{09B84F3E-0FBD-41DC-AC86-35BE2286228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190101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Instruction classification</a:t>
            </a:r>
          </a:p>
        </p:txBody>
      </p:sp>
      <p:sp>
        <p:nvSpPr>
          <p:cNvPr id="3" name="Content Placeholder 2"/>
          <p:cNvSpPr>
            <a:spLocks noGrp="1"/>
          </p:cNvSpPr>
          <p:nvPr>
            <p:ph idx="1"/>
          </p:nvPr>
        </p:nvSpPr>
        <p:spPr>
          <a:xfrm>
            <a:off x="457200" y="742950"/>
            <a:ext cx="8229600" cy="3851673"/>
          </a:xfrm>
          <a:noFill/>
        </p:spPr>
        <p:txBody>
          <a:bodyPr>
            <a:normAutofit fontScale="55000" lnSpcReduction="20000"/>
          </a:bodyPr>
          <a:lstStyle/>
          <a:p>
            <a:r>
              <a:rPr lang="en-US" dirty="0">
                <a:latin typeface="+mj-lt"/>
              </a:rPr>
              <a:t>An instruction is a binary pattern designed inside a microprocessor to perform a specific function.</a:t>
            </a:r>
          </a:p>
          <a:p>
            <a:r>
              <a:rPr lang="en-US" dirty="0">
                <a:latin typeface="+mj-lt"/>
              </a:rPr>
              <a:t>The </a:t>
            </a:r>
            <a:r>
              <a:rPr lang="en-US" dirty="0">
                <a:solidFill>
                  <a:srgbClr val="C00000"/>
                </a:solidFill>
                <a:latin typeface="+mj-lt"/>
              </a:rPr>
              <a:t>entire group of instructions is called instruction set.</a:t>
            </a:r>
          </a:p>
          <a:p>
            <a:r>
              <a:rPr lang="en-US" dirty="0">
                <a:latin typeface="+mj-lt"/>
              </a:rPr>
              <a:t>Instruction set determines what functions the microprocessor can perform.</a:t>
            </a:r>
          </a:p>
          <a:p>
            <a:r>
              <a:rPr lang="en-US" spc="-5" dirty="0">
                <a:latin typeface="+mj-lt"/>
                <a:cs typeface="Times New Roman"/>
              </a:rPr>
              <a:t>Since the </a:t>
            </a:r>
            <a:r>
              <a:rPr lang="en-US" dirty="0">
                <a:latin typeface="+mj-lt"/>
                <a:cs typeface="Times New Roman"/>
              </a:rPr>
              <a:t>8085</a:t>
            </a:r>
            <a:r>
              <a:rPr lang="en-US" spc="5" dirty="0">
                <a:latin typeface="+mj-lt"/>
                <a:cs typeface="Times New Roman"/>
              </a:rPr>
              <a:t> </a:t>
            </a:r>
            <a:r>
              <a:rPr lang="en-US" spc="-5" dirty="0">
                <a:latin typeface="+mj-lt"/>
                <a:cs typeface="Times New Roman"/>
              </a:rPr>
              <a:t>is</a:t>
            </a:r>
            <a:r>
              <a:rPr lang="en-US" spc="5" dirty="0">
                <a:latin typeface="+mj-lt"/>
                <a:cs typeface="Times New Roman"/>
              </a:rPr>
              <a:t> </a:t>
            </a:r>
            <a:r>
              <a:rPr lang="en-US" dirty="0">
                <a:latin typeface="+mj-lt"/>
                <a:cs typeface="Times New Roman"/>
              </a:rPr>
              <a:t>an</a:t>
            </a:r>
            <a:r>
              <a:rPr lang="en-US" spc="5" dirty="0">
                <a:latin typeface="+mj-lt"/>
                <a:cs typeface="Times New Roman"/>
              </a:rPr>
              <a:t> </a:t>
            </a:r>
            <a:r>
              <a:rPr lang="en-US" spc="-5" dirty="0">
                <a:latin typeface="+mj-lt"/>
                <a:cs typeface="Times New Roman"/>
              </a:rPr>
              <a:t>8-bit device</a:t>
            </a:r>
            <a:r>
              <a:rPr lang="en-US" spc="-15" dirty="0">
                <a:latin typeface="+mj-lt"/>
                <a:cs typeface="Times New Roman"/>
              </a:rPr>
              <a:t> </a:t>
            </a:r>
            <a:r>
              <a:rPr lang="en-US" spc="-5" dirty="0">
                <a:latin typeface="+mj-lt"/>
                <a:cs typeface="Times New Roman"/>
              </a:rPr>
              <a:t>it</a:t>
            </a:r>
            <a:r>
              <a:rPr lang="en-US" spc="-10" dirty="0">
                <a:latin typeface="+mj-lt"/>
                <a:cs typeface="Times New Roman"/>
              </a:rPr>
              <a:t> </a:t>
            </a:r>
            <a:r>
              <a:rPr lang="en-US" dirty="0">
                <a:latin typeface="+mj-lt"/>
                <a:cs typeface="Times New Roman"/>
              </a:rPr>
              <a:t>can</a:t>
            </a:r>
            <a:r>
              <a:rPr lang="en-US" spc="-5" dirty="0">
                <a:latin typeface="+mj-lt"/>
                <a:cs typeface="Times New Roman"/>
              </a:rPr>
              <a:t> </a:t>
            </a:r>
            <a:r>
              <a:rPr lang="en-US" dirty="0">
                <a:latin typeface="+mj-lt"/>
                <a:cs typeface="Times New Roman"/>
              </a:rPr>
              <a:t>have up to 2</a:t>
            </a:r>
            <a:r>
              <a:rPr lang="en-US" baseline="30000" dirty="0">
                <a:latin typeface="+mj-lt"/>
                <a:cs typeface="Times New Roman"/>
              </a:rPr>
              <a:t>8 </a:t>
            </a:r>
            <a:r>
              <a:rPr lang="en-US" dirty="0">
                <a:latin typeface="+mj-lt"/>
                <a:cs typeface="Times New Roman"/>
              </a:rPr>
              <a:t> (256) instructions.</a:t>
            </a:r>
            <a:endParaRPr lang="en-US" baseline="30000" dirty="0">
              <a:latin typeface="+mj-lt"/>
              <a:cs typeface="Times New Roman"/>
            </a:endParaRPr>
          </a:p>
          <a:p>
            <a:r>
              <a:rPr lang="en-US" spc="-5" dirty="0">
                <a:latin typeface="+mj-lt"/>
                <a:cs typeface="Times New Roman"/>
              </a:rPr>
              <a:t>However,</a:t>
            </a:r>
            <a:r>
              <a:rPr lang="en-US" spc="10" dirty="0">
                <a:latin typeface="+mj-lt"/>
                <a:cs typeface="Times New Roman"/>
              </a:rPr>
              <a:t> </a:t>
            </a:r>
            <a:r>
              <a:rPr lang="en-US" spc="-5" dirty="0">
                <a:latin typeface="+mj-lt"/>
                <a:cs typeface="Times New Roman"/>
              </a:rPr>
              <a:t>the</a:t>
            </a:r>
            <a:r>
              <a:rPr lang="en-US" dirty="0">
                <a:latin typeface="+mj-lt"/>
                <a:cs typeface="Times New Roman"/>
              </a:rPr>
              <a:t> </a:t>
            </a:r>
            <a:r>
              <a:rPr lang="en-US" spc="-5" dirty="0">
                <a:latin typeface="+mj-lt"/>
                <a:cs typeface="Times New Roman"/>
              </a:rPr>
              <a:t>8085</a:t>
            </a:r>
            <a:r>
              <a:rPr lang="en-US" spc="5" dirty="0">
                <a:latin typeface="+mj-lt"/>
                <a:cs typeface="Times New Roman"/>
              </a:rPr>
              <a:t> </a:t>
            </a:r>
            <a:r>
              <a:rPr lang="en-US" spc="-5" dirty="0">
                <a:latin typeface="+mj-lt"/>
                <a:cs typeface="Times New Roman"/>
              </a:rPr>
              <a:t>only uses</a:t>
            </a:r>
            <a:r>
              <a:rPr lang="en-US" spc="-10" dirty="0">
                <a:latin typeface="+mj-lt"/>
                <a:cs typeface="Times New Roman"/>
              </a:rPr>
              <a:t> </a:t>
            </a:r>
            <a:r>
              <a:rPr lang="en-US" spc="-5" dirty="0">
                <a:latin typeface="+mj-lt"/>
                <a:cs typeface="Times New Roman"/>
              </a:rPr>
              <a:t>246</a:t>
            </a:r>
            <a:r>
              <a:rPr lang="en-US" spc="20" dirty="0">
                <a:latin typeface="+mj-lt"/>
                <a:cs typeface="Times New Roman"/>
              </a:rPr>
              <a:t> </a:t>
            </a:r>
            <a:r>
              <a:rPr lang="en-US" spc="-5" dirty="0">
                <a:latin typeface="+mj-lt"/>
                <a:cs typeface="Times New Roman"/>
              </a:rPr>
              <a:t>combinations</a:t>
            </a:r>
            <a:r>
              <a:rPr lang="en-US" dirty="0">
                <a:latin typeface="+mj-lt"/>
                <a:cs typeface="Times New Roman"/>
              </a:rPr>
              <a:t> </a:t>
            </a:r>
            <a:r>
              <a:rPr lang="en-US" spc="-5" dirty="0">
                <a:latin typeface="+mj-lt"/>
                <a:cs typeface="Times New Roman"/>
              </a:rPr>
              <a:t>that</a:t>
            </a:r>
            <a:r>
              <a:rPr lang="en-US" spc="-25" dirty="0">
                <a:latin typeface="+mj-lt"/>
                <a:cs typeface="Times New Roman"/>
              </a:rPr>
              <a:t> </a:t>
            </a:r>
            <a:r>
              <a:rPr lang="en-US" spc="-5" dirty="0">
                <a:latin typeface="+mj-lt"/>
                <a:cs typeface="Times New Roman"/>
              </a:rPr>
              <a:t>represent</a:t>
            </a:r>
            <a:r>
              <a:rPr lang="en-US" spc="-20" dirty="0">
                <a:latin typeface="+mj-lt"/>
                <a:cs typeface="Times New Roman"/>
              </a:rPr>
              <a:t> </a:t>
            </a:r>
            <a:r>
              <a:rPr lang="en-US" spc="-5" dirty="0">
                <a:latin typeface="+mj-lt"/>
                <a:cs typeface="Times New Roman"/>
              </a:rPr>
              <a:t>a </a:t>
            </a:r>
            <a:r>
              <a:rPr lang="en-US" spc="-484" dirty="0">
                <a:latin typeface="+mj-lt"/>
                <a:cs typeface="Times New Roman"/>
              </a:rPr>
              <a:t> </a:t>
            </a:r>
            <a:r>
              <a:rPr lang="en-US" spc="-5" dirty="0">
                <a:latin typeface="+mj-lt"/>
                <a:cs typeface="Times New Roman"/>
              </a:rPr>
              <a:t>total</a:t>
            </a:r>
            <a:r>
              <a:rPr lang="en-US" spc="-40" dirty="0">
                <a:latin typeface="+mj-lt"/>
                <a:cs typeface="Times New Roman"/>
              </a:rPr>
              <a:t> </a:t>
            </a:r>
            <a:r>
              <a:rPr lang="en-US" spc="-5" dirty="0">
                <a:latin typeface="+mj-lt"/>
                <a:cs typeface="Times New Roman"/>
              </a:rPr>
              <a:t>of 74</a:t>
            </a:r>
            <a:r>
              <a:rPr lang="en-US" dirty="0">
                <a:latin typeface="+mj-lt"/>
                <a:cs typeface="Times New Roman"/>
              </a:rPr>
              <a:t> </a:t>
            </a:r>
            <a:r>
              <a:rPr lang="en-US" spc="-5" dirty="0">
                <a:latin typeface="+mj-lt"/>
                <a:cs typeface="Times New Roman"/>
              </a:rPr>
              <a:t>instructions.</a:t>
            </a:r>
          </a:p>
          <a:p>
            <a:r>
              <a:rPr lang="en-US" spc="-5" dirty="0">
                <a:latin typeface="+mj-lt"/>
                <a:cs typeface="Times New Roman"/>
              </a:rPr>
              <a:t>Most</a:t>
            </a:r>
            <a:r>
              <a:rPr lang="en-US" spc="-10" dirty="0">
                <a:latin typeface="+mj-lt"/>
                <a:cs typeface="Times New Roman"/>
              </a:rPr>
              <a:t> </a:t>
            </a:r>
            <a:r>
              <a:rPr lang="en-US" dirty="0">
                <a:latin typeface="+mj-lt"/>
                <a:cs typeface="Times New Roman"/>
              </a:rPr>
              <a:t>of</a:t>
            </a:r>
            <a:r>
              <a:rPr lang="en-US" spc="5" dirty="0">
                <a:latin typeface="+mj-lt"/>
                <a:cs typeface="Times New Roman"/>
              </a:rPr>
              <a:t> </a:t>
            </a:r>
            <a:r>
              <a:rPr lang="en-US" spc="-5" dirty="0">
                <a:latin typeface="+mj-lt"/>
                <a:cs typeface="Times New Roman"/>
              </a:rPr>
              <a:t>the</a:t>
            </a:r>
            <a:r>
              <a:rPr lang="en-US" dirty="0">
                <a:latin typeface="+mj-lt"/>
                <a:cs typeface="Times New Roman"/>
              </a:rPr>
              <a:t> </a:t>
            </a:r>
            <a:r>
              <a:rPr lang="en-US" spc="-5" dirty="0">
                <a:latin typeface="+mj-lt"/>
                <a:cs typeface="Times New Roman"/>
              </a:rPr>
              <a:t>instructions</a:t>
            </a:r>
            <a:r>
              <a:rPr lang="en-US" spc="5" dirty="0">
                <a:latin typeface="+mj-lt"/>
                <a:cs typeface="Times New Roman"/>
              </a:rPr>
              <a:t> </a:t>
            </a:r>
            <a:r>
              <a:rPr lang="en-US" spc="-5" dirty="0">
                <a:latin typeface="+mj-lt"/>
                <a:cs typeface="Times New Roman"/>
              </a:rPr>
              <a:t>have</a:t>
            </a:r>
            <a:r>
              <a:rPr lang="en-US" spc="5" dirty="0">
                <a:latin typeface="+mj-lt"/>
                <a:cs typeface="Times New Roman"/>
              </a:rPr>
              <a:t> </a:t>
            </a:r>
            <a:r>
              <a:rPr lang="en-US" spc="-5" dirty="0">
                <a:latin typeface="+mj-lt"/>
                <a:cs typeface="Times New Roman"/>
              </a:rPr>
              <a:t>more</a:t>
            </a:r>
            <a:r>
              <a:rPr lang="en-US" dirty="0">
                <a:latin typeface="+mj-lt"/>
                <a:cs typeface="Times New Roman"/>
              </a:rPr>
              <a:t> </a:t>
            </a:r>
            <a:r>
              <a:rPr lang="en-US" spc="-5" dirty="0">
                <a:latin typeface="+mj-lt"/>
                <a:cs typeface="Times New Roman"/>
              </a:rPr>
              <a:t>than</a:t>
            </a:r>
            <a:r>
              <a:rPr lang="en-US" spc="5" dirty="0">
                <a:latin typeface="+mj-lt"/>
                <a:cs typeface="Times New Roman"/>
              </a:rPr>
              <a:t> </a:t>
            </a:r>
            <a:r>
              <a:rPr lang="en-US" dirty="0">
                <a:latin typeface="+mj-lt"/>
                <a:cs typeface="Times New Roman"/>
              </a:rPr>
              <a:t>one</a:t>
            </a:r>
            <a:r>
              <a:rPr lang="en-US" spc="-5" dirty="0">
                <a:latin typeface="+mj-lt"/>
                <a:cs typeface="Times New Roman"/>
              </a:rPr>
              <a:t> format.</a:t>
            </a:r>
            <a:endParaRPr lang="en-US" dirty="0">
              <a:latin typeface="+mj-lt"/>
              <a:cs typeface="Times New Roman"/>
            </a:endParaRPr>
          </a:p>
          <a:p>
            <a:pPr marL="354965">
              <a:spcBef>
                <a:spcPts val="880"/>
              </a:spcBef>
              <a:tabLst>
                <a:tab pos="354965" algn="l"/>
                <a:tab pos="355600" algn="l"/>
              </a:tabLst>
            </a:pPr>
            <a:r>
              <a:rPr lang="en-US" spc="-5" dirty="0">
                <a:latin typeface="+mj-lt"/>
                <a:cs typeface="Times New Roman"/>
              </a:rPr>
              <a:t>Each</a:t>
            </a:r>
            <a:r>
              <a:rPr lang="en-US" spc="-10" dirty="0">
                <a:latin typeface="+mj-lt"/>
                <a:cs typeface="Times New Roman"/>
              </a:rPr>
              <a:t> </a:t>
            </a:r>
            <a:r>
              <a:rPr lang="en-US" spc="-5" dirty="0">
                <a:latin typeface="+mj-lt"/>
                <a:cs typeface="Times New Roman"/>
              </a:rPr>
              <a:t>instruction</a:t>
            </a:r>
            <a:r>
              <a:rPr lang="en-US" spc="5" dirty="0">
                <a:latin typeface="+mj-lt"/>
                <a:cs typeface="Times New Roman"/>
              </a:rPr>
              <a:t> </a:t>
            </a:r>
            <a:r>
              <a:rPr lang="en-US" spc="-5" dirty="0">
                <a:latin typeface="+mj-lt"/>
                <a:cs typeface="Times New Roman"/>
              </a:rPr>
              <a:t>has</a:t>
            </a:r>
            <a:r>
              <a:rPr lang="en-US" spc="-10" dirty="0">
                <a:latin typeface="+mj-lt"/>
                <a:cs typeface="Times New Roman"/>
              </a:rPr>
              <a:t> </a:t>
            </a:r>
            <a:r>
              <a:rPr lang="en-US" spc="-5" dirty="0">
                <a:latin typeface="+mj-lt"/>
                <a:cs typeface="Times New Roman"/>
              </a:rPr>
              <a:t>two</a:t>
            </a:r>
            <a:r>
              <a:rPr lang="en-US" spc="5" dirty="0">
                <a:latin typeface="+mj-lt"/>
                <a:cs typeface="Times New Roman"/>
              </a:rPr>
              <a:t> </a:t>
            </a:r>
            <a:r>
              <a:rPr lang="en-US" spc="-5" dirty="0">
                <a:latin typeface="+mj-lt"/>
                <a:cs typeface="Times New Roman"/>
              </a:rPr>
              <a:t>parts.</a:t>
            </a:r>
            <a:endParaRPr lang="en-US" dirty="0">
              <a:latin typeface="+mj-lt"/>
              <a:cs typeface="Times New Roman"/>
            </a:endParaRPr>
          </a:p>
          <a:p>
            <a:pPr marL="755650" marR="438784" lvl="1">
              <a:spcBef>
                <a:spcPts val="690"/>
              </a:spcBef>
              <a:tabLst>
                <a:tab pos="755650" algn="l"/>
              </a:tabLst>
            </a:pPr>
            <a:r>
              <a:rPr lang="en-US" sz="3200" spc="-5" dirty="0">
                <a:latin typeface="+mj-lt"/>
                <a:cs typeface="Times New Roman"/>
              </a:rPr>
              <a:t>The</a:t>
            </a:r>
            <a:r>
              <a:rPr lang="en-US" sz="3200" spc="-20" dirty="0">
                <a:latin typeface="+mj-lt"/>
                <a:cs typeface="Times New Roman"/>
              </a:rPr>
              <a:t> </a:t>
            </a:r>
            <a:r>
              <a:rPr lang="en-US" sz="3200" dirty="0">
                <a:latin typeface="+mj-lt"/>
                <a:cs typeface="Times New Roman"/>
              </a:rPr>
              <a:t>first</a:t>
            </a:r>
            <a:r>
              <a:rPr lang="en-US" sz="3200" spc="-20" dirty="0">
                <a:latin typeface="+mj-lt"/>
                <a:cs typeface="Times New Roman"/>
              </a:rPr>
              <a:t> </a:t>
            </a:r>
            <a:r>
              <a:rPr lang="en-US" sz="3200" spc="-5" dirty="0">
                <a:latin typeface="+mj-lt"/>
                <a:cs typeface="Times New Roman"/>
              </a:rPr>
              <a:t>part</a:t>
            </a:r>
            <a:r>
              <a:rPr lang="en-US" sz="3200" spc="-15" dirty="0">
                <a:latin typeface="+mj-lt"/>
                <a:cs typeface="Times New Roman"/>
              </a:rPr>
              <a:t> </a:t>
            </a:r>
            <a:r>
              <a:rPr lang="en-US" sz="3200" dirty="0">
                <a:latin typeface="+mj-lt"/>
                <a:cs typeface="Times New Roman"/>
              </a:rPr>
              <a:t>is</a:t>
            </a:r>
            <a:r>
              <a:rPr lang="en-US" sz="3200" spc="-10" dirty="0">
                <a:latin typeface="+mj-lt"/>
                <a:cs typeface="Times New Roman"/>
              </a:rPr>
              <a:t> </a:t>
            </a:r>
            <a:r>
              <a:rPr lang="en-US" sz="3200" dirty="0">
                <a:latin typeface="+mj-lt"/>
                <a:cs typeface="Times New Roman"/>
              </a:rPr>
              <a:t>the</a:t>
            </a:r>
            <a:r>
              <a:rPr lang="en-US" sz="3200" spc="-15" dirty="0">
                <a:latin typeface="+mj-lt"/>
                <a:cs typeface="Times New Roman"/>
              </a:rPr>
              <a:t> </a:t>
            </a:r>
            <a:r>
              <a:rPr lang="en-US" sz="3200" spc="-5" dirty="0">
                <a:latin typeface="+mj-lt"/>
                <a:cs typeface="Times New Roman"/>
              </a:rPr>
              <a:t>task</a:t>
            </a:r>
            <a:r>
              <a:rPr lang="en-US" sz="3200" spc="-20" dirty="0">
                <a:latin typeface="+mj-lt"/>
                <a:cs typeface="Times New Roman"/>
              </a:rPr>
              <a:t> </a:t>
            </a:r>
            <a:r>
              <a:rPr lang="en-US" sz="3200" dirty="0">
                <a:latin typeface="+mj-lt"/>
                <a:cs typeface="Times New Roman"/>
              </a:rPr>
              <a:t>or </a:t>
            </a:r>
            <a:r>
              <a:rPr lang="en-US" sz="3200" spc="-5" dirty="0">
                <a:latin typeface="+mj-lt"/>
                <a:cs typeface="Times New Roman"/>
              </a:rPr>
              <a:t>operation</a:t>
            </a:r>
            <a:r>
              <a:rPr lang="en-US" sz="3200" spc="-25" dirty="0">
                <a:latin typeface="+mj-lt"/>
                <a:cs typeface="Times New Roman"/>
              </a:rPr>
              <a:t> </a:t>
            </a:r>
            <a:r>
              <a:rPr lang="en-US" sz="3200" dirty="0">
                <a:latin typeface="+mj-lt"/>
                <a:cs typeface="Times New Roman"/>
              </a:rPr>
              <a:t>to</a:t>
            </a:r>
            <a:r>
              <a:rPr lang="en-US" sz="3200" spc="-10" dirty="0">
                <a:latin typeface="+mj-lt"/>
                <a:cs typeface="Times New Roman"/>
              </a:rPr>
              <a:t> </a:t>
            </a:r>
            <a:r>
              <a:rPr lang="en-US" sz="3200" dirty="0">
                <a:latin typeface="+mj-lt"/>
                <a:cs typeface="Times New Roman"/>
              </a:rPr>
              <a:t>be </a:t>
            </a:r>
            <a:r>
              <a:rPr lang="en-US" sz="3200" spc="-685" dirty="0">
                <a:latin typeface="+mj-lt"/>
                <a:cs typeface="Times New Roman"/>
              </a:rPr>
              <a:t> </a:t>
            </a:r>
            <a:r>
              <a:rPr lang="en-US" sz="3200" spc="-5" dirty="0">
                <a:latin typeface="+mj-lt"/>
                <a:cs typeface="Times New Roman"/>
              </a:rPr>
              <a:t>performed.</a:t>
            </a:r>
            <a:endParaRPr lang="en-US" sz="3200" dirty="0">
              <a:latin typeface="+mj-lt"/>
              <a:cs typeface="Times New Roman"/>
            </a:endParaRPr>
          </a:p>
          <a:p>
            <a:pPr marL="1155700" lvl="2" indent="-229235">
              <a:spcBef>
                <a:spcPts val="585"/>
              </a:spcBef>
              <a:tabLst>
                <a:tab pos="1155700" algn="l"/>
              </a:tabLst>
            </a:pPr>
            <a:r>
              <a:rPr lang="en-US" sz="3200" spc="-5" dirty="0">
                <a:latin typeface="+mj-lt"/>
                <a:cs typeface="Times New Roman"/>
              </a:rPr>
              <a:t>This part is</a:t>
            </a:r>
            <a:r>
              <a:rPr lang="en-US" sz="3200" dirty="0">
                <a:latin typeface="+mj-lt"/>
                <a:cs typeface="Times New Roman"/>
              </a:rPr>
              <a:t> </a:t>
            </a:r>
            <a:r>
              <a:rPr lang="en-US" sz="3200" spc="-5" dirty="0">
                <a:latin typeface="+mj-lt"/>
                <a:cs typeface="Times New Roman"/>
              </a:rPr>
              <a:t>called</a:t>
            </a:r>
            <a:r>
              <a:rPr lang="en-US" sz="3200" spc="-20" dirty="0">
                <a:latin typeface="+mj-lt"/>
                <a:cs typeface="Times New Roman"/>
              </a:rPr>
              <a:t> </a:t>
            </a:r>
            <a:r>
              <a:rPr lang="en-US" sz="3200" spc="-5" dirty="0">
                <a:latin typeface="+mj-lt"/>
                <a:cs typeface="Times New Roman"/>
              </a:rPr>
              <a:t>the</a:t>
            </a:r>
            <a:r>
              <a:rPr lang="en-US" sz="3200" dirty="0">
                <a:latin typeface="+mj-lt"/>
                <a:cs typeface="Times New Roman"/>
              </a:rPr>
              <a:t> “</a:t>
            </a:r>
            <a:r>
              <a:rPr lang="en-US" sz="3200" dirty="0">
                <a:solidFill>
                  <a:srgbClr val="990000"/>
                </a:solidFill>
                <a:latin typeface="+mj-lt"/>
                <a:cs typeface="Times New Roman"/>
              </a:rPr>
              <a:t>opcode</a:t>
            </a:r>
            <a:r>
              <a:rPr lang="en-US" sz="3200" dirty="0">
                <a:latin typeface="+mj-lt"/>
                <a:cs typeface="Times New Roman"/>
              </a:rPr>
              <a:t>”</a:t>
            </a:r>
            <a:r>
              <a:rPr lang="en-US" sz="3200" spc="-20" dirty="0">
                <a:latin typeface="+mj-lt"/>
                <a:cs typeface="Times New Roman"/>
              </a:rPr>
              <a:t> </a:t>
            </a:r>
            <a:r>
              <a:rPr lang="en-US" sz="3200" spc="-5" dirty="0">
                <a:latin typeface="+mj-lt"/>
                <a:cs typeface="Times New Roman"/>
              </a:rPr>
              <a:t>(</a:t>
            </a:r>
            <a:r>
              <a:rPr lang="en-US" sz="3200" u="heavy" spc="-5" dirty="0">
                <a:solidFill>
                  <a:srgbClr val="990000"/>
                </a:solidFill>
                <a:uFill>
                  <a:solidFill>
                    <a:srgbClr val="990000"/>
                  </a:solidFill>
                </a:uFill>
                <a:latin typeface="+mj-lt"/>
                <a:cs typeface="Times New Roman"/>
              </a:rPr>
              <a:t>op</a:t>
            </a:r>
            <a:r>
              <a:rPr lang="en-US" sz="3200" spc="-5" dirty="0">
                <a:latin typeface="+mj-lt"/>
                <a:cs typeface="Times New Roman"/>
              </a:rPr>
              <a:t>eration</a:t>
            </a:r>
            <a:r>
              <a:rPr lang="en-US" sz="3200" spc="-5" dirty="0">
                <a:solidFill>
                  <a:srgbClr val="990000"/>
                </a:solidFill>
                <a:latin typeface="+mj-lt"/>
                <a:cs typeface="Times New Roman"/>
              </a:rPr>
              <a:t> </a:t>
            </a:r>
            <a:r>
              <a:rPr lang="en-US" sz="3200" u="heavy" spc="-5" dirty="0">
                <a:solidFill>
                  <a:srgbClr val="990000"/>
                </a:solidFill>
                <a:uFill>
                  <a:solidFill>
                    <a:srgbClr val="990000"/>
                  </a:solidFill>
                </a:uFill>
                <a:latin typeface="+mj-lt"/>
                <a:cs typeface="Times New Roman"/>
              </a:rPr>
              <a:t>code</a:t>
            </a:r>
            <a:r>
              <a:rPr lang="en-US" sz="3200" spc="-5" dirty="0">
                <a:latin typeface="+mj-lt"/>
                <a:cs typeface="Times New Roman"/>
              </a:rPr>
              <a:t>).</a:t>
            </a:r>
            <a:endParaRPr lang="en-US" sz="3200" dirty="0">
              <a:latin typeface="+mj-lt"/>
              <a:cs typeface="Times New Roman"/>
            </a:endParaRPr>
          </a:p>
          <a:p>
            <a:pPr marL="755650" lvl="1">
              <a:spcBef>
                <a:spcPts val="1705"/>
              </a:spcBef>
              <a:tabLst>
                <a:tab pos="755650" algn="l"/>
              </a:tabLst>
            </a:pPr>
            <a:r>
              <a:rPr lang="en-US" sz="3200" spc="-5" dirty="0">
                <a:latin typeface="+mj-lt"/>
                <a:cs typeface="Times New Roman"/>
              </a:rPr>
              <a:t>The</a:t>
            </a:r>
            <a:r>
              <a:rPr lang="en-US" sz="3200" spc="-15" dirty="0">
                <a:latin typeface="+mj-lt"/>
                <a:cs typeface="Times New Roman"/>
              </a:rPr>
              <a:t> </a:t>
            </a:r>
            <a:r>
              <a:rPr lang="en-US" sz="3200" spc="-5" dirty="0">
                <a:latin typeface="+mj-lt"/>
                <a:cs typeface="Times New Roman"/>
              </a:rPr>
              <a:t>second</a:t>
            </a:r>
            <a:r>
              <a:rPr lang="en-US" sz="3200" spc="-25" dirty="0">
                <a:latin typeface="+mj-lt"/>
                <a:cs typeface="Times New Roman"/>
              </a:rPr>
              <a:t> </a:t>
            </a:r>
            <a:r>
              <a:rPr lang="en-US" sz="3200" spc="-5" dirty="0">
                <a:latin typeface="+mj-lt"/>
                <a:cs typeface="Times New Roman"/>
              </a:rPr>
              <a:t>part</a:t>
            </a:r>
            <a:r>
              <a:rPr lang="en-US" sz="3200" spc="-15" dirty="0">
                <a:latin typeface="+mj-lt"/>
                <a:cs typeface="Times New Roman"/>
              </a:rPr>
              <a:t> </a:t>
            </a:r>
            <a:r>
              <a:rPr lang="en-US" sz="3200" dirty="0">
                <a:latin typeface="+mj-lt"/>
                <a:cs typeface="Times New Roman"/>
              </a:rPr>
              <a:t>is</a:t>
            </a:r>
            <a:r>
              <a:rPr lang="en-US" sz="3200" spc="-5" dirty="0">
                <a:latin typeface="+mj-lt"/>
                <a:cs typeface="Times New Roman"/>
              </a:rPr>
              <a:t> </a:t>
            </a:r>
            <a:r>
              <a:rPr lang="en-US" sz="3200" dirty="0">
                <a:latin typeface="+mj-lt"/>
                <a:cs typeface="Times New Roman"/>
              </a:rPr>
              <a:t>the</a:t>
            </a:r>
            <a:r>
              <a:rPr lang="en-US" sz="3200" spc="-20" dirty="0">
                <a:latin typeface="+mj-lt"/>
                <a:cs typeface="Times New Roman"/>
              </a:rPr>
              <a:t> </a:t>
            </a:r>
            <a:r>
              <a:rPr lang="en-US" sz="3200" spc="-5" dirty="0">
                <a:latin typeface="+mj-lt"/>
                <a:cs typeface="Times New Roman"/>
              </a:rPr>
              <a:t>data</a:t>
            </a:r>
            <a:r>
              <a:rPr lang="en-US" sz="3200" spc="-20" dirty="0">
                <a:latin typeface="+mj-lt"/>
                <a:cs typeface="Times New Roman"/>
              </a:rPr>
              <a:t> </a:t>
            </a:r>
            <a:r>
              <a:rPr lang="en-US" sz="3200" dirty="0">
                <a:latin typeface="+mj-lt"/>
                <a:cs typeface="Times New Roman"/>
              </a:rPr>
              <a:t>to</a:t>
            </a:r>
            <a:r>
              <a:rPr lang="en-US" sz="3200" spc="-5" dirty="0">
                <a:latin typeface="+mj-lt"/>
                <a:cs typeface="Times New Roman"/>
              </a:rPr>
              <a:t> </a:t>
            </a:r>
            <a:r>
              <a:rPr lang="en-US" sz="3200" dirty="0">
                <a:latin typeface="+mj-lt"/>
                <a:cs typeface="Times New Roman"/>
              </a:rPr>
              <a:t>be</a:t>
            </a:r>
            <a:r>
              <a:rPr lang="en-US" sz="3200" spc="-15" dirty="0">
                <a:latin typeface="+mj-lt"/>
                <a:cs typeface="Times New Roman"/>
              </a:rPr>
              <a:t> </a:t>
            </a:r>
            <a:r>
              <a:rPr lang="en-US" sz="3200" spc="-5" dirty="0">
                <a:latin typeface="+mj-lt"/>
                <a:cs typeface="Times New Roman"/>
              </a:rPr>
              <a:t>operated</a:t>
            </a:r>
            <a:r>
              <a:rPr lang="en-US" sz="3200" spc="-25" dirty="0">
                <a:latin typeface="+mj-lt"/>
                <a:cs typeface="Times New Roman"/>
              </a:rPr>
              <a:t> </a:t>
            </a:r>
            <a:r>
              <a:rPr lang="en-US" sz="3200" dirty="0">
                <a:latin typeface="+mj-lt"/>
                <a:cs typeface="Times New Roman"/>
              </a:rPr>
              <a:t>on</a:t>
            </a:r>
          </a:p>
          <a:p>
            <a:pPr marL="1155700" lvl="2" indent="-229235">
              <a:spcBef>
                <a:spcPts val="585"/>
              </a:spcBef>
              <a:tabLst>
                <a:tab pos="1155700" algn="l"/>
              </a:tabLst>
            </a:pPr>
            <a:r>
              <a:rPr lang="en-US" sz="3200" spc="-5" dirty="0">
                <a:latin typeface="+mj-lt"/>
                <a:cs typeface="Times New Roman"/>
              </a:rPr>
              <a:t>Called</a:t>
            </a:r>
            <a:r>
              <a:rPr lang="en-US" sz="3200" spc="-50" dirty="0">
                <a:latin typeface="+mj-lt"/>
                <a:cs typeface="Times New Roman"/>
              </a:rPr>
              <a:t> </a:t>
            </a:r>
            <a:r>
              <a:rPr lang="en-US" sz="3200" spc="-5" dirty="0">
                <a:latin typeface="+mj-lt"/>
                <a:cs typeface="Times New Roman"/>
              </a:rPr>
              <a:t>the</a:t>
            </a:r>
            <a:r>
              <a:rPr lang="en-US" sz="3200" spc="-30" dirty="0">
                <a:latin typeface="+mj-lt"/>
                <a:cs typeface="Times New Roman"/>
              </a:rPr>
              <a:t> </a:t>
            </a:r>
            <a:r>
              <a:rPr lang="en-US" sz="3200" dirty="0">
                <a:latin typeface="+mj-lt"/>
                <a:cs typeface="Times New Roman"/>
              </a:rPr>
              <a:t>“</a:t>
            </a:r>
            <a:r>
              <a:rPr lang="en-US" sz="3200" dirty="0">
                <a:solidFill>
                  <a:srgbClr val="990000"/>
                </a:solidFill>
                <a:latin typeface="+mj-lt"/>
                <a:cs typeface="Times New Roman"/>
              </a:rPr>
              <a:t>operand</a:t>
            </a:r>
            <a:r>
              <a:rPr lang="en-US" sz="3200" dirty="0">
                <a:latin typeface="+mj-lt"/>
                <a:cs typeface="Times New Roman"/>
              </a:rPr>
              <a:t>”.</a:t>
            </a:r>
          </a:p>
          <a:p>
            <a:endParaRPr lang="en-US" sz="1800" dirty="0">
              <a:latin typeface="+mj-lt"/>
            </a:endParaRPr>
          </a:p>
        </p:txBody>
      </p:sp>
      <p:sp>
        <p:nvSpPr>
          <p:cNvPr id="4" name="Date Placeholder 3"/>
          <p:cNvSpPr>
            <a:spLocks noGrp="1"/>
          </p:cNvSpPr>
          <p:nvPr>
            <p:ph type="dt" sz="half" idx="10"/>
          </p:nvPr>
        </p:nvSpPr>
        <p:spPr/>
        <p:txBody>
          <a:bodyPr/>
          <a:lstStyle/>
          <a:p>
            <a:fld id="{2D1AF3BB-147D-4F26-AD02-0F8309FE122C}"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509711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r>
              <a:rPr lang="en-US" sz="3200" b="1" dirty="0">
                <a:solidFill>
                  <a:srgbClr val="FF0000"/>
                </a:solidFill>
              </a:rPr>
              <a:t>Instruction classification</a:t>
            </a:r>
          </a:p>
        </p:txBody>
      </p:sp>
      <p:sp>
        <p:nvSpPr>
          <p:cNvPr id="3" name="Content Placeholder 2"/>
          <p:cNvSpPr>
            <a:spLocks noGrp="1"/>
          </p:cNvSpPr>
          <p:nvPr>
            <p:ph idx="1"/>
          </p:nvPr>
        </p:nvSpPr>
        <p:spPr>
          <a:xfrm>
            <a:off x="457200" y="742950"/>
            <a:ext cx="5334000" cy="3851673"/>
          </a:xfrm>
          <a:noFill/>
        </p:spPr>
        <p:txBody>
          <a:bodyPr>
            <a:normAutofit/>
          </a:bodyPr>
          <a:lstStyle/>
          <a:p>
            <a:pPr marL="323850" marR="484505" indent="-286385">
              <a:lnSpc>
                <a:spcPts val="2590"/>
              </a:lnSpc>
              <a:spcBef>
                <a:spcPts val="1460"/>
              </a:spcBef>
              <a:buChar char="–"/>
              <a:tabLst>
                <a:tab pos="323850" algn="l"/>
                <a:tab pos="324485" algn="l"/>
              </a:tabLst>
            </a:pPr>
            <a:r>
              <a:rPr lang="en-US" sz="2400" spc="-5" dirty="0">
                <a:latin typeface="+mj-lt"/>
                <a:cs typeface="Times New Roman"/>
              </a:rPr>
              <a:t>These instructions </a:t>
            </a:r>
            <a:r>
              <a:rPr lang="en-US" sz="2400" dirty="0">
                <a:latin typeface="+mj-lt"/>
                <a:cs typeface="Times New Roman"/>
              </a:rPr>
              <a:t>can be </a:t>
            </a:r>
            <a:r>
              <a:rPr lang="en-US" sz="2400" spc="-5" dirty="0">
                <a:latin typeface="+mj-lt"/>
                <a:cs typeface="Times New Roman"/>
              </a:rPr>
              <a:t>grouped into five different </a:t>
            </a:r>
            <a:r>
              <a:rPr lang="en-US" sz="2400" spc="-585" dirty="0">
                <a:latin typeface="+mj-lt"/>
                <a:cs typeface="Times New Roman"/>
              </a:rPr>
              <a:t> </a:t>
            </a:r>
            <a:r>
              <a:rPr lang="en-US" sz="2400" spc="-5" dirty="0">
                <a:latin typeface="+mj-lt"/>
                <a:cs typeface="Times New Roman"/>
              </a:rPr>
              <a:t>groups:</a:t>
            </a:r>
            <a:endParaRPr lang="en-US" sz="2400" dirty="0">
              <a:latin typeface="+mj-lt"/>
              <a:cs typeface="Times New Roman"/>
            </a:endParaRPr>
          </a:p>
          <a:p>
            <a:pPr marL="951230" lvl="1" indent="-457200">
              <a:lnSpc>
                <a:spcPct val="100000"/>
              </a:lnSpc>
              <a:spcBef>
                <a:spcPts val="220"/>
              </a:spcBef>
              <a:buFont typeface="+mj-lt"/>
              <a:buAutoNum type="arabicPeriod"/>
              <a:tabLst>
                <a:tab pos="723265" algn="l"/>
                <a:tab pos="724535" algn="l"/>
              </a:tabLst>
            </a:pPr>
            <a:r>
              <a:rPr lang="en-US" sz="2000" spc="-5" dirty="0">
                <a:latin typeface="+mj-lt"/>
                <a:cs typeface="Times New Roman"/>
              </a:rPr>
              <a:t>Data</a:t>
            </a:r>
            <a:r>
              <a:rPr lang="en-US" sz="2000" spc="-15" dirty="0">
                <a:latin typeface="+mj-lt"/>
                <a:cs typeface="Times New Roman"/>
              </a:rPr>
              <a:t> </a:t>
            </a:r>
            <a:r>
              <a:rPr lang="en-US" sz="2000" spc="-5" dirty="0">
                <a:latin typeface="+mj-lt"/>
                <a:cs typeface="Times New Roman"/>
              </a:rPr>
              <a:t>Transfer</a:t>
            </a:r>
            <a:r>
              <a:rPr lang="en-US" sz="2000" spc="-25" dirty="0">
                <a:latin typeface="+mj-lt"/>
                <a:cs typeface="Times New Roman"/>
              </a:rPr>
              <a:t> </a:t>
            </a:r>
            <a:r>
              <a:rPr lang="en-US" sz="2000" spc="-5" dirty="0">
                <a:latin typeface="+mj-lt"/>
                <a:cs typeface="Times New Roman"/>
              </a:rPr>
              <a:t>I</a:t>
            </a:r>
            <a:r>
              <a:rPr lang="en-US" sz="2000" spc="-5" dirty="0">
                <a:cs typeface="Times New Roman"/>
              </a:rPr>
              <a:t>nstructions</a:t>
            </a:r>
            <a:endParaRPr lang="en-US" sz="2000" dirty="0">
              <a:latin typeface="+mj-lt"/>
              <a:cs typeface="Times New Roman"/>
            </a:endParaRPr>
          </a:p>
          <a:p>
            <a:pPr marL="951230" lvl="1" indent="-457200">
              <a:lnSpc>
                <a:spcPct val="100000"/>
              </a:lnSpc>
              <a:spcBef>
                <a:spcPts val="240"/>
              </a:spcBef>
              <a:buFont typeface="+mj-lt"/>
              <a:buAutoNum type="arabicPeriod"/>
              <a:tabLst>
                <a:tab pos="723265" algn="l"/>
                <a:tab pos="724535" algn="l"/>
              </a:tabLst>
            </a:pPr>
            <a:r>
              <a:rPr lang="en-US" sz="2000" spc="-5" dirty="0">
                <a:latin typeface="+mj-lt"/>
                <a:cs typeface="Times New Roman"/>
              </a:rPr>
              <a:t>Arithmetic</a:t>
            </a:r>
            <a:r>
              <a:rPr lang="en-US" sz="2000" spc="-50" dirty="0">
                <a:latin typeface="+mj-lt"/>
                <a:cs typeface="Times New Roman"/>
              </a:rPr>
              <a:t> </a:t>
            </a:r>
            <a:r>
              <a:rPr lang="en-US" sz="2000" spc="-5" dirty="0">
                <a:cs typeface="Times New Roman"/>
              </a:rPr>
              <a:t>Instructions</a:t>
            </a:r>
            <a:endParaRPr lang="en-US" sz="2000" dirty="0">
              <a:latin typeface="+mj-lt"/>
              <a:cs typeface="Times New Roman"/>
            </a:endParaRPr>
          </a:p>
          <a:p>
            <a:pPr marL="951230" lvl="1" indent="-457200">
              <a:lnSpc>
                <a:spcPct val="100000"/>
              </a:lnSpc>
              <a:spcBef>
                <a:spcPts val="235"/>
              </a:spcBef>
              <a:buFont typeface="+mj-lt"/>
              <a:buAutoNum type="arabicPeriod"/>
              <a:tabLst>
                <a:tab pos="723265" algn="l"/>
                <a:tab pos="724535" algn="l"/>
              </a:tabLst>
            </a:pPr>
            <a:r>
              <a:rPr lang="en-US" sz="2000" spc="-5" dirty="0">
                <a:latin typeface="+mj-lt"/>
                <a:cs typeface="Times New Roman"/>
              </a:rPr>
              <a:t>Logic</a:t>
            </a:r>
            <a:r>
              <a:rPr lang="en-US" sz="2000" spc="-40" dirty="0">
                <a:latin typeface="+mj-lt"/>
                <a:cs typeface="Times New Roman"/>
              </a:rPr>
              <a:t> </a:t>
            </a:r>
            <a:r>
              <a:rPr lang="en-US" sz="2000" spc="-5" dirty="0">
                <a:cs typeface="Times New Roman"/>
              </a:rPr>
              <a:t>Instructions</a:t>
            </a:r>
            <a:endParaRPr lang="en-US" sz="2000" dirty="0">
              <a:latin typeface="+mj-lt"/>
              <a:cs typeface="Times New Roman"/>
            </a:endParaRPr>
          </a:p>
          <a:p>
            <a:pPr marL="951230" lvl="1" indent="-457200">
              <a:lnSpc>
                <a:spcPct val="100000"/>
              </a:lnSpc>
              <a:spcBef>
                <a:spcPts val="240"/>
              </a:spcBef>
              <a:buFont typeface="+mj-lt"/>
              <a:buAutoNum type="arabicPeriod"/>
              <a:tabLst>
                <a:tab pos="723265" algn="l"/>
                <a:tab pos="724535" algn="l"/>
              </a:tabLst>
            </a:pPr>
            <a:r>
              <a:rPr lang="en-US" sz="2000" spc="-5" dirty="0">
                <a:latin typeface="+mj-lt"/>
                <a:cs typeface="Times New Roman"/>
              </a:rPr>
              <a:t>Branching</a:t>
            </a:r>
            <a:r>
              <a:rPr lang="en-US" sz="2000" spc="-30" dirty="0">
                <a:latin typeface="+mj-lt"/>
                <a:cs typeface="Times New Roman"/>
              </a:rPr>
              <a:t> </a:t>
            </a:r>
            <a:r>
              <a:rPr lang="en-US" sz="2000" spc="-5" dirty="0">
                <a:cs typeface="Times New Roman"/>
              </a:rPr>
              <a:t>Instructions</a:t>
            </a:r>
            <a:endParaRPr lang="en-US" sz="2000" dirty="0">
              <a:latin typeface="+mj-lt"/>
              <a:cs typeface="Times New Roman"/>
            </a:endParaRPr>
          </a:p>
          <a:p>
            <a:pPr marL="951230" lvl="1" indent="-457200">
              <a:lnSpc>
                <a:spcPct val="100000"/>
              </a:lnSpc>
              <a:spcBef>
                <a:spcPts val="240"/>
              </a:spcBef>
              <a:buFont typeface="+mj-lt"/>
              <a:buAutoNum type="arabicPeriod"/>
              <a:tabLst>
                <a:tab pos="723265" algn="l"/>
                <a:tab pos="724535" algn="l"/>
              </a:tabLst>
            </a:pPr>
            <a:r>
              <a:rPr lang="en-US" sz="2000" spc="-5" dirty="0">
                <a:latin typeface="+mj-lt"/>
                <a:cs typeface="Times New Roman"/>
              </a:rPr>
              <a:t>Machine</a:t>
            </a:r>
            <a:r>
              <a:rPr lang="en-US" sz="2000" spc="-30" dirty="0">
                <a:latin typeface="+mj-lt"/>
                <a:cs typeface="Times New Roman"/>
              </a:rPr>
              <a:t> </a:t>
            </a:r>
            <a:r>
              <a:rPr lang="en-US" sz="2000" spc="-5" dirty="0">
                <a:latin typeface="+mj-lt"/>
                <a:cs typeface="Times New Roman"/>
              </a:rPr>
              <a:t>Control</a:t>
            </a:r>
            <a:r>
              <a:rPr lang="en-US" sz="2000" spc="-20" dirty="0">
                <a:latin typeface="+mj-lt"/>
                <a:cs typeface="Times New Roman"/>
              </a:rPr>
              <a:t> </a:t>
            </a:r>
            <a:r>
              <a:rPr lang="en-US" sz="2000" spc="-5" dirty="0">
                <a:cs typeface="Times New Roman"/>
              </a:rPr>
              <a:t>Instructions</a:t>
            </a:r>
            <a:endParaRPr lang="en-US" sz="2000" dirty="0">
              <a:latin typeface="+mj-lt"/>
              <a:cs typeface="Times New Roman"/>
            </a:endParaRPr>
          </a:p>
          <a:p>
            <a:endParaRPr lang="en-US" sz="1800" dirty="0">
              <a:latin typeface="+mj-lt"/>
            </a:endParaRPr>
          </a:p>
        </p:txBody>
      </p:sp>
      <p:sp>
        <p:nvSpPr>
          <p:cNvPr id="4" name="Date Placeholder 3"/>
          <p:cNvSpPr>
            <a:spLocks noGrp="1"/>
          </p:cNvSpPr>
          <p:nvPr>
            <p:ph type="dt" sz="half" idx="10"/>
          </p:nvPr>
        </p:nvSpPr>
        <p:spPr/>
        <p:txBody>
          <a:bodyPr/>
          <a:lstStyle/>
          <a:p>
            <a:fld id="{7387F9A4-19B4-457F-A6C4-0C31DE15DE40}"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1534507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marL="494030" lvl="1" algn="l">
              <a:lnSpc>
                <a:spcPct val="100000"/>
              </a:lnSpc>
              <a:spcBef>
                <a:spcPts val="220"/>
              </a:spcBef>
              <a:tabLst>
                <a:tab pos="723265" algn="l"/>
                <a:tab pos="724535" algn="l"/>
              </a:tabLst>
            </a:pPr>
            <a:r>
              <a:rPr lang="en-US" sz="2800" b="1" spc="-5" dirty="0">
                <a:solidFill>
                  <a:srgbClr val="00B050"/>
                </a:solidFill>
                <a:latin typeface="+mj-lt"/>
                <a:cs typeface="Times New Roman"/>
              </a:rPr>
              <a:t>1. Data</a:t>
            </a:r>
            <a:r>
              <a:rPr lang="en-US" sz="2800" b="1" spc="-15" dirty="0">
                <a:solidFill>
                  <a:srgbClr val="00B050"/>
                </a:solidFill>
                <a:latin typeface="+mj-lt"/>
                <a:cs typeface="Times New Roman"/>
              </a:rPr>
              <a:t> </a:t>
            </a:r>
            <a:r>
              <a:rPr lang="en-US" sz="2800" b="1" spc="-5" dirty="0">
                <a:solidFill>
                  <a:srgbClr val="00B050"/>
                </a:solidFill>
                <a:latin typeface="+mj-lt"/>
                <a:cs typeface="Times New Roman"/>
              </a:rPr>
              <a:t>Transfer</a:t>
            </a:r>
            <a:r>
              <a:rPr lang="en-US" sz="2800" b="1" spc="-25" dirty="0">
                <a:solidFill>
                  <a:srgbClr val="00B050"/>
                </a:solidFill>
                <a:latin typeface="+mj-lt"/>
                <a:cs typeface="Times New Roman"/>
              </a:rPr>
              <a:t> </a:t>
            </a:r>
            <a:r>
              <a:rPr lang="en-US" sz="2800" b="1" spc="-5" dirty="0">
                <a:solidFill>
                  <a:srgbClr val="00B050"/>
                </a:solidFill>
                <a:latin typeface="+mj-lt"/>
                <a:cs typeface="Times New Roman"/>
              </a:rPr>
              <a:t>Operations</a:t>
            </a:r>
            <a:endParaRPr lang="en-US" sz="2800" b="1" dirty="0">
              <a:solidFill>
                <a:srgbClr val="00B050"/>
              </a:solidFill>
              <a:latin typeface="+mj-lt"/>
              <a:cs typeface="Times New Roman"/>
            </a:endParaRPr>
          </a:p>
        </p:txBody>
      </p:sp>
      <p:sp>
        <p:nvSpPr>
          <p:cNvPr id="3" name="Content Placeholder 2"/>
          <p:cNvSpPr>
            <a:spLocks noGrp="1"/>
          </p:cNvSpPr>
          <p:nvPr>
            <p:ph idx="1"/>
          </p:nvPr>
        </p:nvSpPr>
        <p:spPr>
          <a:xfrm>
            <a:off x="457200" y="742950"/>
            <a:ext cx="7848600" cy="3851673"/>
          </a:xfrm>
          <a:noFill/>
        </p:spPr>
        <p:txBody>
          <a:bodyPr>
            <a:noAutofit/>
          </a:bodyPr>
          <a:lstStyle/>
          <a:p>
            <a:r>
              <a:rPr lang="en-US" sz="1800" dirty="0">
                <a:latin typeface="+mj-lt"/>
              </a:rPr>
              <a:t>Data transfer instructions are the </a:t>
            </a:r>
            <a:r>
              <a:rPr lang="en-US" sz="1800" dirty="0">
                <a:solidFill>
                  <a:srgbClr val="C00000"/>
                </a:solidFill>
                <a:latin typeface="+mj-lt"/>
              </a:rPr>
              <a:t>instructions that transfer data </a:t>
            </a:r>
            <a:r>
              <a:rPr lang="en-US" sz="1800" dirty="0">
                <a:latin typeface="+mj-lt"/>
              </a:rPr>
              <a:t>in the microprocessor. </a:t>
            </a:r>
          </a:p>
          <a:p>
            <a:r>
              <a:rPr lang="en-US" sz="1800" dirty="0">
                <a:latin typeface="+mj-lt"/>
              </a:rPr>
              <a:t>They are </a:t>
            </a:r>
            <a:r>
              <a:rPr lang="en-US" sz="1800" dirty="0">
                <a:solidFill>
                  <a:srgbClr val="C00000"/>
                </a:solidFill>
                <a:latin typeface="+mj-lt"/>
              </a:rPr>
              <a:t>also called copy instructions</a:t>
            </a:r>
            <a:r>
              <a:rPr lang="en-US" sz="1800" dirty="0">
                <a:latin typeface="+mj-lt"/>
              </a:rPr>
              <a:t>.</a:t>
            </a:r>
          </a:p>
          <a:p>
            <a:r>
              <a:rPr lang="en-US" sz="1800" spc="-5" dirty="0">
                <a:latin typeface="+mj-lt"/>
                <a:cs typeface="Times New Roman"/>
              </a:rPr>
              <a:t>The</a:t>
            </a:r>
            <a:r>
              <a:rPr lang="en-US" sz="1800" spc="-15" dirty="0">
                <a:latin typeface="+mj-lt"/>
                <a:cs typeface="Times New Roman"/>
              </a:rPr>
              <a:t> </a:t>
            </a:r>
            <a:r>
              <a:rPr lang="en-US" sz="1800" spc="-5" dirty="0">
                <a:latin typeface="+mj-lt"/>
                <a:cs typeface="Times New Roman"/>
              </a:rPr>
              <a:t>data</a:t>
            </a:r>
            <a:r>
              <a:rPr lang="en-US" sz="1800" spc="-25" dirty="0">
                <a:latin typeface="+mj-lt"/>
                <a:cs typeface="Times New Roman"/>
              </a:rPr>
              <a:t> </a:t>
            </a:r>
            <a:r>
              <a:rPr lang="en-US" sz="1800" spc="-5" dirty="0">
                <a:latin typeface="+mj-lt"/>
                <a:cs typeface="Times New Roman"/>
              </a:rPr>
              <a:t>in</a:t>
            </a:r>
            <a:r>
              <a:rPr lang="en-US" sz="1800" spc="-20" dirty="0">
                <a:latin typeface="+mj-lt"/>
                <a:cs typeface="Times New Roman"/>
              </a:rPr>
              <a:t> </a:t>
            </a:r>
            <a:r>
              <a:rPr lang="en-US" sz="1800" dirty="0">
                <a:latin typeface="+mj-lt"/>
                <a:cs typeface="Times New Roman"/>
              </a:rPr>
              <a:t>the</a:t>
            </a:r>
            <a:r>
              <a:rPr lang="en-US" sz="1800" spc="-15" dirty="0">
                <a:latin typeface="+mj-lt"/>
                <a:cs typeface="Times New Roman"/>
              </a:rPr>
              <a:t> </a:t>
            </a:r>
            <a:r>
              <a:rPr lang="en-US" sz="1800" spc="-5" dirty="0">
                <a:latin typeface="+mj-lt"/>
                <a:cs typeface="Times New Roman"/>
              </a:rPr>
              <a:t>source</a:t>
            </a:r>
            <a:r>
              <a:rPr lang="en-US" sz="1800" spc="-10" dirty="0">
                <a:latin typeface="+mj-lt"/>
                <a:cs typeface="Times New Roman"/>
              </a:rPr>
              <a:t> </a:t>
            </a:r>
            <a:r>
              <a:rPr lang="en-US" sz="1800" spc="-5" dirty="0">
                <a:latin typeface="+mj-lt"/>
                <a:cs typeface="Times New Roman"/>
              </a:rPr>
              <a:t>is</a:t>
            </a:r>
            <a:r>
              <a:rPr lang="en-US" sz="1800" spc="5" dirty="0">
                <a:solidFill>
                  <a:srgbClr val="990000"/>
                </a:solidFill>
                <a:latin typeface="+mj-lt"/>
                <a:cs typeface="Times New Roman"/>
              </a:rPr>
              <a:t> </a:t>
            </a:r>
            <a:r>
              <a:rPr lang="en-US" sz="1800" u="heavy" dirty="0">
                <a:solidFill>
                  <a:srgbClr val="990000"/>
                </a:solidFill>
                <a:uFill>
                  <a:solidFill>
                    <a:srgbClr val="990000"/>
                  </a:solidFill>
                </a:uFill>
                <a:latin typeface="+mj-lt"/>
                <a:cs typeface="Times New Roman"/>
              </a:rPr>
              <a:t>not</a:t>
            </a:r>
            <a:r>
              <a:rPr lang="en-US" sz="1800" u="heavy" spc="-15" dirty="0">
                <a:solidFill>
                  <a:srgbClr val="990000"/>
                </a:solidFill>
                <a:uFill>
                  <a:solidFill>
                    <a:srgbClr val="990000"/>
                  </a:solidFill>
                </a:uFill>
                <a:latin typeface="+mj-lt"/>
                <a:cs typeface="Times New Roman"/>
              </a:rPr>
              <a:t> </a:t>
            </a:r>
            <a:r>
              <a:rPr lang="en-US" sz="1800" u="heavy" dirty="0">
                <a:solidFill>
                  <a:srgbClr val="990000"/>
                </a:solidFill>
                <a:uFill>
                  <a:solidFill>
                    <a:srgbClr val="990000"/>
                  </a:solidFill>
                </a:uFill>
                <a:latin typeface="+mj-lt"/>
                <a:cs typeface="Times New Roman"/>
              </a:rPr>
              <a:t>changed</a:t>
            </a:r>
            <a:r>
              <a:rPr lang="en-US" sz="1800" dirty="0">
                <a:latin typeface="+mj-lt"/>
                <a:cs typeface="Times New Roman"/>
              </a:rPr>
              <a:t>.</a:t>
            </a:r>
          </a:p>
          <a:p>
            <a:pPr marL="298450" indent="-286385">
              <a:lnSpc>
                <a:spcPct val="100000"/>
              </a:lnSpc>
              <a:buChar char="–"/>
              <a:tabLst>
                <a:tab pos="298450" algn="l"/>
                <a:tab pos="299085" algn="l"/>
              </a:tabLst>
            </a:pPr>
            <a:r>
              <a:rPr lang="en-US" sz="1800" spc="-5" dirty="0">
                <a:latin typeface="+mj-lt"/>
                <a:cs typeface="Times New Roman"/>
              </a:rPr>
              <a:t>They</a:t>
            </a:r>
            <a:r>
              <a:rPr lang="en-US" sz="1800" spc="-45" dirty="0">
                <a:latin typeface="+mj-lt"/>
                <a:cs typeface="Times New Roman"/>
              </a:rPr>
              <a:t> </a:t>
            </a:r>
            <a:r>
              <a:rPr lang="en-US" sz="1800" spc="-5" dirty="0">
                <a:latin typeface="+mj-lt"/>
                <a:cs typeface="Times New Roman"/>
              </a:rPr>
              <a:t>transfer:</a:t>
            </a:r>
            <a:endParaRPr lang="en-US" sz="1800" dirty="0">
              <a:latin typeface="+mj-lt"/>
              <a:cs typeface="Times New Roman"/>
            </a:endParaRPr>
          </a:p>
          <a:p>
            <a:pPr marL="698500" lvl="1" indent="-229870">
              <a:lnSpc>
                <a:spcPct val="100000"/>
              </a:lnSpc>
              <a:spcBef>
                <a:spcPts val="254"/>
              </a:spcBef>
              <a:buChar char="•"/>
              <a:tabLst>
                <a:tab pos="697865" algn="l"/>
                <a:tab pos="699135" algn="l"/>
              </a:tabLst>
            </a:pPr>
            <a:r>
              <a:rPr lang="en-US" sz="1800" spc="-5" dirty="0">
                <a:latin typeface="+mj-lt"/>
                <a:cs typeface="Times New Roman"/>
              </a:rPr>
              <a:t>Data</a:t>
            </a:r>
            <a:r>
              <a:rPr lang="en-US" sz="1800" spc="-20" dirty="0">
                <a:latin typeface="+mj-lt"/>
                <a:cs typeface="Times New Roman"/>
              </a:rPr>
              <a:t> </a:t>
            </a:r>
            <a:r>
              <a:rPr lang="en-US" sz="1800" spc="-5" dirty="0">
                <a:latin typeface="+mj-lt"/>
                <a:cs typeface="Times New Roman"/>
              </a:rPr>
              <a:t>between</a:t>
            </a:r>
            <a:r>
              <a:rPr lang="en-US" sz="1800" spc="-20" dirty="0">
                <a:latin typeface="+mj-lt"/>
                <a:cs typeface="Times New Roman"/>
              </a:rPr>
              <a:t> </a:t>
            </a:r>
            <a:r>
              <a:rPr lang="en-US" sz="1800" spc="-5" dirty="0">
                <a:latin typeface="+mj-lt"/>
                <a:cs typeface="Times New Roman"/>
              </a:rPr>
              <a:t>registers.</a:t>
            </a:r>
            <a:endParaRPr lang="en-US" sz="1800" dirty="0">
              <a:latin typeface="+mj-lt"/>
              <a:cs typeface="Times New Roman"/>
            </a:endParaRPr>
          </a:p>
          <a:p>
            <a:pPr marL="698500" lvl="1" indent="-229870">
              <a:lnSpc>
                <a:spcPct val="100000"/>
              </a:lnSpc>
              <a:spcBef>
                <a:spcPts val="240"/>
              </a:spcBef>
              <a:buChar char="•"/>
              <a:tabLst>
                <a:tab pos="697865" algn="l"/>
                <a:tab pos="699135" algn="l"/>
              </a:tabLst>
            </a:pPr>
            <a:r>
              <a:rPr lang="en-US" sz="1800" spc="-5" dirty="0">
                <a:latin typeface="+mj-lt"/>
                <a:cs typeface="Times New Roman"/>
              </a:rPr>
              <a:t>Data Byte to a</a:t>
            </a:r>
            <a:r>
              <a:rPr lang="en-US" sz="1800" dirty="0">
                <a:latin typeface="+mj-lt"/>
                <a:cs typeface="Times New Roman"/>
              </a:rPr>
              <a:t> </a:t>
            </a:r>
            <a:r>
              <a:rPr lang="en-US" sz="1800" spc="-5" dirty="0">
                <a:latin typeface="+mj-lt"/>
                <a:cs typeface="Times New Roman"/>
              </a:rPr>
              <a:t>register</a:t>
            </a:r>
            <a:r>
              <a:rPr lang="en-US" sz="1800" spc="-30" dirty="0">
                <a:latin typeface="+mj-lt"/>
                <a:cs typeface="Times New Roman"/>
              </a:rPr>
              <a:t> </a:t>
            </a:r>
            <a:r>
              <a:rPr lang="en-US" sz="1800" spc="-5" dirty="0">
                <a:latin typeface="+mj-lt"/>
                <a:cs typeface="Times New Roman"/>
              </a:rPr>
              <a:t>or</a:t>
            </a:r>
            <a:r>
              <a:rPr lang="en-US" sz="1800" dirty="0">
                <a:latin typeface="+mj-lt"/>
                <a:cs typeface="Times New Roman"/>
              </a:rPr>
              <a:t> </a:t>
            </a:r>
            <a:r>
              <a:rPr lang="en-US" sz="1800" spc="-5" dirty="0">
                <a:latin typeface="+mj-lt"/>
                <a:cs typeface="Times New Roman"/>
              </a:rPr>
              <a:t>memory</a:t>
            </a:r>
            <a:r>
              <a:rPr lang="en-US" sz="1800" spc="-15" dirty="0">
                <a:latin typeface="+mj-lt"/>
                <a:cs typeface="Times New Roman"/>
              </a:rPr>
              <a:t> </a:t>
            </a:r>
            <a:r>
              <a:rPr lang="en-US" sz="1800" spc="-5" dirty="0">
                <a:latin typeface="+mj-lt"/>
                <a:cs typeface="Times New Roman"/>
              </a:rPr>
              <a:t>location.</a:t>
            </a:r>
            <a:endParaRPr lang="en-US" sz="1800" dirty="0">
              <a:latin typeface="+mj-lt"/>
              <a:cs typeface="Times New Roman"/>
            </a:endParaRPr>
          </a:p>
          <a:p>
            <a:pPr marL="698500" lvl="1" indent="-229870">
              <a:lnSpc>
                <a:spcPct val="100000"/>
              </a:lnSpc>
              <a:spcBef>
                <a:spcPts val="240"/>
              </a:spcBef>
              <a:buChar char="•"/>
              <a:tabLst>
                <a:tab pos="697865" algn="l"/>
                <a:tab pos="699135" algn="l"/>
              </a:tabLst>
            </a:pPr>
            <a:r>
              <a:rPr lang="en-US" sz="1800" spc="-5" dirty="0">
                <a:latin typeface="+mj-lt"/>
                <a:cs typeface="Times New Roman"/>
              </a:rPr>
              <a:t>Data between a</a:t>
            </a:r>
            <a:r>
              <a:rPr lang="en-US" sz="1800" spc="5" dirty="0">
                <a:latin typeface="+mj-lt"/>
                <a:cs typeface="Times New Roman"/>
              </a:rPr>
              <a:t> </a:t>
            </a:r>
            <a:r>
              <a:rPr lang="en-US" sz="1800" spc="-5" dirty="0">
                <a:latin typeface="+mj-lt"/>
                <a:cs typeface="Times New Roman"/>
              </a:rPr>
              <a:t>memory</a:t>
            </a:r>
            <a:r>
              <a:rPr lang="en-US" sz="1800" spc="-15" dirty="0">
                <a:latin typeface="+mj-lt"/>
                <a:cs typeface="Times New Roman"/>
              </a:rPr>
              <a:t> </a:t>
            </a:r>
            <a:r>
              <a:rPr lang="en-US" sz="1800" spc="-5" dirty="0">
                <a:latin typeface="+mj-lt"/>
                <a:cs typeface="Times New Roman"/>
              </a:rPr>
              <a:t>location</a:t>
            </a:r>
            <a:r>
              <a:rPr lang="en-US" sz="1800" spc="-20" dirty="0">
                <a:latin typeface="+mj-lt"/>
                <a:cs typeface="Times New Roman"/>
              </a:rPr>
              <a:t> </a:t>
            </a:r>
            <a:r>
              <a:rPr lang="en-US" sz="1800" spc="-5" dirty="0">
                <a:latin typeface="+mj-lt"/>
                <a:cs typeface="Times New Roman"/>
              </a:rPr>
              <a:t>and a</a:t>
            </a:r>
            <a:r>
              <a:rPr lang="en-US" sz="1800" dirty="0">
                <a:latin typeface="+mj-lt"/>
                <a:cs typeface="Times New Roman"/>
              </a:rPr>
              <a:t> </a:t>
            </a:r>
            <a:r>
              <a:rPr lang="en-US" sz="1800" spc="-5" dirty="0">
                <a:latin typeface="+mj-lt"/>
                <a:cs typeface="Times New Roman"/>
              </a:rPr>
              <a:t>register.</a:t>
            </a:r>
            <a:endParaRPr lang="en-US" sz="1800" dirty="0">
              <a:latin typeface="+mj-lt"/>
              <a:cs typeface="Times New Roman"/>
            </a:endParaRPr>
          </a:p>
          <a:p>
            <a:pPr marL="698500" lvl="1" indent="-229235">
              <a:lnSpc>
                <a:spcPct val="100000"/>
              </a:lnSpc>
              <a:spcBef>
                <a:spcPts val="240"/>
              </a:spcBef>
              <a:buChar char="•"/>
              <a:tabLst>
                <a:tab pos="697865" algn="l"/>
                <a:tab pos="698500" algn="l"/>
              </a:tabLst>
            </a:pPr>
            <a:r>
              <a:rPr lang="en-US" sz="1800" spc="-5" dirty="0">
                <a:latin typeface="+mj-lt"/>
                <a:cs typeface="Times New Roman"/>
              </a:rPr>
              <a:t>Data between an </a:t>
            </a:r>
            <a:r>
              <a:rPr lang="en-US" sz="1800" dirty="0">
                <a:latin typeface="+mj-lt"/>
                <a:cs typeface="Times New Roman"/>
              </a:rPr>
              <a:t>I\O </a:t>
            </a:r>
            <a:r>
              <a:rPr lang="en-US" sz="1800" spc="-5" dirty="0">
                <a:latin typeface="+mj-lt"/>
                <a:cs typeface="Times New Roman"/>
              </a:rPr>
              <a:t>Device</a:t>
            </a:r>
            <a:r>
              <a:rPr lang="en-US" sz="1800" dirty="0">
                <a:latin typeface="+mj-lt"/>
                <a:cs typeface="Times New Roman"/>
              </a:rPr>
              <a:t> </a:t>
            </a:r>
            <a:r>
              <a:rPr lang="en-US" sz="1800" spc="-5" dirty="0">
                <a:latin typeface="+mj-lt"/>
                <a:cs typeface="Times New Roman"/>
              </a:rPr>
              <a:t>and the accumulator.</a:t>
            </a:r>
            <a:endParaRPr lang="en-US" sz="1800" dirty="0">
              <a:latin typeface="+mj-lt"/>
              <a:cs typeface="Times New Roman"/>
            </a:endParaRPr>
          </a:p>
          <a:p>
            <a:r>
              <a:rPr lang="en-US" sz="1800" dirty="0">
                <a:latin typeface="+mj-lt"/>
              </a:rPr>
              <a:t>Some of the Data transfer instruction are: MVI, LDA, STA,XCH, PUSH, POP,….</a:t>
            </a:r>
          </a:p>
          <a:p>
            <a:endParaRPr lang="en-US" sz="1800" dirty="0">
              <a:latin typeface="+mj-lt"/>
            </a:endParaRPr>
          </a:p>
        </p:txBody>
      </p:sp>
      <p:sp>
        <p:nvSpPr>
          <p:cNvPr id="4" name="Date Placeholder 3"/>
          <p:cNvSpPr>
            <a:spLocks noGrp="1"/>
          </p:cNvSpPr>
          <p:nvPr>
            <p:ph type="dt" sz="half" idx="10"/>
          </p:nvPr>
        </p:nvSpPr>
        <p:spPr/>
        <p:txBody>
          <a:bodyPr/>
          <a:lstStyle/>
          <a:p>
            <a:fld id="{53D06F20-D747-4E0D-8DC7-37B939B64D12}"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357042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marL="494030" lvl="1">
              <a:lnSpc>
                <a:spcPct val="100000"/>
              </a:lnSpc>
              <a:spcBef>
                <a:spcPts val="220"/>
              </a:spcBef>
              <a:tabLst>
                <a:tab pos="723265" algn="l"/>
                <a:tab pos="724535" algn="l"/>
              </a:tabLst>
            </a:pPr>
            <a:endParaRPr lang="en-US" sz="2000" dirty="0">
              <a:cs typeface="Times New Roman"/>
            </a:endParaRPr>
          </a:p>
        </p:txBody>
      </p:sp>
      <p:sp>
        <p:nvSpPr>
          <p:cNvPr id="4" name="Date Placeholder 3"/>
          <p:cNvSpPr>
            <a:spLocks noGrp="1"/>
          </p:cNvSpPr>
          <p:nvPr>
            <p:ph type="dt" sz="half" idx="10"/>
          </p:nvPr>
        </p:nvSpPr>
        <p:spPr>
          <a:xfrm>
            <a:off x="457200" y="4767263"/>
            <a:ext cx="2133600" cy="273844"/>
          </a:xfrm>
        </p:spPr>
        <p:txBody>
          <a:bodyPr/>
          <a:lstStyle/>
          <a:p>
            <a:fld id="{2A1512E8-0F5C-4A0E-9C98-5A1FA2EDF95F}" type="datetime1">
              <a:rPr lang="en-US" smtClean="0"/>
              <a:t>8/1/2023</a:t>
            </a:fld>
            <a:endParaRPr lang="en-US"/>
          </a:p>
        </p:txBody>
      </p:sp>
      <p:sp>
        <p:nvSpPr>
          <p:cNvPr id="5" name="Slide Number Placeholder 4"/>
          <p:cNvSpPr>
            <a:spLocks noGrp="1"/>
          </p:cNvSpPr>
          <p:nvPr>
            <p:ph type="sldNum" sz="quarter" idx="12"/>
          </p:nvPr>
        </p:nvSpPr>
        <p:spPr>
          <a:xfrm>
            <a:off x="6553200" y="4767263"/>
            <a:ext cx="2133600" cy="273844"/>
          </a:xfrm>
        </p:spPr>
        <p:txBody>
          <a:bodyPr/>
          <a:lstStyle/>
          <a:p>
            <a:fld id="{B6F15528-21DE-4FAA-801E-634DDDAF4B2B}" type="slidenum">
              <a:rPr lang="en-US" smtClean="0"/>
              <a:pPr/>
              <a:t>21</a:t>
            </a:fld>
            <a:endParaRPr lang="en-US"/>
          </a:p>
        </p:txBody>
      </p:sp>
      <p:sp>
        <p:nvSpPr>
          <p:cNvPr id="6" name="Footer Placeholder 5"/>
          <p:cNvSpPr>
            <a:spLocks noGrp="1"/>
          </p:cNvSpPr>
          <p:nvPr>
            <p:ph type="ftr" sz="quarter" idx="11"/>
          </p:nvPr>
        </p:nvSpPr>
        <p:spPr>
          <a:xfrm>
            <a:off x="3124200" y="4767263"/>
            <a:ext cx="2895600" cy="273844"/>
          </a:xfrm>
        </p:spPr>
        <p:txBody>
          <a:bodyPr/>
          <a:lstStyle/>
          <a:p>
            <a:r>
              <a:rPr lang="en-US"/>
              <a:t>Architectural Details and Assembly Language Programming of 8085 MPU</a:t>
            </a:r>
          </a:p>
        </p:txBody>
      </p:sp>
      <p:graphicFrame>
        <p:nvGraphicFramePr>
          <p:cNvPr id="7" name="Table 6">
            <a:extLst>
              <a:ext uri="{FF2B5EF4-FFF2-40B4-BE49-F238E27FC236}">
                <a16:creationId xmlns:a16="http://schemas.microsoft.com/office/drawing/2014/main" id="{D2DB8915-F761-4C28-9AB1-B45EA1C7F9DC}"/>
              </a:ext>
            </a:extLst>
          </p:cNvPr>
          <p:cNvGraphicFramePr>
            <a:graphicFrameLocks noGrp="1"/>
          </p:cNvGraphicFramePr>
          <p:nvPr>
            <p:extLst>
              <p:ext uri="{D42A27DB-BD31-4B8C-83A1-F6EECF244321}">
                <p14:modId xmlns:p14="http://schemas.microsoft.com/office/powerpoint/2010/main" val="3382271858"/>
              </p:ext>
            </p:extLst>
          </p:nvPr>
        </p:nvGraphicFramePr>
        <p:xfrm>
          <a:off x="838200" y="677911"/>
          <a:ext cx="7696200" cy="4173485"/>
        </p:xfrm>
        <a:graphic>
          <a:graphicData uri="http://schemas.openxmlformats.org/drawingml/2006/table">
            <a:tbl>
              <a:tblPr/>
              <a:tblGrid>
                <a:gridCol w="685800">
                  <a:extLst>
                    <a:ext uri="{9D8B030D-6E8A-4147-A177-3AD203B41FA5}">
                      <a16:colId xmlns:a16="http://schemas.microsoft.com/office/drawing/2014/main" val="2590450569"/>
                    </a:ext>
                  </a:extLst>
                </a:gridCol>
                <a:gridCol w="1600200">
                  <a:extLst>
                    <a:ext uri="{9D8B030D-6E8A-4147-A177-3AD203B41FA5}">
                      <a16:colId xmlns:a16="http://schemas.microsoft.com/office/drawing/2014/main" val="1584257769"/>
                    </a:ext>
                  </a:extLst>
                </a:gridCol>
                <a:gridCol w="3657600">
                  <a:extLst>
                    <a:ext uri="{9D8B030D-6E8A-4147-A177-3AD203B41FA5}">
                      <a16:colId xmlns:a16="http://schemas.microsoft.com/office/drawing/2014/main" val="3669770380"/>
                    </a:ext>
                  </a:extLst>
                </a:gridCol>
                <a:gridCol w="1752600">
                  <a:extLst>
                    <a:ext uri="{9D8B030D-6E8A-4147-A177-3AD203B41FA5}">
                      <a16:colId xmlns:a16="http://schemas.microsoft.com/office/drawing/2014/main" val="2640425546"/>
                    </a:ext>
                  </a:extLst>
                </a:gridCol>
              </a:tblGrid>
              <a:tr h="142798">
                <a:tc>
                  <a:txBody>
                    <a:bodyPr/>
                    <a:lstStyle/>
                    <a:p>
                      <a:pPr fontAlgn="base"/>
                      <a:r>
                        <a:rPr lang="en-US" sz="1100" b="1" dirty="0">
                          <a:effectLst/>
                        </a:rPr>
                        <a:t>Opcode</a:t>
                      </a:r>
                      <a:endParaRPr lang="en-US" sz="1100" dirty="0">
                        <a:effectLst/>
                      </a:endParaRPr>
                    </a:p>
                  </a:txBody>
                  <a:tcPr marL="3374" marR="3374" marT="3374" marB="3374" anchor="ctr">
                    <a:lnL>
                      <a:noFill/>
                    </a:lnL>
                    <a:lnR>
                      <a:noFill/>
                    </a:lnR>
                    <a:lnT>
                      <a:noFill/>
                    </a:lnT>
                    <a:lnB>
                      <a:noFill/>
                    </a:lnB>
                    <a:solidFill>
                      <a:schemeClr val="bg1">
                        <a:lumMod val="85000"/>
                      </a:schemeClr>
                    </a:solidFill>
                  </a:tcPr>
                </a:tc>
                <a:tc>
                  <a:txBody>
                    <a:bodyPr/>
                    <a:lstStyle/>
                    <a:p>
                      <a:pPr fontAlgn="base"/>
                      <a:r>
                        <a:rPr lang="en-US" sz="1100" b="1">
                          <a:effectLst/>
                        </a:rPr>
                        <a:t> Operand</a:t>
                      </a:r>
                      <a:endParaRPr lang="en-US" sz="1100">
                        <a:effectLst/>
                      </a:endParaRPr>
                    </a:p>
                  </a:txBody>
                  <a:tcPr marL="3374" marR="3374" marT="3374" marB="3374" anchor="ctr">
                    <a:lnL>
                      <a:noFill/>
                    </a:lnL>
                    <a:lnR>
                      <a:noFill/>
                    </a:lnR>
                    <a:lnT>
                      <a:noFill/>
                    </a:lnT>
                    <a:lnB>
                      <a:noFill/>
                    </a:lnB>
                    <a:solidFill>
                      <a:schemeClr val="bg1">
                        <a:lumMod val="85000"/>
                      </a:schemeClr>
                    </a:solidFill>
                  </a:tcPr>
                </a:tc>
                <a:tc>
                  <a:txBody>
                    <a:bodyPr/>
                    <a:lstStyle/>
                    <a:p>
                      <a:pPr fontAlgn="base"/>
                      <a:r>
                        <a:rPr lang="en-US" sz="1100" b="1">
                          <a:effectLst/>
                        </a:rPr>
                        <a:t>Explanation of Instruction</a:t>
                      </a:r>
                      <a:endParaRPr lang="en-US" sz="1100">
                        <a:effectLst/>
                      </a:endParaRPr>
                    </a:p>
                  </a:txBody>
                  <a:tcPr marL="3374" marR="3374" marT="3374" marB="3374" anchor="ctr">
                    <a:lnL>
                      <a:noFill/>
                    </a:lnL>
                    <a:lnR>
                      <a:noFill/>
                    </a:lnR>
                    <a:lnT>
                      <a:noFill/>
                    </a:lnT>
                    <a:lnB>
                      <a:noFill/>
                    </a:lnB>
                    <a:solidFill>
                      <a:schemeClr val="bg1">
                        <a:lumMod val="85000"/>
                      </a:schemeClr>
                    </a:solidFill>
                  </a:tcPr>
                </a:tc>
                <a:tc>
                  <a:txBody>
                    <a:bodyPr/>
                    <a:lstStyle/>
                    <a:p>
                      <a:pPr fontAlgn="base"/>
                      <a:r>
                        <a:rPr lang="en-US" sz="1100" b="1" dirty="0">
                          <a:effectLst/>
                        </a:rPr>
                        <a:t> Example</a:t>
                      </a:r>
                      <a:endParaRPr lang="en-US" sz="1100" dirty="0">
                        <a:effectLst/>
                      </a:endParaRPr>
                    </a:p>
                  </a:txBody>
                  <a:tcPr marL="3374" marR="3374" marT="3374" marB="3374" anchor="ctr">
                    <a:lnL>
                      <a:noFill/>
                    </a:lnL>
                    <a:lnR>
                      <a:noFill/>
                    </a:lnR>
                    <a:lnT>
                      <a:noFill/>
                    </a:lnT>
                    <a:lnB>
                      <a:noFill/>
                    </a:lnB>
                    <a:solidFill>
                      <a:schemeClr val="bg1">
                        <a:lumMod val="85000"/>
                      </a:schemeClr>
                    </a:solidFill>
                  </a:tcPr>
                </a:tc>
                <a:extLst>
                  <a:ext uri="{0D108BD9-81ED-4DB2-BD59-A6C34878D82A}">
                    <a16:rowId xmlns:a16="http://schemas.microsoft.com/office/drawing/2014/main" val="1009411908"/>
                  </a:ext>
                </a:extLst>
              </a:tr>
              <a:tr h="416285">
                <a:tc>
                  <a:txBody>
                    <a:bodyPr/>
                    <a:lstStyle/>
                    <a:p>
                      <a:pPr fontAlgn="base"/>
                      <a:r>
                        <a:rPr lang="en-US" sz="1100">
                          <a:effectLst/>
                        </a:rPr>
                        <a:t> </a:t>
                      </a:r>
                      <a:r>
                        <a:rPr lang="en-US" sz="1100" b="1">
                          <a:effectLst/>
                        </a:rPr>
                        <a:t>MOV</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dirty="0">
                          <a:effectLst/>
                        </a:rPr>
                        <a:t> </a:t>
                      </a:r>
                      <a:r>
                        <a:rPr lang="en-US" sz="1100" b="1" dirty="0">
                          <a:effectLst/>
                        </a:rPr>
                        <a:t>Rd, Rs</a:t>
                      </a:r>
                      <a:endParaRPr lang="en-US" sz="1100" dirty="0">
                        <a:effectLst/>
                      </a:endParaRPr>
                    </a:p>
                    <a:p>
                      <a:pPr fontAlgn="base"/>
                      <a:r>
                        <a:rPr lang="en-US" sz="1100" b="1" dirty="0">
                          <a:effectLst/>
                        </a:rPr>
                        <a:t>M, Rs</a:t>
                      </a:r>
                      <a:endParaRPr lang="en-US" sz="1100" dirty="0">
                        <a:effectLst/>
                      </a:endParaRPr>
                    </a:p>
                    <a:p>
                      <a:pPr fontAlgn="base"/>
                      <a:r>
                        <a:rPr lang="en-US" sz="1100" b="1" dirty="0">
                          <a:effectLst/>
                        </a:rPr>
                        <a:t>Rd, M</a:t>
                      </a:r>
                      <a:endParaRPr lang="en-US" sz="1100" dirty="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Copy from source(Rs) to destination(Rd)</a:t>
                      </a: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MOV B, C or MOV B, M</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1010254557"/>
                  </a:ext>
                </a:extLst>
              </a:tr>
              <a:tr h="279542">
                <a:tc>
                  <a:txBody>
                    <a:bodyPr/>
                    <a:lstStyle/>
                    <a:p>
                      <a:pPr fontAlgn="base"/>
                      <a:r>
                        <a:rPr lang="en-US" sz="1100" b="1" dirty="0">
                          <a:effectLst/>
                        </a:rPr>
                        <a:t> MVI</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 Rd, data</a:t>
                      </a:r>
                      <a:endParaRPr lang="en-US" sz="1100" dirty="0">
                        <a:effectLst/>
                      </a:endParaRPr>
                    </a:p>
                    <a:p>
                      <a:pPr fontAlgn="base"/>
                      <a:r>
                        <a:rPr lang="en-US" sz="1100" b="1" dirty="0">
                          <a:effectLst/>
                        </a:rPr>
                        <a:t>M, data</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Move immediate 8-bit</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MVI B, 57H or MVI M, 57H</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788005849"/>
                  </a:ext>
                </a:extLst>
              </a:tr>
              <a:tr h="145303">
                <a:tc>
                  <a:txBody>
                    <a:bodyPr/>
                    <a:lstStyle/>
                    <a:p>
                      <a:pPr fontAlgn="base"/>
                      <a:r>
                        <a:rPr lang="en-US" sz="1100" b="1" dirty="0">
                          <a:effectLst/>
                        </a:rPr>
                        <a:t> LDA</a:t>
                      </a:r>
                      <a:endParaRPr lang="en-US" sz="1100" dirty="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 16-bit address</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Load accumulator</a:t>
                      </a: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LDA 2034H</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1808311626"/>
                  </a:ext>
                </a:extLst>
              </a:tr>
              <a:tr h="191466">
                <a:tc>
                  <a:txBody>
                    <a:bodyPr/>
                    <a:lstStyle/>
                    <a:p>
                      <a:pPr fontAlgn="base"/>
                      <a:r>
                        <a:rPr lang="en-US" sz="1100" b="1">
                          <a:effectLst/>
                        </a:rPr>
                        <a:t> LDAX</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 B/D Reg. pair</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Load accumulator indirect</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LDAX B</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976321360"/>
                  </a:ext>
                </a:extLst>
              </a:tr>
              <a:tr h="175436">
                <a:tc>
                  <a:txBody>
                    <a:bodyPr/>
                    <a:lstStyle/>
                    <a:p>
                      <a:pPr fontAlgn="base"/>
                      <a:r>
                        <a:rPr lang="en-US" sz="1100" b="1">
                          <a:effectLst/>
                        </a:rPr>
                        <a:t> LXI</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 Reg. pair, 16-bit data</a:t>
                      </a:r>
                      <a:endParaRPr lang="en-US" sz="1100" dirty="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Load register pair immediate</a:t>
                      </a: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LXI H, 2034H</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3168959711"/>
                  </a:ext>
                </a:extLst>
              </a:tr>
              <a:tr h="206854">
                <a:tc>
                  <a:txBody>
                    <a:bodyPr/>
                    <a:lstStyle/>
                    <a:p>
                      <a:pPr fontAlgn="base"/>
                      <a:r>
                        <a:rPr lang="en-US" sz="1100" b="1">
                          <a:effectLst/>
                        </a:rPr>
                        <a:t> LHLD</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 16-bit address</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Load H and L registers direct</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dirty="0">
                          <a:effectLst/>
                        </a:rPr>
                        <a:t> </a:t>
                      </a:r>
                      <a:r>
                        <a:rPr lang="en-US" sz="1100" b="1" dirty="0">
                          <a:effectLst/>
                        </a:rPr>
                        <a:t>LHLD 2040H</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952389782"/>
                  </a:ext>
                </a:extLst>
              </a:tr>
              <a:tr h="176078">
                <a:tc>
                  <a:txBody>
                    <a:bodyPr/>
                    <a:lstStyle/>
                    <a:p>
                      <a:pPr fontAlgn="base"/>
                      <a:r>
                        <a:rPr lang="en-US" sz="1100" b="1">
                          <a:effectLst/>
                        </a:rPr>
                        <a:t> STA</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 16-bit address</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16-bit address</a:t>
                      </a: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STA 4350H</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465247921"/>
                  </a:ext>
                </a:extLst>
              </a:tr>
              <a:tr h="160690">
                <a:tc>
                  <a:txBody>
                    <a:bodyPr/>
                    <a:lstStyle/>
                    <a:p>
                      <a:pPr fontAlgn="base"/>
                      <a:r>
                        <a:rPr lang="en-US" sz="1100" b="1">
                          <a:effectLst/>
                        </a:rPr>
                        <a:t> STAX</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 Reg. pair</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Store accumulator indirect</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STAX B</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851570198"/>
                  </a:ext>
                </a:extLst>
              </a:tr>
              <a:tr h="298070">
                <a:tc>
                  <a:txBody>
                    <a:bodyPr/>
                    <a:lstStyle/>
                    <a:p>
                      <a:pPr fontAlgn="base"/>
                      <a:r>
                        <a:rPr lang="en-US" sz="1100" b="1" dirty="0">
                          <a:effectLst/>
                        </a:rPr>
                        <a:t> SHLD</a:t>
                      </a:r>
                      <a:endParaRPr lang="en-US" sz="1100" dirty="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 16-bit address</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Store H and L registers direct</a:t>
                      </a: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SHLD 2470H</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3431067366"/>
                  </a:ext>
                </a:extLst>
              </a:tr>
              <a:tr h="145303">
                <a:tc>
                  <a:txBody>
                    <a:bodyPr/>
                    <a:lstStyle/>
                    <a:p>
                      <a:pPr fontAlgn="base"/>
                      <a:r>
                        <a:rPr lang="en-US" sz="1100" b="1">
                          <a:effectLst/>
                        </a:rPr>
                        <a:t>XCHG</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 none</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Exchange H and L with D and E</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XCHG</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70908755"/>
                  </a:ext>
                </a:extLst>
              </a:tr>
              <a:tr h="279542">
                <a:tc>
                  <a:txBody>
                    <a:bodyPr/>
                    <a:lstStyle/>
                    <a:p>
                      <a:pPr fontAlgn="base"/>
                      <a:r>
                        <a:rPr lang="en-US" sz="1100" b="1">
                          <a:effectLst/>
                        </a:rPr>
                        <a:t> SPHL</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none</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Copy H and L registers to the stack pointer</a:t>
                      </a:r>
                    </a:p>
                  </a:txBody>
                  <a:tcPr marL="3374" marR="3374" marT="3374" marB="3374" anchor="ctr">
                    <a:lnL>
                      <a:noFill/>
                    </a:lnL>
                    <a:lnR>
                      <a:noFill/>
                    </a:lnR>
                    <a:lnT>
                      <a:noFill/>
                    </a:lnT>
                    <a:lnB>
                      <a:noFill/>
                    </a:lnB>
                    <a:solidFill>
                      <a:srgbClr val="FFFFFF"/>
                    </a:solidFill>
                  </a:tcPr>
                </a:tc>
                <a:tc>
                  <a:txBody>
                    <a:bodyPr/>
                    <a:lstStyle/>
                    <a:p>
                      <a:pPr fontAlgn="base"/>
                      <a:br>
                        <a:rPr lang="en-US" sz="1100" dirty="0">
                          <a:effectLst/>
                        </a:rPr>
                      </a:br>
                      <a:r>
                        <a:rPr lang="en-US" sz="1100" b="1" dirty="0">
                          <a:effectLst/>
                        </a:rPr>
                        <a:t>SPHL</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4239373488"/>
                  </a:ext>
                </a:extLst>
              </a:tr>
              <a:tr h="222240">
                <a:tc>
                  <a:txBody>
                    <a:bodyPr/>
                    <a:lstStyle/>
                    <a:p>
                      <a:pPr fontAlgn="base"/>
                      <a:r>
                        <a:rPr lang="en-US" sz="1100" b="1">
                          <a:effectLst/>
                        </a:rPr>
                        <a:t> XTHL</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 none</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Exchange H and L with top of stack</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XTHL</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760544385"/>
                  </a:ext>
                </a:extLst>
              </a:tr>
              <a:tr h="299179">
                <a:tc>
                  <a:txBody>
                    <a:bodyPr/>
                    <a:lstStyle/>
                    <a:p>
                      <a:pPr fontAlgn="base"/>
                      <a:r>
                        <a:rPr lang="en-US" sz="1100" b="1">
                          <a:effectLst/>
                        </a:rPr>
                        <a:t> PUSH</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 Reg. pair</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Push register pair onto stack</a:t>
                      </a: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PUSH B or PUSH A</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174233640"/>
                  </a:ext>
                </a:extLst>
              </a:tr>
              <a:tr h="283792">
                <a:tc>
                  <a:txBody>
                    <a:bodyPr/>
                    <a:lstStyle/>
                    <a:p>
                      <a:pPr fontAlgn="base"/>
                      <a:r>
                        <a:rPr lang="en-US" sz="1100" b="1">
                          <a:effectLst/>
                        </a:rPr>
                        <a:t> POP</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 Reg. pair</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a:effectLst/>
                        </a:rPr>
                        <a:t>Pop off stack to register pair</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POP H or POP A</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30254538"/>
                  </a:ext>
                </a:extLst>
              </a:tr>
              <a:tr h="206854">
                <a:tc>
                  <a:txBody>
                    <a:bodyPr/>
                    <a:lstStyle/>
                    <a:p>
                      <a:pPr fontAlgn="base"/>
                      <a:r>
                        <a:rPr lang="en-US" sz="1100" b="1">
                          <a:effectLst/>
                        </a:rPr>
                        <a:t>OUT</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 8-bit port address</a:t>
                      </a:r>
                      <a:endParaRPr lang="en-US" sz="1100">
                        <a:effectLst/>
                      </a:endParaRPr>
                    </a:p>
                  </a:txBody>
                  <a:tcPr marL="3374" marR="3374" marT="3374" marB="3374" anchor="ctr">
                    <a:lnL>
                      <a:noFill/>
                    </a:lnL>
                    <a:lnR>
                      <a:noFill/>
                    </a:lnR>
                    <a:lnT>
                      <a:noFill/>
                    </a:lnT>
                    <a:lnB>
                      <a:noFill/>
                    </a:lnB>
                    <a:solidFill>
                      <a:srgbClr val="FFFFFF"/>
                    </a:solidFill>
                  </a:tcPr>
                </a:tc>
                <a:tc>
                  <a:txBody>
                    <a:bodyPr/>
                    <a:lstStyle/>
                    <a:p>
                      <a:pPr fontAlgn="base"/>
                      <a:r>
                        <a:rPr lang="en-US" sz="1100" b="1">
                          <a:effectLst/>
                        </a:rPr>
                        <a:t>Output data from accumulator to a port with 8-bit address</a:t>
                      </a:r>
                    </a:p>
                  </a:txBody>
                  <a:tcPr marL="3374" marR="3374" marT="3374" marB="3374" anchor="ctr">
                    <a:lnL>
                      <a:noFill/>
                    </a:lnL>
                    <a:lnR>
                      <a:noFill/>
                    </a:lnR>
                    <a:lnT>
                      <a:noFill/>
                    </a:lnT>
                    <a:lnB>
                      <a:noFill/>
                    </a:lnB>
                    <a:solidFill>
                      <a:srgbClr val="FFFFFF"/>
                    </a:solidFill>
                  </a:tcPr>
                </a:tc>
                <a:tc>
                  <a:txBody>
                    <a:bodyPr/>
                    <a:lstStyle/>
                    <a:p>
                      <a:pPr fontAlgn="base"/>
                      <a:r>
                        <a:rPr lang="en-US" sz="1100" b="1" dirty="0">
                          <a:effectLst/>
                        </a:rPr>
                        <a:t>OUT F8H</a:t>
                      </a:r>
                      <a:endParaRPr lang="en-US" sz="1100" dirty="0">
                        <a:effectLst/>
                      </a:endParaRPr>
                    </a:p>
                  </a:txBody>
                  <a:tcPr marL="3374" marR="3374" marT="3374" marB="3374" anchor="ctr">
                    <a:lnL>
                      <a:noFill/>
                    </a:lnL>
                    <a:lnR>
                      <a:noFill/>
                    </a:lnR>
                    <a:lnT>
                      <a:noFill/>
                    </a:lnT>
                    <a:lnB>
                      <a:noFill/>
                    </a:lnB>
                    <a:solidFill>
                      <a:srgbClr val="FFFFFF"/>
                    </a:solidFill>
                  </a:tcPr>
                </a:tc>
                <a:extLst>
                  <a:ext uri="{0D108BD9-81ED-4DB2-BD59-A6C34878D82A}">
                    <a16:rowId xmlns:a16="http://schemas.microsoft.com/office/drawing/2014/main" val="1401016947"/>
                  </a:ext>
                </a:extLst>
              </a:tr>
              <a:tr h="222240">
                <a:tc>
                  <a:txBody>
                    <a:bodyPr/>
                    <a:lstStyle/>
                    <a:p>
                      <a:pPr fontAlgn="base"/>
                      <a:r>
                        <a:rPr lang="en-US" sz="1100" b="1">
                          <a:effectLst/>
                        </a:rPr>
                        <a:t> IN</a:t>
                      </a:r>
                      <a:endParaRPr lang="en-US" sz="110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 8-bit port address</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Input data to accumulator from a port with 8-bit address</a:t>
                      </a:r>
                    </a:p>
                  </a:txBody>
                  <a:tcPr marL="3374" marR="3374" marT="3374" marB="3374" anchor="ctr">
                    <a:lnL>
                      <a:noFill/>
                    </a:lnL>
                    <a:lnR>
                      <a:noFill/>
                    </a:lnR>
                    <a:lnT>
                      <a:noFill/>
                    </a:lnT>
                    <a:lnB>
                      <a:noFill/>
                    </a:lnB>
                    <a:solidFill>
                      <a:schemeClr val="accent1">
                        <a:lumMod val="20000"/>
                        <a:lumOff val="80000"/>
                      </a:schemeClr>
                    </a:solidFill>
                  </a:tcPr>
                </a:tc>
                <a:tc>
                  <a:txBody>
                    <a:bodyPr/>
                    <a:lstStyle/>
                    <a:p>
                      <a:pPr fontAlgn="base"/>
                      <a:r>
                        <a:rPr lang="en-US" sz="1100" b="1" dirty="0">
                          <a:effectLst/>
                        </a:rPr>
                        <a:t>IN 8CH</a:t>
                      </a:r>
                      <a:endParaRPr lang="en-US" sz="1100" dirty="0">
                        <a:effectLst/>
                      </a:endParaRPr>
                    </a:p>
                  </a:txBody>
                  <a:tcPr marL="3374" marR="3374" marT="3374" marB="337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558921298"/>
                  </a:ext>
                </a:extLst>
              </a:tr>
            </a:tbl>
          </a:graphicData>
        </a:graphic>
      </p:graphicFrame>
    </p:spTree>
    <p:extLst>
      <p:ext uri="{BB962C8B-B14F-4D97-AF65-F5344CB8AC3E}">
        <p14:creationId xmlns:p14="http://schemas.microsoft.com/office/powerpoint/2010/main" val="120902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marL="494030" lvl="1" algn="l">
              <a:lnSpc>
                <a:spcPct val="100000"/>
              </a:lnSpc>
              <a:spcBef>
                <a:spcPts val="220"/>
              </a:spcBef>
              <a:tabLst>
                <a:tab pos="723265" algn="l"/>
                <a:tab pos="724535" algn="l"/>
              </a:tabLst>
            </a:pPr>
            <a:r>
              <a:rPr lang="en-US" sz="2000" b="1" spc="-5" dirty="0">
                <a:solidFill>
                  <a:srgbClr val="00B050"/>
                </a:solidFill>
                <a:cs typeface="Times New Roman"/>
              </a:rPr>
              <a:t>2. Arithmetic</a:t>
            </a:r>
            <a:r>
              <a:rPr lang="en-US" sz="2000" b="1" spc="-25" dirty="0">
                <a:solidFill>
                  <a:srgbClr val="00B050"/>
                </a:solidFill>
                <a:cs typeface="Times New Roman"/>
              </a:rPr>
              <a:t> </a:t>
            </a:r>
            <a:r>
              <a:rPr lang="en-US" sz="2000" b="1" spc="-5" dirty="0">
                <a:solidFill>
                  <a:srgbClr val="00B050"/>
                </a:solidFill>
                <a:cs typeface="Times New Roman"/>
              </a:rPr>
              <a:t>Operations</a:t>
            </a:r>
            <a:endParaRPr lang="en-US" sz="2000" dirty="0">
              <a:cs typeface="Times New Roman"/>
            </a:endParaRPr>
          </a:p>
        </p:txBody>
      </p:sp>
      <p:sp>
        <p:nvSpPr>
          <p:cNvPr id="3" name="Content Placeholder 2"/>
          <p:cNvSpPr>
            <a:spLocks noGrp="1"/>
          </p:cNvSpPr>
          <p:nvPr>
            <p:ph idx="1"/>
          </p:nvPr>
        </p:nvSpPr>
        <p:spPr>
          <a:xfrm>
            <a:off x="457200" y="742950"/>
            <a:ext cx="7848600" cy="3851673"/>
          </a:xfrm>
          <a:noFill/>
        </p:spPr>
        <p:txBody>
          <a:bodyPr>
            <a:noAutofit/>
          </a:bodyPr>
          <a:lstStyle/>
          <a:p>
            <a:r>
              <a:rPr lang="en-US" sz="2000" dirty="0"/>
              <a:t>Data transfer instructions are the instructions that </a:t>
            </a:r>
            <a:r>
              <a:rPr lang="en-US" sz="2000" dirty="0">
                <a:solidFill>
                  <a:srgbClr val="C00000"/>
                </a:solidFill>
              </a:rPr>
              <a:t>perform arithmetic operations</a:t>
            </a:r>
            <a:r>
              <a:rPr lang="en-US" sz="2000" dirty="0"/>
              <a:t> such as addition, subtraction, increment and decrement.</a:t>
            </a:r>
          </a:p>
          <a:p>
            <a:r>
              <a:rPr lang="en-US" sz="2000" b="1" dirty="0"/>
              <a:t>Addition:  </a:t>
            </a:r>
            <a:r>
              <a:rPr lang="en-US" sz="2000" spc="-5" dirty="0">
                <a:cs typeface="Times New Roman"/>
              </a:rPr>
              <a:t>Any 8-bit number or contents </a:t>
            </a:r>
            <a:r>
              <a:rPr lang="en-US" sz="2000" dirty="0">
                <a:cs typeface="Times New Roman"/>
              </a:rPr>
              <a:t>of</a:t>
            </a:r>
            <a:r>
              <a:rPr lang="en-US" sz="2000" spc="-10" dirty="0">
                <a:cs typeface="Times New Roman"/>
              </a:rPr>
              <a:t> </a:t>
            </a:r>
            <a:r>
              <a:rPr lang="en-US" sz="2000" dirty="0">
                <a:cs typeface="Times New Roman"/>
              </a:rPr>
              <a:t>a</a:t>
            </a:r>
            <a:r>
              <a:rPr lang="en-US" sz="2000" spc="-10" dirty="0">
                <a:cs typeface="Times New Roman"/>
              </a:rPr>
              <a:t> </a:t>
            </a:r>
            <a:r>
              <a:rPr lang="en-US" sz="2000" spc="-5" dirty="0">
                <a:cs typeface="Times New Roman"/>
              </a:rPr>
              <a:t>register or contents</a:t>
            </a:r>
            <a:r>
              <a:rPr lang="en-US" sz="2000" dirty="0">
                <a:cs typeface="Times New Roman"/>
              </a:rPr>
              <a:t> of</a:t>
            </a:r>
            <a:r>
              <a:rPr lang="en-US" sz="2000" spc="-5" dirty="0">
                <a:cs typeface="Times New Roman"/>
              </a:rPr>
              <a:t> </a:t>
            </a:r>
            <a:r>
              <a:rPr lang="en-US" sz="2000" dirty="0">
                <a:cs typeface="Times New Roman"/>
              </a:rPr>
              <a:t>a</a:t>
            </a:r>
            <a:r>
              <a:rPr lang="en-US" sz="2000" spc="-10" dirty="0">
                <a:cs typeface="Times New Roman"/>
              </a:rPr>
              <a:t> </a:t>
            </a:r>
            <a:r>
              <a:rPr lang="en-US" sz="2000" spc="-5" dirty="0">
                <a:cs typeface="Times New Roman"/>
              </a:rPr>
              <a:t>memory</a:t>
            </a:r>
            <a:r>
              <a:rPr lang="en-US" sz="2000" dirty="0">
                <a:cs typeface="Times New Roman"/>
              </a:rPr>
              <a:t> </a:t>
            </a:r>
            <a:r>
              <a:rPr lang="en-US" sz="2000" spc="-5" dirty="0">
                <a:cs typeface="Times New Roman"/>
              </a:rPr>
              <a:t>location can</a:t>
            </a:r>
            <a:r>
              <a:rPr lang="en-US" sz="2000" dirty="0">
                <a:cs typeface="Times New Roman"/>
              </a:rPr>
              <a:t> </a:t>
            </a:r>
            <a:r>
              <a:rPr lang="en-US" sz="2000" spc="-5" dirty="0">
                <a:cs typeface="Times New Roman"/>
              </a:rPr>
              <a:t>be</a:t>
            </a:r>
            <a:r>
              <a:rPr lang="en-US" sz="2000" spc="5" dirty="0">
                <a:cs typeface="Times New Roman"/>
              </a:rPr>
              <a:t> </a:t>
            </a:r>
            <a:r>
              <a:rPr lang="en-US" sz="2000" spc="-5" dirty="0">
                <a:cs typeface="Times New Roman"/>
              </a:rPr>
              <a:t>added</a:t>
            </a:r>
            <a:r>
              <a:rPr lang="en-US" sz="2000" dirty="0">
                <a:cs typeface="Times New Roman"/>
              </a:rPr>
              <a:t> </a:t>
            </a:r>
            <a:r>
              <a:rPr lang="en-US" sz="2000" spc="-5" dirty="0">
                <a:cs typeface="Times New Roman"/>
              </a:rPr>
              <a:t>to</a:t>
            </a:r>
            <a:r>
              <a:rPr lang="en-US" sz="2000" dirty="0">
                <a:cs typeface="Times New Roman"/>
              </a:rPr>
              <a:t> </a:t>
            </a:r>
            <a:r>
              <a:rPr lang="en-US" sz="2000" spc="-5" dirty="0">
                <a:cs typeface="Times New Roman"/>
              </a:rPr>
              <a:t>the contents</a:t>
            </a:r>
            <a:r>
              <a:rPr lang="en-US" sz="2000" spc="-15" dirty="0">
                <a:cs typeface="Times New Roman"/>
              </a:rPr>
              <a:t> </a:t>
            </a:r>
            <a:r>
              <a:rPr lang="en-US" sz="2000" spc="-5" dirty="0">
                <a:cs typeface="Times New Roman"/>
              </a:rPr>
              <a:t>of</a:t>
            </a:r>
            <a:r>
              <a:rPr lang="en-US" sz="2000" dirty="0">
                <a:cs typeface="Times New Roman"/>
              </a:rPr>
              <a:t> </a:t>
            </a:r>
            <a:r>
              <a:rPr lang="en-US" sz="2000" spc="-5" dirty="0">
                <a:cs typeface="Times New Roman"/>
              </a:rPr>
              <a:t>the accumulator</a:t>
            </a:r>
            <a:r>
              <a:rPr lang="en-US" sz="2000" spc="-20" dirty="0">
                <a:cs typeface="Times New Roman"/>
              </a:rPr>
              <a:t> </a:t>
            </a:r>
            <a:r>
              <a:rPr lang="en-US" sz="2000" spc="-5" dirty="0">
                <a:cs typeface="Times New Roman"/>
              </a:rPr>
              <a:t>and</a:t>
            </a:r>
            <a:r>
              <a:rPr lang="en-US" sz="2000" spc="5" dirty="0">
                <a:cs typeface="Times New Roman"/>
              </a:rPr>
              <a:t> </a:t>
            </a:r>
            <a:r>
              <a:rPr lang="en-US" sz="2000" spc="-5" dirty="0">
                <a:cs typeface="Times New Roman"/>
              </a:rPr>
              <a:t>the</a:t>
            </a:r>
            <a:r>
              <a:rPr lang="en-US" sz="2000" spc="40" dirty="0">
                <a:cs typeface="Times New Roman"/>
              </a:rPr>
              <a:t> </a:t>
            </a:r>
            <a:r>
              <a:rPr lang="en-US" sz="2000" spc="-5" dirty="0">
                <a:solidFill>
                  <a:srgbClr val="990000"/>
                </a:solidFill>
                <a:cs typeface="Times New Roman"/>
              </a:rPr>
              <a:t>result </a:t>
            </a:r>
            <a:r>
              <a:rPr lang="en-US" sz="2000" spc="-484" dirty="0">
                <a:solidFill>
                  <a:srgbClr val="990000"/>
                </a:solidFill>
                <a:cs typeface="Times New Roman"/>
              </a:rPr>
              <a:t> </a:t>
            </a:r>
            <a:r>
              <a:rPr lang="en-US" sz="2000" spc="-5" dirty="0">
                <a:solidFill>
                  <a:srgbClr val="990000"/>
                </a:solidFill>
                <a:cs typeface="Times New Roman"/>
              </a:rPr>
              <a:t>is</a:t>
            </a:r>
            <a:r>
              <a:rPr lang="en-US" sz="2000" spc="-25" dirty="0">
                <a:solidFill>
                  <a:srgbClr val="990000"/>
                </a:solidFill>
                <a:cs typeface="Times New Roman"/>
              </a:rPr>
              <a:t> </a:t>
            </a:r>
            <a:r>
              <a:rPr lang="en-US" sz="2000" spc="-5" dirty="0">
                <a:solidFill>
                  <a:srgbClr val="990000"/>
                </a:solidFill>
                <a:cs typeface="Times New Roman"/>
              </a:rPr>
              <a:t>stored</a:t>
            </a:r>
            <a:r>
              <a:rPr lang="en-US" sz="2000" spc="-20" dirty="0">
                <a:solidFill>
                  <a:srgbClr val="990000"/>
                </a:solidFill>
                <a:cs typeface="Times New Roman"/>
              </a:rPr>
              <a:t> </a:t>
            </a:r>
            <a:r>
              <a:rPr lang="en-US" sz="2000" spc="-5" dirty="0">
                <a:solidFill>
                  <a:srgbClr val="990000"/>
                </a:solidFill>
                <a:cs typeface="Times New Roman"/>
              </a:rPr>
              <a:t>in</a:t>
            </a:r>
            <a:r>
              <a:rPr lang="en-US" sz="2000" spc="-10" dirty="0">
                <a:solidFill>
                  <a:srgbClr val="990000"/>
                </a:solidFill>
                <a:cs typeface="Times New Roman"/>
              </a:rPr>
              <a:t> </a:t>
            </a:r>
            <a:r>
              <a:rPr lang="en-US" sz="2000" spc="-5" dirty="0">
                <a:solidFill>
                  <a:srgbClr val="990000"/>
                </a:solidFill>
                <a:cs typeface="Times New Roman"/>
              </a:rPr>
              <a:t>the</a:t>
            </a:r>
            <a:r>
              <a:rPr lang="en-US" sz="2000" spc="-15" dirty="0">
                <a:solidFill>
                  <a:srgbClr val="990000"/>
                </a:solidFill>
                <a:cs typeface="Times New Roman"/>
              </a:rPr>
              <a:t> </a:t>
            </a:r>
            <a:r>
              <a:rPr lang="en-US" sz="2000" dirty="0">
                <a:solidFill>
                  <a:srgbClr val="990000"/>
                </a:solidFill>
                <a:cs typeface="Times New Roman"/>
              </a:rPr>
              <a:t>accumulator</a:t>
            </a:r>
            <a:r>
              <a:rPr lang="en-US" sz="2000" dirty="0">
                <a:cs typeface="Times New Roman"/>
              </a:rPr>
              <a:t>.</a:t>
            </a:r>
          </a:p>
          <a:p>
            <a:r>
              <a:rPr lang="en-US" sz="2000" b="1" dirty="0">
                <a:cs typeface="Times New Roman"/>
              </a:rPr>
              <a:t>Subtraction: </a:t>
            </a:r>
            <a:r>
              <a:rPr lang="en-US" sz="2000" spc="-5" dirty="0">
                <a:cs typeface="Times New Roman"/>
              </a:rPr>
              <a:t>Any 8-bit number or contents </a:t>
            </a:r>
            <a:r>
              <a:rPr lang="en-US" sz="2000" dirty="0">
                <a:cs typeface="Times New Roman"/>
              </a:rPr>
              <a:t>of</a:t>
            </a:r>
            <a:r>
              <a:rPr lang="en-US" sz="2000" spc="-10" dirty="0">
                <a:cs typeface="Times New Roman"/>
              </a:rPr>
              <a:t> </a:t>
            </a:r>
            <a:r>
              <a:rPr lang="en-US" sz="2000" dirty="0">
                <a:cs typeface="Times New Roman"/>
              </a:rPr>
              <a:t>a</a:t>
            </a:r>
            <a:r>
              <a:rPr lang="en-US" sz="2000" spc="-10" dirty="0">
                <a:cs typeface="Times New Roman"/>
              </a:rPr>
              <a:t> </a:t>
            </a:r>
            <a:r>
              <a:rPr lang="en-US" sz="2000" spc="-5" dirty="0">
                <a:cs typeface="Times New Roman"/>
              </a:rPr>
              <a:t>register or contents</a:t>
            </a:r>
            <a:r>
              <a:rPr lang="en-US" sz="2000" dirty="0">
                <a:cs typeface="Times New Roman"/>
              </a:rPr>
              <a:t> of</a:t>
            </a:r>
            <a:r>
              <a:rPr lang="en-US" sz="2000" spc="-5" dirty="0">
                <a:cs typeface="Times New Roman"/>
              </a:rPr>
              <a:t> </a:t>
            </a:r>
            <a:r>
              <a:rPr lang="en-US" sz="2000" dirty="0">
                <a:cs typeface="Times New Roman"/>
              </a:rPr>
              <a:t>a</a:t>
            </a:r>
            <a:r>
              <a:rPr lang="en-US" sz="2000" spc="-10" dirty="0">
                <a:cs typeface="Times New Roman"/>
              </a:rPr>
              <a:t> </a:t>
            </a:r>
            <a:r>
              <a:rPr lang="en-US" sz="2000" spc="-5" dirty="0">
                <a:cs typeface="Times New Roman"/>
              </a:rPr>
              <a:t>memory</a:t>
            </a:r>
            <a:r>
              <a:rPr lang="en-US" sz="2000" dirty="0">
                <a:cs typeface="Times New Roman"/>
              </a:rPr>
              <a:t> </a:t>
            </a:r>
            <a:r>
              <a:rPr lang="en-US" sz="2000" spc="-5" dirty="0">
                <a:cs typeface="Times New Roman"/>
              </a:rPr>
              <a:t>location can</a:t>
            </a:r>
            <a:r>
              <a:rPr lang="en-US" sz="2000" dirty="0">
                <a:cs typeface="Times New Roman"/>
              </a:rPr>
              <a:t> </a:t>
            </a:r>
            <a:r>
              <a:rPr lang="en-US" sz="2000" spc="-5" dirty="0">
                <a:cs typeface="Times New Roman"/>
              </a:rPr>
              <a:t>be</a:t>
            </a:r>
            <a:r>
              <a:rPr lang="en-US" sz="2000" spc="5" dirty="0">
                <a:cs typeface="Times New Roman"/>
              </a:rPr>
              <a:t> </a:t>
            </a:r>
            <a:r>
              <a:rPr lang="en-US" sz="2000" spc="-5" dirty="0">
                <a:cs typeface="Times New Roman"/>
              </a:rPr>
              <a:t>subtracted from</a:t>
            </a:r>
            <a:r>
              <a:rPr lang="en-US" sz="2000" dirty="0">
                <a:cs typeface="Times New Roman"/>
              </a:rPr>
              <a:t> </a:t>
            </a:r>
            <a:r>
              <a:rPr lang="en-US" sz="2000" spc="-5" dirty="0">
                <a:cs typeface="Times New Roman"/>
              </a:rPr>
              <a:t>the contents</a:t>
            </a:r>
            <a:r>
              <a:rPr lang="en-US" sz="2000" spc="-15" dirty="0">
                <a:cs typeface="Times New Roman"/>
              </a:rPr>
              <a:t> </a:t>
            </a:r>
            <a:r>
              <a:rPr lang="en-US" sz="2000" spc="-5" dirty="0">
                <a:cs typeface="Times New Roman"/>
              </a:rPr>
              <a:t>of</a:t>
            </a:r>
            <a:r>
              <a:rPr lang="en-US" sz="2000" dirty="0">
                <a:cs typeface="Times New Roman"/>
              </a:rPr>
              <a:t> </a:t>
            </a:r>
            <a:r>
              <a:rPr lang="en-US" sz="2000" spc="-5" dirty="0">
                <a:cs typeface="Times New Roman"/>
              </a:rPr>
              <a:t>the accumulator</a:t>
            </a:r>
            <a:r>
              <a:rPr lang="en-US" sz="2000" spc="-20" dirty="0">
                <a:cs typeface="Times New Roman"/>
              </a:rPr>
              <a:t> </a:t>
            </a:r>
            <a:r>
              <a:rPr lang="en-US" sz="2000" spc="-5" dirty="0">
                <a:cs typeface="Times New Roman"/>
              </a:rPr>
              <a:t>and</a:t>
            </a:r>
            <a:r>
              <a:rPr lang="en-US" sz="2000" spc="5" dirty="0">
                <a:cs typeface="Times New Roman"/>
              </a:rPr>
              <a:t> </a:t>
            </a:r>
            <a:r>
              <a:rPr lang="en-US" sz="2000" spc="-5" dirty="0">
                <a:cs typeface="Times New Roman"/>
              </a:rPr>
              <a:t>the</a:t>
            </a:r>
            <a:r>
              <a:rPr lang="en-US" sz="2000" spc="40" dirty="0">
                <a:cs typeface="Times New Roman"/>
              </a:rPr>
              <a:t> </a:t>
            </a:r>
            <a:r>
              <a:rPr lang="en-US" sz="2000" spc="-5" dirty="0">
                <a:solidFill>
                  <a:srgbClr val="990000"/>
                </a:solidFill>
                <a:cs typeface="Times New Roman"/>
              </a:rPr>
              <a:t>result </a:t>
            </a:r>
            <a:r>
              <a:rPr lang="en-US" sz="2000" spc="-484" dirty="0">
                <a:solidFill>
                  <a:srgbClr val="990000"/>
                </a:solidFill>
                <a:cs typeface="Times New Roman"/>
              </a:rPr>
              <a:t> </a:t>
            </a:r>
            <a:r>
              <a:rPr lang="en-US" sz="2000" spc="-5" dirty="0">
                <a:solidFill>
                  <a:srgbClr val="990000"/>
                </a:solidFill>
                <a:cs typeface="Times New Roman"/>
              </a:rPr>
              <a:t>is</a:t>
            </a:r>
            <a:r>
              <a:rPr lang="en-US" sz="2000" spc="-25" dirty="0">
                <a:solidFill>
                  <a:srgbClr val="990000"/>
                </a:solidFill>
                <a:cs typeface="Times New Roman"/>
              </a:rPr>
              <a:t> </a:t>
            </a:r>
            <a:r>
              <a:rPr lang="en-US" sz="2000" spc="-5" dirty="0">
                <a:solidFill>
                  <a:srgbClr val="990000"/>
                </a:solidFill>
                <a:cs typeface="Times New Roman"/>
              </a:rPr>
              <a:t>stored</a:t>
            </a:r>
            <a:r>
              <a:rPr lang="en-US" sz="2000" spc="-20" dirty="0">
                <a:solidFill>
                  <a:srgbClr val="990000"/>
                </a:solidFill>
                <a:cs typeface="Times New Roman"/>
              </a:rPr>
              <a:t> </a:t>
            </a:r>
            <a:r>
              <a:rPr lang="en-US" sz="2000" spc="-5" dirty="0">
                <a:solidFill>
                  <a:srgbClr val="990000"/>
                </a:solidFill>
                <a:cs typeface="Times New Roman"/>
              </a:rPr>
              <a:t>in</a:t>
            </a:r>
            <a:r>
              <a:rPr lang="en-US" sz="2000" spc="-10" dirty="0">
                <a:solidFill>
                  <a:srgbClr val="990000"/>
                </a:solidFill>
                <a:cs typeface="Times New Roman"/>
              </a:rPr>
              <a:t> </a:t>
            </a:r>
            <a:r>
              <a:rPr lang="en-US" sz="2000" spc="-5" dirty="0">
                <a:solidFill>
                  <a:srgbClr val="990000"/>
                </a:solidFill>
                <a:cs typeface="Times New Roman"/>
              </a:rPr>
              <a:t>the</a:t>
            </a:r>
            <a:r>
              <a:rPr lang="en-US" sz="2000" spc="-15" dirty="0">
                <a:solidFill>
                  <a:srgbClr val="990000"/>
                </a:solidFill>
                <a:cs typeface="Times New Roman"/>
              </a:rPr>
              <a:t> </a:t>
            </a:r>
            <a:r>
              <a:rPr lang="en-US" sz="2000" dirty="0">
                <a:solidFill>
                  <a:srgbClr val="990000"/>
                </a:solidFill>
                <a:cs typeface="Times New Roman"/>
              </a:rPr>
              <a:t>accumulator</a:t>
            </a:r>
            <a:r>
              <a:rPr lang="en-US" sz="2000" dirty="0">
                <a:cs typeface="Times New Roman"/>
              </a:rPr>
              <a:t>.</a:t>
            </a:r>
          </a:p>
          <a:p>
            <a:r>
              <a:rPr lang="en-US" sz="2000" b="1" dirty="0">
                <a:cs typeface="Times New Roman"/>
              </a:rPr>
              <a:t>Increment/decrement: </a:t>
            </a:r>
            <a:r>
              <a:rPr lang="en-US" sz="2000" spc="-5" dirty="0">
                <a:cs typeface="Times New Roman"/>
              </a:rPr>
              <a:t>The 8-bit contents </a:t>
            </a:r>
            <a:r>
              <a:rPr lang="en-US" sz="2000" dirty="0">
                <a:cs typeface="Times New Roman"/>
              </a:rPr>
              <a:t>of any </a:t>
            </a:r>
            <a:r>
              <a:rPr lang="en-US" sz="2000" spc="-5" dirty="0">
                <a:cs typeface="Times New Roman"/>
              </a:rPr>
              <a:t>memory location </a:t>
            </a:r>
            <a:r>
              <a:rPr lang="en-US" sz="2000" dirty="0">
                <a:cs typeface="Times New Roman"/>
              </a:rPr>
              <a:t>or any </a:t>
            </a:r>
            <a:r>
              <a:rPr lang="en-US" sz="2000" spc="5" dirty="0">
                <a:cs typeface="Times New Roman"/>
              </a:rPr>
              <a:t> </a:t>
            </a:r>
            <a:r>
              <a:rPr lang="en-US" sz="2000" spc="-5" dirty="0">
                <a:cs typeface="Times New Roman"/>
              </a:rPr>
              <a:t>register </a:t>
            </a:r>
            <a:r>
              <a:rPr lang="en-US" sz="2000" dirty="0">
                <a:cs typeface="Times New Roman"/>
              </a:rPr>
              <a:t>can be </a:t>
            </a:r>
            <a:r>
              <a:rPr lang="en-US" sz="2000" spc="-5" dirty="0">
                <a:cs typeface="Times New Roman"/>
              </a:rPr>
              <a:t>directly incremented </a:t>
            </a:r>
            <a:r>
              <a:rPr lang="en-US" sz="2000" dirty="0">
                <a:cs typeface="Times New Roman"/>
              </a:rPr>
              <a:t>or </a:t>
            </a:r>
            <a:r>
              <a:rPr lang="en-US" sz="2000" spc="-5" dirty="0">
                <a:cs typeface="Times New Roman"/>
              </a:rPr>
              <a:t>decremented </a:t>
            </a:r>
            <a:r>
              <a:rPr lang="en-US" sz="2000" spc="-585" dirty="0">
                <a:cs typeface="Times New Roman"/>
              </a:rPr>
              <a:t> </a:t>
            </a:r>
            <a:r>
              <a:rPr lang="en-US" sz="2000" dirty="0">
                <a:cs typeface="Times New Roman"/>
              </a:rPr>
              <a:t>by</a:t>
            </a:r>
            <a:r>
              <a:rPr lang="en-US" sz="2000" spc="-10" dirty="0">
                <a:cs typeface="Times New Roman"/>
              </a:rPr>
              <a:t> </a:t>
            </a:r>
            <a:r>
              <a:rPr lang="en-US" sz="2000" dirty="0">
                <a:cs typeface="Times New Roman"/>
              </a:rPr>
              <a:t>1. </a:t>
            </a:r>
            <a:r>
              <a:rPr lang="en-US" sz="2000" spc="-5" dirty="0">
                <a:cs typeface="Times New Roman"/>
              </a:rPr>
              <a:t>No</a:t>
            </a:r>
            <a:r>
              <a:rPr lang="en-US" sz="2000" spc="-15" dirty="0">
                <a:cs typeface="Times New Roman"/>
              </a:rPr>
              <a:t> </a:t>
            </a:r>
            <a:r>
              <a:rPr lang="en-US" sz="2000" dirty="0">
                <a:cs typeface="Times New Roman"/>
              </a:rPr>
              <a:t>need</a:t>
            </a:r>
            <a:r>
              <a:rPr lang="en-US" sz="2000" spc="-10" dirty="0">
                <a:cs typeface="Times New Roman"/>
              </a:rPr>
              <a:t> </a:t>
            </a:r>
            <a:r>
              <a:rPr lang="en-US" sz="2000" spc="-5" dirty="0">
                <a:cs typeface="Times New Roman"/>
              </a:rPr>
              <a:t>to disturb</a:t>
            </a:r>
            <a:r>
              <a:rPr lang="en-US" sz="2000" spc="-15" dirty="0">
                <a:cs typeface="Times New Roman"/>
              </a:rPr>
              <a:t> </a:t>
            </a:r>
            <a:r>
              <a:rPr lang="en-US" sz="2000" dirty="0">
                <a:cs typeface="Times New Roman"/>
              </a:rPr>
              <a:t>the</a:t>
            </a:r>
            <a:r>
              <a:rPr lang="en-US" sz="2000" spc="-5" dirty="0">
                <a:cs typeface="Times New Roman"/>
              </a:rPr>
              <a:t> contents</a:t>
            </a:r>
            <a:r>
              <a:rPr lang="en-US" sz="2000" spc="-20" dirty="0">
                <a:cs typeface="Times New Roman"/>
              </a:rPr>
              <a:t> </a:t>
            </a:r>
            <a:r>
              <a:rPr lang="en-US" sz="2000" dirty="0">
                <a:cs typeface="Times New Roman"/>
              </a:rPr>
              <a:t>of</a:t>
            </a:r>
            <a:r>
              <a:rPr lang="en-US" sz="2000" spc="20" dirty="0">
                <a:cs typeface="Times New Roman"/>
              </a:rPr>
              <a:t> </a:t>
            </a:r>
            <a:r>
              <a:rPr lang="en-US" sz="2000" spc="-5" dirty="0">
                <a:cs typeface="Times New Roman"/>
              </a:rPr>
              <a:t>the</a:t>
            </a:r>
            <a:r>
              <a:rPr lang="en-US" sz="2000" spc="-10" dirty="0">
                <a:cs typeface="Times New Roman"/>
              </a:rPr>
              <a:t> </a:t>
            </a:r>
            <a:r>
              <a:rPr lang="en-US" sz="2000" spc="-5" dirty="0">
                <a:cs typeface="Times New Roman"/>
              </a:rPr>
              <a:t>accumulator.</a:t>
            </a:r>
            <a:endParaRPr lang="en-US" sz="2000" dirty="0">
              <a:cs typeface="Times New Roman"/>
            </a:endParaRPr>
          </a:p>
          <a:p>
            <a:endParaRPr lang="en-US" sz="2000" dirty="0">
              <a:cs typeface="Times New Roman"/>
            </a:endParaRPr>
          </a:p>
          <a:p>
            <a:endParaRPr lang="en-US" sz="2000" dirty="0"/>
          </a:p>
        </p:txBody>
      </p:sp>
      <p:sp>
        <p:nvSpPr>
          <p:cNvPr id="4" name="Date Placeholder 3"/>
          <p:cNvSpPr>
            <a:spLocks noGrp="1"/>
          </p:cNvSpPr>
          <p:nvPr>
            <p:ph type="dt" sz="half" idx="10"/>
          </p:nvPr>
        </p:nvSpPr>
        <p:spPr/>
        <p:txBody>
          <a:bodyPr/>
          <a:lstStyle/>
          <a:p>
            <a:fld id="{409FA355-FF06-4BD6-BA73-35228C603B4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1060195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marL="494030" lvl="1" algn="l">
              <a:lnSpc>
                <a:spcPct val="100000"/>
              </a:lnSpc>
              <a:spcBef>
                <a:spcPts val="220"/>
              </a:spcBef>
              <a:tabLst>
                <a:tab pos="723265" algn="l"/>
                <a:tab pos="724535" algn="l"/>
              </a:tabLst>
            </a:pPr>
            <a:endParaRPr lang="en-US" sz="2000" dirty="0">
              <a:cs typeface="Times New Roman"/>
            </a:endParaRPr>
          </a:p>
        </p:txBody>
      </p:sp>
      <p:graphicFrame>
        <p:nvGraphicFramePr>
          <p:cNvPr id="7" name="Content Placeholder 6">
            <a:extLst>
              <a:ext uri="{FF2B5EF4-FFF2-40B4-BE49-F238E27FC236}">
                <a16:creationId xmlns:a16="http://schemas.microsoft.com/office/drawing/2014/main" id="{7E867805-4FB0-4C31-9790-27E4BB66823B}"/>
              </a:ext>
            </a:extLst>
          </p:cNvPr>
          <p:cNvGraphicFramePr>
            <a:graphicFrameLocks noGrp="1"/>
          </p:cNvGraphicFramePr>
          <p:nvPr>
            <p:ph idx="1"/>
            <p:extLst>
              <p:ext uri="{D42A27DB-BD31-4B8C-83A1-F6EECF244321}">
                <p14:modId xmlns:p14="http://schemas.microsoft.com/office/powerpoint/2010/main" val="1629653489"/>
              </p:ext>
            </p:extLst>
          </p:nvPr>
        </p:nvGraphicFramePr>
        <p:xfrm>
          <a:off x="762000" y="666750"/>
          <a:ext cx="7620000" cy="4098543"/>
        </p:xfrm>
        <a:graphic>
          <a:graphicData uri="http://schemas.openxmlformats.org/drawingml/2006/table">
            <a:tbl>
              <a:tblPr/>
              <a:tblGrid>
                <a:gridCol w="1000606">
                  <a:extLst>
                    <a:ext uri="{9D8B030D-6E8A-4147-A177-3AD203B41FA5}">
                      <a16:colId xmlns:a16="http://schemas.microsoft.com/office/drawing/2014/main" val="59399788"/>
                    </a:ext>
                  </a:extLst>
                </a:gridCol>
                <a:gridCol w="1590535">
                  <a:extLst>
                    <a:ext uri="{9D8B030D-6E8A-4147-A177-3AD203B41FA5}">
                      <a16:colId xmlns:a16="http://schemas.microsoft.com/office/drawing/2014/main" val="1529154383"/>
                    </a:ext>
                  </a:extLst>
                </a:gridCol>
                <a:gridCol w="4182193">
                  <a:extLst>
                    <a:ext uri="{9D8B030D-6E8A-4147-A177-3AD203B41FA5}">
                      <a16:colId xmlns:a16="http://schemas.microsoft.com/office/drawing/2014/main" val="3314870782"/>
                    </a:ext>
                  </a:extLst>
                </a:gridCol>
                <a:gridCol w="846666">
                  <a:extLst>
                    <a:ext uri="{9D8B030D-6E8A-4147-A177-3AD203B41FA5}">
                      <a16:colId xmlns:a16="http://schemas.microsoft.com/office/drawing/2014/main" val="2619261721"/>
                    </a:ext>
                  </a:extLst>
                </a:gridCol>
              </a:tblGrid>
              <a:tr h="136661">
                <a:tc>
                  <a:txBody>
                    <a:bodyPr/>
                    <a:lstStyle/>
                    <a:p>
                      <a:pPr algn="ctr" fontAlgn="ctr"/>
                      <a:r>
                        <a:rPr lang="en-US" sz="1100" b="1" dirty="0">
                          <a:effectLst/>
                        </a:rPr>
                        <a:t>Opcode</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lgn="ctr" fontAlgn="ctr"/>
                      <a:r>
                        <a:rPr lang="en-US" sz="1100" b="1">
                          <a:effectLst/>
                        </a:rPr>
                        <a:t>Operand</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lgn="l" fontAlgn="ctr"/>
                      <a:r>
                        <a:rPr lang="en-US" sz="1100" b="1" dirty="0">
                          <a:effectLst/>
                        </a:rPr>
                        <a:t>Meaning</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tc>
                  <a:txBody>
                    <a:bodyPr/>
                    <a:lstStyle/>
                    <a:p>
                      <a:pPr algn="l" fontAlgn="ctr"/>
                      <a:r>
                        <a:rPr lang="en-US" sz="1100" b="1" dirty="0">
                          <a:effectLst/>
                        </a:rPr>
                        <a:t>Example</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48261206"/>
                  </a:ext>
                </a:extLst>
              </a:tr>
              <a:tr h="270135">
                <a:tc>
                  <a:txBody>
                    <a:bodyPr/>
                    <a:lstStyle/>
                    <a:p>
                      <a:pPr algn="ctr" fontAlgn="ctr"/>
                      <a:r>
                        <a:rPr lang="en-US" sz="1100" b="1" dirty="0">
                          <a:solidFill>
                            <a:srgbClr val="000000"/>
                          </a:solidFill>
                          <a:effectLst/>
                        </a:rPr>
                        <a:t>ADD</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R</a:t>
                      </a:r>
                    </a:p>
                    <a:p>
                      <a:pPr algn="ctr" fontAlgn="ctr"/>
                      <a:r>
                        <a:rPr lang="en-US" sz="1100" b="1">
                          <a:solidFill>
                            <a:srgbClr val="000000"/>
                          </a:solidFill>
                          <a:effectLst/>
                        </a:rPr>
                        <a:t>M</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a:solidFill>
                            <a:srgbClr val="000000"/>
                          </a:solidFill>
                          <a:effectLst/>
                        </a:rPr>
                        <a:t>Add register or memory, to the accumulator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ADD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866097299"/>
                  </a:ext>
                </a:extLst>
              </a:tr>
              <a:tr h="270135">
                <a:tc>
                  <a:txBody>
                    <a:bodyPr/>
                    <a:lstStyle/>
                    <a:p>
                      <a:pPr algn="ctr" fontAlgn="ctr"/>
                      <a:r>
                        <a:rPr lang="en-US" sz="1100" b="1">
                          <a:solidFill>
                            <a:srgbClr val="000000"/>
                          </a:solidFill>
                          <a:effectLst/>
                        </a:rPr>
                        <a:t>ADC</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100" b="1">
                          <a:solidFill>
                            <a:srgbClr val="000000"/>
                          </a:solidFill>
                          <a:effectLst/>
                        </a:rPr>
                        <a:t>R</a:t>
                      </a:r>
                    </a:p>
                    <a:p>
                      <a:pPr algn="ctr" fontAlgn="ctr"/>
                      <a:r>
                        <a:rPr lang="en-US" sz="1100" b="1">
                          <a:solidFill>
                            <a:srgbClr val="000000"/>
                          </a:solidFill>
                          <a:effectLst/>
                        </a:rPr>
                        <a:t>M</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ctr"/>
                      <a:r>
                        <a:rPr lang="en-US" sz="1100" b="1" dirty="0">
                          <a:solidFill>
                            <a:srgbClr val="000000"/>
                          </a:solidFill>
                          <a:effectLst/>
                        </a:rPr>
                        <a:t>Add register to the accumulator with carry</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t"/>
                      <a:r>
                        <a:rPr lang="en-US" sz="1100" b="1" dirty="0">
                          <a:solidFill>
                            <a:srgbClr val="000000"/>
                          </a:solidFill>
                          <a:effectLst/>
                        </a:rPr>
                        <a:t>ADC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659587032"/>
                  </a:ext>
                </a:extLst>
              </a:tr>
              <a:tr h="140257">
                <a:tc>
                  <a:txBody>
                    <a:bodyPr/>
                    <a:lstStyle/>
                    <a:p>
                      <a:pPr algn="ctr" fontAlgn="ctr"/>
                      <a:r>
                        <a:rPr lang="en-US" sz="1100" b="1">
                          <a:solidFill>
                            <a:srgbClr val="000000"/>
                          </a:solidFill>
                          <a:effectLst/>
                        </a:rPr>
                        <a:t>ADI</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8-bit data</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a:solidFill>
                            <a:srgbClr val="000000"/>
                          </a:solidFill>
                          <a:effectLst/>
                        </a:rPr>
                        <a:t>Add the immediate to the accumulator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ADI 55K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134503473"/>
                  </a:ext>
                </a:extLst>
              </a:tr>
              <a:tr h="270135">
                <a:tc>
                  <a:txBody>
                    <a:bodyPr/>
                    <a:lstStyle/>
                    <a:p>
                      <a:pPr algn="ctr" fontAlgn="ctr"/>
                      <a:r>
                        <a:rPr lang="en-US" sz="1100" b="1" dirty="0">
                          <a:solidFill>
                            <a:srgbClr val="000000"/>
                          </a:solidFill>
                          <a:effectLst/>
                        </a:rPr>
                        <a:t>ACI</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100" b="1" dirty="0">
                          <a:solidFill>
                            <a:srgbClr val="000000"/>
                          </a:solidFill>
                          <a:effectLst/>
                        </a:rPr>
                        <a:t>8-bit data</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ctr"/>
                      <a:r>
                        <a:rPr lang="en-US" sz="1100" b="1" dirty="0">
                          <a:solidFill>
                            <a:srgbClr val="000000"/>
                          </a:solidFill>
                          <a:effectLst/>
                        </a:rPr>
                        <a:t>Add the immediate to the accumulator with carry</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t"/>
                      <a:r>
                        <a:rPr lang="en-US" sz="1100" b="1" dirty="0">
                          <a:solidFill>
                            <a:srgbClr val="000000"/>
                          </a:solidFill>
                          <a:effectLst/>
                        </a:rPr>
                        <a:t>ACI 55K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275681837"/>
                  </a:ext>
                </a:extLst>
              </a:tr>
              <a:tr h="270135">
                <a:tc>
                  <a:txBody>
                    <a:bodyPr/>
                    <a:lstStyle/>
                    <a:p>
                      <a:pPr algn="ctr" fontAlgn="ctr"/>
                      <a:r>
                        <a:rPr lang="en-US" sz="1100" b="1">
                          <a:solidFill>
                            <a:srgbClr val="000000"/>
                          </a:solidFill>
                          <a:effectLst/>
                        </a:rPr>
                        <a:t>LXI</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Reg. pair, 16bit data</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a:solidFill>
                            <a:srgbClr val="000000"/>
                          </a:solidFill>
                          <a:effectLst/>
                        </a:rPr>
                        <a:t>Load the register pair immediate</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LXI K, 3025M</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28090375"/>
                  </a:ext>
                </a:extLst>
              </a:tr>
              <a:tr h="136661">
                <a:tc>
                  <a:txBody>
                    <a:bodyPr/>
                    <a:lstStyle/>
                    <a:p>
                      <a:pPr algn="ctr" fontAlgn="ctr"/>
                      <a:r>
                        <a:rPr lang="en-US" sz="1100" b="1" dirty="0">
                          <a:solidFill>
                            <a:srgbClr val="000000"/>
                          </a:solidFill>
                          <a:effectLst/>
                        </a:rPr>
                        <a:t>DAD</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100" b="1" dirty="0">
                          <a:solidFill>
                            <a:srgbClr val="000000"/>
                          </a:solidFill>
                          <a:effectLst/>
                        </a:rPr>
                        <a:t>Reg. pair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ctr"/>
                      <a:r>
                        <a:rPr lang="en-US" sz="1100" b="1" dirty="0">
                          <a:solidFill>
                            <a:srgbClr val="000000"/>
                          </a:solidFill>
                          <a:effectLst/>
                        </a:rPr>
                        <a:t>Add the register pair to H and L registers</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t"/>
                      <a:r>
                        <a:rPr lang="en-US" sz="1100" b="1" dirty="0">
                          <a:solidFill>
                            <a:srgbClr val="000000"/>
                          </a:solidFill>
                          <a:effectLst/>
                        </a:rPr>
                        <a:t>DAD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61534484"/>
                  </a:ext>
                </a:extLst>
              </a:tr>
              <a:tr h="270135">
                <a:tc>
                  <a:txBody>
                    <a:bodyPr/>
                    <a:lstStyle/>
                    <a:p>
                      <a:pPr algn="ctr" fontAlgn="ctr"/>
                      <a:r>
                        <a:rPr lang="en-US" sz="1100" b="1">
                          <a:solidFill>
                            <a:srgbClr val="000000"/>
                          </a:solidFill>
                          <a:effectLst/>
                        </a:rPr>
                        <a:t>SUB</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R</a:t>
                      </a:r>
                    </a:p>
                    <a:p>
                      <a:pPr algn="ctr" fontAlgn="ctr"/>
                      <a:r>
                        <a:rPr lang="en-US" sz="1100" b="1">
                          <a:solidFill>
                            <a:srgbClr val="000000"/>
                          </a:solidFill>
                          <a:effectLst/>
                        </a:rPr>
                        <a:t>M</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dirty="0">
                          <a:solidFill>
                            <a:srgbClr val="000000"/>
                          </a:solidFill>
                          <a:effectLst/>
                        </a:rPr>
                        <a:t>Subtract the register or the memory from the accumulator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SUB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850128926"/>
                  </a:ext>
                </a:extLst>
              </a:tr>
              <a:tr h="270135">
                <a:tc>
                  <a:txBody>
                    <a:bodyPr/>
                    <a:lstStyle/>
                    <a:p>
                      <a:pPr algn="ctr" fontAlgn="ctr"/>
                      <a:r>
                        <a:rPr lang="en-US" sz="1100" b="1" dirty="0">
                          <a:solidFill>
                            <a:srgbClr val="000000"/>
                          </a:solidFill>
                          <a:effectLst/>
                        </a:rPr>
                        <a:t>SBB</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100" b="1" dirty="0">
                          <a:solidFill>
                            <a:srgbClr val="000000"/>
                          </a:solidFill>
                          <a:effectLst/>
                        </a:rPr>
                        <a:t>R</a:t>
                      </a:r>
                    </a:p>
                    <a:p>
                      <a:pPr algn="ctr" fontAlgn="ctr"/>
                      <a:r>
                        <a:rPr lang="en-US" sz="1100" b="1" dirty="0">
                          <a:solidFill>
                            <a:srgbClr val="000000"/>
                          </a:solidFill>
                          <a:effectLst/>
                        </a:rPr>
                        <a:t>M</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ctr"/>
                      <a:r>
                        <a:rPr lang="en-US" sz="1100" b="1" dirty="0">
                          <a:solidFill>
                            <a:srgbClr val="000000"/>
                          </a:solidFill>
                          <a:effectLst/>
                        </a:rPr>
                        <a:t>Subtract the source and borrow from the accumulator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t"/>
                      <a:r>
                        <a:rPr lang="en-US" sz="1100" b="1" dirty="0">
                          <a:solidFill>
                            <a:srgbClr val="000000"/>
                          </a:solidFill>
                          <a:effectLst/>
                        </a:rPr>
                        <a:t>SBB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737353547"/>
                  </a:ext>
                </a:extLst>
              </a:tr>
              <a:tr h="140257">
                <a:tc>
                  <a:txBody>
                    <a:bodyPr/>
                    <a:lstStyle/>
                    <a:p>
                      <a:pPr algn="ctr" fontAlgn="ctr"/>
                      <a:r>
                        <a:rPr lang="en-US" sz="1100" b="1">
                          <a:solidFill>
                            <a:srgbClr val="000000"/>
                          </a:solidFill>
                          <a:effectLst/>
                        </a:rPr>
                        <a:t>SUI</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8-bit data</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dirty="0">
                          <a:solidFill>
                            <a:srgbClr val="000000"/>
                          </a:solidFill>
                          <a:effectLst/>
                        </a:rPr>
                        <a:t>Subtract the immediate from the accumulator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SUI 55K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879505204"/>
                  </a:ext>
                </a:extLst>
              </a:tr>
              <a:tr h="140257">
                <a:tc>
                  <a:txBody>
                    <a:bodyPr/>
                    <a:lstStyle/>
                    <a:p>
                      <a:pPr algn="ctr" fontAlgn="ctr"/>
                      <a:r>
                        <a:rPr lang="en-US" sz="1100" b="1" dirty="0">
                          <a:solidFill>
                            <a:srgbClr val="000000"/>
                          </a:solidFill>
                          <a:effectLst/>
                        </a:rPr>
                        <a:t>XCHG</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100" b="1">
                          <a:solidFill>
                            <a:srgbClr val="000000"/>
                          </a:solidFill>
                          <a:effectLst/>
                        </a:rPr>
                        <a:t>None</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ctr"/>
                      <a:r>
                        <a:rPr lang="en-US" sz="1100" b="1" dirty="0">
                          <a:solidFill>
                            <a:srgbClr val="000000"/>
                          </a:solidFill>
                          <a:effectLst/>
                        </a:rPr>
                        <a:t>Exchange H and L with D and E</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t"/>
                      <a:r>
                        <a:rPr lang="en-US" sz="1100" b="1" dirty="0">
                          <a:solidFill>
                            <a:srgbClr val="000000"/>
                          </a:solidFill>
                          <a:effectLst/>
                        </a:rPr>
                        <a:t>XCHG</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529263064"/>
                  </a:ext>
                </a:extLst>
              </a:tr>
              <a:tr h="270135">
                <a:tc>
                  <a:txBody>
                    <a:bodyPr/>
                    <a:lstStyle/>
                    <a:p>
                      <a:pPr algn="ctr" fontAlgn="ctr"/>
                      <a:r>
                        <a:rPr lang="en-US" sz="1100" b="1">
                          <a:solidFill>
                            <a:srgbClr val="000000"/>
                          </a:solidFill>
                          <a:effectLst/>
                        </a:rPr>
                        <a:t>INR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R</a:t>
                      </a:r>
                    </a:p>
                    <a:p>
                      <a:pPr algn="ctr" fontAlgn="ctr"/>
                      <a:r>
                        <a:rPr lang="en-US" sz="1100" b="1">
                          <a:solidFill>
                            <a:srgbClr val="000000"/>
                          </a:solidFill>
                          <a:effectLst/>
                        </a:rPr>
                        <a:t>M</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dirty="0">
                          <a:solidFill>
                            <a:srgbClr val="000000"/>
                          </a:solidFill>
                          <a:effectLst/>
                        </a:rPr>
                        <a:t>Increment the register or the memory by 1</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INR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78652858"/>
                  </a:ext>
                </a:extLst>
              </a:tr>
              <a:tr h="140257">
                <a:tc>
                  <a:txBody>
                    <a:bodyPr/>
                    <a:lstStyle/>
                    <a:p>
                      <a:pPr algn="ctr" fontAlgn="ctr"/>
                      <a:r>
                        <a:rPr lang="en-US" sz="1100" b="1">
                          <a:solidFill>
                            <a:srgbClr val="000000"/>
                          </a:solidFill>
                          <a:effectLst/>
                        </a:rPr>
                        <a:t>INX</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100" b="1">
                          <a:solidFill>
                            <a:srgbClr val="000000"/>
                          </a:solidFill>
                          <a:effectLst/>
                        </a:rPr>
                        <a:t>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ctr"/>
                      <a:r>
                        <a:rPr lang="en-US" sz="1100" b="1">
                          <a:solidFill>
                            <a:srgbClr val="000000"/>
                          </a:solidFill>
                          <a:effectLst/>
                        </a:rPr>
                        <a:t>Increment register pair by 1</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t"/>
                      <a:r>
                        <a:rPr lang="en-US" sz="1100" b="1" dirty="0">
                          <a:solidFill>
                            <a:srgbClr val="000000"/>
                          </a:solidFill>
                          <a:effectLst/>
                        </a:rPr>
                        <a:t>INX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995123320"/>
                  </a:ext>
                </a:extLst>
              </a:tr>
              <a:tr h="270135">
                <a:tc>
                  <a:txBody>
                    <a:bodyPr/>
                    <a:lstStyle/>
                    <a:p>
                      <a:pPr algn="ctr" fontAlgn="ctr"/>
                      <a:r>
                        <a:rPr lang="en-US" sz="1100" b="1">
                          <a:solidFill>
                            <a:srgbClr val="000000"/>
                          </a:solidFill>
                          <a:effectLst/>
                        </a:rPr>
                        <a:t>DCR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R</a:t>
                      </a:r>
                    </a:p>
                    <a:p>
                      <a:pPr algn="ctr" fontAlgn="ctr"/>
                      <a:r>
                        <a:rPr lang="en-US" sz="1100" b="1">
                          <a:solidFill>
                            <a:srgbClr val="000000"/>
                          </a:solidFill>
                          <a:effectLst/>
                        </a:rPr>
                        <a:t>M</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a:solidFill>
                            <a:srgbClr val="000000"/>
                          </a:solidFill>
                          <a:effectLst/>
                        </a:rPr>
                        <a:t>Decrement the register or the memory by 1</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DCR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571589286"/>
                  </a:ext>
                </a:extLst>
              </a:tr>
              <a:tr h="140257">
                <a:tc>
                  <a:txBody>
                    <a:bodyPr/>
                    <a:lstStyle/>
                    <a:p>
                      <a:pPr algn="ctr" fontAlgn="ctr"/>
                      <a:r>
                        <a:rPr lang="en-US" sz="1100" b="1">
                          <a:solidFill>
                            <a:srgbClr val="000000"/>
                          </a:solidFill>
                          <a:effectLst/>
                        </a:rPr>
                        <a:t>DCX</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ctr" fontAlgn="ctr"/>
                      <a:r>
                        <a:rPr lang="en-US" sz="1100" b="1">
                          <a:solidFill>
                            <a:srgbClr val="000000"/>
                          </a:solidFill>
                          <a:effectLst/>
                        </a:rPr>
                        <a:t>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ctr"/>
                      <a:r>
                        <a:rPr lang="en-US" sz="1100" b="1">
                          <a:solidFill>
                            <a:srgbClr val="000000"/>
                          </a:solidFill>
                          <a:effectLst/>
                        </a:rPr>
                        <a:t>Decrement the register pair by 1</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tc>
                  <a:txBody>
                    <a:bodyPr/>
                    <a:lstStyle/>
                    <a:p>
                      <a:pPr algn="just" fontAlgn="t"/>
                      <a:r>
                        <a:rPr lang="en-US" sz="1100" b="1" dirty="0">
                          <a:solidFill>
                            <a:srgbClr val="000000"/>
                          </a:solidFill>
                          <a:effectLst/>
                        </a:rPr>
                        <a:t>DCX K</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24348019"/>
                  </a:ext>
                </a:extLst>
              </a:tr>
              <a:tr h="306917">
                <a:tc>
                  <a:txBody>
                    <a:bodyPr/>
                    <a:lstStyle/>
                    <a:p>
                      <a:pPr algn="ctr" fontAlgn="ctr"/>
                      <a:r>
                        <a:rPr lang="en-US" sz="1100" b="1">
                          <a:solidFill>
                            <a:srgbClr val="000000"/>
                          </a:solidFill>
                          <a:effectLst/>
                        </a:rPr>
                        <a:t>DAA</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ctr" fontAlgn="ctr"/>
                      <a:r>
                        <a:rPr lang="en-US" sz="1100" b="1">
                          <a:solidFill>
                            <a:srgbClr val="000000"/>
                          </a:solidFill>
                          <a:effectLst/>
                        </a:rPr>
                        <a:t>None</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ctr"/>
                      <a:r>
                        <a:rPr lang="en-US" sz="1100" b="1">
                          <a:solidFill>
                            <a:srgbClr val="000000"/>
                          </a:solidFill>
                          <a:effectLst/>
                        </a:rPr>
                        <a:t>Decimal adjust accumulator</a:t>
                      </a:r>
                    </a:p>
                  </a:txBody>
                  <a:tcPr marL="2546" marR="2546" marT="2546" marB="2546"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just" fontAlgn="t"/>
                      <a:r>
                        <a:rPr lang="en-US" sz="1100" b="1" dirty="0">
                          <a:solidFill>
                            <a:srgbClr val="000000"/>
                          </a:solidFill>
                          <a:effectLst/>
                        </a:rPr>
                        <a:t>DAA</a:t>
                      </a:r>
                    </a:p>
                  </a:txBody>
                  <a:tcPr marL="2546" marR="2546" marT="2546" marB="2546">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763394118"/>
                  </a:ext>
                </a:extLst>
              </a:tr>
            </a:tbl>
          </a:graphicData>
        </a:graphic>
      </p:graphicFrame>
      <p:sp>
        <p:nvSpPr>
          <p:cNvPr id="4" name="Date Placeholder 3"/>
          <p:cNvSpPr>
            <a:spLocks noGrp="1"/>
          </p:cNvSpPr>
          <p:nvPr>
            <p:ph type="dt" sz="half" idx="10"/>
          </p:nvPr>
        </p:nvSpPr>
        <p:spPr/>
        <p:txBody>
          <a:bodyPr/>
          <a:lstStyle/>
          <a:p>
            <a:fld id="{AAFFC06E-2E5A-40A7-8DE1-9478A0434D1C}"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145836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marL="494030" lvl="1" algn="l">
              <a:lnSpc>
                <a:spcPct val="100000"/>
              </a:lnSpc>
              <a:spcBef>
                <a:spcPts val="220"/>
              </a:spcBef>
              <a:tabLst>
                <a:tab pos="723265" algn="l"/>
                <a:tab pos="724535" algn="l"/>
              </a:tabLst>
            </a:pPr>
            <a:r>
              <a:rPr lang="en-US" sz="2000" b="1" spc="-5" dirty="0">
                <a:solidFill>
                  <a:srgbClr val="00B050"/>
                </a:solidFill>
                <a:cs typeface="Times New Roman"/>
              </a:rPr>
              <a:t>3. Logical Operations</a:t>
            </a:r>
            <a:endParaRPr lang="en-US" sz="2000" dirty="0">
              <a:cs typeface="Times New Roman"/>
            </a:endParaRPr>
          </a:p>
        </p:txBody>
      </p:sp>
      <p:sp>
        <p:nvSpPr>
          <p:cNvPr id="3" name="Content Placeholder 2"/>
          <p:cNvSpPr>
            <a:spLocks noGrp="1"/>
          </p:cNvSpPr>
          <p:nvPr>
            <p:ph idx="1"/>
          </p:nvPr>
        </p:nvSpPr>
        <p:spPr>
          <a:xfrm>
            <a:off x="457200" y="742951"/>
            <a:ext cx="7848600" cy="1971180"/>
          </a:xfrm>
          <a:noFill/>
        </p:spPr>
        <p:txBody>
          <a:bodyPr>
            <a:noAutofit/>
          </a:bodyPr>
          <a:lstStyle/>
          <a:p>
            <a:r>
              <a:rPr lang="en-US" sz="1400" spc="-5" dirty="0">
                <a:cs typeface="Times New Roman"/>
              </a:rPr>
              <a:t>These</a:t>
            </a:r>
            <a:r>
              <a:rPr lang="en-US" sz="1400" spc="5" dirty="0">
                <a:cs typeface="Times New Roman"/>
              </a:rPr>
              <a:t> </a:t>
            </a:r>
            <a:r>
              <a:rPr lang="en-US" sz="1400" spc="-5" dirty="0">
                <a:cs typeface="Times New Roman"/>
              </a:rPr>
              <a:t>instructions</a:t>
            </a:r>
            <a:r>
              <a:rPr lang="en-US" sz="1400" spc="10" dirty="0">
                <a:cs typeface="Times New Roman"/>
              </a:rPr>
              <a:t> </a:t>
            </a:r>
            <a:r>
              <a:rPr lang="en-US" sz="1400" spc="-5" dirty="0">
                <a:solidFill>
                  <a:srgbClr val="C00000"/>
                </a:solidFill>
                <a:cs typeface="Times New Roman"/>
              </a:rPr>
              <a:t>perform</a:t>
            </a:r>
            <a:r>
              <a:rPr lang="en-US" sz="1400" spc="10" dirty="0">
                <a:solidFill>
                  <a:srgbClr val="C00000"/>
                </a:solidFill>
                <a:cs typeface="Times New Roman"/>
              </a:rPr>
              <a:t> </a:t>
            </a:r>
            <a:r>
              <a:rPr lang="en-US" sz="1400" spc="-5" dirty="0">
                <a:solidFill>
                  <a:srgbClr val="C00000"/>
                </a:solidFill>
                <a:cs typeface="Times New Roman"/>
              </a:rPr>
              <a:t>logic</a:t>
            </a:r>
            <a:r>
              <a:rPr lang="en-US" sz="1400" spc="5" dirty="0">
                <a:solidFill>
                  <a:srgbClr val="C00000"/>
                </a:solidFill>
                <a:cs typeface="Times New Roman"/>
              </a:rPr>
              <a:t> </a:t>
            </a:r>
            <a:r>
              <a:rPr lang="en-US" sz="1400" spc="-5" dirty="0">
                <a:solidFill>
                  <a:srgbClr val="C00000"/>
                </a:solidFill>
                <a:cs typeface="Times New Roman"/>
              </a:rPr>
              <a:t>operations</a:t>
            </a:r>
            <a:r>
              <a:rPr lang="en-US" sz="1400" spc="10" dirty="0">
                <a:solidFill>
                  <a:srgbClr val="C00000"/>
                </a:solidFill>
                <a:cs typeface="Times New Roman"/>
              </a:rPr>
              <a:t> </a:t>
            </a:r>
            <a:r>
              <a:rPr lang="en-US" sz="1400" spc="-5" dirty="0">
                <a:cs typeface="Times New Roman"/>
              </a:rPr>
              <a:t>on</a:t>
            </a:r>
            <a:r>
              <a:rPr lang="en-US" sz="1400" dirty="0">
                <a:cs typeface="Times New Roman"/>
              </a:rPr>
              <a:t> </a:t>
            </a:r>
            <a:r>
              <a:rPr lang="en-US" sz="1400" spc="-5" dirty="0">
                <a:cs typeface="Times New Roman"/>
              </a:rPr>
              <a:t>the </a:t>
            </a:r>
            <a:r>
              <a:rPr lang="en-US" sz="1400" spc="-785" dirty="0">
                <a:cs typeface="Times New Roman"/>
              </a:rPr>
              <a:t> </a:t>
            </a:r>
            <a:r>
              <a:rPr lang="en-US" sz="1400" spc="-5" dirty="0">
                <a:cs typeface="Times New Roman"/>
              </a:rPr>
              <a:t>contents of</a:t>
            </a:r>
            <a:r>
              <a:rPr lang="en-US" sz="1400" spc="-15" dirty="0">
                <a:cs typeface="Times New Roman"/>
              </a:rPr>
              <a:t> </a:t>
            </a:r>
            <a:r>
              <a:rPr lang="en-US" sz="1400" spc="-5" dirty="0">
                <a:cs typeface="Times New Roman"/>
              </a:rPr>
              <a:t>the accumulator.</a:t>
            </a:r>
          </a:p>
          <a:p>
            <a:pPr marL="761365" lvl="1" indent="-286385">
              <a:spcBef>
                <a:spcPts val="295"/>
              </a:spcBef>
              <a:tabLst>
                <a:tab pos="762000" algn="l"/>
              </a:tabLst>
            </a:pPr>
            <a:r>
              <a:rPr lang="en-US" sz="1400" dirty="0">
                <a:cs typeface="Times New Roman"/>
              </a:rPr>
              <a:t>ANA,</a:t>
            </a:r>
            <a:r>
              <a:rPr lang="en-US" sz="1400" spc="-5" dirty="0">
                <a:cs typeface="Times New Roman"/>
              </a:rPr>
              <a:t> </a:t>
            </a:r>
            <a:r>
              <a:rPr lang="en-US" sz="1400" dirty="0">
                <a:cs typeface="Times New Roman"/>
              </a:rPr>
              <a:t>ANI,</a:t>
            </a:r>
            <a:r>
              <a:rPr lang="en-US" sz="1400" spc="-5" dirty="0">
                <a:cs typeface="Times New Roman"/>
              </a:rPr>
              <a:t> ORA,</a:t>
            </a:r>
            <a:r>
              <a:rPr lang="en-US" sz="1400" dirty="0">
                <a:cs typeface="Times New Roman"/>
              </a:rPr>
              <a:t> </a:t>
            </a:r>
            <a:r>
              <a:rPr lang="en-US" sz="1400" spc="-5" dirty="0">
                <a:cs typeface="Times New Roman"/>
              </a:rPr>
              <a:t>ORI, XRA and</a:t>
            </a:r>
            <a:r>
              <a:rPr lang="en-US" sz="1400" spc="-15" dirty="0">
                <a:cs typeface="Times New Roman"/>
              </a:rPr>
              <a:t> </a:t>
            </a:r>
            <a:r>
              <a:rPr lang="en-US" sz="1400" spc="-5" dirty="0">
                <a:cs typeface="Times New Roman"/>
              </a:rPr>
              <a:t>XRI</a:t>
            </a:r>
            <a:endParaRPr lang="en-US" sz="1400" dirty="0">
              <a:cs typeface="Times New Roman"/>
            </a:endParaRPr>
          </a:p>
          <a:p>
            <a:pPr marL="1155700" lvl="2">
              <a:spcBef>
                <a:spcPts val="295"/>
              </a:spcBef>
              <a:tabLst>
                <a:tab pos="1155700" algn="l"/>
              </a:tabLst>
            </a:pPr>
            <a:r>
              <a:rPr lang="en-US" sz="1400" spc="-5" dirty="0">
                <a:cs typeface="Times New Roman"/>
              </a:rPr>
              <a:t>Source:</a:t>
            </a:r>
            <a:r>
              <a:rPr lang="en-US" sz="1400" spc="-30" dirty="0">
                <a:cs typeface="Times New Roman"/>
              </a:rPr>
              <a:t> </a:t>
            </a:r>
            <a:r>
              <a:rPr lang="en-US" sz="1400" spc="-5" dirty="0">
                <a:cs typeface="Times New Roman"/>
              </a:rPr>
              <a:t>Accumulator</a:t>
            </a:r>
            <a:r>
              <a:rPr lang="en-US" sz="1400" spc="-40" dirty="0">
                <a:cs typeface="Times New Roman"/>
              </a:rPr>
              <a:t> </a:t>
            </a:r>
            <a:r>
              <a:rPr lang="en-US" sz="1400" dirty="0">
                <a:cs typeface="Times New Roman"/>
              </a:rPr>
              <a:t>and</a:t>
            </a:r>
          </a:p>
          <a:p>
            <a:pPr marL="1612900" lvl="3" indent="-229235">
              <a:spcBef>
                <a:spcPts val="259"/>
              </a:spcBef>
              <a:tabLst>
                <a:tab pos="1613535" algn="l"/>
              </a:tabLst>
            </a:pPr>
            <a:r>
              <a:rPr lang="en-US" sz="1400" spc="-5" dirty="0">
                <a:cs typeface="Times New Roman"/>
              </a:rPr>
              <a:t>An</a:t>
            </a:r>
            <a:r>
              <a:rPr lang="en-US" sz="1400" spc="-15" dirty="0">
                <a:cs typeface="Times New Roman"/>
              </a:rPr>
              <a:t> </a:t>
            </a:r>
            <a:r>
              <a:rPr lang="en-US" sz="1400" spc="-5" dirty="0">
                <a:cs typeface="Times New Roman"/>
              </a:rPr>
              <a:t>8-bit</a:t>
            </a:r>
            <a:r>
              <a:rPr lang="en-US" sz="1400" spc="-40" dirty="0">
                <a:cs typeface="Times New Roman"/>
              </a:rPr>
              <a:t> </a:t>
            </a:r>
            <a:r>
              <a:rPr lang="en-US" sz="1400" spc="-5" dirty="0">
                <a:cs typeface="Times New Roman"/>
              </a:rPr>
              <a:t>number</a:t>
            </a:r>
            <a:endParaRPr lang="en-US" sz="1400" dirty="0">
              <a:cs typeface="Times New Roman"/>
            </a:endParaRPr>
          </a:p>
          <a:p>
            <a:pPr marL="1612265" lvl="3" indent="-229235">
              <a:spcBef>
                <a:spcPts val="240"/>
              </a:spcBef>
              <a:tabLst>
                <a:tab pos="1612900" algn="l"/>
              </a:tabLst>
            </a:pPr>
            <a:r>
              <a:rPr lang="en-US" sz="1400" spc="-5" dirty="0">
                <a:cs typeface="Times New Roman"/>
              </a:rPr>
              <a:t>The</a:t>
            </a:r>
            <a:r>
              <a:rPr lang="en-US" sz="1400" spc="-10" dirty="0">
                <a:cs typeface="Times New Roman"/>
              </a:rPr>
              <a:t> </a:t>
            </a:r>
            <a:r>
              <a:rPr lang="en-US" sz="1400" spc="-5" dirty="0">
                <a:cs typeface="Times New Roman"/>
              </a:rPr>
              <a:t>contents</a:t>
            </a:r>
            <a:r>
              <a:rPr lang="en-US" sz="1400" spc="-15" dirty="0">
                <a:cs typeface="Times New Roman"/>
              </a:rPr>
              <a:t> </a:t>
            </a:r>
            <a:r>
              <a:rPr lang="en-US" sz="1400" spc="-5" dirty="0">
                <a:cs typeface="Times New Roman"/>
              </a:rPr>
              <a:t>of</a:t>
            </a:r>
            <a:r>
              <a:rPr lang="en-US" sz="1400" spc="-30" dirty="0">
                <a:cs typeface="Times New Roman"/>
              </a:rPr>
              <a:t> </a:t>
            </a:r>
            <a:r>
              <a:rPr lang="en-US" sz="1400" spc="-5" dirty="0">
                <a:cs typeface="Times New Roman"/>
              </a:rPr>
              <a:t>a</a:t>
            </a:r>
            <a:r>
              <a:rPr lang="en-US" sz="1400" spc="-10" dirty="0">
                <a:cs typeface="Times New Roman"/>
              </a:rPr>
              <a:t> </a:t>
            </a:r>
            <a:r>
              <a:rPr lang="en-US" sz="1400" spc="-5" dirty="0">
                <a:cs typeface="Times New Roman"/>
              </a:rPr>
              <a:t>register</a:t>
            </a:r>
            <a:endParaRPr lang="en-US" sz="1400" dirty="0">
              <a:cs typeface="Times New Roman"/>
            </a:endParaRPr>
          </a:p>
          <a:p>
            <a:pPr marL="1612265" lvl="3" indent="-229235">
              <a:spcBef>
                <a:spcPts val="235"/>
              </a:spcBef>
              <a:tabLst>
                <a:tab pos="1612900" algn="l"/>
              </a:tabLst>
            </a:pPr>
            <a:r>
              <a:rPr lang="en-US" sz="1400" spc="-5" dirty="0">
                <a:cs typeface="Times New Roman"/>
              </a:rPr>
              <a:t>The contents</a:t>
            </a:r>
            <a:r>
              <a:rPr lang="en-US" sz="1400" spc="-10" dirty="0">
                <a:cs typeface="Times New Roman"/>
              </a:rPr>
              <a:t> </a:t>
            </a:r>
            <a:r>
              <a:rPr lang="en-US" sz="1400" spc="-5" dirty="0">
                <a:cs typeface="Times New Roman"/>
              </a:rPr>
              <a:t>of</a:t>
            </a:r>
            <a:r>
              <a:rPr lang="en-US" sz="1400" spc="-30" dirty="0">
                <a:cs typeface="Times New Roman"/>
              </a:rPr>
              <a:t> </a:t>
            </a:r>
            <a:r>
              <a:rPr lang="en-US" sz="1400" spc="-5" dirty="0">
                <a:cs typeface="Times New Roman"/>
              </a:rPr>
              <a:t>a memory</a:t>
            </a:r>
            <a:r>
              <a:rPr lang="en-US" sz="1400" spc="-15" dirty="0">
                <a:cs typeface="Times New Roman"/>
              </a:rPr>
              <a:t> </a:t>
            </a:r>
            <a:r>
              <a:rPr lang="en-US" sz="1400" spc="-5" dirty="0">
                <a:cs typeface="Times New Roman"/>
              </a:rPr>
              <a:t>location</a:t>
            </a:r>
            <a:endParaRPr lang="en-US" sz="1400" dirty="0">
              <a:cs typeface="Times New Roman"/>
            </a:endParaRPr>
          </a:p>
          <a:p>
            <a:pPr marL="1155700" lvl="2">
              <a:spcBef>
                <a:spcPts val="275"/>
              </a:spcBef>
              <a:tabLst>
                <a:tab pos="1155700" algn="l"/>
              </a:tabLst>
            </a:pPr>
            <a:r>
              <a:rPr lang="en-US" sz="1400" spc="-5" dirty="0">
                <a:cs typeface="Times New Roman"/>
              </a:rPr>
              <a:t>Destination:</a:t>
            </a:r>
            <a:r>
              <a:rPr lang="en-US" sz="1400" spc="-45" dirty="0">
                <a:cs typeface="Times New Roman"/>
              </a:rPr>
              <a:t> </a:t>
            </a:r>
            <a:r>
              <a:rPr lang="en-US" sz="1400" spc="-5" dirty="0">
                <a:cs typeface="Times New Roman"/>
              </a:rPr>
              <a:t>Accumulator</a:t>
            </a:r>
            <a:endParaRPr lang="en-US" sz="1400" dirty="0">
              <a:cs typeface="Times New Roman"/>
            </a:endParaRPr>
          </a:p>
          <a:p>
            <a:endParaRPr lang="en-US" sz="1600" dirty="0">
              <a:latin typeface="Times New Roman"/>
              <a:cs typeface="Times New Roman"/>
            </a:endParaRPr>
          </a:p>
          <a:p>
            <a:endParaRPr lang="en-US" sz="1600" dirty="0"/>
          </a:p>
        </p:txBody>
      </p:sp>
      <p:sp>
        <p:nvSpPr>
          <p:cNvPr id="4" name="Date Placeholder 3"/>
          <p:cNvSpPr>
            <a:spLocks noGrp="1"/>
          </p:cNvSpPr>
          <p:nvPr>
            <p:ph type="dt" sz="half" idx="10"/>
          </p:nvPr>
        </p:nvSpPr>
        <p:spPr/>
        <p:txBody>
          <a:bodyPr/>
          <a:lstStyle/>
          <a:p>
            <a:fld id="{224CC185-1663-48E2-BA51-3DD57EF6B620}"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graphicFrame>
        <p:nvGraphicFramePr>
          <p:cNvPr id="7" name="object 4">
            <a:extLst>
              <a:ext uri="{FF2B5EF4-FFF2-40B4-BE49-F238E27FC236}">
                <a16:creationId xmlns:a16="http://schemas.microsoft.com/office/drawing/2014/main" id="{DCF0E6E6-1F76-423B-87B2-0B0C459D73A9}"/>
              </a:ext>
            </a:extLst>
          </p:cNvPr>
          <p:cNvGraphicFramePr>
            <a:graphicFrameLocks noGrp="1"/>
          </p:cNvGraphicFramePr>
          <p:nvPr>
            <p:extLst>
              <p:ext uri="{D42A27DB-BD31-4B8C-83A1-F6EECF244321}">
                <p14:modId xmlns:p14="http://schemas.microsoft.com/office/powerpoint/2010/main" val="4126076515"/>
              </p:ext>
            </p:extLst>
          </p:nvPr>
        </p:nvGraphicFramePr>
        <p:xfrm>
          <a:off x="1524000" y="2790332"/>
          <a:ext cx="6096000" cy="2061666"/>
        </p:xfrm>
        <a:graphic>
          <a:graphicData uri="http://schemas.openxmlformats.org/drawingml/2006/table">
            <a:tbl>
              <a:tblPr firstRow="1" bandRow="1">
                <a:tableStyleId>{2D5ABB26-0587-4C30-8999-92F81FD0307C}</a:tableStyleId>
              </a:tblPr>
              <a:tblGrid>
                <a:gridCol w="536551">
                  <a:extLst>
                    <a:ext uri="{9D8B030D-6E8A-4147-A177-3AD203B41FA5}">
                      <a16:colId xmlns:a16="http://schemas.microsoft.com/office/drawing/2014/main" val="20000"/>
                    </a:ext>
                  </a:extLst>
                </a:gridCol>
                <a:gridCol w="1391155">
                  <a:extLst>
                    <a:ext uri="{9D8B030D-6E8A-4147-A177-3AD203B41FA5}">
                      <a16:colId xmlns:a16="http://schemas.microsoft.com/office/drawing/2014/main" val="20001"/>
                    </a:ext>
                  </a:extLst>
                </a:gridCol>
                <a:gridCol w="4168294">
                  <a:extLst>
                    <a:ext uri="{9D8B030D-6E8A-4147-A177-3AD203B41FA5}">
                      <a16:colId xmlns:a16="http://schemas.microsoft.com/office/drawing/2014/main" val="20002"/>
                    </a:ext>
                  </a:extLst>
                </a:gridCol>
              </a:tblGrid>
              <a:tr h="307809">
                <a:tc>
                  <a:txBody>
                    <a:bodyPr/>
                    <a:lstStyle/>
                    <a:p>
                      <a:pPr marL="31750" algn="l">
                        <a:lnSpc>
                          <a:spcPts val="1635"/>
                        </a:lnSpc>
                      </a:pPr>
                      <a:r>
                        <a:rPr sz="1500" spc="-5" dirty="0">
                          <a:latin typeface="+mn-lt"/>
                          <a:cs typeface="Times New Roman" panose="02020603050405020304" pitchFamily="18" charset="0"/>
                        </a:rPr>
                        <a:t>ANA</a:t>
                      </a:r>
                      <a:endParaRPr sz="1500">
                        <a:latin typeface="+mn-lt"/>
                        <a:cs typeface="Times New Roman" panose="02020603050405020304" pitchFamily="18" charset="0"/>
                      </a:endParaRPr>
                    </a:p>
                  </a:txBody>
                  <a:tcPr marL="0" marR="0" marT="0" marB="0"/>
                </a:tc>
                <a:tc>
                  <a:txBody>
                    <a:bodyPr/>
                    <a:lstStyle/>
                    <a:p>
                      <a:pPr marL="108585" algn="l">
                        <a:lnSpc>
                          <a:spcPts val="1635"/>
                        </a:lnSpc>
                      </a:pPr>
                      <a:r>
                        <a:rPr sz="1500" spc="-5" dirty="0">
                          <a:latin typeface="+mn-lt"/>
                          <a:cs typeface="Times New Roman" panose="02020603050405020304" pitchFamily="18" charset="0"/>
                        </a:rPr>
                        <a:t>R/M</a:t>
                      </a:r>
                      <a:endParaRPr sz="1500">
                        <a:latin typeface="+mn-lt"/>
                        <a:cs typeface="Times New Roman" panose="02020603050405020304" pitchFamily="18" charset="0"/>
                      </a:endParaRPr>
                    </a:p>
                  </a:txBody>
                  <a:tcPr marL="0" marR="0" marT="0" marB="0"/>
                </a:tc>
                <a:tc>
                  <a:txBody>
                    <a:bodyPr/>
                    <a:lstStyle/>
                    <a:p>
                      <a:pPr marL="0" indent="0" algn="l">
                        <a:lnSpc>
                          <a:spcPts val="1635"/>
                        </a:lnSpc>
                      </a:pPr>
                      <a:r>
                        <a:rPr sz="1500" spc="-5" dirty="0">
                          <a:latin typeface="+mn-lt"/>
                          <a:cs typeface="Times New Roman" panose="02020603050405020304" pitchFamily="18" charset="0"/>
                        </a:rPr>
                        <a:t>AND Accumulator</a:t>
                      </a:r>
                      <a:r>
                        <a:rPr sz="1500" spc="-20" dirty="0">
                          <a:latin typeface="+mn-lt"/>
                          <a:cs typeface="Times New Roman" panose="02020603050405020304" pitchFamily="18" charset="0"/>
                        </a:rPr>
                        <a:t> </a:t>
                      </a:r>
                      <a:r>
                        <a:rPr sz="1500" spc="-5" dirty="0">
                          <a:latin typeface="+mn-lt"/>
                          <a:cs typeface="Times New Roman" panose="02020603050405020304" pitchFamily="18" charset="0"/>
                        </a:rPr>
                        <a:t>With</a:t>
                      </a:r>
                      <a:r>
                        <a:rPr sz="1500" spc="-10" dirty="0">
                          <a:latin typeface="+mn-lt"/>
                          <a:cs typeface="Times New Roman" panose="02020603050405020304" pitchFamily="18" charset="0"/>
                        </a:rPr>
                        <a:t> </a:t>
                      </a:r>
                      <a:r>
                        <a:rPr sz="1500" spc="-5" dirty="0">
                          <a:latin typeface="+mn-lt"/>
                          <a:cs typeface="Times New Roman" panose="02020603050405020304" pitchFamily="18" charset="0"/>
                        </a:rPr>
                        <a:t>Reg/Mem</a:t>
                      </a:r>
                      <a:endParaRPr sz="1500" dirty="0">
                        <a:latin typeface="+mn-lt"/>
                        <a:cs typeface="Times New Roman" panose="02020603050405020304" pitchFamily="18" charset="0"/>
                      </a:endParaRPr>
                    </a:p>
                  </a:txBody>
                  <a:tcPr marL="0" marR="0" marT="0" marB="0"/>
                </a:tc>
                <a:extLst>
                  <a:ext uri="{0D108BD9-81ED-4DB2-BD59-A6C34878D82A}">
                    <a16:rowId xmlns:a16="http://schemas.microsoft.com/office/drawing/2014/main" val="10000"/>
                  </a:ext>
                </a:extLst>
              </a:tr>
              <a:tr h="277430">
                <a:tc>
                  <a:txBody>
                    <a:bodyPr/>
                    <a:lstStyle/>
                    <a:p>
                      <a:pPr marL="31750" algn="l">
                        <a:lnSpc>
                          <a:spcPts val="1795"/>
                        </a:lnSpc>
                      </a:pPr>
                      <a:r>
                        <a:rPr sz="1500" spc="-5" dirty="0">
                          <a:latin typeface="+mn-lt"/>
                          <a:cs typeface="Times New Roman" panose="02020603050405020304" pitchFamily="18" charset="0"/>
                        </a:rPr>
                        <a:t>ANI</a:t>
                      </a:r>
                      <a:endParaRPr sz="1500">
                        <a:latin typeface="+mn-lt"/>
                        <a:cs typeface="Times New Roman" panose="02020603050405020304" pitchFamily="18" charset="0"/>
                      </a:endParaRPr>
                    </a:p>
                  </a:txBody>
                  <a:tcPr marL="0" marR="0" marT="0" marB="0"/>
                </a:tc>
                <a:tc>
                  <a:txBody>
                    <a:bodyPr/>
                    <a:lstStyle/>
                    <a:p>
                      <a:pPr marL="81280" algn="l">
                        <a:lnSpc>
                          <a:spcPts val="1795"/>
                        </a:lnSpc>
                      </a:pPr>
                      <a:r>
                        <a:rPr sz="1500" dirty="0">
                          <a:latin typeface="+mn-lt"/>
                          <a:cs typeface="Times New Roman" panose="02020603050405020304" pitchFamily="18" charset="0"/>
                        </a:rPr>
                        <a:t>#</a:t>
                      </a:r>
                      <a:endParaRPr sz="1500">
                        <a:latin typeface="+mn-lt"/>
                        <a:cs typeface="Times New Roman" panose="02020603050405020304" pitchFamily="18" charset="0"/>
                      </a:endParaRPr>
                    </a:p>
                  </a:txBody>
                  <a:tcPr marL="0" marR="0" marT="0" marB="0"/>
                </a:tc>
                <a:tc>
                  <a:txBody>
                    <a:bodyPr/>
                    <a:lstStyle/>
                    <a:p>
                      <a:pPr marR="24130" algn="l">
                        <a:lnSpc>
                          <a:spcPts val="1795"/>
                        </a:lnSpc>
                      </a:pPr>
                      <a:r>
                        <a:rPr sz="1500" spc="-5" dirty="0">
                          <a:latin typeface="+mn-lt"/>
                          <a:cs typeface="Times New Roman" panose="02020603050405020304" pitchFamily="18" charset="0"/>
                        </a:rPr>
                        <a:t>AND</a:t>
                      </a:r>
                      <a:r>
                        <a:rPr sz="1500" dirty="0">
                          <a:latin typeface="+mn-lt"/>
                          <a:cs typeface="Times New Roman" panose="02020603050405020304" pitchFamily="18" charset="0"/>
                        </a:rPr>
                        <a:t> </a:t>
                      </a:r>
                      <a:r>
                        <a:rPr sz="1500" spc="-5" dirty="0">
                          <a:latin typeface="+mn-lt"/>
                          <a:cs typeface="Times New Roman" panose="02020603050405020304" pitchFamily="18" charset="0"/>
                        </a:rPr>
                        <a:t>Accumulator</a:t>
                      </a:r>
                      <a:r>
                        <a:rPr sz="1500" spc="-15" dirty="0">
                          <a:latin typeface="+mn-lt"/>
                          <a:cs typeface="Times New Roman" panose="02020603050405020304" pitchFamily="18" charset="0"/>
                        </a:rPr>
                        <a:t> </a:t>
                      </a:r>
                      <a:r>
                        <a:rPr sz="1500" spc="-5" dirty="0">
                          <a:latin typeface="+mn-lt"/>
                          <a:cs typeface="Times New Roman" panose="02020603050405020304" pitchFamily="18" charset="0"/>
                        </a:rPr>
                        <a:t>With</a:t>
                      </a:r>
                      <a:r>
                        <a:rPr sz="1500" spc="-10" dirty="0">
                          <a:latin typeface="+mn-lt"/>
                          <a:cs typeface="Times New Roman" panose="02020603050405020304" pitchFamily="18" charset="0"/>
                        </a:rPr>
                        <a:t> </a:t>
                      </a:r>
                      <a:r>
                        <a:rPr sz="1500" dirty="0">
                          <a:latin typeface="+mn-lt"/>
                          <a:cs typeface="Times New Roman" panose="02020603050405020304" pitchFamily="18" charset="0"/>
                        </a:rPr>
                        <a:t>an</a:t>
                      </a:r>
                      <a:r>
                        <a:rPr sz="1500" spc="-5" dirty="0">
                          <a:latin typeface="+mn-lt"/>
                          <a:cs typeface="Times New Roman" panose="02020603050405020304" pitchFamily="18" charset="0"/>
                        </a:rPr>
                        <a:t> 8-bit</a:t>
                      </a:r>
                      <a:r>
                        <a:rPr sz="1500" dirty="0">
                          <a:latin typeface="+mn-lt"/>
                          <a:cs typeface="Times New Roman" panose="02020603050405020304" pitchFamily="18" charset="0"/>
                        </a:rPr>
                        <a:t> </a:t>
                      </a:r>
                      <a:r>
                        <a:rPr sz="1500" spc="-5" dirty="0">
                          <a:latin typeface="+mn-lt"/>
                          <a:cs typeface="Times New Roman" panose="02020603050405020304" pitchFamily="18" charset="0"/>
                        </a:rPr>
                        <a:t>number</a:t>
                      </a:r>
                      <a:endParaRPr sz="1500" dirty="0">
                        <a:latin typeface="+mn-lt"/>
                        <a:cs typeface="Times New Roman" panose="02020603050405020304" pitchFamily="18" charset="0"/>
                      </a:endParaRPr>
                    </a:p>
                  </a:txBody>
                  <a:tcPr marL="0" marR="0" marT="0" marB="0"/>
                </a:tc>
                <a:extLst>
                  <a:ext uri="{0D108BD9-81ED-4DB2-BD59-A6C34878D82A}">
                    <a16:rowId xmlns:a16="http://schemas.microsoft.com/office/drawing/2014/main" val="10001"/>
                  </a:ext>
                </a:extLst>
              </a:tr>
              <a:tr h="378275">
                <a:tc>
                  <a:txBody>
                    <a:bodyPr/>
                    <a:lstStyle/>
                    <a:p>
                      <a:pPr marL="31750" algn="l">
                        <a:lnSpc>
                          <a:spcPct val="100000"/>
                        </a:lnSpc>
                        <a:spcBef>
                          <a:spcPts val="985"/>
                        </a:spcBef>
                      </a:pPr>
                      <a:r>
                        <a:rPr sz="1500" spc="-5" dirty="0">
                          <a:latin typeface="+mn-lt"/>
                          <a:cs typeface="Times New Roman" panose="02020603050405020304" pitchFamily="18" charset="0"/>
                        </a:rPr>
                        <a:t>ORA</a:t>
                      </a:r>
                      <a:endParaRPr sz="1500">
                        <a:latin typeface="+mn-lt"/>
                        <a:cs typeface="Times New Roman" panose="02020603050405020304" pitchFamily="18" charset="0"/>
                      </a:endParaRPr>
                    </a:p>
                  </a:txBody>
                  <a:tcPr marL="0" marR="0" marT="125095" marB="0"/>
                </a:tc>
                <a:tc>
                  <a:txBody>
                    <a:bodyPr/>
                    <a:lstStyle/>
                    <a:p>
                      <a:pPr marL="98425" algn="l">
                        <a:lnSpc>
                          <a:spcPct val="100000"/>
                        </a:lnSpc>
                        <a:spcBef>
                          <a:spcPts val="985"/>
                        </a:spcBef>
                      </a:pPr>
                      <a:r>
                        <a:rPr sz="1500" spc="-5" dirty="0">
                          <a:latin typeface="+mn-lt"/>
                          <a:cs typeface="Times New Roman" panose="02020603050405020304" pitchFamily="18" charset="0"/>
                        </a:rPr>
                        <a:t>R/M</a:t>
                      </a:r>
                      <a:endParaRPr sz="1500" dirty="0">
                        <a:latin typeface="+mn-lt"/>
                        <a:cs typeface="Times New Roman" panose="02020603050405020304" pitchFamily="18" charset="0"/>
                      </a:endParaRPr>
                    </a:p>
                  </a:txBody>
                  <a:tcPr marL="0" marR="0" marT="125095" marB="0"/>
                </a:tc>
                <a:tc>
                  <a:txBody>
                    <a:bodyPr/>
                    <a:lstStyle/>
                    <a:p>
                      <a:pPr marL="0" indent="0" algn="l" defTabSz="114300">
                        <a:lnSpc>
                          <a:spcPct val="100000"/>
                        </a:lnSpc>
                        <a:spcBef>
                          <a:spcPts val="985"/>
                        </a:spcBef>
                      </a:pPr>
                      <a:r>
                        <a:rPr sz="1500" spc="-5" dirty="0">
                          <a:latin typeface="+mn-lt"/>
                          <a:cs typeface="Times New Roman" panose="02020603050405020304" pitchFamily="18" charset="0"/>
                        </a:rPr>
                        <a:t>OR</a:t>
                      </a:r>
                      <a:r>
                        <a:rPr sz="1500" spc="-15" dirty="0">
                          <a:latin typeface="+mn-lt"/>
                          <a:cs typeface="Times New Roman" panose="02020603050405020304" pitchFamily="18" charset="0"/>
                        </a:rPr>
                        <a:t> </a:t>
                      </a:r>
                      <a:r>
                        <a:rPr sz="1500" spc="-5" dirty="0">
                          <a:latin typeface="+mn-lt"/>
                          <a:cs typeface="Times New Roman" panose="02020603050405020304" pitchFamily="18" charset="0"/>
                        </a:rPr>
                        <a:t>Accumulator</a:t>
                      </a:r>
                      <a:r>
                        <a:rPr sz="1500" spc="-20" dirty="0">
                          <a:latin typeface="+mn-lt"/>
                          <a:cs typeface="Times New Roman" panose="02020603050405020304" pitchFamily="18" charset="0"/>
                        </a:rPr>
                        <a:t> </a:t>
                      </a:r>
                      <a:r>
                        <a:rPr sz="1500" spc="-5" dirty="0">
                          <a:latin typeface="+mn-lt"/>
                          <a:cs typeface="Times New Roman" panose="02020603050405020304" pitchFamily="18" charset="0"/>
                        </a:rPr>
                        <a:t>With</a:t>
                      </a:r>
                      <a:r>
                        <a:rPr sz="1500" spc="-15" dirty="0">
                          <a:latin typeface="+mn-lt"/>
                          <a:cs typeface="Times New Roman" panose="02020603050405020304" pitchFamily="18" charset="0"/>
                        </a:rPr>
                        <a:t> </a:t>
                      </a:r>
                      <a:r>
                        <a:rPr sz="1500" spc="-5" dirty="0">
                          <a:latin typeface="+mn-lt"/>
                          <a:cs typeface="Times New Roman" panose="02020603050405020304" pitchFamily="18" charset="0"/>
                        </a:rPr>
                        <a:t>Reg/Mem</a:t>
                      </a:r>
                      <a:endParaRPr sz="1500" dirty="0">
                        <a:latin typeface="+mn-lt"/>
                        <a:cs typeface="Times New Roman" panose="02020603050405020304" pitchFamily="18" charset="0"/>
                      </a:endParaRPr>
                    </a:p>
                  </a:txBody>
                  <a:tcPr marL="0" marR="0" marT="125095" marB="0"/>
                </a:tc>
                <a:extLst>
                  <a:ext uri="{0D108BD9-81ED-4DB2-BD59-A6C34878D82A}">
                    <a16:rowId xmlns:a16="http://schemas.microsoft.com/office/drawing/2014/main" val="10002"/>
                  </a:ext>
                </a:extLst>
              </a:tr>
              <a:tr h="488973">
                <a:tc>
                  <a:txBody>
                    <a:bodyPr/>
                    <a:lstStyle/>
                    <a:p>
                      <a:pPr marL="31750" algn="l">
                        <a:lnSpc>
                          <a:spcPts val="1795"/>
                        </a:lnSpc>
                      </a:pPr>
                      <a:r>
                        <a:rPr sz="1500" spc="-5" dirty="0">
                          <a:latin typeface="+mn-lt"/>
                          <a:cs typeface="Times New Roman" panose="02020603050405020304" pitchFamily="18" charset="0"/>
                        </a:rPr>
                        <a:t>ORI</a:t>
                      </a:r>
                      <a:endParaRPr sz="1500">
                        <a:latin typeface="+mn-lt"/>
                        <a:cs typeface="Times New Roman" panose="02020603050405020304" pitchFamily="18" charset="0"/>
                      </a:endParaRPr>
                    </a:p>
                  </a:txBody>
                  <a:tcPr marL="0" marR="0" marT="0" marB="0"/>
                </a:tc>
                <a:tc>
                  <a:txBody>
                    <a:bodyPr/>
                    <a:lstStyle/>
                    <a:p>
                      <a:pPr marL="118745" algn="l">
                        <a:lnSpc>
                          <a:spcPts val="1795"/>
                        </a:lnSpc>
                      </a:pPr>
                      <a:r>
                        <a:rPr sz="1500" dirty="0">
                          <a:latin typeface="+mn-lt"/>
                          <a:cs typeface="Times New Roman" panose="02020603050405020304" pitchFamily="18" charset="0"/>
                        </a:rPr>
                        <a:t>#</a:t>
                      </a:r>
                      <a:endParaRPr sz="1500">
                        <a:latin typeface="+mn-lt"/>
                        <a:cs typeface="Times New Roman" panose="02020603050405020304" pitchFamily="18" charset="0"/>
                      </a:endParaRPr>
                    </a:p>
                  </a:txBody>
                  <a:tcPr marL="0" marR="0" marT="0" marB="0"/>
                </a:tc>
                <a:tc>
                  <a:txBody>
                    <a:bodyPr/>
                    <a:lstStyle/>
                    <a:p>
                      <a:pPr marL="0" indent="0" algn="l">
                        <a:lnSpc>
                          <a:spcPts val="1795"/>
                        </a:lnSpc>
                      </a:pPr>
                      <a:r>
                        <a:rPr sz="1500" spc="-5" dirty="0">
                          <a:latin typeface="+mn-lt"/>
                          <a:cs typeface="Times New Roman" panose="02020603050405020304" pitchFamily="18" charset="0"/>
                        </a:rPr>
                        <a:t>OR</a:t>
                      </a:r>
                      <a:r>
                        <a:rPr sz="1500" spc="-10" dirty="0">
                          <a:latin typeface="+mn-lt"/>
                          <a:cs typeface="Times New Roman" panose="02020603050405020304" pitchFamily="18" charset="0"/>
                        </a:rPr>
                        <a:t> </a:t>
                      </a:r>
                      <a:r>
                        <a:rPr sz="1500" spc="-5" dirty="0">
                          <a:latin typeface="+mn-lt"/>
                          <a:cs typeface="Times New Roman" panose="02020603050405020304" pitchFamily="18" charset="0"/>
                        </a:rPr>
                        <a:t>Accumulator</a:t>
                      </a:r>
                      <a:r>
                        <a:rPr sz="1500" spc="-15" dirty="0">
                          <a:latin typeface="+mn-lt"/>
                          <a:cs typeface="Times New Roman" panose="02020603050405020304" pitchFamily="18" charset="0"/>
                        </a:rPr>
                        <a:t> </a:t>
                      </a:r>
                      <a:r>
                        <a:rPr sz="1500" spc="-5" dirty="0">
                          <a:latin typeface="+mn-lt"/>
                          <a:cs typeface="Times New Roman" panose="02020603050405020304" pitchFamily="18" charset="0"/>
                        </a:rPr>
                        <a:t>With</a:t>
                      </a:r>
                      <a:r>
                        <a:rPr sz="1500" spc="-10" dirty="0">
                          <a:latin typeface="+mn-lt"/>
                          <a:cs typeface="Times New Roman" panose="02020603050405020304" pitchFamily="18" charset="0"/>
                        </a:rPr>
                        <a:t> </a:t>
                      </a:r>
                      <a:r>
                        <a:rPr sz="1500" dirty="0">
                          <a:latin typeface="+mn-lt"/>
                          <a:cs typeface="Times New Roman" panose="02020603050405020304" pitchFamily="18" charset="0"/>
                        </a:rPr>
                        <a:t>an</a:t>
                      </a:r>
                      <a:r>
                        <a:rPr sz="1500" spc="-5" dirty="0">
                          <a:latin typeface="+mn-lt"/>
                          <a:cs typeface="Times New Roman" panose="02020603050405020304" pitchFamily="18" charset="0"/>
                        </a:rPr>
                        <a:t> 8-bit</a:t>
                      </a:r>
                      <a:r>
                        <a:rPr sz="1500" spc="-10" dirty="0">
                          <a:latin typeface="+mn-lt"/>
                          <a:cs typeface="Times New Roman" panose="02020603050405020304" pitchFamily="18" charset="0"/>
                        </a:rPr>
                        <a:t> </a:t>
                      </a:r>
                      <a:r>
                        <a:rPr sz="1500" spc="-5" dirty="0">
                          <a:latin typeface="+mn-lt"/>
                          <a:cs typeface="Times New Roman" panose="02020603050405020304" pitchFamily="18" charset="0"/>
                        </a:rPr>
                        <a:t>number</a:t>
                      </a:r>
                      <a:endParaRPr sz="1500" dirty="0">
                        <a:latin typeface="+mn-lt"/>
                        <a:cs typeface="Times New Roman" panose="02020603050405020304" pitchFamily="18" charset="0"/>
                      </a:endParaRPr>
                    </a:p>
                  </a:txBody>
                  <a:tcPr marL="0" marR="0" marT="0" marB="0"/>
                </a:tc>
                <a:extLst>
                  <a:ext uri="{0D108BD9-81ED-4DB2-BD59-A6C34878D82A}">
                    <a16:rowId xmlns:a16="http://schemas.microsoft.com/office/drawing/2014/main" val="10003"/>
                  </a:ext>
                </a:extLst>
              </a:tr>
              <a:tr h="378275">
                <a:tc>
                  <a:txBody>
                    <a:bodyPr/>
                    <a:lstStyle/>
                    <a:p>
                      <a:pPr marL="31750" algn="l">
                        <a:lnSpc>
                          <a:spcPct val="100000"/>
                        </a:lnSpc>
                        <a:spcBef>
                          <a:spcPts val="985"/>
                        </a:spcBef>
                      </a:pPr>
                      <a:r>
                        <a:rPr sz="1500" spc="-5" dirty="0">
                          <a:latin typeface="+mn-lt"/>
                          <a:cs typeface="Times New Roman" panose="02020603050405020304" pitchFamily="18" charset="0"/>
                        </a:rPr>
                        <a:t>XRA</a:t>
                      </a:r>
                      <a:endParaRPr sz="1500">
                        <a:latin typeface="+mn-lt"/>
                        <a:cs typeface="Times New Roman" panose="02020603050405020304" pitchFamily="18" charset="0"/>
                      </a:endParaRPr>
                    </a:p>
                  </a:txBody>
                  <a:tcPr marL="0" marR="0" marT="125095" marB="0"/>
                </a:tc>
                <a:tc>
                  <a:txBody>
                    <a:bodyPr/>
                    <a:lstStyle/>
                    <a:p>
                      <a:pPr marL="145415" algn="l">
                        <a:lnSpc>
                          <a:spcPct val="100000"/>
                        </a:lnSpc>
                        <a:spcBef>
                          <a:spcPts val="985"/>
                        </a:spcBef>
                      </a:pPr>
                      <a:r>
                        <a:rPr sz="1500" spc="-5" dirty="0">
                          <a:latin typeface="+mn-lt"/>
                          <a:cs typeface="Times New Roman" panose="02020603050405020304" pitchFamily="18" charset="0"/>
                        </a:rPr>
                        <a:t>R/M</a:t>
                      </a:r>
                      <a:endParaRPr sz="1500">
                        <a:latin typeface="+mn-lt"/>
                        <a:cs typeface="Times New Roman" panose="02020603050405020304" pitchFamily="18" charset="0"/>
                      </a:endParaRPr>
                    </a:p>
                  </a:txBody>
                  <a:tcPr marL="0" marR="0" marT="125095" marB="0"/>
                </a:tc>
                <a:tc>
                  <a:txBody>
                    <a:bodyPr/>
                    <a:lstStyle/>
                    <a:p>
                      <a:pPr marL="0" indent="0" algn="l">
                        <a:lnSpc>
                          <a:spcPct val="100000"/>
                        </a:lnSpc>
                        <a:spcBef>
                          <a:spcPts val="985"/>
                        </a:spcBef>
                      </a:pPr>
                      <a:r>
                        <a:rPr lang="en-US" sz="1500" spc="-5" dirty="0">
                          <a:latin typeface="+mn-lt"/>
                          <a:cs typeface="Times New Roman" panose="02020603050405020304" pitchFamily="18" charset="0"/>
                        </a:rPr>
                        <a:t>X</a:t>
                      </a:r>
                      <a:r>
                        <a:rPr sz="1500" spc="-5" dirty="0">
                          <a:latin typeface="+mn-lt"/>
                          <a:cs typeface="Times New Roman" panose="02020603050405020304" pitchFamily="18" charset="0"/>
                        </a:rPr>
                        <a:t>OR</a:t>
                      </a:r>
                      <a:r>
                        <a:rPr sz="1500" spc="-10" dirty="0">
                          <a:latin typeface="+mn-lt"/>
                          <a:cs typeface="Times New Roman" panose="02020603050405020304" pitchFamily="18" charset="0"/>
                        </a:rPr>
                        <a:t> </a:t>
                      </a:r>
                      <a:r>
                        <a:rPr sz="1500" spc="-5" dirty="0">
                          <a:latin typeface="+mn-lt"/>
                          <a:cs typeface="Times New Roman" panose="02020603050405020304" pitchFamily="18" charset="0"/>
                        </a:rPr>
                        <a:t>Accumulator</a:t>
                      </a:r>
                      <a:r>
                        <a:rPr sz="1500" spc="-20" dirty="0">
                          <a:latin typeface="+mn-lt"/>
                          <a:cs typeface="Times New Roman" panose="02020603050405020304" pitchFamily="18" charset="0"/>
                        </a:rPr>
                        <a:t> </a:t>
                      </a:r>
                      <a:r>
                        <a:rPr sz="1500" spc="-5" dirty="0">
                          <a:latin typeface="+mn-lt"/>
                          <a:cs typeface="Times New Roman" panose="02020603050405020304" pitchFamily="18" charset="0"/>
                        </a:rPr>
                        <a:t>With</a:t>
                      </a:r>
                      <a:r>
                        <a:rPr sz="1500" spc="-10" dirty="0">
                          <a:latin typeface="+mn-lt"/>
                          <a:cs typeface="Times New Roman" panose="02020603050405020304" pitchFamily="18" charset="0"/>
                        </a:rPr>
                        <a:t> </a:t>
                      </a:r>
                      <a:r>
                        <a:rPr sz="1500" spc="-5" dirty="0">
                          <a:latin typeface="+mn-lt"/>
                          <a:cs typeface="Times New Roman" panose="02020603050405020304" pitchFamily="18" charset="0"/>
                        </a:rPr>
                        <a:t>Reg/Mem</a:t>
                      </a:r>
                      <a:endParaRPr sz="1500" dirty="0">
                        <a:latin typeface="+mn-lt"/>
                        <a:cs typeface="Times New Roman" panose="02020603050405020304" pitchFamily="18" charset="0"/>
                      </a:endParaRPr>
                    </a:p>
                  </a:txBody>
                  <a:tcPr marL="0" marR="0" marT="125095" marB="0"/>
                </a:tc>
                <a:extLst>
                  <a:ext uri="{0D108BD9-81ED-4DB2-BD59-A6C34878D82A}">
                    <a16:rowId xmlns:a16="http://schemas.microsoft.com/office/drawing/2014/main" val="10004"/>
                  </a:ext>
                </a:extLst>
              </a:tr>
              <a:tr h="230904">
                <a:tc>
                  <a:txBody>
                    <a:bodyPr/>
                    <a:lstStyle/>
                    <a:p>
                      <a:pPr marL="31750" algn="l">
                        <a:lnSpc>
                          <a:spcPts val="1720"/>
                        </a:lnSpc>
                      </a:pPr>
                      <a:r>
                        <a:rPr sz="1500" spc="-5" dirty="0">
                          <a:latin typeface="+mn-lt"/>
                          <a:cs typeface="Times New Roman" panose="02020603050405020304" pitchFamily="18" charset="0"/>
                        </a:rPr>
                        <a:t>XRI</a:t>
                      </a:r>
                      <a:endParaRPr sz="1500">
                        <a:latin typeface="+mn-lt"/>
                        <a:cs typeface="Times New Roman" panose="02020603050405020304" pitchFamily="18" charset="0"/>
                      </a:endParaRPr>
                    </a:p>
                  </a:txBody>
                  <a:tcPr marL="0" marR="0" marT="0" marB="0"/>
                </a:tc>
                <a:tc>
                  <a:txBody>
                    <a:bodyPr/>
                    <a:lstStyle/>
                    <a:p>
                      <a:pPr marL="165735" algn="l">
                        <a:lnSpc>
                          <a:spcPts val="1720"/>
                        </a:lnSpc>
                      </a:pPr>
                      <a:r>
                        <a:rPr sz="1500" dirty="0">
                          <a:latin typeface="+mn-lt"/>
                          <a:cs typeface="Times New Roman" panose="02020603050405020304" pitchFamily="18" charset="0"/>
                        </a:rPr>
                        <a:t>#</a:t>
                      </a:r>
                      <a:endParaRPr sz="1500">
                        <a:latin typeface="+mn-lt"/>
                        <a:cs typeface="Times New Roman" panose="02020603050405020304" pitchFamily="18" charset="0"/>
                      </a:endParaRPr>
                    </a:p>
                  </a:txBody>
                  <a:tcPr marL="0" marR="0" marT="0" marB="0"/>
                </a:tc>
                <a:tc>
                  <a:txBody>
                    <a:bodyPr/>
                    <a:lstStyle/>
                    <a:p>
                      <a:pPr marR="83185" algn="l">
                        <a:lnSpc>
                          <a:spcPts val="1720"/>
                        </a:lnSpc>
                      </a:pPr>
                      <a:r>
                        <a:rPr sz="1500" spc="-5" dirty="0">
                          <a:latin typeface="+mn-lt"/>
                          <a:cs typeface="Times New Roman" panose="02020603050405020304" pitchFamily="18" charset="0"/>
                        </a:rPr>
                        <a:t>XOR Accumulator</a:t>
                      </a:r>
                      <a:r>
                        <a:rPr sz="1500" spc="-15" dirty="0">
                          <a:latin typeface="+mn-lt"/>
                          <a:cs typeface="Times New Roman" panose="02020603050405020304" pitchFamily="18" charset="0"/>
                        </a:rPr>
                        <a:t> </a:t>
                      </a:r>
                      <a:r>
                        <a:rPr sz="1500" spc="-5" dirty="0">
                          <a:latin typeface="+mn-lt"/>
                          <a:cs typeface="Times New Roman" panose="02020603050405020304" pitchFamily="18" charset="0"/>
                        </a:rPr>
                        <a:t>With</a:t>
                      </a:r>
                      <a:r>
                        <a:rPr sz="1500" spc="-10" dirty="0">
                          <a:latin typeface="+mn-lt"/>
                          <a:cs typeface="Times New Roman" panose="02020603050405020304" pitchFamily="18" charset="0"/>
                        </a:rPr>
                        <a:t> </a:t>
                      </a:r>
                      <a:r>
                        <a:rPr sz="1500" dirty="0">
                          <a:latin typeface="+mn-lt"/>
                          <a:cs typeface="Times New Roman" panose="02020603050405020304" pitchFamily="18" charset="0"/>
                        </a:rPr>
                        <a:t>an</a:t>
                      </a:r>
                      <a:r>
                        <a:rPr sz="1500" spc="-5" dirty="0">
                          <a:latin typeface="+mn-lt"/>
                          <a:cs typeface="Times New Roman" panose="02020603050405020304" pitchFamily="18" charset="0"/>
                        </a:rPr>
                        <a:t> 8-bit</a:t>
                      </a:r>
                      <a:r>
                        <a:rPr sz="1500" spc="-10" dirty="0">
                          <a:latin typeface="+mn-lt"/>
                          <a:cs typeface="Times New Roman" panose="02020603050405020304" pitchFamily="18" charset="0"/>
                        </a:rPr>
                        <a:t> </a:t>
                      </a:r>
                      <a:r>
                        <a:rPr sz="1500" spc="-5" dirty="0">
                          <a:latin typeface="+mn-lt"/>
                          <a:cs typeface="Times New Roman" panose="02020603050405020304" pitchFamily="18" charset="0"/>
                        </a:rPr>
                        <a:t>number</a:t>
                      </a:r>
                      <a:endParaRPr sz="1500" dirty="0">
                        <a:latin typeface="+mn-lt"/>
                        <a:cs typeface="Times New Roman" panose="02020603050405020304" pitchFamily="18" charset="0"/>
                      </a:endParaRPr>
                    </a:p>
                  </a:txBody>
                  <a:tcPr marL="0" marR="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13085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marL="494030" lvl="1" algn="l">
              <a:lnSpc>
                <a:spcPct val="100000"/>
              </a:lnSpc>
              <a:spcBef>
                <a:spcPts val="220"/>
              </a:spcBef>
              <a:tabLst>
                <a:tab pos="723265" algn="l"/>
                <a:tab pos="724535" algn="l"/>
              </a:tabLst>
            </a:pPr>
            <a:r>
              <a:rPr lang="en-US" sz="2000" b="1" spc="-5" dirty="0">
                <a:solidFill>
                  <a:srgbClr val="00B050"/>
                </a:solidFill>
                <a:cs typeface="Times New Roman"/>
              </a:rPr>
              <a:t>4. Branching Operations</a:t>
            </a:r>
            <a:endParaRPr lang="en-US" sz="2000" dirty="0">
              <a:cs typeface="Times New Roman"/>
            </a:endParaRPr>
          </a:p>
        </p:txBody>
      </p:sp>
      <p:sp>
        <p:nvSpPr>
          <p:cNvPr id="3" name="Content Placeholder 2"/>
          <p:cNvSpPr>
            <a:spLocks noGrp="1"/>
          </p:cNvSpPr>
          <p:nvPr>
            <p:ph idx="1"/>
          </p:nvPr>
        </p:nvSpPr>
        <p:spPr>
          <a:xfrm>
            <a:off x="457200" y="742951"/>
            <a:ext cx="8229600" cy="4024312"/>
          </a:xfrm>
          <a:noFill/>
        </p:spPr>
        <p:txBody>
          <a:bodyPr>
            <a:noAutofit/>
          </a:bodyPr>
          <a:lstStyle/>
          <a:p>
            <a:r>
              <a:rPr lang="en-US" sz="2000" dirty="0"/>
              <a:t>This group of instructions </a:t>
            </a:r>
            <a:r>
              <a:rPr lang="en-US" sz="2000" dirty="0">
                <a:solidFill>
                  <a:srgbClr val="C00000"/>
                </a:solidFill>
              </a:rPr>
              <a:t>alters the sequence of program execution either conditionally or unconditionally.</a:t>
            </a:r>
          </a:p>
          <a:p>
            <a:r>
              <a:rPr lang="en-US" sz="2000" spc="-5" dirty="0">
                <a:cs typeface="Times New Roman"/>
              </a:rPr>
              <a:t>The addresses supplied to </a:t>
            </a:r>
            <a:r>
              <a:rPr lang="en-US" sz="2000" dirty="0">
                <a:cs typeface="Times New Roman"/>
              </a:rPr>
              <a:t>all </a:t>
            </a:r>
            <a:r>
              <a:rPr lang="en-US" sz="2000" spc="-5" dirty="0">
                <a:cs typeface="Times New Roman"/>
              </a:rPr>
              <a:t>branch operations must </a:t>
            </a:r>
            <a:r>
              <a:rPr lang="en-US" sz="2000" dirty="0">
                <a:cs typeface="Times New Roman"/>
              </a:rPr>
              <a:t>be </a:t>
            </a:r>
            <a:r>
              <a:rPr lang="en-US" sz="2000" spc="-585" dirty="0">
                <a:cs typeface="Times New Roman"/>
              </a:rPr>
              <a:t> </a:t>
            </a:r>
            <a:r>
              <a:rPr lang="en-US" sz="2000" spc="-5" dirty="0">
                <a:solidFill>
                  <a:srgbClr val="990000"/>
                </a:solidFill>
                <a:cs typeface="Times New Roman"/>
              </a:rPr>
              <a:t>16-bits</a:t>
            </a:r>
            <a:r>
              <a:rPr lang="en-US" sz="2000" spc="-5" dirty="0">
                <a:cs typeface="Times New Roman"/>
              </a:rPr>
              <a:t>.</a:t>
            </a:r>
            <a:endParaRPr lang="en-US" sz="2000" dirty="0"/>
          </a:p>
          <a:p>
            <a:pPr marL="755650" lvl="1">
              <a:spcBef>
                <a:spcPts val="690"/>
              </a:spcBef>
              <a:tabLst>
                <a:tab pos="755650" algn="l"/>
              </a:tabLst>
            </a:pPr>
            <a:r>
              <a:rPr lang="en-US" sz="2000" spc="-5" dirty="0">
                <a:cs typeface="Times New Roman"/>
              </a:rPr>
              <a:t>Unconditional</a:t>
            </a:r>
            <a:r>
              <a:rPr lang="en-US" sz="2000" spc="-50" dirty="0">
                <a:cs typeface="Times New Roman"/>
              </a:rPr>
              <a:t> </a:t>
            </a:r>
            <a:r>
              <a:rPr lang="en-US" sz="2000" spc="-5" dirty="0">
                <a:cs typeface="Times New Roman"/>
              </a:rPr>
              <a:t>branch.</a:t>
            </a:r>
            <a:endParaRPr lang="en-US" sz="2000" dirty="0">
              <a:cs typeface="Times New Roman"/>
            </a:endParaRPr>
          </a:p>
          <a:p>
            <a:pPr marL="1155700" lvl="2" indent="-229235">
              <a:spcBef>
                <a:spcPts val="585"/>
              </a:spcBef>
              <a:tabLst>
                <a:tab pos="1155700" algn="l"/>
              </a:tabLst>
            </a:pPr>
            <a:r>
              <a:rPr lang="en-US" sz="1800" spc="-5" dirty="0">
                <a:cs typeface="Times New Roman"/>
              </a:rPr>
              <a:t>Go to</a:t>
            </a:r>
            <a:r>
              <a:rPr lang="en-US" sz="1800" spc="-10" dirty="0">
                <a:cs typeface="Times New Roman"/>
              </a:rPr>
              <a:t> </a:t>
            </a:r>
            <a:r>
              <a:rPr lang="en-US" sz="1800" dirty="0">
                <a:cs typeface="Times New Roman"/>
              </a:rPr>
              <a:t>a</a:t>
            </a:r>
            <a:r>
              <a:rPr lang="en-US" sz="1800" spc="-5" dirty="0">
                <a:cs typeface="Times New Roman"/>
              </a:rPr>
              <a:t> new location</a:t>
            </a:r>
            <a:r>
              <a:rPr lang="en-US" sz="1800" spc="-25" dirty="0">
                <a:cs typeface="Times New Roman"/>
              </a:rPr>
              <a:t> </a:t>
            </a:r>
            <a:r>
              <a:rPr lang="en-US" sz="1800" dirty="0">
                <a:cs typeface="Times New Roman"/>
              </a:rPr>
              <a:t>no </a:t>
            </a:r>
            <a:r>
              <a:rPr lang="en-US" sz="1800" spc="-5" dirty="0">
                <a:cs typeface="Times New Roman"/>
              </a:rPr>
              <a:t>matter</a:t>
            </a:r>
            <a:r>
              <a:rPr lang="en-US" sz="1800" spc="-25" dirty="0">
                <a:cs typeface="Times New Roman"/>
              </a:rPr>
              <a:t> </a:t>
            </a:r>
            <a:r>
              <a:rPr lang="en-US" sz="1800" spc="-5" dirty="0">
                <a:cs typeface="Times New Roman"/>
              </a:rPr>
              <a:t>what.</a:t>
            </a:r>
            <a:endParaRPr lang="en-US" sz="1800" dirty="0">
              <a:cs typeface="Times New Roman"/>
            </a:endParaRPr>
          </a:p>
          <a:p>
            <a:pPr marL="755650" lvl="1">
              <a:spcBef>
                <a:spcPts val="660"/>
              </a:spcBef>
              <a:tabLst>
                <a:tab pos="755650" algn="l"/>
              </a:tabLst>
            </a:pPr>
            <a:r>
              <a:rPr lang="en-US" sz="2000" spc="-5" dirty="0">
                <a:cs typeface="Times New Roman"/>
              </a:rPr>
              <a:t>Conditional</a:t>
            </a:r>
            <a:r>
              <a:rPr lang="en-US" sz="2000" spc="-50" dirty="0">
                <a:cs typeface="Times New Roman"/>
              </a:rPr>
              <a:t> </a:t>
            </a:r>
            <a:r>
              <a:rPr lang="en-US" sz="2000" spc="-5" dirty="0">
                <a:cs typeface="Times New Roman"/>
              </a:rPr>
              <a:t>branch.</a:t>
            </a:r>
            <a:endParaRPr lang="en-US" sz="2000" dirty="0">
              <a:cs typeface="Times New Roman"/>
            </a:endParaRPr>
          </a:p>
          <a:p>
            <a:pPr marL="1155700" lvl="2" indent="-229235">
              <a:spcBef>
                <a:spcPts val="585"/>
              </a:spcBef>
              <a:tabLst>
                <a:tab pos="1155700" algn="l"/>
              </a:tabLst>
            </a:pPr>
            <a:r>
              <a:rPr lang="en-US" sz="1800" spc="-5" dirty="0">
                <a:cs typeface="Times New Roman"/>
              </a:rPr>
              <a:t>Go </a:t>
            </a:r>
            <a:r>
              <a:rPr lang="en-US" sz="1800" dirty="0">
                <a:cs typeface="Times New Roman"/>
              </a:rPr>
              <a:t>to</a:t>
            </a:r>
            <a:r>
              <a:rPr lang="en-US" sz="1800" spc="-10" dirty="0">
                <a:cs typeface="Times New Roman"/>
              </a:rPr>
              <a:t> </a:t>
            </a:r>
            <a:r>
              <a:rPr lang="en-US" sz="1800" dirty="0">
                <a:cs typeface="Times New Roman"/>
              </a:rPr>
              <a:t>a</a:t>
            </a:r>
            <a:r>
              <a:rPr lang="en-US" sz="1800" spc="-5" dirty="0">
                <a:cs typeface="Times New Roman"/>
              </a:rPr>
              <a:t> new location</a:t>
            </a:r>
            <a:r>
              <a:rPr lang="en-US" sz="1800" spc="-25" dirty="0">
                <a:cs typeface="Times New Roman"/>
              </a:rPr>
              <a:t> </a:t>
            </a:r>
            <a:r>
              <a:rPr lang="en-US" sz="1800" spc="-5" dirty="0">
                <a:cs typeface="Times New Roman"/>
              </a:rPr>
              <a:t>if </a:t>
            </a:r>
            <a:r>
              <a:rPr lang="en-US" sz="1800" dirty="0">
                <a:cs typeface="Times New Roman"/>
              </a:rPr>
              <a:t>the</a:t>
            </a:r>
            <a:r>
              <a:rPr lang="en-US" sz="1800" spc="-10" dirty="0">
                <a:cs typeface="Times New Roman"/>
              </a:rPr>
              <a:t> </a:t>
            </a:r>
            <a:r>
              <a:rPr lang="en-US" sz="1800" spc="-5" dirty="0">
                <a:cs typeface="Times New Roman"/>
              </a:rPr>
              <a:t>condition</a:t>
            </a:r>
            <a:r>
              <a:rPr lang="en-US" sz="1800" spc="-15" dirty="0">
                <a:cs typeface="Times New Roman"/>
              </a:rPr>
              <a:t> </a:t>
            </a:r>
            <a:r>
              <a:rPr lang="en-US" sz="1800" spc="-5" dirty="0">
                <a:cs typeface="Times New Roman"/>
              </a:rPr>
              <a:t>is true</a:t>
            </a:r>
            <a:endParaRPr lang="en-US" sz="1200" dirty="0"/>
          </a:p>
        </p:txBody>
      </p:sp>
      <p:sp>
        <p:nvSpPr>
          <p:cNvPr id="4" name="Date Placeholder 3"/>
          <p:cNvSpPr>
            <a:spLocks noGrp="1"/>
          </p:cNvSpPr>
          <p:nvPr>
            <p:ph type="dt" sz="half" idx="10"/>
          </p:nvPr>
        </p:nvSpPr>
        <p:spPr/>
        <p:txBody>
          <a:bodyPr/>
          <a:lstStyle/>
          <a:p>
            <a:fld id="{16F702FD-60C0-4114-8D74-99FBC9EA1C5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0883551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4114800" cy="460771"/>
          </a:xfrm>
          <a:noFill/>
        </p:spPr>
        <p:txBody>
          <a:bodyPr>
            <a:noAutofit/>
          </a:bodyPr>
          <a:lstStyle/>
          <a:p>
            <a:pPr marL="55563" lvl="1" algn="l">
              <a:lnSpc>
                <a:spcPct val="100000"/>
              </a:lnSpc>
              <a:spcBef>
                <a:spcPts val="220"/>
              </a:spcBef>
              <a:tabLst>
                <a:tab pos="723265" algn="l"/>
                <a:tab pos="724535" algn="l"/>
              </a:tabLst>
            </a:pPr>
            <a:r>
              <a:rPr lang="en-US" sz="2000" b="1" spc="-4" dirty="0">
                <a:solidFill>
                  <a:srgbClr val="0070C0"/>
                </a:solidFill>
              </a:rPr>
              <a:t>Unconditional</a:t>
            </a:r>
            <a:r>
              <a:rPr lang="en-US" sz="2000" b="1" spc="-45" dirty="0">
                <a:solidFill>
                  <a:srgbClr val="0070C0"/>
                </a:solidFill>
              </a:rPr>
              <a:t> </a:t>
            </a:r>
            <a:r>
              <a:rPr lang="en-US" sz="2000" b="1" spc="-4" dirty="0">
                <a:solidFill>
                  <a:srgbClr val="0070C0"/>
                </a:solidFill>
              </a:rPr>
              <a:t>Branch</a:t>
            </a:r>
            <a:endParaRPr lang="en-US" sz="2000" b="1" dirty="0">
              <a:solidFill>
                <a:srgbClr val="0070C0"/>
              </a:solidFill>
              <a:cs typeface="Times New Roman"/>
            </a:endParaRPr>
          </a:p>
        </p:txBody>
      </p:sp>
      <p:sp>
        <p:nvSpPr>
          <p:cNvPr id="3" name="Content Placeholder 2"/>
          <p:cNvSpPr>
            <a:spLocks noGrp="1"/>
          </p:cNvSpPr>
          <p:nvPr>
            <p:ph idx="1"/>
          </p:nvPr>
        </p:nvSpPr>
        <p:spPr>
          <a:xfrm>
            <a:off x="457200" y="742951"/>
            <a:ext cx="3657600" cy="4024312"/>
          </a:xfrm>
          <a:noFill/>
          <a:ln>
            <a:solidFill>
              <a:schemeClr val="accent1"/>
            </a:solidFill>
          </a:ln>
        </p:spPr>
        <p:txBody>
          <a:bodyPr>
            <a:noAutofit/>
          </a:bodyPr>
          <a:lstStyle/>
          <a:p>
            <a:r>
              <a:rPr lang="en-US" sz="2000" spc="-4" dirty="0">
                <a:cs typeface="Times New Roman"/>
              </a:rPr>
              <a:t>JMP Address</a:t>
            </a:r>
          </a:p>
          <a:p>
            <a:pPr lvl="1"/>
            <a:r>
              <a:rPr lang="en-US" sz="1600" spc="-4" dirty="0">
                <a:cs typeface="Times New Roman"/>
              </a:rPr>
              <a:t>Jump</a:t>
            </a:r>
            <a:r>
              <a:rPr lang="en-US" sz="1600" spc="-15" dirty="0">
                <a:cs typeface="Times New Roman"/>
              </a:rPr>
              <a:t> </a:t>
            </a:r>
            <a:r>
              <a:rPr lang="en-US" sz="1600" spc="-4" dirty="0">
                <a:cs typeface="Times New Roman"/>
              </a:rPr>
              <a:t>to the</a:t>
            </a:r>
            <a:r>
              <a:rPr lang="en-US" sz="1600" spc="-11" dirty="0">
                <a:cs typeface="Times New Roman"/>
              </a:rPr>
              <a:t> </a:t>
            </a:r>
            <a:r>
              <a:rPr lang="en-US" sz="1600" spc="-4" dirty="0">
                <a:cs typeface="Times New Roman"/>
              </a:rPr>
              <a:t>address</a:t>
            </a:r>
            <a:r>
              <a:rPr lang="en-US" sz="1600" spc="-8" dirty="0">
                <a:cs typeface="Times New Roman"/>
              </a:rPr>
              <a:t> </a:t>
            </a:r>
            <a:r>
              <a:rPr lang="en-US" sz="1600" spc="-4" dirty="0">
                <a:cs typeface="Times New Roman"/>
              </a:rPr>
              <a:t>specified</a:t>
            </a:r>
            <a:r>
              <a:rPr lang="en-US" sz="1600" spc="-19" dirty="0">
                <a:cs typeface="Times New Roman"/>
              </a:rPr>
              <a:t> </a:t>
            </a:r>
            <a:r>
              <a:rPr lang="en-US" sz="1600" spc="-4" dirty="0">
                <a:cs typeface="Times New Roman"/>
              </a:rPr>
              <a:t>(Go</a:t>
            </a:r>
            <a:r>
              <a:rPr lang="en-US" sz="1600" spc="8" dirty="0">
                <a:cs typeface="Times New Roman"/>
              </a:rPr>
              <a:t> </a:t>
            </a:r>
            <a:r>
              <a:rPr lang="en-US" sz="1600" spc="-4" dirty="0">
                <a:cs typeface="Times New Roman"/>
              </a:rPr>
              <a:t>to).</a:t>
            </a:r>
            <a:endParaRPr lang="en-US" sz="1600" dirty="0">
              <a:cs typeface="Times New Roman"/>
            </a:endParaRPr>
          </a:p>
          <a:p>
            <a:r>
              <a:rPr lang="en-US" sz="2000" spc="-4" dirty="0">
                <a:cs typeface="Times New Roman"/>
              </a:rPr>
              <a:t>CALL	Address</a:t>
            </a:r>
            <a:endParaRPr lang="en-US" sz="2000" dirty="0">
              <a:cs typeface="Times New Roman"/>
            </a:endParaRPr>
          </a:p>
          <a:p>
            <a:pPr lvl="1"/>
            <a:r>
              <a:rPr lang="en-US" sz="1600" spc="-4" dirty="0">
                <a:cs typeface="Times New Roman"/>
              </a:rPr>
              <a:t>Jump</a:t>
            </a:r>
            <a:r>
              <a:rPr lang="en-US" sz="1600" spc="-11" dirty="0">
                <a:cs typeface="Times New Roman"/>
              </a:rPr>
              <a:t> </a:t>
            </a:r>
            <a:r>
              <a:rPr lang="en-US" sz="1600" spc="-4" dirty="0">
                <a:cs typeface="Times New Roman"/>
              </a:rPr>
              <a:t>to</a:t>
            </a:r>
            <a:r>
              <a:rPr lang="en-US" sz="1600" dirty="0">
                <a:cs typeface="Times New Roman"/>
              </a:rPr>
              <a:t> </a:t>
            </a:r>
            <a:r>
              <a:rPr lang="en-US" sz="1600" spc="-4" dirty="0">
                <a:cs typeface="Times New Roman"/>
              </a:rPr>
              <a:t>the address</a:t>
            </a:r>
            <a:r>
              <a:rPr lang="en-US" sz="1600" spc="-8" dirty="0">
                <a:cs typeface="Times New Roman"/>
              </a:rPr>
              <a:t> </a:t>
            </a:r>
            <a:r>
              <a:rPr lang="en-US" sz="1600" spc="-4" dirty="0">
                <a:cs typeface="Times New Roman"/>
              </a:rPr>
              <a:t>specified</a:t>
            </a:r>
            <a:r>
              <a:rPr lang="en-US" sz="1600" spc="-11" dirty="0">
                <a:cs typeface="Times New Roman"/>
              </a:rPr>
              <a:t> </a:t>
            </a:r>
            <a:r>
              <a:rPr lang="en-US" sz="1600" spc="-4" dirty="0">
                <a:cs typeface="Times New Roman"/>
              </a:rPr>
              <a:t>but treat</a:t>
            </a:r>
            <a:r>
              <a:rPr lang="en-US" sz="1600" spc="11" dirty="0">
                <a:cs typeface="Times New Roman"/>
              </a:rPr>
              <a:t> </a:t>
            </a:r>
            <a:r>
              <a:rPr lang="en-US" sz="1600" spc="-4" dirty="0">
                <a:cs typeface="Times New Roman"/>
              </a:rPr>
              <a:t>it</a:t>
            </a:r>
            <a:r>
              <a:rPr lang="en-US" sz="1600" dirty="0">
                <a:cs typeface="Times New Roman"/>
              </a:rPr>
              <a:t> </a:t>
            </a:r>
            <a:r>
              <a:rPr lang="en-US" sz="1600" spc="-4" dirty="0">
                <a:cs typeface="Times New Roman"/>
              </a:rPr>
              <a:t>as</a:t>
            </a:r>
            <a:r>
              <a:rPr lang="en-US" sz="1600" dirty="0">
                <a:cs typeface="Times New Roman"/>
              </a:rPr>
              <a:t> </a:t>
            </a:r>
            <a:r>
              <a:rPr lang="en-US" sz="1600" spc="-4" dirty="0">
                <a:cs typeface="Times New Roman"/>
              </a:rPr>
              <a:t>a</a:t>
            </a:r>
            <a:r>
              <a:rPr lang="en-US" sz="1600" spc="4" dirty="0">
                <a:cs typeface="Times New Roman"/>
              </a:rPr>
              <a:t> </a:t>
            </a:r>
            <a:r>
              <a:rPr lang="en-US" sz="1600" spc="-4" dirty="0">
                <a:cs typeface="Times New Roman"/>
              </a:rPr>
              <a:t>subroutine.</a:t>
            </a:r>
            <a:endParaRPr lang="en-US" sz="1600" dirty="0">
              <a:cs typeface="Times New Roman"/>
            </a:endParaRPr>
          </a:p>
          <a:p>
            <a:r>
              <a:rPr lang="en-US" sz="2000" spc="-4" dirty="0">
                <a:cs typeface="Times New Roman"/>
              </a:rPr>
              <a:t>RET</a:t>
            </a:r>
            <a:endParaRPr lang="en-US" sz="2000" dirty="0">
              <a:cs typeface="Times New Roman"/>
            </a:endParaRPr>
          </a:p>
          <a:p>
            <a:pPr lvl="1"/>
            <a:r>
              <a:rPr lang="en-US" sz="1600" spc="-4" dirty="0">
                <a:cs typeface="Times New Roman"/>
              </a:rPr>
              <a:t>Return</a:t>
            </a:r>
            <a:r>
              <a:rPr lang="en-US" sz="1600" spc="-15" dirty="0">
                <a:cs typeface="Times New Roman"/>
              </a:rPr>
              <a:t> </a:t>
            </a:r>
            <a:r>
              <a:rPr lang="en-US" sz="1600" spc="-4" dirty="0">
                <a:cs typeface="Times New Roman"/>
              </a:rPr>
              <a:t>from</a:t>
            </a:r>
            <a:r>
              <a:rPr lang="en-US" sz="1600" spc="-15" dirty="0">
                <a:cs typeface="Times New Roman"/>
              </a:rPr>
              <a:t> </a:t>
            </a:r>
            <a:r>
              <a:rPr lang="en-US" sz="1600" spc="-4" dirty="0">
                <a:cs typeface="Times New Roman"/>
              </a:rPr>
              <a:t>a</a:t>
            </a:r>
            <a:r>
              <a:rPr lang="en-US" sz="1600" spc="-8" dirty="0">
                <a:cs typeface="Times New Roman"/>
              </a:rPr>
              <a:t> </a:t>
            </a:r>
            <a:r>
              <a:rPr lang="en-US" sz="1600" spc="-4" dirty="0">
                <a:cs typeface="Times New Roman"/>
              </a:rPr>
              <a:t>subroutine.</a:t>
            </a:r>
            <a:endParaRPr lang="en-US" sz="1600" dirty="0">
              <a:cs typeface="Times New Roman"/>
            </a:endParaRPr>
          </a:p>
          <a:p>
            <a:r>
              <a:rPr lang="en-US" sz="2000" spc="-4" dirty="0">
                <a:cs typeface="Times New Roman"/>
              </a:rPr>
              <a:t>The addresses supplied to </a:t>
            </a:r>
            <a:r>
              <a:rPr lang="en-US" sz="2000" dirty="0">
                <a:cs typeface="Times New Roman"/>
              </a:rPr>
              <a:t>all </a:t>
            </a:r>
            <a:r>
              <a:rPr lang="en-US" sz="2000" spc="-4" dirty="0">
                <a:cs typeface="Times New Roman"/>
              </a:rPr>
              <a:t>branch operations must </a:t>
            </a:r>
            <a:r>
              <a:rPr lang="en-US" sz="2000" dirty="0">
                <a:cs typeface="Times New Roman"/>
              </a:rPr>
              <a:t>be </a:t>
            </a:r>
            <a:r>
              <a:rPr lang="en-US" sz="2000" spc="-439" dirty="0">
                <a:cs typeface="Times New Roman"/>
              </a:rPr>
              <a:t> </a:t>
            </a:r>
            <a:r>
              <a:rPr lang="en-US" sz="2000" spc="-4" dirty="0">
                <a:solidFill>
                  <a:srgbClr val="990000"/>
                </a:solidFill>
                <a:cs typeface="Times New Roman"/>
              </a:rPr>
              <a:t>16-bits</a:t>
            </a:r>
            <a:r>
              <a:rPr lang="en-US" sz="2000" spc="-4" dirty="0">
                <a:cs typeface="Times New Roman"/>
              </a:rPr>
              <a:t>.</a:t>
            </a:r>
            <a:endParaRPr lang="en-US" sz="2000" dirty="0">
              <a:cs typeface="Times New Roman"/>
            </a:endParaRPr>
          </a:p>
          <a:p>
            <a:endParaRPr lang="en-US" sz="2000" dirty="0">
              <a:cs typeface="Times New Roman"/>
            </a:endParaRPr>
          </a:p>
          <a:p>
            <a:endParaRPr lang="en-US" sz="2000" dirty="0"/>
          </a:p>
        </p:txBody>
      </p:sp>
      <p:sp>
        <p:nvSpPr>
          <p:cNvPr id="4" name="Date Placeholder 3"/>
          <p:cNvSpPr>
            <a:spLocks noGrp="1"/>
          </p:cNvSpPr>
          <p:nvPr>
            <p:ph type="dt" sz="half" idx="10"/>
          </p:nvPr>
        </p:nvSpPr>
        <p:spPr/>
        <p:txBody>
          <a:bodyPr/>
          <a:lstStyle/>
          <a:p>
            <a:fld id="{C369D4E3-BDD6-467B-A092-7A06F0A56482}"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Content Placeholder 2">
            <a:extLst>
              <a:ext uri="{FF2B5EF4-FFF2-40B4-BE49-F238E27FC236}">
                <a16:creationId xmlns:a16="http://schemas.microsoft.com/office/drawing/2014/main" id="{AFD49A61-0D8F-49C4-AC12-EE0C160495AB}"/>
              </a:ext>
            </a:extLst>
          </p:cNvPr>
          <p:cNvSpPr txBox="1">
            <a:spLocks/>
          </p:cNvSpPr>
          <p:nvPr/>
        </p:nvSpPr>
        <p:spPr>
          <a:xfrm>
            <a:off x="4343400" y="742951"/>
            <a:ext cx="4343400" cy="4024312"/>
          </a:xfrm>
          <a:prstGeom prst="rect">
            <a:avLst/>
          </a:prstGeom>
          <a:noFill/>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3838" indent="-214789">
              <a:spcBef>
                <a:spcPts val="307"/>
              </a:spcBef>
              <a:buFont typeface="Arial" pitchFamily="34" charset="0"/>
              <a:buChar char="–"/>
              <a:tabLst>
                <a:tab pos="223838" algn="l"/>
                <a:tab pos="224314" algn="l"/>
              </a:tabLst>
            </a:pPr>
            <a:r>
              <a:rPr lang="en-US" sz="1800" spc="-4" dirty="0">
                <a:cs typeface="Times New Roman"/>
              </a:rPr>
              <a:t>Go</a:t>
            </a:r>
            <a:r>
              <a:rPr lang="en-US" sz="1800" dirty="0">
                <a:cs typeface="Times New Roman"/>
              </a:rPr>
              <a:t> </a:t>
            </a:r>
            <a:r>
              <a:rPr lang="en-US" sz="1800" spc="-4" dirty="0">
                <a:cs typeface="Times New Roman"/>
              </a:rPr>
              <a:t>to new</a:t>
            </a:r>
            <a:r>
              <a:rPr lang="en-US" sz="1800" spc="4" dirty="0">
                <a:cs typeface="Times New Roman"/>
              </a:rPr>
              <a:t> </a:t>
            </a:r>
            <a:r>
              <a:rPr lang="en-US" sz="1800" spc="-4" dirty="0">
                <a:cs typeface="Times New Roman"/>
              </a:rPr>
              <a:t>location</a:t>
            </a:r>
            <a:r>
              <a:rPr lang="en-US" sz="1800" spc="-19" dirty="0">
                <a:cs typeface="Times New Roman"/>
              </a:rPr>
              <a:t> </a:t>
            </a:r>
            <a:r>
              <a:rPr lang="en-US" sz="1800" spc="-4" dirty="0">
                <a:cs typeface="Times New Roman"/>
              </a:rPr>
              <a:t>if</a:t>
            </a:r>
            <a:r>
              <a:rPr lang="en-US" sz="1800" dirty="0">
                <a:cs typeface="Times New Roman"/>
              </a:rPr>
              <a:t> a </a:t>
            </a:r>
            <a:r>
              <a:rPr lang="en-US" sz="1800" spc="-4" dirty="0">
                <a:cs typeface="Times New Roman"/>
              </a:rPr>
              <a:t>specified</a:t>
            </a:r>
            <a:r>
              <a:rPr lang="en-US" sz="1800" spc="-11" dirty="0">
                <a:cs typeface="Times New Roman"/>
              </a:rPr>
              <a:t> </a:t>
            </a:r>
            <a:r>
              <a:rPr lang="en-US" sz="1800" spc="-4" dirty="0">
                <a:cs typeface="Times New Roman"/>
              </a:rPr>
              <a:t>condition</a:t>
            </a:r>
            <a:r>
              <a:rPr lang="en-US" sz="1800" spc="-15" dirty="0">
                <a:cs typeface="Times New Roman"/>
              </a:rPr>
              <a:t> </a:t>
            </a:r>
            <a:r>
              <a:rPr lang="en-US" sz="1800" spc="-4" dirty="0">
                <a:cs typeface="Times New Roman"/>
              </a:rPr>
              <a:t>is</a:t>
            </a:r>
            <a:r>
              <a:rPr lang="en-US" sz="1800" spc="4" dirty="0">
                <a:cs typeface="Times New Roman"/>
              </a:rPr>
              <a:t> </a:t>
            </a:r>
            <a:r>
              <a:rPr lang="en-US" sz="1800" spc="-4" dirty="0">
                <a:cs typeface="Times New Roman"/>
              </a:rPr>
              <a:t>met.</a:t>
            </a:r>
            <a:endParaRPr lang="en-US" sz="1800" dirty="0">
              <a:cs typeface="Times New Roman"/>
            </a:endParaRPr>
          </a:p>
          <a:p>
            <a:pPr marL="523875" lvl="1" indent="-172403">
              <a:spcBef>
                <a:spcPts val="191"/>
              </a:spcBef>
              <a:buFont typeface="Arial" pitchFamily="34" charset="0"/>
              <a:buChar char="•"/>
              <a:tabLst>
                <a:tab pos="523399" algn="l"/>
                <a:tab pos="524351" algn="l"/>
                <a:tab pos="1038225" algn="l"/>
              </a:tabLst>
            </a:pPr>
            <a:r>
              <a:rPr lang="en-US" sz="1400" spc="-4" dirty="0">
                <a:cs typeface="Times New Roman"/>
              </a:rPr>
              <a:t>JZ	Address</a:t>
            </a:r>
            <a:r>
              <a:rPr lang="en-US" sz="1400" spc="101" dirty="0">
                <a:cs typeface="Times New Roman"/>
              </a:rPr>
              <a:t> </a:t>
            </a:r>
            <a:r>
              <a:rPr lang="en-US" sz="1400" spc="-4" dirty="0">
                <a:cs typeface="Times New Roman"/>
              </a:rPr>
              <a:t>(Jump</a:t>
            </a:r>
            <a:r>
              <a:rPr lang="en-US" sz="1400" spc="-23" dirty="0">
                <a:cs typeface="Times New Roman"/>
              </a:rPr>
              <a:t> </a:t>
            </a:r>
            <a:r>
              <a:rPr lang="en-US" sz="1400" spc="-4" dirty="0">
                <a:cs typeface="Times New Roman"/>
              </a:rPr>
              <a:t>on</a:t>
            </a:r>
            <a:r>
              <a:rPr lang="en-US" sz="1400" spc="-11" dirty="0">
                <a:cs typeface="Times New Roman"/>
              </a:rPr>
              <a:t> </a:t>
            </a:r>
            <a:r>
              <a:rPr lang="en-US" sz="1400" spc="-4" dirty="0">
                <a:cs typeface="Times New Roman"/>
              </a:rPr>
              <a:t>Zero)</a:t>
            </a:r>
            <a:endParaRPr lang="en-US" sz="1400" dirty="0">
              <a:cs typeface="Times New Roman"/>
            </a:endParaRPr>
          </a:p>
          <a:p>
            <a:pPr marL="866775" lvl="2" indent="-171926">
              <a:spcBef>
                <a:spcPts val="169"/>
              </a:spcBef>
              <a:buFont typeface="Arial" pitchFamily="34" charset="0"/>
              <a:buChar char="–"/>
              <a:tabLst>
                <a:tab pos="866775" algn="l"/>
              </a:tabLst>
            </a:pPr>
            <a:r>
              <a:rPr lang="en-US" sz="1200" spc="-4" dirty="0">
                <a:cs typeface="Times New Roman"/>
              </a:rPr>
              <a:t>Go</a:t>
            </a:r>
            <a:r>
              <a:rPr lang="en-US" sz="1200" spc="-8" dirty="0">
                <a:cs typeface="Times New Roman"/>
              </a:rPr>
              <a:t> </a:t>
            </a:r>
            <a:r>
              <a:rPr lang="en-US" sz="1200" spc="-4" dirty="0">
                <a:cs typeface="Times New Roman"/>
              </a:rPr>
              <a:t>to</a:t>
            </a:r>
            <a:r>
              <a:rPr lang="en-US" sz="1200" dirty="0">
                <a:cs typeface="Times New Roman"/>
              </a:rPr>
              <a:t> </a:t>
            </a:r>
            <a:r>
              <a:rPr lang="en-US" sz="1200" spc="-4" dirty="0">
                <a:cs typeface="Times New Roman"/>
              </a:rPr>
              <a:t>address</a:t>
            </a:r>
            <a:r>
              <a:rPr lang="en-US" sz="1200" spc="4" dirty="0">
                <a:cs typeface="Times New Roman"/>
              </a:rPr>
              <a:t> </a:t>
            </a:r>
            <a:r>
              <a:rPr lang="en-US" sz="1200" spc="-4" dirty="0">
                <a:cs typeface="Times New Roman"/>
              </a:rPr>
              <a:t>specified</a:t>
            </a:r>
            <a:r>
              <a:rPr lang="en-US" sz="1200" spc="4" dirty="0">
                <a:cs typeface="Times New Roman"/>
              </a:rPr>
              <a:t> </a:t>
            </a:r>
            <a:r>
              <a:rPr lang="en-US" sz="1200" spc="-4" dirty="0">
                <a:cs typeface="Times New Roman"/>
              </a:rPr>
              <a:t>if</a:t>
            </a:r>
            <a:r>
              <a:rPr lang="en-US" sz="1200" spc="4" dirty="0">
                <a:cs typeface="Times New Roman"/>
              </a:rPr>
              <a:t> </a:t>
            </a:r>
            <a:r>
              <a:rPr lang="en-US" sz="1200" spc="-4" dirty="0">
                <a:cs typeface="Times New Roman"/>
              </a:rPr>
              <a:t>the</a:t>
            </a:r>
            <a:r>
              <a:rPr lang="en-US" sz="1200" dirty="0">
                <a:cs typeface="Times New Roman"/>
              </a:rPr>
              <a:t> </a:t>
            </a:r>
            <a:r>
              <a:rPr lang="en-US" sz="1200" b="1" spc="-4" dirty="0">
                <a:solidFill>
                  <a:srgbClr val="990000"/>
                </a:solidFill>
                <a:cs typeface="Times New Roman"/>
              </a:rPr>
              <a:t>Zero</a:t>
            </a:r>
            <a:r>
              <a:rPr lang="en-US" sz="1200" b="1" spc="4" dirty="0">
                <a:solidFill>
                  <a:srgbClr val="990000"/>
                </a:solidFill>
                <a:cs typeface="Times New Roman"/>
              </a:rPr>
              <a:t> </a:t>
            </a:r>
            <a:r>
              <a:rPr lang="en-US" sz="1200" b="1" spc="-4" dirty="0">
                <a:solidFill>
                  <a:srgbClr val="990000"/>
                </a:solidFill>
                <a:cs typeface="Times New Roman"/>
              </a:rPr>
              <a:t>flag</a:t>
            </a:r>
            <a:r>
              <a:rPr lang="en-US" sz="1200" b="1" dirty="0">
                <a:solidFill>
                  <a:srgbClr val="990000"/>
                </a:solidFill>
                <a:cs typeface="Times New Roman"/>
              </a:rPr>
              <a:t> </a:t>
            </a:r>
            <a:r>
              <a:rPr lang="en-US" sz="1200" b="1" spc="-4" dirty="0">
                <a:solidFill>
                  <a:srgbClr val="990000"/>
                </a:solidFill>
                <a:cs typeface="Times New Roman"/>
              </a:rPr>
              <a:t>is</a:t>
            </a:r>
            <a:r>
              <a:rPr lang="en-US" sz="1200" b="1" spc="4" dirty="0">
                <a:solidFill>
                  <a:srgbClr val="990000"/>
                </a:solidFill>
                <a:cs typeface="Times New Roman"/>
              </a:rPr>
              <a:t> </a:t>
            </a:r>
            <a:r>
              <a:rPr lang="en-US" sz="1200" b="1" spc="-4" dirty="0">
                <a:solidFill>
                  <a:srgbClr val="990000"/>
                </a:solidFill>
                <a:cs typeface="Times New Roman"/>
              </a:rPr>
              <a:t>set</a:t>
            </a:r>
            <a:r>
              <a:rPr lang="en-US" sz="1200" spc="-4" dirty="0">
                <a:cs typeface="Times New Roman"/>
              </a:rPr>
              <a:t>.</a:t>
            </a:r>
            <a:endParaRPr lang="en-US" sz="1200" dirty="0">
              <a:cs typeface="Times New Roman"/>
            </a:endParaRPr>
          </a:p>
          <a:p>
            <a:pPr marL="523875" lvl="1" indent="-172403">
              <a:spcBef>
                <a:spcPts val="172"/>
              </a:spcBef>
              <a:buFont typeface="Arial" pitchFamily="34" charset="0"/>
              <a:buChar char="•"/>
              <a:tabLst>
                <a:tab pos="523399" algn="l"/>
                <a:tab pos="524351" algn="l"/>
                <a:tab pos="1038225" algn="l"/>
              </a:tabLst>
            </a:pPr>
            <a:r>
              <a:rPr lang="en-US" sz="1400" spc="-4" dirty="0">
                <a:cs typeface="Times New Roman"/>
              </a:rPr>
              <a:t>JNZ	Address</a:t>
            </a:r>
            <a:r>
              <a:rPr lang="en-US" sz="1400" spc="101" dirty="0">
                <a:cs typeface="Times New Roman"/>
              </a:rPr>
              <a:t> </a:t>
            </a:r>
            <a:r>
              <a:rPr lang="en-US" sz="1400" spc="-4" dirty="0">
                <a:cs typeface="Times New Roman"/>
              </a:rPr>
              <a:t>(Jump</a:t>
            </a:r>
            <a:r>
              <a:rPr lang="en-US" sz="1400" spc="-19" dirty="0">
                <a:cs typeface="Times New Roman"/>
              </a:rPr>
              <a:t> </a:t>
            </a:r>
            <a:r>
              <a:rPr lang="en-US" sz="1400" spc="-4" dirty="0">
                <a:cs typeface="Times New Roman"/>
              </a:rPr>
              <a:t>on</a:t>
            </a:r>
            <a:r>
              <a:rPr lang="en-US" sz="1400" spc="-11" dirty="0">
                <a:cs typeface="Times New Roman"/>
              </a:rPr>
              <a:t> </a:t>
            </a:r>
            <a:r>
              <a:rPr lang="en-US" sz="1400" spc="-4" dirty="0">
                <a:cs typeface="Times New Roman"/>
              </a:rPr>
              <a:t>NOT</a:t>
            </a:r>
            <a:r>
              <a:rPr lang="en-US" sz="1400" spc="8" dirty="0">
                <a:cs typeface="Times New Roman"/>
              </a:rPr>
              <a:t> </a:t>
            </a:r>
            <a:r>
              <a:rPr lang="en-US" sz="1400" spc="-4" dirty="0">
                <a:cs typeface="Times New Roman"/>
              </a:rPr>
              <a:t>Zero)</a:t>
            </a:r>
            <a:endParaRPr lang="en-US" sz="1400" dirty="0">
              <a:cs typeface="Times New Roman"/>
            </a:endParaRPr>
          </a:p>
          <a:p>
            <a:pPr marL="866775" lvl="2" indent="-171926">
              <a:spcBef>
                <a:spcPts val="169"/>
              </a:spcBef>
              <a:buFont typeface="Arial" pitchFamily="34" charset="0"/>
              <a:buChar char="–"/>
              <a:tabLst>
                <a:tab pos="866775" algn="l"/>
              </a:tabLst>
            </a:pPr>
            <a:r>
              <a:rPr lang="en-US" sz="1200" spc="-4" dirty="0">
                <a:cs typeface="Times New Roman"/>
              </a:rPr>
              <a:t>Go</a:t>
            </a:r>
            <a:r>
              <a:rPr lang="en-US" sz="1200" spc="-8" dirty="0">
                <a:cs typeface="Times New Roman"/>
              </a:rPr>
              <a:t> </a:t>
            </a:r>
            <a:r>
              <a:rPr lang="en-US" sz="1200" spc="-4" dirty="0">
                <a:cs typeface="Times New Roman"/>
              </a:rPr>
              <a:t>to</a:t>
            </a:r>
            <a:r>
              <a:rPr lang="en-US" sz="1200" spc="4" dirty="0">
                <a:cs typeface="Times New Roman"/>
              </a:rPr>
              <a:t> </a:t>
            </a:r>
            <a:r>
              <a:rPr lang="en-US" sz="1200" spc="-4" dirty="0">
                <a:cs typeface="Times New Roman"/>
              </a:rPr>
              <a:t>address</a:t>
            </a:r>
            <a:r>
              <a:rPr lang="en-US" sz="1200" dirty="0">
                <a:cs typeface="Times New Roman"/>
              </a:rPr>
              <a:t> </a:t>
            </a:r>
            <a:r>
              <a:rPr lang="en-US" sz="1200" spc="-4" dirty="0">
                <a:cs typeface="Times New Roman"/>
              </a:rPr>
              <a:t>specified</a:t>
            </a:r>
            <a:r>
              <a:rPr lang="en-US" sz="1200" spc="8" dirty="0">
                <a:cs typeface="Times New Roman"/>
              </a:rPr>
              <a:t> </a:t>
            </a:r>
            <a:r>
              <a:rPr lang="en-US" sz="1200" spc="-4" dirty="0">
                <a:cs typeface="Times New Roman"/>
              </a:rPr>
              <a:t>if</a:t>
            </a:r>
            <a:r>
              <a:rPr lang="en-US" sz="1200" spc="4" dirty="0">
                <a:cs typeface="Times New Roman"/>
              </a:rPr>
              <a:t> </a:t>
            </a:r>
            <a:r>
              <a:rPr lang="en-US" sz="1200" spc="-4" dirty="0">
                <a:cs typeface="Times New Roman"/>
              </a:rPr>
              <a:t>the</a:t>
            </a:r>
            <a:r>
              <a:rPr lang="en-US" sz="1200" dirty="0">
                <a:cs typeface="Times New Roman"/>
              </a:rPr>
              <a:t> </a:t>
            </a:r>
            <a:r>
              <a:rPr lang="en-US" sz="1200" b="1" spc="-4" dirty="0">
                <a:solidFill>
                  <a:srgbClr val="990000"/>
                </a:solidFill>
                <a:cs typeface="Times New Roman"/>
              </a:rPr>
              <a:t>Zero</a:t>
            </a:r>
            <a:r>
              <a:rPr lang="en-US" sz="1200" b="1" spc="8" dirty="0">
                <a:solidFill>
                  <a:srgbClr val="990000"/>
                </a:solidFill>
                <a:cs typeface="Times New Roman"/>
              </a:rPr>
              <a:t> </a:t>
            </a:r>
            <a:r>
              <a:rPr lang="en-US" sz="1200" b="1" spc="-4" dirty="0">
                <a:solidFill>
                  <a:srgbClr val="990000"/>
                </a:solidFill>
                <a:cs typeface="Times New Roman"/>
              </a:rPr>
              <a:t>flag</a:t>
            </a:r>
            <a:r>
              <a:rPr lang="en-US" sz="1200" b="1" dirty="0">
                <a:solidFill>
                  <a:srgbClr val="990000"/>
                </a:solidFill>
                <a:cs typeface="Times New Roman"/>
              </a:rPr>
              <a:t> </a:t>
            </a:r>
            <a:r>
              <a:rPr lang="en-US" sz="1200" b="1" spc="-4" dirty="0">
                <a:solidFill>
                  <a:srgbClr val="990000"/>
                </a:solidFill>
                <a:cs typeface="Times New Roman"/>
              </a:rPr>
              <a:t>is</a:t>
            </a:r>
            <a:r>
              <a:rPr lang="en-US" sz="1200" b="1" spc="4" dirty="0">
                <a:solidFill>
                  <a:srgbClr val="990000"/>
                </a:solidFill>
                <a:cs typeface="Times New Roman"/>
              </a:rPr>
              <a:t> </a:t>
            </a:r>
            <a:r>
              <a:rPr lang="en-US" sz="1200" b="1" spc="-4" dirty="0">
                <a:solidFill>
                  <a:srgbClr val="990000"/>
                </a:solidFill>
                <a:cs typeface="Times New Roman"/>
              </a:rPr>
              <a:t>not</a:t>
            </a:r>
            <a:r>
              <a:rPr lang="en-US" sz="1200" b="1" dirty="0">
                <a:solidFill>
                  <a:srgbClr val="990000"/>
                </a:solidFill>
                <a:cs typeface="Times New Roman"/>
              </a:rPr>
              <a:t> </a:t>
            </a:r>
            <a:r>
              <a:rPr lang="en-US" sz="1200" b="1" spc="-4" dirty="0">
                <a:solidFill>
                  <a:srgbClr val="990000"/>
                </a:solidFill>
                <a:cs typeface="Times New Roman"/>
              </a:rPr>
              <a:t>set</a:t>
            </a:r>
            <a:r>
              <a:rPr lang="en-US" sz="1200" spc="-4" dirty="0">
                <a:cs typeface="Times New Roman"/>
              </a:rPr>
              <a:t>.</a:t>
            </a:r>
            <a:endParaRPr lang="en-US" sz="1200" dirty="0">
              <a:cs typeface="Times New Roman"/>
            </a:endParaRPr>
          </a:p>
          <a:p>
            <a:pPr marL="523875" lvl="1" indent="-172403">
              <a:spcBef>
                <a:spcPts val="172"/>
              </a:spcBef>
              <a:buFont typeface="Arial" pitchFamily="34" charset="0"/>
              <a:buChar char="•"/>
              <a:tabLst>
                <a:tab pos="523399" algn="l"/>
                <a:tab pos="524351" algn="l"/>
                <a:tab pos="1038225" algn="l"/>
              </a:tabLst>
            </a:pPr>
            <a:r>
              <a:rPr lang="en-US" sz="1400" spc="-4" dirty="0">
                <a:cs typeface="Times New Roman"/>
              </a:rPr>
              <a:t>JC	Address</a:t>
            </a:r>
            <a:r>
              <a:rPr lang="en-US" sz="1400" spc="101" dirty="0">
                <a:cs typeface="Times New Roman"/>
              </a:rPr>
              <a:t> </a:t>
            </a:r>
            <a:r>
              <a:rPr lang="en-US" sz="1400" spc="-4" dirty="0">
                <a:cs typeface="Times New Roman"/>
              </a:rPr>
              <a:t>(Jump</a:t>
            </a:r>
            <a:r>
              <a:rPr lang="en-US" sz="1400" spc="-19" dirty="0">
                <a:cs typeface="Times New Roman"/>
              </a:rPr>
              <a:t> </a:t>
            </a:r>
            <a:r>
              <a:rPr lang="en-US" sz="1400" spc="-4" dirty="0">
                <a:cs typeface="Times New Roman"/>
              </a:rPr>
              <a:t>on</a:t>
            </a:r>
            <a:r>
              <a:rPr lang="en-US" sz="1400" spc="-11" dirty="0">
                <a:cs typeface="Times New Roman"/>
              </a:rPr>
              <a:t> </a:t>
            </a:r>
            <a:r>
              <a:rPr lang="en-US" sz="1400" spc="-4" dirty="0">
                <a:cs typeface="Times New Roman"/>
              </a:rPr>
              <a:t>Carry)</a:t>
            </a:r>
            <a:endParaRPr lang="en-US" sz="1400" dirty="0">
              <a:cs typeface="Times New Roman"/>
            </a:endParaRPr>
          </a:p>
          <a:p>
            <a:pPr marL="866775" lvl="2" indent="-171926">
              <a:spcBef>
                <a:spcPts val="169"/>
              </a:spcBef>
              <a:buFont typeface="Arial" pitchFamily="34" charset="0"/>
              <a:buChar char="–"/>
              <a:tabLst>
                <a:tab pos="866775" algn="l"/>
              </a:tabLst>
            </a:pPr>
            <a:r>
              <a:rPr lang="en-US" sz="1200" spc="-4" dirty="0">
                <a:cs typeface="Times New Roman"/>
              </a:rPr>
              <a:t>Go</a:t>
            </a:r>
            <a:r>
              <a:rPr lang="en-US" sz="1200" spc="-8" dirty="0">
                <a:cs typeface="Times New Roman"/>
              </a:rPr>
              <a:t> </a:t>
            </a:r>
            <a:r>
              <a:rPr lang="en-US" sz="1200" spc="-4" dirty="0">
                <a:cs typeface="Times New Roman"/>
              </a:rPr>
              <a:t>to</a:t>
            </a:r>
            <a:r>
              <a:rPr lang="en-US" sz="1200" spc="4" dirty="0">
                <a:cs typeface="Times New Roman"/>
              </a:rPr>
              <a:t> </a:t>
            </a:r>
            <a:r>
              <a:rPr lang="en-US" sz="1200" spc="-4" dirty="0">
                <a:cs typeface="Times New Roman"/>
              </a:rPr>
              <a:t>the</a:t>
            </a:r>
            <a:r>
              <a:rPr lang="en-US" sz="1200" dirty="0">
                <a:cs typeface="Times New Roman"/>
              </a:rPr>
              <a:t> </a:t>
            </a:r>
            <a:r>
              <a:rPr lang="en-US" sz="1200" spc="-4" dirty="0">
                <a:cs typeface="Times New Roman"/>
              </a:rPr>
              <a:t>address</a:t>
            </a:r>
            <a:r>
              <a:rPr lang="en-US" sz="1200" spc="4" dirty="0">
                <a:cs typeface="Times New Roman"/>
              </a:rPr>
              <a:t> </a:t>
            </a:r>
            <a:r>
              <a:rPr lang="en-US" sz="1200" spc="-4" dirty="0">
                <a:cs typeface="Times New Roman"/>
              </a:rPr>
              <a:t>specified</a:t>
            </a:r>
            <a:r>
              <a:rPr lang="en-US" sz="1200" spc="4" dirty="0">
                <a:cs typeface="Times New Roman"/>
              </a:rPr>
              <a:t> </a:t>
            </a:r>
            <a:r>
              <a:rPr lang="en-US" sz="1200" spc="-4" dirty="0">
                <a:cs typeface="Times New Roman"/>
              </a:rPr>
              <a:t>if</a:t>
            </a:r>
            <a:r>
              <a:rPr lang="en-US" sz="1200" spc="4" dirty="0">
                <a:cs typeface="Times New Roman"/>
              </a:rPr>
              <a:t> </a:t>
            </a:r>
            <a:r>
              <a:rPr lang="en-US" sz="1200" spc="-4" dirty="0">
                <a:cs typeface="Times New Roman"/>
              </a:rPr>
              <a:t>the</a:t>
            </a:r>
            <a:r>
              <a:rPr lang="en-US" sz="1200" spc="8" dirty="0">
                <a:cs typeface="Times New Roman"/>
              </a:rPr>
              <a:t> </a:t>
            </a:r>
            <a:r>
              <a:rPr lang="en-US" sz="1200" b="1" spc="-4" dirty="0">
                <a:solidFill>
                  <a:srgbClr val="990000"/>
                </a:solidFill>
                <a:cs typeface="Times New Roman"/>
              </a:rPr>
              <a:t>Carry</a:t>
            </a:r>
            <a:r>
              <a:rPr lang="en-US" sz="1200" b="1" dirty="0">
                <a:solidFill>
                  <a:srgbClr val="990000"/>
                </a:solidFill>
                <a:cs typeface="Times New Roman"/>
              </a:rPr>
              <a:t> </a:t>
            </a:r>
            <a:r>
              <a:rPr lang="en-US" sz="1200" b="1" spc="-4" dirty="0">
                <a:solidFill>
                  <a:srgbClr val="990000"/>
                </a:solidFill>
                <a:cs typeface="Times New Roman"/>
              </a:rPr>
              <a:t>flag</a:t>
            </a:r>
            <a:r>
              <a:rPr lang="en-US" sz="1200" b="1" spc="8" dirty="0">
                <a:solidFill>
                  <a:srgbClr val="990000"/>
                </a:solidFill>
                <a:cs typeface="Times New Roman"/>
              </a:rPr>
              <a:t> </a:t>
            </a:r>
            <a:r>
              <a:rPr lang="en-US" sz="1200" b="1" spc="-4" dirty="0">
                <a:solidFill>
                  <a:srgbClr val="990000"/>
                </a:solidFill>
                <a:cs typeface="Times New Roman"/>
              </a:rPr>
              <a:t>is</a:t>
            </a:r>
            <a:r>
              <a:rPr lang="en-US" sz="1200" b="1" dirty="0">
                <a:solidFill>
                  <a:srgbClr val="990000"/>
                </a:solidFill>
                <a:cs typeface="Times New Roman"/>
              </a:rPr>
              <a:t> </a:t>
            </a:r>
            <a:r>
              <a:rPr lang="en-US" sz="1200" b="1" spc="-4" dirty="0">
                <a:solidFill>
                  <a:srgbClr val="990000"/>
                </a:solidFill>
                <a:cs typeface="Times New Roman"/>
              </a:rPr>
              <a:t>set</a:t>
            </a:r>
            <a:r>
              <a:rPr lang="en-US" sz="1200" spc="-4" dirty="0">
                <a:cs typeface="Times New Roman"/>
              </a:rPr>
              <a:t>.</a:t>
            </a:r>
            <a:endParaRPr lang="en-US" sz="1200" dirty="0">
              <a:cs typeface="Times New Roman"/>
            </a:endParaRPr>
          </a:p>
          <a:p>
            <a:pPr marL="523875" lvl="1" indent="-172403">
              <a:spcBef>
                <a:spcPts val="172"/>
              </a:spcBef>
              <a:buFont typeface="Arial" pitchFamily="34" charset="0"/>
              <a:buChar char="•"/>
              <a:tabLst>
                <a:tab pos="523399" algn="l"/>
                <a:tab pos="524351" algn="l"/>
                <a:tab pos="1038225" algn="l"/>
              </a:tabLst>
            </a:pPr>
            <a:r>
              <a:rPr lang="en-US" sz="1400" spc="-4" dirty="0">
                <a:cs typeface="Times New Roman"/>
              </a:rPr>
              <a:t>JNC	Address</a:t>
            </a:r>
            <a:r>
              <a:rPr lang="en-US" sz="1400" spc="101" dirty="0">
                <a:cs typeface="Times New Roman"/>
              </a:rPr>
              <a:t> </a:t>
            </a:r>
            <a:r>
              <a:rPr lang="en-US" sz="1400" spc="-4" dirty="0">
                <a:cs typeface="Times New Roman"/>
              </a:rPr>
              <a:t>(Jump</a:t>
            </a:r>
            <a:r>
              <a:rPr lang="en-US" sz="1400" spc="-15" dirty="0">
                <a:cs typeface="Times New Roman"/>
              </a:rPr>
              <a:t> </a:t>
            </a:r>
            <a:r>
              <a:rPr lang="en-US" sz="1400" spc="-4" dirty="0">
                <a:cs typeface="Times New Roman"/>
              </a:rPr>
              <a:t>on</a:t>
            </a:r>
            <a:r>
              <a:rPr lang="en-US" sz="1400" spc="-11" dirty="0">
                <a:cs typeface="Times New Roman"/>
              </a:rPr>
              <a:t> </a:t>
            </a:r>
            <a:r>
              <a:rPr lang="en-US" sz="1400" spc="-4" dirty="0">
                <a:cs typeface="Times New Roman"/>
              </a:rPr>
              <a:t>No</a:t>
            </a:r>
            <a:r>
              <a:rPr lang="en-US" sz="1400" spc="4" dirty="0">
                <a:cs typeface="Times New Roman"/>
              </a:rPr>
              <a:t> </a:t>
            </a:r>
            <a:r>
              <a:rPr lang="en-US" sz="1400" spc="-4" dirty="0">
                <a:cs typeface="Times New Roman"/>
              </a:rPr>
              <a:t>Carry)</a:t>
            </a:r>
            <a:endParaRPr lang="en-US" sz="1400" dirty="0">
              <a:cs typeface="Times New Roman"/>
            </a:endParaRPr>
          </a:p>
          <a:p>
            <a:pPr marL="866775" lvl="2" indent="-171926">
              <a:spcBef>
                <a:spcPts val="169"/>
              </a:spcBef>
              <a:buFont typeface="Arial" pitchFamily="34" charset="0"/>
              <a:buChar char="–"/>
              <a:tabLst>
                <a:tab pos="866775" algn="l"/>
              </a:tabLst>
            </a:pPr>
            <a:r>
              <a:rPr lang="en-US" sz="1200" spc="-4" dirty="0">
                <a:cs typeface="Times New Roman"/>
              </a:rPr>
              <a:t>Go</a:t>
            </a:r>
            <a:r>
              <a:rPr lang="en-US" sz="1200" spc="-8" dirty="0">
                <a:cs typeface="Times New Roman"/>
              </a:rPr>
              <a:t> </a:t>
            </a:r>
            <a:r>
              <a:rPr lang="en-US" sz="1200" spc="-4" dirty="0">
                <a:cs typeface="Times New Roman"/>
              </a:rPr>
              <a:t>to</a:t>
            </a:r>
            <a:r>
              <a:rPr lang="en-US" sz="1200" spc="4" dirty="0">
                <a:cs typeface="Times New Roman"/>
              </a:rPr>
              <a:t> </a:t>
            </a:r>
            <a:r>
              <a:rPr lang="en-US" sz="1200" spc="-4" dirty="0">
                <a:cs typeface="Times New Roman"/>
              </a:rPr>
              <a:t>the</a:t>
            </a:r>
            <a:r>
              <a:rPr lang="en-US" sz="1200" spc="4" dirty="0">
                <a:cs typeface="Times New Roman"/>
              </a:rPr>
              <a:t> </a:t>
            </a:r>
            <a:r>
              <a:rPr lang="en-US" sz="1200" spc="-4" dirty="0">
                <a:cs typeface="Times New Roman"/>
              </a:rPr>
              <a:t>address</a:t>
            </a:r>
            <a:r>
              <a:rPr lang="en-US" sz="1200" spc="4" dirty="0">
                <a:cs typeface="Times New Roman"/>
              </a:rPr>
              <a:t> </a:t>
            </a:r>
            <a:r>
              <a:rPr lang="en-US" sz="1200" spc="-4" dirty="0">
                <a:cs typeface="Times New Roman"/>
              </a:rPr>
              <a:t>specified</a:t>
            </a:r>
            <a:r>
              <a:rPr lang="en-US" sz="1200" spc="4" dirty="0">
                <a:cs typeface="Times New Roman"/>
              </a:rPr>
              <a:t> </a:t>
            </a:r>
            <a:r>
              <a:rPr lang="en-US" sz="1200" spc="-4" dirty="0">
                <a:cs typeface="Times New Roman"/>
              </a:rPr>
              <a:t>if</a:t>
            </a:r>
            <a:r>
              <a:rPr lang="en-US" sz="1200" spc="4" dirty="0">
                <a:cs typeface="Times New Roman"/>
              </a:rPr>
              <a:t> </a:t>
            </a:r>
            <a:r>
              <a:rPr lang="en-US" sz="1200" spc="-4" dirty="0">
                <a:cs typeface="Times New Roman"/>
              </a:rPr>
              <a:t>the</a:t>
            </a:r>
            <a:r>
              <a:rPr lang="en-US" sz="1200" spc="8" dirty="0">
                <a:cs typeface="Times New Roman"/>
              </a:rPr>
              <a:t> </a:t>
            </a:r>
            <a:r>
              <a:rPr lang="en-US" sz="1200" b="1" spc="-4" dirty="0">
                <a:solidFill>
                  <a:srgbClr val="990000"/>
                </a:solidFill>
                <a:cs typeface="Times New Roman"/>
              </a:rPr>
              <a:t>Carry</a:t>
            </a:r>
            <a:r>
              <a:rPr lang="en-US" sz="1200" b="1" spc="4" dirty="0">
                <a:solidFill>
                  <a:srgbClr val="990000"/>
                </a:solidFill>
                <a:cs typeface="Times New Roman"/>
              </a:rPr>
              <a:t> </a:t>
            </a:r>
            <a:r>
              <a:rPr lang="en-US" sz="1200" b="1" spc="-4" dirty="0">
                <a:solidFill>
                  <a:srgbClr val="990000"/>
                </a:solidFill>
                <a:cs typeface="Times New Roman"/>
              </a:rPr>
              <a:t>flag</a:t>
            </a:r>
            <a:r>
              <a:rPr lang="en-US" sz="1200" b="1" spc="4" dirty="0">
                <a:solidFill>
                  <a:srgbClr val="990000"/>
                </a:solidFill>
                <a:cs typeface="Times New Roman"/>
              </a:rPr>
              <a:t> </a:t>
            </a:r>
            <a:r>
              <a:rPr lang="en-US" sz="1200" b="1" spc="-4" dirty="0">
                <a:solidFill>
                  <a:srgbClr val="990000"/>
                </a:solidFill>
                <a:cs typeface="Times New Roman"/>
              </a:rPr>
              <a:t>is</a:t>
            </a:r>
            <a:r>
              <a:rPr lang="en-US" sz="1200" b="1" spc="4" dirty="0">
                <a:solidFill>
                  <a:srgbClr val="990000"/>
                </a:solidFill>
                <a:cs typeface="Times New Roman"/>
              </a:rPr>
              <a:t> </a:t>
            </a:r>
            <a:r>
              <a:rPr lang="en-US" sz="1200" b="1" spc="-4" dirty="0">
                <a:solidFill>
                  <a:srgbClr val="990000"/>
                </a:solidFill>
                <a:cs typeface="Times New Roman"/>
              </a:rPr>
              <a:t>not set</a:t>
            </a:r>
            <a:r>
              <a:rPr lang="en-US" sz="1200" spc="-4" dirty="0">
                <a:cs typeface="Times New Roman"/>
              </a:rPr>
              <a:t>.</a:t>
            </a:r>
            <a:endParaRPr lang="en-US" sz="1200" dirty="0">
              <a:cs typeface="Times New Roman"/>
            </a:endParaRPr>
          </a:p>
          <a:p>
            <a:pPr marL="523875" lvl="1" indent="-172403">
              <a:spcBef>
                <a:spcPts val="176"/>
              </a:spcBef>
              <a:buFont typeface="Arial" pitchFamily="34" charset="0"/>
              <a:buChar char="•"/>
              <a:tabLst>
                <a:tab pos="523399" algn="l"/>
                <a:tab pos="524351" algn="l"/>
                <a:tab pos="1038225" algn="l"/>
              </a:tabLst>
            </a:pPr>
            <a:r>
              <a:rPr lang="en-US" sz="1400" spc="-4" dirty="0">
                <a:cs typeface="Times New Roman"/>
              </a:rPr>
              <a:t>JP	Address</a:t>
            </a:r>
            <a:r>
              <a:rPr lang="en-US" sz="1400" spc="101" dirty="0">
                <a:cs typeface="Times New Roman"/>
              </a:rPr>
              <a:t> </a:t>
            </a:r>
            <a:r>
              <a:rPr lang="en-US" sz="1400" spc="-4" dirty="0">
                <a:cs typeface="Times New Roman"/>
              </a:rPr>
              <a:t>(Jump</a:t>
            </a:r>
            <a:r>
              <a:rPr lang="en-US" sz="1400" spc="-19" dirty="0">
                <a:cs typeface="Times New Roman"/>
              </a:rPr>
              <a:t> </a:t>
            </a:r>
            <a:r>
              <a:rPr lang="en-US" sz="1400" spc="-4" dirty="0">
                <a:cs typeface="Times New Roman"/>
              </a:rPr>
              <a:t>on</a:t>
            </a:r>
            <a:r>
              <a:rPr lang="en-US" sz="1400" spc="-15" dirty="0">
                <a:cs typeface="Times New Roman"/>
              </a:rPr>
              <a:t> </a:t>
            </a:r>
            <a:r>
              <a:rPr lang="en-US" sz="1400" spc="-4" dirty="0">
                <a:cs typeface="Times New Roman"/>
              </a:rPr>
              <a:t>Plus)</a:t>
            </a:r>
            <a:endParaRPr lang="en-US" sz="1400" dirty="0">
              <a:cs typeface="Times New Roman"/>
            </a:endParaRPr>
          </a:p>
          <a:p>
            <a:pPr marL="866775" lvl="2" indent="-171926">
              <a:spcBef>
                <a:spcPts val="165"/>
              </a:spcBef>
              <a:buFont typeface="Arial" pitchFamily="34" charset="0"/>
              <a:buChar char="–"/>
              <a:tabLst>
                <a:tab pos="866775" algn="l"/>
              </a:tabLst>
            </a:pPr>
            <a:r>
              <a:rPr lang="en-US" sz="1200" spc="-4" dirty="0">
                <a:cs typeface="Times New Roman"/>
              </a:rPr>
              <a:t>Go</a:t>
            </a:r>
            <a:r>
              <a:rPr lang="en-US" sz="1200" spc="-8" dirty="0">
                <a:cs typeface="Times New Roman"/>
              </a:rPr>
              <a:t> </a:t>
            </a:r>
            <a:r>
              <a:rPr lang="en-US" sz="1200" spc="-4" dirty="0">
                <a:cs typeface="Times New Roman"/>
              </a:rPr>
              <a:t>to</a:t>
            </a:r>
            <a:r>
              <a:rPr lang="en-US" sz="1200" spc="4" dirty="0">
                <a:cs typeface="Times New Roman"/>
              </a:rPr>
              <a:t> </a:t>
            </a:r>
            <a:r>
              <a:rPr lang="en-US" sz="1200" spc="-4" dirty="0">
                <a:cs typeface="Times New Roman"/>
              </a:rPr>
              <a:t>the</a:t>
            </a:r>
            <a:r>
              <a:rPr lang="en-US" sz="1200" spc="4" dirty="0">
                <a:cs typeface="Times New Roman"/>
              </a:rPr>
              <a:t> </a:t>
            </a:r>
            <a:r>
              <a:rPr lang="en-US" sz="1200" spc="-4" dirty="0">
                <a:cs typeface="Times New Roman"/>
              </a:rPr>
              <a:t>address</a:t>
            </a:r>
            <a:r>
              <a:rPr lang="en-US" sz="1200" dirty="0">
                <a:cs typeface="Times New Roman"/>
              </a:rPr>
              <a:t> </a:t>
            </a:r>
            <a:r>
              <a:rPr lang="en-US" sz="1200" spc="-4" dirty="0">
                <a:cs typeface="Times New Roman"/>
              </a:rPr>
              <a:t>specified</a:t>
            </a:r>
            <a:r>
              <a:rPr lang="en-US" sz="1200" spc="8" dirty="0">
                <a:cs typeface="Times New Roman"/>
              </a:rPr>
              <a:t> </a:t>
            </a:r>
            <a:r>
              <a:rPr lang="en-US" sz="1200" spc="-4" dirty="0">
                <a:cs typeface="Times New Roman"/>
              </a:rPr>
              <a:t>if</a:t>
            </a:r>
            <a:r>
              <a:rPr lang="en-US" sz="1200" spc="4" dirty="0">
                <a:cs typeface="Times New Roman"/>
              </a:rPr>
              <a:t> </a:t>
            </a:r>
            <a:r>
              <a:rPr lang="en-US" sz="1200" spc="-4" dirty="0">
                <a:cs typeface="Times New Roman"/>
              </a:rPr>
              <a:t>the</a:t>
            </a:r>
            <a:r>
              <a:rPr lang="en-US" sz="1200" spc="4" dirty="0">
                <a:cs typeface="Times New Roman"/>
              </a:rPr>
              <a:t> </a:t>
            </a:r>
            <a:r>
              <a:rPr lang="en-US" sz="1200" b="1" spc="-4" dirty="0">
                <a:solidFill>
                  <a:srgbClr val="990000"/>
                </a:solidFill>
                <a:cs typeface="Times New Roman"/>
              </a:rPr>
              <a:t>Sign</a:t>
            </a:r>
            <a:r>
              <a:rPr lang="en-US" sz="1200" b="1" spc="4" dirty="0">
                <a:solidFill>
                  <a:srgbClr val="990000"/>
                </a:solidFill>
                <a:cs typeface="Times New Roman"/>
              </a:rPr>
              <a:t> </a:t>
            </a:r>
            <a:r>
              <a:rPr lang="en-US" sz="1200" b="1" spc="-4" dirty="0">
                <a:solidFill>
                  <a:srgbClr val="990000"/>
                </a:solidFill>
                <a:cs typeface="Times New Roman"/>
              </a:rPr>
              <a:t>flag</a:t>
            </a:r>
            <a:r>
              <a:rPr lang="en-US" sz="1200" b="1" spc="4" dirty="0">
                <a:solidFill>
                  <a:srgbClr val="990000"/>
                </a:solidFill>
                <a:cs typeface="Times New Roman"/>
              </a:rPr>
              <a:t> </a:t>
            </a:r>
            <a:r>
              <a:rPr lang="en-US" sz="1200" b="1" spc="-4" dirty="0">
                <a:solidFill>
                  <a:srgbClr val="990000"/>
                </a:solidFill>
                <a:cs typeface="Times New Roman"/>
              </a:rPr>
              <a:t>is</a:t>
            </a:r>
            <a:r>
              <a:rPr lang="en-US" sz="1200" b="1" dirty="0">
                <a:solidFill>
                  <a:srgbClr val="990000"/>
                </a:solidFill>
                <a:cs typeface="Times New Roman"/>
              </a:rPr>
              <a:t> </a:t>
            </a:r>
            <a:r>
              <a:rPr lang="en-US" sz="1200" b="1" spc="-4" dirty="0">
                <a:solidFill>
                  <a:srgbClr val="990000"/>
                </a:solidFill>
                <a:cs typeface="Times New Roman"/>
              </a:rPr>
              <a:t>not</a:t>
            </a:r>
            <a:r>
              <a:rPr lang="en-US" sz="1200" b="1" spc="4" dirty="0">
                <a:solidFill>
                  <a:srgbClr val="990000"/>
                </a:solidFill>
                <a:cs typeface="Times New Roman"/>
              </a:rPr>
              <a:t> </a:t>
            </a:r>
            <a:r>
              <a:rPr lang="en-US" sz="1200" b="1" spc="-4" dirty="0">
                <a:solidFill>
                  <a:srgbClr val="990000"/>
                </a:solidFill>
                <a:cs typeface="Times New Roman"/>
              </a:rPr>
              <a:t>set</a:t>
            </a:r>
            <a:endParaRPr lang="en-US" sz="1200" dirty="0">
              <a:cs typeface="Times New Roman"/>
            </a:endParaRPr>
          </a:p>
          <a:p>
            <a:pPr marL="523875" lvl="1" indent="-172403">
              <a:spcBef>
                <a:spcPts val="176"/>
              </a:spcBef>
              <a:buFont typeface="Arial" pitchFamily="34" charset="0"/>
              <a:buChar char="•"/>
              <a:tabLst>
                <a:tab pos="523399" algn="l"/>
                <a:tab pos="524351" algn="l"/>
                <a:tab pos="1038225" algn="l"/>
              </a:tabLst>
            </a:pPr>
            <a:r>
              <a:rPr lang="en-US" sz="1400" spc="-4" dirty="0">
                <a:cs typeface="Times New Roman"/>
              </a:rPr>
              <a:t>JM	Address</a:t>
            </a:r>
            <a:r>
              <a:rPr lang="en-US" sz="1400" spc="101" dirty="0">
                <a:cs typeface="Times New Roman"/>
              </a:rPr>
              <a:t> </a:t>
            </a:r>
            <a:r>
              <a:rPr lang="en-US" sz="1400" spc="-4" dirty="0">
                <a:cs typeface="Times New Roman"/>
              </a:rPr>
              <a:t>(Jump</a:t>
            </a:r>
            <a:r>
              <a:rPr lang="en-US" sz="1400" spc="-19" dirty="0">
                <a:cs typeface="Times New Roman"/>
              </a:rPr>
              <a:t> </a:t>
            </a:r>
            <a:r>
              <a:rPr lang="en-US" sz="1400" spc="-4" dirty="0">
                <a:cs typeface="Times New Roman"/>
              </a:rPr>
              <a:t>on</a:t>
            </a:r>
            <a:r>
              <a:rPr lang="en-US" sz="1400" spc="-11" dirty="0">
                <a:cs typeface="Times New Roman"/>
              </a:rPr>
              <a:t> </a:t>
            </a:r>
            <a:r>
              <a:rPr lang="en-US" sz="1400" spc="-4" dirty="0">
                <a:cs typeface="Times New Roman"/>
              </a:rPr>
              <a:t>Minus)</a:t>
            </a:r>
            <a:endParaRPr lang="en-US" sz="1400" dirty="0">
              <a:cs typeface="Times New Roman"/>
            </a:endParaRPr>
          </a:p>
          <a:p>
            <a:pPr marL="866775" lvl="2" indent="-171926">
              <a:spcBef>
                <a:spcPts val="169"/>
              </a:spcBef>
              <a:buFont typeface="Arial" pitchFamily="34" charset="0"/>
              <a:buChar char="–"/>
              <a:tabLst>
                <a:tab pos="866775" algn="l"/>
              </a:tabLst>
            </a:pPr>
            <a:r>
              <a:rPr lang="en-US" sz="1200" spc="-4" dirty="0">
                <a:cs typeface="Times New Roman"/>
              </a:rPr>
              <a:t>Go</a:t>
            </a:r>
            <a:r>
              <a:rPr lang="en-US" sz="1200" spc="-8" dirty="0">
                <a:cs typeface="Times New Roman"/>
              </a:rPr>
              <a:t> </a:t>
            </a:r>
            <a:r>
              <a:rPr lang="en-US" sz="1200" spc="-4" dirty="0">
                <a:cs typeface="Times New Roman"/>
              </a:rPr>
              <a:t>to</a:t>
            </a:r>
            <a:r>
              <a:rPr lang="en-US" sz="1200" spc="4" dirty="0">
                <a:cs typeface="Times New Roman"/>
              </a:rPr>
              <a:t> </a:t>
            </a:r>
            <a:r>
              <a:rPr lang="en-US" sz="1200" spc="-4" dirty="0">
                <a:cs typeface="Times New Roman"/>
              </a:rPr>
              <a:t>the</a:t>
            </a:r>
            <a:r>
              <a:rPr lang="en-US" sz="1200" dirty="0">
                <a:cs typeface="Times New Roman"/>
              </a:rPr>
              <a:t> </a:t>
            </a:r>
            <a:r>
              <a:rPr lang="en-US" sz="1200" spc="-4" dirty="0">
                <a:cs typeface="Times New Roman"/>
              </a:rPr>
              <a:t>address</a:t>
            </a:r>
            <a:r>
              <a:rPr lang="en-US" sz="1200" spc="4" dirty="0">
                <a:cs typeface="Times New Roman"/>
              </a:rPr>
              <a:t> </a:t>
            </a:r>
            <a:r>
              <a:rPr lang="en-US" sz="1200" spc="-4" dirty="0">
                <a:cs typeface="Times New Roman"/>
              </a:rPr>
              <a:t>specified</a:t>
            </a:r>
            <a:r>
              <a:rPr lang="en-US" sz="1200" spc="4" dirty="0">
                <a:cs typeface="Times New Roman"/>
              </a:rPr>
              <a:t> </a:t>
            </a:r>
            <a:r>
              <a:rPr lang="en-US" sz="1200" spc="-4" dirty="0">
                <a:cs typeface="Times New Roman"/>
              </a:rPr>
              <a:t>if</a:t>
            </a:r>
            <a:r>
              <a:rPr lang="en-US" sz="1200" spc="4" dirty="0">
                <a:cs typeface="Times New Roman"/>
              </a:rPr>
              <a:t> </a:t>
            </a:r>
            <a:r>
              <a:rPr lang="en-US" sz="1200" spc="-4" dirty="0">
                <a:cs typeface="Times New Roman"/>
              </a:rPr>
              <a:t>the</a:t>
            </a:r>
            <a:r>
              <a:rPr lang="en-US" sz="1200" spc="8" dirty="0">
                <a:cs typeface="Times New Roman"/>
              </a:rPr>
              <a:t> </a:t>
            </a:r>
            <a:r>
              <a:rPr lang="en-US" sz="1200" b="1" spc="-4" dirty="0">
                <a:solidFill>
                  <a:srgbClr val="990000"/>
                </a:solidFill>
                <a:cs typeface="Times New Roman"/>
              </a:rPr>
              <a:t>Sign</a:t>
            </a:r>
            <a:r>
              <a:rPr lang="en-US" sz="1200" b="1" dirty="0">
                <a:solidFill>
                  <a:srgbClr val="990000"/>
                </a:solidFill>
                <a:cs typeface="Times New Roman"/>
              </a:rPr>
              <a:t> </a:t>
            </a:r>
            <a:r>
              <a:rPr lang="en-US" sz="1200" b="1" spc="-4" dirty="0">
                <a:solidFill>
                  <a:srgbClr val="990000"/>
                </a:solidFill>
                <a:cs typeface="Times New Roman"/>
              </a:rPr>
              <a:t>flag</a:t>
            </a:r>
            <a:r>
              <a:rPr lang="en-US" sz="1200" b="1" spc="4" dirty="0">
                <a:solidFill>
                  <a:srgbClr val="990000"/>
                </a:solidFill>
                <a:cs typeface="Times New Roman"/>
              </a:rPr>
              <a:t> </a:t>
            </a:r>
            <a:r>
              <a:rPr lang="en-US" sz="1200" b="1" spc="-4" dirty="0">
                <a:solidFill>
                  <a:srgbClr val="990000"/>
                </a:solidFill>
                <a:cs typeface="Times New Roman"/>
              </a:rPr>
              <a:t>is</a:t>
            </a:r>
            <a:r>
              <a:rPr lang="en-US" sz="1200" b="1" dirty="0">
                <a:solidFill>
                  <a:srgbClr val="990000"/>
                </a:solidFill>
                <a:cs typeface="Times New Roman"/>
              </a:rPr>
              <a:t> </a:t>
            </a:r>
            <a:r>
              <a:rPr lang="en-US" sz="1200" b="1" spc="-4" dirty="0">
                <a:solidFill>
                  <a:srgbClr val="990000"/>
                </a:solidFill>
                <a:cs typeface="Times New Roman"/>
              </a:rPr>
              <a:t>set</a:t>
            </a:r>
            <a:r>
              <a:rPr lang="en-US" sz="1200" spc="-4" dirty="0">
                <a:cs typeface="Times New Roman"/>
              </a:rPr>
              <a:t>.</a:t>
            </a:r>
            <a:endParaRPr lang="en-US" sz="1200" dirty="0">
              <a:cs typeface="Times New Roman"/>
            </a:endParaRPr>
          </a:p>
          <a:p>
            <a:endParaRPr lang="en-US" sz="1100" dirty="0"/>
          </a:p>
        </p:txBody>
      </p:sp>
      <p:sp>
        <p:nvSpPr>
          <p:cNvPr id="8" name="Title 1">
            <a:extLst>
              <a:ext uri="{FF2B5EF4-FFF2-40B4-BE49-F238E27FC236}">
                <a16:creationId xmlns:a16="http://schemas.microsoft.com/office/drawing/2014/main" id="{D6ED0E33-03FD-452D-BD55-EB390A1FBF12}"/>
              </a:ext>
            </a:extLst>
          </p:cNvPr>
          <p:cNvSpPr txBox="1">
            <a:spLocks/>
          </p:cNvSpPr>
          <p:nvPr/>
        </p:nvSpPr>
        <p:spPr>
          <a:xfrm>
            <a:off x="4572000" y="205979"/>
            <a:ext cx="4114800" cy="460771"/>
          </a:xfrm>
          <a:prstGeom prst="rect">
            <a:avLst/>
          </a:prstGeom>
          <a:no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55563" lvl="1" algn="l">
              <a:spcBef>
                <a:spcPts val="220"/>
              </a:spcBef>
              <a:tabLst>
                <a:tab pos="723265" algn="l"/>
                <a:tab pos="724535" algn="l"/>
              </a:tabLst>
            </a:pPr>
            <a:r>
              <a:rPr lang="en-US" sz="2000" b="1" kern="0" spc="-4" dirty="0">
                <a:solidFill>
                  <a:srgbClr val="0070C0"/>
                </a:solidFill>
              </a:rPr>
              <a:t>Conditional</a:t>
            </a:r>
            <a:r>
              <a:rPr lang="en-US" sz="2000" b="1" kern="0" spc="-41" dirty="0">
                <a:solidFill>
                  <a:srgbClr val="0070C0"/>
                </a:solidFill>
              </a:rPr>
              <a:t> </a:t>
            </a:r>
            <a:r>
              <a:rPr lang="en-US" sz="2000" b="1" kern="0" spc="-4" dirty="0">
                <a:solidFill>
                  <a:srgbClr val="0070C0"/>
                </a:solidFill>
              </a:rPr>
              <a:t>Branch</a:t>
            </a:r>
            <a:endParaRPr lang="en-US" sz="2000" b="1" kern="0" dirty="0">
              <a:solidFill>
                <a:srgbClr val="0070C0"/>
              </a:solidFill>
              <a:cs typeface="Times New Roman"/>
            </a:endParaRPr>
          </a:p>
        </p:txBody>
      </p:sp>
    </p:spTree>
    <p:extLst>
      <p:ext uri="{BB962C8B-B14F-4D97-AF65-F5344CB8AC3E}">
        <p14:creationId xmlns:p14="http://schemas.microsoft.com/office/powerpoint/2010/main" val="13752677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marL="494030" lvl="1" algn="l">
              <a:lnSpc>
                <a:spcPct val="100000"/>
              </a:lnSpc>
              <a:spcBef>
                <a:spcPts val="220"/>
              </a:spcBef>
              <a:tabLst>
                <a:tab pos="723265" algn="l"/>
                <a:tab pos="724535" algn="l"/>
              </a:tabLst>
            </a:pPr>
            <a:r>
              <a:rPr lang="en-US" sz="2000" b="1" spc="-5" dirty="0">
                <a:solidFill>
                  <a:srgbClr val="00B050"/>
                </a:solidFill>
                <a:cs typeface="Times New Roman"/>
              </a:rPr>
              <a:t>5. Machine control Operations</a:t>
            </a:r>
            <a:endParaRPr lang="en-US" sz="2000" dirty="0">
              <a:cs typeface="Times New Roman"/>
            </a:endParaRPr>
          </a:p>
        </p:txBody>
      </p:sp>
      <p:sp>
        <p:nvSpPr>
          <p:cNvPr id="4" name="Date Placeholder 3"/>
          <p:cNvSpPr>
            <a:spLocks noGrp="1"/>
          </p:cNvSpPr>
          <p:nvPr>
            <p:ph type="dt" sz="half" idx="10"/>
          </p:nvPr>
        </p:nvSpPr>
        <p:spPr/>
        <p:txBody>
          <a:bodyPr/>
          <a:lstStyle/>
          <a:p>
            <a:fld id="{5F98B100-4892-4618-933D-7B331B09E820}"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9" name="Content Placeholder 8">
            <a:extLst>
              <a:ext uri="{FF2B5EF4-FFF2-40B4-BE49-F238E27FC236}">
                <a16:creationId xmlns:a16="http://schemas.microsoft.com/office/drawing/2014/main" id="{01665B04-EED7-4EB6-8A6D-0693AD2CA87B}"/>
              </a:ext>
            </a:extLst>
          </p:cNvPr>
          <p:cNvSpPr>
            <a:spLocks noGrp="1"/>
          </p:cNvSpPr>
          <p:nvPr>
            <p:ph idx="1"/>
          </p:nvPr>
        </p:nvSpPr>
        <p:spPr>
          <a:xfrm>
            <a:off x="457200" y="819150"/>
            <a:ext cx="8229600" cy="3775473"/>
          </a:xfrm>
        </p:spPr>
        <p:txBody>
          <a:bodyPr>
            <a:normAutofit/>
          </a:bodyPr>
          <a:lstStyle/>
          <a:p>
            <a:r>
              <a:rPr lang="en-US" sz="2400" dirty="0"/>
              <a:t>These instructions control machine functions such as Halt, Interrupt or Do-nothing</a:t>
            </a:r>
          </a:p>
        </p:txBody>
      </p:sp>
      <p:sp>
        <p:nvSpPr>
          <p:cNvPr id="10" name="object 3">
            <a:extLst>
              <a:ext uri="{FF2B5EF4-FFF2-40B4-BE49-F238E27FC236}">
                <a16:creationId xmlns:a16="http://schemas.microsoft.com/office/drawing/2014/main" id="{7E733E5C-06DF-46CF-9740-E5D7558B1708}"/>
              </a:ext>
            </a:extLst>
          </p:cNvPr>
          <p:cNvSpPr txBox="1"/>
          <p:nvPr/>
        </p:nvSpPr>
        <p:spPr>
          <a:xfrm>
            <a:off x="990601" y="1733550"/>
            <a:ext cx="3124200" cy="2852704"/>
          </a:xfrm>
          <a:prstGeom prst="rect">
            <a:avLst/>
          </a:prstGeom>
        </p:spPr>
        <p:txBody>
          <a:bodyPr vert="horz" wrap="square" lIns="0" tIns="99695" rIns="0" bIns="0" rtlCol="0">
            <a:spAutoFit/>
          </a:bodyPr>
          <a:lstStyle/>
          <a:p>
            <a:pPr marL="298450" indent="-285750">
              <a:lnSpc>
                <a:spcPct val="100000"/>
              </a:lnSpc>
              <a:spcBef>
                <a:spcPts val="785"/>
              </a:spcBef>
              <a:buChar char="–"/>
              <a:tabLst>
                <a:tab pos="298450" algn="l"/>
              </a:tabLst>
            </a:pPr>
            <a:r>
              <a:rPr spc="-5" dirty="0">
                <a:latin typeface="+mj-lt"/>
                <a:cs typeface="Times New Roman"/>
              </a:rPr>
              <a:t>HLT</a:t>
            </a:r>
            <a:endParaRPr dirty="0">
              <a:latin typeface="+mj-lt"/>
              <a:cs typeface="Times New Roman"/>
            </a:endParaRPr>
          </a:p>
          <a:p>
            <a:pPr marL="698500" lvl="1" indent="-229235">
              <a:lnSpc>
                <a:spcPct val="100000"/>
              </a:lnSpc>
              <a:spcBef>
                <a:spcPts val="585"/>
              </a:spcBef>
              <a:buChar char="•"/>
              <a:tabLst>
                <a:tab pos="698500" algn="l"/>
              </a:tabLst>
            </a:pPr>
            <a:r>
              <a:rPr sz="1600" spc="-5" dirty="0">
                <a:latin typeface="+mj-lt"/>
                <a:cs typeface="Times New Roman"/>
              </a:rPr>
              <a:t>Stop</a:t>
            </a:r>
            <a:r>
              <a:rPr sz="1600" spc="-15" dirty="0">
                <a:latin typeface="+mj-lt"/>
                <a:cs typeface="Times New Roman"/>
              </a:rPr>
              <a:t> </a:t>
            </a:r>
            <a:r>
              <a:rPr sz="1600" spc="-5" dirty="0">
                <a:latin typeface="+mj-lt"/>
                <a:cs typeface="Times New Roman"/>
              </a:rPr>
              <a:t>executing</a:t>
            </a:r>
            <a:r>
              <a:rPr sz="1600" spc="-30" dirty="0">
                <a:latin typeface="+mj-lt"/>
                <a:cs typeface="Times New Roman"/>
              </a:rPr>
              <a:t> </a:t>
            </a:r>
            <a:r>
              <a:rPr sz="1600" spc="-5" dirty="0">
                <a:latin typeface="+mj-lt"/>
                <a:cs typeface="Times New Roman"/>
              </a:rPr>
              <a:t>the</a:t>
            </a:r>
            <a:r>
              <a:rPr sz="1600" spc="-10" dirty="0">
                <a:latin typeface="+mj-lt"/>
                <a:cs typeface="Times New Roman"/>
              </a:rPr>
              <a:t> </a:t>
            </a:r>
            <a:r>
              <a:rPr sz="1600" spc="-5" dirty="0">
                <a:latin typeface="+mj-lt"/>
                <a:cs typeface="Times New Roman"/>
              </a:rPr>
              <a:t>program.</a:t>
            </a:r>
            <a:endParaRPr sz="1600" dirty="0">
              <a:latin typeface="+mj-lt"/>
              <a:cs typeface="Times New Roman"/>
            </a:endParaRPr>
          </a:p>
          <a:p>
            <a:pPr marL="298450" indent="-285750">
              <a:lnSpc>
                <a:spcPct val="100000"/>
              </a:lnSpc>
              <a:spcBef>
                <a:spcPts val="660"/>
              </a:spcBef>
              <a:buChar char="–"/>
              <a:tabLst>
                <a:tab pos="298450" algn="l"/>
              </a:tabLst>
            </a:pPr>
            <a:r>
              <a:rPr dirty="0">
                <a:latin typeface="+mj-lt"/>
                <a:cs typeface="Times New Roman"/>
              </a:rPr>
              <a:t>NOP</a:t>
            </a:r>
          </a:p>
          <a:p>
            <a:pPr marL="698500" lvl="1" indent="-229235">
              <a:lnSpc>
                <a:spcPct val="100000"/>
              </a:lnSpc>
              <a:spcBef>
                <a:spcPts val="590"/>
              </a:spcBef>
              <a:buChar char="•"/>
              <a:tabLst>
                <a:tab pos="698500" algn="l"/>
              </a:tabLst>
            </a:pPr>
            <a:r>
              <a:rPr sz="1600" spc="-5" dirty="0">
                <a:latin typeface="+mj-lt"/>
                <a:cs typeface="Times New Roman"/>
              </a:rPr>
              <a:t>No</a:t>
            </a:r>
            <a:r>
              <a:rPr sz="1600" spc="-30" dirty="0">
                <a:latin typeface="+mj-lt"/>
                <a:cs typeface="Times New Roman"/>
              </a:rPr>
              <a:t> </a:t>
            </a:r>
            <a:r>
              <a:rPr sz="1600" spc="-5" dirty="0">
                <a:latin typeface="+mj-lt"/>
                <a:cs typeface="Times New Roman"/>
              </a:rPr>
              <a:t>operation</a:t>
            </a:r>
            <a:endParaRPr sz="1600" dirty="0">
              <a:latin typeface="+mj-lt"/>
              <a:cs typeface="Times New Roman"/>
            </a:endParaRPr>
          </a:p>
          <a:p>
            <a:pPr marL="698500" lvl="1" indent="-229235">
              <a:lnSpc>
                <a:spcPct val="100000"/>
              </a:lnSpc>
              <a:spcBef>
                <a:spcPts val="575"/>
              </a:spcBef>
              <a:buChar char="•"/>
              <a:tabLst>
                <a:tab pos="698500" algn="l"/>
              </a:tabLst>
            </a:pPr>
            <a:r>
              <a:rPr sz="1600" spc="-5" dirty="0">
                <a:latin typeface="+mj-lt"/>
                <a:cs typeface="Times New Roman"/>
              </a:rPr>
              <a:t>Exactly</a:t>
            </a:r>
            <a:r>
              <a:rPr sz="1600" spc="-35" dirty="0">
                <a:latin typeface="+mj-lt"/>
                <a:cs typeface="Times New Roman"/>
              </a:rPr>
              <a:t> </a:t>
            </a:r>
            <a:r>
              <a:rPr sz="1600" spc="-5" dirty="0">
                <a:latin typeface="+mj-lt"/>
                <a:cs typeface="Times New Roman"/>
              </a:rPr>
              <a:t>as</a:t>
            </a:r>
            <a:r>
              <a:rPr sz="1600" spc="-10" dirty="0">
                <a:latin typeface="+mj-lt"/>
                <a:cs typeface="Times New Roman"/>
              </a:rPr>
              <a:t> </a:t>
            </a:r>
            <a:r>
              <a:rPr sz="1600" spc="-5" dirty="0">
                <a:latin typeface="+mj-lt"/>
                <a:cs typeface="Times New Roman"/>
              </a:rPr>
              <a:t>it</a:t>
            </a:r>
            <a:r>
              <a:rPr sz="1600" spc="-15" dirty="0">
                <a:latin typeface="+mj-lt"/>
                <a:cs typeface="Times New Roman"/>
              </a:rPr>
              <a:t> </a:t>
            </a:r>
            <a:r>
              <a:rPr sz="1600" spc="-5" dirty="0">
                <a:latin typeface="+mj-lt"/>
                <a:cs typeface="Times New Roman"/>
              </a:rPr>
              <a:t>says,</a:t>
            </a:r>
            <a:r>
              <a:rPr sz="1600" spc="-15" dirty="0">
                <a:latin typeface="+mj-lt"/>
                <a:cs typeface="Times New Roman"/>
              </a:rPr>
              <a:t> </a:t>
            </a:r>
            <a:r>
              <a:rPr sz="1600" dirty="0">
                <a:latin typeface="+mj-lt"/>
                <a:cs typeface="Times New Roman"/>
              </a:rPr>
              <a:t>do</a:t>
            </a:r>
            <a:r>
              <a:rPr sz="1600" spc="-10" dirty="0">
                <a:latin typeface="+mj-lt"/>
                <a:cs typeface="Times New Roman"/>
              </a:rPr>
              <a:t> </a:t>
            </a:r>
            <a:r>
              <a:rPr sz="1600" dirty="0">
                <a:latin typeface="+mj-lt"/>
                <a:cs typeface="Times New Roman"/>
              </a:rPr>
              <a:t>nothing.</a:t>
            </a:r>
          </a:p>
          <a:p>
            <a:pPr marL="697865" marR="5080" lvl="1" indent="-228600">
              <a:lnSpc>
                <a:spcPct val="100000"/>
              </a:lnSpc>
              <a:spcBef>
                <a:spcPts val="575"/>
              </a:spcBef>
              <a:buChar char="•"/>
              <a:tabLst>
                <a:tab pos="698500" algn="l"/>
              </a:tabLst>
            </a:pPr>
            <a:r>
              <a:rPr sz="1600" spc="-5" dirty="0">
                <a:latin typeface="+mj-lt"/>
                <a:cs typeface="Times New Roman"/>
              </a:rPr>
              <a:t>Usually used for delay </a:t>
            </a:r>
            <a:r>
              <a:rPr sz="1600" dirty="0">
                <a:latin typeface="+mj-lt"/>
                <a:cs typeface="Times New Roman"/>
              </a:rPr>
              <a:t>or </a:t>
            </a:r>
            <a:r>
              <a:rPr sz="1600" spc="-5" dirty="0">
                <a:latin typeface="+mj-lt"/>
                <a:cs typeface="Times New Roman"/>
              </a:rPr>
              <a:t>to replace instructions </a:t>
            </a:r>
            <a:r>
              <a:rPr sz="1600" spc="-585" dirty="0">
                <a:latin typeface="+mj-lt"/>
                <a:cs typeface="Times New Roman"/>
              </a:rPr>
              <a:t> </a:t>
            </a:r>
            <a:r>
              <a:rPr sz="1600" spc="-5" dirty="0">
                <a:latin typeface="+mj-lt"/>
                <a:cs typeface="Times New Roman"/>
              </a:rPr>
              <a:t>during</a:t>
            </a:r>
            <a:r>
              <a:rPr sz="1600" spc="-15" dirty="0">
                <a:latin typeface="+mj-lt"/>
                <a:cs typeface="Times New Roman"/>
              </a:rPr>
              <a:t> </a:t>
            </a:r>
            <a:r>
              <a:rPr sz="1600" spc="-5" dirty="0">
                <a:latin typeface="+mj-lt"/>
                <a:cs typeface="Times New Roman"/>
              </a:rPr>
              <a:t>debugging.</a:t>
            </a:r>
            <a:endParaRPr lang="en-US" sz="1600" spc="-5" dirty="0">
              <a:latin typeface="+mj-lt"/>
              <a:cs typeface="Times New Roman"/>
            </a:endParaRPr>
          </a:p>
          <a:p>
            <a:pPr marL="469265" marR="5080" lvl="1">
              <a:lnSpc>
                <a:spcPct val="100000"/>
              </a:lnSpc>
              <a:spcBef>
                <a:spcPts val="575"/>
              </a:spcBef>
              <a:tabLst>
                <a:tab pos="698500" algn="l"/>
              </a:tabLst>
            </a:pPr>
            <a:endParaRPr sz="1600" dirty="0">
              <a:latin typeface="+mj-lt"/>
              <a:cs typeface="Times New Roman"/>
            </a:endParaRPr>
          </a:p>
        </p:txBody>
      </p:sp>
      <p:sp>
        <p:nvSpPr>
          <p:cNvPr id="12" name="object 3">
            <a:extLst>
              <a:ext uri="{FF2B5EF4-FFF2-40B4-BE49-F238E27FC236}">
                <a16:creationId xmlns:a16="http://schemas.microsoft.com/office/drawing/2014/main" id="{378A13C2-82C7-4BEC-9567-D26B8594A8CF}"/>
              </a:ext>
            </a:extLst>
          </p:cNvPr>
          <p:cNvSpPr txBox="1"/>
          <p:nvPr/>
        </p:nvSpPr>
        <p:spPr>
          <a:xfrm>
            <a:off x="5562598" y="2266950"/>
            <a:ext cx="2590801" cy="2121735"/>
          </a:xfrm>
          <a:prstGeom prst="rect">
            <a:avLst/>
          </a:prstGeom>
        </p:spPr>
        <p:txBody>
          <a:bodyPr vert="horz" wrap="square" lIns="0" tIns="99695" rIns="0" bIns="0" rtlCol="0">
            <a:spAutoFit/>
          </a:bodyPr>
          <a:lstStyle/>
          <a:p>
            <a:pPr marL="12700">
              <a:lnSpc>
                <a:spcPct val="100000"/>
              </a:lnSpc>
              <a:spcBef>
                <a:spcPts val="785"/>
              </a:spcBef>
              <a:tabLst>
                <a:tab pos="298450" algn="l"/>
              </a:tabLst>
            </a:pPr>
            <a:r>
              <a:rPr lang="en-US" spc="-5" dirty="0">
                <a:latin typeface="+mj-lt"/>
                <a:cs typeface="Times New Roman"/>
              </a:rPr>
              <a:t>EI : Enable Interrupts</a:t>
            </a:r>
          </a:p>
          <a:p>
            <a:pPr marL="12700">
              <a:lnSpc>
                <a:spcPct val="100000"/>
              </a:lnSpc>
              <a:spcBef>
                <a:spcPts val="785"/>
              </a:spcBef>
              <a:tabLst>
                <a:tab pos="298450" algn="l"/>
              </a:tabLst>
            </a:pPr>
            <a:r>
              <a:rPr lang="en-US" sz="1600" spc="-5" dirty="0">
                <a:latin typeface="+mj-lt"/>
                <a:cs typeface="Times New Roman"/>
              </a:rPr>
              <a:t>DI : Disable Interrupts</a:t>
            </a:r>
          </a:p>
          <a:p>
            <a:pPr marL="12700">
              <a:lnSpc>
                <a:spcPct val="100000"/>
              </a:lnSpc>
              <a:spcBef>
                <a:spcPts val="785"/>
              </a:spcBef>
              <a:tabLst>
                <a:tab pos="298450" algn="l"/>
              </a:tabLst>
            </a:pPr>
            <a:r>
              <a:rPr lang="en-US" sz="1600" spc="-5" dirty="0">
                <a:latin typeface="+mj-lt"/>
                <a:cs typeface="Times New Roman"/>
              </a:rPr>
              <a:t>NOP : No operation</a:t>
            </a:r>
          </a:p>
          <a:p>
            <a:pPr marL="12700">
              <a:lnSpc>
                <a:spcPct val="100000"/>
              </a:lnSpc>
              <a:spcBef>
                <a:spcPts val="785"/>
              </a:spcBef>
              <a:tabLst>
                <a:tab pos="298450" algn="l"/>
              </a:tabLst>
            </a:pPr>
            <a:r>
              <a:rPr lang="en-US" sz="1600" spc="-5" dirty="0">
                <a:latin typeface="+mj-lt"/>
                <a:cs typeface="Times New Roman"/>
              </a:rPr>
              <a:t>HLT : Halt the processor</a:t>
            </a:r>
          </a:p>
          <a:p>
            <a:pPr marL="12700">
              <a:lnSpc>
                <a:spcPct val="100000"/>
              </a:lnSpc>
              <a:spcBef>
                <a:spcPts val="785"/>
              </a:spcBef>
              <a:tabLst>
                <a:tab pos="298450" algn="l"/>
              </a:tabLst>
            </a:pPr>
            <a:r>
              <a:rPr lang="en-US" sz="1600" spc="-5" dirty="0">
                <a:latin typeface="+mj-lt"/>
                <a:cs typeface="Times New Roman"/>
              </a:rPr>
              <a:t>SIM : Set Interrupt Mask</a:t>
            </a:r>
          </a:p>
          <a:p>
            <a:pPr marL="12700">
              <a:lnSpc>
                <a:spcPct val="100000"/>
              </a:lnSpc>
              <a:spcBef>
                <a:spcPts val="785"/>
              </a:spcBef>
              <a:tabLst>
                <a:tab pos="298450" algn="l"/>
              </a:tabLst>
            </a:pPr>
            <a:r>
              <a:rPr lang="en-US" sz="1600" spc="-5" dirty="0">
                <a:latin typeface="+mj-lt"/>
                <a:cs typeface="Times New Roman"/>
              </a:rPr>
              <a:t>RID : Read Interrupt Mask</a:t>
            </a:r>
            <a:endParaRPr sz="1600" dirty="0">
              <a:latin typeface="+mj-lt"/>
              <a:cs typeface="Times New Roman"/>
            </a:endParaRPr>
          </a:p>
        </p:txBody>
      </p:sp>
    </p:spTree>
    <p:extLst>
      <p:ext uri="{BB962C8B-B14F-4D97-AF65-F5344CB8AC3E}">
        <p14:creationId xmlns:p14="http://schemas.microsoft.com/office/powerpoint/2010/main" val="1820991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4000" b="1" dirty="0">
              <a:solidFill>
                <a:srgbClr val="FF0000"/>
              </a:solidFill>
            </a:endParaRPr>
          </a:p>
          <a:p>
            <a:pPr marL="0" indent="0" algn="ctr">
              <a:buNone/>
              <a:tabLst>
                <a:tab pos="463550" algn="l"/>
              </a:tabLst>
            </a:pPr>
            <a:endParaRPr lang="en-US" sz="4000" b="1" dirty="0">
              <a:solidFill>
                <a:srgbClr val="FF0000"/>
              </a:solidFill>
            </a:endParaRPr>
          </a:p>
          <a:p>
            <a:pPr marL="0" indent="0" algn="ctr">
              <a:buNone/>
              <a:tabLst>
                <a:tab pos="463550" algn="l"/>
              </a:tabLst>
            </a:pPr>
            <a:r>
              <a:rPr lang="en-US" sz="4000" b="1" dirty="0">
                <a:solidFill>
                  <a:srgbClr val="FF0000"/>
                </a:solidFill>
              </a:rPr>
              <a:t>3. Addressing modes</a:t>
            </a:r>
            <a:endParaRPr lang="en-US" sz="4000" dirty="0"/>
          </a:p>
        </p:txBody>
      </p:sp>
      <p:sp>
        <p:nvSpPr>
          <p:cNvPr id="4" name="Date Placeholder 3"/>
          <p:cNvSpPr>
            <a:spLocks noGrp="1"/>
          </p:cNvSpPr>
          <p:nvPr>
            <p:ph type="dt" sz="half" idx="10"/>
          </p:nvPr>
        </p:nvSpPr>
        <p:spPr/>
        <p:txBody>
          <a:bodyPr/>
          <a:lstStyle/>
          <a:p>
            <a:fld id="{CA15B36A-275B-48BF-A521-8DD2EF605A17}"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897366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Addressing modes in 8085</a:t>
            </a:r>
          </a:p>
        </p:txBody>
      </p:sp>
      <p:sp>
        <p:nvSpPr>
          <p:cNvPr id="3" name="Content Placeholder 2"/>
          <p:cNvSpPr>
            <a:spLocks noGrp="1"/>
          </p:cNvSpPr>
          <p:nvPr>
            <p:ph idx="1"/>
          </p:nvPr>
        </p:nvSpPr>
        <p:spPr>
          <a:xfrm>
            <a:off x="457200" y="742950"/>
            <a:ext cx="8229600" cy="3851673"/>
          </a:xfrm>
          <a:noFill/>
        </p:spPr>
        <p:txBody>
          <a:bodyPr>
            <a:normAutofit/>
          </a:bodyPr>
          <a:lstStyle/>
          <a:p>
            <a:pPr>
              <a:tabLst>
                <a:tab pos="463550" algn="l"/>
              </a:tabLst>
            </a:pPr>
            <a:r>
              <a:rPr lang="en-US" sz="2400" spc="-5" dirty="0">
                <a:cs typeface="Times New Roman"/>
              </a:rPr>
              <a:t>The microprocessor has different ways </a:t>
            </a:r>
            <a:r>
              <a:rPr lang="en-US" sz="2400" dirty="0">
                <a:cs typeface="Times New Roman"/>
              </a:rPr>
              <a:t>of </a:t>
            </a:r>
            <a:r>
              <a:rPr lang="en-US" sz="2400" spc="5" dirty="0">
                <a:cs typeface="Times New Roman"/>
              </a:rPr>
              <a:t> </a:t>
            </a:r>
            <a:r>
              <a:rPr lang="en-US" sz="2400" spc="-5" dirty="0">
                <a:cs typeface="Times New Roman"/>
              </a:rPr>
              <a:t>specifying </a:t>
            </a:r>
            <a:r>
              <a:rPr lang="en-US" sz="2400" dirty="0">
                <a:cs typeface="Times New Roman"/>
              </a:rPr>
              <a:t>the </a:t>
            </a:r>
            <a:r>
              <a:rPr lang="en-US" sz="2400" spc="-5" dirty="0">
                <a:cs typeface="Times New Roman"/>
              </a:rPr>
              <a:t>data </a:t>
            </a:r>
            <a:r>
              <a:rPr lang="en-US" sz="2400" dirty="0">
                <a:cs typeface="Times New Roman"/>
              </a:rPr>
              <a:t>for the </a:t>
            </a:r>
            <a:r>
              <a:rPr lang="en-US" sz="2400" spc="-5" dirty="0">
                <a:cs typeface="Times New Roman"/>
              </a:rPr>
              <a:t>instruction. These are </a:t>
            </a:r>
            <a:r>
              <a:rPr lang="en-US" sz="2400" spc="-685" dirty="0">
                <a:cs typeface="Times New Roman"/>
              </a:rPr>
              <a:t> </a:t>
            </a:r>
            <a:r>
              <a:rPr lang="en-US" sz="2400" spc="-5" dirty="0">
                <a:cs typeface="Times New Roman"/>
              </a:rPr>
              <a:t>called</a:t>
            </a:r>
            <a:r>
              <a:rPr lang="en-US" sz="2400" spc="-30" dirty="0">
                <a:cs typeface="Times New Roman"/>
              </a:rPr>
              <a:t> </a:t>
            </a:r>
            <a:r>
              <a:rPr lang="en-US" sz="2400" spc="-5" dirty="0">
                <a:cs typeface="Times New Roman"/>
              </a:rPr>
              <a:t>“</a:t>
            </a:r>
            <a:r>
              <a:rPr lang="en-US" sz="2400" spc="-5" dirty="0">
                <a:solidFill>
                  <a:srgbClr val="800000"/>
                </a:solidFill>
                <a:cs typeface="Times New Roman"/>
              </a:rPr>
              <a:t>addressing</a:t>
            </a:r>
            <a:r>
              <a:rPr lang="en-US" sz="2400" spc="-25" dirty="0">
                <a:solidFill>
                  <a:srgbClr val="800000"/>
                </a:solidFill>
                <a:cs typeface="Times New Roman"/>
              </a:rPr>
              <a:t> </a:t>
            </a:r>
            <a:r>
              <a:rPr lang="en-US" sz="2400" spc="-5" dirty="0">
                <a:solidFill>
                  <a:srgbClr val="800000"/>
                </a:solidFill>
                <a:cs typeface="Times New Roman"/>
              </a:rPr>
              <a:t>modes</a:t>
            </a:r>
            <a:r>
              <a:rPr lang="en-US" sz="2400" spc="-5" dirty="0">
                <a:cs typeface="Times New Roman"/>
              </a:rPr>
              <a:t>”.</a:t>
            </a:r>
            <a:endParaRPr lang="en-US" sz="2400" dirty="0">
              <a:cs typeface="Times New Roman"/>
            </a:endParaRPr>
          </a:p>
          <a:p>
            <a:pPr>
              <a:tabLst>
                <a:tab pos="463550" algn="l"/>
              </a:tabLst>
            </a:pPr>
            <a:r>
              <a:rPr lang="en-US" sz="2400" spc="-5" dirty="0">
                <a:cs typeface="Times New Roman"/>
              </a:rPr>
              <a:t>The</a:t>
            </a:r>
            <a:r>
              <a:rPr lang="en-US" sz="2400" spc="-20" dirty="0">
                <a:cs typeface="Times New Roman"/>
              </a:rPr>
              <a:t> </a:t>
            </a:r>
            <a:r>
              <a:rPr lang="en-US" sz="2400" dirty="0">
                <a:cs typeface="Times New Roman"/>
              </a:rPr>
              <a:t>8085</a:t>
            </a:r>
            <a:r>
              <a:rPr lang="en-US" sz="2400" spc="-15" dirty="0">
                <a:cs typeface="Times New Roman"/>
              </a:rPr>
              <a:t> </a:t>
            </a:r>
            <a:r>
              <a:rPr lang="en-US" sz="2400" spc="-5" dirty="0">
                <a:cs typeface="Times New Roman"/>
              </a:rPr>
              <a:t>has</a:t>
            </a:r>
            <a:r>
              <a:rPr lang="en-US" sz="2400" spc="-15" dirty="0">
                <a:cs typeface="Times New Roman"/>
              </a:rPr>
              <a:t> </a:t>
            </a:r>
            <a:r>
              <a:rPr lang="en-US" sz="2400" dirty="0">
                <a:cs typeface="Times New Roman"/>
              </a:rPr>
              <a:t>five</a:t>
            </a:r>
            <a:r>
              <a:rPr lang="en-US" sz="2400" spc="-10" dirty="0">
                <a:cs typeface="Times New Roman"/>
              </a:rPr>
              <a:t> </a:t>
            </a:r>
            <a:r>
              <a:rPr lang="en-US" sz="2400" spc="-5" dirty="0">
                <a:cs typeface="Times New Roman"/>
              </a:rPr>
              <a:t>addressing</a:t>
            </a:r>
            <a:r>
              <a:rPr lang="en-US" sz="2400" spc="-25" dirty="0">
                <a:cs typeface="Times New Roman"/>
              </a:rPr>
              <a:t> </a:t>
            </a:r>
            <a:r>
              <a:rPr lang="en-US" sz="2400" spc="-5" dirty="0">
                <a:cs typeface="Times New Roman"/>
              </a:rPr>
              <a:t>modes:</a:t>
            </a:r>
            <a:endParaRPr lang="en-US" sz="2400" dirty="0">
              <a:cs typeface="Times New Roman"/>
            </a:endParaRPr>
          </a:p>
          <a:p>
            <a:pPr marL="914400" lvl="1" indent="-457200">
              <a:buFont typeface="+mj-lt"/>
              <a:buAutoNum type="arabicPeriod"/>
              <a:tabLst>
                <a:tab pos="463550" algn="l"/>
              </a:tabLst>
            </a:pPr>
            <a:r>
              <a:rPr lang="en-US" sz="2000" dirty="0"/>
              <a:t>Immediate Addressing mode</a:t>
            </a:r>
          </a:p>
          <a:p>
            <a:pPr marL="914400" lvl="1" indent="-457200">
              <a:buFont typeface="+mj-lt"/>
              <a:buAutoNum type="arabicPeriod"/>
              <a:tabLst>
                <a:tab pos="463550" algn="l"/>
              </a:tabLst>
            </a:pPr>
            <a:r>
              <a:rPr lang="en-US" sz="2000" dirty="0"/>
              <a:t>Register Addressing mode</a:t>
            </a:r>
          </a:p>
          <a:p>
            <a:pPr marL="914400" lvl="1" indent="-457200">
              <a:buFont typeface="+mj-lt"/>
              <a:buAutoNum type="arabicPeriod"/>
              <a:tabLst>
                <a:tab pos="463550" algn="l"/>
              </a:tabLst>
            </a:pPr>
            <a:r>
              <a:rPr lang="en-US" sz="2000" dirty="0"/>
              <a:t>Direct Addressing mode</a:t>
            </a:r>
          </a:p>
          <a:p>
            <a:pPr marL="914400" lvl="1" indent="-457200">
              <a:buFont typeface="+mj-lt"/>
              <a:buAutoNum type="arabicPeriod"/>
              <a:tabLst>
                <a:tab pos="463550" algn="l"/>
              </a:tabLst>
            </a:pPr>
            <a:r>
              <a:rPr lang="en-US" sz="2000" dirty="0"/>
              <a:t>Indirect Addressing mode</a:t>
            </a:r>
          </a:p>
          <a:p>
            <a:pPr marL="914400" lvl="1" indent="-457200">
              <a:buFont typeface="+mj-lt"/>
              <a:buAutoNum type="arabicPeriod"/>
              <a:tabLst>
                <a:tab pos="463550" algn="l"/>
              </a:tabLst>
            </a:pPr>
            <a:r>
              <a:rPr lang="en-US" sz="2000" dirty="0"/>
              <a:t>Implied Addressing mode</a:t>
            </a:r>
          </a:p>
        </p:txBody>
      </p:sp>
      <p:sp>
        <p:nvSpPr>
          <p:cNvPr id="4" name="Date Placeholder 3"/>
          <p:cNvSpPr>
            <a:spLocks noGrp="1"/>
          </p:cNvSpPr>
          <p:nvPr>
            <p:ph type="dt" sz="half" idx="10"/>
          </p:nvPr>
        </p:nvSpPr>
        <p:spPr/>
        <p:txBody>
          <a:bodyPr/>
          <a:lstStyle/>
          <a:p>
            <a:fld id="{BFAF5D69-BC51-43E7-8BF7-6FF5B61ECD57}"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1243726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5029200" cy="3851673"/>
          </a:xfrm>
          <a:noFill/>
        </p:spPr>
        <p:txBody>
          <a:bodyPr>
            <a:normAutofit fontScale="92500" lnSpcReduction="10000"/>
          </a:bodyPr>
          <a:lstStyle/>
          <a:p>
            <a:pPr marL="514350" indent="-514350">
              <a:buFont typeface="+mj-lt"/>
              <a:buAutoNum type="arabicPeriod"/>
            </a:pPr>
            <a:r>
              <a:rPr lang="en-US" sz="2400" b="1" dirty="0"/>
              <a:t>Immediate addressing mode</a:t>
            </a:r>
          </a:p>
          <a:p>
            <a:pPr lvl="1"/>
            <a:r>
              <a:rPr lang="en-US" sz="2000" dirty="0"/>
              <a:t>In this mode, the 8/16-bit data is specified in the instruction itself as one of its operand. </a:t>
            </a:r>
          </a:p>
          <a:p>
            <a:pPr lvl="1"/>
            <a:r>
              <a:rPr lang="en-US" sz="2000" b="1" dirty="0"/>
              <a:t>For example:</a:t>
            </a:r>
            <a:r>
              <a:rPr lang="en-US" sz="2000" dirty="0"/>
              <a:t> MVI K, 20H</a:t>
            </a:r>
          </a:p>
          <a:p>
            <a:pPr lvl="1"/>
            <a:r>
              <a:rPr lang="en-US" sz="2000" dirty="0"/>
              <a:t>means 20H is copied into register K.</a:t>
            </a:r>
          </a:p>
          <a:p>
            <a:pPr marL="514350" indent="-514350">
              <a:buFont typeface="+mj-lt"/>
              <a:buAutoNum type="arabicPeriod"/>
            </a:pPr>
            <a:r>
              <a:rPr lang="en-US" sz="2400" b="1" dirty="0"/>
              <a:t>Register addressing mode</a:t>
            </a:r>
          </a:p>
          <a:p>
            <a:pPr lvl="1"/>
            <a:r>
              <a:rPr lang="en-US" sz="2000" dirty="0"/>
              <a:t>In this mode, the data is copied from one register to another. </a:t>
            </a:r>
          </a:p>
          <a:p>
            <a:pPr lvl="1"/>
            <a:r>
              <a:rPr lang="en-US" sz="2000" b="1" dirty="0"/>
              <a:t>For example:</a:t>
            </a:r>
            <a:r>
              <a:rPr lang="en-US" sz="2000" dirty="0"/>
              <a:t> MOV K, B</a:t>
            </a:r>
          </a:p>
          <a:p>
            <a:pPr lvl="1"/>
            <a:r>
              <a:rPr lang="en-US" sz="2000" dirty="0"/>
              <a:t>means data in register B is copied to register K.</a:t>
            </a:r>
          </a:p>
          <a:p>
            <a:pPr marL="457200" indent="-457200">
              <a:buFont typeface="+mj-lt"/>
              <a:buAutoNum type="arabicPeriod"/>
              <a:tabLst>
                <a:tab pos="463550" algn="l"/>
              </a:tabLst>
            </a:pPr>
            <a:endParaRPr lang="en-US" sz="1200" dirty="0"/>
          </a:p>
        </p:txBody>
      </p:sp>
      <p:sp>
        <p:nvSpPr>
          <p:cNvPr id="4" name="Date Placeholder 3"/>
          <p:cNvSpPr>
            <a:spLocks noGrp="1"/>
          </p:cNvSpPr>
          <p:nvPr>
            <p:ph type="dt" sz="half" idx="10"/>
          </p:nvPr>
        </p:nvSpPr>
        <p:spPr/>
        <p:txBody>
          <a:bodyPr/>
          <a:lstStyle/>
          <a:p>
            <a:fld id="{24C17E7A-A5B1-4903-94EA-03EF0222CEBB}"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68DBAA2A-0941-49EF-BB48-067373CC5EC5}"/>
              </a:ext>
            </a:extLst>
          </p:cNvPr>
          <p:cNvPicPr>
            <a:picLocks noChangeAspect="1"/>
          </p:cNvPicPr>
          <p:nvPr/>
        </p:nvPicPr>
        <p:blipFill rotWithShape="1">
          <a:blip r:embed="rId2"/>
          <a:srcRect l="62944" t="12945" b="35275"/>
          <a:stretch/>
        </p:blipFill>
        <p:spPr>
          <a:xfrm>
            <a:off x="5905500" y="839390"/>
            <a:ext cx="2781300" cy="1524001"/>
          </a:xfrm>
          <a:prstGeom prst="rect">
            <a:avLst/>
          </a:prstGeom>
        </p:spPr>
      </p:pic>
      <p:pic>
        <p:nvPicPr>
          <p:cNvPr id="9" name="Picture 8">
            <a:extLst>
              <a:ext uri="{FF2B5EF4-FFF2-40B4-BE49-F238E27FC236}">
                <a16:creationId xmlns:a16="http://schemas.microsoft.com/office/drawing/2014/main" id="{B500EF56-5D68-45B7-9A99-1626FE19F1D2}"/>
              </a:ext>
            </a:extLst>
          </p:cNvPr>
          <p:cNvPicPr>
            <a:picLocks noChangeAspect="1"/>
          </p:cNvPicPr>
          <p:nvPr/>
        </p:nvPicPr>
        <p:blipFill rotWithShape="1">
          <a:blip r:embed="rId3"/>
          <a:srcRect l="68095" t="4932" r="4546" b="17491"/>
          <a:stretch/>
        </p:blipFill>
        <p:spPr>
          <a:xfrm>
            <a:off x="6103623" y="2536031"/>
            <a:ext cx="2385053" cy="2231232"/>
          </a:xfrm>
          <a:prstGeom prst="rect">
            <a:avLst/>
          </a:prstGeom>
          <a:ln>
            <a:solidFill>
              <a:schemeClr val="tx1"/>
            </a:solidFill>
          </a:ln>
        </p:spPr>
      </p:pic>
    </p:spTree>
    <p:extLst>
      <p:ext uri="{BB962C8B-B14F-4D97-AF65-F5344CB8AC3E}">
        <p14:creationId xmlns:p14="http://schemas.microsoft.com/office/powerpoint/2010/main" val="2477539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5029200" cy="3886200"/>
          </a:xfrm>
          <a:noFill/>
        </p:spPr>
        <p:txBody>
          <a:bodyPr>
            <a:normAutofit fontScale="77500" lnSpcReduction="20000"/>
          </a:bodyPr>
          <a:lstStyle/>
          <a:p>
            <a:pPr marL="514350" indent="-514350">
              <a:buFont typeface="+mj-lt"/>
              <a:buAutoNum type="arabicPeriod" startAt="3"/>
            </a:pPr>
            <a:r>
              <a:rPr lang="en-US" sz="1800" b="1" dirty="0"/>
              <a:t>Direct addressing mode</a:t>
            </a:r>
          </a:p>
          <a:p>
            <a:pPr lvl="1"/>
            <a:r>
              <a:rPr lang="en-US" sz="1500" dirty="0"/>
              <a:t>In this mode, the data is directly copied from the given address to the register. </a:t>
            </a:r>
          </a:p>
          <a:p>
            <a:pPr lvl="1"/>
            <a:r>
              <a:rPr lang="en-US" sz="1500" dirty="0"/>
              <a:t>When instruction explicitly states the location of an operand or a destination(either in memory or in a processor register), the addressing mode is known as direct addressing.</a:t>
            </a:r>
          </a:p>
          <a:p>
            <a:pPr lvl="1"/>
            <a:r>
              <a:rPr lang="en-US" sz="1500" b="1" dirty="0"/>
              <a:t>For example:</a:t>
            </a:r>
            <a:r>
              <a:rPr lang="en-US" sz="1500" dirty="0"/>
              <a:t> LDB 5000K</a:t>
            </a:r>
          </a:p>
          <a:p>
            <a:pPr lvl="1"/>
            <a:r>
              <a:rPr lang="en-US" sz="1600" dirty="0"/>
              <a:t>means the data at address 5000K is copied to register B.</a:t>
            </a:r>
          </a:p>
          <a:p>
            <a:pPr lvl="1"/>
            <a:endParaRPr lang="en-US" sz="1600" dirty="0"/>
          </a:p>
          <a:p>
            <a:pPr marL="514350" indent="-514350">
              <a:buFont typeface="+mj-lt"/>
              <a:buAutoNum type="arabicPeriod" startAt="3"/>
            </a:pPr>
            <a:r>
              <a:rPr lang="en-US" sz="1800" b="1" dirty="0"/>
              <a:t>Indirect addressing mode</a:t>
            </a:r>
          </a:p>
          <a:p>
            <a:pPr lvl="1"/>
            <a:r>
              <a:rPr lang="en-US" sz="1600" dirty="0"/>
              <a:t>In this mode, the data is transferred from one register to another by using the address pointed by the register. </a:t>
            </a:r>
          </a:p>
          <a:p>
            <a:pPr lvl="1"/>
            <a:r>
              <a:rPr lang="en-US" sz="1600" b="1" dirty="0"/>
              <a:t>For example:</a:t>
            </a:r>
            <a:r>
              <a:rPr lang="en-US" sz="1600" dirty="0"/>
              <a:t> MOV K, B</a:t>
            </a:r>
          </a:p>
          <a:p>
            <a:pPr lvl="1"/>
            <a:r>
              <a:rPr lang="en-US" sz="1600" dirty="0"/>
              <a:t>means data is transferred from the memory address pointed by the register to the register K.</a:t>
            </a:r>
          </a:p>
          <a:p>
            <a:pPr lvl="1"/>
            <a:endParaRPr lang="en-US" sz="1600" dirty="0"/>
          </a:p>
          <a:p>
            <a:pPr marL="514350" indent="-514350">
              <a:buFont typeface="+mj-lt"/>
              <a:buAutoNum type="arabicPeriod" startAt="5"/>
            </a:pPr>
            <a:r>
              <a:rPr lang="en-US" sz="1900" b="1" dirty="0"/>
              <a:t>Implied addressing mode</a:t>
            </a:r>
          </a:p>
          <a:p>
            <a:pPr lvl="1"/>
            <a:r>
              <a:rPr lang="en-US" sz="1600" dirty="0"/>
              <a:t>This mode doesn’t require any operand; the data is specified by the opcode itself. </a:t>
            </a:r>
          </a:p>
          <a:p>
            <a:pPr lvl="1"/>
            <a:r>
              <a:rPr lang="en-US" sz="1600" b="1" dirty="0"/>
              <a:t>For example:</a:t>
            </a:r>
            <a:r>
              <a:rPr lang="en-US" sz="1600" dirty="0"/>
              <a:t> CMP</a:t>
            </a:r>
          </a:p>
          <a:p>
            <a:pPr lvl="1"/>
            <a:endParaRPr lang="en-US" sz="1600" dirty="0"/>
          </a:p>
          <a:p>
            <a:pPr marL="457200" indent="-457200">
              <a:buFont typeface="+mj-lt"/>
              <a:buAutoNum type="arabicPeriod" startAt="3"/>
              <a:tabLst>
                <a:tab pos="463550" algn="l"/>
              </a:tabLst>
            </a:pPr>
            <a:endParaRPr lang="en-US" sz="1050" dirty="0"/>
          </a:p>
        </p:txBody>
      </p:sp>
      <p:sp>
        <p:nvSpPr>
          <p:cNvPr id="4" name="Date Placeholder 3"/>
          <p:cNvSpPr>
            <a:spLocks noGrp="1"/>
          </p:cNvSpPr>
          <p:nvPr>
            <p:ph type="dt" sz="half" idx="10"/>
          </p:nvPr>
        </p:nvSpPr>
        <p:spPr/>
        <p:txBody>
          <a:bodyPr/>
          <a:lstStyle/>
          <a:p>
            <a:fld id="{5442FB9B-ACB0-4850-A843-43FCD8D27DF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DF9893B0-A5A7-40F4-9B6E-B751402DF092}"/>
              </a:ext>
            </a:extLst>
          </p:cNvPr>
          <p:cNvPicPr>
            <a:picLocks noChangeAspect="1"/>
          </p:cNvPicPr>
          <p:nvPr/>
        </p:nvPicPr>
        <p:blipFill rotWithShape="1">
          <a:blip r:embed="rId2"/>
          <a:srcRect l="65624" t="19830" r="2314" b="37051"/>
          <a:stretch/>
        </p:blipFill>
        <p:spPr>
          <a:xfrm>
            <a:off x="6019800" y="205979"/>
            <a:ext cx="2026344" cy="1298971"/>
          </a:xfrm>
          <a:prstGeom prst="rect">
            <a:avLst/>
          </a:prstGeom>
          <a:ln>
            <a:solidFill>
              <a:schemeClr val="tx1"/>
            </a:solidFill>
          </a:ln>
        </p:spPr>
      </p:pic>
      <p:pic>
        <p:nvPicPr>
          <p:cNvPr id="8" name="Picture 7">
            <a:extLst>
              <a:ext uri="{FF2B5EF4-FFF2-40B4-BE49-F238E27FC236}">
                <a16:creationId xmlns:a16="http://schemas.microsoft.com/office/drawing/2014/main" id="{0F4299C5-EEDE-48E8-98E4-BCBC2092EBD2}"/>
              </a:ext>
            </a:extLst>
          </p:cNvPr>
          <p:cNvPicPr>
            <a:picLocks noChangeAspect="1"/>
          </p:cNvPicPr>
          <p:nvPr/>
        </p:nvPicPr>
        <p:blipFill rotWithShape="1">
          <a:blip r:embed="rId3"/>
          <a:srcRect l="66932" t="6616" r="2689" b="40667"/>
          <a:stretch/>
        </p:blipFill>
        <p:spPr>
          <a:xfrm>
            <a:off x="6056243" y="1970525"/>
            <a:ext cx="2133600" cy="1439425"/>
          </a:xfrm>
          <a:prstGeom prst="rect">
            <a:avLst/>
          </a:prstGeom>
          <a:ln>
            <a:solidFill>
              <a:schemeClr val="tx1"/>
            </a:solidFill>
          </a:ln>
        </p:spPr>
      </p:pic>
    </p:spTree>
    <p:extLst>
      <p:ext uri="{BB962C8B-B14F-4D97-AF65-F5344CB8AC3E}">
        <p14:creationId xmlns:p14="http://schemas.microsoft.com/office/powerpoint/2010/main" val="14963062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tabLst>
                <a:tab pos="463550" algn="l"/>
              </a:tabLst>
            </a:pPr>
            <a:endParaRPr lang="en-US" sz="24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4000" b="1" dirty="0">
              <a:solidFill>
                <a:srgbClr val="FF0000"/>
              </a:solidFill>
            </a:endParaRPr>
          </a:p>
          <a:p>
            <a:pPr marL="0" indent="0" algn="ctr">
              <a:buNone/>
              <a:tabLst>
                <a:tab pos="463550" algn="l"/>
              </a:tabLst>
            </a:pPr>
            <a:r>
              <a:rPr lang="en-US" sz="4000" b="1" dirty="0">
                <a:solidFill>
                  <a:srgbClr val="FF0000"/>
                </a:solidFill>
              </a:rPr>
              <a:t>4. Instruction Cycle, Machine cycle,   t-state, Timing diagram, RTL</a:t>
            </a:r>
            <a:endParaRPr lang="en-US" sz="4000" dirty="0"/>
          </a:p>
        </p:txBody>
      </p:sp>
      <p:sp>
        <p:nvSpPr>
          <p:cNvPr id="4" name="Date Placeholder 3"/>
          <p:cNvSpPr>
            <a:spLocks noGrp="1"/>
          </p:cNvSpPr>
          <p:nvPr>
            <p:ph type="dt" sz="half" idx="10"/>
          </p:nvPr>
        </p:nvSpPr>
        <p:spPr/>
        <p:txBody>
          <a:bodyPr/>
          <a:lstStyle/>
          <a:p>
            <a:fld id="{42343093-89FA-4917-8956-984391843929}"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254909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Instruction Cycle, Machine Cycle and T-state</a:t>
            </a:r>
          </a:p>
        </p:txBody>
      </p:sp>
      <p:sp>
        <p:nvSpPr>
          <p:cNvPr id="4" name="Date Placeholder 3"/>
          <p:cNvSpPr>
            <a:spLocks noGrp="1"/>
          </p:cNvSpPr>
          <p:nvPr>
            <p:ph type="dt" sz="half" idx="10"/>
          </p:nvPr>
        </p:nvSpPr>
        <p:spPr/>
        <p:txBody>
          <a:bodyPr/>
          <a:lstStyle/>
          <a:p>
            <a:fld id="{69EED4A7-6403-4EC8-83A3-C1F87EFB54EE}"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026" name="Picture 2" descr="Instruction Cycle of 8085 Microprocessor">
            <a:extLst>
              <a:ext uri="{FF2B5EF4-FFF2-40B4-BE49-F238E27FC236}">
                <a16:creationId xmlns:a16="http://schemas.microsoft.com/office/drawing/2014/main" id="{6AF82274-81FD-4082-99B5-3F0388C187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8675" y="1238250"/>
            <a:ext cx="63266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4608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Instruction Cycle, Machine Cycle and T-state</a:t>
            </a:r>
          </a:p>
        </p:txBody>
      </p:sp>
      <p:sp>
        <p:nvSpPr>
          <p:cNvPr id="3" name="Content Placeholder 2"/>
          <p:cNvSpPr>
            <a:spLocks noGrp="1"/>
          </p:cNvSpPr>
          <p:nvPr>
            <p:ph idx="1"/>
          </p:nvPr>
        </p:nvSpPr>
        <p:spPr>
          <a:xfrm>
            <a:off x="457200" y="2266950"/>
            <a:ext cx="8305800" cy="2327673"/>
          </a:xfrm>
          <a:noFill/>
        </p:spPr>
        <p:txBody>
          <a:bodyPr>
            <a:noAutofit/>
          </a:bodyPr>
          <a:lstStyle/>
          <a:p>
            <a:pPr>
              <a:tabLst>
                <a:tab pos="463550" algn="l"/>
              </a:tabLst>
            </a:pPr>
            <a:r>
              <a:rPr lang="en-US" sz="2000" dirty="0"/>
              <a:t>During normal operation, the microprocessor sequentially </a:t>
            </a:r>
            <a:r>
              <a:rPr lang="en-US" sz="2000" dirty="0">
                <a:solidFill>
                  <a:srgbClr val="C00000"/>
                </a:solidFill>
              </a:rPr>
              <a:t>fetches, decodes and executes </a:t>
            </a:r>
            <a:r>
              <a:rPr lang="en-US" sz="2000" dirty="0"/>
              <a:t>one instruction after another until a halt instruction (HLT) is executed. </a:t>
            </a:r>
          </a:p>
          <a:p>
            <a:pPr>
              <a:tabLst>
                <a:tab pos="463550" algn="l"/>
              </a:tabLst>
            </a:pPr>
            <a:r>
              <a:rPr lang="en-US" sz="2000" dirty="0"/>
              <a:t>The fetching, decoding and execution of a single instruction constitutes an </a:t>
            </a:r>
            <a:r>
              <a:rPr lang="en-US" sz="2000" b="1" dirty="0"/>
              <a:t>instruction cycle</a:t>
            </a:r>
            <a:r>
              <a:rPr lang="en-US" sz="2000" dirty="0"/>
              <a:t>, which consists of </a:t>
            </a:r>
            <a:r>
              <a:rPr lang="en-US" sz="2000" dirty="0">
                <a:solidFill>
                  <a:srgbClr val="C00000"/>
                </a:solidFill>
              </a:rPr>
              <a:t>one to six read or write operations</a:t>
            </a:r>
            <a:r>
              <a:rPr lang="en-US" sz="2000" dirty="0"/>
              <a:t> between processor and memory or input/output devices. </a:t>
            </a:r>
          </a:p>
        </p:txBody>
      </p:sp>
      <p:sp>
        <p:nvSpPr>
          <p:cNvPr id="4" name="Date Placeholder 3"/>
          <p:cNvSpPr>
            <a:spLocks noGrp="1"/>
          </p:cNvSpPr>
          <p:nvPr>
            <p:ph type="dt" sz="half" idx="10"/>
          </p:nvPr>
        </p:nvSpPr>
        <p:spPr/>
        <p:txBody>
          <a:bodyPr/>
          <a:lstStyle/>
          <a:p>
            <a:fld id="{408CD122-D68C-46BC-9D65-960BB244DC0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34</a:t>
            </a:fld>
            <a:endParaRPr lang="en-US" dirty="0"/>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2E55123C-D1DD-45D1-ABF4-71C726136F21}"/>
              </a:ext>
            </a:extLst>
          </p:cNvPr>
          <p:cNvPicPr>
            <a:picLocks noChangeAspect="1"/>
          </p:cNvPicPr>
          <p:nvPr/>
        </p:nvPicPr>
        <p:blipFill>
          <a:blip r:embed="rId2"/>
          <a:stretch>
            <a:fillRect/>
          </a:stretch>
        </p:blipFill>
        <p:spPr>
          <a:xfrm>
            <a:off x="914400" y="939313"/>
            <a:ext cx="3352800" cy="1241317"/>
          </a:xfrm>
          <a:prstGeom prst="rect">
            <a:avLst/>
          </a:prstGeom>
        </p:spPr>
      </p:pic>
      <p:pic>
        <p:nvPicPr>
          <p:cNvPr id="8" name="Picture 2" descr="Instruction Cycle of 8085 Microprocessor">
            <a:extLst>
              <a:ext uri="{FF2B5EF4-FFF2-40B4-BE49-F238E27FC236}">
                <a16:creationId xmlns:a16="http://schemas.microsoft.com/office/drawing/2014/main" id="{09FBE24E-A724-4706-8991-FBD705979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2" y="652182"/>
            <a:ext cx="3468125" cy="1461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040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Instruction Cycle, Machine Cycle and T-state</a:t>
            </a:r>
          </a:p>
        </p:txBody>
      </p:sp>
      <p:sp>
        <p:nvSpPr>
          <p:cNvPr id="3" name="Content Placeholder 2"/>
          <p:cNvSpPr>
            <a:spLocks noGrp="1"/>
          </p:cNvSpPr>
          <p:nvPr>
            <p:ph idx="1"/>
          </p:nvPr>
        </p:nvSpPr>
        <p:spPr>
          <a:xfrm>
            <a:off x="457200" y="2266950"/>
            <a:ext cx="8305800" cy="2327673"/>
          </a:xfrm>
          <a:noFill/>
        </p:spPr>
        <p:txBody>
          <a:bodyPr>
            <a:noAutofit/>
          </a:bodyPr>
          <a:lstStyle/>
          <a:p>
            <a:pPr>
              <a:tabLst>
                <a:tab pos="463550" algn="l"/>
              </a:tabLst>
            </a:pPr>
            <a:r>
              <a:rPr lang="en-US" sz="1800" dirty="0"/>
              <a:t>Each memory or I/O operation requires a particular time period, called machine cycle. </a:t>
            </a:r>
          </a:p>
          <a:p>
            <a:pPr>
              <a:tabLst>
                <a:tab pos="463550" algn="l"/>
              </a:tabLst>
            </a:pPr>
            <a:r>
              <a:rPr lang="en-US" sz="1800" dirty="0"/>
              <a:t>The time needed for completing one operation of accessing memory, I/O or acknowledging an external request is termed as </a:t>
            </a:r>
            <a:r>
              <a:rPr lang="en-US" sz="1800" b="1" dirty="0"/>
              <a:t>Machine cycle. </a:t>
            </a:r>
          </a:p>
          <a:p>
            <a:pPr>
              <a:tabLst>
                <a:tab pos="463550" algn="l"/>
              </a:tabLst>
            </a:pPr>
            <a:r>
              <a:rPr lang="en-US" sz="1800" dirty="0"/>
              <a:t>In other words, to move a byte of data in or out of the microprocessor, a machine cycle is required. </a:t>
            </a:r>
          </a:p>
          <a:p>
            <a:pPr>
              <a:tabLst>
                <a:tab pos="463550" algn="l"/>
              </a:tabLst>
            </a:pPr>
            <a:r>
              <a:rPr lang="en-US" sz="1800" dirty="0"/>
              <a:t>To move 1 byte of data, 1 machine cycle is required. To move 2 byte of data,  machine cycles are required.</a:t>
            </a:r>
          </a:p>
          <a:p>
            <a:pPr>
              <a:tabLst>
                <a:tab pos="463550" algn="l"/>
              </a:tabLst>
            </a:pPr>
            <a:endParaRPr lang="en-US" sz="1800" dirty="0"/>
          </a:p>
        </p:txBody>
      </p:sp>
      <p:sp>
        <p:nvSpPr>
          <p:cNvPr id="4" name="Date Placeholder 3"/>
          <p:cNvSpPr>
            <a:spLocks noGrp="1"/>
          </p:cNvSpPr>
          <p:nvPr>
            <p:ph type="dt" sz="half" idx="10"/>
          </p:nvPr>
        </p:nvSpPr>
        <p:spPr/>
        <p:txBody>
          <a:bodyPr/>
          <a:lstStyle/>
          <a:p>
            <a:fld id="{3840C730-8A25-4D26-95FB-1F196549078A}" type="datetime1">
              <a:rPr lang="en-US" smtClean="0"/>
              <a:t>8/1/2023</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2E55123C-D1DD-45D1-ABF4-71C726136F21}"/>
              </a:ext>
            </a:extLst>
          </p:cNvPr>
          <p:cNvPicPr>
            <a:picLocks noChangeAspect="1"/>
          </p:cNvPicPr>
          <p:nvPr/>
        </p:nvPicPr>
        <p:blipFill>
          <a:blip r:embed="rId2"/>
          <a:stretch>
            <a:fillRect/>
          </a:stretch>
        </p:blipFill>
        <p:spPr>
          <a:xfrm>
            <a:off x="914400" y="939313"/>
            <a:ext cx="3352800" cy="1241317"/>
          </a:xfrm>
          <a:prstGeom prst="rect">
            <a:avLst/>
          </a:prstGeom>
        </p:spPr>
      </p:pic>
      <p:pic>
        <p:nvPicPr>
          <p:cNvPr id="8" name="Picture 2" descr="Instruction Cycle of 8085 Microprocessor">
            <a:extLst>
              <a:ext uri="{FF2B5EF4-FFF2-40B4-BE49-F238E27FC236}">
                <a16:creationId xmlns:a16="http://schemas.microsoft.com/office/drawing/2014/main" id="{09FBE24E-A724-4706-8991-FBD705979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2" y="652182"/>
            <a:ext cx="3468125" cy="1461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8436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Instruction Cycle, Machine Cycle and T-state</a:t>
            </a:r>
          </a:p>
        </p:txBody>
      </p:sp>
      <p:sp>
        <p:nvSpPr>
          <p:cNvPr id="3" name="Content Placeholder 2"/>
          <p:cNvSpPr>
            <a:spLocks noGrp="1"/>
          </p:cNvSpPr>
          <p:nvPr>
            <p:ph idx="1"/>
          </p:nvPr>
        </p:nvSpPr>
        <p:spPr>
          <a:xfrm>
            <a:off x="457200" y="2630090"/>
            <a:ext cx="8305800" cy="1964533"/>
          </a:xfrm>
          <a:noFill/>
        </p:spPr>
        <p:txBody>
          <a:bodyPr>
            <a:noAutofit/>
          </a:bodyPr>
          <a:lstStyle/>
          <a:p>
            <a:pPr>
              <a:tabLst>
                <a:tab pos="463550" algn="l"/>
              </a:tabLst>
            </a:pPr>
            <a:r>
              <a:rPr lang="en-US" sz="1800" dirty="0"/>
              <a:t>Machine cycle is comprised of T-states. </a:t>
            </a:r>
          </a:p>
          <a:p>
            <a:pPr>
              <a:tabLst>
                <a:tab pos="463550" algn="l"/>
              </a:tabLst>
            </a:pPr>
            <a:r>
              <a:rPr lang="en-US" sz="1800" dirty="0"/>
              <a:t>One subdivision of the operation completed in one clock period is termed as </a:t>
            </a:r>
            <a:r>
              <a:rPr lang="en-US" sz="1800" b="1" dirty="0"/>
              <a:t>T-state.</a:t>
            </a:r>
          </a:p>
          <a:p>
            <a:pPr>
              <a:tabLst>
                <a:tab pos="463550" algn="l"/>
              </a:tabLst>
            </a:pPr>
            <a:r>
              <a:rPr lang="en-US" sz="1800" dirty="0"/>
              <a:t>Each machine cycle consists of 3 to 6 clock periods/cycles, referred to as T-states. </a:t>
            </a:r>
          </a:p>
          <a:p>
            <a:pPr>
              <a:tabLst>
                <a:tab pos="463550" algn="l"/>
              </a:tabLst>
            </a:pPr>
            <a:r>
              <a:rPr lang="en-US" sz="1800" dirty="0"/>
              <a:t>T-stare = 1/3 MHz = 0.333 micro sec.</a:t>
            </a:r>
          </a:p>
        </p:txBody>
      </p:sp>
      <p:sp>
        <p:nvSpPr>
          <p:cNvPr id="4" name="Date Placeholder 3"/>
          <p:cNvSpPr>
            <a:spLocks noGrp="1"/>
          </p:cNvSpPr>
          <p:nvPr>
            <p:ph type="dt" sz="half" idx="10"/>
          </p:nvPr>
        </p:nvSpPr>
        <p:spPr/>
        <p:txBody>
          <a:bodyPr/>
          <a:lstStyle/>
          <a:p>
            <a:fld id="{6235CAB0-E0EA-4B14-A826-E12959B035AB}"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2E55123C-D1DD-45D1-ABF4-71C726136F21}"/>
              </a:ext>
            </a:extLst>
          </p:cNvPr>
          <p:cNvPicPr>
            <a:picLocks noChangeAspect="1"/>
          </p:cNvPicPr>
          <p:nvPr/>
        </p:nvPicPr>
        <p:blipFill>
          <a:blip r:embed="rId2"/>
          <a:stretch>
            <a:fillRect/>
          </a:stretch>
        </p:blipFill>
        <p:spPr>
          <a:xfrm>
            <a:off x="914400" y="939313"/>
            <a:ext cx="3352800" cy="1241317"/>
          </a:xfrm>
          <a:prstGeom prst="rect">
            <a:avLst/>
          </a:prstGeom>
        </p:spPr>
      </p:pic>
      <p:pic>
        <p:nvPicPr>
          <p:cNvPr id="9" name="Picture 8">
            <a:extLst>
              <a:ext uri="{FF2B5EF4-FFF2-40B4-BE49-F238E27FC236}">
                <a16:creationId xmlns:a16="http://schemas.microsoft.com/office/drawing/2014/main" id="{60A1330A-2F47-401E-AB6D-DF72BE4BD4C3}"/>
              </a:ext>
            </a:extLst>
          </p:cNvPr>
          <p:cNvPicPr>
            <a:picLocks noChangeAspect="1"/>
          </p:cNvPicPr>
          <p:nvPr/>
        </p:nvPicPr>
        <p:blipFill>
          <a:blip r:embed="rId3"/>
          <a:stretch>
            <a:fillRect/>
          </a:stretch>
        </p:blipFill>
        <p:spPr>
          <a:xfrm>
            <a:off x="5086350" y="839390"/>
            <a:ext cx="3676650" cy="1790700"/>
          </a:xfrm>
          <a:prstGeom prst="rect">
            <a:avLst/>
          </a:prstGeom>
        </p:spPr>
      </p:pic>
      <p:sp>
        <p:nvSpPr>
          <p:cNvPr id="10" name="Rectangle 9">
            <a:extLst>
              <a:ext uri="{FF2B5EF4-FFF2-40B4-BE49-F238E27FC236}">
                <a16:creationId xmlns:a16="http://schemas.microsoft.com/office/drawing/2014/main" id="{C96F3C61-4AB1-485B-A856-2BD83FD87C34}"/>
              </a:ext>
            </a:extLst>
          </p:cNvPr>
          <p:cNvSpPr/>
          <p:nvPr/>
        </p:nvSpPr>
        <p:spPr>
          <a:xfrm>
            <a:off x="3245224" y="4478955"/>
            <a:ext cx="5410200" cy="584775"/>
          </a:xfrm>
          <a:prstGeom prst="rect">
            <a:avLst/>
          </a:prstGeom>
        </p:spPr>
        <p:txBody>
          <a:bodyPr wrap="square">
            <a:spAutoFit/>
          </a:bodyPr>
          <a:lstStyle/>
          <a:p>
            <a:r>
              <a:rPr lang="en-US" sz="1600" dirty="0"/>
              <a:t>Reference: </a:t>
            </a:r>
            <a:r>
              <a:rPr lang="en-US" sz="1600" dirty="0">
                <a:hlinkClick r:id="rId4"/>
              </a:rPr>
              <a:t>https://www.youtube.com/watch?v=GoPh2PS25AU</a:t>
            </a:r>
            <a:endParaRPr lang="en-US" sz="1600" dirty="0"/>
          </a:p>
          <a:p>
            <a:endParaRPr lang="en-US" sz="1600" dirty="0"/>
          </a:p>
        </p:txBody>
      </p:sp>
    </p:spTree>
    <p:extLst>
      <p:ext uri="{BB962C8B-B14F-4D97-AF65-F5344CB8AC3E}">
        <p14:creationId xmlns:p14="http://schemas.microsoft.com/office/powerpoint/2010/main" val="244221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Timing Diagram</a:t>
            </a:r>
          </a:p>
        </p:txBody>
      </p:sp>
      <p:sp>
        <p:nvSpPr>
          <p:cNvPr id="3" name="Content Placeholder 2"/>
          <p:cNvSpPr>
            <a:spLocks noGrp="1"/>
          </p:cNvSpPr>
          <p:nvPr>
            <p:ph idx="1"/>
          </p:nvPr>
        </p:nvSpPr>
        <p:spPr>
          <a:xfrm>
            <a:off x="457200" y="742950"/>
            <a:ext cx="4572002" cy="3851673"/>
          </a:xfrm>
          <a:noFill/>
        </p:spPr>
        <p:txBody>
          <a:bodyPr>
            <a:normAutofit/>
          </a:bodyPr>
          <a:lstStyle/>
          <a:p>
            <a:pPr>
              <a:tabLst>
                <a:tab pos="463550" algn="l"/>
              </a:tabLst>
            </a:pPr>
            <a:r>
              <a:rPr lang="en-US" sz="2400" dirty="0"/>
              <a:t>Timing Diagram is a graphical representation of </a:t>
            </a:r>
            <a:r>
              <a:rPr lang="en-US" sz="2400" dirty="0">
                <a:solidFill>
                  <a:srgbClr val="C00000"/>
                </a:solidFill>
              </a:rPr>
              <a:t>execution time taken by each instruction </a:t>
            </a:r>
            <a:r>
              <a:rPr lang="en-US" sz="2400" dirty="0"/>
              <a:t>in a graphical format. </a:t>
            </a:r>
          </a:p>
          <a:p>
            <a:pPr>
              <a:tabLst>
                <a:tab pos="463550" algn="l"/>
              </a:tabLst>
            </a:pPr>
            <a:r>
              <a:rPr lang="en-US" sz="2400" dirty="0"/>
              <a:t>The execution time is represented in T-states.</a:t>
            </a:r>
            <a:endParaRPr lang="en-US" sz="1600" dirty="0"/>
          </a:p>
        </p:txBody>
      </p:sp>
      <p:sp>
        <p:nvSpPr>
          <p:cNvPr id="4" name="Date Placeholder 3"/>
          <p:cNvSpPr>
            <a:spLocks noGrp="1"/>
          </p:cNvSpPr>
          <p:nvPr>
            <p:ph type="dt" sz="half" idx="10"/>
          </p:nvPr>
        </p:nvSpPr>
        <p:spPr/>
        <p:txBody>
          <a:bodyPr/>
          <a:lstStyle/>
          <a:p>
            <a:fld id="{4F606879-E88B-41BB-A623-5BF5EC9502CD}"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0242" name="Picture 2" descr="https://img.brainkart.com/imagebk8/Mzb6BUu.jpg">
            <a:extLst>
              <a:ext uri="{FF2B5EF4-FFF2-40B4-BE49-F238E27FC236}">
                <a16:creationId xmlns:a16="http://schemas.microsoft.com/office/drawing/2014/main" id="{10DBF749-4226-4693-9F98-281EE16167F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94000"/>
                    </a14:imgEffect>
                  </a14:imgLayer>
                </a14:imgProps>
              </a:ext>
              <a:ext uri="{28A0092B-C50C-407E-A947-70E740481C1C}">
                <a14:useLocalDpi xmlns:a14="http://schemas.microsoft.com/office/drawing/2010/main" val="0"/>
              </a:ext>
            </a:extLst>
          </a:blip>
          <a:srcRect/>
          <a:stretch>
            <a:fillRect/>
          </a:stretch>
        </p:blipFill>
        <p:spPr bwMode="auto">
          <a:xfrm>
            <a:off x="5029202" y="462138"/>
            <a:ext cx="3578684" cy="4292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7782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Some Basics for Timing Diagram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742950"/>
                <a:ext cx="8229600" cy="3851673"/>
              </a:xfrm>
              <a:noFill/>
            </p:spPr>
            <p:txBody>
              <a:bodyPr>
                <a:normAutofit fontScale="92500" lnSpcReduction="10000"/>
              </a:bodyPr>
              <a:lstStyle/>
              <a:p>
                <a:pPr marL="0" indent="0">
                  <a:buNone/>
                  <a:tabLst>
                    <a:tab pos="463550" algn="l"/>
                  </a:tabLst>
                </a:pPr>
                <a:r>
                  <a:rPr lang="en-US" sz="2000" dirty="0"/>
                  <a:t>Following buses and control signal must be shown in a timing diagram:</a:t>
                </a:r>
              </a:p>
              <a:p>
                <a:pPr marL="457200" indent="-457200">
                  <a:buFont typeface="+mj-lt"/>
                  <a:buAutoNum type="arabicPeriod"/>
                  <a:tabLst>
                    <a:tab pos="463550" algn="l"/>
                  </a:tabLst>
                </a:pPr>
                <a:r>
                  <a:rPr lang="en-US" sz="2000" b="1" dirty="0"/>
                  <a:t>Clock: </a:t>
                </a:r>
                <a:r>
                  <a:rPr lang="en-US" sz="2000" dirty="0"/>
                  <a:t>The time interval. Operates on a clock frequency of 3MHz- 6MHz</a:t>
                </a:r>
              </a:p>
              <a:p>
                <a:pPr marL="457200" indent="-457200">
                  <a:buFont typeface="+mj-lt"/>
                  <a:buAutoNum type="arabicPeriod"/>
                  <a:tabLst>
                    <a:tab pos="463550" algn="l"/>
                  </a:tabLst>
                </a:pPr>
                <a:r>
                  <a:rPr lang="en-US" sz="2000" b="1" dirty="0"/>
                  <a:t>A</a:t>
                </a:r>
                <a:r>
                  <a:rPr lang="en-US" sz="2000" b="1" baseline="-25000" dirty="0"/>
                  <a:t>8</a:t>
                </a:r>
                <a:r>
                  <a:rPr lang="en-US" sz="2000" b="1" dirty="0"/>
                  <a:t>-A</a:t>
                </a:r>
                <a:r>
                  <a:rPr lang="en-US" sz="2000" b="1" baseline="-25000" dirty="0"/>
                  <a:t>15</a:t>
                </a:r>
                <a:r>
                  <a:rPr lang="en-US" sz="2000" b="1" dirty="0"/>
                  <a:t>: </a:t>
                </a:r>
                <a:r>
                  <a:rPr lang="en-US" sz="2000" dirty="0"/>
                  <a:t>Higher Order Address</a:t>
                </a:r>
              </a:p>
              <a:p>
                <a:pPr marL="457200" indent="-457200">
                  <a:buFont typeface="+mj-lt"/>
                  <a:buAutoNum type="arabicPeriod"/>
                  <a:tabLst>
                    <a:tab pos="463550" algn="l"/>
                  </a:tabLst>
                </a:pPr>
                <a:r>
                  <a:rPr lang="en-US" sz="2000" b="1" dirty="0"/>
                  <a:t>AD</a:t>
                </a:r>
                <a:r>
                  <a:rPr lang="en-US" sz="2000" b="1" baseline="-25000" dirty="0"/>
                  <a:t>0</a:t>
                </a:r>
                <a:r>
                  <a:rPr lang="en-US" sz="2000" b="1" dirty="0"/>
                  <a:t>-AD</a:t>
                </a:r>
                <a:r>
                  <a:rPr lang="en-US" sz="2000" b="1" baseline="-25000" dirty="0"/>
                  <a:t>7</a:t>
                </a:r>
                <a:r>
                  <a:rPr lang="en-US" sz="2000" b="1" dirty="0"/>
                  <a:t>: </a:t>
                </a:r>
                <a:r>
                  <a:rPr lang="en-US" sz="2000" dirty="0"/>
                  <a:t>Lower Order Address</a:t>
                </a:r>
              </a:p>
              <a:p>
                <a:pPr marL="457200" indent="-457200">
                  <a:buFont typeface="+mj-lt"/>
                  <a:buAutoNum type="arabicPeriod"/>
                  <a:tabLst>
                    <a:tab pos="463550" algn="l"/>
                  </a:tabLst>
                </a:pPr>
                <a:r>
                  <a:rPr lang="en-US" sz="2000" b="1" dirty="0"/>
                  <a:t>ALE: </a:t>
                </a:r>
                <a:r>
                  <a:rPr lang="en-US" sz="2000" dirty="0"/>
                  <a:t>Look for ALE position. </a:t>
                </a:r>
              </a:p>
              <a:p>
                <a:pPr marL="800100" lvl="2" indent="0">
                  <a:buNone/>
                  <a:tabLst>
                    <a:tab pos="463550" algn="l"/>
                  </a:tabLst>
                </a:pPr>
                <a:r>
                  <a:rPr lang="en-US" sz="1800" dirty="0"/>
                  <a:t>If LOW, it carries data</a:t>
                </a:r>
              </a:p>
              <a:p>
                <a:pPr marL="800100" lvl="2" indent="0">
                  <a:buNone/>
                  <a:tabLst>
                    <a:tab pos="463550" algn="l"/>
                  </a:tabLst>
                </a:pPr>
                <a:r>
                  <a:rPr lang="en-US" sz="1800" dirty="0"/>
                  <a:t>If HIGH, it carries address</a:t>
                </a:r>
              </a:p>
              <a:p>
                <a:pPr marL="457200" indent="-457200">
                  <a:buFont typeface="+mj-lt"/>
                  <a:buAutoNum type="arabicPeriod"/>
                  <a:tabLst>
                    <a:tab pos="463550" algn="l"/>
                  </a:tabLst>
                </a:pPr>
                <a14:m>
                  <m:oMath xmlns:m="http://schemas.openxmlformats.org/officeDocument/2006/math">
                    <m:acc>
                      <m:accPr>
                        <m:chr m:val="̅"/>
                        <m:ctrlPr>
                          <a:rPr lang="en-US" sz="2000" b="1" i="1" smtClean="0">
                            <a:latin typeface="Cambria Math" panose="02040503050406030204" pitchFamily="18" charset="0"/>
                          </a:rPr>
                        </m:ctrlPr>
                      </m:accPr>
                      <m:e>
                        <m:r>
                          <a:rPr lang="en-US" sz="2000" b="1" i="0" smtClean="0">
                            <a:latin typeface="Cambria Math" panose="02040503050406030204" pitchFamily="18" charset="0"/>
                          </a:rPr>
                          <m:t>𝐑𝐃</m:t>
                        </m:r>
                      </m:e>
                    </m:acc>
                    <m:r>
                      <a:rPr lang="en-US" sz="2000" b="1" i="0" smtClean="0">
                        <a:latin typeface="Cambria Math" panose="02040503050406030204" pitchFamily="18" charset="0"/>
                      </a:rPr>
                      <m:t>  </m:t>
                    </m:r>
                  </m:oMath>
                </a14:m>
                <a:r>
                  <a:rPr lang="en-US" sz="2000" b="1" dirty="0"/>
                  <a:t>: </a:t>
                </a:r>
                <a:r>
                  <a:rPr lang="en-US" sz="2000" dirty="0"/>
                  <a:t>When LOW, it reads.</a:t>
                </a:r>
              </a:p>
              <a:p>
                <a:pPr marL="457200" indent="-457200">
                  <a:buFont typeface="+mj-lt"/>
                  <a:buAutoNum type="arabicPeriod"/>
                  <a:tabLst>
                    <a:tab pos="463550" algn="l"/>
                  </a:tabLst>
                </a:pPr>
                <a14:m>
                  <m:oMath xmlns:m="http://schemas.openxmlformats.org/officeDocument/2006/math">
                    <m:acc>
                      <m:accPr>
                        <m:chr m:val="̅"/>
                        <m:ctrlPr>
                          <a:rPr lang="en-US" sz="2000" b="1" i="1" smtClean="0">
                            <a:latin typeface="Cambria Math" panose="02040503050406030204" pitchFamily="18" charset="0"/>
                          </a:rPr>
                        </m:ctrlPr>
                      </m:accPr>
                      <m:e>
                        <m:r>
                          <a:rPr lang="en-US" sz="2000" b="1" i="0" smtClean="0">
                            <a:latin typeface="Cambria Math" panose="02040503050406030204" pitchFamily="18" charset="0"/>
                          </a:rPr>
                          <m:t>𝐖𝐑</m:t>
                        </m:r>
                      </m:e>
                    </m:acc>
                    <m:r>
                      <a:rPr lang="en-US" sz="2000" b="1" i="0" smtClean="0">
                        <a:latin typeface="Cambria Math" panose="02040503050406030204" pitchFamily="18" charset="0"/>
                      </a:rPr>
                      <m:t> </m:t>
                    </m:r>
                  </m:oMath>
                </a14:m>
                <a:r>
                  <a:rPr lang="en-US" sz="2000" b="1" dirty="0"/>
                  <a:t>: </a:t>
                </a:r>
                <a:r>
                  <a:rPr lang="en-US" sz="2000" dirty="0"/>
                  <a:t>When LOW, write</a:t>
                </a:r>
              </a:p>
              <a:p>
                <a:pPr marL="457200" indent="-457200">
                  <a:buFont typeface="+mj-lt"/>
                  <a:buAutoNum type="arabicPeriod"/>
                  <a:tabLst>
                    <a:tab pos="463550" algn="l"/>
                  </a:tabLst>
                </a:pPr>
                <a:r>
                  <a:rPr lang="en-US" sz="2000" b="1" dirty="0"/>
                  <a:t>IO/ </a:t>
                </a:r>
                <a14:m>
                  <m:oMath xmlns:m="http://schemas.openxmlformats.org/officeDocument/2006/math">
                    <m:acc>
                      <m:accPr>
                        <m:chr m:val="̅"/>
                        <m:ctrlPr>
                          <a:rPr lang="en-US" sz="2000" b="1" i="1">
                            <a:latin typeface="Cambria Math" panose="02040503050406030204" pitchFamily="18" charset="0"/>
                          </a:rPr>
                        </m:ctrlPr>
                      </m:accPr>
                      <m:e>
                        <m:r>
                          <a:rPr lang="en-US" sz="2000" b="1" i="0" smtClean="0">
                            <a:latin typeface="Cambria Math" panose="02040503050406030204" pitchFamily="18" charset="0"/>
                          </a:rPr>
                          <m:t>𝐌</m:t>
                        </m:r>
                      </m:e>
                    </m:acc>
                  </m:oMath>
                </a14:m>
                <a:r>
                  <a:rPr lang="en-US" sz="2000" b="1" dirty="0"/>
                  <a:t> : </a:t>
                </a:r>
                <a:r>
                  <a:rPr lang="en-US" sz="2000" dirty="0"/>
                  <a:t>Operation either in Input-Output or Memory</a:t>
                </a:r>
              </a:p>
              <a:p>
                <a:pPr marL="457200" indent="-457200">
                  <a:buFont typeface="+mj-lt"/>
                  <a:buAutoNum type="arabicPeriod"/>
                  <a:tabLst>
                    <a:tab pos="463550" algn="l"/>
                  </a:tabLst>
                </a:pPr>
                <a:r>
                  <a:rPr lang="en-US" sz="2000" b="1" dirty="0"/>
                  <a:t>S0 and S1:  </a:t>
                </a:r>
                <a:r>
                  <a:rPr lang="en-US" sz="2000" dirty="0"/>
                  <a:t>if 11, Opcode fetching operation,  01 and 10 for read or write respectively</a:t>
                </a:r>
              </a:p>
              <a:p>
                <a:pPr marL="457200" indent="-457200">
                  <a:buFont typeface="+mj-lt"/>
                  <a:buAutoNum type="arabicPeriod"/>
                  <a:tabLst>
                    <a:tab pos="463550" algn="l"/>
                  </a:tabLst>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742950"/>
                <a:ext cx="8229600" cy="3851673"/>
              </a:xfrm>
              <a:blipFill>
                <a:blip r:embed="rId2"/>
                <a:stretch>
                  <a:fillRect l="-741" t="-1582"/>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40345BF-B974-4993-9C00-2F78C9D938F0}"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461009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Representation of 8085 signals</a:t>
            </a:r>
          </a:p>
        </p:txBody>
      </p:sp>
      <p:sp>
        <p:nvSpPr>
          <p:cNvPr id="3" name="Content Placeholder 2"/>
          <p:cNvSpPr>
            <a:spLocks noGrp="1"/>
          </p:cNvSpPr>
          <p:nvPr>
            <p:ph idx="1"/>
          </p:nvPr>
        </p:nvSpPr>
        <p:spPr>
          <a:xfrm>
            <a:off x="457200" y="742950"/>
            <a:ext cx="2362200" cy="3851673"/>
          </a:xfrm>
          <a:noFill/>
        </p:spPr>
        <p:txBody>
          <a:bodyPr>
            <a:normAutofit/>
          </a:bodyPr>
          <a:lstStyle/>
          <a:p>
            <a:pPr marL="457200" indent="-457200">
              <a:buFont typeface="+mj-lt"/>
              <a:buAutoNum type="arabicPeriod"/>
              <a:tabLst>
                <a:tab pos="463550" algn="l"/>
              </a:tabLst>
            </a:pPr>
            <a:r>
              <a:rPr lang="en-US" sz="2000" dirty="0"/>
              <a:t>Clock Signal</a:t>
            </a:r>
          </a:p>
          <a:p>
            <a:pPr marL="457200" indent="-457200">
              <a:buFont typeface="+mj-lt"/>
              <a:buAutoNum type="arabicPeriod"/>
              <a:tabLst>
                <a:tab pos="463550" algn="l"/>
              </a:tabLst>
            </a:pPr>
            <a:endParaRPr lang="en-US" sz="2000" dirty="0"/>
          </a:p>
          <a:p>
            <a:pPr marL="457200" indent="-457200">
              <a:buFont typeface="+mj-lt"/>
              <a:buAutoNum type="arabicPeriod"/>
              <a:tabLst>
                <a:tab pos="463550" algn="l"/>
              </a:tabLst>
            </a:pPr>
            <a:endParaRPr lang="en-US" sz="2000" dirty="0"/>
          </a:p>
          <a:p>
            <a:pPr marL="457200" indent="-457200">
              <a:buFont typeface="+mj-lt"/>
              <a:buAutoNum type="arabicPeriod"/>
              <a:tabLst>
                <a:tab pos="463550" algn="l"/>
              </a:tabLst>
            </a:pPr>
            <a:endParaRPr lang="en-US" sz="2000" dirty="0"/>
          </a:p>
          <a:p>
            <a:pPr marL="457200" indent="-457200">
              <a:buFont typeface="+mj-lt"/>
              <a:buAutoNum type="arabicPeriod"/>
              <a:tabLst>
                <a:tab pos="463550" algn="l"/>
              </a:tabLst>
            </a:pPr>
            <a:r>
              <a:rPr lang="en-US" sz="2000" dirty="0"/>
              <a:t>Group of signals</a:t>
            </a:r>
          </a:p>
        </p:txBody>
      </p:sp>
      <p:sp>
        <p:nvSpPr>
          <p:cNvPr id="4" name="Date Placeholder 3"/>
          <p:cNvSpPr>
            <a:spLocks noGrp="1"/>
          </p:cNvSpPr>
          <p:nvPr>
            <p:ph type="dt" sz="half" idx="10"/>
          </p:nvPr>
        </p:nvSpPr>
        <p:spPr/>
        <p:txBody>
          <a:bodyPr/>
          <a:lstStyle/>
          <a:p>
            <a:fld id="{80A451DA-721C-4D21-A0E1-2A5F01836C11}"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5362" name="Picture 2" descr="Instruction Cycle of 8085 Microprocessor">
            <a:extLst>
              <a:ext uri="{FF2B5EF4-FFF2-40B4-BE49-F238E27FC236}">
                <a16:creationId xmlns:a16="http://schemas.microsoft.com/office/drawing/2014/main" id="{215E064C-B780-48D8-9C40-23444A9CE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7037" y="811375"/>
            <a:ext cx="6105525" cy="1514475"/>
          </a:xfrm>
          <a:prstGeom prst="rect">
            <a:avLst/>
          </a:prstGeom>
          <a:noFill/>
          <a:extLst>
            <a:ext uri="{909E8E84-426E-40DD-AFC4-6F175D3DCCD1}">
              <a14:hiddenFill xmlns:a14="http://schemas.microsoft.com/office/drawing/2010/main">
                <a:solidFill>
                  <a:srgbClr val="FFFFFF"/>
                </a:solidFill>
              </a14:hiddenFill>
            </a:ext>
          </a:extLst>
        </p:spPr>
      </p:pic>
      <p:pic>
        <p:nvPicPr>
          <p:cNvPr id="15366" name="Picture 6" descr="https://www.eeeguide.com/wp-content/uploads/2017/11/Instruction-Cycle-of-8085-Microprocessor-005.jpg">
            <a:extLst>
              <a:ext uri="{FF2B5EF4-FFF2-40B4-BE49-F238E27FC236}">
                <a16:creationId xmlns:a16="http://schemas.microsoft.com/office/drawing/2014/main" id="{A8C2F217-A72B-4563-85E2-EA16F6EB2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0812" y="3076119"/>
            <a:ext cx="6381750" cy="107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432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Summary:</a:t>
            </a:r>
          </a:p>
        </p:txBody>
      </p:sp>
      <p:sp>
        <p:nvSpPr>
          <p:cNvPr id="4" name="Date Placeholder 3"/>
          <p:cNvSpPr>
            <a:spLocks noGrp="1"/>
          </p:cNvSpPr>
          <p:nvPr>
            <p:ph type="dt" sz="half" idx="10"/>
          </p:nvPr>
        </p:nvSpPr>
        <p:spPr/>
        <p:txBody>
          <a:bodyPr/>
          <a:lstStyle/>
          <a:p>
            <a:fld id="{7D8A3BB6-B8EE-4108-A130-FE58B94AEE99}"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8" name="Rectangle 1">
            <a:extLst>
              <a:ext uri="{FF2B5EF4-FFF2-40B4-BE49-F238E27FC236}">
                <a16:creationId xmlns:a16="http://schemas.microsoft.com/office/drawing/2014/main" id="{9F12DDEE-A4A1-4DA1-95EA-06358649BF28}"/>
              </a:ext>
            </a:extLst>
          </p:cNvPr>
          <p:cNvSpPr>
            <a:spLocks noGrp="1" noChangeArrowheads="1"/>
          </p:cNvSpPr>
          <p:nvPr>
            <p:ph idx="1"/>
          </p:nvPr>
        </p:nvSpPr>
        <p:spPr bwMode="auto">
          <a:xfrm>
            <a:off x="609600" y="832811"/>
            <a:ext cx="7924800" cy="347787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kumimoji="0" lang="en-US" altLang="en-US" sz="2000" b="1" i="0" u="none" strike="noStrike" cap="none" normalizeH="0" baseline="0" dirty="0">
                <a:ln>
                  <a:noFill/>
                </a:ln>
                <a:solidFill>
                  <a:srgbClr val="333333"/>
                </a:solidFill>
                <a:effectLst/>
                <a:latin typeface="+mn-lt"/>
                <a:cs typeface="Times New Roman" panose="02020603050405020304" pitchFamily="18" charset="0"/>
              </a:rPr>
              <a:t>Instruction Cycle:</a:t>
            </a:r>
            <a:endParaRPr kumimoji="0" lang="en-US" altLang="en-US" sz="900" b="0" i="0" u="none" strike="noStrike" cap="none" normalizeH="0" baseline="0" dirty="0">
              <a:ln>
                <a:noFill/>
              </a:ln>
              <a:solidFill>
                <a:schemeClr val="tx1"/>
              </a:solidFill>
              <a:effectLst/>
              <a:latin typeface="+mn-lt"/>
            </a:endParaRPr>
          </a:p>
          <a:p>
            <a:pPr lvl="1" algn="just"/>
            <a:r>
              <a:rPr kumimoji="0" lang="en-US" altLang="en-US" sz="1800" b="0" i="0" u="none" strike="noStrike" cap="none" normalizeH="0" baseline="0" dirty="0">
                <a:ln>
                  <a:noFill/>
                </a:ln>
                <a:solidFill>
                  <a:srgbClr val="333333"/>
                </a:solidFill>
                <a:effectLst/>
                <a:latin typeface="+mn-lt"/>
                <a:cs typeface="Times New Roman" panose="02020603050405020304" pitchFamily="18" charset="0"/>
              </a:rPr>
              <a:t>The time required to execute an instruction is called instruction cycle.</a:t>
            </a:r>
            <a:endParaRPr kumimoji="0" lang="en-US" altLang="en-US" sz="500" b="0" i="0" u="none" strike="noStrike" cap="none" normalizeH="0" baseline="0" dirty="0">
              <a:ln>
                <a:noFill/>
              </a:ln>
              <a:solidFill>
                <a:schemeClr val="tx1"/>
              </a:solidFill>
              <a:effectLst/>
              <a:latin typeface="+mn-lt"/>
            </a:endParaRPr>
          </a:p>
          <a:p>
            <a:pPr algn="just"/>
            <a:r>
              <a:rPr kumimoji="0" lang="en-US" altLang="en-US" sz="2000" b="1" i="0" u="none" strike="noStrike" cap="none" normalizeH="0" baseline="0" dirty="0">
                <a:ln>
                  <a:noFill/>
                </a:ln>
                <a:solidFill>
                  <a:srgbClr val="333333"/>
                </a:solidFill>
                <a:effectLst/>
                <a:latin typeface="+mn-lt"/>
                <a:cs typeface="Times New Roman" panose="02020603050405020304" pitchFamily="18" charset="0"/>
              </a:rPr>
              <a:t>Machine Cycle:</a:t>
            </a:r>
            <a:endParaRPr kumimoji="0" lang="en-US" altLang="en-US" sz="900" b="0" i="0" u="none" strike="noStrike" cap="none" normalizeH="0" baseline="0" dirty="0">
              <a:ln>
                <a:noFill/>
              </a:ln>
              <a:solidFill>
                <a:schemeClr val="tx1"/>
              </a:solidFill>
              <a:effectLst/>
              <a:latin typeface="+mn-lt"/>
            </a:endParaRPr>
          </a:p>
          <a:p>
            <a:pPr lvl="1" algn="just"/>
            <a:r>
              <a:rPr kumimoji="0" lang="en-US" altLang="en-US" sz="1800" b="0" i="0" u="none" strike="noStrike" cap="none" normalizeH="0" baseline="0" dirty="0">
                <a:ln>
                  <a:noFill/>
                </a:ln>
                <a:solidFill>
                  <a:srgbClr val="333333"/>
                </a:solidFill>
                <a:effectLst/>
                <a:latin typeface="+mn-lt"/>
                <a:cs typeface="Times New Roman" panose="02020603050405020304" pitchFamily="18" charset="0"/>
              </a:rPr>
              <a:t>The time required to access the memory or input/output devices is called machine cycle.</a:t>
            </a:r>
            <a:endParaRPr kumimoji="0" lang="en-US" altLang="en-US" sz="500" b="0" i="0" u="none" strike="noStrike" cap="none" normalizeH="0" baseline="0" dirty="0">
              <a:ln>
                <a:noFill/>
              </a:ln>
              <a:solidFill>
                <a:schemeClr val="tx1"/>
              </a:solidFill>
              <a:effectLst/>
              <a:latin typeface="+mn-lt"/>
            </a:endParaRPr>
          </a:p>
          <a:p>
            <a:pPr algn="just"/>
            <a:r>
              <a:rPr kumimoji="0" lang="en-US" altLang="en-US" sz="2000" b="1" i="0" u="none" strike="noStrike" cap="none" normalizeH="0" baseline="0" dirty="0">
                <a:ln>
                  <a:noFill/>
                </a:ln>
                <a:solidFill>
                  <a:srgbClr val="333333"/>
                </a:solidFill>
                <a:effectLst/>
                <a:latin typeface="+mn-lt"/>
                <a:cs typeface="Times New Roman" panose="02020603050405020304" pitchFamily="18" charset="0"/>
              </a:rPr>
              <a:t>T-State:</a:t>
            </a:r>
            <a:endParaRPr kumimoji="0" lang="en-US" altLang="en-US" sz="900" b="0" i="0" u="none" strike="noStrike" cap="none" normalizeH="0" baseline="0" dirty="0">
              <a:ln>
                <a:noFill/>
              </a:ln>
              <a:solidFill>
                <a:schemeClr val="tx1"/>
              </a:solidFill>
              <a:effectLst/>
              <a:latin typeface="+mn-lt"/>
            </a:endParaRPr>
          </a:p>
          <a:p>
            <a:pPr lvl="1" algn="just"/>
            <a:r>
              <a:rPr kumimoji="0" lang="en-US" altLang="en-US" sz="1800" b="0" i="0" u="none" strike="noStrike" cap="none" normalizeH="0" baseline="0" dirty="0">
                <a:ln>
                  <a:noFill/>
                </a:ln>
                <a:solidFill>
                  <a:srgbClr val="333333"/>
                </a:solidFill>
                <a:effectLst/>
                <a:latin typeface="+mn-lt"/>
                <a:cs typeface="Times New Roman" panose="02020603050405020304" pitchFamily="18" charset="0"/>
              </a:rPr>
              <a:t>The machine cycle and instruction cycle takes multiple clock periods.</a:t>
            </a:r>
            <a:endParaRPr kumimoji="0" lang="en-US" altLang="en-US" sz="500" b="0" i="0" u="none" strike="noStrike" cap="none" normalizeH="0" baseline="0" dirty="0">
              <a:ln>
                <a:noFill/>
              </a:ln>
              <a:solidFill>
                <a:schemeClr val="tx1"/>
              </a:solidFill>
              <a:effectLst/>
              <a:latin typeface="+mn-lt"/>
            </a:endParaRPr>
          </a:p>
          <a:p>
            <a:pPr lvl="1" algn="just"/>
            <a:r>
              <a:rPr kumimoji="0" lang="en-US" altLang="en-US" sz="1800" b="0" i="0" u="none" strike="noStrike" cap="none" normalizeH="0" baseline="0" dirty="0">
                <a:ln>
                  <a:noFill/>
                </a:ln>
                <a:solidFill>
                  <a:srgbClr val="333333"/>
                </a:solidFill>
                <a:effectLst/>
                <a:latin typeface="+mn-lt"/>
                <a:cs typeface="Times New Roman" panose="02020603050405020304" pitchFamily="18" charset="0"/>
              </a:rPr>
              <a:t>A portion of an operation carried out in one system clock period is called as T-state.</a:t>
            </a:r>
          </a:p>
          <a:p>
            <a:pPr algn="just"/>
            <a:r>
              <a:rPr lang="en-US" altLang="en-US" sz="2000" b="1" dirty="0">
                <a:solidFill>
                  <a:srgbClr val="333333"/>
                </a:solidFill>
                <a:latin typeface="+mn-lt"/>
                <a:cs typeface="Times New Roman" panose="02020603050405020304" pitchFamily="18" charset="0"/>
              </a:rPr>
              <a:t>Timing diagram:</a:t>
            </a:r>
          </a:p>
          <a:p>
            <a:pPr lvl="1">
              <a:tabLst>
                <a:tab pos="463550" algn="l"/>
              </a:tabLst>
            </a:pPr>
            <a:r>
              <a:rPr lang="en-US" sz="1600" dirty="0"/>
              <a:t>Timing Diagram is a graphical representation of execution time taken by each instruction in a graphical format. </a:t>
            </a:r>
          </a:p>
        </p:txBody>
      </p:sp>
    </p:spTree>
    <p:extLst>
      <p:ext uri="{BB962C8B-B14F-4D97-AF65-F5344CB8AC3E}">
        <p14:creationId xmlns:p14="http://schemas.microsoft.com/office/powerpoint/2010/main" val="2665814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Instruction Cycle</a:t>
            </a:r>
          </a:p>
        </p:txBody>
      </p:sp>
      <p:sp>
        <p:nvSpPr>
          <p:cNvPr id="3" name="Content Placeholder 2"/>
          <p:cNvSpPr>
            <a:spLocks noGrp="1"/>
          </p:cNvSpPr>
          <p:nvPr>
            <p:ph idx="1"/>
          </p:nvPr>
        </p:nvSpPr>
        <p:spPr>
          <a:xfrm>
            <a:off x="457200" y="742950"/>
            <a:ext cx="8229600" cy="3851673"/>
          </a:xfrm>
          <a:noFill/>
        </p:spPr>
        <p:txBody>
          <a:bodyPr>
            <a:normAutofit fontScale="92500" lnSpcReduction="10000"/>
          </a:bodyPr>
          <a:lstStyle/>
          <a:p>
            <a:pPr fontAlgn="base"/>
            <a:r>
              <a:rPr lang="en-US" sz="1800" dirty="0"/>
              <a:t>The execution of each instruction involves a series of steps known as the instruction cycle.</a:t>
            </a:r>
          </a:p>
          <a:p>
            <a:pPr fontAlgn="base"/>
            <a:r>
              <a:rPr lang="en-US" sz="1800" dirty="0"/>
              <a:t>The instruction cycle of the 8085 microprocessor consists of four basic steps, which are:</a:t>
            </a:r>
          </a:p>
          <a:p>
            <a:pPr marL="739775" lvl="1" indent="-282575" fontAlgn="base">
              <a:buFont typeface="+mj-lt"/>
              <a:buAutoNum type="arabicPeriod"/>
            </a:pPr>
            <a:r>
              <a:rPr lang="en-US" sz="1600" b="1" dirty="0"/>
              <a:t>Fetch: </a:t>
            </a:r>
            <a:r>
              <a:rPr lang="en-US" sz="1600" dirty="0"/>
              <a:t>In this step, the microprocessor fetches the instruction from the memory location pointed to by the program counter (PC). The PC is incremented by one after the fetch operation.</a:t>
            </a:r>
          </a:p>
          <a:p>
            <a:pPr marL="739775" lvl="1" indent="-282575" fontAlgn="base">
              <a:buFont typeface="+mj-lt"/>
              <a:buAutoNum type="arabicPeriod"/>
            </a:pPr>
            <a:r>
              <a:rPr lang="en-US" sz="1600" b="1" dirty="0"/>
              <a:t>Decode: </a:t>
            </a:r>
            <a:r>
              <a:rPr lang="en-US" sz="1600" dirty="0"/>
              <a:t>Once the instruction is fetched, the microprocessor decodes it to determine the operation to be performed and the operands involved.</a:t>
            </a:r>
          </a:p>
          <a:p>
            <a:pPr marL="739775" lvl="1" indent="-282575" fontAlgn="base">
              <a:buFont typeface="+mj-lt"/>
              <a:buAutoNum type="arabicPeriod"/>
            </a:pPr>
            <a:r>
              <a:rPr lang="en-US" sz="1600" b="1" dirty="0"/>
              <a:t>Execute: </a:t>
            </a:r>
            <a:r>
              <a:rPr lang="en-US" sz="1600" dirty="0"/>
              <a:t>In this step, the microprocessor performs the operation specified by the instruction on the operands.</a:t>
            </a:r>
          </a:p>
          <a:p>
            <a:pPr marL="739775" lvl="1" indent="-282575" fontAlgn="base">
              <a:buFont typeface="+mj-lt"/>
              <a:buAutoNum type="arabicPeriod"/>
            </a:pPr>
            <a:r>
              <a:rPr lang="en-US" sz="1600" b="1" dirty="0"/>
              <a:t>Store: </a:t>
            </a:r>
            <a:r>
              <a:rPr lang="en-US" sz="1600" dirty="0"/>
              <a:t>Finally, the result of the execution is stored in the appropriate memory location or register.</a:t>
            </a:r>
          </a:p>
          <a:p>
            <a:pPr fontAlgn="base"/>
            <a:r>
              <a:rPr lang="en-US" sz="1800" dirty="0"/>
              <a:t>Once the execution of an instruction is complete, the microprocessor returns to the fetch step to fetch the next instruction to be executed. This cycle repeats until the program is complete or interrupted</a:t>
            </a:r>
          </a:p>
          <a:p>
            <a:pPr marL="457200" indent="-457200">
              <a:buFont typeface="+mj-lt"/>
              <a:buAutoNum type="arabicPeriod"/>
              <a:tabLst>
                <a:tab pos="463550" algn="l"/>
              </a:tabLst>
            </a:pPr>
            <a:endParaRPr lang="en-US" sz="600" dirty="0"/>
          </a:p>
        </p:txBody>
      </p:sp>
      <p:sp>
        <p:nvSpPr>
          <p:cNvPr id="4" name="Date Placeholder 3"/>
          <p:cNvSpPr>
            <a:spLocks noGrp="1"/>
          </p:cNvSpPr>
          <p:nvPr>
            <p:ph type="dt" sz="half" idx="10"/>
          </p:nvPr>
        </p:nvSpPr>
        <p:spPr/>
        <p:txBody>
          <a:bodyPr/>
          <a:lstStyle/>
          <a:p>
            <a:fld id="{C493FDB7-920E-48DE-90BD-EDC1997CFCE7}"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413917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2000" b="1" dirty="0"/>
              <a:t>Why need the Instruction cycle in 8085 microprocessor ?</a:t>
            </a:r>
            <a:endParaRPr lang="en-US" sz="14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lnSpcReduction="10000"/>
          </a:bodyPr>
          <a:lstStyle/>
          <a:p>
            <a:pPr fontAlgn="base"/>
            <a:r>
              <a:rPr lang="en-US" sz="1600" dirty="0"/>
              <a:t>The instruction cycle is a fundamental concept in the operation of the 8085 microprocessor because it is the process by which the microprocessor fetches, decodes, and executes instructions. </a:t>
            </a:r>
          </a:p>
          <a:p>
            <a:pPr fontAlgn="base"/>
            <a:r>
              <a:rPr lang="en-US" sz="1600" dirty="0"/>
              <a:t>The execution of a program in a microprocessor involves a sequence of instructions, and each instruction is executed using the instruction cycle.</a:t>
            </a:r>
          </a:p>
          <a:p>
            <a:pPr fontAlgn="base"/>
            <a:r>
              <a:rPr lang="en-US" sz="1600" dirty="0"/>
              <a:t>The instruction cycle is necessary in the 8085 microprocessor because it ensures that the instructions are executed in the correct sequence and that the correct operation is performed on the correct data. </a:t>
            </a:r>
          </a:p>
          <a:p>
            <a:pPr fontAlgn="base"/>
            <a:r>
              <a:rPr lang="en-US" sz="1600" dirty="0"/>
              <a:t>The fetch step ensures that the correct instruction is obtained from memory, the decode step ensures that the correct operation is determined, and the execute step ensures that the correct operation is performed on the correct data.</a:t>
            </a:r>
          </a:p>
          <a:p>
            <a:pPr fontAlgn="base"/>
            <a:r>
              <a:rPr lang="en-US" sz="1600" dirty="0"/>
              <a:t>Furthermore, the instruction cycle allows the microprocessor to execute instructions at a very high speed, which is critical in applications where real-time performance is required. </a:t>
            </a:r>
          </a:p>
          <a:p>
            <a:pPr fontAlgn="base"/>
            <a:r>
              <a:rPr lang="en-US" sz="1600" dirty="0"/>
              <a:t>By efficiently executing instructions using the instruction cycle, the microprocessor can perform complex tasks and computations quickly and accurately.</a:t>
            </a:r>
            <a:endParaRPr lang="en-US" sz="900" dirty="0"/>
          </a:p>
        </p:txBody>
      </p:sp>
      <p:sp>
        <p:nvSpPr>
          <p:cNvPr id="4" name="Date Placeholder 3"/>
          <p:cNvSpPr>
            <a:spLocks noGrp="1"/>
          </p:cNvSpPr>
          <p:nvPr>
            <p:ph type="dt" sz="half" idx="10"/>
          </p:nvPr>
        </p:nvSpPr>
        <p:spPr/>
        <p:txBody>
          <a:bodyPr/>
          <a:lstStyle/>
          <a:p>
            <a:fld id="{6261CC3B-05F1-4811-AD1A-2E025C6227B5}"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4864186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Instruction Cycle</a:t>
            </a:r>
          </a:p>
        </p:txBody>
      </p:sp>
      <p:sp>
        <p:nvSpPr>
          <p:cNvPr id="3" name="Content Placeholder 2"/>
          <p:cNvSpPr>
            <a:spLocks noGrp="1"/>
          </p:cNvSpPr>
          <p:nvPr>
            <p:ph idx="1"/>
          </p:nvPr>
        </p:nvSpPr>
        <p:spPr>
          <a:xfrm>
            <a:off x="457200" y="742950"/>
            <a:ext cx="8229600" cy="3851673"/>
          </a:xfrm>
          <a:noFill/>
        </p:spPr>
        <p:txBody>
          <a:bodyPr>
            <a:normAutofit/>
          </a:bodyPr>
          <a:lstStyle/>
          <a:p>
            <a:r>
              <a:rPr lang="en-US" sz="1200" dirty="0"/>
              <a:t>An </a:t>
            </a:r>
            <a:r>
              <a:rPr lang="en-US" sz="1200" b="1" dirty="0"/>
              <a:t>instruction</a:t>
            </a:r>
            <a:r>
              <a:rPr lang="en-US" sz="1200" dirty="0"/>
              <a:t> is a command given to the microprocessor to perform a specific operation on the given data.</a:t>
            </a:r>
          </a:p>
          <a:p>
            <a:r>
              <a:rPr lang="en-US" sz="1200" dirty="0"/>
              <a:t>Sequence of instructions written for a processor to perform a particular task is called a </a:t>
            </a:r>
            <a:r>
              <a:rPr lang="en-US" sz="1200" b="1" dirty="0"/>
              <a:t>program</a:t>
            </a:r>
            <a:r>
              <a:rPr lang="en-US" sz="1200" dirty="0"/>
              <a:t>.</a:t>
            </a:r>
          </a:p>
          <a:p>
            <a:r>
              <a:rPr lang="en-US" sz="1200" dirty="0"/>
              <a:t>Program &amp; data are stored in the memory.</a:t>
            </a:r>
          </a:p>
          <a:p>
            <a:r>
              <a:rPr lang="en-US" sz="1200" dirty="0"/>
              <a:t>The microprocessor </a:t>
            </a:r>
            <a:r>
              <a:rPr lang="en-US" sz="1200" b="1" dirty="0"/>
              <a:t>fetches</a:t>
            </a:r>
            <a:r>
              <a:rPr lang="en-US" sz="1200" dirty="0"/>
              <a:t> one instruction from the memory at a time &amp; </a:t>
            </a:r>
            <a:r>
              <a:rPr lang="en-US" sz="1200" b="1" dirty="0"/>
              <a:t>executes</a:t>
            </a:r>
            <a:r>
              <a:rPr lang="en-US" sz="1200" dirty="0"/>
              <a:t> it. It executes all the instructions of the program </a:t>
            </a:r>
            <a:r>
              <a:rPr lang="en-US" sz="1200" b="1" dirty="0"/>
              <a:t>one by one </a:t>
            </a:r>
            <a:r>
              <a:rPr lang="en-US" sz="1200" dirty="0"/>
              <a:t>to produce the final result.</a:t>
            </a:r>
          </a:p>
          <a:p>
            <a:r>
              <a:rPr lang="en-US" sz="1200" dirty="0"/>
              <a:t>The necessary steps that a microprocessor carries out to fetch an instruction &amp; necessary data from the memory &amp; to execute it constitute an </a:t>
            </a:r>
            <a:r>
              <a:rPr lang="en-US" sz="1200" b="1" dirty="0"/>
              <a:t>instruction cycle.</a:t>
            </a:r>
          </a:p>
          <a:p>
            <a:r>
              <a:rPr lang="en-US" sz="1200" dirty="0"/>
              <a:t>In other words, an </a:t>
            </a:r>
            <a:r>
              <a:rPr lang="en-US" sz="1200" b="1" dirty="0"/>
              <a:t>instruction cycle is defined as the time required </a:t>
            </a:r>
            <a:r>
              <a:rPr lang="en-US" sz="1200" dirty="0"/>
              <a:t>for completing the execution of an instruction.</a:t>
            </a:r>
          </a:p>
          <a:p>
            <a:r>
              <a:rPr lang="en-US" sz="1200" dirty="0"/>
              <a:t>An instruction cycle consists of a fetch cycle and an execute cycle. </a:t>
            </a:r>
          </a:p>
          <a:p>
            <a:r>
              <a:rPr lang="en-US" sz="1200" dirty="0"/>
              <a:t>The time required to fetch an opcode (fetch cycle) is a fixed slot of time while the time required to execute an instruction (execute cycle) is variable which depends on the type of instruction to be executed.</a:t>
            </a:r>
          </a:p>
          <a:p>
            <a:r>
              <a:rPr lang="en-US" sz="1200" b="1" dirty="0"/>
              <a:t>Instruction cycle(IC) = Fetch cycle(FC)+ Execute cycle(EC)</a:t>
            </a:r>
            <a:endParaRPr lang="en-US" sz="1200" dirty="0"/>
          </a:p>
          <a:p>
            <a:pPr marL="457200" indent="-457200">
              <a:buFont typeface="+mj-lt"/>
              <a:buAutoNum type="arabicPeriod"/>
              <a:tabLst>
                <a:tab pos="463550" algn="l"/>
              </a:tabLst>
            </a:pPr>
            <a:endParaRPr lang="en-US" sz="100" dirty="0"/>
          </a:p>
        </p:txBody>
      </p:sp>
      <p:sp>
        <p:nvSpPr>
          <p:cNvPr id="4" name="Date Placeholder 3"/>
          <p:cNvSpPr>
            <a:spLocks noGrp="1"/>
          </p:cNvSpPr>
          <p:nvPr>
            <p:ph type="dt" sz="half" idx="10"/>
          </p:nvPr>
        </p:nvSpPr>
        <p:spPr/>
        <p:txBody>
          <a:bodyPr/>
          <a:lstStyle/>
          <a:p>
            <a:fld id="{0871033B-AFC0-43A4-B1FE-FF07531C5B88}"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7E06B3A7-02F6-458A-8994-D2670A1455B2}"/>
              </a:ext>
            </a:extLst>
          </p:cNvPr>
          <p:cNvPicPr>
            <a:picLocks noChangeAspect="1"/>
          </p:cNvPicPr>
          <p:nvPr/>
        </p:nvPicPr>
        <p:blipFill>
          <a:blip r:embed="rId2"/>
          <a:stretch>
            <a:fillRect/>
          </a:stretch>
        </p:blipFill>
        <p:spPr>
          <a:xfrm>
            <a:off x="1266825" y="3317270"/>
            <a:ext cx="6610350" cy="1314450"/>
          </a:xfrm>
          <a:prstGeom prst="rect">
            <a:avLst/>
          </a:prstGeom>
        </p:spPr>
      </p:pic>
    </p:spTree>
    <p:extLst>
      <p:ext uri="{BB962C8B-B14F-4D97-AF65-F5344CB8AC3E}">
        <p14:creationId xmlns:p14="http://schemas.microsoft.com/office/powerpoint/2010/main" val="2847303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Machine Cycle</a:t>
            </a:r>
          </a:p>
        </p:txBody>
      </p:sp>
      <p:sp>
        <p:nvSpPr>
          <p:cNvPr id="3" name="Content Placeholder 2"/>
          <p:cNvSpPr>
            <a:spLocks noGrp="1"/>
          </p:cNvSpPr>
          <p:nvPr>
            <p:ph idx="1"/>
          </p:nvPr>
        </p:nvSpPr>
        <p:spPr>
          <a:xfrm>
            <a:off x="457200" y="666751"/>
            <a:ext cx="8305800" cy="3657600"/>
          </a:xfrm>
          <a:noFill/>
        </p:spPr>
        <p:txBody>
          <a:bodyPr>
            <a:normAutofit fontScale="92500" lnSpcReduction="10000"/>
          </a:bodyPr>
          <a:lstStyle/>
          <a:p>
            <a:pPr>
              <a:tabLst>
                <a:tab pos="463550" algn="l"/>
              </a:tabLst>
            </a:pPr>
            <a:r>
              <a:rPr lang="en-US" sz="2100" dirty="0"/>
              <a:t>The seven Machine Cycle in 8085 Microprocessor are :</a:t>
            </a:r>
          </a:p>
          <a:p>
            <a:pPr marL="914400" lvl="1" indent="-514350" fontAlgn="base">
              <a:buFont typeface="+mj-lt"/>
              <a:buAutoNum type="arabicPeriod"/>
            </a:pPr>
            <a:r>
              <a:rPr lang="en-US" sz="2100" b="1" dirty="0"/>
              <a:t>Opcode Fetch Cycle</a:t>
            </a:r>
            <a:endParaRPr lang="en-US" sz="2100" dirty="0"/>
          </a:p>
          <a:p>
            <a:pPr marL="914400" lvl="1" indent="-514350" fontAlgn="base">
              <a:buFont typeface="+mj-lt"/>
              <a:buAutoNum type="arabicPeriod"/>
            </a:pPr>
            <a:r>
              <a:rPr lang="en-US" sz="2100" b="1" dirty="0"/>
              <a:t>Memory Read</a:t>
            </a:r>
            <a:endParaRPr lang="en-US" sz="2100" dirty="0"/>
          </a:p>
          <a:p>
            <a:pPr marL="914400" lvl="1" indent="-514350" fontAlgn="base">
              <a:buFont typeface="+mj-lt"/>
              <a:buAutoNum type="arabicPeriod"/>
            </a:pPr>
            <a:r>
              <a:rPr lang="en-US" sz="2100" b="1" dirty="0"/>
              <a:t>Memory Write</a:t>
            </a:r>
            <a:endParaRPr lang="en-US" sz="2100" dirty="0"/>
          </a:p>
          <a:p>
            <a:pPr marL="914400" lvl="1" indent="-514350" fontAlgn="base">
              <a:buFont typeface="+mj-lt"/>
              <a:buAutoNum type="arabicPeriod"/>
            </a:pPr>
            <a:r>
              <a:rPr lang="en-US" sz="2100" b="1" dirty="0"/>
              <a:t>I/O Read</a:t>
            </a:r>
            <a:endParaRPr lang="en-US" sz="2100" dirty="0"/>
          </a:p>
          <a:p>
            <a:pPr marL="914400" lvl="1" indent="-514350" fontAlgn="base">
              <a:buFont typeface="+mj-lt"/>
              <a:buAutoNum type="arabicPeriod"/>
            </a:pPr>
            <a:r>
              <a:rPr lang="en-US" sz="2100" b="1" dirty="0"/>
              <a:t>I/O Write</a:t>
            </a:r>
            <a:endParaRPr lang="en-US" sz="2100" dirty="0"/>
          </a:p>
          <a:p>
            <a:pPr marL="914400" lvl="1" indent="-514350" fontAlgn="base">
              <a:buFont typeface="+mj-lt"/>
              <a:buAutoNum type="arabicPeriod"/>
            </a:pPr>
            <a:r>
              <a:rPr lang="en-US" sz="2100" b="1" dirty="0"/>
              <a:t>Interrupt Acknowledge</a:t>
            </a:r>
            <a:endParaRPr lang="en-US" sz="2100" dirty="0"/>
          </a:p>
          <a:p>
            <a:pPr marL="914400" lvl="1" indent="-514350" fontAlgn="base">
              <a:buFont typeface="+mj-lt"/>
              <a:buAutoNum type="arabicPeriod"/>
            </a:pPr>
            <a:r>
              <a:rPr lang="en-US" sz="2100" b="1" dirty="0"/>
              <a:t>Bus Idle</a:t>
            </a:r>
          </a:p>
          <a:p>
            <a:pPr fontAlgn="base"/>
            <a:r>
              <a:rPr lang="en-US" sz="2100" dirty="0"/>
              <a:t>Three status signals IO/M, S</a:t>
            </a:r>
            <a:r>
              <a:rPr lang="en-US" sz="2100" baseline="-25000" dirty="0"/>
              <a:t>1</a:t>
            </a:r>
            <a:r>
              <a:rPr lang="en-US" sz="2100" dirty="0"/>
              <a:t> and S</a:t>
            </a:r>
            <a:r>
              <a:rPr lang="en-US" sz="2100" baseline="-25000" dirty="0"/>
              <a:t>0</a:t>
            </a:r>
            <a:r>
              <a:rPr lang="en-US" sz="2100" dirty="0"/>
              <a:t> identify each type as shown in Table 1.1. </a:t>
            </a:r>
          </a:p>
          <a:p>
            <a:pPr fontAlgn="base"/>
            <a:r>
              <a:rPr lang="en-US" sz="2100" dirty="0"/>
              <a:t>These signals are generated at the beginning of each machine cycle and remained valid for the duration, of the cycle.</a:t>
            </a:r>
          </a:p>
          <a:p>
            <a:pPr>
              <a:tabLst>
                <a:tab pos="463550" algn="l"/>
              </a:tabLst>
            </a:pPr>
            <a:endParaRPr lang="en-US" sz="1400" dirty="0"/>
          </a:p>
        </p:txBody>
      </p:sp>
      <p:sp>
        <p:nvSpPr>
          <p:cNvPr id="4" name="Date Placeholder 3"/>
          <p:cNvSpPr>
            <a:spLocks noGrp="1"/>
          </p:cNvSpPr>
          <p:nvPr>
            <p:ph type="dt" sz="half" idx="10"/>
          </p:nvPr>
        </p:nvSpPr>
        <p:spPr/>
        <p:txBody>
          <a:bodyPr/>
          <a:lstStyle/>
          <a:p>
            <a:fld id="{6F80D257-D46D-48DD-8E23-59CE5249194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2050" name="Picture 2" descr="https://www.eeeguide.com/wp-content/uploads/2017/11/Instruction-Cycle-of-8085-Microprocessor-002.jpg">
            <a:extLst>
              <a:ext uri="{FF2B5EF4-FFF2-40B4-BE49-F238E27FC236}">
                <a16:creationId xmlns:a16="http://schemas.microsoft.com/office/drawing/2014/main" id="{4BF4B828-1FA8-4D7D-A9DE-A3360E885475}"/>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4724400" y="1012366"/>
            <a:ext cx="3866445" cy="222633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79DD085-8E64-4C24-A2F6-9AE6F82C59C7}"/>
              </a:ext>
            </a:extLst>
          </p:cNvPr>
          <p:cNvSpPr/>
          <p:nvPr/>
        </p:nvSpPr>
        <p:spPr>
          <a:xfrm>
            <a:off x="2971800" y="4385984"/>
            <a:ext cx="5334000" cy="461665"/>
          </a:xfrm>
          <a:prstGeom prst="rect">
            <a:avLst/>
          </a:prstGeom>
        </p:spPr>
        <p:txBody>
          <a:bodyPr wrap="square">
            <a:spAutoFit/>
          </a:bodyPr>
          <a:lstStyle/>
          <a:p>
            <a:r>
              <a:rPr lang="en-US" sz="1200" dirty="0"/>
              <a:t>Reference : </a:t>
            </a:r>
            <a:r>
              <a:rPr lang="en-US" sz="1200" dirty="0">
                <a:hlinkClick r:id="rId4"/>
              </a:rPr>
              <a:t>https://www.eeeguide.com/machine-cycle-in-8085-microprocessor/</a:t>
            </a:r>
            <a:endParaRPr lang="en-US" sz="1200" dirty="0"/>
          </a:p>
          <a:p>
            <a:endParaRPr lang="en-US" sz="1200" dirty="0"/>
          </a:p>
        </p:txBody>
      </p:sp>
    </p:spTree>
    <p:extLst>
      <p:ext uri="{BB962C8B-B14F-4D97-AF65-F5344CB8AC3E}">
        <p14:creationId xmlns:p14="http://schemas.microsoft.com/office/powerpoint/2010/main" val="40448328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Machine cycle</a:t>
            </a:r>
          </a:p>
        </p:txBody>
      </p:sp>
      <p:sp>
        <p:nvSpPr>
          <p:cNvPr id="3" name="Content Placeholder 2"/>
          <p:cNvSpPr>
            <a:spLocks noGrp="1"/>
          </p:cNvSpPr>
          <p:nvPr>
            <p:ph idx="1"/>
          </p:nvPr>
        </p:nvSpPr>
        <p:spPr>
          <a:xfrm>
            <a:off x="457200" y="742950"/>
            <a:ext cx="8229600" cy="3851673"/>
          </a:xfrm>
          <a:noFill/>
        </p:spPr>
        <p:txBody>
          <a:bodyPr>
            <a:normAutofit fontScale="92500"/>
          </a:bodyPr>
          <a:lstStyle/>
          <a:p>
            <a:r>
              <a:rPr lang="en-US" sz="2400" dirty="0"/>
              <a:t>Machine cycle is defined as the </a:t>
            </a:r>
            <a:r>
              <a:rPr lang="en-US" sz="2400" b="1" dirty="0"/>
              <a:t>time required </a:t>
            </a:r>
            <a:r>
              <a:rPr lang="en-US" sz="2400" dirty="0"/>
              <a:t>for completing the operation of accessing either memory or I/O device. </a:t>
            </a:r>
          </a:p>
          <a:p>
            <a:r>
              <a:rPr lang="en-US" sz="2400" dirty="0"/>
              <a:t>In the 8085, the machine cycle may consist of three to six T states.</a:t>
            </a:r>
          </a:p>
          <a:p>
            <a:r>
              <a:rPr lang="en-US" sz="2400" dirty="0"/>
              <a:t>The T-state is defined as one</a:t>
            </a:r>
            <a:r>
              <a:rPr lang="en-US" sz="2400" b="1" dirty="0"/>
              <a:t> sub-division </a:t>
            </a:r>
            <a:r>
              <a:rPr lang="en-US" sz="2400" dirty="0"/>
              <a:t>of the operation performed in one clock period.</a:t>
            </a:r>
          </a:p>
          <a:p>
            <a:r>
              <a:rPr lang="en-US" sz="2400" dirty="0"/>
              <a:t>These sub-divisions are internal states synchronized with the system clock.</a:t>
            </a:r>
          </a:p>
          <a:p>
            <a:r>
              <a:rPr lang="en-US" sz="2400" dirty="0"/>
              <a:t>In every machine cycle the </a:t>
            </a:r>
            <a:r>
              <a:rPr lang="en-US" sz="2400" b="1" dirty="0"/>
              <a:t>first operation is op-code fetch </a:t>
            </a:r>
            <a:r>
              <a:rPr lang="en-US" sz="2400" dirty="0"/>
              <a:t>and the </a:t>
            </a:r>
            <a:r>
              <a:rPr lang="en-US" sz="2400" b="1" dirty="0"/>
              <a:t>remaining will be read or write from memory or IO devices.</a:t>
            </a:r>
          </a:p>
          <a:p>
            <a:pPr marL="457200" indent="-457200">
              <a:buFont typeface="+mj-lt"/>
              <a:buAutoNum type="arabicPeriod"/>
              <a:tabLst>
                <a:tab pos="463550" algn="l"/>
              </a:tabLst>
            </a:pPr>
            <a:endParaRPr lang="en-US" sz="300" dirty="0"/>
          </a:p>
        </p:txBody>
      </p:sp>
      <p:sp>
        <p:nvSpPr>
          <p:cNvPr id="4" name="Date Placeholder 3"/>
          <p:cNvSpPr>
            <a:spLocks noGrp="1"/>
          </p:cNvSpPr>
          <p:nvPr>
            <p:ph type="dt" sz="half" idx="10"/>
          </p:nvPr>
        </p:nvSpPr>
        <p:spPr/>
        <p:txBody>
          <a:bodyPr/>
          <a:lstStyle/>
          <a:p>
            <a:fld id="{E1DB4F88-575C-480E-8EC3-76B4708C1AA1}"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312205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Machine Cycle</a:t>
            </a:r>
          </a:p>
        </p:txBody>
      </p:sp>
      <p:sp>
        <p:nvSpPr>
          <p:cNvPr id="3" name="Content Placeholder 2"/>
          <p:cNvSpPr>
            <a:spLocks noGrp="1"/>
          </p:cNvSpPr>
          <p:nvPr>
            <p:ph idx="1"/>
          </p:nvPr>
        </p:nvSpPr>
        <p:spPr>
          <a:xfrm>
            <a:off x="457201" y="666750"/>
            <a:ext cx="4114800" cy="3927873"/>
          </a:xfrm>
          <a:noFill/>
        </p:spPr>
        <p:txBody>
          <a:bodyPr>
            <a:normAutofit/>
          </a:bodyPr>
          <a:lstStyle/>
          <a:p>
            <a:pPr marL="233363" indent="-233363" fontAlgn="base">
              <a:buNone/>
              <a:tabLst>
                <a:tab pos="344488" algn="l"/>
              </a:tabLst>
            </a:pPr>
            <a:r>
              <a:rPr lang="en-US" sz="1600" b="1" dirty="0"/>
              <a:t>1:  Opcode Fetch Cycle:</a:t>
            </a:r>
          </a:p>
          <a:p>
            <a:pPr marL="457200" lvl="1" indent="-223838" fontAlgn="base">
              <a:tabLst>
                <a:tab pos="344488" algn="l"/>
              </a:tabLst>
            </a:pPr>
            <a:r>
              <a:rPr lang="en-US" sz="1400" dirty="0"/>
              <a:t>It is the first Machine Cycle of every instruction in which the 8085 finds the nature of the instruction to be executed. </a:t>
            </a:r>
          </a:p>
          <a:p>
            <a:pPr marL="457200" lvl="1" indent="-223838" fontAlgn="base">
              <a:tabLst>
                <a:tab pos="344488" algn="l"/>
              </a:tabLst>
            </a:pPr>
            <a:r>
              <a:rPr lang="en-US" sz="1400" dirty="0"/>
              <a:t>The processor places the contents of the PC on the address lines, and through the read process, reads the opcode of the instruction. </a:t>
            </a:r>
          </a:p>
          <a:p>
            <a:pPr marL="233363" indent="-233363" fontAlgn="base">
              <a:buNone/>
              <a:tabLst>
                <a:tab pos="344488" algn="l"/>
              </a:tabLst>
            </a:pPr>
            <a:r>
              <a:rPr lang="en-US" sz="1600" b="1" dirty="0"/>
              <a:t>2.	Memory Read Cycle:</a:t>
            </a:r>
          </a:p>
          <a:p>
            <a:pPr marL="457200" lvl="1" indent="-223838" fontAlgn="base">
              <a:tabLst>
                <a:tab pos="344488" algn="l"/>
              </a:tabLst>
            </a:pPr>
            <a:r>
              <a:rPr lang="en-US" sz="1400" dirty="0"/>
              <a:t>The 8085 executes the memory read cycle to read the contents of R/W memory or ROM. </a:t>
            </a:r>
          </a:p>
          <a:p>
            <a:pPr marL="233363" indent="-233363" fontAlgn="base">
              <a:buNone/>
              <a:tabLst>
                <a:tab pos="344488" algn="l"/>
              </a:tabLst>
            </a:pPr>
            <a:r>
              <a:rPr lang="en-US" sz="1600" b="1" dirty="0"/>
              <a:t>3.	Memory Write Cycle:</a:t>
            </a:r>
          </a:p>
          <a:p>
            <a:pPr marL="457200" lvl="1" indent="-223838" fontAlgn="base">
              <a:tabLst>
                <a:tab pos="344488" algn="l"/>
              </a:tabLst>
            </a:pPr>
            <a:r>
              <a:rPr lang="en-US" sz="1400" dirty="0"/>
              <a:t>The 8085 executes the memory write cycle to store the data into data memory or stack memory. </a:t>
            </a:r>
          </a:p>
          <a:p>
            <a:pPr marL="233363" indent="-233363" fontAlgn="base">
              <a:tabLst>
                <a:tab pos="344488" algn="l"/>
              </a:tabLst>
            </a:pPr>
            <a:endParaRPr lang="en-US" sz="1600" dirty="0"/>
          </a:p>
          <a:p>
            <a:pPr marL="233363" indent="-233363" fontAlgn="base">
              <a:tabLst>
                <a:tab pos="344488" algn="l"/>
              </a:tabLst>
            </a:pPr>
            <a:endParaRPr lang="en-US" sz="1600" dirty="0"/>
          </a:p>
          <a:p>
            <a:pPr marL="233363" indent="-233363">
              <a:tabLst>
                <a:tab pos="344488" algn="l"/>
              </a:tabLst>
            </a:pPr>
            <a:endParaRPr lang="en-US" sz="1600" dirty="0"/>
          </a:p>
        </p:txBody>
      </p:sp>
      <p:sp>
        <p:nvSpPr>
          <p:cNvPr id="4" name="Date Placeholder 3"/>
          <p:cNvSpPr>
            <a:spLocks noGrp="1"/>
          </p:cNvSpPr>
          <p:nvPr>
            <p:ph type="dt" sz="half" idx="10"/>
          </p:nvPr>
        </p:nvSpPr>
        <p:spPr/>
        <p:txBody>
          <a:bodyPr/>
          <a:lstStyle/>
          <a:p>
            <a:fld id="{02AB449A-DB0F-4C6B-90D3-C4695900CEB0}"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AutoShape 2" descr="Machine Cycle in 8085 Microprocessor">
            <a:extLst>
              <a:ext uri="{FF2B5EF4-FFF2-40B4-BE49-F238E27FC236}">
                <a16:creationId xmlns:a16="http://schemas.microsoft.com/office/drawing/2014/main" id="{DB422AE4-17FE-4877-AB0C-402EBFFE2B9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Content Placeholder 2">
            <a:extLst>
              <a:ext uri="{FF2B5EF4-FFF2-40B4-BE49-F238E27FC236}">
                <a16:creationId xmlns:a16="http://schemas.microsoft.com/office/drawing/2014/main" id="{0E2E2650-5FBC-446E-8025-6DCC29DEB047}"/>
              </a:ext>
            </a:extLst>
          </p:cNvPr>
          <p:cNvSpPr txBox="1">
            <a:spLocks/>
          </p:cNvSpPr>
          <p:nvPr/>
        </p:nvSpPr>
        <p:spPr>
          <a:xfrm>
            <a:off x="4876800" y="674594"/>
            <a:ext cx="4114800" cy="3927873"/>
          </a:xfrm>
          <a:prstGeom prst="rect">
            <a:avLst/>
          </a:prstGeom>
          <a:noFill/>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33363" indent="-233363" fontAlgn="base">
              <a:buNone/>
            </a:pPr>
            <a:r>
              <a:rPr lang="en-US" sz="1600" b="1" dirty="0"/>
              <a:t>4,5:  I/O Read and I/O Write cycles:</a:t>
            </a:r>
          </a:p>
          <a:p>
            <a:pPr marL="569913" lvl="1" indent="-280988" fontAlgn="base"/>
            <a:r>
              <a:rPr lang="en-US" sz="1400" dirty="0"/>
              <a:t>The I/O read and I/O write machine cycles are similar to the memory read and memory write machine cycles, respectively, except that the 10/M signal is high for I/O read and I/O write machine cycles.</a:t>
            </a:r>
          </a:p>
          <a:p>
            <a:pPr marL="0" indent="0" fontAlgn="base">
              <a:buNone/>
            </a:pPr>
            <a:r>
              <a:rPr lang="en-US" sz="1600" b="1" dirty="0"/>
              <a:t>6.   Interrupt Acknowledge Cycle:</a:t>
            </a:r>
          </a:p>
          <a:p>
            <a:pPr marL="569913" lvl="1" indent="-280988" fontAlgn="base"/>
            <a:r>
              <a:rPr lang="en-US" sz="1400" dirty="0"/>
              <a:t>In response to INTR signal, 8085 executes interrupt acknowledge machine cycle to read an instruction from the external device. </a:t>
            </a:r>
          </a:p>
          <a:p>
            <a:pPr marL="0" indent="0" fontAlgn="base">
              <a:buNone/>
            </a:pPr>
            <a:r>
              <a:rPr lang="en-US" sz="1600" b="1" dirty="0"/>
              <a:t>7.  Bus Idle Cycle:</a:t>
            </a:r>
          </a:p>
          <a:p>
            <a:pPr marL="569913" lvl="1" indent="-280988" fontAlgn="base"/>
            <a:r>
              <a:rPr lang="en-US" sz="1400" dirty="0"/>
              <a:t>There are few situations where the machine cycles are neither Read nor Write. </a:t>
            </a:r>
          </a:p>
          <a:p>
            <a:pPr marL="233363" indent="-233363" fontAlgn="base"/>
            <a:endParaRPr lang="en-US" sz="1600" dirty="0"/>
          </a:p>
        </p:txBody>
      </p:sp>
    </p:spTree>
    <p:extLst>
      <p:ext uri="{BB962C8B-B14F-4D97-AF65-F5344CB8AC3E}">
        <p14:creationId xmlns:p14="http://schemas.microsoft.com/office/powerpoint/2010/main" val="17135518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42950"/>
            <a:ext cx="4724400" cy="3851673"/>
          </a:xfrm>
          <a:noFill/>
        </p:spPr>
        <p:txBody>
          <a:bodyPr>
            <a:normAutofit fontScale="85000" lnSpcReduction="20000"/>
          </a:bodyPr>
          <a:lstStyle/>
          <a:p>
            <a:pPr>
              <a:tabLst>
                <a:tab pos="463550" algn="l"/>
              </a:tabLst>
            </a:pPr>
            <a:r>
              <a:rPr lang="en-US" sz="2400" dirty="0"/>
              <a:t>Each instruction of the processor has one byte opcode.</a:t>
            </a:r>
          </a:p>
          <a:p>
            <a:pPr>
              <a:tabLst>
                <a:tab pos="463550" algn="l"/>
              </a:tabLst>
            </a:pPr>
            <a:r>
              <a:rPr lang="en-US" sz="2400" dirty="0"/>
              <a:t>The opcodes are stored in memory. So, the processor executes the opcode fetch machine cycle to fetch the opcode from memory.</a:t>
            </a:r>
          </a:p>
          <a:p>
            <a:pPr>
              <a:tabLst>
                <a:tab pos="463550" algn="l"/>
              </a:tabLst>
            </a:pPr>
            <a:r>
              <a:rPr lang="en-US" sz="2400" dirty="0">
                <a:solidFill>
                  <a:srgbClr val="C00000"/>
                </a:solidFill>
              </a:rPr>
              <a:t>every instruction starts with opcode fetch machine cycle.</a:t>
            </a:r>
          </a:p>
          <a:p>
            <a:pPr>
              <a:tabLst>
                <a:tab pos="463550" algn="l"/>
              </a:tabLst>
            </a:pPr>
            <a:r>
              <a:rPr lang="en-US" sz="2400" dirty="0"/>
              <a:t>The time taken by the processor to execute the opcode </a:t>
            </a:r>
            <a:r>
              <a:rPr lang="en-US" sz="2400" dirty="0">
                <a:solidFill>
                  <a:srgbClr val="C00000"/>
                </a:solidFill>
              </a:rPr>
              <a:t>fetch cycle is 4T.</a:t>
            </a:r>
          </a:p>
          <a:p>
            <a:pPr>
              <a:tabLst>
                <a:tab pos="463550" algn="l"/>
              </a:tabLst>
            </a:pPr>
            <a:r>
              <a:rPr lang="en-US" sz="2400" dirty="0"/>
              <a:t>In this time, the first, 3 T-states are used for fetching the opcode from memory and the remaining T-states are used for internal operations by the processor.</a:t>
            </a:r>
          </a:p>
          <a:p>
            <a:pPr>
              <a:tabLst>
                <a:tab pos="463550" algn="l"/>
              </a:tabLst>
            </a:pPr>
            <a:endParaRPr lang="en-US" sz="2400" dirty="0"/>
          </a:p>
          <a:p>
            <a:pPr>
              <a:tabLst>
                <a:tab pos="463550" algn="l"/>
              </a:tabLst>
            </a:pPr>
            <a:endParaRPr lang="en-US" sz="1400" dirty="0"/>
          </a:p>
        </p:txBody>
      </p:sp>
      <p:sp>
        <p:nvSpPr>
          <p:cNvPr id="4" name="Date Placeholder 3"/>
          <p:cNvSpPr>
            <a:spLocks noGrp="1"/>
          </p:cNvSpPr>
          <p:nvPr>
            <p:ph type="dt" sz="half" idx="10"/>
          </p:nvPr>
        </p:nvSpPr>
        <p:spPr/>
        <p:txBody>
          <a:bodyPr/>
          <a:lstStyle/>
          <a:p>
            <a:fld id="{8BEE52C1-F77F-428E-A25A-BADEFF69FA69}"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1267" name="Picture 3" descr="https://img.brainkart.com/imagebk8/Mzb6BUu.jpg">
            <a:extLst>
              <a:ext uri="{FF2B5EF4-FFF2-40B4-BE49-F238E27FC236}">
                <a16:creationId xmlns:a16="http://schemas.microsoft.com/office/drawing/2014/main" id="{46E5D52B-9237-42B0-83D7-8FB96739B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8661" y="541454"/>
            <a:ext cx="3624839" cy="43481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chemeClr val="accent6">
                    <a:lumMod val="75000"/>
                  </a:schemeClr>
                </a:solidFill>
              </a:rPr>
              <a:t>a) Opcode Fetch Machine cycle</a:t>
            </a:r>
          </a:p>
        </p:txBody>
      </p:sp>
    </p:spTree>
    <p:extLst>
      <p:ext uri="{BB962C8B-B14F-4D97-AF65-F5344CB8AC3E}">
        <p14:creationId xmlns:p14="http://schemas.microsoft.com/office/powerpoint/2010/main" val="3937827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42950"/>
            <a:ext cx="4724400" cy="3851673"/>
          </a:xfrm>
          <a:noFill/>
        </p:spPr>
        <p:txBody>
          <a:bodyPr>
            <a:normAutofit/>
          </a:bodyPr>
          <a:lstStyle/>
          <a:p>
            <a:pPr marL="0" indent="0">
              <a:buNone/>
              <a:tabLst>
                <a:tab pos="463550" algn="l"/>
              </a:tabLst>
            </a:pPr>
            <a:r>
              <a:rPr lang="en-US" sz="1800" dirty="0"/>
              <a:t>The steps in Opcode Fetch machine cycle are</a:t>
            </a:r>
            <a:endParaRPr lang="en-US" sz="1000" dirty="0"/>
          </a:p>
        </p:txBody>
      </p:sp>
      <p:sp>
        <p:nvSpPr>
          <p:cNvPr id="4" name="Date Placeholder 3"/>
          <p:cNvSpPr>
            <a:spLocks noGrp="1"/>
          </p:cNvSpPr>
          <p:nvPr>
            <p:ph type="dt" sz="half" idx="10"/>
          </p:nvPr>
        </p:nvSpPr>
        <p:spPr/>
        <p:txBody>
          <a:bodyPr/>
          <a:lstStyle/>
          <a:p>
            <a:fld id="{3AC8A871-328B-4E5C-8100-4AC96B710E9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1267" name="Picture 3" descr="https://img.brainkart.com/imagebk8/Mzb6BUu.jpg">
            <a:extLst>
              <a:ext uri="{FF2B5EF4-FFF2-40B4-BE49-F238E27FC236}">
                <a16:creationId xmlns:a16="http://schemas.microsoft.com/office/drawing/2014/main" id="{46E5D52B-9237-42B0-83D7-8FB96739BF4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328661" y="541454"/>
            <a:ext cx="3624839" cy="434816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chemeClr val="accent6">
                  <a:lumMod val="75000"/>
                </a:schemeClr>
              </a:solidFill>
            </a:endParaRPr>
          </a:p>
        </p:txBody>
      </p:sp>
      <p:pic>
        <p:nvPicPr>
          <p:cNvPr id="7" name="Picture 6">
            <a:extLst>
              <a:ext uri="{FF2B5EF4-FFF2-40B4-BE49-F238E27FC236}">
                <a16:creationId xmlns:a16="http://schemas.microsoft.com/office/drawing/2014/main" id="{91DF55AA-B167-4B82-BA24-2EABAA18BFE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347374" y="1163706"/>
            <a:ext cx="5091113" cy="3407385"/>
          </a:xfrm>
          <a:prstGeom prst="rect">
            <a:avLst/>
          </a:prstGeom>
        </p:spPr>
      </p:pic>
    </p:spTree>
    <p:extLst>
      <p:ext uri="{BB962C8B-B14F-4D97-AF65-F5344CB8AC3E}">
        <p14:creationId xmlns:p14="http://schemas.microsoft.com/office/powerpoint/2010/main" val="19040813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chemeClr val="accent6">
                    <a:lumMod val="75000"/>
                  </a:schemeClr>
                </a:solidFill>
              </a:rPr>
              <a:t>b) Memory Read Machine cycle</a:t>
            </a:r>
          </a:p>
        </p:txBody>
      </p:sp>
      <p:sp>
        <p:nvSpPr>
          <p:cNvPr id="3" name="Content Placeholder 2"/>
          <p:cNvSpPr>
            <a:spLocks noGrp="1"/>
          </p:cNvSpPr>
          <p:nvPr>
            <p:ph idx="1"/>
          </p:nvPr>
        </p:nvSpPr>
        <p:spPr>
          <a:xfrm>
            <a:off x="457200" y="742950"/>
            <a:ext cx="5562600" cy="3851673"/>
          </a:xfrm>
          <a:noFill/>
        </p:spPr>
        <p:txBody>
          <a:bodyPr>
            <a:normAutofit/>
          </a:bodyPr>
          <a:lstStyle/>
          <a:p>
            <a:pPr algn="just">
              <a:tabLst>
                <a:tab pos="463550" algn="l"/>
              </a:tabLst>
            </a:pPr>
            <a:r>
              <a:rPr lang="en-US" sz="1600" dirty="0"/>
              <a:t>The memory read machine cycle is executed by the processor </a:t>
            </a:r>
            <a:r>
              <a:rPr lang="en-US" sz="1600" dirty="0">
                <a:solidFill>
                  <a:srgbClr val="C00000"/>
                </a:solidFill>
              </a:rPr>
              <a:t>to read a data byte from memory.</a:t>
            </a:r>
          </a:p>
          <a:p>
            <a:pPr algn="just">
              <a:tabLst>
                <a:tab pos="463550" algn="l"/>
              </a:tabLst>
            </a:pPr>
            <a:r>
              <a:rPr lang="en-US" sz="1600" dirty="0"/>
              <a:t>The processor </a:t>
            </a:r>
            <a:r>
              <a:rPr lang="en-US" sz="1600" dirty="0">
                <a:solidFill>
                  <a:srgbClr val="C00000"/>
                </a:solidFill>
              </a:rPr>
              <a:t>takes 3T states </a:t>
            </a:r>
            <a:r>
              <a:rPr lang="en-US" sz="1600" dirty="0"/>
              <a:t>to execute this cycle.</a:t>
            </a:r>
          </a:p>
          <a:p>
            <a:pPr algn="just">
              <a:tabLst>
                <a:tab pos="463550" algn="l"/>
              </a:tabLst>
            </a:pPr>
            <a:r>
              <a:rPr lang="en-US" sz="1600" dirty="0"/>
              <a:t>The steps in Memory Read machine cycle are</a:t>
            </a:r>
          </a:p>
        </p:txBody>
      </p:sp>
      <p:sp>
        <p:nvSpPr>
          <p:cNvPr id="4" name="Date Placeholder 3"/>
          <p:cNvSpPr>
            <a:spLocks noGrp="1"/>
          </p:cNvSpPr>
          <p:nvPr>
            <p:ph type="dt" sz="half" idx="10"/>
          </p:nvPr>
        </p:nvSpPr>
        <p:spPr/>
        <p:txBody>
          <a:bodyPr/>
          <a:lstStyle/>
          <a:p>
            <a:fld id="{B62B7928-BB3D-4603-A2F5-F26B014C083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2290" name="Picture 2" descr="https://img.brainkart.com/imagebk8/r43zhP3.jpg">
            <a:extLst>
              <a:ext uri="{FF2B5EF4-FFF2-40B4-BE49-F238E27FC236}">
                <a16:creationId xmlns:a16="http://schemas.microsoft.com/office/drawing/2014/main" id="{7CABBC16-707A-48AB-9293-0B52D08FFF59}"/>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l="9864" r="10481"/>
          <a:stretch/>
        </p:blipFill>
        <p:spPr bwMode="auto">
          <a:xfrm>
            <a:off x="5562600" y="621946"/>
            <a:ext cx="2895600" cy="429771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98BB4DBE-0FB7-4FA0-8984-0C8EE1BA523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685800" y="1989104"/>
            <a:ext cx="4343400" cy="2778159"/>
          </a:xfrm>
          <a:prstGeom prst="rect">
            <a:avLst/>
          </a:prstGeom>
        </p:spPr>
      </p:pic>
    </p:spTree>
    <p:extLst>
      <p:ext uri="{BB962C8B-B14F-4D97-AF65-F5344CB8AC3E}">
        <p14:creationId xmlns:p14="http://schemas.microsoft.com/office/powerpoint/2010/main" val="39195004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42950"/>
            <a:ext cx="4876800" cy="3851673"/>
          </a:xfrm>
          <a:noFill/>
        </p:spPr>
        <p:txBody>
          <a:bodyPr>
            <a:normAutofit/>
          </a:bodyPr>
          <a:lstStyle/>
          <a:p>
            <a:pPr>
              <a:tabLst>
                <a:tab pos="463550" algn="l"/>
              </a:tabLst>
            </a:pPr>
            <a:r>
              <a:rPr lang="en-US" sz="1600" dirty="0"/>
              <a:t>The memory write machine cycle is executed by the processor </a:t>
            </a:r>
            <a:r>
              <a:rPr lang="en-US" sz="1600" dirty="0">
                <a:solidFill>
                  <a:srgbClr val="C00000"/>
                </a:solidFill>
              </a:rPr>
              <a:t>to write a data byte </a:t>
            </a:r>
            <a:r>
              <a:rPr lang="en-US" sz="1600" dirty="0"/>
              <a:t>in a memory location.</a:t>
            </a:r>
          </a:p>
          <a:p>
            <a:pPr>
              <a:tabLst>
                <a:tab pos="463550" algn="l"/>
              </a:tabLst>
            </a:pPr>
            <a:r>
              <a:rPr lang="en-US" sz="1600" dirty="0"/>
              <a:t>The processor takes, </a:t>
            </a:r>
            <a:r>
              <a:rPr lang="en-US" sz="1600" dirty="0">
                <a:solidFill>
                  <a:srgbClr val="C00000"/>
                </a:solidFill>
              </a:rPr>
              <a:t>3T states </a:t>
            </a:r>
            <a:r>
              <a:rPr lang="en-US" sz="1600" dirty="0"/>
              <a:t>to execute this machine cycle.</a:t>
            </a:r>
            <a:endParaRPr lang="en-US" sz="600" dirty="0"/>
          </a:p>
        </p:txBody>
      </p:sp>
      <p:sp>
        <p:nvSpPr>
          <p:cNvPr id="4" name="Date Placeholder 3"/>
          <p:cNvSpPr>
            <a:spLocks noGrp="1"/>
          </p:cNvSpPr>
          <p:nvPr>
            <p:ph type="dt" sz="half" idx="10"/>
          </p:nvPr>
        </p:nvSpPr>
        <p:spPr/>
        <p:txBody>
          <a:bodyPr/>
          <a:lstStyle/>
          <a:p>
            <a:fld id="{5FD1C1D9-0D9E-4BB7-9F99-6F44EAD63A91}"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3314" name="Picture 2" descr="https://img.brainkart.com/imagebk8/i1ErKxy.jpg">
            <a:extLst>
              <a:ext uri="{FF2B5EF4-FFF2-40B4-BE49-F238E27FC236}">
                <a16:creationId xmlns:a16="http://schemas.microsoft.com/office/drawing/2014/main" id="{71A89FF3-7D56-44FB-A090-F5C5400A7FB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514975" y="338137"/>
            <a:ext cx="3438525" cy="44672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chemeClr val="accent6">
                    <a:lumMod val="75000"/>
                  </a:schemeClr>
                </a:solidFill>
              </a:rPr>
              <a:t>c) Memory Write Machine cycle</a:t>
            </a:r>
          </a:p>
        </p:txBody>
      </p:sp>
      <p:pic>
        <p:nvPicPr>
          <p:cNvPr id="7" name="Picture 6">
            <a:extLst>
              <a:ext uri="{FF2B5EF4-FFF2-40B4-BE49-F238E27FC236}">
                <a16:creationId xmlns:a16="http://schemas.microsoft.com/office/drawing/2014/main" id="{7273D635-8CE5-4836-B4A9-DAA970B95CC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673631" y="1914525"/>
            <a:ext cx="4574644" cy="2890837"/>
          </a:xfrm>
          <a:prstGeom prst="rect">
            <a:avLst/>
          </a:prstGeom>
        </p:spPr>
      </p:pic>
    </p:spTree>
    <p:extLst>
      <p:ext uri="{BB962C8B-B14F-4D97-AF65-F5344CB8AC3E}">
        <p14:creationId xmlns:p14="http://schemas.microsoft.com/office/powerpoint/2010/main" val="37834535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chemeClr val="accent6">
                    <a:lumMod val="75000"/>
                  </a:schemeClr>
                </a:solidFill>
              </a:rPr>
              <a:t>d) I/O Read Machine cycle</a:t>
            </a:r>
          </a:p>
        </p:txBody>
      </p:sp>
      <p:sp>
        <p:nvSpPr>
          <p:cNvPr id="3" name="Content Placeholder 2"/>
          <p:cNvSpPr>
            <a:spLocks noGrp="1"/>
          </p:cNvSpPr>
          <p:nvPr>
            <p:ph idx="1"/>
          </p:nvPr>
        </p:nvSpPr>
        <p:spPr>
          <a:xfrm>
            <a:off x="457200" y="742950"/>
            <a:ext cx="5334000" cy="3851673"/>
          </a:xfrm>
          <a:noFill/>
        </p:spPr>
        <p:txBody>
          <a:bodyPr>
            <a:normAutofit/>
          </a:bodyPr>
          <a:lstStyle/>
          <a:p>
            <a:pPr>
              <a:tabLst>
                <a:tab pos="463550" algn="l"/>
              </a:tabLst>
            </a:pPr>
            <a:r>
              <a:rPr lang="en-US" sz="1600" dirty="0"/>
              <a:t>The I/O Read cycle is executed by the processor </a:t>
            </a:r>
            <a:r>
              <a:rPr lang="en-US" sz="1600" dirty="0">
                <a:solidFill>
                  <a:srgbClr val="C00000"/>
                </a:solidFill>
              </a:rPr>
              <a:t>to read a data byte from I/O port</a:t>
            </a:r>
            <a:r>
              <a:rPr lang="en-US" sz="1600" dirty="0"/>
              <a:t> or from the peripheral, which is I/O, mapped in the system.</a:t>
            </a:r>
          </a:p>
          <a:p>
            <a:pPr>
              <a:tabLst>
                <a:tab pos="463550" algn="l"/>
              </a:tabLst>
            </a:pPr>
            <a:r>
              <a:rPr lang="en-US" sz="1600" dirty="0"/>
              <a:t>The processor takes </a:t>
            </a:r>
            <a:r>
              <a:rPr lang="en-US" sz="1600" dirty="0">
                <a:solidFill>
                  <a:srgbClr val="C00000"/>
                </a:solidFill>
              </a:rPr>
              <a:t>3T states </a:t>
            </a:r>
            <a:r>
              <a:rPr lang="en-US" sz="1600" dirty="0"/>
              <a:t>to execute this machine cycle.</a:t>
            </a:r>
          </a:p>
          <a:p>
            <a:pPr>
              <a:tabLst>
                <a:tab pos="463550" algn="l"/>
              </a:tabLst>
            </a:pPr>
            <a:endParaRPr lang="en-US" sz="200" dirty="0"/>
          </a:p>
        </p:txBody>
      </p:sp>
      <p:sp>
        <p:nvSpPr>
          <p:cNvPr id="4" name="Date Placeholder 3"/>
          <p:cNvSpPr>
            <a:spLocks noGrp="1"/>
          </p:cNvSpPr>
          <p:nvPr>
            <p:ph type="dt" sz="half" idx="10"/>
          </p:nvPr>
        </p:nvSpPr>
        <p:spPr/>
        <p:txBody>
          <a:bodyPr/>
          <a:lstStyle/>
          <a:p>
            <a:fld id="{1C88352B-6ED6-4D07-85EA-2C103E8BCCEF}"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4338" name="Picture 2" descr="https://img.brainkart.com/imagebk8/AUDo64K.jpg">
            <a:extLst>
              <a:ext uri="{FF2B5EF4-FFF2-40B4-BE49-F238E27FC236}">
                <a16:creationId xmlns:a16="http://schemas.microsoft.com/office/drawing/2014/main" id="{4FA7CF3D-E55D-4B3E-A2C8-94436C2E2D9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a:stretch>
            <a:fillRect/>
          </a:stretch>
        </p:blipFill>
        <p:spPr bwMode="auto">
          <a:xfrm>
            <a:off x="5562600" y="436364"/>
            <a:ext cx="3324225" cy="41624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D54821B-BE4A-4EE3-8F5D-70530371281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742950" y="2167617"/>
            <a:ext cx="4552950" cy="2699589"/>
          </a:xfrm>
          <a:prstGeom prst="rect">
            <a:avLst/>
          </a:prstGeom>
        </p:spPr>
      </p:pic>
    </p:spTree>
    <p:extLst>
      <p:ext uri="{BB962C8B-B14F-4D97-AF65-F5344CB8AC3E}">
        <p14:creationId xmlns:p14="http://schemas.microsoft.com/office/powerpoint/2010/main" val="37102610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chemeClr val="accent6">
                    <a:lumMod val="75000"/>
                  </a:schemeClr>
                </a:solidFill>
              </a:rPr>
              <a:t>e) I/O Write Machine cycle</a:t>
            </a:r>
          </a:p>
        </p:txBody>
      </p:sp>
      <p:sp>
        <p:nvSpPr>
          <p:cNvPr id="4" name="Date Placeholder 3"/>
          <p:cNvSpPr>
            <a:spLocks noGrp="1"/>
          </p:cNvSpPr>
          <p:nvPr>
            <p:ph type="dt" sz="half" idx="10"/>
          </p:nvPr>
        </p:nvSpPr>
        <p:spPr/>
        <p:txBody>
          <a:bodyPr/>
          <a:lstStyle/>
          <a:p>
            <a:fld id="{394184C6-1E5D-47AD-AAD8-D0DDF4F7FE19}"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A4D2CF66-68CD-4C8C-9B5A-5A2034D7F05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685801" y="2001230"/>
            <a:ext cx="4572000" cy="2772383"/>
          </a:xfrm>
          <a:prstGeom prst="rect">
            <a:avLst/>
          </a:prstGeom>
        </p:spPr>
      </p:pic>
      <p:sp>
        <p:nvSpPr>
          <p:cNvPr id="3" name="Content Placeholder 2"/>
          <p:cNvSpPr>
            <a:spLocks noGrp="1"/>
          </p:cNvSpPr>
          <p:nvPr>
            <p:ph idx="1"/>
          </p:nvPr>
        </p:nvSpPr>
        <p:spPr>
          <a:xfrm>
            <a:off x="457200" y="742950"/>
            <a:ext cx="5029202" cy="3851673"/>
          </a:xfrm>
          <a:noFill/>
        </p:spPr>
        <p:txBody>
          <a:bodyPr>
            <a:normAutofit/>
          </a:bodyPr>
          <a:lstStyle/>
          <a:p>
            <a:pPr>
              <a:tabLst>
                <a:tab pos="463550" algn="l"/>
              </a:tabLst>
            </a:pPr>
            <a:r>
              <a:rPr lang="en-US" sz="1600" dirty="0"/>
              <a:t>The I/O Write cycle is executed by the processor </a:t>
            </a:r>
            <a:r>
              <a:rPr lang="en-US" sz="1600" dirty="0">
                <a:solidFill>
                  <a:srgbClr val="C00000"/>
                </a:solidFill>
              </a:rPr>
              <a:t>to write a data byte to I/O port </a:t>
            </a:r>
            <a:r>
              <a:rPr lang="en-US" sz="1600" dirty="0"/>
              <a:t>or to the peripheral, which is I/O, mapped in the system.</a:t>
            </a:r>
          </a:p>
          <a:p>
            <a:pPr>
              <a:tabLst>
                <a:tab pos="463550" algn="l"/>
              </a:tabLst>
            </a:pPr>
            <a:r>
              <a:rPr lang="en-US" sz="1600" dirty="0"/>
              <a:t>The processor </a:t>
            </a:r>
            <a:r>
              <a:rPr lang="en-US" sz="1600" dirty="0">
                <a:solidFill>
                  <a:srgbClr val="C00000"/>
                </a:solidFill>
              </a:rPr>
              <a:t>takes 3T states </a:t>
            </a:r>
            <a:r>
              <a:rPr lang="en-US" sz="1600" dirty="0"/>
              <a:t>to execute this machine cycle.</a:t>
            </a:r>
          </a:p>
          <a:p>
            <a:pPr>
              <a:tabLst>
                <a:tab pos="463550" algn="l"/>
              </a:tabLst>
            </a:pPr>
            <a:endParaRPr lang="en-US" sz="200" dirty="0"/>
          </a:p>
        </p:txBody>
      </p:sp>
      <p:sp>
        <p:nvSpPr>
          <p:cNvPr id="11" name="TextBox 10">
            <a:extLst>
              <a:ext uri="{FF2B5EF4-FFF2-40B4-BE49-F238E27FC236}">
                <a16:creationId xmlns:a16="http://schemas.microsoft.com/office/drawing/2014/main" id="{E011373F-DD30-40B2-9E4F-3FCEB041BAC4}"/>
              </a:ext>
            </a:extLst>
          </p:cNvPr>
          <p:cNvSpPr txBox="1"/>
          <p:nvPr/>
        </p:nvSpPr>
        <p:spPr>
          <a:xfrm>
            <a:off x="6858000" y="395501"/>
            <a:ext cx="184731" cy="369332"/>
          </a:xfrm>
          <a:prstGeom prst="rect">
            <a:avLst/>
          </a:prstGeom>
          <a:solidFill>
            <a:schemeClr val="bg1"/>
          </a:solidFill>
        </p:spPr>
        <p:txBody>
          <a:bodyPr wrap="none" rtlCol="0">
            <a:spAutoFit/>
          </a:bodyPr>
          <a:lstStyle/>
          <a:p>
            <a:endParaRPr lang="en-US" b="1" dirty="0"/>
          </a:p>
        </p:txBody>
      </p:sp>
      <p:pic>
        <p:nvPicPr>
          <p:cNvPr id="12" name="Picture 11">
            <a:extLst>
              <a:ext uri="{FF2B5EF4-FFF2-40B4-BE49-F238E27FC236}">
                <a16:creationId xmlns:a16="http://schemas.microsoft.com/office/drawing/2014/main" id="{59451543-5D6C-405E-A264-294E187AB6AB}"/>
              </a:ext>
            </a:extLst>
          </p:cNvPr>
          <p:cNvPicPr>
            <a:picLocks noChangeAspect="1"/>
          </p:cNvPicPr>
          <p:nvPr/>
        </p:nvPicPr>
        <p:blipFill>
          <a:blip r:embed="rId4"/>
          <a:stretch>
            <a:fillRect/>
          </a:stretch>
        </p:blipFill>
        <p:spPr>
          <a:xfrm>
            <a:off x="5552440" y="436364"/>
            <a:ext cx="3581400" cy="4105275"/>
          </a:xfrm>
          <a:prstGeom prst="rect">
            <a:avLst/>
          </a:prstGeom>
        </p:spPr>
      </p:pic>
    </p:spTree>
    <p:extLst>
      <p:ext uri="{BB962C8B-B14F-4D97-AF65-F5344CB8AC3E}">
        <p14:creationId xmlns:p14="http://schemas.microsoft.com/office/powerpoint/2010/main" val="11550750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1. Timing Diagram for: MOV A, B</a:t>
            </a:r>
          </a:p>
        </p:txBody>
      </p:sp>
      <p:sp>
        <p:nvSpPr>
          <p:cNvPr id="3" name="Content Placeholder 2"/>
          <p:cNvSpPr>
            <a:spLocks noGrp="1"/>
          </p:cNvSpPr>
          <p:nvPr>
            <p:ph idx="1"/>
          </p:nvPr>
        </p:nvSpPr>
        <p:spPr>
          <a:xfrm>
            <a:off x="457200" y="742950"/>
            <a:ext cx="3733800" cy="3851673"/>
          </a:xfrm>
          <a:noFill/>
        </p:spPr>
        <p:txBody>
          <a:bodyPr>
            <a:normAutofit/>
          </a:bodyPr>
          <a:lstStyle/>
          <a:p>
            <a:pPr marL="457200" indent="-457200">
              <a:buFont typeface="+mj-lt"/>
              <a:buAutoNum type="arabicPeriod"/>
              <a:tabLst>
                <a:tab pos="463550" algn="l"/>
              </a:tabLst>
            </a:pPr>
            <a:r>
              <a:rPr lang="en-US" sz="2000" dirty="0"/>
              <a:t>Assume Address: 2005 H, Opcode: 78H</a:t>
            </a:r>
          </a:p>
          <a:p>
            <a:pPr marL="457200" indent="-457200">
              <a:buFont typeface="+mj-lt"/>
              <a:buAutoNum type="arabicPeriod"/>
              <a:tabLst>
                <a:tab pos="463550" algn="l"/>
              </a:tabLst>
            </a:pPr>
            <a:r>
              <a:rPr lang="en-US" sz="2000" dirty="0"/>
              <a:t>Here 20 is higher order address and 05H is Lower Address.</a:t>
            </a:r>
          </a:p>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029F736E-3C4F-4243-BEAA-D6882DBBB199}"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9" name="Rectangle 8">
            <a:extLst>
              <a:ext uri="{FF2B5EF4-FFF2-40B4-BE49-F238E27FC236}">
                <a16:creationId xmlns:a16="http://schemas.microsoft.com/office/drawing/2014/main" id="{81640E56-4E37-469E-8E08-6E9EE4B571B3}"/>
              </a:ext>
            </a:extLst>
          </p:cNvPr>
          <p:cNvSpPr/>
          <p:nvPr/>
        </p:nvSpPr>
        <p:spPr>
          <a:xfrm>
            <a:off x="609600" y="3929242"/>
            <a:ext cx="3581400" cy="646331"/>
          </a:xfrm>
          <a:prstGeom prst="rect">
            <a:avLst/>
          </a:prstGeom>
        </p:spPr>
        <p:txBody>
          <a:bodyPr wrap="square">
            <a:spAutoFit/>
          </a:bodyPr>
          <a:lstStyle/>
          <a:p>
            <a:r>
              <a:rPr lang="en-US" sz="1200" dirty="0"/>
              <a:t>Reference:</a:t>
            </a:r>
          </a:p>
          <a:p>
            <a:r>
              <a:rPr lang="en-US" sz="1200" dirty="0"/>
              <a:t> </a:t>
            </a:r>
            <a:r>
              <a:rPr lang="en-US" sz="1200" dirty="0">
                <a:hlinkClick r:id="rId2"/>
              </a:rPr>
              <a:t>https://www.youtube.com/watch?v=KQ18sRHBpTM</a:t>
            </a:r>
            <a:endParaRPr lang="en-US" sz="1200" dirty="0"/>
          </a:p>
          <a:p>
            <a:endParaRPr lang="en-US" sz="1200" dirty="0"/>
          </a:p>
        </p:txBody>
      </p:sp>
      <p:pic>
        <p:nvPicPr>
          <p:cNvPr id="10" name="Picture 9">
            <a:extLst>
              <a:ext uri="{FF2B5EF4-FFF2-40B4-BE49-F238E27FC236}">
                <a16:creationId xmlns:a16="http://schemas.microsoft.com/office/drawing/2014/main" id="{48786645-316E-4F3F-A22E-A928F91F6354}"/>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00000"/>
                    </a14:imgEffect>
                  </a14:imgLayer>
                </a14:imgProps>
              </a:ext>
            </a:extLst>
          </a:blip>
          <a:stretch>
            <a:fillRect/>
          </a:stretch>
        </p:blipFill>
        <p:spPr>
          <a:xfrm>
            <a:off x="3962400" y="645913"/>
            <a:ext cx="4982835" cy="3851674"/>
          </a:xfrm>
          <a:prstGeom prst="rect">
            <a:avLst/>
          </a:prstGeom>
        </p:spPr>
      </p:pic>
      <p:sp>
        <p:nvSpPr>
          <p:cNvPr id="12" name="Rectangle 11">
            <a:extLst>
              <a:ext uri="{FF2B5EF4-FFF2-40B4-BE49-F238E27FC236}">
                <a16:creationId xmlns:a16="http://schemas.microsoft.com/office/drawing/2014/main" id="{F60723FE-D42D-4670-98FB-E7E6CBFB40F5}"/>
              </a:ext>
            </a:extLst>
          </p:cNvPr>
          <p:cNvSpPr/>
          <p:nvPr/>
        </p:nvSpPr>
        <p:spPr>
          <a:xfrm>
            <a:off x="6172200" y="2495550"/>
            <a:ext cx="381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78H</a:t>
            </a:r>
          </a:p>
        </p:txBody>
      </p:sp>
      <p:cxnSp>
        <p:nvCxnSpPr>
          <p:cNvPr id="8" name="Straight Connector 7">
            <a:extLst>
              <a:ext uri="{FF2B5EF4-FFF2-40B4-BE49-F238E27FC236}">
                <a16:creationId xmlns:a16="http://schemas.microsoft.com/office/drawing/2014/main" id="{5EEB0D37-5B42-401D-9F33-A8C592CF52D5}"/>
              </a:ext>
            </a:extLst>
          </p:cNvPr>
          <p:cNvCxnSpPr>
            <a:cxnSpLocks/>
          </p:cNvCxnSpPr>
          <p:nvPr/>
        </p:nvCxnSpPr>
        <p:spPr>
          <a:xfrm>
            <a:off x="4648200" y="3409950"/>
            <a:ext cx="3886200" cy="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4B1E41B0-AE3D-48FC-81B3-3CC41495A379}"/>
              </a:ext>
            </a:extLst>
          </p:cNvPr>
          <p:cNvCxnSpPr>
            <a:cxnSpLocks/>
          </p:cNvCxnSpPr>
          <p:nvPr/>
        </p:nvCxnSpPr>
        <p:spPr>
          <a:xfrm flipV="1">
            <a:off x="4584032" y="3382879"/>
            <a:ext cx="76200" cy="284559"/>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B1164A0E-F8FC-440D-B301-BC2473E35654}"/>
              </a:ext>
            </a:extLst>
          </p:cNvPr>
          <p:cNvCxnSpPr>
            <a:cxnSpLocks/>
          </p:cNvCxnSpPr>
          <p:nvPr/>
        </p:nvCxnSpPr>
        <p:spPr>
          <a:xfrm>
            <a:off x="4495800" y="3670839"/>
            <a:ext cx="76200" cy="10419"/>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097163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or</a:t>
            </a:r>
          </a:p>
        </p:txBody>
      </p:sp>
      <p:sp>
        <p:nvSpPr>
          <p:cNvPr id="3" name="Content Placeholder 2"/>
          <p:cNvSpPr>
            <a:spLocks noGrp="1"/>
          </p:cNvSpPr>
          <p:nvPr>
            <p:ph idx="1"/>
          </p:nvPr>
        </p:nvSpPr>
        <p:spPr>
          <a:xfrm>
            <a:off x="457200" y="742950"/>
            <a:ext cx="4530008" cy="3851673"/>
          </a:xfrm>
          <a:noFill/>
        </p:spPr>
        <p:txBody>
          <a:bodyPr>
            <a:normAutofit/>
          </a:bodyPr>
          <a:lstStyle/>
          <a:p>
            <a:pPr marL="457200" indent="-457200">
              <a:buFont typeface="+mj-lt"/>
              <a:buAutoNum type="arabicPeriod"/>
              <a:tabLst>
                <a:tab pos="463550" algn="l"/>
              </a:tabLst>
            </a:pPr>
            <a:r>
              <a:rPr lang="en-US" sz="1600" dirty="0"/>
              <a:t>Assume Address: B001 H, Opcode: 78H</a:t>
            </a:r>
          </a:p>
          <a:p>
            <a:pPr marL="457200" indent="-457200">
              <a:buFont typeface="+mj-lt"/>
              <a:buAutoNum type="arabicPeriod"/>
              <a:tabLst>
                <a:tab pos="463550" algn="l"/>
              </a:tabLst>
            </a:pPr>
            <a:r>
              <a:rPr lang="en-US" sz="1600" dirty="0"/>
              <a:t>Here B0 is higher order address and 01H is Lower Address.</a:t>
            </a:r>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p:txBody>
      </p:sp>
      <p:sp>
        <p:nvSpPr>
          <p:cNvPr id="4" name="Date Placeholder 3"/>
          <p:cNvSpPr>
            <a:spLocks noGrp="1"/>
          </p:cNvSpPr>
          <p:nvPr>
            <p:ph type="dt" sz="half" idx="10"/>
          </p:nvPr>
        </p:nvSpPr>
        <p:spPr/>
        <p:txBody>
          <a:bodyPr/>
          <a:lstStyle/>
          <a:p>
            <a:fld id="{DFD76689-F54C-49DE-B6AE-BA3CFC60238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57FBFD1A-5347-4261-94B2-1360E325ACA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99000"/>
                    </a14:imgEffect>
                  </a14:imgLayer>
                </a14:imgProps>
              </a:ext>
            </a:extLst>
          </a:blip>
          <a:stretch>
            <a:fillRect/>
          </a:stretch>
        </p:blipFill>
        <p:spPr>
          <a:xfrm>
            <a:off x="4987208" y="848991"/>
            <a:ext cx="3887078" cy="3799531"/>
          </a:xfrm>
          <a:prstGeom prst="rect">
            <a:avLst/>
          </a:prstGeom>
        </p:spPr>
      </p:pic>
    </p:spTree>
    <p:extLst>
      <p:ext uri="{BB962C8B-B14F-4D97-AF65-F5344CB8AC3E}">
        <p14:creationId xmlns:p14="http://schemas.microsoft.com/office/powerpoint/2010/main" val="40973361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Or</a:t>
            </a:r>
          </a:p>
        </p:txBody>
      </p:sp>
      <p:sp>
        <p:nvSpPr>
          <p:cNvPr id="3" name="Content Placeholder 2"/>
          <p:cNvSpPr>
            <a:spLocks noGrp="1"/>
          </p:cNvSpPr>
          <p:nvPr>
            <p:ph idx="1"/>
          </p:nvPr>
        </p:nvSpPr>
        <p:spPr>
          <a:xfrm>
            <a:off x="457200" y="742950"/>
            <a:ext cx="3733800" cy="3851673"/>
          </a:xfrm>
          <a:noFill/>
        </p:spPr>
        <p:txBody>
          <a:bodyPr>
            <a:normAutofit/>
          </a:bodyPr>
          <a:lstStyle/>
          <a:p>
            <a:pPr marL="457200" indent="-457200">
              <a:buFont typeface="+mj-lt"/>
              <a:buAutoNum type="arabicPeriod"/>
              <a:tabLst>
                <a:tab pos="463550" algn="l"/>
              </a:tabLst>
            </a:pPr>
            <a:r>
              <a:rPr lang="en-US" sz="2000" dirty="0"/>
              <a:t>Assume Address: 2070 H, Opcode: 78H</a:t>
            </a:r>
          </a:p>
          <a:p>
            <a:pPr marL="457200" indent="-457200">
              <a:buFont typeface="+mj-lt"/>
              <a:buAutoNum type="arabicPeriod"/>
              <a:tabLst>
                <a:tab pos="463550" algn="l"/>
              </a:tabLst>
            </a:pPr>
            <a:r>
              <a:rPr lang="en-US" sz="2000" dirty="0"/>
              <a:t>Here 20 is higher order address and 70H is Lower Address.</a:t>
            </a:r>
          </a:p>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1B3D3222-0ECA-462C-B408-ACB65532F0B2}"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D959A14E-B547-4F3B-AECE-B65F13F9FA5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45000"/>
                    </a14:imgEffect>
                  </a14:imgLayer>
                </a14:imgProps>
              </a:ext>
            </a:extLst>
          </a:blip>
          <a:stretch>
            <a:fillRect/>
          </a:stretch>
        </p:blipFill>
        <p:spPr>
          <a:xfrm>
            <a:off x="4322402" y="879873"/>
            <a:ext cx="4461596" cy="3714750"/>
          </a:xfrm>
          <a:prstGeom prst="rect">
            <a:avLst/>
          </a:prstGeom>
        </p:spPr>
      </p:pic>
      <p:sp>
        <p:nvSpPr>
          <p:cNvPr id="9" name="Rectangle 8">
            <a:extLst>
              <a:ext uri="{FF2B5EF4-FFF2-40B4-BE49-F238E27FC236}">
                <a16:creationId xmlns:a16="http://schemas.microsoft.com/office/drawing/2014/main" id="{81640E56-4E37-469E-8E08-6E9EE4B571B3}"/>
              </a:ext>
            </a:extLst>
          </p:cNvPr>
          <p:cNvSpPr/>
          <p:nvPr/>
        </p:nvSpPr>
        <p:spPr>
          <a:xfrm>
            <a:off x="609600" y="3929242"/>
            <a:ext cx="3581400" cy="646331"/>
          </a:xfrm>
          <a:prstGeom prst="rect">
            <a:avLst/>
          </a:prstGeom>
        </p:spPr>
        <p:txBody>
          <a:bodyPr wrap="square">
            <a:spAutoFit/>
          </a:bodyPr>
          <a:lstStyle/>
          <a:p>
            <a:r>
              <a:rPr lang="en-US" sz="1200" dirty="0"/>
              <a:t>Reference:</a:t>
            </a:r>
          </a:p>
          <a:p>
            <a:r>
              <a:rPr lang="en-US" sz="1200" dirty="0"/>
              <a:t> </a:t>
            </a:r>
            <a:r>
              <a:rPr lang="en-US" sz="1200" dirty="0">
                <a:hlinkClick r:id="rId4"/>
              </a:rPr>
              <a:t>https://www.youtube.com/watch?v=KQ18sRHBpTM</a:t>
            </a:r>
            <a:endParaRPr lang="en-US" sz="1200" dirty="0"/>
          </a:p>
          <a:p>
            <a:endParaRPr lang="en-US" sz="1200" dirty="0"/>
          </a:p>
        </p:txBody>
      </p:sp>
    </p:spTree>
    <p:extLst>
      <p:ext uri="{BB962C8B-B14F-4D97-AF65-F5344CB8AC3E}">
        <p14:creationId xmlns:p14="http://schemas.microsoft.com/office/powerpoint/2010/main" val="27083508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2. Timing Diagram for: MVI A,43 H</a:t>
            </a:r>
          </a:p>
        </p:txBody>
      </p:sp>
      <p:sp>
        <p:nvSpPr>
          <p:cNvPr id="3" name="Content Placeholder 2"/>
          <p:cNvSpPr>
            <a:spLocks noGrp="1"/>
          </p:cNvSpPr>
          <p:nvPr>
            <p:ph idx="1"/>
          </p:nvPr>
        </p:nvSpPr>
        <p:spPr>
          <a:xfrm>
            <a:off x="457201" y="742950"/>
            <a:ext cx="2735818" cy="3851673"/>
          </a:xfrm>
          <a:noFill/>
        </p:spPr>
        <p:txBody>
          <a:bodyPr>
            <a:normAutofit lnSpcReduction="10000"/>
          </a:bodyPr>
          <a:lstStyle/>
          <a:p>
            <a:pPr marL="457200" indent="-457200">
              <a:buFont typeface="+mj-lt"/>
              <a:buAutoNum type="arabicPeriod"/>
              <a:tabLst>
                <a:tab pos="463550" algn="l"/>
              </a:tabLst>
            </a:pPr>
            <a:r>
              <a:rPr lang="en-US" sz="1600" dirty="0"/>
              <a:t>Assume </a:t>
            </a:r>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r>
              <a:rPr lang="en-US" sz="1600" dirty="0"/>
              <a:t>Here 20 is higher order address and 00H is Lower Address.</a:t>
            </a:r>
          </a:p>
          <a:p>
            <a:pPr marL="457200" indent="-457200">
              <a:buFont typeface="+mj-lt"/>
              <a:buAutoNum type="arabicPeriod"/>
              <a:tabLst>
                <a:tab pos="463550" algn="l"/>
              </a:tabLst>
            </a:pPr>
            <a:r>
              <a:rPr lang="en-US" sz="1600" dirty="0"/>
              <a:t>Involves:</a:t>
            </a:r>
          </a:p>
          <a:p>
            <a:pPr lvl="1">
              <a:tabLst>
                <a:tab pos="463550" algn="l"/>
              </a:tabLst>
            </a:pPr>
            <a:r>
              <a:rPr lang="en-US" sz="1200" dirty="0"/>
              <a:t>Fetching the opcode 06H from the memory 2000H (Opcode Machine Cycle)</a:t>
            </a:r>
          </a:p>
          <a:p>
            <a:pPr lvl="1">
              <a:tabLst>
                <a:tab pos="463550" algn="l"/>
              </a:tabLst>
            </a:pPr>
            <a:r>
              <a:rPr lang="en-US" sz="1200" dirty="0"/>
              <a:t>Read (Move) the data 43H from memory 2001H (i.e. Memory Read Machine Cycle)</a:t>
            </a:r>
          </a:p>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94F5337F-29A2-4DA8-9E62-7BEA3AA77B11}"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12" name="Rectangle 11">
            <a:extLst>
              <a:ext uri="{FF2B5EF4-FFF2-40B4-BE49-F238E27FC236}">
                <a16:creationId xmlns:a16="http://schemas.microsoft.com/office/drawing/2014/main" id="{F60723FE-D42D-4670-98FB-E7E6CBFB40F5}"/>
              </a:ext>
            </a:extLst>
          </p:cNvPr>
          <p:cNvSpPr/>
          <p:nvPr/>
        </p:nvSpPr>
        <p:spPr>
          <a:xfrm>
            <a:off x="6172200" y="2495550"/>
            <a:ext cx="381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78H</a:t>
            </a:r>
          </a:p>
        </p:txBody>
      </p:sp>
      <p:pic>
        <p:nvPicPr>
          <p:cNvPr id="13" name="Picture 12">
            <a:extLst>
              <a:ext uri="{FF2B5EF4-FFF2-40B4-BE49-F238E27FC236}">
                <a16:creationId xmlns:a16="http://schemas.microsoft.com/office/drawing/2014/main" id="{B9B7A6F2-3073-4DE6-B15F-F64FCBF72646}"/>
              </a:ext>
            </a:extLst>
          </p:cNvPr>
          <p:cNvPicPr>
            <a:picLocks noChangeAspect="1"/>
          </p:cNvPicPr>
          <p:nvPr/>
        </p:nvPicPr>
        <p:blipFill>
          <a:blip r:embed="rId2"/>
          <a:stretch>
            <a:fillRect/>
          </a:stretch>
        </p:blipFill>
        <p:spPr>
          <a:xfrm>
            <a:off x="3374417" y="666749"/>
            <a:ext cx="5312381" cy="4001037"/>
          </a:xfrm>
          <a:prstGeom prst="rect">
            <a:avLst/>
          </a:prstGeom>
        </p:spPr>
      </p:pic>
      <p:graphicFrame>
        <p:nvGraphicFramePr>
          <p:cNvPr id="7" name="Table 8">
            <a:extLst>
              <a:ext uri="{FF2B5EF4-FFF2-40B4-BE49-F238E27FC236}">
                <a16:creationId xmlns:a16="http://schemas.microsoft.com/office/drawing/2014/main" id="{1FA8FD86-0405-44D0-9EDC-4065D167CA3C}"/>
              </a:ext>
            </a:extLst>
          </p:cNvPr>
          <p:cNvGraphicFramePr>
            <a:graphicFrameLocks noGrp="1"/>
          </p:cNvGraphicFramePr>
          <p:nvPr>
            <p:extLst>
              <p:ext uri="{D42A27DB-BD31-4B8C-83A1-F6EECF244321}">
                <p14:modId xmlns:p14="http://schemas.microsoft.com/office/powerpoint/2010/main" val="2910340587"/>
              </p:ext>
            </p:extLst>
          </p:nvPr>
        </p:nvGraphicFramePr>
        <p:xfrm>
          <a:off x="796529" y="1061476"/>
          <a:ext cx="2396490" cy="836406"/>
        </p:xfrm>
        <a:graphic>
          <a:graphicData uri="http://schemas.openxmlformats.org/drawingml/2006/table">
            <a:tbl>
              <a:tblPr firstRow="1" bandRow="1">
                <a:tableStyleId>{5C22544A-7EE6-4342-B048-85BDC9FD1C3A}</a:tableStyleId>
              </a:tblPr>
              <a:tblGrid>
                <a:gridCol w="724172">
                  <a:extLst>
                    <a:ext uri="{9D8B030D-6E8A-4147-A177-3AD203B41FA5}">
                      <a16:colId xmlns:a16="http://schemas.microsoft.com/office/drawing/2014/main" val="750132929"/>
                    </a:ext>
                  </a:extLst>
                </a:gridCol>
                <a:gridCol w="873488">
                  <a:extLst>
                    <a:ext uri="{9D8B030D-6E8A-4147-A177-3AD203B41FA5}">
                      <a16:colId xmlns:a16="http://schemas.microsoft.com/office/drawing/2014/main" val="3832551524"/>
                    </a:ext>
                  </a:extLst>
                </a:gridCol>
                <a:gridCol w="798830">
                  <a:extLst>
                    <a:ext uri="{9D8B030D-6E8A-4147-A177-3AD203B41FA5}">
                      <a16:colId xmlns:a16="http://schemas.microsoft.com/office/drawing/2014/main" val="1235501717"/>
                    </a:ext>
                  </a:extLst>
                </a:gridCol>
              </a:tblGrid>
              <a:tr h="278802">
                <a:tc>
                  <a:txBody>
                    <a:bodyPr/>
                    <a:lstStyle/>
                    <a:p>
                      <a:r>
                        <a:rPr lang="en-US" sz="1050" dirty="0"/>
                        <a:t>Address</a:t>
                      </a:r>
                    </a:p>
                  </a:txBody>
                  <a:tcPr/>
                </a:tc>
                <a:tc>
                  <a:txBody>
                    <a:bodyPr/>
                    <a:lstStyle/>
                    <a:p>
                      <a:r>
                        <a:rPr lang="en-US" sz="1050" dirty="0"/>
                        <a:t>Mnemonics</a:t>
                      </a:r>
                    </a:p>
                  </a:txBody>
                  <a:tcPr/>
                </a:tc>
                <a:tc>
                  <a:txBody>
                    <a:bodyPr/>
                    <a:lstStyle/>
                    <a:p>
                      <a:r>
                        <a:rPr lang="en-US" sz="1050" dirty="0" err="1"/>
                        <a:t>Hexcode</a:t>
                      </a:r>
                      <a:endParaRPr lang="en-US" sz="1050" dirty="0"/>
                    </a:p>
                  </a:txBody>
                  <a:tcPr/>
                </a:tc>
                <a:extLst>
                  <a:ext uri="{0D108BD9-81ED-4DB2-BD59-A6C34878D82A}">
                    <a16:rowId xmlns:a16="http://schemas.microsoft.com/office/drawing/2014/main" val="3093578847"/>
                  </a:ext>
                </a:extLst>
              </a:tr>
              <a:tr h="278802">
                <a:tc>
                  <a:txBody>
                    <a:bodyPr/>
                    <a:lstStyle/>
                    <a:p>
                      <a:r>
                        <a:rPr lang="en-US" sz="1050" dirty="0"/>
                        <a:t>2000H</a:t>
                      </a:r>
                    </a:p>
                  </a:txBody>
                  <a:tcPr/>
                </a:tc>
                <a:tc>
                  <a:txBody>
                    <a:bodyPr/>
                    <a:lstStyle/>
                    <a:p>
                      <a:r>
                        <a:rPr lang="en-US" sz="1050" dirty="0"/>
                        <a:t>MVI A, 443H</a:t>
                      </a:r>
                    </a:p>
                  </a:txBody>
                  <a:tcPr/>
                </a:tc>
                <a:tc>
                  <a:txBody>
                    <a:bodyPr/>
                    <a:lstStyle/>
                    <a:p>
                      <a:r>
                        <a:rPr lang="en-US" sz="1050" dirty="0"/>
                        <a:t>06H</a:t>
                      </a:r>
                    </a:p>
                  </a:txBody>
                  <a:tcPr/>
                </a:tc>
                <a:extLst>
                  <a:ext uri="{0D108BD9-81ED-4DB2-BD59-A6C34878D82A}">
                    <a16:rowId xmlns:a16="http://schemas.microsoft.com/office/drawing/2014/main" val="738648293"/>
                  </a:ext>
                </a:extLst>
              </a:tr>
              <a:tr h="278802">
                <a:tc>
                  <a:txBody>
                    <a:bodyPr/>
                    <a:lstStyle/>
                    <a:p>
                      <a:r>
                        <a:rPr lang="en-US" sz="1050" dirty="0"/>
                        <a:t>2001H</a:t>
                      </a:r>
                    </a:p>
                  </a:txBody>
                  <a:tcPr/>
                </a:tc>
                <a:tc>
                  <a:txBody>
                    <a:bodyPr/>
                    <a:lstStyle/>
                    <a:p>
                      <a:endParaRPr lang="en-US" sz="1050" dirty="0"/>
                    </a:p>
                  </a:txBody>
                  <a:tcPr/>
                </a:tc>
                <a:tc>
                  <a:txBody>
                    <a:bodyPr/>
                    <a:lstStyle/>
                    <a:p>
                      <a:r>
                        <a:rPr lang="en-US" sz="1050" dirty="0"/>
                        <a:t>43H</a:t>
                      </a:r>
                    </a:p>
                  </a:txBody>
                  <a:tcPr/>
                </a:tc>
                <a:extLst>
                  <a:ext uri="{0D108BD9-81ED-4DB2-BD59-A6C34878D82A}">
                    <a16:rowId xmlns:a16="http://schemas.microsoft.com/office/drawing/2014/main" val="259028548"/>
                  </a:ext>
                </a:extLst>
              </a:tr>
            </a:tbl>
          </a:graphicData>
        </a:graphic>
      </p:graphicFrame>
    </p:spTree>
    <p:extLst>
      <p:ext uri="{BB962C8B-B14F-4D97-AF65-F5344CB8AC3E}">
        <p14:creationId xmlns:p14="http://schemas.microsoft.com/office/powerpoint/2010/main" val="23145584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3. Timing Diagram for: OUT 20H</a:t>
            </a:r>
          </a:p>
        </p:txBody>
      </p:sp>
      <p:sp>
        <p:nvSpPr>
          <p:cNvPr id="4" name="Date Placeholder 3"/>
          <p:cNvSpPr>
            <a:spLocks noGrp="1"/>
          </p:cNvSpPr>
          <p:nvPr>
            <p:ph type="dt" sz="half" idx="10"/>
          </p:nvPr>
        </p:nvSpPr>
        <p:spPr/>
        <p:txBody>
          <a:bodyPr/>
          <a:lstStyle/>
          <a:p>
            <a:fld id="{DC952B6C-1365-495E-BAA2-684E6BF81A7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12" name="Rectangle 11">
            <a:extLst>
              <a:ext uri="{FF2B5EF4-FFF2-40B4-BE49-F238E27FC236}">
                <a16:creationId xmlns:a16="http://schemas.microsoft.com/office/drawing/2014/main" id="{F60723FE-D42D-4670-98FB-E7E6CBFB40F5}"/>
              </a:ext>
            </a:extLst>
          </p:cNvPr>
          <p:cNvSpPr/>
          <p:nvPr/>
        </p:nvSpPr>
        <p:spPr>
          <a:xfrm>
            <a:off x="6172200" y="2495550"/>
            <a:ext cx="381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78H</a:t>
            </a:r>
          </a:p>
        </p:txBody>
      </p:sp>
      <p:pic>
        <p:nvPicPr>
          <p:cNvPr id="14" name="Picture 13">
            <a:extLst>
              <a:ext uri="{FF2B5EF4-FFF2-40B4-BE49-F238E27FC236}">
                <a16:creationId xmlns:a16="http://schemas.microsoft.com/office/drawing/2014/main" id="{7E1DCA3C-B5FD-42EC-A757-BF52EEEC7AE9}"/>
              </a:ext>
            </a:extLst>
          </p:cNvPr>
          <p:cNvPicPr>
            <a:picLocks noChangeAspect="1"/>
          </p:cNvPicPr>
          <p:nvPr/>
        </p:nvPicPr>
        <p:blipFill>
          <a:blip r:embed="rId2"/>
          <a:stretch>
            <a:fillRect/>
          </a:stretch>
        </p:blipFill>
        <p:spPr>
          <a:xfrm>
            <a:off x="3124199" y="742950"/>
            <a:ext cx="5562600" cy="4024313"/>
          </a:xfrm>
          <a:prstGeom prst="rect">
            <a:avLst/>
          </a:prstGeom>
        </p:spPr>
      </p:pic>
      <p:sp>
        <p:nvSpPr>
          <p:cNvPr id="9" name="Content Placeholder 2">
            <a:extLst>
              <a:ext uri="{FF2B5EF4-FFF2-40B4-BE49-F238E27FC236}">
                <a16:creationId xmlns:a16="http://schemas.microsoft.com/office/drawing/2014/main" id="{48686292-3C5F-4E9F-A97F-3FA49F627A53}"/>
              </a:ext>
            </a:extLst>
          </p:cNvPr>
          <p:cNvSpPr>
            <a:spLocks noGrp="1"/>
          </p:cNvSpPr>
          <p:nvPr>
            <p:ph idx="1"/>
          </p:nvPr>
        </p:nvSpPr>
        <p:spPr>
          <a:xfrm>
            <a:off x="457201" y="742950"/>
            <a:ext cx="2514599" cy="3851673"/>
          </a:xfrm>
          <a:noFill/>
        </p:spPr>
        <p:txBody>
          <a:bodyPr>
            <a:normAutofit fontScale="92500" lnSpcReduction="20000"/>
          </a:bodyPr>
          <a:lstStyle/>
          <a:p>
            <a:pPr marL="457200" indent="-457200">
              <a:buFont typeface="+mj-lt"/>
              <a:buAutoNum type="arabicPeriod"/>
              <a:tabLst>
                <a:tab pos="463550" algn="l"/>
              </a:tabLst>
            </a:pPr>
            <a:r>
              <a:rPr lang="en-US" sz="1600" dirty="0"/>
              <a:t>Assume </a:t>
            </a:r>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r>
              <a:rPr lang="en-US" sz="1600" dirty="0"/>
              <a:t>Here 20 is higher order address and 50H is Lower Address.</a:t>
            </a:r>
          </a:p>
          <a:p>
            <a:pPr marL="457200" indent="-457200">
              <a:buFont typeface="+mj-lt"/>
              <a:buAutoNum type="arabicPeriod"/>
              <a:tabLst>
                <a:tab pos="463550" algn="l"/>
              </a:tabLst>
            </a:pPr>
            <a:r>
              <a:rPr lang="en-US" sz="1600" dirty="0"/>
              <a:t>Involves:</a:t>
            </a:r>
          </a:p>
          <a:p>
            <a:pPr lvl="1">
              <a:tabLst>
                <a:tab pos="463550" algn="l"/>
              </a:tabLst>
            </a:pPr>
            <a:r>
              <a:rPr lang="en-US" sz="1200" b="1" dirty="0"/>
              <a:t>Opcode Machine Cycle : </a:t>
            </a:r>
            <a:r>
              <a:rPr lang="en-US" sz="1200" dirty="0"/>
              <a:t>Fetching the opcode D3H from the memory 2050H </a:t>
            </a:r>
          </a:p>
          <a:p>
            <a:pPr lvl="1">
              <a:tabLst>
                <a:tab pos="463550" algn="l"/>
              </a:tabLst>
            </a:pPr>
            <a:r>
              <a:rPr lang="en-US" sz="1200" b="1" dirty="0"/>
              <a:t>Memory Read Machine Cycle:  </a:t>
            </a:r>
            <a:r>
              <a:rPr lang="en-US" sz="1200" dirty="0"/>
              <a:t>Read the port address 20H from the memory 2051H</a:t>
            </a:r>
          </a:p>
          <a:p>
            <a:pPr lvl="1">
              <a:tabLst>
                <a:tab pos="463550" algn="l"/>
              </a:tabLst>
            </a:pPr>
            <a:r>
              <a:rPr lang="en-US" sz="1200" b="1" dirty="0"/>
              <a:t>IO Write Machine cycle: </a:t>
            </a:r>
            <a:r>
              <a:rPr lang="en-US" sz="1200" dirty="0"/>
              <a:t>Transfer the content of Accumulator to the output port 20H</a:t>
            </a:r>
            <a:endParaRPr lang="en-US" sz="2000" dirty="0"/>
          </a:p>
        </p:txBody>
      </p:sp>
      <p:graphicFrame>
        <p:nvGraphicFramePr>
          <p:cNvPr id="10" name="Table 8">
            <a:extLst>
              <a:ext uri="{FF2B5EF4-FFF2-40B4-BE49-F238E27FC236}">
                <a16:creationId xmlns:a16="http://schemas.microsoft.com/office/drawing/2014/main" id="{07426E30-2435-46C5-8A23-15DE2F2A12D0}"/>
              </a:ext>
            </a:extLst>
          </p:cNvPr>
          <p:cNvGraphicFramePr>
            <a:graphicFrameLocks noGrp="1"/>
          </p:cNvGraphicFramePr>
          <p:nvPr>
            <p:extLst>
              <p:ext uri="{D42A27DB-BD31-4B8C-83A1-F6EECF244321}">
                <p14:modId xmlns:p14="http://schemas.microsoft.com/office/powerpoint/2010/main" val="2038230872"/>
              </p:ext>
            </p:extLst>
          </p:nvPr>
        </p:nvGraphicFramePr>
        <p:xfrm>
          <a:off x="796529" y="1061476"/>
          <a:ext cx="2006080" cy="836406"/>
        </p:xfrm>
        <a:graphic>
          <a:graphicData uri="http://schemas.openxmlformats.org/drawingml/2006/table">
            <a:tbl>
              <a:tblPr firstRow="1" bandRow="1">
                <a:tableStyleId>{5C22544A-7EE6-4342-B048-85BDC9FD1C3A}</a:tableStyleId>
              </a:tblPr>
              <a:tblGrid>
                <a:gridCol w="606198">
                  <a:extLst>
                    <a:ext uri="{9D8B030D-6E8A-4147-A177-3AD203B41FA5}">
                      <a16:colId xmlns:a16="http://schemas.microsoft.com/office/drawing/2014/main" val="750132929"/>
                    </a:ext>
                  </a:extLst>
                </a:gridCol>
                <a:gridCol w="731189">
                  <a:extLst>
                    <a:ext uri="{9D8B030D-6E8A-4147-A177-3AD203B41FA5}">
                      <a16:colId xmlns:a16="http://schemas.microsoft.com/office/drawing/2014/main" val="3832551524"/>
                    </a:ext>
                  </a:extLst>
                </a:gridCol>
                <a:gridCol w="668693">
                  <a:extLst>
                    <a:ext uri="{9D8B030D-6E8A-4147-A177-3AD203B41FA5}">
                      <a16:colId xmlns:a16="http://schemas.microsoft.com/office/drawing/2014/main" val="1235501717"/>
                    </a:ext>
                  </a:extLst>
                </a:gridCol>
              </a:tblGrid>
              <a:tr h="278802">
                <a:tc>
                  <a:txBody>
                    <a:bodyPr/>
                    <a:lstStyle/>
                    <a:p>
                      <a:r>
                        <a:rPr lang="en-US" sz="800" dirty="0"/>
                        <a:t>Address</a:t>
                      </a:r>
                    </a:p>
                  </a:txBody>
                  <a:tcPr/>
                </a:tc>
                <a:tc>
                  <a:txBody>
                    <a:bodyPr/>
                    <a:lstStyle/>
                    <a:p>
                      <a:r>
                        <a:rPr lang="en-US" sz="800" dirty="0"/>
                        <a:t>Mnemonics</a:t>
                      </a:r>
                    </a:p>
                  </a:txBody>
                  <a:tcPr/>
                </a:tc>
                <a:tc>
                  <a:txBody>
                    <a:bodyPr/>
                    <a:lstStyle/>
                    <a:p>
                      <a:r>
                        <a:rPr lang="en-US" sz="800" dirty="0" err="1"/>
                        <a:t>Hexcode</a:t>
                      </a:r>
                      <a:endParaRPr lang="en-US" sz="800" dirty="0"/>
                    </a:p>
                  </a:txBody>
                  <a:tcPr/>
                </a:tc>
                <a:extLst>
                  <a:ext uri="{0D108BD9-81ED-4DB2-BD59-A6C34878D82A}">
                    <a16:rowId xmlns:a16="http://schemas.microsoft.com/office/drawing/2014/main" val="3093578847"/>
                  </a:ext>
                </a:extLst>
              </a:tr>
              <a:tr h="278802">
                <a:tc>
                  <a:txBody>
                    <a:bodyPr/>
                    <a:lstStyle/>
                    <a:p>
                      <a:r>
                        <a:rPr lang="en-US" sz="800" dirty="0"/>
                        <a:t>2050H</a:t>
                      </a:r>
                    </a:p>
                  </a:txBody>
                  <a:tcPr/>
                </a:tc>
                <a:tc>
                  <a:txBody>
                    <a:bodyPr/>
                    <a:lstStyle/>
                    <a:p>
                      <a:r>
                        <a:rPr lang="en-US" sz="800" dirty="0"/>
                        <a:t>OUT</a:t>
                      </a:r>
                    </a:p>
                  </a:txBody>
                  <a:tcPr/>
                </a:tc>
                <a:tc>
                  <a:txBody>
                    <a:bodyPr/>
                    <a:lstStyle/>
                    <a:p>
                      <a:r>
                        <a:rPr lang="en-US" sz="800" dirty="0"/>
                        <a:t>D3H</a:t>
                      </a:r>
                    </a:p>
                  </a:txBody>
                  <a:tcPr/>
                </a:tc>
                <a:extLst>
                  <a:ext uri="{0D108BD9-81ED-4DB2-BD59-A6C34878D82A}">
                    <a16:rowId xmlns:a16="http://schemas.microsoft.com/office/drawing/2014/main" val="738648293"/>
                  </a:ext>
                </a:extLst>
              </a:tr>
              <a:tr h="278802">
                <a:tc>
                  <a:txBody>
                    <a:bodyPr/>
                    <a:lstStyle/>
                    <a:p>
                      <a:r>
                        <a:rPr lang="en-US" sz="800" dirty="0"/>
                        <a:t>2051H</a:t>
                      </a:r>
                    </a:p>
                  </a:txBody>
                  <a:tcPr/>
                </a:tc>
                <a:tc>
                  <a:txBody>
                    <a:bodyPr/>
                    <a:lstStyle/>
                    <a:p>
                      <a:endParaRPr lang="en-US" sz="800" dirty="0"/>
                    </a:p>
                  </a:txBody>
                  <a:tcPr/>
                </a:tc>
                <a:tc>
                  <a:txBody>
                    <a:bodyPr/>
                    <a:lstStyle/>
                    <a:p>
                      <a:r>
                        <a:rPr lang="en-US" sz="800" dirty="0"/>
                        <a:t>20H</a:t>
                      </a:r>
                    </a:p>
                  </a:txBody>
                  <a:tcPr/>
                </a:tc>
                <a:extLst>
                  <a:ext uri="{0D108BD9-81ED-4DB2-BD59-A6C34878D82A}">
                    <a16:rowId xmlns:a16="http://schemas.microsoft.com/office/drawing/2014/main" val="259028548"/>
                  </a:ext>
                </a:extLst>
              </a:tr>
            </a:tbl>
          </a:graphicData>
        </a:graphic>
      </p:graphicFrame>
    </p:spTree>
    <p:extLst>
      <p:ext uri="{BB962C8B-B14F-4D97-AF65-F5344CB8AC3E}">
        <p14:creationId xmlns:p14="http://schemas.microsoft.com/office/powerpoint/2010/main" val="744798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4. Timing Diagram for: STA 2050H</a:t>
            </a:r>
          </a:p>
        </p:txBody>
      </p:sp>
      <p:sp>
        <p:nvSpPr>
          <p:cNvPr id="4" name="Date Placeholder 3"/>
          <p:cNvSpPr>
            <a:spLocks noGrp="1"/>
          </p:cNvSpPr>
          <p:nvPr>
            <p:ph type="dt" sz="half" idx="10"/>
          </p:nvPr>
        </p:nvSpPr>
        <p:spPr/>
        <p:txBody>
          <a:bodyPr/>
          <a:lstStyle/>
          <a:p>
            <a:fld id="{D579C79E-8E58-472F-A7C1-E23197BCF895}"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12" name="Rectangle 11">
            <a:extLst>
              <a:ext uri="{FF2B5EF4-FFF2-40B4-BE49-F238E27FC236}">
                <a16:creationId xmlns:a16="http://schemas.microsoft.com/office/drawing/2014/main" id="{F60723FE-D42D-4670-98FB-E7E6CBFB40F5}"/>
              </a:ext>
            </a:extLst>
          </p:cNvPr>
          <p:cNvSpPr/>
          <p:nvPr/>
        </p:nvSpPr>
        <p:spPr>
          <a:xfrm>
            <a:off x="6172200" y="2495550"/>
            <a:ext cx="3810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78H</a:t>
            </a:r>
          </a:p>
        </p:txBody>
      </p:sp>
      <p:pic>
        <p:nvPicPr>
          <p:cNvPr id="7" name="Picture 6">
            <a:extLst>
              <a:ext uri="{FF2B5EF4-FFF2-40B4-BE49-F238E27FC236}">
                <a16:creationId xmlns:a16="http://schemas.microsoft.com/office/drawing/2014/main" id="{8869A8C3-1893-4A9D-BB73-A180EDE76F98}"/>
              </a:ext>
            </a:extLst>
          </p:cNvPr>
          <p:cNvPicPr>
            <a:picLocks noChangeAspect="1"/>
          </p:cNvPicPr>
          <p:nvPr/>
        </p:nvPicPr>
        <p:blipFill>
          <a:blip r:embed="rId2"/>
          <a:stretch>
            <a:fillRect/>
          </a:stretch>
        </p:blipFill>
        <p:spPr>
          <a:xfrm rot="5400000">
            <a:off x="3846130" y="-242087"/>
            <a:ext cx="4164394" cy="5821746"/>
          </a:xfrm>
          <a:prstGeom prst="rect">
            <a:avLst/>
          </a:prstGeom>
        </p:spPr>
      </p:pic>
      <p:sp>
        <p:nvSpPr>
          <p:cNvPr id="10" name="Content Placeholder 2">
            <a:extLst>
              <a:ext uri="{FF2B5EF4-FFF2-40B4-BE49-F238E27FC236}">
                <a16:creationId xmlns:a16="http://schemas.microsoft.com/office/drawing/2014/main" id="{88CAA5D4-DF3A-4D54-B5F6-71E7EFDBB632}"/>
              </a:ext>
            </a:extLst>
          </p:cNvPr>
          <p:cNvSpPr>
            <a:spLocks noGrp="1"/>
          </p:cNvSpPr>
          <p:nvPr>
            <p:ph idx="1"/>
          </p:nvPr>
        </p:nvSpPr>
        <p:spPr>
          <a:xfrm>
            <a:off x="457201" y="742950"/>
            <a:ext cx="2514599" cy="3851673"/>
          </a:xfrm>
          <a:noFill/>
        </p:spPr>
        <p:txBody>
          <a:bodyPr>
            <a:normAutofit lnSpcReduction="10000"/>
          </a:bodyPr>
          <a:lstStyle/>
          <a:p>
            <a:pPr marL="457200" indent="-457200">
              <a:buFont typeface="+mj-lt"/>
              <a:buAutoNum type="arabicPeriod"/>
              <a:tabLst>
                <a:tab pos="463550" algn="l"/>
              </a:tabLst>
            </a:pPr>
            <a:r>
              <a:rPr lang="en-US" sz="1600" dirty="0"/>
              <a:t>Assume </a:t>
            </a:r>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endParaRPr lang="en-US" sz="1600" dirty="0"/>
          </a:p>
          <a:p>
            <a:pPr marL="457200" indent="-457200">
              <a:buFont typeface="+mj-lt"/>
              <a:buAutoNum type="arabicPeriod"/>
              <a:tabLst>
                <a:tab pos="463550" algn="l"/>
              </a:tabLst>
            </a:pPr>
            <a:r>
              <a:rPr lang="en-US" sz="1600" dirty="0"/>
              <a:t>The instruction copies the accumulator into the memory location 2050H. It is a 3-byte instruction and the MP needs four machine cycles (13 T-state) to complete its execution.</a:t>
            </a:r>
          </a:p>
        </p:txBody>
      </p:sp>
      <p:graphicFrame>
        <p:nvGraphicFramePr>
          <p:cNvPr id="11" name="Table 8">
            <a:extLst>
              <a:ext uri="{FF2B5EF4-FFF2-40B4-BE49-F238E27FC236}">
                <a16:creationId xmlns:a16="http://schemas.microsoft.com/office/drawing/2014/main" id="{C982B1CB-1170-4357-9FF9-21D2E4DC3849}"/>
              </a:ext>
            </a:extLst>
          </p:cNvPr>
          <p:cNvGraphicFramePr>
            <a:graphicFrameLocks noGrp="1"/>
          </p:cNvGraphicFramePr>
          <p:nvPr>
            <p:extLst>
              <p:ext uri="{D42A27DB-BD31-4B8C-83A1-F6EECF244321}">
                <p14:modId xmlns:p14="http://schemas.microsoft.com/office/powerpoint/2010/main" val="579009899"/>
              </p:ext>
            </p:extLst>
          </p:nvPr>
        </p:nvGraphicFramePr>
        <p:xfrm>
          <a:off x="792546" y="1033165"/>
          <a:ext cx="2006080" cy="1115208"/>
        </p:xfrm>
        <a:graphic>
          <a:graphicData uri="http://schemas.openxmlformats.org/drawingml/2006/table">
            <a:tbl>
              <a:tblPr firstRow="1" bandRow="1">
                <a:tableStyleId>{5C22544A-7EE6-4342-B048-85BDC9FD1C3A}</a:tableStyleId>
              </a:tblPr>
              <a:tblGrid>
                <a:gridCol w="606198">
                  <a:extLst>
                    <a:ext uri="{9D8B030D-6E8A-4147-A177-3AD203B41FA5}">
                      <a16:colId xmlns:a16="http://schemas.microsoft.com/office/drawing/2014/main" val="750132929"/>
                    </a:ext>
                  </a:extLst>
                </a:gridCol>
                <a:gridCol w="731189">
                  <a:extLst>
                    <a:ext uri="{9D8B030D-6E8A-4147-A177-3AD203B41FA5}">
                      <a16:colId xmlns:a16="http://schemas.microsoft.com/office/drawing/2014/main" val="3832551524"/>
                    </a:ext>
                  </a:extLst>
                </a:gridCol>
                <a:gridCol w="668693">
                  <a:extLst>
                    <a:ext uri="{9D8B030D-6E8A-4147-A177-3AD203B41FA5}">
                      <a16:colId xmlns:a16="http://schemas.microsoft.com/office/drawing/2014/main" val="1235501717"/>
                    </a:ext>
                  </a:extLst>
                </a:gridCol>
              </a:tblGrid>
              <a:tr h="278802">
                <a:tc>
                  <a:txBody>
                    <a:bodyPr/>
                    <a:lstStyle/>
                    <a:p>
                      <a:r>
                        <a:rPr lang="en-US" sz="800" dirty="0"/>
                        <a:t>Address</a:t>
                      </a:r>
                    </a:p>
                  </a:txBody>
                  <a:tcPr/>
                </a:tc>
                <a:tc>
                  <a:txBody>
                    <a:bodyPr/>
                    <a:lstStyle/>
                    <a:p>
                      <a:r>
                        <a:rPr lang="en-US" sz="800" dirty="0"/>
                        <a:t>Mnemonics</a:t>
                      </a:r>
                    </a:p>
                  </a:txBody>
                  <a:tcPr/>
                </a:tc>
                <a:tc>
                  <a:txBody>
                    <a:bodyPr/>
                    <a:lstStyle/>
                    <a:p>
                      <a:r>
                        <a:rPr lang="en-US" sz="800" dirty="0" err="1"/>
                        <a:t>Hexcode</a:t>
                      </a:r>
                      <a:endParaRPr lang="en-US" sz="800" dirty="0"/>
                    </a:p>
                  </a:txBody>
                  <a:tcPr/>
                </a:tc>
                <a:extLst>
                  <a:ext uri="{0D108BD9-81ED-4DB2-BD59-A6C34878D82A}">
                    <a16:rowId xmlns:a16="http://schemas.microsoft.com/office/drawing/2014/main" val="3093578847"/>
                  </a:ext>
                </a:extLst>
              </a:tr>
              <a:tr h="278802">
                <a:tc>
                  <a:txBody>
                    <a:bodyPr/>
                    <a:lstStyle/>
                    <a:p>
                      <a:r>
                        <a:rPr lang="en-US" sz="800" dirty="0"/>
                        <a:t>1080H</a:t>
                      </a:r>
                    </a:p>
                  </a:txBody>
                  <a:tcPr/>
                </a:tc>
                <a:tc>
                  <a:txBody>
                    <a:bodyPr/>
                    <a:lstStyle/>
                    <a:p>
                      <a:r>
                        <a:rPr lang="en-US" sz="800" dirty="0"/>
                        <a:t>STA</a:t>
                      </a:r>
                    </a:p>
                  </a:txBody>
                  <a:tcPr/>
                </a:tc>
                <a:tc>
                  <a:txBody>
                    <a:bodyPr/>
                    <a:lstStyle/>
                    <a:p>
                      <a:r>
                        <a:rPr lang="en-US" sz="800" dirty="0"/>
                        <a:t>32H</a:t>
                      </a:r>
                    </a:p>
                  </a:txBody>
                  <a:tcPr/>
                </a:tc>
                <a:extLst>
                  <a:ext uri="{0D108BD9-81ED-4DB2-BD59-A6C34878D82A}">
                    <a16:rowId xmlns:a16="http://schemas.microsoft.com/office/drawing/2014/main" val="738648293"/>
                  </a:ext>
                </a:extLst>
              </a:tr>
              <a:tr h="278802">
                <a:tc>
                  <a:txBody>
                    <a:bodyPr/>
                    <a:lstStyle/>
                    <a:p>
                      <a:r>
                        <a:rPr lang="en-US" sz="800" dirty="0"/>
                        <a:t>1081H</a:t>
                      </a:r>
                    </a:p>
                  </a:txBody>
                  <a:tcPr/>
                </a:tc>
                <a:tc>
                  <a:txBody>
                    <a:bodyPr/>
                    <a:lstStyle/>
                    <a:p>
                      <a:endParaRPr lang="en-US" sz="800" dirty="0"/>
                    </a:p>
                  </a:txBody>
                  <a:tcPr/>
                </a:tc>
                <a:tc>
                  <a:txBody>
                    <a:bodyPr/>
                    <a:lstStyle/>
                    <a:p>
                      <a:r>
                        <a:rPr lang="en-US" sz="800" dirty="0"/>
                        <a:t>50H</a:t>
                      </a:r>
                    </a:p>
                  </a:txBody>
                  <a:tcPr/>
                </a:tc>
                <a:extLst>
                  <a:ext uri="{0D108BD9-81ED-4DB2-BD59-A6C34878D82A}">
                    <a16:rowId xmlns:a16="http://schemas.microsoft.com/office/drawing/2014/main" val="259028548"/>
                  </a:ext>
                </a:extLst>
              </a:tr>
              <a:tr h="278802">
                <a:tc>
                  <a:txBody>
                    <a:bodyPr/>
                    <a:lstStyle/>
                    <a:p>
                      <a:r>
                        <a:rPr lang="en-US" sz="800" dirty="0"/>
                        <a:t>1082H</a:t>
                      </a:r>
                    </a:p>
                  </a:txBody>
                  <a:tcPr/>
                </a:tc>
                <a:tc>
                  <a:txBody>
                    <a:bodyPr/>
                    <a:lstStyle/>
                    <a:p>
                      <a:endParaRPr lang="en-US" sz="800" dirty="0"/>
                    </a:p>
                  </a:txBody>
                  <a:tcPr/>
                </a:tc>
                <a:tc>
                  <a:txBody>
                    <a:bodyPr/>
                    <a:lstStyle/>
                    <a:p>
                      <a:r>
                        <a:rPr lang="en-US" sz="800" dirty="0"/>
                        <a:t>20H</a:t>
                      </a:r>
                    </a:p>
                  </a:txBody>
                  <a:tcPr/>
                </a:tc>
                <a:extLst>
                  <a:ext uri="{0D108BD9-81ED-4DB2-BD59-A6C34878D82A}">
                    <a16:rowId xmlns:a16="http://schemas.microsoft.com/office/drawing/2014/main" val="2577909717"/>
                  </a:ext>
                </a:extLst>
              </a:tr>
            </a:tbl>
          </a:graphicData>
        </a:graphic>
      </p:graphicFrame>
    </p:spTree>
    <p:extLst>
      <p:ext uri="{BB962C8B-B14F-4D97-AF65-F5344CB8AC3E}">
        <p14:creationId xmlns:p14="http://schemas.microsoft.com/office/powerpoint/2010/main" val="23388858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2947F8B2-2830-4A05-AB92-5F98A004DB9E}"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9" name="Picture 8">
            <a:extLst>
              <a:ext uri="{FF2B5EF4-FFF2-40B4-BE49-F238E27FC236}">
                <a16:creationId xmlns:a16="http://schemas.microsoft.com/office/drawing/2014/main" id="{832B61AD-7666-48C3-985D-EB49D500C0F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t="26127" r="81678"/>
          <a:stretch/>
        </p:blipFill>
        <p:spPr>
          <a:xfrm rot="5400000">
            <a:off x="1224616" y="-871995"/>
            <a:ext cx="1371600" cy="3505533"/>
          </a:xfrm>
          <a:prstGeom prst="rect">
            <a:avLst/>
          </a:prstGeom>
        </p:spPr>
      </p:pic>
      <p:pic>
        <p:nvPicPr>
          <p:cNvPr id="7" name="Picture 6">
            <a:extLst>
              <a:ext uri="{FF2B5EF4-FFF2-40B4-BE49-F238E27FC236}">
                <a16:creationId xmlns:a16="http://schemas.microsoft.com/office/drawing/2014/main" id="{F74FBB9E-C0C0-452B-A45F-DA30FF1C7418}"/>
              </a:ext>
            </a:extLst>
          </p:cNvPr>
          <p:cNvPicPr>
            <a:picLocks noChangeAspect="1"/>
          </p:cNvPicPr>
          <p:nvPr/>
        </p:nvPicPr>
        <p:blipFill rotWithShape="1">
          <a:blip r:embed="rId4">
            <a:extLst>
              <a:ext uri="{BEBA8EAE-BF5A-486C-A8C5-ECC9F3942E4B}">
                <a14:imgProps xmlns:a14="http://schemas.microsoft.com/office/drawing/2010/main">
                  <a14:imgLayer r:embed="rId3">
                    <a14:imgEffect>
                      <a14:sharpenSoften amount="61000"/>
                    </a14:imgEffect>
                  </a14:imgLayer>
                </a14:imgProps>
              </a:ext>
            </a:extLst>
          </a:blip>
          <a:srcRect l="18322"/>
          <a:stretch/>
        </p:blipFill>
        <p:spPr>
          <a:xfrm>
            <a:off x="3241292" y="548877"/>
            <a:ext cx="5867400" cy="4553661"/>
          </a:xfrm>
          <a:prstGeom prst="rect">
            <a:avLst/>
          </a:prstGeom>
        </p:spPr>
      </p:pic>
    </p:spTree>
    <p:extLst>
      <p:ext uri="{BB962C8B-B14F-4D97-AF65-F5344CB8AC3E}">
        <p14:creationId xmlns:p14="http://schemas.microsoft.com/office/powerpoint/2010/main" val="30332521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258513CA-83B3-4A7D-8381-FD6678BA278C}"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5090DCDF-2350-49B8-AB49-7D51550DB4B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r="76957"/>
          <a:stretch/>
        </p:blipFill>
        <p:spPr>
          <a:xfrm rot="5190031">
            <a:off x="1426341" y="-1173507"/>
            <a:ext cx="1338697" cy="3964661"/>
          </a:xfrm>
          <a:prstGeom prst="rect">
            <a:avLst/>
          </a:prstGeom>
        </p:spPr>
      </p:pic>
      <p:pic>
        <p:nvPicPr>
          <p:cNvPr id="8" name="Picture 7">
            <a:extLst>
              <a:ext uri="{FF2B5EF4-FFF2-40B4-BE49-F238E27FC236}">
                <a16:creationId xmlns:a16="http://schemas.microsoft.com/office/drawing/2014/main" id="{6BED6E2A-872D-48BC-BE92-527B9AF106E0}"/>
              </a:ext>
            </a:extLst>
          </p:cNvPr>
          <p:cNvPicPr>
            <a:picLocks noChangeAspect="1"/>
          </p:cNvPicPr>
          <p:nvPr/>
        </p:nvPicPr>
        <p:blipFill rotWithShape="1">
          <a:blip r:embed="rId4">
            <a:extLst>
              <a:ext uri="{BEBA8EAE-BF5A-486C-A8C5-ECC9F3942E4B}">
                <a14:imgProps xmlns:a14="http://schemas.microsoft.com/office/drawing/2010/main">
                  <a14:imgLayer r:embed="rId3">
                    <a14:imgEffect>
                      <a14:sharpenSoften amount="61000"/>
                    </a14:imgEffect>
                  </a14:imgLayer>
                </a14:imgProps>
              </a:ext>
            </a:extLst>
          </a:blip>
          <a:srcRect l="21170"/>
          <a:stretch/>
        </p:blipFill>
        <p:spPr>
          <a:xfrm>
            <a:off x="4076700" y="649741"/>
            <a:ext cx="4953000" cy="4287780"/>
          </a:xfrm>
          <a:prstGeom prst="rect">
            <a:avLst/>
          </a:prstGeom>
        </p:spPr>
      </p:pic>
    </p:spTree>
    <p:extLst>
      <p:ext uri="{BB962C8B-B14F-4D97-AF65-F5344CB8AC3E}">
        <p14:creationId xmlns:p14="http://schemas.microsoft.com/office/powerpoint/2010/main" val="36681869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The flow of an Instruction in 8085 architecture</a:t>
            </a:r>
          </a:p>
        </p:txBody>
      </p:sp>
      <p:sp>
        <p:nvSpPr>
          <p:cNvPr id="3" name="Content Placeholder 2"/>
          <p:cNvSpPr>
            <a:spLocks noGrp="1"/>
          </p:cNvSpPr>
          <p:nvPr>
            <p:ph idx="1"/>
          </p:nvPr>
        </p:nvSpPr>
        <p:spPr>
          <a:xfrm>
            <a:off x="457200" y="742950"/>
            <a:ext cx="8229600" cy="3851673"/>
          </a:xfrm>
          <a:noFill/>
        </p:spPr>
        <p:txBody>
          <a:bodyPr>
            <a:normAutofit fontScale="92500" lnSpcReduction="20000"/>
          </a:bodyPr>
          <a:lstStyle/>
          <a:p>
            <a:pPr marL="457200" indent="-457200">
              <a:buFont typeface="+mj-lt"/>
              <a:buAutoNum type="arabicPeriod"/>
              <a:tabLst>
                <a:tab pos="463550" algn="l"/>
              </a:tabLst>
            </a:pPr>
            <a:r>
              <a:rPr lang="en-US" sz="1600" dirty="0"/>
              <a:t>Execution starts with PC. It starts the program execution with next address field. It fetches the instruction from the memory location pointed by PC.</a:t>
            </a:r>
          </a:p>
          <a:p>
            <a:pPr marL="457200" indent="-457200">
              <a:buFont typeface="+mj-lt"/>
              <a:buAutoNum type="arabicPeriod"/>
              <a:tabLst>
                <a:tab pos="463550" algn="l"/>
              </a:tabLst>
            </a:pPr>
            <a:r>
              <a:rPr lang="en-US" sz="1600" dirty="0"/>
              <a:t>For address fetching from memory, multiplexed address/data bus acts as an address bus and after fetching instruction, this address bus will now act as a data bus and extract data from the specified memory location, and send this data on an 8-bit internal bus. For multiplexed address/data bus, address Latch Enable (ALE) pin is used. This allows the input address to be entered to a register. If ALE=1, multiplexed bus is address bus, otherwise it acts as Data bus.</a:t>
            </a:r>
          </a:p>
          <a:p>
            <a:pPr marL="457200" indent="-457200">
              <a:buFont typeface="+mj-lt"/>
              <a:buAutoNum type="arabicPeriod"/>
              <a:tabLst>
                <a:tab pos="463550" algn="l"/>
              </a:tabLst>
            </a:pPr>
            <a:r>
              <a:rPr lang="en-US" sz="1600" dirty="0"/>
              <a:t>After data fetching, it will go into the IR. It will store data fetched from memory and data is now ready for decoding. (Instruction decoder is used)</a:t>
            </a:r>
          </a:p>
          <a:p>
            <a:pPr marL="457200" indent="-457200">
              <a:buFont typeface="+mj-lt"/>
              <a:buAutoNum type="arabicPeriod"/>
              <a:tabLst>
                <a:tab pos="463550" algn="l"/>
              </a:tabLst>
            </a:pPr>
            <a:r>
              <a:rPr lang="en-US" sz="1600" dirty="0"/>
              <a:t>After that, Timing and control comes into the account. It sends control signals to all over the microprocessor to tell it whether the given instruction is for READ/WRITE, and whether it is for Memory of IO devices activity.</a:t>
            </a:r>
          </a:p>
          <a:p>
            <a:pPr marL="457200" indent="-457200">
              <a:buFont typeface="+mj-lt"/>
              <a:buAutoNum type="arabicPeriod"/>
              <a:tabLst>
                <a:tab pos="463550" algn="l"/>
              </a:tabLst>
            </a:pPr>
            <a:r>
              <a:rPr lang="en-US" sz="1600" dirty="0"/>
              <a:t>According to the timing and control signal pins, logical and arithmetic operations are performed (ALU).</a:t>
            </a:r>
          </a:p>
          <a:p>
            <a:pPr marL="457200" indent="-457200">
              <a:buFont typeface="+mj-lt"/>
              <a:buAutoNum type="arabicPeriod"/>
              <a:tabLst>
                <a:tab pos="463550" algn="l"/>
              </a:tabLst>
            </a:pPr>
            <a:r>
              <a:rPr lang="en-US" sz="1600" dirty="0"/>
              <a:t>With the help of Serial I/O data pin (SID and SOD), we can send or receive input/output to external devices. In this way, execution  cycle is carried out.</a:t>
            </a:r>
          </a:p>
          <a:p>
            <a:pPr marL="457200" indent="-457200">
              <a:buFont typeface="+mj-lt"/>
              <a:buAutoNum type="arabicPeriod"/>
              <a:tabLst>
                <a:tab pos="463550" algn="l"/>
              </a:tabLst>
            </a:pPr>
            <a:r>
              <a:rPr lang="en-US" sz="1600" dirty="0"/>
              <a:t>While execution is going on if there is any interrupt detected, then it will stop execution of the current process and invoke  ISR (Interrupt service routine) function, which will stop the current execution and do the execution of current occurred interrupt.</a:t>
            </a:r>
          </a:p>
        </p:txBody>
      </p:sp>
      <p:sp>
        <p:nvSpPr>
          <p:cNvPr id="4" name="Date Placeholder 3"/>
          <p:cNvSpPr>
            <a:spLocks noGrp="1"/>
          </p:cNvSpPr>
          <p:nvPr>
            <p:ph type="dt" sz="half" idx="10"/>
          </p:nvPr>
        </p:nvSpPr>
        <p:spPr/>
        <p:txBody>
          <a:bodyPr/>
          <a:lstStyle/>
          <a:p>
            <a:fld id="{49793C09-5E40-4F86-81C5-43E99C63E9E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39763133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4400" b="1" dirty="0">
              <a:solidFill>
                <a:srgbClr val="FF0000"/>
              </a:solidFill>
            </a:endParaRPr>
          </a:p>
          <a:p>
            <a:pPr marL="0" indent="0" algn="ctr">
              <a:buNone/>
              <a:tabLst>
                <a:tab pos="463550" algn="l"/>
              </a:tabLst>
            </a:pPr>
            <a:r>
              <a:rPr lang="en-US" sz="4400" b="1" dirty="0">
                <a:solidFill>
                  <a:srgbClr val="FF0000"/>
                </a:solidFill>
              </a:rPr>
              <a:t>5. Basic Assembly language programs of 8085</a:t>
            </a:r>
            <a:endParaRPr lang="en-US" sz="4400" dirty="0"/>
          </a:p>
        </p:txBody>
      </p:sp>
      <p:sp>
        <p:nvSpPr>
          <p:cNvPr id="4" name="Date Placeholder 3"/>
          <p:cNvSpPr>
            <a:spLocks noGrp="1"/>
          </p:cNvSpPr>
          <p:nvPr>
            <p:ph type="dt" sz="half" idx="10"/>
          </p:nvPr>
        </p:nvSpPr>
        <p:spPr/>
        <p:txBody>
          <a:bodyPr/>
          <a:lstStyle/>
          <a:p>
            <a:fld id="{F372A872-1AD2-4F3B-8784-D988E6F6E1B9}"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7498028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1800" b="1" dirty="0">
                <a:solidFill>
                  <a:srgbClr val="FF0000"/>
                </a:solidFill>
              </a:rPr>
              <a:t>1. Write an ALP for 8085 MP to store an immediate 8-bit data in memory location 2051H using direct addressing.</a:t>
            </a:r>
          </a:p>
        </p:txBody>
      </p:sp>
      <p:sp>
        <p:nvSpPr>
          <p:cNvPr id="3" name="Content Placeholder 2"/>
          <p:cNvSpPr>
            <a:spLocks noGrp="1"/>
          </p:cNvSpPr>
          <p:nvPr>
            <p:ph idx="1"/>
          </p:nvPr>
        </p:nvSpPr>
        <p:spPr>
          <a:xfrm>
            <a:off x="457200" y="742950"/>
            <a:ext cx="8229600" cy="3851673"/>
          </a:xfrm>
          <a:noFill/>
        </p:spPr>
        <p:txBody>
          <a:bodyPr>
            <a:normAutofit/>
          </a:bodyPr>
          <a:lstStyle/>
          <a:p>
            <a:pPr marL="0" indent="0">
              <a:buNone/>
              <a:tabLst>
                <a:tab pos="1493838" algn="l"/>
              </a:tabLst>
            </a:pPr>
            <a:r>
              <a:rPr lang="en-US" sz="2000" dirty="0"/>
              <a:t>MVI A,49H      ; "Store 49H in the accumulator"  </a:t>
            </a:r>
          </a:p>
          <a:p>
            <a:pPr marL="0" indent="0">
              <a:buNone/>
              <a:tabLst>
                <a:tab pos="1493838" algn="l"/>
              </a:tabLst>
            </a:pPr>
            <a:r>
              <a:rPr lang="en-US" sz="2000" dirty="0"/>
              <a:t>STA 2501H       ;"Copy accumulator contents at address 2501H"  </a:t>
            </a:r>
          </a:p>
          <a:p>
            <a:pPr marL="0" indent="0">
              <a:buNone/>
              <a:tabLst>
                <a:tab pos="1493838" algn="l"/>
              </a:tabLst>
            </a:pPr>
            <a:r>
              <a:rPr lang="en-US" sz="2000" dirty="0"/>
              <a:t>HLT             	; "Stop"  </a:t>
            </a:r>
          </a:p>
          <a:p>
            <a:pPr marL="457200" indent="-457200">
              <a:buFont typeface="+mj-lt"/>
              <a:buAutoNum type="arabicPeriod"/>
              <a:tabLst>
                <a:tab pos="1493838" algn="l"/>
              </a:tabLst>
            </a:pPr>
            <a:endParaRPr lang="en-US" sz="2000" dirty="0"/>
          </a:p>
        </p:txBody>
      </p:sp>
      <p:sp>
        <p:nvSpPr>
          <p:cNvPr id="4" name="Date Placeholder 3"/>
          <p:cNvSpPr>
            <a:spLocks noGrp="1"/>
          </p:cNvSpPr>
          <p:nvPr>
            <p:ph type="dt" sz="half" idx="10"/>
          </p:nvPr>
        </p:nvSpPr>
        <p:spPr/>
        <p:txBody>
          <a:bodyPr/>
          <a:lstStyle/>
          <a:p>
            <a:fld id="{3C7A1C1C-EB83-4F19-9661-F8658FDB690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8" name="Explosion: 8 Points 7">
            <a:extLst>
              <a:ext uri="{FF2B5EF4-FFF2-40B4-BE49-F238E27FC236}">
                <a16:creationId xmlns:a16="http://schemas.microsoft.com/office/drawing/2014/main" id="{4E4B8E28-3818-4198-AFDC-30403FD2FB40}"/>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40861989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1800" b="1" dirty="0">
                <a:solidFill>
                  <a:srgbClr val="FF0000"/>
                </a:solidFill>
              </a:rPr>
              <a:t>2. Write an ALP for 8085 MP to store 8-bit data in memory 2501H using indirect addressing.</a:t>
            </a:r>
          </a:p>
        </p:txBody>
      </p:sp>
      <p:sp>
        <p:nvSpPr>
          <p:cNvPr id="3" name="Content Placeholder 2"/>
          <p:cNvSpPr>
            <a:spLocks noGrp="1"/>
          </p:cNvSpPr>
          <p:nvPr>
            <p:ph idx="1"/>
          </p:nvPr>
        </p:nvSpPr>
        <p:spPr>
          <a:xfrm>
            <a:off x="457200" y="742950"/>
            <a:ext cx="8229600" cy="3851673"/>
          </a:xfrm>
          <a:noFill/>
        </p:spPr>
        <p:txBody>
          <a:bodyPr>
            <a:normAutofit/>
          </a:bodyPr>
          <a:lstStyle/>
          <a:p>
            <a:pPr marL="0" indent="0">
              <a:buNone/>
              <a:tabLst>
                <a:tab pos="808038" algn="l"/>
                <a:tab pos="1371600" algn="l"/>
              </a:tabLst>
            </a:pPr>
            <a:r>
              <a:rPr lang="en-US" sz="1600" dirty="0"/>
              <a:t>LXI H,2501H      	; "Load H-L pair with 2501H"  </a:t>
            </a:r>
          </a:p>
          <a:p>
            <a:pPr marL="0" indent="0">
              <a:buNone/>
              <a:tabLst>
                <a:tab pos="808038" algn="l"/>
                <a:tab pos="1371600" algn="l"/>
              </a:tabLst>
            </a:pPr>
            <a:r>
              <a:rPr lang="en-US" sz="1600" dirty="0"/>
              <a:t>MVI M,49H	;  "Store 49H in memory location pointed by H-L register pair (2501H)"  </a:t>
            </a:r>
          </a:p>
          <a:p>
            <a:pPr marL="0" indent="0">
              <a:buNone/>
              <a:tabLst>
                <a:tab pos="808038" algn="l"/>
                <a:tab pos="1371600" algn="l"/>
              </a:tabLst>
            </a:pPr>
            <a:r>
              <a:rPr lang="en-US" sz="1600" dirty="0"/>
              <a:t>HLT         		;  "Stop"  </a:t>
            </a:r>
          </a:p>
        </p:txBody>
      </p:sp>
      <p:sp>
        <p:nvSpPr>
          <p:cNvPr id="4" name="Date Placeholder 3"/>
          <p:cNvSpPr>
            <a:spLocks noGrp="1"/>
          </p:cNvSpPr>
          <p:nvPr>
            <p:ph type="dt" sz="half" idx="10"/>
          </p:nvPr>
        </p:nvSpPr>
        <p:spPr/>
        <p:txBody>
          <a:bodyPr/>
          <a:lstStyle/>
          <a:p>
            <a:fld id="{FCB02DF4-DFB3-4053-ABE1-4CF6AB5CC4E5}"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Explosion: 8 Points 6">
            <a:extLst>
              <a:ext uri="{FF2B5EF4-FFF2-40B4-BE49-F238E27FC236}">
                <a16:creationId xmlns:a16="http://schemas.microsoft.com/office/drawing/2014/main" id="{69B6BA5A-8FD3-4F0E-895C-7A55241DD92F}"/>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39523249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1800" b="1" dirty="0">
                <a:solidFill>
                  <a:srgbClr val="FF0000"/>
                </a:solidFill>
              </a:rPr>
              <a:t>3. Write an ALP for adding two 8-bit numbers  02H and 03H using immediate addressing . The result is to be stored in 1050 H.</a:t>
            </a:r>
          </a:p>
        </p:txBody>
      </p:sp>
      <p:sp>
        <p:nvSpPr>
          <p:cNvPr id="3" name="Content Placeholder 2"/>
          <p:cNvSpPr>
            <a:spLocks noGrp="1"/>
          </p:cNvSpPr>
          <p:nvPr>
            <p:ph idx="1"/>
          </p:nvPr>
        </p:nvSpPr>
        <p:spPr>
          <a:xfrm>
            <a:off x="457200" y="742950"/>
            <a:ext cx="8229600" cy="3851673"/>
          </a:xfrm>
          <a:noFill/>
        </p:spPr>
        <p:txBody>
          <a:bodyPr>
            <a:normAutofit/>
          </a:bodyPr>
          <a:lstStyle/>
          <a:p>
            <a:pPr marL="0" indent="0">
              <a:buNone/>
              <a:tabLst>
                <a:tab pos="1311275" algn="l"/>
              </a:tabLst>
            </a:pPr>
            <a:r>
              <a:rPr lang="en-US" sz="1800" dirty="0"/>
              <a:t>MVI A, 02H  	; “Get the first number and move to accumulator”</a:t>
            </a:r>
          </a:p>
          <a:p>
            <a:pPr marL="0" indent="0">
              <a:buNone/>
              <a:tabLst>
                <a:tab pos="1311275" algn="l"/>
              </a:tabLst>
            </a:pPr>
            <a:r>
              <a:rPr lang="en-US" sz="1800" dirty="0"/>
              <a:t>MVI B, 03H     ;  “Get the second number and move to register B"  </a:t>
            </a:r>
          </a:p>
          <a:p>
            <a:pPr marL="0" indent="0">
              <a:buNone/>
              <a:tabLst>
                <a:tab pos="1311275" algn="l"/>
              </a:tabLst>
            </a:pPr>
            <a:r>
              <a:rPr lang="en-US" sz="1800" dirty="0"/>
              <a:t>ADD B        	; "Add the second number with the content of accumulator"  </a:t>
            </a:r>
          </a:p>
          <a:p>
            <a:pPr marL="0" indent="0">
              <a:buNone/>
              <a:tabLst>
                <a:tab pos="1311275" algn="l"/>
              </a:tabLst>
            </a:pPr>
            <a:r>
              <a:rPr lang="en-US" sz="1800" dirty="0"/>
              <a:t>STA 1050H      	;  "Store result at 1050H"  </a:t>
            </a:r>
          </a:p>
          <a:p>
            <a:pPr marL="0" indent="0">
              <a:buNone/>
              <a:tabLst>
                <a:tab pos="1311275" algn="l"/>
              </a:tabLst>
            </a:pPr>
            <a:r>
              <a:rPr lang="en-US" sz="1800" dirty="0"/>
              <a:t>HLT          	;  "Stop" </a:t>
            </a:r>
          </a:p>
        </p:txBody>
      </p:sp>
      <p:sp>
        <p:nvSpPr>
          <p:cNvPr id="4" name="Date Placeholder 3"/>
          <p:cNvSpPr>
            <a:spLocks noGrp="1"/>
          </p:cNvSpPr>
          <p:nvPr>
            <p:ph type="dt" sz="half" idx="10"/>
          </p:nvPr>
        </p:nvSpPr>
        <p:spPr/>
        <p:txBody>
          <a:bodyPr/>
          <a:lstStyle/>
          <a:p>
            <a:fld id="{3DABF3D7-BB22-4827-847D-A4ECBCA1D693}"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Explosion: 8 Points 6">
            <a:extLst>
              <a:ext uri="{FF2B5EF4-FFF2-40B4-BE49-F238E27FC236}">
                <a16:creationId xmlns:a16="http://schemas.microsoft.com/office/drawing/2014/main" id="{A8BA6D5B-B3CE-4832-96CD-09B730EA1FAA}"/>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468394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001000" cy="460771"/>
          </a:xfrm>
          <a:noFill/>
        </p:spPr>
        <p:txBody>
          <a:bodyPr>
            <a:noAutofit/>
          </a:bodyPr>
          <a:lstStyle/>
          <a:p>
            <a:pPr algn="l"/>
            <a:r>
              <a:rPr lang="en-US" sz="1800" b="1" dirty="0">
                <a:solidFill>
                  <a:srgbClr val="FF0000"/>
                </a:solidFill>
              </a:rPr>
              <a:t>4. Write an ALP for adding two 8-bit numbers stored in 2501H and 2502H. The result is to be stored in 2503H.</a:t>
            </a:r>
          </a:p>
        </p:txBody>
      </p:sp>
      <p:sp>
        <p:nvSpPr>
          <p:cNvPr id="3" name="Content Placeholder 2"/>
          <p:cNvSpPr>
            <a:spLocks noGrp="1"/>
          </p:cNvSpPr>
          <p:nvPr>
            <p:ph idx="1"/>
          </p:nvPr>
        </p:nvSpPr>
        <p:spPr>
          <a:xfrm>
            <a:off x="457200" y="742950"/>
            <a:ext cx="6248400" cy="3851673"/>
          </a:xfrm>
          <a:noFill/>
        </p:spPr>
        <p:txBody>
          <a:bodyPr>
            <a:normAutofit/>
          </a:bodyPr>
          <a:lstStyle/>
          <a:p>
            <a:pPr marL="0" indent="0">
              <a:buNone/>
              <a:tabLst>
                <a:tab pos="1027113" algn="l"/>
              </a:tabLst>
            </a:pPr>
            <a:r>
              <a:rPr lang="en-US" sz="1400" dirty="0"/>
              <a:t>LXI H, 2501H  	; "Get address of first number in H-L pair. Now H-L points to 2501H"  </a:t>
            </a:r>
          </a:p>
          <a:p>
            <a:pPr marL="0" indent="0">
              <a:buNone/>
              <a:tabLst>
                <a:tab pos="1027113" algn="l"/>
              </a:tabLst>
            </a:pPr>
            <a:r>
              <a:rPr lang="en-US" sz="1400" dirty="0"/>
              <a:t>MOV A, M      	; "Get first operand in accumulator"  </a:t>
            </a:r>
          </a:p>
          <a:p>
            <a:pPr marL="0" indent="0">
              <a:buNone/>
              <a:tabLst>
                <a:tab pos="1027113" algn="l"/>
              </a:tabLst>
            </a:pPr>
            <a:r>
              <a:rPr lang="en-US" sz="1400" dirty="0"/>
              <a:t>INX H         	; "Increment content of H-L pair. Now, H-L points 2502H"  </a:t>
            </a:r>
          </a:p>
          <a:p>
            <a:pPr marL="0" indent="0">
              <a:buNone/>
              <a:tabLst>
                <a:tab pos="1027113" algn="l"/>
              </a:tabLst>
            </a:pPr>
            <a:r>
              <a:rPr lang="en-US" sz="1400" dirty="0"/>
              <a:t>ADD M         	;  "Add first and second operand"  </a:t>
            </a:r>
          </a:p>
          <a:p>
            <a:pPr marL="0" indent="0">
              <a:buNone/>
              <a:tabLst>
                <a:tab pos="1027113" algn="l"/>
              </a:tabLst>
            </a:pPr>
            <a:r>
              <a:rPr lang="en-US" sz="1400" dirty="0"/>
              <a:t>INX H         	;  "H-L points 2503H"  </a:t>
            </a:r>
          </a:p>
          <a:p>
            <a:pPr marL="0" indent="0">
              <a:buNone/>
              <a:tabLst>
                <a:tab pos="1027113" algn="l"/>
              </a:tabLst>
            </a:pPr>
            <a:r>
              <a:rPr lang="en-US" sz="1400" dirty="0"/>
              <a:t>MOV M, A       ;  "Store result at 2503H"  </a:t>
            </a:r>
          </a:p>
          <a:p>
            <a:pPr marL="0" indent="0">
              <a:buNone/>
              <a:tabLst>
                <a:tab pos="1027113" algn="l"/>
              </a:tabLst>
            </a:pPr>
            <a:r>
              <a:rPr lang="en-US" sz="1400" dirty="0"/>
              <a:t>HLT          	; "Stop" </a:t>
            </a:r>
          </a:p>
        </p:txBody>
      </p:sp>
      <p:sp>
        <p:nvSpPr>
          <p:cNvPr id="4" name="Date Placeholder 3"/>
          <p:cNvSpPr>
            <a:spLocks noGrp="1"/>
          </p:cNvSpPr>
          <p:nvPr>
            <p:ph type="dt" sz="half" idx="10"/>
          </p:nvPr>
        </p:nvSpPr>
        <p:spPr/>
        <p:txBody>
          <a:bodyPr/>
          <a:lstStyle/>
          <a:p>
            <a:fld id="{F5467DE5-DDC8-4F85-A56C-0CFA2AF5C56A}"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Explosion: 8 Points 6">
            <a:extLst>
              <a:ext uri="{FF2B5EF4-FFF2-40B4-BE49-F238E27FC236}">
                <a16:creationId xmlns:a16="http://schemas.microsoft.com/office/drawing/2014/main" id="{3B66798E-52DA-44C4-BEE5-42FFB7B66723}"/>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20855894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1800" b="1" dirty="0">
                <a:solidFill>
                  <a:srgbClr val="FF0000"/>
                </a:solidFill>
              </a:rPr>
              <a:t>5. Write an ALP for subtracting two 8-bit numbers stored in 2501H and 2502H. The result is to be stored in 2503H.</a:t>
            </a:r>
          </a:p>
        </p:txBody>
      </p:sp>
      <p:sp>
        <p:nvSpPr>
          <p:cNvPr id="3" name="Content Placeholder 2"/>
          <p:cNvSpPr>
            <a:spLocks noGrp="1"/>
          </p:cNvSpPr>
          <p:nvPr>
            <p:ph idx="1"/>
          </p:nvPr>
        </p:nvSpPr>
        <p:spPr>
          <a:xfrm>
            <a:off x="457200" y="742950"/>
            <a:ext cx="5486400" cy="3851673"/>
          </a:xfrm>
          <a:noFill/>
        </p:spPr>
        <p:txBody>
          <a:bodyPr>
            <a:normAutofit/>
          </a:bodyPr>
          <a:lstStyle/>
          <a:p>
            <a:pPr marL="0" indent="0">
              <a:buNone/>
              <a:tabLst>
                <a:tab pos="914400" algn="l"/>
              </a:tabLst>
            </a:pPr>
            <a:r>
              <a:rPr lang="en-US" sz="1200" dirty="0"/>
              <a:t>LXI H, 2501H   ;  "Get address of first number in H-L pair. Now H-L points to 2501H"  </a:t>
            </a:r>
          </a:p>
          <a:p>
            <a:pPr marL="0" indent="0">
              <a:buNone/>
              <a:tabLst>
                <a:tab pos="914400" algn="l"/>
              </a:tabLst>
            </a:pPr>
            <a:r>
              <a:rPr lang="en-US" sz="1200" dirty="0"/>
              <a:t>MOV A, M       ;  "Get first operand in accumulator"  </a:t>
            </a:r>
          </a:p>
          <a:p>
            <a:pPr marL="0" indent="0">
              <a:buNone/>
              <a:tabLst>
                <a:tab pos="914400" algn="l"/>
              </a:tabLst>
            </a:pPr>
            <a:r>
              <a:rPr lang="en-US" sz="1200" dirty="0"/>
              <a:t>INX H          	;  "Increment content of H-L pair. Now, H-L points 2502H"  </a:t>
            </a:r>
          </a:p>
          <a:p>
            <a:pPr marL="0" indent="0">
              <a:buNone/>
              <a:tabLst>
                <a:tab pos="914400" algn="l"/>
              </a:tabLst>
            </a:pPr>
            <a:r>
              <a:rPr lang="en-US" sz="1200" dirty="0"/>
              <a:t>SUB M          	;  "Subtract first to second operand"  </a:t>
            </a:r>
          </a:p>
          <a:p>
            <a:pPr marL="0" indent="0">
              <a:buNone/>
              <a:tabLst>
                <a:tab pos="914400" algn="l"/>
              </a:tabLst>
            </a:pPr>
            <a:r>
              <a:rPr lang="en-US" sz="1200" dirty="0"/>
              <a:t>INX H          	;  "H-L points 2503H"  </a:t>
            </a:r>
          </a:p>
          <a:p>
            <a:pPr marL="0" indent="0">
              <a:buNone/>
              <a:tabLst>
                <a:tab pos="914400" algn="l"/>
              </a:tabLst>
            </a:pPr>
            <a:r>
              <a:rPr lang="en-US" sz="1200" dirty="0"/>
              <a:t>MOV M, A       	;  "Store result at 2503H"  </a:t>
            </a:r>
          </a:p>
          <a:p>
            <a:pPr marL="0" indent="0">
              <a:buNone/>
              <a:tabLst>
                <a:tab pos="914400" algn="l"/>
              </a:tabLst>
            </a:pPr>
            <a:r>
              <a:rPr lang="en-US" sz="1200" dirty="0"/>
              <a:t>HLT            	;  "Stop"</a:t>
            </a:r>
          </a:p>
        </p:txBody>
      </p:sp>
      <p:sp>
        <p:nvSpPr>
          <p:cNvPr id="4" name="Date Placeholder 3"/>
          <p:cNvSpPr>
            <a:spLocks noGrp="1"/>
          </p:cNvSpPr>
          <p:nvPr>
            <p:ph type="dt" sz="half" idx="10"/>
          </p:nvPr>
        </p:nvSpPr>
        <p:spPr/>
        <p:txBody>
          <a:bodyPr/>
          <a:lstStyle/>
          <a:p>
            <a:fld id="{82365DBC-3F84-40C3-8B83-9B0FE243444E}"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Explosion: 8 Points 6">
            <a:extLst>
              <a:ext uri="{FF2B5EF4-FFF2-40B4-BE49-F238E27FC236}">
                <a16:creationId xmlns:a16="http://schemas.microsoft.com/office/drawing/2014/main" id="{B439EEAB-6311-4077-9971-9B211548B70C}"/>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24458641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1800" b="1" dirty="0">
                <a:solidFill>
                  <a:srgbClr val="FF0000"/>
                </a:solidFill>
              </a:rPr>
              <a:t>6. Write an assembly language program to add two 8-bit numbers (F1 and 15), stored at C050H and C051H, with carry.</a:t>
            </a:r>
          </a:p>
        </p:txBody>
      </p:sp>
      <p:sp>
        <p:nvSpPr>
          <p:cNvPr id="3" name="Content Placeholder 2"/>
          <p:cNvSpPr>
            <a:spLocks noGrp="1"/>
          </p:cNvSpPr>
          <p:nvPr>
            <p:ph idx="1"/>
          </p:nvPr>
        </p:nvSpPr>
        <p:spPr>
          <a:xfrm>
            <a:off x="457200" y="742951"/>
            <a:ext cx="6172200" cy="3467159"/>
          </a:xfrm>
          <a:noFill/>
        </p:spPr>
        <p:txBody>
          <a:bodyPr>
            <a:normAutofit/>
          </a:bodyPr>
          <a:lstStyle/>
          <a:p>
            <a:pPr marL="0" indent="0">
              <a:buNone/>
              <a:tabLst>
                <a:tab pos="569913" algn="l"/>
                <a:tab pos="622300" algn="l"/>
                <a:tab pos="1371600" algn="l"/>
              </a:tabLst>
            </a:pPr>
            <a:r>
              <a:rPr lang="en-US" sz="1100" dirty="0"/>
              <a:t>	LXI H, C050H  ; "Get address of first number in H-L pair. Now H-L points to C050H"  </a:t>
            </a:r>
          </a:p>
          <a:p>
            <a:pPr marL="0" indent="0">
              <a:buNone/>
              <a:tabLst>
                <a:tab pos="569913" algn="l"/>
                <a:tab pos="622300" algn="l"/>
                <a:tab pos="1371600" algn="l"/>
              </a:tabLst>
            </a:pPr>
            <a:r>
              <a:rPr lang="en-US" sz="1100" dirty="0"/>
              <a:t>	MOV A, M      	 ;  "Get first operand in accumulator from C050H"  </a:t>
            </a:r>
          </a:p>
          <a:p>
            <a:pPr marL="0" indent="0">
              <a:buNone/>
              <a:tabLst>
                <a:tab pos="569913" algn="l"/>
                <a:tab pos="622300" algn="l"/>
                <a:tab pos="1371600" algn="l"/>
              </a:tabLst>
            </a:pPr>
            <a:r>
              <a:rPr lang="en-US" sz="1100" dirty="0"/>
              <a:t>	INX H         	 ;  "Increment content of H-L pair. Now, H-L points C051H"  </a:t>
            </a:r>
          </a:p>
          <a:p>
            <a:pPr marL="0" indent="0">
              <a:buNone/>
              <a:tabLst>
                <a:tab pos="569913" algn="l"/>
                <a:tab pos="622300" algn="l"/>
                <a:tab pos="1371600" algn="l"/>
              </a:tabLst>
            </a:pPr>
            <a:r>
              <a:rPr lang="en-US" sz="1100" dirty="0"/>
              <a:t>	MVI B, 00H	 ; “Initialize Register B with 00H for carry store”</a:t>
            </a:r>
          </a:p>
          <a:p>
            <a:pPr marL="0" indent="0">
              <a:buNone/>
              <a:tabLst>
                <a:tab pos="569913" algn="l"/>
                <a:tab pos="622300" algn="l"/>
                <a:tab pos="1371600" algn="l"/>
              </a:tabLst>
            </a:pPr>
            <a:r>
              <a:rPr lang="en-US" sz="1100" dirty="0"/>
              <a:t>	ADD M         	 ;  "Add first and second operand, result stored in Acc"  </a:t>
            </a:r>
          </a:p>
          <a:p>
            <a:pPr marL="0" indent="0">
              <a:buNone/>
              <a:tabLst>
                <a:tab pos="569913" algn="l"/>
                <a:tab pos="622300" algn="l"/>
                <a:tab pos="1371600" algn="l"/>
              </a:tabLst>
            </a:pPr>
            <a:r>
              <a:rPr lang="en-US" sz="1100" dirty="0"/>
              <a:t>	JNC label	 ; “Jump to label if no carry”</a:t>
            </a:r>
          </a:p>
          <a:p>
            <a:pPr marL="0" indent="0">
              <a:buNone/>
              <a:tabLst>
                <a:tab pos="569913" algn="l"/>
                <a:tab pos="622300" algn="l"/>
                <a:tab pos="1371600" algn="l"/>
              </a:tabLst>
            </a:pPr>
            <a:r>
              <a:rPr lang="en-US" sz="1100" dirty="0"/>
              <a:t>	INR B	 ; “Increment content of B by 1”</a:t>
            </a:r>
          </a:p>
          <a:p>
            <a:pPr marL="0" indent="0">
              <a:buNone/>
              <a:tabLst>
                <a:tab pos="569913" algn="l"/>
                <a:tab pos="622300" algn="l"/>
                <a:tab pos="1371600" algn="l"/>
              </a:tabLst>
            </a:pPr>
            <a:r>
              <a:rPr lang="en-US" sz="1100"/>
              <a:t>label:</a:t>
            </a:r>
            <a:r>
              <a:rPr lang="en-US" sz="1100" dirty="0"/>
              <a:t>	STA C053H	 ; “Store the content of Acc to C053H”</a:t>
            </a:r>
          </a:p>
          <a:p>
            <a:pPr marL="400050" lvl="1" indent="0">
              <a:buNone/>
              <a:tabLst>
                <a:tab pos="569913" algn="l"/>
                <a:tab pos="622300" algn="l"/>
                <a:tab pos="1371600" algn="l"/>
              </a:tabLst>
            </a:pPr>
            <a:r>
              <a:rPr lang="en-US" sz="1100" dirty="0"/>
              <a:t>	MOV  A, B      	 ;  “Move carry at Acc"  </a:t>
            </a:r>
          </a:p>
          <a:p>
            <a:pPr marL="400050" lvl="1" indent="0">
              <a:buNone/>
              <a:tabLst>
                <a:tab pos="569913" algn="l"/>
                <a:tab pos="622300" algn="l"/>
                <a:tab pos="1371600" algn="l"/>
              </a:tabLst>
            </a:pPr>
            <a:r>
              <a:rPr lang="en-US" sz="1100" dirty="0"/>
              <a:t>	STA C052H	 ; “Store the content of Acc to C052H, </a:t>
            </a:r>
            <a:r>
              <a:rPr lang="en-US" sz="1100" dirty="0" err="1"/>
              <a:t>ie</a:t>
            </a:r>
            <a:r>
              <a:rPr lang="en-US" sz="1100" dirty="0"/>
              <a:t> the carry part”</a:t>
            </a:r>
          </a:p>
          <a:p>
            <a:pPr marL="400050" lvl="1" indent="0">
              <a:buNone/>
              <a:tabLst>
                <a:tab pos="569913" algn="l"/>
                <a:tab pos="622300" algn="l"/>
                <a:tab pos="1371600" algn="l"/>
              </a:tabLst>
            </a:pPr>
            <a:r>
              <a:rPr lang="en-US" sz="1100" dirty="0"/>
              <a:t>	HLT          	 ;  "Stop" </a:t>
            </a:r>
          </a:p>
          <a:p>
            <a:pPr marL="400050" lvl="1" indent="0">
              <a:buNone/>
              <a:tabLst>
                <a:tab pos="569913" algn="l"/>
                <a:tab pos="622300" algn="l"/>
                <a:tab pos="1371600" algn="l"/>
              </a:tabLst>
            </a:pPr>
            <a:r>
              <a:rPr lang="en-US" sz="1100" dirty="0"/>
              <a:t>			 ; “Carry part store in C052H and sum is store in C053H”</a:t>
            </a:r>
          </a:p>
        </p:txBody>
      </p:sp>
      <p:sp>
        <p:nvSpPr>
          <p:cNvPr id="4" name="Date Placeholder 3"/>
          <p:cNvSpPr>
            <a:spLocks noGrp="1"/>
          </p:cNvSpPr>
          <p:nvPr>
            <p:ph type="dt" sz="half" idx="10"/>
          </p:nvPr>
        </p:nvSpPr>
        <p:spPr/>
        <p:txBody>
          <a:bodyPr/>
          <a:lstStyle/>
          <a:p>
            <a:fld id="{D4E0D969-89BC-4831-9CEE-99E1656665CC}" type="datetime1">
              <a:rPr lang="en-US" smtClean="0"/>
              <a:t>8/1/2023</a:t>
            </a:fld>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Rectangle 6">
            <a:extLst>
              <a:ext uri="{FF2B5EF4-FFF2-40B4-BE49-F238E27FC236}">
                <a16:creationId xmlns:a16="http://schemas.microsoft.com/office/drawing/2014/main" id="{DB318B36-AFE5-4AA6-892E-378329CDD555}"/>
              </a:ext>
            </a:extLst>
          </p:cNvPr>
          <p:cNvSpPr/>
          <p:nvPr/>
        </p:nvSpPr>
        <p:spPr>
          <a:xfrm>
            <a:off x="419100" y="4210110"/>
            <a:ext cx="8305800" cy="830997"/>
          </a:xfrm>
          <a:prstGeom prst="rect">
            <a:avLst/>
          </a:prstGeom>
        </p:spPr>
        <p:txBody>
          <a:bodyPr wrap="square">
            <a:spAutoFit/>
          </a:bodyPr>
          <a:lstStyle/>
          <a:p>
            <a:r>
              <a:rPr lang="en-US" sz="1600" dirty="0"/>
              <a:t>Reference: </a:t>
            </a:r>
            <a:r>
              <a:rPr lang="en-US" sz="1600" dirty="0">
                <a:hlinkClick r:id="rId2"/>
              </a:rPr>
              <a:t>https:;www.youtube.com/watch?v=GLfEQGY70Ek&amp;list=PLndX8heiWwErijxt7FpnRilO2KV4UhFmN</a:t>
            </a:r>
            <a:endParaRPr lang="en-US" sz="1600" dirty="0"/>
          </a:p>
          <a:p>
            <a:endParaRPr lang="en-US" sz="1600" dirty="0"/>
          </a:p>
        </p:txBody>
      </p:sp>
      <p:pic>
        <p:nvPicPr>
          <p:cNvPr id="8" name="Picture 7">
            <a:extLst>
              <a:ext uri="{FF2B5EF4-FFF2-40B4-BE49-F238E27FC236}">
                <a16:creationId xmlns:a16="http://schemas.microsoft.com/office/drawing/2014/main" id="{B80D67F1-573A-4E8F-A98B-2B97ECD3B225}"/>
              </a:ext>
            </a:extLst>
          </p:cNvPr>
          <p:cNvPicPr>
            <a:picLocks noChangeAspect="1"/>
          </p:cNvPicPr>
          <p:nvPr/>
        </p:nvPicPr>
        <p:blipFill>
          <a:blip r:embed="rId3"/>
          <a:stretch>
            <a:fillRect/>
          </a:stretch>
        </p:blipFill>
        <p:spPr>
          <a:xfrm>
            <a:off x="5962088" y="1079640"/>
            <a:ext cx="3002634" cy="2177910"/>
          </a:xfrm>
          <a:prstGeom prst="rect">
            <a:avLst/>
          </a:prstGeom>
        </p:spPr>
      </p:pic>
      <p:sp>
        <p:nvSpPr>
          <p:cNvPr id="9" name="Arc 8">
            <a:extLst>
              <a:ext uri="{FF2B5EF4-FFF2-40B4-BE49-F238E27FC236}">
                <a16:creationId xmlns:a16="http://schemas.microsoft.com/office/drawing/2014/main" id="{67D92410-EC48-4C4E-B213-24C2376E2F7C}"/>
              </a:ext>
            </a:extLst>
          </p:cNvPr>
          <p:cNvSpPr/>
          <p:nvPr/>
        </p:nvSpPr>
        <p:spPr>
          <a:xfrm rot="17718536">
            <a:off x="414872" y="2031883"/>
            <a:ext cx="1002947" cy="541506"/>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Explosion: 8 Points 9">
            <a:extLst>
              <a:ext uri="{FF2B5EF4-FFF2-40B4-BE49-F238E27FC236}">
                <a16:creationId xmlns:a16="http://schemas.microsoft.com/office/drawing/2014/main" id="{31E74BB6-397A-45D9-BDF5-6DE310E6F7D9}"/>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20548357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1800" b="1" dirty="0">
                <a:solidFill>
                  <a:srgbClr val="FF0000"/>
                </a:solidFill>
              </a:rPr>
              <a:t>7. Write an assembly language program to add two 16-bit numbers A645 and 9B23, stored from C050H onwards, with carry.</a:t>
            </a:r>
          </a:p>
        </p:txBody>
      </p:sp>
      <p:sp>
        <p:nvSpPr>
          <p:cNvPr id="3" name="Content Placeholder 2"/>
          <p:cNvSpPr>
            <a:spLocks noGrp="1"/>
          </p:cNvSpPr>
          <p:nvPr>
            <p:ph idx="1"/>
          </p:nvPr>
        </p:nvSpPr>
        <p:spPr>
          <a:xfrm>
            <a:off x="457200" y="742951"/>
            <a:ext cx="6553200" cy="3505200"/>
          </a:xfrm>
          <a:noFill/>
        </p:spPr>
        <p:txBody>
          <a:bodyPr>
            <a:normAutofit/>
          </a:bodyPr>
          <a:lstStyle/>
          <a:p>
            <a:pPr marL="0" indent="0">
              <a:buNone/>
              <a:tabLst>
                <a:tab pos="569913" algn="l"/>
                <a:tab pos="622300" algn="l"/>
                <a:tab pos="1484313" algn="l"/>
              </a:tabLst>
            </a:pPr>
            <a:r>
              <a:rPr lang="en-US" sz="1200" dirty="0"/>
              <a:t>	LHLD C050H  	; "Get address of first number from memory and load in in H-L register”</a:t>
            </a:r>
          </a:p>
          <a:p>
            <a:pPr marL="0" indent="0">
              <a:buNone/>
              <a:tabLst>
                <a:tab pos="569913" algn="l"/>
                <a:tab pos="622300" algn="l"/>
                <a:tab pos="1484313" algn="l"/>
              </a:tabLst>
            </a:pPr>
            <a:r>
              <a:rPr lang="en-US" sz="1200" dirty="0"/>
              <a:t>	XCHG	 ; </a:t>
            </a:r>
            <a:r>
              <a:rPr lang="en-US" sz="1200" dirty="0">
                <a:solidFill>
                  <a:srgbClr val="000000"/>
                </a:solidFill>
              </a:rPr>
              <a:t>Exchange H and L with D and E</a:t>
            </a:r>
            <a:endParaRPr lang="en-US" sz="1200" dirty="0"/>
          </a:p>
          <a:p>
            <a:pPr marL="0" indent="0">
              <a:buNone/>
              <a:tabLst>
                <a:tab pos="569913" algn="l"/>
                <a:tab pos="622300" algn="l"/>
                <a:tab pos="1484313" algn="l"/>
              </a:tabLst>
            </a:pPr>
            <a:r>
              <a:rPr lang="en-US" sz="1200" dirty="0"/>
              <a:t>	LHLD C052H  	 ;  "Get address of second number from memory and load in in H-L register”</a:t>
            </a:r>
          </a:p>
          <a:p>
            <a:pPr marL="0" indent="0">
              <a:buNone/>
              <a:tabLst>
                <a:tab pos="569913" algn="l"/>
                <a:tab pos="622300" algn="l"/>
                <a:tab pos="1484313" algn="l"/>
              </a:tabLst>
            </a:pPr>
            <a:r>
              <a:rPr lang="en-US" sz="1200" dirty="0"/>
              <a:t>	MVI B, 00H	 ; “Initialize Register B with 00H for carry store”</a:t>
            </a:r>
          </a:p>
          <a:p>
            <a:pPr marL="0" indent="0">
              <a:buNone/>
              <a:tabLst>
                <a:tab pos="569913" algn="l"/>
                <a:tab pos="622300" algn="l"/>
                <a:tab pos="1484313" algn="l"/>
              </a:tabLst>
            </a:pPr>
            <a:r>
              <a:rPr lang="en-US" sz="1200" dirty="0"/>
              <a:t>	DAD D	 ; Add both the register pairs and store in HL, </a:t>
            </a:r>
            <a:r>
              <a:rPr lang="en-US" sz="1200" dirty="0" err="1"/>
              <a:t>ie</a:t>
            </a:r>
            <a:r>
              <a:rPr lang="en-US" sz="1200" dirty="0"/>
              <a:t>. HL+DE </a:t>
            </a:r>
          </a:p>
          <a:p>
            <a:pPr marL="0" indent="0">
              <a:buNone/>
              <a:tabLst>
                <a:tab pos="569913" algn="l"/>
                <a:tab pos="622300" algn="l"/>
                <a:tab pos="1484313" algn="l"/>
              </a:tabLst>
            </a:pPr>
            <a:r>
              <a:rPr lang="en-US" sz="1200" dirty="0"/>
              <a:t>	JNC label	 ; “Jump to label if no carry”</a:t>
            </a:r>
          </a:p>
          <a:p>
            <a:pPr marL="0" indent="0">
              <a:buNone/>
              <a:tabLst>
                <a:tab pos="569913" algn="l"/>
                <a:tab pos="622300" algn="l"/>
                <a:tab pos="1484313" algn="l"/>
              </a:tabLst>
            </a:pPr>
            <a:r>
              <a:rPr lang="en-US" sz="1200" dirty="0"/>
              <a:t>	INR B	 ; “Increment content of B by 1”</a:t>
            </a:r>
          </a:p>
          <a:p>
            <a:pPr marL="0" indent="0">
              <a:buNone/>
              <a:tabLst>
                <a:tab pos="569913" algn="l"/>
                <a:tab pos="622300" algn="l"/>
                <a:tab pos="1484313" algn="l"/>
              </a:tabLst>
            </a:pPr>
            <a:r>
              <a:rPr lang="en-US" sz="1200" dirty="0"/>
              <a:t>label:	SHLD C054H	 ; “Store the content of H-L register to C054H”</a:t>
            </a:r>
          </a:p>
          <a:p>
            <a:pPr marL="400050" lvl="1" indent="0">
              <a:buNone/>
              <a:tabLst>
                <a:tab pos="569913" algn="l"/>
                <a:tab pos="622300" algn="l"/>
                <a:tab pos="1484313" algn="l"/>
              </a:tabLst>
            </a:pPr>
            <a:r>
              <a:rPr lang="en-US" sz="1200" dirty="0"/>
              <a:t>	MOV  A, B      	 ;  “Move carry at Acc"  </a:t>
            </a:r>
          </a:p>
          <a:p>
            <a:pPr marL="400050" lvl="1" indent="0">
              <a:buNone/>
              <a:tabLst>
                <a:tab pos="569913" algn="l"/>
                <a:tab pos="622300" algn="l"/>
                <a:tab pos="1484313" algn="l"/>
              </a:tabLst>
            </a:pPr>
            <a:r>
              <a:rPr lang="en-US" sz="1200" dirty="0"/>
              <a:t>	STA C056H	 ; “Store the content of Acc to C056H, </a:t>
            </a:r>
            <a:r>
              <a:rPr lang="en-US" sz="1200" dirty="0" err="1"/>
              <a:t>ie</a:t>
            </a:r>
            <a:r>
              <a:rPr lang="en-US" sz="1200" dirty="0"/>
              <a:t> the carry part”</a:t>
            </a:r>
          </a:p>
          <a:p>
            <a:pPr marL="400050" lvl="1" indent="0">
              <a:buNone/>
              <a:tabLst>
                <a:tab pos="569913" algn="l"/>
                <a:tab pos="622300" algn="l"/>
                <a:tab pos="1484313" algn="l"/>
              </a:tabLst>
            </a:pPr>
            <a:r>
              <a:rPr lang="en-US" sz="1200" dirty="0"/>
              <a:t>	HLT          	 ;  "Stop" </a:t>
            </a:r>
          </a:p>
          <a:p>
            <a:pPr marL="400050" lvl="1" indent="0">
              <a:buNone/>
              <a:tabLst>
                <a:tab pos="569913" algn="l"/>
                <a:tab pos="622300" algn="l"/>
                <a:tab pos="1484313" algn="l"/>
              </a:tabLst>
            </a:pPr>
            <a:r>
              <a:rPr lang="en-US" sz="1200" dirty="0"/>
              <a:t>			 ; “Carry part store in C056H and sum is store in C054H-C055H”</a:t>
            </a:r>
          </a:p>
          <a:p>
            <a:pPr marL="457200" indent="-457200">
              <a:buFont typeface="+mj-lt"/>
              <a:buAutoNum type="arabicPeriod"/>
              <a:tabLst>
                <a:tab pos="463550" algn="l"/>
              </a:tabLst>
            </a:pPr>
            <a:endParaRPr lang="en-US" sz="1400" dirty="0"/>
          </a:p>
        </p:txBody>
      </p:sp>
      <p:sp>
        <p:nvSpPr>
          <p:cNvPr id="4" name="Date Placeholder 3"/>
          <p:cNvSpPr>
            <a:spLocks noGrp="1"/>
          </p:cNvSpPr>
          <p:nvPr>
            <p:ph type="dt" sz="half" idx="10"/>
          </p:nvPr>
        </p:nvSpPr>
        <p:spPr/>
        <p:txBody>
          <a:bodyPr/>
          <a:lstStyle/>
          <a:p>
            <a:fld id="{DB15B1CC-B67C-4768-B47D-75ACCA0125BA}"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Rectangle 6">
            <a:extLst>
              <a:ext uri="{FF2B5EF4-FFF2-40B4-BE49-F238E27FC236}">
                <a16:creationId xmlns:a16="http://schemas.microsoft.com/office/drawing/2014/main" id="{45E560CE-96F6-4CDA-8341-F391032F0848}"/>
              </a:ext>
            </a:extLst>
          </p:cNvPr>
          <p:cNvSpPr/>
          <p:nvPr/>
        </p:nvSpPr>
        <p:spPr>
          <a:xfrm>
            <a:off x="609600" y="4414219"/>
            <a:ext cx="8229600" cy="461665"/>
          </a:xfrm>
          <a:prstGeom prst="rect">
            <a:avLst/>
          </a:prstGeom>
        </p:spPr>
        <p:txBody>
          <a:bodyPr wrap="square">
            <a:spAutoFit/>
          </a:bodyPr>
          <a:lstStyle/>
          <a:p>
            <a:r>
              <a:rPr lang="en-US" sz="1200" dirty="0"/>
              <a:t>Reference: </a:t>
            </a:r>
            <a:r>
              <a:rPr lang="en-US" sz="1200" dirty="0">
                <a:hlinkClick r:id="rId2"/>
              </a:rPr>
              <a:t>https:;www.youtube.com/watch?v=_4Q-upoIv8c&amp;list=PLndX8heiWwErijxt7FpnRilO2KV4UhFmN&amp;index=2</a:t>
            </a:r>
            <a:endParaRPr lang="en-US" sz="1200" dirty="0"/>
          </a:p>
          <a:p>
            <a:endParaRPr lang="en-US" sz="1200" dirty="0"/>
          </a:p>
        </p:txBody>
      </p:sp>
      <p:pic>
        <p:nvPicPr>
          <p:cNvPr id="8" name="Picture 7">
            <a:extLst>
              <a:ext uri="{FF2B5EF4-FFF2-40B4-BE49-F238E27FC236}">
                <a16:creationId xmlns:a16="http://schemas.microsoft.com/office/drawing/2014/main" id="{5CB9D3D2-892D-48C6-BC1B-86C89DE91850}"/>
              </a:ext>
            </a:extLst>
          </p:cNvPr>
          <p:cNvPicPr>
            <a:picLocks noChangeAspect="1"/>
          </p:cNvPicPr>
          <p:nvPr/>
        </p:nvPicPr>
        <p:blipFill>
          <a:blip r:embed="rId3"/>
          <a:stretch>
            <a:fillRect/>
          </a:stretch>
        </p:blipFill>
        <p:spPr>
          <a:xfrm>
            <a:off x="6168887" y="1504950"/>
            <a:ext cx="2670313" cy="2535189"/>
          </a:xfrm>
          <a:prstGeom prst="rect">
            <a:avLst/>
          </a:prstGeom>
        </p:spPr>
      </p:pic>
      <p:sp>
        <p:nvSpPr>
          <p:cNvPr id="9" name="Explosion: 8 Points 8">
            <a:extLst>
              <a:ext uri="{FF2B5EF4-FFF2-40B4-BE49-F238E27FC236}">
                <a16:creationId xmlns:a16="http://schemas.microsoft.com/office/drawing/2014/main" id="{98D1A9E7-6893-4475-9F52-E2EADC0E803C}"/>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16652329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848600" cy="460771"/>
          </a:xfrm>
          <a:noFill/>
        </p:spPr>
        <p:txBody>
          <a:bodyPr>
            <a:noAutofit/>
          </a:bodyPr>
          <a:lstStyle/>
          <a:p>
            <a:pPr algn="just"/>
            <a:r>
              <a:rPr lang="en-US" sz="1800" b="1" dirty="0">
                <a:solidFill>
                  <a:srgbClr val="FF0000"/>
                </a:solidFill>
              </a:rPr>
              <a:t>8. Write a program in Assembly language to interchange(Swap) the contents of two memory location 2100H and 2101H.</a:t>
            </a:r>
          </a:p>
        </p:txBody>
      </p:sp>
      <p:sp>
        <p:nvSpPr>
          <p:cNvPr id="3" name="Content Placeholder 2"/>
          <p:cNvSpPr>
            <a:spLocks noGrp="1"/>
          </p:cNvSpPr>
          <p:nvPr>
            <p:ph idx="1"/>
          </p:nvPr>
        </p:nvSpPr>
        <p:spPr>
          <a:xfrm>
            <a:off x="457200" y="742950"/>
            <a:ext cx="8229600" cy="3851673"/>
          </a:xfrm>
          <a:noFill/>
        </p:spPr>
        <p:txBody>
          <a:bodyPr>
            <a:normAutofit/>
          </a:bodyPr>
          <a:lstStyle/>
          <a:p>
            <a:pPr marL="0" indent="0">
              <a:buNone/>
              <a:tabLst>
                <a:tab pos="1147763" algn="l"/>
              </a:tabLst>
            </a:pPr>
            <a:r>
              <a:rPr lang="en-US" sz="1600" dirty="0"/>
              <a:t>LDA 2100H	; “Load the content of 2100H into Accumulator”</a:t>
            </a:r>
          </a:p>
          <a:p>
            <a:pPr marL="0" indent="0">
              <a:buNone/>
              <a:tabLst>
                <a:tab pos="1147763" algn="l"/>
              </a:tabLst>
            </a:pPr>
            <a:r>
              <a:rPr lang="en-US" sz="1600" dirty="0"/>
              <a:t>MOV B,A	; “Move content of Acc to register B”</a:t>
            </a:r>
          </a:p>
          <a:p>
            <a:pPr marL="0" indent="0">
              <a:buNone/>
              <a:tabLst>
                <a:tab pos="1147763" algn="l"/>
              </a:tabLst>
            </a:pPr>
            <a:r>
              <a:rPr lang="en-US" sz="1600" dirty="0"/>
              <a:t>LDA 2101H	;“Load content of 2101H to Accumulator”</a:t>
            </a:r>
          </a:p>
          <a:p>
            <a:pPr marL="0" indent="0">
              <a:buNone/>
              <a:tabLst>
                <a:tab pos="1147763" algn="l"/>
              </a:tabLst>
            </a:pPr>
            <a:r>
              <a:rPr lang="en-US" sz="1600" dirty="0"/>
              <a:t>STA 2100H	; “Store content of Acc. to 2100H”</a:t>
            </a:r>
          </a:p>
          <a:p>
            <a:pPr marL="0" indent="0">
              <a:buNone/>
              <a:tabLst>
                <a:tab pos="1147763" algn="l"/>
              </a:tabLst>
            </a:pPr>
            <a:r>
              <a:rPr lang="en-US" sz="1600" dirty="0"/>
              <a:t>MOV A,B	; “Move content of register B to Acc.”</a:t>
            </a:r>
          </a:p>
          <a:p>
            <a:pPr marL="0" indent="0">
              <a:buNone/>
              <a:tabLst>
                <a:tab pos="1147763" algn="l"/>
              </a:tabLst>
            </a:pPr>
            <a:r>
              <a:rPr lang="en-US" sz="1600" dirty="0"/>
              <a:t>STA 2101H	; “Store content of Acc. To 2101H”</a:t>
            </a:r>
          </a:p>
          <a:p>
            <a:pPr marL="0" indent="0">
              <a:buNone/>
              <a:tabLst>
                <a:tab pos="1147763" algn="l"/>
              </a:tabLst>
            </a:pPr>
            <a:r>
              <a:rPr lang="en-US" sz="1600" dirty="0"/>
              <a:t>HLT	; “End”</a:t>
            </a:r>
          </a:p>
        </p:txBody>
      </p:sp>
      <p:sp>
        <p:nvSpPr>
          <p:cNvPr id="4" name="Date Placeholder 3"/>
          <p:cNvSpPr>
            <a:spLocks noGrp="1"/>
          </p:cNvSpPr>
          <p:nvPr>
            <p:ph type="dt" sz="half" idx="10"/>
          </p:nvPr>
        </p:nvSpPr>
        <p:spPr/>
        <p:txBody>
          <a:bodyPr/>
          <a:lstStyle/>
          <a:p>
            <a:fld id="{ED3D3934-BDFA-43E5-8EF7-2EDD2B3B745B}"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Explosion: 8 Points 6">
            <a:extLst>
              <a:ext uri="{FF2B5EF4-FFF2-40B4-BE49-F238E27FC236}">
                <a16:creationId xmlns:a16="http://schemas.microsoft.com/office/drawing/2014/main" id="{FB1E3D07-64CF-4EF3-9742-FD038BA99497}"/>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Tree>
    <p:extLst>
      <p:ext uri="{BB962C8B-B14F-4D97-AF65-F5344CB8AC3E}">
        <p14:creationId xmlns:p14="http://schemas.microsoft.com/office/powerpoint/2010/main" val="24676591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848600" cy="460771"/>
          </a:xfrm>
          <a:noFill/>
        </p:spPr>
        <p:txBody>
          <a:bodyPr>
            <a:noAutofit/>
          </a:bodyPr>
          <a:lstStyle/>
          <a:p>
            <a:pPr algn="just"/>
            <a:r>
              <a:rPr lang="en-US" sz="1800" b="1" dirty="0">
                <a:solidFill>
                  <a:srgbClr val="FF0000"/>
                </a:solidFill>
              </a:rPr>
              <a:t>8. Write a program in Assembly language to multiply two 8 bit numbers stored at C050H and C051H.</a:t>
            </a:r>
          </a:p>
        </p:txBody>
      </p:sp>
      <p:sp>
        <p:nvSpPr>
          <p:cNvPr id="3" name="Content Placeholder 2"/>
          <p:cNvSpPr>
            <a:spLocks noGrp="1"/>
          </p:cNvSpPr>
          <p:nvPr>
            <p:ph idx="1"/>
          </p:nvPr>
        </p:nvSpPr>
        <p:spPr>
          <a:xfrm>
            <a:off x="457200" y="742950"/>
            <a:ext cx="8229600" cy="3851673"/>
          </a:xfrm>
          <a:noFill/>
        </p:spPr>
        <p:txBody>
          <a:bodyPr>
            <a:normAutofit fontScale="92500" lnSpcReduction="10000"/>
          </a:bodyPr>
          <a:lstStyle/>
          <a:p>
            <a:pPr marL="0" indent="0">
              <a:buNone/>
              <a:tabLst>
                <a:tab pos="746125" algn="l"/>
                <a:tab pos="1147763" algn="l"/>
                <a:tab pos="1997075" algn="l"/>
              </a:tabLst>
            </a:pPr>
            <a:r>
              <a:rPr lang="en-US" sz="1600" dirty="0"/>
              <a:t>	LXI H,C050H	; Get address of first number in H-L pair. Now H-L points to C050H" </a:t>
            </a:r>
          </a:p>
          <a:p>
            <a:pPr marL="0" indent="0">
              <a:buNone/>
              <a:tabLst>
                <a:tab pos="746125" algn="l"/>
                <a:tab pos="1147763" algn="l"/>
                <a:tab pos="1997075" algn="l"/>
              </a:tabLst>
            </a:pPr>
            <a:r>
              <a:rPr lang="en-US" sz="1600" dirty="0"/>
              <a:t>	MOV B,M	; Get first operand in register B from C050H"</a:t>
            </a:r>
          </a:p>
          <a:p>
            <a:pPr marL="0" indent="0">
              <a:buNone/>
              <a:tabLst>
                <a:tab pos="746125" algn="l"/>
                <a:tab pos="1147763" algn="l"/>
                <a:tab pos="1997075" algn="l"/>
              </a:tabLst>
            </a:pPr>
            <a:r>
              <a:rPr lang="en-US" sz="1600" dirty="0"/>
              <a:t>	MVI A,00H	;Clear Accumulator</a:t>
            </a:r>
          </a:p>
          <a:p>
            <a:pPr marL="0" indent="0">
              <a:buNone/>
              <a:tabLst>
                <a:tab pos="746125" algn="l"/>
                <a:tab pos="1147763" algn="l"/>
                <a:tab pos="1997075" algn="l"/>
              </a:tabLst>
            </a:pPr>
            <a:r>
              <a:rPr lang="en-US" sz="1600" dirty="0"/>
              <a:t>	MVI D, 00H	;Initialize a register D with 00H for carry storage</a:t>
            </a:r>
          </a:p>
          <a:p>
            <a:pPr marL="0" indent="0">
              <a:buNone/>
              <a:tabLst>
                <a:tab pos="746125" algn="l"/>
                <a:tab pos="1147763" algn="l"/>
                <a:tab pos="1997075" algn="l"/>
              </a:tabLst>
            </a:pPr>
            <a:r>
              <a:rPr lang="en-US" sz="1600" dirty="0"/>
              <a:t>	INX H	; point to C051H</a:t>
            </a:r>
          </a:p>
          <a:p>
            <a:pPr marL="0" indent="0">
              <a:buNone/>
              <a:tabLst>
                <a:tab pos="746125" algn="l"/>
                <a:tab pos="1147763" algn="l"/>
                <a:tab pos="1997075" algn="l"/>
              </a:tabLst>
            </a:pPr>
            <a:r>
              <a:rPr lang="en-US" sz="1600" dirty="0"/>
              <a:t>	MOV C,M	;Get the second operand</a:t>
            </a:r>
          </a:p>
          <a:p>
            <a:pPr marL="0" indent="0">
              <a:buNone/>
              <a:tabLst>
                <a:tab pos="746125" algn="l"/>
                <a:tab pos="1147763" algn="l"/>
                <a:tab pos="1997075" algn="l"/>
              </a:tabLst>
            </a:pPr>
            <a:r>
              <a:rPr lang="en-US" sz="1600" dirty="0"/>
              <a:t>loop1:	ADD B	;Add contents in register B with Accumulator</a:t>
            </a:r>
          </a:p>
          <a:p>
            <a:pPr marL="0" indent="0">
              <a:buNone/>
              <a:tabLst>
                <a:tab pos="746125" algn="l"/>
                <a:tab pos="1147763" algn="l"/>
                <a:tab pos="1997075" algn="l"/>
              </a:tabLst>
            </a:pPr>
            <a:r>
              <a:rPr lang="en-US" sz="1600" dirty="0"/>
              <a:t>	JNC loop2	; Jump to loop2 if no carry</a:t>
            </a:r>
          </a:p>
          <a:p>
            <a:pPr marL="0" indent="0">
              <a:buNone/>
              <a:tabLst>
                <a:tab pos="746125" algn="l"/>
                <a:tab pos="1147763" algn="l"/>
                <a:tab pos="1997075" algn="l"/>
              </a:tabLst>
            </a:pPr>
            <a:r>
              <a:rPr lang="en-US" sz="1600" dirty="0"/>
              <a:t>	INR D	;increase D</a:t>
            </a:r>
          </a:p>
          <a:p>
            <a:pPr marL="0" indent="0">
              <a:buNone/>
              <a:tabLst>
                <a:tab pos="746125" algn="l"/>
                <a:tab pos="1147763" algn="l"/>
                <a:tab pos="1997075" algn="l"/>
              </a:tabLst>
            </a:pPr>
            <a:r>
              <a:rPr lang="en-US" sz="1600" dirty="0"/>
              <a:t>loop2: 	DCR C	;Decrement counter C</a:t>
            </a:r>
          </a:p>
          <a:p>
            <a:pPr marL="0" indent="0">
              <a:buNone/>
              <a:tabLst>
                <a:tab pos="746125" algn="l"/>
                <a:tab pos="1147763" algn="l"/>
                <a:tab pos="1997075" algn="l"/>
              </a:tabLst>
            </a:pPr>
            <a:r>
              <a:rPr lang="en-US" sz="1600" dirty="0"/>
              <a:t>	JNZ loop1	;Jump to loop1</a:t>
            </a:r>
          </a:p>
          <a:p>
            <a:pPr marL="0" indent="0">
              <a:buNone/>
              <a:tabLst>
                <a:tab pos="746125" algn="l"/>
                <a:tab pos="1147763" algn="l"/>
                <a:tab pos="1997075" algn="l"/>
              </a:tabLst>
            </a:pPr>
            <a:r>
              <a:rPr lang="en-US" sz="1600" dirty="0"/>
              <a:t>	STA C052H	;Store the content </a:t>
            </a:r>
            <a:r>
              <a:rPr lang="en-US" sz="1600"/>
              <a:t>to C052H</a:t>
            </a:r>
            <a:endParaRPr lang="en-US" sz="1600" dirty="0"/>
          </a:p>
          <a:p>
            <a:pPr marL="0" indent="0">
              <a:buNone/>
              <a:tabLst>
                <a:tab pos="746125" algn="l"/>
                <a:tab pos="1147763" algn="l"/>
                <a:tab pos="1997075" algn="l"/>
              </a:tabLst>
            </a:pPr>
            <a:r>
              <a:rPr lang="en-US" sz="1600" dirty="0"/>
              <a:t>	MOV A,D	;Move D to A.</a:t>
            </a:r>
          </a:p>
          <a:p>
            <a:pPr marL="0" indent="0">
              <a:buNone/>
              <a:tabLst>
                <a:tab pos="746125" algn="l"/>
                <a:tab pos="1147763" algn="l"/>
                <a:tab pos="1997075" algn="l"/>
              </a:tabLst>
            </a:pPr>
            <a:r>
              <a:rPr lang="en-US" sz="1600" dirty="0"/>
              <a:t>	STA C053H	;Store content of Acc. To C053.</a:t>
            </a:r>
          </a:p>
          <a:p>
            <a:pPr marL="0" indent="0">
              <a:buNone/>
              <a:tabLst>
                <a:tab pos="746125" algn="l"/>
                <a:tab pos="1147763" algn="l"/>
                <a:tab pos="1997075" algn="l"/>
              </a:tabLst>
            </a:pPr>
            <a:r>
              <a:rPr lang="en-US" sz="1600" dirty="0"/>
              <a:t>	HLT</a:t>
            </a:r>
          </a:p>
        </p:txBody>
      </p:sp>
      <p:sp>
        <p:nvSpPr>
          <p:cNvPr id="4" name="Date Placeholder 3"/>
          <p:cNvSpPr>
            <a:spLocks noGrp="1"/>
          </p:cNvSpPr>
          <p:nvPr>
            <p:ph type="dt" sz="half" idx="10"/>
          </p:nvPr>
        </p:nvSpPr>
        <p:spPr/>
        <p:txBody>
          <a:bodyPr/>
          <a:lstStyle/>
          <a:p>
            <a:fld id="{C8EC3FF8-1802-433B-AFCC-155C01477443}"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7" name="Explosion: 8 Points 6">
            <a:extLst>
              <a:ext uri="{FF2B5EF4-FFF2-40B4-BE49-F238E27FC236}">
                <a16:creationId xmlns:a16="http://schemas.microsoft.com/office/drawing/2014/main" id="{FB1E3D07-64CF-4EF3-9742-FD038BA99497}"/>
              </a:ext>
            </a:extLst>
          </p:cNvPr>
          <p:cNvSpPr/>
          <p:nvPr/>
        </p:nvSpPr>
        <p:spPr>
          <a:xfrm>
            <a:off x="8458200" y="0"/>
            <a:ext cx="721895" cy="5703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Test Ok</a:t>
            </a:r>
          </a:p>
        </p:txBody>
      </p:sp>
      <p:sp>
        <p:nvSpPr>
          <p:cNvPr id="8" name="TextBox 7">
            <a:extLst>
              <a:ext uri="{FF2B5EF4-FFF2-40B4-BE49-F238E27FC236}">
                <a16:creationId xmlns:a16="http://schemas.microsoft.com/office/drawing/2014/main" id="{218CDBA8-21D9-476A-B0D6-D6B3760847A5}"/>
              </a:ext>
            </a:extLst>
          </p:cNvPr>
          <p:cNvSpPr txBox="1"/>
          <p:nvPr/>
        </p:nvSpPr>
        <p:spPr>
          <a:xfrm>
            <a:off x="8001000" y="2190750"/>
            <a:ext cx="1116011" cy="923330"/>
          </a:xfrm>
          <a:prstGeom prst="rect">
            <a:avLst/>
          </a:prstGeom>
          <a:noFill/>
        </p:spPr>
        <p:txBody>
          <a:bodyPr wrap="none" rtlCol="0">
            <a:spAutoFit/>
          </a:bodyPr>
          <a:lstStyle/>
          <a:p>
            <a:r>
              <a:rPr lang="en-US" dirty="0"/>
              <a:t>5x3*15</a:t>
            </a:r>
          </a:p>
          <a:p>
            <a:endParaRPr lang="en-US" dirty="0"/>
          </a:p>
          <a:p>
            <a:r>
              <a:rPr lang="en-US" dirty="0"/>
              <a:t>5+5+5=15</a:t>
            </a:r>
          </a:p>
        </p:txBody>
      </p:sp>
    </p:spTree>
    <p:extLst>
      <p:ext uri="{BB962C8B-B14F-4D97-AF65-F5344CB8AC3E}">
        <p14:creationId xmlns:p14="http://schemas.microsoft.com/office/powerpoint/2010/main" val="8797974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1800" b="1" dirty="0">
                <a:solidFill>
                  <a:srgbClr val="FF0000"/>
                </a:solidFill>
              </a:rPr>
              <a:t>Assignment:</a:t>
            </a: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pPr>
            <a:r>
              <a:rPr lang="en-US" sz="2000" dirty="0"/>
              <a:t>Write a program, which load register B with 37H and copy the number in accumulator and send the number to the memory location 2000H.</a:t>
            </a:r>
          </a:p>
          <a:p>
            <a:pPr marL="457200" indent="-457200">
              <a:buFont typeface="+mj-lt"/>
              <a:buAutoNum type="arabicPeriod"/>
            </a:pPr>
            <a:r>
              <a:rPr lang="en-US" sz="2000" dirty="0"/>
              <a:t>Write a program, which load 37H and 45H. Find the sum of two number and send the result in 2050H.</a:t>
            </a:r>
          </a:p>
          <a:p>
            <a:pPr marL="457200" indent="-457200">
              <a:buFont typeface="+mj-lt"/>
              <a:buAutoNum type="arabicPeriod"/>
            </a:pPr>
            <a:r>
              <a:rPr lang="en-US" sz="2000" dirty="0"/>
              <a:t>Write assembly language program using the instruction of 8085. Load the contents of memory location 2100H and 2101H in B register and C-Register respectively. The content of memory location 2100H and 2101H are 16H and 19 H respectively.</a:t>
            </a:r>
          </a:p>
          <a:p>
            <a:pPr marL="457200" indent="-457200">
              <a:buFont typeface="+mj-lt"/>
              <a:buAutoNum type="arabicPeriod"/>
            </a:pPr>
            <a:r>
              <a:rPr lang="en-US" sz="2000" dirty="0"/>
              <a:t>Write an assembly language program to multiply two decimal numbers 23 and 9 and store the answer in some memory location.</a:t>
            </a:r>
          </a:p>
          <a:p>
            <a:pPr marL="457200" indent="-457200">
              <a:buFont typeface="+mj-lt"/>
              <a:buAutoNum type="arabicPeriod"/>
            </a:pPr>
            <a:endParaRPr lang="en-US" sz="2000" dirty="0"/>
          </a:p>
          <a:p>
            <a:pPr marL="457200" indent="-457200">
              <a:buFont typeface="+mj-lt"/>
              <a:buAutoNum type="arabicPeriod"/>
              <a:tabLst>
                <a:tab pos="463550" algn="l"/>
              </a:tabLst>
            </a:pPr>
            <a:endParaRPr lang="en-US" sz="2000" dirty="0"/>
          </a:p>
        </p:txBody>
      </p:sp>
      <p:sp>
        <p:nvSpPr>
          <p:cNvPr id="4" name="Date Placeholder 3"/>
          <p:cNvSpPr>
            <a:spLocks noGrp="1"/>
          </p:cNvSpPr>
          <p:nvPr>
            <p:ph type="dt" sz="half" idx="10"/>
          </p:nvPr>
        </p:nvSpPr>
        <p:spPr/>
        <p:txBody>
          <a:bodyPr/>
          <a:lstStyle/>
          <a:p>
            <a:fld id="{8EB80141-2307-4721-8970-BC8B6D3B710A}"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11505032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5A638-FA37-40ED-ABC6-CD96384AB3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3E3B33-360F-490D-AE30-068A70DFFC45}"/>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869A73E9-CE85-4F33-9B4A-6815F47D7E02}"/>
              </a:ext>
            </a:extLst>
          </p:cNvPr>
          <p:cNvSpPr>
            <a:spLocks noGrp="1"/>
          </p:cNvSpPr>
          <p:nvPr>
            <p:ph type="dt" sz="half" idx="10"/>
          </p:nvPr>
        </p:nvSpPr>
        <p:spPr/>
        <p:txBody>
          <a:bodyPr/>
          <a:lstStyle/>
          <a:p>
            <a:fld id="{A63EABEB-1B52-4F7C-B856-73288CCDF71C}" type="datetime1">
              <a:rPr lang="en-US" smtClean="0"/>
              <a:t>8/1/2023</a:t>
            </a:fld>
            <a:endParaRPr lang="en-US"/>
          </a:p>
        </p:txBody>
      </p:sp>
      <p:sp>
        <p:nvSpPr>
          <p:cNvPr id="5" name="Footer Placeholder 4">
            <a:extLst>
              <a:ext uri="{FF2B5EF4-FFF2-40B4-BE49-F238E27FC236}">
                <a16:creationId xmlns:a16="http://schemas.microsoft.com/office/drawing/2014/main" id="{8FE91328-2705-483E-8D9A-F3F04B874902}"/>
              </a:ext>
            </a:extLst>
          </p:cNvPr>
          <p:cNvSpPr>
            <a:spLocks noGrp="1"/>
          </p:cNvSpPr>
          <p:nvPr>
            <p:ph type="ftr" sz="quarter" idx="11"/>
          </p:nvPr>
        </p:nvSpPr>
        <p:spPr/>
        <p:txBody>
          <a:bodyPr/>
          <a:lstStyle/>
          <a:p>
            <a:r>
              <a:rPr lang="en-US"/>
              <a:t>Architectural Details and Assembly Language Programming of 8085 MPU</a:t>
            </a:r>
          </a:p>
        </p:txBody>
      </p:sp>
      <p:sp>
        <p:nvSpPr>
          <p:cNvPr id="6" name="Slide Number Placeholder 5">
            <a:extLst>
              <a:ext uri="{FF2B5EF4-FFF2-40B4-BE49-F238E27FC236}">
                <a16:creationId xmlns:a16="http://schemas.microsoft.com/office/drawing/2014/main" id="{31A7EDF7-5C74-4B31-83EC-A4B4DA23BFD9}"/>
              </a:ext>
            </a:extLst>
          </p:cNvPr>
          <p:cNvSpPr>
            <a:spLocks noGrp="1"/>
          </p:cNvSpPr>
          <p:nvPr>
            <p:ph type="sldNum" sz="quarter" idx="12"/>
          </p:nvPr>
        </p:nvSpPr>
        <p:spPr/>
        <p:txBody>
          <a:bodyPr/>
          <a:lstStyle/>
          <a:p>
            <a:fld id="{B6F15528-21DE-4FAA-801E-634DDDAF4B2B}" type="slidenum">
              <a:rPr lang="en-US" smtClean="0"/>
              <a:pPr/>
              <a:t>73</a:t>
            </a:fld>
            <a:endParaRPr lang="en-US"/>
          </a:p>
        </p:txBody>
      </p:sp>
      <p:pic>
        <p:nvPicPr>
          <p:cNvPr id="7" name="Picture 6">
            <a:extLst>
              <a:ext uri="{FF2B5EF4-FFF2-40B4-BE49-F238E27FC236}">
                <a16:creationId xmlns:a16="http://schemas.microsoft.com/office/drawing/2014/main" id="{134256BA-D151-4199-9633-AACBF2D2095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1616883" y="0"/>
            <a:ext cx="5910233" cy="5143500"/>
          </a:xfrm>
          <a:prstGeom prst="rect">
            <a:avLst/>
          </a:prstGeom>
        </p:spPr>
      </p:pic>
    </p:spTree>
    <p:extLst>
      <p:ext uri="{BB962C8B-B14F-4D97-AF65-F5344CB8AC3E}">
        <p14:creationId xmlns:p14="http://schemas.microsoft.com/office/powerpoint/2010/main" val="2747605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4000" b="1" dirty="0">
              <a:solidFill>
                <a:srgbClr val="FF0000"/>
              </a:solidFill>
            </a:endParaRPr>
          </a:p>
          <a:p>
            <a:pPr marL="0" indent="0" algn="ctr">
              <a:buNone/>
              <a:tabLst>
                <a:tab pos="463550" algn="l"/>
              </a:tabLst>
            </a:pPr>
            <a:endParaRPr lang="en-US" sz="4000" b="1" dirty="0">
              <a:solidFill>
                <a:srgbClr val="FF0000"/>
              </a:solidFill>
            </a:endParaRPr>
          </a:p>
          <a:p>
            <a:pPr marL="0" indent="0" algn="ctr">
              <a:buNone/>
              <a:tabLst>
                <a:tab pos="463550" algn="l"/>
              </a:tabLst>
            </a:pPr>
            <a:r>
              <a:rPr lang="en-US" sz="4000" b="1" dirty="0">
                <a:solidFill>
                  <a:srgbClr val="FF0000"/>
                </a:solidFill>
              </a:rPr>
              <a:t>Register Transfer Language (RTL)</a:t>
            </a:r>
          </a:p>
        </p:txBody>
      </p:sp>
      <p:sp>
        <p:nvSpPr>
          <p:cNvPr id="4" name="Date Placeholder 3"/>
          <p:cNvSpPr>
            <a:spLocks noGrp="1"/>
          </p:cNvSpPr>
          <p:nvPr>
            <p:ph type="dt" sz="half" idx="10"/>
          </p:nvPr>
        </p:nvSpPr>
        <p:spPr/>
        <p:txBody>
          <a:bodyPr/>
          <a:lstStyle/>
          <a:p>
            <a:fld id="{6BD31537-93EB-4B4A-9E82-83E515FF07E0}"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68670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Register Transfer Language (RTL)</a:t>
            </a:r>
          </a:p>
        </p:txBody>
      </p:sp>
      <p:sp>
        <p:nvSpPr>
          <p:cNvPr id="3" name="Content Placeholder 2"/>
          <p:cNvSpPr>
            <a:spLocks noGrp="1"/>
          </p:cNvSpPr>
          <p:nvPr>
            <p:ph idx="1"/>
          </p:nvPr>
        </p:nvSpPr>
        <p:spPr>
          <a:xfrm>
            <a:off x="457200" y="742950"/>
            <a:ext cx="8229600" cy="3851673"/>
          </a:xfrm>
          <a:noFill/>
        </p:spPr>
        <p:txBody>
          <a:bodyPr>
            <a:normAutofit/>
          </a:bodyPr>
          <a:lstStyle/>
          <a:p>
            <a:pPr>
              <a:tabLst>
                <a:tab pos="463550" algn="l"/>
              </a:tabLst>
            </a:pPr>
            <a:r>
              <a:rPr lang="en-US" sz="2000" dirty="0"/>
              <a:t>The symbolic notation used to describe the micro-operation transfers amongst registers is called </a:t>
            </a:r>
            <a:r>
              <a:rPr lang="en-US" sz="2000" b="1" dirty="0"/>
              <a:t>Register transfer language</a:t>
            </a:r>
            <a:r>
              <a:rPr lang="en-US" sz="2000" dirty="0"/>
              <a:t>.</a:t>
            </a:r>
          </a:p>
          <a:p>
            <a:pPr>
              <a:tabLst>
                <a:tab pos="463550" algn="l"/>
              </a:tabLst>
            </a:pPr>
            <a:r>
              <a:rPr lang="en-US" sz="2000" dirty="0"/>
              <a:t>Register Transfer Language, RTL, (sometimes called register transfer notation) is a powerful high level method of describing the architecture of a circuit.</a:t>
            </a:r>
          </a:p>
          <a:p>
            <a:pPr>
              <a:tabLst>
                <a:tab pos="463550" algn="l"/>
              </a:tabLst>
            </a:pPr>
            <a:r>
              <a:rPr lang="en-US" sz="2000" dirty="0"/>
              <a:t>Information transfer from one register to another is designated in symbolic form by means of a replacement operator. </a:t>
            </a:r>
          </a:p>
          <a:p>
            <a:pPr>
              <a:tabLst>
                <a:tab pos="463550" algn="l"/>
              </a:tabLst>
            </a:pPr>
            <a:r>
              <a:rPr lang="en-US" sz="2000" dirty="0"/>
              <a:t>For example: R2</a:t>
            </a:r>
            <a:r>
              <a:rPr lang="en-US" sz="2000" dirty="0">
                <a:sym typeface="Wingdings" panose="05000000000000000000" pitchFamily="2" charset="2"/>
              </a:rPr>
              <a:t> </a:t>
            </a:r>
            <a:r>
              <a:rPr lang="en-US" sz="2000" dirty="0"/>
              <a:t>R1 </a:t>
            </a:r>
          </a:p>
          <a:p>
            <a:pPr lvl="1">
              <a:tabLst>
                <a:tab pos="463550" algn="l"/>
              </a:tabLst>
            </a:pPr>
            <a:r>
              <a:rPr lang="en-US" sz="1600" dirty="0"/>
              <a:t>The statement denotes a transfer of the content of register R1 into register R2. It designates a replacement of the content of R2 by the content of R1. </a:t>
            </a:r>
          </a:p>
          <a:p>
            <a:pPr lvl="1">
              <a:tabLst>
                <a:tab pos="463550" algn="l"/>
              </a:tabLst>
            </a:pPr>
            <a:r>
              <a:rPr lang="en-US" sz="1600" dirty="0"/>
              <a:t>By definition, the content of the source register R1 does not change after the transfer. </a:t>
            </a:r>
          </a:p>
          <a:p>
            <a:pPr>
              <a:tabLst>
                <a:tab pos="463550" algn="l"/>
              </a:tabLst>
            </a:pPr>
            <a:endParaRPr lang="en-US" sz="2000" dirty="0"/>
          </a:p>
        </p:txBody>
      </p:sp>
      <p:sp>
        <p:nvSpPr>
          <p:cNvPr id="4" name="Date Placeholder 3"/>
          <p:cNvSpPr>
            <a:spLocks noGrp="1"/>
          </p:cNvSpPr>
          <p:nvPr>
            <p:ph type="dt" sz="half" idx="10"/>
          </p:nvPr>
        </p:nvSpPr>
        <p:spPr/>
        <p:txBody>
          <a:bodyPr/>
          <a:lstStyle/>
          <a:p>
            <a:fld id="{97B59920-15FF-4CA4-896C-E947DC661A8B}"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14214336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Register Transfer</a:t>
            </a:r>
          </a:p>
        </p:txBody>
      </p:sp>
      <p:sp>
        <p:nvSpPr>
          <p:cNvPr id="3" name="Content Placeholder 2"/>
          <p:cNvSpPr>
            <a:spLocks noGrp="1"/>
          </p:cNvSpPr>
          <p:nvPr>
            <p:ph idx="1"/>
          </p:nvPr>
        </p:nvSpPr>
        <p:spPr>
          <a:xfrm>
            <a:off x="457200" y="742950"/>
            <a:ext cx="5334000" cy="3851673"/>
          </a:xfrm>
          <a:noFill/>
        </p:spPr>
        <p:txBody>
          <a:bodyPr>
            <a:normAutofit fontScale="70000" lnSpcReduction="20000"/>
          </a:bodyPr>
          <a:lstStyle/>
          <a:p>
            <a:r>
              <a:rPr lang="en-US" sz="2800" dirty="0"/>
              <a:t>Information transferred from one register to another is designated in symbolic form by means of replacement operator.</a:t>
            </a:r>
          </a:p>
          <a:p>
            <a:pPr marL="0" indent="0">
              <a:buNone/>
            </a:pPr>
            <a:r>
              <a:rPr lang="en-US" sz="2800" b="1" dirty="0"/>
              <a:t>	R2 ← R1</a:t>
            </a:r>
            <a:endParaRPr lang="en-US" sz="2800" dirty="0"/>
          </a:p>
          <a:p>
            <a:r>
              <a:rPr lang="en-US" sz="2800" dirty="0"/>
              <a:t>It denotes the transfer of the data from register R1 into R2.</a:t>
            </a:r>
          </a:p>
          <a:p>
            <a:r>
              <a:rPr lang="en-US" sz="2800" dirty="0"/>
              <a:t>Normally we want the transfer to occur only in predetermined control condition. This can be shown by following </a:t>
            </a:r>
            <a:r>
              <a:rPr lang="en-US" sz="2800" b="1" dirty="0"/>
              <a:t>if-then</a:t>
            </a:r>
            <a:r>
              <a:rPr lang="en-US" sz="2800" dirty="0"/>
              <a:t> statement: </a:t>
            </a:r>
          </a:p>
          <a:p>
            <a:pPr marL="0" indent="0">
              <a:buNone/>
            </a:pPr>
            <a:r>
              <a:rPr lang="en-US" sz="2800" dirty="0"/>
              <a:t>	if (P=1) then (R2 ← R1)</a:t>
            </a:r>
          </a:p>
          <a:p>
            <a:r>
              <a:rPr lang="en-US" sz="2800" dirty="0"/>
              <a:t>Here, P  is a control signal generated in the control section.</a:t>
            </a:r>
            <a:endParaRPr lang="en-US" sz="1800" dirty="0"/>
          </a:p>
        </p:txBody>
      </p:sp>
      <p:sp>
        <p:nvSpPr>
          <p:cNvPr id="4" name="Date Placeholder 3"/>
          <p:cNvSpPr>
            <a:spLocks noGrp="1"/>
          </p:cNvSpPr>
          <p:nvPr>
            <p:ph type="dt" sz="half" idx="10"/>
          </p:nvPr>
        </p:nvSpPr>
        <p:spPr/>
        <p:txBody>
          <a:bodyPr/>
          <a:lstStyle/>
          <a:p>
            <a:fld id="{D6D62178-CB73-428D-94A6-D2EBC8326997}"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76</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F41485BF-AC9F-4CFD-895A-31EDEAF9DEE6}"/>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33076" b="62400"/>
          <a:stretch/>
        </p:blipFill>
        <p:spPr>
          <a:xfrm>
            <a:off x="5977096" y="1339970"/>
            <a:ext cx="3025599" cy="1688980"/>
          </a:xfrm>
          <a:prstGeom prst="rect">
            <a:avLst/>
          </a:prstGeom>
        </p:spPr>
      </p:pic>
    </p:spTree>
    <p:extLst>
      <p:ext uri="{BB962C8B-B14F-4D97-AF65-F5344CB8AC3E}">
        <p14:creationId xmlns:p14="http://schemas.microsoft.com/office/powerpoint/2010/main" val="37717705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Control Function</a:t>
            </a:r>
          </a:p>
        </p:txBody>
      </p:sp>
      <p:sp>
        <p:nvSpPr>
          <p:cNvPr id="3" name="Content Placeholder 2"/>
          <p:cNvSpPr>
            <a:spLocks noGrp="1"/>
          </p:cNvSpPr>
          <p:nvPr>
            <p:ph idx="1"/>
          </p:nvPr>
        </p:nvSpPr>
        <p:spPr>
          <a:xfrm>
            <a:off x="457200" y="742950"/>
            <a:ext cx="4572000" cy="3851673"/>
          </a:xfrm>
          <a:noFill/>
        </p:spPr>
        <p:txBody>
          <a:bodyPr>
            <a:normAutofit fontScale="92500" lnSpcReduction="10000"/>
          </a:bodyPr>
          <a:lstStyle/>
          <a:p>
            <a:r>
              <a:rPr lang="en-US" sz="2000" dirty="0"/>
              <a:t>A control function is a Boolean variable that is equal to 1 or 0. The control function is shown as:</a:t>
            </a:r>
          </a:p>
          <a:p>
            <a:pPr marL="0" indent="0">
              <a:buNone/>
            </a:pPr>
            <a:r>
              <a:rPr lang="en-US" sz="2000" b="1" dirty="0"/>
              <a:t>	P: R2 ← R1</a:t>
            </a:r>
            <a:endParaRPr lang="en-US" sz="2000" dirty="0"/>
          </a:p>
          <a:p>
            <a:r>
              <a:rPr lang="en-US" sz="2000" dirty="0"/>
              <a:t>The control condition is terminated with a colon. </a:t>
            </a:r>
          </a:p>
          <a:p>
            <a:r>
              <a:rPr lang="en-US" sz="2000" dirty="0"/>
              <a:t>It shows that transfer operation can be executed only if P=1.</a:t>
            </a:r>
          </a:p>
          <a:p>
            <a:r>
              <a:rPr lang="en-US" sz="2000" dirty="0"/>
              <a:t>If two or more operations are to occur simultaneously, they are separated with commas.</a:t>
            </a:r>
          </a:p>
          <a:p>
            <a:r>
              <a:rPr lang="en-US" sz="2000" dirty="0"/>
              <a:t>Example:</a:t>
            </a:r>
          </a:p>
          <a:p>
            <a:pPr marL="0" indent="0">
              <a:buNone/>
            </a:pPr>
            <a:r>
              <a:rPr lang="pt-BR" sz="2000" dirty="0"/>
              <a:t>	</a:t>
            </a:r>
            <a:r>
              <a:rPr lang="pt-BR" sz="2000" b="1" dirty="0"/>
              <a:t>P: R2 </a:t>
            </a:r>
            <a:r>
              <a:rPr lang="pt-BR" sz="2000" b="1" dirty="0">
                <a:sym typeface="Wingdings" panose="05000000000000000000" pitchFamily="2" charset="2"/>
              </a:rPr>
              <a:t></a:t>
            </a:r>
            <a:r>
              <a:rPr lang="pt-BR" sz="2000" b="1" dirty="0"/>
              <a:t>R1, MAR </a:t>
            </a:r>
            <a:r>
              <a:rPr lang="pt-BR" sz="2000" b="1" dirty="0">
                <a:sym typeface="Wingdings" panose="05000000000000000000" pitchFamily="2" charset="2"/>
              </a:rPr>
              <a:t></a:t>
            </a:r>
            <a:r>
              <a:rPr lang="pt-BR" sz="2000" b="1" dirty="0"/>
              <a:t>IR </a:t>
            </a:r>
            <a:endParaRPr lang="en-US" sz="2000" b="1" dirty="0"/>
          </a:p>
          <a:p>
            <a:endParaRPr lang="en-US" sz="1200" dirty="0"/>
          </a:p>
        </p:txBody>
      </p:sp>
      <p:sp>
        <p:nvSpPr>
          <p:cNvPr id="4" name="Date Placeholder 3"/>
          <p:cNvSpPr>
            <a:spLocks noGrp="1"/>
          </p:cNvSpPr>
          <p:nvPr>
            <p:ph type="dt" sz="half" idx="10"/>
          </p:nvPr>
        </p:nvSpPr>
        <p:spPr/>
        <p:txBody>
          <a:bodyPr/>
          <a:lstStyle/>
          <a:p>
            <a:fld id="{A404FBD7-89DA-4B51-A93B-F9003CB1E5A2}"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77</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A223E7CC-2D2E-4ADD-9BF0-C537D89CDA4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181600" y="813714"/>
            <a:ext cx="3685990" cy="3662362"/>
          </a:xfrm>
          <a:prstGeom prst="rect">
            <a:avLst/>
          </a:prstGeom>
        </p:spPr>
      </p:pic>
    </p:spTree>
    <p:extLst>
      <p:ext uri="{BB962C8B-B14F-4D97-AF65-F5344CB8AC3E}">
        <p14:creationId xmlns:p14="http://schemas.microsoft.com/office/powerpoint/2010/main" val="42406545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Arithmetic Microoperation</a:t>
            </a:r>
          </a:p>
        </p:txBody>
      </p:sp>
      <p:sp>
        <p:nvSpPr>
          <p:cNvPr id="3" name="Content Placeholder 2"/>
          <p:cNvSpPr>
            <a:spLocks noGrp="1"/>
          </p:cNvSpPr>
          <p:nvPr>
            <p:ph idx="1"/>
          </p:nvPr>
        </p:nvSpPr>
        <p:spPr>
          <a:xfrm>
            <a:off x="457200" y="742950"/>
            <a:ext cx="8229600" cy="3851673"/>
          </a:xfrm>
          <a:noFill/>
        </p:spPr>
        <p:txBody>
          <a:bodyPr>
            <a:normAutofit/>
          </a:bodyPr>
          <a:lstStyle/>
          <a:p>
            <a:r>
              <a:rPr lang="en-US" sz="1800" dirty="0"/>
              <a:t>The operations executed on data stored in registers are called </a:t>
            </a:r>
            <a:r>
              <a:rPr lang="en-US" sz="1800" b="1" dirty="0"/>
              <a:t>microoperations</a:t>
            </a:r>
            <a:r>
              <a:rPr lang="en-US" sz="1800" dirty="0"/>
              <a:t>. </a:t>
            </a:r>
          </a:p>
          <a:p>
            <a:r>
              <a:rPr lang="en-US" sz="1800" dirty="0"/>
              <a:t>Examples of microoperations are shift, count, clear and load</a:t>
            </a:r>
          </a:p>
        </p:txBody>
      </p:sp>
      <p:sp>
        <p:nvSpPr>
          <p:cNvPr id="4" name="Date Placeholder 3"/>
          <p:cNvSpPr>
            <a:spLocks noGrp="1"/>
          </p:cNvSpPr>
          <p:nvPr>
            <p:ph type="dt" sz="half" idx="10"/>
          </p:nvPr>
        </p:nvSpPr>
        <p:spPr/>
        <p:txBody>
          <a:bodyPr/>
          <a:lstStyle/>
          <a:p>
            <a:fld id="{4F0A80C7-9806-40E7-8E7B-C838B6DCA3A3}"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78</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8" name="Picture 7">
            <a:extLst>
              <a:ext uri="{FF2B5EF4-FFF2-40B4-BE49-F238E27FC236}">
                <a16:creationId xmlns:a16="http://schemas.microsoft.com/office/drawing/2014/main" id="{5B7F9A37-1F9F-4843-87FF-AE84564D26F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776287" y="1607153"/>
            <a:ext cx="7591425" cy="3074437"/>
          </a:xfrm>
          <a:prstGeom prst="rect">
            <a:avLst/>
          </a:prstGeom>
        </p:spPr>
      </p:pic>
    </p:spTree>
    <p:extLst>
      <p:ext uri="{BB962C8B-B14F-4D97-AF65-F5344CB8AC3E}">
        <p14:creationId xmlns:p14="http://schemas.microsoft.com/office/powerpoint/2010/main" val="21096745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Logic Microoperation</a:t>
            </a:r>
          </a:p>
        </p:txBody>
      </p:sp>
      <p:graphicFrame>
        <p:nvGraphicFramePr>
          <p:cNvPr id="8" name="Table 8">
            <a:extLst>
              <a:ext uri="{FF2B5EF4-FFF2-40B4-BE49-F238E27FC236}">
                <a16:creationId xmlns:a16="http://schemas.microsoft.com/office/drawing/2014/main" id="{6A83B3A4-2CD4-473F-AFD5-50C7B3BA940E}"/>
              </a:ext>
            </a:extLst>
          </p:cNvPr>
          <p:cNvGraphicFramePr>
            <a:graphicFrameLocks noGrp="1"/>
          </p:cNvGraphicFramePr>
          <p:nvPr>
            <p:ph idx="1"/>
            <p:extLst>
              <p:ext uri="{D42A27DB-BD31-4B8C-83A1-F6EECF244321}">
                <p14:modId xmlns:p14="http://schemas.microsoft.com/office/powerpoint/2010/main" val="2544011011"/>
              </p:ext>
            </p:extLst>
          </p:nvPr>
        </p:nvGraphicFramePr>
        <p:xfrm>
          <a:off x="495300" y="1276350"/>
          <a:ext cx="3390900" cy="2123440"/>
        </p:xfrm>
        <a:graphic>
          <a:graphicData uri="http://schemas.openxmlformats.org/drawingml/2006/table">
            <a:tbl>
              <a:tblPr firstRow="1" bandRow="1">
                <a:tableStyleId>{5C22544A-7EE6-4342-B048-85BDC9FD1C3A}</a:tableStyleId>
              </a:tblPr>
              <a:tblGrid>
                <a:gridCol w="1695450">
                  <a:extLst>
                    <a:ext uri="{9D8B030D-6E8A-4147-A177-3AD203B41FA5}">
                      <a16:colId xmlns:a16="http://schemas.microsoft.com/office/drawing/2014/main" val="2135346517"/>
                    </a:ext>
                  </a:extLst>
                </a:gridCol>
                <a:gridCol w="1695450">
                  <a:extLst>
                    <a:ext uri="{9D8B030D-6E8A-4147-A177-3AD203B41FA5}">
                      <a16:colId xmlns:a16="http://schemas.microsoft.com/office/drawing/2014/main" val="613387529"/>
                    </a:ext>
                  </a:extLst>
                </a:gridCol>
              </a:tblGrid>
              <a:tr h="370840">
                <a:tc>
                  <a:txBody>
                    <a:bodyPr/>
                    <a:lstStyle/>
                    <a:p>
                      <a:r>
                        <a:rPr lang="en-US" dirty="0"/>
                        <a:t>Microoperation</a:t>
                      </a:r>
                    </a:p>
                  </a:txBody>
                  <a:tcPr/>
                </a:tc>
                <a:tc>
                  <a:txBody>
                    <a:bodyPr/>
                    <a:lstStyle/>
                    <a:p>
                      <a:r>
                        <a:rPr lang="en-US" dirty="0"/>
                        <a:t>Name</a:t>
                      </a:r>
                    </a:p>
                  </a:txBody>
                  <a:tcPr/>
                </a:tc>
                <a:extLst>
                  <a:ext uri="{0D108BD9-81ED-4DB2-BD59-A6C34878D82A}">
                    <a16:rowId xmlns:a16="http://schemas.microsoft.com/office/drawing/2014/main" val="3652144617"/>
                  </a:ext>
                </a:extLst>
              </a:tr>
              <a:tr h="370840">
                <a:tc>
                  <a:txBody>
                    <a:bodyPr/>
                    <a:lstStyle/>
                    <a:p>
                      <a:r>
                        <a:rPr lang="en-US" dirty="0"/>
                        <a:t>F</a:t>
                      </a:r>
                      <a:r>
                        <a:rPr lang="en-US" dirty="0">
                          <a:sym typeface="Wingdings" panose="05000000000000000000" pitchFamily="2" charset="2"/>
                        </a:rPr>
                        <a:t>R1^ R2</a:t>
                      </a:r>
                      <a:endParaRPr lang="en-US" dirty="0"/>
                    </a:p>
                  </a:txBody>
                  <a:tcPr/>
                </a:tc>
                <a:tc>
                  <a:txBody>
                    <a:bodyPr/>
                    <a:lstStyle/>
                    <a:p>
                      <a:r>
                        <a:rPr lang="en-US" dirty="0"/>
                        <a:t>AND</a:t>
                      </a:r>
                    </a:p>
                  </a:txBody>
                  <a:tcPr/>
                </a:tc>
                <a:extLst>
                  <a:ext uri="{0D108BD9-81ED-4DB2-BD59-A6C34878D82A}">
                    <a16:rowId xmlns:a16="http://schemas.microsoft.com/office/drawing/2014/main" val="2437550691"/>
                  </a:ext>
                </a:extLst>
              </a:tr>
              <a:tr h="370840">
                <a:tc>
                  <a:txBody>
                    <a:bodyPr/>
                    <a:lstStyle/>
                    <a:p>
                      <a:r>
                        <a:rPr lang="en-US" dirty="0"/>
                        <a:t>F</a:t>
                      </a:r>
                      <a:r>
                        <a:rPr lang="en-US" dirty="0">
                          <a:sym typeface="Wingdings" panose="05000000000000000000" pitchFamily="2" charset="2"/>
                        </a:rPr>
                        <a:t> R1 v R2</a:t>
                      </a:r>
                      <a:endParaRPr lang="en-US" dirty="0"/>
                    </a:p>
                  </a:txBody>
                  <a:tcPr/>
                </a:tc>
                <a:tc>
                  <a:txBody>
                    <a:bodyPr/>
                    <a:lstStyle/>
                    <a:p>
                      <a:r>
                        <a:rPr lang="en-US" dirty="0"/>
                        <a:t>OR</a:t>
                      </a:r>
                    </a:p>
                  </a:txBody>
                  <a:tcPr/>
                </a:tc>
                <a:extLst>
                  <a:ext uri="{0D108BD9-81ED-4DB2-BD59-A6C34878D82A}">
                    <a16:rowId xmlns:a16="http://schemas.microsoft.com/office/drawing/2014/main" val="1725537792"/>
                  </a:ext>
                </a:extLst>
              </a:tr>
              <a:tr h="370840">
                <a:tc>
                  <a:txBody>
                    <a:bodyPr/>
                    <a:lstStyle/>
                    <a:p>
                      <a:r>
                        <a:rPr lang="en-US" dirty="0"/>
                        <a:t>F</a:t>
                      </a:r>
                      <a:r>
                        <a:rPr lang="en-US" dirty="0">
                          <a:sym typeface="Wingdings" panose="05000000000000000000" pitchFamily="2" charset="2"/>
                        </a:rPr>
                        <a:t> R1 </a:t>
                      </a:r>
                      <a:r>
                        <a:rPr lang="en-US" dirty="0"/>
                        <a:t>⊕ </a:t>
                      </a:r>
                      <a:r>
                        <a:rPr lang="en-US" dirty="0">
                          <a:sym typeface="Wingdings" panose="05000000000000000000" pitchFamily="2" charset="2"/>
                        </a:rPr>
                        <a:t>R2</a:t>
                      </a:r>
                      <a:endParaRPr lang="en-US" dirty="0"/>
                    </a:p>
                  </a:txBody>
                  <a:tcPr/>
                </a:tc>
                <a:tc>
                  <a:txBody>
                    <a:bodyPr/>
                    <a:lstStyle/>
                    <a:p>
                      <a:r>
                        <a:rPr lang="en-US" dirty="0"/>
                        <a:t>XOR</a:t>
                      </a:r>
                    </a:p>
                  </a:txBody>
                  <a:tcPr/>
                </a:tc>
                <a:extLst>
                  <a:ext uri="{0D108BD9-81ED-4DB2-BD59-A6C34878D82A}">
                    <a16:rowId xmlns:a16="http://schemas.microsoft.com/office/drawing/2014/main" val="2986042250"/>
                  </a:ext>
                </a:extLst>
              </a:tr>
              <a:tr h="370840">
                <a:tc>
                  <a:txBody>
                    <a:bodyPr/>
                    <a:lstStyle/>
                    <a:p>
                      <a:r>
                        <a:rPr lang="en-US" dirty="0"/>
                        <a:t>F</a:t>
                      </a:r>
                      <a:r>
                        <a:rPr lang="en-US" dirty="0">
                          <a:sym typeface="Wingdings" panose="05000000000000000000" pitchFamily="2" charset="2"/>
                        </a:rPr>
                        <a:t> R1’</a:t>
                      </a:r>
                      <a:endParaRPr lang="en-US" dirty="0"/>
                    </a:p>
                  </a:txBody>
                  <a:tcPr/>
                </a:tc>
                <a:tc>
                  <a:txBody>
                    <a:bodyPr/>
                    <a:lstStyle/>
                    <a:p>
                      <a:r>
                        <a:rPr lang="en-US" dirty="0"/>
                        <a:t>Complement (NOT)</a:t>
                      </a:r>
                    </a:p>
                  </a:txBody>
                  <a:tcPr/>
                </a:tc>
                <a:extLst>
                  <a:ext uri="{0D108BD9-81ED-4DB2-BD59-A6C34878D82A}">
                    <a16:rowId xmlns:a16="http://schemas.microsoft.com/office/drawing/2014/main" val="4224439600"/>
                  </a:ext>
                </a:extLst>
              </a:tr>
            </a:tbl>
          </a:graphicData>
        </a:graphic>
      </p:graphicFrame>
      <p:sp>
        <p:nvSpPr>
          <p:cNvPr id="4" name="Date Placeholder 3"/>
          <p:cNvSpPr>
            <a:spLocks noGrp="1"/>
          </p:cNvSpPr>
          <p:nvPr>
            <p:ph type="dt" sz="half" idx="10"/>
          </p:nvPr>
        </p:nvSpPr>
        <p:spPr/>
        <p:txBody>
          <a:bodyPr/>
          <a:lstStyle/>
          <a:p>
            <a:fld id="{3C6E2743-F50B-40D3-9186-B7BBD5DAEB7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10" name="Picture 9">
            <a:extLst>
              <a:ext uri="{FF2B5EF4-FFF2-40B4-BE49-F238E27FC236}">
                <a16:creationId xmlns:a16="http://schemas.microsoft.com/office/drawing/2014/main" id="{5560FBD9-8FD6-4D6D-9D48-8D34FB27B82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4191000" y="1292543"/>
            <a:ext cx="4500207" cy="2650807"/>
          </a:xfrm>
          <a:prstGeom prst="rect">
            <a:avLst/>
          </a:prstGeom>
        </p:spPr>
      </p:pic>
      <p:sp>
        <p:nvSpPr>
          <p:cNvPr id="11" name="TextBox 10">
            <a:extLst>
              <a:ext uri="{FF2B5EF4-FFF2-40B4-BE49-F238E27FC236}">
                <a16:creationId xmlns:a16="http://schemas.microsoft.com/office/drawing/2014/main" id="{6A017D92-0C19-441D-992E-FCCC393212B6}"/>
              </a:ext>
            </a:extLst>
          </p:cNvPr>
          <p:cNvSpPr txBox="1"/>
          <p:nvPr/>
        </p:nvSpPr>
        <p:spPr>
          <a:xfrm>
            <a:off x="5638800" y="4324350"/>
            <a:ext cx="3362267" cy="369332"/>
          </a:xfrm>
          <a:prstGeom prst="rect">
            <a:avLst/>
          </a:prstGeom>
          <a:noFill/>
        </p:spPr>
        <p:txBody>
          <a:bodyPr wrap="none" rtlCol="0">
            <a:spAutoFit/>
          </a:bodyPr>
          <a:lstStyle/>
          <a:p>
            <a:r>
              <a:rPr lang="en-US" i="1" dirty="0"/>
              <a:t>Figure: Hardware Implementation</a:t>
            </a:r>
          </a:p>
        </p:txBody>
      </p:sp>
    </p:spTree>
    <p:extLst>
      <p:ext uri="{BB962C8B-B14F-4D97-AF65-F5344CB8AC3E}">
        <p14:creationId xmlns:p14="http://schemas.microsoft.com/office/powerpoint/2010/main" val="81622887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B050"/>
                </a:solidFill>
              </a:rPr>
              <a:t>Shift Microoperation</a:t>
            </a:r>
          </a:p>
        </p:txBody>
      </p:sp>
      <p:graphicFrame>
        <p:nvGraphicFramePr>
          <p:cNvPr id="8" name="Table 8">
            <a:extLst>
              <a:ext uri="{FF2B5EF4-FFF2-40B4-BE49-F238E27FC236}">
                <a16:creationId xmlns:a16="http://schemas.microsoft.com/office/drawing/2014/main" id="{6A83B3A4-2CD4-473F-AFD5-50C7B3BA940E}"/>
              </a:ext>
            </a:extLst>
          </p:cNvPr>
          <p:cNvGraphicFramePr>
            <a:graphicFrameLocks noGrp="1"/>
          </p:cNvGraphicFramePr>
          <p:nvPr>
            <p:ph idx="1"/>
            <p:extLst>
              <p:ext uri="{D42A27DB-BD31-4B8C-83A1-F6EECF244321}">
                <p14:modId xmlns:p14="http://schemas.microsoft.com/office/powerpoint/2010/main" val="2273188334"/>
              </p:ext>
            </p:extLst>
          </p:nvPr>
        </p:nvGraphicFramePr>
        <p:xfrm>
          <a:off x="495300" y="1276350"/>
          <a:ext cx="3314700" cy="3185160"/>
        </p:xfrm>
        <a:graphic>
          <a:graphicData uri="http://schemas.openxmlformats.org/drawingml/2006/table">
            <a:tbl>
              <a:tblPr firstRow="1" bandRow="1">
                <a:tableStyleId>{5C22544A-7EE6-4342-B048-85BDC9FD1C3A}</a:tableStyleId>
              </a:tblPr>
              <a:tblGrid>
                <a:gridCol w="1485900">
                  <a:extLst>
                    <a:ext uri="{9D8B030D-6E8A-4147-A177-3AD203B41FA5}">
                      <a16:colId xmlns:a16="http://schemas.microsoft.com/office/drawing/2014/main" val="2135346517"/>
                    </a:ext>
                  </a:extLst>
                </a:gridCol>
                <a:gridCol w="1828800">
                  <a:extLst>
                    <a:ext uri="{9D8B030D-6E8A-4147-A177-3AD203B41FA5}">
                      <a16:colId xmlns:a16="http://schemas.microsoft.com/office/drawing/2014/main" val="613387529"/>
                    </a:ext>
                  </a:extLst>
                </a:gridCol>
              </a:tblGrid>
              <a:tr h="370840">
                <a:tc>
                  <a:txBody>
                    <a:bodyPr/>
                    <a:lstStyle/>
                    <a:p>
                      <a:r>
                        <a:rPr lang="en-US" sz="1400" dirty="0"/>
                        <a:t>Microoperation</a:t>
                      </a:r>
                    </a:p>
                  </a:txBody>
                  <a:tcPr/>
                </a:tc>
                <a:tc>
                  <a:txBody>
                    <a:bodyPr/>
                    <a:lstStyle/>
                    <a:p>
                      <a:r>
                        <a:rPr lang="en-US" sz="1400" dirty="0"/>
                        <a:t>Name</a:t>
                      </a:r>
                    </a:p>
                  </a:txBody>
                  <a:tcPr/>
                </a:tc>
                <a:extLst>
                  <a:ext uri="{0D108BD9-81ED-4DB2-BD59-A6C34878D82A}">
                    <a16:rowId xmlns:a16="http://schemas.microsoft.com/office/drawing/2014/main" val="3652144617"/>
                  </a:ext>
                </a:extLst>
              </a:tr>
              <a:tr h="370840">
                <a:tc>
                  <a:txBody>
                    <a:bodyPr/>
                    <a:lstStyle/>
                    <a:p>
                      <a:r>
                        <a:rPr lang="en-US" sz="1400" dirty="0"/>
                        <a:t>R</a:t>
                      </a:r>
                      <a:r>
                        <a:rPr lang="en-US" sz="1400" dirty="0">
                          <a:sym typeface="Wingdings" panose="05000000000000000000" pitchFamily="2" charset="2"/>
                        </a:rPr>
                        <a:t> </a:t>
                      </a:r>
                      <a:r>
                        <a:rPr lang="en-US" sz="1400" dirty="0" err="1">
                          <a:sym typeface="Wingdings" panose="05000000000000000000" pitchFamily="2" charset="2"/>
                        </a:rPr>
                        <a:t>shl</a:t>
                      </a:r>
                      <a:r>
                        <a:rPr lang="en-US" sz="1400" dirty="0">
                          <a:sym typeface="Wingdings" panose="05000000000000000000" pitchFamily="2" charset="2"/>
                        </a:rPr>
                        <a:t> R</a:t>
                      </a:r>
                      <a:endParaRPr lang="en-US" sz="1400" dirty="0"/>
                    </a:p>
                  </a:txBody>
                  <a:tcPr/>
                </a:tc>
                <a:tc>
                  <a:txBody>
                    <a:bodyPr/>
                    <a:lstStyle/>
                    <a:p>
                      <a:r>
                        <a:rPr lang="en-US" sz="1400" dirty="0"/>
                        <a:t>Shift-left register R</a:t>
                      </a:r>
                    </a:p>
                  </a:txBody>
                  <a:tcPr/>
                </a:tc>
                <a:extLst>
                  <a:ext uri="{0D108BD9-81ED-4DB2-BD59-A6C34878D82A}">
                    <a16:rowId xmlns:a16="http://schemas.microsoft.com/office/drawing/2014/main" val="2437550691"/>
                  </a:ext>
                </a:extLst>
              </a:tr>
              <a:tr h="370840">
                <a:tc>
                  <a:txBody>
                    <a:bodyPr/>
                    <a:lstStyle/>
                    <a:p>
                      <a:r>
                        <a:rPr lang="en-US" sz="1400" dirty="0">
                          <a:sym typeface="Wingdings" panose="05000000000000000000" pitchFamily="2" charset="2"/>
                        </a:rPr>
                        <a:t>R </a:t>
                      </a:r>
                      <a:r>
                        <a:rPr lang="en-US" sz="1400" dirty="0" err="1">
                          <a:sym typeface="Wingdings" panose="05000000000000000000" pitchFamily="2" charset="2"/>
                        </a:rPr>
                        <a:t>shr</a:t>
                      </a:r>
                      <a:r>
                        <a:rPr lang="en-US" sz="1400" dirty="0">
                          <a:sym typeface="Wingdings" panose="05000000000000000000" pitchFamily="2" charset="2"/>
                        </a:rPr>
                        <a:t> R</a:t>
                      </a:r>
                      <a:endParaRPr lang="en-US" sz="1400" dirty="0"/>
                    </a:p>
                  </a:txBody>
                  <a:tcPr/>
                </a:tc>
                <a:tc>
                  <a:txBody>
                    <a:bodyPr/>
                    <a:lstStyle/>
                    <a:p>
                      <a:r>
                        <a:rPr lang="en-US" sz="1400" dirty="0"/>
                        <a:t>Shift-right register R</a:t>
                      </a:r>
                    </a:p>
                  </a:txBody>
                  <a:tcPr/>
                </a:tc>
                <a:extLst>
                  <a:ext uri="{0D108BD9-81ED-4DB2-BD59-A6C34878D82A}">
                    <a16:rowId xmlns:a16="http://schemas.microsoft.com/office/drawing/2014/main" val="1725537792"/>
                  </a:ext>
                </a:extLst>
              </a:tr>
              <a:tr h="370840">
                <a:tc>
                  <a:txBody>
                    <a:bodyPr/>
                    <a:lstStyle/>
                    <a:p>
                      <a:r>
                        <a:rPr lang="en-US" sz="1400" dirty="0"/>
                        <a:t>R</a:t>
                      </a:r>
                      <a:r>
                        <a:rPr lang="en-US" sz="1400" dirty="0">
                          <a:sym typeface="Wingdings" panose="05000000000000000000" pitchFamily="2" charset="2"/>
                        </a:rPr>
                        <a:t> </a:t>
                      </a:r>
                      <a:r>
                        <a:rPr lang="en-US" sz="1400" dirty="0" err="1">
                          <a:sym typeface="Wingdings" panose="05000000000000000000" pitchFamily="2" charset="2"/>
                        </a:rPr>
                        <a:t>ashl</a:t>
                      </a:r>
                      <a:r>
                        <a:rPr lang="en-US" sz="1400" dirty="0">
                          <a:sym typeface="Wingdings" panose="05000000000000000000" pitchFamily="2" charset="2"/>
                        </a:rPr>
                        <a:t> R</a:t>
                      </a:r>
                      <a:endParaRPr lang="en-US" sz="1400" dirty="0"/>
                    </a:p>
                  </a:txBody>
                  <a:tcPr/>
                </a:tc>
                <a:tc>
                  <a:txBody>
                    <a:bodyPr/>
                    <a:lstStyle/>
                    <a:p>
                      <a:r>
                        <a:rPr lang="en-US" sz="1400" dirty="0"/>
                        <a:t>Arithmetic left shift register R</a:t>
                      </a:r>
                    </a:p>
                  </a:txBody>
                  <a:tcPr/>
                </a:tc>
                <a:extLst>
                  <a:ext uri="{0D108BD9-81ED-4DB2-BD59-A6C34878D82A}">
                    <a16:rowId xmlns:a16="http://schemas.microsoft.com/office/drawing/2014/main" val="2187033771"/>
                  </a:ext>
                </a:extLst>
              </a:tr>
              <a:tr h="370840">
                <a:tc>
                  <a:txBody>
                    <a:bodyPr/>
                    <a:lstStyle/>
                    <a:p>
                      <a:r>
                        <a:rPr lang="en-US" sz="1400" dirty="0"/>
                        <a:t>R</a:t>
                      </a:r>
                      <a:r>
                        <a:rPr lang="en-US" sz="1400" dirty="0">
                          <a:sym typeface="Wingdings" panose="05000000000000000000" pitchFamily="2" charset="2"/>
                        </a:rPr>
                        <a:t> </a:t>
                      </a:r>
                      <a:r>
                        <a:rPr lang="en-US" sz="1400" dirty="0" err="1">
                          <a:sym typeface="Wingdings" panose="05000000000000000000" pitchFamily="2" charset="2"/>
                        </a:rPr>
                        <a:t>ashr</a:t>
                      </a:r>
                      <a:r>
                        <a:rPr lang="en-US" sz="1400" dirty="0">
                          <a:sym typeface="Wingdings" panose="05000000000000000000" pitchFamily="2" charset="2"/>
                        </a:rPr>
                        <a:t> R</a:t>
                      </a:r>
                      <a:endParaRPr lang="en-US" sz="1400" dirty="0"/>
                    </a:p>
                  </a:txBody>
                  <a:tcPr/>
                </a:tc>
                <a:tc>
                  <a:txBody>
                    <a:bodyPr/>
                    <a:lstStyle/>
                    <a:p>
                      <a:r>
                        <a:rPr lang="en-US" sz="1400" dirty="0"/>
                        <a:t>Arithmetic right shift register R</a:t>
                      </a:r>
                    </a:p>
                  </a:txBody>
                  <a:tcPr/>
                </a:tc>
                <a:extLst>
                  <a:ext uri="{0D108BD9-81ED-4DB2-BD59-A6C34878D82A}">
                    <a16:rowId xmlns:a16="http://schemas.microsoft.com/office/drawing/2014/main" val="3386137302"/>
                  </a:ext>
                </a:extLst>
              </a:tr>
              <a:tr h="370840">
                <a:tc>
                  <a:txBody>
                    <a:bodyPr/>
                    <a:lstStyle/>
                    <a:p>
                      <a:r>
                        <a:rPr lang="en-US" sz="1400" dirty="0" err="1"/>
                        <a:t>R</a:t>
                      </a:r>
                      <a:r>
                        <a:rPr lang="en-US" sz="1400" dirty="0" err="1">
                          <a:sym typeface="Wingdings" panose="05000000000000000000" pitchFamily="2" charset="2"/>
                        </a:rPr>
                        <a:t>cil</a:t>
                      </a:r>
                      <a:r>
                        <a:rPr lang="en-US" sz="1400" dirty="0">
                          <a:sym typeface="Wingdings" panose="05000000000000000000" pitchFamily="2" charset="2"/>
                        </a:rPr>
                        <a:t> R</a:t>
                      </a:r>
                      <a:endParaRPr lang="en-US" sz="1400" dirty="0"/>
                    </a:p>
                  </a:txBody>
                  <a:tcPr/>
                </a:tc>
                <a:tc>
                  <a:txBody>
                    <a:bodyPr/>
                    <a:lstStyle/>
                    <a:p>
                      <a:r>
                        <a:rPr lang="en-US" sz="1400" dirty="0"/>
                        <a:t>Circular shift-left register R</a:t>
                      </a:r>
                    </a:p>
                  </a:txBody>
                  <a:tcPr/>
                </a:tc>
                <a:extLst>
                  <a:ext uri="{0D108BD9-81ED-4DB2-BD59-A6C34878D82A}">
                    <a16:rowId xmlns:a16="http://schemas.microsoft.com/office/drawing/2014/main" val="3328029050"/>
                  </a:ext>
                </a:extLst>
              </a:tr>
              <a:tr h="370840">
                <a:tc>
                  <a:txBody>
                    <a:bodyPr/>
                    <a:lstStyle/>
                    <a:p>
                      <a:r>
                        <a:rPr lang="en-US" sz="1400" dirty="0" err="1"/>
                        <a:t>R</a:t>
                      </a:r>
                      <a:r>
                        <a:rPr lang="en-US" sz="1400" dirty="0" err="1">
                          <a:sym typeface="Wingdings" panose="05000000000000000000" pitchFamily="2" charset="2"/>
                        </a:rPr>
                        <a:t>cir</a:t>
                      </a:r>
                      <a:r>
                        <a:rPr lang="en-US" sz="1400" dirty="0">
                          <a:sym typeface="Wingdings" panose="05000000000000000000" pitchFamily="2" charset="2"/>
                        </a:rPr>
                        <a:t> R</a:t>
                      </a:r>
                      <a:endParaRPr lang="en-US" sz="1400" dirty="0"/>
                    </a:p>
                  </a:txBody>
                  <a:tcPr/>
                </a:tc>
                <a:tc>
                  <a:txBody>
                    <a:bodyPr/>
                    <a:lstStyle/>
                    <a:p>
                      <a:r>
                        <a:rPr lang="en-US" sz="1400" dirty="0"/>
                        <a:t>Circular shift-right register R</a:t>
                      </a:r>
                    </a:p>
                  </a:txBody>
                  <a:tcPr/>
                </a:tc>
                <a:extLst>
                  <a:ext uri="{0D108BD9-81ED-4DB2-BD59-A6C34878D82A}">
                    <a16:rowId xmlns:a16="http://schemas.microsoft.com/office/drawing/2014/main" val="4174236125"/>
                  </a:ext>
                </a:extLst>
              </a:tr>
            </a:tbl>
          </a:graphicData>
        </a:graphic>
      </p:graphicFrame>
      <p:sp>
        <p:nvSpPr>
          <p:cNvPr id="4" name="Date Placeholder 3"/>
          <p:cNvSpPr>
            <a:spLocks noGrp="1"/>
          </p:cNvSpPr>
          <p:nvPr>
            <p:ph type="dt" sz="half" idx="10"/>
          </p:nvPr>
        </p:nvSpPr>
        <p:spPr/>
        <p:txBody>
          <a:bodyPr/>
          <a:lstStyle/>
          <a:p>
            <a:fld id="{E14E76F6-2518-4157-8E26-40DA7DD6A584}"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9" name="Content Placeholder 6">
            <a:extLst>
              <a:ext uri="{FF2B5EF4-FFF2-40B4-BE49-F238E27FC236}">
                <a16:creationId xmlns:a16="http://schemas.microsoft.com/office/drawing/2014/main" id="{17B5AC40-5389-45C2-81DF-BD6447AB2D7C}"/>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38000"/>
                    </a14:imgEffect>
                  </a14:imgLayer>
                </a14:imgProps>
              </a:ext>
            </a:extLst>
          </a:blip>
          <a:srcRect b="5703"/>
          <a:stretch/>
        </p:blipFill>
        <p:spPr>
          <a:xfrm>
            <a:off x="4122448" y="275921"/>
            <a:ext cx="2485136" cy="2067230"/>
          </a:xfrm>
          <a:prstGeom prst="rect">
            <a:avLst/>
          </a:prstGeom>
        </p:spPr>
      </p:pic>
      <p:pic>
        <p:nvPicPr>
          <p:cNvPr id="12" name="Picture 11">
            <a:extLst>
              <a:ext uri="{FF2B5EF4-FFF2-40B4-BE49-F238E27FC236}">
                <a16:creationId xmlns:a16="http://schemas.microsoft.com/office/drawing/2014/main" id="{5A633DCA-4276-4AC6-A0C1-4EB9F6BA52A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0000"/>
                    </a14:imgEffect>
                  </a14:imgLayer>
                </a14:imgProps>
              </a:ext>
            </a:extLst>
          </a:blip>
          <a:stretch>
            <a:fillRect/>
          </a:stretch>
        </p:blipFill>
        <p:spPr>
          <a:xfrm>
            <a:off x="6834754" y="275919"/>
            <a:ext cx="2164494" cy="2192245"/>
          </a:xfrm>
          <a:prstGeom prst="rect">
            <a:avLst/>
          </a:prstGeom>
        </p:spPr>
      </p:pic>
      <p:pic>
        <p:nvPicPr>
          <p:cNvPr id="13" name="Picture 6" descr="Lightbox">
            <a:extLst>
              <a:ext uri="{FF2B5EF4-FFF2-40B4-BE49-F238E27FC236}">
                <a16:creationId xmlns:a16="http://schemas.microsoft.com/office/drawing/2014/main" id="{2E0B48AB-34CF-4B59-A91A-BB4F8A33B4A8}"/>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sharpenSoften amount="20000"/>
                    </a14:imgEffect>
                  </a14:imgLayer>
                </a14:imgProps>
              </a:ext>
              <a:ext uri="{28A0092B-C50C-407E-A947-70E740481C1C}">
                <a14:useLocalDpi xmlns:a14="http://schemas.microsoft.com/office/drawing/2010/main" val="0"/>
              </a:ext>
            </a:extLst>
          </a:blip>
          <a:srcRect t="8590"/>
          <a:stretch/>
        </p:blipFill>
        <p:spPr bwMode="auto">
          <a:xfrm>
            <a:off x="4008892" y="2876550"/>
            <a:ext cx="2578639" cy="163607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Shift Micro Operations - Coding Ninjas">
            <a:extLst>
              <a:ext uri="{FF2B5EF4-FFF2-40B4-BE49-F238E27FC236}">
                <a16:creationId xmlns:a16="http://schemas.microsoft.com/office/drawing/2014/main" id="{88E635E8-58D3-4DEC-9F00-9936DB768C97}"/>
              </a:ext>
            </a:extLst>
          </p:cNvPr>
          <p:cNvPicPr>
            <a:picLocks noChangeAspect="1" noChangeArrowheads="1"/>
          </p:cNvPicPr>
          <p:nvPr/>
        </p:nvPicPr>
        <p:blipFill rotWithShape="1">
          <a:blip r:embed="rId8">
            <a:extLst>
              <a:ext uri="{BEBA8EAE-BF5A-486C-A8C5-ECC9F3942E4B}">
                <a14:imgProps xmlns:a14="http://schemas.microsoft.com/office/drawing/2010/main">
                  <a14:imgLayer r:embed="rId9">
                    <a14:imgEffect>
                      <a14:sharpenSoften amount="20000"/>
                    </a14:imgEffect>
                  </a14:imgLayer>
                </a14:imgProps>
              </a:ext>
              <a:ext uri="{28A0092B-C50C-407E-A947-70E740481C1C}">
                <a14:useLocalDpi xmlns:a14="http://schemas.microsoft.com/office/drawing/2010/main" val="0"/>
              </a:ext>
            </a:extLst>
          </a:blip>
          <a:srcRect l="8693" r="7647"/>
          <a:stretch/>
        </p:blipFill>
        <p:spPr bwMode="auto">
          <a:xfrm>
            <a:off x="6628721" y="2965849"/>
            <a:ext cx="2330173" cy="13910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1E6E23D-58ED-4FDB-B8AF-A95E3DC6C79C}"/>
              </a:ext>
            </a:extLst>
          </p:cNvPr>
          <p:cNvSpPr txBox="1"/>
          <p:nvPr/>
        </p:nvSpPr>
        <p:spPr>
          <a:xfrm>
            <a:off x="4661939" y="2413093"/>
            <a:ext cx="1588897" cy="261610"/>
          </a:xfrm>
          <a:prstGeom prst="rect">
            <a:avLst/>
          </a:prstGeom>
          <a:noFill/>
        </p:spPr>
        <p:txBody>
          <a:bodyPr wrap="none" rtlCol="0">
            <a:spAutoFit/>
          </a:bodyPr>
          <a:lstStyle/>
          <a:p>
            <a:r>
              <a:rPr lang="en-US" sz="1100" i="1" dirty="0">
                <a:solidFill>
                  <a:srgbClr val="00B050"/>
                </a:solidFill>
              </a:rPr>
              <a:t>Fig: Logical shift by 1 bit </a:t>
            </a:r>
          </a:p>
        </p:txBody>
      </p:sp>
      <p:sp>
        <p:nvSpPr>
          <p:cNvPr id="15" name="TextBox 14">
            <a:extLst>
              <a:ext uri="{FF2B5EF4-FFF2-40B4-BE49-F238E27FC236}">
                <a16:creationId xmlns:a16="http://schemas.microsoft.com/office/drawing/2014/main" id="{1152F0FC-D65E-4F60-ACA6-942DA83003BE}"/>
              </a:ext>
            </a:extLst>
          </p:cNvPr>
          <p:cNvSpPr txBox="1"/>
          <p:nvPr/>
        </p:nvSpPr>
        <p:spPr>
          <a:xfrm>
            <a:off x="7010400" y="2455396"/>
            <a:ext cx="1787669" cy="261610"/>
          </a:xfrm>
          <a:prstGeom prst="rect">
            <a:avLst/>
          </a:prstGeom>
          <a:noFill/>
        </p:spPr>
        <p:txBody>
          <a:bodyPr wrap="none" rtlCol="0">
            <a:spAutoFit/>
          </a:bodyPr>
          <a:lstStyle/>
          <a:p>
            <a:r>
              <a:rPr lang="en-US" sz="1100" i="1" dirty="0">
                <a:solidFill>
                  <a:srgbClr val="00B050"/>
                </a:solidFill>
              </a:rPr>
              <a:t>Fig: Arithmetic shift by 1  bit</a:t>
            </a:r>
          </a:p>
        </p:txBody>
      </p:sp>
      <p:sp>
        <p:nvSpPr>
          <p:cNvPr id="16" name="TextBox 15">
            <a:extLst>
              <a:ext uri="{FF2B5EF4-FFF2-40B4-BE49-F238E27FC236}">
                <a16:creationId xmlns:a16="http://schemas.microsoft.com/office/drawing/2014/main" id="{651962B4-9D75-474C-92E0-AD437D2C0776}"/>
              </a:ext>
            </a:extLst>
          </p:cNvPr>
          <p:cNvSpPr txBox="1"/>
          <p:nvPr/>
        </p:nvSpPr>
        <p:spPr>
          <a:xfrm>
            <a:off x="4389949" y="4356874"/>
            <a:ext cx="1816523" cy="261610"/>
          </a:xfrm>
          <a:prstGeom prst="rect">
            <a:avLst/>
          </a:prstGeom>
          <a:noFill/>
        </p:spPr>
        <p:txBody>
          <a:bodyPr wrap="none" rtlCol="0">
            <a:spAutoFit/>
          </a:bodyPr>
          <a:lstStyle/>
          <a:p>
            <a:r>
              <a:rPr lang="en-US" sz="1100" i="1" dirty="0">
                <a:solidFill>
                  <a:srgbClr val="00B050"/>
                </a:solidFill>
              </a:rPr>
              <a:t>Fig: Circular left shift by 1 bit</a:t>
            </a:r>
          </a:p>
        </p:txBody>
      </p:sp>
      <p:sp>
        <p:nvSpPr>
          <p:cNvPr id="17" name="TextBox 16">
            <a:extLst>
              <a:ext uri="{FF2B5EF4-FFF2-40B4-BE49-F238E27FC236}">
                <a16:creationId xmlns:a16="http://schemas.microsoft.com/office/drawing/2014/main" id="{3809EB8B-2C13-4270-9B14-B18A0A455F25}"/>
              </a:ext>
            </a:extLst>
          </p:cNvPr>
          <p:cNvSpPr txBox="1"/>
          <p:nvPr/>
        </p:nvSpPr>
        <p:spPr>
          <a:xfrm>
            <a:off x="6885545" y="4344107"/>
            <a:ext cx="1898277" cy="261610"/>
          </a:xfrm>
          <a:prstGeom prst="rect">
            <a:avLst/>
          </a:prstGeom>
          <a:noFill/>
        </p:spPr>
        <p:txBody>
          <a:bodyPr wrap="none" rtlCol="0">
            <a:spAutoFit/>
          </a:bodyPr>
          <a:lstStyle/>
          <a:p>
            <a:r>
              <a:rPr lang="en-US" sz="1100" i="1" dirty="0">
                <a:solidFill>
                  <a:srgbClr val="00B050"/>
                </a:solidFill>
              </a:rPr>
              <a:t>Fig: Circular right shift by 1 bit</a:t>
            </a:r>
          </a:p>
        </p:txBody>
      </p:sp>
      <p:sp>
        <p:nvSpPr>
          <p:cNvPr id="7" name="Rectangle 6">
            <a:extLst>
              <a:ext uri="{FF2B5EF4-FFF2-40B4-BE49-F238E27FC236}">
                <a16:creationId xmlns:a16="http://schemas.microsoft.com/office/drawing/2014/main" id="{A41C6F10-263E-43E7-871B-C0512C43E308}"/>
              </a:ext>
            </a:extLst>
          </p:cNvPr>
          <p:cNvSpPr/>
          <p:nvPr/>
        </p:nvSpPr>
        <p:spPr>
          <a:xfrm flipV="1">
            <a:off x="5029200" y="2868930"/>
            <a:ext cx="762000" cy="604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31397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RTL</a:t>
            </a:r>
          </a:p>
        </p:txBody>
      </p:sp>
      <p:sp>
        <p:nvSpPr>
          <p:cNvPr id="3" name="Content Placeholder 2"/>
          <p:cNvSpPr>
            <a:spLocks noGrp="1"/>
          </p:cNvSpPr>
          <p:nvPr>
            <p:ph idx="1"/>
          </p:nvPr>
        </p:nvSpPr>
        <p:spPr>
          <a:xfrm>
            <a:off x="457200" y="742950"/>
            <a:ext cx="8153400" cy="3851673"/>
          </a:xfrm>
          <a:noFill/>
        </p:spPr>
        <p:txBody>
          <a:bodyPr>
            <a:normAutofit/>
          </a:bodyPr>
          <a:lstStyle/>
          <a:p>
            <a:pPr>
              <a:tabLst>
                <a:tab pos="463550" algn="l"/>
              </a:tabLst>
            </a:pPr>
            <a:r>
              <a:rPr lang="en-US" sz="1800" dirty="0"/>
              <a:t>Register Transfer Language (RTL) is the symbolic representation of the steps that expresses the transfer of data among the registers.</a:t>
            </a:r>
          </a:p>
          <a:p>
            <a:pPr>
              <a:tabLst>
                <a:tab pos="463550" algn="l"/>
              </a:tabLst>
            </a:pPr>
            <a:r>
              <a:rPr lang="en-US" sz="1800" dirty="0"/>
              <a:t>The RTL shows all the microoperations that occur during fetch and execution cycle of an instruction.</a:t>
            </a:r>
          </a:p>
          <a:p>
            <a:pPr>
              <a:tabLst>
                <a:tab pos="463550" algn="l"/>
              </a:tabLst>
            </a:pPr>
            <a:r>
              <a:rPr lang="en-US" sz="1800" dirty="0"/>
              <a:t>These micro-operations occur in equally spaced units of time defined by a regularly spaced clock pulse.</a:t>
            </a:r>
          </a:p>
          <a:p>
            <a:pPr>
              <a:tabLst>
                <a:tab pos="463550" algn="l"/>
              </a:tabLst>
            </a:pPr>
            <a:r>
              <a:rPr lang="en-US" sz="1800" dirty="0"/>
              <a:t>Since each micro-operation involves the transfer of data into  or out of a register, these operations are termed as RTL as a whole.</a:t>
            </a:r>
          </a:p>
          <a:p>
            <a:pPr>
              <a:tabLst>
                <a:tab pos="463550" algn="l"/>
              </a:tabLst>
            </a:pPr>
            <a:r>
              <a:rPr lang="en-US" sz="1800" dirty="0"/>
              <a:t>Microprocessor need to transfer data between register to perform specific task. The only way to understand about the transfer of data between register is RTL.</a:t>
            </a:r>
          </a:p>
          <a:p>
            <a:pPr>
              <a:tabLst>
                <a:tab pos="463550" algn="l"/>
              </a:tabLst>
            </a:pPr>
            <a:r>
              <a:rPr lang="en-US" sz="1800" dirty="0"/>
              <a:t>This helps programmer to understand and have clear view about transfer of data between register in executing some instructions.</a:t>
            </a:r>
          </a:p>
          <a:p>
            <a:pPr>
              <a:tabLst>
                <a:tab pos="463550" algn="l"/>
              </a:tabLst>
            </a:pPr>
            <a:endParaRPr lang="en-US" sz="1800" dirty="0"/>
          </a:p>
        </p:txBody>
      </p:sp>
      <p:sp>
        <p:nvSpPr>
          <p:cNvPr id="4" name="Date Placeholder 3"/>
          <p:cNvSpPr>
            <a:spLocks noGrp="1"/>
          </p:cNvSpPr>
          <p:nvPr>
            <p:ph type="dt" sz="half" idx="10"/>
          </p:nvPr>
        </p:nvSpPr>
        <p:spPr/>
        <p:txBody>
          <a:bodyPr/>
          <a:lstStyle/>
          <a:p>
            <a:fld id="{9DC02AAF-199A-4A27-8515-C727FF0F6A5F}"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2600168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70C0"/>
                </a:solidFill>
              </a:rPr>
              <a:t>Specifying with RTL for LXI D, 9050H </a:t>
            </a:r>
          </a:p>
        </p:txBody>
      </p:sp>
      <p:sp>
        <p:nvSpPr>
          <p:cNvPr id="3" name="Content Placeholder 2"/>
          <p:cNvSpPr>
            <a:spLocks noGrp="1"/>
          </p:cNvSpPr>
          <p:nvPr>
            <p:ph idx="1"/>
          </p:nvPr>
        </p:nvSpPr>
        <p:spPr>
          <a:xfrm>
            <a:off x="457200" y="742950"/>
            <a:ext cx="6324600" cy="3851673"/>
          </a:xfrm>
          <a:noFill/>
          <a:ln>
            <a:solidFill>
              <a:schemeClr val="tx1"/>
            </a:solidFill>
          </a:ln>
        </p:spPr>
        <p:txBody>
          <a:bodyPr>
            <a:normAutofit/>
          </a:bodyPr>
          <a:lstStyle/>
          <a:p>
            <a:pPr>
              <a:tabLst>
                <a:tab pos="463550" algn="l"/>
              </a:tabLst>
            </a:pPr>
            <a:r>
              <a:rPr lang="en-US" sz="1800" dirty="0"/>
              <a:t>This instruction loads 16-bit data 9050H in register pair  DE such that Low-order byte 50H is loaded into the register D.</a:t>
            </a:r>
          </a:p>
          <a:p>
            <a:pPr>
              <a:tabLst>
                <a:tab pos="463550" algn="l"/>
              </a:tabLst>
            </a:pPr>
            <a:r>
              <a:rPr lang="en-US" sz="1800" dirty="0"/>
              <a:t>Let LXI D, 9050H is stored at 2000H. So the corresponding hex-code of the memory locations are: </a:t>
            </a:r>
          </a:p>
          <a:p>
            <a:pPr lvl="1">
              <a:tabLst>
                <a:tab pos="463550" algn="l"/>
              </a:tabLst>
            </a:pPr>
            <a:r>
              <a:rPr lang="en-US" sz="1400" dirty="0"/>
              <a:t>2000: opcode of LXI D</a:t>
            </a:r>
          </a:p>
          <a:p>
            <a:pPr lvl="1">
              <a:tabLst>
                <a:tab pos="463550" algn="l"/>
              </a:tabLst>
            </a:pPr>
            <a:r>
              <a:rPr lang="en-US" sz="1400" dirty="0"/>
              <a:t>2001: 50H</a:t>
            </a:r>
          </a:p>
          <a:p>
            <a:pPr lvl="1">
              <a:tabLst>
                <a:tab pos="463550" algn="l"/>
              </a:tabLst>
            </a:pPr>
            <a:r>
              <a:rPr lang="en-US" sz="1400" dirty="0"/>
              <a:t>2002: 90H</a:t>
            </a:r>
          </a:p>
          <a:p>
            <a:pPr>
              <a:tabLst>
                <a:tab pos="463550" algn="l"/>
              </a:tabLst>
            </a:pPr>
            <a:r>
              <a:rPr lang="en-US" sz="1800" dirty="0"/>
              <a:t>The fetch and execution cycle of this instruction in RTL specification are as follows:</a:t>
            </a:r>
          </a:p>
          <a:p>
            <a:pPr lvl="1">
              <a:tabLst>
                <a:tab pos="463550" algn="l"/>
              </a:tabLst>
            </a:pPr>
            <a:endParaRPr lang="en-US" sz="1400" dirty="0"/>
          </a:p>
        </p:txBody>
      </p:sp>
      <p:sp>
        <p:nvSpPr>
          <p:cNvPr id="4" name="Date Placeholder 3"/>
          <p:cNvSpPr>
            <a:spLocks noGrp="1"/>
          </p:cNvSpPr>
          <p:nvPr>
            <p:ph type="dt" sz="half" idx="10"/>
          </p:nvPr>
        </p:nvSpPr>
        <p:spPr/>
        <p:txBody>
          <a:bodyPr/>
          <a:lstStyle/>
          <a:p>
            <a:fld id="{2165AE9C-2D86-4ED5-911B-F61EE60BE332}"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82</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graphicFrame>
        <p:nvGraphicFramePr>
          <p:cNvPr id="9" name="Table 9">
            <a:extLst>
              <a:ext uri="{FF2B5EF4-FFF2-40B4-BE49-F238E27FC236}">
                <a16:creationId xmlns:a16="http://schemas.microsoft.com/office/drawing/2014/main" id="{6DD4D089-99F6-4BDC-AC0C-BD6FF918DA0C}"/>
              </a:ext>
            </a:extLst>
          </p:cNvPr>
          <p:cNvGraphicFramePr>
            <a:graphicFrameLocks noGrp="1"/>
          </p:cNvGraphicFramePr>
          <p:nvPr>
            <p:extLst>
              <p:ext uri="{D42A27DB-BD31-4B8C-83A1-F6EECF244321}">
                <p14:modId xmlns:p14="http://schemas.microsoft.com/office/powerpoint/2010/main" val="3679218840"/>
              </p:ext>
            </p:extLst>
          </p:nvPr>
        </p:nvGraphicFramePr>
        <p:xfrm>
          <a:off x="7645066" y="1605489"/>
          <a:ext cx="1009650" cy="1652064"/>
        </p:xfrm>
        <a:graphic>
          <a:graphicData uri="http://schemas.openxmlformats.org/drawingml/2006/table">
            <a:tbl>
              <a:tblPr firstRow="1" bandRow="1">
                <a:tableStyleId>{5940675A-B579-460E-94D1-54222C63F5DA}</a:tableStyleId>
              </a:tblPr>
              <a:tblGrid>
                <a:gridCol w="1009650">
                  <a:extLst>
                    <a:ext uri="{9D8B030D-6E8A-4147-A177-3AD203B41FA5}">
                      <a16:colId xmlns:a16="http://schemas.microsoft.com/office/drawing/2014/main" val="330642843"/>
                    </a:ext>
                  </a:extLst>
                </a:gridCol>
              </a:tblGrid>
              <a:tr h="275344">
                <a:tc>
                  <a:txBody>
                    <a:bodyPr/>
                    <a:lstStyle/>
                    <a:p>
                      <a:r>
                        <a:rPr lang="en-US" sz="1000" dirty="0"/>
                        <a:t>Opcode of LXI D</a:t>
                      </a:r>
                    </a:p>
                  </a:txBody>
                  <a:tcPr>
                    <a:solidFill>
                      <a:schemeClr val="bg1">
                        <a:lumMod val="85000"/>
                      </a:schemeClr>
                    </a:solidFill>
                  </a:tcPr>
                </a:tc>
                <a:extLst>
                  <a:ext uri="{0D108BD9-81ED-4DB2-BD59-A6C34878D82A}">
                    <a16:rowId xmlns:a16="http://schemas.microsoft.com/office/drawing/2014/main" val="2452141587"/>
                  </a:ext>
                </a:extLst>
              </a:tr>
              <a:tr h="275344">
                <a:tc>
                  <a:txBody>
                    <a:bodyPr/>
                    <a:lstStyle/>
                    <a:p>
                      <a:r>
                        <a:rPr lang="en-US" sz="1000" dirty="0"/>
                        <a:t>50H</a:t>
                      </a:r>
                    </a:p>
                  </a:txBody>
                  <a:tcPr>
                    <a:solidFill>
                      <a:schemeClr val="bg1">
                        <a:lumMod val="85000"/>
                      </a:schemeClr>
                    </a:solidFill>
                  </a:tcPr>
                </a:tc>
                <a:extLst>
                  <a:ext uri="{0D108BD9-81ED-4DB2-BD59-A6C34878D82A}">
                    <a16:rowId xmlns:a16="http://schemas.microsoft.com/office/drawing/2014/main" val="3563357174"/>
                  </a:ext>
                </a:extLst>
              </a:tr>
              <a:tr h="275344">
                <a:tc>
                  <a:txBody>
                    <a:bodyPr/>
                    <a:lstStyle/>
                    <a:p>
                      <a:r>
                        <a:rPr lang="en-US" sz="1000" dirty="0"/>
                        <a:t>90H</a:t>
                      </a:r>
                    </a:p>
                  </a:txBody>
                  <a:tcPr>
                    <a:solidFill>
                      <a:schemeClr val="bg1">
                        <a:lumMod val="85000"/>
                      </a:schemeClr>
                    </a:solidFill>
                  </a:tcPr>
                </a:tc>
                <a:extLst>
                  <a:ext uri="{0D108BD9-81ED-4DB2-BD59-A6C34878D82A}">
                    <a16:rowId xmlns:a16="http://schemas.microsoft.com/office/drawing/2014/main" val="3234576458"/>
                  </a:ext>
                </a:extLst>
              </a:tr>
              <a:tr h="275344">
                <a:tc>
                  <a:txBody>
                    <a:bodyPr/>
                    <a:lstStyle/>
                    <a:p>
                      <a:endParaRPr lang="en-US" sz="1000" dirty="0"/>
                    </a:p>
                  </a:txBody>
                  <a:tcPr>
                    <a:solidFill>
                      <a:schemeClr val="bg1">
                        <a:lumMod val="85000"/>
                      </a:schemeClr>
                    </a:solidFill>
                  </a:tcPr>
                </a:tc>
                <a:extLst>
                  <a:ext uri="{0D108BD9-81ED-4DB2-BD59-A6C34878D82A}">
                    <a16:rowId xmlns:a16="http://schemas.microsoft.com/office/drawing/2014/main" val="511596708"/>
                  </a:ext>
                </a:extLst>
              </a:tr>
              <a:tr h="275344">
                <a:tc>
                  <a:txBody>
                    <a:bodyPr/>
                    <a:lstStyle/>
                    <a:p>
                      <a:endParaRPr lang="en-US" sz="1000" dirty="0"/>
                    </a:p>
                  </a:txBody>
                  <a:tcPr>
                    <a:solidFill>
                      <a:schemeClr val="bg1">
                        <a:lumMod val="85000"/>
                      </a:schemeClr>
                    </a:solidFill>
                  </a:tcPr>
                </a:tc>
                <a:extLst>
                  <a:ext uri="{0D108BD9-81ED-4DB2-BD59-A6C34878D82A}">
                    <a16:rowId xmlns:a16="http://schemas.microsoft.com/office/drawing/2014/main" val="2061963692"/>
                  </a:ext>
                </a:extLst>
              </a:tr>
              <a:tr h="275344">
                <a:tc>
                  <a:txBody>
                    <a:bodyPr/>
                    <a:lstStyle/>
                    <a:p>
                      <a:endParaRPr lang="en-US" sz="1000" dirty="0"/>
                    </a:p>
                  </a:txBody>
                  <a:tcPr>
                    <a:solidFill>
                      <a:schemeClr val="bg1">
                        <a:lumMod val="85000"/>
                      </a:schemeClr>
                    </a:solidFill>
                  </a:tcPr>
                </a:tc>
                <a:extLst>
                  <a:ext uri="{0D108BD9-81ED-4DB2-BD59-A6C34878D82A}">
                    <a16:rowId xmlns:a16="http://schemas.microsoft.com/office/drawing/2014/main" val="2895510888"/>
                  </a:ext>
                </a:extLst>
              </a:tr>
            </a:tbl>
          </a:graphicData>
        </a:graphic>
      </p:graphicFrame>
      <p:sp>
        <p:nvSpPr>
          <p:cNvPr id="11" name="TextBox 10">
            <a:extLst>
              <a:ext uri="{FF2B5EF4-FFF2-40B4-BE49-F238E27FC236}">
                <a16:creationId xmlns:a16="http://schemas.microsoft.com/office/drawing/2014/main" id="{0C2A8952-73C7-42D6-AA1C-B7136A9E80F7}"/>
              </a:ext>
            </a:extLst>
          </p:cNvPr>
          <p:cNvSpPr txBox="1"/>
          <p:nvPr/>
        </p:nvSpPr>
        <p:spPr>
          <a:xfrm>
            <a:off x="6983287" y="1605489"/>
            <a:ext cx="636713" cy="276999"/>
          </a:xfrm>
          <a:prstGeom prst="rect">
            <a:avLst/>
          </a:prstGeom>
          <a:noFill/>
        </p:spPr>
        <p:txBody>
          <a:bodyPr wrap="none" rtlCol="0">
            <a:spAutoFit/>
          </a:bodyPr>
          <a:lstStyle/>
          <a:p>
            <a:r>
              <a:rPr lang="en-US" sz="1200" dirty="0"/>
              <a:t>2000H:</a:t>
            </a:r>
          </a:p>
        </p:txBody>
      </p:sp>
      <p:sp>
        <p:nvSpPr>
          <p:cNvPr id="12" name="TextBox 11">
            <a:extLst>
              <a:ext uri="{FF2B5EF4-FFF2-40B4-BE49-F238E27FC236}">
                <a16:creationId xmlns:a16="http://schemas.microsoft.com/office/drawing/2014/main" id="{0130446F-D0DD-4161-92B9-583D3C61F645}"/>
              </a:ext>
            </a:extLst>
          </p:cNvPr>
          <p:cNvSpPr txBox="1"/>
          <p:nvPr/>
        </p:nvSpPr>
        <p:spPr>
          <a:xfrm>
            <a:off x="6983287" y="1888899"/>
            <a:ext cx="636713" cy="276999"/>
          </a:xfrm>
          <a:prstGeom prst="rect">
            <a:avLst/>
          </a:prstGeom>
          <a:noFill/>
        </p:spPr>
        <p:txBody>
          <a:bodyPr wrap="none" rtlCol="0">
            <a:spAutoFit/>
          </a:bodyPr>
          <a:lstStyle/>
          <a:p>
            <a:r>
              <a:rPr lang="en-US" sz="1200" dirty="0"/>
              <a:t>2001H:</a:t>
            </a:r>
          </a:p>
        </p:txBody>
      </p:sp>
      <p:sp>
        <p:nvSpPr>
          <p:cNvPr id="13" name="TextBox 12">
            <a:extLst>
              <a:ext uri="{FF2B5EF4-FFF2-40B4-BE49-F238E27FC236}">
                <a16:creationId xmlns:a16="http://schemas.microsoft.com/office/drawing/2014/main" id="{0CFF9D2F-FD73-4256-A58B-96463354AB17}"/>
              </a:ext>
            </a:extLst>
          </p:cNvPr>
          <p:cNvSpPr txBox="1"/>
          <p:nvPr/>
        </p:nvSpPr>
        <p:spPr>
          <a:xfrm>
            <a:off x="6980279" y="2200038"/>
            <a:ext cx="636713" cy="276999"/>
          </a:xfrm>
          <a:prstGeom prst="rect">
            <a:avLst/>
          </a:prstGeom>
          <a:noFill/>
        </p:spPr>
        <p:txBody>
          <a:bodyPr wrap="none" rtlCol="0">
            <a:spAutoFit/>
          </a:bodyPr>
          <a:lstStyle/>
          <a:p>
            <a:r>
              <a:rPr lang="en-US" sz="1200" dirty="0"/>
              <a:t>2002H:</a:t>
            </a:r>
          </a:p>
        </p:txBody>
      </p:sp>
      <p:sp>
        <p:nvSpPr>
          <p:cNvPr id="14" name="TextBox 13">
            <a:extLst>
              <a:ext uri="{FF2B5EF4-FFF2-40B4-BE49-F238E27FC236}">
                <a16:creationId xmlns:a16="http://schemas.microsoft.com/office/drawing/2014/main" id="{179B07C1-1EF7-4E83-8FCB-7ED7154AB20D}"/>
              </a:ext>
            </a:extLst>
          </p:cNvPr>
          <p:cNvSpPr txBox="1"/>
          <p:nvPr/>
        </p:nvSpPr>
        <p:spPr>
          <a:xfrm>
            <a:off x="6981721" y="2506526"/>
            <a:ext cx="636713" cy="276999"/>
          </a:xfrm>
          <a:prstGeom prst="rect">
            <a:avLst/>
          </a:prstGeom>
          <a:noFill/>
        </p:spPr>
        <p:txBody>
          <a:bodyPr wrap="none" rtlCol="0">
            <a:spAutoFit/>
          </a:bodyPr>
          <a:lstStyle/>
          <a:p>
            <a:r>
              <a:rPr lang="en-US" sz="1200" dirty="0"/>
              <a:t>2003H:</a:t>
            </a:r>
          </a:p>
        </p:txBody>
      </p:sp>
      <p:sp>
        <p:nvSpPr>
          <p:cNvPr id="15" name="TextBox 14">
            <a:extLst>
              <a:ext uri="{FF2B5EF4-FFF2-40B4-BE49-F238E27FC236}">
                <a16:creationId xmlns:a16="http://schemas.microsoft.com/office/drawing/2014/main" id="{7D37C79B-D4EC-42E7-90EC-B91F45AA0251}"/>
              </a:ext>
            </a:extLst>
          </p:cNvPr>
          <p:cNvSpPr txBox="1"/>
          <p:nvPr/>
        </p:nvSpPr>
        <p:spPr>
          <a:xfrm>
            <a:off x="6975830" y="2991116"/>
            <a:ext cx="636713" cy="276999"/>
          </a:xfrm>
          <a:prstGeom prst="rect">
            <a:avLst/>
          </a:prstGeom>
          <a:noFill/>
        </p:spPr>
        <p:txBody>
          <a:bodyPr wrap="none" rtlCol="0">
            <a:spAutoFit/>
          </a:bodyPr>
          <a:lstStyle/>
          <a:p>
            <a:r>
              <a:rPr lang="en-US" sz="1200" dirty="0"/>
              <a:t>2005H:</a:t>
            </a:r>
          </a:p>
        </p:txBody>
      </p:sp>
      <p:sp>
        <p:nvSpPr>
          <p:cNvPr id="16" name="TextBox 15">
            <a:extLst>
              <a:ext uri="{FF2B5EF4-FFF2-40B4-BE49-F238E27FC236}">
                <a16:creationId xmlns:a16="http://schemas.microsoft.com/office/drawing/2014/main" id="{31C5664B-9D2A-4C20-97E4-292EBCD6F817}"/>
              </a:ext>
            </a:extLst>
          </p:cNvPr>
          <p:cNvSpPr txBox="1"/>
          <p:nvPr/>
        </p:nvSpPr>
        <p:spPr>
          <a:xfrm>
            <a:off x="7645066" y="3430193"/>
            <a:ext cx="965534" cy="276999"/>
          </a:xfrm>
          <a:prstGeom prst="rect">
            <a:avLst/>
          </a:prstGeom>
          <a:noFill/>
        </p:spPr>
        <p:txBody>
          <a:bodyPr wrap="square" rtlCol="0">
            <a:spAutoFit/>
          </a:bodyPr>
          <a:lstStyle/>
          <a:p>
            <a:pPr algn="ctr"/>
            <a:r>
              <a:rPr lang="en-US" sz="1200" i="1" dirty="0"/>
              <a:t>Memory</a:t>
            </a:r>
          </a:p>
        </p:txBody>
      </p:sp>
    </p:spTree>
    <p:extLst>
      <p:ext uri="{BB962C8B-B14F-4D97-AF65-F5344CB8AC3E}">
        <p14:creationId xmlns:p14="http://schemas.microsoft.com/office/powerpoint/2010/main" val="37500907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780547" y="583969"/>
            <a:ext cx="3886200" cy="4045181"/>
          </a:xfrm>
          <a:noFill/>
          <a:ln>
            <a:solidFill>
              <a:schemeClr val="tx1"/>
            </a:solidFill>
          </a:ln>
        </p:spPr>
        <p:txBody>
          <a:bodyPr>
            <a:normAutofit fontScale="92500" lnSpcReduction="20000"/>
          </a:bodyPr>
          <a:lstStyle/>
          <a:p>
            <a:pPr marL="0" indent="0">
              <a:buNone/>
              <a:tabLst>
                <a:tab pos="463550" algn="l"/>
              </a:tabLst>
            </a:pPr>
            <a:r>
              <a:rPr lang="en-US" sz="2000" b="1" dirty="0"/>
              <a:t>b) Execute cycle:</a:t>
            </a:r>
          </a:p>
          <a:p>
            <a:pPr marL="0" indent="0">
              <a:buNone/>
              <a:tabLst>
                <a:tab pos="463550" algn="l"/>
              </a:tabLst>
            </a:pPr>
            <a:r>
              <a:rPr lang="en-US" sz="1500" u="sng" dirty="0"/>
              <a:t>Machine cycle M1 </a:t>
            </a:r>
          </a:p>
          <a:p>
            <a:pPr>
              <a:tabLst>
                <a:tab pos="463550" algn="l"/>
              </a:tabLst>
            </a:pPr>
            <a:r>
              <a:rPr lang="en-US" sz="1500" b="1" dirty="0"/>
              <a:t>T1: MAR</a:t>
            </a:r>
            <a:r>
              <a:rPr lang="en-US" sz="1500" b="1" dirty="0">
                <a:sym typeface="Wingdings" panose="05000000000000000000" pitchFamily="2" charset="2"/>
              </a:rPr>
              <a:t> PC</a:t>
            </a:r>
          </a:p>
          <a:p>
            <a:pPr lvl="1">
              <a:tabLst>
                <a:tab pos="463550" algn="l"/>
              </a:tabLst>
            </a:pPr>
            <a:r>
              <a:rPr lang="en-US" sz="1300" dirty="0">
                <a:sym typeface="Wingdings" panose="05000000000000000000" pitchFamily="2" charset="2"/>
              </a:rPr>
              <a:t>The </a:t>
            </a:r>
            <a:r>
              <a:rPr lang="en-US" sz="1300" dirty="0">
                <a:solidFill>
                  <a:srgbClr val="C00000"/>
                </a:solidFill>
                <a:sym typeface="Wingdings" panose="05000000000000000000" pitchFamily="2" charset="2"/>
              </a:rPr>
              <a:t>new content of PC </a:t>
            </a:r>
            <a:r>
              <a:rPr lang="en-US" sz="1300" dirty="0">
                <a:sym typeface="Wingdings" panose="05000000000000000000" pitchFamily="2" charset="2"/>
              </a:rPr>
              <a:t>(</a:t>
            </a:r>
            <a:r>
              <a:rPr lang="en-US" sz="1300" dirty="0" err="1">
                <a:sym typeface="Wingdings" panose="05000000000000000000" pitchFamily="2" charset="2"/>
              </a:rPr>
              <a:t>i.e</a:t>
            </a:r>
            <a:r>
              <a:rPr lang="en-US" sz="1300" dirty="0">
                <a:sym typeface="Wingdings" panose="05000000000000000000" pitchFamily="2" charset="2"/>
              </a:rPr>
              <a:t> 2001) is sent to </a:t>
            </a:r>
            <a:r>
              <a:rPr lang="en-US" sz="1300" dirty="0">
                <a:solidFill>
                  <a:srgbClr val="C00000"/>
                </a:solidFill>
                <a:sym typeface="Wingdings" panose="05000000000000000000" pitchFamily="2" charset="2"/>
              </a:rPr>
              <a:t>MAR</a:t>
            </a:r>
          </a:p>
          <a:p>
            <a:pPr>
              <a:tabLst>
                <a:tab pos="463550" algn="l"/>
              </a:tabLst>
            </a:pPr>
            <a:r>
              <a:rPr lang="en-US" sz="1500" b="1" dirty="0"/>
              <a:t>T2: MBR</a:t>
            </a:r>
            <a:r>
              <a:rPr lang="en-US" sz="1500" b="1" dirty="0">
                <a:sym typeface="Wingdings" panose="05000000000000000000" pitchFamily="2" charset="2"/>
              </a:rPr>
              <a:t> [MAR]</a:t>
            </a:r>
          </a:p>
          <a:p>
            <a:pPr lvl="1">
              <a:tabLst>
                <a:tab pos="463550" algn="l"/>
              </a:tabLst>
            </a:pPr>
            <a:r>
              <a:rPr lang="en-US" sz="1300" dirty="0">
                <a:sym typeface="Wingdings" panose="05000000000000000000" pitchFamily="2" charset="2"/>
              </a:rPr>
              <a:t>The content of location 2001H (</a:t>
            </a:r>
            <a:r>
              <a:rPr lang="en-US" sz="1300" dirty="0" err="1">
                <a:solidFill>
                  <a:srgbClr val="C00000"/>
                </a:solidFill>
                <a:sym typeface="Wingdings" panose="05000000000000000000" pitchFamily="2" charset="2"/>
              </a:rPr>
              <a:t>ie</a:t>
            </a:r>
            <a:r>
              <a:rPr lang="en-US" sz="1300" dirty="0">
                <a:solidFill>
                  <a:srgbClr val="C00000"/>
                </a:solidFill>
                <a:sym typeface="Wingdings" panose="05000000000000000000" pitchFamily="2" charset="2"/>
              </a:rPr>
              <a:t>. 50H) is sent to MBR</a:t>
            </a:r>
          </a:p>
          <a:p>
            <a:pPr>
              <a:tabLst>
                <a:tab pos="463550" algn="l"/>
              </a:tabLst>
            </a:pPr>
            <a:r>
              <a:rPr lang="en-US" sz="1500" b="1" dirty="0">
                <a:sym typeface="Wingdings" panose="05000000000000000000" pitchFamily="2" charset="2"/>
              </a:rPr>
              <a:t>T3: EMBR, PCPC+1</a:t>
            </a:r>
          </a:p>
          <a:p>
            <a:pPr lvl="1">
              <a:tabLst>
                <a:tab pos="463550" algn="l"/>
              </a:tabLst>
            </a:pPr>
            <a:r>
              <a:rPr lang="en-US" sz="1300" dirty="0">
                <a:sym typeface="Wingdings" panose="05000000000000000000" pitchFamily="2" charset="2"/>
              </a:rPr>
              <a:t>This lower order byte 50H is sent to register E and PC is incremented by 1.</a:t>
            </a:r>
          </a:p>
          <a:p>
            <a:pPr lvl="1">
              <a:tabLst>
                <a:tab pos="463550" algn="l"/>
              </a:tabLst>
            </a:pPr>
            <a:endParaRPr lang="en-US" sz="1300" dirty="0">
              <a:sym typeface="Wingdings" panose="05000000000000000000" pitchFamily="2" charset="2"/>
            </a:endParaRPr>
          </a:p>
          <a:p>
            <a:pPr marL="0" indent="0">
              <a:buNone/>
              <a:tabLst>
                <a:tab pos="463550" algn="l"/>
              </a:tabLst>
            </a:pPr>
            <a:r>
              <a:rPr lang="en-US" sz="1500" u="sng" dirty="0">
                <a:sym typeface="Wingdings" panose="05000000000000000000" pitchFamily="2" charset="2"/>
              </a:rPr>
              <a:t>Machine cycle M2</a:t>
            </a:r>
          </a:p>
          <a:p>
            <a:pPr>
              <a:tabLst>
                <a:tab pos="463550" algn="l"/>
              </a:tabLst>
            </a:pPr>
            <a:r>
              <a:rPr lang="en-US" sz="1500" b="1" dirty="0">
                <a:sym typeface="Wingdings" panose="05000000000000000000" pitchFamily="2" charset="2"/>
              </a:rPr>
              <a:t>T1: MARPC</a:t>
            </a:r>
          </a:p>
          <a:p>
            <a:pPr lvl="1">
              <a:tabLst>
                <a:tab pos="463550" algn="l"/>
              </a:tabLst>
            </a:pPr>
            <a:r>
              <a:rPr lang="en-US" sz="1300" dirty="0">
                <a:sym typeface="Wingdings" panose="05000000000000000000" pitchFamily="2" charset="2"/>
              </a:rPr>
              <a:t>The new content of PC, </a:t>
            </a:r>
            <a:r>
              <a:rPr lang="en-US" sz="1300" dirty="0" err="1">
                <a:sym typeface="Wingdings" panose="05000000000000000000" pitchFamily="2" charset="2"/>
              </a:rPr>
              <a:t>ie</a:t>
            </a:r>
            <a:r>
              <a:rPr lang="en-US" sz="1300" dirty="0">
                <a:sym typeface="Wingdings" panose="05000000000000000000" pitchFamily="2" charset="2"/>
              </a:rPr>
              <a:t>. 2002H is sent to MAR</a:t>
            </a:r>
          </a:p>
          <a:p>
            <a:pPr>
              <a:tabLst>
                <a:tab pos="463550" algn="l"/>
              </a:tabLst>
            </a:pPr>
            <a:r>
              <a:rPr lang="en-US" sz="1500" b="1" dirty="0">
                <a:sym typeface="Wingdings" panose="05000000000000000000" pitchFamily="2" charset="2"/>
              </a:rPr>
              <a:t>T2: MBR[MAR]</a:t>
            </a:r>
          </a:p>
          <a:p>
            <a:pPr lvl="1">
              <a:tabLst>
                <a:tab pos="463550" algn="l"/>
              </a:tabLst>
            </a:pPr>
            <a:r>
              <a:rPr lang="en-US" sz="1300" dirty="0">
                <a:sym typeface="Wingdings" panose="05000000000000000000" pitchFamily="2" charset="2"/>
              </a:rPr>
              <a:t>The content of location 2002H, </a:t>
            </a:r>
            <a:r>
              <a:rPr lang="en-US" sz="1300" dirty="0" err="1">
                <a:sym typeface="Wingdings" panose="05000000000000000000" pitchFamily="2" charset="2"/>
              </a:rPr>
              <a:t>ie</a:t>
            </a:r>
            <a:r>
              <a:rPr lang="en-US" sz="1300" dirty="0">
                <a:sym typeface="Wingdings" panose="05000000000000000000" pitchFamily="2" charset="2"/>
              </a:rPr>
              <a:t>. 90H is sent to MBR</a:t>
            </a:r>
          </a:p>
          <a:p>
            <a:pPr>
              <a:tabLst>
                <a:tab pos="463550" algn="l"/>
              </a:tabLst>
            </a:pPr>
            <a:r>
              <a:rPr lang="en-US" sz="1500" b="1" dirty="0">
                <a:sym typeface="Wingdings" panose="05000000000000000000" pitchFamily="2" charset="2"/>
              </a:rPr>
              <a:t>T3: DMBR</a:t>
            </a:r>
          </a:p>
          <a:p>
            <a:pPr lvl="1">
              <a:tabLst>
                <a:tab pos="463550" algn="l"/>
              </a:tabLst>
            </a:pPr>
            <a:r>
              <a:rPr lang="en-US" sz="1300" dirty="0">
                <a:sym typeface="Wingdings" panose="05000000000000000000" pitchFamily="2" charset="2"/>
              </a:rPr>
              <a:t>The higher order byte 90H is sent to register D.</a:t>
            </a:r>
          </a:p>
          <a:p>
            <a:pPr lvl="1">
              <a:tabLst>
                <a:tab pos="463550" algn="l"/>
              </a:tabLst>
            </a:pPr>
            <a:endParaRPr lang="en-US" sz="1300" dirty="0">
              <a:sym typeface="Wingdings" panose="05000000000000000000" pitchFamily="2" charset="2"/>
            </a:endParaRPr>
          </a:p>
          <a:p>
            <a:pPr>
              <a:tabLst>
                <a:tab pos="463550" algn="l"/>
              </a:tabLst>
            </a:pPr>
            <a:endParaRPr lang="en-US" sz="2000" dirty="0"/>
          </a:p>
        </p:txBody>
      </p:sp>
      <p:sp>
        <p:nvSpPr>
          <p:cNvPr id="4" name="Date Placeholder 3"/>
          <p:cNvSpPr>
            <a:spLocks noGrp="1"/>
          </p:cNvSpPr>
          <p:nvPr>
            <p:ph type="dt" sz="half" idx="10"/>
          </p:nvPr>
        </p:nvSpPr>
        <p:spPr/>
        <p:txBody>
          <a:bodyPr/>
          <a:lstStyle/>
          <a:p>
            <a:fld id="{69020273-6F05-4162-8BDF-E5F0B96C7DB7}"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83</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
        <p:nvSpPr>
          <p:cNvPr id="10" name="Content Placeholder 2">
            <a:extLst>
              <a:ext uri="{FF2B5EF4-FFF2-40B4-BE49-F238E27FC236}">
                <a16:creationId xmlns:a16="http://schemas.microsoft.com/office/drawing/2014/main" id="{50D3D30A-D63D-44C9-879B-5D83A24F5940}"/>
              </a:ext>
            </a:extLst>
          </p:cNvPr>
          <p:cNvSpPr txBox="1">
            <a:spLocks/>
          </p:cNvSpPr>
          <p:nvPr/>
        </p:nvSpPr>
        <p:spPr>
          <a:xfrm>
            <a:off x="493295" y="590551"/>
            <a:ext cx="4191000" cy="4038600"/>
          </a:xfrm>
          <a:prstGeom prst="rect">
            <a:avLst/>
          </a:prstGeom>
          <a:noFill/>
          <a:ln>
            <a:solidFill>
              <a:schemeClr val="tx1"/>
            </a:solidFill>
          </a:ln>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tabLst>
                <a:tab pos="463550" algn="l"/>
              </a:tabLst>
            </a:pPr>
            <a:r>
              <a:rPr lang="en-US" sz="1600" b="1" dirty="0"/>
              <a:t>a) Fetch Cycle:</a:t>
            </a:r>
          </a:p>
          <a:p>
            <a:pPr>
              <a:tabLst>
                <a:tab pos="463550" algn="l"/>
              </a:tabLst>
            </a:pPr>
            <a:r>
              <a:rPr lang="en-US" sz="1600" b="1" dirty="0"/>
              <a:t>T1: MAR</a:t>
            </a:r>
            <a:r>
              <a:rPr lang="en-US" sz="1600" b="1" dirty="0">
                <a:sym typeface="Wingdings" panose="05000000000000000000" pitchFamily="2" charset="2"/>
              </a:rPr>
              <a:t> PC</a:t>
            </a:r>
          </a:p>
          <a:p>
            <a:pPr lvl="1">
              <a:tabLst>
                <a:tab pos="463550" algn="l"/>
              </a:tabLst>
            </a:pPr>
            <a:r>
              <a:rPr lang="en-US" sz="1400" dirty="0">
                <a:sym typeface="Wingdings" panose="05000000000000000000" pitchFamily="2" charset="2"/>
              </a:rPr>
              <a:t>The </a:t>
            </a:r>
            <a:r>
              <a:rPr lang="en-US" sz="1400" dirty="0">
                <a:solidFill>
                  <a:srgbClr val="C00000"/>
                </a:solidFill>
                <a:sym typeface="Wingdings" panose="05000000000000000000" pitchFamily="2" charset="2"/>
              </a:rPr>
              <a:t>content of PC is moved to the MAR.</a:t>
            </a:r>
          </a:p>
          <a:p>
            <a:pPr lvl="1">
              <a:tabLst>
                <a:tab pos="463550" algn="l"/>
              </a:tabLst>
            </a:pPr>
            <a:r>
              <a:rPr lang="en-US" sz="1400" dirty="0">
                <a:sym typeface="Wingdings" panose="05000000000000000000" pitchFamily="2" charset="2"/>
              </a:rPr>
              <a:t>The PC contains the address of next instruction to be executed. </a:t>
            </a:r>
          </a:p>
          <a:p>
            <a:pPr lvl="1">
              <a:tabLst>
                <a:tab pos="463550" algn="l"/>
              </a:tabLst>
            </a:pPr>
            <a:r>
              <a:rPr lang="en-US" sz="1400" dirty="0">
                <a:sym typeface="Wingdings" panose="05000000000000000000" pitchFamily="2" charset="2"/>
              </a:rPr>
              <a:t>MAR is 16-bit register that holds the address of memory temporarily during read/write operation. </a:t>
            </a:r>
          </a:p>
          <a:p>
            <a:pPr lvl="1">
              <a:tabLst>
                <a:tab pos="463550" algn="l"/>
              </a:tabLst>
            </a:pPr>
            <a:r>
              <a:rPr lang="en-US" sz="1400" dirty="0">
                <a:sym typeface="Wingdings" panose="05000000000000000000" pitchFamily="2" charset="2"/>
              </a:rPr>
              <a:t>So, now MAR has 2000H.</a:t>
            </a:r>
          </a:p>
          <a:p>
            <a:pPr>
              <a:tabLst>
                <a:tab pos="463550" algn="l"/>
              </a:tabLst>
            </a:pPr>
            <a:r>
              <a:rPr lang="en-US" sz="1600" b="1" dirty="0">
                <a:sym typeface="Wingdings" panose="05000000000000000000" pitchFamily="2" charset="2"/>
              </a:rPr>
              <a:t>T2: MBR [MAR]</a:t>
            </a:r>
          </a:p>
          <a:p>
            <a:pPr lvl="1">
              <a:tabLst>
                <a:tab pos="463550" algn="l"/>
              </a:tabLst>
            </a:pPr>
            <a:r>
              <a:rPr lang="en-US" sz="1400" dirty="0">
                <a:sym typeface="Wingdings" panose="05000000000000000000" pitchFamily="2" charset="2"/>
              </a:rPr>
              <a:t>The </a:t>
            </a:r>
            <a:r>
              <a:rPr lang="en-US" sz="1400" dirty="0">
                <a:solidFill>
                  <a:srgbClr val="C00000"/>
                </a:solidFill>
                <a:sym typeface="Wingdings" panose="05000000000000000000" pitchFamily="2" charset="2"/>
              </a:rPr>
              <a:t>content of memory pointer by MAR is moved to MBR. </a:t>
            </a:r>
          </a:p>
          <a:p>
            <a:pPr lvl="1">
              <a:tabLst>
                <a:tab pos="463550" algn="l"/>
              </a:tabLst>
            </a:pPr>
            <a:r>
              <a:rPr lang="en-US" sz="1400" dirty="0">
                <a:sym typeface="Wingdings" panose="05000000000000000000" pitchFamily="2" charset="2"/>
              </a:rPr>
              <a:t>MBR is memory buffer register that holds data temporarily before writing in memory or after reading from the memory. </a:t>
            </a:r>
          </a:p>
          <a:p>
            <a:pPr lvl="1">
              <a:tabLst>
                <a:tab pos="463550" algn="l"/>
              </a:tabLst>
            </a:pPr>
            <a:r>
              <a:rPr lang="en-US" sz="1400" dirty="0">
                <a:sym typeface="Wingdings" panose="05000000000000000000" pitchFamily="2" charset="2"/>
              </a:rPr>
              <a:t>So, MBR will now have opcode of LXI D</a:t>
            </a:r>
          </a:p>
          <a:p>
            <a:pPr>
              <a:tabLst>
                <a:tab pos="463550" algn="l"/>
              </a:tabLst>
            </a:pPr>
            <a:r>
              <a:rPr lang="en-US" sz="1600" b="1" dirty="0">
                <a:sym typeface="Wingdings" panose="05000000000000000000" pitchFamily="2" charset="2"/>
              </a:rPr>
              <a:t>T3: IR MBR, PCPC+1</a:t>
            </a:r>
          </a:p>
          <a:p>
            <a:pPr lvl="1">
              <a:tabLst>
                <a:tab pos="463550" algn="l"/>
              </a:tabLst>
            </a:pPr>
            <a:r>
              <a:rPr lang="en-US" sz="1400" dirty="0">
                <a:sym typeface="Wingdings" panose="05000000000000000000" pitchFamily="2" charset="2"/>
              </a:rPr>
              <a:t>The </a:t>
            </a:r>
            <a:r>
              <a:rPr lang="en-US" sz="1400" dirty="0">
                <a:solidFill>
                  <a:srgbClr val="C00000"/>
                </a:solidFill>
                <a:sym typeface="Wingdings" panose="05000000000000000000" pitchFamily="2" charset="2"/>
              </a:rPr>
              <a:t>content of MBR </a:t>
            </a:r>
            <a:r>
              <a:rPr lang="en-US" sz="1400" dirty="0">
                <a:sym typeface="Wingdings" panose="05000000000000000000" pitchFamily="2" charset="2"/>
              </a:rPr>
              <a:t>(</a:t>
            </a:r>
            <a:r>
              <a:rPr lang="en-US" sz="1400" dirty="0" err="1">
                <a:sym typeface="Wingdings" panose="05000000000000000000" pitchFamily="2" charset="2"/>
              </a:rPr>
              <a:t>ie</a:t>
            </a:r>
            <a:r>
              <a:rPr lang="en-US" sz="1400" dirty="0">
                <a:sym typeface="Wingdings" panose="05000000000000000000" pitchFamily="2" charset="2"/>
              </a:rPr>
              <a:t>. opcode of LXI D) </a:t>
            </a:r>
            <a:r>
              <a:rPr lang="en-US" sz="1400" dirty="0">
                <a:solidFill>
                  <a:srgbClr val="C00000"/>
                </a:solidFill>
                <a:sym typeface="Wingdings" panose="05000000000000000000" pitchFamily="2" charset="2"/>
              </a:rPr>
              <a:t>is now sent to IR. </a:t>
            </a:r>
          </a:p>
          <a:p>
            <a:pPr lvl="1">
              <a:tabLst>
                <a:tab pos="463550" algn="l"/>
              </a:tabLst>
            </a:pPr>
            <a:r>
              <a:rPr lang="en-US" sz="1400" dirty="0">
                <a:sym typeface="Wingdings" panose="05000000000000000000" pitchFamily="2" charset="2"/>
              </a:rPr>
              <a:t>The content of IR is decoded and </a:t>
            </a:r>
            <a:r>
              <a:rPr lang="en-US" sz="1400" dirty="0">
                <a:solidFill>
                  <a:srgbClr val="C00000"/>
                </a:solidFill>
                <a:sym typeface="Wingdings" panose="05000000000000000000" pitchFamily="2" charset="2"/>
              </a:rPr>
              <a:t>PC increment by 1.</a:t>
            </a:r>
          </a:p>
          <a:p>
            <a:pPr>
              <a:tabLst>
                <a:tab pos="463550" algn="l"/>
              </a:tabLst>
            </a:pPr>
            <a:r>
              <a:rPr lang="en-US" sz="1600" b="1" dirty="0">
                <a:sym typeface="Wingdings" panose="05000000000000000000" pitchFamily="2" charset="2"/>
              </a:rPr>
              <a:t>T4: unspecified</a:t>
            </a:r>
          </a:p>
        </p:txBody>
      </p:sp>
    </p:spTree>
    <p:extLst>
      <p:ext uri="{BB962C8B-B14F-4D97-AF65-F5344CB8AC3E}">
        <p14:creationId xmlns:p14="http://schemas.microsoft.com/office/powerpoint/2010/main" val="27191578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0070C0"/>
                </a:solidFill>
              </a:rPr>
              <a:t>STA 2000H using RTL specification</a:t>
            </a:r>
          </a:p>
        </p:txBody>
      </p:sp>
      <p:sp>
        <p:nvSpPr>
          <p:cNvPr id="3" name="Content Placeholder 2"/>
          <p:cNvSpPr>
            <a:spLocks noGrp="1"/>
          </p:cNvSpPr>
          <p:nvPr>
            <p:ph idx="1"/>
          </p:nvPr>
        </p:nvSpPr>
        <p:spPr>
          <a:xfrm>
            <a:off x="457200" y="742950"/>
            <a:ext cx="8229600" cy="3851673"/>
          </a:xfrm>
          <a:noFill/>
        </p:spPr>
        <p:txBody>
          <a:bodyPr>
            <a:normAutofit/>
          </a:bodyPr>
          <a:lstStyle/>
          <a:p>
            <a:pPr>
              <a:tabLst>
                <a:tab pos="463550" algn="l"/>
              </a:tabLst>
            </a:pPr>
            <a:r>
              <a:rPr lang="en-US" sz="1800" dirty="0"/>
              <a:t>This instruction copies the contents of the accumulator to the memory location 2000H. It is 3-byte instruction and requires 4 machine cycles (13T states) for its execution.</a:t>
            </a:r>
          </a:p>
          <a:p>
            <a:pPr>
              <a:tabLst>
                <a:tab pos="463550" algn="l"/>
              </a:tabLst>
            </a:pPr>
            <a:r>
              <a:rPr lang="en-US" sz="1800" dirty="0"/>
              <a:t>The RTL for this instruction are shown below: </a:t>
            </a:r>
          </a:p>
        </p:txBody>
      </p:sp>
      <p:sp>
        <p:nvSpPr>
          <p:cNvPr id="4" name="Date Placeholder 3"/>
          <p:cNvSpPr>
            <a:spLocks noGrp="1"/>
          </p:cNvSpPr>
          <p:nvPr>
            <p:ph type="dt" sz="half" idx="10"/>
          </p:nvPr>
        </p:nvSpPr>
        <p:spPr/>
        <p:txBody>
          <a:bodyPr/>
          <a:lstStyle/>
          <a:p>
            <a:fld id="{C8938922-4616-468D-971C-0F2E3F7F6231}"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84</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D812284B-C0C5-4195-8960-8AD099E765C4}"/>
              </a:ext>
            </a:extLst>
          </p:cNvPr>
          <p:cNvPicPr>
            <a:picLocks noChangeAspect="1"/>
          </p:cNvPicPr>
          <p:nvPr/>
        </p:nvPicPr>
        <p:blipFill rotWithShape="1">
          <a:blip r:embed="rId2"/>
          <a:srcRect t="52026" r="43847" b="-1"/>
          <a:stretch/>
        </p:blipFill>
        <p:spPr>
          <a:xfrm>
            <a:off x="840275" y="2232723"/>
            <a:ext cx="3476986" cy="1424064"/>
          </a:xfrm>
          <a:prstGeom prst="rect">
            <a:avLst/>
          </a:prstGeom>
        </p:spPr>
      </p:pic>
      <p:pic>
        <p:nvPicPr>
          <p:cNvPr id="8" name="Picture 7">
            <a:extLst>
              <a:ext uri="{FF2B5EF4-FFF2-40B4-BE49-F238E27FC236}">
                <a16:creationId xmlns:a16="http://schemas.microsoft.com/office/drawing/2014/main" id="{2C8C9387-3DD8-4018-B69C-A503CFCCB55D}"/>
              </a:ext>
            </a:extLst>
          </p:cNvPr>
          <p:cNvPicPr>
            <a:picLocks noChangeAspect="1"/>
          </p:cNvPicPr>
          <p:nvPr/>
        </p:nvPicPr>
        <p:blipFill>
          <a:blip r:embed="rId3"/>
          <a:stretch>
            <a:fillRect/>
          </a:stretch>
        </p:blipFill>
        <p:spPr>
          <a:xfrm>
            <a:off x="5209815" y="1781370"/>
            <a:ext cx="3476985" cy="2813253"/>
          </a:xfrm>
          <a:prstGeom prst="rect">
            <a:avLst/>
          </a:prstGeom>
        </p:spPr>
      </p:pic>
    </p:spTree>
    <p:extLst>
      <p:ext uri="{BB962C8B-B14F-4D97-AF65-F5344CB8AC3E}">
        <p14:creationId xmlns:p14="http://schemas.microsoft.com/office/powerpoint/2010/main" val="34594289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Some RTL implementation</a:t>
            </a:r>
          </a:p>
        </p:txBody>
      </p:sp>
      <p:sp>
        <p:nvSpPr>
          <p:cNvPr id="4" name="Date Placeholder 3"/>
          <p:cNvSpPr>
            <a:spLocks noGrp="1"/>
          </p:cNvSpPr>
          <p:nvPr>
            <p:ph type="dt" sz="half" idx="10"/>
          </p:nvPr>
        </p:nvSpPr>
        <p:spPr/>
        <p:txBody>
          <a:bodyPr/>
          <a:lstStyle/>
          <a:p>
            <a:fld id="{CEE27761-FE63-4478-AF28-AD828E08AB06}"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85</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pic>
        <p:nvPicPr>
          <p:cNvPr id="7" name="Picture 6">
            <a:extLst>
              <a:ext uri="{FF2B5EF4-FFF2-40B4-BE49-F238E27FC236}">
                <a16:creationId xmlns:a16="http://schemas.microsoft.com/office/drawing/2014/main" id="{BA69CD98-65CB-44BA-83AA-B3C5FC1896D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226621" y="2706024"/>
            <a:ext cx="1244576" cy="860536"/>
          </a:xfrm>
          <a:prstGeom prst="rect">
            <a:avLst/>
          </a:prstGeom>
        </p:spPr>
      </p:pic>
      <p:pic>
        <p:nvPicPr>
          <p:cNvPr id="8" name="Picture 7">
            <a:extLst>
              <a:ext uri="{FF2B5EF4-FFF2-40B4-BE49-F238E27FC236}">
                <a16:creationId xmlns:a16="http://schemas.microsoft.com/office/drawing/2014/main" id="{ABEA58FC-18D7-4629-BEDF-720589DB0DA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1867593" y="2488772"/>
            <a:ext cx="1244575" cy="1503447"/>
          </a:xfrm>
          <a:prstGeom prst="rect">
            <a:avLst/>
          </a:prstGeom>
        </p:spPr>
      </p:pic>
      <p:pic>
        <p:nvPicPr>
          <p:cNvPr id="9" name="Picture 8">
            <a:extLst>
              <a:ext uri="{FF2B5EF4-FFF2-40B4-BE49-F238E27FC236}">
                <a16:creationId xmlns:a16="http://schemas.microsoft.com/office/drawing/2014/main" id="{A815EDA5-9A45-4E38-AD4C-3F2708AC2924}"/>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100000"/>
                    </a14:imgEffect>
                  </a14:imgLayer>
                </a14:imgProps>
              </a:ext>
            </a:extLst>
          </a:blip>
          <a:stretch>
            <a:fillRect/>
          </a:stretch>
        </p:blipFill>
        <p:spPr>
          <a:xfrm>
            <a:off x="242662" y="4493419"/>
            <a:ext cx="3361872" cy="273844"/>
          </a:xfrm>
          <a:prstGeom prst="rect">
            <a:avLst/>
          </a:prstGeom>
        </p:spPr>
      </p:pic>
      <p:pic>
        <p:nvPicPr>
          <p:cNvPr id="10" name="Content Placeholder 9">
            <a:extLst>
              <a:ext uri="{FF2B5EF4-FFF2-40B4-BE49-F238E27FC236}">
                <a16:creationId xmlns:a16="http://schemas.microsoft.com/office/drawing/2014/main" id="{91B109D0-DED3-44CC-9415-1B56DF27C2FC}"/>
              </a:ext>
            </a:extLst>
          </p:cNvPr>
          <p:cNvPicPr>
            <a:picLocks noGrp="1" noChangeAspect="1"/>
          </p:cNvPicPr>
          <p:nvPr>
            <p:ph idx="1"/>
          </p:nvPr>
        </p:nvPicPr>
        <p:blipFill>
          <a:blip r:embed="rId8">
            <a:extLst>
              <a:ext uri="{BEBA8EAE-BF5A-486C-A8C5-ECC9F3942E4B}">
                <a14:imgProps xmlns:a14="http://schemas.microsoft.com/office/drawing/2010/main">
                  <a14:imgLayer r:embed="rId9">
                    <a14:imgEffect>
                      <a14:sharpenSoften amount="100000"/>
                    </a14:imgEffect>
                  </a14:imgLayer>
                </a14:imgProps>
              </a:ext>
            </a:extLst>
          </a:blip>
          <a:stretch>
            <a:fillRect/>
          </a:stretch>
        </p:blipFill>
        <p:spPr>
          <a:xfrm>
            <a:off x="4114800" y="1850652"/>
            <a:ext cx="4477152" cy="2779689"/>
          </a:xfrm>
          <a:prstGeom prst="rect">
            <a:avLst/>
          </a:prstGeom>
        </p:spPr>
      </p:pic>
      <p:sp>
        <p:nvSpPr>
          <p:cNvPr id="11" name="Content Placeholder 2">
            <a:extLst>
              <a:ext uri="{FF2B5EF4-FFF2-40B4-BE49-F238E27FC236}">
                <a16:creationId xmlns:a16="http://schemas.microsoft.com/office/drawing/2014/main" id="{37ED8874-5626-4CF9-AA8A-CA04B0D1D62D}"/>
              </a:ext>
            </a:extLst>
          </p:cNvPr>
          <p:cNvSpPr txBox="1">
            <a:spLocks/>
          </p:cNvSpPr>
          <p:nvPr/>
        </p:nvSpPr>
        <p:spPr>
          <a:xfrm>
            <a:off x="457200" y="742950"/>
            <a:ext cx="8229600" cy="3851673"/>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t>RTL can be used to specify the behavior of any sequential digital system, simplest to complex.</a:t>
            </a:r>
          </a:p>
          <a:p>
            <a:r>
              <a:rPr lang="en-US" sz="1800" dirty="0"/>
              <a:t>RTL specify the function of digital components and simple systems.</a:t>
            </a:r>
          </a:p>
          <a:p>
            <a:pPr marL="457200" indent="-457200">
              <a:buFont typeface="+mj-lt"/>
              <a:buAutoNum type="arabicPeriod"/>
              <a:tabLst>
                <a:tab pos="463550" algn="l"/>
              </a:tabLst>
            </a:pPr>
            <a:endParaRPr lang="en-US" sz="1800" dirty="0"/>
          </a:p>
        </p:txBody>
      </p:sp>
      <p:sp>
        <p:nvSpPr>
          <p:cNvPr id="3" name="TextBox 2">
            <a:extLst>
              <a:ext uri="{FF2B5EF4-FFF2-40B4-BE49-F238E27FC236}">
                <a16:creationId xmlns:a16="http://schemas.microsoft.com/office/drawing/2014/main" id="{3644FECA-4FAF-4AEB-8BDE-F58F24D6D014}"/>
              </a:ext>
            </a:extLst>
          </p:cNvPr>
          <p:cNvSpPr txBox="1"/>
          <p:nvPr/>
        </p:nvSpPr>
        <p:spPr>
          <a:xfrm>
            <a:off x="7620000" y="2537460"/>
            <a:ext cx="263214" cy="307777"/>
          </a:xfrm>
          <a:prstGeom prst="rect">
            <a:avLst/>
          </a:prstGeom>
          <a:noFill/>
        </p:spPr>
        <p:txBody>
          <a:bodyPr wrap="square" rtlCol="0">
            <a:spAutoFit/>
          </a:bodyPr>
          <a:lstStyle/>
          <a:p>
            <a:r>
              <a:rPr lang="en-US" sz="1400" dirty="0"/>
              <a:t>x</a:t>
            </a:r>
          </a:p>
        </p:txBody>
      </p:sp>
    </p:spTree>
    <p:extLst>
      <p:ext uri="{BB962C8B-B14F-4D97-AF65-F5344CB8AC3E}">
        <p14:creationId xmlns:p14="http://schemas.microsoft.com/office/powerpoint/2010/main" val="24320357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FC13-46E9-40CC-BA87-DCEA9A4480F6}"/>
              </a:ext>
            </a:extLst>
          </p:cNvPr>
          <p:cNvSpPr>
            <a:spLocks noGrp="1"/>
          </p:cNvSpPr>
          <p:nvPr>
            <p:ph type="title"/>
          </p:nvPr>
        </p:nvSpPr>
        <p:spPr>
          <a:xfrm>
            <a:off x="457200" y="205979"/>
            <a:ext cx="8229600" cy="61317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id="{1CEABF0C-20B6-4F3A-BDFA-F72D9CE1FC31}"/>
              </a:ext>
            </a:extLst>
          </p:cNvPr>
          <p:cNvSpPr>
            <a:spLocks noGrp="1"/>
          </p:cNvSpPr>
          <p:nvPr>
            <p:ph idx="1"/>
          </p:nvPr>
        </p:nvSpPr>
        <p:spPr>
          <a:xfrm>
            <a:off x="457200" y="971550"/>
            <a:ext cx="8229600" cy="3623073"/>
          </a:xfrm>
        </p:spPr>
        <p:txBody>
          <a:bodyPr/>
          <a:lstStyle/>
          <a:p>
            <a:endParaRPr lang="en-US" dirty="0"/>
          </a:p>
        </p:txBody>
      </p:sp>
      <p:sp>
        <p:nvSpPr>
          <p:cNvPr id="4" name="Date Placeholder 3">
            <a:extLst>
              <a:ext uri="{FF2B5EF4-FFF2-40B4-BE49-F238E27FC236}">
                <a16:creationId xmlns:a16="http://schemas.microsoft.com/office/drawing/2014/main" id="{487F1F83-7E37-471D-83EA-EA01DAFD0263}"/>
              </a:ext>
            </a:extLst>
          </p:cNvPr>
          <p:cNvSpPr>
            <a:spLocks noGrp="1"/>
          </p:cNvSpPr>
          <p:nvPr>
            <p:ph type="dt" sz="half" idx="10"/>
          </p:nvPr>
        </p:nvSpPr>
        <p:spPr/>
        <p:txBody>
          <a:bodyPr/>
          <a:lstStyle/>
          <a:p>
            <a:fld id="{0A208CE3-E8F4-4281-AFC4-CC6E317C9203}" type="datetime1">
              <a:rPr lang="en-US" smtClean="0"/>
              <a:t>8/1/2023</a:t>
            </a:fld>
            <a:endParaRPr lang="en-US"/>
          </a:p>
        </p:txBody>
      </p:sp>
      <p:sp>
        <p:nvSpPr>
          <p:cNvPr id="5" name="Footer Placeholder 4">
            <a:extLst>
              <a:ext uri="{FF2B5EF4-FFF2-40B4-BE49-F238E27FC236}">
                <a16:creationId xmlns:a16="http://schemas.microsoft.com/office/drawing/2014/main" id="{AB65BF61-4DE2-45F3-8C6D-AAE824C1ACAC}"/>
              </a:ext>
            </a:extLst>
          </p:cNvPr>
          <p:cNvSpPr>
            <a:spLocks noGrp="1"/>
          </p:cNvSpPr>
          <p:nvPr>
            <p:ph type="ftr" sz="quarter" idx="11"/>
          </p:nvPr>
        </p:nvSpPr>
        <p:spPr/>
        <p:txBody>
          <a:bodyPr/>
          <a:lstStyle/>
          <a:p>
            <a:r>
              <a:rPr lang="en-US"/>
              <a:t>Architectural Details and Assembly Language Programming of 8085 MPU</a:t>
            </a:r>
          </a:p>
        </p:txBody>
      </p:sp>
      <p:sp>
        <p:nvSpPr>
          <p:cNvPr id="6" name="Slide Number Placeholder 5">
            <a:extLst>
              <a:ext uri="{FF2B5EF4-FFF2-40B4-BE49-F238E27FC236}">
                <a16:creationId xmlns:a16="http://schemas.microsoft.com/office/drawing/2014/main" id="{79C543A9-E7C5-4893-BA16-BF88B242C04A}"/>
              </a:ext>
            </a:extLst>
          </p:cNvPr>
          <p:cNvSpPr>
            <a:spLocks noGrp="1"/>
          </p:cNvSpPr>
          <p:nvPr>
            <p:ph type="sldNum" sz="quarter" idx="12"/>
          </p:nvPr>
        </p:nvSpPr>
        <p:spPr/>
        <p:txBody>
          <a:bodyPr/>
          <a:lstStyle/>
          <a:p>
            <a:fld id="{B6F15528-21DE-4FAA-801E-634DDDAF4B2B}" type="slidenum">
              <a:rPr lang="en-US" smtClean="0"/>
              <a:pPr/>
              <a:t>86</a:t>
            </a:fld>
            <a:endParaRPr lang="en-US"/>
          </a:p>
        </p:txBody>
      </p:sp>
      <p:pic>
        <p:nvPicPr>
          <p:cNvPr id="7" name="Picture 6">
            <a:extLst>
              <a:ext uri="{FF2B5EF4-FFF2-40B4-BE49-F238E27FC236}">
                <a16:creationId xmlns:a16="http://schemas.microsoft.com/office/drawing/2014/main" id="{D43F3033-3617-47F2-BE98-C1F9E7D2C0F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491359" y="574496"/>
            <a:ext cx="3573509" cy="1497878"/>
          </a:xfrm>
          <a:prstGeom prst="rect">
            <a:avLst/>
          </a:prstGeom>
        </p:spPr>
      </p:pic>
      <p:pic>
        <p:nvPicPr>
          <p:cNvPr id="8" name="Picture 7">
            <a:extLst>
              <a:ext uri="{FF2B5EF4-FFF2-40B4-BE49-F238E27FC236}">
                <a16:creationId xmlns:a16="http://schemas.microsoft.com/office/drawing/2014/main" id="{05D4ED3D-701C-409A-B745-59031166B1B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585045" y="2315096"/>
            <a:ext cx="3386138" cy="170654"/>
          </a:xfrm>
          <a:prstGeom prst="rect">
            <a:avLst/>
          </a:prstGeom>
        </p:spPr>
      </p:pic>
      <p:pic>
        <p:nvPicPr>
          <p:cNvPr id="9" name="Picture 8">
            <a:extLst>
              <a:ext uri="{FF2B5EF4-FFF2-40B4-BE49-F238E27FC236}">
                <a16:creationId xmlns:a16="http://schemas.microsoft.com/office/drawing/2014/main" id="{A22AE6AC-5C6E-49DB-B1AC-92EC8282B5A8}"/>
              </a:ext>
            </a:extLst>
          </p:cNvPr>
          <p:cNvPicPr/>
          <p:nvPr/>
        </p:nvPicPr>
        <p:blipFill rotWithShape="1">
          <a:blip r:embed="rId6">
            <a:extLst>
              <a:ext uri="{BEBA8EAE-BF5A-486C-A8C5-ECC9F3942E4B}">
                <a14:imgProps xmlns:a14="http://schemas.microsoft.com/office/drawing/2010/main">
                  <a14:imgLayer r:embed="rId7">
                    <a14:imgEffect>
                      <a14:sharpenSoften amount="61000"/>
                    </a14:imgEffect>
                  </a14:imgLayer>
                </a14:imgProps>
              </a:ext>
            </a:extLst>
          </a:blip>
          <a:srcRect l="37521" t="16284" b="5056"/>
          <a:stretch/>
        </p:blipFill>
        <p:spPr>
          <a:xfrm>
            <a:off x="4926722" y="548877"/>
            <a:ext cx="3581400" cy="2400537"/>
          </a:xfrm>
          <a:prstGeom prst="rect">
            <a:avLst/>
          </a:prstGeom>
        </p:spPr>
      </p:pic>
      <p:pic>
        <p:nvPicPr>
          <p:cNvPr id="10" name="Picture 9">
            <a:extLst>
              <a:ext uri="{FF2B5EF4-FFF2-40B4-BE49-F238E27FC236}">
                <a16:creationId xmlns:a16="http://schemas.microsoft.com/office/drawing/2014/main" id="{AFD189CF-087A-4117-993F-A5DAFCAA2E5D}"/>
              </a:ext>
            </a:extLst>
          </p:cNvPr>
          <p:cNvPicPr/>
          <p:nvPr/>
        </p:nvPicPr>
        <p:blipFill rotWithShape="1">
          <a:blip r:embed="rId6">
            <a:extLst>
              <a:ext uri="{BEBA8EAE-BF5A-486C-A8C5-ECC9F3942E4B}">
                <a14:imgProps xmlns:a14="http://schemas.microsoft.com/office/drawing/2010/main">
                  <a14:imgLayer r:embed="rId7">
                    <a14:imgEffect>
                      <a14:sharpenSoften amount="61000"/>
                    </a14:imgEffect>
                  </a14:imgLayer>
                </a14:imgProps>
              </a:ext>
            </a:extLst>
          </a:blip>
          <a:srcRect l="-1030" t="-1378" r="27917" b="86280"/>
          <a:stretch/>
        </p:blipFill>
        <p:spPr>
          <a:xfrm>
            <a:off x="4545724" y="3122054"/>
            <a:ext cx="4191000" cy="460771"/>
          </a:xfrm>
          <a:prstGeom prst="rect">
            <a:avLst/>
          </a:prstGeom>
        </p:spPr>
      </p:pic>
    </p:spTree>
    <p:extLst>
      <p:ext uri="{BB962C8B-B14F-4D97-AF65-F5344CB8AC3E}">
        <p14:creationId xmlns:p14="http://schemas.microsoft.com/office/powerpoint/2010/main" val="125598536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Representation of D flipflop with RTL</a:t>
            </a:r>
          </a:p>
        </p:txBody>
      </p:sp>
      <p:sp>
        <p:nvSpPr>
          <p:cNvPr id="3" name="Content Placeholder 2"/>
          <p:cNvSpPr>
            <a:spLocks noGrp="1"/>
          </p:cNvSpPr>
          <p:nvPr>
            <p:ph idx="1"/>
          </p:nvPr>
        </p:nvSpPr>
        <p:spPr>
          <a:xfrm>
            <a:off x="457200" y="742950"/>
            <a:ext cx="4267200" cy="3851673"/>
          </a:xfrm>
        </p:spPr>
        <p:txBody>
          <a:bodyPr>
            <a:normAutofit fontScale="85000" lnSpcReduction="20000"/>
          </a:bodyPr>
          <a:lstStyle/>
          <a:p>
            <a:r>
              <a:rPr lang="en-US" sz="1600" dirty="0"/>
              <a:t>Consider the D flip-flop as shown in figure (a).</a:t>
            </a:r>
          </a:p>
          <a:p>
            <a:r>
              <a:rPr lang="en-US" sz="1600" dirty="0"/>
              <a:t>Its function can be expressed by single RTL statement.</a:t>
            </a:r>
          </a:p>
          <a:p>
            <a:pPr marL="0" indent="0">
              <a:buNone/>
            </a:pPr>
            <a:r>
              <a:rPr lang="en-US" sz="1600" dirty="0"/>
              <a:t>	LD: Q</a:t>
            </a:r>
            <a:r>
              <a:rPr lang="en-US" sz="1600" dirty="0">
                <a:sym typeface="Wingdings" panose="05000000000000000000" pitchFamily="2" charset="2"/>
              </a:rPr>
              <a:t>D</a:t>
            </a:r>
          </a:p>
          <a:p>
            <a:r>
              <a:rPr lang="en-US" sz="1600" dirty="0">
                <a:sym typeface="Wingdings" panose="05000000000000000000" pitchFamily="2" charset="2"/>
              </a:rPr>
              <a:t>When </a:t>
            </a:r>
            <a:r>
              <a:rPr lang="en-US" sz="1600" b="1" dirty="0">
                <a:sym typeface="Wingdings" panose="05000000000000000000" pitchFamily="2" charset="2"/>
              </a:rPr>
              <a:t>LD input is high</a:t>
            </a:r>
            <a:r>
              <a:rPr lang="en-US" sz="1600" dirty="0">
                <a:sym typeface="Wingdings" panose="05000000000000000000" pitchFamily="2" charset="2"/>
              </a:rPr>
              <a:t>, the </a:t>
            </a:r>
            <a:r>
              <a:rPr lang="en-US" sz="1600" b="1" dirty="0">
                <a:sym typeface="Wingdings" panose="05000000000000000000" pitchFamily="2" charset="2"/>
              </a:rPr>
              <a:t>value on the D input is loaded </a:t>
            </a:r>
            <a:r>
              <a:rPr lang="en-US" sz="1600" dirty="0">
                <a:sym typeface="Wingdings" panose="05000000000000000000" pitchFamily="2" charset="2"/>
              </a:rPr>
              <a:t>and made available on the </a:t>
            </a:r>
            <a:r>
              <a:rPr lang="en-US" sz="1600" b="1" dirty="0">
                <a:sym typeface="Wingdings" panose="05000000000000000000" pitchFamily="2" charset="2"/>
              </a:rPr>
              <a:t>Q output</a:t>
            </a:r>
            <a:r>
              <a:rPr lang="en-US" sz="1600" dirty="0">
                <a:sym typeface="Wingdings" panose="05000000000000000000" pitchFamily="2" charset="2"/>
              </a:rPr>
              <a:t>. This happens on rising edge of clock pulse.</a:t>
            </a:r>
          </a:p>
          <a:p>
            <a:r>
              <a:rPr lang="en-US" sz="1600" dirty="0"/>
              <a:t>In figure b, when CLR =1, the flipflop set to 0.</a:t>
            </a:r>
          </a:p>
          <a:p>
            <a:pPr marL="457200" lvl="1" indent="0">
              <a:buNone/>
            </a:pPr>
            <a:r>
              <a:rPr lang="en-US" sz="1200" dirty="0"/>
              <a:t>i.e.</a:t>
            </a:r>
          </a:p>
          <a:p>
            <a:pPr marL="457200" lvl="1" indent="0">
              <a:buNone/>
            </a:pPr>
            <a:r>
              <a:rPr lang="en-US" sz="1200" dirty="0"/>
              <a:t>LD: Q</a:t>
            </a:r>
            <a:r>
              <a:rPr lang="en-US" sz="1200" dirty="0">
                <a:sym typeface="Wingdings" panose="05000000000000000000" pitchFamily="2" charset="2"/>
              </a:rPr>
              <a:t> D</a:t>
            </a:r>
          </a:p>
          <a:p>
            <a:pPr marL="457200" lvl="1" indent="0">
              <a:buNone/>
            </a:pPr>
            <a:r>
              <a:rPr lang="en-US" sz="1200" dirty="0">
                <a:sym typeface="Wingdings" panose="05000000000000000000" pitchFamily="2" charset="2"/>
              </a:rPr>
              <a:t>CLR: Q0</a:t>
            </a:r>
          </a:p>
          <a:p>
            <a:r>
              <a:rPr lang="en-US" sz="1600" dirty="0">
                <a:sym typeface="Wingdings" panose="05000000000000000000" pitchFamily="2" charset="2"/>
              </a:rPr>
              <a:t>However, When D, LD and CLR are equal to 1, the above system fails.</a:t>
            </a:r>
          </a:p>
          <a:p>
            <a:pPr lvl="1"/>
            <a:r>
              <a:rPr lang="en-US" sz="1200" dirty="0">
                <a:sym typeface="Wingdings" panose="05000000000000000000" pitchFamily="2" charset="2"/>
              </a:rPr>
              <a:t>When LD=1, the Q is set to 1 </a:t>
            </a:r>
          </a:p>
          <a:p>
            <a:pPr lvl="1"/>
            <a:r>
              <a:rPr lang="en-US" sz="1200" dirty="0">
                <a:sym typeface="Wingdings" panose="05000000000000000000" pitchFamily="2" charset="2"/>
              </a:rPr>
              <a:t>And when CLR=1, Q is clear to 0, </a:t>
            </a:r>
          </a:p>
          <a:p>
            <a:pPr lvl="1"/>
            <a:r>
              <a:rPr lang="en-US" sz="1200" dirty="0">
                <a:sym typeface="Wingdings" panose="05000000000000000000" pitchFamily="2" charset="2"/>
              </a:rPr>
              <a:t>Both set Q simultaneously, Which  is not possible.</a:t>
            </a:r>
          </a:p>
          <a:p>
            <a:r>
              <a:rPr lang="en-US" sz="1600" dirty="0"/>
              <a:t>The solution is to modify the conditions so they are mutually exclusive.</a:t>
            </a:r>
          </a:p>
          <a:p>
            <a:endParaRPr lang="en-US" sz="1600" dirty="0"/>
          </a:p>
          <a:p>
            <a:r>
              <a:rPr lang="en-US" sz="1600" dirty="0"/>
              <a:t>Here, Q is set to 1 if  CLR=0 and LD=1.</a:t>
            </a:r>
          </a:p>
          <a:p>
            <a:endParaRPr lang="en-US" sz="1600" dirty="0"/>
          </a:p>
          <a:p>
            <a:pPr lvl="1"/>
            <a:endParaRPr lang="en-US" sz="1200" dirty="0"/>
          </a:p>
          <a:p>
            <a:endParaRPr lang="en-US" sz="1600" dirty="0">
              <a:sym typeface="Wingdings" panose="05000000000000000000" pitchFamily="2" charset="2"/>
            </a:endParaRPr>
          </a:p>
        </p:txBody>
      </p:sp>
      <p:sp>
        <p:nvSpPr>
          <p:cNvPr id="4" name="Date Placeholder 3"/>
          <p:cNvSpPr>
            <a:spLocks noGrp="1"/>
          </p:cNvSpPr>
          <p:nvPr>
            <p:ph type="dt" sz="half" idx="10"/>
          </p:nvPr>
        </p:nvSpPr>
        <p:spPr/>
        <p:txBody>
          <a:bodyPr/>
          <a:lstStyle/>
          <a:p>
            <a:fld id="{77FB80EC-0301-4966-B98D-16B6B2CDCA34}"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87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10" name="Picture 9">
            <a:extLst>
              <a:ext uri="{FF2B5EF4-FFF2-40B4-BE49-F238E27FC236}">
                <a16:creationId xmlns:a16="http://schemas.microsoft.com/office/drawing/2014/main" id="{CBDCF44A-AC7A-4DDE-A97C-BAEEB43E123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4988691" y="1080594"/>
            <a:ext cx="4021961" cy="1576892"/>
          </a:xfrm>
          <a:prstGeom prst="rect">
            <a:avLst/>
          </a:prstGeom>
        </p:spPr>
      </p:pic>
      <p:pic>
        <p:nvPicPr>
          <p:cNvPr id="11" name="Picture 10">
            <a:extLst>
              <a:ext uri="{FF2B5EF4-FFF2-40B4-BE49-F238E27FC236}">
                <a16:creationId xmlns:a16="http://schemas.microsoft.com/office/drawing/2014/main" id="{9A713DE3-CAF1-4853-A17F-89E06B2041A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6288181" y="2830126"/>
            <a:ext cx="2257425" cy="1357065"/>
          </a:xfrm>
          <a:prstGeom prst="rect">
            <a:avLst/>
          </a:prstGeom>
        </p:spPr>
      </p:pic>
      <p:sp>
        <p:nvSpPr>
          <p:cNvPr id="12" name="TextBox 11">
            <a:extLst>
              <a:ext uri="{FF2B5EF4-FFF2-40B4-BE49-F238E27FC236}">
                <a16:creationId xmlns:a16="http://schemas.microsoft.com/office/drawing/2014/main" id="{145E34C3-8E40-4D75-9A26-306809DB8AC4}"/>
              </a:ext>
            </a:extLst>
          </p:cNvPr>
          <p:cNvSpPr txBox="1"/>
          <p:nvPr/>
        </p:nvSpPr>
        <p:spPr>
          <a:xfrm>
            <a:off x="6288181" y="4225291"/>
            <a:ext cx="2133600" cy="369332"/>
          </a:xfrm>
          <a:prstGeom prst="rect">
            <a:avLst/>
          </a:prstGeom>
          <a:noFill/>
        </p:spPr>
        <p:txBody>
          <a:bodyPr wrap="square" rtlCol="0">
            <a:spAutoFit/>
          </a:bodyPr>
          <a:lstStyle/>
          <a:p>
            <a:r>
              <a:rPr lang="en-US" dirty="0"/>
              <a:t>D Flipflop truth table</a:t>
            </a:r>
          </a:p>
        </p:txBody>
      </p:sp>
      <p:pic>
        <p:nvPicPr>
          <p:cNvPr id="13" name="Picture 12">
            <a:extLst>
              <a:ext uri="{FF2B5EF4-FFF2-40B4-BE49-F238E27FC236}">
                <a16:creationId xmlns:a16="http://schemas.microsoft.com/office/drawing/2014/main" id="{8587C369-8002-4C88-8D1F-01C16A7D5439}"/>
              </a:ext>
            </a:extLst>
          </p:cNvPr>
          <p:cNvPicPr>
            <a:picLocks noChangeAspect="1"/>
          </p:cNvPicPr>
          <p:nvPr/>
        </p:nvPicPr>
        <p:blipFill rotWithShape="1">
          <a:blip r:embed="rId6"/>
          <a:srcRect r="49689" b="57291"/>
          <a:stretch/>
        </p:blipFill>
        <p:spPr>
          <a:xfrm>
            <a:off x="2286000" y="3984580"/>
            <a:ext cx="1325031" cy="244522"/>
          </a:xfrm>
          <a:prstGeom prst="rect">
            <a:avLst/>
          </a:prstGeom>
        </p:spPr>
      </p:pic>
    </p:spTree>
    <p:extLst>
      <p:ext uri="{BB962C8B-B14F-4D97-AF65-F5344CB8AC3E}">
        <p14:creationId xmlns:p14="http://schemas.microsoft.com/office/powerpoint/2010/main" val="17675679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Another Example: JK </a:t>
            </a:r>
          </a:p>
        </p:txBody>
      </p:sp>
      <p:sp>
        <p:nvSpPr>
          <p:cNvPr id="3" name="Content Placeholder 2"/>
          <p:cNvSpPr>
            <a:spLocks noGrp="1"/>
          </p:cNvSpPr>
          <p:nvPr>
            <p:ph idx="1"/>
          </p:nvPr>
        </p:nvSpPr>
        <p:spPr>
          <a:xfrm>
            <a:off x="457200" y="742950"/>
            <a:ext cx="8229600" cy="3851673"/>
          </a:xfrm>
        </p:spPr>
        <p:txBody>
          <a:bodyPr>
            <a:normAutofit fontScale="92500" lnSpcReduction="10000"/>
          </a:bodyPr>
          <a:lstStyle/>
          <a:p>
            <a:r>
              <a:rPr lang="en-US" sz="2000" dirty="0"/>
              <a:t>Consider the JK flip flop without a CLR input.</a:t>
            </a:r>
          </a:p>
          <a:p>
            <a:r>
              <a:rPr lang="en-US" sz="2000" dirty="0"/>
              <a:t>Its truth table is: </a:t>
            </a:r>
          </a:p>
          <a:p>
            <a:endParaRPr lang="en-US" sz="2000" dirty="0"/>
          </a:p>
          <a:p>
            <a:endParaRPr lang="en-US" sz="2000" dirty="0"/>
          </a:p>
          <a:p>
            <a:endParaRPr lang="en-US" sz="2000" dirty="0"/>
          </a:p>
          <a:p>
            <a:r>
              <a:rPr lang="en-US" sz="2000" dirty="0"/>
              <a:t>Its behavior can be specified in RTL as follow:</a:t>
            </a:r>
          </a:p>
          <a:p>
            <a:endParaRPr lang="en-US" sz="2000" dirty="0"/>
          </a:p>
          <a:p>
            <a:endParaRPr lang="en-US" sz="2000" dirty="0"/>
          </a:p>
          <a:p>
            <a:endParaRPr lang="en-US" sz="2000" dirty="0"/>
          </a:p>
          <a:p>
            <a:r>
              <a:rPr lang="en-US" sz="2000" dirty="0"/>
              <a:t>When J=0 and K=0, no condition is met and the flip-flop retains its previous value. No RTL statement is included for this case because no transfer is needed.</a:t>
            </a:r>
          </a:p>
          <a:p>
            <a:endParaRPr lang="en-US" sz="2000" dirty="0"/>
          </a:p>
        </p:txBody>
      </p:sp>
      <p:sp>
        <p:nvSpPr>
          <p:cNvPr id="4" name="Date Placeholder 3"/>
          <p:cNvSpPr>
            <a:spLocks noGrp="1"/>
          </p:cNvSpPr>
          <p:nvPr>
            <p:ph type="dt" sz="half" idx="10"/>
          </p:nvPr>
        </p:nvSpPr>
        <p:spPr/>
        <p:txBody>
          <a:bodyPr/>
          <a:lstStyle/>
          <a:p>
            <a:fld id="{E0A82DEE-4012-4F88-875D-3BB1A18F5205}"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88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F6CE7CFA-3808-4A3C-9441-86FD296F693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943600" y="851716"/>
            <a:ext cx="2788792" cy="1720034"/>
          </a:xfrm>
          <a:prstGeom prst="rect">
            <a:avLst/>
          </a:prstGeom>
        </p:spPr>
      </p:pic>
      <p:pic>
        <p:nvPicPr>
          <p:cNvPr id="8" name="Picture 7">
            <a:extLst>
              <a:ext uri="{FF2B5EF4-FFF2-40B4-BE49-F238E27FC236}">
                <a16:creationId xmlns:a16="http://schemas.microsoft.com/office/drawing/2014/main" id="{35CD476D-E2F7-4DF4-9E4E-C5E06207663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2362200" y="2800350"/>
            <a:ext cx="1066428" cy="836414"/>
          </a:xfrm>
          <a:prstGeom prst="rect">
            <a:avLst/>
          </a:prstGeom>
        </p:spPr>
      </p:pic>
    </p:spTree>
    <p:extLst>
      <p:ext uri="{BB962C8B-B14F-4D97-AF65-F5344CB8AC3E}">
        <p14:creationId xmlns:p14="http://schemas.microsoft.com/office/powerpoint/2010/main" val="42116371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a:solidFill>
                  <a:srgbClr val="00B050"/>
                </a:solidFill>
              </a:rPr>
              <a:t>Specification and Implementation of Simple Systems with RTL</a:t>
            </a:r>
          </a:p>
        </p:txBody>
      </p:sp>
      <p:sp>
        <p:nvSpPr>
          <p:cNvPr id="3" name="Content Placeholder 2"/>
          <p:cNvSpPr>
            <a:spLocks noGrp="1"/>
          </p:cNvSpPr>
          <p:nvPr>
            <p:ph idx="1"/>
          </p:nvPr>
        </p:nvSpPr>
        <p:spPr>
          <a:xfrm>
            <a:off x="457200" y="742950"/>
            <a:ext cx="3733800" cy="3851673"/>
          </a:xfrm>
        </p:spPr>
        <p:txBody>
          <a:bodyPr>
            <a:normAutofit/>
          </a:bodyPr>
          <a:lstStyle/>
          <a:p>
            <a:r>
              <a:rPr lang="en-US" sz="1400" dirty="0"/>
              <a:t>Consider a system with four 1-bit flipflops. Given RTL code where j, o, h and n are conditions which are mutually exclusive.</a:t>
            </a:r>
          </a:p>
          <a:p>
            <a:endParaRPr lang="en-US" sz="1400" dirty="0"/>
          </a:p>
        </p:txBody>
      </p:sp>
      <p:sp>
        <p:nvSpPr>
          <p:cNvPr id="4" name="Date Placeholder 3"/>
          <p:cNvSpPr>
            <a:spLocks noGrp="1"/>
          </p:cNvSpPr>
          <p:nvPr>
            <p:ph type="dt" sz="half" idx="10"/>
          </p:nvPr>
        </p:nvSpPr>
        <p:spPr/>
        <p:txBody>
          <a:bodyPr/>
          <a:lstStyle/>
          <a:p>
            <a:fld id="{94DC8AE8-6026-4E68-9779-895026280097}"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89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14CE70FA-313C-4EDC-B117-96E74A1E85F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1447800" y="1428750"/>
            <a:ext cx="1348317" cy="990600"/>
          </a:xfrm>
          <a:prstGeom prst="rect">
            <a:avLst/>
          </a:prstGeom>
        </p:spPr>
      </p:pic>
      <p:pic>
        <p:nvPicPr>
          <p:cNvPr id="8" name="Picture 7">
            <a:extLst>
              <a:ext uri="{FF2B5EF4-FFF2-40B4-BE49-F238E27FC236}">
                <a16:creationId xmlns:a16="http://schemas.microsoft.com/office/drawing/2014/main" id="{A2F7040D-7274-4C87-B19A-9129B274758C}"/>
              </a:ext>
            </a:extLst>
          </p:cNvPr>
          <p:cNvPicPr>
            <a:picLocks noChangeAspect="1"/>
          </p:cNvPicPr>
          <p:nvPr/>
        </p:nvPicPr>
        <p:blipFill rotWithShape="1">
          <a:blip r:embed="rId4">
            <a:extLst>
              <a:ext uri="{BEBA8EAE-BF5A-486C-A8C5-ECC9F3942E4B}">
                <a14:imgProps xmlns:a14="http://schemas.microsoft.com/office/drawing/2010/main">
                  <a14:imgLayer r:embed="rId5">
                    <a14:imgEffect>
                      <a14:sharpenSoften amount="100000"/>
                    </a14:imgEffect>
                  </a14:imgLayer>
                </a14:imgProps>
              </a:ext>
            </a:extLst>
          </a:blip>
          <a:srcRect l="3226" t="6917" r="3226" b="6378"/>
          <a:stretch/>
        </p:blipFill>
        <p:spPr>
          <a:xfrm>
            <a:off x="762000" y="2595316"/>
            <a:ext cx="2950369" cy="1424317"/>
          </a:xfrm>
          <a:prstGeom prst="rect">
            <a:avLst/>
          </a:prstGeom>
        </p:spPr>
      </p:pic>
      <p:pic>
        <p:nvPicPr>
          <p:cNvPr id="9" name="Picture 8">
            <a:extLst>
              <a:ext uri="{FF2B5EF4-FFF2-40B4-BE49-F238E27FC236}">
                <a16:creationId xmlns:a16="http://schemas.microsoft.com/office/drawing/2014/main" id="{C0EF07A1-12A4-434C-BB28-97AD4CF6C7BC}"/>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100000"/>
                    </a14:imgEffect>
                  </a14:imgLayer>
                </a14:imgProps>
              </a:ext>
            </a:extLst>
          </a:blip>
          <a:stretch>
            <a:fillRect/>
          </a:stretch>
        </p:blipFill>
        <p:spPr>
          <a:xfrm>
            <a:off x="457200" y="4228603"/>
            <a:ext cx="3767136" cy="252471"/>
          </a:xfrm>
          <a:prstGeom prst="rect">
            <a:avLst/>
          </a:prstGeom>
        </p:spPr>
      </p:pic>
      <p:sp>
        <p:nvSpPr>
          <p:cNvPr id="10" name="Content Placeholder 2">
            <a:extLst>
              <a:ext uri="{FF2B5EF4-FFF2-40B4-BE49-F238E27FC236}">
                <a16:creationId xmlns:a16="http://schemas.microsoft.com/office/drawing/2014/main" id="{04FA27A0-57AF-49F2-A887-5414F9DA7255}"/>
              </a:ext>
            </a:extLst>
          </p:cNvPr>
          <p:cNvSpPr txBox="1">
            <a:spLocks/>
          </p:cNvSpPr>
          <p:nvPr/>
        </p:nvSpPr>
        <p:spPr>
          <a:xfrm>
            <a:off x="4702968" y="742949"/>
            <a:ext cx="4212431" cy="3851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dirty="0"/>
              <a:t>But it does not complete the transfer.</a:t>
            </a:r>
          </a:p>
          <a:p>
            <a:r>
              <a:rPr lang="en-US" sz="1200" b="1" dirty="0"/>
              <a:t>No register has actually loaded any data yet</a:t>
            </a:r>
            <a:r>
              <a:rPr lang="en-US" sz="1200" dirty="0"/>
              <a:t>.</a:t>
            </a:r>
          </a:p>
          <a:p>
            <a:r>
              <a:rPr lang="en-US" sz="1200" dirty="0"/>
              <a:t>It is necessary to assert LD signal.</a:t>
            </a:r>
          </a:p>
          <a:p>
            <a:r>
              <a:rPr lang="en-US" sz="1200" dirty="0"/>
              <a:t>The complete circuit, with LD signal is shown as below.</a:t>
            </a:r>
          </a:p>
          <a:p>
            <a:r>
              <a:rPr lang="en-US" sz="1200" dirty="0"/>
              <a:t>The flipflop M is loaded when j=1 (M</a:t>
            </a:r>
            <a:r>
              <a:rPr lang="en-US" sz="1200" dirty="0">
                <a:sym typeface="Wingdings" panose="05000000000000000000" pitchFamily="2" charset="2"/>
              </a:rPr>
              <a:t>A) or n=1 (MR).</a:t>
            </a:r>
          </a:p>
          <a:p>
            <a:r>
              <a:rPr lang="en-US" sz="1200" dirty="0">
                <a:sym typeface="Wingdings" panose="05000000000000000000" pitchFamily="2" charset="2"/>
              </a:rPr>
              <a:t>Logically, </a:t>
            </a:r>
            <a:r>
              <a:rPr lang="en-US" sz="1200" dirty="0" err="1">
                <a:sym typeface="Wingdings" panose="05000000000000000000" pitchFamily="2" charset="2"/>
              </a:rPr>
              <a:t>ORing</a:t>
            </a:r>
            <a:r>
              <a:rPr lang="en-US" sz="1200" dirty="0">
                <a:sym typeface="Wingdings" panose="05000000000000000000" pitchFamily="2" charset="2"/>
              </a:rPr>
              <a:t> these signals together produces LD input for M flipflop.</a:t>
            </a:r>
          </a:p>
          <a:p>
            <a:r>
              <a:rPr lang="en-US" sz="1200" dirty="0">
                <a:sym typeface="Wingdings" panose="05000000000000000000" pitchFamily="2" charset="2"/>
              </a:rPr>
              <a:t>Similarly for other conditions.</a:t>
            </a:r>
            <a:endParaRPr lang="en-US" sz="1200" dirty="0"/>
          </a:p>
          <a:p>
            <a:endParaRPr lang="en-US" sz="1200" dirty="0"/>
          </a:p>
        </p:txBody>
      </p:sp>
      <p:pic>
        <p:nvPicPr>
          <p:cNvPr id="13" name="Picture 12">
            <a:extLst>
              <a:ext uri="{FF2B5EF4-FFF2-40B4-BE49-F238E27FC236}">
                <a16:creationId xmlns:a16="http://schemas.microsoft.com/office/drawing/2014/main" id="{F57D9FCF-962A-4771-9B4C-8184C6A52C5A}"/>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100000"/>
                    </a14:imgEffect>
                  </a14:imgLayer>
                </a14:imgProps>
              </a:ext>
            </a:extLst>
          </a:blip>
          <a:srcRect l="1916" t="20706" r="1999" b="3963"/>
          <a:stretch/>
        </p:blipFill>
        <p:spPr>
          <a:xfrm>
            <a:off x="5148262" y="2472118"/>
            <a:ext cx="3767137" cy="1756457"/>
          </a:xfrm>
          <a:prstGeom prst="rect">
            <a:avLst/>
          </a:prstGeom>
        </p:spPr>
      </p:pic>
      <p:pic>
        <p:nvPicPr>
          <p:cNvPr id="14" name="Picture 13">
            <a:extLst>
              <a:ext uri="{FF2B5EF4-FFF2-40B4-BE49-F238E27FC236}">
                <a16:creationId xmlns:a16="http://schemas.microsoft.com/office/drawing/2014/main" id="{80AEB37C-FDE9-4F29-BB01-52A1DE276104}"/>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100000"/>
                    </a14:imgEffect>
                  </a14:imgLayer>
                </a14:imgProps>
              </a:ext>
            </a:extLst>
          </a:blip>
          <a:srcRect r="16353" b="86321"/>
          <a:stretch/>
        </p:blipFill>
        <p:spPr>
          <a:xfrm>
            <a:off x="5148262" y="4426088"/>
            <a:ext cx="3614738" cy="351557"/>
          </a:xfrm>
          <a:prstGeom prst="rect">
            <a:avLst/>
          </a:prstGeom>
        </p:spPr>
      </p:pic>
    </p:spTree>
    <p:extLst>
      <p:ext uri="{BB962C8B-B14F-4D97-AF65-F5344CB8AC3E}">
        <p14:creationId xmlns:p14="http://schemas.microsoft.com/office/powerpoint/2010/main" val="39380271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3048000" cy="3851673"/>
          </a:xfrm>
        </p:spPr>
        <p:txBody>
          <a:bodyPr>
            <a:normAutofit/>
          </a:bodyPr>
          <a:lstStyle/>
          <a:p>
            <a:r>
              <a:rPr lang="en-US" sz="1200" dirty="0"/>
              <a:t>Buses can be implemented using either tri-state buffers or multiplexers.</a:t>
            </a:r>
          </a:p>
          <a:p>
            <a:r>
              <a:rPr lang="en-US" sz="1200" dirty="0"/>
              <a:t>Figure aside shows the complete design of the system to implement RTL code using a bus and tri-state buffers.</a:t>
            </a:r>
          </a:p>
          <a:p>
            <a:endParaRPr lang="en-US" sz="1200" dirty="0"/>
          </a:p>
        </p:txBody>
      </p:sp>
      <p:sp>
        <p:nvSpPr>
          <p:cNvPr id="4" name="Date Placeholder 3"/>
          <p:cNvSpPr>
            <a:spLocks noGrp="1"/>
          </p:cNvSpPr>
          <p:nvPr>
            <p:ph type="dt" sz="half" idx="10"/>
          </p:nvPr>
        </p:nvSpPr>
        <p:spPr/>
        <p:txBody>
          <a:bodyPr/>
          <a:lstStyle/>
          <a:p>
            <a:fld id="{B6C5F08E-E767-494D-A1CE-E8382207267C}"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17A0A9FD-A7FC-46EA-A708-557ECA9AB8F2}"/>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Lst>
          </a:blip>
          <a:srcRect l="5882" t="3432" r="11765" b="5808"/>
          <a:stretch/>
        </p:blipFill>
        <p:spPr>
          <a:xfrm>
            <a:off x="934720" y="1901044"/>
            <a:ext cx="2081763" cy="2499506"/>
          </a:xfrm>
          <a:prstGeom prst="rect">
            <a:avLst/>
          </a:prstGeom>
        </p:spPr>
      </p:pic>
      <p:pic>
        <p:nvPicPr>
          <p:cNvPr id="8" name="Picture 7">
            <a:extLst>
              <a:ext uri="{FF2B5EF4-FFF2-40B4-BE49-F238E27FC236}">
                <a16:creationId xmlns:a16="http://schemas.microsoft.com/office/drawing/2014/main" id="{E9C5CFD1-0766-4841-B7F3-988ACE409B8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Lst>
          </a:blip>
          <a:stretch>
            <a:fillRect/>
          </a:stretch>
        </p:blipFill>
        <p:spPr>
          <a:xfrm>
            <a:off x="228600" y="4513379"/>
            <a:ext cx="4169190" cy="315432"/>
          </a:xfrm>
          <a:prstGeom prst="rect">
            <a:avLst/>
          </a:prstGeom>
        </p:spPr>
      </p:pic>
      <p:pic>
        <p:nvPicPr>
          <p:cNvPr id="9" name="Picture 8">
            <a:extLst>
              <a:ext uri="{FF2B5EF4-FFF2-40B4-BE49-F238E27FC236}">
                <a16:creationId xmlns:a16="http://schemas.microsoft.com/office/drawing/2014/main" id="{32D2D7EE-658E-43B1-A2AF-03102F0544A7}"/>
              </a:ext>
            </a:extLst>
          </p:cNvPr>
          <p:cNvPicPr>
            <a:picLocks noChangeAspect="1"/>
          </p:cNvPicPr>
          <p:nvPr/>
        </p:nvPicPr>
        <p:blipFill rotWithShape="1">
          <a:blip r:embed="rId6">
            <a:extLst>
              <a:ext uri="{BEBA8EAE-BF5A-486C-A8C5-ECC9F3942E4B}">
                <a14:imgProps xmlns:a14="http://schemas.microsoft.com/office/drawing/2010/main">
                  <a14:imgLayer r:embed="rId7">
                    <a14:imgEffect>
                      <a14:sharpenSoften amount="100000"/>
                    </a14:imgEffect>
                  </a14:imgLayer>
                </a14:imgProps>
              </a:ext>
            </a:extLst>
          </a:blip>
          <a:srcRect l="1916" t="20706" r="1999" b="3963"/>
          <a:stretch/>
        </p:blipFill>
        <p:spPr>
          <a:xfrm>
            <a:off x="6625388" y="52406"/>
            <a:ext cx="2518612" cy="1174323"/>
          </a:xfrm>
          <a:prstGeom prst="rect">
            <a:avLst/>
          </a:prstGeom>
          <a:ln>
            <a:solidFill>
              <a:schemeClr val="accent1">
                <a:lumMod val="40000"/>
                <a:lumOff val="60000"/>
              </a:schemeClr>
            </a:solidFill>
          </a:ln>
        </p:spPr>
      </p:pic>
      <p:cxnSp>
        <p:nvCxnSpPr>
          <p:cNvPr id="13" name="Straight Connector 12">
            <a:extLst>
              <a:ext uri="{FF2B5EF4-FFF2-40B4-BE49-F238E27FC236}">
                <a16:creationId xmlns:a16="http://schemas.microsoft.com/office/drawing/2014/main" id="{C3AD1679-CCE4-4192-A627-22A410253330}"/>
              </a:ext>
            </a:extLst>
          </p:cNvPr>
          <p:cNvCxnSpPr>
            <a:cxnSpLocks/>
          </p:cNvCxnSpPr>
          <p:nvPr/>
        </p:nvCxnSpPr>
        <p:spPr>
          <a:xfrm flipH="1">
            <a:off x="2658106" y="514350"/>
            <a:ext cx="5746306" cy="1676400"/>
          </a:xfrm>
          <a:prstGeom prst="line">
            <a:avLst/>
          </a:prstGeom>
          <a:ln>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143993E-5C17-4F79-A330-9A03B181B11C}"/>
              </a:ext>
            </a:extLst>
          </p:cNvPr>
          <p:cNvCxnSpPr>
            <a:cxnSpLocks/>
          </p:cNvCxnSpPr>
          <p:nvPr/>
        </p:nvCxnSpPr>
        <p:spPr>
          <a:xfrm flipH="1">
            <a:off x="2588082" y="550797"/>
            <a:ext cx="6327318" cy="2692466"/>
          </a:xfrm>
          <a:prstGeom prst="line">
            <a:avLst/>
          </a:prstGeom>
          <a:ln>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0D0C105-7C81-49EC-B914-1953FC5162BA}"/>
              </a:ext>
            </a:extLst>
          </p:cNvPr>
          <p:cNvCxnSpPr>
            <a:cxnSpLocks/>
          </p:cNvCxnSpPr>
          <p:nvPr/>
        </p:nvCxnSpPr>
        <p:spPr>
          <a:xfrm flipH="1">
            <a:off x="2514459" y="540929"/>
            <a:ext cx="5222083" cy="3326221"/>
          </a:xfrm>
          <a:prstGeom prst="line">
            <a:avLst/>
          </a:prstGeom>
          <a:ln>
            <a:solidFill>
              <a:srgbClr val="FFC000"/>
            </a:solidFill>
            <a:prstDash val="sysDot"/>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2FE28AAA-919A-4473-9240-9B22BA9E233B}"/>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100000"/>
                    </a14:imgEffect>
                  </a14:imgLayer>
                </a14:imgProps>
              </a:ext>
            </a:extLst>
          </a:blip>
          <a:stretch>
            <a:fillRect/>
          </a:stretch>
        </p:blipFill>
        <p:spPr>
          <a:xfrm>
            <a:off x="5638800" y="23468"/>
            <a:ext cx="916564" cy="673394"/>
          </a:xfrm>
          <a:prstGeom prst="rect">
            <a:avLst/>
          </a:prstGeom>
        </p:spPr>
      </p:pic>
      <p:sp>
        <p:nvSpPr>
          <p:cNvPr id="17" name="Content Placeholder 2">
            <a:extLst>
              <a:ext uri="{FF2B5EF4-FFF2-40B4-BE49-F238E27FC236}">
                <a16:creationId xmlns:a16="http://schemas.microsoft.com/office/drawing/2014/main" id="{32174462-064F-47AB-8EC9-6077BF0EFD09}"/>
              </a:ext>
            </a:extLst>
          </p:cNvPr>
          <p:cNvSpPr txBox="1">
            <a:spLocks/>
          </p:cNvSpPr>
          <p:nvPr/>
        </p:nvSpPr>
        <p:spPr>
          <a:xfrm>
            <a:off x="5217389" y="1343091"/>
            <a:ext cx="3619504" cy="3851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dirty="0"/>
              <a:t>It is also possible to implement a system bus using a multiplexer.</a:t>
            </a:r>
          </a:p>
          <a:p>
            <a:r>
              <a:rPr lang="en-US" sz="1200" dirty="0"/>
              <a:t>MUX can be used instead of tri-state buffers.</a:t>
            </a:r>
          </a:p>
        </p:txBody>
      </p:sp>
      <p:pic>
        <p:nvPicPr>
          <p:cNvPr id="18" name="Picture 17">
            <a:extLst>
              <a:ext uri="{FF2B5EF4-FFF2-40B4-BE49-F238E27FC236}">
                <a16:creationId xmlns:a16="http://schemas.microsoft.com/office/drawing/2014/main" id="{DFC2F79D-83BC-4B2C-B03F-D64C0EFBC0F6}"/>
              </a:ext>
            </a:extLst>
          </p:cNvPr>
          <p:cNvPicPr>
            <a:picLocks noChangeAspect="1"/>
          </p:cNvPicPr>
          <p:nvPr/>
        </p:nvPicPr>
        <p:blipFill rotWithShape="1">
          <a:blip r:embed="rId10">
            <a:extLst>
              <a:ext uri="{BEBA8EAE-BF5A-486C-A8C5-ECC9F3942E4B}">
                <a14:imgProps xmlns:a14="http://schemas.microsoft.com/office/drawing/2010/main">
                  <a14:imgLayer r:embed="rId11">
                    <a14:imgEffect>
                      <a14:sharpenSoften amount="100000"/>
                    </a14:imgEffect>
                  </a14:imgLayer>
                </a14:imgProps>
              </a:ext>
            </a:extLst>
          </a:blip>
          <a:srcRect l="4093" t="4070" r="3835" b="2913"/>
          <a:stretch/>
        </p:blipFill>
        <p:spPr>
          <a:xfrm>
            <a:off x="5638800" y="2048531"/>
            <a:ext cx="2106873" cy="2247331"/>
          </a:xfrm>
          <a:prstGeom prst="rect">
            <a:avLst/>
          </a:prstGeom>
        </p:spPr>
      </p:pic>
      <p:pic>
        <p:nvPicPr>
          <p:cNvPr id="19" name="Picture 18">
            <a:extLst>
              <a:ext uri="{FF2B5EF4-FFF2-40B4-BE49-F238E27FC236}">
                <a16:creationId xmlns:a16="http://schemas.microsoft.com/office/drawing/2014/main" id="{27006DA4-40E9-4FA7-9055-AAE229E788A1}"/>
              </a:ext>
            </a:extLst>
          </p:cNvPr>
          <p:cNvPicPr>
            <a:picLocks noChangeAspect="1"/>
          </p:cNvPicPr>
          <p:nvPr/>
        </p:nvPicPr>
        <p:blipFill>
          <a:blip r:embed="rId12">
            <a:extLst>
              <a:ext uri="{BEBA8EAE-BF5A-486C-A8C5-ECC9F3942E4B}">
                <a14:imgProps xmlns:a14="http://schemas.microsoft.com/office/drawing/2010/main">
                  <a14:imgLayer r:embed="rId13">
                    <a14:imgEffect>
                      <a14:sharpenSoften amount="100000"/>
                    </a14:imgEffect>
                  </a14:imgLayer>
                </a14:imgProps>
              </a:ext>
            </a:extLst>
          </a:blip>
          <a:stretch>
            <a:fillRect/>
          </a:stretch>
        </p:blipFill>
        <p:spPr>
          <a:xfrm>
            <a:off x="5227329" y="4448218"/>
            <a:ext cx="3751827" cy="317834"/>
          </a:xfrm>
          <a:prstGeom prst="rect">
            <a:avLst/>
          </a:prstGeom>
        </p:spPr>
      </p:pic>
      <p:sp>
        <p:nvSpPr>
          <p:cNvPr id="15" name="TextBox 14">
            <a:extLst>
              <a:ext uri="{FF2B5EF4-FFF2-40B4-BE49-F238E27FC236}">
                <a16:creationId xmlns:a16="http://schemas.microsoft.com/office/drawing/2014/main" id="{B75669EF-91C6-4728-A282-B29661ADC950}"/>
              </a:ext>
            </a:extLst>
          </p:cNvPr>
          <p:cNvSpPr txBox="1"/>
          <p:nvPr/>
        </p:nvSpPr>
        <p:spPr>
          <a:xfrm rot="19540364">
            <a:off x="8371941" y="827734"/>
            <a:ext cx="769763" cy="261610"/>
          </a:xfrm>
          <a:prstGeom prst="rect">
            <a:avLst/>
          </a:prstGeom>
          <a:solidFill>
            <a:srgbClr val="FFFF00"/>
          </a:solidFill>
          <a:ln>
            <a:solidFill>
              <a:srgbClr val="FFFF00"/>
            </a:solidFill>
          </a:ln>
        </p:spPr>
        <p:txBody>
          <a:bodyPr wrap="none" rtlCol="0">
            <a:spAutoFit/>
          </a:bodyPr>
          <a:lstStyle/>
          <a:p>
            <a:r>
              <a:rPr lang="en-US" sz="1100" dirty="0"/>
              <a:t>Reference</a:t>
            </a:r>
          </a:p>
        </p:txBody>
      </p:sp>
      <p:sp>
        <p:nvSpPr>
          <p:cNvPr id="21" name="TextBox 20">
            <a:extLst>
              <a:ext uri="{FF2B5EF4-FFF2-40B4-BE49-F238E27FC236}">
                <a16:creationId xmlns:a16="http://schemas.microsoft.com/office/drawing/2014/main" id="{EC83CBF9-8354-42DD-8C8C-325F5A98DCE3}"/>
              </a:ext>
            </a:extLst>
          </p:cNvPr>
          <p:cNvSpPr txBox="1"/>
          <p:nvPr/>
        </p:nvSpPr>
        <p:spPr>
          <a:xfrm>
            <a:off x="6885780" y="3671648"/>
            <a:ext cx="609600" cy="153888"/>
          </a:xfrm>
          <a:prstGeom prst="rect">
            <a:avLst/>
          </a:prstGeom>
          <a:solidFill>
            <a:schemeClr val="bg1"/>
          </a:solidFill>
        </p:spPr>
        <p:txBody>
          <a:bodyPr wrap="square" tIns="0" rtlCol="0">
            <a:spAutoFit/>
          </a:bodyPr>
          <a:lstStyle/>
          <a:p>
            <a:r>
              <a:rPr lang="en-US" sz="700" b="1" i="1" dirty="0"/>
              <a:t>n   o   j</a:t>
            </a:r>
          </a:p>
        </p:txBody>
      </p:sp>
    </p:spTree>
    <p:extLst>
      <p:ext uri="{BB962C8B-B14F-4D97-AF65-F5344CB8AC3E}">
        <p14:creationId xmlns:p14="http://schemas.microsoft.com/office/powerpoint/2010/main" val="3659423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a:solidFill>
                  <a:srgbClr val="FF0000"/>
                </a:solidFill>
              </a:rPr>
              <a:t>Classwork:</a:t>
            </a:r>
            <a:endParaRPr lang="en-US" sz="3200" b="1" dirty="0">
              <a:solidFill>
                <a:srgbClr val="FF0000"/>
              </a:solidFill>
            </a:endParaRPr>
          </a:p>
        </p:txBody>
      </p:sp>
      <p:sp>
        <p:nvSpPr>
          <p:cNvPr id="4" name="Date Placeholder 3"/>
          <p:cNvSpPr>
            <a:spLocks noGrp="1"/>
          </p:cNvSpPr>
          <p:nvPr>
            <p:ph type="dt" sz="half" idx="10"/>
          </p:nvPr>
        </p:nvSpPr>
        <p:spPr/>
        <p:txBody>
          <a:bodyPr/>
          <a:lstStyle/>
          <a:p>
            <a:fld id="{A3D59029-0C8D-4E01-8C29-59118D208EC0}"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8FCDE60E-6F20-45CA-8931-B9F156DDD279}"/>
              </a:ext>
            </a:extLst>
          </p:cNvPr>
          <p:cNvPicPr>
            <a:picLocks noChangeAspect="1"/>
          </p:cNvPicPr>
          <p:nvPr/>
        </p:nvPicPr>
        <p:blipFill rotWithShape="1">
          <a:blip r:embed="rId2"/>
          <a:srcRect b="71621"/>
          <a:stretch/>
        </p:blipFill>
        <p:spPr>
          <a:xfrm>
            <a:off x="479612" y="708281"/>
            <a:ext cx="7584904" cy="1688972"/>
          </a:xfrm>
          <a:prstGeom prst="rect">
            <a:avLst/>
          </a:prstGeom>
        </p:spPr>
      </p:pic>
      <p:pic>
        <p:nvPicPr>
          <p:cNvPr id="11" name="Picture 10">
            <a:extLst>
              <a:ext uri="{FF2B5EF4-FFF2-40B4-BE49-F238E27FC236}">
                <a16:creationId xmlns:a16="http://schemas.microsoft.com/office/drawing/2014/main" id="{FBF42176-6223-474D-86C8-20C5F1151DE2}"/>
              </a:ext>
            </a:extLst>
          </p:cNvPr>
          <p:cNvPicPr>
            <a:picLocks noChangeAspect="1"/>
          </p:cNvPicPr>
          <p:nvPr/>
        </p:nvPicPr>
        <p:blipFill rotWithShape="1">
          <a:blip r:embed="rId2"/>
          <a:srcRect t="26064" b="59068"/>
          <a:stretch/>
        </p:blipFill>
        <p:spPr>
          <a:xfrm>
            <a:off x="609600" y="2571750"/>
            <a:ext cx="6371323" cy="743321"/>
          </a:xfrm>
          <a:prstGeom prst="rect">
            <a:avLst/>
          </a:prstGeom>
        </p:spPr>
      </p:pic>
    </p:spTree>
    <p:extLst>
      <p:ext uri="{BB962C8B-B14F-4D97-AF65-F5344CB8AC3E}">
        <p14:creationId xmlns:p14="http://schemas.microsoft.com/office/powerpoint/2010/main" val="21991033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E0F5B796-E929-458E-B226-DD628C0FDB2B}"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sp>
        <p:nvSpPr>
          <p:cNvPr id="10" name="Content Placeholder 9">
            <a:extLst>
              <a:ext uri="{FF2B5EF4-FFF2-40B4-BE49-F238E27FC236}">
                <a16:creationId xmlns:a16="http://schemas.microsoft.com/office/drawing/2014/main" id="{B013E4BF-37E7-4334-9B0F-C9BE37F59F0C}"/>
              </a:ext>
            </a:extLst>
          </p:cNvPr>
          <p:cNvSpPr>
            <a:spLocks noGrp="1"/>
          </p:cNvSpPr>
          <p:nvPr>
            <p:ph idx="1"/>
          </p:nvPr>
        </p:nvSpPr>
        <p:spPr>
          <a:xfrm>
            <a:off x="457200" y="666750"/>
            <a:ext cx="8229600" cy="3927873"/>
          </a:xfrm>
        </p:spPr>
        <p:txBody>
          <a:bodyPr/>
          <a:lstStyle/>
          <a:p>
            <a:endParaRPr lang="en-US" dirty="0"/>
          </a:p>
        </p:txBody>
      </p:sp>
      <p:pic>
        <p:nvPicPr>
          <p:cNvPr id="11" name="Content Placeholder 6">
            <a:extLst>
              <a:ext uri="{FF2B5EF4-FFF2-40B4-BE49-F238E27FC236}">
                <a16:creationId xmlns:a16="http://schemas.microsoft.com/office/drawing/2014/main" id="{BD5B54F7-C6B9-4644-8EEE-D86F491A8E01}"/>
              </a:ext>
            </a:extLst>
          </p:cNvPr>
          <p:cNvPicPr>
            <a:picLocks noChangeAspect="1"/>
          </p:cNvPicPr>
          <p:nvPr/>
        </p:nvPicPr>
        <p:blipFill rotWithShape="1">
          <a:blip r:embed="rId2"/>
          <a:srcRect t="39572" b="30750"/>
          <a:stretch/>
        </p:blipFill>
        <p:spPr>
          <a:xfrm>
            <a:off x="533400" y="720843"/>
            <a:ext cx="4586434" cy="1068075"/>
          </a:xfrm>
          <a:prstGeom prst="rect">
            <a:avLst/>
          </a:prstGeom>
        </p:spPr>
      </p:pic>
      <p:pic>
        <p:nvPicPr>
          <p:cNvPr id="12" name="Picture 11">
            <a:extLst>
              <a:ext uri="{FF2B5EF4-FFF2-40B4-BE49-F238E27FC236}">
                <a16:creationId xmlns:a16="http://schemas.microsoft.com/office/drawing/2014/main" id="{84325907-BD39-454C-AF11-FB311F588E38}"/>
              </a:ext>
            </a:extLst>
          </p:cNvPr>
          <p:cNvPicPr>
            <a:picLocks noChangeAspect="1"/>
          </p:cNvPicPr>
          <p:nvPr/>
        </p:nvPicPr>
        <p:blipFill>
          <a:blip r:embed="rId3"/>
          <a:stretch>
            <a:fillRect/>
          </a:stretch>
        </p:blipFill>
        <p:spPr>
          <a:xfrm>
            <a:off x="457200" y="1788918"/>
            <a:ext cx="5005405" cy="469763"/>
          </a:xfrm>
          <a:prstGeom prst="rect">
            <a:avLst/>
          </a:prstGeom>
        </p:spPr>
      </p:pic>
      <p:pic>
        <p:nvPicPr>
          <p:cNvPr id="13" name="Picture 12">
            <a:extLst>
              <a:ext uri="{FF2B5EF4-FFF2-40B4-BE49-F238E27FC236}">
                <a16:creationId xmlns:a16="http://schemas.microsoft.com/office/drawing/2014/main" id="{73D54E27-D474-4EF4-A095-22775A41DD52}"/>
              </a:ext>
            </a:extLst>
          </p:cNvPr>
          <p:cNvPicPr>
            <a:picLocks noChangeAspect="1"/>
          </p:cNvPicPr>
          <p:nvPr/>
        </p:nvPicPr>
        <p:blipFill>
          <a:blip r:embed="rId4"/>
          <a:stretch>
            <a:fillRect/>
          </a:stretch>
        </p:blipFill>
        <p:spPr>
          <a:xfrm>
            <a:off x="316832" y="2291993"/>
            <a:ext cx="4267200" cy="883443"/>
          </a:xfrm>
          <a:prstGeom prst="rect">
            <a:avLst/>
          </a:prstGeom>
        </p:spPr>
      </p:pic>
      <p:pic>
        <p:nvPicPr>
          <p:cNvPr id="14" name="Picture 13">
            <a:extLst>
              <a:ext uri="{FF2B5EF4-FFF2-40B4-BE49-F238E27FC236}">
                <a16:creationId xmlns:a16="http://schemas.microsoft.com/office/drawing/2014/main" id="{43B1EE59-BD6C-4D06-9834-7A76885DD10E}"/>
              </a:ext>
            </a:extLst>
          </p:cNvPr>
          <p:cNvPicPr>
            <a:picLocks noChangeAspect="1"/>
          </p:cNvPicPr>
          <p:nvPr/>
        </p:nvPicPr>
        <p:blipFill>
          <a:blip r:embed="rId5"/>
          <a:stretch>
            <a:fillRect/>
          </a:stretch>
        </p:blipFill>
        <p:spPr>
          <a:xfrm>
            <a:off x="316832" y="3175436"/>
            <a:ext cx="5005406" cy="722091"/>
          </a:xfrm>
          <a:prstGeom prst="rect">
            <a:avLst/>
          </a:prstGeom>
        </p:spPr>
      </p:pic>
      <p:pic>
        <p:nvPicPr>
          <p:cNvPr id="15" name="Picture 14">
            <a:extLst>
              <a:ext uri="{FF2B5EF4-FFF2-40B4-BE49-F238E27FC236}">
                <a16:creationId xmlns:a16="http://schemas.microsoft.com/office/drawing/2014/main" id="{9625CF9A-F4C3-49BD-BE56-BE5AFC4C4300}"/>
              </a:ext>
            </a:extLst>
          </p:cNvPr>
          <p:cNvPicPr>
            <a:picLocks noChangeAspect="1"/>
          </p:cNvPicPr>
          <p:nvPr/>
        </p:nvPicPr>
        <p:blipFill>
          <a:blip r:embed="rId6"/>
          <a:stretch>
            <a:fillRect/>
          </a:stretch>
        </p:blipFill>
        <p:spPr>
          <a:xfrm>
            <a:off x="220330" y="3890510"/>
            <a:ext cx="5005406" cy="1085206"/>
          </a:xfrm>
          <a:prstGeom prst="rect">
            <a:avLst/>
          </a:prstGeom>
        </p:spPr>
      </p:pic>
    </p:spTree>
    <p:extLst>
      <p:ext uri="{BB962C8B-B14F-4D97-AF65-F5344CB8AC3E}">
        <p14:creationId xmlns:p14="http://schemas.microsoft.com/office/powerpoint/2010/main" val="12558513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Solutions:</a:t>
            </a:r>
          </a:p>
        </p:txBody>
      </p:sp>
      <p:pic>
        <p:nvPicPr>
          <p:cNvPr id="9" name="Content Placeholder 8">
            <a:extLst>
              <a:ext uri="{FF2B5EF4-FFF2-40B4-BE49-F238E27FC236}">
                <a16:creationId xmlns:a16="http://schemas.microsoft.com/office/drawing/2014/main" id="{0DE57ECD-4113-491A-872B-2AB00BF5995B}"/>
              </a:ext>
            </a:extLst>
          </p:cNvPr>
          <p:cNvPicPr>
            <a:picLocks noGrp="1" noChangeAspect="1"/>
          </p:cNvPicPr>
          <p:nvPr>
            <p:ph idx="1"/>
          </p:nvPr>
        </p:nvPicPr>
        <p:blipFill>
          <a:blip r:embed="rId2"/>
          <a:stretch>
            <a:fillRect/>
          </a:stretch>
        </p:blipFill>
        <p:spPr>
          <a:xfrm>
            <a:off x="914400" y="2777452"/>
            <a:ext cx="7557509" cy="2048073"/>
          </a:xfrm>
          <a:prstGeom prst="rect">
            <a:avLst/>
          </a:prstGeom>
        </p:spPr>
      </p:pic>
      <p:sp>
        <p:nvSpPr>
          <p:cNvPr id="4" name="Date Placeholder 3"/>
          <p:cNvSpPr>
            <a:spLocks noGrp="1"/>
          </p:cNvSpPr>
          <p:nvPr>
            <p:ph type="dt" sz="half" idx="10"/>
          </p:nvPr>
        </p:nvSpPr>
        <p:spPr/>
        <p:txBody>
          <a:bodyPr/>
          <a:lstStyle/>
          <a:p>
            <a:fld id="{E71AB9B7-F8F5-4711-8AF7-DD71F23634E2}"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71717361-32A2-439B-AFBC-0573111AD91B}"/>
              </a:ext>
            </a:extLst>
          </p:cNvPr>
          <p:cNvPicPr>
            <a:picLocks noChangeAspect="1"/>
          </p:cNvPicPr>
          <p:nvPr/>
        </p:nvPicPr>
        <p:blipFill rotWithShape="1">
          <a:blip r:embed="rId3"/>
          <a:srcRect t="26064" b="59068"/>
          <a:stretch/>
        </p:blipFill>
        <p:spPr>
          <a:xfrm>
            <a:off x="457200" y="2190209"/>
            <a:ext cx="6371323" cy="743321"/>
          </a:xfrm>
          <a:prstGeom prst="rect">
            <a:avLst/>
          </a:prstGeom>
        </p:spPr>
      </p:pic>
      <p:pic>
        <p:nvPicPr>
          <p:cNvPr id="8" name="Picture 7">
            <a:extLst>
              <a:ext uri="{FF2B5EF4-FFF2-40B4-BE49-F238E27FC236}">
                <a16:creationId xmlns:a16="http://schemas.microsoft.com/office/drawing/2014/main" id="{F99D51F1-3E78-40C4-A02E-4F6FB3FE0580}"/>
              </a:ext>
            </a:extLst>
          </p:cNvPr>
          <p:cNvPicPr>
            <a:picLocks noChangeAspect="1"/>
          </p:cNvPicPr>
          <p:nvPr/>
        </p:nvPicPr>
        <p:blipFill rotWithShape="1">
          <a:blip r:embed="rId3"/>
          <a:srcRect b="71621"/>
          <a:stretch/>
        </p:blipFill>
        <p:spPr>
          <a:xfrm>
            <a:off x="457200" y="639307"/>
            <a:ext cx="5911162" cy="1316270"/>
          </a:xfrm>
          <a:prstGeom prst="rect">
            <a:avLst/>
          </a:prstGeom>
        </p:spPr>
      </p:pic>
      <p:pic>
        <p:nvPicPr>
          <p:cNvPr id="10" name="Content Placeholder 7">
            <a:extLst>
              <a:ext uri="{FF2B5EF4-FFF2-40B4-BE49-F238E27FC236}">
                <a16:creationId xmlns:a16="http://schemas.microsoft.com/office/drawing/2014/main" id="{6885CA8C-9F40-4807-A27B-7E06E1B0C1F2}"/>
              </a:ext>
            </a:extLst>
          </p:cNvPr>
          <p:cNvPicPr>
            <a:picLocks noChangeAspect="1"/>
          </p:cNvPicPr>
          <p:nvPr/>
        </p:nvPicPr>
        <p:blipFill>
          <a:blip r:embed="rId4"/>
          <a:stretch>
            <a:fillRect/>
          </a:stretch>
        </p:blipFill>
        <p:spPr>
          <a:xfrm>
            <a:off x="7010399" y="780308"/>
            <a:ext cx="2133601" cy="1409901"/>
          </a:xfrm>
          <a:prstGeom prst="rect">
            <a:avLst/>
          </a:prstGeom>
        </p:spPr>
      </p:pic>
    </p:spTree>
    <p:extLst>
      <p:ext uri="{BB962C8B-B14F-4D97-AF65-F5344CB8AC3E}">
        <p14:creationId xmlns:p14="http://schemas.microsoft.com/office/powerpoint/2010/main" val="62116706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E183FC16-FB84-4D95-87ED-63C9DF1F8838}"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Content Placeholder 6">
            <a:extLst>
              <a:ext uri="{FF2B5EF4-FFF2-40B4-BE49-F238E27FC236}">
                <a16:creationId xmlns:a16="http://schemas.microsoft.com/office/drawing/2014/main" id="{8CA379EA-B26A-49DE-9EA1-D61A23005F9D}"/>
              </a:ext>
            </a:extLst>
          </p:cNvPr>
          <p:cNvPicPr>
            <a:picLocks noGrp="1" noChangeAspect="1"/>
          </p:cNvPicPr>
          <p:nvPr>
            <p:ph idx="1"/>
          </p:nvPr>
        </p:nvPicPr>
        <p:blipFill rotWithShape="1">
          <a:blip r:embed="rId2"/>
          <a:srcRect t="39572" b="30750"/>
          <a:stretch/>
        </p:blipFill>
        <p:spPr>
          <a:xfrm>
            <a:off x="381000" y="204858"/>
            <a:ext cx="5582739" cy="1300092"/>
          </a:xfrm>
          <a:prstGeom prst="rect">
            <a:avLst/>
          </a:prstGeom>
        </p:spPr>
      </p:pic>
      <p:pic>
        <p:nvPicPr>
          <p:cNvPr id="8" name="Picture 7">
            <a:extLst>
              <a:ext uri="{FF2B5EF4-FFF2-40B4-BE49-F238E27FC236}">
                <a16:creationId xmlns:a16="http://schemas.microsoft.com/office/drawing/2014/main" id="{4F17F6B8-125E-4251-8135-2E5DFE55C48D}"/>
              </a:ext>
            </a:extLst>
          </p:cNvPr>
          <p:cNvPicPr>
            <a:picLocks noChangeAspect="1"/>
          </p:cNvPicPr>
          <p:nvPr/>
        </p:nvPicPr>
        <p:blipFill>
          <a:blip r:embed="rId3"/>
          <a:stretch>
            <a:fillRect/>
          </a:stretch>
        </p:blipFill>
        <p:spPr>
          <a:xfrm>
            <a:off x="6324600" y="812896"/>
            <a:ext cx="1625990" cy="1384107"/>
          </a:xfrm>
          <a:prstGeom prst="rect">
            <a:avLst/>
          </a:prstGeom>
        </p:spPr>
      </p:pic>
      <p:pic>
        <p:nvPicPr>
          <p:cNvPr id="9" name="Picture 8">
            <a:extLst>
              <a:ext uri="{FF2B5EF4-FFF2-40B4-BE49-F238E27FC236}">
                <a16:creationId xmlns:a16="http://schemas.microsoft.com/office/drawing/2014/main" id="{2AB74BDA-6B3A-404A-A47E-9089812AB35A}"/>
              </a:ext>
            </a:extLst>
          </p:cNvPr>
          <p:cNvPicPr>
            <a:picLocks noChangeAspect="1"/>
          </p:cNvPicPr>
          <p:nvPr/>
        </p:nvPicPr>
        <p:blipFill>
          <a:blip r:embed="rId4"/>
          <a:stretch>
            <a:fillRect/>
          </a:stretch>
        </p:blipFill>
        <p:spPr>
          <a:xfrm>
            <a:off x="448235" y="1920778"/>
            <a:ext cx="5886450" cy="552450"/>
          </a:xfrm>
          <a:prstGeom prst="rect">
            <a:avLst/>
          </a:prstGeom>
        </p:spPr>
      </p:pic>
      <p:pic>
        <p:nvPicPr>
          <p:cNvPr id="10" name="Picture 9">
            <a:extLst>
              <a:ext uri="{FF2B5EF4-FFF2-40B4-BE49-F238E27FC236}">
                <a16:creationId xmlns:a16="http://schemas.microsoft.com/office/drawing/2014/main" id="{3ABAE5AA-8A7F-405A-A2C2-9B38322E42AC}"/>
              </a:ext>
            </a:extLst>
          </p:cNvPr>
          <p:cNvPicPr>
            <a:picLocks noChangeAspect="1"/>
          </p:cNvPicPr>
          <p:nvPr/>
        </p:nvPicPr>
        <p:blipFill>
          <a:blip r:embed="rId5"/>
          <a:stretch>
            <a:fillRect/>
          </a:stretch>
        </p:blipFill>
        <p:spPr>
          <a:xfrm>
            <a:off x="1243012" y="2671674"/>
            <a:ext cx="6778412" cy="1881276"/>
          </a:xfrm>
          <a:prstGeom prst="rect">
            <a:avLst/>
          </a:prstGeom>
        </p:spPr>
      </p:pic>
    </p:spTree>
    <p:extLst>
      <p:ext uri="{BB962C8B-B14F-4D97-AF65-F5344CB8AC3E}">
        <p14:creationId xmlns:p14="http://schemas.microsoft.com/office/powerpoint/2010/main" val="16333135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pic>
        <p:nvPicPr>
          <p:cNvPr id="8" name="Content Placeholder 7">
            <a:extLst>
              <a:ext uri="{FF2B5EF4-FFF2-40B4-BE49-F238E27FC236}">
                <a16:creationId xmlns:a16="http://schemas.microsoft.com/office/drawing/2014/main" id="{45B5C932-9B2E-499E-A4C5-68F3D909AE8A}"/>
              </a:ext>
            </a:extLst>
          </p:cNvPr>
          <p:cNvPicPr>
            <a:picLocks noGrp="1" noChangeAspect="1"/>
          </p:cNvPicPr>
          <p:nvPr>
            <p:ph idx="1"/>
          </p:nvPr>
        </p:nvPicPr>
        <p:blipFill rotWithShape="1">
          <a:blip r:embed="rId2"/>
          <a:srcRect b="52346"/>
          <a:stretch/>
        </p:blipFill>
        <p:spPr>
          <a:xfrm>
            <a:off x="609600" y="2181225"/>
            <a:ext cx="4854278" cy="1835291"/>
          </a:xfrm>
          <a:prstGeom prst="rect">
            <a:avLst/>
          </a:prstGeom>
        </p:spPr>
      </p:pic>
      <p:sp>
        <p:nvSpPr>
          <p:cNvPr id="4" name="Date Placeholder 3"/>
          <p:cNvSpPr>
            <a:spLocks noGrp="1"/>
          </p:cNvSpPr>
          <p:nvPr>
            <p:ph type="dt" sz="half" idx="10"/>
          </p:nvPr>
        </p:nvSpPr>
        <p:spPr/>
        <p:txBody>
          <a:bodyPr/>
          <a:lstStyle/>
          <a:p>
            <a:fld id="{900D9499-2DB0-458F-B336-926011B7AB61}"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BE66F386-31FD-42A6-8F37-55A4E066A32A}"/>
              </a:ext>
            </a:extLst>
          </p:cNvPr>
          <p:cNvPicPr>
            <a:picLocks noChangeAspect="1"/>
          </p:cNvPicPr>
          <p:nvPr/>
        </p:nvPicPr>
        <p:blipFill>
          <a:blip r:embed="rId3"/>
          <a:stretch>
            <a:fillRect/>
          </a:stretch>
        </p:blipFill>
        <p:spPr>
          <a:xfrm>
            <a:off x="228599" y="200024"/>
            <a:ext cx="7775275" cy="1609725"/>
          </a:xfrm>
          <a:prstGeom prst="rect">
            <a:avLst/>
          </a:prstGeom>
        </p:spPr>
      </p:pic>
      <p:pic>
        <p:nvPicPr>
          <p:cNvPr id="9" name="Picture 8">
            <a:extLst>
              <a:ext uri="{FF2B5EF4-FFF2-40B4-BE49-F238E27FC236}">
                <a16:creationId xmlns:a16="http://schemas.microsoft.com/office/drawing/2014/main" id="{9A847304-66F2-4997-AA8F-6BA8EDA429F1}"/>
              </a:ext>
            </a:extLst>
          </p:cNvPr>
          <p:cNvPicPr>
            <a:picLocks noChangeAspect="1"/>
          </p:cNvPicPr>
          <p:nvPr/>
        </p:nvPicPr>
        <p:blipFill rotWithShape="1">
          <a:blip r:embed="rId2"/>
          <a:srcRect t="47037" r="39422"/>
          <a:stretch/>
        </p:blipFill>
        <p:spPr>
          <a:xfrm>
            <a:off x="5608360" y="2031204"/>
            <a:ext cx="3078440" cy="2135331"/>
          </a:xfrm>
          <a:prstGeom prst="rect">
            <a:avLst/>
          </a:prstGeom>
        </p:spPr>
      </p:pic>
    </p:spTree>
    <p:extLst>
      <p:ext uri="{BB962C8B-B14F-4D97-AF65-F5344CB8AC3E}">
        <p14:creationId xmlns:p14="http://schemas.microsoft.com/office/powerpoint/2010/main" val="123380236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C5EB0412-F318-431A-A7A9-28D2B3E41476}"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301D2226-4967-4199-B271-5BE184136952}"/>
              </a:ext>
            </a:extLst>
          </p:cNvPr>
          <p:cNvPicPr>
            <a:picLocks noChangeAspect="1"/>
          </p:cNvPicPr>
          <p:nvPr/>
        </p:nvPicPr>
        <p:blipFill>
          <a:blip r:embed="rId2"/>
          <a:stretch>
            <a:fillRect/>
          </a:stretch>
        </p:blipFill>
        <p:spPr>
          <a:xfrm>
            <a:off x="189077" y="1246314"/>
            <a:ext cx="5572159" cy="803852"/>
          </a:xfrm>
          <a:prstGeom prst="rect">
            <a:avLst/>
          </a:prstGeom>
        </p:spPr>
      </p:pic>
      <p:pic>
        <p:nvPicPr>
          <p:cNvPr id="8" name="image130.png">
            <a:extLst>
              <a:ext uri="{FF2B5EF4-FFF2-40B4-BE49-F238E27FC236}">
                <a16:creationId xmlns:a16="http://schemas.microsoft.com/office/drawing/2014/main" id="{C94038FF-DB91-4EF4-930D-4166DDB04BF1}"/>
              </a:ext>
            </a:extLst>
          </p:cNvPr>
          <p:cNvPicPr>
            <a:picLocks noGrp="1"/>
          </p:cNvPicPr>
          <p:nvPr>
            <p:ph idx="1"/>
          </p:nvPr>
        </p:nvPicPr>
        <p:blipFill>
          <a:blip r:embed="rId3" cstate="print"/>
          <a:stretch>
            <a:fillRect/>
          </a:stretch>
        </p:blipFill>
        <p:spPr>
          <a:xfrm>
            <a:off x="6324600" y="646112"/>
            <a:ext cx="2170253" cy="3851275"/>
          </a:xfrm>
          <a:prstGeom prst="rect">
            <a:avLst/>
          </a:prstGeom>
        </p:spPr>
      </p:pic>
      <p:pic>
        <p:nvPicPr>
          <p:cNvPr id="9" name="Picture 8">
            <a:extLst>
              <a:ext uri="{FF2B5EF4-FFF2-40B4-BE49-F238E27FC236}">
                <a16:creationId xmlns:a16="http://schemas.microsoft.com/office/drawing/2014/main" id="{2939FD55-FDAF-4BBF-9203-DC5465E7A7DA}"/>
              </a:ext>
            </a:extLst>
          </p:cNvPr>
          <p:cNvPicPr>
            <a:picLocks noChangeAspect="1"/>
          </p:cNvPicPr>
          <p:nvPr/>
        </p:nvPicPr>
        <p:blipFill>
          <a:blip r:embed="rId4"/>
          <a:stretch>
            <a:fillRect/>
          </a:stretch>
        </p:blipFill>
        <p:spPr>
          <a:xfrm>
            <a:off x="202524" y="205979"/>
            <a:ext cx="4848225" cy="990600"/>
          </a:xfrm>
          <a:prstGeom prst="rect">
            <a:avLst/>
          </a:prstGeom>
        </p:spPr>
      </p:pic>
    </p:spTree>
    <p:extLst>
      <p:ext uri="{BB962C8B-B14F-4D97-AF65-F5344CB8AC3E}">
        <p14:creationId xmlns:p14="http://schemas.microsoft.com/office/powerpoint/2010/main" val="19696618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DB7E1175-8540-4C71-B281-E3BA5FD5C6BE}"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3B7C3567-5DFD-4451-BB8C-AA428BF16C7E}"/>
              </a:ext>
            </a:extLst>
          </p:cNvPr>
          <p:cNvPicPr>
            <a:picLocks noChangeAspect="1"/>
          </p:cNvPicPr>
          <p:nvPr/>
        </p:nvPicPr>
        <p:blipFill>
          <a:blip r:embed="rId2"/>
          <a:stretch>
            <a:fillRect/>
          </a:stretch>
        </p:blipFill>
        <p:spPr>
          <a:xfrm>
            <a:off x="457200" y="205979"/>
            <a:ext cx="5667375" cy="1228725"/>
          </a:xfrm>
          <a:prstGeom prst="rect">
            <a:avLst/>
          </a:prstGeom>
        </p:spPr>
      </p:pic>
      <p:pic>
        <p:nvPicPr>
          <p:cNvPr id="8" name="Picture 7">
            <a:extLst>
              <a:ext uri="{FF2B5EF4-FFF2-40B4-BE49-F238E27FC236}">
                <a16:creationId xmlns:a16="http://schemas.microsoft.com/office/drawing/2014/main" id="{54CDC0D2-8C93-4927-949C-BF4700619CD9}"/>
              </a:ext>
            </a:extLst>
          </p:cNvPr>
          <p:cNvPicPr>
            <a:picLocks noChangeAspect="1"/>
          </p:cNvPicPr>
          <p:nvPr/>
        </p:nvPicPr>
        <p:blipFill rotWithShape="1">
          <a:blip r:embed="rId3"/>
          <a:srcRect b="52593"/>
          <a:stretch/>
        </p:blipFill>
        <p:spPr>
          <a:xfrm>
            <a:off x="129331" y="1657350"/>
            <a:ext cx="4922938" cy="2438400"/>
          </a:xfrm>
          <a:prstGeom prst="rect">
            <a:avLst/>
          </a:prstGeom>
        </p:spPr>
      </p:pic>
      <p:pic>
        <p:nvPicPr>
          <p:cNvPr id="9" name="Content Placeholder 8">
            <a:extLst>
              <a:ext uri="{FF2B5EF4-FFF2-40B4-BE49-F238E27FC236}">
                <a16:creationId xmlns:a16="http://schemas.microsoft.com/office/drawing/2014/main" id="{6DF8640B-5CB3-4982-8B0F-009732ECA37E}"/>
              </a:ext>
            </a:extLst>
          </p:cNvPr>
          <p:cNvPicPr>
            <a:picLocks noGrp="1" noChangeAspect="1"/>
          </p:cNvPicPr>
          <p:nvPr>
            <p:ph idx="1"/>
          </p:nvPr>
        </p:nvPicPr>
        <p:blipFill rotWithShape="1">
          <a:blip r:embed="rId3"/>
          <a:srcRect t="45888"/>
          <a:stretch/>
        </p:blipFill>
        <p:spPr>
          <a:xfrm>
            <a:off x="4963185" y="1826395"/>
            <a:ext cx="4013994" cy="2269355"/>
          </a:xfrm>
          <a:prstGeom prst="rect">
            <a:avLst/>
          </a:prstGeom>
        </p:spPr>
      </p:pic>
    </p:spTree>
    <p:extLst>
      <p:ext uri="{BB962C8B-B14F-4D97-AF65-F5344CB8AC3E}">
        <p14:creationId xmlns:p14="http://schemas.microsoft.com/office/powerpoint/2010/main" val="120145654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Assignment:</a:t>
            </a:r>
          </a:p>
        </p:txBody>
      </p:sp>
      <p:sp>
        <p:nvSpPr>
          <p:cNvPr id="3" name="Content Placeholder 2"/>
          <p:cNvSpPr>
            <a:spLocks noGrp="1"/>
          </p:cNvSpPr>
          <p:nvPr>
            <p:ph idx="1"/>
          </p:nvPr>
        </p:nvSpPr>
        <p:spPr>
          <a:xfrm>
            <a:off x="457200" y="742950"/>
            <a:ext cx="8229600" cy="3851673"/>
          </a:xfrm>
        </p:spPr>
        <p:txBody>
          <a:bodyPr>
            <a:normAutofit/>
          </a:bodyPr>
          <a:lstStyle/>
          <a:p>
            <a:pPr>
              <a:buFont typeface="+mj-lt"/>
              <a:buAutoNum type="arabicPeriod"/>
            </a:pPr>
            <a:r>
              <a:rPr lang="en-US" sz="1600" dirty="0"/>
              <a:t>Implement the given RTL codes into a single system using bus. . [PU 2017 Fall]</a:t>
            </a:r>
          </a:p>
          <a:p>
            <a:pPr marL="400050" lvl="1" indent="0">
              <a:buNone/>
            </a:pPr>
            <a:r>
              <a:rPr lang="en-US" sz="1600" dirty="0"/>
              <a:t>R1</a:t>
            </a:r>
            <a:r>
              <a:rPr lang="en-US" sz="1600" dirty="0">
                <a:sym typeface="Wingdings" panose="05000000000000000000" pitchFamily="2" charset="2"/>
              </a:rPr>
              <a:t></a:t>
            </a:r>
            <a:r>
              <a:rPr lang="en-US" sz="1600" dirty="0"/>
              <a:t> R2, R3</a:t>
            </a:r>
            <a:r>
              <a:rPr lang="en-US" sz="1600" dirty="0">
                <a:sym typeface="Wingdings" panose="05000000000000000000" pitchFamily="2" charset="2"/>
              </a:rPr>
              <a:t></a:t>
            </a:r>
            <a:r>
              <a:rPr lang="en-US" sz="1600" dirty="0"/>
              <a:t> R2</a:t>
            </a:r>
          </a:p>
          <a:p>
            <a:pPr marL="400050" lvl="1" indent="0">
              <a:buNone/>
            </a:pPr>
            <a:r>
              <a:rPr lang="en-US" sz="1600" dirty="0"/>
              <a:t>R2 </a:t>
            </a:r>
            <a:r>
              <a:rPr lang="en-US" sz="1600" dirty="0">
                <a:sym typeface="Wingdings" panose="05000000000000000000" pitchFamily="2" charset="2"/>
              </a:rPr>
              <a:t></a:t>
            </a:r>
            <a:r>
              <a:rPr lang="en-US" sz="1600" dirty="0"/>
              <a:t> R3</a:t>
            </a:r>
          </a:p>
          <a:p>
            <a:pPr marL="400050" lvl="1" indent="0">
              <a:buNone/>
            </a:pPr>
            <a:r>
              <a:rPr lang="en-US" sz="1600" dirty="0"/>
              <a:t>R3 </a:t>
            </a:r>
            <a:r>
              <a:rPr lang="en-US" sz="1600" dirty="0">
                <a:sym typeface="Wingdings" panose="05000000000000000000" pitchFamily="2" charset="2"/>
              </a:rPr>
              <a:t></a:t>
            </a:r>
            <a:r>
              <a:rPr lang="en-US" sz="1600" dirty="0"/>
              <a:t> R1,   R2</a:t>
            </a:r>
            <a:r>
              <a:rPr lang="en-US" sz="1600" dirty="0">
                <a:sym typeface="Wingdings" panose="05000000000000000000" pitchFamily="2" charset="2"/>
              </a:rPr>
              <a:t></a:t>
            </a:r>
            <a:r>
              <a:rPr lang="en-US" sz="1600" dirty="0"/>
              <a:t>R1</a:t>
            </a:r>
          </a:p>
          <a:p>
            <a:pPr>
              <a:buFont typeface="+mj-lt"/>
              <a:buAutoNum type="arabicPeriod"/>
            </a:pPr>
            <a:r>
              <a:rPr lang="en-US" sz="1600" dirty="0"/>
              <a:t>Define RTL. Design a system that could implement the given RTL codes sing direct connection:  [PU 2019 Spring]</a:t>
            </a:r>
          </a:p>
        </p:txBody>
      </p:sp>
      <p:sp>
        <p:nvSpPr>
          <p:cNvPr id="4" name="Date Placeholder 3"/>
          <p:cNvSpPr>
            <a:spLocks noGrp="1"/>
          </p:cNvSpPr>
          <p:nvPr>
            <p:ph type="dt" sz="half" idx="10"/>
          </p:nvPr>
        </p:nvSpPr>
        <p:spPr/>
        <p:txBody>
          <a:bodyPr/>
          <a:lstStyle/>
          <a:p>
            <a:fld id="{7BC66BA8-52D2-4878-A00F-1D05E28458D7}" type="datetime1">
              <a:rPr lang="en-US" smtClean="0">
                <a:solidFill>
                  <a:srgbClr val="00B050"/>
                </a:solidFill>
              </a:rPr>
              <a:t>8/1/2023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Architectural Details and Assembly Language Programming of 8085 MPU</a:t>
            </a:r>
            <a:endParaRPr lang="en-US" dirty="0">
              <a:solidFill>
                <a:srgbClr val="00B050"/>
              </a:solidFill>
            </a:endParaRPr>
          </a:p>
        </p:txBody>
      </p:sp>
      <p:pic>
        <p:nvPicPr>
          <p:cNvPr id="7" name="Picture 6">
            <a:extLst>
              <a:ext uri="{FF2B5EF4-FFF2-40B4-BE49-F238E27FC236}">
                <a16:creationId xmlns:a16="http://schemas.microsoft.com/office/drawing/2014/main" id="{17D2D5EE-BDE9-445A-848D-81462E8F93E1}"/>
              </a:ext>
            </a:extLst>
          </p:cNvPr>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35000"/>
                    </a14:imgEffect>
                  </a14:imgLayer>
                </a14:imgProps>
              </a:ext>
            </a:extLst>
          </a:blip>
          <a:stretch>
            <a:fillRect/>
          </a:stretch>
        </p:blipFill>
        <p:spPr>
          <a:xfrm>
            <a:off x="1981200" y="2876550"/>
            <a:ext cx="1456204" cy="981073"/>
          </a:xfrm>
          <a:prstGeom prst="rect">
            <a:avLst/>
          </a:prstGeom>
        </p:spPr>
      </p:pic>
    </p:spTree>
    <p:extLst>
      <p:ext uri="{BB962C8B-B14F-4D97-AF65-F5344CB8AC3E}">
        <p14:creationId xmlns:p14="http://schemas.microsoft.com/office/powerpoint/2010/main" val="4593564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Assignment:</a:t>
            </a: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r>
              <a:rPr lang="en-US" sz="2000" dirty="0"/>
              <a:t>Uses of 8085 MP</a:t>
            </a:r>
          </a:p>
          <a:p>
            <a:pPr marL="457200" indent="-457200">
              <a:buFont typeface="+mj-lt"/>
              <a:buAutoNum type="arabicPeriod"/>
              <a:tabLst>
                <a:tab pos="463550" algn="l"/>
              </a:tabLst>
            </a:pPr>
            <a:r>
              <a:rPr lang="en-US" sz="2000" dirty="0"/>
              <a:t>Issues in 8085 MP</a:t>
            </a:r>
          </a:p>
        </p:txBody>
      </p:sp>
      <p:sp>
        <p:nvSpPr>
          <p:cNvPr id="4" name="Date Placeholder 3"/>
          <p:cNvSpPr>
            <a:spLocks noGrp="1"/>
          </p:cNvSpPr>
          <p:nvPr>
            <p:ph type="dt" sz="half" idx="10"/>
          </p:nvPr>
        </p:nvSpPr>
        <p:spPr/>
        <p:txBody>
          <a:bodyPr/>
          <a:lstStyle/>
          <a:p>
            <a:fld id="{CCC3BEA7-162F-4D04-B035-F9A40C4B684E}"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99</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17999314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Uses of 8085 MP</a:t>
            </a: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r>
              <a:rPr lang="en-US" sz="2000" dirty="0"/>
              <a:t>Embedded Systems</a:t>
            </a:r>
          </a:p>
          <a:p>
            <a:pPr marL="457200" indent="-457200">
              <a:buFont typeface="+mj-lt"/>
              <a:buAutoNum type="arabicPeriod"/>
              <a:tabLst>
                <a:tab pos="463550" algn="l"/>
              </a:tabLst>
            </a:pPr>
            <a:r>
              <a:rPr lang="en-US" sz="2000" dirty="0"/>
              <a:t>Computer peripherals</a:t>
            </a:r>
          </a:p>
          <a:p>
            <a:pPr marL="457200" indent="-457200">
              <a:buFont typeface="+mj-lt"/>
              <a:buAutoNum type="arabicPeriod"/>
              <a:tabLst>
                <a:tab pos="463550" algn="l"/>
              </a:tabLst>
            </a:pPr>
            <a:r>
              <a:rPr lang="en-US" sz="2000" dirty="0"/>
              <a:t>Communication System</a:t>
            </a:r>
          </a:p>
          <a:p>
            <a:pPr marL="457200" indent="-457200">
              <a:buFont typeface="+mj-lt"/>
              <a:buAutoNum type="arabicPeriod"/>
              <a:tabLst>
                <a:tab pos="463550" algn="l"/>
              </a:tabLst>
            </a:pPr>
            <a:r>
              <a:rPr lang="en-US" sz="2000" dirty="0"/>
              <a:t>Instrumentation and Control System</a:t>
            </a:r>
          </a:p>
          <a:p>
            <a:pPr marL="457200" indent="-457200">
              <a:buFont typeface="+mj-lt"/>
              <a:buAutoNum type="arabicPeriod"/>
              <a:tabLst>
                <a:tab pos="463550" algn="l"/>
              </a:tabLst>
            </a:pPr>
            <a:r>
              <a:rPr lang="en-US" sz="2000" dirty="0"/>
              <a:t>Home Appliances</a:t>
            </a:r>
          </a:p>
          <a:p>
            <a:pPr marL="457200" indent="-457200">
              <a:buFont typeface="+mj-lt"/>
              <a:buAutoNum type="arabicPeriod"/>
              <a:tabLst>
                <a:tab pos="463550" algn="l"/>
              </a:tabLst>
            </a:pPr>
            <a:r>
              <a:rPr lang="en-US" sz="2000" dirty="0"/>
              <a:t>Educational purposes.</a:t>
            </a:r>
          </a:p>
        </p:txBody>
      </p:sp>
      <p:sp>
        <p:nvSpPr>
          <p:cNvPr id="4" name="Date Placeholder 3"/>
          <p:cNvSpPr>
            <a:spLocks noGrp="1"/>
          </p:cNvSpPr>
          <p:nvPr>
            <p:ph type="dt" sz="half" idx="10"/>
          </p:nvPr>
        </p:nvSpPr>
        <p:spPr/>
        <p:txBody>
          <a:bodyPr/>
          <a:lstStyle/>
          <a:p>
            <a:fld id="{86703A5A-9A50-449D-B3BE-EF255757CF77}"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100</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23060987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Issues in 8085 MP</a:t>
            </a: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r>
              <a:rPr lang="en-US" sz="2000" dirty="0"/>
              <a:t>Overheating</a:t>
            </a:r>
          </a:p>
          <a:p>
            <a:pPr marL="457200" indent="-457200">
              <a:buFont typeface="+mj-lt"/>
              <a:buAutoNum type="arabicPeriod"/>
              <a:tabLst>
                <a:tab pos="463550" algn="l"/>
              </a:tabLst>
            </a:pPr>
            <a:r>
              <a:rPr lang="en-US" sz="2000" dirty="0"/>
              <a:t>Power supply issue</a:t>
            </a:r>
          </a:p>
          <a:p>
            <a:pPr marL="457200" indent="-457200">
              <a:buFont typeface="+mj-lt"/>
              <a:buAutoNum type="arabicPeriod"/>
              <a:tabLst>
                <a:tab pos="463550" algn="l"/>
              </a:tabLst>
            </a:pPr>
            <a:r>
              <a:rPr lang="en-US" sz="2000" dirty="0"/>
              <a:t>Timing issues</a:t>
            </a:r>
          </a:p>
          <a:p>
            <a:pPr marL="457200" indent="-457200">
              <a:buFont typeface="+mj-lt"/>
              <a:buAutoNum type="arabicPeriod"/>
              <a:tabLst>
                <a:tab pos="463550" algn="l"/>
              </a:tabLst>
            </a:pPr>
            <a:r>
              <a:rPr lang="en-US" sz="2000" dirty="0"/>
              <a:t>Hardware Interface issues</a:t>
            </a:r>
          </a:p>
          <a:p>
            <a:pPr marL="457200" indent="-457200">
              <a:buFont typeface="+mj-lt"/>
              <a:buAutoNum type="arabicPeriod"/>
              <a:tabLst>
                <a:tab pos="463550" algn="l"/>
              </a:tabLst>
            </a:pPr>
            <a:r>
              <a:rPr lang="en-US" sz="2000" dirty="0"/>
              <a:t>Programming issues</a:t>
            </a:r>
          </a:p>
          <a:p>
            <a:pPr marL="457200" indent="-457200">
              <a:buFont typeface="+mj-lt"/>
              <a:buAutoNum type="arabicPeriod"/>
              <a:tabLst>
                <a:tab pos="463550" algn="l"/>
              </a:tabLst>
            </a:pPr>
            <a:r>
              <a:rPr lang="en-US" sz="2000" dirty="0"/>
              <a:t>Research and Development</a:t>
            </a:r>
          </a:p>
          <a:p>
            <a:pPr marL="457200" indent="-457200">
              <a:buFont typeface="+mj-lt"/>
              <a:buAutoNum type="arabicPeriod"/>
              <a:tabLst>
                <a:tab pos="463550" algn="l"/>
              </a:tabLst>
            </a:pPr>
            <a:r>
              <a:rPr lang="en-US" sz="2000" dirty="0"/>
              <a:t>Retro computing</a:t>
            </a:r>
          </a:p>
        </p:txBody>
      </p:sp>
      <p:sp>
        <p:nvSpPr>
          <p:cNvPr id="4" name="Date Placeholder 3"/>
          <p:cNvSpPr>
            <a:spLocks noGrp="1"/>
          </p:cNvSpPr>
          <p:nvPr>
            <p:ph type="dt" sz="half" idx="10"/>
          </p:nvPr>
        </p:nvSpPr>
        <p:spPr/>
        <p:txBody>
          <a:bodyPr/>
          <a:lstStyle/>
          <a:p>
            <a:fld id="{5B5A1E01-5F64-4D2D-A2AD-B9120B04EBCD}"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101</a:t>
            </a:fld>
            <a:endParaRPr lang="en-US"/>
          </a:p>
        </p:txBody>
      </p:sp>
      <p:sp>
        <p:nvSpPr>
          <p:cNvPr id="6" name="Footer Placeholder 5"/>
          <p:cNvSpPr>
            <a:spLocks noGrp="1"/>
          </p:cNvSpPr>
          <p:nvPr>
            <p:ph type="ftr" sz="quarter" idx="11"/>
          </p:nvPr>
        </p:nvSpPr>
        <p:spPr/>
        <p:txBody>
          <a:bodyPr/>
          <a:lstStyle/>
          <a:p>
            <a:r>
              <a:rPr lang="en-US"/>
              <a:t>Architectural Details and Assembly Language Programming of 8085 MPU</a:t>
            </a:r>
          </a:p>
        </p:txBody>
      </p:sp>
    </p:spTree>
    <p:extLst>
      <p:ext uri="{BB962C8B-B14F-4D97-AF65-F5344CB8AC3E}">
        <p14:creationId xmlns:p14="http://schemas.microsoft.com/office/powerpoint/2010/main" val="15751466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6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pPr marL="0" indent="0">
              <a:buNone/>
            </a:pPr>
            <a:endParaRPr lang="en-US" sz="3600" b="1" dirty="0">
              <a:solidFill>
                <a:srgbClr val="00B050"/>
              </a:solidFill>
            </a:endParaRPr>
          </a:p>
          <a:p>
            <a:pPr marL="0" indent="0" algn="ctr">
              <a:buNone/>
            </a:pPr>
            <a:endParaRPr lang="en-US" sz="3600" b="1" dirty="0">
              <a:solidFill>
                <a:srgbClr val="00B050"/>
              </a:solidFill>
            </a:endParaRPr>
          </a:p>
          <a:p>
            <a:pPr marL="0" indent="0" algn="ctr">
              <a:buNone/>
            </a:pPr>
            <a:r>
              <a:rPr lang="en-US" sz="3600" b="1" dirty="0">
                <a:solidFill>
                  <a:srgbClr val="00B050"/>
                </a:solidFill>
              </a:rPr>
              <a:t>End of chapter 2</a:t>
            </a:r>
            <a:endParaRPr lang="en-US" sz="3600" dirty="0">
              <a:solidFill>
                <a:srgbClr val="00B050"/>
              </a:solidFill>
            </a:endParaRPr>
          </a:p>
        </p:txBody>
      </p:sp>
      <p:sp>
        <p:nvSpPr>
          <p:cNvPr id="4" name="Date Placeholder 3"/>
          <p:cNvSpPr>
            <a:spLocks noGrp="1"/>
          </p:cNvSpPr>
          <p:nvPr>
            <p:ph type="dt" sz="half" idx="10"/>
          </p:nvPr>
        </p:nvSpPr>
        <p:spPr/>
        <p:txBody>
          <a:bodyPr/>
          <a:lstStyle/>
          <a:p>
            <a:fld id="{E56F6DCF-0342-4EB6-AB97-493068573C42}" type="datetime1">
              <a:rPr lang="en-US" smtClean="0"/>
              <a:t>8/1/2023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102</a:t>
            </a:fld>
            <a:endParaRPr lang="en-US"/>
          </a:p>
        </p:txBody>
      </p:sp>
      <p:sp>
        <p:nvSpPr>
          <p:cNvPr id="6" name="Footer Placeholder 5"/>
          <p:cNvSpPr>
            <a:spLocks noGrp="1"/>
          </p:cNvSpPr>
          <p:nvPr>
            <p:ph type="ftr" sz="quarter" idx="11"/>
          </p:nvPr>
        </p:nvSpPr>
        <p:spPr/>
        <p:txBody>
          <a:bodyPr/>
          <a:lstStyle/>
          <a:p>
            <a:r>
              <a:rPr lang="en-US" dirty="0"/>
              <a:t>Architectural Details and Assembly Language Programming of 8085 MPU</a:t>
            </a:r>
          </a:p>
        </p:txBody>
      </p:sp>
    </p:spTree>
    <p:extLst>
      <p:ext uri="{BB962C8B-B14F-4D97-AF65-F5344CB8AC3E}">
        <p14:creationId xmlns:p14="http://schemas.microsoft.com/office/powerpoint/2010/main" val="3728246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4327</TotalTime>
  <Words>6874</Words>
  <Application>Microsoft Office PowerPoint</Application>
  <PresentationFormat>On-screen Show (16:9)</PresentationFormat>
  <Paragraphs>1233</Paragraphs>
  <Slides>102</Slides>
  <Notes>1</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102</vt:i4>
      </vt:variant>
    </vt:vector>
  </HeadingPairs>
  <TitlesOfParts>
    <vt:vector size="108" baseType="lpstr">
      <vt:lpstr>Arial</vt:lpstr>
      <vt:lpstr>Calibri</vt:lpstr>
      <vt:lpstr>Cambria Math</vt:lpstr>
      <vt:lpstr>Times New Roman</vt:lpstr>
      <vt:lpstr>Wingdings</vt:lpstr>
      <vt:lpstr>Office Theme</vt:lpstr>
      <vt:lpstr>Chapter 2 Architectural Details and Assembly Language Programming of 8085 MPU</vt:lpstr>
      <vt:lpstr>Overview: </vt:lpstr>
      <vt:lpstr>PowerPoint Presentation</vt:lpstr>
      <vt:lpstr>8085 Microprocessor: Introduction</vt:lpstr>
      <vt:lpstr>8085 MP- Block Diagram</vt:lpstr>
      <vt:lpstr>8085 MP- functional Units</vt:lpstr>
      <vt:lpstr>8085 MP- functional Units</vt:lpstr>
      <vt:lpstr>8085 MP- functional Units</vt:lpstr>
      <vt:lpstr>8085 MP- functional Units</vt:lpstr>
      <vt:lpstr>8085 MP- functional Units</vt:lpstr>
      <vt:lpstr>8085 MP- functional Units</vt:lpstr>
      <vt:lpstr>8085 Pin Configuration</vt:lpstr>
      <vt:lpstr>8085 Pin Configuration</vt:lpstr>
      <vt:lpstr>8085 Pin Configuration</vt:lpstr>
      <vt:lpstr>8085 Pin Configuration</vt:lpstr>
      <vt:lpstr>8085 Pin Configuration</vt:lpstr>
      <vt:lpstr>PowerPoint Presentation</vt:lpstr>
      <vt:lpstr>Instruction classification</vt:lpstr>
      <vt:lpstr>Instruction classification</vt:lpstr>
      <vt:lpstr>1. Data Transfer Operations</vt:lpstr>
      <vt:lpstr>PowerPoint Presentation</vt:lpstr>
      <vt:lpstr>2. Arithmetic Operations</vt:lpstr>
      <vt:lpstr>PowerPoint Presentation</vt:lpstr>
      <vt:lpstr>3. Logical Operations</vt:lpstr>
      <vt:lpstr>4. Branching Operations</vt:lpstr>
      <vt:lpstr>Unconditional Branch</vt:lpstr>
      <vt:lpstr>5. Machine control Operations</vt:lpstr>
      <vt:lpstr>PowerPoint Presentation</vt:lpstr>
      <vt:lpstr>Addressing modes in 8085</vt:lpstr>
      <vt:lpstr>PowerPoint Presentation</vt:lpstr>
      <vt:lpstr>PowerPoint Presentation</vt:lpstr>
      <vt:lpstr>PowerPoint Presentation</vt:lpstr>
      <vt:lpstr>Instruction Cycle, Machine Cycle and T-state</vt:lpstr>
      <vt:lpstr>Instruction Cycle, Machine Cycle and T-state</vt:lpstr>
      <vt:lpstr>Instruction Cycle, Machine Cycle and T-state</vt:lpstr>
      <vt:lpstr>Instruction Cycle, Machine Cycle and T-state</vt:lpstr>
      <vt:lpstr>Timing Diagram</vt:lpstr>
      <vt:lpstr>Some Basics for Timing Diagram</vt:lpstr>
      <vt:lpstr>Representation of 8085 signals</vt:lpstr>
      <vt:lpstr>Summary:</vt:lpstr>
      <vt:lpstr>Instruction Cycle</vt:lpstr>
      <vt:lpstr>Why need the Instruction cycle in 8085 microprocessor ?</vt:lpstr>
      <vt:lpstr>Instruction Cycle</vt:lpstr>
      <vt:lpstr>Machine Cycle</vt:lpstr>
      <vt:lpstr>Machine cycle</vt:lpstr>
      <vt:lpstr>Machine Cycle</vt:lpstr>
      <vt:lpstr>a) Opcode Fetch Machine cycle</vt:lpstr>
      <vt:lpstr>PowerPoint Presentation</vt:lpstr>
      <vt:lpstr>b) Memory Read Machine cycle</vt:lpstr>
      <vt:lpstr>c) Memory Write Machine cycle</vt:lpstr>
      <vt:lpstr>d) I/O Read Machine cycle</vt:lpstr>
      <vt:lpstr>e) I/O Write Machine cycle</vt:lpstr>
      <vt:lpstr>1. Timing Diagram for: MOV A, B</vt:lpstr>
      <vt:lpstr>or</vt:lpstr>
      <vt:lpstr>Or</vt:lpstr>
      <vt:lpstr>2. Timing Diagram for: MVI A,43 H</vt:lpstr>
      <vt:lpstr>3. Timing Diagram for: OUT 20H</vt:lpstr>
      <vt:lpstr>4. Timing Diagram for: STA 2050H</vt:lpstr>
      <vt:lpstr>PowerPoint Presentation</vt:lpstr>
      <vt:lpstr>PowerPoint Presentation</vt:lpstr>
      <vt:lpstr>The flow of an Instruction in 8085 architecture</vt:lpstr>
      <vt:lpstr>PowerPoint Presentation</vt:lpstr>
      <vt:lpstr>1. Write an ALP for 8085 MP to store an immediate 8-bit data in memory location 2051H using direct addressing.</vt:lpstr>
      <vt:lpstr>2. Write an ALP for 8085 MP to store 8-bit data in memory 2501H using indirect addressing.</vt:lpstr>
      <vt:lpstr>3. Write an ALP for adding two 8-bit numbers  02H and 03H using immediate addressing . The result is to be stored in 1050 H.</vt:lpstr>
      <vt:lpstr>4. Write an ALP for adding two 8-bit numbers stored in 2501H and 2502H. The result is to be stored in 2503H.</vt:lpstr>
      <vt:lpstr>5. Write an ALP for subtracting two 8-bit numbers stored in 2501H and 2502H. The result is to be stored in 2503H.</vt:lpstr>
      <vt:lpstr>6. Write an assembly language program to add two 8-bit numbers (F1 and 15), stored at C050H and C051H, with carry.</vt:lpstr>
      <vt:lpstr>7. Write an assembly language program to add two 16-bit numbers A645 and 9B23, stored from C050H onwards, with carry.</vt:lpstr>
      <vt:lpstr>8. Write a program in Assembly language to interchange(Swap) the contents of two memory location 2100H and 2101H.</vt:lpstr>
      <vt:lpstr>8. Write a program in Assembly language to multiply two 8 bit numbers stored at C050H and C051H.</vt:lpstr>
      <vt:lpstr>Assignment:</vt:lpstr>
      <vt:lpstr>PowerPoint Presentation</vt:lpstr>
      <vt:lpstr>PowerPoint Presentation</vt:lpstr>
      <vt:lpstr>Register Transfer Language (RTL)</vt:lpstr>
      <vt:lpstr>Register Transfer</vt:lpstr>
      <vt:lpstr>Control Function</vt:lpstr>
      <vt:lpstr>Arithmetic Microoperation</vt:lpstr>
      <vt:lpstr>Logic Microoperation</vt:lpstr>
      <vt:lpstr>Shift Microoperation</vt:lpstr>
      <vt:lpstr>RTL</vt:lpstr>
      <vt:lpstr>Specifying with RTL for LXI D, 9050H </vt:lpstr>
      <vt:lpstr>PowerPoint Presentation</vt:lpstr>
      <vt:lpstr>STA 2000H using RTL specification</vt:lpstr>
      <vt:lpstr>Some RTL implementation</vt:lpstr>
      <vt:lpstr>PowerPoint Presentation</vt:lpstr>
      <vt:lpstr>Representation of D flipflop with RTL</vt:lpstr>
      <vt:lpstr>Another Example: JK </vt:lpstr>
      <vt:lpstr>Specification and Implementation of Simple Systems with RTL</vt:lpstr>
      <vt:lpstr>PowerPoint Presentation</vt:lpstr>
      <vt:lpstr>Classwork:</vt:lpstr>
      <vt:lpstr>PowerPoint Presentation</vt:lpstr>
      <vt:lpstr>Solutions:</vt:lpstr>
      <vt:lpstr>PowerPoint Presentation</vt:lpstr>
      <vt:lpstr>PowerPoint Presentation</vt:lpstr>
      <vt:lpstr>PowerPoint Presentation</vt:lpstr>
      <vt:lpstr>PowerPoint Presentation</vt:lpstr>
      <vt:lpstr>Assignment:</vt:lpstr>
      <vt:lpstr>Assignment:</vt:lpstr>
      <vt:lpstr>Uses of 8085 MP</vt:lpstr>
      <vt:lpstr>Issues in 8085 MP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shiva</dc:creator>
  <cp:lastModifiedBy>Shiva Ram Dam</cp:lastModifiedBy>
  <cp:revision>453</cp:revision>
  <dcterms:created xsi:type="dcterms:W3CDTF">2006-08-16T00:00:00Z</dcterms:created>
  <dcterms:modified xsi:type="dcterms:W3CDTF">2023-08-01T03:52:16Z</dcterms:modified>
</cp:coreProperties>
</file>